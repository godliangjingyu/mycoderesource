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15"/>
  </p:handoutMasterIdLst>
  <p:sldIdLst>
    <p:sldId id="256" r:id="rId3"/>
    <p:sldId id="257" r:id="rId4"/>
    <p:sldId id="258" r:id="rId5"/>
    <p:sldId id="305" r:id="rId6"/>
    <p:sldId id="306" r:id="rId8"/>
    <p:sldId id="310" r:id="rId9"/>
    <p:sldId id="311" r:id="rId10"/>
    <p:sldId id="313" r:id="rId11"/>
    <p:sldId id="312" r:id="rId12"/>
    <p:sldId id="314" r:id="rId13"/>
    <p:sldId id="307" r:id="rId14"/>
  </p:sldIdLst>
  <p:sldSz cx="12192000" cy="6858000"/>
  <p:notesSz cx="6858000" cy="9144000"/>
  <p:embeddedFontLst>
    <p:embeddedFont>
      <p:font typeface="微软雅黑" panose="020B0503020204020204" pitchFamily="34" charset="-122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5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5" autoAdjust="0"/>
  </p:normalViewPr>
  <p:slideViewPr>
    <p:cSldViewPr snapToGrid="0" showGuides="1">
      <p:cViewPr varScale="1">
        <p:scale>
          <a:sx n="73" d="100"/>
          <a:sy n="73" d="100"/>
        </p:scale>
        <p:origin x="84" y="846"/>
      </p:cViewPr>
      <p:guideLst>
        <p:guide orient="horz" pos="2184"/>
        <p:guide pos="38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76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4236720"/>
            <a:ext cx="12223750" cy="2621279"/>
          </a:xfrm>
          <a:custGeom>
            <a:avLst/>
            <a:gdLst>
              <a:gd name="connsiteX0" fmla="*/ 12192000 w 12192000"/>
              <a:gd name="connsiteY0" fmla="*/ 0 h 1827750"/>
              <a:gd name="connsiteX1" fmla="*/ 12192000 w 12192000"/>
              <a:gd name="connsiteY1" fmla="*/ 1827750 h 1827750"/>
              <a:gd name="connsiteX2" fmla="*/ 0 w 12192000"/>
              <a:gd name="connsiteY2" fmla="*/ 1827750 h 1827750"/>
              <a:gd name="connsiteX3" fmla="*/ 0 w 12192000"/>
              <a:gd name="connsiteY3" fmla="*/ 0 h 1827750"/>
              <a:gd name="connsiteX4" fmla="*/ 98667 w 12192000"/>
              <a:gd name="connsiteY4" fmla="*/ 108121 h 1827750"/>
              <a:gd name="connsiteX5" fmla="*/ 2670176 w 12192000"/>
              <a:gd name="connsiteY5" fmla="*/ 687925 h 1827750"/>
              <a:gd name="connsiteX6" fmla="*/ 3305174 w 12192000"/>
              <a:gd name="connsiteY6" fmla="*/ 687925 h 1827750"/>
              <a:gd name="connsiteX7" fmla="*/ 6096000 w 12192000"/>
              <a:gd name="connsiteY7" fmla="*/ 1637250 h 1827750"/>
              <a:gd name="connsiteX8" fmla="*/ 8886826 w 12192000"/>
              <a:gd name="connsiteY8" fmla="*/ 687925 h 1827750"/>
              <a:gd name="connsiteX9" fmla="*/ 9521824 w 12192000"/>
              <a:gd name="connsiteY9" fmla="*/ 687925 h 1827750"/>
              <a:gd name="connsiteX10" fmla="*/ 12093333 w 12192000"/>
              <a:gd name="connsiteY10" fmla="*/ 108121 h 182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827750">
                <a:moveTo>
                  <a:pt x="12192000" y="0"/>
                </a:moveTo>
                <a:lnTo>
                  <a:pt x="12192000" y="1827750"/>
                </a:lnTo>
                <a:lnTo>
                  <a:pt x="0" y="1827750"/>
                </a:lnTo>
                <a:lnTo>
                  <a:pt x="0" y="0"/>
                </a:lnTo>
                <a:lnTo>
                  <a:pt x="98667" y="108121"/>
                </a:lnTo>
                <a:cubicBezTo>
                  <a:pt x="522337" y="448848"/>
                  <a:pt x="1514178" y="687925"/>
                  <a:pt x="2670176" y="687925"/>
                </a:cubicBezTo>
                <a:lnTo>
                  <a:pt x="3305174" y="687925"/>
                </a:lnTo>
                <a:cubicBezTo>
                  <a:pt x="4846505" y="687925"/>
                  <a:pt x="6096000" y="1112952"/>
                  <a:pt x="6096000" y="1637250"/>
                </a:cubicBezTo>
                <a:cubicBezTo>
                  <a:pt x="6096000" y="1112952"/>
                  <a:pt x="7345495" y="687925"/>
                  <a:pt x="8886826" y="687925"/>
                </a:cubicBezTo>
                <a:lnTo>
                  <a:pt x="9521824" y="687925"/>
                </a:lnTo>
                <a:cubicBezTo>
                  <a:pt x="10677822" y="687925"/>
                  <a:pt x="11669663" y="448848"/>
                  <a:pt x="12093333" y="108121"/>
                </a:cubicBezTo>
                <a:close/>
              </a:path>
            </a:pathLst>
          </a:custGeom>
          <a:solidFill>
            <a:srgbClr val="001F5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0" y="4236720"/>
            <a:ext cx="12223750" cy="2621279"/>
          </a:xfrm>
          <a:custGeom>
            <a:avLst/>
            <a:gdLst>
              <a:gd name="connsiteX0" fmla="*/ 12192000 w 12192000"/>
              <a:gd name="connsiteY0" fmla="*/ 0 h 1827750"/>
              <a:gd name="connsiteX1" fmla="*/ 12192000 w 12192000"/>
              <a:gd name="connsiteY1" fmla="*/ 1827750 h 1827750"/>
              <a:gd name="connsiteX2" fmla="*/ 0 w 12192000"/>
              <a:gd name="connsiteY2" fmla="*/ 1827750 h 1827750"/>
              <a:gd name="connsiteX3" fmla="*/ 0 w 12192000"/>
              <a:gd name="connsiteY3" fmla="*/ 0 h 1827750"/>
              <a:gd name="connsiteX4" fmla="*/ 98667 w 12192000"/>
              <a:gd name="connsiteY4" fmla="*/ 108121 h 1827750"/>
              <a:gd name="connsiteX5" fmla="*/ 2670176 w 12192000"/>
              <a:gd name="connsiteY5" fmla="*/ 687925 h 1827750"/>
              <a:gd name="connsiteX6" fmla="*/ 3305174 w 12192000"/>
              <a:gd name="connsiteY6" fmla="*/ 687925 h 1827750"/>
              <a:gd name="connsiteX7" fmla="*/ 6096000 w 12192000"/>
              <a:gd name="connsiteY7" fmla="*/ 1637250 h 1827750"/>
              <a:gd name="connsiteX8" fmla="*/ 8886826 w 12192000"/>
              <a:gd name="connsiteY8" fmla="*/ 687925 h 1827750"/>
              <a:gd name="connsiteX9" fmla="*/ 9521824 w 12192000"/>
              <a:gd name="connsiteY9" fmla="*/ 687925 h 1827750"/>
              <a:gd name="connsiteX10" fmla="*/ 12093333 w 12192000"/>
              <a:gd name="connsiteY10" fmla="*/ 108121 h 182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827750">
                <a:moveTo>
                  <a:pt x="12192000" y="0"/>
                </a:moveTo>
                <a:lnTo>
                  <a:pt x="12192000" y="1827750"/>
                </a:lnTo>
                <a:lnTo>
                  <a:pt x="0" y="1827750"/>
                </a:lnTo>
                <a:lnTo>
                  <a:pt x="0" y="0"/>
                </a:lnTo>
                <a:lnTo>
                  <a:pt x="98667" y="108121"/>
                </a:lnTo>
                <a:cubicBezTo>
                  <a:pt x="522337" y="448848"/>
                  <a:pt x="1514178" y="687925"/>
                  <a:pt x="2670176" y="687925"/>
                </a:cubicBezTo>
                <a:lnTo>
                  <a:pt x="3305174" y="687925"/>
                </a:lnTo>
                <a:cubicBezTo>
                  <a:pt x="4846505" y="687925"/>
                  <a:pt x="6096000" y="1112952"/>
                  <a:pt x="6096000" y="1637250"/>
                </a:cubicBezTo>
                <a:cubicBezTo>
                  <a:pt x="6096000" y="1112952"/>
                  <a:pt x="7345495" y="687925"/>
                  <a:pt x="8886826" y="687925"/>
                </a:cubicBezTo>
                <a:lnTo>
                  <a:pt x="9521824" y="687925"/>
                </a:lnTo>
                <a:cubicBezTo>
                  <a:pt x="10677822" y="687925"/>
                  <a:pt x="11669663" y="448848"/>
                  <a:pt x="12093333" y="108121"/>
                </a:cubicBezTo>
                <a:close/>
              </a:path>
            </a:pathLst>
          </a:custGeom>
          <a:solidFill>
            <a:srgbClr val="001F5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0" y="4236720"/>
            <a:ext cx="12223750" cy="2621279"/>
          </a:xfrm>
          <a:custGeom>
            <a:avLst/>
            <a:gdLst>
              <a:gd name="connsiteX0" fmla="*/ 12192000 w 12192000"/>
              <a:gd name="connsiteY0" fmla="*/ 0 h 1827750"/>
              <a:gd name="connsiteX1" fmla="*/ 12192000 w 12192000"/>
              <a:gd name="connsiteY1" fmla="*/ 1827750 h 1827750"/>
              <a:gd name="connsiteX2" fmla="*/ 0 w 12192000"/>
              <a:gd name="connsiteY2" fmla="*/ 1827750 h 1827750"/>
              <a:gd name="connsiteX3" fmla="*/ 0 w 12192000"/>
              <a:gd name="connsiteY3" fmla="*/ 0 h 1827750"/>
              <a:gd name="connsiteX4" fmla="*/ 98667 w 12192000"/>
              <a:gd name="connsiteY4" fmla="*/ 108121 h 1827750"/>
              <a:gd name="connsiteX5" fmla="*/ 2670176 w 12192000"/>
              <a:gd name="connsiteY5" fmla="*/ 687925 h 1827750"/>
              <a:gd name="connsiteX6" fmla="*/ 3305174 w 12192000"/>
              <a:gd name="connsiteY6" fmla="*/ 687925 h 1827750"/>
              <a:gd name="connsiteX7" fmla="*/ 6096000 w 12192000"/>
              <a:gd name="connsiteY7" fmla="*/ 1637250 h 1827750"/>
              <a:gd name="connsiteX8" fmla="*/ 8886826 w 12192000"/>
              <a:gd name="connsiteY8" fmla="*/ 687925 h 1827750"/>
              <a:gd name="connsiteX9" fmla="*/ 9521824 w 12192000"/>
              <a:gd name="connsiteY9" fmla="*/ 687925 h 1827750"/>
              <a:gd name="connsiteX10" fmla="*/ 12093333 w 12192000"/>
              <a:gd name="connsiteY10" fmla="*/ 108121 h 182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827750">
                <a:moveTo>
                  <a:pt x="12192000" y="0"/>
                </a:moveTo>
                <a:lnTo>
                  <a:pt x="12192000" y="1827750"/>
                </a:lnTo>
                <a:lnTo>
                  <a:pt x="0" y="1827750"/>
                </a:lnTo>
                <a:lnTo>
                  <a:pt x="0" y="0"/>
                </a:lnTo>
                <a:lnTo>
                  <a:pt x="98667" y="108121"/>
                </a:lnTo>
                <a:cubicBezTo>
                  <a:pt x="522337" y="448848"/>
                  <a:pt x="1514178" y="687925"/>
                  <a:pt x="2670176" y="687925"/>
                </a:cubicBezTo>
                <a:lnTo>
                  <a:pt x="3305174" y="687925"/>
                </a:lnTo>
                <a:cubicBezTo>
                  <a:pt x="4846505" y="687925"/>
                  <a:pt x="6096000" y="1112952"/>
                  <a:pt x="6096000" y="1637250"/>
                </a:cubicBezTo>
                <a:cubicBezTo>
                  <a:pt x="6096000" y="1112952"/>
                  <a:pt x="7345495" y="687925"/>
                  <a:pt x="8886826" y="687925"/>
                </a:cubicBezTo>
                <a:lnTo>
                  <a:pt x="9521824" y="687925"/>
                </a:lnTo>
                <a:cubicBezTo>
                  <a:pt x="10677822" y="687925"/>
                  <a:pt x="11669663" y="448848"/>
                  <a:pt x="12093333" y="108121"/>
                </a:cubicBezTo>
                <a:close/>
              </a:path>
            </a:pathLst>
          </a:custGeom>
          <a:solidFill>
            <a:srgbClr val="001F5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1705"/>
            <a:ext cx="12192000" cy="446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11"/>
          <p:cNvCxnSpPr/>
          <p:nvPr userDrawn="1"/>
        </p:nvCxnSpPr>
        <p:spPr>
          <a:xfrm>
            <a:off x="263526" y="862409"/>
            <a:ext cx="1026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 userDrawn="1"/>
        </p:nvSpPr>
        <p:spPr>
          <a:xfrm>
            <a:off x="9329981" y="798163"/>
            <a:ext cx="2862020" cy="108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77464" y="281439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在这里输入你的标题</a:t>
            </a:r>
            <a:endParaRPr kumimoji="1"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2"/>
          <p:cNvSpPr/>
          <p:nvPr userDrawn="1"/>
        </p:nvSpPr>
        <p:spPr>
          <a:xfrm rot="16200000">
            <a:off x="153035" y="160655"/>
            <a:ext cx="739775" cy="419100"/>
          </a:xfrm>
          <a:prstGeom prst="chevron">
            <a:avLst>
              <a:gd name="adj" fmla="val 349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2024/12/16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84125-9F3C-4875-BF3D-5DA17423E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2457F-CB87-4173-ABFC-71EFE73C7D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8" Type="http://schemas.openxmlformats.org/officeDocument/2006/relationships/slideLayout" Target="../slideLayouts/slideLayout5.xml"/><Relationship Id="rId37" Type="http://schemas.openxmlformats.org/officeDocument/2006/relationships/tags" Target="../tags/tag55.xml"/><Relationship Id="rId36" Type="http://schemas.openxmlformats.org/officeDocument/2006/relationships/image" Target="../media/image6.svg"/><Relationship Id="rId35" Type="http://schemas.openxmlformats.org/officeDocument/2006/relationships/image" Target="../media/image5.png"/><Relationship Id="rId34" Type="http://schemas.openxmlformats.org/officeDocument/2006/relationships/tags" Target="../tags/tag54.xml"/><Relationship Id="rId33" Type="http://schemas.openxmlformats.org/officeDocument/2006/relationships/tags" Target="../tags/tag53.xml"/><Relationship Id="rId32" Type="http://schemas.openxmlformats.org/officeDocument/2006/relationships/tags" Target="../tags/tag52.xml"/><Relationship Id="rId31" Type="http://schemas.openxmlformats.org/officeDocument/2006/relationships/tags" Target="../tags/tag51.xml"/><Relationship Id="rId30" Type="http://schemas.openxmlformats.org/officeDocument/2006/relationships/tags" Target="../tags/tag50.xml"/><Relationship Id="rId3" Type="http://schemas.openxmlformats.org/officeDocument/2006/relationships/tags" Target="../tags/tag27.xml"/><Relationship Id="rId29" Type="http://schemas.openxmlformats.org/officeDocument/2006/relationships/tags" Target="../tags/tag49.xml"/><Relationship Id="rId28" Type="http://schemas.openxmlformats.org/officeDocument/2006/relationships/tags" Target="../tags/tag48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image" Target="../media/image4.svg"/><Relationship Id="rId21" Type="http://schemas.openxmlformats.org/officeDocument/2006/relationships/image" Target="../media/image3.png"/><Relationship Id="rId20" Type="http://schemas.openxmlformats.org/officeDocument/2006/relationships/tags" Target="../tags/tag42.xml"/><Relationship Id="rId2" Type="http://schemas.openxmlformats.org/officeDocument/2006/relationships/tags" Target="../tags/tag26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31495" y="958850"/>
            <a:ext cx="11128375" cy="20377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zh-CN" altLang="en-US" sz="6600" b="1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基于机器学习的零件</a:t>
            </a:r>
            <a:endParaRPr lang="zh-CN" altLang="en-US" sz="6600" b="1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6600" b="1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智能分类与推荐系统项目计划</a:t>
            </a:r>
            <a:endParaRPr lang="zh-CN" altLang="en-US" sz="6600" b="1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28633" y="3482954"/>
            <a:ext cx="4733925" cy="241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面向</a:t>
            </a:r>
            <a:r>
              <a:rPr lang="en-US" altLang="zh-CN" sz="105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CAD</a:t>
            </a:r>
            <a:r>
              <a:rPr lang="zh-CN" altLang="en-US" sz="105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模型的</a:t>
            </a:r>
            <a:r>
              <a:rPr lang="en-US" altLang="zh-CN" sz="105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3D</a:t>
            </a:r>
            <a:r>
              <a:rPr lang="zh-CN" altLang="en-US" sz="105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零件自动分类、聚类及相似推荐系统，提升零件重用与标准化。</a:t>
            </a:r>
            <a:endParaRPr lang="zh-CN" altLang="en-US" sz="105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947143" y="3603837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9040599" y="3603837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297389" y="4146904"/>
            <a:ext cx="1735436" cy="245745"/>
            <a:chOff x="4095451" y="4640913"/>
            <a:chExt cx="1735436" cy="245745"/>
          </a:xfrm>
        </p:grpSpPr>
        <p:sp>
          <p:nvSpPr>
            <p:cNvPr id="12" name="矩形 11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08487" y="4640913"/>
              <a:ext cx="14224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汇报人：</a:t>
              </a:r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发如合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55957" y="4146904"/>
            <a:ext cx="1125836" cy="245745"/>
            <a:chOff x="4095451" y="4640913"/>
            <a:chExt cx="1125836" cy="245745"/>
          </a:xfrm>
        </p:grpSpPr>
        <p:sp>
          <p:nvSpPr>
            <p:cNvPr id="15" name="矩形 14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408487" y="4640913"/>
              <a:ext cx="8128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小组：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19</a:t>
              </a:r>
              <a:endParaRPr lang="en-US" altLang="zh-CN" sz="16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3674" y="535304"/>
            <a:ext cx="2944652" cy="6771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altLang="zh-CN" sz="4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CONTENTS</a:t>
            </a:r>
            <a:endParaRPr lang="zh-CN" altLang="en-US" sz="4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388812" y="2372677"/>
            <a:ext cx="3220046" cy="584776"/>
            <a:chOff x="1266825" y="1824037"/>
            <a:chExt cx="3220046" cy="584776"/>
          </a:xfrm>
        </p:grpSpPr>
        <p:sp>
          <p:nvSpPr>
            <p:cNvPr id="4" name="椭圆 3"/>
            <p:cNvSpPr/>
            <p:nvPr>
              <p:custDataLst>
                <p:tags r:id="rId2"/>
              </p:custDataLst>
            </p:nvPr>
          </p:nvSpPr>
          <p:spPr>
            <a:xfrm>
              <a:off x="1266825" y="1857375"/>
              <a:ext cx="119063" cy="1190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591271" y="1824037"/>
              <a:ext cx="2895600" cy="3689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01 </a:t>
              </a:r>
              <a:r>
                <a:rPr lang="zh-CN" altLang="en-US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项目整体范围计划</a:t>
              </a:r>
              <a:endParaRPr lang="zh-CN" altLang="en-US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1591271" y="2193369"/>
              <a:ext cx="2255242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en-US" altLang="zh-CN" sz="1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Contents Title Here</a:t>
              </a:r>
              <a:endParaRPr lang="zh-CN" altLang="en-US" sz="1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2388812" y="3984367"/>
            <a:ext cx="3524846" cy="584776"/>
            <a:chOff x="1266825" y="1824037"/>
            <a:chExt cx="3524846" cy="584776"/>
          </a:xfrm>
        </p:grpSpPr>
        <p:sp>
          <p:nvSpPr>
            <p:cNvPr id="8" name="椭圆 7"/>
            <p:cNvSpPr/>
            <p:nvPr>
              <p:custDataLst>
                <p:tags r:id="rId6"/>
              </p:custDataLst>
            </p:nvPr>
          </p:nvSpPr>
          <p:spPr>
            <a:xfrm>
              <a:off x="1266825" y="1857375"/>
              <a:ext cx="119063" cy="1190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1591271" y="1824037"/>
              <a:ext cx="3200400" cy="3689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02 第一次迭代</a:t>
              </a:r>
              <a:r>
                <a:rPr lang="zh-CN" altLang="en-US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用户故事</a:t>
              </a:r>
              <a:endParaRPr lang="zh-CN" altLang="en-US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1591270" y="2193369"/>
              <a:ext cx="2307629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en-US" altLang="zh-CN" sz="1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Contents Title Here</a:t>
              </a:r>
              <a:endParaRPr lang="zh-CN" altLang="en-US" sz="1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2445962" y="2555875"/>
            <a:ext cx="0" cy="14284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>
            <a:off x="7610290" y="2372677"/>
            <a:ext cx="3524846" cy="584776"/>
            <a:chOff x="1266825" y="1824037"/>
            <a:chExt cx="3524846" cy="584776"/>
          </a:xfrm>
        </p:grpSpPr>
        <p:sp>
          <p:nvSpPr>
            <p:cNvPr id="13" name="椭圆 12"/>
            <p:cNvSpPr/>
            <p:nvPr>
              <p:custDataLst>
                <p:tags r:id="rId11"/>
              </p:custDataLst>
            </p:nvPr>
          </p:nvSpPr>
          <p:spPr>
            <a:xfrm>
              <a:off x="1266825" y="1857375"/>
              <a:ext cx="119063" cy="1190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2"/>
              </p:custDataLst>
            </p:nvPr>
          </p:nvSpPr>
          <p:spPr>
            <a:xfrm>
              <a:off x="1591271" y="1824037"/>
              <a:ext cx="3200400" cy="3689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03 第一次迭代</a:t>
              </a:r>
              <a:r>
                <a:rPr lang="zh-CN" altLang="en-US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任务分解</a:t>
              </a:r>
              <a:endParaRPr lang="zh-CN" altLang="en-US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1591271" y="2193369"/>
              <a:ext cx="2255242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en-US" altLang="zh-CN" sz="1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Contents Title Here</a:t>
              </a:r>
              <a:endParaRPr lang="zh-CN" altLang="en-US" sz="1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14"/>
            </p:custDataLst>
          </p:nvPr>
        </p:nvGrpSpPr>
        <p:grpSpPr>
          <a:xfrm>
            <a:off x="7610290" y="3984367"/>
            <a:ext cx="3677246" cy="584776"/>
            <a:chOff x="1266825" y="1824037"/>
            <a:chExt cx="3677246" cy="584776"/>
          </a:xfrm>
        </p:grpSpPr>
        <p:sp>
          <p:nvSpPr>
            <p:cNvPr id="17" name="椭圆 16"/>
            <p:cNvSpPr/>
            <p:nvPr>
              <p:custDataLst>
                <p:tags r:id="rId15"/>
              </p:custDataLst>
            </p:nvPr>
          </p:nvSpPr>
          <p:spPr>
            <a:xfrm>
              <a:off x="1266825" y="1857375"/>
              <a:ext cx="119063" cy="1190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6"/>
              </p:custDataLst>
            </p:nvPr>
          </p:nvSpPr>
          <p:spPr>
            <a:xfrm>
              <a:off x="1591271" y="1824037"/>
              <a:ext cx="3352800" cy="3689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04 第一次迭代</a:t>
              </a:r>
              <a:r>
                <a:rPr lang="zh-CN" altLang="en-US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任务分配</a:t>
              </a:r>
              <a:r>
                <a:rPr lang="en-US" altLang="zh-CN" sz="2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 </a:t>
              </a:r>
              <a:endParaRPr lang="zh-CN" altLang="en-US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7"/>
              </p:custDataLst>
            </p:nvPr>
          </p:nvSpPr>
          <p:spPr>
            <a:xfrm>
              <a:off x="1591270" y="2193369"/>
              <a:ext cx="2307629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dist"/>
              <a:r>
                <a:rPr lang="en-US" altLang="zh-CN" sz="14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Contents Title Here</a:t>
              </a:r>
              <a:endParaRPr lang="zh-CN" altLang="en-US" sz="1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cxnSp>
        <p:nvCxnSpPr>
          <p:cNvPr id="20" name="直接连接符 19"/>
          <p:cNvCxnSpPr/>
          <p:nvPr>
            <p:custDataLst>
              <p:tags r:id="rId18"/>
            </p:custDataLst>
          </p:nvPr>
        </p:nvCxnSpPr>
        <p:spPr>
          <a:xfrm>
            <a:off x="7667440" y="2555875"/>
            <a:ext cx="0" cy="14284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60595" y="2129790"/>
            <a:ext cx="73152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kumimoji="1" lang="zh-CN" altLang="en-US" sz="7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项目整体范围计划</a:t>
            </a:r>
            <a:endParaRPr kumimoji="1" lang="zh-CN" altLang="en-US" sz="7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01092" y="1070113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lang="zh-CN" altLang="en-US" sz="239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9482" y="2381918"/>
            <a:ext cx="1801368" cy="694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5802" y="2498559"/>
            <a:ext cx="1588576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 ONE </a:t>
            </a:r>
            <a:endParaRPr lang="zh-CN" altLang="en-US" sz="2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2745" y="249555"/>
            <a:ext cx="10515600" cy="1325563"/>
          </a:xfrm>
        </p:spPr>
        <p:txBody>
          <a:bodyPr/>
          <a:lstStyle/>
          <a:p>
            <a:r>
              <a:rPr kumimoji="1" lang="zh-CN" altLang="en-US" sz="4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项目整体范围计划</a:t>
            </a:r>
            <a:r>
              <a:rPr kumimoji="1" lang="en-US" altLang="zh-CN" sz="4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——3</a:t>
            </a:r>
            <a:r>
              <a:rPr kumimoji="1" lang="zh-CN" altLang="en-US" sz="4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个迭代，每迭代</a:t>
            </a:r>
            <a:r>
              <a:rPr kumimoji="1" lang="en-US" altLang="zh-CN" sz="4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2</a:t>
            </a:r>
            <a:r>
              <a:rPr kumimoji="1" lang="zh-CN" altLang="en-US" sz="40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天</a:t>
            </a:r>
            <a:endParaRPr kumimoji="1" lang="zh-CN" altLang="en-US" sz="40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670719" y="3694306"/>
            <a:ext cx="10850563" cy="0"/>
          </a:xfrm>
          <a:prstGeom prst="line">
            <a:avLst/>
          </a:prstGeom>
          <a:ln w="31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231158" y="1809874"/>
            <a:ext cx="3729683" cy="3453014"/>
            <a:chOff x="3941117" y="1666193"/>
            <a:chExt cx="4311356" cy="3991538"/>
          </a:xfrm>
        </p:grpSpPr>
        <p:grpSp>
          <p:nvGrpSpPr>
            <p:cNvPr id="8" name="组合 7"/>
            <p:cNvGrpSpPr/>
            <p:nvPr/>
          </p:nvGrpSpPr>
          <p:grpSpPr>
            <a:xfrm>
              <a:off x="6257667" y="1666193"/>
              <a:ext cx="1994806" cy="1782966"/>
              <a:chOff x="6257666" y="1974203"/>
              <a:chExt cx="1994806" cy="1782966"/>
            </a:xfrm>
          </p:grpSpPr>
          <p:sp>
            <p:nvSpPr>
              <p:cNvPr id="9" name="išliḑe"/>
              <p:cNvSpPr/>
              <p:nvPr/>
            </p:nvSpPr>
            <p:spPr>
              <a:xfrm>
                <a:off x="6257666" y="2018245"/>
                <a:ext cx="1771956" cy="1738924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1F5E"/>
                        </a:gs>
                        <a:gs pos="100000">
                          <a:srgbClr val="001F5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零件库管理员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8" name="îS1îḓe"/>
              <p:cNvSpPr/>
              <p:nvPr/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9" name="ïśḷïďè"/>
              <p:cNvSpPr/>
              <p:nvPr/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1" name="iṧḷiďè"/>
              <p:cNvSpPr/>
              <p:nvPr/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1F5E"/>
                        </a:gs>
                        <a:gs pos="100000">
                          <a:srgbClr val="001F5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设计工程师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5" name="îşlïḍé"/>
              <p:cNvSpPr/>
              <p:nvPr/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6" name="ísļîḑé"/>
              <p:cNvSpPr/>
              <p:nvPr/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3" name="i$ľîdê"/>
              <p:cNvSpPr/>
              <p:nvPr/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1F5E"/>
                        </a:gs>
                        <a:gs pos="100000">
                          <a:srgbClr val="001F5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采购工程师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0" name="îšḻïḓé"/>
              <p:cNvSpPr/>
              <p:nvPr/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1" name="î$1ïḋé"/>
              <p:cNvSpPr/>
              <p:nvPr/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23" name="íşḻïḑé"/>
              <p:cNvSpPr/>
              <p:nvPr/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1F5E"/>
                        </a:gs>
                        <a:gs pos="100000">
                          <a:srgbClr val="001F5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  <a:sym typeface="思源黑体 CN Medium" panose="020B0600000000000000" pitchFamily="34" charset="-122"/>
                  </a:rPr>
                  <a:t>系统管理员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4" name="ïŝḷíḋé"/>
              <p:cNvSpPr/>
              <p:nvPr/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5" name="îśḷiḓê"/>
              <p:cNvSpPr/>
              <p:nvPr/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8" name="矩形 27"/>
          <p:cNvSpPr/>
          <p:nvPr/>
        </p:nvSpPr>
        <p:spPr>
          <a:xfrm>
            <a:off x="484505" y="1729105"/>
            <a:ext cx="3519805" cy="1877060"/>
          </a:xfrm>
          <a:prstGeom prst="rect">
            <a:avLst/>
          </a:prstGeom>
          <a:noFill/>
        </p:spPr>
        <p:txBody>
          <a:bodyPr wrap="square" lIns="0" tIns="0" rIns="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US1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：上传模型并查找相似件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US2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3D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预览推荐结果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：导出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Excel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清单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US4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：标记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“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不可复用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”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反馈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46100" y="4526915"/>
            <a:ext cx="3395980" cy="78422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：查看模型性能指标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US2：上传数据触发重训练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576310" y="4608830"/>
            <a:ext cx="2909570" cy="115316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US1：在详情页查找相似件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：查看成本与库存 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72780" y="1871345"/>
            <a:ext cx="3587750" cy="115316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：一键启动自动分类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US2：批量修正分类结果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US3：设置定时自动分类任务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62500" y="2044065"/>
            <a:ext cx="7543800" cy="2031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kumimoji="1" lang="zh-CN" altLang="en-US" sz="66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用户故事</a:t>
            </a:r>
            <a:endParaRPr kumimoji="1" lang="zh-CN" altLang="en-US" sz="6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endParaRPr kumimoji="1" lang="zh-CN" altLang="en-US" sz="66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83897" y="1070113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lang="zh-CN" altLang="en-US" sz="239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2287" y="2381918"/>
            <a:ext cx="1801368" cy="694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08607" y="2498559"/>
            <a:ext cx="1519327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 TWO</a:t>
            </a:r>
            <a:endParaRPr lang="zh-CN" altLang="en-US" sz="2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en-US" altLang="zh-CN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kumimoji="1" lang="zh-CN" altLang="en-US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用户故事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9781540" y="5657850"/>
            <a:ext cx="1822450" cy="1445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查看模型性能指标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椭圆 21"/>
          <p:cNvSpPr/>
          <p:nvPr>
            <p:custDataLst>
              <p:tags r:id="rId2"/>
            </p:custDataLst>
          </p:nvPr>
        </p:nvSpPr>
        <p:spPr>
          <a:xfrm>
            <a:off x="9793288" y="3279140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3" name="椭圆 22"/>
          <p:cNvSpPr/>
          <p:nvPr>
            <p:custDataLst>
              <p:tags r:id="rId3"/>
            </p:custDataLst>
          </p:nvPr>
        </p:nvSpPr>
        <p:spPr>
          <a:xfrm>
            <a:off x="9887585" y="3373755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65150" rIns="136525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系统管理员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 - US1</a:t>
            </a:r>
            <a:endParaRPr lang="en-US" altLang="zh-CN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>
            <a:off x="9972993" y="3458845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弧形 30"/>
          <p:cNvSpPr/>
          <p:nvPr>
            <p:custDataLst>
              <p:tags r:id="rId5"/>
            </p:custDataLst>
          </p:nvPr>
        </p:nvSpPr>
        <p:spPr>
          <a:xfrm flipV="1">
            <a:off x="9544685" y="3033395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37" name="图片 15" descr="343439383331313b343532303033313bd3a6d3c3c9ccb3c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61638" y="3774440"/>
            <a:ext cx="288000" cy="2880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572135" y="5657850"/>
            <a:ext cx="1822450" cy="1445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上传新模型并查找相似件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椭圆 3"/>
          <p:cNvSpPr/>
          <p:nvPr>
            <p:custDataLst>
              <p:tags r:id="rId10"/>
            </p:custDataLst>
          </p:nvPr>
        </p:nvSpPr>
        <p:spPr>
          <a:xfrm>
            <a:off x="583883" y="3279140"/>
            <a:ext cx="1830705" cy="183070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椭圆 4"/>
          <p:cNvSpPr/>
          <p:nvPr>
            <p:custDataLst>
              <p:tags r:id="rId11"/>
            </p:custDataLst>
          </p:nvPr>
        </p:nvSpPr>
        <p:spPr>
          <a:xfrm>
            <a:off x="678180" y="3373755"/>
            <a:ext cx="1642110" cy="16421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65150" rIns="136525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设计工程师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 - 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US1</a:t>
            </a:r>
            <a:endParaRPr lang="en-US" altLang="zh-CN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2"/>
            </p:custDataLst>
          </p:nvPr>
        </p:nvSpPr>
        <p:spPr>
          <a:xfrm>
            <a:off x="763588" y="3458845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弧形 7"/>
          <p:cNvSpPr/>
          <p:nvPr>
            <p:custDataLst>
              <p:tags r:id="rId13"/>
            </p:custDataLst>
          </p:nvPr>
        </p:nvSpPr>
        <p:spPr>
          <a:xfrm flipV="1">
            <a:off x="335280" y="3033395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9" name="图片 15" descr="343439383331313b343532303033313bd3a6d3c3c9ccb3c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2233" y="3774440"/>
            <a:ext cx="288000" cy="28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5"/>
            </p:custDataLst>
          </p:nvPr>
        </p:nvSpPr>
        <p:spPr>
          <a:xfrm>
            <a:off x="7343775" y="5657850"/>
            <a:ext cx="1842770" cy="1445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一键启动自动分类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16"/>
            </p:custDataLst>
          </p:nvPr>
        </p:nvSpPr>
        <p:spPr>
          <a:xfrm>
            <a:off x="7354888" y="3279140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椭圆 32"/>
          <p:cNvSpPr/>
          <p:nvPr>
            <p:custDataLst>
              <p:tags r:id="rId17"/>
            </p:custDataLst>
          </p:nvPr>
        </p:nvSpPr>
        <p:spPr>
          <a:xfrm>
            <a:off x="7449185" y="3373755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65150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零件库管理员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 - US1</a:t>
            </a:r>
            <a:endParaRPr lang="en-US" altLang="zh-CN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18"/>
            </p:custDataLst>
          </p:nvPr>
        </p:nvSpPr>
        <p:spPr>
          <a:xfrm>
            <a:off x="7534593" y="3458845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弧形 34"/>
          <p:cNvSpPr/>
          <p:nvPr>
            <p:custDataLst>
              <p:tags r:id="rId19"/>
            </p:custDataLst>
          </p:nvPr>
        </p:nvSpPr>
        <p:spPr>
          <a:xfrm flipV="1">
            <a:off x="7106285" y="3033395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39" name="图片 19" descr="343435383038363b343532323339393bd6b4d0d0d5aad2aa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14665" y="3757295"/>
            <a:ext cx="288000" cy="288000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3"/>
            </p:custDataLst>
          </p:nvPr>
        </p:nvSpPr>
        <p:spPr>
          <a:xfrm>
            <a:off x="2874645" y="5657850"/>
            <a:ext cx="1842770" cy="1445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3D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预览推荐结果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24"/>
            </p:custDataLst>
          </p:nvPr>
        </p:nvSpPr>
        <p:spPr>
          <a:xfrm>
            <a:off x="2885758" y="3279140"/>
            <a:ext cx="1830705" cy="183070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3" name="椭圆 12"/>
          <p:cNvSpPr/>
          <p:nvPr>
            <p:custDataLst>
              <p:tags r:id="rId25"/>
            </p:custDataLst>
          </p:nvPr>
        </p:nvSpPr>
        <p:spPr>
          <a:xfrm>
            <a:off x="2980055" y="3373755"/>
            <a:ext cx="1642110" cy="164211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65150" rIns="136525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设计工程师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 - US2</a:t>
            </a:r>
            <a:endParaRPr lang="en-US" altLang="zh-CN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14" name="椭圆 13"/>
          <p:cNvSpPr/>
          <p:nvPr>
            <p:custDataLst>
              <p:tags r:id="rId26"/>
            </p:custDataLst>
          </p:nvPr>
        </p:nvSpPr>
        <p:spPr>
          <a:xfrm>
            <a:off x="3065463" y="3458845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弧形 14"/>
          <p:cNvSpPr/>
          <p:nvPr>
            <p:custDataLst>
              <p:tags r:id="rId27"/>
            </p:custDataLst>
          </p:nvPr>
        </p:nvSpPr>
        <p:spPr>
          <a:xfrm flipV="1">
            <a:off x="2637155" y="3033395"/>
            <a:ext cx="2327910" cy="2327910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16" name="图片 19" descr="343435383038363b343532323339393bd6b4d0d0d5aad2aa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45535" y="3757295"/>
            <a:ext cx="288000" cy="28800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29"/>
            </p:custDataLst>
          </p:nvPr>
        </p:nvSpPr>
        <p:spPr>
          <a:xfrm>
            <a:off x="5177155" y="5657850"/>
            <a:ext cx="1840230" cy="1445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导出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Excel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清单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椭圆 17"/>
          <p:cNvSpPr/>
          <p:nvPr>
            <p:custDataLst>
              <p:tags r:id="rId30"/>
            </p:custDataLst>
          </p:nvPr>
        </p:nvSpPr>
        <p:spPr>
          <a:xfrm>
            <a:off x="5187633" y="3279140"/>
            <a:ext cx="1830705" cy="1830705"/>
          </a:xfrm>
          <a:prstGeom prst="ellipse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9" name="椭圆 18"/>
          <p:cNvSpPr/>
          <p:nvPr>
            <p:custDataLst>
              <p:tags r:id="rId31"/>
            </p:custDataLst>
          </p:nvPr>
        </p:nvSpPr>
        <p:spPr>
          <a:xfrm>
            <a:off x="5281930" y="3373755"/>
            <a:ext cx="1642110" cy="164211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blurRad="152400">
              <a:schemeClr val="accent3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36525" tIns="565150" rIns="136525" bIns="0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设计工程师</a:t>
            </a:r>
            <a:r>
              <a:rPr lang="en-US" altLang="zh-CN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 - US3</a:t>
            </a:r>
            <a:endParaRPr lang="en-US" altLang="zh-CN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32"/>
            </p:custDataLst>
          </p:nvPr>
        </p:nvSpPr>
        <p:spPr>
          <a:xfrm>
            <a:off x="5367338" y="3458845"/>
            <a:ext cx="1471295" cy="147129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3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弧形 20"/>
          <p:cNvSpPr/>
          <p:nvPr>
            <p:custDataLst>
              <p:tags r:id="rId33"/>
            </p:custDataLst>
          </p:nvPr>
        </p:nvSpPr>
        <p:spPr>
          <a:xfrm flipV="1">
            <a:off x="4939030" y="3033395"/>
            <a:ext cx="2327910" cy="2327910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3">
                <a:alpha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41" name="图片 11" descr="343439383331313b343532303032373bbfcdbba7b5b5b0b8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958367" y="3768251"/>
            <a:ext cx="288000" cy="2880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38200" y="1865630"/>
            <a:ext cx="10470515" cy="568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目标：实现核心功能闭环（上传</a:t>
            </a:r>
            <a:r>
              <a:rPr lang="en-US" altLang="zh-CN" sz="2800"/>
              <a:t> </a:t>
            </a:r>
            <a:r>
              <a:rPr lang="en-US" altLang="en-US" sz="2800"/>
              <a:t>→</a:t>
            </a:r>
            <a:r>
              <a:rPr lang="en-US" altLang="zh-CN" sz="2800"/>
              <a:t> </a:t>
            </a:r>
            <a:r>
              <a:rPr lang="zh-CN" altLang="en-US" sz="2800"/>
              <a:t>检索</a:t>
            </a:r>
            <a:r>
              <a:rPr lang="en-US" altLang="zh-CN" sz="2800"/>
              <a:t> </a:t>
            </a:r>
            <a:r>
              <a:rPr lang="en-US" altLang="en-US" sz="2800"/>
              <a:t>→</a:t>
            </a:r>
            <a:r>
              <a:rPr lang="en-US" altLang="zh-CN" sz="2800"/>
              <a:t> </a:t>
            </a:r>
            <a:r>
              <a:rPr lang="zh-CN" altLang="en-US" sz="2800"/>
              <a:t>预览</a:t>
            </a:r>
            <a:r>
              <a:rPr lang="en-US" altLang="zh-CN" sz="2800"/>
              <a:t> </a:t>
            </a:r>
            <a:r>
              <a:rPr lang="en-US" altLang="en-US" sz="2800"/>
              <a:t>→</a:t>
            </a:r>
            <a:r>
              <a:rPr lang="en-US" altLang="zh-CN" sz="2800"/>
              <a:t> </a:t>
            </a:r>
            <a:r>
              <a:rPr lang="zh-CN" altLang="en-US" sz="2800"/>
              <a:t>导出）</a:t>
            </a:r>
            <a:endParaRPr lang="zh-CN" altLang="en-US" sz="2800"/>
          </a:p>
        </p:txBody>
      </p:sp>
    </p:spTree>
    <p:custDataLst>
      <p:tags r:id="rId3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4805" y="2044065"/>
            <a:ext cx="82296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lang="zh-CN" altLang="en-US" sz="7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任务分解</a:t>
            </a:r>
            <a:endParaRPr kumimoji="1" lang="zh-CN" altLang="en-US" sz="7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29567" y="1070113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lang="zh-CN" altLang="en-US" sz="239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7957" y="2381918"/>
            <a:ext cx="1801368" cy="694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4277" y="2498559"/>
            <a:ext cx="1811330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 THREE</a:t>
            </a:r>
            <a:endParaRPr lang="zh-CN" altLang="en-US" sz="2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lang="zh-CN" altLang="en-US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任务分解</a:t>
            </a:r>
            <a:endParaRPr lang="zh-CN" altLang="en-US"/>
          </a:p>
        </p:txBody>
      </p:sp>
      <p:sp>
        <p:nvSpPr>
          <p:cNvPr id="3" name="单圆角矩形 2"/>
          <p:cNvSpPr/>
          <p:nvPr>
            <p:custDataLst>
              <p:tags r:id="rId2"/>
            </p:custDataLst>
          </p:nvPr>
        </p:nvSpPr>
        <p:spPr>
          <a:xfrm flipH="1">
            <a:off x="975905" y="3683224"/>
            <a:ext cx="2673034" cy="761421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52095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后端任务</a:t>
            </a:r>
            <a:endParaRPr lang="zh-CN" altLang="en-US" sz="20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3"/>
            </p:custDataLst>
          </p:nvPr>
        </p:nvSpPr>
        <p:spPr>
          <a:xfrm>
            <a:off x="1000125" y="1547495"/>
            <a:ext cx="3451225" cy="17640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25000"/>
          </a:bodyPr>
          <a:lstStyle/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实现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CAD</a:t>
            </a: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文件上传接口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构建零件数据库表结构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开发相似性检索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API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开发自动分类任务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API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开发模型性能查询接口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实现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Excel</a:t>
            </a:r>
            <a:r>
              <a:rPr lang="zh-CN" altLang="en-US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导出接口</a:t>
            </a: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" name="单圆角矩形 5"/>
          <p:cNvSpPr/>
          <p:nvPr>
            <p:custDataLst>
              <p:tags r:id="rId4"/>
            </p:custDataLst>
          </p:nvPr>
        </p:nvSpPr>
        <p:spPr>
          <a:xfrm flipH="1">
            <a:off x="3362135" y="3385998"/>
            <a:ext cx="2673034" cy="761421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52095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前端任务</a:t>
            </a:r>
            <a:endParaRPr lang="zh-CN" altLang="en-US" sz="20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4" name="正文"/>
          <p:cNvSpPr txBox="1"/>
          <p:nvPr>
            <p:custDataLst>
              <p:tags r:id="rId5"/>
            </p:custDataLst>
          </p:nvPr>
        </p:nvSpPr>
        <p:spPr>
          <a:xfrm>
            <a:off x="3659505" y="4749165"/>
            <a:ext cx="3714750" cy="13277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25000"/>
          </a:bodyPr>
          <a:lstStyle/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开发上传页面与文件选择组件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开发搜索结果列表页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集成Three.js实现3D预览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开发管理员面板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实现“导出Excel”按钮与下载逻辑  </a:t>
            </a:r>
            <a:endParaRPr lang="en-US" altLang="zh-CN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5" name="单圆角矩形 24"/>
          <p:cNvSpPr/>
          <p:nvPr>
            <p:custDataLst>
              <p:tags r:id="rId6"/>
            </p:custDataLst>
          </p:nvPr>
        </p:nvSpPr>
        <p:spPr>
          <a:xfrm flipH="1">
            <a:off x="5739577" y="3087311"/>
            <a:ext cx="2673034" cy="761421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3">
                  <a:lumMod val="60000"/>
                  <a:lumOff val="40000"/>
                </a:schemeClr>
              </a:gs>
              <a:gs pos="0">
                <a:schemeClr val="accent3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3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07950" rIns="252095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机器学习任务</a:t>
            </a:r>
            <a:endParaRPr lang="zh-CN" altLang="en-US" sz="2000" b="1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3" name="正文"/>
          <p:cNvSpPr txBox="1"/>
          <p:nvPr>
            <p:custDataLst>
              <p:tags r:id="rId7"/>
            </p:custDataLst>
          </p:nvPr>
        </p:nvSpPr>
        <p:spPr>
          <a:xfrm>
            <a:off x="5803265" y="1336040"/>
            <a:ext cx="2973070" cy="13392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25000"/>
          </a:bodyPr>
          <a:lstStyle/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准备初始训练数据集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实现基础几何特征提取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训练/加载基础分类模型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实现相似度计算逻辑 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</a:t>
            </a:r>
            <a:endParaRPr lang="en-US" altLang="zh-CN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" name="正文"/>
          <p:cNvSpPr txBox="1"/>
          <p:nvPr>
            <p:custDataLst>
              <p:tags r:id="rId8"/>
            </p:custDataLst>
          </p:nvPr>
        </p:nvSpPr>
        <p:spPr>
          <a:xfrm>
            <a:off x="8458200" y="4143375"/>
            <a:ext cx="2554605" cy="13277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25000"/>
          </a:bodyPr>
          <a:lstStyle/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编写API单元测试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前后端联调  </a:t>
            </a:r>
            <a:endParaRPr lang="en-US" altLang="zh-CN" sz="64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64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按验收标准执行功能测试 </a:t>
            </a:r>
            <a:r>
              <a:rPr lang="en-US" altLang="zh-CN" sz="1600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</a:t>
            </a:r>
            <a:endParaRPr lang="en-US" altLang="zh-CN" sz="1600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59" name="直角三角形 58"/>
          <p:cNvSpPr/>
          <p:nvPr>
            <p:custDataLst>
              <p:tags r:id="rId9"/>
            </p:custDataLst>
          </p:nvPr>
        </p:nvSpPr>
        <p:spPr>
          <a:xfrm rot="10800000">
            <a:off x="3352594" y="4142002"/>
            <a:ext cx="295592" cy="29559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直角三角形 33"/>
          <p:cNvSpPr/>
          <p:nvPr>
            <p:custDataLst>
              <p:tags r:id="rId10"/>
            </p:custDataLst>
          </p:nvPr>
        </p:nvSpPr>
        <p:spPr>
          <a:xfrm rot="10800000">
            <a:off x="5739577" y="3846410"/>
            <a:ext cx="295592" cy="295592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直角三角形 34"/>
          <p:cNvSpPr/>
          <p:nvPr>
            <p:custDataLst>
              <p:tags r:id="rId11"/>
            </p:custDataLst>
          </p:nvPr>
        </p:nvSpPr>
        <p:spPr>
          <a:xfrm rot="10800000">
            <a:off x="8114148" y="3553139"/>
            <a:ext cx="295592" cy="29559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12"/>
            </p:custDataLst>
          </p:nvPr>
        </p:nvSpPr>
        <p:spPr>
          <a:xfrm>
            <a:off x="8097520" y="2504638"/>
            <a:ext cx="3274980" cy="133945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25000">
                <a:schemeClr val="accent4">
                  <a:lumMod val="60000"/>
                  <a:lumOff val="40000"/>
                </a:schemeClr>
              </a:gs>
              <a:gs pos="90000">
                <a:schemeClr val="accent4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schemeClr val="accent4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60045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测试与集成任务</a:t>
            </a:r>
            <a:endParaRPr lang="zh-CN" altLang="en-US" sz="2000" b="1" dirty="0">
              <a:solidFill>
                <a:srgbClr val="FFFFFF"/>
              </a:solidFill>
              <a:latin typeface="+mj-ea"/>
              <a:ea typeface="+mj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4805" y="2044065"/>
            <a:ext cx="82296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lang="zh-CN" altLang="en-US" sz="72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任务分配</a:t>
            </a:r>
            <a:endParaRPr kumimoji="1" lang="zh-CN" altLang="en-US" sz="72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3857" y="1070113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04</a:t>
            </a:r>
            <a:endParaRPr lang="zh-CN" altLang="en-US" sz="239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2247" y="2381918"/>
            <a:ext cx="1801368" cy="694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567" y="2498559"/>
            <a:ext cx="1657249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PART FOUR</a:t>
            </a:r>
            <a:endParaRPr lang="zh-CN" altLang="en-US" sz="2400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48690" y="535305"/>
            <a:ext cx="10346055" cy="72009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第一次迭代</a:t>
            </a:r>
            <a:r>
              <a:rPr lang="zh-CN" altLang="en-US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任务分配</a:t>
            </a:r>
            <a:endParaRPr lang="zh-CN" altLang="en-US"/>
          </a:p>
        </p:txBody>
      </p:sp>
      <p:sp>
        <p:nvSpPr>
          <p:cNvPr id="27" name="任意多边形: 形状 26"/>
          <p:cNvSpPr/>
          <p:nvPr>
            <p:custDataLst>
              <p:tags r:id="rId2"/>
            </p:custDataLst>
          </p:nvPr>
        </p:nvSpPr>
        <p:spPr>
          <a:xfrm>
            <a:off x="11736343" y="5058507"/>
            <a:ext cx="455657" cy="911313"/>
          </a:xfrm>
          <a:custGeom>
            <a:avLst/>
            <a:gdLst>
              <a:gd name="connsiteX0" fmla="*/ 455657 w 455657"/>
              <a:gd name="connsiteY0" fmla="*/ 0 h 911313"/>
              <a:gd name="connsiteX1" fmla="*/ 455657 w 455657"/>
              <a:gd name="connsiteY1" fmla="*/ 911313 h 911313"/>
              <a:gd name="connsiteX2" fmla="*/ 124404 w 455657"/>
              <a:gd name="connsiteY2" fmla="*/ 580060 h 911313"/>
              <a:gd name="connsiteX3" fmla="*/ 112496 w 455657"/>
              <a:gd name="connsiteY3" fmla="*/ 580060 h 911313"/>
              <a:gd name="connsiteX4" fmla="*/ 112496 w 455657"/>
              <a:gd name="connsiteY4" fmla="*/ 568152 h 911313"/>
              <a:gd name="connsiteX5" fmla="*/ 0 w 455657"/>
              <a:gd name="connsiteY5" fmla="*/ 455657 h 91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657" h="911313">
                <a:moveTo>
                  <a:pt x="455657" y="0"/>
                </a:moveTo>
                <a:lnTo>
                  <a:pt x="455657" y="911313"/>
                </a:lnTo>
                <a:lnTo>
                  <a:pt x="124404" y="580060"/>
                </a:lnTo>
                <a:lnTo>
                  <a:pt x="112496" y="580060"/>
                </a:lnTo>
                <a:lnTo>
                  <a:pt x="112496" y="568152"/>
                </a:lnTo>
                <a:lnTo>
                  <a:pt x="0" y="455657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-1220" y="975373"/>
            <a:ext cx="632407" cy="1258493"/>
          </a:xfrm>
          <a:custGeom>
            <a:avLst/>
            <a:gdLst>
              <a:gd name="connsiteX0" fmla="*/ 0 w 2359678"/>
              <a:gd name="connsiteY0" fmla="*/ 0 h 4719355"/>
              <a:gd name="connsiteX1" fmla="*/ 2359678 w 2359678"/>
              <a:gd name="connsiteY1" fmla="*/ 2359677 h 4719355"/>
              <a:gd name="connsiteX2" fmla="*/ 0 w 2359678"/>
              <a:gd name="connsiteY2" fmla="*/ 4719355 h 471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9678" h="4719355">
                <a:moveTo>
                  <a:pt x="0" y="0"/>
                </a:moveTo>
                <a:lnTo>
                  <a:pt x="2359678" y="2359677"/>
                </a:lnTo>
                <a:lnTo>
                  <a:pt x="0" y="471935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>
            <a:off x="-2538" y="1104676"/>
            <a:ext cx="633424" cy="1260516"/>
          </a:xfrm>
          <a:custGeom>
            <a:avLst/>
            <a:gdLst>
              <a:gd name="connsiteX0" fmla="*/ 0 w 2576331"/>
              <a:gd name="connsiteY0" fmla="*/ 0 h 5152662"/>
              <a:gd name="connsiteX1" fmla="*/ 2576331 w 2576331"/>
              <a:gd name="connsiteY1" fmla="*/ 2576331 h 5152662"/>
              <a:gd name="connsiteX2" fmla="*/ 0 w 2576331"/>
              <a:gd name="connsiteY2" fmla="*/ 5152662 h 515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6331" h="5152662">
                <a:moveTo>
                  <a:pt x="0" y="0"/>
                </a:moveTo>
                <a:lnTo>
                  <a:pt x="2576331" y="2576331"/>
                </a:lnTo>
                <a:lnTo>
                  <a:pt x="0" y="51526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>
            <p:custDataLst>
              <p:tags r:id="rId5"/>
            </p:custDataLst>
          </p:nvPr>
        </p:nvSpPr>
        <p:spPr>
          <a:xfrm>
            <a:off x="11736341" y="4915409"/>
            <a:ext cx="455656" cy="911313"/>
          </a:xfrm>
          <a:custGeom>
            <a:avLst/>
            <a:gdLst>
              <a:gd name="connsiteX0" fmla="*/ 455656 w 455656"/>
              <a:gd name="connsiteY0" fmla="*/ 0 h 911313"/>
              <a:gd name="connsiteX1" fmla="*/ 455656 w 455656"/>
              <a:gd name="connsiteY1" fmla="*/ 911313 h 911313"/>
              <a:gd name="connsiteX2" fmla="*/ 0 w 455656"/>
              <a:gd name="connsiteY2" fmla="*/ 455657 h 91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5656" h="911313">
                <a:moveTo>
                  <a:pt x="455656" y="0"/>
                </a:moveTo>
                <a:lnTo>
                  <a:pt x="455656" y="911313"/>
                </a:lnTo>
                <a:lnTo>
                  <a:pt x="0" y="4556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6"/>
            </p:custDataLst>
          </p:nvPr>
        </p:nvGraphicFramePr>
        <p:xfrm>
          <a:off x="849630" y="1368425"/>
          <a:ext cx="1056894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980"/>
                <a:gridCol w="3522980"/>
                <a:gridCol w="3522980"/>
              </a:tblGrid>
              <a:tr h="970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任务类别</a:t>
                      </a:r>
                      <a:endParaRPr lang="zh-CN" altLang="en-US" sz="2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800" b="1" i="0"/>
                        <a:t>具体任务</a:t>
                      </a:r>
                      <a:endParaRPr lang="zh-CN" altLang="en-US" sz="2800" b="1" i="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负责人</a:t>
                      </a:r>
                      <a:endParaRPr lang="zh-CN" altLang="en-US" sz="2800"/>
                    </a:p>
                  </a:txBody>
                  <a:tcPr anchor="ctr" anchorCtr="0"/>
                </a:tc>
              </a:tr>
              <a:tr h="970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后端开发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功能设计，接口设计，</a:t>
                      </a:r>
                      <a:r>
                        <a:rPr lang="en-US" altLang="zh-CN" sz="2000"/>
                        <a:t>B1-B6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梁景毓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  <a:tr h="970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前端开发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前端页面开发，</a:t>
                      </a:r>
                      <a:r>
                        <a:rPr lang="en-US" altLang="zh-CN" sz="2000"/>
                        <a:t>F1-F5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胡辰朋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  <a:tr h="970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机器学习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 </a:t>
                      </a:r>
                      <a:r>
                        <a:rPr lang="zh-CN" altLang="en-US" sz="2000"/>
                        <a:t>准备训练集，进行模型训练等，</a:t>
                      </a:r>
                      <a:r>
                        <a:rPr lang="en-US" altLang="zh-CN" sz="2000"/>
                        <a:t>M1–M4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黄伟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  <a:tr h="970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测试与集成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API</a:t>
                      </a:r>
                      <a:r>
                        <a:rPr lang="zh-CN" altLang="en-US" sz="2000"/>
                        <a:t>单元测试，功能测试等，</a:t>
                      </a:r>
                      <a:r>
                        <a:rPr lang="en-US" altLang="zh-CN" sz="2000"/>
                        <a:t>T1–T3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张梁圣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4236720"/>
            <a:ext cx="12223750" cy="2621279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470597" y="1455500"/>
            <a:ext cx="7591823" cy="332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72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谢谢大家的观看！</a:t>
            </a:r>
            <a:endParaRPr lang="en-US" sz="72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  <a:p>
            <a:pPr algn="ctr">
              <a:lnSpc>
                <a:spcPts val="12960"/>
              </a:lnSpc>
            </a:pPr>
            <a:r>
              <a:rPr lang="en-US" sz="72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非常感谢！</a:t>
            </a:r>
            <a:endParaRPr lang="en-US" sz="72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 rot="10765910">
            <a:off x="1008691" y="3312372"/>
            <a:ext cx="1921097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10765910">
            <a:off x="9031027" y="3293322"/>
            <a:ext cx="1921097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6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7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8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9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0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1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2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3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4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5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6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7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8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19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20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21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22.xml><?xml version="1.0" encoding="utf-8"?>
<p:tagLst xmlns:p="http://schemas.openxmlformats.org/presentationml/2006/main">
  <p:tag name="KSO_WM_DIAGRAM_VIRTUALLY_FRAME" val="{&quot;height&quot;:172.9500787401575,&quot;left&quot;:78.4454330708661,&quot;top&quot;:186.82496062992124,&quot;width&quot;:822.8269291338584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58_1*a*1"/>
  <p:tag name="KSO_WM_TEMPLATE_CATEGORY" val="custom"/>
  <p:tag name="KSO_WM_TEMPLATE_INDEX" val="20234958"/>
  <p:tag name="KSO_WM_UNIT_LAYERLEVEL" val="1"/>
  <p:tag name="KSO_WM_TAG_VERSION" val="3.0"/>
  <p:tag name="KSO_WM_BEAUTIFY_FLAG" val="#wm#"/>
  <p:tag name="KSO_WM_UNIT_VALUE" val="26"/>
  <p:tag name="KSO_WM_UNIT_TEXT_TYPE" val="1"/>
  <p:tag name="KSO_WM_UNIT_PRESET_TEXT" val="单击此处添加标题"/>
</p:tagLst>
</file>

<file path=ppt/tags/tag24.xml><?xml version="1.0" encoding="utf-8"?>
<p:tagLst xmlns:p="http://schemas.openxmlformats.org/presentationml/2006/main">
  <p:tag name="KSO_WM_SLIDE_ID" val="custom2023495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960*492"/>
  <p:tag name="KSO_WM_SLIDE_POSITION" val="0*47"/>
  <p:tag name="KSO_WM_TAG_VERSION" val="3.0"/>
  <p:tag name="KSO_WM_BEAUTIFY_FLAG" val="#wm#"/>
  <p:tag name="KSO_WM_TEMPLATE_CATEGORY" val="custom"/>
  <p:tag name="KSO_WM_TEMPLATE_INDEX" val="20234958"/>
  <p:tag name="KSO_WM_SLIDE_LAYOUT" val="a_f_α"/>
  <p:tag name="KSO_WM_SLIDE_LAYOUT_CNT" val="1_1_1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2*m_h_f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5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正文，文字是您思想的提炼"/>
  <p:tag name="KSO_WM_UNIT_TEXT_FILL_FORE_SCHEMECOLOR_INDEX" val="1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a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1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TYPE" val="1"/>
  <p:tag name="KSO_WM_UNIT_SHADOW_SCHEMECOLOR_INDEX" val="5"/>
  <p:tag name="KSO_WM_UNIT_USESOURCEFORMAT_APPLY" val="0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1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3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2*7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0939_2*m_h_x*1_1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2*m_h_f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5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正文，文字是您思想的提炼"/>
  <p:tag name="KSO_WM_UNIT_TEXT_FILL_FORE_SCHEMECOLOR_INDEX" val="1"/>
  <p:tag name="KSO_WM_UNIT_TEXT_FILL_TYPE" val="1"/>
  <p:tag name="KSO_WM_UNIT_USESOURCEFORMAT_APPLY" val="0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a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1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TYPE" val="1"/>
  <p:tag name="KSO_WM_UNIT_SHADOW_SCHEMECOLOR_INDEX" val="5"/>
  <p:tag name="KSO_WM_UNIT_USESOURCEFORMAT_APPLY" val="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1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1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3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2*7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0939_2*m_h_x*1_1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2*m_h_f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5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你的文本具体内容"/>
  <p:tag name="KSO_WM_UNIT_TEXT_FILL_FORE_SCHEMECOLOR_INDEX" val="1"/>
  <p:tag name="KSO_WM_UNIT_TEXT_FILL_TYPE" val="1"/>
  <p:tag name="KSO_WM_UNIT_USESOURCEFORMAT_APPLY" val="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a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2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标题"/>
  <p:tag name="KSO_WM_UNIT_FILL_TYPE" val="1"/>
  <p:tag name="KSO_WM_UNIT_FILL_FORE_SCHEMECOLOR_INDEX" val="6"/>
  <p:tag name="KSO_WM_UNIT_FILL_FORE_SCHEMECOLOR_INDEX_BRIGHTNESS" val="0"/>
  <p:tag name="KSO_WM_UNIT_TEXT_TYPE" val="1"/>
  <p:tag name="KSO_WM_UNIT_SHADOW_SCHEMECOLOR_INDEX" val="6"/>
  <p:tag name="KSO_WM_UNIT_USESOURCEFORMAT_APPLY" val="0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1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3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6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0939_2*m_h_x*1_2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2*m_h_f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5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你的文本具体内容"/>
  <p:tag name="KSO_WM_UNIT_TEXT_FILL_FORE_SCHEMECOLOR_INDEX" val="1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a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2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标题"/>
  <p:tag name="KSO_WM_UNIT_FILL_TYPE" val="1"/>
  <p:tag name="KSO_WM_UNIT_FILL_FORE_SCHEMECOLOR_INDEX" val="6"/>
  <p:tag name="KSO_WM_UNIT_FILL_FORE_SCHEMECOLOR_INDEX_BRIGHTNESS" val="0"/>
  <p:tag name="KSO_WM_UNIT_TEXT_TYPE" val="1"/>
  <p:tag name="KSO_WM_UNIT_SHADOW_SCHEMECOLOR_INDEX" val="6"/>
  <p:tag name="KSO_WM_UNIT_USESOURCEFORMAT_APPLY" val="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1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2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3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4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6*7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0939_2*m_h_x*1_2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2*m_h_f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5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正文，文字是您思想的提炼"/>
  <p:tag name="KSO_WM_UNIT_TEXT_FILL_FORE_SCHEMECOLOR_INDEX" val="1"/>
  <p:tag name="KSO_WM_UNIT_TEXT_FILL_TYPE" val="1"/>
  <p:tag name="KSO_WM_UNIT_USESOURCEFORMAT_APPLY" val="0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a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3_2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UNIT_PRESET_TEXT" val="添加标题"/>
  <p:tag name="KSO_WM_UNIT_FILL_TYPE" val="1"/>
  <p:tag name="KSO_WM_UNIT_FILL_FORE_SCHEMECOLOR_INDEX" val="7"/>
  <p:tag name="KSO_WM_UNIT_FILL_FORE_SCHEMECOLOR_INDEX_BRIGHTNESS" val="0"/>
  <p:tag name="KSO_WM_UNIT_TEXT_TYPE" val="1"/>
  <p:tag name="KSO_WM_UNIT_SHADOW_SCHEMECOLOR_INDEX" val="7"/>
  <p:tag name="KSO_WM_UNIT_USESOURCEFORMAT_APPLY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1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2*m_h_i*1_3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3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54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80*86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0939_2*m_h_x*1_3_1"/>
  <p:tag name="KSO_WM_TEMPLATE_CATEGORY" val="diagram"/>
  <p:tag name="KSO_WM_TEMPLATE_INDEX" val="20230939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1.1000061035156,&quot;left&quot;:25.55,&quot;top&quot;:178.04999694824218,&quot;width&quot;:909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55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39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66_3*a*1"/>
  <p:tag name="KSO_WM_TEMPLATE_CATEGORY" val="diagram"/>
  <p:tag name="KSO_WM_TEMPLATE_INDEX" val="20231066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a*1_1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a"/>
  <p:tag name="KSO_WM_UNIT_INDEX" val="1_1_1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5"/>
  <p:tag name="KSO_WM_UNIT_USESOURCEFORMAT_APPLY" val="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066_3*m_h_f*1_1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，添加您文本具体的内容和阐述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a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a"/>
  <p:tag name="KSO_WM_UNIT_INDEX" val="1_2_1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6"/>
  <p:tag name="KSO_WM_UNIT_USESOURCEFORMAT_APPLY" val="0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066_3*m_h_f*1_2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，添加您文本具体的内容和阐述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a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a"/>
  <p:tag name="KSO_WM_UNIT_INDEX" val="1_3_1"/>
  <p:tag name="KSO_WM_UNIT_ISCONTENTSTITLE" val="0"/>
  <p:tag name="KSO_WM_UNIT_ISNUMDGMTITLE" val="0"/>
  <p:tag name="KSO_WM_UNIT_NOCLEAR" val="0"/>
  <p:tag name="KSO_WM_UNIT_VALUE" val="7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gradient&quot;:[{&quot;brightness&quot;:0.4000000059604645,&quot;colorType&quot;:1,&quot;foreColorIndex&quot;:7,&quot;pos&quot;:0.8999999761581421,&quot;transparency&quot;:0},{&quot;brightness&quot;:0,&quot;colorType&quot;:1,&quot;foreColorIndex&quot;:7,&quot;pos&quot;:0,&quot;transparency&quot;:0}],&quot;type&quot;:3},&quot;glow&quot;:{&quot;colorType&quot;:0},&quot;line&quot;:{&quot;type&quot;:0},&quot;shadow&quot;:{&quot;brightness&quot;:0,&quot;colorType&quot;:1,&quot;foreColorIndex&quot;:7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7"/>
  <p:tag name="KSO_WM_UNIT_USESOURCEFORMAT_APPLY" val="0"/>
</p:tagLst>
</file>

<file path=ppt/tags/tag6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066_3*m_h_f*1_3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，添加您文本具体的内容和阐述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066_3*m_h_f*1_4_1"/>
  <p:tag name="KSO_WM_TEMPLATE_CATEGORY" val="diagram"/>
  <p:tag name="KSO_WM_TEMPLATE_INDEX" val="20231066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VALUE" val="40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，添加您文本具体的内容和阐述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i*1_2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i*1_3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i*1_4_1"/>
  <p:tag name="KSO_WM_TEMPLATE_CATEGORY" val="diagram"/>
  <p:tag name="KSO_WM_TEMPLATE_INDEX" val="20231066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3*m_h_a*1_4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a"/>
  <p:tag name="KSO_WM_UNIT_INDEX" val="1_4_1"/>
  <p:tag name="KSO_WM_UNIT_ISCONTENTSTITLE" val="0"/>
  <p:tag name="KSO_WM_UNIT_ISNUMDGMTITLE" val="0"/>
  <p:tag name="KSO_WM_UNIT_NOCLEAR" val="0"/>
  <p:tag name="KSO_WM_UNIT_VALUE" val="27"/>
  <p:tag name="KSO_WM_DIAGRAM_MAX_ITEMCNT" val="6"/>
  <p:tag name="KSO_WM_DIAGRAM_MIN_ITEMCNT" val="2"/>
  <p:tag name="KSO_WM_DIAGRAM_VIRTUALLY_FRAME" val="{&quot;height&quot;:373.3,&quot;left&quot;:64.06569718488564,&quot;top&quot;:105.2,&quot;width&quot;:844.1839599609375}"/>
  <p:tag name="KSO_WM_DIAGRAM_COLOR_MATCH_VALUE" val="{&quot;shape&quot;:{&quot;fill&quot;:{&quot;gradient&quot;:[{&quot;brightness&quot;:0.4000000059604645,&quot;colorType&quot;:1,&quot;foreColorIndex&quot;:8,&quot;pos&quot;:0.25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UNIT_SHADOW_SCHEMECOLOR_INDEX" val="8"/>
  <p:tag name="KSO_WM_UNIT_USESOURCEFORMAT_APPLY" val="0"/>
</p:tagLst>
</file>

<file path=ppt/tags/tag68.xml><?xml version="1.0" encoding="utf-8"?>
<p:tagLst xmlns:p="http://schemas.openxmlformats.org/presentationml/2006/main">
  <p:tag name="KSO_WM_SLIDE_ID" val="diagram20231066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066"/>
  <p:tag name="KSO_WM_SLIDE_TYPE" val="text"/>
  <p:tag name="KSO_WM_SLIDE_SUBTYPE" val="diag"/>
  <p:tag name="KSO_WM_SLIDE_SIZE" val="779.95*373.3"/>
  <p:tag name="KSO_WM_SLIDE_POSITION" val="78.75*105.2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6_1*a*1"/>
  <p:tag name="KSO_WM_TEMPLATE_CATEGORY" val="custom"/>
  <p:tag name="KSO_WM_TEMPLATE_INDEX" val="20233376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6_1*i*1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6_1*i*2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6_1*i*3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6_1*i*4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TABLE_ENDDRAG_ORIGIN_RECT" val="832*381"/>
  <p:tag name="TABLE_ENDDRAG_RECT" val="66*107*832*381"/>
</p:tagLst>
</file>

<file path=ppt/tags/tag75.xml><?xml version="1.0" encoding="utf-8"?>
<p:tagLst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76.xml><?xml version="1.0" encoding="utf-8"?>
<p:tagLst xmlns:p="http://schemas.openxmlformats.org/presentationml/2006/main">
  <p:tag name="COMMONDATA" val="eyJoZGlkIjoiODA2NGM4M2Q0MTk3ZmNiZjdiODk3MzMwMTRmZjYwOTIifQ=="/>
  <p:tag name="KSO_WPP_MARK_KEY" val="b774c17c-b643-4ff6-9cab-780ba1947bad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16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1F5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1012</Words>
  <Application>WPS 演示</Application>
  <PresentationFormat>宽屏</PresentationFormat>
  <Paragraphs>176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思源黑体 CN Medium</vt:lpstr>
      <vt:lpstr>黑体</vt:lpstr>
      <vt:lpstr>Arial Unicode MS</vt:lpstr>
      <vt:lpstr>Calibri</vt:lpstr>
      <vt:lpstr>思源黑体 Bold</vt:lpstr>
      <vt:lpstr>思源黑体 CN Bold</vt:lpstr>
      <vt:lpstr>思源黑体 CN Light</vt:lpstr>
      <vt:lpstr>OPPOSans B</vt:lpstr>
      <vt:lpstr>OPPOSans R</vt:lpstr>
      <vt:lpstr>Office 主题​​</vt:lpstr>
      <vt:lpstr>PowerPoint 演示文稿</vt:lpstr>
      <vt:lpstr>PowerPoint 演示文稿</vt:lpstr>
      <vt:lpstr>PowerPoint 演示文稿</vt:lpstr>
      <vt:lpstr>项目整体范围计划——3个迭代，每迭代2天</vt:lpstr>
      <vt:lpstr>PowerPoint 演示文稿</vt:lpstr>
      <vt:lpstr>第一次迭代用户故事</vt:lpstr>
      <vt:lpstr>PowerPoint 演示文稿</vt:lpstr>
      <vt:lpstr>第一次迭代任务分解</vt:lpstr>
      <vt:lpstr>PowerPoint 演示文稿</vt:lpstr>
      <vt:lpstr>第一次迭代任务分配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梁景毓</cp:lastModifiedBy>
  <cp:revision>11</cp:revision>
  <dcterms:created xsi:type="dcterms:W3CDTF">2024-03-24T13:51:00Z</dcterms:created>
  <dcterms:modified xsi:type="dcterms:W3CDTF">2025-10-12T13:35:24Z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D0F7FB6CBD524158A1B6440EB62DDE94_13</vt:lpwstr>
  </property>
  <property fmtid="{D5CDD505-2E9C-101B-9397-08002B2CF9AE}" pid="3" name="KSOProductBuildVer">
    <vt:lpwstr>2052-12.1.0.20305</vt:lpwstr>
  </property>
  <property fmtid="{D5CDD505-2E9C-101B-9397-08002B2CF9AE}" pid="4" name="KSOTemplateUUID">
    <vt:lpwstr>v1.0_mb_/hAZ87j1SN0moL58ZmtD3A==</vt:lpwstr>
  </property>
</Properties>
</file>