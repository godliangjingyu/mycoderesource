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media/image2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3"/>
    <p:sldId id="257" r:id="rId4"/>
    <p:sldId id="258" r:id="rId5"/>
    <p:sldId id="267" r:id="rId6"/>
    <p:sldId id="269" r:id="rId7"/>
    <p:sldId id="261" r:id="rId8"/>
    <p:sldId id="270" r:id="rId9"/>
    <p:sldId id="272" r:id="rId10"/>
    <p:sldId id="275" r:id="rId11"/>
    <p:sldId id="278" r:id="rId12"/>
    <p:sldId id="279" r:id="rId13"/>
    <p:sldId id="280" r:id="rId14"/>
    <p:sldId id="282" r:id="rId15"/>
    <p:sldId id="283" r:id="rId16"/>
    <p:sldId id="268" r:id="rId17"/>
  </p:sldIdLst>
  <p:sldSz cx="18288000" cy="10287000"/>
  <p:notesSz cx="6858000" cy="9144000"/>
  <p:embeddedFontLst>
    <p:embeddedFont>
      <p:font typeface="Arimo Bold" panose="020B0704020202020204"/>
      <p:bold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247.xml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3" Type="http://schemas.openxmlformats.org/officeDocument/2006/relationships/slideLayout" Target="../slideLayouts/slideLayout7.xml"/><Relationship Id="rId32" Type="http://schemas.openxmlformats.org/officeDocument/2006/relationships/tags" Target="../tags/tag43.xml"/><Relationship Id="rId31" Type="http://schemas.openxmlformats.org/officeDocument/2006/relationships/tags" Target="../tags/tag42.xml"/><Relationship Id="rId30" Type="http://schemas.openxmlformats.org/officeDocument/2006/relationships/tags" Target="../tags/tag41.xml"/><Relationship Id="rId3" Type="http://schemas.openxmlformats.org/officeDocument/2006/relationships/tags" Target="../tags/tag17.xml"/><Relationship Id="rId29" Type="http://schemas.openxmlformats.org/officeDocument/2006/relationships/tags" Target="../tags/tag40.xml"/><Relationship Id="rId28" Type="http://schemas.openxmlformats.org/officeDocument/2006/relationships/tags" Target="../tags/tag39.xml"/><Relationship Id="rId27" Type="http://schemas.openxmlformats.org/officeDocument/2006/relationships/tags" Target="../tags/tag38.xml"/><Relationship Id="rId26" Type="http://schemas.openxmlformats.org/officeDocument/2006/relationships/tags" Target="../tags/tag37.xml"/><Relationship Id="rId25" Type="http://schemas.openxmlformats.org/officeDocument/2006/relationships/image" Target="../media/image3.png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image" Target="../media/image2.svg"/><Relationship Id="rId21" Type="http://schemas.openxmlformats.org/officeDocument/2006/relationships/image" Target="../media/image1.png"/><Relationship Id="rId20" Type="http://schemas.openxmlformats.org/officeDocument/2006/relationships/tags" Target="../tags/tag34.xml"/><Relationship Id="rId2" Type="http://schemas.openxmlformats.org/officeDocument/2006/relationships/tags" Target="../tags/tag16.xml"/><Relationship Id="rId19" Type="http://schemas.openxmlformats.org/officeDocument/2006/relationships/tags" Target="../tags/tag33.xml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3" Type="http://schemas.openxmlformats.org/officeDocument/2006/relationships/slideLayout" Target="../slideLayouts/slideLayout7.xml"/><Relationship Id="rId32" Type="http://schemas.openxmlformats.org/officeDocument/2006/relationships/tags" Target="../tags/tag72.xml"/><Relationship Id="rId31" Type="http://schemas.openxmlformats.org/officeDocument/2006/relationships/tags" Target="../tags/tag71.xml"/><Relationship Id="rId30" Type="http://schemas.openxmlformats.org/officeDocument/2006/relationships/tags" Target="../tags/tag70.xml"/><Relationship Id="rId3" Type="http://schemas.openxmlformats.org/officeDocument/2006/relationships/tags" Target="../tags/tag46.xml"/><Relationship Id="rId29" Type="http://schemas.openxmlformats.org/officeDocument/2006/relationships/tags" Target="../tags/tag69.xml"/><Relationship Id="rId28" Type="http://schemas.openxmlformats.org/officeDocument/2006/relationships/tags" Target="../tags/tag68.xml"/><Relationship Id="rId27" Type="http://schemas.openxmlformats.org/officeDocument/2006/relationships/tags" Target="../tags/tag67.xml"/><Relationship Id="rId26" Type="http://schemas.openxmlformats.org/officeDocument/2006/relationships/tags" Target="../tags/tag66.xml"/><Relationship Id="rId25" Type="http://schemas.openxmlformats.org/officeDocument/2006/relationships/image" Target="../media/image3.png"/><Relationship Id="rId24" Type="http://schemas.openxmlformats.org/officeDocument/2006/relationships/tags" Target="../tags/tag65.xml"/><Relationship Id="rId23" Type="http://schemas.openxmlformats.org/officeDocument/2006/relationships/tags" Target="../tags/tag64.xml"/><Relationship Id="rId22" Type="http://schemas.openxmlformats.org/officeDocument/2006/relationships/image" Target="../media/image5.svg"/><Relationship Id="rId21" Type="http://schemas.openxmlformats.org/officeDocument/2006/relationships/image" Target="../media/image4.png"/><Relationship Id="rId20" Type="http://schemas.openxmlformats.org/officeDocument/2006/relationships/tags" Target="../tags/tag63.xml"/><Relationship Id="rId2" Type="http://schemas.openxmlformats.org/officeDocument/2006/relationships/tags" Target="../tags/tag45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3" Type="http://schemas.openxmlformats.org/officeDocument/2006/relationships/slideLayout" Target="../slideLayouts/slideLayout7.xml"/><Relationship Id="rId32" Type="http://schemas.openxmlformats.org/officeDocument/2006/relationships/tags" Target="../tags/tag101.xml"/><Relationship Id="rId31" Type="http://schemas.openxmlformats.org/officeDocument/2006/relationships/tags" Target="../tags/tag100.xml"/><Relationship Id="rId30" Type="http://schemas.openxmlformats.org/officeDocument/2006/relationships/tags" Target="../tags/tag99.xml"/><Relationship Id="rId3" Type="http://schemas.openxmlformats.org/officeDocument/2006/relationships/tags" Target="../tags/tag75.xml"/><Relationship Id="rId29" Type="http://schemas.openxmlformats.org/officeDocument/2006/relationships/tags" Target="../tags/tag98.xml"/><Relationship Id="rId28" Type="http://schemas.openxmlformats.org/officeDocument/2006/relationships/tags" Target="../tags/tag97.xml"/><Relationship Id="rId27" Type="http://schemas.openxmlformats.org/officeDocument/2006/relationships/tags" Target="../tags/tag96.xml"/><Relationship Id="rId26" Type="http://schemas.openxmlformats.org/officeDocument/2006/relationships/tags" Target="../tags/tag95.xml"/><Relationship Id="rId25" Type="http://schemas.openxmlformats.org/officeDocument/2006/relationships/image" Target="../media/image3.png"/><Relationship Id="rId24" Type="http://schemas.openxmlformats.org/officeDocument/2006/relationships/tags" Target="../tags/tag94.xml"/><Relationship Id="rId23" Type="http://schemas.openxmlformats.org/officeDocument/2006/relationships/tags" Target="../tags/tag93.xml"/><Relationship Id="rId22" Type="http://schemas.openxmlformats.org/officeDocument/2006/relationships/image" Target="../media/image6.svg"/><Relationship Id="rId21" Type="http://schemas.openxmlformats.org/officeDocument/2006/relationships/image" Target="../media/image4.png"/><Relationship Id="rId20" Type="http://schemas.openxmlformats.org/officeDocument/2006/relationships/tags" Target="../tags/tag92.xml"/><Relationship Id="rId2" Type="http://schemas.openxmlformats.org/officeDocument/2006/relationships/tags" Target="../tags/tag74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3" Type="http://schemas.openxmlformats.org/officeDocument/2006/relationships/slideLayout" Target="../slideLayouts/slideLayout7.xml"/><Relationship Id="rId32" Type="http://schemas.openxmlformats.org/officeDocument/2006/relationships/tags" Target="../tags/tag130.xml"/><Relationship Id="rId31" Type="http://schemas.openxmlformats.org/officeDocument/2006/relationships/tags" Target="../tags/tag129.xml"/><Relationship Id="rId30" Type="http://schemas.openxmlformats.org/officeDocument/2006/relationships/tags" Target="../tags/tag128.xml"/><Relationship Id="rId3" Type="http://schemas.openxmlformats.org/officeDocument/2006/relationships/tags" Target="../tags/tag104.xml"/><Relationship Id="rId29" Type="http://schemas.openxmlformats.org/officeDocument/2006/relationships/tags" Target="../tags/tag127.xml"/><Relationship Id="rId28" Type="http://schemas.openxmlformats.org/officeDocument/2006/relationships/tags" Target="../tags/tag126.xml"/><Relationship Id="rId27" Type="http://schemas.openxmlformats.org/officeDocument/2006/relationships/tags" Target="../tags/tag125.xml"/><Relationship Id="rId26" Type="http://schemas.openxmlformats.org/officeDocument/2006/relationships/tags" Target="../tags/tag124.xml"/><Relationship Id="rId25" Type="http://schemas.openxmlformats.org/officeDocument/2006/relationships/image" Target="../media/image3.png"/><Relationship Id="rId24" Type="http://schemas.openxmlformats.org/officeDocument/2006/relationships/tags" Target="../tags/tag123.xml"/><Relationship Id="rId23" Type="http://schemas.openxmlformats.org/officeDocument/2006/relationships/tags" Target="../tags/tag122.xml"/><Relationship Id="rId22" Type="http://schemas.openxmlformats.org/officeDocument/2006/relationships/image" Target="../media/image7.svg"/><Relationship Id="rId21" Type="http://schemas.openxmlformats.org/officeDocument/2006/relationships/image" Target="../media/image4.png"/><Relationship Id="rId20" Type="http://schemas.openxmlformats.org/officeDocument/2006/relationships/tags" Target="../tags/tag121.xml"/><Relationship Id="rId2" Type="http://schemas.openxmlformats.org/officeDocument/2006/relationships/tags" Target="../tags/tag103.xml"/><Relationship Id="rId19" Type="http://schemas.openxmlformats.org/officeDocument/2006/relationships/tags" Target="../tags/tag120.xml"/><Relationship Id="rId18" Type="http://schemas.openxmlformats.org/officeDocument/2006/relationships/tags" Target="../tags/tag119.xml"/><Relationship Id="rId17" Type="http://schemas.openxmlformats.org/officeDocument/2006/relationships/tags" Target="../tags/tag118.xml"/><Relationship Id="rId16" Type="http://schemas.openxmlformats.org/officeDocument/2006/relationships/tags" Target="../tags/tag117.xml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tags" Target="../tags/tag10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3" Type="http://schemas.openxmlformats.org/officeDocument/2006/relationships/slideLayout" Target="../slideLayouts/slideLayout7.xml"/><Relationship Id="rId32" Type="http://schemas.openxmlformats.org/officeDocument/2006/relationships/tags" Target="../tags/tag159.xml"/><Relationship Id="rId31" Type="http://schemas.openxmlformats.org/officeDocument/2006/relationships/tags" Target="../tags/tag158.xml"/><Relationship Id="rId30" Type="http://schemas.openxmlformats.org/officeDocument/2006/relationships/tags" Target="../tags/tag157.xml"/><Relationship Id="rId3" Type="http://schemas.openxmlformats.org/officeDocument/2006/relationships/tags" Target="../tags/tag133.xml"/><Relationship Id="rId29" Type="http://schemas.openxmlformats.org/officeDocument/2006/relationships/tags" Target="../tags/tag156.xml"/><Relationship Id="rId28" Type="http://schemas.openxmlformats.org/officeDocument/2006/relationships/tags" Target="../tags/tag155.xml"/><Relationship Id="rId27" Type="http://schemas.openxmlformats.org/officeDocument/2006/relationships/tags" Target="../tags/tag154.xml"/><Relationship Id="rId26" Type="http://schemas.openxmlformats.org/officeDocument/2006/relationships/tags" Target="../tags/tag153.xml"/><Relationship Id="rId25" Type="http://schemas.openxmlformats.org/officeDocument/2006/relationships/image" Target="../media/image3.png"/><Relationship Id="rId24" Type="http://schemas.openxmlformats.org/officeDocument/2006/relationships/tags" Target="../tags/tag152.xml"/><Relationship Id="rId23" Type="http://schemas.openxmlformats.org/officeDocument/2006/relationships/tags" Target="../tags/tag151.xml"/><Relationship Id="rId22" Type="http://schemas.openxmlformats.org/officeDocument/2006/relationships/image" Target="../media/image2.svg"/><Relationship Id="rId21" Type="http://schemas.openxmlformats.org/officeDocument/2006/relationships/image" Target="../media/image1.png"/><Relationship Id="rId20" Type="http://schemas.openxmlformats.org/officeDocument/2006/relationships/tags" Target="../tags/tag150.xml"/><Relationship Id="rId2" Type="http://schemas.openxmlformats.org/officeDocument/2006/relationships/tags" Target="../tags/tag132.xml"/><Relationship Id="rId19" Type="http://schemas.openxmlformats.org/officeDocument/2006/relationships/tags" Target="../tags/tag149.xml"/><Relationship Id="rId18" Type="http://schemas.openxmlformats.org/officeDocument/2006/relationships/tags" Target="../tags/tag148.xml"/><Relationship Id="rId17" Type="http://schemas.openxmlformats.org/officeDocument/2006/relationships/tags" Target="../tags/tag147.xml"/><Relationship Id="rId16" Type="http://schemas.openxmlformats.org/officeDocument/2006/relationships/tags" Target="../tags/tag146.xml"/><Relationship Id="rId15" Type="http://schemas.openxmlformats.org/officeDocument/2006/relationships/tags" Target="../tags/tag145.xml"/><Relationship Id="rId14" Type="http://schemas.openxmlformats.org/officeDocument/2006/relationships/tags" Target="../tags/tag144.xml"/><Relationship Id="rId13" Type="http://schemas.openxmlformats.org/officeDocument/2006/relationships/tags" Target="../tags/tag143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tags" Target="../tags/tag13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3" Type="http://schemas.openxmlformats.org/officeDocument/2006/relationships/slideLayout" Target="../slideLayouts/slideLayout7.xml"/><Relationship Id="rId32" Type="http://schemas.openxmlformats.org/officeDocument/2006/relationships/tags" Target="../tags/tag188.xml"/><Relationship Id="rId31" Type="http://schemas.openxmlformats.org/officeDocument/2006/relationships/tags" Target="../tags/tag187.xml"/><Relationship Id="rId30" Type="http://schemas.openxmlformats.org/officeDocument/2006/relationships/tags" Target="../tags/tag186.xml"/><Relationship Id="rId3" Type="http://schemas.openxmlformats.org/officeDocument/2006/relationships/tags" Target="../tags/tag162.xml"/><Relationship Id="rId29" Type="http://schemas.openxmlformats.org/officeDocument/2006/relationships/tags" Target="../tags/tag185.xml"/><Relationship Id="rId28" Type="http://schemas.openxmlformats.org/officeDocument/2006/relationships/tags" Target="../tags/tag184.xml"/><Relationship Id="rId27" Type="http://schemas.openxmlformats.org/officeDocument/2006/relationships/tags" Target="../tags/tag183.xml"/><Relationship Id="rId26" Type="http://schemas.openxmlformats.org/officeDocument/2006/relationships/tags" Target="../tags/tag182.xml"/><Relationship Id="rId25" Type="http://schemas.openxmlformats.org/officeDocument/2006/relationships/image" Target="../media/image3.png"/><Relationship Id="rId24" Type="http://schemas.openxmlformats.org/officeDocument/2006/relationships/tags" Target="../tags/tag181.xml"/><Relationship Id="rId23" Type="http://schemas.openxmlformats.org/officeDocument/2006/relationships/tags" Target="../tags/tag180.xml"/><Relationship Id="rId22" Type="http://schemas.openxmlformats.org/officeDocument/2006/relationships/image" Target="../media/image2.svg"/><Relationship Id="rId21" Type="http://schemas.openxmlformats.org/officeDocument/2006/relationships/image" Target="../media/image1.png"/><Relationship Id="rId20" Type="http://schemas.openxmlformats.org/officeDocument/2006/relationships/tags" Target="../tags/tag179.xml"/><Relationship Id="rId2" Type="http://schemas.openxmlformats.org/officeDocument/2006/relationships/tags" Target="../tags/tag161.xml"/><Relationship Id="rId19" Type="http://schemas.openxmlformats.org/officeDocument/2006/relationships/tags" Target="../tags/tag178.xml"/><Relationship Id="rId18" Type="http://schemas.openxmlformats.org/officeDocument/2006/relationships/tags" Target="../tags/tag177.xml"/><Relationship Id="rId17" Type="http://schemas.openxmlformats.org/officeDocument/2006/relationships/tags" Target="../tags/tag176.xml"/><Relationship Id="rId16" Type="http://schemas.openxmlformats.org/officeDocument/2006/relationships/tags" Target="../tags/tag175.xml"/><Relationship Id="rId15" Type="http://schemas.openxmlformats.org/officeDocument/2006/relationships/tags" Target="../tags/tag174.xml"/><Relationship Id="rId14" Type="http://schemas.openxmlformats.org/officeDocument/2006/relationships/tags" Target="../tags/tag173.xml"/><Relationship Id="rId13" Type="http://schemas.openxmlformats.org/officeDocument/2006/relationships/tags" Target="../tags/tag172.xml"/><Relationship Id="rId12" Type="http://schemas.openxmlformats.org/officeDocument/2006/relationships/tags" Target="../tags/tag171.xml"/><Relationship Id="rId11" Type="http://schemas.openxmlformats.org/officeDocument/2006/relationships/tags" Target="../tags/tag170.xml"/><Relationship Id="rId10" Type="http://schemas.openxmlformats.org/officeDocument/2006/relationships/tags" Target="../tags/tag169.xml"/><Relationship Id="rId1" Type="http://schemas.openxmlformats.org/officeDocument/2006/relationships/tags" Target="../tags/tag16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97.xml"/><Relationship Id="rId8" Type="http://schemas.openxmlformats.org/officeDocument/2006/relationships/tags" Target="../tags/tag196.xml"/><Relationship Id="rId7" Type="http://schemas.openxmlformats.org/officeDocument/2006/relationships/tags" Target="../tags/tag195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3" Type="http://schemas.openxmlformats.org/officeDocument/2006/relationships/slideLayout" Target="../slideLayouts/slideLayout7.xml"/><Relationship Id="rId32" Type="http://schemas.openxmlformats.org/officeDocument/2006/relationships/tags" Target="../tags/tag217.xml"/><Relationship Id="rId31" Type="http://schemas.openxmlformats.org/officeDocument/2006/relationships/tags" Target="../tags/tag216.xml"/><Relationship Id="rId30" Type="http://schemas.openxmlformats.org/officeDocument/2006/relationships/tags" Target="../tags/tag215.xml"/><Relationship Id="rId3" Type="http://schemas.openxmlformats.org/officeDocument/2006/relationships/tags" Target="../tags/tag191.xml"/><Relationship Id="rId29" Type="http://schemas.openxmlformats.org/officeDocument/2006/relationships/tags" Target="../tags/tag214.xml"/><Relationship Id="rId28" Type="http://schemas.openxmlformats.org/officeDocument/2006/relationships/tags" Target="../tags/tag213.xml"/><Relationship Id="rId27" Type="http://schemas.openxmlformats.org/officeDocument/2006/relationships/tags" Target="../tags/tag212.xml"/><Relationship Id="rId26" Type="http://schemas.openxmlformats.org/officeDocument/2006/relationships/tags" Target="../tags/tag211.xml"/><Relationship Id="rId25" Type="http://schemas.openxmlformats.org/officeDocument/2006/relationships/image" Target="../media/image3.png"/><Relationship Id="rId24" Type="http://schemas.openxmlformats.org/officeDocument/2006/relationships/tags" Target="../tags/tag210.xml"/><Relationship Id="rId23" Type="http://schemas.openxmlformats.org/officeDocument/2006/relationships/tags" Target="../tags/tag209.xml"/><Relationship Id="rId22" Type="http://schemas.openxmlformats.org/officeDocument/2006/relationships/image" Target="../media/image2.svg"/><Relationship Id="rId21" Type="http://schemas.openxmlformats.org/officeDocument/2006/relationships/image" Target="../media/image1.png"/><Relationship Id="rId20" Type="http://schemas.openxmlformats.org/officeDocument/2006/relationships/tags" Target="../tags/tag208.xml"/><Relationship Id="rId2" Type="http://schemas.openxmlformats.org/officeDocument/2006/relationships/tags" Target="../tags/tag190.xml"/><Relationship Id="rId19" Type="http://schemas.openxmlformats.org/officeDocument/2006/relationships/tags" Target="../tags/tag207.xml"/><Relationship Id="rId18" Type="http://schemas.openxmlformats.org/officeDocument/2006/relationships/tags" Target="../tags/tag206.xml"/><Relationship Id="rId17" Type="http://schemas.openxmlformats.org/officeDocument/2006/relationships/tags" Target="../tags/tag205.xml"/><Relationship Id="rId16" Type="http://schemas.openxmlformats.org/officeDocument/2006/relationships/tags" Target="../tags/tag204.xml"/><Relationship Id="rId15" Type="http://schemas.openxmlformats.org/officeDocument/2006/relationships/tags" Target="../tags/tag203.xml"/><Relationship Id="rId14" Type="http://schemas.openxmlformats.org/officeDocument/2006/relationships/tags" Target="../tags/tag202.xml"/><Relationship Id="rId13" Type="http://schemas.openxmlformats.org/officeDocument/2006/relationships/tags" Target="../tags/tag201.xml"/><Relationship Id="rId12" Type="http://schemas.openxmlformats.org/officeDocument/2006/relationships/tags" Target="../tags/tag200.xml"/><Relationship Id="rId11" Type="http://schemas.openxmlformats.org/officeDocument/2006/relationships/tags" Target="../tags/tag199.xml"/><Relationship Id="rId10" Type="http://schemas.openxmlformats.org/officeDocument/2006/relationships/tags" Target="../tags/tag198.xml"/><Relationship Id="rId1" Type="http://schemas.openxmlformats.org/officeDocument/2006/relationships/tags" Target="../tags/tag18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26.xml"/><Relationship Id="rId8" Type="http://schemas.openxmlformats.org/officeDocument/2006/relationships/tags" Target="../tags/tag225.xml"/><Relationship Id="rId7" Type="http://schemas.openxmlformats.org/officeDocument/2006/relationships/tags" Target="../tags/tag224.xml"/><Relationship Id="rId6" Type="http://schemas.openxmlformats.org/officeDocument/2006/relationships/tags" Target="../tags/tag223.xml"/><Relationship Id="rId5" Type="http://schemas.openxmlformats.org/officeDocument/2006/relationships/tags" Target="../tags/tag222.xml"/><Relationship Id="rId4" Type="http://schemas.openxmlformats.org/officeDocument/2006/relationships/tags" Target="../tags/tag221.xml"/><Relationship Id="rId33" Type="http://schemas.openxmlformats.org/officeDocument/2006/relationships/slideLayout" Target="../slideLayouts/slideLayout7.xml"/><Relationship Id="rId32" Type="http://schemas.openxmlformats.org/officeDocument/2006/relationships/tags" Target="../tags/tag246.xml"/><Relationship Id="rId31" Type="http://schemas.openxmlformats.org/officeDocument/2006/relationships/tags" Target="../tags/tag245.xml"/><Relationship Id="rId30" Type="http://schemas.openxmlformats.org/officeDocument/2006/relationships/tags" Target="../tags/tag244.xml"/><Relationship Id="rId3" Type="http://schemas.openxmlformats.org/officeDocument/2006/relationships/tags" Target="../tags/tag220.xml"/><Relationship Id="rId29" Type="http://schemas.openxmlformats.org/officeDocument/2006/relationships/tags" Target="../tags/tag243.xml"/><Relationship Id="rId28" Type="http://schemas.openxmlformats.org/officeDocument/2006/relationships/tags" Target="../tags/tag242.xml"/><Relationship Id="rId27" Type="http://schemas.openxmlformats.org/officeDocument/2006/relationships/tags" Target="../tags/tag241.xml"/><Relationship Id="rId26" Type="http://schemas.openxmlformats.org/officeDocument/2006/relationships/tags" Target="../tags/tag240.xml"/><Relationship Id="rId25" Type="http://schemas.openxmlformats.org/officeDocument/2006/relationships/image" Target="../media/image3.png"/><Relationship Id="rId24" Type="http://schemas.openxmlformats.org/officeDocument/2006/relationships/tags" Target="../tags/tag239.xml"/><Relationship Id="rId23" Type="http://schemas.openxmlformats.org/officeDocument/2006/relationships/tags" Target="../tags/tag238.xml"/><Relationship Id="rId22" Type="http://schemas.openxmlformats.org/officeDocument/2006/relationships/image" Target="../media/image2.svg"/><Relationship Id="rId21" Type="http://schemas.openxmlformats.org/officeDocument/2006/relationships/image" Target="../media/image1.png"/><Relationship Id="rId20" Type="http://schemas.openxmlformats.org/officeDocument/2006/relationships/tags" Target="../tags/tag237.xml"/><Relationship Id="rId2" Type="http://schemas.openxmlformats.org/officeDocument/2006/relationships/tags" Target="../tags/tag219.xml"/><Relationship Id="rId19" Type="http://schemas.openxmlformats.org/officeDocument/2006/relationships/tags" Target="../tags/tag236.xml"/><Relationship Id="rId18" Type="http://schemas.openxmlformats.org/officeDocument/2006/relationships/tags" Target="../tags/tag235.xml"/><Relationship Id="rId17" Type="http://schemas.openxmlformats.org/officeDocument/2006/relationships/tags" Target="../tags/tag234.xml"/><Relationship Id="rId16" Type="http://schemas.openxmlformats.org/officeDocument/2006/relationships/tags" Target="../tags/tag233.xml"/><Relationship Id="rId15" Type="http://schemas.openxmlformats.org/officeDocument/2006/relationships/tags" Target="../tags/tag232.xml"/><Relationship Id="rId14" Type="http://schemas.openxmlformats.org/officeDocument/2006/relationships/tags" Target="../tags/tag231.xml"/><Relationship Id="rId13" Type="http://schemas.openxmlformats.org/officeDocument/2006/relationships/tags" Target="../tags/tag230.xml"/><Relationship Id="rId12" Type="http://schemas.openxmlformats.org/officeDocument/2006/relationships/tags" Target="../tags/tag229.xml"/><Relationship Id="rId11" Type="http://schemas.openxmlformats.org/officeDocument/2006/relationships/tags" Target="../tags/tag228.xml"/><Relationship Id="rId10" Type="http://schemas.openxmlformats.org/officeDocument/2006/relationships/tags" Target="../tags/tag227.xml"/><Relationship Id="rId1" Type="http://schemas.openxmlformats.org/officeDocument/2006/relationships/tags" Target="../tags/tag2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6355080"/>
            <a:ext cx="18335625" cy="3931918"/>
            <a:chOff x="0" y="0"/>
            <a:chExt cx="24447500" cy="52425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47500" cy="5242560"/>
            </a:xfrm>
            <a:custGeom>
              <a:avLst/>
              <a:gdLst/>
              <a:ahLst/>
              <a:cxnLst/>
              <a:rect l="l" t="t" r="r" b="b"/>
              <a:pathLst>
                <a:path w="24447500" h="5242560">
                  <a:moveTo>
                    <a:pt x="24447500" y="0"/>
                  </a:moveTo>
                  <a:lnTo>
                    <a:pt x="24447500" y="5242560"/>
                  </a:lnTo>
                  <a:lnTo>
                    <a:pt x="0" y="5242560"/>
                  </a:lnTo>
                  <a:lnTo>
                    <a:pt x="0" y="0"/>
                  </a:lnTo>
                  <a:lnTo>
                    <a:pt x="197866" y="310134"/>
                  </a:lnTo>
                  <a:cubicBezTo>
                    <a:pt x="1047369" y="1287399"/>
                    <a:pt x="3036316" y="1973199"/>
                    <a:pt x="5354320" y="1973199"/>
                  </a:cubicBezTo>
                  <a:lnTo>
                    <a:pt x="6627622" y="1973199"/>
                  </a:lnTo>
                  <a:cubicBezTo>
                    <a:pt x="9718294" y="1973199"/>
                    <a:pt x="12223750" y="3192272"/>
                    <a:pt x="12223750" y="4696206"/>
                  </a:cubicBezTo>
                  <a:cubicBezTo>
                    <a:pt x="12223750" y="3192399"/>
                    <a:pt x="14729206" y="1973199"/>
                    <a:pt x="17819878" y="1973199"/>
                  </a:cubicBezTo>
                  <a:lnTo>
                    <a:pt x="19093180" y="1973199"/>
                  </a:lnTo>
                  <a:cubicBezTo>
                    <a:pt x="21411185" y="1973199"/>
                    <a:pt x="23400004" y="1287399"/>
                    <a:pt x="24249635" y="310134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2473642" y="1467802"/>
            <a:ext cx="13339762" cy="3047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60"/>
              </a:lnSpc>
            </a:pPr>
            <a:r>
              <a:rPr lang="en-US" sz="10800" b="1">
                <a:solidFill>
                  <a:srgbClr val="001F5E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基于机器学习的零件</a:t>
            </a:r>
            <a:endParaRPr lang="en-US" sz="10800" b="1">
              <a:solidFill>
                <a:srgbClr val="001F5E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思源黑体 Bold" panose="020B0800000000000000" charset="-122"/>
            </a:endParaRPr>
          </a:p>
          <a:p>
            <a:pPr algn="ctr">
              <a:lnSpc>
                <a:spcPts val="12960"/>
              </a:lnSpc>
            </a:pPr>
            <a:r>
              <a:rPr lang="en-US" sz="10800" b="1">
                <a:solidFill>
                  <a:srgbClr val="001F5E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智能分类与推荐系统</a:t>
            </a:r>
            <a:endParaRPr lang="en-US" sz="10800" b="1">
              <a:solidFill>
                <a:srgbClr val="001F5E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思源黑体 Bold" panose="020B08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592950" y="5138706"/>
            <a:ext cx="7100888" cy="448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575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面向CAD模型的3D零件自动分类、聚类及相似推荐系统，提升零件重用与标准化。</a:t>
            </a:r>
            <a:endParaRPr lang="en-US" sz="1575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 rot="10765910">
            <a:off x="1406356" y="5396230"/>
            <a:ext cx="2881645" cy="0"/>
          </a:xfrm>
          <a:prstGeom prst="line">
            <a:avLst/>
          </a:prstGeom>
          <a:ln w="19050" cap="rnd">
            <a:solidFill>
              <a:srgbClr val="001F5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10765910">
            <a:off x="13546540" y="5396230"/>
            <a:ext cx="2881645" cy="0"/>
          </a:xfrm>
          <a:prstGeom prst="line">
            <a:avLst/>
          </a:prstGeom>
          <a:ln w="19050" cap="rnd">
            <a:solidFill>
              <a:srgbClr val="001F5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 rot="0">
            <a:off x="6446084" y="6267862"/>
            <a:ext cx="246888" cy="246888"/>
            <a:chOff x="0" y="0"/>
            <a:chExt cx="329184" cy="32918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9184" cy="329184"/>
            </a:xfrm>
            <a:custGeom>
              <a:avLst/>
              <a:gdLst/>
              <a:ahLst/>
              <a:cxnLst/>
              <a:rect l="l" t="t" r="r" b="b"/>
              <a:pathLst>
                <a:path w="329184" h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6915638" y="6220356"/>
            <a:ext cx="2133600" cy="368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汇报人：</a:t>
            </a:r>
            <a:r>
              <a:rPr lang="zh-CN" altLang="en-US" sz="24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胡辰</a:t>
            </a:r>
            <a:r>
              <a:rPr lang="zh-CN" altLang="en-US" sz="24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朋</a:t>
            </a:r>
            <a:endParaRPr lang="zh-CN" altLang="en-US" sz="24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9833936" y="6267862"/>
            <a:ext cx="246888" cy="246888"/>
            <a:chOff x="0" y="0"/>
            <a:chExt cx="329184" cy="32918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29184" cy="329184"/>
            </a:xfrm>
            <a:custGeom>
              <a:avLst/>
              <a:gdLst/>
              <a:ahLst/>
              <a:cxnLst/>
              <a:rect l="l" t="t" r="r" b="b"/>
              <a:pathLst>
                <a:path w="329184" h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0303490" y="6220356"/>
            <a:ext cx="1219200" cy="368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小组：19</a:t>
            </a:r>
            <a:endParaRPr lang="en-US" sz="24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6355080"/>
            <a:ext cx="18335625" cy="3931918"/>
            <a:chOff x="0" y="0"/>
            <a:chExt cx="24447500" cy="52425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47500" cy="5242560"/>
            </a:xfrm>
            <a:custGeom>
              <a:avLst/>
              <a:gdLst/>
              <a:ahLst/>
              <a:cxnLst/>
              <a:rect l="l" t="t" r="r" b="b"/>
              <a:pathLst>
                <a:path w="24447500" h="5242560">
                  <a:moveTo>
                    <a:pt x="24447500" y="0"/>
                  </a:moveTo>
                  <a:lnTo>
                    <a:pt x="24447500" y="5242560"/>
                  </a:lnTo>
                  <a:lnTo>
                    <a:pt x="0" y="5242560"/>
                  </a:lnTo>
                  <a:lnTo>
                    <a:pt x="0" y="0"/>
                  </a:lnTo>
                  <a:lnTo>
                    <a:pt x="197866" y="310134"/>
                  </a:lnTo>
                  <a:cubicBezTo>
                    <a:pt x="1047369" y="1287399"/>
                    <a:pt x="3036316" y="1973199"/>
                    <a:pt x="5354320" y="1973199"/>
                  </a:cubicBezTo>
                  <a:lnTo>
                    <a:pt x="6627622" y="1973199"/>
                  </a:lnTo>
                  <a:cubicBezTo>
                    <a:pt x="9718294" y="1973199"/>
                    <a:pt x="12223750" y="3192272"/>
                    <a:pt x="12223750" y="4696206"/>
                  </a:cubicBezTo>
                  <a:cubicBezTo>
                    <a:pt x="12223750" y="3192399"/>
                    <a:pt x="14729206" y="1973199"/>
                    <a:pt x="17819878" y="1973199"/>
                  </a:cubicBezTo>
                  <a:lnTo>
                    <a:pt x="19093180" y="1973199"/>
                  </a:lnTo>
                  <a:cubicBezTo>
                    <a:pt x="21411185" y="1973199"/>
                    <a:pt x="23400004" y="1287399"/>
                    <a:pt x="24249635" y="310134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6935511" y="802956"/>
            <a:ext cx="4416978" cy="3046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CONTENTS</a:t>
            </a:r>
            <a:endParaRPr lang="en-US" sz="66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algn="ctr">
              <a:lnSpc>
                <a:spcPts val="7920"/>
              </a:lnSpc>
            </a:pPr>
            <a:r>
              <a:rPr lang="zh-CN" altLang="en-US" sz="48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用户故事及验收测试标准</a:t>
            </a:r>
            <a:endParaRPr lang="zh-CN" altLang="en-US" sz="48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5" name="Group 5"/>
          <p:cNvGrpSpPr/>
          <p:nvPr>
            <p:custDataLst>
              <p:tags r:id="rId1"/>
            </p:custDataLst>
          </p:nvPr>
        </p:nvGrpSpPr>
        <p:grpSpPr>
          <a:xfrm rot="0">
            <a:off x="3583218" y="3609022"/>
            <a:ext cx="178595" cy="178595"/>
            <a:chOff x="0" y="0"/>
            <a:chExt cx="238126" cy="238126"/>
          </a:xfrm>
        </p:grpSpPr>
        <p:sp>
          <p:nvSpPr>
            <p:cNvPr id="6" name="Freeform 6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238252" cy="238252"/>
            </a:xfrm>
            <a:custGeom>
              <a:avLst/>
              <a:gdLst/>
              <a:ahLst/>
              <a:cxnLst/>
              <a:rect l="l" t="t" r="r" b="b"/>
              <a:pathLst>
                <a:path w="238252" h="238252">
                  <a:moveTo>
                    <a:pt x="0" y="119126"/>
                  </a:moveTo>
                  <a:cubicBezTo>
                    <a:pt x="0" y="53340"/>
                    <a:pt x="53340" y="0"/>
                    <a:pt x="119126" y="0"/>
                  </a:cubicBezTo>
                  <a:cubicBezTo>
                    <a:pt x="184912" y="0"/>
                    <a:pt x="238252" y="53340"/>
                    <a:pt x="238252" y="119126"/>
                  </a:cubicBezTo>
                  <a:cubicBezTo>
                    <a:pt x="238252" y="184912"/>
                    <a:pt x="184912" y="238252"/>
                    <a:pt x="119126" y="238252"/>
                  </a:cubicBezTo>
                  <a:cubicBezTo>
                    <a:pt x="53340" y="238252"/>
                    <a:pt x="0" y="184785"/>
                    <a:pt x="0" y="1191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TextBox 7"/>
          <p:cNvSpPr txBox="1"/>
          <p:nvPr>
            <p:custDataLst>
              <p:tags r:id="rId3"/>
            </p:custDataLst>
          </p:nvPr>
        </p:nvSpPr>
        <p:spPr>
          <a:xfrm>
            <a:off x="4191172" y="3787616"/>
            <a:ext cx="2514600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01 </a:t>
            </a:r>
            <a:r>
              <a:rPr lang="zh-CN" altLang="en-US" sz="36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设计工程</a:t>
            </a:r>
            <a:r>
              <a:rPr lang="zh-CN" altLang="en-US" sz="36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师</a:t>
            </a:r>
            <a:endParaRPr lang="zh-CN" altLang="en-US" sz="36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8" name="Group 8"/>
          <p:cNvGrpSpPr/>
          <p:nvPr>
            <p:custDataLst>
              <p:tags r:id="rId4"/>
            </p:custDataLst>
          </p:nvPr>
        </p:nvGrpSpPr>
        <p:grpSpPr>
          <a:xfrm rot="0">
            <a:off x="3583218" y="6026557"/>
            <a:ext cx="178595" cy="178595"/>
            <a:chOff x="0" y="0"/>
            <a:chExt cx="238126" cy="238126"/>
          </a:xfrm>
        </p:grpSpPr>
        <p:sp>
          <p:nvSpPr>
            <p:cNvPr id="9" name="Freeform 9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238252" cy="238252"/>
            </a:xfrm>
            <a:custGeom>
              <a:avLst/>
              <a:gdLst/>
              <a:ahLst/>
              <a:cxnLst/>
              <a:rect l="l" t="t" r="r" b="b"/>
              <a:pathLst>
                <a:path w="238252" h="238252">
                  <a:moveTo>
                    <a:pt x="0" y="119126"/>
                  </a:moveTo>
                  <a:cubicBezTo>
                    <a:pt x="0" y="53340"/>
                    <a:pt x="53340" y="0"/>
                    <a:pt x="119126" y="0"/>
                  </a:cubicBezTo>
                  <a:cubicBezTo>
                    <a:pt x="184912" y="0"/>
                    <a:pt x="238252" y="53340"/>
                    <a:pt x="238252" y="119126"/>
                  </a:cubicBezTo>
                  <a:cubicBezTo>
                    <a:pt x="238252" y="184912"/>
                    <a:pt x="184912" y="238252"/>
                    <a:pt x="119126" y="238252"/>
                  </a:cubicBezTo>
                  <a:cubicBezTo>
                    <a:pt x="53340" y="238252"/>
                    <a:pt x="0" y="184785"/>
                    <a:pt x="0" y="1191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0" name="TextBox 10"/>
          <p:cNvSpPr txBox="1"/>
          <p:nvPr>
            <p:custDataLst>
              <p:tags r:id="rId6"/>
            </p:custDataLst>
          </p:nvPr>
        </p:nvSpPr>
        <p:spPr>
          <a:xfrm>
            <a:off x="4069887" y="5976550"/>
            <a:ext cx="3886200" cy="55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02 </a:t>
            </a:r>
            <a:r>
              <a:rPr lang="zh-CN" altLang="en-US" sz="36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零件库管理</a:t>
            </a:r>
            <a:r>
              <a:rPr lang="zh-CN" altLang="en-US" sz="36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员</a:t>
            </a:r>
            <a:endParaRPr lang="zh-CN" altLang="en-US" sz="36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 rot="5384786">
            <a:off x="2582006" y="5071552"/>
            <a:ext cx="2152284" cy="0"/>
          </a:xfrm>
          <a:prstGeom prst="line">
            <a:avLst/>
          </a:prstGeom>
          <a:ln w="9525" cap="rnd">
            <a:solidFill>
              <a:srgbClr val="001F5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>
            <p:custDataLst>
              <p:tags r:id="rId8"/>
            </p:custDataLst>
          </p:nvPr>
        </p:nvGrpSpPr>
        <p:grpSpPr>
          <a:xfrm rot="0">
            <a:off x="11415435" y="3609022"/>
            <a:ext cx="178595" cy="178595"/>
            <a:chOff x="0" y="0"/>
            <a:chExt cx="238126" cy="238126"/>
          </a:xfrm>
        </p:grpSpPr>
        <p:sp>
          <p:nvSpPr>
            <p:cNvPr id="13" name="Freeform 13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238252" cy="238252"/>
            </a:xfrm>
            <a:custGeom>
              <a:avLst/>
              <a:gdLst/>
              <a:ahLst/>
              <a:cxnLst/>
              <a:rect l="l" t="t" r="r" b="b"/>
              <a:pathLst>
                <a:path w="238252" h="238252">
                  <a:moveTo>
                    <a:pt x="0" y="119126"/>
                  </a:moveTo>
                  <a:cubicBezTo>
                    <a:pt x="0" y="53340"/>
                    <a:pt x="53340" y="0"/>
                    <a:pt x="119126" y="0"/>
                  </a:cubicBezTo>
                  <a:cubicBezTo>
                    <a:pt x="184912" y="0"/>
                    <a:pt x="238252" y="53340"/>
                    <a:pt x="238252" y="119126"/>
                  </a:cubicBezTo>
                  <a:cubicBezTo>
                    <a:pt x="238252" y="184912"/>
                    <a:pt x="184912" y="238252"/>
                    <a:pt x="119126" y="238252"/>
                  </a:cubicBezTo>
                  <a:cubicBezTo>
                    <a:pt x="53340" y="238252"/>
                    <a:pt x="0" y="184785"/>
                    <a:pt x="0" y="1191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4" name="TextBox 14"/>
          <p:cNvSpPr txBox="1"/>
          <p:nvPr>
            <p:custDataLst>
              <p:tags r:id="rId10"/>
            </p:custDataLst>
          </p:nvPr>
        </p:nvSpPr>
        <p:spPr>
          <a:xfrm>
            <a:off x="11887499" y="3787616"/>
            <a:ext cx="2514600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03 </a:t>
            </a:r>
            <a:r>
              <a:rPr lang="zh-CN" altLang="en-US" sz="36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采购工程</a:t>
            </a:r>
            <a:r>
              <a:rPr lang="zh-CN" altLang="en-US" sz="36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师</a:t>
            </a:r>
            <a:endParaRPr lang="zh-CN" altLang="en-US" sz="36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15" name="Group 15"/>
          <p:cNvGrpSpPr/>
          <p:nvPr>
            <p:custDataLst>
              <p:tags r:id="rId11"/>
            </p:custDataLst>
          </p:nvPr>
        </p:nvGrpSpPr>
        <p:grpSpPr>
          <a:xfrm rot="0">
            <a:off x="11415435" y="6026557"/>
            <a:ext cx="178595" cy="178595"/>
            <a:chOff x="0" y="0"/>
            <a:chExt cx="238126" cy="238126"/>
          </a:xfrm>
        </p:grpSpPr>
        <p:sp>
          <p:nvSpPr>
            <p:cNvPr id="16" name="Freeform 16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238252" cy="238252"/>
            </a:xfrm>
            <a:custGeom>
              <a:avLst/>
              <a:gdLst/>
              <a:ahLst/>
              <a:cxnLst/>
              <a:rect l="l" t="t" r="r" b="b"/>
              <a:pathLst>
                <a:path w="238252" h="238252">
                  <a:moveTo>
                    <a:pt x="0" y="119126"/>
                  </a:moveTo>
                  <a:cubicBezTo>
                    <a:pt x="0" y="53340"/>
                    <a:pt x="53340" y="0"/>
                    <a:pt x="119126" y="0"/>
                  </a:cubicBezTo>
                  <a:cubicBezTo>
                    <a:pt x="184912" y="0"/>
                    <a:pt x="238252" y="53340"/>
                    <a:pt x="238252" y="119126"/>
                  </a:cubicBezTo>
                  <a:cubicBezTo>
                    <a:pt x="238252" y="184912"/>
                    <a:pt x="184912" y="238252"/>
                    <a:pt x="119126" y="238252"/>
                  </a:cubicBezTo>
                  <a:cubicBezTo>
                    <a:pt x="53340" y="238252"/>
                    <a:pt x="0" y="184785"/>
                    <a:pt x="0" y="1191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7" name="TextBox 17"/>
          <p:cNvSpPr txBox="1"/>
          <p:nvPr>
            <p:custDataLst>
              <p:tags r:id="rId13"/>
            </p:custDataLst>
          </p:nvPr>
        </p:nvSpPr>
        <p:spPr>
          <a:xfrm>
            <a:off x="11902104" y="5976550"/>
            <a:ext cx="3200400" cy="55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04 </a:t>
            </a:r>
            <a:r>
              <a:rPr lang="zh-CN" altLang="en-US" sz="36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系统管理员</a:t>
            </a:r>
            <a:r>
              <a:rPr lang="en-US" sz="36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 </a:t>
            </a:r>
            <a:endParaRPr lang="en-US" sz="36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18" name="AutoShape 18"/>
          <p:cNvSpPr/>
          <p:nvPr>
            <p:custDataLst>
              <p:tags r:id="rId14"/>
            </p:custDataLst>
          </p:nvPr>
        </p:nvSpPr>
        <p:spPr>
          <a:xfrm rot="5384786">
            <a:off x="10425018" y="5071552"/>
            <a:ext cx="2152284" cy="0"/>
          </a:xfrm>
          <a:prstGeom prst="line">
            <a:avLst/>
          </a:prstGeom>
          <a:ln w="9525" cap="rnd">
            <a:solidFill>
              <a:srgbClr val="001F5E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6355080"/>
            <a:ext cx="18335625" cy="3931918"/>
            <a:chOff x="0" y="0"/>
            <a:chExt cx="24447500" cy="52425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47500" cy="5242560"/>
            </a:xfrm>
            <a:custGeom>
              <a:avLst/>
              <a:gdLst/>
              <a:ahLst/>
              <a:cxnLst/>
              <a:rect l="l" t="t" r="r" b="b"/>
              <a:pathLst>
                <a:path w="24447500" h="5242560">
                  <a:moveTo>
                    <a:pt x="24447500" y="0"/>
                  </a:moveTo>
                  <a:lnTo>
                    <a:pt x="24447500" y="5242560"/>
                  </a:lnTo>
                  <a:lnTo>
                    <a:pt x="0" y="5242560"/>
                  </a:lnTo>
                  <a:lnTo>
                    <a:pt x="0" y="0"/>
                  </a:lnTo>
                  <a:lnTo>
                    <a:pt x="197866" y="310134"/>
                  </a:lnTo>
                  <a:cubicBezTo>
                    <a:pt x="1047369" y="1287399"/>
                    <a:pt x="3036316" y="1973199"/>
                    <a:pt x="5354320" y="1973199"/>
                  </a:cubicBezTo>
                  <a:lnTo>
                    <a:pt x="6627622" y="1973199"/>
                  </a:lnTo>
                  <a:cubicBezTo>
                    <a:pt x="9718294" y="1973199"/>
                    <a:pt x="12223750" y="3192272"/>
                    <a:pt x="12223750" y="4696206"/>
                  </a:cubicBezTo>
                  <a:cubicBezTo>
                    <a:pt x="12223750" y="3192399"/>
                    <a:pt x="14729206" y="1973199"/>
                    <a:pt x="17819878" y="1973199"/>
                  </a:cubicBezTo>
                  <a:lnTo>
                    <a:pt x="19093180" y="1973199"/>
                  </a:lnTo>
                  <a:cubicBezTo>
                    <a:pt x="21411185" y="1973199"/>
                    <a:pt x="23400004" y="1287399"/>
                    <a:pt x="24249635" y="310134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763000" y="4000500"/>
            <a:ext cx="5609590" cy="179006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320"/>
              </a:lnSpc>
            </a:pPr>
            <a:r>
              <a:rPr lang="zh-CN" altLang="en-US" sz="88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设计工程师</a:t>
            </a:r>
            <a:endParaRPr lang="zh-CN" altLang="en-US" sz="88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151638" y="1605170"/>
            <a:ext cx="5227392" cy="551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20"/>
              </a:lnSpc>
            </a:pPr>
            <a:r>
              <a:rPr lang="en-US" sz="3585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01</a:t>
            </a:r>
            <a:endParaRPr lang="en-US" sz="3585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1574223" y="3572877"/>
            <a:ext cx="2702052" cy="1042417"/>
            <a:chOff x="0" y="0"/>
            <a:chExt cx="3602736" cy="1389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02736" cy="1389888"/>
            </a:xfrm>
            <a:custGeom>
              <a:avLst/>
              <a:gdLst/>
              <a:ahLst/>
              <a:cxnLst/>
              <a:rect l="l" t="t" r="r" b="b"/>
              <a:pathLst>
                <a:path w="3602736" h="1389888">
                  <a:moveTo>
                    <a:pt x="0" y="0"/>
                  </a:moveTo>
                  <a:lnTo>
                    <a:pt x="3602736" y="0"/>
                  </a:lnTo>
                  <a:lnTo>
                    <a:pt x="3602736" y="1389888"/>
                  </a:lnTo>
                  <a:lnTo>
                    <a:pt x="0" y="138988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288703" y="3747839"/>
            <a:ext cx="2382864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PART ONE </a:t>
            </a:r>
            <a:endParaRPr lang="en-US" sz="36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617558"/>
            <a:ext cx="18288000" cy="669444"/>
            <a:chOff x="0" y="0"/>
            <a:chExt cx="24384000" cy="892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92556"/>
            </a:xfrm>
            <a:custGeom>
              <a:avLst/>
              <a:gdLst/>
              <a:ahLst/>
              <a:cxnLst/>
              <a:rect l="l" t="t" r="r" b="b"/>
              <a:pathLst>
                <a:path w="24384000" h="892556">
                  <a:moveTo>
                    <a:pt x="0" y="0"/>
                  </a:moveTo>
                  <a:lnTo>
                    <a:pt x="24384000" y="0"/>
                  </a:lnTo>
                  <a:lnTo>
                    <a:pt x="24384000" y="892556"/>
                  </a:lnTo>
                  <a:lnTo>
                    <a:pt x="0" y="892556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4" name="AutoShape 4"/>
          <p:cNvSpPr/>
          <p:nvPr/>
        </p:nvSpPr>
        <p:spPr>
          <a:xfrm rot="6365">
            <a:off x="380988" y="1284088"/>
            <a:ext cx="15431651" cy="0"/>
          </a:xfrm>
          <a:prstGeom prst="line">
            <a:avLst/>
          </a:prstGeom>
          <a:ln w="19050" cap="rnd">
            <a:solidFill>
              <a:srgbClr val="001F5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0">
            <a:off x="13994971" y="1197244"/>
            <a:ext cx="4293030" cy="162732"/>
            <a:chOff x="0" y="0"/>
            <a:chExt cx="5724040" cy="2169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24017" cy="216916"/>
            </a:xfrm>
            <a:custGeom>
              <a:avLst/>
              <a:gdLst/>
              <a:ahLst/>
              <a:cxnLst/>
              <a:rect l="l" t="t" r="r" b="b"/>
              <a:pathLst>
                <a:path w="5724017" h="216916">
                  <a:moveTo>
                    <a:pt x="0" y="0"/>
                  </a:moveTo>
                  <a:lnTo>
                    <a:pt x="5724017" y="0"/>
                  </a:lnTo>
                  <a:lnTo>
                    <a:pt x="5724017" y="216916"/>
                  </a:lnTo>
                  <a:lnTo>
                    <a:pt x="0" y="216916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257636" y="448828"/>
            <a:ext cx="4941600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zh-CN" altLang="en-US" sz="4200" b="1">
                <a:solidFill>
                  <a:srgbClr val="001F5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设计工程师</a:t>
            </a:r>
            <a:endParaRPr lang="zh-CN" altLang="en-US" sz="4200" b="1">
              <a:solidFill>
                <a:srgbClr val="001F5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-5400000">
            <a:off x="229552" y="240982"/>
            <a:ext cx="1109662" cy="628650"/>
            <a:chOff x="0" y="0"/>
            <a:chExt cx="1479550" cy="838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79550" cy="838200"/>
            </a:xfrm>
            <a:custGeom>
              <a:avLst/>
              <a:gdLst/>
              <a:ahLst/>
              <a:cxnLst/>
              <a:rect l="l" t="t" r="r" b="b"/>
              <a:pathLst>
                <a:path w="1479550" h="838200">
                  <a:moveTo>
                    <a:pt x="0" y="0"/>
                  </a:moveTo>
                  <a:lnTo>
                    <a:pt x="1186180" y="0"/>
                  </a:lnTo>
                  <a:lnTo>
                    <a:pt x="1479550" y="419100"/>
                  </a:lnTo>
                  <a:lnTo>
                    <a:pt x="1186180" y="838200"/>
                  </a:lnTo>
                  <a:lnTo>
                    <a:pt x="0" y="838200"/>
                  </a:lnTo>
                  <a:lnTo>
                    <a:pt x="293370" y="419100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grpSp>
        <p:nvGrpSpPr>
          <p:cNvPr id="10" name="Group 10"/>
          <p:cNvGrpSpPr/>
          <p:nvPr>
            <p:custDataLst>
              <p:tags r:id="rId1"/>
            </p:custDataLst>
          </p:nvPr>
        </p:nvGrpSpPr>
        <p:grpSpPr>
          <a:xfrm rot="0">
            <a:off x="2044661" y="1703201"/>
            <a:ext cx="1820023" cy="1820023"/>
            <a:chOff x="0" y="0"/>
            <a:chExt cx="2066544" cy="2066544"/>
          </a:xfrm>
        </p:grpSpPr>
        <p:sp>
          <p:nvSpPr>
            <p:cNvPr id="11" name="Freeform 11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12" name="TextBox 12"/>
          <p:cNvSpPr txBox="1"/>
          <p:nvPr>
            <p:custDataLst>
              <p:tags r:id="rId3"/>
            </p:custDataLst>
          </p:nvPr>
        </p:nvSpPr>
        <p:spPr>
          <a:xfrm>
            <a:off x="1938193" y="3767504"/>
            <a:ext cx="203296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用户故事</a:t>
            </a:r>
            <a:r>
              <a:rPr lang="en-US" altLang="zh-CN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1</a:t>
            </a:r>
            <a:endParaRPr lang="en-US" altLang="zh-CN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4"/>
            </p:custDataLst>
          </p:nvPr>
        </p:nvSpPr>
        <p:spPr>
          <a:xfrm>
            <a:off x="1905173" y="4714354"/>
            <a:ext cx="2600051" cy="220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/>
              <a:t>作为一名设计工程师，</a:t>
            </a:r>
            <a:endParaRPr lang="zh-CN" altLang="en-US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/>
              <a:t>我想上传一个新零件的</a:t>
            </a:r>
            <a:r>
              <a:rPr lang="en-US" altLang="zh-CN"/>
              <a:t>3D</a:t>
            </a:r>
            <a:r>
              <a:rPr lang="zh-CN" altLang="en-US"/>
              <a:t>模型，</a:t>
            </a:r>
            <a:endParaRPr lang="zh-CN" altLang="en-US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/>
              <a:t>以便系统能自动帮我找到相似的已有零件。</a:t>
            </a:r>
            <a:endParaRPr lang="zh-CN" altLang="en-US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endParaRPr lang="zh-CN" altLang="en-US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endParaRPr lang="zh-CN" altLang="en-US"/>
          </a:p>
        </p:txBody>
      </p:sp>
      <p:grpSp>
        <p:nvGrpSpPr>
          <p:cNvPr id="14" name="Group 14"/>
          <p:cNvGrpSpPr/>
          <p:nvPr>
            <p:custDataLst>
              <p:tags r:id="rId5"/>
            </p:custDataLst>
          </p:nvPr>
        </p:nvGrpSpPr>
        <p:grpSpPr>
          <a:xfrm rot="0">
            <a:off x="2653852" y="2275428"/>
            <a:ext cx="614171" cy="779226"/>
            <a:chOff x="0" y="0"/>
            <a:chExt cx="697360" cy="884772"/>
          </a:xfrm>
        </p:grpSpPr>
        <p:sp>
          <p:nvSpPr>
            <p:cNvPr id="15" name="Freeform 15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697357" cy="884809"/>
            </a:xfrm>
            <a:custGeom>
              <a:avLst/>
              <a:gdLst/>
              <a:ahLst/>
              <a:cxnLst/>
              <a:rect l="l" t="t" r="r" b="b"/>
              <a:pathLst>
                <a:path w="697357" h="884809">
                  <a:moveTo>
                    <a:pt x="348742" y="0"/>
                  </a:moveTo>
                  <a:cubicBezTo>
                    <a:pt x="156210" y="0"/>
                    <a:pt x="0" y="156210"/>
                    <a:pt x="0" y="348615"/>
                  </a:cubicBezTo>
                  <a:cubicBezTo>
                    <a:pt x="0" y="541020"/>
                    <a:pt x="273177" y="835914"/>
                    <a:pt x="273177" y="835914"/>
                  </a:cubicBezTo>
                  <a:cubicBezTo>
                    <a:pt x="314833" y="884428"/>
                    <a:pt x="383032" y="884809"/>
                    <a:pt x="424307" y="835660"/>
                  </a:cubicBezTo>
                  <a:cubicBezTo>
                    <a:pt x="424307" y="835660"/>
                    <a:pt x="697357" y="541147"/>
                    <a:pt x="697357" y="348615"/>
                  </a:cubicBezTo>
                  <a:cubicBezTo>
                    <a:pt x="697357" y="156083"/>
                    <a:pt x="541147" y="0"/>
                    <a:pt x="348742" y="0"/>
                  </a:cubicBezTo>
                  <a:close/>
                  <a:moveTo>
                    <a:pt x="348742" y="498729"/>
                  </a:moveTo>
                  <a:cubicBezTo>
                    <a:pt x="259588" y="498729"/>
                    <a:pt x="187452" y="426593"/>
                    <a:pt x="187452" y="337439"/>
                  </a:cubicBezTo>
                  <a:cubicBezTo>
                    <a:pt x="187452" y="248285"/>
                    <a:pt x="259588" y="176149"/>
                    <a:pt x="348742" y="176149"/>
                  </a:cubicBezTo>
                  <a:cubicBezTo>
                    <a:pt x="437896" y="176149"/>
                    <a:pt x="510032" y="248412"/>
                    <a:pt x="510032" y="337439"/>
                  </a:cubicBezTo>
                  <a:cubicBezTo>
                    <a:pt x="510032" y="426466"/>
                    <a:pt x="437896" y="498729"/>
                    <a:pt x="348742" y="49872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>
            <p:custDataLst>
              <p:tags r:id="rId7"/>
            </p:custDataLst>
          </p:nvPr>
        </p:nvGrpSpPr>
        <p:grpSpPr>
          <a:xfrm rot="0">
            <a:off x="6541030" y="1703201"/>
            <a:ext cx="1820023" cy="1820023"/>
            <a:chOff x="0" y="0"/>
            <a:chExt cx="2066544" cy="2066544"/>
          </a:xfrm>
        </p:grpSpPr>
        <p:sp>
          <p:nvSpPr>
            <p:cNvPr id="17" name="Freeform 17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18" name="TextBox 18"/>
          <p:cNvSpPr txBox="1"/>
          <p:nvPr>
            <p:custDataLst>
              <p:tags r:id="rId9"/>
            </p:custDataLst>
          </p:nvPr>
        </p:nvSpPr>
        <p:spPr>
          <a:xfrm>
            <a:off x="6434561" y="3767504"/>
            <a:ext cx="203296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AC</a:t>
            </a: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验收标准</a:t>
            </a: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19" name="Group 19"/>
          <p:cNvGrpSpPr/>
          <p:nvPr>
            <p:custDataLst>
              <p:tags r:id="rId10"/>
            </p:custDataLst>
          </p:nvPr>
        </p:nvGrpSpPr>
        <p:grpSpPr>
          <a:xfrm rot="0">
            <a:off x="7061428" y="2371254"/>
            <a:ext cx="779226" cy="587572"/>
            <a:chOff x="0" y="0"/>
            <a:chExt cx="884772" cy="667158"/>
          </a:xfrm>
        </p:grpSpPr>
        <p:sp>
          <p:nvSpPr>
            <p:cNvPr id="20" name="Freeform 20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884682" cy="667131"/>
            </a:xfrm>
            <a:custGeom>
              <a:avLst/>
              <a:gdLst/>
              <a:ahLst/>
              <a:cxnLst/>
              <a:rect l="l" t="t" r="r" b="b"/>
              <a:pathLst>
                <a:path w="884682" h="667131">
                  <a:moveTo>
                    <a:pt x="714883" y="258699"/>
                  </a:moveTo>
                  <a:cubicBezTo>
                    <a:pt x="767080" y="289814"/>
                    <a:pt x="831342" y="374015"/>
                    <a:pt x="858012" y="475234"/>
                  </a:cubicBezTo>
                  <a:cubicBezTo>
                    <a:pt x="884682" y="576453"/>
                    <a:pt x="880237" y="667131"/>
                    <a:pt x="880237" y="667131"/>
                  </a:cubicBezTo>
                  <a:cubicBezTo>
                    <a:pt x="880237" y="667131"/>
                    <a:pt x="845693" y="611251"/>
                    <a:pt x="831723" y="591693"/>
                  </a:cubicBezTo>
                  <a:cubicBezTo>
                    <a:pt x="817753" y="572135"/>
                    <a:pt x="758698" y="499237"/>
                    <a:pt x="667004" y="456946"/>
                  </a:cubicBezTo>
                  <a:cubicBezTo>
                    <a:pt x="575310" y="414655"/>
                    <a:pt x="422148" y="422275"/>
                    <a:pt x="422148" y="422275"/>
                  </a:cubicBezTo>
                  <a:lnTo>
                    <a:pt x="422148" y="598297"/>
                  </a:lnTo>
                  <a:lnTo>
                    <a:pt x="0" y="299212"/>
                  </a:lnTo>
                  <a:lnTo>
                    <a:pt x="422148" y="0"/>
                  </a:lnTo>
                  <a:lnTo>
                    <a:pt x="422148" y="177673"/>
                  </a:lnTo>
                  <a:cubicBezTo>
                    <a:pt x="422148" y="177673"/>
                    <a:pt x="523621" y="185293"/>
                    <a:pt x="576580" y="196215"/>
                  </a:cubicBezTo>
                  <a:cubicBezTo>
                    <a:pt x="665861" y="214757"/>
                    <a:pt x="714883" y="258699"/>
                    <a:pt x="714883" y="25869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>
            <p:custDataLst>
              <p:tags r:id="rId12"/>
            </p:custDataLst>
          </p:nvPr>
        </p:nvGrpSpPr>
        <p:grpSpPr>
          <a:xfrm rot="0">
            <a:off x="11037398" y="1703201"/>
            <a:ext cx="1820023" cy="1820023"/>
            <a:chOff x="0" y="0"/>
            <a:chExt cx="2066544" cy="2066544"/>
          </a:xfrm>
        </p:grpSpPr>
        <p:sp>
          <p:nvSpPr>
            <p:cNvPr id="22" name="Freeform 22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23" name="TextBox 23"/>
          <p:cNvSpPr txBox="1"/>
          <p:nvPr>
            <p:custDataLst>
              <p:tags r:id="rId14"/>
            </p:custDataLst>
          </p:nvPr>
        </p:nvSpPr>
        <p:spPr>
          <a:xfrm>
            <a:off x="10930930" y="3767504"/>
            <a:ext cx="203296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用户故事</a:t>
            </a:r>
            <a:r>
              <a:rPr lang="en-US" altLang="zh-CN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2</a:t>
            </a:r>
            <a:endParaRPr lang="en-US" altLang="zh-CN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24" name="Group 24"/>
          <p:cNvGrpSpPr/>
          <p:nvPr>
            <p:custDataLst>
              <p:tags r:id="rId15"/>
            </p:custDataLst>
          </p:nvPr>
        </p:nvGrpSpPr>
        <p:grpSpPr>
          <a:xfrm rot="0">
            <a:off x="11613964" y="2223922"/>
            <a:ext cx="666890" cy="779226"/>
            <a:chOff x="0" y="0"/>
            <a:chExt cx="757220" cy="884772"/>
          </a:xfrm>
        </p:grpSpPr>
        <p:sp>
          <p:nvSpPr>
            <p:cNvPr id="25" name="Freeform 25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757301" cy="884809"/>
            </a:xfrm>
            <a:custGeom>
              <a:avLst/>
              <a:gdLst/>
              <a:ahLst/>
              <a:cxnLst/>
              <a:rect l="l" t="t" r="r" b="b"/>
              <a:pathLst>
                <a:path w="757301" h="884809">
                  <a:moveTo>
                    <a:pt x="569849" y="148844"/>
                  </a:moveTo>
                  <a:lnTo>
                    <a:pt x="569849" y="73406"/>
                  </a:lnTo>
                  <a:cubicBezTo>
                    <a:pt x="569849" y="32893"/>
                    <a:pt x="535051" y="0"/>
                    <a:pt x="494538" y="0"/>
                  </a:cubicBezTo>
                  <a:lnTo>
                    <a:pt x="266573" y="0"/>
                  </a:lnTo>
                  <a:cubicBezTo>
                    <a:pt x="224028" y="0"/>
                    <a:pt x="191262" y="32893"/>
                    <a:pt x="191262" y="73406"/>
                  </a:cubicBezTo>
                  <a:lnTo>
                    <a:pt x="191262" y="146812"/>
                  </a:lnTo>
                  <a:lnTo>
                    <a:pt x="0" y="146812"/>
                  </a:lnTo>
                  <a:lnTo>
                    <a:pt x="0" y="220218"/>
                  </a:lnTo>
                  <a:lnTo>
                    <a:pt x="75311" y="220218"/>
                  </a:lnTo>
                  <a:lnTo>
                    <a:pt x="75311" y="811403"/>
                  </a:lnTo>
                  <a:cubicBezTo>
                    <a:pt x="75311" y="851916"/>
                    <a:pt x="110109" y="884809"/>
                    <a:pt x="150749" y="884809"/>
                  </a:cubicBezTo>
                  <a:lnTo>
                    <a:pt x="606679" y="884809"/>
                  </a:lnTo>
                  <a:cubicBezTo>
                    <a:pt x="649224" y="884809"/>
                    <a:pt x="681990" y="851916"/>
                    <a:pt x="681990" y="811403"/>
                  </a:cubicBezTo>
                  <a:lnTo>
                    <a:pt x="681990" y="222123"/>
                  </a:lnTo>
                  <a:lnTo>
                    <a:pt x="757301" y="222123"/>
                  </a:lnTo>
                  <a:lnTo>
                    <a:pt x="757301" y="148844"/>
                  </a:lnTo>
                  <a:lnTo>
                    <a:pt x="569849" y="148844"/>
                  </a:lnTo>
                  <a:close/>
                  <a:moveTo>
                    <a:pt x="338074" y="761111"/>
                  </a:moveTo>
                  <a:lnTo>
                    <a:pt x="252984" y="761111"/>
                  </a:lnTo>
                  <a:lnTo>
                    <a:pt x="252984" y="295529"/>
                  </a:lnTo>
                  <a:lnTo>
                    <a:pt x="338074" y="295529"/>
                  </a:lnTo>
                  <a:lnTo>
                    <a:pt x="338074" y="761111"/>
                  </a:lnTo>
                  <a:close/>
                  <a:moveTo>
                    <a:pt x="508127" y="761111"/>
                  </a:moveTo>
                  <a:lnTo>
                    <a:pt x="423037" y="761111"/>
                  </a:lnTo>
                  <a:lnTo>
                    <a:pt x="423037" y="295529"/>
                  </a:lnTo>
                  <a:lnTo>
                    <a:pt x="508127" y="295529"/>
                  </a:lnTo>
                  <a:lnTo>
                    <a:pt x="508127" y="76111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>
            <p:custDataLst>
              <p:tags r:id="rId17"/>
            </p:custDataLst>
          </p:nvPr>
        </p:nvGrpSpPr>
        <p:grpSpPr>
          <a:xfrm rot="0">
            <a:off x="15533767" y="1703201"/>
            <a:ext cx="1820023" cy="1820023"/>
            <a:chOff x="0" y="0"/>
            <a:chExt cx="2066544" cy="2066544"/>
          </a:xfrm>
        </p:grpSpPr>
        <p:sp>
          <p:nvSpPr>
            <p:cNvPr id="27" name="Freeform 27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28" name="TextBox 28"/>
          <p:cNvSpPr txBox="1"/>
          <p:nvPr>
            <p:custDataLst>
              <p:tags r:id="rId19"/>
            </p:custDataLst>
          </p:nvPr>
        </p:nvSpPr>
        <p:spPr>
          <a:xfrm>
            <a:off x="15427298" y="3767504"/>
            <a:ext cx="203296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AC</a:t>
            </a: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验收标准</a:t>
            </a: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29" name="Freeform 29"/>
          <p:cNvSpPr/>
          <p:nvPr>
            <p:custDataLst>
              <p:tags r:id="rId20"/>
            </p:custDataLst>
          </p:nvPr>
        </p:nvSpPr>
        <p:spPr>
          <a:xfrm>
            <a:off x="16054165" y="2223922"/>
            <a:ext cx="779226" cy="778581"/>
          </a:xfrm>
          <a:custGeom>
            <a:avLst/>
            <a:gdLst/>
            <a:ahLst/>
            <a:cxnLst/>
            <a:rect l="l" t="t" r="r" b="b"/>
            <a:pathLst>
              <a:path w="663579" h="663030">
                <a:moveTo>
                  <a:pt x="0" y="0"/>
                </a:moveTo>
                <a:lnTo>
                  <a:pt x="663579" y="0"/>
                </a:lnTo>
                <a:lnTo>
                  <a:pt x="663579" y="663030"/>
                </a:lnTo>
                <a:lnTo>
                  <a:pt x="0" y="66303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>
            <a:grpSpLocks noChangeAspect="1"/>
          </p:cNvGrpSpPr>
          <p:nvPr>
            <p:custDataLst>
              <p:tags r:id="rId23"/>
            </p:custDataLst>
          </p:nvPr>
        </p:nvGrpSpPr>
        <p:grpSpPr>
          <a:xfrm rot="5400000">
            <a:off x="11334775" y="4509089"/>
            <a:ext cx="5837418" cy="225655"/>
            <a:chOff x="0" y="0"/>
            <a:chExt cx="6628094" cy="256220"/>
          </a:xfrm>
        </p:grpSpPr>
        <p:sp>
          <p:nvSpPr>
            <p:cNvPr id="31" name="Freeform 31"/>
            <p:cNvSpPr/>
            <p:nvPr>
              <p:custDataLst>
                <p:tags r:id="rId24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grpSp>
        <p:nvGrpSpPr>
          <p:cNvPr id="32" name="Group 32"/>
          <p:cNvGrpSpPr>
            <a:grpSpLocks noChangeAspect="1"/>
          </p:cNvGrpSpPr>
          <p:nvPr>
            <p:custDataLst>
              <p:tags r:id="rId26"/>
            </p:custDataLst>
          </p:nvPr>
        </p:nvGrpSpPr>
        <p:grpSpPr>
          <a:xfrm rot="5400000">
            <a:off x="6788073" y="4509090"/>
            <a:ext cx="5837418" cy="225655"/>
            <a:chOff x="0" y="0"/>
            <a:chExt cx="6628094" cy="256220"/>
          </a:xfrm>
        </p:grpSpPr>
        <p:sp>
          <p:nvSpPr>
            <p:cNvPr id="33" name="Freeform 33"/>
            <p:cNvSpPr/>
            <p:nvPr>
              <p:custDataLst>
                <p:tags r:id="rId27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grpSp>
        <p:nvGrpSpPr>
          <p:cNvPr id="34" name="Group 34"/>
          <p:cNvGrpSpPr>
            <a:grpSpLocks noChangeAspect="1"/>
          </p:cNvGrpSpPr>
          <p:nvPr>
            <p:custDataLst>
              <p:tags r:id="rId28"/>
            </p:custDataLst>
          </p:nvPr>
        </p:nvGrpSpPr>
        <p:grpSpPr>
          <a:xfrm rot="5400000">
            <a:off x="2325261" y="4509092"/>
            <a:ext cx="5837417" cy="225655"/>
            <a:chOff x="0" y="0"/>
            <a:chExt cx="6628094" cy="256220"/>
          </a:xfrm>
        </p:grpSpPr>
        <p:sp>
          <p:nvSpPr>
            <p:cNvPr id="35" name="Freeform 35"/>
            <p:cNvSpPr/>
            <p:nvPr>
              <p:custDataLst>
                <p:tags r:id="rId29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sp>
        <p:nvSpPr>
          <p:cNvPr id="36" name="TextBox 36"/>
          <p:cNvSpPr txBox="1"/>
          <p:nvPr>
            <p:custDataLst>
              <p:tags r:id="rId30"/>
            </p:custDataLst>
          </p:nvPr>
        </p:nvSpPr>
        <p:spPr>
          <a:xfrm>
            <a:off x="6324706" y="4714354"/>
            <a:ext cx="2600051" cy="314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 sz="1575">
                <a:sym typeface="+mn-ea"/>
              </a:rPr>
              <a:t>Given </a:t>
            </a:r>
            <a:r>
              <a:rPr lang="zh-CN" altLang="en-US" sz="1575">
                <a:sym typeface="+mn-ea"/>
              </a:rPr>
              <a:t>我已登录系统并进入</a:t>
            </a:r>
            <a:r>
              <a:rPr lang="en-US" altLang="zh-CN" sz="1575">
                <a:sym typeface="+mn-ea"/>
              </a:rPr>
              <a:t>“</a:t>
            </a:r>
            <a:r>
              <a:rPr lang="zh-CN" altLang="en-US" sz="1575">
                <a:sym typeface="+mn-ea"/>
              </a:rPr>
              <a:t>上传零件</a:t>
            </a:r>
            <a:r>
              <a:rPr lang="en-US" altLang="zh-CN" sz="1575">
                <a:sym typeface="+mn-ea"/>
              </a:rPr>
              <a:t>”</a:t>
            </a:r>
            <a:r>
              <a:rPr lang="zh-CN" altLang="en-US" sz="1575">
                <a:sym typeface="+mn-ea"/>
              </a:rPr>
              <a:t>页面</a:t>
            </a:r>
            <a:endParaRPr lang="zh-CN" altLang="en-US" sz="1575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 sz="1575">
                <a:sym typeface="+mn-ea"/>
              </a:rPr>
              <a:t>When </a:t>
            </a:r>
            <a:r>
              <a:rPr lang="zh-CN" altLang="en-US" sz="1575">
                <a:sym typeface="+mn-ea"/>
              </a:rPr>
              <a:t>我上传一个有效的</a:t>
            </a:r>
            <a:r>
              <a:rPr lang="en-US" altLang="zh-CN" sz="1575">
                <a:sym typeface="+mn-ea"/>
              </a:rPr>
              <a:t>3D</a:t>
            </a:r>
            <a:r>
              <a:rPr lang="zh-CN" altLang="en-US" sz="1575">
                <a:sym typeface="+mn-ea"/>
              </a:rPr>
              <a:t>模型文件（如</a:t>
            </a:r>
            <a:r>
              <a:rPr lang="en-US" altLang="zh-CN" sz="1575">
                <a:sym typeface="+mn-ea"/>
              </a:rPr>
              <a:t>.step/.stl</a:t>
            </a:r>
            <a:r>
              <a:rPr lang="zh-CN" altLang="en-US" sz="1575">
                <a:sym typeface="+mn-ea"/>
              </a:rPr>
              <a:t>）并点击</a:t>
            </a:r>
            <a:r>
              <a:rPr lang="en-US" altLang="zh-CN" sz="1575">
                <a:sym typeface="+mn-ea"/>
              </a:rPr>
              <a:t>“</a:t>
            </a:r>
            <a:r>
              <a:rPr lang="zh-CN" altLang="en-US" sz="1575">
                <a:sym typeface="+mn-ea"/>
              </a:rPr>
              <a:t>查找相似件</a:t>
            </a:r>
            <a:r>
              <a:rPr lang="en-US" altLang="zh-CN" sz="1575">
                <a:sym typeface="+mn-ea"/>
              </a:rPr>
              <a:t>”</a:t>
            </a:r>
            <a:endParaRPr lang="en-US" altLang="zh-CN" sz="1575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 sz="1575">
                <a:sym typeface="+mn-ea"/>
              </a:rPr>
              <a:t>Then </a:t>
            </a:r>
            <a:r>
              <a:rPr lang="zh-CN" altLang="en-US" sz="1575">
                <a:sym typeface="+mn-ea"/>
              </a:rPr>
              <a:t>系统应在</a:t>
            </a:r>
            <a:r>
              <a:rPr lang="en-US" altLang="zh-CN" sz="1575">
                <a:sym typeface="+mn-ea"/>
              </a:rPr>
              <a:t>5</a:t>
            </a:r>
            <a:r>
              <a:rPr lang="zh-CN" altLang="en-US" sz="1575">
                <a:sym typeface="+mn-ea"/>
              </a:rPr>
              <a:t>秒内返回最多</a:t>
            </a:r>
            <a:r>
              <a:rPr lang="en-US" altLang="zh-CN" sz="1575">
                <a:sym typeface="+mn-ea"/>
              </a:rPr>
              <a:t>10</a:t>
            </a:r>
            <a:r>
              <a:rPr lang="zh-CN" altLang="en-US" sz="1575">
                <a:sym typeface="+mn-ea"/>
              </a:rPr>
              <a:t>个相似零件的缩略图、相似度分数及可下载链接</a:t>
            </a:r>
            <a:endParaRPr lang="zh-CN" altLang="en-US" sz="1575"/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endParaRPr lang="en-US" sz="1575"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algn="ctr">
              <a:lnSpc>
                <a:spcPts val="2455"/>
              </a:lnSpc>
            </a:pPr>
          </a:p>
        </p:txBody>
      </p:sp>
      <p:sp>
        <p:nvSpPr>
          <p:cNvPr id="37" name="TextBox 37"/>
          <p:cNvSpPr txBox="1"/>
          <p:nvPr>
            <p:custDataLst>
              <p:tags r:id="rId31"/>
            </p:custDataLst>
          </p:nvPr>
        </p:nvSpPr>
        <p:spPr>
          <a:xfrm>
            <a:off x="10820431" y="4714354"/>
            <a:ext cx="2600051" cy="188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作为一名设计工程师，</a:t>
            </a:r>
            <a:endParaRPr lang="zh-CN" altLang="en-US">
              <a:solidFill>
                <a:srgbClr val="404040"/>
              </a:solidFill>
              <a:latin typeface="+mn-ea"/>
              <a:cs typeface="+mn-ea"/>
              <a:sym typeface="思源黑体" panose="020B0500000000000000" charset="-122"/>
            </a:endParaRPr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我想在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3D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预览窗口中旋转、缩放推荐的相似零件，</a:t>
            </a:r>
            <a:endParaRPr lang="zh-CN" altLang="en-US">
              <a:solidFill>
                <a:srgbClr val="404040"/>
              </a:solidFill>
              <a:latin typeface="+mn-ea"/>
              <a:cs typeface="+mn-ea"/>
              <a:sym typeface="思源黑体" panose="020B0500000000000000" charset="-122"/>
            </a:endParaRPr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以便我确认几何细节是否真正可重用。</a:t>
            </a:r>
            <a:endParaRPr>
              <a:latin typeface="+mn-ea"/>
              <a:cs typeface="+mn-ea"/>
            </a:endParaRPr>
          </a:p>
        </p:txBody>
      </p:sp>
      <p:sp>
        <p:nvSpPr>
          <p:cNvPr id="38" name="TextBox 38"/>
          <p:cNvSpPr txBox="1"/>
          <p:nvPr>
            <p:custDataLst>
              <p:tags r:id="rId32"/>
            </p:custDataLst>
          </p:nvPr>
        </p:nvSpPr>
        <p:spPr>
          <a:xfrm>
            <a:off x="15086486" y="4762614"/>
            <a:ext cx="2600051" cy="283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Given 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相似件推荐结果已展示</a:t>
            </a:r>
            <a:endParaRPr lang="zh-CN" altLang="en-US">
              <a:solidFill>
                <a:srgbClr val="404040"/>
              </a:solidFill>
              <a:latin typeface="+mn-ea"/>
              <a:cs typeface="+mn-ea"/>
              <a:sym typeface="思源黑体" panose="020B0500000000000000" charset="-122"/>
            </a:endParaRPr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When 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我点击任一结果旁的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“3D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预览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”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按钮</a:t>
            </a:r>
            <a:endParaRPr lang="zh-CN" altLang="en-US">
              <a:solidFill>
                <a:srgbClr val="404040"/>
              </a:solidFill>
              <a:latin typeface="+mn-ea"/>
              <a:cs typeface="+mn-ea"/>
              <a:sym typeface="思源黑体" panose="020B0500000000000000" charset="-122"/>
            </a:endParaRPr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Then 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系统应弹出交互式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3D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窗口，支持鼠标左键旋转、滚轮缩放，且帧率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≥30 fps</a:t>
            </a:r>
            <a:endParaRPr lang="en-US" altLang="zh-CN">
              <a:solidFill>
                <a:srgbClr val="404040"/>
              </a:solidFill>
              <a:latin typeface="+mn-ea"/>
              <a:cs typeface="+mn-ea"/>
              <a:sym typeface="思源黑体" panose="020B0500000000000000" charset="-122"/>
            </a:endParaRPr>
          </a:p>
          <a:p>
            <a:pPr algn="l">
              <a:lnSpc>
                <a:spcPts val="2455"/>
              </a:lnSpc>
            </a:pPr>
            <a:endParaRPr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617558"/>
            <a:ext cx="18288000" cy="669444"/>
            <a:chOff x="0" y="0"/>
            <a:chExt cx="24384000" cy="892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92556"/>
            </a:xfrm>
            <a:custGeom>
              <a:avLst/>
              <a:gdLst/>
              <a:ahLst/>
              <a:cxnLst/>
              <a:rect l="l" t="t" r="r" b="b"/>
              <a:pathLst>
                <a:path w="24384000" h="892556">
                  <a:moveTo>
                    <a:pt x="0" y="0"/>
                  </a:moveTo>
                  <a:lnTo>
                    <a:pt x="24384000" y="0"/>
                  </a:lnTo>
                  <a:lnTo>
                    <a:pt x="24384000" y="892556"/>
                  </a:lnTo>
                  <a:lnTo>
                    <a:pt x="0" y="892556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4" name="AutoShape 4"/>
          <p:cNvSpPr/>
          <p:nvPr/>
        </p:nvSpPr>
        <p:spPr>
          <a:xfrm rot="6365">
            <a:off x="380988" y="1284088"/>
            <a:ext cx="15431651" cy="0"/>
          </a:xfrm>
          <a:prstGeom prst="line">
            <a:avLst/>
          </a:prstGeom>
          <a:ln w="19050" cap="rnd">
            <a:solidFill>
              <a:srgbClr val="001F5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0">
            <a:off x="13994971" y="1197244"/>
            <a:ext cx="4293030" cy="162732"/>
            <a:chOff x="0" y="0"/>
            <a:chExt cx="5724040" cy="2169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24017" cy="216916"/>
            </a:xfrm>
            <a:custGeom>
              <a:avLst/>
              <a:gdLst/>
              <a:ahLst/>
              <a:cxnLst/>
              <a:rect l="l" t="t" r="r" b="b"/>
              <a:pathLst>
                <a:path w="5724017" h="216916">
                  <a:moveTo>
                    <a:pt x="0" y="0"/>
                  </a:moveTo>
                  <a:lnTo>
                    <a:pt x="5724017" y="0"/>
                  </a:lnTo>
                  <a:lnTo>
                    <a:pt x="5724017" y="216916"/>
                  </a:lnTo>
                  <a:lnTo>
                    <a:pt x="0" y="216916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257636" y="448828"/>
            <a:ext cx="4941600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zh-CN" altLang="en-US" sz="4200" b="1">
                <a:solidFill>
                  <a:srgbClr val="001F5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设计工程师</a:t>
            </a:r>
            <a:endParaRPr lang="zh-CN" altLang="en-US" sz="4200" b="1">
              <a:solidFill>
                <a:srgbClr val="001F5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-5400000">
            <a:off x="229552" y="240982"/>
            <a:ext cx="1109662" cy="628650"/>
            <a:chOff x="0" y="0"/>
            <a:chExt cx="1479550" cy="838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79550" cy="838200"/>
            </a:xfrm>
            <a:custGeom>
              <a:avLst/>
              <a:gdLst/>
              <a:ahLst/>
              <a:cxnLst/>
              <a:rect l="l" t="t" r="r" b="b"/>
              <a:pathLst>
                <a:path w="1479550" h="838200">
                  <a:moveTo>
                    <a:pt x="0" y="0"/>
                  </a:moveTo>
                  <a:lnTo>
                    <a:pt x="1186180" y="0"/>
                  </a:lnTo>
                  <a:lnTo>
                    <a:pt x="1479550" y="419100"/>
                  </a:lnTo>
                  <a:lnTo>
                    <a:pt x="1186180" y="838200"/>
                  </a:lnTo>
                  <a:lnTo>
                    <a:pt x="0" y="838200"/>
                  </a:lnTo>
                  <a:lnTo>
                    <a:pt x="293370" y="419100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grpSp>
        <p:nvGrpSpPr>
          <p:cNvPr id="10" name="Group 10"/>
          <p:cNvGrpSpPr/>
          <p:nvPr>
            <p:custDataLst>
              <p:tags r:id="rId1"/>
            </p:custDataLst>
          </p:nvPr>
        </p:nvGrpSpPr>
        <p:grpSpPr>
          <a:xfrm rot="0">
            <a:off x="2044661" y="1703201"/>
            <a:ext cx="1820023" cy="1820023"/>
            <a:chOff x="0" y="0"/>
            <a:chExt cx="2066544" cy="2066544"/>
          </a:xfrm>
        </p:grpSpPr>
        <p:sp>
          <p:nvSpPr>
            <p:cNvPr id="11" name="Freeform 11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12" name="TextBox 12"/>
          <p:cNvSpPr txBox="1"/>
          <p:nvPr>
            <p:custDataLst>
              <p:tags r:id="rId3"/>
            </p:custDataLst>
          </p:nvPr>
        </p:nvSpPr>
        <p:spPr>
          <a:xfrm>
            <a:off x="1938193" y="3767504"/>
            <a:ext cx="203296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用户故事</a:t>
            </a:r>
            <a:r>
              <a:rPr lang="en-US" altLang="zh-CN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3</a:t>
            </a:r>
            <a:endParaRPr lang="en-US" altLang="zh-CN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4"/>
            </p:custDataLst>
          </p:nvPr>
        </p:nvSpPr>
        <p:spPr>
          <a:xfrm>
            <a:off x="1905173" y="4714354"/>
            <a:ext cx="2600051" cy="283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/>
              <a:t>作为一名设计工程师，</a:t>
            </a:r>
            <a:endParaRPr lang="zh-CN" altLang="en-US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/>
              <a:t>我想把搜索结果导出为</a:t>
            </a:r>
            <a:r>
              <a:rPr lang="en-US" altLang="zh-CN"/>
              <a:t>Excel</a:t>
            </a:r>
            <a:r>
              <a:rPr lang="zh-CN" altLang="en-US"/>
              <a:t>清单（含零件编号、相似度、材料、库存数量），</a:t>
            </a:r>
            <a:endParaRPr lang="zh-CN" altLang="en-US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/>
              <a:t>以便我</a:t>
            </a:r>
            <a:r>
              <a:rPr lang="en-US" altLang="zh-CN"/>
              <a:t> offline </a:t>
            </a:r>
            <a:r>
              <a:rPr lang="zh-CN" altLang="en-US"/>
              <a:t>与采购或制造同事评审。</a:t>
            </a:r>
            <a:endParaRPr lang="zh-CN" altLang="en-US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endParaRPr lang="zh-CN" altLang="en-US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endParaRPr lang="zh-CN" altLang="en-US"/>
          </a:p>
        </p:txBody>
      </p:sp>
      <p:grpSp>
        <p:nvGrpSpPr>
          <p:cNvPr id="14" name="Group 14"/>
          <p:cNvGrpSpPr/>
          <p:nvPr>
            <p:custDataLst>
              <p:tags r:id="rId5"/>
            </p:custDataLst>
          </p:nvPr>
        </p:nvGrpSpPr>
        <p:grpSpPr>
          <a:xfrm rot="0">
            <a:off x="2653852" y="2275428"/>
            <a:ext cx="614171" cy="779226"/>
            <a:chOff x="0" y="0"/>
            <a:chExt cx="697360" cy="884772"/>
          </a:xfrm>
        </p:grpSpPr>
        <p:sp>
          <p:nvSpPr>
            <p:cNvPr id="15" name="Freeform 15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697357" cy="884809"/>
            </a:xfrm>
            <a:custGeom>
              <a:avLst/>
              <a:gdLst/>
              <a:ahLst/>
              <a:cxnLst/>
              <a:rect l="l" t="t" r="r" b="b"/>
              <a:pathLst>
                <a:path w="697357" h="884809">
                  <a:moveTo>
                    <a:pt x="348742" y="0"/>
                  </a:moveTo>
                  <a:cubicBezTo>
                    <a:pt x="156210" y="0"/>
                    <a:pt x="0" y="156210"/>
                    <a:pt x="0" y="348615"/>
                  </a:cubicBezTo>
                  <a:cubicBezTo>
                    <a:pt x="0" y="541020"/>
                    <a:pt x="273177" y="835914"/>
                    <a:pt x="273177" y="835914"/>
                  </a:cubicBezTo>
                  <a:cubicBezTo>
                    <a:pt x="314833" y="884428"/>
                    <a:pt x="383032" y="884809"/>
                    <a:pt x="424307" y="835660"/>
                  </a:cubicBezTo>
                  <a:cubicBezTo>
                    <a:pt x="424307" y="835660"/>
                    <a:pt x="697357" y="541147"/>
                    <a:pt x="697357" y="348615"/>
                  </a:cubicBezTo>
                  <a:cubicBezTo>
                    <a:pt x="697357" y="156083"/>
                    <a:pt x="541147" y="0"/>
                    <a:pt x="348742" y="0"/>
                  </a:cubicBezTo>
                  <a:close/>
                  <a:moveTo>
                    <a:pt x="348742" y="498729"/>
                  </a:moveTo>
                  <a:cubicBezTo>
                    <a:pt x="259588" y="498729"/>
                    <a:pt x="187452" y="426593"/>
                    <a:pt x="187452" y="337439"/>
                  </a:cubicBezTo>
                  <a:cubicBezTo>
                    <a:pt x="187452" y="248285"/>
                    <a:pt x="259588" y="176149"/>
                    <a:pt x="348742" y="176149"/>
                  </a:cubicBezTo>
                  <a:cubicBezTo>
                    <a:pt x="437896" y="176149"/>
                    <a:pt x="510032" y="248412"/>
                    <a:pt x="510032" y="337439"/>
                  </a:cubicBezTo>
                  <a:cubicBezTo>
                    <a:pt x="510032" y="426466"/>
                    <a:pt x="437896" y="498729"/>
                    <a:pt x="348742" y="49872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>
            <p:custDataLst>
              <p:tags r:id="rId7"/>
            </p:custDataLst>
          </p:nvPr>
        </p:nvGrpSpPr>
        <p:grpSpPr>
          <a:xfrm rot="0">
            <a:off x="6541030" y="1703201"/>
            <a:ext cx="1820023" cy="1820023"/>
            <a:chOff x="0" y="0"/>
            <a:chExt cx="2066544" cy="2066544"/>
          </a:xfrm>
        </p:grpSpPr>
        <p:sp>
          <p:nvSpPr>
            <p:cNvPr id="17" name="Freeform 17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18" name="TextBox 18"/>
          <p:cNvSpPr txBox="1"/>
          <p:nvPr>
            <p:custDataLst>
              <p:tags r:id="rId9"/>
            </p:custDataLst>
          </p:nvPr>
        </p:nvSpPr>
        <p:spPr>
          <a:xfrm>
            <a:off x="6434561" y="3767504"/>
            <a:ext cx="2032960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AC</a:t>
            </a: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验收标准</a:t>
            </a: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algn="ctr">
              <a:lnSpc>
                <a:spcPts val="3240"/>
              </a:lnSpc>
            </a:pP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19" name="Group 19"/>
          <p:cNvGrpSpPr/>
          <p:nvPr>
            <p:custDataLst>
              <p:tags r:id="rId10"/>
            </p:custDataLst>
          </p:nvPr>
        </p:nvGrpSpPr>
        <p:grpSpPr>
          <a:xfrm rot="0">
            <a:off x="7061428" y="2371254"/>
            <a:ext cx="779226" cy="587572"/>
            <a:chOff x="0" y="0"/>
            <a:chExt cx="884772" cy="667158"/>
          </a:xfrm>
        </p:grpSpPr>
        <p:sp>
          <p:nvSpPr>
            <p:cNvPr id="20" name="Freeform 20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884682" cy="667131"/>
            </a:xfrm>
            <a:custGeom>
              <a:avLst/>
              <a:gdLst/>
              <a:ahLst/>
              <a:cxnLst/>
              <a:rect l="l" t="t" r="r" b="b"/>
              <a:pathLst>
                <a:path w="884682" h="667131">
                  <a:moveTo>
                    <a:pt x="714883" y="258699"/>
                  </a:moveTo>
                  <a:cubicBezTo>
                    <a:pt x="767080" y="289814"/>
                    <a:pt x="831342" y="374015"/>
                    <a:pt x="858012" y="475234"/>
                  </a:cubicBezTo>
                  <a:cubicBezTo>
                    <a:pt x="884682" y="576453"/>
                    <a:pt x="880237" y="667131"/>
                    <a:pt x="880237" y="667131"/>
                  </a:cubicBezTo>
                  <a:cubicBezTo>
                    <a:pt x="880237" y="667131"/>
                    <a:pt x="845693" y="611251"/>
                    <a:pt x="831723" y="591693"/>
                  </a:cubicBezTo>
                  <a:cubicBezTo>
                    <a:pt x="817753" y="572135"/>
                    <a:pt x="758698" y="499237"/>
                    <a:pt x="667004" y="456946"/>
                  </a:cubicBezTo>
                  <a:cubicBezTo>
                    <a:pt x="575310" y="414655"/>
                    <a:pt x="422148" y="422275"/>
                    <a:pt x="422148" y="422275"/>
                  </a:cubicBezTo>
                  <a:lnTo>
                    <a:pt x="422148" y="598297"/>
                  </a:lnTo>
                  <a:lnTo>
                    <a:pt x="0" y="299212"/>
                  </a:lnTo>
                  <a:lnTo>
                    <a:pt x="422148" y="0"/>
                  </a:lnTo>
                  <a:lnTo>
                    <a:pt x="422148" y="177673"/>
                  </a:lnTo>
                  <a:cubicBezTo>
                    <a:pt x="422148" y="177673"/>
                    <a:pt x="523621" y="185293"/>
                    <a:pt x="576580" y="196215"/>
                  </a:cubicBezTo>
                  <a:cubicBezTo>
                    <a:pt x="665861" y="214757"/>
                    <a:pt x="714883" y="258699"/>
                    <a:pt x="714883" y="25869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>
            <p:custDataLst>
              <p:tags r:id="rId12"/>
            </p:custDataLst>
          </p:nvPr>
        </p:nvGrpSpPr>
        <p:grpSpPr>
          <a:xfrm rot="0">
            <a:off x="11037398" y="1703201"/>
            <a:ext cx="1820023" cy="1820023"/>
            <a:chOff x="0" y="0"/>
            <a:chExt cx="2066544" cy="2066544"/>
          </a:xfrm>
        </p:grpSpPr>
        <p:sp>
          <p:nvSpPr>
            <p:cNvPr id="22" name="Freeform 22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23" name="TextBox 23"/>
          <p:cNvSpPr txBox="1"/>
          <p:nvPr>
            <p:custDataLst>
              <p:tags r:id="rId14"/>
            </p:custDataLst>
          </p:nvPr>
        </p:nvSpPr>
        <p:spPr>
          <a:xfrm>
            <a:off x="10930930" y="3767504"/>
            <a:ext cx="203296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用户故事</a:t>
            </a:r>
            <a:r>
              <a:rPr lang="en-US" altLang="zh-CN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4</a:t>
            </a:r>
            <a:endParaRPr lang="en-US" altLang="zh-CN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24" name="Group 24"/>
          <p:cNvGrpSpPr/>
          <p:nvPr>
            <p:custDataLst>
              <p:tags r:id="rId15"/>
            </p:custDataLst>
          </p:nvPr>
        </p:nvGrpSpPr>
        <p:grpSpPr>
          <a:xfrm rot="0">
            <a:off x="11613964" y="2223922"/>
            <a:ext cx="666890" cy="779226"/>
            <a:chOff x="0" y="0"/>
            <a:chExt cx="757220" cy="884772"/>
          </a:xfrm>
        </p:grpSpPr>
        <p:sp>
          <p:nvSpPr>
            <p:cNvPr id="25" name="Freeform 25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757301" cy="884809"/>
            </a:xfrm>
            <a:custGeom>
              <a:avLst/>
              <a:gdLst/>
              <a:ahLst/>
              <a:cxnLst/>
              <a:rect l="l" t="t" r="r" b="b"/>
              <a:pathLst>
                <a:path w="757301" h="884809">
                  <a:moveTo>
                    <a:pt x="569849" y="148844"/>
                  </a:moveTo>
                  <a:lnTo>
                    <a:pt x="569849" y="73406"/>
                  </a:lnTo>
                  <a:cubicBezTo>
                    <a:pt x="569849" y="32893"/>
                    <a:pt x="535051" y="0"/>
                    <a:pt x="494538" y="0"/>
                  </a:cubicBezTo>
                  <a:lnTo>
                    <a:pt x="266573" y="0"/>
                  </a:lnTo>
                  <a:cubicBezTo>
                    <a:pt x="224028" y="0"/>
                    <a:pt x="191262" y="32893"/>
                    <a:pt x="191262" y="73406"/>
                  </a:cubicBezTo>
                  <a:lnTo>
                    <a:pt x="191262" y="146812"/>
                  </a:lnTo>
                  <a:lnTo>
                    <a:pt x="0" y="146812"/>
                  </a:lnTo>
                  <a:lnTo>
                    <a:pt x="0" y="220218"/>
                  </a:lnTo>
                  <a:lnTo>
                    <a:pt x="75311" y="220218"/>
                  </a:lnTo>
                  <a:lnTo>
                    <a:pt x="75311" y="811403"/>
                  </a:lnTo>
                  <a:cubicBezTo>
                    <a:pt x="75311" y="851916"/>
                    <a:pt x="110109" y="884809"/>
                    <a:pt x="150749" y="884809"/>
                  </a:cubicBezTo>
                  <a:lnTo>
                    <a:pt x="606679" y="884809"/>
                  </a:lnTo>
                  <a:cubicBezTo>
                    <a:pt x="649224" y="884809"/>
                    <a:pt x="681990" y="851916"/>
                    <a:pt x="681990" y="811403"/>
                  </a:cubicBezTo>
                  <a:lnTo>
                    <a:pt x="681990" y="222123"/>
                  </a:lnTo>
                  <a:lnTo>
                    <a:pt x="757301" y="222123"/>
                  </a:lnTo>
                  <a:lnTo>
                    <a:pt x="757301" y="148844"/>
                  </a:lnTo>
                  <a:lnTo>
                    <a:pt x="569849" y="148844"/>
                  </a:lnTo>
                  <a:close/>
                  <a:moveTo>
                    <a:pt x="338074" y="761111"/>
                  </a:moveTo>
                  <a:lnTo>
                    <a:pt x="252984" y="761111"/>
                  </a:lnTo>
                  <a:lnTo>
                    <a:pt x="252984" y="295529"/>
                  </a:lnTo>
                  <a:lnTo>
                    <a:pt x="338074" y="295529"/>
                  </a:lnTo>
                  <a:lnTo>
                    <a:pt x="338074" y="761111"/>
                  </a:lnTo>
                  <a:close/>
                  <a:moveTo>
                    <a:pt x="508127" y="761111"/>
                  </a:moveTo>
                  <a:lnTo>
                    <a:pt x="423037" y="761111"/>
                  </a:lnTo>
                  <a:lnTo>
                    <a:pt x="423037" y="295529"/>
                  </a:lnTo>
                  <a:lnTo>
                    <a:pt x="508127" y="295529"/>
                  </a:lnTo>
                  <a:lnTo>
                    <a:pt x="508127" y="76111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>
            <p:custDataLst>
              <p:tags r:id="rId17"/>
            </p:custDataLst>
          </p:nvPr>
        </p:nvGrpSpPr>
        <p:grpSpPr>
          <a:xfrm rot="0">
            <a:off x="15533767" y="1703201"/>
            <a:ext cx="1820023" cy="1820023"/>
            <a:chOff x="0" y="0"/>
            <a:chExt cx="2066544" cy="2066544"/>
          </a:xfrm>
        </p:grpSpPr>
        <p:sp>
          <p:nvSpPr>
            <p:cNvPr id="27" name="Freeform 27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28" name="TextBox 28"/>
          <p:cNvSpPr txBox="1"/>
          <p:nvPr>
            <p:custDataLst>
              <p:tags r:id="rId19"/>
            </p:custDataLst>
          </p:nvPr>
        </p:nvSpPr>
        <p:spPr>
          <a:xfrm>
            <a:off x="15427298" y="3767504"/>
            <a:ext cx="203296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AC</a:t>
            </a: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验收标准</a:t>
            </a: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29" name="Freeform 29"/>
          <p:cNvSpPr/>
          <p:nvPr>
            <p:custDataLst>
              <p:tags r:id="rId20"/>
            </p:custDataLst>
          </p:nvPr>
        </p:nvSpPr>
        <p:spPr>
          <a:xfrm>
            <a:off x="16054165" y="2223922"/>
            <a:ext cx="779226" cy="778581"/>
          </a:xfrm>
          <a:custGeom>
            <a:avLst/>
            <a:gdLst/>
            <a:ahLst/>
            <a:cxnLst/>
            <a:rect l="l" t="t" r="r" b="b"/>
            <a:pathLst>
              <a:path w="663579" h="663030">
                <a:moveTo>
                  <a:pt x="0" y="0"/>
                </a:moveTo>
                <a:lnTo>
                  <a:pt x="663579" y="0"/>
                </a:lnTo>
                <a:lnTo>
                  <a:pt x="663579" y="663030"/>
                </a:lnTo>
                <a:lnTo>
                  <a:pt x="0" y="66303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>
            <a:grpSpLocks noChangeAspect="1"/>
          </p:cNvGrpSpPr>
          <p:nvPr>
            <p:custDataLst>
              <p:tags r:id="rId23"/>
            </p:custDataLst>
          </p:nvPr>
        </p:nvGrpSpPr>
        <p:grpSpPr>
          <a:xfrm rot="5400000">
            <a:off x="11334775" y="4509089"/>
            <a:ext cx="5837418" cy="225655"/>
            <a:chOff x="0" y="0"/>
            <a:chExt cx="6628094" cy="256220"/>
          </a:xfrm>
        </p:grpSpPr>
        <p:sp>
          <p:nvSpPr>
            <p:cNvPr id="31" name="Freeform 31"/>
            <p:cNvSpPr/>
            <p:nvPr>
              <p:custDataLst>
                <p:tags r:id="rId24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grpSp>
        <p:nvGrpSpPr>
          <p:cNvPr id="32" name="Group 32"/>
          <p:cNvGrpSpPr>
            <a:grpSpLocks noChangeAspect="1"/>
          </p:cNvGrpSpPr>
          <p:nvPr>
            <p:custDataLst>
              <p:tags r:id="rId26"/>
            </p:custDataLst>
          </p:nvPr>
        </p:nvGrpSpPr>
        <p:grpSpPr>
          <a:xfrm rot="5400000">
            <a:off x="6788073" y="4509090"/>
            <a:ext cx="5837418" cy="225655"/>
            <a:chOff x="0" y="0"/>
            <a:chExt cx="6628094" cy="256220"/>
          </a:xfrm>
        </p:grpSpPr>
        <p:sp>
          <p:nvSpPr>
            <p:cNvPr id="33" name="Freeform 33"/>
            <p:cNvSpPr/>
            <p:nvPr>
              <p:custDataLst>
                <p:tags r:id="rId27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grpSp>
        <p:nvGrpSpPr>
          <p:cNvPr id="34" name="Group 34"/>
          <p:cNvGrpSpPr>
            <a:grpSpLocks noChangeAspect="1"/>
          </p:cNvGrpSpPr>
          <p:nvPr>
            <p:custDataLst>
              <p:tags r:id="rId28"/>
            </p:custDataLst>
          </p:nvPr>
        </p:nvGrpSpPr>
        <p:grpSpPr>
          <a:xfrm rot="5400000">
            <a:off x="2325261" y="4509092"/>
            <a:ext cx="5837417" cy="225655"/>
            <a:chOff x="0" y="0"/>
            <a:chExt cx="6628094" cy="256220"/>
          </a:xfrm>
        </p:grpSpPr>
        <p:sp>
          <p:nvSpPr>
            <p:cNvPr id="35" name="Freeform 35"/>
            <p:cNvSpPr/>
            <p:nvPr>
              <p:custDataLst>
                <p:tags r:id="rId29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sp>
        <p:nvSpPr>
          <p:cNvPr id="36" name="TextBox 36"/>
          <p:cNvSpPr txBox="1"/>
          <p:nvPr>
            <p:custDataLst>
              <p:tags r:id="rId30"/>
            </p:custDataLst>
          </p:nvPr>
        </p:nvSpPr>
        <p:spPr>
          <a:xfrm>
            <a:off x="6324706" y="4714354"/>
            <a:ext cx="2600051" cy="346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 sz="1575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   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 Given 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当前推荐列表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≥1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条记录</a:t>
            </a:r>
            <a:endParaRPr lang="zh-CN" altLang="en-US">
              <a:solidFill>
                <a:srgbClr val="404040"/>
              </a:solidFill>
              <a:latin typeface="+mn-ea"/>
              <a:cs typeface="+mn-ea"/>
              <a:sym typeface="思源黑体" panose="020B0500000000000000" charset="-122"/>
            </a:endParaRPr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    When 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我点击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“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导出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Excel”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按钮</a:t>
            </a:r>
            <a:endParaRPr lang="zh-CN" altLang="en-US">
              <a:solidFill>
                <a:srgbClr val="404040"/>
              </a:solidFill>
              <a:latin typeface="+mn-ea"/>
              <a:cs typeface="+mn-ea"/>
              <a:sym typeface="思源黑体" panose="020B0500000000000000" charset="-122"/>
            </a:endParaRPr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    Then 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系统应在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3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秒内生成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.xlsx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文件并自动下载，文件列名与上述字段一致且无空值</a:t>
            </a:r>
            <a:endParaRPr lang="zh-CN" altLang="en-US">
              <a:solidFill>
                <a:srgbClr val="404040"/>
              </a:solidFill>
              <a:latin typeface="+mn-ea"/>
              <a:cs typeface="+mn-ea"/>
              <a:sym typeface="思源黑体" panose="020B0500000000000000" charset="-122"/>
            </a:endParaRPr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endParaRPr lang="en-US" altLang="zh-CN" sz="1575"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endParaRPr lang="en-US" altLang="zh-CN" sz="1575"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algn="ctr">
              <a:lnSpc>
                <a:spcPts val="2455"/>
              </a:lnSpc>
            </a:pPr>
          </a:p>
        </p:txBody>
      </p:sp>
      <p:sp>
        <p:nvSpPr>
          <p:cNvPr id="37" name="TextBox 37"/>
          <p:cNvSpPr txBox="1"/>
          <p:nvPr>
            <p:custDataLst>
              <p:tags r:id="rId31"/>
            </p:custDataLst>
          </p:nvPr>
        </p:nvSpPr>
        <p:spPr>
          <a:xfrm>
            <a:off x="10820431" y="4714354"/>
            <a:ext cx="2600051" cy="220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作为一名设计工程师，</a:t>
            </a:r>
            <a:endParaRPr lang="zh-CN" altLang="en-US">
              <a:solidFill>
                <a:srgbClr val="404040"/>
              </a:solidFill>
              <a:latin typeface="+mn-ea"/>
              <a:cs typeface="+mn-ea"/>
              <a:sym typeface="思源黑体" panose="020B0500000000000000" charset="-122"/>
            </a:endParaRPr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我想对系统给出的相似度评分低于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70%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的零件标记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“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不可复用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”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，</a:t>
            </a:r>
            <a:endParaRPr lang="zh-CN" altLang="en-US">
              <a:solidFill>
                <a:srgbClr val="404040"/>
              </a:solidFill>
              <a:latin typeface="+mn-ea"/>
              <a:cs typeface="+mn-ea"/>
              <a:sym typeface="思源黑体" panose="020B0500000000000000" charset="-122"/>
            </a:endParaRPr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以便后续算法能学习我的反馈并提高精度。</a:t>
            </a:r>
            <a:endParaRPr lang="zh-CN" altLang="en-US">
              <a:solidFill>
                <a:srgbClr val="404040"/>
              </a:solidFill>
              <a:latin typeface="+mn-ea"/>
              <a:cs typeface="+mn-ea"/>
              <a:sym typeface="思源黑体" panose="020B0500000000000000" charset="-122"/>
            </a:endParaRPr>
          </a:p>
          <a:p>
            <a:pPr algn="l">
              <a:lnSpc>
                <a:spcPts val="2455"/>
              </a:lnSpc>
            </a:pPr>
            <a:endParaRPr>
              <a:latin typeface="+mn-ea"/>
              <a:cs typeface="+mn-ea"/>
            </a:endParaRPr>
          </a:p>
        </p:txBody>
      </p:sp>
      <p:sp>
        <p:nvSpPr>
          <p:cNvPr id="38" name="TextBox 38"/>
          <p:cNvSpPr txBox="1"/>
          <p:nvPr>
            <p:custDataLst>
              <p:tags r:id="rId32"/>
            </p:custDataLst>
          </p:nvPr>
        </p:nvSpPr>
        <p:spPr>
          <a:xfrm>
            <a:off x="15086486" y="4762614"/>
            <a:ext cx="2600051" cy="2518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/>
              <a:t>    Given </a:t>
            </a:r>
            <a:r>
              <a:rPr lang="zh-CN" altLang="en-US"/>
              <a:t>我在结果列表中看到相似度</a:t>
            </a:r>
            <a:r>
              <a:rPr lang="en-US" altLang="zh-CN"/>
              <a:t>&lt;70%</a:t>
            </a:r>
            <a:r>
              <a:rPr lang="zh-CN" altLang="en-US"/>
              <a:t>的零件</a:t>
            </a:r>
            <a:endParaRPr lang="zh-CN" altLang="en-US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/>
              <a:t>    When </a:t>
            </a:r>
            <a:r>
              <a:rPr lang="zh-CN" altLang="en-US"/>
              <a:t>我勾选该零件并点击</a:t>
            </a:r>
            <a:r>
              <a:rPr lang="en-US" altLang="zh-CN"/>
              <a:t>“</a:t>
            </a:r>
            <a:r>
              <a:rPr lang="zh-CN" altLang="en-US"/>
              <a:t>标记为不可复用</a:t>
            </a:r>
            <a:r>
              <a:rPr lang="en-US" altLang="zh-CN"/>
              <a:t>”</a:t>
            </a:r>
            <a:endParaRPr lang="en-US" altLang="zh-CN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/>
              <a:t>    Then </a:t>
            </a:r>
            <a:r>
              <a:rPr lang="zh-CN" altLang="en-US"/>
              <a:t>系统应弹出确认框，确认后该记录变灰并写入后台反馈表，且按钮变为</a:t>
            </a:r>
            <a:r>
              <a:rPr lang="en-US" altLang="zh-CN"/>
              <a:t>“</a:t>
            </a:r>
            <a:r>
              <a:rPr lang="zh-CN" altLang="en-US"/>
              <a:t>已标记</a:t>
            </a:r>
            <a:r>
              <a:rPr lang="en-US" altLang="zh-CN"/>
              <a:t>”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6355080"/>
            <a:ext cx="18335625" cy="3931918"/>
            <a:chOff x="0" y="0"/>
            <a:chExt cx="24447500" cy="52425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47500" cy="5242560"/>
            </a:xfrm>
            <a:custGeom>
              <a:avLst/>
              <a:gdLst/>
              <a:ahLst/>
              <a:cxnLst/>
              <a:rect l="l" t="t" r="r" b="b"/>
              <a:pathLst>
                <a:path w="24447500" h="5242560">
                  <a:moveTo>
                    <a:pt x="24447500" y="0"/>
                  </a:moveTo>
                  <a:lnTo>
                    <a:pt x="24447500" y="5242560"/>
                  </a:lnTo>
                  <a:lnTo>
                    <a:pt x="0" y="5242560"/>
                  </a:lnTo>
                  <a:lnTo>
                    <a:pt x="0" y="0"/>
                  </a:lnTo>
                  <a:lnTo>
                    <a:pt x="197866" y="310134"/>
                  </a:lnTo>
                  <a:cubicBezTo>
                    <a:pt x="1047369" y="1287399"/>
                    <a:pt x="3036316" y="1973199"/>
                    <a:pt x="5354320" y="1973199"/>
                  </a:cubicBezTo>
                  <a:lnTo>
                    <a:pt x="6627622" y="1973199"/>
                  </a:lnTo>
                  <a:cubicBezTo>
                    <a:pt x="9718294" y="1973199"/>
                    <a:pt x="12223750" y="3192272"/>
                    <a:pt x="12223750" y="4696206"/>
                  </a:cubicBezTo>
                  <a:cubicBezTo>
                    <a:pt x="12223750" y="3192399"/>
                    <a:pt x="14729206" y="1973199"/>
                    <a:pt x="17819878" y="1973199"/>
                  </a:cubicBezTo>
                  <a:lnTo>
                    <a:pt x="19093180" y="1973199"/>
                  </a:lnTo>
                  <a:cubicBezTo>
                    <a:pt x="21411185" y="1973199"/>
                    <a:pt x="23400004" y="1287399"/>
                    <a:pt x="24249635" y="310134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229408" y="4305415"/>
            <a:ext cx="9601200" cy="55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zh-CN" altLang="en-US" sz="108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零件库管理员</a:t>
            </a:r>
            <a:endParaRPr lang="en-US" sz="108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151638" y="1605170"/>
            <a:ext cx="5227392" cy="551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20"/>
              </a:lnSpc>
            </a:pPr>
            <a:r>
              <a:rPr lang="en-US" sz="3585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02</a:t>
            </a:r>
            <a:endParaRPr lang="en-US" sz="3585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1574223" y="3572877"/>
            <a:ext cx="2702052" cy="1042417"/>
            <a:chOff x="0" y="0"/>
            <a:chExt cx="3602736" cy="1389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02736" cy="1389888"/>
            </a:xfrm>
            <a:custGeom>
              <a:avLst/>
              <a:gdLst/>
              <a:ahLst/>
              <a:cxnLst/>
              <a:rect l="l" t="t" r="r" b="b"/>
              <a:pathLst>
                <a:path w="3602736" h="1389888">
                  <a:moveTo>
                    <a:pt x="0" y="0"/>
                  </a:moveTo>
                  <a:lnTo>
                    <a:pt x="3602736" y="0"/>
                  </a:lnTo>
                  <a:lnTo>
                    <a:pt x="3602736" y="1389888"/>
                  </a:lnTo>
                  <a:lnTo>
                    <a:pt x="0" y="138988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288703" y="3747839"/>
            <a:ext cx="2278990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PART TWO</a:t>
            </a:r>
            <a:endParaRPr lang="en-US" sz="36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617558"/>
            <a:ext cx="18288000" cy="669444"/>
            <a:chOff x="0" y="0"/>
            <a:chExt cx="24384000" cy="892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92556"/>
            </a:xfrm>
            <a:custGeom>
              <a:avLst/>
              <a:gdLst/>
              <a:ahLst/>
              <a:cxnLst/>
              <a:rect l="l" t="t" r="r" b="b"/>
              <a:pathLst>
                <a:path w="24384000" h="892556">
                  <a:moveTo>
                    <a:pt x="0" y="0"/>
                  </a:moveTo>
                  <a:lnTo>
                    <a:pt x="24384000" y="0"/>
                  </a:lnTo>
                  <a:lnTo>
                    <a:pt x="24384000" y="892556"/>
                  </a:lnTo>
                  <a:lnTo>
                    <a:pt x="0" y="892556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4" name="AutoShape 4"/>
          <p:cNvSpPr/>
          <p:nvPr/>
        </p:nvSpPr>
        <p:spPr>
          <a:xfrm rot="6365">
            <a:off x="380988" y="1284088"/>
            <a:ext cx="15431651" cy="0"/>
          </a:xfrm>
          <a:prstGeom prst="line">
            <a:avLst/>
          </a:prstGeom>
          <a:ln w="19050" cap="rnd">
            <a:solidFill>
              <a:srgbClr val="001F5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0">
            <a:off x="13994971" y="1197244"/>
            <a:ext cx="4293030" cy="162732"/>
            <a:chOff x="0" y="0"/>
            <a:chExt cx="5724040" cy="2169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24017" cy="216916"/>
            </a:xfrm>
            <a:custGeom>
              <a:avLst/>
              <a:gdLst/>
              <a:ahLst/>
              <a:cxnLst/>
              <a:rect l="l" t="t" r="r" b="b"/>
              <a:pathLst>
                <a:path w="5724017" h="216916">
                  <a:moveTo>
                    <a:pt x="0" y="0"/>
                  </a:moveTo>
                  <a:lnTo>
                    <a:pt x="5724017" y="0"/>
                  </a:lnTo>
                  <a:lnTo>
                    <a:pt x="5724017" y="216916"/>
                  </a:lnTo>
                  <a:lnTo>
                    <a:pt x="0" y="216916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257636" y="448828"/>
            <a:ext cx="4941600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zh-CN" altLang="en-US" sz="4200" b="1">
                <a:solidFill>
                  <a:srgbClr val="001F5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零件库管理</a:t>
            </a:r>
            <a:r>
              <a:rPr lang="zh-CN" altLang="en-US" sz="4200" b="1">
                <a:solidFill>
                  <a:srgbClr val="001F5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员</a:t>
            </a:r>
            <a:endParaRPr lang="zh-CN" altLang="en-US" sz="4200" b="1">
              <a:solidFill>
                <a:srgbClr val="001F5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-5400000">
            <a:off x="229552" y="240982"/>
            <a:ext cx="1109662" cy="628650"/>
            <a:chOff x="0" y="0"/>
            <a:chExt cx="1479550" cy="838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79550" cy="838200"/>
            </a:xfrm>
            <a:custGeom>
              <a:avLst/>
              <a:gdLst/>
              <a:ahLst/>
              <a:cxnLst/>
              <a:rect l="l" t="t" r="r" b="b"/>
              <a:pathLst>
                <a:path w="1479550" h="838200">
                  <a:moveTo>
                    <a:pt x="0" y="0"/>
                  </a:moveTo>
                  <a:lnTo>
                    <a:pt x="1186180" y="0"/>
                  </a:lnTo>
                  <a:lnTo>
                    <a:pt x="1479550" y="419100"/>
                  </a:lnTo>
                  <a:lnTo>
                    <a:pt x="1186180" y="838200"/>
                  </a:lnTo>
                  <a:lnTo>
                    <a:pt x="0" y="838200"/>
                  </a:lnTo>
                  <a:lnTo>
                    <a:pt x="293370" y="419100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grpSp>
        <p:nvGrpSpPr>
          <p:cNvPr id="10" name="Group 10"/>
          <p:cNvGrpSpPr/>
          <p:nvPr>
            <p:custDataLst>
              <p:tags r:id="rId1"/>
            </p:custDataLst>
          </p:nvPr>
        </p:nvGrpSpPr>
        <p:grpSpPr>
          <a:xfrm rot="0">
            <a:off x="2044661" y="1703201"/>
            <a:ext cx="1820023" cy="1820023"/>
            <a:chOff x="0" y="0"/>
            <a:chExt cx="2066544" cy="2066544"/>
          </a:xfrm>
        </p:grpSpPr>
        <p:sp>
          <p:nvSpPr>
            <p:cNvPr id="11" name="Freeform 11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12" name="TextBox 12"/>
          <p:cNvSpPr txBox="1"/>
          <p:nvPr>
            <p:custDataLst>
              <p:tags r:id="rId3"/>
            </p:custDataLst>
          </p:nvPr>
        </p:nvSpPr>
        <p:spPr>
          <a:xfrm>
            <a:off x="1938193" y="3767504"/>
            <a:ext cx="203296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用户故事</a:t>
            </a:r>
            <a:r>
              <a:rPr lang="en-US" altLang="zh-CN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1</a:t>
            </a:r>
            <a:endParaRPr lang="en-US" altLang="zh-CN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4"/>
            </p:custDataLst>
          </p:nvPr>
        </p:nvSpPr>
        <p:spPr>
          <a:xfrm>
            <a:off x="1905173" y="4714354"/>
            <a:ext cx="2600051" cy="220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/>
              <a:t>作为零件库管理员，</a:t>
            </a:r>
            <a:endParaRPr lang="zh-CN" altLang="en-US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/>
              <a:t>我想一键启动</a:t>
            </a:r>
            <a:r>
              <a:rPr lang="en-US" altLang="zh-CN"/>
              <a:t>“</a:t>
            </a:r>
            <a:r>
              <a:rPr lang="zh-CN" altLang="en-US"/>
              <a:t>自动分类</a:t>
            </a:r>
            <a:r>
              <a:rPr lang="en-US" altLang="zh-CN"/>
              <a:t>”</a:t>
            </a:r>
            <a:r>
              <a:rPr lang="zh-CN" altLang="en-US"/>
              <a:t>任务，</a:t>
            </a:r>
            <a:endParaRPr lang="zh-CN" altLang="en-US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/>
              <a:t>以便系统为所有未分类零件打上最可能的类别标签。</a:t>
            </a:r>
            <a:endParaRPr lang="zh-CN" altLang="en-US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endParaRPr lang="zh-CN" altLang="en-US"/>
          </a:p>
        </p:txBody>
      </p:sp>
      <p:grpSp>
        <p:nvGrpSpPr>
          <p:cNvPr id="14" name="Group 14"/>
          <p:cNvGrpSpPr/>
          <p:nvPr>
            <p:custDataLst>
              <p:tags r:id="rId5"/>
            </p:custDataLst>
          </p:nvPr>
        </p:nvGrpSpPr>
        <p:grpSpPr>
          <a:xfrm rot="0">
            <a:off x="2653852" y="2275428"/>
            <a:ext cx="614171" cy="779226"/>
            <a:chOff x="0" y="0"/>
            <a:chExt cx="697360" cy="884772"/>
          </a:xfrm>
        </p:grpSpPr>
        <p:sp>
          <p:nvSpPr>
            <p:cNvPr id="15" name="Freeform 15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697357" cy="884809"/>
            </a:xfrm>
            <a:custGeom>
              <a:avLst/>
              <a:gdLst/>
              <a:ahLst/>
              <a:cxnLst/>
              <a:rect l="l" t="t" r="r" b="b"/>
              <a:pathLst>
                <a:path w="697357" h="884809">
                  <a:moveTo>
                    <a:pt x="348742" y="0"/>
                  </a:moveTo>
                  <a:cubicBezTo>
                    <a:pt x="156210" y="0"/>
                    <a:pt x="0" y="156210"/>
                    <a:pt x="0" y="348615"/>
                  </a:cubicBezTo>
                  <a:cubicBezTo>
                    <a:pt x="0" y="541020"/>
                    <a:pt x="273177" y="835914"/>
                    <a:pt x="273177" y="835914"/>
                  </a:cubicBezTo>
                  <a:cubicBezTo>
                    <a:pt x="314833" y="884428"/>
                    <a:pt x="383032" y="884809"/>
                    <a:pt x="424307" y="835660"/>
                  </a:cubicBezTo>
                  <a:cubicBezTo>
                    <a:pt x="424307" y="835660"/>
                    <a:pt x="697357" y="541147"/>
                    <a:pt x="697357" y="348615"/>
                  </a:cubicBezTo>
                  <a:cubicBezTo>
                    <a:pt x="697357" y="156083"/>
                    <a:pt x="541147" y="0"/>
                    <a:pt x="348742" y="0"/>
                  </a:cubicBezTo>
                  <a:close/>
                  <a:moveTo>
                    <a:pt x="348742" y="498729"/>
                  </a:moveTo>
                  <a:cubicBezTo>
                    <a:pt x="259588" y="498729"/>
                    <a:pt x="187452" y="426593"/>
                    <a:pt x="187452" y="337439"/>
                  </a:cubicBezTo>
                  <a:cubicBezTo>
                    <a:pt x="187452" y="248285"/>
                    <a:pt x="259588" y="176149"/>
                    <a:pt x="348742" y="176149"/>
                  </a:cubicBezTo>
                  <a:cubicBezTo>
                    <a:pt x="437896" y="176149"/>
                    <a:pt x="510032" y="248412"/>
                    <a:pt x="510032" y="337439"/>
                  </a:cubicBezTo>
                  <a:cubicBezTo>
                    <a:pt x="510032" y="426466"/>
                    <a:pt x="437896" y="498729"/>
                    <a:pt x="348742" y="49872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>
            <p:custDataLst>
              <p:tags r:id="rId7"/>
            </p:custDataLst>
          </p:nvPr>
        </p:nvGrpSpPr>
        <p:grpSpPr>
          <a:xfrm rot="0">
            <a:off x="6541030" y="1703201"/>
            <a:ext cx="1820023" cy="1820023"/>
            <a:chOff x="0" y="0"/>
            <a:chExt cx="2066544" cy="2066544"/>
          </a:xfrm>
        </p:grpSpPr>
        <p:sp>
          <p:nvSpPr>
            <p:cNvPr id="17" name="Freeform 17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18" name="TextBox 18"/>
          <p:cNvSpPr txBox="1"/>
          <p:nvPr>
            <p:custDataLst>
              <p:tags r:id="rId9"/>
            </p:custDataLst>
          </p:nvPr>
        </p:nvSpPr>
        <p:spPr>
          <a:xfrm>
            <a:off x="6434561" y="3767504"/>
            <a:ext cx="203296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AC</a:t>
            </a: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验收标准</a:t>
            </a: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19" name="Group 19"/>
          <p:cNvGrpSpPr/>
          <p:nvPr>
            <p:custDataLst>
              <p:tags r:id="rId10"/>
            </p:custDataLst>
          </p:nvPr>
        </p:nvGrpSpPr>
        <p:grpSpPr>
          <a:xfrm rot="0">
            <a:off x="7061428" y="2371254"/>
            <a:ext cx="779226" cy="587572"/>
            <a:chOff x="0" y="0"/>
            <a:chExt cx="884772" cy="667158"/>
          </a:xfrm>
        </p:grpSpPr>
        <p:sp>
          <p:nvSpPr>
            <p:cNvPr id="20" name="Freeform 20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884682" cy="667131"/>
            </a:xfrm>
            <a:custGeom>
              <a:avLst/>
              <a:gdLst/>
              <a:ahLst/>
              <a:cxnLst/>
              <a:rect l="l" t="t" r="r" b="b"/>
              <a:pathLst>
                <a:path w="884682" h="667131">
                  <a:moveTo>
                    <a:pt x="714883" y="258699"/>
                  </a:moveTo>
                  <a:cubicBezTo>
                    <a:pt x="767080" y="289814"/>
                    <a:pt x="831342" y="374015"/>
                    <a:pt x="858012" y="475234"/>
                  </a:cubicBezTo>
                  <a:cubicBezTo>
                    <a:pt x="884682" y="576453"/>
                    <a:pt x="880237" y="667131"/>
                    <a:pt x="880237" y="667131"/>
                  </a:cubicBezTo>
                  <a:cubicBezTo>
                    <a:pt x="880237" y="667131"/>
                    <a:pt x="845693" y="611251"/>
                    <a:pt x="831723" y="591693"/>
                  </a:cubicBezTo>
                  <a:cubicBezTo>
                    <a:pt x="817753" y="572135"/>
                    <a:pt x="758698" y="499237"/>
                    <a:pt x="667004" y="456946"/>
                  </a:cubicBezTo>
                  <a:cubicBezTo>
                    <a:pt x="575310" y="414655"/>
                    <a:pt x="422148" y="422275"/>
                    <a:pt x="422148" y="422275"/>
                  </a:cubicBezTo>
                  <a:lnTo>
                    <a:pt x="422148" y="598297"/>
                  </a:lnTo>
                  <a:lnTo>
                    <a:pt x="0" y="299212"/>
                  </a:lnTo>
                  <a:lnTo>
                    <a:pt x="422148" y="0"/>
                  </a:lnTo>
                  <a:lnTo>
                    <a:pt x="422148" y="177673"/>
                  </a:lnTo>
                  <a:cubicBezTo>
                    <a:pt x="422148" y="177673"/>
                    <a:pt x="523621" y="185293"/>
                    <a:pt x="576580" y="196215"/>
                  </a:cubicBezTo>
                  <a:cubicBezTo>
                    <a:pt x="665861" y="214757"/>
                    <a:pt x="714883" y="258699"/>
                    <a:pt x="714883" y="25869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>
            <p:custDataLst>
              <p:tags r:id="rId12"/>
            </p:custDataLst>
          </p:nvPr>
        </p:nvGrpSpPr>
        <p:grpSpPr>
          <a:xfrm rot="0">
            <a:off x="11037398" y="1703201"/>
            <a:ext cx="1820023" cy="1820023"/>
            <a:chOff x="0" y="0"/>
            <a:chExt cx="2066544" cy="2066544"/>
          </a:xfrm>
        </p:grpSpPr>
        <p:sp>
          <p:nvSpPr>
            <p:cNvPr id="22" name="Freeform 22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23" name="TextBox 23"/>
          <p:cNvSpPr txBox="1"/>
          <p:nvPr>
            <p:custDataLst>
              <p:tags r:id="rId14"/>
            </p:custDataLst>
          </p:nvPr>
        </p:nvSpPr>
        <p:spPr>
          <a:xfrm>
            <a:off x="10930930" y="3767504"/>
            <a:ext cx="203296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用户故事</a:t>
            </a:r>
            <a:r>
              <a:rPr lang="en-US" altLang="zh-CN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2</a:t>
            </a:r>
            <a:endParaRPr lang="en-US" altLang="zh-CN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24" name="Group 24"/>
          <p:cNvGrpSpPr/>
          <p:nvPr>
            <p:custDataLst>
              <p:tags r:id="rId15"/>
            </p:custDataLst>
          </p:nvPr>
        </p:nvGrpSpPr>
        <p:grpSpPr>
          <a:xfrm rot="0">
            <a:off x="11613964" y="2223922"/>
            <a:ext cx="666890" cy="779226"/>
            <a:chOff x="0" y="0"/>
            <a:chExt cx="757220" cy="884772"/>
          </a:xfrm>
        </p:grpSpPr>
        <p:sp>
          <p:nvSpPr>
            <p:cNvPr id="25" name="Freeform 25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757301" cy="884809"/>
            </a:xfrm>
            <a:custGeom>
              <a:avLst/>
              <a:gdLst/>
              <a:ahLst/>
              <a:cxnLst/>
              <a:rect l="l" t="t" r="r" b="b"/>
              <a:pathLst>
                <a:path w="757301" h="884809">
                  <a:moveTo>
                    <a:pt x="569849" y="148844"/>
                  </a:moveTo>
                  <a:lnTo>
                    <a:pt x="569849" y="73406"/>
                  </a:lnTo>
                  <a:cubicBezTo>
                    <a:pt x="569849" y="32893"/>
                    <a:pt x="535051" y="0"/>
                    <a:pt x="494538" y="0"/>
                  </a:cubicBezTo>
                  <a:lnTo>
                    <a:pt x="266573" y="0"/>
                  </a:lnTo>
                  <a:cubicBezTo>
                    <a:pt x="224028" y="0"/>
                    <a:pt x="191262" y="32893"/>
                    <a:pt x="191262" y="73406"/>
                  </a:cubicBezTo>
                  <a:lnTo>
                    <a:pt x="191262" y="146812"/>
                  </a:lnTo>
                  <a:lnTo>
                    <a:pt x="0" y="146812"/>
                  </a:lnTo>
                  <a:lnTo>
                    <a:pt x="0" y="220218"/>
                  </a:lnTo>
                  <a:lnTo>
                    <a:pt x="75311" y="220218"/>
                  </a:lnTo>
                  <a:lnTo>
                    <a:pt x="75311" y="811403"/>
                  </a:lnTo>
                  <a:cubicBezTo>
                    <a:pt x="75311" y="851916"/>
                    <a:pt x="110109" y="884809"/>
                    <a:pt x="150749" y="884809"/>
                  </a:cubicBezTo>
                  <a:lnTo>
                    <a:pt x="606679" y="884809"/>
                  </a:lnTo>
                  <a:cubicBezTo>
                    <a:pt x="649224" y="884809"/>
                    <a:pt x="681990" y="851916"/>
                    <a:pt x="681990" y="811403"/>
                  </a:cubicBezTo>
                  <a:lnTo>
                    <a:pt x="681990" y="222123"/>
                  </a:lnTo>
                  <a:lnTo>
                    <a:pt x="757301" y="222123"/>
                  </a:lnTo>
                  <a:lnTo>
                    <a:pt x="757301" y="148844"/>
                  </a:lnTo>
                  <a:lnTo>
                    <a:pt x="569849" y="148844"/>
                  </a:lnTo>
                  <a:close/>
                  <a:moveTo>
                    <a:pt x="338074" y="761111"/>
                  </a:moveTo>
                  <a:lnTo>
                    <a:pt x="252984" y="761111"/>
                  </a:lnTo>
                  <a:lnTo>
                    <a:pt x="252984" y="295529"/>
                  </a:lnTo>
                  <a:lnTo>
                    <a:pt x="338074" y="295529"/>
                  </a:lnTo>
                  <a:lnTo>
                    <a:pt x="338074" y="761111"/>
                  </a:lnTo>
                  <a:close/>
                  <a:moveTo>
                    <a:pt x="508127" y="761111"/>
                  </a:moveTo>
                  <a:lnTo>
                    <a:pt x="423037" y="761111"/>
                  </a:lnTo>
                  <a:lnTo>
                    <a:pt x="423037" y="295529"/>
                  </a:lnTo>
                  <a:lnTo>
                    <a:pt x="508127" y="295529"/>
                  </a:lnTo>
                  <a:lnTo>
                    <a:pt x="508127" y="76111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>
            <p:custDataLst>
              <p:tags r:id="rId17"/>
            </p:custDataLst>
          </p:nvPr>
        </p:nvGrpSpPr>
        <p:grpSpPr>
          <a:xfrm rot="0">
            <a:off x="15533767" y="1703201"/>
            <a:ext cx="1820023" cy="1820023"/>
            <a:chOff x="0" y="0"/>
            <a:chExt cx="2066544" cy="2066544"/>
          </a:xfrm>
        </p:grpSpPr>
        <p:sp>
          <p:nvSpPr>
            <p:cNvPr id="27" name="Freeform 27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28" name="TextBox 28"/>
          <p:cNvSpPr txBox="1"/>
          <p:nvPr>
            <p:custDataLst>
              <p:tags r:id="rId19"/>
            </p:custDataLst>
          </p:nvPr>
        </p:nvSpPr>
        <p:spPr>
          <a:xfrm>
            <a:off x="15427298" y="3767504"/>
            <a:ext cx="203296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AC</a:t>
            </a: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验收标准</a:t>
            </a: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29" name="Freeform 29"/>
          <p:cNvSpPr/>
          <p:nvPr>
            <p:custDataLst>
              <p:tags r:id="rId20"/>
            </p:custDataLst>
          </p:nvPr>
        </p:nvSpPr>
        <p:spPr>
          <a:xfrm>
            <a:off x="16054165" y="2223922"/>
            <a:ext cx="779226" cy="778581"/>
          </a:xfrm>
          <a:custGeom>
            <a:avLst/>
            <a:gdLst/>
            <a:ahLst/>
            <a:cxnLst/>
            <a:rect l="l" t="t" r="r" b="b"/>
            <a:pathLst>
              <a:path w="663579" h="663030">
                <a:moveTo>
                  <a:pt x="0" y="0"/>
                </a:moveTo>
                <a:lnTo>
                  <a:pt x="663579" y="0"/>
                </a:lnTo>
                <a:lnTo>
                  <a:pt x="663579" y="663030"/>
                </a:lnTo>
                <a:lnTo>
                  <a:pt x="0" y="66303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>
            <a:grpSpLocks noChangeAspect="1"/>
          </p:cNvGrpSpPr>
          <p:nvPr>
            <p:custDataLst>
              <p:tags r:id="rId23"/>
            </p:custDataLst>
          </p:nvPr>
        </p:nvGrpSpPr>
        <p:grpSpPr>
          <a:xfrm rot="5400000">
            <a:off x="11334775" y="4509089"/>
            <a:ext cx="5837418" cy="225655"/>
            <a:chOff x="0" y="0"/>
            <a:chExt cx="6628094" cy="256220"/>
          </a:xfrm>
        </p:grpSpPr>
        <p:sp>
          <p:nvSpPr>
            <p:cNvPr id="31" name="Freeform 31"/>
            <p:cNvSpPr/>
            <p:nvPr>
              <p:custDataLst>
                <p:tags r:id="rId24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grpSp>
        <p:nvGrpSpPr>
          <p:cNvPr id="32" name="Group 32"/>
          <p:cNvGrpSpPr>
            <a:grpSpLocks noChangeAspect="1"/>
          </p:cNvGrpSpPr>
          <p:nvPr>
            <p:custDataLst>
              <p:tags r:id="rId26"/>
            </p:custDataLst>
          </p:nvPr>
        </p:nvGrpSpPr>
        <p:grpSpPr>
          <a:xfrm rot="5400000">
            <a:off x="6788073" y="4509090"/>
            <a:ext cx="5837418" cy="225655"/>
            <a:chOff x="0" y="0"/>
            <a:chExt cx="6628094" cy="256220"/>
          </a:xfrm>
        </p:grpSpPr>
        <p:sp>
          <p:nvSpPr>
            <p:cNvPr id="33" name="Freeform 33"/>
            <p:cNvSpPr/>
            <p:nvPr>
              <p:custDataLst>
                <p:tags r:id="rId27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grpSp>
        <p:nvGrpSpPr>
          <p:cNvPr id="34" name="Group 34"/>
          <p:cNvGrpSpPr>
            <a:grpSpLocks noChangeAspect="1"/>
          </p:cNvGrpSpPr>
          <p:nvPr>
            <p:custDataLst>
              <p:tags r:id="rId28"/>
            </p:custDataLst>
          </p:nvPr>
        </p:nvGrpSpPr>
        <p:grpSpPr>
          <a:xfrm rot="5400000">
            <a:off x="2325261" y="4509092"/>
            <a:ext cx="5837417" cy="225655"/>
            <a:chOff x="0" y="0"/>
            <a:chExt cx="6628094" cy="256220"/>
          </a:xfrm>
        </p:grpSpPr>
        <p:sp>
          <p:nvSpPr>
            <p:cNvPr id="35" name="Freeform 35"/>
            <p:cNvSpPr/>
            <p:nvPr>
              <p:custDataLst>
                <p:tags r:id="rId29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sp>
        <p:nvSpPr>
          <p:cNvPr id="36" name="TextBox 36"/>
          <p:cNvSpPr txBox="1"/>
          <p:nvPr>
            <p:custDataLst>
              <p:tags r:id="rId30"/>
            </p:custDataLst>
          </p:nvPr>
        </p:nvSpPr>
        <p:spPr>
          <a:xfrm>
            <a:off x="6248506" y="4686414"/>
            <a:ext cx="2600051" cy="4407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 sz="1575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      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Given 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后台存在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≥100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个状态为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“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未分类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”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的零件</a:t>
            </a:r>
            <a:endParaRPr lang="zh-CN" altLang="en-US">
              <a:solidFill>
                <a:srgbClr val="404040"/>
              </a:solidFill>
              <a:latin typeface="+mn-ea"/>
              <a:cs typeface="+mn-ea"/>
              <a:sym typeface="思源黑体" panose="020B0500000000000000" charset="-122"/>
            </a:endParaRPr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   When 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我在管理面板点击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“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启动自动分类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”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并确认</a:t>
            </a:r>
            <a:endParaRPr lang="zh-CN" altLang="en-US">
              <a:solidFill>
                <a:srgbClr val="404040"/>
              </a:solidFill>
              <a:latin typeface="+mn-ea"/>
              <a:cs typeface="+mn-ea"/>
              <a:sym typeface="思源黑体" panose="020B0500000000000000" charset="-122"/>
            </a:endParaRPr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   Then 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系统应在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2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分钟内完成分类，进度条实时显示，完成后生成报告：分类准确率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≥90%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，并列出置信度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&lt;80%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的零件供我人工复核</a:t>
            </a:r>
            <a:endParaRPr lang="zh-CN" altLang="en-US" sz="1575"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endParaRPr lang="en-US" altLang="zh-CN" sz="1575"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algn="ctr">
              <a:lnSpc>
                <a:spcPts val="2455"/>
              </a:lnSpc>
            </a:pPr>
          </a:p>
        </p:txBody>
      </p:sp>
      <p:sp>
        <p:nvSpPr>
          <p:cNvPr id="37" name="TextBox 37"/>
          <p:cNvSpPr txBox="1"/>
          <p:nvPr>
            <p:custDataLst>
              <p:tags r:id="rId31"/>
            </p:custDataLst>
          </p:nvPr>
        </p:nvSpPr>
        <p:spPr>
          <a:xfrm>
            <a:off x="10820431" y="4714354"/>
            <a:ext cx="2600051" cy="188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作为零件库管理员，</a:t>
            </a:r>
            <a:endParaRPr lang="zh-CN" altLang="en-US">
              <a:solidFill>
                <a:srgbClr val="404040"/>
              </a:solidFill>
              <a:latin typeface="+mn-ea"/>
              <a:cs typeface="+mn-ea"/>
              <a:sym typeface="思源黑体" panose="020B0500000000000000" charset="-122"/>
            </a:endParaRPr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我想在分类结果页面对错误标签进行批量修正，</a:t>
            </a:r>
            <a:endParaRPr lang="zh-CN" altLang="en-US">
              <a:solidFill>
                <a:srgbClr val="404040"/>
              </a:solidFill>
              <a:latin typeface="+mn-ea"/>
              <a:cs typeface="+mn-ea"/>
              <a:sym typeface="思源黑体" panose="020B0500000000000000" charset="-122"/>
            </a:endParaRPr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以便训练数据持续改进模型。</a:t>
            </a:r>
            <a:endParaRPr lang="zh-CN" altLang="en-US">
              <a:solidFill>
                <a:srgbClr val="404040"/>
              </a:solidFill>
              <a:latin typeface="+mn-ea"/>
              <a:cs typeface="+mn-ea"/>
              <a:sym typeface="思源黑体" panose="020B0500000000000000" charset="-122"/>
            </a:endParaRPr>
          </a:p>
          <a:p>
            <a:pPr algn="l">
              <a:lnSpc>
                <a:spcPts val="2455"/>
              </a:lnSpc>
            </a:pPr>
            <a:endParaRPr>
              <a:latin typeface="+mn-ea"/>
              <a:cs typeface="+mn-ea"/>
            </a:endParaRPr>
          </a:p>
        </p:txBody>
      </p:sp>
      <p:sp>
        <p:nvSpPr>
          <p:cNvPr id="38" name="TextBox 38"/>
          <p:cNvSpPr txBox="1"/>
          <p:nvPr>
            <p:custDataLst>
              <p:tags r:id="rId32"/>
            </p:custDataLst>
          </p:nvPr>
        </p:nvSpPr>
        <p:spPr>
          <a:xfrm>
            <a:off x="15086486" y="4762614"/>
            <a:ext cx="2600051" cy="377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/>
              <a:t>        Given </a:t>
            </a:r>
            <a:r>
              <a:rPr lang="zh-CN" altLang="en-US"/>
              <a:t>自动分类任务已完成且展示结果列表</a:t>
            </a:r>
            <a:endParaRPr lang="zh-CN" altLang="en-US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/>
              <a:t>    When </a:t>
            </a:r>
            <a:r>
              <a:rPr lang="zh-CN" altLang="en-US"/>
              <a:t>我勾选</a:t>
            </a:r>
            <a:r>
              <a:rPr lang="en-US" altLang="zh-CN"/>
              <a:t>5</a:t>
            </a:r>
            <a:r>
              <a:rPr lang="zh-CN" altLang="en-US"/>
              <a:t>个零件，将它们的类别从</a:t>
            </a:r>
            <a:r>
              <a:rPr lang="en-US" altLang="zh-CN"/>
              <a:t>“</a:t>
            </a:r>
            <a:r>
              <a:rPr lang="zh-CN" altLang="en-US"/>
              <a:t>法兰</a:t>
            </a:r>
            <a:r>
              <a:rPr lang="en-US" altLang="zh-CN"/>
              <a:t>”</a:t>
            </a:r>
            <a:r>
              <a:rPr lang="zh-CN" altLang="en-US"/>
              <a:t>改为</a:t>
            </a:r>
            <a:r>
              <a:rPr lang="en-US" altLang="zh-CN"/>
              <a:t>“</a:t>
            </a:r>
            <a:r>
              <a:rPr lang="zh-CN" altLang="en-US"/>
              <a:t>接头</a:t>
            </a:r>
            <a:r>
              <a:rPr lang="en-US" altLang="zh-CN"/>
              <a:t>”</a:t>
            </a:r>
            <a:r>
              <a:rPr lang="zh-CN" altLang="en-US"/>
              <a:t>，并点击</a:t>
            </a:r>
            <a:r>
              <a:rPr lang="en-US" altLang="zh-CN"/>
              <a:t>“</a:t>
            </a:r>
            <a:r>
              <a:rPr lang="zh-CN" altLang="en-US"/>
              <a:t>保存修正</a:t>
            </a:r>
            <a:r>
              <a:rPr lang="en-US" altLang="zh-CN"/>
              <a:t>”</a:t>
            </a:r>
            <a:endParaRPr lang="en-US" altLang="zh-CN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/>
              <a:t>    Then </a:t>
            </a:r>
            <a:r>
              <a:rPr lang="zh-CN" altLang="en-US"/>
              <a:t>系统应提示</a:t>
            </a:r>
            <a:r>
              <a:rPr lang="en-US" altLang="zh-CN"/>
              <a:t>“</a:t>
            </a:r>
            <a:r>
              <a:rPr lang="zh-CN" altLang="en-US"/>
              <a:t>修正已保存</a:t>
            </a:r>
            <a:r>
              <a:rPr lang="en-US" altLang="zh-CN"/>
              <a:t>”</a:t>
            </a:r>
            <a:r>
              <a:rPr lang="zh-CN" altLang="en-US"/>
              <a:t>，这些零件的</a:t>
            </a:r>
            <a:r>
              <a:rPr lang="en-US" altLang="zh-CN"/>
              <a:t>“</a:t>
            </a:r>
            <a:r>
              <a:rPr lang="zh-CN" altLang="en-US"/>
              <a:t>最后人工校验人</a:t>
            </a:r>
            <a:r>
              <a:rPr lang="en-US" altLang="zh-CN"/>
              <a:t>”</a:t>
            </a:r>
            <a:r>
              <a:rPr lang="zh-CN" altLang="en-US"/>
              <a:t>与</a:t>
            </a:r>
            <a:r>
              <a:rPr lang="en-US" altLang="zh-CN"/>
              <a:t>“</a:t>
            </a:r>
            <a:r>
              <a:rPr lang="zh-CN" altLang="en-US"/>
              <a:t>校验时间</a:t>
            </a:r>
            <a:r>
              <a:rPr lang="en-US" altLang="zh-CN"/>
              <a:t>”</a:t>
            </a:r>
            <a:r>
              <a:rPr lang="zh-CN" altLang="en-US"/>
              <a:t>字段更新，且后台将该批次加入重训练队列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617558"/>
            <a:ext cx="18288000" cy="669444"/>
            <a:chOff x="0" y="0"/>
            <a:chExt cx="24384000" cy="892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92556"/>
            </a:xfrm>
            <a:custGeom>
              <a:avLst/>
              <a:gdLst/>
              <a:ahLst/>
              <a:cxnLst/>
              <a:rect l="l" t="t" r="r" b="b"/>
              <a:pathLst>
                <a:path w="24384000" h="892556">
                  <a:moveTo>
                    <a:pt x="0" y="0"/>
                  </a:moveTo>
                  <a:lnTo>
                    <a:pt x="24384000" y="0"/>
                  </a:lnTo>
                  <a:lnTo>
                    <a:pt x="24384000" y="892556"/>
                  </a:lnTo>
                  <a:lnTo>
                    <a:pt x="0" y="892556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4" name="AutoShape 4"/>
          <p:cNvSpPr/>
          <p:nvPr/>
        </p:nvSpPr>
        <p:spPr>
          <a:xfrm rot="6365">
            <a:off x="380988" y="1284088"/>
            <a:ext cx="15431651" cy="0"/>
          </a:xfrm>
          <a:prstGeom prst="line">
            <a:avLst/>
          </a:prstGeom>
          <a:ln w="19050" cap="rnd">
            <a:solidFill>
              <a:srgbClr val="001F5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0">
            <a:off x="13994971" y="1197244"/>
            <a:ext cx="4293030" cy="162732"/>
            <a:chOff x="0" y="0"/>
            <a:chExt cx="5724040" cy="2169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24017" cy="216916"/>
            </a:xfrm>
            <a:custGeom>
              <a:avLst/>
              <a:gdLst/>
              <a:ahLst/>
              <a:cxnLst/>
              <a:rect l="l" t="t" r="r" b="b"/>
              <a:pathLst>
                <a:path w="5724017" h="216916">
                  <a:moveTo>
                    <a:pt x="0" y="0"/>
                  </a:moveTo>
                  <a:lnTo>
                    <a:pt x="5724017" y="0"/>
                  </a:lnTo>
                  <a:lnTo>
                    <a:pt x="5724017" y="216916"/>
                  </a:lnTo>
                  <a:lnTo>
                    <a:pt x="0" y="216916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257636" y="448828"/>
            <a:ext cx="4941600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zh-CN" altLang="en-US" sz="4200" b="1">
                <a:solidFill>
                  <a:srgbClr val="001F5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零件库管理</a:t>
            </a:r>
            <a:r>
              <a:rPr lang="zh-CN" altLang="en-US" sz="4200" b="1">
                <a:solidFill>
                  <a:srgbClr val="001F5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员</a:t>
            </a:r>
            <a:endParaRPr lang="zh-CN" altLang="en-US" sz="4200" b="1">
              <a:solidFill>
                <a:srgbClr val="001F5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-5400000">
            <a:off x="229552" y="240982"/>
            <a:ext cx="1109662" cy="628650"/>
            <a:chOff x="0" y="0"/>
            <a:chExt cx="1479550" cy="838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79550" cy="838200"/>
            </a:xfrm>
            <a:custGeom>
              <a:avLst/>
              <a:gdLst/>
              <a:ahLst/>
              <a:cxnLst/>
              <a:rect l="l" t="t" r="r" b="b"/>
              <a:pathLst>
                <a:path w="1479550" h="838200">
                  <a:moveTo>
                    <a:pt x="0" y="0"/>
                  </a:moveTo>
                  <a:lnTo>
                    <a:pt x="1186180" y="0"/>
                  </a:lnTo>
                  <a:lnTo>
                    <a:pt x="1479550" y="419100"/>
                  </a:lnTo>
                  <a:lnTo>
                    <a:pt x="1186180" y="838200"/>
                  </a:lnTo>
                  <a:lnTo>
                    <a:pt x="0" y="838200"/>
                  </a:lnTo>
                  <a:lnTo>
                    <a:pt x="293370" y="419100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grpSp>
        <p:nvGrpSpPr>
          <p:cNvPr id="10" name="Group 10"/>
          <p:cNvGrpSpPr/>
          <p:nvPr>
            <p:custDataLst>
              <p:tags r:id="rId1"/>
            </p:custDataLst>
          </p:nvPr>
        </p:nvGrpSpPr>
        <p:grpSpPr>
          <a:xfrm rot="0">
            <a:off x="2044661" y="1703201"/>
            <a:ext cx="1820023" cy="1820023"/>
            <a:chOff x="0" y="0"/>
            <a:chExt cx="2066544" cy="2066544"/>
          </a:xfrm>
        </p:grpSpPr>
        <p:sp>
          <p:nvSpPr>
            <p:cNvPr id="11" name="Freeform 11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12" name="TextBox 12"/>
          <p:cNvSpPr txBox="1"/>
          <p:nvPr>
            <p:custDataLst>
              <p:tags r:id="rId3"/>
            </p:custDataLst>
          </p:nvPr>
        </p:nvSpPr>
        <p:spPr>
          <a:xfrm>
            <a:off x="1938193" y="3767504"/>
            <a:ext cx="203296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用户故事</a:t>
            </a:r>
            <a:r>
              <a:rPr lang="en-US" altLang="zh-CN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3</a:t>
            </a:r>
            <a:endParaRPr lang="en-US" altLang="zh-CN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4"/>
            </p:custDataLst>
          </p:nvPr>
        </p:nvSpPr>
        <p:spPr>
          <a:xfrm>
            <a:off x="1905173" y="4714354"/>
            <a:ext cx="2600051" cy="188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/>
              <a:t>作为零件库管理员，</a:t>
            </a:r>
            <a:endParaRPr lang="zh-CN" altLang="en-US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/>
              <a:t>我想设置</a:t>
            </a:r>
            <a:r>
              <a:rPr lang="en-US" altLang="zh-CN"/>
              <a:t>“</a:t>
            </a:r>
            <a:r>
              <a:rPr lang="zh-CN" altLang="en-US"/>
              <a:t>自动分类</a:t>
            </a:r>
            <a:r>
              <a:rPr lang="en-US" altLang="zh-CN"/>
              <a:t>”</a:t>
            </a:r>
            <a:r>
              <a:rPr lang="zh-CN" altLang="en-US"/>
              <a:t>定时每周日凌晨</a:t>
            </a:r>
            <a:r>
              <a:rPr lang="en-US" altLang="zh-CN"/>
              <a:t>2</a:t>
            </a:r>
            <a:r>
              <a:rPr lang="zh-CN" altLang="en-US"/>
              <a:t>点运行，</a:t>
            </a:r>
            <a:endParaRPr lang="zh-CN" altLang="en-US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/>
              <a:t>以便非工作时间完成增量更新，不影响白天业务。</a:t>
            </a:r>
            <a:endParaRPr lang="zh-CN" altLang="en-US"/>
          </a:p>
        </p:txBody>
      </p:sp>
      <p:grpSp>
        <p:nvGrpSpPr>
          <p:cNvPr id="14" name="Group 14"/>
          <p:cNvGrpSpPr/>
          <p:nvPr>
            <p:custDataLst>
              <p:tags r:id="rId5"/>
            </p:custDataLst>
          </p:nvPr>
        </p:nvGrpSpPr>
        <p:grpSpPr>
          <a:xfrm rot="0">
            <a:off x="2653852" y="2275428"/>
            <a:ext cx="614171" cy="779226"/>
            <a:chOff x="0" y="0"/>
            <a:chExt cx="697360" cy="884772"/>
          </a:xfrm>
        </p:grpSpPr>
        <p:sp>
          <p:nvSpPr>
            <p:cNvPr id="15" name="Freeform 15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697357" cy="884809"/>
            </a:xfrm>
            <a:custGeom>
              <a:avLst/>
              <a:gdLst/>
              <a:ahLst/>
              <a:cxnLst/>
              <a:rect l="l" t="t" r="r" b="b"/>
              <a:pathLst>
                <a:path w="697357" h="884809">
                  <a:moveTo>
                    <a:pt x="348742" y="0"/>
                  </a:moveTo>
                  <a:cubicBezTo>
                    <a:pt x="156210" y="0"/>
                    <a:pt x="0" y="156210"/>
                    <a:pt x="0" y="348615"/>
                  </a:cubicBezTo>
                  <a:cubicBezTo>
                    <a:pt x="0" y="541020"/>
                    <a:pt x="273177" y="835914"/>
                    <a:pt x="273177" y="835914"/>
                  </a:cubicBezTo>
                  <a:cubicBezTo>
                    <a:pt x="314833" y="884428"/>
                    <a:pt x="383032" y="884809"/>
                    <a:pt x="424307" y="835660"/>
                  </a:cubicBezTo>
                  <a:cubicBezTo>
                    <a:pt x="424307" y="835660"/>
                    <a:pt x="697357" y="541147"/>
                    <a:pt x="697357" y="348615"/>
                  </a:cubicBezTo>
                  <a:cubicBezTo>
                    <a:pt x="697357" y="156083"/>
                    <a:pt x="541147" y="0"/>
                    <a:pt x="348742" y="0"/>
                  </a:cubicBezTo>
                  <a:close/>
                  <a:moveTo>
                    <a:pt x="348742" y="498729"/>
                  </a:moveTo>
                  <a:cubicBezTo>
                    <a:pt x="259588" y="498729"/>
                    <a:pt x="187452" y="426593"/>
                    <a:pt x="187452" y="337439"/>
                  </a:cubicBezTo>
                  <a:cubicBezTo>
                    <a:pt x="187452" y="248285"/>
                    <a:pt x="259588" y="176149"/>
                    <a:pt x="348742" y="176149"/>
                  </a:cubicBezTo>
                  <a:cubicBezTo>
                    <a:pt x="437896" y="176149"/>
                    <a:pt x="510032" y="248412"/>
                    <a:pt x="510032" y="337439"/>
                  </a:cubicBezTo>
                  <a:cubicBezTo>
                    <a:pt x="510032" y="426466"/>
                    <a:pt x="437896" y="498729"/>
                    <a:pt x="348742" y="49872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>
            <p:custDataLst>
              <p:tags r:id="rId7"/>
            </p:custDataLst>
          </p:nvPr>
        </p:nvGrpSpPr>
        <p:grpSpPr>
          <a:xfrm rot="0">
            <a:off x="6541030" y="1703201"/>
            <a:ext cx="1820023" cy="1820023"/>
            <a:chOff x="0" y="0"/>
            <a:chExt cx="2066544" cy="2066544"/>
          </a:xfrm>
        </p:grpSpPr>
        <p:sp>
          <p:nvSpPr>
            <p:cNvPr id="17" name="Freeform 17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18" name="TextBox 18"/>
          <p:cNvSpPr txBox="1"/>
          <p:nvPr>
            <p:custDataLst>
              <p:tags r:id="rId9"/>
            </p:custDataLst>
          </p:nvPr>
        </p:nvSpPr>
        <p:spPr>
          <a:xfrm>
            <a:off x="6434561" y="3767504"/>
            <a:ext cx="203296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AC</a:t>
            </a: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验收标准</a:t>
            </a: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19" name="Group 19"/>
          <p:cNvGrpSpPr/>
          <p:nvPr>
            <p:custDataLst>
              <p:tags r:id="rId10"/>
            </p:custDataLst>
          </p:nvPr>
        </p:nvGrpSpPr>
        <p:grpSpPr>
          <a:xfrm rot="0">
            <a:off x="7061428" y="2371254"/>
            <a:ext cx="779226" cy="587572"/>
            <a:chOff x="0" y="0"/>
            <a:chExt cx="884772" cy="667158"/>
          </a:xfrm>
        </p:grpSpPr>
        <p:sp>
          <p:nvSpPr>
            <p:cNvPr id="20" name="Freeform 20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884682" cy="667131"/>
            </a:xfrm>
            <a:custGeom>
              <a:avLst/>
              <a:gdLst/>
              <a:ahLst/>
              <a:cxnLst/>
              <a:rect l="l" t="t" r="r" b="b"/>
              <a:pathLst>
                <a:path w="884682" h="667131">
                  <a:moveTo>
                    <a:pt x="714883" y="258699"/>
                  </a:moveTo>
                  <a:cubicBezTo>
                    <a:pt x="767080" y="289814"/>
                    <a:pt x="831342" y="374015"/>
                    <a:pt x="858012" y="475234"/>
                  </a:cubicBezTo>
                  <a:cubicBezTo>
                    <a:pt x="884682" y="576453"/>
                    <a:pt x="880237" y="667131"/>
                    <a:pt x="880237" y="667131"/>
                  </a:cubicBezTo>
                  <a:cubicBezTo>
                    <a:pt x="880237" y="667131"/>
                    <a:pt x="845693" y="611251"/>
                    <a:pt x="831723" y="591693"/>
                  </a:cubicBezTo>
                  <a:cubicBezTo>
                    <a:pt x="817753" y="572135"/>
                    <a:pt x="758698" y="499237"/>
                    <a:pt x="667004" y="456946"/>
                  </a:cubicBezTo>
                  <a:cubicBezTo>
                    <a:pt x="575310" y="414655"/>
                    <a:pt x="422148" y="422275"/>
                    <a:pt x="422148" y="422275"/>
                  </a:cubicBezTo>
                  <a:lnTo>
                    <a:pt x="422148" y="598297"/>
                  </a:lnTo>
                  <a:lnTo>
                    <a:pt x="0" y="299212"/>
                  </a:lnTo>
                  <a:lnTo>
                    <a:pt x="422148" y="0"/>
                  </a:lnTo>
                  <a:lnTo>
                    <a:pt x="422148" y="177673"/>
                  </a:lnTo>
                  <a:cubicBezTo>
                    <a:pt x="422148" y="177673"/>
                    <a:pt x="523621" y="185293"/>
                    <a:pt x="576580" y="196215"/>
                  </a:cubicBezTo>
                  <a:cubicBezTo>
                    <a:pt x="665861" y="214757"/>
                    <a:pt x="714883" y="258699"/>
                    <a:pt x="714883" y="25869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>
            <p:custDataLst>
              <p:tags r:id="rId12"/>
            </p:custDataLst>
          </p:nvPr>
        </p:nvGrpSpPr>
        <p:grpSpPr>
          <a:xfrm rot="0">
            <a:off x="11037398" y="1703201"/>
            <a:ext cx="1820023" cy="1820023"/>
            <a:chOff x="0" y="0"/>
            <a:chExt cx="2066544" cy="2066544"/>
          </a:xfrm>
        </p:grpSpPr>
        <p:sp>
          <p:nvSpPr>
            <p:cNvPr id="22" name="Freeform 22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23" name="TextBox 23"/>
          <p:cNvSpPr txBox="1"/>
          <p:nvPr>
            <p:custDataLst>
              <p:tags r:id="rId14"/>
            </p:custDataLst>
          </p:nvPr>
        </p:nvSpPr>
        <p:spPr>
          <a:xfrm>
            <a:off x="10930930" y="3767504"/>
            <a:ext cx="203296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用户故事</a:t>
            </a:r>
            <a:r>
              <a:rPr lang="en-US" altLang="zh-CN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2</a:t>
            </a:r>
            <a:endParaRPr lang="en-US" altLang="zh-CN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24" name="Group 24"/>
          <p:cNvGrpSpPr/>
          <p:nvPr>
            <p:custDataLst>
              <p:tags r:id="rId15"/>
            </p:custDataLst>
          </p:nvPr>
        </p:nvGrpSpPr>
        <p:grpSpPr>
          <a:xfrm rot="0">
            <a:off x="11613964" y="2223922"/>
            <a:ext cx="666890" cy="779226"/>
            <a:chOff x="0" y="0"/>
            <a:chExt cx="757220" cy="884772"/>
          </a:xfrm>
        </p:grpSpPr>
        <p:sp>
          <p:nvSpPr>
            <p:cNvPr id="25" name="Freeform 25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757301" cy="884809"/>
            </a:xfrm>
            <a:custGeom>
              <a:avLst/>
              <a:gdLst/>
              <a:ahLst/>
              <a:cxnLst/>
              <a:rect l="l" t="t" r="r" b="b"/>
              <a:pathLst>
                <a:path w="757301" h="884809">
                  <a:moveTo>
                    <a:pt x="569849" y="148844"/>
                  </a:moveTo>
                  <a:lnTo>
                    <a:pt x="569849" y="73406"/>
                  </a:lnTo>
                  <a:cubicBezTo>
                    <a:pt x="569849" y="32893"/>
                    <a:pt x="535051" y="0"/>
                    <a:pt x="494538" y="0"/>
                  </a:cubicBezTo>
                  <a:lnTo>
                    <a:pt x="266573" y="0"/>
                  </a:lnTo>
                  <a:cubicBezTo>
                    <a:pt x="224028" y="0"/>
                    <a:pt x="191262" y="32893"/>
                    <a:pt x="191262" y="73406"/>
                  </a:cubicBezTo>
                  <a:lnTo>
                    <a:pt x="191262" y="146812"/>
                  </a:lnTo>
                  <a:lnTo>
                    <a:pt x="0" y="146812"/>
                  </a:lnTo>
                  <a:lnTo>
                    <a:pt x="0" y="220218"/>
                  </a:lnTo>
                  <a:lnTo>
                    <a:pt x="75311" y="220218"/>
                  </a:lnTo>
                  <a:lnTo>
                    <a:pt x="75311" y="811403"/>
                  </a:lnTo>
                  <a:cubicBezTo>
                    <a:pt x="75311" y="851916"/>
                    <a:pt x="110109" y="884809"/>
                    <a:pt x="150749" y="884809"/>
                  </a:cubicBezTo>
                  <a:lnTo>
                    <a:pt x="606679" y="884809"/>
                  </a:lnTo>
                  <a:cubicBezTo>
                    <a:pt x="649224" y="884809"/>
                    <a:pt x="681990" y="851916"/>
                    <a:pt x="681990" y="811403"/>
                  </a:cubicBezTo>
                  <a:lnTo>
                    <a:pt x="681990" y="222123"/>
                  </a:lnTo>
                  <a:lnTo>
                    <a:pt x="757301" y="222123"/>
                  </a:lnTo>
                  <a:lnTo>
                    <a:pt x="757301" y="148844"/>
                  </a:lnTo>
                  <a:lnTo>
                    <a:pt x="569849" y="148844"/>
                  </a:lnTo>
                  <a:close/>
                  <a:moveTo>
                    <a:pt x="338074" y="761111"/>
                  </a:moveTo>
                  <a:lnTo>
                    <a:pt x="252984" y="761111"/>
                  </a:lnTo>
                  <a:lnTo>
                    <a:pt x="252984" y="295529"/>
                  </a:lnTo>
                  <a:lnTo>
                    <a:pt x="338074" y="295529"/>
                  </a:lnTo>
                  <a:lnTo>
                    <a:pt x="338074" y="761111"/>
                  </a:lnTo>
                  <a:close/>
                  <a:moveTo>
                    <a:pt x="508127" y="761111"/>
                  </a:moveTo>
                  <a:lnTo>
                    <a:pt x="423037" y="761111"/>
                  </a:lnTo>
                  <a:lnTo>
                    <a:pt x="423037" y="295529"/>
                  </a:lnTo>
                  <a:lnTo>
                    <a:pt x="508127" y="295529"/>
                  </a:lnTo>
                  <a:lnTo>
                    <a:pt x="508127" y="76111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>
            <p:custDataLst>
              <p:tags r:id="rId17"/>
            </p:custDataLst>
          </p:nvPr>
        </p:nvGrpSpPr>
        <p:grpSpPr>
          <a:xfrm rot="0">
            <a:off x="15533767" y="1703201"/>
            <a:ext cx="1820023" cy="1820023"/>
            <a:chOff x="0" y="0"/>
            <a:chExt cx="2066544" cy="2066544"/>
          </a:xfrm>
        </p:grpSpPr>
        <p:sp>
          <p:nvSpPr>
            <p:cNvPr id="27" name="Freeform 27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28" name="TextBox 28"/>
          <p:cNvSpPr txBox="1"/>
          <p:nvPr>
            <p:custDataLst>
              <p:tags r:id="rId19"/>
            </p:custDataLst>
          </p:nvPr>
        </p:nvSpPr>
        <p:spPr>
          <a:xfrm>
            <a:off x="15427298" y="3767504"/>
            <a:ext cx="2032960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AC</a:t>
            </a: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验收标准</a:t>
            </a: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29" name="Freeform 29"/>
          <p:cNvSpPr/>
          <p:nvPr>
            <p:custDataLst>
              <p:tags r:id="rId20"/>
            </p:custDataLst>
          </p:nvPr>
        </p:nvSpPr>
        <p:spPr>
          <a:xfrm>
            <a:off x="16054165" y="2223922"/>
            <a:ext cx="779226" cy="778581"/>
          </a:xfrm>
          <a:custGeom>
            <a:avLst/>
            <a:gdLst/>
            <a:ahLst/>
            <a:cxnLst/>
            <a:rect l="l" t="t" r="r" b="b"/>
            <a:pathLst>
              <a:path w="663579" h="663030">
                <a:moveTo>
                  <a:pt x="0" y="0"/>
                </a:moveTo>
                <a:lnTo>
                  <a:pt x="663579" y="0"/>
                </a:lnTo>
                <a:lnTo>
                  <a:pt x="663579" y="663030"/>
                </a:lnTo>
                <a:lnTo>
                  <a:pt x="0" y="66303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>
            <a:grpSpLocks noChangeAspect="1"/>
          </p:cNvGrpSpPr>
          <p:nvPr>
            <p:custDataLst>
              <p:tags r:id="rId23"/>
            </p:custDataLst>
          </p:nvPr>
        </p:nvGrpSpPr>
        <p:grpSpPr>
          <a:xfrm rot="5400000">
            <a:off x="11334775" y="4509089"/>
            <a:ext cx="5837418" cy="225655"/>
            <a:chOff x="0" y="0"/>
            <a:chExt cx="6628094" cy="256220"/>
          </a:xfrm>
        </p:grpSpPr>
        <p:sp>
          <p:nvSpPr>
            <p:cNvPr id="31" name="Freeform 31"/>
            <p:cNvSpPr/>
            <p:nvPr>
              <p:custDataLst>
                <p:tags r:id="rId24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grpSp>
        <p:nvGrpSpPr>
          <p:cNvPr id="32" name="Group 32"/>
          <p:cNvGrpSpPr>
            <a:grpSpLocks noChangeAspect="1"/>
          </p:cNvGrpSpPr>
          <p:nvPr>
            <p:custDataLst>
              <p:tags r:id="rId26"/>
            </p:custDataLst>
          </p:nvPr>
        </p:nvGrpSpPr>
        <p:grpSpPr>
          <a:xfrm rot="5400000">
            <a:off x="6788073" y="4509090"/>
            <a:ext cx="5837418" cy="225655"/>
            <a:chOff x="0" y="0"/>
            <a:chExt cx="6628094" cy="256220"/>
          </a:xfrm>
        </p:grpSpPr>
        <p:sp>
          <p:nvSpPr>
            <p:cNvPr id="33" name="Freeform 33"/>
            <p:cNvSpPr/>
            <p:nvPr>
              <p:custDataLst>
                <p:tags r:id="rId27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grpSp>
        <p:nvGrpSpPr>
          <p:cNvPr id="34" name="Group 34"/>
          <p:cNvGrpSpPr>
            <a:grpSpLocks noChangeAspect="1"/>
          </p:cNvGrpSpPr>
          <p:nvPr>
            <p:custDataLst>
              <p:tags r:id="rId28"/>
            </p:custDataLst>
          </p:nvPr>
        </p:nvGrpSpPr>
        <p:grpSpPr>
          <a:xfrm rot="5400000">
            <a:off x="2325261" y="4509092"/>
            <a:ext cx="5837417" cy="225655"/>
            <a:chOff x="0" y="0"/>
            <a:chExt cx="6628094" cy="256220"/>
          </a:xfrm>
        </p:grpSpPr>
        <p:sp>
          <p:nvSpPr>
            <p:cNvPr id="35" name="Freeform 35"/>
            <p:cNvSpPr/>
            <p:nvPr>
              <p:custDataLst>
                <p:tags r:id="rId29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sp>
        <p:nvSpPr>
          <p:cNvPr id="36" name="TextBox 36"/>
          <p:cNvSpPr txBox="1"/>
          <p:nvPr>
            <p:custDataLst>
              <p:tags r:id="rId30"/>
            </p:custDataLst>
          </p:nvPr>
        </p:nvSpPr>
        <p:spPr>
          <a:xfrm>
            <a:off x="6248506" y="4686414"/>
            <a:ext cx="2600051" cy="4407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 sz="1575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     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Given 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我进入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“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定时任务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”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页面</a:t>
            </a:r>
            <a:endParaRPr lang="zh-CN" altLang="en-US">
              <a:solidFill>
                <a:srgbClr val="404040"/>
              </a:solidFill>
              <a:latin typeface="+mn-ea"/>
              <a:cs typeface="+mn-ea"/>
              <a:sym typeface="思源黑体" panose="020B0500000000000000" charset="-122"/>
            </a:endParaRPr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    When 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我新建一条任务：周期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=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每周，时间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=02:00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，动作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=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自动分类，并启用</a:t>
            </a:r>
            <a:endParaRPr lang="zh-CN" altLang="en-US">
              <a:solidFill>
                <a:srgbClr val="404040"/>
              </a:solidFill>
              <a:latin typeface="+mn-ea"/>
              <a:cs typeface="+mn-ea"/>
              <a:sym typeface="思源黑体" panose="020B0500000000000000" charset="-122"/>
            </a:endParaRPr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    Then 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系统应提示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“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任务创建成功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”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，并在下周日凌晨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2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点自动执行，执行日志可通过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“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历史记录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”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查看，状态为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“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成功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”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或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“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失败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+</a:t>
            </a:r>
            <a:r>
              <a:rPr lang="zh-CN" altLang="en-US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错误信息</a:t>
            </a:r>
            <a:r>
              <a:rPr lang="en-US" altLang="zh-CN">
                <a:solidFill>
                  <a:srgbClr val="404040"/>
                </a:solidFill>
                <a:latin typeface="+mn-ea"/>
                <a:cs typeface="+mn-ea"/>
                <a:sym typeface="思源黑体" panose="020B0500000000000000" charset="-122"/>
              </a:rPr>
              <a:t>”</a:t>
            </a:r>
            <a:endParaRPr lang="en-US" altLang="zh-CN">
              <a:solidFill>
                <a:srgbClr val="404040"/>
              </a:solidFill>
              <a:latin typeface="+mn-ea"/>
              <a:cs typeface="+mn-ea"/>
              <a:sym typeface="思源黑体" panose="020B0500000000000000" charset="-122"/>
            </a:endParaRPr>
          </a:p>
          <a:p>
            <a:pPr algn="ctr">
              <a:lnSpc>
                <a:spcPts val="2455"/>
              </a:lnSpc>
            </a:pPr>
            <a:endParaRPr>
              <a:latin typeface="+mn-ea"/>
              <a:cs typeface="+mn-ea"/>
            </a:endParaRPr>
          </a:p>
        </p:txBody>
      </p:sp>
      <p:sp>
        <p:nvSpPr>
          <p:cNvPr id="37" name="TextBox 37"/>
          <p:cNvSpPr txBox="1"/>
          <p:nvPr>
            <p:custDataLst>
              <p:tags r:id="rId31"/>
            </p:custDataLst>
          </p:nvPr>
        </p:nvSpPr>
        <p:spPr>
          <a:xfrm>
            <a:off x="10820431" y="4714354"/>
            <a:ext cx="2600051" cy="188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>
                <a:latin typeface="+mn-ea"/>
                <a:cs typeface="+mn-ea"/>
              </a:rPr>
              <a:t>作为零件库管理员，</a:t>
            </a:r>
            <a:endParaRPr lang="zh-CN" altLang="en-US">
              <a:latin typeface="+mn-ea"/>
              <a:cs typeface="+mn-ea"/>
            </a:endParaRPr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>
                <a:latin typeface="+mn-ea"/>
                <a:cs typeface="+mn-ea"/>
              </a:rPr>
              <a:t>我想按</a:t>
            </a:r>
            <a:r>
              <a:rPr lang="en-US" altLang="zh-CN">
                <a:latin typeface="+mn-ea"/>
                <a:cs typeface="+mn-ea"/>
              </a:rPr>
              <a:t>“</a:t>
            </a:r>
            <a:r>
              <a:rPr lang="zh-CN" altLang="en-US">
                <a:latin typeface="+mn-ea"/>
                <a:cs typeface="+mn-ea"/>
              </a:rPr>
              <a:t>置信度</a:t>
            </a:r>
            <a:r>
              <a:rPr lang="en-US" altLang="zh-CN">
                <a:latin typeface="+mn-ea"/>
                <a:cs typeface="+mn-ea"/>
              </a:rPr>
              <a:t>≤70%”</a:t>
            </a:r>
            <a:r>
              <a:rPr lang="zh-CN" altLang="en-US">
                <a:latin typeface="+mn-ea"/>
                <a:cs typeface="+mn-ea"/>
              </a:rPr>
              <a:t>快速筛选出系统自动分类结果，</a:t>
            </a:r>
            <a:endParaRPr lang="zh-CN" altLang="en-US">
              <a:latin typeface="+mn-ea"/>
              <a:cs typeface="+mn-ea"/>
            </a:endParaRPr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zh-CN" altLang="en-US">
                <a:latin typeface="+mn-ea"/>
                <a:cs typeface="+mn-ea"/>
              </a:rPr>
              <a:t>以便我优先复核那些最有可能打错标签的零件。</a:t>
            </a:r>
            <a:endParaRPr lang="zh-CN" altLang="en-US">
              <a:latin typeface="+mn-ea"/>
              <a:cs typeface="+mn-ea"/>
            </a:endParaRPr>
          </a:p>
        </p:txBody>
      </p:sp>
      <p:sp>
        <p:nvSpPr>
          <p:cNvPr id="38" name="TextBox 38"/>
          <p:cNvSpPr txBox="1"/>
          <p:nvPr>
            <p:custDataLst>
              <p:tags r:id="rId32"/>
            </p:custDataLst>
          </p:nvPr>
        </p:nvSpPr>
        <p:spPr>
          <a:xfrm>
            <a:off x="15011556" y="4762614"/>
            <a:ext cx="2600051" cy="346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/>
              <a:t>         Given </a:t>
            </a:r>
            <a:r>
              <a:rPr lang="zh-CN" altLang="en-US"/>
              <a:t>自动分类任务已结束并生成结果列表</a:t>
            </a:r>
            <a:endParaRPr lang="zh-CN" altLang="en-US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/>
              <a:t>         When </a:t>
            </a:r>
            <a:r>
              <a:rPr lang="zh-CN" altLang="en-US"/>
              <a:t>我在筛选栏选择</a:t>
            </a:r>
            <a:r>
              <a:rPr lang="en-US" altLang="zh-CN"/>
              <a:t>“</a:t>
            </a:r>
            <a:r>
              <a:rPr lang="zh-CN" altLang="en-US"/>
              <a:t>置信度</a:t>
            </a:r>
            <a:r>
              <a:rPr lang="en-US" altLang="zh-CN"/>
              <a:t>≤70%”</a:t>
            </a:r>
            <a:r>
              <a:rPr lang="zh-CN" altLang="en-US"/>
              <a:t>并点击</a:t>
            </a:r>
            <a:r>
              <a:rPr lang="en-US" altLang="zh-CN"/>
              <a:t>“</a:t>
            </a:r>
            <a:r>
              <a:rPr lang="zh-CN" altLang="en-US"/>
              <a:t>查询</a:t>
            </a:r>
            <a:r>
              <a:rPr lang="en-US" altLang="zh-CN"/>
              <a:t>”</a:t>
            </a:r>
            <a:endParaRPr lang="en-US" altLang="zh-CN"/>
          </a:p>
          <a:p>
            <a:pPr marL="169545" lvl="1" indent="0" algn="l">
              <a:lnSpc>
                <a:spcPts val="2455"/>
              </a:lnSpc>
              <a:buFont typeface="Arial" panose="020B0604020202020204"/>
              <a:buNone/>
            </a:pPr>
            <a:r>
              <a:rPr lang="en-US" altLang="zh-CN"/>
              <a:t>        Then </a:t>
            </a:r>
            <a:r>
              <a:rPr lang="zh-CN" altLang="en-US"/>
              <a:t>系统应在</a:t>
            </a:r>
            <a:r>
              <a:rPr lang="en-US" altLang="zh-CN"/>
              <a:t>1</a:t>
            </a:r>
            <a:r>
              <a:rPr lang="zh-CN" altLang="en-US"/>
              <a:t>秒内仅显示置信度</a:t>
            </a:r>
            <a:r>
              <a:rPr lang="en-US" altLang="zh-CN"/>
              <a:t>0–70%</a:t>
            </a:r>
            <a:r>
              <a:rPr lang="zh-CN" altLang="en-US"/>
              <a:t>的零件，且列表顶部显示记录总数；当我清空该筛选条件后，列表应恢复显示全部记录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6355080"/>
            <a:ext cx="18335625" cy="3931918"/>
            <a:chOff x="0" y="0"/>
            <a:chExt cx="24447500" cy="52425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47500" cy="5242560"/>
            </a:xfrm>
            <a:custGeom>
              <a:avLst/>
              <a:gdLst/>
              <a:ahLst/>
              <a:cxnLst/>
              <a:rect l="l" t="t" r="r" b="b"/>
              <a:pathLst>
                <a:path w="24447500" h="5242560">
                  <a:moveTo>
                    <a:pt x="24447500" y="0"/>
                  </a:moveTo>
                  <a:lnTo>
                    <a:pt x="24447500" y="5242560"/>
                  </a:lnTo>
                  <a:lnTo>
                    <a:pt x="0" y="5242560"/>
                  </a:lnTo>
                  <a:lnTo>
                    <a:pt x="0" y="0"/>
                  </a:lnTo>
                  <a:lnTo>
                    <a:pt x="197866" y="310134"/>
                  </a:lnTo>
                  <a:cubicBezTo>
                    <a:pt x="1047369" y="1287399"/>
                    <a:pt x="3036316" y="1973199"/>
                    <a:pt x="5354320" y="1973199"/>
                  </a:cubicBezTo>
                  <a:lnTo>
                    <a:pt x="6627622" y="1973199"/>
                  </a:lnTo>
                  <a:cubicBezTo>
                    <a:pt x="9718294" y="1973199"/>
                    <a:pt x="12223750" y="3192272"/>
                    <a:pt x="12223750" y="4696206"/>
                  </a:cubicBezTo>
                  <a:cubicBezTo>
                    <a:pt x="12223750" y="3192399"/>
                    <a:pt x="14729206" y="1973199"/>
                    <a:pt x="17819878" y="1973199"/>
                  </a:cubicBezTo>
                  <a:lnTo>
                    <a:pt x="19093180" y="1973199"/>
                  </a:lnTo>
                  <a:cubicBezTo>
                    <a:pt x="21411185" y="1973199"/>
                    <a:pt x="23400004" y="1287399"/>
                    <a:pt x="24249635" y="310134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9167813" y="3805669"/>
            <a:ext cx="6924974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60"/>
              </a:lnSpc>
            </a:pPr>
            <a:r>
              <a:rPr lang="en-US" sz="108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采购工程师</a:t>
            </a:r>
            <a:endParaRPr lang="en-US" sz="108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151638" y="1605170"/>
            <a:ext cx="5227392" cy="551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20"/>
              </a:lnSpc>
            </a:pPr>
            <a:r>
              <a:rPr lang="en-US" sz="3585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03</a:t>
            </a:r>
            <a:endParaRPr lang="en-US" sz="3585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1574223" y="3572877"/>
            <a:ext cx="2702052" cy="1042417"/>
            <a:chOff x="0" y="0"/>
            <a:chExt cx="3602736" cy="1389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02736" cy="1389888"/>
            </a:xfrm>
            <a:custGeom>
              <a:avLst/>
              <a:gdLst/>
              <a:ahLst/>
              <a:cxnLst/>
              <a:rect l="l" t="t" r="r" b="b"/>
              <a:pathLst>
                <a:path w="3602736" h="1389888">
                  <a:moveTo>
                    <a:pt x="0" y="0"/>
                  </a:moveTo>
                  <a:lnTo>
                    <a:pt x="3602736" y="0"/>
                  </a:lnTo>
                  <a:lnTo>
                    <a:pt x="3602736" y="1389888"/>
                  </a:lnTo>
                  <a:lnTo>
                    <a:pt x="0" y="138988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288703" y="3747839"/>
            <a:ext cx="2716995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PART THREE</a:t>
            </a:r>
            <a:endParaRPr lang="en-US" sz="36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617558"/>
            <a:ext cx="18288000" cy="669444"/>
            <a:chOff x="0" y="0"/>
            <a:chExt cx="24384000" cy="892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92556"/>
            </a:xfrm>
            <a:custGeom>
              <a:avLst/>
              <a:gdLst/>
              <a:ahLst/>
              <a:cxnLst/>
              <a:rect l="l" t="t" r="r" b="b"/>
              <a:pathLst>
                <a:path w="24384000" h="892556">
                  <a:moveTo>
                    <a:pt x="0" y="0"/>
                  </a:moveTo>
                  <a:lnTo>
                    <a:pt x="24384000" y="0"/>
                  </a:lnTo>
                  <a:lnTo>
                    <a:pt x="24384000" y="892556"/>
                  </a:lnTo>
                  <a:lnTo>
                    <a:pt x="0" y="892556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4" name="AutoShape 4"/>
          <p:cNvSpPr/>
          <p:nvPr/>
        </p:nvSpPr>
        <p:spPr>
          <a:xfrm rot="6365">
            <a:off x="380988" y="1284088"/>
            <a:ext cx="15431651" cy="0"/>
          </a:xfrm>
          <a:prstGeom prst="line">
            <a:avLst/>
          </a:prstGeom>
          <a:ln w="19050" cap="rnd">
            <a:solidFill>
              <a:srgbClr val="001F5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0">
            <a:off x="13994971" y="1197244"/>
            <a:ext cx="4293030" cy="162732"/>
            <a:chOff x="0" y="0"/>
            <a:chExt cx="5724040" cy="2169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24017" cy="216916"/>
            </a:xfrm>
            <a:custGeom>
              <a:avLst/>
              <a:gdLst/>
              <a:ahLst/>
              <a:cxnLst/>
              <a:rect l="l" t="t" r="r" b="b"/>
              <a:pathLst>
                <a:path w="5724017" h="216916">
                  <a:moveTo>
                    <a:pt x="0" y="0"/>
                  </a:moveTo>
                  <a:lnTo>
                    <a:pt x="5724017" y="0"/>
                  </a:lnTo>
                  <a:lnTo>
                    <a:pt x="5724017" y="216916"/>
                  </a:lnTo>
                  <a:lnTo>
                    <a:pt x="0" y="216916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257636" y="448828"/>
            <a:ext cx="4941600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zh-CN" altLang="en-US" sz="4200" b="1">
                <a:solidFill>
                  <a:srgbClr val="001F5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采购</a:t>
            </a:r>
            <a:r>
              <a:rPr lang="zh-CN" altLang="en-US" sz="4200" b="1">
                <a:solidFill>
                  <a:srgbClr val="001F5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工程师</a:t>
            </a:r>
            <a:endParaRPr lang="zh-CN" altLang="en-US" sz="4200" b="1">
              <a:solidFill>
                <a:srgbClr val="001F5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-5400000">
            <a:off x="229552" y="240982"/>
            <a:ext cx="1109662" cy="628650"/>
            <a:chOff x="0" y="0"/>
            <a:chExt cx="1479550" cy="838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79550" cy="838200"/>
            </a:xfrm>
            <a:custGeom>
              <a:avLst/>
              <a:gdLst/>
              <a:ahLst/>
              <a:cxnLst/>
              <a:rect l="l" t="t" r="r" b="b"/>
              <a:pathLst>
                <a:path w="1479550" h="838200">
                  <a:moveTo>
                    <a:pt x="0" y="0"/>
                  </a:moveTo>
                  <a:lnTo>
                    <a:pt x="1186180" y="0"/>
                  </a:lnTo>
                  <a:lnTo>
                    <a:pt x="1479550" y="419100"/>
                  </a:lnTo>
                  <a:lnTo>
                    <a:pt x="1186180" y="838200"/>
                  </a:lnTo>
                  <a:lnTo>
                    <a:pt x="0" y="838200"/>
                  </a:lnTo>
                  <a:lnTo>
                    <a:pt x="293370" y="419100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grpSp>
        <p:nvGrpSpPr>
          <p:cNvPr id="10" name="Group 10"/>
          <p:cNvGrpSpPr/>
          <p:nvPr>
            <p:custDataLst>
              <p:tags r:id="rId1"/>
            </p:custDataLst>
          </p:nvPr>
        </p:nvGrpSpPr>
        <p:grpSpPr>
          <a:xfrm rot="0">
            <a:off x="2085604" y="1714351"/>
            <a:ext cx="1710308" cy="1710308"/>
            <a:chOff x="0" y="0"/>
            <a:chExt cx="2066544" cy="2066544"/>
          </a:xfrm>
        </p:grpSpPr>
        <p:sp>
          <p:nvSpPr>
            <p:cNvPr id="11" name="Freeform 11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12" name="TextBox 12"/>
          <p:cNvSpPr txBox="1"/>
          <p:nvPr>
            <p:custDataLst>
              <p:tags r:id="rId3"/>
            </p:custDataLst>
          </p:nvPr>
        </p:nvSpPr>
        <p:spPr>
          <a:xfrm>
            <a:off x="1985554" y="3654213"/>
            <a:ext cx="191040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用户故事</a:t>
            </a:r>
            <a:r>
              <a:rPr lang="en-US" altLang="zh-CN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1</a:t>
            </a:r>
            <a:endParaRPr lang="en-US" altLang="zh-CN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4"/>
            </p:custDataLst>
          </p:nvPr>
        </p:nvSpPr>
        <p:spPr>
          <a:xfrm>
            <a:off x="1985554" y="4768352"/>
            <a:ext cx="2443314" cy="220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作为采购工程师，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我能在零件详情页点击“查找相似件”按钮，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从而我可以快速看到系统中已有的几何相似零件列表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14" name="Group 14"/>
          <p:cNvGrpSpPr/>
          <p:nvPr>
            <p:custDataLst>
              <p:tags r:id="rId5"/>
            </p:custDataLst>
          </p:nvPr>
        </p:nvGrpSpPr>
        <p:grpSpPr>
          <a:xfrm rot="0">
            <a:off x="2658071" y="2252083"/>
            <a:ext cx="577147" cy="732253"/>
            <a:chOff x="0" y="0"/>
            <a:chExt cx="697360" cy="884772"/>
          </a:xfrm>
        </p:grpSpPr>
        <p:sp>
          <p:nvSpPr>
            <p:cNvPr id="15" name="Freeform 15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697357" cy="884809"/>
            </a:xfrm>
            <a:custGeom>
              <a:avLst/>
              <a:gdLst/>
              <a:ahLst/>
              <a:cxnLst/>
              <a:rect l="l" t="t" r="r" b="b"/>
              <a:pathLst>
                <a:path w="697357" h="884809">
                  <a:moveTo>
                    <a:pt x="348742" y="0"/>
                  </a:moveTo>
                  <a:cubicBezTo>
                    <a:pt x="156210" y="0"/>
                    <a:pt x="0" y="156210"/>
                    <a:pt x="0" y="348615"/>
                  </a:cubicBezTo>
                  <a:cubicBezTo>
                    <a:pt x="0" y="541020"/>
                    <a:pt x="273177" y="835914"/>
                    <a:pt x="273177" y="835914"/>
                  </a:cubicBezTo>
                  <a:cubicBezTo>
                    <a:pt x="314833" y="884428"/>
                    <a:pt x="383032" y="884809"/>
                    <a:pt x="424307" y="835660"/>
                  </a:cubicBezTo>
                  <a:cubicBezTo>
                    <a:pt x="424307" y="835660"/>
                    <a:pt x="697357" y="541147"/>
                    <a:pt x="697357" y="348615"/>
                  </a:cubicBezTo>
                  <a:cubicBezTo>
                    <a:pt x="697357" y="156083"/>
                    <a:pt x="541147" y="0"/>
                    <a:pt x="348742" y="0"/>
                  </a:cubicBezTo>
                  <a:close/>
                  <a:moveTo>
                    <a:pt x="348742" y="498729"/>
                  </a:moveTo>
                  <a:cubicBezTo>
                    <a:pt x="259588" y="498729"/>
                    <a:pt x="187452" y="426593"/>
                    <a:pt x="187452" y="337439"/>
                  </a:cubicBezTo>
                  <a:cubicBezTo>
                    <a:pt x="187452" y="248285"/>
                    <a:pt x="259588" y="176149"/>
                    <a:pt x="348742" y="176149"/>
                  </a:cubicBezTo>
                  <a:cubicBezTo>
                    <a:pt x="437896" y="176149"/>
                    <a:pt x="510032" y="248412"/>
                    <a:pt x="510032" y="337439"/>
                  </a:cubicBezTo>
                  <a:cubicBezTo>
                    <a:pt x="510032" y="426466"/>
                    <a:pt x="437896" y="498729"/>
                    <a:pt x="348742" y="49872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>
            <p:custDataLst>
              <p:tags r:id="rId7"/>
            </p:custDataLst>
          </p:nvPr>
        </p:nvGrpSpPr>
        <p:grpSpPr>
          <a:xfrm rot="0">
            <a:off x="6310921" y="1714351"/>
            <a:ext cx="1710308" cy="1710308"/>
            <a:chOff x="0" y="0"/>
            <a:chExt cx="2066544" cy="2066544"/>
          </a:xfrm>
        </p:grpSpPr>
        <p:sp>
          <p:nvSpPr>
            <p:cNvPr id="17" name="Freeform 17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18" name="TextBox 18"/>
          <p:cNvSpPr txBox="1"/>
          <p:nvPr>
            <p:custDataLst>
              <p:tags r:id="rId9"/>
            </p:custDataLst>
          </p:nvPr>
        </p:nvSpPr>
        <p:spPr>
          <a:xfrm>
            <a:off x="6210871" y="3654213"/>
            <a:ext cx="1910409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AC</a:t>
            </a: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验收标准</a:t>
            </a: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algn="ctr">
              <a:lnSpc>
                <a:spcPts val="3240"/>
              </a:lnSpc>
            </a:pP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19" name="Group 19"/>
          <p:cNvGrpSpPr/>
          <p:nvPr>
            <p:custDataLst>
              <p:tags r:id="rId10"/>
            </p:custDataLst>
          </p:nvPr>
        </p:nvGrpSpPr>
        <p:grpSpPr>
          <a:xfrm rot="0">
            <a:off x="6799949" y="2342132"/>
            <a:ext cx="732253" cy="552152"/>
            <a:chOff x="0" y="0"/>
            <a:chExt cx="884772" cy="667158"/>
          </a:xfrm>
        </p:grpSpPr>
        <p:sp>
          <p:nvSpPr>
            <p:cNvPr id="20" name="Freeform 20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884682" cy="667131"/>
            </a:xfrm>
            <a:custGeom>
              <a:avLst/>
              <a:gdLst/>
              <a:ahLst/>
              <a:cxnLst/>
              <a:rect l="l" t="t" r="r" b="b"/>
              <a:pathLst>
                <a:path w="884682" h="667131">
                  <a:moveTo>
                    <a:pt x="714883" y="258699"/>
                  </a:moveTo>
                  <a:cubicBezTo>
                    <a:pt x="767080" y="289814"/>
                    <a:pt x="831342" y="374015"/>
                    <a:pt x="858012" y="475234"/>
                  </a:cubicBezTo>
                  <a:cubicBezTo>
                    <a:pt x="884682" y="576453"/>
                    <a:pt x="880237" y="667131"/>
                    <a:pt x="880237" y="667131"/>
                  </a:cubicBezTo>
                  <a:cubicBezTo>
                    <a:pt x="880237" y="667131"/>
                    <a:pt x="845693" y="611251"/>
                    <a:pt x="831723" y="591693"/>
                  </a:cubicBezTo>
                  <a:cubicBezTo>
                    <a:pt x="817753" y="572135"/>
                    <a:pt x="758698" y="499237"/>
                    <a:pt x="667004" y="456946"/>
                  </a:cubicBezTo>
                  <a:cubicBezTo>
                    <a:pt x="575310" y="414655"/>
                    <a:pt x="422148" y="422275"/>
                    <a:pt x="422148" y="422275"/>
                  </a:cubicBezTo>
                  <a:lnTo>
                    <a:pt x="422148" y="598297"/>
                  </a:lnTo>
                  <a:lnTo>
                    <a:pt x="0" y="299212"/>
                  </a:lnTo>
                  <a:lnTo>
                    <a:pt x="422148" y="0"/>
                  </a:lnTo>
                  <a:lnTo>
                    <a:pt x="422148" y="177673"/>
                  </a:lnTo>
                  <a:cubicBezTo>
                    <a:pt x="422148" y="177673"/>
                    <a:pt x="523621" y="185293"/>
                    <a:pt x="576580" y="196215"/>
                  </a:cubicBezTo>
                  <a:cubicBezTo>
                    <a:pt x="665861" y="214757"/>
                    <a:pt x="714883" y="258699"/>
                    <a:pt x="714883" y="25869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>
            <p:custDataLst>
              <p:tags r:id="rId12"/>
            </p:custDataLst>
          </p:nvPr>
        </p:nvGrpSpPr>
        <p:grpSpPr>
          <a:xfrm rot="0">
            <a:off x="10536239" y="1714351"/>
            <a:ext cx="1710308" cy="1710308"/>
            <a:chOff x="0" y="0"/>
            <a:chExt cx="2066544" cy="2066544"/>
          </a:xfrm>
        </p:grpSpPr>
        <p:sp>
          <p:nvSpPr>
            <p:cNvPr id="22" name="Freeform 22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23" name="TextBox 23"/>
          <p:cNvSpPr txBox="1"/>
          <p:nvPr>
            <p:custDataLst>
              <p:tags r:id="rId14"/>
            </p:custDataLst>
          </p:nvPr>
        </p:nvSpPr>
        <p:spPr>
          <a:xfrm>
            <a:off x="10436189" y="3654213"/>
            <a:ext cx="191040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用户故事</a:t>
            </a:r>
            <a:r>
              <a:rPr lang="en-US" altLang="zh-CN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2</a:t>
            </a:r>
            <a:endParaRPr lang="en-US" altLang="zh-CN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24" name="Group 24"/>
          <p:cNvGrpSpPr/>
          <p:nvPr>
            <p:custDataLst>
              <p:tags r:id="rId15"/>
            </p:custDataLst>
          </p:nvPr>
        </p:nvGrpSpPr>
        <p:grpSpPr>
          <a:xfrm rot="0">
            <a:off x="11078048" y="2203681"/>
            <a:ext cx="626688" cy="732253"/>
            <a:chOff x="0" y="0"/>
            <a:chExt cx="757220" cy="884772"/>
          </a:xfrm>
        </p:grpSpPr>
        <p:sp>
          <p:nvSpPr>
            <p:cNvPr id="25" name="Freeform 25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757301" cy="884809"/>
            </a:xfrm>
            <a:custGeom>
              <a:avLst/>
              <a:gdLst/>
              <a:ahLst/>
              <a:cxnLst/>
              <a:rect l="l" t="t" r="r" b="b"/>
              <a:pathLst>
                <a:path w="757301" h="884809">
                  <a:moveTo>
                    <a:pt x="569849" y="148844"/>
                  </a:moveTo>
                  <a:lnTo>
                    <a:pt x="569849" y="73406"/>
                  </a:lnTo>
                  <a:cubicBezTo>
                    <a:pt x="569849" y="32893"/>
                    <a:pt x="535051" y="0"/>
                    <a:pt x="494538" y="0"/>
                  </a:cubicBezTo>
                  <a:lnTo>
                    <a:pt x="266573" y="0"/>
                  </a:lnTo>
                  <a:cubicBezTo>
                    <a:pt x="224028" y="0"/>
                    <a:pt x="191262" y="32893"/>
                    <a:pt x="191262" y="73406"/>
                  </a:cubicBezTo>
                  <a:lnTo>
                    <a:pt x="191262" y="146812"/>
                  </a:lnTo>
                  <a:lnTo>
                    <a:pt x="0" y="146812"/>
                  </a:lnTo>
                  <a:lnTo>
                    <a:pt x="0" y="220218"/>
                  </a:lnTo>
                  <a:lnTo>
                    <a:pt x="75311" y="220218"/>
                  </a:lnTo>
                  <a:lnTo>
                    <a:pt x="75311" y="811403"/>
                  </a:lnTo>
                  <a:cubicBezTo>
                    <a:pt x="75311" y="851916"/>
                    <a:pt x="110109" y="884809"/>
                    <a:pt x="150749" y="884809"/>
                  </a:cubicBezTo>
                  <a:lnTo>
                    <a:pt x="606679" y="884809"/>
                  </a:lnTo>
                  <a:cubicBezTo>
                    <a:pt x="649224" y="884809"/>
                    <a:pt x="681990" y="851916"/>
                    <a:pt x="681990" y="811403"/>
                  </a:cubicBezTo>
                  <a:lnTo>
                    <a:pt x="681990" y="222123"/>
                  </a:lnTo>
                  <a:lnTo>
                    <a:pt x="757301" y="222123"/>
                  </a:lnTo>
                  <a:lnTo>
                    <a:pt x="757301" y="148844"/>
                  </a:lnTo>
                  <a:lnTo>
                    <a:pt x="569849" y="148844"/>
                  </a:lnTo>
                  <a:close/>
                  <a:moveTo>
                    <a:pt x="338074" y="761111"/>
                  </a:moveTo>
                  <a:lnTo>
                    <a:pt x="252984" y="761111"/>
                  </a:lnTo>
                  <a:lnTo>
                    <a:pt x="252984" y="295529"/>
                  </a:lnTo>
                  <a:lnTo>
                    <a:pt x="338074" y="295529"/>
                  </a:lnTo>
                  <a:lnTo>
                    <a:pt x="338074" y="761111"/>
                  </a:lnTo>
                  <a:close/>
                  <a:moveTo>
                    <a:pt x="508127" y="761111"/>
                  </a:moveTo>
                  <a:lnTo>
                    <a:pt x="423037" y="761111"/>
                  </a:lnTo>
                  <a:lnTo>
                    <a:pt x="423037" y="295529"/>
                  </a:lnTo>
                  <a:lnTo>
                    <a:pt x="508127" y="295529"/>
                  </a:lnTo>
                  <a:lnTo>
                    <a:pt x="508127" y="76111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>
            <p:custDataLst>
              <p:tags r:id="rId17"/>
            </p:custDataLst>
          </p:nvPr>
        </p:nvGrpSpPr>
        <p:grpSpPr>
          <a:xfrm rot="0">
            <a:off x="14761557" y="1714351"/>
            <a:ext cx="1710308" cy="1710308"/>
            <a:chOff x="0" y="0"/>
            <a:chExt cx="2066544" cy="2066544"/>
          </a:xfrm>
        </p:grpSpPr>
        <p:sp>
          <p:nvSpPr>
            <p:cNvPr id="27" name="Freeform 27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28" name="TextBox 28"/>
          <p:cNvSpPr txBox="1"/>
          <p:nvPr>
            <p:custDataLst>
              <p:tags r:id="rId19"/>
            </p:custDataLst>
          </p:nvPr>
        </p:nvSpPr>
        <p:spPr>
          <a:xfrm>
            <a:off x="14661506" y="3654213"/>
            <a:ext cx="191040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AC</a:t>
            </a: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验收</a:t>
            </a: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标准</a:t>
            </a: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29" name="Freeform 29"/>
          <p:cNvSpPr/>
          <p:nvPr>
            <p:custDataLst>
              <p:tags r:id="rId20"/>
            </p:custDataLst>
          </p:nvPr>
        </p:nvSpPr>
        <p:spPr>
          <a:xfrm>
            <a:off x="15250585" y="2203681"/>
            <a:ext cx="732253" cy="731647"/>
          </a:xfrm>
          <a:custGeom>
            <a:avLst/>
            <a:gdLst/>
            <a:ahLst/>
            <a:cxnLst/>
            <a:rect l="l" t="t" r="r" b="b"/>
            <a:pathLst>
              <a:path w="663579" h="663030">
                <a:moveTo>
                  <a:pt x="0" y="0"/>
                </a:moveTo>
                <a:lnTo>
                  <a:pt x="663579" y="0"/>
                </a:lnTo>
                <a:lnTo>
                  <a:pt x="663579" y="663030"/>
                </a:lnTo>
                <a:lnTo>
                  <a:pt x="0" y="66303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>
            <a:grpSpLocks noChangeAspect="1"/>
          </p:cNvGrpSpPr>
          <p:nvPr>
            <p:custDataLst>
              <p:tags r:id="rId23"/>
            </p:custDataLst>
          </p:nvPr>
        </p:nvGrpSpPr>
        <p:grpSpPr>
          <a:xfrm rot="5400000">
            <a:off x="10815689" y="4351093"/>
            <a:ext cx="5485526" cy="212052"/>
            <a:chOff x="0" y="0"/>
            <a:chExt cx="6628094" cy="256220"/>
          </a:xfrm>
        </p:grpSpPr>
        <p:sp>
          <p:nvSpPr>
            <p:cNvPr id="31" name="Freeform 31"/>
            <p:cNvSpPr/>
            <p:nvPr>
              <p:custDataLst>
                <p:tags r:id="rId24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grpSp>
        <p:nvGrpSpPr>
          <p:cNvPr id="32" name="Group 32"/>
          <p:cNvGrpSpPr>
            <a:grpSpLocks noChangeAspect="1"/>
          </p:cNvGrpSpPr>
          <p:nvPr>
            <p:custDataLst>
              <p:tags r:id="rId26"/>
            </p:custDataLst>
          </p:nvPr>
        </p:nvGrpSpPr>
        <p:grpSpPr>
          <a:xfrm rot="5400000">
            <a:off x="6543073" y="4351095"/>
            <a:ext cx="5485526" cy="212052"/>
            <a:chOff x="0" y="0"/>
            <a:chExt cx="6628094" cy="256220"/>
          </a:xfrm>
        </p:grpSpPr>
        <p:sp>
          <p:nvSpPr>
            <p:cNvPr id="33" name="Freeform 33"/>
            <p:cNvSpPr/>
            <p:nvPr>
              <p:custDataLst>
                <p:tags r:id="rId27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grpSp>
        <p:nvGrpSpPr>
          <p:cNvPr id="34" name="Group 34"/>
          <p:cNvGrpSpPr>
            <a:grpSpLocks noChangeAspect="1"/>
          </p:cNvGrpSpPr>
          <p:nvPr>
            <p:custDataLst>
              <p:tags r:id="rId28"/>
            </p:custDataLst>
          </p:nvPr>
        </p:nvGrpSpPr>
        <p:grpSpPr>
          <a:xfrm rot="5400000">
            <a:off x="2349288" y="4351097"/>
            <a:ext cx="5485525" cy="212052"/>
            <a:chOff x="0" y="0"/>
            <a:chExt cx="6628094" cy="256220"/>
          </a:xfrm>
        </p:grpSpPr>
        <p:sp>
          <p:nvSpPr>
            <p:cNvPr id="35" name="Freeform 35"/>
            <p:cNvSpPr/>
            <p:nvPr>
              <p:custDataLst>
                <p:tags r:id="rId29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sp>
        <p:nvSpPr>
          <p:cNvPr id="36" name="TextBox 36"/>
          <p:cNvSpPr txBox="1"/>
          <p:nvPr>
            <p:custDataLst>
              <p:tags r:id="rId30"/>
            </p:custDataLst>
          </p:nvPr>
        </p:nvSpPr>
        <p:spPr>
          <a:xfrm>
            <a:off x="6210871" y="4768352"/>
            <a:ext cx="2443314" cy="314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Given 我已登录系统并打开某个零件详情页，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When 我点击“查找相似件”按钮，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Then 系统应展示一个按相似度排序的零件列表，每个条目包含零件编号、名称、类别、相似度分数。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37" name="TextBox 37"/>
          <p:cNvSpPr txBox="1"/>
          <p:nvPr>
            <p:custDataLst>
              <p:tags r:id="rId31"/>
            </p:custDataLst>
          </p:nvPr>
        </p:nvSpPr>
        <p:spPr>
          <a:xfrm>
            <a:off x="10168253" y="4768352"/>
            <a:ext cx="2443314" cy="220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 lang="en-US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作为</a:t>
            </a:r>
            <a:r>
              <a:rPr lang="zh-CN" altLang="en-US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采购</a:t>
            </a:r>
            <a:r>
              <a:rPr lang="en-US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工程师，</a:t>
            </a:r>
            <a:endParaRPr lang="en-US"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 lang="en-US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我能在相似零件列表中查看每个零件的预估成本和库存状态，</a:t>
            </a:r>
            <a:endParaRPr lang="en-US"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 lang="en-US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从而我可以判断是否可以替代使用，降低采购成本。</a:t>
            </a:r>
            <a:endParaRPr lang="en-US"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38" name="TextBox 38"/>
          <p:cNvSpPr txBox="1"/>
          <p:nvPr>
            <p:custDataLst>
              <p:tags r:id="rId32"/>
            </p:custDataLst>
          </p:nvPr>
        </p:nvSpPr>
        <p:spPr>
          <a:xfrm>
            <a:off x="14505337" y="4768352"/>
            <a:ext cx="2443314" cy="314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 lang="en-US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Given 我已登录系统并打开某个零件详情页，</a:t>
            </a:r>
            <a:endParaRPr lang="en-US"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 lang="en-US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When 我点击“查找相似件”按钮，</a:t>
            </a:r>
            <a:endParaRPr lang="en-US"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 lang="en-US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Then 系统应展示一个按相似度排序的零件列表，每个条目包含零件编号、名称、类别、相似度分数。</a:t>
            </a:r>
            <a:endParaRPr lang="en-US"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617558"/>
            <a:ext cx="18288000" cy="669444"/>
            <a:chOff x="0" y="0"/>
            <a:chExt cx="24384000" cy="892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92556"/>
            </a:xfrm>
            <a:custGeom>
              <a:avLst/>
              <a:gdLst/>
              <a:ahLst/>
              <a:cxnLst/>
              <a:rect l="l" t="t" r="r" b="b"/>
              <a:pathLst>
                <a:path w="24384000" h="892556">
                  <a:moveTo>
                    <a:pt x="0" y="0"/>
                  </a:moveTo>
                  <a:lnTo>
                    <a:pt x="24384000" y="0"/>
                  </a:lnTo>
                  <a:lnTo>
                    <a:pt x="24384000" y="892556"/>
                  </a:lnTo>
                  <a:lnTo>
                    <a:pt x="0" y="892556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4" name="AutoShape 4"/>
          <p:cNvSpPr/>
          <p:nvPr/>
        </p:nvSpPr>
        <p:spPr>
          <a:xfrm rot="6365">
            <a:off x="380988" y="1284088"/>
            <a:ext cx="15431651" cy="0"/>
          </a:xfrm>
          <a:prstGeom prst="line">
            <a:avLst/>
          </a:prstGeom>
          <a:ln w="19050" cap="rnd">
            <a:solidFill>
              <a:srgbClr val="001F5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0">
            <a:off x="13994971" y="1197244"/>
            <a:ext cx="4293030" cy="162732"/>
            <a:chOff x="0" y="0"/>
            <a:chExt cx="5724040" cy="2169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24017" cy="216916"/>
            </a:xfrm>
            <a:custGeom>
              <a:avLst/>
              <a:gdLst/>
              <a:ahLst/>
              <a:cxnLst/>
              <a:rect l="l" t="t" r="r" b="b"/>
              <a:pathLst>
                <a:path w="5724017" h="216916">
                  <a:moveTo>
                    <a:pt x="0" y="0"/>
                  </a:moveTo>
                  <a:lnTo>
                    <a:pt x="5724017" y="0"/>
                  </a:lnTo>
                  <a:lnTo>
                    <a:pt x="5724017" y="216916"/>
                  </a:lnTo>
                  <a:lnTo>
                    <a:pt x="0" y="216916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257636" y="448828"/>
            <a:ext cx="4941600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zh-CN" altLang="en-US" sz="4200" b="1">
                <a:solidFill>
                  <a:srgbClr val="001F5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采购</a:t>
            </a:r>
            <a:r>
              <a:rPr lang="zh-CN" altLang="en-US" sz="4200" b="1">
                <a:solidFill>
                  <a:srgbClr val="001F5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工程师</a:t>
            </a:r>
            <a:endParaRPr lang="zh-CN" altLang="en-US" sz="4200" b="1">
              <a:solidFill>
                <a:srgbClr val="001F5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-5400000">
            <a:off x="229552" y="240982"/>
            <a:ext cx="1109662" cy="628650"/>
            <a:chOff x="0" y="0"/>
            <a:chExt cx="1479550" cy="838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79550" cy="838200"/>
            </a:xfrm>
            <a:custGeom>
              <a:avLst/>
              <a:gdLst/>
              <a:ahLst/>
              <a:cxnLst/>
              <a:rect l="l" t="t" r="r" b="b"/>
              <a:pathLst>
                <a:path w="1479550" h="838200">
                  <a:moveTo>
                    <a:pt x="0" y="0"/>
                  </a:moveTo>
                  <a:lnTo>
                    <a:pt x="1186180" y="0"/>
                  </a:lnTo>
                  <a:lnTo>
                    <a:pt x="1479550" y="419100"/>
                  </a:lnTo>
                  <a:lnTo>
                    <a:pt x="1186180" y="838200"/>
                  </a:lnTo>
                  <a:lnTo>
                    <a:pt x="0" y="838200"/>
                  </a:lnTo>
                  <a:lnTo>
                    <a:pt x="293370" y="419100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grpSp>
        <p:nvGrpSpPr>
          <p:cNvPr id="10" name="Group 10"/>
          <p:cNvGrpSpPr/>
          <p:nvPr>
            <p:custDataLst>
              <p:tags r:id="rId1"/>
            </p:custDataLst>
          </p:nvPr>
        </p:nvGrpSpPr>
        <p:grpSpPr>
          <a:xfrm rot="0">
            <a:off x="2085604" y="1714351"/>
            <a:ext cx="1710308" cy="1710308"/>
            <a:chOff x="0" y="0"/>
            <a:chExt cx="2066544" cy="2066544"/>
          </a:xfrm>
        </p:grpSpPr>
        <p:sp>
          <p:nvSpPr>
            <p:cNvPr id="11" name="Freeform 11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12" name="TextBox 12"/>
          <p:cNvSpPr txBox="1"/>
          <p:nvPr>
            <p:custDataLst>
              <p:tags r:id="rId3"/>
            </p:custDataLst>
          </p:nvPr>
        </p:nvSpPr>
        <p:spPr>
          <a:xfrm>
            <a:off x="1985554" y="3654213"/>
            <a:ext cx="191040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用户故事</a:t>
            </a:r>
            <a:r>
              <a:rPr lang="en-US" altLang="zh-CN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3</a:t>
            </a:r>
            <a:endParaRPr lang="en-US" altLang="zh-CN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4"/>
            </p:custDataLst>
          </p:nvPr>
        </p:nvSpPr>
        <p:spPr>
          <a:xfrm>
            <a:off x="1985554" y="4768352"/>
            <a:ext cx="2443314" cy="220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作为采购工程师，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我能在系统中标记某个相似零件为“可替代”并提交审批流程，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从而我可以推动标准化和零件复用，减少新零件引入。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14" name="Group 14"/>
          <p:cNvGrpSpPr/>
          <p:nvPr>
            <p:custDataLst>
              <p:tags r:id="rId5"/>
            </p:custDataLst>
          </p:nvPr>
        </p:nvGrpSpPr>
        <p:grpSpPr>
          <a:xfrm rot="0">
            <a:off x="2658071" y="2252083"/>
            <a:ext cx="577147" cy="732253"/>
            <a:chOff x="0" y="0"/>
            <a:chExt cx="697360" cy="884772"/>
          </a:xfrm>
        </p:grpSpPr>
        <p:sp>
          <p:nvSpPr>
            <p:cNvPr id="15" name="Freeform 15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697357" cy="884809"/>
            </a:xfrm>
            <a:custGeom>
              <a:avLst/>
              <a:gdLst/>
              <a:ahLst/>
              <a:cxnLst/>
              <a:rect l="l" t="t" r="r" b="b"/>
              <a:pathLst>
                <a:path w="697357" h="884809">
                  <a:moveTo>
                    <a:pt x="348742" y="0"/>
                  </a:moveTo>
                  <a:cubicBezTo>
                    <a:pt x="156210" y="0"/>
                    <a:pt x="0" y="156210"/>
                    <a:pt x="0" y="348615"/>
                  </a:cubicBezTo>
                  <a:cubicBezTo>
                    <a:pt x="0" y="541020"/>
                    <a:pt x="273177" y="835914"/>
                    <a:pt x="273177" y="835914"/>
                  </a:cubicBezTo>
                  <a:cubicBezTo>
                    <a:pt x="314833" y="884428"/>
                    <a:pt x="383032" y="884809"/>
                    <a:pt x="424307" y="835660"/>
                  </a:cubicBezTo>
                  <a:cubicBezTo>
                    <a:pt x="424307" y="835660"/>
                    <a:pt x="697357" y="541147"/>
                    <a:pt x="697357" y="348615"/>
                  </a:cubicBezTo>
                  <a:cubicBezTo>
                    <a:pt x="697357" y="156083"/>
                    <a:pt x="541147" y="0"/>
                    <a:pt x="348742" y="0"/>
                  </a:cubicBezTo>
                  <a:close/>
                  <a:moveTo>
                    <a:pt x="348742" y="498729"/>
                  </a:moveTo>
                  <a:cubicBezTo>
                    <a:pt x="259588" y="498729"/>
                    <a:pt x="187452" y="426593"/>
                    <a:pt x="187452" y="337439"/>
                  </a:cubicBezTo>
                  <a:cubicBezTo>
                    <a:pt x="187452" y="248285"/>
                    <a:pt x="259588" y="176149"/>
                    <a:pt x="348742" y="176149"/>
                  </a:cubicBezTo>
                  <a:cubicBezTo>
                    <a:pt x="437896" y="176149"/>
                    <a:pt x="510032" y="248412"/>
                    <a:pt x="510032" y="337439"/>
                  </a:cubicBezTo>
                  <a:cubicBezTo>
                    <a:pt x="510032" y="426466"/>
                    <a:pt x="437896" y="498729"/>
                    <a:pt x="348742" y="49872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>
            <p:custDataLst>
              <p:tags r:id="rId7"/>
            </p:custDataLst>
          </p:nvPr>
        </p:nvGrpSpPr>
        <p:grpSpPr>
          <a:xfrm rot="0">
            <a:off x="6310921" y="1714351"/>
            <a:ext cx="1710308" cy="1710308"/>
            <a:chOff x="0" y="0"/>
            <a:chExt cx="2066544" cy="2066544"/>
          </a:xfrm>
        </p:grpSpPr>
        <p:sp>
          <p:nvSpPr>
            <p:cNvPr id="17" name="Freeform 17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18" name="TextBox 18"/>
          <p:cNvSpPr txBox="1"/>
          <p:nvPr>
            <p:custDataLst>
              <p:tags r:id="rId9"/>
            </p:custDataLst>
          </p:nvPr>
        </p:nvSpPr>
        <p:spPr>
          <a:xfrm>
            <a:off x="6210871" y="3654213"/>
            <a:ext cx="1910409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AC</a:t>
            </a: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验收标准</a:t>
            </a: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algn="ctr">
              <a:lnSpc>
                <a:spcPts val="3240"/>
              </a:lnSpc>
            </a:pP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19" name="Group 19"/>
          <p:cNvGrpSpPr/>
          <p:nvPr>
            <p:custDataLst>
              <p:tags r:id="rId10"/>
            </p:custDataLst>
          </p:nvPr>
        </p:nvGrpSpPr>
        <p:grpSpPr>
          <a:xfrm rot="0">
            <a:off x="6799949" y="2342132"/>
            <a:ext cx="732253" cy="552152"/>
            <a:chOff x="0" y="0"/>
            <a:chExt cx="884772" cy="667158"/>
          </a:xfrm>
        </p:grpSpPr>
        <p:sp>
          <p:nvSpPr>
            <p:cNvPr id="20" name="Freeform 20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884682" cy="667131"/>
            </a:xfrm>
            <a:custGeom>
              <a:avLst/>
              <a:gdLst/>
              <a:ahLst/>
              <a:cxnLst/>
              <a:rect l="l" t="t" r="r" b="b"/>
              <a:pathLst>
                <a:path w="884682" h="667131">
                  <a:moveTo>
                    <a:pt x="714883" y="258699"/>
                  </a:moveTo>
                  <a:cubicBezTo>
                    <a:pt x="767080" y="289814"/>
                    <a:pt x="831342" y="374015"/>
                    <a:pt x="858012" y="475234"/>
                  </a:cubicBezTo>
                  <a:cubicBezTo>
                    <a:pt x="884682" y="576453"/>
                    <a:pt x="880237" y="667131"/>
                    <a:pt x="880237" y="667131"/>
                  </a:cubicBezTo>
                  <a:cubicBezTo>
                    <a:pt x="880237" y="667131"/>
                    <a:pt x="845693" y="611251"/>
                    <a:pt x="831723" y="591693"/>
                  </a:cubicBezTo>
                  <a:cubicBezTo>
                    <a:pt x="817753" y="572135"/>
                    <a:pt x="758698" y="499237"/>
                    <a:pt x="667004" y="456946"/>
                  </a:cubicBezTo>
                  <a:cubicBezTo>
                    <a:pt x="575310" y="414655"/>
                    <a:pt x="422148" y="422275"/>
                    <a:pt x="422148" y="422275"/>
                  </a:cubicBezTo>
                  <a:lnTo>
                    <a:pt x="422148" y="598297"/>
                  </a:lnTo>
                  <a:lnTo>
                    <a:pt x="0" y="299212"/>
                  </a:lnTo>
                  <a:lnTo>
                    <a:pt x="422148" y="0"/>
                  </a:lnTo>
                  <a:lnTo>
                    <a:pt x="422148" y="177673"/>
                  </a:lnTo>
                  <a:cubicBezTo>
                    <a:pt x="422148" y="177673"/>
                    <a:pt x="523621" y="185293"/>
                    <a:pt x="576580" y="196215"/>
                  </a:cubicBezTo>
                  <a:cubicBezTo>
                    <a:pt x="665861" y="214757"/>
                    <a:pt x="714883" y="258699"/>
                    <a:pt x="714883" y="25869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>
            <p:custDataLst>
              <p:tags r:id="rId12"/>
            </p:custDataLst>
          </p:nvPr>
        </p:nvGrpSpPr>
        <p:grpSpPr>
          <a:xfrm rot="0">
            <a:off x="10536239" y="1714351"/>
            <a:ext cx="1710308" cy="1710308"/>
            <a:chOff x="0" y="0"/>
            <a:chExt cx="2066544" cy="2066544"/>
          </a:xfrm>
        </p:grpSpPr>
        <p:sp>
          <p:nvSpPr>
            <p:cNvPr id="22" name="Freeform 22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23" name="TextBox 23"/>
          <p:cNvSpPr txBox="1"/>
          <p:nvPr>
            <p:custDataLst>
              <p:tags r:id="rId14"/>
            </p:custDataLst>
          </p:nvPr>
        </p:nvSpPr>
        <p:spPr>
          <a:xfrm>
            <a:off x="10436189" y="3654213"/>
            <a:ext cx="191040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用户故事</a:t>
            </a:r>
            <a:r>
              <a:rPr lang="en-US" altLang="zh-CN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4</a:t>
            </a:r>
            <a:endParaRPr lang="en-US" altLang="zh-CN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24" name="Group 24"/>
          <p:cNvGrpSpPr/>
          <p:nvPr>
            <p:custDataLst>
              <p:tags r:id="rId15"/>
            </p:custDataLst>
          </p:nvPr>
        </p:nvGrpSpPr>
        <p:grpSpPr>
          <a:xfrm rot="0">
            <a:off x="11078048" y="2203681"/>
            <a:ext cx="626688" cy="732253"/>
            <a:chOff x="0" y="0"/>
            <a:chExt cx="757220" cy="884772"/>
          </a:xfrm>
        </p:grpSpPr>
        <p:sp>
          <p:nvSpPr>
            <p:cNvPr id="25" name="Freeform 25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757301" cy="884809"/>
            </a:xfrm>
            <a:custGeom>
              <a:avLst/>
              <a:gdLst/>
              <a:ahLst/>
              <a:cxnLst/>
              <a:rect l="l" t="t" r="r" b="b"/>
              <a:pathLst>
                <a:path w="757301" h="884809">
                  <a:moveTo>
                    <a:pt x="569849" y="148844"/>
                  </a:moveTo>
                  <a:lnTo>
                    <a:pt x="569849" y="73406"/>
                  </a:lnTo>
                  <a:cubicBezTo>
                    <a:pt x="569849" y="32893"/>
                    <a:pt x="535051" y="0"/>
                    <a:pt x="494538" y="0"/>
                  </a:cubicBezTo>
                  <a:lnTo>
                    <a:pt x="266573" y="0"/>
                  </a:lnTo>
                  <a:cubicBezTo>
                    <a:pt x="224028" y="0"/>
                    <a:pt x="191262" y="32893"/>
                    <a:pt x="191262" y="73406"/>
                  </a:cubicBezTo>
                  <a:lnTo>
                    <a:pt x="191262" y="146812"/>
                  </a:lnTo>
                  <a:lnTo>
                    <a:pt x="0" y="146812"/>
                  </a:lnTo>
                  <a:lnTo>
                    <a:pt x="0" y="220218"/>
                  </a:lnTo>
                  <a:lnTo>
                    <a:pt x="75311" y="220218"/>
                  </a:lnTo>
                  <a:lnTo>
                    <a:pt x="75311" y="811403"/>
                  </a:lnTo>
                  <a:cubicBezTo>
                    <a:pt x="75311" y="851916"/>
                    <a:pt x="110109" y="884809"/>
                    <a:pt x="150749" y="884809"/>
                  </a:cubicBezTo>
                  <a:lnTo>
                    <a:pt x="606679" y="884809"/>
                  </a:lnTo>
                  <a:cubicBezTo>
                    <a:pt x="649224" y="884809"/>
                    <a:pt x="681990" y="851916"/>
                    <a:pt x="681990" y="811403"/>
                  </a:cubicBezTo>
                  <a:lnTo>
                    <a:pt x="681990" y="222123"/>
                  </a:lnTo>
                  <a:lnTo>
                    <a:pt x="757301" y="222123"/>
                  </a:lnTo>
                  <a:lnTo>
                    <a:pt x="757301" y="148844"/>
                  </a:lnTo>
                  <a:lnTo>
                    <a:pt x="569849" y="148844"/>
                  </a:lnTo>
                  <a:close/>
                  <a:moveTo>
                    <a:pt x="338074" y="761111"/>
                  </a:moveTo>
                  <a:lnTo>
                    <a:pt x="252984" y="761111"/>
                  </a:lnTo>
                  <a:lnTo>
                    <a:pt x="252984" y="295529"/>
                  </a:lnTo>
                  <a:lnTo>
                    <a:pt x="338074" y="295529"/>
                  </a:lnTo>
                  <a:lnTo>
                    <a:pt x="338074" y="761111"/>
                  </a:lnTo>
                  <a:close/>
                  <a:moveTo>
                    <a:pt x="508127" y="761111"/>
                  </a:moveTo>
                  <a:lnTo>
                    <a:pt x="423037" y="761111"/>
                  </a:lnTo>
                  <a:lnTo>
                    <a:pt x="423037" y="295529"/>
                  </a:lnTo>
                  <a:lnTo>
                    <a:pt x="508127" y="295529"/>
                  </a:lnTo>
                  <a:lnTo>
                    <a:pt x="508127" y="76111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>
            <p:custDataLst>
              <p:tags r:id="rId17"/>
            </p:custDataLst>
          </p:nvPr>
        </p:nvGrpSpPr>
        <p:grpSpPr>
          <a:xfrm rot="0">
            <a:off x="14761557" y="1714351"/>
            <a:ext cx="1710308" cy="1710308"/>
            <a:chOff x="0" y="0"/>
            <a:chExt cx="2066544" cy="2066544"/>
          </a:xfrm>
        </p:grpSpPr>
        <p:sp>
          <p:nvSpPr>
            <p:cNvPr id="27" name="Freeform 27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28" name="TextBox 28"/>
          <p:cNvSpPr txBox="1"/>
          <p:nvPr>
            <p:custDataLst>
              <p:tags r:id="rId19"/>
            </p:custDataLst>
          </p:nvPr>
        </p:nvSpPr>
        <p:spPr>
          <a:xfrm>
            <a:off x="14661506" y="3654213"/>
            <a:ext cx="191040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AC</a:t>
            </a: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验收</a:t>
            </a: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标准</a:t>
            </a: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29" name="Freeform 29"/>
          <p:cNvSpPr/>
          <p:nvPr>
            <p:custDataLst>
              <p:tags r:id="rId20"/>
            </p:custDataLst>
          </p:nvPr>
        </p:nvSpPr>
        <p:spPr>
          <a:xfrm>
            <a:off x="15250585" y="2203681"/>
            <a:ext cx="732253" cy="731647"/>
          </a:xfrm>
          <a:custGeom>
            <a:avLst/>
            <a:gdLst/>
            <a:ahLst/>
            <a:cxnLst/>
            <a:rect l="l" t="t" r="r" b="b"/>
            <a:pathLst>
              <a:path w="663579" h="663030">
                <a:moveTo>
                  <a:pt x="0" y="0"/>
                </a:moveTo>
                <a:lnTo>
                  <a:pt x="663579" y="0"/>
                </a:lnTo>
                <a:lnTo>
                  <a:pt x="663579" y="663030"/>
                </a:lnTo>
                <a:lnTo>
                  <a:pt x="0" y="66303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>
            <a:grpSpLocks noChangeAspect="1"/>
          </p:cNvGrpSpPr>
          <p:nvPr>
            <p:custDataLst>
              <p:tags r:id="rId23"/>
            </p:custDataLst>
          </p:nvPr>
        </p:nvGrpSpPr>
        <p:grpSpPr>
          <a:xfrm rot="5400000">
            <a:off x="10815689" y="4351093"/>
            <a:ext cx="5485526" cy="212052"/>
            <a:chOff x="0" y="0"/>
            <a:chExt cx="6628094" cy="256220"/>
          </a:xfrm>
        </p:grpSpPr>
        <p:sp>
          <p:nvSpPr>
            <p:cNvPr id="31" name="Freeform 31"/>
            <p:cNvSpPr/>
            <p:nvPr>
              <p:custDataLst>
                <p:tags r:id="rId24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grpSp>
        <p:nvGrpSpPr>
          <p:cNvPr id="32" name="Group 32"/>
          <p:cNvGrpSpPr>
            <a:grpSpLocks noChangeAspect="1"/>
          </p:cNvGrpSpPr>
          <p:nvPr>
            <p:custDataLst>
              <p:tags r:id="rId26"/>
            </p:custDataLst>
          </p:nvPr>
        </p:nvGrpSpPr>
        <p:grpSpPr>
          <a:xfrm rot="5400000">
            <a:off x="6543073" y="4351095"/>
            <a:ext cx="5485526" cy="212052"/>
            <a:chOff x="0" y="0"/>
            <a:chExt cx="6628094" cy="256220"/>
          </a:xfrm>
        </p:grpSpPr>
        <p:sp>
          <p:nvSpPr>
            <p:cNvPr id="33" name="Freeform 33"/>
            <p:cNvSpPr/>
            <p:nvPr>
              <p:custDataLst>
                <p:tags r:id="rId27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grpSp>
        <p:nvGrpSpPr>
          <p:cNvPr id="34" name="Group 34"/>
          <p:cNvGrpSpPr>
            <a:grpSpLocks noChangeAspect="1"/>
          </p:cNvGrpSpPr>
          <p:nvPr>
            <p:custDataLst>
              <p:tags r:id="rId28"/>
            </p:custDataLst>
          </p:nvPr>
        </p:nvGrpSpPr>
        <p:grpSpPr>
          <a:xfrm rot="5400000">
            <a:off x="2349288" y="4351097"/>
            <a:ext cx="5485525" cy="212052"/>
            <a:chOff x="0" y="0"/>
            <a:chExt cx="6628094" cy="256220"/>
          </a:xfrm>
        </p:grpSpPr>
        <p:sp>
          <p:nvSpPr>
            <p:cNvPr id="35" name="Freeform 35"/>
            <p:cNvSpPr/>
            <p:nvPr>
              <p:custDataLst>
                <p:tags r:id="rId29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sp>
        <p:nvSpPr>
          <p:cNvPr id="36" name="TextBox 36"/>
          <p:cNvSpPr txBox="1"/>
          <p:nvPr>
            <p:custDataLst>
              <p:tags r:id="rId30"/>
            </p:custDataLst>
          </p:nvPr>
        </p:nvSpPr>
        <p:spPr>
          <a:xfrm>
            <a:off x="6210871" y="4768352"/>
            <a:ext cx="2443314" cy="346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Given 我已选定一个相似零件作为替代候选，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When 我点击“标记为可替代”并填写原因说明，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Then 系统应生成一条审批记录，并通知相关审批人（如设计负责人、标准化工程师）。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37" name="TextBox 37"/>
          <p:cNvSpPr txBox="1"/>
          <p:nvPr>
            <p:custDataLst>
              <p:tags r:id="rId31"/>
            </p:custDataLst>
          </p:nvPr>
        </p:nvSpPr>
        <p:spPr>
          <a:xfrm>
            <a:off x="10168253" y="4768352"/>
            <a:ext cx="2443314" cy="2833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作为采购工程师，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我能在相似零件列表页面点击“导出报告”按钮，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从而我可以将相似零件的对比信息（包括几何相似度、成本、库存）导出为Excel，供内部评审使用。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38" name="TextBox 38"/>
          <p:cNvSpPr txBox="1"/>
          <p:nvPr>
            <p:custDataLst>
              <p:tags r:id="rId32"/>
            </p:custDataLst>
          </p:nvPr>
        </p:nvSpPr>
        <p:spPr>
          <a:xfrm>
            <a:off x="14505337" y="4768352"/>
            <a:ext cx="2443314" cy="346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 lang="en-US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Given 我已打开某零件的相似零件推荐列表，</a:t>
            </a:r>
            <a:endParaRPr lang="en-US"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 lang="en-US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When 我点击“导出报告”按钮，</a:t>
            </a:r>
            <a:endParaRPr lang="en-US"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 lang="en-US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Then 系统应生成并下载一个Excel文件，包含零件编号、名称、相似度、成本、库存数量等字段，格式规范、可读性强。</a:t>
            </a:r>
            <a:endParaRPr lang="en-US"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6355080"/>
            <a:ext cx="18335625" cy="3931918"/>
            <a:chOff x="0" y="0"/>
            <a:chExt cx="24447500" cy="52425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47500" cy="5242560"/>
            </a:xfrm>
            <a:custGeom>
              <a:avLst/>
              <a:gdLst/>
              <a:ahLst/>
              <a:cxnLst/>
              <a:rect l="l" t="t" r="r" b="b"/>
              <a:pathLst>
                <a:path w="24447500" h="5242560">
                  <a:moveTo>
                    <a:pt x="24447500" y="0"/>
                  </a:moveTo>
                  <a:lnTo>
                    <a:pt x="24447500" y="5242560"/>
                  </a:lnTo>
                  <a:lnTo>
                    <a:pt x="0" y="5242560"/>
                  </a:lnTo>
                  <a:lnTo>
                    <a:pt x="0" y="0"/>
                  </a:lnTo>
                  <a:lnTo>
                    <a:pt x="197866" y="310134"/>
                  </a:lnTo>
                  <a:cubicBezTo>
                    <a:pt x="1047369" y="1287399"/>
                    <a:pt x="3036316" y="1973199"/>
                    <a:pt x="5354320" y="1973199"/>
                  </a:cubicBezTo>
                  <a:lnTo>
                    <a:pt x="6627622" y="1973199"/>
                  </a:lnTo>
                  <a:cubicBezTo>
                    <a:pt x="9718294" y="1973199"/>
                    <a:pt x="12223750" y="3192272"/>
                    <a:pt x="12223750" y="4696206"/>
                  </a:cubicBezTo>
                  <a:cubicBezTo>
                    <a:pt x="12223750" y="3192399"/>
                    <a:pt x="14729206" y="1973199"/>
                    <a:pt x="17819878" y="1973199"/>
                  </a:cubicBezTo>
                  <a:lnTo>
                    <a:pt x="19093180" y="1973199"/>
                  </a:lnTo>
                  <a:cubicBezTo>
                    <a:pt x="21411185" y="1973199"/>
                    <a:pt x="23400004" y="1287399"/>
                    <a:pt x="24249635" y="310134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956372" y="3805669"/>
            <a:ext cx="6924974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60"/>
              </a:lnSpc>
            </a:pPr>
            <a:r>
              <a:rPr lang="zh-CN" altLang="en-US" sz="108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系统</a:t>
            </a:r>
            <a:r>
              <a:rPr lang="zh-CN" altLang="en-US" sz="108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管理员</a:t>
            </a:r>
            <a:endParaRPr lang="zh-CN" altLang="en-US" sz="108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151638" y="1605170"/>
            <a:ext cx="5227392" cy="5516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20"/>
              </a:lnSpc>
            </a:pPr>
            <a:r>
              <a:rPr lang="en-US" sz="3585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04</a:t>
            </a:r>
            <a:endParaRPr lang="en-US" sz="3585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 rot="0">
            <a:off x="1574223" y="3572877"/>
            <a:ext cx="2702052" cy="1042417"/>
            <a:chOff x="0" y="0"/>
            <a:chExt cx="3602736" cy="1389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02736" cy="1389888"/>
            </a:xfrm>
            <a:custGeom>
              <a:avLst/>
              <a:gdLst/>
              <a:ahLst/>
              <a:cxnLst/>
              <a:rect l="l" t="t" r="r" b="b"/>
              <a:pathLst>
                <a:path w="3602736" h="1389888">
                  <a:moveTo>
                    <a:pt x="0" y="0"/>
                  </a:moveTo>
                  <a:lnTo>
                    <a:pt x="3602736" y="0"/>
                  </a:lnTo>
                  <a:lnTo>
                    <a:pt x="3602736" y="1389888"/>
                  </a:lnTo>
                  <a:lnTo>
                    <a:pt x="0" y="138988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288703" y="3747839"/>
            <a:ext cx="2485873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PART FOUR</a:t>
            </a:r>
            <a:endParaRPr lang="en-US" sz="36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617558"/>
            <a:ext cx="18288000" cy="669444"/>
            <a:chOff x="0" y="0"/>
            <a:chExt cx="24384000" cy="892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92556"/>
            </a:xfrm>
            <a:custGeom>
              <a:avLst/>
              <a:gdLst/>
              <a:ahLst/>
              <a:cxnLst/>
              <a:rect l="l" t="t" r="r" b="b"/>
              <a:pathLst>
                <a:path w="24384000" h="892556">
                  <a:moveTo>
                    <a:pt x="0" y="0"/>
                  </a:moveTo>
                  <a:lnTo>
                    <a:pt x="24384000" y="0"/>
                  </a:lnTo>
                  <a:lnTo>
                    <a:pt x="24384000" y="892556"/>
                  </a:lnTo>
                  <a:lnTo>
                    <a:pt x="0" y="892556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4" name="AutoShape 4"/>
          <p:cNvSpPr/>
          <p:nvPr/>
        </p:nvSpPr>
        <p:spPr>
          <a:xfrm rot="6365">
            <a:off x="380988" y="1284088"/>
            <a:ext cx="15431651" cy="0"/>
          </a:xfrm>
          <a:prstGeom prst="line">
            <a:avLst/>
          </a:prstGeom>
          <a:ln w="19050" cap="rnd">
            <a:solidFill>
              <a:srgbClr val="001F5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0">
            <a:off x="13994971" y="1197244"/>
            <a:ext cx="4293030" cy="162732"/>
            <a:chOff x="0" y="0"/>
            <a:chExt cx="5724040" cy="2169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24017" cy="216916"/>
            </a:xfrm>
            <a:custGeom>
              <a:avLst/>
              <a:gdLst/>
              <a:ahLst/>
              <a:cxnLst/>
              <a:rect l="l" t="t" r="r" b="b"/>
              <a:pathLst>
                <a:path w="5724017" h="216916">
                  <a:moveTo>
                    <a:pt x="0" y="0"/>
                  </a:moveTo>
                  <a:lnTo>
                    <a:pt x="5724017" y="0"/>
                  </a:lnTo>
                  <a:lnTo>
                    <a:pt x="5724017" y="216916"/>
                  </a:lnTo>
                  <a:lnTo>
                    <a:pt x="0" y="216916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218901" y="448828"/>
            <a:ext cx="4941600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zh-CN" altLang="en-US" sz="4200" b="1">
                <a:solidFill>
                  <a:srgbClr val="001F5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系统管理</a:t>
            </a:r>
            <a:r>
              <a:rPr lang="zh-CN" altLang="en-US" sz="4200" b="1">
                <a:solidFill>
                  <a:srgbClr val="001F5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员</a:t>
            </a:r>
            <a:endParaRPr lang="zh-CN" altLang="en-US" sz="4200" b="1">
              <a:solidFill>
                <a:srgbClr val="001F5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-5400000">
            <a:off x="229552" y="240982"/>
            <a:ext cx="1109662" cy="628650"/>
            <a:chOff x="0" y="0"/>
            <a:chExt cx="1479550" cy="838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79550" cy="838200"/>
            </a:xfrm>
            <a:custGeom>
              <a:avLst/>
              <a:gdLst/>
              <a:ahLst/>
              <a:cxnLst/>
              <a:rect l="l" t="t" r="r" b="b"/>
              <a:pathLst>
                <a:path w="1479550" h="838200">
                  <a:moveTo>
                    <a:pt x="0" y="0"/>
                  </a:moveTo>
                  <a:lnTo>
                    <a:pt x="1186180" y="0"/>
                  </a:lnTo>
                  <a:lnTo>
                    <a:pt x="1479550" y="419100"/>
                  </a:lnTo>
                  <a:lnTo>
                    <a:pt x="1186180" y="838200"/>
                  </a:lnTo>
                  <a:lnTo>
                    <a:pt x="0" y="838200"/>
                  </a:lnTo>
                  <a:lnTo>
                    <a:pt x="293370" y="419100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grpSp>
        <p:nvGrpSpPr>
          <p:cNvPr id="10" name="Group 10"/>
          <p:cNvGrpSpPr/>
          <p:nvPr>
            <p:custDataLst>
              <p:tags r:id="rId1"/>
            </p:custDataLst>
          </p:nvPr>
        </p:nvGrpSpPr>
        <p:grpSpPr>
          <a:xfrm rot="0">
            <a:off x="2085604" y="1714351"/>
            <a:ext cx="1710308" cy="1710308"/>
            <a:chOff x="0" y="0"/>
            <a:chExt cx="2066544" cy="2066544"/>
          </a:xfrm>
        </p:grpSpPr>
        <p:sp>
          <p:nvSpPr>
            <p:cNvPr id="11" name="Freeform 11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12" name="TextBox 12"/>
          <p:cNvSpPr txBox="1"/>
          <p:nvPr>
            <p:custDataLst>
              <p:tags r:id="rId3"/>
            </p:custDataLst>
          </p:nvPr>
        </p:nvSpPr>
        <p:spPr>
          <a:xfrm>
            <a:off x="1985554" y="3654213"/>
            <a:ext cx="191040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用户故事</a:t>
            </a:r>
            <a:r>
              <a:rPr lang="en-US" altLang="zh-CN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1</a:t>
            </a:r>
            <a:endParaRPr lang="en-US" altLang="zh-CN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4"/>
            </p:custDataLst>
          </p:nvPr>
        </p:nvSpPr>
        <p:spPr>
          <a:xfrm>
            <a:off x="1985554" y="4768352"/>
            <a:ext cx="2443314" cy="220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作为</a:t>
            </a:r>
            <a:r>
              <a:rPr lang="zh-CN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系统管理员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我能在后台管理界面查看分类模型的准确率、召回率和F1分数，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从而我可以判断模型是否需要优化或重新训练。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14" name="Group 14"/>
          <p:cNvGrpSpPr/>
          <p:nvPr>
            <p:custDataLst>
              <p:tags r:id="rId5"/>
            </p:custDataLst>
          </p:nvPr>
        </p:nvGrpSpPr>
        <p:grpSpPr>
          <a:xfrm rot="0">
            <a:off x="2658071" y="2252083"/>
            <a:ext cx="577147" cy="732253"/>
            <a:chOff x="0" y="0"/>
            <a:chExt cx="697360" cy="884772"/>
          </a:xfrm>
        </p:grpSpPr>
        <p:sp>
          <p:nvSpPr>
            <p:cNvPr id="15" name="Freeform 15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697357" cy="884809"/>
            </a:xfrm>
            <a:custGeom>
              <a:avLst/>
              <a:gdLst/>
              <a:ahLst/>
              <a:cxnLst/>
              <a:rect l="l" t="t" r="r" b="b"/>
              <a:pathLst>
                <a:path w="697357" h="884809">
                  <a:moveTo>
                    <a:pt x="348742" y="0"/>
                  </a:moveTo>
                  <a:cubicBezTo>
                    <a:pt x="156210" y="0"/>
                    <a:pt x="0" y="156210"/>
                    <a:pt x="0" y="348615"/>
                  </a:cubicBezTo>
                  <a:cubicBezTo>
                    <a:pt x="0" y="541020"/>
                    <a:pt x="273177" y="835914"/>
                    <a:pt x="273177" y="835914"/>
                  </a:cubicBezTo>
                  <a:cubicBezTo>
                    <a:pt x="314833" y="884428"/>
                    <a:pt x="383032" y="884809"/>
                    <a:pt x="424307" y="835660"/>
                  </a:cubicBezTo>
                  <a:cubicBezTo>
                    <a:pt x="424307" y="835660"/>
                    <a:pt x="697357" y="541147"/>
                    <a:pt x="697357" y="348615"/>
                  </a:cubicBezTo>
                  <a:cubicBezTo>
                    <a:pt x="697357" y="156083"/>
                    <a:pt x="541147" y="0"/>
                    <a:pt x="348742" y="0"/>
                  </a:cubicBezTo>
                  <a:close/>
                  <a:moveTo>
                    <a:pt x="348742" y="498729"/>
                  </a:moveTo>
                  <a:cubicBezTo>
                    <a:pt x="259588" y="498729"/>
                    <a:pt x="187452" y="426593"/>
                    <a:pt x="187452" y="337439"/>
                  </a:cubicBezTo>
                  <a:cubicBezTo>
                    <a:pt x="187452" y="248285"/>
                    <a:pt x="259588" y="176149"/>
                    <a:pt x="348742" y="176149"/>
                  </a:cubicBezTo>
                  <a:cubicBezTo>
                    <a:pt x="437896" y="176149"/>
                    <a:pt x="510032" y="248412"/>
                    <a:pt x="510032" y="337439"/>
                  </a:cubicBezTo>
                  <a:cubicBezTo>
                    <a:pt x="510032" y="426466"/>
                    <a:pt x="437896" y="498729"/>
                    <a:pt x="348742" y="49872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>
            <p:custDataLst>
              <p:tags r:id="rId7"/>
            </p:custDataLst>
          </p:nvPr>
        </p:nvGrpSpPr>
        <p:grpSpPr>
          <a:xfrm rot="0">
            <a:off x="6310921" y="1714351"/>
            <a:ext cx="1710308" cy="1710308"/>
            <a:chOff x="0" y="0"/>
            <a:chExt cx="2066544" cy="2066544"/>
          </a:xfrm>
        </p:grpSpPr>
        <p:sp>
          <p:nvSpPr>
            <p:cNvPr id="17" name="Freeform 17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18" name="TextBox 18"/>
          <p:cNvSpPr txBox="1"/>
          <p:nvPr>
            <p:custDataLst>
              <p:tags r:id="rId9"/>
            </p:custDataLst>
          </p:nvPr>
        </p:nvSpPr>
        <p:spPr>
          <a:xfrm>
            <a:off x="6210871" y="3654213"/>
            <a:ext cx="1910409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AC</a:t>
            </a: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验收标准</a:t>
            </a: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algn="ctr">
              <a:lnSpc>
                <a:spcPts val="3240"/>
              </a:lnSpc>
            </a:pP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19" name="Group 19"/>
          <p:cNvGrpSpPr/>
          <p:nvPr>
            <p:custDataLst>
              <p:tags r:id="rId10"/>
            </p:custDataLst>
          </p:nvPr>
        </p:nvGrpSpPr>
        <p:grpSpPr>
          <a:xfrm rot="0">
            <a:off x="6799949" y="2342132"/>
            <a:ext cx="732253" cy="552152"/>
            <a:chOff x="0" y="0"/>
            <a:chExt cx="884772" cy="667158"/>
          </a:xfrm>
        </p:grpSpPr>
        <p:sp>
          <p:nvSpPr>
            <p:cNvPr id="20" name="Freeform 20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884682" cy="667131"/>
            </a:xfrm>
            <a:custGeom>
              <a:avLst/>
              <a:gdLst/>
              <a:ahLst/>
              <a:cxnLst/>
              <a:rect l="l" t="t" r="r" b="b"/>
              <a:pathLst>
                <a:path w="884682" h="667131">
                  <a:moveTo>
                    <a:pt x="714883" y="258699"/>
                  </a:moveTo>
                  <a:cubicBezTo>
                    <a:pt x="767080" y="289814"/>
                    <a:pt x="831342" y="374015"/>
                    <a:pt x="858012" y="475234"/>
                  </a:cubicBezTo>
                  <a:cubicBezTo>
                    <a:pt x="884682" y="576453"/>
                    <a:pt x="880237" y="667131"/>
                    <a:pt x="880237" y="667131"/>
                  </a:cubicBezTo>
                  <a:cubicBezTo>
                    <a:pt x="880237" y="667131"/>
                    <a:pt x="845693" y="611251"/>
                    <a:pt x="831723" y="591693"/>
                  </a:cubicBezTo>
                  <a:cubicBezTo>
                    <a:pt x="817753" y="572135"/>
                    <a:pt x="758698" y="499237"/>
                    <a:pt x="667004" y="456946"/>
                  </a:cubicBezTo>
                  <a:cubicBezTo>
                    <a:pt x="575310" y="414655"/>
                    <a:pt x="422148" y="422275"/>
                    <a:pt x="422148" y="422275"/>
                  </a:cubicBezTo>
                  <a:lnTo>
                    <a:pt x="422148" y="598297"/>
                  </a:lnTo>
                  <a:lnTo>
                    <a:pt x="0" y="299212"/>
                  </a:lnTo>
                  <a:lnTo>
                    <a:pt x="422148" y="0"/>
                  </a:lnTo>
                  <a:lnTo>
                    <a:pt x="422148" y="177673"/>
                  </a:lnTo>
                  <a:cubicBezTo>
                    <a:pt x="422148" y="177673"/>
                    <a:pt x="523621" y="185293"/>
                    <a:pt x="576580" y="196215"/>
                  </a:cubicBezTo>
                  <a:cubicBezTo>
                    <a:pt x="665861" y="214757"/>
                    <a:pt x="714883" y="258699"/>
                    <a:pt x="714883" y="25869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>
            <p:custDataLst>
              <p:tags r:id="rId12"/>
            </p:custDataLst>
          </p:nvPr>
        </p:nvGrpSpPr>
        <p:grpSpPr>
          <a:xfrm rot="0">
            <a:off x="10536239" y="1714351"/>
            <a:ext cx="1710308" cy="1710308"/>
            <a:chOff x="0" y="0"/>
            <a:chExt cx="2066544" cy="2066544"/>
          </a:xfrm>
        </p:grpSpPr>
        <p:sp>
          <p:nvSpPr>
            <p:cNvPr id="22" name="Freeform 22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23" name="TextBox 23"/>
          <p:cNvSpPr txBox="1"/>
          <p:nvPr>
            <p:custDataLst>
              <p:tags r:id="rId14"/>
            </p:custDataLst>
          </p:nvPr>
        </p:nvSpPr>
        <p:spPr>
          <a:xfrm>
            <a:off x="10436189" y="3654213"/>
            <a:ext cx="191040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用户故事</a:t>
            </a:r>
            <a:r>
              <a:rPr lang="en-US" altLang="zh-CN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2</a:t>
            </a:r>
            <a:endParaRPr lang="en-US" altLang="zh-CN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24" name="Group 24"/>
          <p:cNvGrpSpPr/>
          <p:nvPr>
            <p:custDataLst>
              <p:tags r:id="rId15"/>
            </p:custDataLst>
          </p:nvPr>
        </p:nvGrpSpPr>
        <p:grpSpPr>
          <a:xfrm rot="0">
            <a:off x="11078048" y="2203681"/>
            <a:ext cx="626688" cy="732253"/>
            <a:chOff x="0" y="0"/>
            <a:chExt cx="757220" cy="884772"/>
          </a:xfrm>
        </p:grpSpPr>
        <p:sp>
          <p:nvSpPr>
            <p:cNvPr id="25" name="Freeform 25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757301" cy="884809"/>
            </a:xfrm>
            <a:custGeom>
              <a:avLst/>
              <a:gdLst/>
              <a:ahLst/>
              <a:cxnLst/>
              <a:rect l="l" t="t" r="r" b="b"/>
              <a:pathLst>
                <a:path w="757301" h="884809">
                  <a:moveTo>
                    <a:pt x="569849" y="148844"/>
                  </a:moveTo>
                  <a:lnTo>
                    <a:pt x="569849" y="73406"/>
                  </a:lnTo>
                  <a:cubicBezTo>
                    <a:pt x="569849" y="32893"/>
                    <a:pt x="535051" y="0"/>
                    <a:pt x="494538" y="0"/>
                  </a:cubicBezTo>
                  <a:lnTo>
                    <a:pt x="266573" y="0"/>
                  </a:lnTo>
                  <a:cubicBezTo>
                    <a:pt x="224028" y="0"/>
                    <a:pt x="191262" y="32893"/>
                    <a:pt x="191262" y="73406"/>
                  </a:cubicBezTo>
                  <a:lnTo>
                    <a:pt x="191262" y="146812"/>
                  </a:lnTo>
                  <a:lnTo>
                    <a:pt x="0" y="146812"/>
                  </a:lnTo>
                  <a:lnTo>
                    <a:pt x="0" y="220218"/>
                  </a:lnTo>
                  <a:lnTo>
                    <a:pt x="75311" y="220218"/>
                  </a:lnTo>
                  <a:lnTo>
                    <a:pt x="75311" y="811403"/>
                  </a:lnTo>
                  <a:cubicBezTo>
                    <a:pt x="75311" y="851916"/>
                    <a:pt x="110109" y="884809"/>
                    <a:pt x="150749" y="884809"/>
                  </a:cubicBezTo>
                  <a:lnTo>
                    <a:pt x="606679" y="884809"/>
                  </a:lnTo>
                  <a:cubicBezTo>
                    <a:pt x="649224" y="884809"/>
                    <a:pt x="681990" y="851916"/>
                    <a:pt x="681990" y="811403"/>
                  </a:cubicBezTo>
                  <a:lnTo>
                    <a:pt x="681990" y="222123"/>
                  </a:lnTo>
                  <a:lnTo>
                    <a:pt x="757301" y="222123"/>
                  </a:lnTo>
                  <a:lnTo>
                    <a:pt x="757301" y="148844"/>
                  </a:lnTo>
                  <a:lnTo>
                    <a:pt x="569849" y="148844"/>
                  </a:lnTo>
                  <a:close/>
                  <a:moveTo>
                    <a:pt x="338074" y="761111"/>
                  </a:moveTo>
                  <a:lnTo>
                    <a:pt x="252984" y="761111"/>
                  </a:lnTo>
                  <a:lnTo>
                    <a:pt x="252984" y="295529"/>
                  </a:lnTo>
                  <a:lnTo>
                    <a:pt x="338074" y="295529"/>
                  </a:lnTo>
                  <a:lnTo>
                    <a:pt x="338074" y="761111"/>
                  </a:lnTo>
                  <a:close/>
                  <a:moveTo>
                    <a:pt x="508127" y="761111"/>
                  </a:moveTo>
                  <a:lnTo>
                    <a:pt x="423037" y="761111"/>
                  </a:lnTo>
                  <a:lnTo>
                    <a:pt x="423037" y="295529"/>
                  </a:lnTo>
                  <a:lnTo>
                    <a:pt x="508127" y="295529"/>
                  </a:lnTo>
                  <a:lnTo>
                    <a:pt x="508127" y="76111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>
            <p:custDataLst>
              <p:tags r:id="rId17"/>
            </p:custDataLst>
          </p:nvPr>
        </p:nvGrpSpPr>
        <p:grpSpPr>
          <a:xfrm rot="0">
            <a:off x="14761557" y="1714351"/>
            <a:ext cx="1710308" cy="1710308"/>
            <a:chOff x="0" y="0"/>
            <a:chExt cx="2066544" cy="2066544"/>
          </a:xfrm>
        </p:grpSpPr>
        <p:sp>
          <p:nvSpPr>
            <p:cNvPr id="27" name="Freeform 27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28" name="TextBox 28"/>
          <p:cNvSpPr txBox="1"/>
          <p:nvPr>
            <p:custDataLst>
              <p:tags r:id="rId19"/>
            </p:custDataLst>
          </p:nvPr>
        </p:nvSpPr>
        <p:spPr>
          <a:xfrm>
            <a:off x="14661506" y="3654213"/>
            <a:ext cx="191040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AC</a:t>
            </a: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验收</a:t>
            </a: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标准</a:t>
            </a: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29" name="Freeform 29"/>
          <p:cNvSpPr/>
          <p:nvPr>
            <p:custDataLst>
              <p:tags r:id="rId20"/>
            </p:custDataLst>
          </p:nvPr>
        </p:nvSpPr>
        <p:spPr>
          <a:xfrm>
            <a:off x="15250585" y="2203681"/>
            <a:ext cx="732253" cy="731647"/>
          </a:xfrm>
          <a:custGeom>
            <a:avLst/>
            <a:gdLst/>
            <a:ahLst/>
            <a:cxnLst/>
            <a:rect l="l" t="t" r="r" b="b"/>
            <a:pathLst>
              <a:path w="663579" h="663030">
                <a:moveTo>
                  <a:pt x="0" y="0"/>
                </a:moveTo>
                <a:lnTo>
                  <a:pt x="663579" y="0"/>
                </a:lnTo>
                <a:lnTo>
                  <a:pt x="663579" y="663030"/>
                </a:lnTo>
                <a:lnTo>
                  <a:pt x="0" y="66303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>
            <a:grpSpLocks noChangeAspect="1"/>
          </p:cNvGrpSpPr>
          <p:nvPr>
            <p:custDataLst>
              <p:tags r:id="rId23"/>
            </p:custDataLst>
          </p:nvPr>
        </p:nvGrpSpPr>
        <p:grpSpPr>
          <a:xfrm rot="5400000">
            <a:off x="10815689" y="4351093"/>
            <a:ext cx="5485526" cy="212052"/>
            <a:chOff x="0" y="0"/>
            <a:chExt cx="6628094" cy="256220"/>
          </a:xfrm>
        </p:grpSpPr>
        <p:sp>
          <p:nvSpPr>
            <p:cNvPr id="31" name="Freeform 31"/>
            <p:cNvSpPr/>
            <p:nvPr>
              <p:custDataLst>
                <p:tags r:id="rId24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grpSp>
        <p:nvGrpSpPr>
          <p:cNvPr id="32" name="Group 32"/>
          <p:cNvGrpSpPr>
            <a:grpSpLocks noChangeAspect="1"/>
          </p:cNvGrpSpPr>
          <p:nvPr>
            <p:custDataLst>
              <p:tags r:id="rId26"/>
            </p:custDataLst>
          </p:nvPr>
        </p:nvGrpSpPr>
        <p:grpSpPr>
          <a:xfrm rot="5400000">
            <a:off x="6543073" y="4351095"/>
            <a:ext cx="5485526" cy="212052"/>
            <a:chOff x="0" y="0"/>
            <a:chExt cx="6628094" cy="256220"/>
          </a:xfrm>
        </p:grpSpPr>
        <p:sp>
          <p:nvSpPr>
            <p:cNvPr id="33" name="Freeform 33"/>
            <p:cNvSpPr/>
            <p:nvPr>
              <p:custDataLst>
                <p:tags r:id="rId27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grpSp>
        <p:nvGrpSpPr>
          <p:cNvPr id="34" name="Group 34"/>
          <p:cNvGrpSpPr>
            <a:grpSpLocks noChangeAspect="1"/>
          </p:cNvGrpSpPr>
          <p:nvPr>
            <p:custDataLst>
              <p:tags r:id="rId28"/>
            </p:custDataLst>
          </p:nvPr>
        </p:nvGrpSpPr>
        <p:grpSpPr>
          <a:xfrm rot="5400000">
            <a:off x="2349288" y="4351097"/>
            <a:ext cx="5485525" cy="212052"/>
            <a:chOff x="0" y="0"/>
            <a:chExt cx="6628094" cy="256220"/>
          </a:xfrm>
        </p:grpSpPr>
        <p:sp>
          <p:nvSpPr>
            <p:cNvPr id="35" name="Freeform 35"/>
            <p:cNvSpPr/>
            <p:nvPr>
              <p:custDataLst>
                <p:tags r:id="rId29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sp>
        <p:nvSpPr>
          <p:cNvPr id="36" name="TextBox 36"/>
          <p:cNvSpPr txBox="1"/>
          <p:nvPr>
            <p:custDataLst>
              <p:tags r:id="rId30"/>
            </p:custDataLst>
          </p:nvPr>
        </p:nvSpPr>
        <p:spPr>
          <a:xfrm>
            <a:off x="6210871" y="4768352"/>
            <a:ext cx="2443314" cy="346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Given 我已登录管理员后台并进入“模型管理”模块，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When 我选择查看“分类模型性能”报告，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Then 系统应显示最近一轮训练的准确率、召回率、F1分数，并支持按类别查看详细指标。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37" name="TextBox 37"/>
          <p:cNvSpPr txBox="1"/>
          <p:nvPr>
            <p:custDataLst>
              <p:tags r:id="rId31"/>
            </p:custDataLst>
          </p:nvPr>
        </p:nvSpPr>
        <p:spPr>
          <a:xfrm>
            <a:off x="10168253" y="4768352"/>
            <a:ext cx="2443314" cy="188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作为系统管理员，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我能上传一批新标注的零件数据并触发模型重训练任务，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从而我可以利用最新数据提升模型效果。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38" name="TextBox 38"/>
          <p:cNvSpPr txBox="1"/>
          <p:nvPr>
            <p:custDataLst>
              <p:tags r:id="rId32"/>
            </p:custDataLst>
          </p:nvPr>
        </p:nvSpPr>
        <p:spPr>
          <a:xfrm>
            <a:off x="14505337" y="4768352"/>
            <a:ext cx="2443314" cy="3462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 lang="en-US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Given 我已准备好包含零件编号、类别标签、CAD文件的训练数据压缩包，</a:t>
            </a:r>
            <a:endParaRPr lang="en-US"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 lang="en-US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When 我上传该压缩包并点击“开始训练”按钮，</a:t>
            </a:r>
            <a:endParaRPr lang="en-US"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 lang="en-US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Then 系统应校验数据格式，启动训练任务，并显示训练进度和预计完成时间。</a:t>
            </a:r>
            <a:endParaRPr lang="en-US"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9617558"/>
            <a:ext cx="18288000" cy="669444"/>
            <a:chOff x="0" y="0"/>
            <a:chExt cx="24384000" cy="8925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92556"/>
            </a:xfrm>
            <a:custGeom>
              <a:avLst/>
              <a:gdLst/>
              <a:ahLst/>
              <a:cxnLst/>
              <a:rect l="l" t="t" r="r" b="b"/>
              <a:pathLst>
                <a:path w="24384000" h="892556">
                  <a:moveTo>
                    <a:pt x="0" y="0"/>
                  </a:moveTo>
                  <a:lnTo>
                    <a:pt x="24384000" y="0"/>
                  </a:lnTo>
                  <a:lnTo>
                    <a:pt x="24384000" y="892556"/>
                  </a:lnTo>
                  <a:lnTo>
                    <a:pt x="0" y="892556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4" name="AutoShape 4"/>
          <p:cNvSpPr/>
          <p:nvPr/>
        </p:nvSpPr>
        <p:spPr>
          <a:xfrm rot="6365">
            <a:off x="380988" y="1284088"/>
            <a:ext cx="15431651" cy="0"/>
          </a:xfrm>
          <a:prstGeom prst="line">
            <a:avLst/>
          </a:prstGeom>
          <a:ln w="19050" cap="rnd">
            <a:solidFill>
              <a:srgbClr val="001F5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 rot="0">
            <a:off x="13994971" y="1197244"/>
            <a:ext cx="4293030" cy="162732"/>
            <a:chOff x="0" y="0"/>
            <a:chExt cx="5724040" cy="21697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24017" cy="216916"/>
            </a:xfrm>
            <a:custGeom>
              <a:avLst/>
              <a:gdLst/>
              <a:ahLst/>
              <a:cxnLst/>
              <a:rect l="l" t="t" r="r" b="b"/>
              <a:pathLst>
                <a:path w="5724017" h="216916">
                  <a:moveTo>
                    <a:pt x="0" y="0"/>
                  </a:moveTo>
                  <a:lnTo>
                    <a:pt x="5724017" y="0"/>
                  </a:lnTo>
                  <a:lnTo>
                    <a:pt x="5724017" y="216916"/>
                  </a:lnTo>
                  <a:lnTo>
                    <a:pt x="0" y="216916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257636" y="448828"/>
            <a:ext cx="4941600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zh-CN" altLang="en-US" sz="4200" b="1">
                <a:solidFill>
                  <a:srgbClr val="001F5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系统管理</a:t>
            </a:r>
            <a:r>
              <a:rPr lang="zh-CN" altLang="en-US" sz="4200" b="1">
                <a:solidFill>
                  <a:srgbClr val="001F5E"/>
                </a:solidFill>
                <a:latin typeface="Arimo Bold" panose="020B0704020202020204"/>
                <a:ea typeface="Arimo Bold" panose="020B0704020202020204"/>
                <a:cs typeface="Arimo Bold" panose="020B0704020202020204"/>
                <a:sym typeface="Arimo Bold" panose="020B0704020202020204"/>
              </a:rPr>
              <a:t>员</a:t>
            </a:r>
            <a:endParaRPr lang="zh-CN" altLang="en-US" sz="4200" b="1">
              <a:solidFill>
                <a:srgbClr val="001F5E"/>
              </a:solidFill>
              <a:latin typeface="Arimo Bold" panose="020B0704020202020204"/>
              <a:ea typeface="Arimo Bold" panose="020B0704020202020204"/>
              <a:cs typeface="Arimo Bold" panose="020B0704020202020204"/>
              <a:sym typeface="Arimo Bold" panose="020B07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 rot="-5400000">
            <a:off x="229552" y="240982"/>
            <a:ext cx="1109662" cy="628650"/>
            <a:chOff x="0" y="0"/>
            <a:chExt cx="1479550" cy="838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79550" cy="838200"/>
            </a:xfrm>
            <a:custGeom>
              <a:avLst/>
              <a:gdLst/>
              <a:ahLst/>
              <a:cxnLst/>
              <a:rect l="l" t="t" r="r" b="b"/>
              <a:pathLst>
                <a:path w="1479550" h="838200">
                  <a:moveTo>
                    <a:pt x="0" y="0"/>
                  </a:moveTo>
                  <a:lnTo>
                    <a:pt x="1186180" y="0"/>
                  </a:lnTo>
                  <a:lnTo>
                    <a:pt x="1479550" y="419100"/>
                  </a:lnTo>
                  <a:lnTo>
                    <a:pt x="1186180" y="838200"/>
                  </a:lnTo>
                  <a:lnTo>
                    <a:pt x="0" y="838200"/>
                  </a:lnTo>
                  <a:lnTo>
                    <a:pt x="293370" y="419100"/>
                  </a:lnTo>
                  <a:close/>
                </a:path>
              </a:pathLst>
            </a:custGeom>
            <a:solidFill>
              <a:srgbClr val="001F5E"/>
            </a:solidFill>
          </p:spPr>
        </p:sp>
      </p:grpSp>
      <p:grpSp>
        <p:nvGrpSpPr>
          <p:cNvPr id="10" name="Group 10"/>
          <p:cNvGrpSpPr/>
          <p:nvPr>
            <p:custDataLst>
              <p:tags r:id="rId1"/>
            </p:custDataLst>
          </p:nvPr>
        </p:nvGrpSpPr>
        <p:grpSpPr>
          <a:xfrm rot="0">
            <a:off x="2085604" y="1714351"/>
            <a:ext cx="1710308" cy="1710308"/>
            <a:chOff x="0" y="0"/>
            <a:chExt cx="2066544" cy="2066544"/>
          </a:xfrm>
        </p:grpSpPr>
        <p:sp>
          <p:nvSpPr>
            <p:cNvPr id="11" name="Freeform 11"/>
            <p:cNvSpPr/>
            <p:nvPr>
              <p:custDataLst>
                <p:tags r:id="rId2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12" name="TextBox 12"/>
          <p:cNvSpPr txBox="1"/>
          <p:nvPr>
            <p:custDataLst>
              <p:tags r:id="rId3"/>
            </p:custDataLst>
          </p:nvPr>
        </p:nvSpPr>
        <p:spPr>
          <a:xfrm>
            <a:off x="1985554" y="3654213"/>
            <a:ext cx="191040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用户故事</a:t>
            </a:r>
            <a:r>
              <a:rPr lang="en-US" altLang="zh-CN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3</a:t>
            </a:r>
            <a:endParaRPr lang="en-US" altLang="zh-CN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4"/>
            </p:custDataLst>
          </p:nvPr>
        </p:nvSpPr>
        <p:spPr>
          <a:xfrm>
            <a:off x="1985554" y="4768352"/>
            <a:ext cx="2443314" cy="188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作为</a:t>
            </a:r>
            <a:r>
              <a:rPr lang="zh-CN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系统管理员</a:t>
            </a: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我能在模型训练完成后对比新旧模型的性能指标，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从而我可以决定是否将新模型部署上线。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14" name="Group 14"/>
          <p:cNvGrpSpPr/>
          <p:nvPr>
            <p:custDataLst>
              <p:tags r:id="rId5"/>
            </p:custDataLst>
          </p:nvPr>
        </p:nvGrpSpPr>
        <p:grpSpPr>
          <a:xfrm rot="0">
            <a:off x="2658071" y="2252083"/>
            <a:ext cx="577147" cy="732253"/>
            <a:chOff x="0" y="0"/>
            <a:chExt cx="697360" cy="884772"/>
          </a:xfrm>
        </p:grpSpPr>
        <p:sp>
          <p:nvSpPr>
            <p:cNvPr id="15" name="Freeform 15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697357" cy="884809"/>
            </a:xfrm>
            <a:custGeom>
              <a:avLst/>
              <a:gdLst/>
              <a:ahLst/>
              <a:cxnLst/>
              <a:rect l="l" t="t" r="r" b="b"/>
              <a:pathLst>
                <a:path w="697357" h="884809">
                  <a:moveTo>
                    <a:pt x="348742" y="0"/>
                  </a:moveTo>
                  <a:cubicBezTo>
                    <a:pt x="156210" y="0"/>
                    <a:pt x="0" y="156210"/>
                    <a:pt x="0" y="348615"/>
                  </a:cubicBezTo>
                  <a:cubicBezTo>
                    <a:pt x="0" y="541020"/>
                    <a:pt x="273177" y="835914"/>
                    <a:pt x="273177" y="835914"/>
                  </a:cubicBezTo>
                  <a:cubicBezTo>
                    <a:pt x="314833" y="884428"/>
                    <a:pt x="383032" y="884809"/>
                    <a:pt x="424307" y="835660"/>
                  </a:cubicBezTo>
                  <a:cubicBezTo>
                    <a:pt x="424307" y="835660"/>
                    <a:pt x="697357" y="541147"/>
                    <a:pt x="697357" y="348615"/>
                  </a:cubicBezTo>
                  <a:cubicBezTo>
                    <a:pt x="697357" y="156083"/>
                    <a:pt x="541147" y="0"/>
                    <a:pt x="348742" y="0"/>
                  </a:cubicBezTo>
                  <a:close/>
                  <a:moveTo>
                    <a:pt x="348742" y="498729"/>
                  </a:moveTo>
                  <a:cubicBezTo>
                    <a:pt x="259588" y="498729"/>
                    <a:pt x="187452" y="426593"/>
                    <a:pt x="187452" y="337439"/>
                  </a:cubicBezTo>
                  <a:cubicBezTo>
                    <a:pt x="187452" y="248285"/>
                    <a:pt x="259588" y="176149"/>
                    <a:pt x="348742" y="176149"/>
                  </a:cubicBezTo>
                  <a:cubicBezTo>
                    <a:pt x="437896" y="176149"/>
                    <a:pt x="510032" y="248412"/>
                    <a:pt x="510032" y="337439"/>
                  </a:cubicBezTo>
                  <a:cubicBezTo>
                    <a:pt x="510032" y="426466"/>
                    <a:pt x="437896" y="498729"/>
                    <a:pt x="348742" y="49872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6" name="Group 16"/>
          <p:cNvGrpSpPr/>
          <p:nvPr>
            <p:custDataLst>
              <p:tags r:id="rId7"/>
            </p:custDataLst>
          </p:nvPr>
        </p:nvGrpSpPr>
        <p:grpSpPr>
          <a:xfrm rot="0">
            <a:off x="6310921" y="1714351"/>
            <a:ext cx="1710308" cy="1710308"/>
            <a:chOff x="0" y="0"/>
            <a:chExt cx="2066544" cy="2066544"/>
          </a:xfrm>
        </p:grpSpPr>
        <p:sp>
          <p:nvSpPr>
            <p:cNvPr id="17" name="Freeform 17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18" name="TextBox 18"/>
          <p:cNvSpPr txBox="1"/>
          <p:nvPr>
            <p:custDataLst>
              <p:tags r:id="rId9"/>
            </p:custDataLst>
          </p:nvPr>
        </p:nvSpPr>
        <p:spPr>
          <a:xfrm>
            <a:off x="6210871" y="3654213"/>
            <a:ext cx="1910409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AC</a:t>
            </a: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验收标准</a:t>
            </a: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algn="ctr">
              <a:lnSpc>
                <a:spcPts val="3240"/>
              </a:lnSpc>
            </a:pP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19" name="Group 19"/>
          <p:cNvGrpSpPr/>
          <p:nvPr>
            <p:custDataLst>
              <p:tags r:id="rId10"/>
            </p:custDataLst>
          </p:nvPr>
        </p:nvGrpSpPr>
        <p:grpSpPr>
          <a:xfrm rot="0">
            <a:off x="6799949" y="2342132"/>
            <a:ext cx="732253" cy="552152"/>
            <a:chOff x="0" y="0"/>
            <a:chExt cx="884772" cy="667158"/>
          </a:xfrm>
        </p:grpSpPr>
        <p:sp>
          <p:nvSpPr>
            <p:cNvPr id="20" name="Freeform 20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884682" cy="667131"/>
            </a:xfrm>
            <a:custGeom>
              <a:avLst/>
              <a:gdLst/>
              <a:ahLst/>
              <a:cxnLst/>
              <a:rect l="l" t="t" r="r" b="b"/>
              <a:pathLst>
                <a:path w="884682" h="667131">
                  <a:moveTo>
                    <a:pt x="714883" y="258699"/>
                  </a:moveTo>
                  <a:cubicBezTo>
                    <a:pt x="767080" y="289814"/>
                    <a:pt x="831342" y="374015"/>
                    <a:pt x="858012" y="475234"/>
                  </a:cubicBezTo>
                  <a:cubicBezTo>
                    <a:pt x="884682" y="576453"/>
                    <a:pt x="880237" y="667131"/>
                    <a:pt x="880237" y="667131"/>
                  </a:cubicBezTo>
                  <a:cubicBezTo>
                    <a:pt x="880237" y="667131"/>
                    <a:pt x="845693" y="611251"/>
                    <a:pt x="831723" y="591693"/>
                  </a:cubicBezTo>
                  <a:cubicBezTo>
                    <a:pt x="817753" y="572135"/>
                    <a:pt x="758698" y="499237"/>
                    <a:pt x="667004" y="456946"/>
                  </a:cubicBezTo>
                  <a:cubicBezTo>
                    <a:pt x="575310" y="414655"/>
                    <a:pt x="422148" y="422275"/>
                    <a:pt x="422148" y="422275"/>
                  </a:cubicBezTo>
                  <a:lnTo>
                    <a:pt x="422148" y="598297"/>
                  </a:lnTo>
                  <a:lnTo>
                    <a:pt x="0" y="299212"/>
                  </a:lnTo>
                  <a:lnTo>
                    <a:pt x="422148" y="0"/>
                  </a:lnTo>
                  <a:lnTo>
                    <a:pt x="422148" y="177673"/>
                  </a:lnTo>
                  <a:cubicBezTo>
                    <a:pt x="422148" y="177673"/>
                    <a:pt x="523621" y="185293"/>
                    <a:pt x="576580" y="196215"/>
                  </a:cubicBezTo>
                  <a:cubicBezTo>
                    <a:pt x="665861" y="214757"/>
                    <a:pt x="714883" y="258699"/>
                    <a:pt x="714883" y="25869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>
            <p:custDataLst>
              <p:tags r:id="rId12"/>
            </p:custDataLst>
          </p:nvPr>
        </p:nvGrpSpPr>
        <p:grpSpPr>
          <a:xfrm rot="0">
            <a:off x="10536239" y="1714351"/>
            <a:ext cx="1710308" cy="1710308"/>
            <a:chOff x="0" y="0"/>
            <a:chExt cx="2066544" cy="2066544"/>
          </a:xfrm>
        </p:grpSpPr>
        <p:sp>
          <p:nvSpPr>
            <p:cNvPr id="22" name="Freeform 22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23" name="TextBox 23"/>
          <p:cNvSpPr txBox="1"/>
          <p:nvPr>
            <p:custDataLst>
              <p:tags r:id="rId14"/>
            </p:custDataLst>
          </p:nvPr>
        </p:nvSpPr>
        <p:spPr>
          <a:xfrm>
            <a:off x="10436189" y="3654213"/>
            <a:ext cx="191040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用户故事</a:t>
            </a:r>
            <a:r>
              <a:rPr lang="en-US" altLang="zh-CN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4</a:t>
            </a:r>
            <a:endParaRPr lang="en-US" altLang="zh-CN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grpSp>
        <p:nvGrpSpPr>
          <p:cNvPr id="24" name="Group 24"/>
          <p:cNvGrpSpPr/>
          <p:nvPr>
            <p:custDataLst>
              <p:tags r:id="rId15"/>
            </p:custDataLst>
          </p:nvPr>
        </p:nvGrpSpPr>
        <p:grpSpPr>
          <a:xfrm rot="0">
            <a:off x="11078048" y="2203681"/>
            <a:ext cx="626688" cy="732253"/>
            <a:chOff x="0" y="0"/>
            <a:chExt cx="757220" cy="884772"/>
          </a:xfrm>
        </p:grpSpPr>
        <p:sp>
          <p:nvSpPr>
            <p:cNvPr id="25" name="Freeform 25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757301" cy="884809"/>
            </a:xfrm>
            <a:custGeom>
              <a:avLst/>
              <a:gdLst/>
              <a:ahLst/>
              <a:cxnLst/>
              <a:rect l="l" t="t" r="r" b="b"/>
              <a:pathLst>
                <a:path w="757301" h="884809">
                  <a:moveTo>
                    <a:pt x="569849" y="148844"/>
                  </a:moveTo>
                  <a:lnTo>
                    <a:pt x="569849" y="73406"/>
                  </a:lnTo>
                  <a:cubicBezTo>
                    <a:pt x="569849" y="32893"/>
                    <a:pt x="535051" y="0"/>
                    <a:pt x="494538" y="0"/>
                  </a:cubicBezTo>
                  <a:lnTo>
                    <a:pt x="266573" y="0"/>
                  </a:lnTo>
                  <a:cubicBezTo>
                    <a:pt x="224028" y="0"/>
                    <a:pt x="191262" y="32893"/>
                    <a:pt x="191262" y="73406"/>
                  </a:cubicBezTo>
                  <a:lnTo>
                    <a:pt x="191262" y="146812"/>
                  </a:lnTo>
                  <a:lnTo>
                    <a:pt x="0" y="146812"/>
                  </a:lnTo>
                  <a:lnTo>
                    <a:pt x="0" y="220218"/>
                  </a:lnTo>
                  <a:lnTo>
                    <a:pt x="75311" y="220218"/>
                  </a:lnTo>
                  <a:lnTo>
                    <a:pt x="75311" y="811403"/>
                  </a:lnTo>
                  <a:cubicBezTo>
                    <a:pt x="75311" y="851916"/>
                    <a:pt x="110109" y="884809"/>
                    <a:pt x="150749" y="884809"/>
                  </a:cubicBezTo>
                  <a:lnTo>
                    <a:pt x="606679" y="884809"/>
                  </a:lnTo>
                  <a:cubicBezTo>
                    <a:pt x="649224" y="884809"/>
                    <a:pt x="681990" y="851916"/>
                    <a:pt x="681990" y="811403"/>
                  </a:cubicBezTo>
                  <a:lnTo>
                    <a:pt x="681990" y="222123"/>
                  </a:lnTo>
                  <a:lnTo>
                    <a:pt x="757301" y="222123"/>
                  </a:lnTo>
                  <a:lnTo>
                    <a:pt x="757301" y="148844"/>
                  </a:lnTo>
                  <a:lnTo>
                    <a:pt x="569849" y="148844"/>
                  </a:lnTo>
                  <a:close/>
                  <a:moveTo>
                    <a:pt x="338074" y="761111"/>
                  </a:moveTo>
                  <a:lnTo>
                    <a:pt x="252984" y="761111"/>
                  </a:lnTo>
                  <a:lnTo>
                    <a:pt x="252984" y="295529"/>
                  </a:lnTo>
                  <a:lnTo>
                    <a:pt x="338074" y="295529"/>
                  </a:lnTo>
                  <a:lnTo>
                    <a:pt x="338074" y="761111"/>
                  </a:lnTo>
                  <a:close/>
                  <a:moveTo>
                    <a:pt x="508127" y="761111"/>
                  </a:moveTo>
                  <a:lnTo>
                    <a:pt x="423037" y="761111"/>
                  </a:lnTo>
                  <a:lnTo>
                    <a:pt x="423037" y="295529"/>
                  </a:lnTo>
                  <a:lnTo>
                    <a:pt x="508127" y="295529"/>
                  </a:lnTo>
                  <a:lnTo>
                    <a:pt x="508127" y="76111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6" name="Group 26"/>
          <p:cNvGrpSpPr/>
          <p:nvPr>
            <p:custDataLst>
              <p:tags r:id="rId17"/>
            </p:custDataLst>
          </p:nvPr>
        </p:nvGrpSpPr>
        <p:grpSpPr>
          <a:xfrm rot="0">
            <a:off x="14761557" y="1714351"/>
            <a:ext cx="1710308" cy="1710308"/>
            <a:chOff x="0" y="0"/>
            <a:chExt cx="2066544" cy="2066544"/>
          </a:xfrm>
        </p:grpSpPr>
        <p:sp>
          <p:nvSpPr>
            <p:cNvPr id="27" name="Freeform 27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2066544" cy="2066544"/>
            </a:xfrm>
            <a:custGeom>
              <a:avLst/>
              <a:gdLst/>
              <a:ahLst/>
              <a:cxnLst/>
              <a:rect l="l" t="t" r="r" b="b"/>
              <a:pathLst>
                <a:path w="2066544" h="2066544">
                  <a:moveTo>
                    <a:pt x="0" y="1033272"/>
                  </a:moveTo>
                  <a:cubicBezTo>
                    <a:pt x="0" y="462661"/>
                    <a:pt x="462661" y="0"/>
                    <a:pt x="1033272" y="0"/>
                  </a:cubicBezTo>
                  <a:cubicBezTo>
                    <a:pt x="1603883" y="0"/>
                    <a:pt x="2066544" y="462661"/>
                    <a:pt x="2066544" y="1033272"/>
                  </a:cubicBezTo>
                  <a:cubicBezTo>
                    <a:pt x="2066544" y="1603883"/>
                    <a:pt x="1603883" y="2066544"/>
                    <a:pt x="1033272" y="2066544"/>
                  </a:cubicBezTo>
                  <a:cubicBezTo>
                    <a:pt x="462661" y="2066544"/>
                    <a:pt x="0" y="1603883"/>
                    <a:pt x="0" y="1033272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28" name="TextBox 28"/>
          <p:cNvSpPr txBox="1"/>
          <p:nvPr>
            <p:custDataLst>
              <p:tags r:id="rId19"/>
            </p:custDataLst>
          </p:nvPr>
        </p:nvSpPr>
        <p:spPr>
          <a:xfrm>
            <a:off x="14661506" y="3654213"/>
            <a:ext cx="1910409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AC</a:t>
            </a: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验收</a:t>
            </a:r>
            <a:r>
              <a:rPr lang="zh-CN" altLang="en-US" sz="2700">
                <a:solidFill>
                  <a:srgbClr val="001F5E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标准</a:t>
            </a:r>
            <a:endParaRPr lang="zh-CN" altLang="en-US" sz="2700">
              <a:solidFill>
                <a:srgbClr val="001F5E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29" name="Freeform 29"/>
          <p:cNvSpPr/>
          <p:nvPr>
            <p:custDataLst>
              <p:tags r:id="rId20"/>
            </p:custDataLst>
          </p:nvPr>
        </p:nvSpPr>
        <p:spPr>
          <a:xfrm>
            <a:off x="15250585" y="2203681"/>
            <a:ext cx="732253" cy="731647"/>
          </a:xfrm>
          <a:custGeom>
            <a:avLst/>
            <a:gdLst/>
            <a:ahLst/>
            <a:cxnLst/>
            <a:rect l="l" t="t" r="r" b="b"/>
            <a:pathLst>
              <a:path w="663579" h="663030">
                <a:moveTo>
                  <a:pt x="0" y="0"/>
                </a:moveTo>
                <a:lnTo>
                  <a:pt x="663579" y="0"/>
                </a:lnTo>
                <a:lnTo>
                  <a:pt x="663579" y="663030"/>
                </a:lnTo>
                <a:lnTo>
                  <a:pt x="0" y="66303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>
            <a:grpSpLocks noChangeAspect="1"/>
          </p:cNvGrpSpPr>
          <p:nvPr>
            <p:custDataLst>
              <p:tags r:id="rId23"/>
            </p:custDataLst>
          </p:nvPr>
        </p:nvGrpSpPr>
        <p:grpSpPr>
          <a:xfrm rot="5400000">
            <a:off x="10815689" y="4351093"/>
            <a:ext cx="5485526" cy="212052"/>
            <a:chOff x="0" y="0"/>
            <a:chExt cx="6628094" cy="256220"/>
          </a:xfrm>
        </p:grpSpPr>
        <p:sp>
          <p:nvSpPr>
            <p:cNvPr id="31" name="Freeform 31"/>
            <p:cNvSpPr/>
            <p:nvPr>
              <p:custDataLst>
                <p:tags r:id="rId24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grpSp>
        <p:nvGrpSpPr>
          <p:cNvPr id="32" name="Group 32"/>
          <p:cNvGrpSpPr>
            <a:grpSpLocks noChangeAspect="1"/>
          </p:cNvGrpSpPr>
          <p:nvPr>
            <p:custDataLst>
              <p:tags r:id="rId26"/>
            </p:custDataLst>
          </p:nvPr>
        </p:nvGrpSpPr>
        <p:grpSpPr>
          <a:xfrm rot="5400000">
            <a:off x="6543073" y="4351095"/>
            <a:ext cx="5485526" cy="212052"/>
            <a:chOff x="0" y="0"/>
            <a:chExt cx="6628094" cy="256220"/>
          </a:xfrm>
        </p:grpSpPr>
        <p:sp>
          <p:nvSpPr>
            <p:cNvPr id="33" name="Freeform 33"/>
            <p:cNvSpPr/>
            <p:nvPr>
              <p:custDataLst>
                <p:tags r:id="rId27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grpSp>
        <p:nvGrpSpPr>
          <p:cNvPr id="34" name="Group 34"/>
          <p:cNvGrpSpPr>
            <a:grpSpLocks noChangeAspect="1"/>
          </p:cNvGrpSpPr>
          <p:nvPr>
            <p:custDataLst>
              <p:tags r:id="rId28"/>
            </p:custDataLst>
          </p:nvPr>
        </p:nvGrpSpPr>
        <p:grpSpPr>
          <a:xfrm rot="5400000">
            <a:off x="2349288" y="4351097"/>
            <a:ext cx="5485525" cy="212052"/>
            <a:chOff x="0" y="0"/>
            <a:chExt cx="6628094" cy="256220"/>
          </a:xfrm>
        </p:grpSpPr>
        <p:sp>
          <p:nvSpPr>
            <p:cNvPr id="35" name="Freeform 35"/>
            <p:cNvSpPr/>
            <p:nvPr>
              <p:custDataLst>
                <p:tags r:id="rId29"/>
              </p:custDataLst>
            </p:nvPr>
          </p:nvSpPr>
          <p:spPr>
            <a:xfrm>
              <a:off x="0" y="0"/>
              <a:ext cx="6628130" cy="256159"/>
            </a:xfrm>
            <a:custGeom>
              <a:avLst/>
              <a:gdLst/>
              <a:ahLst/>
              <a:cxnLst/>
              <a:rect l="l" t="t" r="r" b="b"/>
              <a:pathLst>
                <a:path w="6628130" h="256159">
                  <a:moveTo>
                    <a:pt x="0" y="0"/>
                  </a:moveTo>
                  <a:lnTo>
                    <a:pt x="6628130" y="0"/>
                  </a:lnTo>
                  <a:lnTo>
                    <a:pt x="6628130" y="256159"/>
                  </a:lnTo>
                  <a:lnTo>
                    <a:pt x="0" y="256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>
                <a:alphaModFix amt="40000"/>
              </a:blip>
              <a:stretch>
                <a:fillRect t="-309" b="-333"/>
              </a:stretch>
            </a:blipFill>
          </p:spPr>
        </p:sp>
      </p:grpSp>
      <p:sp>
        <p:nvSpPr>
          <p:cNvPr id="36" name="TextBox 36"/>
          <p:cNvSpPr txBox="1"/>
          <p:nvPr>
            <p:custDataLst>
              <p:tags r:id="rId30"/>
            </p:custDataLst>
          </p:nvPr>
        </p:nvSpPr>
        <p:spPr>
          <a:xfrm>
            <a:off x="6210871" y="4768352"/>
            <a:ext cx="2443314" cy="314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Given 新模型训练已完成，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When 我进入“模型对比”界面，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Then 系统应并排展示新旧模型的性能指标（如准确率、召回率），并允许我点击“部署新模型”或“保留旧模型”。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37" name="TextBox 37"/>
          <p:cNvSpPr txBox="1"/>
          <p:nvPr>
            <p:custDataLst>
              <p:tags r:id="rId31"/>
            </p:custDataLst>
          </p:nvPr>
        </p:nvSpPr>
        <p:spPr>
          <a:xfrm>
            <a:off x="10168253" y="4768352"/>
            <a:ext cx="2443314" cy="2518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作为系统管理员，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我能在后台设置“当新增标注数据超过100条时自动触发模型重训练”，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从而我可以减少手动干预，保持模型持续优化。</a:t>
            </a:r>
            <a:endParaRPr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  <p:sp>
        <p:nvSpPr>
          <p:cNvPr id="38" name="TextBox 38"/>
          <p:cNvSpPr txBox="1"/>
          <p:nvPr>
            <p:custDataLst>
              <p:tags r:id="rId32"/>
            </p:custDataLst>
          </p:nvPr>
        </p:nvSpPr>
        <p:spPr>
          <a:xfrm>
            <a:off x="14505337" y="4768352"/>
            <a:ext cx="2443314" cy="3777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 lang="en-US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Given 我已登录管理员后台并进入“训练策略设置”页面，</a:t>
            </a:r>
            <a:endParaRPr lang="en-US"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 lang="en-US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When 我启用“自动重训练”并设置触发条件为“新增标注数据 ≥ 100条”，</a:t>
            </a:r>
            <a:endParaRPr lang="en-US"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  <a:p>
            <a:pPr marL="339725" lvl="1" indent="-170180" algn="l">
              <a:lnSpc>
                <a:spcPts val="2455"/>
              </a:lnSpc>
              <a:buFont typeface="Arial" panose="020B0604020202020204"/>
              <a:buChar char="•"/>
            </a:pPr>
            <a:r>
              <a:rPr lang="en-US">
                <a:solidFill>
                  <a:srgbClr val="404040"/>
                </a:solidFill>
                <a:latin typeface="思源黑体" panose="020B0500000000000000" charset="-122"/>
                <a:ea typeface="思源黑体" panose="020B0500000000000000" charset="-122"/>
                <a:cs typeface="思源黑体" panose="020B0500000000000000" charset="-122"/>
                <a:sym typeface="思源黑体" panose="020B0500000000000000" charset="-122"/>
              </a:rPr>
              <a:t>Then 系统应在新增数据满足条件时自动启动训练任务，并发送邮件通知我训练已开始。</a:t>
            </a:r>
            <a:endParaRPr lang="en-US">
              <a:solidFill>
                <a:srgbClr val="404040"/>
              </a:solidFill>
              <a:latin typeface="思源黑体" panose="020B0500000000000000" charset="-122"/>
              <a:ea typeface="思源黑体" panose="020B0500000000000000" charset="-122"/>
              <a:cs typeface="思源黑体" panose="020B0500000000000000" charset="-122"/>
              <a:sym typeface="思源黑体" panose="020B05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6355080"/>
            <a:ext cx="18335625" cy="3931918"/>
            <a:chOff x="0" y="0"/>
            <a:chExt cx="24447500" cy="52425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47500" cy="5242560"/>
            </a:xfrm>
            <a:custGeom>
              <a:avLst/>
              <a:gdLst/>
              <a:ahLst/>
              <a:cxnLst/>
              <a:rect l="l" t="t" r="r" b="b"/>
              <a:pathLst>
                <a:path w="24447500" h="5242560">
                  <a:moveTo>
                    <a:pt x="24447500" y="0"/>
                  </a:moveTo>
                  <a:lnTo>
                    <a:pt x="24447500" y="5242560"/>
                  </a:lnTo>
                  <a:lnTo>
                    <a:pt x="0" y="5242560"/>
                  </a:lnTo>
                  <a:lnTo>
                    <a:pt x="0" y="0"/>
                  </a:lnTo>
                  <a:lnTo>
                    <a:pt x="197866" y="310134"/>
                  </a:lnTo>
                  <a:cubicBezTo>
                    <a:pt x="1047369" y="1287399"/>
                    <a:pt x="3036316" y="1973199"/>
                    <a:pt x="5354320" y="1973199"/>
                  </a:cubicBezTo>
                  <a:lnTo>
                    <a:pt x="6627622" y="1973199"/>
                  </a:lnTo>
                  <a:cubicBezTo>
                    <a:pt x="9718294" y="1973199"/>
                    <a:pt x="12223750" y="3192272"/>
                    <a:pt x="12223750" y="4696206"/>
                  </a:cubicBezTo>
                  <a:cubicBezTo>
                    <a:pt x="12223750" y="3192399"/>
                    <a:pt x="14729206" y="1973199"/>
                    <a:pt x="17819878" y="1973199"/>
                  </a:cubicBezTo>
                  <a:lnTo>
                    <a:pt x="19093180" y="1973199"/>
                  </a:lnTo>
                  <a:cubicBezTo>
                    <a:pt x="21411185" y="1973199"/>
                    <a:pt x="23400004" y="1287399"/>
                    <a:pt x="24249635" y="310134"/>
                  </a:cubicBezTo>
                  <a:close/>
                </a:path>
              </a:pathLst>
            </a:custGeom>
            <a:solidFill>
              <a:srgbClr val="001F5E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3705895" y="3491032"/>
            <a:ext cx="11387735" cy="3314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60"/>
              </a:lnSpc>
            </a:pPr>
            <a:r>
              <a:rPr lang="en-US" sz="10800" b="1">
                <a:solidFill>
                  <a:srgbClr val="001F5E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谢谢大家的观看！</a:t>
            </a:r>
            <a:endParaRPr lang="en-US" sz="10800" b="1">
              <a:solidFill>
                <a:srgbClr val="001F5E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思源黑体 Bold" panose="020B0800000000000000" charset="-122"/>
            </a:endParaRPr>
          </a:p>
          <a:p>
            <a:pPr algn="ctr">
              <a:lnSpc>
                <a:spcPts val="12960"/>
              </a:lnSpc>
            </a:pPr>
            <a:r>
              <a:rPr lang="en-US" sz="10800" b="1">
                <a:solidFill>
                  <a:srgbClr val="001F5E"/>
                </a:solidFill>
                <a:latin typeface="思源黑体 Bold" panose="020B0800000000000000" charset="-122"/>
                <a:ea typeface="思源黑体 Bold" panose="020B0800000000000000" charset="-122"/>
                <a:cs typeface="思源黑体 Bold" panose="020B0800000000000000" charset="-122"/>
                <a:sym typeface="思源黑体 Bold" panose="020B0800000000000000" charset="-122"/>
              </a:rPr>
              <a:t>非常感谢！</a:t>
            </a:r>
            <a:endParaRPr lang="en-US" sz="10800" b="1">
              <a:solidFill>
                <a:srgbClr val="001F5E"/>
              </a:solidFill>
              <a:latin typeface="思源黑体 Bold" panose="020B0800000000000000" charset="-122"/>
              <a:ea typeface="思源黑体 Bold" panose="020B0800000000000000" charset="-122"/>
              <a:cs typeface="思源黑体 Bold" panose="020B0800000000000000" charset="-122"/>
              <a:sym typeface="思源黑体 Bold" panose="020B08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 rot="10765910">
            <a:off x="1406356" y="5396230"/>
            <a:ext cx="2881645" cy="0"/>
          </a:xfrm>
          <a:prstGeom prst="line">
            <a:avLst/>
          </a:prstGeom>
          <a:ln w="19050" cap="rnd">
            <a:solidFill>
              <a:srgbClr val="001F5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10765910">
            <a:off x="13546540" y="5396230"/>
            <a:ext cx="2881645" cy="0"/>
          </a:xfrm>
          <a:prstGeom prst="line">
            <a:avLst/>
          </a:prstGeom>
          <a:ln w="19050" cap="rnd">
            <a:solidFill>
              <a:srgbClr val="001F5E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0.0195275590551,&quot;left&quot;:282.14314960629923,&quot;top&quot;:284.17496062992126,&quot;width&quot;:907.0303937007873}"/>
</p:tagLst>
</file>

<file path=ppt/tags/tag2.xml><?xml version="1.0" encoding="utf-8"?>
<p:tagLst xmlns:p="http://schemas.openxmlformats.org/presentationml/2006/main">
  <p:tag name="KSO_WM_DIAGRAM_VIRTUALLY_FRAME" val="{&quot;height&quot;:230.0195275590551,&quot;left&quot;:282.14314960629923,&quot;top&quot;:284.17496062992126,&quot;width&quot;:907.0303937007873}"/>
</p:tagLst>
</file>

<file path=ppt/tags/tag3.xml><?xml version="1.0" encoding="utf-8"?>
<p:tagLst xmlns:p="http://schemas.openxmlformats.org/presentationml/2006/main">
  <p:tag name="KSO_WM_DIAGRAM_VIRTUALLY_FRAME" val="{&quot;height&quot;:230.0195275590551,&quot;left&quot;:282.14314960629923,&quot;top&quot;:284.17496062992126,&quot;width&quot;:907.0303937007873}"/>
</p:tagLst>
</file>

<file path=ppt/tags/tag4.xml><?xml version="1.0" encoding="utf-8"?>
<p:tagLst xmlns:p="http://schemas.openxmlformats.org/presentationml/2006/main">
  <p:tag name="KSO_WM_DIAGRAM_VIRTUALLY_FRAME" val="{&quot;height&quot;:230.0195275590551,&quot;left&quot;:282.14314960629923,&quot;top&quot;:284.17496062992126,&quot;width&quot;:907.0303937007873}"/>
</p:tagLst>
</file>

<file path=ppt/tags/tag5.xml><?xml version="1.0" encoding="utf-8"?>
<p:tagLst xmlns:p="http://schemas.openxmlformats.org/presentationml/2006/main">
  <p:tag name="KSO_WM_DIAGRAM_VIRTUALLY_FRAME" val="{&quot;height&quot;:230.0195275590551,&quot;left&quot;:282.14314960629923,&quot;top&quot;:284.17496062992126,&quot;width&quot;:907.0303937007873}"/>
</p:tagLst>
</file>

<file path=ppt/tags/tag6.xml><?xml version="1.0" encoding="utf-8"?>
<p:tagLst xmlns:p="http://schemas.openxmlformats.org/presentationml/2006/main">
  <p:tag name="KSO_WM_DIAGRAM_VIRTUALLY_FRAME" val="{&quot;height&quot;:230.0195275590551,&quot;left&quot;:282.14314960629923,&quot;top&quot;:284.17496062992126,&quot;width&quot;:907.0303937007873}"/>
</p:tagLst>
</file>

<file path=ppt/tags/tag7.xml><?xml version="1.0" encoding="utf-8"?>
<p:tagLst xmlns:p="http://schemas.openxmlformats.org/presentationml/2006/main">
  <p:tag name="KSO_WM_DIAGRAM_VIRTUALLY_FRAME" val="{&quot;height&quot;:230.0195275590551,&quot;left&quot;:282.14314960629923,&quot;top&quot;:284.17496062992126,&quot;width&quot;:907.0303937007873}"/>
</p:tagLst>
</file>

<file path=ppt/tags/tag8.xml><?xml version="1.0" encoding="utf-8"?>
<p:tagLst xmlns:p="http://schemas.openxmlformats.org/presentationml/2006/main">
  <p:tag name="KSO_WM_DIAGRAM_VIRTUALLY_FRAME" val="{&quot;height&quot;:230.0195275590551,&quot;left&quot;:282.14314960629923,&quot;top&quot;:284.17496062992126,&quot;width&quot;:907.0303937007873}"/>
</p:tagLst>
</file>

<file path=ppt/tags/tag9.xml><?xml version="1.0" encoding="utf-8"?>
<p:tagLst xmlns:p="http://schemas.openxmlformats.org/presentationml/2006/main">
  <p:tag name="KSO_WM_DIAGRAM_VIRTUALLY_FRAME" val="{&quot;height&quot;:230.0195275590551,&quot;left&quot;:282.14314960629923,&quot;top&quot;:284.17496062992126,&quot;width&quot;:907.0303937007873}"/>
</p:tagLst>
</file>

<file path=ppt/tags/tag10.xml><?xml version="1.0" encoding="utf-8"?>
<p:tagLst xmlns:p="http://schemas.openxmlformats.org/presentationml/2006/main">
  <p:tag name="KSO_WM_DIAGRAM_VIRTUALLY_FRAME" val="{&quot;height&quot;:230.0195275590551,&quot;left&quot;:282.14314960629923,&quot;top&quot;:284.17496062992126,&quot;width&quot;:907.0303937007873}"/>
</p:tagLst>
</file>

<file path=ppt/tags/tag11.xml><?xml version="1.0" encoding="utf-8"?>
<p:tagLst xmlns:p="http://schemas.openxmlformats.org/presentationml/2006/main">
  <p:tag name="KSO_WM_DIAGRAM_VIRTUALLY_FRAME" val="{&quot;height&quot;:230.0195275590551,&quot;left&quot;:282.14314960629923,&quot;top&quot;:284.17496062992126,&quot;width&quot;:907.0303937007873}"/>
</p:tagLst>
</file>

<file path=ppt/tags/tag12.xml><?xml version="1.0" encoding="utf-8"?>
<p:tagLst xmlns:p="http://schemas.openxmlformats.org/presentationml/2006/main">
  <p:tag name="KSO_WM_DIAGRAM_VIRTUALLY_FRAME" val="{&quot;height&quot;:230.0195275590551,&quot;left&quot;:282.14314960629923,&quot;top&quot;:284.17496062992126,&quot;width&quot;:907.0303937007873}"/>
</p:tagLst>
</file>

<file path=ppt/tags/tag13.xml><?xml version="1.0" encoding="utf-8"?>
<p:tagLst xmlns:p="http://schemas.openxmlformats.org/presentationml/2006/main">
  <p:tag name="KSO_WM_DIAGRAM_VIRTUALLY_FRAME" val="{&quot;height&quot;:230.0195275590551,&quot;left&quot;:282.14314960629923,&quot;top&quot;:284.17496062992126,&quot;width&quot;:907.0303937007873}"/>
</p:tagLst>
</file>

<file path=ppt/tags/tag14.xml><?xml version="1.0" encoding="utf-8"?>
<p:tagLst xmlns:p="http://schemas.openxmlformats.org/presentationml/2006/main">
  <p:tag name="KSO_WM_DIAGRAM_VIRTUALLY_FRAME" val="{&quot;height&quot;:230.0195275590551,&quot;left&quot;:282.14314960629923,&quot;top&quot;:284.17496062992126,&quot;width&quot;:907.0303937007873}"/>
</p:tagLst>
</file>

<file path=ppt/tags/tag15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6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7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8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9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20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21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22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23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24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25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26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27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28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29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30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31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32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33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34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35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36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37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38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39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40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41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42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43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44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45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46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47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48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49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50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51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52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53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54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55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56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57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58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59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60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61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62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63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64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65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66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67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68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69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70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71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72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73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74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75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76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77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78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79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80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81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82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83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84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85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86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87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88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89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90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91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92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93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94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95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96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97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98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99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00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01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02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03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04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05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06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07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08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09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10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11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12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13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14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15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16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17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18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19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20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21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22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23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24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25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26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27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28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29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30.xml><?xml version="1.0" encoding="utf-8"?>
<p:tagLst xmlns:p="http://schemas.openxmlformats.org/presentationml/2006/main">
  <p:tag name="KSO_WM_DIAGRAM_VIRTUALLY_FRAME" val="{&quot;height&quot;:677.2986251854597,&quot;left&quot;:72.99086614173227,&quot;top&quot;:134.11031446251545,&quot;width&quot;:1333.3998275260033}"/>
</p:tagLst>
</file>

<file path=ppt/tags/tag131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32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33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34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35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36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37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38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39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40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41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42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43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44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45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46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47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48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49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50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51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52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53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54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55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56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57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58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59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60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61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62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63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64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65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66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67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68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69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70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71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72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73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74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75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76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77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78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79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80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81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82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83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84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85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86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87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88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89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90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91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92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93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94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95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96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97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98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199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00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01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02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03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04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05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06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07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08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09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10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11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12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13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14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15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16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17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18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19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20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21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22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23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24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25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26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27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28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29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30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31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32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33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34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35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36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37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38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39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40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41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42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43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44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45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46.xml><?xml version="1.0" encoding="utf-8"?>
<p:tagLst xmlns:p="http://schemas.openxmlformats.org/presentationml/2006/main">
  <p:tag name="KSO_WM_DIAGRAM_VIRTUALLY_FRAME" val="{&quot;height&quot;:622.95,&quot;left&quot;:72.54086614173227,&quot;top&quot;:134.9882677165355,&quot;width&quot;:1262.0005511811023}"/>
</p:tagLst>
</file>

<file path=ppt/tags/tag247.xml><?xml version="1.0" encoding="utf-8"?>
<p:tagLst xmlns:p="http://schemas.openxmlformats.org/presentationml/2006/main">
  <p:tag name="commondata" val="eyJoZGlkIjoiZTY5ZTNjZGVmYmY5ZDc1MjcyMmEzMTk5ODY5NDU0NT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2957</Words>
  <Application>WPS 演示</Application>
  <PresentationFormat>On-screen Show (4:3)</PresentationFormat>
  <Paragraphs>276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思源黑体 Bold</vt:lpstr>
      <vt:lpstr>黑体</vt:lpstr>
      <vt:lpstr>思源黑体</vt:lpstr>
      <vt:lpstr>Arimo Bold</vt:lpstr>
      <vt:lpstr>Arial</vt:lpstr>
      <vt:lpstr>微软雅黑</vt:lpstr>
      <vt:lpstr>Arial Unicode MS</vt:lpstr>
      <vt:lpstr>Calibri</vt:lpstr>
      <vt:lpstr>-apple-system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基于机器学习的零件智能分类与推荐系统.pptx</dc:title>
  <dc:creator/>
  <cp:lastModifiedBy>EGOIST</cp:lastModifiedBy>
  <cp:revision>4</cp:revision>
  <dcterms:created xsi:type="dcterms:W3CDTF">2006-08-16T00:00:00Z</dcterms:created>
  <dcterms:modified xsi:type="dcterms:W3CDTF">2025-09-28T07:12:56Z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702F8197B40742FCAED7742454DEC291_13</vt:lpwstr>
  </property>
  <property fmtid="{D5CDD505-2E9C-101B-9397-08002B2CF9AE}" pid="3" name="KSOProductBuildVer">
    <vt:lpwstr>2052-12.1.0.18276</vt:lpwstr>
  </property>
</Properties>
</file>