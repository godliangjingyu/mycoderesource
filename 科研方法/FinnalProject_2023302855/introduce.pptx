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3"/>
  </p:notesMasterIdLst>
  <p:sldIdLst>
    <p:sldId id="256" r:id="rId4"/>
    <p:sldId id="264" r:id="rId5"/>
    <p:sldId id="258" r:id="rId6"/>
    <p:sldId id="267" r:id="rId7"/>
    <p:sldId id="259" r:id="rId8"/>
    <p:sldId id="260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 showGuides="1">
      <p:cViewPr varScale="1">
        <p:scale>
          <a:sx n="84" d="100"/>
          <a:sy n="84" d="100"/>
        </p:scale>
        <p:origin x="1278" y="60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svg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2.png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4.png"/><Relationship Id="rId2" Type="http://schemas.openxmlformats.org/officeDocument/2006/relationships/tags" Target="../tags/tag20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4.png"/><Relationship Id="rId2" Type="http://schemas.openxmlformats.org/officeDocument/2006/relationships/tags" Target="../tags/tag29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image" Target="../media/image5.png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image" Target="../media/image1.png"/><Relationship Id="rId2" Type="http://schemas.openxmlformats.org/officeDocument/2006/relationships/tags" Target="../tags/tag82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演示文稿2_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395764" y="3776028"/>
            <a:ext cx="5189696" cy="2762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pic>
        <p:nvPicPr>
          <p:cNvPr id="20" name="그래픽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74764"/>
          <a:stretch>
            <a:fillRect/>
          </a:stretch>
        </p:blipFill>
        <p:spPr>
          <a:xfrm>
            <a:off x="395831" y="605747"/>
            <a:ext cx="3236459" cy="184666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713261" y="5417911"/>
            <a:ext cx="73716" cy="737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639431" y="5417911"/>
            <a:ext cx="73716" cy="7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385286" y="5672138"/>
            <a:ext cx="2563178" cy="3371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05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2"/>
            </p:custDataLst>
          </p:nvPr>
        </p:nvSpPr>
        <p:spPr>
          <a:xfrm>
            <a:off x="385286" y="3015218"/>
            <a:ext cx="6238399" cy="11444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600" b="0" i="1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391478" y="2421652"/>
            <a:ext cx="6232684" cy="345281"/>
          </a:xfrm>
          <a:prstGeom prst="rect">
            <a:avLst/>
          </a:prstGeom>
          <a:noFill/>
          <a:ln>
            <a:noFill/>
          </a:ln>
        </p:spPr>
        <p:txBody>
          <a:bodyPr wrap="square" lIns="10795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1" u="none" strike="noStrike" kern="1200" cap="none" spc="130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81363" y="610549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72562" y="48994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4"/>
            </p:custDataLst>
          </p:nvPr>
        </p:nvSpPr>
        <p:spPr>
          <a:xfrm>
            <a:off x="456300" y="1902652"/>
            <a:ext cx="8226900" cy="372595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2_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 26"/>
          <p:cNvSpPr/>
          <p:nvPr userDrawn="1">
            <p:custDataLst>
              <p:tags r:id="rId5"/>
            </p:custDataLst>
          </p:nvPr>
        </p:nvSpPr>
        <p:spPr>
          <a:xfrm>
            <a:off x="495301" y="1079341"/>
            <a:ext cx="2387859" cy="242888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8" name="直角三角形 7"/>
          <p:cNvSpPr/>
          <p:nvPr userDrawn="1">
            <p:custDataLst>
              <p:tags r:id="rId6"/>
            </p:custDataLst>
          </p:nvPr>
        </p:nvSpPr>
        <p:spPr>
          <a:xfrm flipH="1">
            <a:off x="2686050" y="1151586"/>
            <a:ext cx="109105" cy="1091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pic>
        <p:nvPicPr>
          <p:cNvPr id="20" name="그래픽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74764"/>
          <a:stretch>
            <a:fillRect/>
          </a:stretch>
        </p:blipFill>
        <p:spPr>
          <a:xfrm flipH="1">
            <a:off x="5445986" y="1069932"/>
            <a:ext cx="3236459" cy="184666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548644" y="720427"/>
            <a:ext cx="1074167" cy="55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 marL="0" marR="0" lvl="0" algn="di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50" b="0" i="1" u="none" strike="noStrike" kern="1200" cap="none" spc="0" normalizeH="0" baseline="0" noProof="1" dirty="0">
                <a:ln w="3175">
                  <a:noFill/>
                </a:ln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dist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2_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7" name="그래픽 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74764"/>
          <a:stretch>
            <a:fillRect/>
          </a:stretch>
        </p:blipFill>
        <p:spPr>
          <a:xfrm>
            <a:off x="803025" y="922612"/>
            <a:ext cx="3236459" cy="184666"/>
          </a:xfrm>
          <a:prstGeom prst="rect">
            <a:avLst/>
          </a:prstGeom>
        </p:spPr>
      </p:pic>
      <p:sp>
        <p:nvSpPr>
          <p:cNvPr id="29" name="矩形 28"/>
          <p:cNvSpPr/>
          <p:nvPr userDrawn="1">
            <p:custDataLst>
              <p:tags r:id="rId8"/>
            </p:custDataLst>
          </p:nvPr>
        </p:nvSpPr>
        <p:spPr>
          <a:xfrm>
            <a:off x="689746" y="5874539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30" name="矩形 29"/>
          <p:cNvSpPr/>
          <p:nvPr userDrawn="1">
            <p:custDataLst>
              <p:tags r:id="rId9"/>
            </p:custDataLst>
          </p:nvPr>
        </p:nvSpPr>
        <p:spPr>
          <a:xfrm>
            <a:off x="880944" y="575393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27" name="矩形 26"/>
          <p:cNvSpPr/>
          <p:nvPr userDrawn="1">
            <p:custDataLst>
              <p:tags r:id="rId10"/>
            </p:custDataLst>
          </p:nvPr>
        </p:nvSpPr>
        <p:spPr>
          <a:xfrm>
            <a:off x="5184458" y="4790678"/>
            <a:ext cx="3223260" cy="184309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11"/>
            </p:custDataLst>
          </p:nvPr>
        </p:nvSpPr>
        <p:spPr>
          <a:xfrm>
            <a:off x="3564903" y="1494981"/>
            <a:ext cx="4842815" cy="2141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0500" b="0" i="1" u="none" strike="noStrike" kern="1200" cap="none" spc="0" normalizeH="0" baseline="0" noProof="1" dirty="0">
                <a:ln w="3175"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 err="1">
                <a:sym typeface="+mn-ea"/>
              </a:rPr>
              <a:t>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3564903" y="4066548"/>
            <a:ext cx="4842815" cy="1063369"/>
          </a:xfrm>
          <a:prstGeom prst="rect">
            <a:avLst/>
          </a:prstGeom>
          <a:noFill/>
        </p:spPr>
        <p:txBody>
          <a:bodyPr wrap="square" lIns="0" tIns="0" rIns="7200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950" b="0" i="1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单击编辑标题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4800604" y="2085262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456300" y="2085262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281363" y="610549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472562" y="48994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文"/>
          <p:cNvSpPr txBox="1">
            <a:spLocks noGrp="1"/>
          </p:cNvSpPr>
          <p:nvPr>
            <p:ph idx="7"/>
            <p:custDataLst>
              <p:tags r:id="rId2"/>
            </p:custDataLst>
          </p:nvPr>
        </p:nvSpPr>
        <p:spPr>
          <a:xfrm>
            <a:off x="4676787" y="2344702"/>
            <a:ext cx="4006394" cy="329636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3"/>
            </p:custDataLst>
          </p:nvPr>
        </p:nvSpPr>
        <p:spPr>
          <a:xfrm>
            <a:off x="4676686" y="1992463"/>
            <a:ext cx="4006285" cy="333817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/>
            <p:custDataLst>
              <p:tags r:id="rId4"/>
            </p:custDataLst>
          </p:nvPr>
        </p:nvSpPr>
        <p:spPr>
          <a:xfrm>
            <a:off x="456187" y="2344702"/>
            <a:ext cx="4006394" cy="329636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5"/>
            </p:custDataLst>
          </p:nvPr>
        </p:nvSpPr>
        <p:spPr>
          <a:xfrm>
            <a:off x="456134" y="1992463"/>
            <a:ext cx="4006285" cy="333817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281363" y="610549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472562" y="48994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8"/>
            </p:custDataLst>
          </p:nvPr>
        </p:nvSpPr>
        <p:spPr>
          <a:xfrm>
            <a:off x="521100" y="45000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81363" y="610549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472562" y="48994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472562" y="48994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281363" y="610549"/>
            <a:ext cx="191198" cy="1911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81363" y="610549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72562" y="48994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521970" y="1087279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81363" y="610549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472562" y="489945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521970" y="1352444"/>
            <a:ext cx="8099316" cy="3041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0" i="0" u="none" strike="noStrike" kern="1200" cap="none" spc="30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2_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 26"/>
          <p:cNvSpPr/>
          <p:nvPr userDrawn="1">
            <p:custDataLst>
              <p:tags r:id="rId5"/>
            </p:custDataLst>
          </p:nvPr>
        </p:nvSpPr>
        <p:spPr>
          <a:xfrm>
            <a:off x="395764" y="3776028"/>
            <a:ext cx="5189696" cy="2762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pic>
        <p:nvPicPr>
          <p:cNvPr id="20" name="그래픽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 t="74764"/>
          <a:stretch>
            <a:fillRect/>
          </a:stretch>
        </p:blipFill>
        <p:spPr>
          <a:xfrm>
            <a:off x="395831" y="605747"/>
            <a:ext cx="3236459" cy="184666"/>
          </a:xfrm>
          <a:prstGeom prst="rect">
            <a:avLst/>
          </a:prstGeom>
        </p:spPr>
      </p:pic>
      <p:sp>
        <p:nvSpPr>
          <p:cNvPr id="21" name="矩形 20"/>
          <p:cNvSpPr/>
          <p:nvPr userDrawn="1">
            <p:custDataLst>
              <p:tags r:id="rId8"/>
            </p:custDataLst>
          </p:nvPr>
        </p:nvSpPr>
        <p:spPr>
          <a:xfrm>
            <a:off x="713261" y="5418144"/>
            <a:ext cx="73716" cy="737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23" name="矩形 22"/>
          <p:cNvSpPr/>
          <p:nvPr userDrawn="1">
            <p:custDataLst>
              <p:tags r:id="rId9"/>
            </p:custDataLst>
          </p:nvPr>
        </p:nvSpPr>
        <p:spPr>
          <a:xfrm>
            <a:off x="639431" y="5417911"/>
            <a:ext cx="73716" cy="7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0"/>
            </p:custDataLst>
          </p:nvPr>
        </p:nvSpPr>
        <p:spPr>
          <a:xfrm>
            <a:off x="385286" y="5672138"/>
            <a:ext cx="1431608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05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385286" y="3015218"/>
            <a:ext cx="5565458" cy="11444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600" b="0" i="1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102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image" Target="../media/image4.png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2_0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lum contrast="12000"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14"/>
            </p:custDataLst>
          </p:nvPr>
        </p:nvSpPr>
        <p:spPr>
          <a:xfrm flipH="1">
            <a:off x="0" y="857250"/>
            <a:ext cx="9144000" cy="5143500"/>
          </a:xfrm>
          <a:prstGeom prst="rect">
            <a:avLst/>
          </a:prstGeom>
          <a:gradFill>
            <a:gsLst>
              <a:gs pos="100000">
                <a:schemeClr val="accent1">
                  <a:alpha val="30000"/>
                </a:schemeClr>
              </a:gs>
              <a:gs pos="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 userDrawn="1">
            <p:custDataLst>
              <p:tags r:id="rId15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3" name="矩形 12"/>
          <p:cNvSpPr/>
          <p:nvPr userDrawn="1">
            <p:custDataLst>
              <p:tags r:id="rId16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cs typeface="MiSans" panose="000005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cs typeface="MiSans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cs typeface="MiSans" panose="000005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Tx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Char char="●"/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Char char="●"/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charset="0"/>
              <a:buChar char=""/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2400" b="0" i="0" u="none" strike="noStrike" kern="1200" cap="none" spc="300" normalizeH="0" baseline="0" smtClean="0">
          <a:ln>
            <a:noFill/>
            <a:prstDash val="sysDot"/>
          </a:ln>
          <a:solidFill>
            <a:srgbClr val="FFFFFF"/>
          </a:solidFill>
          <a:latin typeface="+mj-ea"/>
          <a:ea typeface="+mj-ea"/>
          <a:cs typeface="MiSans" panose="00000500000000000000" charset="-122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0" lang="zh-CN" altLang="en-US" sz="1350" b="0" i="0" u="none" strike="noStrike" kern="1200" cap="none" spc="150" normalizeH="0" baseline="0" dirty="0" smtClean="0">
          <a:ln>
            <a:noFill/>
            <a:prstDash val="sysDot"/>
          </a:ln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05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05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5490" y="1052830"/>
            <a:ext cx="7772400" cy="300863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ctr">
              <a:buNone/>
            </a:pPr>
            <a:r>
              <a:rPr sz="3500">
                <a:solidFill>
                  <a:schemeClr val="tx1"/>
                </a:solidFill>
              </a:rPr>
              <a:t>Progress in Deep Learning for Remote Sensing Image Classification: A Comprehensive Overview</a:t>
            </a:r>
            <a:endParaRPr sz="350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42360" y="4705350"/>
            <a:ext cx="5367020" cy="88201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 sz="1200">
                <a:solidFill>
                  <a:schemeClr val="tx1"/>
                </a:solidFill>
              </a:rPr>
              <a:t>Liang Jingyu</a:t>
            </a:r>
            <a:endParaRPr sz="120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sz="1200">
                <a:sym typeface="+mn-ea"/>
              </a:rPr>
              <a:t>Northwestern Polytechnical University</a:t>
            </a:r>
            <a:endParaRPr sz="1200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96118" y="3908108"/>
            <a:ext cx="7772400" cy="150018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548640" y="720725"/>
            <a:ext cx="3157220" cy="553085"/>
          </a:xfrm>
        </p:spPr>
        <p:txBody>
          <a:bodyPr/>
          <a:p>
            <a:r>
              <a:rPr altLang="en-US"/>
              <a:t>Contents</a:t>
            </a:r>
            <a:endParaRPr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4325620" y="24161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n"/>
            </a:pPr>
            <a:r>
              <a:rPr lang="en-US" altLang="zh-CN">
                <a:solidFill>
                  <a:schemeClr val="tx1"/>
                </a:solidFill>
              </a:rPr>
              <a:t>introduction</a:t>
            </a:r>
            <a:endParaRPr lang="en-US" altLang="zh-CN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n"/>
            </a:pPr>
            <a:r>
              <a:rPr lang="en-US" altLang="zh-CN">
                <a:solidFill>
                  <a:schemeClr val="tx1"/>
                </a:solidFill>
              </a:rPr>
              <a:t>background</a:t>
            </a:r>
            <a:endParaRPr lang="en-US" altLang="zh-CN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n"/>
            </a:pPr>
            <a:r>
              <a:rPr lang="en-US" altLang="zh-CN">
                <a:solidFill>
                  <a:schemeClr val="tx1"/>
                </a:solidFill>
              </a:rPr>
              <a:t>progress</a:t>
            </a:r>
            <a:endParaRPr lang="en-US" altLang="zh-CN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n"/>
            </a:pPr>
            <a:r>
              <a:rPr lang="en-US" altLang="zh-CN">
                <a:solidFill>
                  <a:schemeClr val="tx1"/>
                </a:solidFill>
              </a:rPr>
              <a:t>challenges</a:t>
            </a:r>
            <a:endParaRPr lang="en-US" altLang="zh-CN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n"/>
            </a:pPr>
            <a:r>
              <a:rPr lang="en-US" altLang="zh-CN">
                <a:solidFill>
                  <a:schemeClr val="tx1"/>
                </a:solidFill>
              </a:rPr>
              <a:t>conclusion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Introduction</a:t>
            </a:r>
            <a:endParaRPr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1970" y="1323975"/>
            <a:ext cx="8238490" cy="462026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charset="0"/>
              <a:buChar char="p"/>
            </a:pPr>
            <a:r>
              <a:rPr sz="2000" b="1">
                <a:solidFill>
                  <a:schemeClr val="tx1"/>
                </a:solidFill>
              </a:rPr>
              <a:t>Importance of Topic</a:t>
            </a:r>
            <a:r>
              <a:rPr sz="2000">
                <a:solidFill>
                  <a:schemeClr val="tx1"/>
                </a:solidFill>
              </a:rPr>
              <a:t>: Remote sensing technology is vital for applications like land-use mapping, urban planning, disaster management, and environmental monitoring.</a:t>
            </a:r>
            <a:endParaRPr sz="2000">
              <a:solidFill>
                <a:schemeClr val="tx1"/>
              </a:solidFill>
            </a:endParaRPr>
          </a:p>
          <a:p>
            <a:pPr lvl="1">
              <a:buFont typeface="Wingdings" panose="05000000000000000000" charset="0"/>
              <a:buChar char="p"/>
            </a:pPr>
            <a:endParaRPr sz="2000">
              <a:solidFill>
                <a:schemeClr val="tx1"/>
              </a:solidFill>
            </a:endParaRPr>
          </a:p>
          <a:p>
            <a:pPr lvl="1">
              <a:buFont typeface="Wingdings" panose="05000000000000000000" charset="0"/>
              <a:buChar char="p"/>
            </a:pPr>
            <a:r>
              <a:rPr sz="2000" b="1">
                <a:solidFill>
                  <a:schemeClr val="tx1"/>
                </a:solidFill>
              </a:rPr>
              <a:t>Main Methods from Papers</a:t>
            </a:r>
            <a:r>
              <a:rPr sz="2000">
                <a:solidFill>
                  <a:schemeClr val="tx1"/>
                </a:solidFill>
              </a:rPr>
              <a:t>: The reviewed papers focus on deep learning, particularly Convolutional Neural Networks (CNNs), for image classification in remote sensing.</a:t>
            </a:r>
            <a:endParaRPr sz="2000">
              <a:solidFill>
                <a:schemeClr val="tx1"/>
              </a:solidFill>
            </a:endParaRPr>
          </a:p>
          <a:p>
            <a:pPr lvl="1">
              <a:buFont typeface="Wingdings" panose="05000000000000000000" charset="0"/>
              <a:buChar char="p"/>
            </a:pPr>
            <a:endParaRPr sz="2000">
              <a:solidFill>
                <a:schemeClr val="tx1"/>
              </a:solidFill>
            </a:endParaRPr>
          </a:p>
          <a:p>
            <a:pPr lvl="1">
              <a:buFont typeface="Wingdings" panose="05000000000000000000" charset="0"/>
              <a:buChar char="p"/>
            </a:pPr>
            <a:r>
              <a:rPr sz="2000" b="1">
                <a:solidFill>
                  <a:schemeClr val="tx1"/>
                </a:solidFill>
              </a:rPr>
              <a:t>Summary/Suggestions</a:t>
            </a:r>
            <a:r>
              <a:rPr sz="2000">
                <a:solidFill>
                  <a:schemeClr val="tx1"/>
                </a:solidFill>
              </a:rPr>
              <a:t>: The field has seen significant progress in multi-scale feature extraction, attention mechanisms, and transfer learning. Future work should focus on addressing the challenges of limited training data, computational efficiency, multimodal data fusion, and interpretability.</a:t>
            </a:r>
            <a:endParaRPr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1970" y="1759585"/>
            <a:ext cx="8091805" cy="39300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/>
            <a:r>
              <a:rPr sz="2000" b="1">
                <a:sym typeface="+mn-ea"/>
              </a:rPr>
              <a:t>Key Insights</a:t>
            </a:r>
            <a:r>
              <a:rPr sz="2000">
                <a:sym typeface="+mn-ea"/>
              </a:rPr>
              <a:t>:</a:t>
            </a:r>
            <a:endParaRPr sz="20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Deep learning has revolutionized remote sensing by enabling automatic feature extraction from raw pixel data, overcoming the limitations of traditional handcrafted features.</a:t>
            </a:r>
            <a:endParaRPr sz="20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CNNs are particularly effective at capturing spatial hierarchies and context in remote sensing images.</a:t>
            </a:r>
            <a:endParaRPr sz="20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Special network architectures and training methods are needed to address the unique challenges of remote sensing data, such as high spectral channels, varying spatial resolutions, and complex scenes.</a:t>
            </a:r>
            <a:endParaRPr lang="zh-CN" altLang="en-US" sz="2000"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21970" y="45000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400" b="0" i="0" u="none" strike="noStrike" kern="1200" cap="none" spc="300" normalizeH="0" baseline="0" smtClean="0">
                <a:ln>
                  <a:noFill/>
                  <a:prstDash val="sysDot"/>
                </a:ln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Introduction</a:t>
            </a:r>
            <a:endParaRPr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Background: CNN Fundamentals</a:t>
            </a:r>
            <a:endParaRPr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1750" y="1360170"/>
            <a:ext cx="8930640" cy="460819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sz="1900" b="1">
                <a:solidFill>
                  <a:schemeClr val="tx1"/>
                </a:solidFill>
              </a:rPr>
              <a:t>Convolutional Neural Networks (CNNs)</a:t>
            </a:r>
            <a:r>
              <a:rPr sz="1900">
                <a:solidFill>
                  <a:schemeClr val="tx1"/>
                </a:solidFill>
              </a:rPr>
              <a:t> are designed for grid-like data like images.</a:t>
            </a:r>
            <a:endParaRPr sz="190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sz="1900" b="1">
                <a:solidFill>
                  <a:schemeClr val="tx1"/>
                </a:solidFill>
              </a:rPr>
              <a:t>Key Components</a:t>
            </a:r>
            <a:r>
              <a:rPr sz="1900">
                <a:solidFill>
                  <a:schemeClr val="tx1"/>
                </a:solidFill>
              </a:rPr>
              <a:t>:</a:t>
            </a:r>
            <a:endParaRPr sz="1900">
              <a:solidFill>
                <a:schemeClr val="tx1"/>
              </a:solidFill>
            </a:endParaRPr>
          </a:p>
          <a:p>
            <a:pPr lvl="2"/>
            <a:r>
              <a:rPr sz="1900" b="1">
                <a:solidFill>
                  <a:schemeClr val="tx1"/>
                </a:solidFill>
              </a:rPr>
              <a:t>Convolutional Layers</a:t>
            </a:r>
            <a:r>
              <a:rPr sz="1900">
                <a:solidFill>
                  <a:schemeClr val="tx1"/>
                </a:solidFill>
              </a:rPr>
              <a:t>: Act as feature detectors, identifying edges, corners, and textures.</a:t>
            </a:r>
            <a:endParaRPr sz="1900">
              <a:solidFill>
                <a:schemeClr val="tx1"/>
              </a:solidFill>
            </a:endParaRPr>
          </a:p>
          <a:p>
            <a:pPr lvl="2"/>
            <a:r>
              <a:rPr sz="1900" b="1">
                <a:solidFill>
                  <a:schemeClr val="tx1"/>
                </a:solidFill>
              </a:rPr>
              <a:t>Pooling Layers</a:t>
            </a:r>
            <a:r>
              <a:rPr sz="1900">
                <a:solidFill>
                  <a:schemeClr val="tx1"/>
                </a:solidFill>
              </a:rPr>
              <a:t>: Reduce the spatial dimensions of the data while retaining important features.</a:t>
            </a:r>
            <a:endParaRPr sz="1900">
              <a:solidFill>
                <a:schemeClr val="tx1"/>
              </a:solidFill>
            </a:endParaRPr>
          </a:p>
          <a:p>
            <a:pPr lvl="2"/>
            <a:r>
              <a:rPr sz="1900" b="1">
                <a:solidFill>
                  <a:schemeClr val="tx1"/>
                </a:solidFill>
              </a:rPr>
              <a:t>Fully-Connected Layers</a:t>
            </a:r>
            <a:r>
              <a:rPr sz="1900">
                <a:solidFill>
                  <a:schemeClr val="tx1"/>
                </a:solidFill>
              </a:rPr>
              <a:t>: Perform the final classification.</a:t>
            </a:r>
            <a:endParaRPr sz="190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sz="1900" b="1">
                <a:solidFill>
                  <a:schemeClr val="tx1"/>
                </a:solidFill>
              </a:rPr>
              <a:t>Training and Optimization</a:t>
            </a:r>
            <a:r>
              <a:rPr sz="1900">
                <a:solidFill>
                  <a:schemeClr val="tx1"/>
                </a:solidFill>
              </a:rPr>
              <a:t>:</a:t>
            </a:r>
            <a:endParaRPr sz="1900">
              <a:solidFill>
                <a:schemeClr val="tx1"/>
              </a:solidFill>
            </a:endParaRPr>
          </a:p>
          <a:p>
            <a:pPr lvl="2"/>
            <a:r>
              <a:rPr sz="1900">
                <a:solidFill>
                  <a:schemeClr val="tx1"/>
                </a:solidFill>
              </a:rPr>
              <a:t>The training process adjusts the network’s weights to minimize the difference between its predictions and the actual labels.</a:t>
            </a:r>
            <a:endParaRPr sz="1900">
              <a:solidFill>
                <a:schemeClr val="tx1"/>
              </a:solidFill>
            </a:endParaRPr>
          </a:p>
          <a:p>
            <a:pPr lvl="2"/>
            <a:r>
              <a:rPr sz="1900">
                <a:solidFill>
                  <a:schemeClr val="tx1"/>
                </a:solidFill>
              </a:rPr>
              <a:t>Techniques like data augmentation, dropout, batch normalization, and transfer learning are used to improve training stability and performance.</a:t>
            </a:r>
            <a:endParaRPr sz="19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Progress in CNN Architectures for Remote Sensing</a:t>
            </a:r>
            <a:endParaRPr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5" y="1296670"/>
            <a:ext cx="9181465" cy="483425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buClrTx/>
              <a:buSzTx/>
              <a:buNone/>
            </a:pPr>
            <a:r>
              <a:rPr sz="1700" b="1">
                <a:solidFill>
                  <a:schemeClr val="tx1"/>
                </a:solidFill>
              </a:rPr>
              <a:t>Multi-scale Feature Extraction:</a:t>
            </a:r>
            <a:endParaRPr sz="1700" b="1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sz="1700" b="1">
                <a:solidFill>
                  <a:schemeClr val="tx1"/>
                </a:solidFill>
              </a:rPr>
              <a:t>Addresses the challenge of detecting objects of various sizes in remote sensing images.</a:t>
            </a:r>
            <a:endParaRPr sz="1700" b="1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sz="1700" b="1">
                <a:solidFill>
                  <a:schemeClr val="tx1"/>
                </a:solidFill>
              </a:rPr>
              <a:t>Methods: Pyramid Pooling, Atrous Convolution, and Feature Pyramid Networks.</a:t>
            </a:r>
            <a:endParaRPr sz="1700" b="1">
              <a:solidFill>
                <a:schemeClr val="tx1"/>
              </a:solidFill>
            </a:endParaRPr>
          </a:p>
          <a:p>
            <a:pPr lvl="1" algn="l">
              <a:buClrTx/>
              <a:buSzTx/>
              <a:buNone/>
            </a:pPr>
            <a:r>
              <a:rPr sz="1700" b="1">
                <a:solidFill>
                  <a:schemeClr val="tx1"/>
                </a:solidFill>
              </a:rPr>
              <a:t>Attention Mechanisms:</a:t>
            </a:r>
            <a:endParaRPr sz="1700" b="1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sz="1700" b="1">
                <a:solidFill>
                  <a:schemeClr val="tx1"/>
                </a:solidFill>
              </a:rPr>
              <a:t>Allow the network to focus on the most important regions and features in an image.</a:t>
            </a:r>
            <a:endParaRPr sz="1700" b="1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sz="1700" b="1">
                <a:solidFill>
                  <a:schemeClr val="tx1"/>
                </a:solidFill>
              </a:rPr>
              <a:t>Types: Spatial attention and channel attention.</a:t>
            </a:r>
            <a:endParaRPr sz="1700" b="1">
              <a:solidFill>
                <a:schemeClr val="tx1"/>
              </a:solidFill>
            </a:endParaRPr>
          </a:p>
          <a:p>
            <a:pPr lvl="1" algn="l">
              <a:buClrTx/>
              <a:buSzTx/>
              <a:buNone/>
            </a:pPr>
            <a:r>
              <a:rPr sz="1700" b="1">
                <a:solidFill>
                  <a:schemeClr val="tx1"/>
                </a:solidFill>
              </a:rPr>
              <a:t>Transfer Learning and Domain Adaptation:</a:t>
            </a:r>
            <a:endParaRPr sz="1700" b="1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sz="1700" b="1">
                <a:solidFill>
                  <a:schemeClr val="tx1"/>
                </a:solidFill>
              </a:rPr>
              <a:t>Overcomes the scarcity of large, annotated remote sensing datasets by leveraging models pre-trained on large datasets like ImageNet.</a:t>
            </a:r>
            <a:endParaRPr sz="1700" b="1">
              <a:solidFill>
                <a:schemeClr val="tx1"/>
              </a:solidFill>
            </a:endParaRPr>
          </a:p>
          <a:p>
            <a:pPr lvl="1" algn="l">
              <a:buClrTx/>
              <a:buSzTx/>
              <a:buNone/>
            </a:pPr>
            <a:r>
              <a:rPr sz="1700" b="1">
                <a:solidFill>
                  <a:schemeClr val="tx1"/>
                </a:solidFill>
              </a:rPr>
              <a:t>Lightweight Network Architectures:</a:t>
            </a:r>
            <a:endParaRPr sz="1700" b="1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sz="1700" b="1">
                <a:solidFill>
                  <a:schemeClr val="tx1"/>
                </a:solidFill>
              </a:rPr>
              <a:t>Essential for deploying models on resource-constrained devices like satellites and drones.</a:t>
            </a:r>
            <a:endParaRPr sz="1700" b="1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sz="1700" b="1">
                <a:solidFill>
                  <a:schemeClr val="tx1"/>
                </a:solidFill>
              </a:rPr>
              <a:t>Techniques: Pruning, Quantization, and Knowledge Distillation.</a:t>
            </a:r>
            <a:endParaRPr sz="1700" b="1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Challenges and Future Directions</a:t>
            </a:r>
            <a:endParaRPr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3495" y="1225550"/>
            <a:ext cx="8756650" cy="471995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sz="1700" b="1">
                <a:solidFill>
                  <a:schemeClr val="tx1"/>
                </a:solidFill>
              </a:rPr>
              <a:t>Limited Training Data</a:t>
            </a:r>
            <a:r>
              <a:rPr sz="1700">
                <a:solidFill>
                  <a:schemeClr val="tx1"/>
                </a:solidFill>
              </a:rPr>
              <a:t>: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>
                <a:solidFill>
                  <a:schemeClr val="tx1"/>
                </a:solidFill>
              </a:rPr>
              <a:t>The lack of high-quality annotated data is a major bottleneck.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 b="1">
                <a:solidFill>
                  <a:schemeClr val="tx1"/>
                </a:solidFill>
              </a:rPr>
              <a:t>Future Direction</a:t>
            </a:r>
            <a:r>
              <a:rPr sz="1700">
                <a:solidFill>
                  <a:schemeClr val="tx1"/>
                </a:solidFill>
              </a:rPr>
              <a:t>: Self-supervised and weakly-supervised learning approaches.</a:t>
            </a:r>
            <a:endParaRPr sz="1700">
              <a:solidFill>
                <a:schemeClr val="tx1"/>
              </a:solidFill>
            </a:endParaRPr>
          </a:p>
          <a:p>
            <a:pPr lvl="1"/>
            <a:r>
              <a:rPr sz="1700" b="1">
                <a:solidFill>
                  <a:schemeClr val="tx1"/>
                </a:solidFill>
              </a:rPr>
              <a:t>Computational Efficiency</a:t>
            </a:r>
            <a:r>
              <a:rPr sz="1700">
                <a:solidFill>
                  <a:schemeClr val="tx1"/>
                </a:solidFill>
              </a:rPr>
              <a:t>: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>
                <a:solidFill>
                  <a:schemeClr val="tx1"/>
                </a:solidFill>
              </a:rPr>
              <a:t>Real-time, on</a:t>
            </a:r>
            <a:r>
              <a:rPr sz="1700" b="1">
                <a:solidFill>
                  <a:schemeClr val="tx1"/>
                </a:solidFill>
              </a:rPr>
              <a:t>-</a:t>
            </a:r>
            <a:r>
              <a:rPr sz="1700">
                <a:solidFill>
                  <a:schemeClr val="tx1"/>
                </a:solidFill>
              </a:rPr>
              <a:t>board processing requires highly efficient models.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 b="1">
                <a:solidFill>
                  <a:schemeClr val="tx1"/>
                </a:solidFill>
              </a:rPr>
              <a:t>Future Direction</a:t>
            </a:r>
            <a:r>
              <a:rPr sz="1700">
                <a:solidFill>
                  <a:schemeClr val="tx1"/>
                </a:solidFill>
              </a:rPr>
              <a:t>: Hardware-aware Neural Architecture Search.</a:t>
            </a:r>
            <a:endParaRPr sz="1700">
              <a:solidFill>
                <a:schemeClr val="tx1"/>
              </a:solidFill>
            </a:endParaRPr>
          </a:p>
          <a:p>
            <a:pPr lvl="1"/>
            <a:r>
              <a:rPr sz="1700" b="1">
                <a:solidFill>
                  <a:schemeClr val="tx1"/>
                </a:solidFill>
              </a:rPr>
              <a:t>Multimodal Data Fusion</a:t>
            </a:r>
            <a:r>
              <a:rPr sz="1700">
                <a:solidFill>
                  <a:schemeClr val="tx1"/>
                </a:solidFill>
              </a:rPr>
              <a:t>: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>
                <a:solidFill>
                  <a:schemeClr val="tx1"/>
                </a:solidFill>
              </a:rPr>
              <a:t>Combining data from different sensors (e.g., optical, radar, LiDAR) to improve performance.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 b="1">
                <a:solidFill>
                  <a:schemeClr val="tx1"/>
                </a:solidFill>
              </a:rPr>
              <a:t>Future Direction</a:t>
            </a:r>
            <a:r>
              <a:rPr sz="1700">
                <a:solidFill>
                  <a:schemeClr val="tx1"/>
                </a:solidFill>
              </a:rPr>
              <a:t>: Intermediate fusion with cross-attention or joint transformers.</a:t>
            </a:r>
            <a:endParaRPr sz="1700">
              <a:solidFill>
                <a:schemeClr val="tx1"/>
              </a:solidFill>
            </a:endParaRPr>
          </a:p>
          <a:p>
            <a:pPr lvl="1"/>
            <a:r>
              <a:rPr sz="1700" b="1">
                <a:solidFill>
                  <a:schemeClr val="tx1"/>
                </a:solidFill>
              </a:rPr>
              <a:t>Interpretability</a:t>
            </a:r>
            <a:r>
              <a:rPr sz="1700">
                <a:solidFill>
                  <a:schemeClr val="tx1"/>
                </a:solidFill>
              </a:rPr>
              <a:t>: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>
                <a:solidFill>
                  <a:schemeClr val="tx1"/>
                </a:solidFill>
              </a:rPr>
              <a:t>Understanding and explaining the predictions of deep learning models.</a:t>
            </a:r>
            <a:endParaRPr sz="1700">
              <a:solidFill>
                <a:schemeClr val="tx1"/>
              </a:solidFill>
            </a:endParaRPr>
          </a:p>
          <a:p>
            <a:pPr lvl="2"/>
            <a:r>
              <a:rPr sz="1700" b="1">
                <a:solidFill>
                  <a:schemeClr val="tx1"/>
                </a:solidFill>
              </a:rPr>
              <a:t>Future Direction</a:t>
            </a:r>
            <a:r>
              <a:rPr sz="1700">
                <a:solidFill>
                  <a:schemeClr val="tx1"/>
                </a:solidFill>
              </a:rPr>
              <a:t>: Concept-based interpretability approaches.</a:t>
            </a:r>
            <a:endParaRPr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Conclusion</a:t>
            </a:r>
            <a:endParaRPr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7955" y="1352550"/>
            <a:ext cx="8772525" cy="4597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6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sz="3000" b="1">
                <a:solidFill>
                  <a:schemeClr val="tx1"/>
                </a:solidFill>
              </a:rPr>
              <a:t>Summary of Progress (2020-2023)</a:t>
            </a:r>
            <a:r>
              <a:rPr sz="3000">
                <a:solidFill>
                  <a:schemeClr val="tx1"/>
                </a:solidFill>
              </a:rPr>
              <a:t>: Significant advancements in multi-scale feature fusion, attention mechanisms, transfer learning, and efficient architectures have brought deep learning models for remote sensing to a practical deployment </a:t>
            </a:r>
            <a:r>
              <a:rPr sz="3000" b="1">
                <a:solidFill>
                  <a:schemeClr val="tx1"/>
                </a:solidFill>
              </a:rPr>
              <a:t>level</a:t>
            </a:r>
            <a:r>
              <a:rPr sz="3000">
                <a:solidFill>
                  <a:schemeClr val="tx1"/>
                </a:solidFill>
              </a:rPr>
              <a:t>.</a:t>
            </a:r>
            <a:endParaRPr sz="3000">
              <a:solidFill>
                <a:schemeClr val="tx1"/>
              </a:solidFill>
            </a:endParaRPr>
          </a:p>
          <a:p>
            <a:pPr lvl="1"/>
            <a:r>
              <a:rPr sz="3000" b="1">
                <a:solidFill>
                  <a:schemeClr val="tx1"/>
                </a:solidFill>
              </a:rPr>
              <a:t>Future Outlook</a:t>
            </a:r>
            <a:r>
              <a:rPr sz="3000">
                <a:solidFill>
                  <a:schemeClr val="tx1"/>
                </a:solidFill>
              </a:rPr>
              <a:t>:</a:t>
            </a:r>
            <a:endParaRPr sz="3000">
              <a:solidFill>
                <a:schemeClr val="tx1"/>
              </a:solidFill>
            </a:endParaRPr>
          </a:p>
          <a:p>
            <a:pPr lvl="2"/>
            <a:r>
              <a:rPr sz="3000" b="1">
                <a:solidFill>
                  <a:schemeClr val="tx1"/>
                </a:solidFill>
              </a:rPr>
              <a:t>Self-supervised and foundation models</a:t>
            </a:r>
            <a:r>
              <a:rPr sz="3000">
                <a:solidFill>
                  <a:schemeClr val="tx1"/>
                </a:solidFill>
              </a:rPr>
              <a:t>: Will reduce the reliance on labeled data.</a:t>
            </a:r>
            <a:endParaRPr sz="3000">
              <a:solidFill>
                <a:schemeClr val="tx1"/>
              </a:solidFill>
            </a:endParaRPr>
          </a:p>
          <a:p>
            <a:pPr lvl="2"/>
            <a:r>
              <a:rPr sz="3000" b="1">
                <a:solidFill>
                  <a:schemeClr val="tx1"/>
                </a:solidFill>
              </a:rPr>
              <a:t>Efficient architectures</a:t>
            </a:r>
            <a:r>
              <a:rPr sz="3000">
                <a:solidFill>
                  <a:schemeClr val="tx1"/>
                </a:solidFill>
              </a:rPr>
              <a:t>: Tailored for edge devices.</a:t>
            </a:r>
            <a:endParaRPr sz="3000">
              <a:solidFill>
                <a:schemeClr val="tx1"/>
              </a:solidFill>
            </a:endParaRPr>
          </a:p>
          <a:p>
            <a:pPr lvl="2"/>
            <a:r>
              <a:rPr sz="3000" b="1">
                <a:solidFill>
                  <a:schemeClr val="tx1"/>
                </a:solidFill>
              </a:rPr>
              <a:t>Intelligent data fusion</a:t>
            </a:r>
            <a:r>
              <a:rPr sz="3000">
                <a:solidFill>
                  <a:schemeClr val="tx1"/>
                </a:solidFill>
              </a:rPr>
              <a:t>: Combining optical, SAR, hyperspectral, and temporal data for new applications.</a:t>
            </a:r>
            <a:endParaRPr sz="3000">
              <a:solidFill>
                <a:schemeClr val="tx1"/>
              </a:solidFill>
            </a:endParaRPr>
          </a:p>
          <a:p>
            <a:pPr lvl="2"/>
            <a:r>
              <a:rPr sz="3000" b="1">
                <a:solidFill>
                  <a:schemeClr val="tx1"/>
                </a:solidFill>
              </a:rPr>
              <a:t>Improved interpretability</a:t>
            </a:r>
            <a:r>
              <a:rPr sz="3000">
                <a:solidFill>
                  <a:schemeClr val="tx1"/>
                </a:solidFill>
              </a:rPr>
              <a:t>: To enable informed decision-making.</a:t>
            </a:r>
            <a:endParaRPr sz="3000">
              <a:solidFill>
                <a:schemeClr val="tx1"/>
              </a:solidFill>
            </a:endParaRPr>
          </a:p>
          <a:p>
            <a:pPr lvl="1"/>
            <a:r>
              <a:rPr sz="3000" b="1">
                <a:solidFill>
                  <a:schemeClr val="tx1"/>
                </a:solidFill>
              </a:rPr>
              <a:t>Final Thought</a:t>
            </a:r>
            <a:r>
              <a:rPr sz="3000">
                <a:solidFill>
                  <a:schemeClr val="tx1"/>
                </a:solidFill>
              </a:rPr>
              <a:t>: Deep learning, adapted for the unique characteristics of remote sensing data, remains the most effective approach for transforming the vast streams of pixel data into actionable insights.</a:t>
            </a:r>
            <a:endParaRPr sz="3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5900"/>
              <a:t>thank you</a:t>
            </a:r>
            <a:endParaRPr altLang="en-US" sz="59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CONTENT_GROUP_TYPE" val="contentchip"/>
  <p:tag name="KSO_WM_UNIT_TYPE" val="i"/>
  <p:tag name="KSO_WM_UNIT_INDEX" val="5"/>
</p:tagLst>
</file>

<file path=ppt/tags/tag35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4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0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01"/>
</p:tagLst>
</file>

<file path=ppt/tags/tag10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01"/>
  <p:tag name="KSO_WM_SPECIAL_SOURCE" val="bdnull"/>
  <p:tag name="KSO_WM_TEMPLATE_THUMBS_INDEX" val="1、11"/>
</p:tagLst>
</file>

<file path=ppt/tags/tag103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  <p:tag name="KSO_WM_SLIDE_ID" val="custom20230301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301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  <p:tag name="KSO_WM_SLIDE_THEME_ID" val="3303249"/>
  <p:tag name="KSO_WM_SLIDE_THEME_NAME" val="蓝色商务风主题"/>
</p:tagLst>
</file>

<file path=ppt/tags/tag107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SLIDE_TYPE" val="contents"/>
  <p:tag name="KSO_WM_BEAUTIFY_FLAG" val="#wm#"/>
  <p:tag name="KSO_WM_SLIDE_THEME_ID" val="3303249"/>
  <p:tag name="KSO_WM_SLIDE_THEME_NAME" val="蓝色商务风主题"/>
</p:tagLst>
</file>

<file path=ppt/tags/tag10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1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SLIDE_TYPE" val="text"/>
  <p:tag name="KSO_WM_BEAUTIFY_FLAG" val="#wm#"/>
  <p:tag name="KSO_WM_SLIDE_ID" val="custom20230301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301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30301"/>
</p:tagLst>
</file>

<file path=ppt/tags/tag11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1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16.xml><?xml version="1.0" encoding="utf-8"?>
<p:tagLst xmlns:p="http://schemas.openxmlformats.org/presentationml/2006/main">
  <p:tag name="KSO_WM_SLIDE_TYPE" val="text"/>
  <p:tag name="KSO_WM_BEAUTIFY_FLAG" val="#wm#"/>
  <p:tag name="KSO_WM_SLIDE_ID" val="custom20230301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301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1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SLIDE_TYPE" val="text"/>
  <p:tag name="KSO_WM_BEAUTIFY_FLAG" val="#wm#"/>
  <p:tag name="KSO_WM_SLIDE_ID" val="custom20230301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301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21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22.xml><?xml version="1.0" encoding="utf-8"?>
<p:tagLst xmlns:p="http://schemas.openxmlformats.org/presentationml/2006/main">
  <p:tag name="KSO_WM_SLIDE_TYPE" val="text"/>
  <p:tag name="KSO_WM_BEAUTIFY_FLAG" val="#wm#"/>
  <p:tag name="KSO_WM_SLIDE_ID" val="custom20230301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301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24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SLIDE_TYPE" val="text"/>
  <p:tag name="KSO_WM_BEAUTIFY_FLAG" val="#wm#"/>
  <p:tag name="KSO_WM_SLIDE_ID" val="custom20230301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301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01_11*a*1"/>
  <p:tag name="KSO_WM_TEMPLATE_CATEGORY" val="custom"/>
  <p:tag name="KSO_WM_TEMPLATE_INDEX" val="20230301"/>
  <p:tag name="KSO_WM_UNIT_LAYERLEVEL" val="1"/>
  <p:tag name="KSO_WM_TAG_VERSION" val="3.0"/>
  <p:tag name="KSO_WM_BEAUTIFY_FLAG" val="#wm#"/>
  <p:tag name="KSO_WM_UNIT_CONTENT_GROUP_TYPE" val="contentchip"/>
</p:tagLst>
</file>

<file path=ppt/tags/tag127.xml><?xml version="1.0" encoding="utf-8"?>
<p:tagLst xmlns:p="http://schemas.openxmlformats.org/presentationml/2006/main">
  <p:tag name="KSO_WM_SLIDE_ID" val="custom20230301_11"/>
  <p:tag name="KSO_WM_TEMPLATE_SUBCATEGORY" val="29"/>
  <p:tag name="KSO_WM_TEMPLATE_MASTER_TYPE" val="0"/>
  <p:tag name="KSO_WM_TEMPLATE_COLOR_TYPE" val="0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0301"/>
  <p:tag name="KSO_WM_SLIDE_TYPE" val="endPage"/>
  <p:tag name="KSO_WM_SLIDE_SUBTYPE" val="pureTxt"/>
  <p:tag name="KSO_WM_SLIDE_LAYOUT" val="a_f"/>
  <p:tag name="KSO_WM_SLIDE_LAYOUT_CNT" val="1_1"/>
  <p:tag name="KSO_WM_SPECIAL_SOURCE" val="bdnull"/>
  <p:tag name="KSO_WM_SLIDE_CONTENT_AREA" val="{&quot;left&quot;:&quot;16.65&quot;,&quot;top&quot;:&quot;120.25&quot;,&quot;width&quot;:&quot;708.25&quot;,&quot;height&quot;:&quot;249.75&quot;}"/>
  <p:tag name="KSO_WM_SLIDE_THEME_ID" val="3303249"/>
  <p:tag name="KSO_WM_SLIDE_THEME_NAME" val="蓝色商务风主题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8">
      <a:dk1>
        <a:sysClr val="windowText" lastClr="000000"/>
      </a:dk1>
      <a:lt1>
        <a:sysClr val="window" lastClr="FFFFFF"/>
      </a:lt1>
      <a:dk2>
        <a:srgbClr val="010437"/>
      </a:dk2>
      <a:lt2>
        <a:srgbClr val="EFEFFF"/>
      </a:lt2>
      <a:accent1>
        <a:srgbClr val="007AD6"/>
      </a:accent1>
      <a:accent2>
        <a:srgbClr val="256BDB"/>
      </a:accent2>
      <a:accent3>
        <a:srgbClr val="128E96"/>
      </a:accent3>
      <a:accent4>
        <a:srgbClr val="3F48EF"/>
      </a:accent4>
      <a:accent5>
        <a:srgbClr val="6124D1"/>
      </a:accent5>
      <a:accent6>
        <a:srgbClr val="A67BFD"/>
      </a:accent6>
      <a:hlink>
        <a:srgbClr val="034A90"/>
      </a:hlink>
      <a:folHlink>
        <a:srgbClr val="954F72"/>
      </a:folHlink>
    </a:clrScheme>
    <a:fontScheme name="自定义 19">
      <a:majorFont>
        <a:latin typeface="MiSans Bold"/>
        <a:ea typeface="MiSans Bold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4188</Words>
  <Application>WPS 演示</Application>
  <PresentationFormat/>
  <Paragraphs>83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黑体</vt:lpstr>
      <vt:lpstr>Arial Black</vt:lpstr>
      <vt:lpstr>MiSans</vt:lpstr>
      <vt:lpstr>Wingdings</vt:lpstr>
      <vt:lpstr>MiSans Bold</vt:lpstr>
      <vt:lpstr>Office Theme</vt:lpstr>
      <vt:lpstr>1_Office 主题</vt:lpstr>
      <vt:lpstr>Progress in Deep Learning for Remote Sensing Image Classification: A Comprehensive Overview</vt:lpstr>
      <vt:lpstr>Contents</vt:lpstr>
      <vt:lpstr>Introduction</vt:lpstr>
      <vt:lpstr>Introduction</vt:lpstr>
      <vt:lpstr>Background: CNN Fundamentals</vt:lpstr>
      <vt:lpstr>Progress in CNN Architectures for Remote Sensing</vt:lpstr>
      <vt:lpstr>Challenges and Future Directions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in Deep Learning for Remote Sensing Image Classification: A Comprehensive Overview</dc:title>
  <dc:creator/>
  <cp:lastModifiedBy>梁景毓</cp:lastModifiedBy>
  <cp:revision>4</cp:revision>
  <dcterms:created xsi:type="dcterms:W3CDTF">2025-11-24T08:23:00Z</dcterms:created>
  <dcterms:modified xsi:type="dcterms:W3CDTF">2025-11-24T08:53:21Z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4F99C9DBAB9D4FF19BCAB1B18698E20B_12</vt:lpwstr>
  </property>
  <property fmtid="{D5CDD505-2E9C-101B-9397-08002B2CF9AE}" pid="3" name="KSOProductBuildVer">
    <vt:lpwstr>2052-12.1.0.20305</vt:lpwstr>
  </property>
</Properties>
</file>