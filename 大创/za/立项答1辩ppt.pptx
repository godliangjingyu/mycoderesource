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Lst>
  <p:notesMasterIdLst>
    <p:notesMasterId r:id="rId24"/>
  </p:notesMasterIdLst>
  <p:sldIdLst>
    <p:sldId id="372" r:id="rId4"/>
    <p:sldId id="454" r:id="rId5"/>
    <p:sldId id="592" r:id="rId6"/>
    <p:sldId id="468" r:id="rId7"/>
    <p:sldId id="495" r:id="rId8"/>
    <p:sldId id="594" r:id="rId9"/>
    <p:sldId id="492" r:id="rId10"/>
    <p:sldId id="595" r:id="rId11"/>
    <p:sldId id="597" r:id="rId12"/>
    <p:sldId id="596" r:id="rId13"/>
    <p:sldId id="257" r:id="rId14"/>
    <p:sldId id="258" r:id="rId15"/>
    <p:sldId id="265" r:id="rId16"/>
    <p:sldId id="259" r:id="rId17"/>
    <p:sldId id="260" r:id="rId18"/>
    <p:sldId id="263" r:id="rId19"/>
    <p:sldId id="261" r:id="rId20"/>
    <p:sldId id="598" r:id="rId21"/>
    <p:sldId id="264" r:id="rId22"/>
    <p:sldId id="450"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7" autoAdjust="0"/>
    <p:restoredTop sz="94660"/>
  </p:normalViewPr>
  <p:slideViewPr>
    <p:cSldViewPr snapToGrid="0">
      <p:cViewPr varScale="1">
        <p:scale>
          <a:sx n="79" d="100"/>
          <a:sy n="79" d="100"/>
        </p:scale>
        <p:origin x="132"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30D599-C594-4A08-8494-3CDC5A2D7C17}" type="datetimeFigureOut">
              <a:rPr lang="zh-CN" altLang="en-US" smtClean="0"/>
              <a:t>2024/6/5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B85D74-ED76-4B55-ABD3-DE7BBC69E11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a:solidFill>
              <a:srgbClr val="000000">
                <a:alpha val="100000"/>
              </a:srgbClr>
            </a:solidFill>
            <a:miter lim="800000"/>
          </a:ln>
        </p:spPr>
      </p:sp>
      <p:sp>
        <p:nvSpPr>
          <p:cNvPr id="43011" name="备注占位符 2"/>
          <p:cNvSpPr>
            <a:spLocks noGrp="1"/>
          </p:cNvSpPr>
          <p:nvPr>
            <p:ph type="body"/>
          </p:nvPr>
        </p:nvSpPr>
        <p:spPr>
          <a:noFill/>
          <a:ln>
            <a:noFill/>
          </a:ln>
        </p:spPr>
        <p:txBody>
          <a:bodyPr wrap="square" lIns="91440" tIns="45720" rIns="91440" bIns="45720" anchor="t"/>
          <a:lstStyle/>
          <a:p>
            <a:pPr lvl="0" eaLnBrk="1" hangingPunct="1"/>
            <a:endParaRPr lang="zh-CN" altLang="en-US" dirty="0"/>
          </a:p>
        </p:txBody>
      </p:sp>
      <p:sp>
        <p:nvSpPr>
          <p:cNvPr id="4301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buChar char="•"/>
            </a:pPr>
            <a:fld id="{9A0DB2DC-4C9A-4742-B13C-FB6460FD3503}" type="slidenum">
              <a:rPr lang="en-US" altLang="en-US" dirty="0">
                <a:solidFill>
                  <a:srgbClr val="000000"/>
                </a:solidFill>
                <a:latin typeface="Calibri" panose="020F0502020204030204" pitchFamily="34" charset="0"/>
                <a:ea typeface="宋体" panose="02010600030101010101" pitchFamily="2" charset="-122"/>
              </a:rPr>
              <a:t>1</a:t>
            </a:fld>
            <a:endParaRPr lang="en-US" altLang="en-US"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E740552-609A-450B-84E0-07992844F450}" type="slidenum">
              <a:rPr lang="zh-CN" altLang="en-US" smtClean="0">
                <a:solidFill>
                  <a:prstClr val="black"/>
                </a:solidFill>
                <a:latin typeface="等线" panose="02010600030101010101" charset="-122"/>
                <a:ea typeface="等线" panose="02010600030101010101" charset="-122"/>
              </a:rPr>
              <a:t>2</a:t>
            </a:fld>
            <a:endParaRPr lang="zh-CN" altLang="en-US">
              <a:solidFill>
                <a:prstClr val="black"/>
              </a:solidFill>
              <a:latin typeface="等线" panose="02010600030101010101" charset="-122"/>
              <a:ea typeface="等线" panose="02010600030101010101"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1" fontAlgn="base" latinLnBrk="0" hangingPunct="1">
              <a:lnSpc>
                <a:spcPct val="100000"/>
              </a:lnSpc>
              <a:spcBef>
                <a:spcPct val="0"/>
              </a:spcBef>
              <a:spcAft>
                <a:spcPct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E1AC29F-167E-408E-8190-566AA8CE9AA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E1AC29F-167E-408E-8190-566AA8CE9AAE}"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996467-A077-4B4D-AFDA-2213F694E8D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6567411" y="113122"/>
            <a:ext cx="5624592" cy="5392132"/>
          </a:xfrm>
          <a:custGeom>
            <a:avLst/>
            <a:gdLst>
              <a:gd name="connsiteX0" fmla="*/ 927410 w 5510309"/>
              <a:gd name="connsiteY0" fmla="*/ 0 h 5630999"/>
              <a:gd name="connsiteX1" fmla="*/ 5510309 w 5510309"/>
              <a:gd name="connsiteY1" fmla="*/ 1 h 5630999"/>
              <a:gd name="connsiteX2" fmla="*/ 5510309 w 5510309"/>
              <a:gd name="connsiteY2" fmla="*/ 4733026 h 5630999"/>
              <a:gd name="connsiteX3" fmla="*/ 2839300 w 5510309"/>
              <a:gd name="connsiteY3" fmla="*/ 5630999 h 5630999"/>
              <a:gd name="connsiteX4" fmla="*/ 0 w 5510309"/>
              <a:gd name="connsiteY4" fmla="*/ 2806262 h 5630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309" h="5630999">
                <a:moveTo>
                  <a:pt x="927410" y="0"/>
                </a:moveTo>
                <a:lnTo>
                  <a:pt x="5510309" y="1"/>
                </a:lnTo>
                <a:lnTo>
                  <a:pt x="5510309" y="4733026"/>
                </a:lnTo>
                <a:lnTo>
                  <a:pt x="2839300" y="5630999"/>
                </a:lnTo>
                <a:lnTo>
                  <a:pt x="0" y="2806262"/>
                </a:lnTo>
                <a:close/>
              </a:path>
            </a:pathLst>
          </a:custGeom>
        </p:spPr>
        <p:txBody>
          <a:bodyPr wrap="square">
            <a:noAutofit/>
          </a:bodyPr>
          <a:lstStyle/>
          <a:p>
            <a:endParaRPr lang="zh-CN" altLang="en-US" dirty="0"/>
          </a:p>
        </p:txBody>
      </p:sp>
      <p:grpSp>
        <p:nvGrpSpPr>
          <p:cNvPr id="11" name="组合 10"/>
          <p:cNvGrpSpPr/>
          <p:nvPr userDrawn="1"/>
        </p:nvGrpSpPr>
        <p:grpSpPr>
          <a:xfrm rot="14553514">
            <a:off x="-1699261" y="3479014"/>
            <a:ext cx="7812694" cy="6026935"/>
            <a:chOff x="-1749624" y="571905"/>
            <a:chExt cx="6241492" cy="4814865"/>
          </a:xfrm>
        </p:grpSpPr>
        <p:sp>
          <p:nvSpPr>
            <p:cNvPr id="12" name="六边形 11"/>
            <p:cNvSpPr/>
            <p:nvPr/>
          </p:nvSpPr>
          <p:spPr>
            <a:xfrm rot="2981641">
              <a:off x="-1866004" y="3815597"/>
              <a:ext cx="1687553" cy="1454793"/>
            </a:xfrm>
            <a:prstGeom prst="hexagon">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六边形 12"/>
            <p:cNvSpPr/>
            <p:nvPr/>
          </p:nvSpPr>
          <p:spPr>
            <a:xfrm rot="2981641">
              <a:off x="-767664" y="1553181"/>
              <a:ext cx="3284752" cy="2831690"/>
            </a:xfrm>
            <a:prstGeom prst="hexagon">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六边形 13"/>
            <p:cNvSpPr/>
            <p:nvPr/>
          </p:nvSpPr>
          <p:spPr>
            <a:xfrm rot="6184754">
              <a:off x="998995" y="798436"/>
              <a:ext cx="3284752" cy="2831690"/>
            </a:xfrm>
            <a:prstGeom prst="hexagon">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六边形 14"/>
            <p:cNvSpPr/>
            <p:nvPr/>
          </p:nvSpPr>
          <p:spPr>
            <a:xfrm rot="2981641">
              <a:off x="2062097" y="3966502"/>
              <a:ext cx="828668" cy="714370"/>
            </a:xfrm>
            <a:prstGeom prst="hexagon">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六边形 15"/>
            <p:cNvSpPr/>
            <p:nvPr/>
          </p:nvSpPr>
          <p:spPr>
            <a:xfrm rot="2981641">
              <a:off x="4022512" y="3239285"/>
              <a:ext cx="504123" cy="434589"/>
            </a:xfrm>
            <a:prstGeom prst="hexagon">
              <a:avLst/>
            </a:prstGeom>
            <a:no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1"/>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D7FE38-503D-4C4B-8129-C37EA38FA6F0}" type="datetimeFigureOut">
              <a:rPr lang="zh-CN" altLang="en-US" smtClean="0">
                <a:solidFill>
                  <a:srgbClr val="454245">
                    <a:tint val="75000"/>
                  </a:srgbClr>
                </a:solidFill>
              </a:rPr>
              <a:t>2024/6/5</a:t>
            </a:fld>
            <a:endParaRPr lang="zh-CN" altLang="en-US">
              <a:solidFill>
                <a:srgbClr val="454245">
                  <a:tint val="75000"/>
                </a:srgbClr>
              </a:solidFill>
            </a:endParaRPr>
          </a:p>
        </p:txBody>
      </p:sp>
      <p:sp>
        <p:nvSpPr>
          <p:cNvPr id="4" name="页脚占位符 3"/>
          <p:cNvSpPr>
            <a:spLocks noGrp="1"/>
          </p:cNvSpPr>
          <p:nvPr>
            <p:ph type="ftr" sz="quarter" idx="11"/>
          </p:nvPr>
        </p:nvSpPr>
        <p:spPr/>
        <p:txBody>
          <a:bodyPr/>
          <a:lstStyle/>
          <a:p>
            <a:endParaRPr lang="zh-CN" altLang="en-US">
              <a:solidFill>
                <a:srgbClr val="454245">
                  <a:tint val="75000"/>
                </a:srgbClr>
              </a:solidFill>
            </a:endParaRPr>
          </a:p>
        </p:txBody>
      </p:sp>
      <p:sp>
        <p:nvSpPr>
          <p:cNvPr id="5" name="灯片编号占位符 4"/>
          <p:cNvSpPr>
            <a:spLocks noGrp="1"/>
          </p:cNvSpPr>
          <p:nvPr>
            <p:ph type="sldNum" sz="quarter" idx="12"/>
          </p:nvPr>
        </p:nvSpPr>
        <p:spPr/>
        <p:txBody>
          <a:bodyPr/>
          <a:lstStyle/>
          <a:p>
            <a:fld id="{03EBB00F-8F08-4A10-ADE5-658EB5AB996D}" type="slidenum">
              <a:rPr lang="zh-CN" altLang="en-US" smtClean="0">
                <a:solidFill>
                  <a:srgbClr val="454245">
                    <a:tint val="75000"/>
                  </a:srgbClr>
                </a:solidFill>
              </a:rPr>
              <a:t>‹#›</a:t>
            </a:fld>
            <a:endParaRPr lang="zh-CN" altLang="en-US">
              <a:solidFill>
                <a:srgbClr val="454245">
                  <a:tint val="75000"/>
                </a:srgbClr>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7FB41C-E4C0-426A-9AA1-C0ACCD307B29}" type="datetimeFigureOut">
              <a:rPr lang="zh-CN" altLang="en-US" smtClean="0"/>
              <a:t>2024/6/5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96467-A077-4B4D-AFDA-2213F694E8D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600" y="274638"/>
            <a:ext cx="109728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idx="1"/>
          </p:nvPr>
        </p:nvSpPr>
        <p:spPr>
          <a:xfrm>
            <a:off x="609600" y="1600201"/>
            <a:ext cx="10972800" cy="4525963"/>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pPr lvl="0"/>
            <a:endParaRPr lang="zh-CN" altLang="en-US">
              <a:latin typeface="Arial" panose="020B0604020202020204" pitchFamily="34" charset="0"/>
            </a:endParaRPr>
          </a:p>
        </p:txBody>
      </p:sp>
      <p:sp>
        <p:nvSpPr>
          <p:cNvPr id="1029" name="页脚占位符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pPr lvl="0"/>
            <a:endParaRPr lang="zh-CN" altLang="en-US">
              <a:latin typeface="Arial" panose="020B0604020202020204" pitchFamily="34" charset="0"/>
            </a:endParaRPr>
          </a:p>
        </p:txBody>
      </p:sp>
      <p:sp>
        <p:nvSpPr>
          <p:cNvPr id="1030" name="灯片编号占位符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7FE38-503D-4C4B-8129-C37EA38FA6F0}" type="datetimeFigureOut">
              <a:rPr lang="zh-CN" altLang="en-US" smtClean="0">
                <a:solidFill>
                  <a:srgbClr val="454245">
                    <a:tint val="75000"/>
                  </a:srgbClr>
                </a:solidFill>
              </a:rPr>
              <a:t>2024/6/5</a:t>
            </a:fld>
            <a:endParaRPr lang="zh-CN" altLang="en-US">
              <a:solidFill>
                <a:srgbClr val="454245">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srgbClr val="454245">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EBB00F-8F08-4A10-ADE5-658EB5AB996D}" type="slidenum">
              <a:rPr lang="zh-CN" altLang="en-US" smtClean="0">
                <a:solidFill>
                  <a:srgbClr val="454245">
                    <a:tint val="75000"/>
                  </a:srgbClr>
                </a:solidFill>
              </a:rPr>
              <a:t>‹#›</a:t>
            </a:fld>
            <a:endParaRPr lang="zh-CN" altLang="en-US">
              <a:solidFill>
                <a:srgbClr val="454245">
                  <a:tint val="75000"/>
                </a:srgbClr>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4.png"/><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2.xml"/><Relationship Id="rId7" Type="http://schemas.openxmlformats.org/officeDocument/2006/relationships/image" Target="../media/image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9.xml"/><Relationship Id="rId5" Type="http://schemas.openxmlformats.org/officeDocument/2006/relationships/slideLayout" Target="../slideLayouts/slideLayout7.xml"/><Relationship Id="rId10" Type="http://schemas.openxmlformats.org/officeDocument/2006/relationships/image" Target="../media/image16.png"/><Relationship Id="rId4" Type="http://schemas.openxmlformats.org/officeDocument/2006/relationships/tags" Target="../tags/tag33.xml"/><Relationship Id="rId9"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9.xml"/><Relationship Id="rId5" Type="http://schemas.openxmlformats.org/officeDocument/2006/relationships/image" Target="../media/image2.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17.jpe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tags" Target="../tags/tag59.xml"/><Relationship Id="rId3" Type="http://schemas.openxmlformats.org/officeDocument/2006/relationships/tags" Target="../tags/tag36.xml"/><Relationship Id="rId21" Type="http://schemas.openxmlformats.org/officeDocument/2006/relationships/tags" Target="../tags/tag54.xml"/><Relationship Id="rId34" Type="http://schemas.openxmlformats.org/officeDocument/2006/relationships/image" Target="../media/image5.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tags" Target="../tags/tag58.xml"/><Relationship Id="rId33" Type="http://schemas.openxmlformats.org/officeDocument/2006/relationships/image" Target="../media/image4.png"/><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29" Type="http://schemas.openxmlformats.org/officeDocument/2006/relationships/tags" Target="../tags/tag62.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32" Type="http://schemas.openxmlformats.org/officeDocument/2006/relationships/notesSlide" Target="../notesSlides/notesSlide17.xm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tags" Target="../tags/tag61.xml"/><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slideLayout" Target="../slideLayouts/slideLayout19.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tags" Target="../tags/tag60.xml"/><Relationship Id="rId30" Type="http://schemas.openxmlformats.org/officeDocument/2006/relationships/tags" Target="../tags/tag63.xml"/><Relationship Id="rId8" Type="http://schemas.openxmlformats.org/officeDocument/2006/relationships/tags" Target="../tags/tag4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66.xml"/><Relationship Id="rId7" Type="http://schemas.openxmlformats.org/officeDocument/2006/relationships/image" Target="../media/image4.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notesSlide" Target="../notesSlides/notesSlide19.xml"/><Relationship Id="rId5" Type="http://schemas.openxmlformats.org/officeDocument/2006/relationships/slideLayout" Target="../slideLayouts/slideLayout24.xml"/><Relationship Id="rId4" Type="http://schemas.openxmlformats.org/officeDocument/2006/relationships/tags" Target="../tags/tag6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4.xml"/><Relationship Id="rId5" Type="http://schemas.microsoft.com/office/2007/relationships/hdphoto" Target="../media/hdphoto3.wdp"/><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启真湖"/>
          <p:cNvPicPr>
            <a:picLocks noChangeAspect="1"/>
          </p:cNvPicPr>
          <p:nvPr/>
        </p:nvPicPr>
        <p:blipFill rotWithShape="1">
          <a:blip r:embed="rId3" cstate="print">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t="15232" b="15232"/>
          <a:stretch>
            <a:fillRect/>
          </a:stretch>
        </p:blipFill>
        <p:spPr>
          <a:xfrm>
            <a:off x="0" y="0"/>
            <a:ext cx="12192000" cy="4067456"/>
          </a:xfrm>
          <a:prstGeom prst="rect">
            <a:avLst/>
          </a:prstGeom>
        </p:spPr>
      </p:pic>
      <p:sp>
        <p:nvSpPr>
          <p:cNvPr id="9" name="主标题"/>
          <p:cNvSpPr txBox="1"/>
          <p:nvPr/>
        </p:nvSpPr>
        <p:spPr>
          <a:xfrm>
            <a:off x="1598341" y="4377676"/>
            <a:ext cx="9240642" cy="1569660"/>
          </a:xfrm>
          <a:prstGeom prst="rect">
            <a:avLst/>
          </a:prstGeom>
          <a:noFill/>
        </p:spPr>
        <p:txBody>
          <a:bodyPr wrap="square" rtlCol="0">
            <a:spAutoFit/>
          </a:bodyPr>
          <a:lstStyle/>
          <a:p>
            <a:pPr algn="dist" defTabSz="457200"/>
            <a:r>
              <a:rPr lang="zh-CN" altLang="en-US" sz="4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基于深度学习的开源软件代码的漏洞检测系统</a:t>
            </a:r>
          </a:p>
        </p:txBody>
      </p:sp>
      <p:cxnSp>
        <p:nvCxnSpPr>
          <p:cNvPr id="12" name="点缀线段"/>
          <p:cNvCxnSpPr/>
          <p:nvPr/>
        </p:nvCxnSpPr>
        <p:spPr>
          <a:xfrm>
            <a:off x="5791200" y="5751285"/>
            <a:ext cx="60960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打底矩形"/>
          <p:cNvSpPr/>
          <p:nvPr/>
        </p:nvSpPr>
        <p:spPr>
          <a:xfrm>
            <a:off x="4441371" y="6024192"/>
            <a:ext cx="3309258" cy="390979"/>
          </a:xfrm>
          <a:prstGeom prst="roundRect">
            <a:avLst>
              <a:gd name="adj" fmla="val 50000"/>
            </a:avLst>
          </a:prstGeom>
          <a:noFill/>
          <a:ln w="6350">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 name="竖线组合"/>
          <p:cNvGrpSpPr/>
          <p:nvPr/>
        </p:nvGrpSpPr>
        <p:grpSpPr>
          <a:xfrm>
            <a:off x="1520825" y="0"/>
            <a:ext cx="9151938" cy="4083051"/>
            <a:chOff x="1520825" y="0"/>
            <a:chExt cx="9151938" cy="4083051"/>
          </a:xfrm>
        </p:grpSpPr>
        <p:sp>
          <p:nvSpPr>
            <p:cNvPr id="36" name="Line 29"/>
            <p:cNvSpPr>
              <a:spLocks noChangeShapeType="1"/>
            </p:cNvSpPr>
            <p:nvPr/>
          </p:nvSpPr>
          <p:spPr bwMode="auto">
            <a:xfrm>
              <a:off x="1520825" y="0"/>
              <a:ext cx="0" cy="408305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7" name="Line 30"/>
            <p:cNvSpPr>
              <a:spLocks noChangeShapeType="1"/>
            </p:cNvSpPr>
            <p:nvPr/>
          </p:nvSpPr>
          <p:spPr bwMode="auto">
            <a:xfrm>
              <a:off x="3044825" y="0"/>
              <a:ext cx="0" cy="408305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8" name="Line 31"/>
            <p:cNvSpPr>
              <a:spLocks noChangeShapeType="1"/>
            </p:cNvSpPr>
            <p:nvPr/>
          </p:nvSpPr>
          <p:spPr bwMode="auto">
            <a:xfrm>
              <a:off x="4568825" y="0"/>
              <a:ext cx="0" cy="408305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Line 32"/>
            <p:cNvSpPr>
              <a:spLocks noChangeShapeType="1"/>
            </p:cNvSpPr>
            <p:nvPr/>
          </p:nvSpPr>
          <p:spPr bwMode="auto">
            <a:xfrm>
              <a:off x="6092825" y="0"/>
              <a:ext cx="0" cy="408305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 name="Line 33"/>
            <p:cNvSpPr>
              <a:spLocks noChangeShapeType="1"/>
            </p:cNvSpPr>
            <p:nvPr/>
          </p:nvSpPr>
          <p:spPr bwMode="auto">
            <a:xfrm>
              <a:off x="7616825" y="1588"/>
              <a:ext cx="0" cy="4081463"/>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1" name="Line 34"/>
            <p:cNvSpPr>
              <a:spLocks noChangeShapeType="1"/>
            </p:cNvSpPr>
            <p:nvPr/>
          </p:nvSpPr>
          <p:spPr bwMode="auto">
            <a:xfrm>
              <a:off x="9140825" y="1588"/>
              <a:ext cx="0" cy="4081463"/>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2" name="Line 35"/>
            <p:cNvSpPr>
              <a:spLocks noChangeShapeType="1"/>
            </p:cNvSpPr>
            <p:nvPr/>
          </p:nvSpPr>
          <p:spPr bwMode="auto">
            <a:xfrm>
              <a:off x="10672763" y="1588"/>
              <a:ext cx="0" cy="4081463"/>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横线组合"/>
          <p:cNvGrpSpPr/>
          <p:nvPr/>
        </p:nvGrpSpPr>
        <p:grpSpPr>
          <a:xfrm>
            <a:off x="-7938" y="1363663"/>
            <a:ext cx="12203113" cy="1357312"/>
            <a:chOff x="-7938" y="1363663"/>
            <a:chExt cx="12203113" cy="1357312"/>
          </a:xfrm>
        </p:grpSpPr>
        <p:sp>
          <p:nvSpPr>
            <p:cNvPr id="43" name="Line 36"/>
            <p:cNvSpPr>
              <a:spLocks noChangeShapeType="1"/>
            </p:cNvSpPr>
            <p:nvPr/>
          </p:nvSpPr>
          <p:spPr bwMode="auto">
            <a:xfrm>
              <a:off x="-7938" y="1363663"/>
              <a:ext cx="1220311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4" name="Line 37"/>
            <p:cNvSpPr>
              <a:spLocks noChangeShapeType="1"/>
            </p:cNvSpPr>
            <p:nvPr/>
          </p:nvSpPr>
          <p:spPr bwMode="auto">
            <a:xfrm>
              <a:off x="-7938" y="2720975"/>
              <a:ext cx="1220311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校徽组合"/>
          <p:cNvGrpSpPr/>
          <p:nvPr/>
        </p:nvGrpSpPr>
        <p:grpSpPr>
          <a:xfrm>
            <a:off x="1528764" y="1370014"/>
            <a:ext cx="1508124" cy="1357313"/>
            <a:chOff x="1528764" y="1370014"/>
            <a:chExt cx="1508124" cy="1357313"/>
          </a:xfrm>
        </p:grpSpPr>
        <p:sp>
          <p:nvSpPr>
            <p:cNvPr id="89" name="Rectangle 49"/>
            <p:cNvSpPr>
              <a:spLocks noChangeArrowheads="1"/>
            </p:cNvSpPr>
            <p:nvPr/>
          </p:nvSpPr>
          <p:spPr bwMode="auto">
            <a:xfrm>
              <a:off x="1528764" y="1370014"/>
              <a:ext cx="1508124" cy="1357313"/>
            </a:xfrm>
            <a:prstGeom prst="rect">
              <a:avLst/>
            </a:prstGeom>
            <a:solidFill>
              <a:schemeClr val="accent1"/>
            </a:solidFill>
            <a:ln w="3175">
              <a:solidFill>
                <a:schemeClr val="bg1"/>
              </a:solidFill>
            </a:ln>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90" name="校徽"/>
            <p:cNvPicPr>
              <a:picLocks noChangeAspect="1"/>
            </p:cNvPicPr>
            <p:nvPr/>
          </p:nvPicPr>
          <p:blipFill>
            <a:blip r:embed="rId5" cstate="screen"/>
            <a:stretch>
              <a:fillRect/>
            </a:stretch>
          </p:blipFill>
          <p:spPr>
            <a:xfrm>
              <a:off x="1749654" y="1508392"/>
              <a:ext cx="1082221" cy="1080559"/>
            </a:xfrm>
            <a:prstGeom prst="rect">
              <a:avLst/>
            </a:prstGeom>
          </p:spPr>
        </p:pic>
      </p:grpSp>
      <p:sp>
        <p:nvSpPr>
          <p:cNvPr id="91" name="遮罩色块17%"/>
          <p:cNvSpPr>
            <a:spLocks noChangeArrowheads="1"/>
          </p:cNvSpPr>
          <p:nvPr/>
        </p:nvSpPr>
        <p:spPr bwMode="auto">
          <a:xfrm>
            <a:off x="9148763" y="-1"/>
            <a:ext cx="1524000" cy="1370015"/>
          </a:xfrm>
          <a:prstGeom prst="rect">
            <a:avLst/>
          </a:prstGeom>
          <a:solidFill>
            <a:schemeClr val="bg1">
              <a:alpha val="83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2" name="遮罩色块27%"/>
          <p:cNvSpPr>
            <a:spLocks noChangeArrowheads="1"/>
          </p:cNvSpPr>
          <p:nvPr/>
        </p:nvSpPr>
        <p:spPr bwMode="auto">
          <a:xfrm>
            <a:off x="10672762" y="2720975"/>
            <a:ext cx="1519237" cy="1357312"/>
          </a:xfrm>
          <a:prstGeom prst="rect">
            <a:avLst/>
          </a:prstGeom>
          <a:solidFill>
            <a:schemeClr val="bg1">
              <a:alpha val="73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3" name="遮罩色块37%"/>
          <p:cNvSpPr>
            <a:spLocks noChangeArrowheads="1"/>
          </p:cNvSpPr>
          <p:nvPr/>
        </p:nvSpPr>
        <p:spPr bwMode="auto">
          <a:xfrm>
            <a:off x="7616825" y="1363663"/>
            <a:ext cx="1524000" cy="1370015"/>
          </a:xfrm>
          <a:prstGeom prst="rect">
            <a:avLst/>
          </a:prstGeom>
          <a:solidFill>
            <a:schemeClr val="bg1">
              <a:alpha val="63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nvSpPr>
        <p:spPr>
          <a:xfrm>
            <a:off x="4618734" y="6045839"/>
            <a:ext cx="2948181" cy="369332"/>
          </a:xfrm>
          <a:prstGeom prst="rect">
            <a:avLst/>
          </a:prstGeom>
          <a:noFill/>
        </p:spPr>
        <p:txBody>
          <a:bodyPr wrap="square" rtlCol="0">
            <a:spAutoFit/>
          </a:bodyPr>
          <a:lstStyle/>
          <a:p>
            <a:pPr algn="ctr"/>
            <a:r>
              <a:rPr lang="zh-CN" altLang="en-US" dirty="0"/>
              <a:t>软件学院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barn(outVertical)">
                                      <p:cBhvr>
                                        <p:cTn id="7" dur="500"/>
                                        <p:tgtEl>
                                          <p:spTgt spid="94"/>
                                        </p:tgtEl>
                                      </p:cBhvr>
                                    </p:animEffect>
                                  </p:childTnLst>
                                </p:cTn>
                              </p:par>
                              <p:par>
                                <p:cTn id="8" presetID="22" presetClass="entr" presetSubtype="8" fill="hold" nodeType="withEffect">
                                  <p:stCondLst>
                                    <p:cond delay="25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22" presetClass="entr" presetSubtype="1" fill="hold"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par>
                                <p:cTn id="14" presetID="53" presetClass="entr" presetSubtype="16" fill="hold" nodeType="withEffect">
                                  <p:stCondLst>
                                    <p:cond delay="75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grpId="0" nodeType="withEffect">
                                  <p:stCondLst>
                                    <p:cond delay="1000"/>
                                  </p:stCondLst>
                                  <p:childTnLst>
                                    <p:set>
                                      <p:cBhvr>
                                        <p:cTn id="20" dur="1" fill="hold">
                                          <p:stCondLst>
                                            <p:cond delay="0"/>
                                          </p:stCondLst>
                                        </p:cTn>
                                        <p:tgtEl>
                                          <p:spTgt spid="93"/>
                                        </p:tgtEl>
                                        <p:attrNameLst>
                                          <p:attrName>style.visibility</p:attrName>
                                        </p:attrNameLst>
                                      </p:cBhvr>
                                      <p:to>
                                        <p:strVal val="visible"/>
                                      </p:to>
                                    </p:set>
                                    <p:anim calcmode="lin" valueType="num">
                                      <p:cBhvr>
                                        <p:cTn id="21" dur="500" fill="hold"/>
                                        <p:tgtEl>
                                          <p:spTgt spid="93"/>
                                        </p:tgtEl>
                                        <p:attrNameLst>
                                          <p:attrName>ppt_w</p:attrName>
                                        </p:attrNameLst>
                                      </p:cBhvr>
                                      <p:tavLst>
                                        <p:tav tm="0">
                                          <p:val>
                                            <p:fltVal val="0"/>
                                          </p:val>
                                        </p:tav>
                                        <p:tav tm="100000">
                                          <p:val>
                                            <p:strVal val="#ppt_w"/>
                                          </p:val>
                                        </p:tav>
                                      </p:tavLst>
                                    </p:anim>
                                    <p:anim calcmode="lin" valueType="num">
                                      <p:cBhvr>
                                        <p:cTn id="22" dur="500" fill="hold"/>
                                        <p:tgtEl>
                                          <p:spTgt spid="93"/>
                                        </p:tgtEl>
                                        <p:attrNameLst>
                                          <p:attrName>ppt_h</p:attrName>
                                        </p:attrNameLst>
                                      </p:cBhvr>
                                      <p:tavLst>
                                        <p:tav tm="0">
                                          <p:val>
                                            <p:fltVal val="0"/>
                                          </p:val>
                                        </p:tav>
                                        <p:tav tm="100000">
                                          <p:val>
                                            <p:strVal val="#ppt_h"/>
                                          </p:val>
                                        </p:tav>
                                      </p:tavLst>
                                    </p:anim>
                                    <p:animEffect transition="in" filter="fade">
                                      <p:cBhvr>
                                        <p:cTn id="23" dur="500"/>
                                        <p:tgtEl>
                                          <p:spTgt spid="93"/>
                                        </p:tgtEl>
                                      </p:cBhvr>
                                    </p:animEffect>
                                  </p:childTnLst>
                                </p:cTn>
                              </p:par>
                              <p:par>
                                <p:cTn id="24" presetID="53" presetClass="entr" presetSubtype="16" fill="hold" grpId="0" nodeType="withEffect">
                                  <p:stCondLst>
                                    <p:cond delay="1250"/>
                                  </p:stCondLst>
                                  <p:childTnLst>
                                    <p:set>
                                      <p:cBhvr>
                                        <p:cTn id="25" dur="1" fill="hold">
                                          <p:stCondLst>
                                            <p:cond delay="0"/>
                                          </p:stCondLst>
                                        </p:cTn>
                                        <p:tgtEl>
                                          <p:spTgt spid="91"/>
                                        </p:tgtEl>
                                        <p:attrNameLst>
                                          <p:attrName>style.visibility</p:attrName>
                                        </p:attrNameLst>
                                      </p:cBhvr>
                                      <p:to>
                                        <p:strVal val="visible"/>
                                      </p:to>
                                    </p:set>
                                    <p:anim calcmode="lin" valueType="num">
                                      <p:cBhvr>
                                        <p:cTn id="26" dur="500" fill="hold"/>
                                        <p:tgtEl>
                                          <p:spTgt spid="91"/>
                                        </p:tgtEl>
                                        <p:attrNameLst>
                                          <p:attrName>ppt_w</p:attrName>
                                        </p:attrNameLst>
                                      </p:cBhvr>
                                      <p:tavLst>
                                        <p:tav tm="0">
                                          <p:val>
                                            <p:fltVal val="0"/>
                                          </p:val>
                                        </p:tav>
                                        <p:tav tm="100000">
                                          <p:val>
                                            <p:strVal val="#ppt_w"/>
                                          </p:val>
                                        </p:tav>
                                      </p:tavLst>
                                    </p:anim>
                                    <p:anim calcmode="lin" valueType="num">
                                      <p:cBhvr>
                                        <p:cTn id="27" dur="500" fill="hold"/>
                                        <p:tgtEl>
                                          <p:spTgt spid="91"/>
                                        </p:tgtEl>
                                        <p:attrNameLst>
                                          <p:attrName>ppt_h</p:attrName>
                                        </p:attrNameLst>
                                      </p:cBhvr>
                                      <p:tavLst>
                                        <p:tav tm="0">
                                          <p:val>
                                            <p:fltVal val="0"/>
                                          </p:val>
                                        </p:tav>
                                        <p:tav tm="100000">
                                          <p:val>
                                            <p:strVal val="#ppt_h"/>
                                          </p:val>
                                        </p:tav>
                                      </p:tavLst>
                                    </p:anim>
                                    <p:animEffect transition="in" filter="fade">
                                      <p:cBhvr>
                                        <p:cTn id="28" dur="500"/>
                                        <p:tgtEl>
                                          <p:spTgt spid="91"/>
                                        </p:tgtEl>
                                      </p:cBhvr>
                                    </p:animEffect>
                                  </p:childTnLst>
                                </p:cTn>
                              </p:par>
                              <p:par>
                                <p:cTn id="29" presetID="53" presetClass="entr" presetSubtype="16" fill="hold" grpId="0" nodeType="withEffect">
                                  <p:stCondLst>
                                    <p:cond delay="1500"/>
                                  </p:stCondLst>
                                  <p:childTnLst>
                                    <p:set>
                                      <p:cBhvr>
                                        <p:cTn id="30" dur="1" fill="hold">
                                          <p:stCondLst>
                                            <p:cond delay="0"/>
                                          </p:stCondLst>
                                        </p:cTn>
                                        <p:tgtEl>
                                          <p:spTgt spid="92"/>
                                        </p:tgtEl>
                                        <p:attrNameLst>
                                          <p:attrName>style.visibility</p:attrName>
                                        </p:attrNameLst>
                                      </p:cBhvr>
                                      <p:to>
                                        <p:strVal val="visible"/>
                                      </p:to>
                                    </p:set>
                                    <p:anim calcmode="lin" valueType="num">
                                      <p:cBhvr>
                                        <p:cTn id="31" dur="500" fill="hold"/>
                                        <p:tgtEl>
                                          <p:spTgt spid="92"/>
                                        </p:tgtEl>
                                        <p:attrNameLst>
                                          <p:attrName>ppt_w</p:attrName>
                                        </p:attrNameLst>
                                      </p:cBhvr>
                                      <p:tavLst>
                                        <p:tav tm="0">
                                          <p:val>
                                            <p:fltVal val="0"/>
                                          </p:val>
                                        </p:tav>
                                        <p:tav tm="100000">
                                          <p:val>
                                            <p:strVal val="#ppt_w"/>
                                          </p:val>
                                        </p:tav>
                                      </p:tavLst>
                                    </p:anim>
                                    <p:anim calcmode="lin" valueType="num">
                                      <p:cBhvr>
                                        <p:cTn id="32" dur="500" fill="hold"/>
                                        <p:tgtEl>
                                          <p:spTgt spid="92"/>
                                        </p:tgtEl>
                                        <p:attrNameLst>
                                          <p:attrName>ppt_h</p:attrName>
                                        </p:attrNameLst>
                                      </p:cBhvr>
                                      <p:tavLst>
                                        <p:tav tm="0">
                                          <p:val>
                                            <p:fltVal val="0"/>
                                          </p:val>
                                        </p:tav>
                                        <p:tav tm="100000">
                                          <p:val>
                                            <p:strVal val="#ppt_h"/>
                                          </p:val>
                                        </p:tav>
                                      </p:tavLst>
                                    </p:anim>
                                    <p:animEffect transition="in" filter="fade">
                                      <p:cBhvr>
                                        <p:cTn id="33" dur="500"/>
                                        <p:tgtEl>
                                          <p:spTgt spid="92"/>
                                        </p:tgtEl>
                                      </p:cBhvr>
                                    </p:animEffect>
                                  </p:childTnLst>
                                </p:cTn>
                              </p:par>
                              <p:par>
                                <p:cTn id="34" presetID="16" presetClass="entr" presetSubtype="21" fill="hold" nodeType="withEffect">
                                  <p:stCondLst>
                                    <p:cond delay="215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5993317" y="1045794"/>
            <a:ext cx="6483802" cy="4862851"/>
          </a:xfrm>
          <a:effectLst>
            <a:innerShdw blurRad="63500" dist="50800" dir="10800000">
              <a:prstClr val="black">
                <a:alpha val="50000"/>
              </a:prstClr>
            </a:innerShdw>
          </a:effectLst>
        </p:spPr>
      </p:pic>
      <p:grpSp>
        <p:nvGrpSpPr>
          <p:cNvPr id="4" name="组合 3"/>
          <p:cNvGrpSpPr/>
          <p:nvPr/>
        </p:nvGrpSpPr>
        <p:grpSpPr>
          <a:xfrm>
            <a:off x="11181534" y="5433169"/>
            <a:ext cx="664254" cy="770531"/>
            <a:chOff x="8966893" y="4861108"/>
            <a:chExt cx="1147748" cy="1331382"/>
          </a:xfrm>
        </p:grpSpPr>
        <p:sp>
          <p:nvSpPr>
            <p:cNvPr id="29" name="六边形 28"/>
            <p:cNvSpPr/>
            <p:nvPr/>
          </p:nvSpPr>
          <p:spPr>
            <a:xfrm rot="5400000">
              <a:off x="8875076" y="4952925"/>
              <a:ext cx="1331382" cy="1147748"/>
            </a:xfrm>
            <a:prstGeom prst="hexagon">
              <a:avLst/>
            </a:prstGeom>
            <a:solidFill>
              <a:schemeClr val="bg1"/>
            </a:solidFill>
            <a:ln w="28575">
              <a:solidFill>
                <a:schemeClr val="bg2"/>
              </a:solidFill>
            </a:ln>
            <a:effectLst>
              <a:outerShdw blurRad="3937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0" name="椭圆 29"/>
            <p:cNvSpPr/>
            <p:nvPr/>
          </p:nvSpPr>
          <p:spPr>
            <a:xfrm>
              <a:off x="9099810" y="5085842"/>
              <a:ext cx="881914" cy="8819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45"/>
            <p:cNvSpPr/>
            <p:nvPr/>
          </p:nvSpPr>
          <p:spPr>
            <a:xfrm>
              <a:off x="9319844" y="5291582"/>
              <a:ext cx="441846" cy="470434"/>
            </a:xfrm>
            <a:custGeom>
              <a:avLst/>
              <a:gdLst>
                <a:gd name="T0" fmla="*/ 0 w 391"/>
                <a:gd name="T1" fmla="*/ 196 h 417"/>
                <a:gd name="T2" fmla="*/ 391 w 391"/>
                <a:gd name="T3" fmla="*/ 0 h 417"/>
                <a:gd name="T4" fmla="*/ 298 w 391"/>
                <a:gd name="T5" fmla="*/ 388 h 417"/>
                <a:gd name="T6" fmla="*/ 223 w 391"/>
                <a:gd name="T7" fmla="*/ 340 h 417"/>
                <a:gd name="T8" fmla="*/ 159 w 391"/>
                <a:gd name="T9" fmla="*/ 417 h 417"/>
                <a:gd name="T10" fmla="*/ 159 w 391"/>
                <a:gd name="T11" fmla="*/ 295 h 417"/>
                <a:gd name="T12" fmla="*/ 296 w 391"/>
                <a:gd name="T13" fmla="*/ 112 h 417"/>
                <a:gd name="T14" fmla="*/ 113 w 391"/>
                <a:gd name="T15" fmla="*/ 269 h 417"/>
                <a:gd name="T16" fmla="*/ 0 w 391"/>
                <a:gd name="T17" fmla="*/ 196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1" h="417">
                  <a:moveTo>
                    <a:pt x="0" y="196"/>
                  </a:moveTo>
                  <a:lnTo>
                    <a:pt x="391" y="0"/>
                  </a:lnTo>
                  <a:lnTo>
                    <a:pt x="298" y="388"/>
                  </a:lnTo>
                  <a:lnTo>
                    <a:pt x="223" y="340"/>
                  </a:lnTo>
                  <a:lnTo>
                    <a:pt x="159" y="417"/>
                  </a:lnTo>
                  <a:lnTo>
                    <a:pt x="159" y="295"/>
                  </a:lnTo>
                  <a:lnTo>
                    <a:pt x="296" y="112"/>
                  </a:lnTo>
                  <a:lnTo>
                    <a:pt x="113" y="269"/>
                  </a:lnTo>
                  <a:lnTo>
                    <a:pt x="0" y="19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cs typeface="+mn-ea"/>
                <a:sym typeface="+mn-lt"/>
              </a:endParaRPr>
            </a:p>
          </p:txBody>
        </p:sp>
      </p:grpSp>
      <p:cxnSp>
        <p:nvCxnSpPr>
          <p:cNvPr id="33" name="直接连接符 32"/>
          <p:cNvCxnSpPr/>
          <p:nvPr/>
        </p:nvCxnSpPr>
        <p:spPr>
          <a:xfrm>
            <a:off x="1597288" y="1702724"/>
            <a:ext cx="28575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778143" y="3643968"/>
            <a:ext cx="4869299" cy="793890"/>
            <a:chOff x="4977508" y="4521158"/>
            <a:chExt cx="4869299" cy="793890"/>
          </a:xfrm>
        </p:grpSpPr>
        <p:sp>
          <p:nvSpPr>
            <p:cNvPr id="39" name="矩形 38"/>
            <p:cNvSpPr/>
            <p:nvPr/>
          </p:nvSpPr>
          <p:spPr>
            <a:xfrm>
              <a:off x="4977508" y="4538096"/>
              <a:ext cx="748800" cy="750173"/>
            </a:xfrm>
            <a:prstGeom prst="rect">
              <a:avLst/>
            </a:prstGeom>
            <a:solidFill>
              <a:schemeClr val="accent1"/>
            </a:solidFill>
          </p:spPr>
          <p:txBody>
            <a:bodyPr wrap="none"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white"/>
                  </a:solidFill>
                  <a:effectLst/>
                  <a:uLnTx/>
                  <a:uFillTx/>
                  <a:cs typeface="+mn-ea"/>
                  <a:sym typeface="+mn-lt"/>
                </a:rPr>
                <a:t>03</a:t>
              </a:r>
              <a:endParaRPr kumimoji="0" lang="zh-CN" altLang="en-US" sz="2665" b="0" i="0" u="none" strike="noStrike" kern="1200" cap="none" spc="0" normalizeH="0" baseline="0" noProof="0" dirty="0">
                <a:ln>
                  <a:noFill/>
                </a:ln>
                <a:solidFill>
                  <a:prstClr val="white"/>
                </a:solidFill>
                <a:effectLst/>
                <a:uLnTx/>
                <a:uFillTx/>
                <a:cs typeface="+mn-ea"/>
                <a:sym typeface="+mn-lt"/>
              </a:endParaRPr>
            </a:p>
          </p:txBody>
        </p:sp>
        <p:sp>
          <p:nvSpPr>
            <p:cNvPr id="40" name="矩形 39"/>
            <p:cNvSpPr/>
            <p:nvPr/>
          </p:nvSpPr>
          <p:spPr>
            <a:xfrm>
              <a:off x="5863887" y="4976494"/>
              <a:ext cx="398292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1045C9"/>
                  </a:solidFill>
                  <a:effectLst/>
                  <a:uLnTx/>
                  <a:uFillTx/>
                  <a:cs typeface="+mn-ea"/>
                  <a:sym typeface="+mn-lt"/>
                </a:rPr>
                <a:t>Northwestern Polytechnical University</a:t>
              </a:r>
            </a:p>
          </p:txBody>
        </p:sp>
        <p:sp>
          <p:nvSpPr>
            <p:cNvPr id="41" name="矩形 40"/>
            <p:cNvSpPr/>
            <p:nvPr/>
          </p:nvSpPr>
          <p:spPr>
            <a:xfrm>
              <a:off x="5847759" y="4521158"/>
              <a:ext cx="1415772" cy="461665"/>
            </a:xfrm>
            <a:prstGeom prst="rect">
              <a:avLst/>
            </a:prstGeom>
          </p:spPr>
          <p:txBody>
            <a:bodyPr wrap="none">
              <a:spAutoFit/>
            </a:bodyPr>
            <a:lstStyle/>
            <a:p>
              <a:pPr lvl="0" defTabSz="914400">
                <a:defRPr/>
              </a:pPr>
              <a:r>
                <a:rPr kumimoji="0" lang="zh-CN" altLang="en-US" sz="2400" b="0" i="0" u="none" strike="noStrike" kern="1200" cap="none" spc="0" normalizeH="0" baseline="0" noProof="0" dirty="0">
                  <a:ln>
                    <a:noFill/>
                  </a:ln>
                  <a:solidFill>
                    <a:srgbClr val="1045C9"/>
                  </a:solidFill>
                  <a:effectLst/>
                  <a:uLnTx/>
                  <a:uFillTx/>
                  <a:cs typeface="+mn-ea"/>
                  <a:sym typeface="+mn-lt"/>
                </a:rPr>
                <a:t>指导教师</a:t>
              </a:r>
            </a:p>
          </p:txBody>
        </p:sp>
      </p:grpSp>
      <p:grpSp>
        <p:nvGrpSpPr>
          <p:cNvPr id="47" name="组合 46"/>
          <p:cNvGrpSpPr/>
          <p:nvPr/>
        </p:nvGrpSpPr>
        <p:grpSpPr>
          <a:xfrm>
            <a:off x="778143" y="1709434"/>
            <a:ext cx="4869299" cy="830422"/>
            <a:chOff x="4977508" y="2146481"/>
            <a:chExt cx="4869299" cy="830422"/>
          </a:xfrm>
        </p:grpSpPr>
        <p:sp>
          <p:nvSpPr>
            <p:cNvPr id="48" name="矩形 47"/>
            <p:cNvSpPr/>
            <p:nvPr/>
          </p:nvSpPr>
          <p:spPr>
            <a:xfrm>
              <a:off x="5863887" y="2601817"/>
              <a:ext cx="398292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1045C9"/>
                  </a:solidFill>
                  <a:effectLst/>
                  <a:uLnTx/>
                  <a:uFillTx/>
                  <a:cs typeface="+mn-ea"/>
                  <a:sym typeface="+mn-lt"/>
                </a:rPr>
                <a:t>Northwestern Polytechnical University</a:t>
              </a:r>
            </a:p>
          </p:txBody>
        </p:sp>
        <p:sp>
          <p:nvSpPr>
            <p:cNvPr id="49" name="矩形 48"/>
            <p:cNvSpPr/>
            <p:nvPr/>
          </p:nvSpPr>
          <p:spPr>
            <a:xfrm>
              <a:off x="5847759" y="2146481"/>
              <a:ext cx="141577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1045C9"/>
                  </a:solidFill>
                  <a:cs typeface="+mn-ea"/>
                  <a:sym typeface="+mn-lt"/>
                </a:rPr>
                <a:t>基本情况</a:t>
              </a:r>
              <a:endParaRPr kumimoji="0" lang="zh-CN" altLang="en-US" sz="2400" b="0" i="0" u="none" strike="noStrike" kern="1200" cap="none" spc="0" normalizeH="0" baseline="0" noProof="0" dirty="0">
                <a:ln>
                  <a:noFill/>
                </a:ln>
                <a:solidFill>
                  <a:srgbClr val="1045C9"/>
                </a:solidFill>
                <a:effectLst/>
                <a:uLnTx/>
                <a:uFillTx/>
                <a:cs typeface="+mn-ea"/>
                <a:sym typeface="+mn-lt"/>
              </a:endParaRPr>
            </a:p>
          </p:txBody>
        </p:sp>
        <p:sp>
          <p:nvSpPr>
            <p:cNvPr id="50" name="矩形 49"/>
            <p:cNvSpPr/>
            <p:nvPr/>
          </p:nvSpPr>
          <p:spPr>
            <a:xfrm>
              <a:off x="4977508" y="2226730"/>
              <a:ext cx="748800" cy="750173"/>
            </a:xfrm>
            <a:prstGeom prst="rect">
              <a:avLst/>
            </a:prstGeom>
            <a:solidFill>
              <a:schemeClr val="accent1"/>
            </a:solidFill>
          </p:spPr>
          <p:txBody>
            <a:bodyPr wrap="none"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white"/>
                  </a:solidFill>
                  <a:effectLst/>
                  <a:uLnTx/>
                  <a:uFillTx/>
                  <a:cs typeface="+mn-ea"/>
                  <a:sym typeface="+mn-lt"/>
                </a:rPr>
                <a:t>01</a:t>
              </a:r>
              <a:endParaRPr kumimoji="0" lang="zh-CN" altLang="en-US" sz="2665" b="0" i="0" u="none" strike="noStrike" kern="1200" cap="none" spc="0" normalizeH="0" baseline="0" noProof="0" dirty="0">
                <a:ln>
                  <a:noFill/>
                </a:ln>
                <a:solidFill>
                  <a:prstClr val="white"/>
                </a:solidFill>
                <a:effectLst/>
                <a:uLnTx/>
                <a:uFillTx/>
                <a:cs typeface="+mn-ea"/>
                <a:sym typeface="+mn-lt"/>
              </a:endParaRPr>
            </a:p>
          </p:txBody>
        </p:sp>
      </p:grpSp>
      <p:cxnSp>
        <p:nvCxnSpPr>
          <p:cNvPr id="51" name="直接连接符 50"/>
          <p:cNvCxnSpPr/>
          <p:nvPr/>
        </p:nvCxnSpPr>
        <p:spPr>
          <a:xfrm>
            <a:off x="939559" y="1965403"/>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444779" y="2666127"/>
            <a:ext cx="4869299" cy="793890"/>
            <a:chOff x="2342542" y="2213318"/>
            <a:chExt cx="4869299" cy="793890"/>
          </a:xfrm>
        </p:grpSpPr>
        <p:grpSp>
          <p:nvGrpSpPr>
            <p:cNvPr id="34" name="组合 33"/>
            <p:cNvGrpSpPr/>
            <p:nvPr/>
          </p:nvGrpSpPr>
          <p:grpSpPr>
            <a:xfrm>
              <a:off x="2342542" y="2213318"/>
              <a:ext cx="4869299" cy="793890"/>
              <a:chOff x="4977508" y="3321660"/>
              <a:chExt cx="4869299" cy="793890"/>
            </a:xfrm>
          </p:grpSpPr>
          <p:sp>
            <p:nvSpPr>
              <p:cNvPr id="35" name="矩形 34"/>
              <p:cNvSpPr/>
              <p:nvPr/>
            </p:nvSpPr>
            <p:spPr>
              <a:xfrm>
                <a:off x="4977508" y="3343519"/>
                <a:ext cx="748800" cy="750173"/>
              </a:xfrm>
              <a:prstGeom prst="rect">
                <a:avLst/>
              </a:prstGeom>
              <a:solidFill>
                <a:schemeClr val="accent1"/>
              </a:solidFill>
            </p:spPr>
            <p:txBody>
              <a:bodyPr wrap="none"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white"/>
                    </a:solidFill>
                    <a:effectLst/>
                    <a:uLnTx/>
                    <a:uFillTx/>
                    <a:cs typeface="+mn-ea"/>
                    <a:sym typeface="+mn-lt"/>
                  </a:rPr>
                  <a:t>02</a:t>
                </a:r>
                <a:endParaRPr kumimoji="0" lang="zh-CN" altLang="en-US" sz="2665" b="0" i="0" u="none" strike="noStrike" kern="1200" cap="none" spc="0" normalizeH="0" baseline="0" noProof="0" dirty="0">
                  <a:ln>
                    <a:noFill/>
                  </a:ln>
                  <a:solidFill>
                    <a:prstClr val="white"/>
                  </a:solidFill>
                  <a:effectLst/>
                  <a:uLnTx/>
                  <a:uFillTx/>
                  <a:cs typeface="+mn-ea"/>
                  <a:sym typeface="+mn-lt"/>
                </a:endParaRPr>
              </a:p>
            </p:txBody>
          </p:sp>
          <p:sp>
            <p:nvSpPr>
              <p:cNvPr id="36" name="矩形 35"/>
              <p:cNvSpPr/>
              <p:nvPr/>
            </p:nvSpPr>
            <p:spPr>
              <a:xfrm>
                <a:off x="5863887" y="3776996"/>
                <a:ext cx="398292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1045C9"/>
                    </a:solidFill>
                    <a:effectLst/>
                    <a:uLnTx/>
                    <a:uFillTx/>
                    <a:cs typeface="+mn-ea"/>
                    <a:sym typeface="+mn-lt"/>
                  </a:rPr>
                  <a:t>Northwestern Polytechnical University</a:t>
                </a:r>
              </a:p>
            </p:txBody>
          </p:sp>
          <p:sp>
            <p:nvSpPr>
              <p:cNvPr id="37" name="矩形 36"/>
              <p:cNvSpPr/>
              <p:nvPr/>
            </p:nvSpPr>
            <p:spPr>
              <a:xfrm>
                <a:off x="5847759" y="3321660"/>
                <a:ext cx="1415772" cy="461665"/>
              </a:xfrm>
              <a:prstGeom prst="rect">
                <a:avLst/>
              </a:prstGeom>
            </p:spPr>
            <p:txBody>
              <a:bodyPr wrap="none">
                <a:spAutoFit/>
              </a:bodyPr>
              <a:lstStyle/>
              <a:p>
                <a:pPr lvl="0" defTabSz="914400">
                  <a:defRPr/>
                </a:pPr>
                <a:r>
                  <a:rPr kumimoji="0" lang="zh-CN" altLang="en-US" sz="2400" b="0" i="0" u="none" strike="noStrike" kern="1200" cap="none" spc="0" normalizeH="0" baseline="0" noProof="0" dirty="0">
                    <a:ln>
                      <a:noFill/>
                    </a:ln>
                    <a:solidFill>
                      <a:srgbClr val="1045C9"/>
                    </a:solidFill>
                    <a:effectLst/>
                    <a:uLnTx/>
                    <a:uFillTx/>
                    <a:cs typeface="+mn-ea"/>
                    <a:sym typeface="+mn-lt"/>
                  </a:rPr>
                  <a:t>项目成员</a:t>
                </a:r>
              </a:p>
            </p:txBody>
          </p:sp>
        </p:grpSp>
        <p:cxnSp>
          <p:nvCxnSpPr>
            <p:cNvPr id="52" name="直接连接符 51"/>
            <p:cNvCxnSpPr/>
            <p:nvPr/>
          </p:nvCxnSpPr>
          <p:spPr>
            <a:xfrm>
              <a:off x="2573722" y="2837931"/>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53" name="直接连接符 52"/>
          <p:cNvCxnSpPr/>
          <p:nvPr/>
        </p:nvCxnSpPr>
        <p:spPr>
          <a:xfrm>
            <a:off x="939559" y="4992806"/>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534133" y="4610179"/>
            <a:ext cx="4869299" cy="793890"/>
            <a:chOff x="2342542" y="4121996"/>
            <a:chExt cx="4869299" cy="793890"/>
          </a:xfrm>
        </p:grpSpPr>
        <p:grpSp>
          <p:nvGrpSpPr>
            <p:cNvPr id="42" name="组合 41"/>
            <p:cNvGrpSpPr/>
            <p:nvPr/>
          </p:nvGrpSpPr>
          <p:grpSpPr>
            <a:xfrm>
              <a:off x="2342542" y="4121996"/>
              <a:ext cx="4869299" cy="793890"/>
              <a:chOff x="5721600" y="5512380"/>
              <a:chExt cx="4869299" cy="793890"/>
            </a:xfrm>
          </p:grpSpPr>
          <p:cxnSp>
            <p:nvCxnSpPr>
              <p:cNvPr id="43" name="直接连接符 42"/>
              <p:cNvCxnSpPr/>
              <p:nvPr/>
            </p:nvCxnSpPr>
            <p:spPr>
              <a:xfrm>
                <a:off x="6736662" y="5960620"/>
                <a:ext cx="28575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5721600" y="5534239"/>
                <a:ext cx="748800" cy="750173"/>
              </a:xfrm>
              <a:prstGeom prst="rect">
                <a:avLst/>
              </a:prstGeom>
              <a:solidFill>
                <a:schemeClr val="accent1"/>
              </a:solidFill>
            </p:spPr>
            <p:txBody>
              <a:bodyPr wrap="none"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white"/>
                    </a:solidFill>
                    <a:effectLst/>
                    <a:uLnTx/>
                    <a:uFillTx/>
                    <a:cs typeface="+mn-ea"/>
                    <a:sym typeface="+mn-lt"/>
                  </a:rPr>
                  <a:t>04</a:t>
                </a:r>
                <a:endParaRPr kumimoji="0" lang="zh-CN" altLang="en-US" sz="2665" b="0" i="0" u="none" strike="noStrike" kern="1200" cap="none" spc="0" normalizeH="0" baseline="0" noProof="0" dirty="0">
                  <a:ln>
                    <a:noFill/>
                  </a:ln>
                  <a:solidFill>
                    <a:prstClr val="white"/>
                  </a:solidFill>
                  <a:effectLst/>
                  <a:uLnTx/>
                  <a:uFillTx/>
                  <a:cs typeface="+mn-ea"/>
                  <a:sym typeface="+mn-lt"/>
                </a:endParaRPr>
              </a:p>
            </p:txBody>
          </p:sp>
          <p:sp>
            <p:nvSpPr>
              <p:cNvPr id="45" name="矩形 44"/>
              <p:cNvSpPr/>
              <p:nvPr/>
            </p:nvSpPr>
            <p:spPr>
              <a:xfrm>
                <a:off x="6607979" y="5967716"/>
                <a:ext cx="398292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1045C9"/>
                    </a:solidFill>
                    <a:effectLst/>
                    <a:uLnTx/>
                    <a:uFillTx/>
                    <a:cs typeface="+mn-ea"/>
                    <a:sym typeface="+mn-lt"/>
                  </a:rPr>
                  <a:t>Northwestern Polytechnical University</a:t>
                </a:r>
              </a:p>
            </p:txBody>
          </p:sp>
          <p:sp>
            <p:nvSpPr>
              <p:cNvPr id="46" name="矩形 45"/>
              <p:cNvSpPr/>
              <p:nvPr/>
            </p:nvSpPr>
            <p:spPr>
              <a:xfrm>
                <a:off x="6591851" y="5512380"/>
                <a:ext cx="1415772" cy="461665"/>
              </a:xfrm>
              <a:prstGeom prst="rect">
                <a:avLst/>
              </a:prstGeom>
            </p:spPr>
            <p:txBody>
              <a:bodyPr wrap="none">
                <a:spAutoFit/>
              </a:bodyPr>
              <a:lstStyle/>
              <a:p>
                <a:pPr lvl="0" defTabSz="914400">
                  <a:defRPr/>
                </a:pPr>
                <a:r>
                  <a:rPr kumimoji="0" lang="zh-CN" altLang="en-US" sz="2400" b="0" i="0" u="none" strike="noStrike" kern="1200" cap="none" spc="0" normalizeH="0" baseline="0" noProof="0" dirty="0">
                    <a:ln>
                      <a:noFill/>
                    </a:ln>
                    <a:solidFill>
                      <a:srgbClr val="1045C9"/>
                    </a:solidFill>
                    <a:effectLst/>
                    <a:uLnTx/>
                    <a:uFillTx/>
                    <a:cs typeface="+mn-ea"/>
                    <a:sym typeface="+mn-lt"/>
                  </a:rPr>
                  <a:t>立项依据</a:t>
                </a:r>
              </a:p>
            </p:txBody>
          </p:sp>
        </p:grpSp>
        <p:cxnSp>
          <p:nvCxnSpPr>
            <p:cNvPr id="54" name="直接连接符 53"/>
            <p:cNvCxnSpPr/>
            <p:nvPr/>
          </p:nvCxnSpPr>
          <p:spPr>
            <a:xfrm>
              <a:off x="2573722" y="4757687"/>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9972920" y="592586"/>
            <a:ext cx="2219080" cy="538397"/>
            <a:chOff x="9846796" y="286695"/>
            <a:chExt cx="2345202" cy="568997"/>
          </a:xfrm>
        </p:grpSpPr>
        <p:sp>
          <p:nvSpPr>
            <p:cNvPr id="56" name="打底色块"/>
            <p:cNvSpPr/>
            <p:nvPr userDrawn="1"/>
          </p:nvSpPr>
          <p:spPr>
            <a:xfrm>
              <a:off x="9846796" y="286695"/>
              <a:ext cx="2345202" cy="568997"/>
            </a:xfrm>
            <a:prstGeom prst="rect">
              <a:avLst/>
            </a:prstGeom>
            <a:solidFill>
              <a:schemeClr val="accent1"/>
            </a:solidFill>
            <a:ln w="25400" cap="flat" cmpd="sng" algn="ctr">
              <a:noFill/>
              <a:prstDash val="solid"/>
            </a:ln>
            <a:effectLst/>
          </p:spPr>
          <p:txBody>
            <a:bodyPr rtlCol="0" anchor="ctr"/>
            <a:lstStyle/>
            <a:p>
              <a:pPr marL="0" marR="0" lvl="0" indent="0" algn="ctr" defTabSz="914400" rtl="0" eaLnBrk="1" fontAlgn="base" latinLnBrk="0" hangingPunct="1">
                <a:lnSpc>
                  <a:spcPct val="105000"/>
                </a:lnSpc>
                <a:spcBef>
                  <a:spcPct val="0"/>
                </a:spcBef>
                <a:spcAft>
                  <a:spcPct val="0"/>
                </a:spcAft>
                <a:buClr>
                  <a:srgbClr val="3366FF"/>
                </a:buClr>
                <a:buSzPct val="80000"/>
                <a:buFont typeface="Wingdings" panose="05000000000000000000" pitchFamily="2" charset="2"/>
                <a:buNone/>
                <a:defRPr/>
              </a:pPr>
              <a:endParaRPr kumimoji="1" lang="zh-CN" altLang="en-US" sz="2000" b="1"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57" name="西北工业大学"/>
            <p:cNvPicPr>
              <a:picLocks noChangeAspect="1"/>
            </p:cNvPicPr>
            <p:nvPr userDrawn="1"/>
          </p:nvPicPr>
          <p:blipFill>
            <a:blip r:embed="rId4" cstate="screen"/>
            <a:stretch>
              <a:fillRect/>
            </a:stretch>
          </p:blipFill>
          <p:spPr>
            <a:xfrm>
              <a:off x="10501316" y="376728"/>
              <a:ext cx="1546127" cy="388933"/>
            </a:xfrm>
            <a:prstGeom prst="rect">
              <a:avLst/>
            </a:prstGeom>
          </p:spPr>
        </p:pic>
        <p:pic>
          <p:nvPicPr>
            <p:cNvPr id="58" name="校徽"/>
            <p:cNvPicPr>
              <a:picLocks noChangeAspect="1"/>
            </p:cNvPicPr>
            <p:nvPr userDrawn="1"/>
          </p:nvPicPr>
          <p:blipFill>
            <a:blip r:embed="rId5" cstate="screen"/>
            <a:stretch>
              <a:fillRect/>
            </a:stretch>
          </p:blipFill>
          <p:spPr>
            <a:xfrm>
              <a:off x="9888273" y="326503"/>
              <a:ext cx="490134" cy="489382"/>
            </a:xfrm>
            <a:prstGeom prst="rect">
              <a:avLst/>
            </a:prstGeom>
          </p:spPr>
        </p:pic>
      </p:grpSp>
      <p:cxnSp>
        <p:nvCxnSpPr>
          <p:cNvPr id="59" name="直接连接符 58"/>
          <p:cNvCxnSpPr/>
          <p:nvPr/>
        </p:nvCxnSpPr>
        <p:spPr>
          <a:xfrm>
            <a:off x="939559" y="4377799"/>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0" name="目录组合"/>
          <p:cNvGrpSpPr/>
          <p:nvPr/>
        </p:nvGrpSpPr>
        <p:grpSpPr>
          <a:xfrm>
            <a:off x="584707" y="381541"/>
            <a:ext cx="5265737" cy="862363"/>
            <a:chOff x="1300749" y="958849"/>
            <a:chExt cx="5265737" cy="862363"/>
          </a:xfrm>
        </p:grpSpPr>
        <p:sp>
          <p:nvSpPr>
            <p:cNvPr id="61" name="目录英文"/>
            <p:cNvSpPr txBox="1"/>
            <p:nvPr/>
          </p:nvSpPr>
          <p:spPr>
            <a:xfrm>
              <a:off x="3451810" y="1008558"/>
              <a:ext cx="3114676" cy="769441"/>
            </a:xfrm>
            <a:prstGeom prst="rect">
              <a:avLst/>
            </a:prstGeom>
            <a:noFill/>
          </p:spPr>
          <p:txBody>
            <a:bodyPr wrap="square" rtlCol="0">
              <a:spAutoFit/>
            </a:bodyPr>
            <a:lstStyle/>
            <a:p>
              <a:pPr defTabSz="457200"/>
              <a:r>
                <a:rPr lang="en-US" altLang="zh-CN" sz="4400" dirty="0">
                  <a:solidFill>
                    <a:schemeClr val="accent1"/>
                  </a:solidFill>
                  <a:cs typeface="+mn-ea"/>
                  <a:sym typeface="+mn-lt"/>
                </a:rPr>
                <a:t>contents</a:t>
              </a:r>
              <a:endParaRPr lang="zh-CN" altLang="en-US" sz="4400" dirty="0">
                <a:solidFill>
                  <a:schemeClr val="accent1"/>
                </a:solidFill>
                <a:cs typeface="+mn-ea"/>
                <a:sym typeface="+mn-lt"/>
              </a:endParaRPr>
            </a:p>
          </p:txBody>
        </p:sp>
        <p:cxnSp>
          <p:nvCxnSpPr>
            <p:cNvPr id="62" name="点缀线段"/>
            <p:cNvCxnSpPr/>
            <p:nvPr/>
          </p:nvCxnSpPr>
          <p:spPr>
            <a:xfrm>
              <a:off x="3308936" y="958849"/>
              <a:ext cx="0" cy="81915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3" name="目录"/>
            <p:cNvSpPr txBox="1"/>
            <p:nvPr/>
          </p:nvSpPr>
          <p:spPr>
            <a:xfrm>
              <a:off x="1300749" y="990215"/>
              <a:ext cx="1819275" cy="830997"/>
            </a:xfrm>
            <a:prstGeom prst="rect">
              <a:avLst/>
            </a:prstGeom>
            <a:noFill/>
          </p:spPr>
          <p:txBody>
            <a:bodyPr wrap="square" rtlCol="0">
              <a:spAutoFit/>
            </a:bodyPr>
            <a:lstStyle/>
            <a:p>
              <a:pPr algn="dist" defTabSz="457200"/>
              <a:r>
                <a:rPr lang="zh-CN" altLang="en-US" sz="4800" b="1" dirty="0">
                  <a:solidFill>
                    <a:schemeClr val="accent1"/>
                  </a:solidFill>
                  <a:cs typeface="+mn-ea"/>
                  <a:sym typeface="+mn-lt"/>
                </a:rPr>
                <a:t>目录</a:t>
              </a:r>
            </a:p>
          </p:txBody>
        </p:sp>
      </p:grpSp>
      <p:cxnSp>
        <p:nvCxnSpPr>
          <p:cNvPr id="9" name="直接连接符 8"/>
          <p:cNvCxnSpPr/>
          <p:nvPr/>
        </p:nvCxnSpPr>
        <p:spPr>
          <a:xfrm>
            <a:off x="2592894" y="502920"/>
            <a:ext cx="0" cy="697771"/>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783662" y="5535686"/>
            <a:ext cx="4869299" cy="793890"/>
            <a:chOff x="2342542" y="4121996"/>
            <a:chExt cx="4869299" cy="793890"/>
          </a:xfrm>
        </p:grpSpPr>
        <p:grpSp>
          <p:nvGrpSpPr>
            <p:cNvPr id="72" name="组合 71"/>
            <p:cNvGrpSpPr/>
            <p:nvPr/>
          </p:nvGrpSpPr>
          <p:grpSpPr>
            <a:xfrm>
              <a:off x="2342542" y="4121996"/>
              <a:ext cx="4869299" cy="793890"/>
              <a:chOff x="5721600" y="5512380"/>
              <a:chExt cx="4869299" cy="793890"/>
            </a:xfrm>
          </p:grpSpPr>
          <p:cxnSp>
            <p:nvCxnSpPr>
              <p:cNvPr id="74" name="直接连接符 73"/>
              <p:cNvCxnSpPr/>
              <p:nvPr/>
            </p:nvCxnSpPr>
            <p:spPr>
              <a:xfrm>
                <a:off x="6736662" y="5960620"/>
                <a:ext cx="28575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a:off x="5721600" y="5534239"/>
                <a:ext cx="748800" cy="750173"/>
              </a:xfrm>
              <a:prstGeom prst="rect">
                <a:avLst/>
              </a:prstGeom>
              <a:solidFill>
                <a:schemeClr val="accent1"/>
              </a:solidFill>
            </p:spPr>
            <p:txBody>
              <a:bodyPr wrap="none"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665" b="0" i="0" u="none" strike="noStrike" kern="1200" cap="none" spc="0" normalizeH="0" baseline="0" noProof="0" dirty="0">
                    <a:ln>
                      <a:noFill/>
                    </a:ln>
                    <a:solidFill>
                      <a:prstClr val="white"/>
                    </a:solidFill>
                    <a:effectLst/>
                    <a:uLnTx/>
                    <a:uFillTx/>
                    <a:cs typeface="+mn-ea"/>
                    <a:sym typeface="+mn-lt"/>
                  </a:rPr>
                  <a:t>05</a:t>
                </a:r>
                <a:endParaRPr kumimoji="0" lang="zh-CN" altLang="en-US" sz="2665" b="0" i="0" u="none" strike="noStrike" kern="1200" cap="none" spc="0" normalizeH="0" baseline="0" noProof="0" dirty="0">
                  <a:ln>
                    <a:noFill/>
                  </a:ln>
                  <a:solidFill>
                    <a:prstClr val="white"/>
                  </a:solidFill>
                  <a:effectLst/>
                  <a:uLnTx/>
                  <a:uFillTx/>
                  <a:cs typeface="+mn-ea"/>
                  <a:sym typeface="+mn-lt"/>
                </a:endParaRPr>
              </a:p>
            </p:txBody>
          </p:sp>
          <p:sp>
            <p:nvSpPr>
              <p:cNvPr id="76" name="矩形 75"/>
              <p:cNvSpPr/>
              <p:nvPr/>
            </p:nvSpPr>
            <p:spPr>
              <a:xfrm>
                <a:off x="6607979" y="5967716"/>
                <a:ext cx="398292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1045C9"/>
                    </a:solidFill>
                    <a:effectLst/>
                    <a:uLnTx/>
                    <a:uFillTx/>
                    <a:cs typeface="+mn-ea"/>
                    <a:sym typeface="+mn-lt"/>
                  </a:rPr>
                  <a:t>Northwestern Polytechnical University</a:t>
                </a:r>
              </a:p>
            </p:txBody>
          </p:sp>
          <p:sp>
            <p:nvSpPr>
              <p:cNvPr id="77" name="矩形 76"/>
              <p:cNvSpPr/>
              <p:nvPr/>
            </p:nvSpPr>
            <p:spPr>
              <a:xfrm>
                <a:off x="6591851" y="5512380"/>
                <a:ext cx="1415772" cy="461665"/>
              </a:xfrm>
              <a:prstGeom prst="rect">
                <a:avLst/>
              </a:prstGeom>
            </p:spPr>
            <p:txBody>
              <a:bodyPr wrap="none">
                <a:spAutoFit/>
              </a:bodyPr>
              <a:lstStyle/>
              <a:p>
                <a:pPr lvl="0" defTabSz="914400">
                  <a:defRPr/>
                </a:pPr>
                <a:r>
                  <a:rPr lang="zh-CN" altLang="en-US" sz="2400" dirty="0">
                    <a:solidFill>
                      <a:srgbClr val="1045C9"/>
                    </a:solidFill>
                    <a:cs typeface="+mn-ea"/>
                    <a:sym typeface="+mn-lt"/>
                  </a:rPr>
                  <a:t>经费预算</a:t>
                </a:r>
                <a:endParaRPr kumimoji="0" lang="zh-CN" altLang="en-US" sz="2400" b="0" i="0" u="none" strike="noStrike" kern="1200" cap="none" spc="0" normalizeH="0" baseline="0" noProof="0" dirty="0">
                  <a:ln>
                    <a:noFill/>
                  </a:ln>
                  <a:solidFill>
                    <a:srgbClr val="1045C9"/>
                  </a:solidFill>
                  <a:effectLst/>
                  <a:uLnTx/>
                  <a:uFillTx/>
                  <a:cs typeface="+mn-ea"/>
                  <a:sym typeface="+mn-lt"/>
                </a:endParaRPr>
              </a:p>
            </p:txBody>
          </p:sp>
        </p:grpSp>
        <p:cxnSp>
          <p:nvCxnSpPr>
            <p:cNvPr id="73" name="直接连接符 72"/>
            <p:cNvCxnSpPr/>
            <p:nvPr/>
          </p:nvCxnSpPr>
          <p:spPr>
            <a:xfrm>
              <a:off x="2573722" y="4757687"/>
              <a:ext cx="28643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1000"/>
                                        <p:tgtEl>
                                          <p:spTgt spid="38"/>
                                        </p:tgtEl>
                                      </p:cBhvr>
                                    </p:animEffect>
                                    <p:anim calcmode="lin" valueType="num">
                                      <p:cBhvr>
                                        <p:cTn id="22" dur="1000" fill="hold"/>
                                        <p:tgtEl>
                                          <p:spTgt spid="38"/>
                                        </p:tgtEl>
                                        <p:attrNameLst>
                                          <p:attrName>ppt_x</p:attrName>
                                        </p:attrNameLst>
                                      </p:cBhvr>
                                      <p:tavLst>
                                        <p:tav tm="0">
                                          <p:val>
                                            <p:strVal val="#ppt_x"/>
                                          </p:val>
                                        </p:tav>
                                        <p:tav tm="100000">
                                          <p:val>
                                            <p:strVal val="#ppt_x"/>
                                          </p:val>
                                        </p:tav>
                                      </p:tavLst>
                                    </p:anim>
                                    <p:anim calcmode="lin" valueType="num">
                                      <p:cBhvr>
                                        <p:cTn id="2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fade">
                                      <p:cBhvr>
                                        <p:cTn id="35" dur="1000"/>
                                        <p:tgtEl>
                                          <p:spTgt spid="71"/>
                                        </p:tgtEl>
                                      </p:cBhvr>
                                    </p:animEffect>
                                    <p:anim calcmode="lin" valueType="num">
                                      <p:cBhvr>
                                        <p:cTn id="36" dur="1000" fill="hold"/>
                                        <p:tgtEl>
                                          <p:spTgt spid="71"/>
                                        </p:tgtEl>
                                        <p:attrNameLst>
                                          <p:attrName>ppt_x</p:attrName>
                                        </p:attrNameLst>
                                      </p:cBhvr>
                                      <p:tavLst>
                                        <p:tav tm="0">
                                          <p:val>
                                            <p:strVal val="#ppt_x"/>
                                          </p:val>
                                        </p:tav>
                                        <p:tav tm="100000">
                                          <p:val>
                                            <p:strVal val="#ppt_x"/>
                                          </p:val>
                                        </p:tav>
                                      </p:tavLst>
                                    </p:anim>
                                    <p:anim calcmode="lin" valueType="num">
                                      <p:cBhvr>
                                        <p:cTn id="37"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4962" y="3311506"/>
            <a:ext cx="11522078" cy="321048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任意多边形: 形状 7"/>
          <p:cNvSpPr/>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矩形 8"/>
          <p:cNvSpPr/>
          <p:nvPr/>
        </p:nvSpPr>
        <p:spPr>
          <a:xfrm>
            <a:off x="4760508" y="1336299"/>
            <a:ext cx="2670984" cy="3807111"/>
          </a:xfrm>
          <a:prstGeom prst="rect">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图文框 1"/>
          <p:cNvSpPr/>
          <p:nvPr/>
        </p:nvSpPr>
        <p:spPr>
          <a:xfrm>
            <a:off x="4747911" y="1259013"/>
            <a:ext cx="2696178" cy="3909888"/>
          </a:xfrm>
          <a:prstGeom prst="frame">
            <a:avLst>
              <a:gd name="adj1" fmla="val 2586"/>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 name="文本框 4"/>
          <p:cNvSpPr txBox="1"/>
          <p:nvPr/>
        </p:nvSpPr>
        <p:spPr>
          <a:xfrm>
            <a:off x="4812304" y="3896085"/>
            <a:ext cx="2567392" cy="76944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4400" b="1" dirty="0">
                <a:solidFill>
                  <a:srgbClr val="1045C9"/>
                </a:solidFill>
                <a:cs typeface="+mn-ea"/>
                <a:sym typeface="+mn-lt"/>
              </a:rPr>
              <a:t>项目背景</a:t>
            </a:r>
            <a:endParaRPr kumimoji="0" lang="zh-CN" altLang="en-US" sz="4400" b="1" i="0" u="none" strike="noStrike" kern="1200" cap="none" spc="0" normalizeH="0" baseline="0" noProof="0" dirty="0">
              <a:ln>
                <a:noFill/>
              </a:ln>
              <a:solidFill>
                <a:srgbClr val="1045C9"/>
              </a:solidFill>
              <a:effectLst/>
              <a:uLnTx/>
              <a:uFillTx/>
              <a:cs typeface="+mn-ea"/>
              <a:sym typeface="+mn-lt"/>
            </a:endParaRPr>
          </a:p>
        </p:txBody>
      </p:sp>
      <p:sp>
        <p:nvSpPr>
          <p:cNvPr id="6" name="文本框 5"/>
          <p:cNvSpPr txBox="1"/>
          <p:nvPr/>
        </p:nvSpPr>
        <p:spPr>
          <a:xfrm>
            <a:off x="4864100" y="1741845"/>
            <a:ext cx="2463800" cy="1569660"/>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prstClr val="white"/>
                </a:solidFill>
                <a:effectLst/>
                <a:uLnTx/>
                <a:uFillTx/>
                <a:cs typeface="+mn-ea"/>
                <a:sym typeface="+mn-lt"/>
              </a:rPr>
              <a:t>01</a:t>
            </a:r>
            <a:endParaRPr kumimoji="0" lang="zh-CN" altLang="en-US" sz="9600" b="0" i="0" u="none" strike="noStrike" kern="1200" cap="none" spc="0" normalizeH="0" baseline="0" noProof="0" dirty="0">
              <a:ln>
                <a:noFill/>
              </a:ln>
              <a:solidFill>
                <a:prstClr val="white"/>
              </a:solidFill>
              <a:effectLst/>
              <a:uLnTx/>
              <a:uFillTx/>
              <a:cs typeface="+mn-ea"/>
              <a:sym typeface="+mn-lt"/>
            </a:endParaRPr>
          </a:p>
        </p:txBody>
      </p:sp>
      <p:sp>
        <p:nvSpPr>
          <p:cNvPr id="7" name="文本框 6"/>
          <p:cNvSpPr txBox="1"/>
          <p:nvPr/>
        </p:nvSpPr>
        <p:spPr>
          <a:xfrm>
            <a:off x="3314700" y="5701761"/>
            <a:ext cx="5562600" cy="369332"/>
          </a:xfrm>
          <a:prstGeom prst="rect">
            <a:avLst/>
          </a:prstGeom>
          <a:noFill/>
        </p:spPr>
        <p:txBody>
          <a:bodyPr wrap="square" rtlCol="0">
            <a:spAutoFit/>
            <a:scene3d>
              <a:camera prst="orthographicFront"/>
              <a:lightRig rig="threePt" dir="t"/>
            </a:scene3d>
            <a:sp3d contourW="12700"/>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1045C9"/>
                </a:solidFill>
                <a:effectLst/>
                <a:uLnTx/>
                <a:uFillTx/>
                <a:cs typeface="+mn-ea"/>
                <a:sym typeface="+mn-lt"/>
              </a:rPr>
              <a:t>Strong Preparation</a:t>
            </a:r>
          </a:p>
        </p:txBody>
      </p:sp>
      <p:grpSp>
        <p:nvGrpSpPr>
          <p:cNvPr id="12" name="组合 11"/>
          <p:cNvGrpSpPr/>
          <p:nvPr/>
        </p:nvGrpSpPr>
        <p:grpSpPr>
          <a:xfrm>
            <a:off x="695325" y="663359"/>
            <a:ext cx="2159170" cy="489382"/>
            <a:chOff x="711030" y="663358"/>
            <a:chExt cx="2159170" cy="489382"/>
          </a:xfrm>
        </p:grpSpPr>
        <p:pic>
          <p:nvPicPr>
            <p:cNvPr id="10" name="西北工业大学"/>
            <p:cNvPicPr>
              <a:picLocks noChangeAspect="1"/>
            </p:cNvPicPr>
            <p:nvPr/>
          </p:nvPicPr>
          <p:blipFill>
            <a:blip r:embed="rId4" cstate="screen"/>
            <a:stretch>
              <a:fillRect/>
            </a:stretch>
          </p:blipFill>
          <p:spPr>
            <a:xfrm>
              <a:off x="1324073" y="713583"/>
              <a:ext cx="1546127" cy="388933"/>
            </a:xfrm>
            <a:prstGeom prst="rect">
              <a:avLst/>
            </a:prstGeom>
          </p:spPr>
        </p:pic>
        <p:pic>
          <p:nvPicPr>
            <p:cNvPr id="11" name="校徽"/>
            <p:cNvPicPr>
              <a:picLocks noChangeAspect="1"/>
            </p:cNvPicPr>
            <p:nvPr/>
          </p:nvPicPr>
          <p:blipFill>
            <a:blip r:embed="rId5" cstate="screen"/>
            <a:stretch>
              <a:fillRect/>
            </a:stretch>
          </p:blipFill>
          <p:spPr>
            <a:xfrm>
              <a:off x="711030" y="663358"/>
              <a:ext cx="490134" cy="489382"/>
            </a:xfrm>
            <a:prstGeom prst="rect">
              <a:avLst/>
            </a:prstGeom>
          </p:spPr>
        </p:pic>
      </p:grpSp>
      <p:cxnSp>
        <p:nvCxnSpPr>
          <p:cNvPr id="4" name="直接连接符 3"/>
          <p:cNvCxnSpPr/>
          <p:nvPr/>
        </p:nvCxnSpPr>
        <p:spPr>
          <a:xfrm flipH="1" flipV="1">
            <a:off x="334962" y="396875"/>
            <a:ext cx="1"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1857038" y="396875"/>
            <a:ext cx="0"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4963" y="396875"/>
            <a:ext cx="115220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标题"/>
          <p:cNvGrpSpPr/>
          <p:nvPr/>
        </p:nvGrpSpPr>
        <p:grpSpPr>
          <a:xfrm>
            <a:off x="462715" y="138029"/>
            <a:ext cx="2623384" cy="769151"/>
            <a:chOff x="462715" y="138029"/>
            <a:chExt cx="2623384" cy="769151"/>
          </a:xfrm>
        </p:grpSpPr>
        <p:cxnSp>
          <p:nvCxnSpPr>
            <p:cNvPr id="7" name="点缀线段"/>
            <p:cNvCxnSpPr/>
            <p:nvPr/>
          </p:nvCxnSpPr>
          <p:spPr>
            <a:xfrm>
              <a:off x="540367" y="907180"/>
              <a:ext cx="612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trong Preparation"/>
            <p:cNvSpPr txBox="1"/>
            <p:nvPr/>
          </p:nvSpPr>
          <p:spPr>
            <a:xfrm>
              <a:off x="462715" y="584279"/>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Strong Preparation</a:t>
              </a:r>
            </a:p>
          </p:txBody>
        </p:sp>
        <p:sp>
          <p:nvSpPr>
            <p:cNvPr id="8" name="基础扎实"/>
            <p:cNvSpPr txBox="1"/>
            <p:nvPr/>
          </p:nvSpPr>
          <p:spPr>
            <a:xfrm>
              <a:off x="462715" y="138029"/>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项目背景</a:t>
              </a:r>
            </a:p>
          </p:txBody>
        </p:sp>
      </p:grpSp>
      <p:grpSp>
        <p:nvGrpSpPr>
          <p:cNvPr id="6" name="组合 5"/>
          <p:cNvGrpSpPr/>
          <p:nvPr>
            <p:custDataLst>
              <p:tags r:id="rId1"/>
            </p:custDataLst>
          </p:nvPr>
        </p:nvGrpSpPr>
        <p:grpSpPr>
          <a:xfrm>
            <a:off x="1380087" y="1497954"/>
            <a:ext cx="2700000" cy="540000"/>
            <a:chOff x="1380087" y="1497954"/>
            <a:chExt cx="2700000" cy="540000"/>
          </a:xfrm>
        </p:grpSpPr>
        <p:sp>
          <p:nvSpPr>
            <p:cNvPr id="31" name="色块"/>
            <p:cNvSpPr>
              <a:spLocks noChangeAspect="1"/>
            </p:cNvSpPr>
            <p:nvPr>
              <p:custDataLst>
                <p:tags r:id="rId27"/>
              </p:custDataLst>
            </p:nvPr>
          </p:nvSpPr>
          <p:spPr>
            <a:xfrm>
              <a:off x="1380087" y="1497954"/>
              <a:ext cx="2700000" cy="540000"/>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坚持引培并重"/>
            <p:cNvSpPr txBox="1"/>
            <p:nvPr>
              <p:custDataLst>
                <p:tags r:id="rId28"/>
              </p:custDataLst>
            </p:nvPr>
          </p:nvSpPr>
          <p:spPr>
            <a:xfrm>
              <a:off x="1695678" y="1567899"/>
              <a:ext cx="2068818" cy="40011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国家政策背景</a:t>
              </a:r>
            </a:p>
          </p:txBody>
        </p:sp>
      </p:grpSp>
      <p:sp>
        <p:nvSpPr>
          <p:cNvPr id="37" name="人才梯队"/>
          <p:cNvSpPr txBox="1"/>
          <p:nvPr>
            <p:custDataLst>
              <p:tags r:id="rId2"/>
            </p:custDataLst>
          </p:nvPr>
        </p:nvSpPr>
        <p:spPr>
          <a:xfrm>
            <a:off x="840086" y="2132231"/>
            <a:ext cx="4370161" cy="1661160"/>
          </a:xfrm>
          <a:prstGeom prst="rect">
            <a:avLst/>
          </a:prstGeom>
          <a:noFill/>
        </p:spPr>
        <p:txBody>
          <a:bodyPr wrap="square" rtlCol="0">
            <a:spAutoFit/>
            <a:scene3d>
              <a:camera prst="orthographicFront"/>
              <a:lightRig rig="threePt" dir="t"/>
            </a:scene3d>
            <a:sp3d contourW="12700"/>
          </a:bodyPr>
          <a:lstStyle/>
          <a:p>
            <a:pPr algn="just" defTabSz="457200">
              <a:lnSpc>
                <a:spcPct val="130000"/>
              </a:lnSpc>
            </a:pPr>
            <a:r>
              <a:rPr lang="zh-CN" altLang="en-US" sz="1600" dirty="0">
                <a:latin typeface="Arial" panose="020B0604020202020204" pitchFamily="34" charset="0"/>
                <a:ea typeface="微软雅黑" panose="020B0503020204020204" pitchFamily="34" charset="-122"/>
                <a:sym typeface="Arial" panose="020B0604020202020204" pitchFamily="34" charset="0"/>
              </a:rPr>
              <a:t>在当前数字化转型时代，各国政府纷纷出台政策推动信息技术行业的发展，其中包括对软件安全的重视。政府部门对保障国家网络安全和数据安全的意识日益增强，要求软件开发者加强安全意识，加入安全检测机制。</a:t>
            </a:r>
          </a:p>
        </p:txBody>
      </p:sp>
      <p:grpSp>
        <p:nvGrpSpPr>
          <p:cNvPr id="9" name="组合 8"/>
          <p:cNvGrpSpPr/>
          <p:nvPr>
            <p:custDataLst>
              <p:tags r:id="rId3"/>
            </p:custDataLst>
          </p:nvPr>
        </p:nvGrpSpPr>
        <p:grpSpPr>
          <a:xfrm>
            <a:off x="7553123" y="1497954"/>
            <a:ext cx="2700000" cy="540000"/>
            <a:chOff x="7553123" y="1497954"/>
            <a:chExt cx="2700000" cy="540000"/>
          </a:xfrm>
        </p:grpSpPr>
        <p:sp>
          <p:nvSpPr>
            <p:cNvPr id="41" name="色块"/>
            <p:cNvSpPr>
              <a:spLocks noChangeAspect="1"/>
            </p:cNvSpPr>
            <p:nvPr>
              <p:custDataLst>
                <p:tags r:id="rId25"/>
              </p:custDataLst>
            </p:nvPr>
          </p:nvSpPr>
          <p:spPr>
            <a:xfrm>
              <a:off x="7553123" y="1497954"/>
              <a:ext cx="2700000" cy="540000"/>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坚持引培并重"/>
            <p:cNvSpPr txBox="1"/>
            <p:nvPr>
              <p:custDataLst>
                <p:tags r:id="rId26"/>
              </p:custDataLst>
            </p:nvPr>
          </p:nvSpPr>
          <p:spPr>
            <a:xfrm>
              <a:off x="7868714" y="1567899"/>
              <a:ext cx="2068818" cy="40011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文化背景</a:t>
              </a:r>
            </a:p>
          </p:txBody>
        </p:sp>
      </p:grpSp>
      <p:sp>
        <p:nvSpPr>
          <p:cNvPr id="46" name="人才特区"/>
          <p:cNvSpPr txBox="1"/>
          <p:nvPr>
            <p:custDataLst>
              <p:tags r:id="rId4"/>
            </p:custDataLst>
          </p:nvPr>
        </p:nvSpPr>
        <p:spPr>
          <a:xfrm>
            <a:off x="7013122" y="2132231"/>
            <a:ext cx="4370161" cy="1661160"/>
          </a:xfrm>
          <a:prstGeom prst="rect">
            <a:avLst/>
          </a:prstGeom>
          <a:noFill/>
        </p:spPr>
        <p:txBody>
          <a:bodyPr wrap="square" rtlCol="0">
            <a:spAutoFit/>
            <a:scene3d>
              <a:camera prst="orthographicFront"/>
              <a:lightRig rig="threePt" dir="t"/>
            </a:scene3d>
            <a:sp3d contourW="12700"/>
          </a:bodyPr>
          <a:lstStyle/>
          <a:p>
            <a:pPr algn="just" defTabSz="457200">
              <a:lnSpc>
                <a:spcPct val="130000"/>
              </a:lnSpc>
            </a:pPr>
            <a:r>
              <a:rPr lang="zh-CN" altLang="en-US" sz="1600" dirty="0">
                <a:latin typeface="Arial" panose="020B0604020202020204" pitchFamily="34" charset="0"/>
                <a:ea typeface="微软雅黑" panose="020B0503020204020204" pitchFamily="34" charset="-122"/>
                <a:sym typeface="Arial" panose="020B0604020202020204" pitchFamily="34" charset="0"/>
              </a:rPr>
              <a:t>在互联网时代，信息安全文化逐渐深入人心。人们对个人信息安全和隐私保护的重要性有了更深的认识，对软件安全性要求也提高。软件开发者和使用者都希望能够使用安全可靠的软件产品。</a:t>
            </a:r>
          </a:p>
        </p:txBody>
      </p:sp>
      <p:grpSp>
        <p:nvGrpSpPr>
          <p:cNvPr id="15" name="组合 14"/>
          <p:cNvGrpSpPr/>
          <p:nvPr>
            <p:custDataLst>
              <p:tags r:id="rId5"/>
            </p:custDataLst>
          </p:nvPr>
        </p:nvGrpSpPr>
        <p:grpSpPr>
          <a:xfrm>
            <a:off x="1380087" y="4146962"/>
            <a:ext cx="2700000" cy="540000"/>
            <a:chOff x="1380087" y="4146962"/>
            <a:chExt cx="2700000" cy="540000"/>
          </a:xfrm>
        </p:grpSpPr>
        <p:sp>
          <p:nvSpPr>
            <p:cNvPr id="63" name="色块"/>
            <p:cNvSpPr>
              <a:spLocks noChangeAspect="1"/>
            </p:cNvSpPr>
            <p:nvPr>
              <p:custDataLst>
                <p:tags r:id="rId23"/>
              </p:custDataLst>
            </p:nvPr>
          </p:nvSpPr>
          <p:spPr>
            <a:xfrm>
              <a:off x="1380087" y="4146962"/>
              <a:ext cx="2700000" cy="540000"/>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8" name="打造人才高地"/>
            <p:cNvSpPr txBox="1"/>
            <p:nvPr>
              <p:custDataLst>
                <p:tags r:id="rId24"/>
              </p:custDataLst>
            </p:nvPr>
          </p:nvSpPr>
          <p:spPr>
            <a:xfrm>
              <a:off x="1695678" y="4216907"/>
              <a:ext cx="2068818" cy="40011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商业背景</a:t>
              </a:r>
            </a:p>
          </p:txBody>
        </p:sp>
      </p:grpSp>
      <p:sp>
        <p:nvSpPr>
          <p:cNvPr id="69" name="高层次人才"/>
          <p:cNvSpPr txBox="1"/>
          <p:nvPr>
            <p:custDataLst>
              <p:tags r:id="rId6"/>
            </p:custDataLst>
          </p:nvPr>
        </p:nvSpPr>
        <p:spPr>
          <a:xfrm>
            <a:off x="840086" y="4781239"/>
            <a:ext cx="4370161" cy="1661160"/>
          </a:xfrm>
          <a:prstGeom prst="rect">
            <a:avLst/>
          </a:prstGeom>
          <a:noFill/>
        </p:spPr>
        <p:txBody>
          <a:bodyPr wrap="square" rtlCol="0">
            <a:spAutoFit/>
            <a:scene3d>
              <a:camera prst="orthographicFront"/>
              <a:lightRig rig="threePt" dir="t"/>
            </a:scene3d>
            <a:sp3d contourW="12700"/>
          </a:bodyPr>
          <a:lstStyle/>
          <a:p>
            <a:pPr algn="just" defTabSz="457200">
              <a:lnSpc>
                <a:spcPct val="130000"/>
              </a:lnSpc>
            </a:pPr>
            <a:r>
              <a:rPr lang="zh-CN" altLang="en-US" sz="1600" dirty="0">
                <a:latin typeface="Arial" panose="020B0604020202020204" pitchFamily="34" charset="0"/>
                <a:ea typeface="微软雅黑" panose="020B0503020204020204" pitchFamily="34" charset="-122"/>
                <a:sym typeface="Arial" panose="020B0604020202020204" pitchFamily="34" charset="0"/>
              </a:rPr>
              <a:t>随着软件应用领域不断扩大，软件质量和安全性日益受到关注。企业对于软件安全的需求量逐渐增加，尤其是金融、电商、医疗等行业，更加重视软件的安全性，加强漏洞检测和修复工作。</a:t>
            </a:r>
          </a:p>
        </p:txBody>
      </p:sp>
      <p:grpSp>
        <p:nvGrpSpPr>
          <p:cNvPr id="17" name="组合 16"/>
          <p:cNvGrpSpPr/>
          <p:nvPr>
            <p:custDataLst>
              <p:tags r:id="rId7"/>
            </p:custDataLst>
          </p:nvPr>
        </p:nvGrpSpPr>
        <p:grpSpPr>
          <a:xfrm>
            <a:off x="7553123" y="4146962"/>
            <a:ext cx="2700000" cy="540000"/>
            <a:chOff x="7553123" y="4146962"/>
            <a:chExt cx="2700000" cy="540000"/>
          </a:xfrm>
        </p:grpSpPr>
        <p:sp>
          <p:nvSpPr>
            <p:cNvPr id="72" name="色块"/>
            <p:cNvSpPr>
              <a:spLocks noChangeAspect="1"/>
            </p:cNvSpPr>
            <p:nvPr>
              <p:custDataLst>
                <p:tags r:id="rId21"/>
              </p:custDataLst>
            </p:nvPr>
          </p:nvSpPr>
          <p:spPr>
            <a:xfrm>
              <a:off x="7553123" y="4146962"/>
              <a:ext cx="2700000" cy="540000"/>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3" name="打造人才高地"/>
            <p:cNvSpPr txBox="1"/>
            <p:nvPr>
              <p:custDataLst>
                <p:tags r:id="rId22"/>
              </p:custDataLst>
            </p:nvPr>
          </p:nvSpPr>
          <p:spPr>
            <a:xfrm>
              <a:off x="7868714" y="4216907"/>
              <a:ext cx="2068818" cy="40011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0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学术背景</a:t>
              </a:r>
            </a:p>
          </p:txBody>
        </p:sp>
      </p:grpSp>
      <p:sp>
        <p:nvSpPr>
          <p:cNvPr id="74" name="高层次团队"/>
          <p:cNvSpPr txBox="1"/>
          <p:nvPr>
            <p:custDataLst>
              <p:tags r:id="rId8"/>
            </p:custDataLst>
          </p:nvPr>
        </p:nvSpPr>
        <p:spPr>
          <a:xfrm>
            <a:off x="7013122" y="4781239"/>
            <a:ext cx="4679345" cy="1370965"/>
          </a:xfrm>
          <a:prstGeom prst="rect">
            <a:avLst/>
          </a:prstGeom>
          <a:noFill/>
        </p:spPr>
        <p:txBody>
          <a:bodyPr wrap="square" rtlCol="0">
            <a:spAutoFit/>
            <a:scene3d>
              <a:camera prst="orthographicFront"/>
              <a:lightRig rig="threePt" dir="t"/>
            </a:scene3d>
            <a:sp3d contourW="12700"/>
          </a:bodyPr>
          <a:lstStyle/>
          <a:p>
            <a:pPr algn="just" defTabSz="457200">
              <a:lnSpc>
                <a:spcPct val="130000"/>
              </a:lnSpc>
            </a:pPr>
            <a:r>
              <a:rPr lang="zh-CN" altLang="en-US" sz="1600" dirty="0">
                <a:latin typeface="Arial" panose="020B0604020202020204" pitchFamily="34" charset="0"/>
                <a:ea typeface="微软雅黑" panose="020B0503020204020204" pitchFamily="34" charset="-122"/>
                <a:sym typeface="Arial" panose="020B0604020202020204" pitchFamily="34" charset="0"/>
              </a:rPr>
              <a:t>国内外学术界对于软件安全漏洞检测的研究已经取得了一定进展，采用深度学习技术来进行代码漏洞检测是当前的研究热点国内外许多研究机构和高校也在开发利用深度学习进行漏洞检测的相关项目。</a:t>
            </a:r>
          </a:p>
        </p:txBody>
      </p:sp>
      <p:grpSp>
        <p:nvGrpSpPr>
          <p:cNvPr id="5" name="组合 4"/>
          <p:cNvGrpSpPr/>
          <p:nvPr>
            <p:custDataLst>
              <p:tags r:id="rId9"/>
            </p:custDataLst>
          </p:nvPr>
        </p:nvGrpSpPr>
        <p:grpSpPr>
          <a:xfrm>
            <a:off x="840087" y="1497954"/>
            <a:ext cx="540000" cy="540000"/>
            <a:chOff x="840087" y="1497954"/>
            <a:chExt cx="540000" cy="540000"/>
          </a:xfrm>
        </p:grpSpPr>
        <p:sp>
          <p:nvSpPr>
            <p:cNvPr id="30" name="色块"/>
            <p:cNvSpPr>
              <a:spLocks noChangeAspect="1"/>
            </p:cNvSpPr>
            <p:nvPr>
              <p:custDataLst>
                <p:tags r:id="rId19"/>
              </p:custDataLst>
            </p:nvPr>
          </p:nvSpPr>
          <p:spPr>
            <a:xfrm>
              <a:off x="840087" y="1497954"/>
              <a:ext cx="540000" cy="540000"/>
            </a:xfrm>
            <a:prstGeom prst="rect">
              <a:avLst/>
            </a:prstGeom>
            <a:solidFill>
              <a:schemeClr val="accent1"/>
            </a:solidFill>
            <a:ln>
              <a:solidFill>
                <a:schemeClr val="accent1"/>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书5"/>
            <p:cNvSpPr>
              <a:spLocks noChangeAspect="1"/>
            </p:cNvSpPr>
            <p:nvPr>
              <p:custDataLst>
                <p:tags r:id="rId20"/>
              </p:custDataLst>
            </p:nvPr>
          </p:nvSpPr>
          <p:spPr bwMode="auto">
            <a:xfrm>
              <a:off x="948604" y="1617071"/>
              <a:ext cx="322967" cy="301767"/>
            </a:xfrm>
            <a:custGeom>
              <a:avLst/>
              <a:gdLst>
                <a:gd name="connsiteX0" fmla="*/ 294332 w 581408"/>
                <a:gd name="connsiteY0" fmla="*/ 328286 h 543245"/>
                <a:gd name="connsiteX1" fmla="*/ 287155 w 581408"/>
                <a:gd name="connsiteY1" fmla="*/ 338319 h 543245"/>
                <a:gd name="connsiteX2" fmla="*/ 268495 w 581408"/>
                <a:gd name="connsiteY2" fmla="*/ 411414 h 543245"/>
                <a:gd name="connsiteX3" fmla="*/ 290026 w 581408"/>
                <a:gd name="connsiteY3" fmla="*/ 427180 h 543245"/>
                <a:gd name="connsiteX4" fmla="*/ 357489 w 581408"/>
                <a:gd name="connsiteY4" fmla="*/ 388482 h 543245"/>
                <a:gd name="connsiteX5" fmla="*/ 363230 w 581408"/>
                <a:gd name="connsiteY5" fmla="*/ 381316 h 543245"/>
                <a:gd name="connsiteX6" fmla="*/ 325910 w 581408"/>
                <a:gd name="connsiteY6" fmla="*/ 387049 h 543245"/>
                <a:gd name="connsiteX7" fmla="*/ 325910 w 581408"/>
                <a:gd name="connsiteY7" fmla="*/ 356951 h 543245"/>
                <a:gd name="connsiteX8" fmla="*/ 298638 w 581408"/>
                <a:gd name="connsiteY8" fmla="*/ 368417 h 543245"/>
                <a:gd name="connsiteX9" fmla="*/ 498156 w 581408"/>
                <a:gd name="connsiteY9" fmla="*/ 57402 h 543245"/>
                <a:gd name="connsiteX10" fmla="*/ 479496 w 581408"/>
                <a:gd name="connsiteY10" fmla="*/ 84634 h 543245"/>
                <a:gd name="connsiteX11" fmla="*/ 534040 w 581408"/>
                <a:gd name="connsiteY11" fmla="*/ 123331 h 543245"/>
                <a:gd name="connsiteX12" fmla="*/ 552700 w 581408"/>
                <a:gd name="connsiteY12" fmla="*/ 96100 h 543245"/>
                <a:gd name="connsiteX13" fmla="*/ 493850 w 581408"/>
                <a:gd name="connsiteY13" fmla="*/ 28737 h 543245"/>
                <a:gd name="connsiteX14" fmla="*/ 581408 w 581408"/>
                <a:gd name="connsiteY14" fmla="*/ 90367 h 543245"/>
                <a:gd name="connsiteX15" fmla="*/ 528299 w 581408"/>
                <a:gd name="connsiteY15" fmla="*/ 164896 h 543245"/>
                <a:gd name="connsiteX16" fmla="*/ 363230 w 581408"/>
                <a:gd name="connsiteY16" fmla="*/ 397082 h 543245"/>
                <a:gd name="connsiteX17" fmla="*/ 245529 w 581408"/>
                <a:gd name="connsiteY17" fmla="*/ 463011 h 543245"/>
                <a:gd name="connsiteX18" fmla="*/ 278543 w 581408"/>
                <a:gd name="connsiteY18" fmla="*/ 334019 h 543245"/>
                <a:gd name="connsiteX19" fmla="*/ 400550 w 581408"/>
                <a:gd name="connsiteY19" fmla="*/ 160596 h 543245"/>
                <a:gd name="connsiteX20" fmla="*/ 440741 w 581408"/>
                <a:gd name="connsiteY20" fmla="*/ 103266 h 543245"/>
                <a:gd name="connsiteX21" fmla="*/ 0 w 581408"/>
                <a:gd name="connsiteY21" fmla="*/ 0 h 543245"/>
                <a:gd name="connsiteX22" fmla="*/ 399045 w 581408"/>
                <a:gd name="connsiteY22" fmla="*/ 0 h 543245"/>
                <a:gd name="connsiteX23" fmla="*/ 399045 w 581408"/>
                <a:gd name="connsiteY23" fmla="*/ 24367 h 543245"/>
                <a:gd name="connsiteX24" fmla="*/ 24402 w 581408"/>
                <a:gd name="connsiteY24" fmla="*/ 24367 h 543245"/>
                <a:gd name="connsiteX25" fmla="*/ 24402 w 581408"/>
                <a:gd name="connsiteY25" fmla="*/ 31534 h 543245"/>
                <a:gd name="connsiteX26" fmla="*/ 386126 w 581408"/>
                <a:gd name="connsiteY26" fmla="*/ 31534 h 543245"/>
                <a:gd name="connsiteX27" fmla="*/ 386126 w 581408"/>
                <a:gd name="connsiteY27" fmla="*/ 34401 h 543245"/>
                <a:gd name="connsiteX28" fmla="*/ 24402 w 581408"/>
                <a:gd name="connsiteY28" fmla="*/ 34401 h 543245"/>
                <a:gd name="connsiteX29" fmla="*/ 24402 w 581408"/>
                <a:gd name="connsiteY29" fmla="*/ 41568 h 543245"/>
                <a:gd name="connsiteX30" fmla="*/ 387561 w 581408"/>
                <a:gd name="connsiteY30" fmla="*/ 41568 h 543245"/>
                <a:gd name="connsiteX31" fmla="*/ 387561 w 581408"/>
                <a:gd name="connsiteY31" fmla="*/ 44434 h 543245"/>
                <a:gd name="connsiteX32" fmla="*/ 24402 w 581408"/>
                <a:gd name="connsiteY32" fmla="*/ 44434 h 543245"/>
                <a:gd name="connsiteX33" fmla="*/ 24402 w 581408"/>
                <a:gd name="connsiteY33" fmla="*/ 53035 h 543245"/>
                <a:gd name="connsiteX34" fmla="*/ 387561 w 581408"/>
                <a:gd name="connsiteY34" fmla="*/ 53035 h 543245"/>
                <a:gd name="connsiteX35" fmla="*/ 387561 w 581408"/>
                <a:gd name="connsiteY35" fmla="*/ 57335 h 543245"/>
                <a:gd name="connsiteX36" fmla="*/ 24402 w 581408"/>
                <a:gd name="connsiteY36" fmla="*/ 57335 h 543245"/>
                <a:gd name="connsiteX37" fmla="*/ 24402 w 581408"/>
                <a:gd name="connsiteY37" fmla="*/ 64502 h 543245"/>
                <a:gd name="connsiteX38" fmla="*/ 387561 w 581408"/>
                <a:gd name="connsiteY38" fmla="*/ 64502 h 543245"/>
                <a:gd name="connsiteX39" fmla="*/ 387561 w 581408"/>
                <a:gd name="connsiteY39" fmla="*/ 67368 h 543245"/>
                <a:gd name="connsiteX40" fmla="*/ 24402 w 581408"/>
                <a:gd name="connsiteY40" fmla="*/ 67368 h 543245"/>
                <a:gd name="connsiteX41" fmla="*/ 24402 w 581408"/>
                <a:gd name="connsiteY41" fmla="*/ 74535 h 543245"/>
                <a:gd name="connsiteX42" fmla="*/ 387561 w 581408"/>
                <a:gd name="connsiteY42" fmla="*/ 74535 h 543245"/>
                <a:gd name="connsiteX43" fmla="*/ 387561 w 581408"/>
                <a:gd name="connsiteY43" fmla="*/ 77402 h 543245"/>
                <a:gd name="connsiteX44" fmla="*/ 24402 w 581408"/>
                <a:gd name="connsiteY44" fmla="*/ 77402 h 543245"/>
                <a:gd name="connsiteX45" fmla="*/ 24402 w 581408"/>
                <a:gd name="connsiteY45" fmla="*/ 84569 h 543245"/>
                <a:gd name="connsiteX46" fmla="*/ 400480 w 581408"/>
                <a:gd name="connsiteY46" fmla="*/ 84569 h 543245"/>
                <a:gd name="connsiteX47" fmla="*/ 400480 w 581408"/>
                <a:gd name="connsiteY47" fmla="*/ 139036 h 543245"/>
                <a:gd name="connsiteX48" fmla="*/ 268422 w 581408"/>
                <a:gd name="connsiteY48" fmla="*/ 326807 h 543245"/>
                <a:gd name="connsiteX49" fmla="*/ 266987 w 581408"/>
                <a:gd name="connsiteY49" fmla="*/ 328241 h 543245"/>
                <a:gd name="connsiteX50" fmla="*/ 265551 w 581408"/>
                <a:gd name="connsiteY50" fmla="*/ 331107 h 543245"/>
                <a:gd name="connsiteX51" fmla="*/ 233972 w 581408"/>
                <a:gd name="connsiteY51" fmla="*/ 460110 h 543245"/>
                <a:gd name="connsiteX52" fmla="*/ 226795 w 581408"/>
                <a:gd name="connsiteY52" fmla="*/ 488777 h 543245"/>
                <a:gd name="connsiteX53" fmla="*/ 252633 w 581408"/>
                <a:gd name="connsiteY53" fmla="*/ 474444 h 543245"/>
                <a:gd name="connsiteX54" fmla="*/ 370336 w 581408"/>
                <a:gd name="connsiteY54" fmla="*/ 407076 h 543245"/>
                <a:gd name="connsiteX55" fmla="*/ 371772 w 581408"/>
                <a:gd name="connsiteY55" fmla="*/ 405642 h 543245"/>
                <a:gd name="connsiteX56" fmla="*/ 374643 w 581408"/>
                <a:gd name="connsiteY56" fmla="*/ 404209 h 543245"/>
                <a:gd name="connsiteX57" fmla="*/ 400480 w 581408"/>
                <a:gd name="connsiteY57" fmla="*/ 365508 h 543245"/>
                <a:gd name="connsiteX58" fmla="*/ 400480 w 581408"/>
                <a:gd name="connsiteY58" fmla="*/ 543245 h 543245"/>
                <a:gd name="connsiteX59" fmla="*/ 0 w 581408"/>
                <a:gd name="connsiteY59" fmla="*/ 543245 h 543245"/>
                <a:gd name="connsiteX60" fmla="*/ 0 w 581408"/>
                <a:gd name="connsiteY60" fmla="*/ 84569 h 54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408" h="543245">
                  <a:moveTo>
                    <a:pt x="294332" y="328286"/>
                  </a:moveTo>
                  <a:lnTo>
                    <a:pt x="287155" y="338319"/>
                  </a:lnTo>
                  <a:lnTo>
                    <a:pt x="268495" y="411414"/>
                  </a:lnTo>
                  <a:lnTo>
                    <a:pt x="290026" y="427180"/>
                  </a:lnTo>
                  <a:lnTo>
                    <a:pt x="357489" y="388482"/>
                  </a:lnTo>
                  <a:lnTo>
                    <a:pt x="363230" y="381316"/>
                  </a:lnTo>
                  <a:lnTo>
                    <a:pt x="325910" y="387049"/>
                  </a:lnTo>
                  <a:lnTo>
                    <a:pt x="325910" y="356951"/>
                  </a:lnTo>
                  <a:lnTo>
                    <a:pt x="298638" y="368417"/>
                  </a:lnTo>
                  <a:close/>
                  <a:moveTo>
                    <a:pt x="498156" y="57402"/>
                  </a:moveTo>
                  <a:lnTo>
                    <a:pt x="479496" y="84634"/>
                  </a:lnTo>
                  <a:lnTo>
                    <a:pt x="534040" y="123331"/>
                  </a:lnTo>
                  <a:lnTo>
                    <a:pt x="552700" y="96100"/>
                  </a:lnTo>
                  <a:close/>
                  <a:moveTo>
                    <a:pt x="493850" y="28737"/>
                  </a:moveTo>
                  <a:lnTo>
                    <a:pt x="581408" y="90367"/>
                  </a:lnTo>
                  <a:lnTo>
                    <a:pt x="528299" y="164896"/>
                  </a:lnTo>
                  <a:lnTo>
                    <a:pt x="363230" y="397082"/>
                  </a:lnTo>
                  <a:lnTo>
                    <a:pt x="245529" y="463011"/>
                  </a:lnTo>
                  <a:lnTo>
                    <a:pt x="278543" y="334019"/>
                  </a:lnTo>
                  <a:lnTo>
                    <a:pt x="400550" y="160596"/>
                  </a:lnTo>
                  <a:lnTo>
                    <a:pt x="440741" y="103266"/>
                  </a:lnTo>
                  <a:close/>
                  <a:moveTo>
                    <a:pt x="0" y="0"/>
                  </a:moveTo>
                  <a:lnTo>
                    <a:pt x="399045" y="0"/>
                  </a:lnTo>
                  <a:lnTo>
                    <a:pt x="399045" y="24367"/>
                  </a:lnTo>
                  <a:lnTo>
                    <a:pt x="24402" y="24367"/>
                  </a:lnTo>
                  <a:lnTo>
                    <a:pt x="24402" y="31534"/>
                  </a:lnTo>
                  <a:lnTo>
                    <a:pt x="386126" y="31534"/>
                  </a:lnTo>
                  <a:lnTo>
                    <a:pt x="386126" y="34401"/>
                  </a:lnTo>
                  <a:lnTo>
                    <a:pt x="24402" y="34401"/>
                  </a:lnTo>
                  <a:lnTo>
                    <a:pt x="24402" y="41568"/>
                  </a:lnTo>
                  <a:lnTo>
                    <a:pt x="387561" y="41568"/>
                  </a:lnTo>
                  <a:lnTo>
                    <a:pt x="387561" y="44434"/>
                  </a:lnTo>
                  <a:lnTo>
                    <a:pt x="24402" y="44434"/>
                  </a:lnTo>
                  <a:lnTo>
                    <a:pt x="24402" y="53035"/>
                  </a:lnTo>
                  <a:lnTo>
                    <a:pt x="387561" y="53035"/>
                  </a:lnTo>
                  <a:lnTo>
                    <a:pt x="387561" y="57335"/>
                  </a:lnTo>
                  <a:lnTo>
                    <a:pt x="24402" y="57335"/>
                  </a:lnTo>
                  <a:lnTo>
                    <a:pt x="24402" y="64502"/>
                  </a:lnTo>
                  <a:lnTo>
                    <a:pt x="387561" y="64502"/>
                  </a:lnTo>
                  <a:lnTo>
                    <a:pt x="387561" y="67368"/>
                  </a:lnTo>
                  <a:lnTo>
                    <a:pt x="24402" y="67368"/>
                  </a:lnTo>
                  <a:lnTo>
                    <a:pt x="24402" y="74535"/>
                  </a:lnTo>
                  <a:lnTo>
                    <a:pt x="387561" y="74535"/>
                  </a:lnTo>
                  <a:lnTo>
                    <a:pt x="387561" y="77402"/>
                  </a:lnTo>
                  <a:lnTo>
                    <a:pt x="24402" y="77402"/>
                  </a:lnTo>
                  <a:lnTo>
                    <a:pt x="24402" y="84569"/>
                  </a:lnTo>
                  <a:lnTo>
                    <a:pt x="400480" y="84569"/>
                  </a:lnTo>
                  <a:lnTo>
                    <a:pt x="400480" y="139036"/>
                  </a:lnTo>
                  <a:lnTo>
                    <a:pt x="268422" y="326807"/>
                  </a:lnTo>
                  <a:lnTo>
                    <a:pt x="266987" y="328241"/>
                  </a:lnTo>
                  <a:lnTo>
                    <a:pt x="265551" y="331107"/>
                  </a:lnTo>
                  <a:lnTo>
                    <a:pt x="233972" y="460110"/>
                  </a:lnTo>
                  <a:lnTo>
                    <a:pt x="226795" y="488777"/>
                  </a:lnTo>
                  <a:lnTo>
                    <a:pt x="252633" y="474444"/>
                  </a:lnTo>
                  <a:lnTo>
                    <a:pt x="370336" y="407076"/>
                  </a:lnTo>
                  <a:lnTo>
                    <a:pt x="371772" y="405642"/>
                  </a:lnTo>
                  <a:lnTo>
                    <a:pt x="374643" y="404209"/>
                  </a:lnTo>
                  <a:lnTo>
                    <a:pt x="400480" y="365508"/>
                  </a:lnTo>
                  <a:lnTo>
                    <a:pt x="400480" y="543245"/>
                  </a:lnTo>
                  <a:lnTo>
                    <a:pt x="0" y="543245"/>
                  </a:lnTo>
                  <a:lnTo>
                    <a:pt x="0" y="84569"/>
                  </a:ln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3" name="组合 12"/>
          <p:cNvGrpSpPr/>
          <p:nvPr>
            <p:custDataLst>
              <p:tags r:id="rId10"/>
            </p:custDataLst>
          </p:nvPr>
        </p:nvGrpSpPr>
        <p:grpSpPr>
          <a:xfrm>
            <a:off x="7013123" y="1497954"/>
            <a:ext cx="540000" cy="540000"/>
            <a:chOff x="7013123" y="1497954"/>
            <a:chExt cx="540000" cy="540000"/>
          </a:xfrm>
        </p:grpSpPr>
        <p:sp>
          <p:nvSpPr>
            <p:cNvPr id="40" name="色块"/>
            <p:cNvSpPr>
              <a:spLocks noChangeAspect="1"/>
            </p:cNvSpPr>
            <p:nvPr>
              <p:custDataLst>
                <p:tags r:id="rId17"/>
              </p:custDataLst>
            </p:nvPr>
          </p:nvSpPr>
          <p:spPr>
            <a:xfrm>
              <a:off x="7013123" y="1497954"/>
              <a:ext cx="540000" cy="540000"/>
            </a:xfrm>
            <a:prstGeom prst="rect">
              <a:avLst/>
            </a:prstGeom>
            <a:solidFill>
              <a:schemeClr val="accent1"/>
            </a:solidFill>
            <a:ln>
              <a:solidFill>
                <a:schemeClr val="accent1"/>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书6"/>
            <p:cNvSpPr>
              <a:spLocks noChangeAspect="1"/>
            </p:cNvSpPr>
            <p:nvPr>
              <p:custDataLst>
                <p:tags r:id="rId18"/>
              </p:custDataLst>
            </p:nvPr>
          </p:nvSpPr>
          <p:spPr bwMode="auto">
            <a:xfrm>
              <a:off x="7121639" y="1617071"/>
              <a:ext cx="322969" cy="251163"/>
            </a:xfrm>
            <a:custGeom>
              <a:avLst/>
              <a:gdLst>
                <a:gd name="T0" fmla="*/ 2471 w 2903"/>
                <a:gd name="T1" fmla="*/ 1598 h 2261"/>
                <a:gd name="T2" fmla="*/ 2471 w 2903"/>
                <a:gd name="T3" fmla="*/ 2127 h 2261"/>
                <a:gd name="T4" fmla="*/ 2505 w 2903"/>
                <a:gd name="T5" fmla="*/ 2127 h 2261"/>
                <a:gd name="T6" fmla="*/ 2572 w 2903"/>
                <a:gd name="T7" fmla="*/ 2194 h 2261"/>
                <a:gd name="T8" fmla="*/ 2505 w 2903"/>
                <a:gd name="T9" fmla="*/ 2261 h 2261"/>
                <a:gd name="T10" fmla="*/ 2405 w 2903"/>
                <a:gd name="T11" fmla="*/ 2261 h 2261"/>
                <a:gd name="T12" fmla="*/ 2124 w 2903"/>
                <a:gd name="T13" fmla="*/ 2261 h 2261"/>
                <a:gd name="T14" fmla="*/ 398 w 2903"/>
                <a:gd name="T15" fmla="*/ 2261 h 2261"/>
                <a:gd name="T16" fmla="*/ 0 w 2903"/>
                <a:gd name="T17" fmla="*/ 1863 h 2261"/>
                <a:gd name="T18" fmla="*/ 398 w 2903"/>
                <a:gd name="T19" fmla="*/ 1465 h 2261"/>
                <a:gd name="T20" fmla="*/ 2124 w 2903"/>
                <a:gd name="T21" fmla="*/ 1465 h 2261"/>
                <a:gd name="T22" fmla="*/ 2405 w 2903"/>
                <a:gd name="T23" fmla="*/ 1465 h 2261"/>
                <a:gd name="T24" fmla="*/ 2505 w 2903"/>
                <a:gd name="T25" fmla="*/ 1465 h 2261"/>
                <a:gd name="T26" fmla="*/ 2572 w 2903"/>
                <a:gd name="T27" fmla="*/ 1532 h 2261"/>
                <a:gd name="T28" fmla="*/ 2505 w 2903"/>
                <a:gd name="T29" fmla="*/ 1598 h 2261"/>
                <a:gd name="T30" fmla="*/ 2471 w 2903"/>
                <a:gd name="T31" fmla="*/ 1598 h 2261"/>
                <a:gd name="T32" fmla="*/ 2836 w 2903"/>
                <a:gd name="T33" fmla="*/ 1195 h 2261"/>
                <a:gd name="T34" fmla="*/ 2786 w 2903"/>
                <a:gd name="T35" fmla="*/ 1195 h 2261"/>
                <a:gd name="T36" fmla="*/ 2786 w 2903"/>
                <a:gd name="T37" fmla="*/ 786 h 2261"/>
                <a:gd name="T38" fmla="*/ 2836 w 2903"/>
                <a:gd name="T39" fmla="*/ 786 h 2261"/>
                <a:gd name="T40" fmla="*/ 2903 w 2903"/>
                <a:gd name="T41" fmla="*/ 720 h 2261"/>
                <a:gd name="T42" fmla="*/ 2836 w 2903"/>
                <a:gd name="T43" fmla="*/ 653 h 2261"/>
                <a:gd name="T44" fmla="*/ 2720 w 2903"/>
                <a:gd name="T45" fmla="*/ 653 h 2261"/>
                <a:gd name="T46" fmla="*/ 2455 w 2903"/>
                <a:gd name="T47" fmla="*/ 653 h 2261"/>
                <a:gd name="T48" fmla="*/ 1005 w 2903"/>
                <a:gd name="T49" fmla="*/ 653 h 2261"/>
                <a:gd name="T50" fmla="*/ 668 w 2903"/>
                <a:gd name="T51" fmla="*/ 991 h 2261"/>
                <a:gd name="T52" fmla="*/ 1005 w 2903"/>
                <a:gd name="T53" fmla="*/ 1328 h 2261"/>
                <a:gd name="T54" fmla="*/ 2455 w 2903"/>
                <a:gd name="T55" fmla="*/ 1328 h 2261"/>
                <a:gd name="T56" fmla="*/ 2720 w 2903"/>
                <a:gd name="T57" fmla="*/ 1328 h 2261"/>
                <a:gd name="T58" fmla="*/ 2836 w 2903"/>
                <a:gd name="T59" fmla="*/ 1328 h 2261"/>
                <a:gd name="T60" fmla="*/ 2903 w 2903"/>
                <a:gd name="T61" fmla="*/ 1262 h 2261"/>
                <a:gd name="T62" fmla="*/ 2836 w 2903"/>
                <a:gd name="T63" fmla="*/ 1195 h 2261"/>
                <a:gd name="T64" fmla="*/ 226 w 2903"/>
                <a:gd name="T65" fmla="*/ 405 h 2261"/>
                <a:gd name="T66" fmla="*/ 159 w 2903"/>
                <a:gd name="T67" fmla="*/ 472 h 2261"/>
                <a:gd name="T68" fmla="*/ 226 w 2903"/>
                <a:gd name="T69" fmla="*/ 539 h 2261"/>
                <a:gd name="T70" fmla="*/ 323 w 2903"/>
                <a:gd name="T71" fmla="*/ 539 h 2261"/>
                <a:gd name="T72" fmla="*/ 671 w 2903"/>
                <a:gd name="T73" fmla="*/ 539 h 2261"/>
                <a:gd name="T74" fmla="*/ 2248 w 2903"/>
                <a:gd name="T75" fmla="*/ 539 h 2261"/>
                <a:gd name="T76" fmla="*/ 2517 w 2903"/>
                <a:gd name="T77" fmla="*/ 269 h 2261"/>
                <a:gd name="T78" fmla="*/ 2248 w 2903"/>
                <a:gd name="T79" fmla="*/ 0 h 2261"/>
                <a:gd name="T80" fmla="*/ 671 w 2903"/>
                <a:gd name="T81" fmla="*/ 0 h 2261"/>
                <a:gd name="T82" fmla="*/ 323 w 2903"/>
                <a:gd name="T83" fmla="*/ 0 h 2261"/>
                <a:gd name="T84" fmla="*/ 226 w 2903"/>
                <a:gd name="T85" fmla="*/ 0 h 2261"/>
                <a:gd name="T86" fmla="*/ 159 w 2903"/>
                <a:gd name="T87" fmla="*/ 66 h 2261"/>
                <a:gd name="T88" fmla="*/ 226 w 2903"/>
                <a:gd name="T89" fmla="*/ 133 h 2261"/>
                <a:gd name="T90" fmla="*/ 257 w 2903"/>
                <a:gd name="T91" fmla="*/ 133 h 2261"/>
                <a:gd name="T92" fmla="*/ 257 w 2903"/>
                <a:gd name="T93" fmla="*/ 405 h 2261"/>
                <a:gd name="T94" fmla="*/ 226 w 2903"/>
                <a:gd name="T95" fmla="*/ 405 h 2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03" h="2261">
                  <a:moveTo>
                    <a:pt x="2471" y="1598"/>
                  </a:moveTo>
                  <a:lnTo>
                    <a:pt x="2471" y="2127"/>
                  </a:lnTo>
                  <a:lnTo>
                    <a:pt x="2505" y="2127"/>
                  </a:lnTo>
                  <a:cubicBezTo>
                    <a:pt x="2542" y="2127"/>
                    <a:pt x="2572" y="2157"/>
                    <a:pt x="2572" y="2194"/>
                  </a:cubicBezTo>
                  <a:cubicBezTo>
                    <a:pt x="2572" y="2231"/>
                    <a:pt x="2542" y="2261"/>
                    <a:pt x="2505" y="2261"/>
                  </a:cubicBezTo>
                  <a:lnTo>
                    <a:pt x="2405" y="2261"/>
                  </a:lnTo>
                  <a:lnTo>
                    <a:pt x="2124" y="2261"/>
                  </a:lnTo>
                  <a:lnTo>
                    <a:pt x="398" y="2261"/>
                  </a:lnTo>
                  <a:cubicBezTo>
                    <a:pt x="178" y="2261"/>
                    <a:pt x="0" y="2082"/>
                    <a:pt x="0" y="1863"/>
                  </a:cubicBezTo>
                  <a:cubicBezTo>
                    <a:pt x="0" y="1643"/>
                    <a:pt x="178" y="1465"/>
                    <a:pt x="398" y="1465"/>
                  </a:cubicBezTo>
                  <a:lnTo>
                    <a:pt x="2124" y="1465"/>
                  </a:lnTo>
                  <a:lnTo>
                    <a:pt x="2405" y="1465"/>
                  </a:lnTo>
                  <a:lnTo>
                    <a:pt x="2505" y="1465"/>
                  </a:lnTo>
                  <a:cubicBezTo>
                    <a:pt x="2542" y="1465"/>
                    <a:pt x="2572" y="1495"/>
                    <a:pt x="2572" y="1532"/>
                  </a:cubicBezTo>
                  <a:cubicBezTo>
                    <a:pt x="2572" y="1568"/>
                    <a:pt x="2542" y="1598"/>
                    <a:pt x="2505" y="1598"/>
                  </a:cubicBezTo>
                  <a:lnTo>
                    <a:pt x="2471" y="1598"/>
                  </a:lnTo>
                  <a:close/>
                  <a:moveTo>
                    <a:pt x="2836" y="1195"/>
                  </a:moveTo>
                  <a:lnTo>
                    <a:pt x="2786" y="1195"/>
                  </a:lnTo>
                  <a:lnTo>
                    <a:pt x="2786" y="786"/>
                  </a:lnTo>
                  <a:lnTo>
                    <a:pt x="2836" y="786"/>
                  </a:lnTo>
                  <a:cubicBezTo>
                    <a:pt x="2873" y="786"/>
                    <a:pt x="2903" y="757"/>
                    <a:pt x="2903" y="720"/>
                  </a:cubicBezTo>
                  <a:cubicBezTo>
                    <a:pt x="2903" y="683"/>
                    <a:pt x="2873" y="653"/>
                    <a:pt x="2836" y="653"/>
                  </a:cubicBezTo>
                  <a:lnTo>
                    <a:pt x="2720" y="653"/>
                  </a:lnTo>
                  <a:lnTo>
                    <a:pt x="2455" y="653"/>
                  </a:lnTo>
                  <a:lnTo>
                    <a:pt x="1005" y="653"/>
                  </a:lnTo>
                  <a:cubicBezTo>
                    <a:pt x="819" y="653"/>
                    <a:pt x="668" y="805"/>
                    <a:pt x="668" y="991"/>
                  </a:cubicBezTo>
                  <a:cubicBezTo>
                    <a:pt x="668" y="1177"/>
                    <a:pt x="819" y="1328"/>
                    <a:pt x="1005" y="1328"/>
                  </a:cubicBezTo>
                  <a:lnTo>
                    <a:pt x="2455" y="1328"/>
                  </a:lnTo>
                  <a:lnTo>
                    <a:pt x="2720" y="1328"/>
                  </a:lnTo>
                  <a:lnTo>
                    <a:pt x="2836" y="1328"/>
                  </a:lnTo>
                  <a:cubicBezTo>
                    <a:pt x="2873" y="1328"/>
                    <a:pt x="2903" y="1299"/>
                    <a:pt x="2903" y="1262"/>
                  </a:cubicBezTo>
                  <a:cubicBezTo>
                    <a:pt x="2903" y="1225"/>
                    <a:pt x="2873" y="1195"/>
                    <a:pt x="2836" y="1195"/>
                  </a:cubicBezTo>
                  <a:close/>
                  <a:moveTo>
                    <a:pt x="226" y="405"/>
                  </a:moveTo>
                  <a:cubicBezTo>
                    <a:pt x="189" y="405"/>
                    <a:pt x="159" y="435"/>
                    <a:pt x="159" y="472"/>
                  </a:cubicBezTo>
                  <a:cubicBezTo>
                    <a:pt x="159" y="509"/>
                    <a:pt x="189" y="539"/>
                    <a:pt x="226" y="539"/>
                  </a:cubicBezTo>
                  <a:lnTo>
                    <a:pt x="323" y="539"/>
                  </a:lnTo>
                  <a:lnTo>
                    <a:pt x="671" y="539"/>
                  </a:lnTo>
                  <a:lnTo>
                    <a:pt x="2248" y="539"/>
                  </a:lnTo>
                  <a:cubicBezTo>
                    <a:pt x="2396" y="539"/>
                    <a:pt x="2517" y="418"/>
                    <a:pt x="2517" y="269"/>
                  </a:cubicBezTo>
                  <a:cubicBezTo>
                    <a:pt x="2517" y="121"/>
                    <a:pt x="2396" y="0"/>
                    <a:pt x="2248" y="0"/>
                  </a:cubicBezTo>
                  <a:lnTo>
                    <a:pt x="671" y="0"/>
                  </a:lnTo>
                  <a:lnTo>
                    <a:pt x="323" y="0"/>
                  </a:lnTo>
                  <a:lnTo>
                    <a:pt x="226" y="0"/>
                  </a:lnTo>
                  <a:cubicBezTo>
                    <a:pt x="189" y="0"/>
                    <a:pt x="159" y="30"/>
                    <a:pt x="159" y="66"/>
                  </a:cubicBezTo>
                  <a:cubicBezTo>
                    <a:pt x="159" y="103"/>
                    <a:pt x="189" y="133"/>
                    <a:pt x="226" y="133"/>
                  </a:cubicBezTo>
                  <a:lnTo>
                    <a:pt x="257" y="133"/>
                  </a:lnTo>
                  <a:lnTo>
                    <a:pt x="257" y="405"/>
                  </a:lnTo>
                  <a:lnTo>
                    <a:pt x="226" y="405"/>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p:cNvGrpSpPr/>
          <p:nvPr>
            <p:custDataLst>
              <p:tags r:id="rId11"/>
            </p:custDataLst>
          </p:nvPr>
        </p:nvGrpSpPr>
        <p:grpSpPr>
          <a:xfrm>
            <a:off x="840087" y="4146962"/>
            <a:ext cx="540000" cy="540000"/>
            <a:chOff x="840087" y="4146962"/>
            <a:chExt cx="540000" cy="540000"/>
          </a:xfrm>
        </p:grpSpPr>
        <p:sp>
          <p:nvSpPr>
            <p:cNvPr id="62" name="色块"/>
            <p:cNvSpPr>
              <a:spLocks noChangeAspect="1"/>
            </p:cNvSpPr>
            <p:nvPr>
              <p:custDataLst>
                <p:tags r:id="rId15"/>
              </p:custDataLst>
            </p:nvPr>
          </p:nvSpPr>
          <p:spPr>
            <a:xfrm>
              <a:off x="840087" y="4146962"/>
              <a:ext cx="540000" cy="540000"/>
            </a:xfrm>
            <a:prstGeom prst="rect">
              <a:avLst/>
            </a:prstGeom>
            <a:solidFill>
              <a:schemeClr val="accent1"/>
            </a:solidFill>
            <a:ln>
              <a:solidFill>
                <a:schemeClr val="accent1"/>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书7"/>
            <p:cNvSpPr>
              <a:spLocks noChangeAspect="1"/>
            </p:cNvSpPr>
            <p:nvPr>
              <p:custDataLst>
                <p:tags r:id="rId16"/>
              </p:custDataLst>
            </p:nvPr>
          </p:nvSpPr>
          <p:spPr bwMode="auto">
            <a:xfrm>
              <a:off x="976963" y="4255478"/>
              <a:ext cx="266249" cy="322969"/>
            </a:xfrm>
            <a:custGeom>
              <a:avLst/>
              <a:gdLst>
                <a:gd name="connsiteX0" fmla="*/ 254867 w 490082"/>
                <a:gd name="connsiteY0" fmla="*/ 282197 h 594486"/>
                <a:gd name="connsiteX1" fmla="*/ 328026 w 490082"/>
                <a:gd name="connsiteY1" fmla="*/ 355241 h 594486"/>
                <a:gd name="connsiteX2" fmla="*/ 254867 w 490082"/>
                <a:gd name="connsiteY2" fmla="*/ 428285 h 594486"/>
                <a:gd name="connsiteX3" fmla="*/ 181708 w 490082"/>
                <a:gd name="connsiteY3" fmla="*/ 355241 h 594486"/>
                <a:gd name="connsiteX4" fmla="*/ 254867 w 490082"/>
                <a:gd name="connsiteY4" fmla="*/ 282197 h 594486"/>
                <a:gd name="connsiteX5" fmla="*/ 255321 w 490082"/>
                <a:gd name="connsiteY5" fmla="*/ 251403 h 594486"/>
                <a:gd name="connsiteX6" fmla="*/ 181211 w 490082"/>
                <a:gd name="connsiteY6" fmla="*/ 282202 h 594486"/>
                <a:gd name="connsiteX7" fmla="*/ 181211 w 490082"/>
                <a:gd name="connsiteY7" fmla="*/ 430227 h 594486"/>
                <a:gd name="connsiteX8" fmla="*/ 315565 w 490082"/>
                <a:gd name="connsiteY8" fmla="*/ 441687 h 594486"/>
                <a:gd name="connsiteX9" fmla="*/ 316999 w 490082"/>
                <a:gd name="connsiteY9" fmla="*/ 443119 h 594486"/>
                <a:gd name="connsiteX10" fmla="*/ 435097 w 490082"/>
                <a:gd name="connsiteY10" fmla="*/ 561061 h 594486"/>
                <a:gd name="connsiteX11" fmla="*/ 460916 w 490082"/>
                <a:gd name="connsiteY11" fmla="*/ 561061 h 594486"/>
                <a:gd name="connsiteX12" fmla="*/ 460916 w 490082"/>
                <a:gd name="connsiteY12" fmla="*/ 535276 h 594486"/>
                <a:gd name="connsiteX13" fmla="*/ 342818 w 490082"/>
                <a:gd name="connsiteY13" fmla="*/ 417334 h 594486"/>
                <a:gd name="connsiteX14" fmla="*/ 340906 w 490082"/>
                <a:gd name="connsiteY14" fmla="*/ 416379 h 594486"/>
                <a:gd name="connsiteX15" fmla="*/ 329431 w 490082"/>
                <a:gd name="connsiteY15" fmla="*/ 282202 h 594486"/>
                <a:gd name="connsiteX16" fmla="*/ 255321 w 490082"/>
                <a:gd name="connsiteY16" fmla="*/ 251403 h 594486"/>
                <a:gd name="connsiteX17" fmla="*/ 28210 w 490082"/>
                <a:gd name="connsiteY17" fmla="*/ 28172 h 594486"/>
                <a:gd name="connsiteX18" fmla="*/ 28210 w 490082"/>
                <a:gd name="connsiteY18" fmla="*/ 109347 h 594486"/>
                <a:gd name="connsiteX19" fmla="*/ 371984 w 490082"/>
                <a:gd name="connsiteY19" fmla="*/ 109347 h 594486"/>
                <a:gd name="connsiteX20" fmla="*/ 350468 w 490082"/>
                <a:gd name="connsiteY20" fmla="*/ 68282 h 594486"/>
                <a:gd name="connsiteX21" fmla="*/ 350468 w 490082"/>
                <a:gd name="connsiteY21" fmla="*/ 54912 h 594486"/>
                <a:gd name="connsiteX22" fmla="*/ 364812 w 490082"/>
                <a:gd name="connsiteY22" fmla="*/ 28172 h 594486"/>
                <a:gd name="connsiteX23" fmla="*/ 13866 w 490082"/>
                <a:gd name="connsiteY23" fmla="*/ 0 h 594486"/>
                <a:gd name="connsiteX24" fmla="*/ 387762 w 490082"/>
                <a:gd name="connsiteY24" fmla="*/ 0 h 594486"/>
                <a:gd name="connsiteX25" fmla="*/ 399716 w 490082"/>
                <a:gd name="connsiteY25" fmla="*/ 6685 h 594486"/>
                <a:gd name="connsiteX26" fmla="*/ 400194 w 490082"/>
                <a:gd name="connsiteY26" fmla="*/ 20532 h 594486"/>
                <a:gd name="connsiteX27" fmla="*/ 378678 w 490082"/>
                <a:gd name="connsiteY27" fmla="*/ 61597 h 594486"/>
                <a:gd name="connsiteX28" fmla="*/ 401628 w 490082"/>
                <a:gd name="connsiteY28" fmla="*/ 106005 h 594486"/>
                <a:gd name="connsiteX29" fmla="*/ 403063 w 490082"/>
                <a:gd name="connsiteY29" fmla="*/ 109347 h 594486"/>
                <a:gd name="connsiteX30" fmla="*/ 403063 w 490082"/>
                <a:gd name="connsiteY30" fmla="*/ 442642 h 594486"/>
                <a:gd name="connsiteX31" fmla="*/ 476694 w 490082"/>
                <a:gd name="connsiteY31" fmla="*/ 516176 h 594486"/>
                <a:gd name="connsiteX32" fmla="*/ 490082 w 490082"/>
                <a:gd name="connsiteY32" fmla="*/ 548646 h 594486"/>
                <a:gd name="connsiteX33" fmla="*/ 476694 w 490082"/>
                <a:gd name="connsiteY33" fmla="*/ 581116 h 594486"/>
                <a:gd name="connsiteX34" fmla="*/ 444182 w 490082"/>
                <a:gd name="connsiteY34" fmla="*/ 594486 h 594486"/>
                <a:gd name="connsiteX35" fmla="*/ 411669 w 490082"/>
                <a:gd name="connsiteY35" fmla="*/ 581116 h 594486"/>
                <a:gd name="connsiteX36" fmla="*/ 367203 w 490082"/>
                <a:gd name="connsiteY36" fmla="*/ 536231 h 594486"/>
                <a:gd name="connsiteX37" fmla="*/ 285921 w 490082"/>
                <a:gd name="connsiteY37" fmla="*/ 536231 h 594486"/>
                <a:gd name="connsiteX38" fmla="*/ 191252 w 490082"/>
                <a:gd name="connsiteY38" fmla="*/ 536231 h 594486"/>
                <a:gd name="connsiteX39" fmla="*/ 146786 w 490082"/>
                <a:gd name="connsiteY39" fmla="*/ 536231 h 594486"/>
                <a:gd name="connsiteX40" fmla="*/ 478 w 490082"/>
                <a:gd name="connsiteY40" fmla="*/ 536231 h 594486"/>
                <a:gd name="connsiteX41" fmla="*/ 0 w 490082"/>
                <a:gd name="connsiteY41" fmla="*/ 13847 h 594486"/>
                <a:gd name="connsiteX42" fmla="*/ 13866 w 490082"/>
                <a:gd name="connsiteY42" fmla="*/ 0 h 594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90082" h="594486">
                  <a:moveTo>
                    <a:pt x="254867" y="282197"/>
                  </a:moveTo>
                  <a:cubicBezTo>
                    <a:pt x="295272" y="282197"/>
                    <a:pt x="328026" y="314900"/>
                    <a:pt x="328026" y="355241"/>
                  </a:cubicBezTo>
                  <a:cubicBezTo>
                    <a:pt x="328026" y="395582"/>
                    <a:pt x="295272" y="428285"/>
                    <a:pt x="254867" y="428285"/>
                  </a:cubicBezTo>
                  <a:cubicBezTo>
                    <a:pt x="214462" y="428285"/>
                    <a:pt x="181708" y="395582"/>
                    <a:pt x="181708" y="355241"/>
                  </a:cubicBezTo>
                  <a:cubicBezTo>
                    <a:pt x="181708" y="314900"/>
                    <a:pt x="214462" y="282197"/>
                    <a:pt x="254867" y="282197"/>
                  </a:cubicBezTo>
                  <a:close/>
                  <a:moveTo>
                    <a:pt x="255321" y="251403"/>
                  </a:moveTo>
                  <a:cubicBezTo>
                    <a:pt x="228426" y="251403"/>
                    <a:pt x="201532" y="261669"/>
                    <a:pt x="181211" y="282202"/>
                  </a:cubicBezTo>
                  <a:cubicBezTo>
                    <a:pt x="140092" y="322789"/>
                    <a:pt x="140092" y="389162"/>
                    <a:pt x="181211" y="430227"/>
                  </a:cubicBezTo>
                  <a:cubicBezTo>
                    <a:pt x="217549" y="466516"/>
                    <a:pt x="274924" y="470336"/>
                    <a:pt x="315565" y="441687"/>
                  </a:cubicBezTo>
                  <a:cubicBezTo>
                    <a:pt x="316043" y="442164"/>
                    <a:pt x="316521" y="442642"/>
                    <a:pt x="316999" y="443119"/>
                  </a:cubicBezTo>
                  <a:lnTo>
                    <a:pt x="435097" y="561061"/>
                  </a:lnTo>
                  <a:cubicBezTo>
                    <a:pt x="442269" y="568224"/>
                    <a:pt x="453744" y="568224"/>
                    <a:pt x="460916" y="561061"/>
                  </a:cubicBezTo>
                  <a:cubicBezTo>
                    <a:pt x="468088" y="553899"/>
                    <a:pt x="468088" y="542439"/>
                    <a:pt x="460916" y="535276"/>
                  </a:cubicBezTo>
                  <a:lnTo>
                    <a:pt x="342818" y="417334"/>
                  </a:lnTo>
                  <a:cubicBezTo>
                    <a:pt x="342340" y="416857"/>
                    <a:pt x="341384" y="416857"/>
                    <a:pt x="340906" y="416379"/>
                  </a:cubicBezTo>
                  <a:cubicBezTo>
                    <a:pt x="370072" y="375314"/>
                    <a:pt x="366247" y="318492"/>
                    <a:pt x="329431" y="282202"/>
                  </a:cubicBezTo>
                  <a:cubicBezTo>
                    <a:pt x="309110" y="261669"/>
                    <a:pt x="282216" y="251403"/>
                    <a:pt x="255321" y="251403"/>
                  </a:cubicBezTo>
                  <a:close/>
                  <a:moveTo>
                    <a:pt x="28210" y="28172"/>
                  </a:moveTo>
                  <a:lnTo>
                    <a:pt x="28210" y="109347"/>
                  </a:lnTo>
                  <a:lnTo>
                    <a:pt x="371984" y="109347"/>
                  </a:lnTo>
                  <a:lnTo>
                    <a:pt x="350468" y="68282"/>
                  </a:lnTo>
                  <a:cubicBezTo>
                    <a:pt x="348078" y="63985"/>
                    <a:pt x="348078" y="59210"/>
                    <a:pt x="350468" y="54912"/>
                  </a:cubicBezTo>
                  <a:lnTo>
                    <a:pt x="364812" y="28172"/>
                  </a:lnTo>
                  <a:close/>
                  <a:moveTo>
                    <a:pt x="13866" y="0"/>
                  </a:moveTo>
                  <a:lnTo>
                    <a:pt x="387762" y="0"/>
                  </a:lnTo>
                  <a:cubicBezTo>
                    <a:pt x="393022" y="0"/>
                    <a:pt x="397325" y="2387"/>
                    <a:pt x="399716" y="6685"/>
                  </a:cubicBezTo>
                  <a:cubicBezTo>
                    <a:pt x="402584" y="10982"/>
                    <a:pt x="402584" y="16235"/>
                    <a:pt x="400194" y="20532"/>
                  </a:cubicBezTo>
                  <a:lnTo>
                    <a:pt x="378678" y="61597"/>
                  </a:lnTo>
                  <a:lnTo>
                    <a:pt x="401628" y="106005"/>
                  </a:lnTo>
                  <a:cubicBezTo>
                    <a:pt x="402106" y="106960"/>
                    <a:pt x="403063" y="108392"/>
                    <a:pt x="403063" y="109347"/>
                  </a:cubicBezTo>
                  <a:lnTo>
                    <a:pt x="403063" y="442642"/>
                  </a:lnTo>
                  <a:lnTo>
                    <a:pt x="476694" y="516176"/>
                  </a:lnTo>
                  <a:cubicBezTo>
                    <a:pt x="485301" y="524771"/>
                    <a:pt x="490082" y="536231"/>
                    <a:pt x="490082" y="548646"/>
                  </a:cubicBezTo>
                  <a:cubicBezTo>
                    <a:pt x="490082" y="560584"/>
                    <a:pt x="485301" y="572521"/>
                    <a:pt x="476694" y="581116"/>
                  </a:cubicBezTo>
                  <a:cubicBezTo>
                    <a:pt x="468088" y="589711"/>
                    <a:pt x="456613" y="594486"/>
                    <a:pt x="444182" y="594486"/>
                  </a:cubicBezTo>
                  <a:cubicBezTo>
                    <a:pt x="431750" y="594486"/>
                    <a:pt x="420275" y="589711"/>
                    <a:pt x="411669" y="581116"/>
                  </a:cubicBezTo>
                  <a:lnTo>
                    <a:pt x="367203" y="536231"/>
                  </a:lnTo>
                  <a:lnTo>
                    <a:pt x="285921" y="536231"/>
                  </a:lnTo>
                  <a:lnTo>
                    <a:pt x="191252" y="536231"/>
                  </a:lnTo>
                  <a:lnTo>
                    <a:pt x="146786" y="536231"/>
                  </a:lnTo>
                  <a:lnTo>
                    <a:pt x="478" y="536231"/>
                  </a:lnTo>
                  <a:lnTo>
                    <a:pt x="0" y="13847"/>
                  </a:lnTo>
                  <a:cubicBezTo>
                    <a:pt x="0" y="6207"/>
                    <a:pt x="6216" y="0"/>
                    <a:pt x="13866" y="0"/>
                  </a:cubicBez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6" name="组合 15"/>
          <p:cNvGrpSpPr/>
          <p:nvPr>
            <p:custDataLst>
              <p:tags r:id="rId12"/>
            </p:custDataLst>
          </p:nvPr>
        </p:nvGrpSpPr>
        <p:grpSpPr>
          <a:xfrm>
            <a:off x="7013123" y="4146962"/>
            <a:ext cx="540000" cy="540000"/>
            <a:chOff x="7013123" y="4146962"/>
            <a:chExt cx="540000" cy="540000"/>
          </a:xfrm>
        </p:grpSpPr>
        <p:sp>
          <p:nvSpPr>
            <p:cNvPr id="71" name="色块"/>
            <p:cNvSpPr>
              <a:spLocks noChangeAspect="1"/>
            </p:cNvSpPr>
            <p:nvPr>
              <p:custDataLst>
                <p:tags r:id="rId13"/>
              </p:custDataLst>
            </p:nvPr>
          </p:nvSpPr>
          <p:spPr>
            <a:xfrm>
              <a:off x="7013123" y="4146962"/>
              <a:ext cx="540000" cy="540000"/>
            </a:xfrm>
            <a:prstGeom prst="rect">
              <a:avLst/>
            </a:prstGeom>
            <a:solidFill>
              <a:schemeClr val="accent1"/>
            </a:solidFill>
            <a:ln>
              <a:solidFill>
                <a:schemeClr val="accent1"/>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书8"/>
            <p:cNvSpPr>
              <a:spLocks noChangeAspect="1"/>
            </p:cNvSpPr>
            <p:nvPr>
              <p:custDataLst>
                <p:tags r:id="rId14"/>
              </p:custDataLst>
            </p:nvPr>
          </p:nvSpPr>
          <p:spPr bwMode="auto">
            <a:xfrm>
              <a:off x="7121639" y="4261205"/>
              <a:ext cx="322969" cy="311514"/>
            </a:xfrm>
            <a:custGeom>
              <a:avLst/>
              <a:gdLst>
                <a:gd name="connsiteX0" fmla="*/ 124946 w 589914"/>
                <a:gd name="connsiteY0" fmla="*/ 446410 h 568993"/>
                <a:gd name="connsiteX1" fmla="*/ 221161 w 589914"/>
                <a:gd name="connsiteY1" fmla="*/ 471379 h 568993"/>
                <a:gd name="connsiteX2" fmla="*/ 215411 w 589914"/>
                <a:gd name="connsiteY2" fmla="*/ 481402 h 568993"/>
                <a:gd name="connsiteX3" fmla="*/ 70235 w 589914"/>
                <a:gd name="connsiteY3" fmla="*/ 464219 h 568993"/>
                <a:gd name="connsiteX4" fmla="*/ 67360 w 589914"/>
                <a:gd name="connsiteY4" fmla="*/ 452764 h 568993"/>
                <a:gd name="connsiteX5" fmla="*/ 124946 w 589914"/>
                <a:gd name="connsiteY5" fmla="*/ 446410 h 568993"/>
                <a:gd name="connsiteX6" fmla="*/ 124946 w 589914"/>
                <a:gd name="connsiteY6" fmla="*/ 413535 h 568993"/>
                <a:gd name="connsiteX7" fmla="*/ 221161 w 589914"/>
                <a:gd name="connsiteY7" fmla="*/ 438504 h 568993"/>
                <a:gd name="connsiteX8" fmla="*/ 215411 w 589914"/>
                <a:gd name="connsiteY8" fmla="*/ 448527 h 568993"/>
                <a:gd name="connsiteX9" fmla="*/ 70235 w 589914"/>
                <a:gd name="connsiteY9" fmla="*/ 431344 h 568993"/>
                <a:gd name="connsiteX10" fmla="*/ 67360 w 589914"/>
                <a:gd name="connsiteY10" fmla="*/ 419889 h 568993"/>
                <a:gd name="connsiteX11" fmla="*/ 124946 w 589914"/>
                <a:gd name="connsiteY11" fmla="*/ 413535 h 568993"/>
                <a:gd name="connsiteX12" fmla="*/ 124946 w 589914"/>
                <a:gd name="connsiteY12" fmla="*/ 381226 h 568993"/>
                <a:gd name="connsiteX13" fmla="*/ 221161 w 589914"/>
                <a:gd name="connsiteY13" fmla="*/ 405618 h 568993"/>
                <a:gd name="connsiteX14" fmla="*/ 215411 w 589914"/>
                <a:gd name="connsiteY14" fmla="*/ 415652 h 568993"/>
                <a:gd name="connsiteX15" fmla="*/ 70235 w 589914"/>
                <a:gd name="connsiteY15" fmla="*/ 398450 h 568993"/>
                <a:gd name="connsiteX16" fmla="*/ 67360 w 589914"/>
                <a:gd name="connsiteY16" fmla="*/ 386983 h 568993"/>
                <a:gd name="connsiteX17" fmla="*/ 124946 w 589914"/>
                <a:gd name="connsiteY17" fmla="*/ 381226 h 568993"/>
                <a:gd name="connsiteX18" fmla="*/ 124946 w 589914"/>
                <a:gd name="connsiteY18" fmla="*/ 349730 h 568993"/>
                <a:gd name="connsiteX19" fmla="*/ 221161 w 589914"/>
                <a:gd name="connsiteY19" fmla="*/ 374122 h 568993"/>
                <a:gd name="connsiteX20" fmla="*/ 215411 w 589914"/>
                <a:gd name="connsiteY20" fmla="*/ 384156 h 568993"/>
                <a:gd name="connsiteX21" fmla="*/ 70235 w 589914"/>
                <a:gd name="connsiteY21" fmla="*/ 366954 h 568993"/>
                <a:gd name="connsiteX22" fmla="*/ 67360 w 589914"/>
                <a:gd name="connsiteY22" fmla="*/ 355487 h 568993"/>
                <a:gd name="connsiteX23" fmla="*/ 124946 w 589914"/>
                <a:gd name="connsiteY23" fmla="*/ 349730 h 568993"/>
                <a:gd name="connsiteX24" fmla="*/ 124946 w 589914"/>
                <a:gd name="connsiteY24" fmla="*/ 315231 h 568993"/>
                <a:gd name="connsiteX25" fmla="*/ 221161 w 589914"/>
                <a:gd name="connsiteY25" fmla="*/ 339596 h 568993"/>
                <a:gd name="connsiteX26" fmla="*/ 215411 w 589914"/>
                <a:gd name="connsiteY26" fmla="*/ 351051 h 568993"/>
                <a:gd name="connsiteX27" fmla="*/ 70235 w 589914"/>
                <a:gd name="connsiteY27" fmla="*/ 332436 h 568993"/>
                <a:gd name="connsiteX28" fmla="*/ 67360 w 589914"/>
                <a:gd name="connsiteY28" fmla="*/ 320981 h 568993"/>
                <a:gd name="connsiteX29" fmla="*/ 124946 w 589914"/>
                <a:gd name="connsiteY29" fmla="*/ 315231 h 568993"/>
                <a:gd name="connsiteX30" fmla="*/ 373313 w 589914"/>
                <a:gd name="connsiteY30" fmla="*/ 290957 h 568993"/>
                <a:gd name="connsiteX31" fmla="*/ 367575 w 589914"/>
                <a:gd name="connsiteY31" fmla="*/ 300990 h 568993"/>
                <a:gd name="connsiteX32" fmla="*/ 363272 w 589914"/>
                <a:gd name="connsiteY32" fmla="*/ 366921 h 568993"/>
                <a:gd name="connsiteX33" fmla="*/ 383354 w 589914"/>
                <a:gd name="connsiteY33" fmla="*/ 376954 h 568993"/>
                <a:gd name="connsiteX34" fmla="*/ 437863 w 589914"/>
                <a:gd name="connsiteY34" fmla="*/ 333955 h 568993"/>
                <a:gd name="connsiteX35" fmla="*/ 440732 w 589914"/>
                <a:gd name="connsiteY35" fmla="*/ 326789 h 568993"/>
                <a:gd name="connsiteX36" fmla="*/ 409174 w 589914"/>
                <a:gd name="connsiteY36" fmla="*/ 338255 h 568993"/>
                <a:gd name="connsiteX37" fmla="*/ 404871 w 589914"/>
                <a:gd name="connsiteY37" fmla="*/ 311022 h 568993"/>
                <a:gd name="connsiteX38" fmla="*/ 383354 w 589914"/>
                <a:gd name="connsiteY38" fmla="*/ 325355 h 568993"/>
                <a:gd name="connsiteX39" fmla="*/ 124946 w 589914"/>
                <a:gd name="connsiteY39" fmla="*/ 284361 h 568993"/>
                <a:gd name="connsiteX40" fmla="*/ 221161 w 589914"/>
                <a:gd name="connsiteY40" fmla="*/ 309532 h 568993"/>
                <a:gd name="connsiteX41" fmla="*/ 215411 w 589914"/>
                <a:gd name="connsiteY41" fmla="*/ 319555 h 568993"/>
                <a:gd name="connsiteX42" fmla="*/ 70235 w 589914"/>
                <a:gd name="connsiteY42" fmla="*/ 302372 h 568993"/>
                <a:gd name="connsiteX43" fmla="*/ 67360 w 589914"/>
                <a:gd name="connsiteY43" fmla="*/ 290917 h 568993"/>
                <a:gd name="connsiteX44" fmla="*/ 124946 w 589914"/>
                <a:gd name="connsiteY44" fmla="*/ 284361 h 568993"/>
                <a:gd name="connsiteX45" fmla="*/ 124946 w 589914"/>
                <a:gd name="connsiteY45" fmla="*/ 251302 h 568993"/>
                <a:gd name="connsiteX46" fmla="*/ 221161 w 589914"/>
                <a:gd name="connsiteY46" fmla="*/ 275172 h 568993"/>
                <a:gd name="connsiteX47" fmla="*/ 215411 w 589914"/>
                <a:gd name="connsiteY47" fmla="*/ 286680 h 568993"/>
                <a:gd name="connsiteX48" fmla="*/ 70235 w 589914"/>
                <a:gd name="connsiteY48" fmla="*/ 269418 h 568993"/>
                <a:gd name="connsiteX49" fmla="*/ 67360 w 589914"/>
                <a:gd name="connsiteY49" fmla="*/ 257910 h 568993"/>
                <a:gd name="connsiteX50" fmla="*/ 124946 w 589914"/>
                <a:gd name="connsiteY50" fmla="*/ 251302 h 568993"/>
                <a:gd name="connsiteX51" fmla="*/ 117715 w 589914"/>
                <a:gd name="connsiteY51" fmla="*/ 206299 h 568993"/>
                <a:gd name="connsiteX52" fmla="*/ 38760 w 589914"/>
                <a:gd name="connsiteY52" fmla="*/ 219201 h 568993"/>
                <a:gd name="connsiteX53" fmla="*/ 38760 w 589914"/>
                <a:gd name="connsiteY53" fmla="*/ 513084 h 568993"/>
                <a:gd name="connsiteX54" fmla="*/ 106230 w 589914"/>
                <a:gd name="connsiteY54" fmla="*/ 501615 h 568993"/>
                <a:gd name="connsiteX55" fmla="*/ 252656 w 589914"/>
                <a:gd name="connsiteY55" fmla="*/ 533154 h 568993"/>
                <a:gd name="connsiteX56" fmla="*/ 252656 w 589914"/>
                <a:gd name="connsiteY56" fmla="*/ 415601 h 568993"/>
                <a:gd name="connsiteX57" fmla="*/ 244043 w 589914"/>
                <a:gd name="connsiteY57" fmla="*/ 425636 h 568993"/>
                <a:gd name="connsiteX58" fmla="*/ 244043 w 589914"/>
                <a:gd name="connsiteY58" fmla="*/ 249306 h 568993"/>
                <a:gd name="connsiteX59" fmla="*/ 117715 w 589914"/>
                <a:gd name="connsiteY59" fmla="*/ 206299 h 568993"/>
                <a:gd name="connsiteX60" fmla="*/ 117715 w 589914"/>
                <a:gd name="connsiteY60" fmla="*/ 191963 h 568993"/>
                <a:gd name="connsiteX61" fmla="*/ 254092 w 589914"/>
                <a:gd name="connsiteY61" fmla="*/ 240705 h 568993"/>
                <a:gd name="connsiteX62" fmla="*/ 391904 w 589914"/>
                <a:gd name="connsiteY62" fmla="*/ 191963 h 568993"/>
                <a:gd name="connsiteX63" fmla="*/ 381855 w 589914"/>
                <a:gd name="connsiteY63" fmla="*/ 206299 h 568993"/>
                <a:gd name="connsiteX64" fmla="*/ 265576 w 589914"/>
                <a:gd name="connsiteY64" fmla="*/ 249306 h 568993"/>
                <a:gd name="connsiteX65" fmla="*/ 265576 w 589914"/>
                <a:gd name="connsiteY65" fmla="*/ 425636 h 568993"/>
                <a:gd name="connsiteX66" fmla="*/ 256963 w 589914"/>
                <a:gd name="connsiteY66" fmla="*/ 415601 h 568993"/>
                <a:gd name="connsiteX67" fmla="*/ 256963 w 589914"/>
                <a:gd name="connsiteY67" fmla="*/ 533154 h 568993"/>
                <a:gd name="connsiteX68" fmla="*/ 400517 w 589914"/>
                <a:gd name="connsiteY68" fmla="*/ 500182 h 568993"/>
                <a:gd name="connsiteX69" fmla="*/ 470859 w 589914"/>
                <a:gd name="connsiteY69" fmla="*/ 513084 h 568993"/>
                <a:gd name="connsiteX70" fmla="*/ 470859 w 589914"/>
                <a:gd name="connsiteY70" fmla="*/ 325286 h 568993"/>
                <a:gd name="connsiteX71" fmla="*/ 505312 w 589914"/>
                <a:gd name="connsiteY71" fmla="*/ 255040 h 568993"/>
                <a:gd name="connsiteX72" fmla="*/ 505312 w 589914"/>
                <a:gd name="connsiteY72" fmla="*/ 557525 h 568993"/>
                <a:gd name="connsiteX73" fmla="*/ 287109 w 589914"/>
                <a:gd name="connsiteY73" fmla="*/ 557525 h 568993"/>
                <a:gd name="connsiteX74" fmla="*/ 255527 w 589914"/>
                <a:gd name="connsiteY74" fmla="*/ 568993 h 568993"/>
                <a:gd name="connsiteX75" fmla="*/ 223945 w 589914"/>
                <a:gd name="connsiteY75" fmla="*/ 557525 h 568993"/>
                <a:gd name="connsiteX76" fmla="*/ 0 w 589914"/>
                <a:gd name="connsiteY76" fmla="*/ 557525 h 568993"/>
                <a:gd name="connsiteX77" fmla="*/ 0 w 589914"/>
                <a:gd name="connsiteY77" fmla="*/ 253607 h 568993"/>
                <a:gd name="connsiteX78" fmla="*/ 24404 w 589914"/>
                <a:gd name="connsiteY78" fmla="*/ 237837 h 568993"/>
                <a:gd name="connsiteX79" fmla="*/ 24404 w 589914"/>
                <a:gd name="connsiteY79" fmla="*/ 209166 h 568993"/>
                <a:gd name="connsiteX80" fmla="*/ 28711 w 589914"/>
                <a:gd name="connsiteY80" fmla="*/ 206299 h 568993"/>
                <a:gd name="connsiteX81" fmla="*/ 117715 w 589914"/>
                <a:gd name="connsiteY81" fmla="*/ 191963 h 568993"/>
                <a:gd name="connsiteX82" fmla="*/ 512454 w 589914"/>
                <a:gd name="connsiteY82" fmla="*/ 24366 h 568993"/>
                <a:gd name="connsiteX83" fmla="*/ 499544 w 589914"/>
                <a:gd name="connsiteY83" fmla="*/ 50165 h 568993"/>
                <a:gd name="connsiteX84" fmla="*/ 552618 w 589914"/>
                <a:gd name="connsiteY84" fmla="*/ 77397 h 568993"/>
                <a:gd name="connsiteX85" fmla="*/ 565528 w 589914"/>
                <a:gd name="connsiteY85" fmla="*/ 50165 h 568993"/>
                <a:gd name="connsiteX86" fmla="*/ 503847 w 589914"/>
                <a:gd name="connsiteY86" fmla="*/ 0 h 568993"/>
                <a:gd name="connsiteX87" fmla="*/ 589914 w 589914"/>
                <a:gd name="connsiteY87" fmla="*/ 41565 h 568993"/>
                <a:gd name="connsiteX88" fmla="*/ 554053 w 589914"/>
                <a:gd name="connsiteY88" fmla="*/ 114663 h 568993"/>
                <a:gd name="connsiteX89" fmla="*/ 443601 w 589914"/>
                <a:gd name="connsiteY89" fmla="*/ 341121 h 568993"/>
                <a:gd name="connsiteX90" fmla="*/ 350362 w 589914"/>
                <a:gd name="connsiteY90" fmla="*/ 415652 h 568993"/>
                <a:gd name="connsiteX91" fmla="*/ 360403 w 589914"/>
                <a:gd name="connsiteY91" fmla="*/ 298123 h 568993"/>
                <a:gd name="connsiteX92" fmla="*/ 469421 w 589914"/>
                <a:gd name="connsiteY92" fmla="*/ 73098 h 56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89914" h="568993">
                  <a:moveTo>
                    <a:pt x="124946" y="446410"/>
                  </a:moveTo>
                  <a:cubicBezTo>
                    <a:pt x="178848" y="448289"/>
                    <a:pt x="219005" y="470305"/>
                    <a:pt x="221161" y="471379"/>
                  </a:cubicBezTo>
                  <a:lnTo>
                    <a:pt x="215411" y="481402"/>
                  </a:lnTo>
                  <a:cubicBezTo>
                    <a:pt x="213974" y="481402"/>
                    <a:pt x="146417" y="444172"/>
                    <a:pt x="70235" y="464219"/>
                  </a:cubicBezTo>
                  <a:lnTo>
                    <a:pt x="67360" y="452764"/>
                  </a:lnTo>
                  <a:cubicBezTo>
                    <a:pt x="87484" y="447394"/>
                    <a:pt x="106978" y="445783"/>
                    <a:pt x="124946" y="446410"/>
                  </a:cubicBezTo>
                  <a:close/>
                  <a:moveTo>
                    <a:pt x="124946" y="413535"/>
                  </a:moveTo>
                  <a:cubicBezTo>
                    <a:pt x="178848" y="415414"/>
                    <a:pt x="219005" y="437430"/>
                    <a:pt x="221161" y="438504"/>
                  </a:cubicBezTo>
                  <a:lnTo>
                    <a:pt x="215411" y="448527"/>
                  </a:lnTo>
                  <a:cubicBezTo>
                    <a:pt x="213974" y="448527"/>
                    <a:pt x="146417" y="411297"/>
                    <a:pt x="70235" y="431344"/>
                  </a:cubicBezTo>
                  <a:lnTo>
                    <a:pt x="67360" y="419889"/>
                  </a:lnTo>
                  <a:cubicBezTo>
                    <a:pt x="87484" y="414519"/>
                    <a:pt x="106978" y="412908"/>
                    <a:pt x="124946" y="413535"/>
                  </a:cubicBezTo>
                  <a:close/>
                  <a:moveTo>
                    <a:pt x="124946" y="381226"/>
                  </a:moveTo>
                  <a:cubicBezTo>
                    <a:pt x="178848" y="383309"/>
                    <a:pt x="219005" y="404543"/>
                    <a:pt x="221161" y="405618"/>
                  </a:cubicBezTo>
                  <a:lnTo>
                    <a:pt x="215411" y="415652"/>
                  </a:lnTo>
                  <a:cubicBezTo>
                    <a:pt x="213974" y="415652"/>
                    <a:pt x="146417" y="378382"/>
                    <a:pt x="70235" y="398450"/>
                  </a:cubicBezTo>
                  <a:lnTo>
                    <a:pt x="67360" y="386983"/>
                  </a:lnTo>
                  <a:cubicBezTo>
                    <a:pt x="87484" y="381965"/>
                    <a:pt x="106978" y="380532"/>
                    <a:pt x="124946" y="381226"/>
                  </a:cubicBezTo>
                  <a:close/>
                  <a:moveTo>
                    <a:pt x="124946" y="349730"/>
                  </a:moveTo>
                  <a:cubicBezTo>
                    <a:pt x="178848" y="351813"/>
                    <a:pt x="219005" y="373047"/>
                    <a:pt x="221161" y="374122"/>
                  </a:cubicBezTo>
                  <a:lnTo>
                    <a:pt x="215411" y="384156"/>
                  </a:lnTo>
                  <a:cubicBezTo>
                    <a:pt x="213974" y="384156"/>
                    <a:pt x="146417" y="346886"/>
                    <a:pt x="70235" y="366954"/>
                  </a:cubicBezTo>
                  <a:lnTo>
                    <a:pt x="67360" y="355487"/>
                  </a:lnTo>
                  <a:cubicBezTo>
                    <a:pt x="87484" y="350469"/>
                    <a:pt x="106978" y="349036"/>
                    <a:pt x="124946" y="349730"/>
                  </a:cubicBezTo>
                  <a:close/>
                  <a:moveTo>
                    <a:pt x="124946" y="315231"/>
                  </a:moveTo>
                  <a:cubicBezTo>
                    <a:pt x="178848" y="317312"/>
                    <a:pt x="219005" y="338522"/>
                    <a:pt x="221161" y="339596"/>
                  </a:cubicBezTo>
                  <a:lnTo>
                    <a:pt x="215411" y="351051"/>
                  </a:lnTo>
                  <a:cubicBezTo>
                    <a:pt x="213974" y="349619"/>
                    <a:pt x="146417" y="312389"/>
                    <a:pt x="70235" y="332436"/>
                  </a:cubicBezTo>
                  <a:lnTo>
                    <a:pt x="67360" y="320981"/>
                  </a:lnTo>
                  <a:cubicBezTo>
                    <a:pt x="87484" y="315969"/>
                    <a:pt x="106978" y="314537"/>
                    <a:pt x="124946" y="315231"/>
                  </a:cubicBezTo>
                  <a:close/>
                  <a:moveTo>
                    <a:pt x="373313" y="290957"/>
                  </a:moveTo>
                  <a:lnTo>
                    <a:pt x="367575" y="300990"/>
                  </a:lnTo>
                  <a:lnTo>
                    <a:pt x="363272" y="366921"/>
                  </a:lnTo>
                  <a:lnTo>
                    <a:pt x="383354" y="376954"/>
                  </a:lnTo>
                  <a:lnTo>
                    <a:pt x="437863" y="333955"/>
                  </a:lnTo>
                  <a:lnTo>
                    <a:pt x="440732" y="326789"/>
                  </a:lnTo>
                  <a:lnTo>
                    <a:pt x="409174" y="338255"/>
                  </a:lnTo>
                  <a:lnTo>
                    <a:pt x="404871" y="311022"/>
                  </a:lnTo>
                  <a:lnTo>
                    <a:pt x="383354" y="325355"/>
                  </a:lnTo>
                  <a:close/>
                  <a:moveTo>
                    <a:pt x="124946" y="284361"/>
                  </a:moveTo>
                  <a:cubicBezTo>
                    <a:pt x="178848" y="285905"/>
                    <a:pt x="219005" y="307384"/>
                    <a:pt x="221161" y="309532"/>
                  </a:cubicBezTo>
                  <a:lnTo>
                    <a:pt x="215411" y="319555"/>
                  </a:lnTo>
                  <a:cubicBezTo>
                    <a:pt x="213974" y="319555"/>
                    <a:pt x="146417" y="282325"/>
                    <a:pt x="70235" y="302372"/>
                  </a:cubicBezTo>
                  <a:lnTo>
                    <a:pt x="67360" y="290917"/>
                  </a:lnTo>
                  <a:cubicBezTo>
                    <a:pt x="87484" y="285547"/>
                    <a:pt x="106978" y="283847"/>
                    <a:pt x="124946" y="284361"/>
                  </a:cubicBezTo>
                  <a:close/>
                  <a:moveTo>
                    <a:pt x="124946" y="251302"/>
                  </a:moveTo>
                  <a:cubicBezTo>
                    <a:pt x="178848" y="252786"/>
                    <a:pt x="219005" y="274093"/>
                    <a:pt x="221161" y="275172"/>
                  </a:cubicBezTo>
                  <a:lnTo>
                    <a:pt x="215411" y="286680"/>
                  </a:lnTo>
                  <a:cubicBezTo>
                    <a:pt x="213974" y="285242"/>
                    <a:pt x="146417" y="249279"/>
                    <a:pt x="70235" y="269418"/>
                  </a:cubicBezTo>
                  <a:lnTo>
                    <a:pt x="67360" y="257910"/>
                  </a:lnTo>
                  <a:cubicBezTo>
                    <a:pt x="87484" y="252516"/>
                    <a:pt x="106978" y="250808"/>
                    <a:pt x="124946" y="251302"/>
                  </a:cubicBezTo>
                  <a:close/>
                  <a:moveTo>
                    <a:pt x="117715" y="206299"/>
                  </a:moveTo>
                  <a:cubicBezTo>
                    <a:pt x="80391" y="206299"/>
                    <a:pt x="50244" y="214900"/>
                    <a:pt x="38760" y="219201"/>
                  </a:cubicBezTo>
                  <a:lnTo>
                    <a:pt x="38760" y="513084"/>
                  </a:lnTo>
                  <a:cubicBezTo>
                    <a:pt x="57422" y="505916"/>
                    <a:pt x="80391" y="501615"/>
                    <a:pt x="106230" y="501615"/>
                  </a:cubicBezTo>
                  <a:cubicBezTo>
                    <a:pt x="169394" y="501615"/>
                    <a:pt x="233994" y="525986"/>
                    <a:pt x="252656" y="533154"/>
                  </a:cubicBezTo>
                  <a:lnTo>
                    <a:pt x="252656" y="415601"/>
                  </a:lnTo>
                  <a:lnTo>
                    <a:pt x="244043" y="425636"/>
                  </a:lnTo>
                  <a:lnTo>
                    <a:pt x="244043" y="249306"/>
                  </a:lnTo>
                  <a:cubicBezTo>
                    <a:pt x="209590" y="220635"/>
                    <a:pt x="166523" y="206299"/>
                    <a:pt x="117715" y="206299"/>
                  </a:cubicBezTo>
                  <a:close/>
                  <a:moveTo>
                    <a:pt x="117715" y="191963"/>
                  </a:moveTo>
                  <a:cubicBezTo>
                    <a:pt x="170830" y="191963"/>
                    <a:pt x="216767" y="207732"/>
                    <a:pt x="254092" y="240705"/>
                  </a:cubicBezTo>
                  <a:cubicBezTo>
                    <a:pt x="291416" y="207732"/>
                    <a:pt x="337353" y="191963"/>
                    <a:pt x="391904" y="191963"/>
                  </a:cubicBezTo>
                  <a:lnTo>
                    <a:pt x="381855" y="206299"/>
                  </a:lnTo>
                  <a:cubicBezTo>
                    <a:pt x="337353" y="207732"/>
                    <a:pt x="298593" y="223502"/>
                    <a:pt x="265576" y="249306"/>
                  </a:cubicBezTo>
                  <a:lnTo>
                    <a:pt x="265576" y="425636"/>
                  </a:lnTo>
                  <a:lnTo>
                    <a:pt x="256963" y="415601"/>
                  </a:lnTo>
                  <a:lnTo>
                    <a:pt x="256963" y="533154"/>
                  </a:lnTo>
                  <a:cubicBezTo>
                    <a:pt x="275625" y="524552"/>
                    <a:pt x="335918" y="500182"/>
                    <a:pt x="400517" y="500182"/>
                  </a:cubicBezTo>
                  <a:cubicBezTo>
                    <a:pt x="426357" y="500182"/>
                    <a:pt x="449326" y="504482"/>
                    <a:pt x="470859" y="513084"/>
                  </a:cubicBezTo>
                  <a:lnTo>
                    <a:pt x="470859" y="325286"/>
                  </a:lnTo>
                  <a:lnTo>
                    <a:pt x="505312" y="255040"/>
                  </a:lnTo>
                  <a:lnTo>
                    <a:pt x="505312" y="557525"/>
                  </a:lnTo>
                  <a:lnTo>
                    <a:pt x="287109" y="557525"/>
                  </a:lnTo>
                  <a:cubicBezTo>
                    <a:pt x="279931" y="564692"/>
                    <a:pt x="268447" y="568993"/>
                    <a:pt x="255527" y="568993"/>
                  </a:cubicBezTo>
                  <a:cubicBezTo>
                    <a:pt x="242607" y="568993"/>
                    <a:pt x="231123" y="564692"/>
                    <a:pt x="223945" y="557525"/>
                  </a:cubicBezTo>
                  <a:lnTo>
                    <a:pt x="0" y="557525"/>
                  </a:lnTo>
                  <a:lnTo>
                    <a:pt x="0" y="253607"/>
                  </a:lnTo>
                  <a:cubicBezTo>
                    <a:pt x="0" y="246439"/>
                    <a:pt x="10049" y="240705"/>
                    <a:pt x="24404" y="237837"/>
                  </a:cubicBezTo>
                  <a:lnTo>
                    <a:pt x="24404" y="209166"/>
                  </a:lnTo>
                  <a:lnTo>
                    <a:pt x="28711" y="206299"/>
                  </a:lnTo>
                  <a:cubicBezTo>
                    <a:pt x="30146" y="206299"/>
                    <a:pt x="67471" y="191963"/>
                    <a:pt x="117715" y="191963"/>
                  </a:cubicBezTo>
                  <a:close/>
                  <a:moveTo>
                    <a:pt x="512454" y="24366"/>
                  </a:moveTo>
                  <a:lnTo>
                    <a:pt x="499544" y="50165"/>
                  </a:lnTo>
                  <a:lnTo>
                    <a:pt x="552618" y="77397"/>
                  </a:lnTo>
                  <a:lnTo>
                    <a:pt x="565528" y="50165"/>
                  </a:lnTo>
                  <a:close/>
                  <a:moveTo>
                    <a:pt x="503847" y="0"/>
                  </a:moveTo>
                  <a:lnTo>
                    <a:pt x="589914" y="41565"/>
                  </a:lnTo>
                  <a:lnTo>
                    <a:pt x="554053" y="114663"/>
                  </a:lnTo>
                  <a:lnTo>
                    <a:pt x="443601" y="341121"/>
                  </a:lnTo>
                  <a:lnTo>
                    <a:pt x="350362" y="415652"/>
                  </a:lnTo>
                  <a:lnTo>
                    <a:pt x="360403" y="298123"/>
                  </a:lnTo>
                  <a:lnTo>
                    <a:pt x="469421" y="73098"/>
                  </a:lnTo>
                  <a:close/>
                </a:path>
              </a:pathLst>
            </a:custGeom>
            <a:solidFill>
              <a:schemeClr val="bg1"/>
            </a:solidFill>
            <a:ln>
              <a:noFill/>
            </a:ln>
          </p:spPr>
          <p:txBody>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400"/>
                                  </p:stCondLst>
                                  <p:childTnLst>
                                    <p:set>
                                      <p:cBhvr>
                                        <p:cTn id="11" dur="1" fill="hold">
                                          <p:stCondLst>
                                            <p:cond delay="0"/>
                                          </p:stCondLst>
                                        </p:cTn>
                                        <p:tgtEl>
                                          <p:spTgt spid="5"/>
                                        </p:tgtEl>
                                        <p:attrNameLst>
                                          <p:attrName>style.visibility</p:attrName>
                                        </p:attrNameLst>
                                      </p:cBhvr>
                                      <p:to>
                                        <p:strVal val="visible"/>
                                      </p:to>
                                    </p:set>
                                    <p:anim calcmode="lin" valueType="num">
                                      <p:cBhvr>
                                        <p:cTn id="12" dur="750" fill="hold"/>
                                        <p:tgtEl>
                                          <p:spTgt spid="5"/>
                                        </p:tgtEl>
                                        <p:attrNameLst>
                                          <p:attrName>ppt_w</p:attrName>
                                        </p:attrNameLst>
                                      </p:cBhvr>
                                      <p:tavLst>
                                        <p:tav tm="0">
                                          <p:val>
                                            <p:fltVal val="0"/>
                                          </p:val>
                                        </p:tav>
                                        <p:tav tm="100000">
                                          <p:val>
                                            <p:strVal val="#ppt_w"/>
                                          </p:val>
                                        </p:tav>
                                      </p:tavLst>
                                    </p:anim>
                                    <p:anim calcmode="lin" valueType="num">
                                      <p:cBhvr>
                                        <p:cTn id="13" dur="750" fill="hold"/>
                                        <p:tgtEl>
                                          <p:spTgt spid="5"/>
                                        </p:tgtEl>
                                        <p:attrNameLst>
                                          <p:attrName>ppt_h</p:attrName>
                                        </p:attrNameLst>
                                      </p:cBhvr>
                                      <p:tavLst>
                                        <p:tav tm="0">
                                          <p:val>
                                            <p:fltVal val="0"/>
                                          </p:val>
                                        </p:tav>
                                        <p:tav tm="100000">
                                          <p:val>
                                            <p:strVal val="#ppt_h"/>
                                          </p:val>
                                        </p:tav>
                                      </p:tavLst>
                                    </p:anim>
                                    <p:animEffect transition="in" filter="fade">
                                      <p:cBhvr>
                                        <p:cTn id="14" dur="750"/>
                                        <p:tgtEl>
                                          <p:spTgt spid="5"/>
                                        </p:tgtEl>
                                      </p:cBhvr>
                                    </p:animEffect>
                                  </p:childTnLst>
                                </p:cTn>
                              </p:par>
                              <p:par>
                                <p:cTn id="15" presetID="12" presetClass="entr" presetSubtype="8" fill="hold"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750"/>
                                        <p:tgtEl>
                                          <p:spTgt spid="6"/>
                                        </p:tgtEl>
                                        <p:attrNameLst>
                                          <p:attrName>ppt_x</p:attrName>
                                        </p:attrNameLst>
                                      </p:cBhvr>
                                      <p:tavLst>
                                        <p:tav tm="0">
                                          <p:val>
                                            <p:strVal val="#ppt_x-#ppt_w*1.125000"/>
                                          </p:val>
                                        </p:tav>
                                        <p:tav tm="100000">
                                          <p:val>
                                            <p:strVal val="#ppt_x"/>
                                          </p:val>
                                        </p:tav>
                                      </p:tavLst>
                                    </p:anim>
                                    <p:animEffect transition="in" filter="wipe(right)">
                                      <p:cBhvr>
                                        <p:cTn id="18" dur="750"/>
                                        <p:tgtEl>
                                          <p:spTgt spid="6"/>
                                        </p:tgtEl>
                                      </p:cBhvr>
                                    </p:animEffect>
                                  </p:childTnLst>
                                </p:cTn>
                              </p:par>
                              <p:par>
                                <p:cTn id="19" presetID="42" presetClass="entr" presetSubtype="0" fill="hold" grpId="0" nodeType="withEffect">
                                  <p:stCondLst>
                                    <p:cond delay="120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750"/>
                                        <p:tgtEl>
                                          <p:spTgt spid="37"/>
                                        </p:tgtEl>
                                      </p:cBhvr>
                                    </p:animEffect>
                                    <p:anim calcmode="lin" valueType="num">
                                      <p:cBhvr>
                                        <p:cTn id="22" dur="750" fill="hold"/>
                                        <p:tgtEl>
                                          <p:spTgt spid="37"/>
                                        </p:tgtEl>
                                        <p:attrNameLst>
                                          <p:attrName>ppt_x</p:attrName>
                                        </p:attrNameLst>
                                      </p:cBhvr>
                                      <p:tavLst>
                                        <p:tav tm="0">
                                          <p:val>
                                            <p:strVal val="#ppt_x"/>
                                          </p:val>
                                        </p:tav>
                                        <p:tav tm="100000">
                                          <p:val>
                                            <p:strVal val="#ppt_x"/>
                                          </p:val>
                                        </p:tav>
                                      </p:tavLst>
                                    </p:anim>
                                    <p:anim calcmode="lin" valueType="num">
                                      <p:cBhvr>
                                        <p:cTn id="23" dur="750" fill="hold"/>
                                        <p:tgtEl>
                                          <p:spTgt spid="37"/>
                                        </p:tgtEl>
                                        <p:attrNameLst>
                                          <p:attrName>ppt_y</p:attrName>
                                        </p:attrNameLst>
                                      </p:cBhvr>
                                      <p:tavLst>
                                        <p:tav tm="0">
                                          <p:val>
                                            <p:strVal val="#ppt_y+.1"/>
                                          </p:val>
                                        </p:tav>
                                        <p:tav tm="100000">
                                          <p:val>
                                            <p:strVal val="#ppt_y"/>
                                          </p:val>
                                        </p:tav>
                                      </p:tavLst>
                                    </p:anim>
                                  </p:childTnLst>
                                </p:cTn>
                              </p:par>
                              <p:par>
                                <p:cTn id="24" presetID="53" presetClass="entr" presetSubtype="16" fill="hold" nodeType="withEffect">
                                  <p:stCondLst>
                                    <p:cond delay="16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750" fill="hold"/>
                                        <p:tgtEl>
                                          <p:spTgt spid="13"/>
                                        </p:tgtEl>
                                        <p:attrNameLst>
                                          <p:attrName>ppt_w</p:attrName>
                                        </p:attrNameLst>
                                      </p:cBhvr>
                                      <p:tavLst>
                                        <p:tav tm="0">
                                          <p:val>
                                            <p:fltVal val="0"/>
                                          </p:val>
                                        </p:tav>
                                        <p:tav tm="100000">
                                          <p:val>
                                            <p:strVal val="#ppt_w"/>
                                          </p:val>
                                        </p:tav>
                                      </p:tavLst>
                                    </p:anim>
                                    <p:anim calcmode="lin" valueType="num">
                                      <p:cBhvr>
                                        <p:cTn id="27" dur="750" fill="hold"/>
                                        <p:tgtEl>
                                          <p:spTgt spid="13"/>
                                        </p:tgtEl>
                                        <p:attrNameLst>
                                          <p:attrName>ppt_h</p:attrName>
                                        </p:attrNameLst>
                                      </p:cBhvr>
                                      <p:tavLst>
                                        <p:tav tm="0">
                                          <p:val>
                                            <p:fltVal val="0"/>
                                          </p:val>
                                        </p:tav>
                                        <p:tav tm="100000">
                                          <p:val>
                                            <p:strVal val="#ppt_h"/>
                                          </p:val>
                                        </p:tav>
                                      </p:tavLst>
                                    </p:anim>
                                    <p:animEffect transition="in" filter="fade">
                                      <p:cBhvr>
                                        <p:cTn id="28" dur="750"/>
                                        <p:tgtEl>
                                          <p:spTgt spid="13"/>
                                        </p:tgtEl>
                                      </p:cBhvr>
                                    </p:animEffect>
                                  </p:childTnLst>
                                </p:cTn>
                              </p:par>
                              <p:par>
                                <p:cTn id="29" presetID="12" presetClass="entr" presetSubtype="8" fill="hold" nodeType="withEffect">
                                  <p:stCondLst>
                                    <p:cond delay="20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750"/>
                                        <p:tgtEl>
                                          <p:spTgt spid="9"/>
                                        </p:tgtEl>
                                        <p:attrNameLst>
                                          <p:attrName>ppt_x</p:attrName>
                                        </p:attrNameLst>
                                      </p:cBhvr>
                                      <p:tavLst>
                                        <p:tav tm="0">
                                          <p:val>
                                            <p:strVal val="#ppt_x-#ppt_w*1.125000"/>
                                          </p:val>
                                        </p:tav>
                                        <p:tav tm="100000">
                                          <p:val>
                                            <p:strVal val="#ppt_x"/>
                                          </p:val>
                                        </p:tav>
                                      </p:tavLst>
                                    </p:anim>
                                    <p:animEffect transition="in" filter="wipe(right)">
                                      <p:cBhvr>
                                        <p:cTn id="32" dur="750"/>
                                        <p:tgtEl>
                                          <p:spTgt spid="9"/>
                                        </p:tgtEl>
                                      </p:cBhvr>
                                    </p:animEffect>
                                  </p:childTnLst>
                                </p:cTn>
                              </p:par>
                              <p:par>
                                <p:cTn id="33" presetID="42" presetClass="entr" presetSubtype="0" fill="hold" grpId="0" nodeType="withEffect">
                                  <p:stCondLst>
                                    <p:cond delay="24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750"/>
                                        <p:tgtEl>
                                          <p:spTgt spid="46"/>
                                        </p:tgtEl>
                                      </p:cBhvr>
                                    </p:animEffect>
                                    <p:anim calcmode="lin" valueType="num">
                                      <p:cBhvr>
                                        <p:cTn id="36" dur="750" fill="hold"/>
                                        <p:tgtEl>
                                          <p:spTgt spid="46"/>
                                        </p:tgtEl>
                                        <p:attrNameLst>
                                          <p:attrName>ppt_x</p:attrName>
                                        </p:attrNameLst>
                                      </p:cBhvr>
                                      <p:tavLst>
                                        <p:tav tm="0">
                                          <p:val>
                                            <p:strVal val="#ppt_x"/>
                                          </p:val>
                                        </p:tav>
                                        <p:tav tm="100000">
                                          <p:val>
                                            <p:strVal val="#ppt_x"/>
                                          </p:val>
                                        </p:tav>
                                      </p:tavLst>
                                    </p:anim>
                                    <p:anim calcmode="lin" valueType="num">
                                      <p:cBhvr>
                                        <p:cTn id="37" dur="750" fill="hold"/>
                                        <p:tgtEl>
                                          <p:spTgt spid="46"/>
                                        </p:tgtEl>
                                        <p:attrNameLst>
                                          <p:attrName>ppt_y</p:attrName>
                                        </p:attrNameLst>
                                      </p:cBhvr>
                                      <p:tavLst>
                                        <p:tav tm="0">
                                          <p:val>
                                            <p:strVal val="#ppt_y+.1"/>
                                          </p:val>
                                        </p:tav>
                                        <p:tav tm="100000">
                                          <p:val>
                                            <p:strVal val="#ppt_y"/>
                                          </p:val>
                                        </p:tav>
                                      </p:tavLst>
                                    </p:anim>
                                  </p:childTnLst>
                                </p:cTn>
                              </p:par>
                              <p:par>
                                <p:cTn id="38" presetID="53" presetClass="entr" presetSubtype="16" fill="hold" nodeType="withEffect">
                                  <p:stCondLst>
                                    <p:cond delay="2800"/>
                                  </p:stCondLst>
                                  <p:childTnLst>
                                    <p:set>
                                      <p:cBhvr>
                                        <p:cTn id="39" dur="1" fill="hold">
                                          <p:stCondLst>
                                            <p:cond delay="0"/>
                                          </p:stCondLst>
                                        </p:cTn>
                                        <p:tgtEl>
                                          <p:spTgt spid="14"/>
                                        </p:tgtEl>
                                        <p:attrNameLst>
                                          <p:attrName>style.visibility</p:attrName>
                                        </p:attrNameLst>
                                      </p:cBhvr>
                                      <p:to>
                                        <p:strVal val="visible"/>
                                      </p:to>
                                    </p:set>
                                    <p:anim calcmode="lin" valueType="num">
                                      <p:cBhvr>
                                        <p:cTn id="40" dur="750" fill="hold"/>
                                        <p:tgtEl>
                                          <p:spTgt spid="14"/>
                                        </p:tgtEl>
                                        <p:attrNameLst>
                                          <p:attrName>ppt_w</p:attrName>
                                        </p:attrNameLst>
                                      </p:cBhvr>
                                      <p:tavLst>
                                        <p:tav tm="0">
                                          <p:val>
                                            <p:fltVal val="0"/>
                                          </p:val>
                                        </p:tav>
                                        <p:tav tm="100000">
                                          <p:val>
                                            <p:strVal val="#ppt_w"/>
                                          </p:val>
                                        </p:tav>
                                      </p:tavLst>
                                    </p:anim>
                                    <p:anim calcmode="lin" valueType="num">
                                      <p:cBhvr>
                                        <p:cTn id="41" dur="750" fill="hold"/>
                                        <p:tgtEl>
                                          <p:spTgt spid="14"/>
                                        </p:tgtEl>
                                        <p:attrNameLst>
                                          <p:attrName>ppt_h</p:attrName>
                                        </p:attrNameLst>
                                      </p:cBhvr>
                                      <p:tavLst>
                                        <p:tav tm="0">
                                          <p:val>
                                            <p:fltVal val="0"/>
                                          </p:val>
                                        </p:tav>
                                        <p:tav tm="100000">
                                          <p:val>
                                            <p:strVal val="#ppt_h"/>
                                          </p:val>
                                        </p:tav>
                                      </p:tavLst>
                                    </p:anim>
                                    <p:animEffect transition="in" filter="fade">
                                      <p:cBhvr>
                                        <p:cTn id="42" dur="750"/>
                                        <p:tgtEl>
                                          <p:spTgt spid="14"/>
                                        </p:tgtEl>
                                      </p:cBhvr>
                                    </p:animEffect>
                                  </p:childTnLst>
                                </p:cTn>
                              </p:par>
                              <p:par>
                                <p:cTn id="43" presetID="12" presetClass="entr" presetSubtype="8" fill="hold" nodeType="withEffect">
                                  <p:stCondLst>
                                    <p:cond delay="3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750"/>
                                        <p:tgtEl>
                                          <p:spTgt spid="15"/>
                                        </p:tgtEl>
                                        <p:attrNameLst>
                                          <p:attrName>ppt_x</p:attrName>
                                        </p:attrNameLst>
                                      </p:cBhvr>
                                      <p:tavLst>
                                        <p:tav tm="0">
                                          <p:val>
                                            <p:strVal val="#ppt_x-#ppt_w*1.125000"/>
                                          </p:val>
                                        </p:tav>
                                        <p:tav tm="100000">
                                          <p:val>
                                            <p:strVal val="#ppt_x"/>
                                          </p:val>
                                        </p:tav>
                                      </p:tavLst>
                                    </p:anim>
                                    <p:animEffect transition="in" filter="wipe(right)">
                                      <p:cBhvr>
                                        <p:cTn id="46" dur="750"/>
                                        <p:tgtEl>
                                          <p:spTgt spid="15"/>
                                        </p:tgtEl>
                                      </p:cBhvr>
                                    </p:animEffect>
                                  </p:childTnLst>
                                </p:cTn>
                              </p:par>
                              <p:par>
                                <p:cTn id="47" presetID="42" presetClass="entr" presetSubtype="0" fill="hold" grpId="0" nodeType="withEffect">
                                  <p:stCondLst>
                                    <p:cond delay="360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750"/>
                                        <p:tgtEl>
                                          <p:spTgt spid="69"/>
                                        </p:tgtEl>
                                      </p:cBhvr>
                                    </p:animEffect>
                                    <p:anim calcmode="lin" valueType="num">
                                      <p:cBhvr>
                                        <p:cTn id="50" dur="750" fill="hold"/>
                                        <p:tgtEl>
                                          <p:spTgt spid="69"/>
                                        </p:tgtEl>
                                        <p:attrNameLst>
                                          <p:attrName>ppt_x</p:attrName>
                                        </p:attrNameLst>
                                      </p:cBhvr>
                                      <p:tavLst>
                                        <p:tav tm="0">
                                          <p:val>
                                            <p:strVal val="#ppt_x"/>
                                          </p:val>
                                        </p:tav>
                                        <p:tav tm="100000">
                                          <p:val>
                                            <p:strVal val="#ppt_x"/>
                                          </p:val>
                                        </p:tav>
                                      </p:tavLst>
                                    </p:anim>
                                    <p:anim calcmode="lin" valueType="num">
                                      <p:cBhvr>
                                        <p:cTn id="51" dur="750" fill="hold"/>
                                        <p:tgtEl>
                                          <p:spTgt spid="69"/>
                                        </p:tgtEl>
                                        <p:attrNameLst>
                                          <p:attrName>ppt_y</p:attrName>
                                        </p:attrNameLst>
                                      </p:cBhvr>
                                      <p:tavLst>
                                        <p:tav tm="0">
                                          <p:val>
                                            <p:strVal val="#ppt_y+.1"/>
                                          </p:val>
                                        </p:tav>
                                        <p:tav tm="100000">
                                          <p:val>
                                            <p:strVal val="#ppt_y"/>
                                          </p:val>
                                        </p:tav>
                                      </p:tavLst>
                                    </p:anim>
                                  </p:childTnLst>
                                </p:cTn>
                              </p:par>
                              <p:par>
                                <p:cTn id="52" presetID="53" presetClass="entr" presetSubtype="16" fill="hold" nodeType="withEffect">
                                  <p:stCondLst>
                                    <p:cond delay="4000"/>
                                  </p:stCondLst>
                                  <p:childTnLst>
                                    <p:set>
                                      <p:cBhvr>
                                        <p:cTn id="53" dur="1" fill="hold">
                                          <p:stCondLst>
                                            <p:cond delay="0"/>
                                          </p:stCondLst>
                                        </p:cTn>
                                        <p:tgtEl>
                                          <p:spTgt spid="16"/>
                                        </p:tgtEl>
                                        <p:attrNameLst>
                                          <p:attrName>style.visibility</p:attrName>
                                        </p:attrNameLst>
                                      </p:cBhvr>
                                      <p:to>
                                        <p:strVal val="visible"/>
                                      </p:to>
                                    </p:set>
                                    <p:anim calcmode="lin" valueType="num">
                                      <p:cBhvr>
                                        <p:cTn id="54" dur="750" fill="hold"/>
                                        <p:tgtEl>
                                          <p:spTgt spid="16"/>
                                        </p:tgtEl>
                                        <p:attrNameLst>
                                          <p:attrName>ppt_w</p:attrName>
                                        </p:attrNameLst>
                                      </p:cBhvr>
                                      <p:tavLst>
                                        <p:tav tm="0">
                                          <p:val>
                                            <p:fltVal val="0"/>
                                          </p:val>
                                        </p:tav>
                                        <p:tav tm="100000">
                                          <p:val>
                                            <p:strVal val="#ppt_w"/>
                                          </p:val>
                                        </p:tav>
                                      </p:tavLst>
                                    </p:anim>
                                    <p:anim calcmode="lin" valueType="num">
                                      <p:cBhvr>
                                        <p:cTn id="55" dur="750" fill="hold"/>
                                        <p:tgtEl>
                                          <p:spTgt spid="16"/>
                                        </p:tgtEl>
                                        <p:attrNameLst>
                                          <p:attrName>ppt_h</p:attrName>
                                        </p:attrNameLst>
                                      </p:cBhvr>
                                      <p:tavLst>
                                        <p:tav tm="0">
                                          <p:val>
                                            <p:fltVal val="0"/>
                                          </p:val>
                                        </p:tav>
                                        <p:tav tm="100000">
                                          <p:val>
                                            <p:strVal val="#ppt_h"/>
                                          </p:val>
                                        </p:tav>
                                      </p:tavLst>
                                    </p:anim>
                                    <p:animEffect transition="in" filter="fade">
                                      <p:cBhvr>
                                        <p:cTn id="56" dur="750"/>
                                        <p:tgtEl>
                                          <p:spTgt spid="16"/>
                                        </p:tgtEl>
                                      </p:cBhvr>
                                    </p:animEffect>
                                  </p:childTnLst>
                                </p:cTn>
                              </p:par>
                              <p:par>
                                <p:cTn id="57" presetID="12" presetClass="entr" presetSubtype="8" fill="hold" nodeType="withEffect">
                                  <p:stCondLst>
                                    <p:cond delay="440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750"/>
                                        <p:tgtEl>
                                          <p:spTgt spid="17"/>
                                        </p:tgtEl>
                                        <p:attrNameLst>
                                          <p:attrName>ppt_x</p:attrName>
                                        </p:attrNameLst>
                                      </p:cBhvr>
                                      <p:tavLst>
                                        <p:tav tm="0">
                                          <p:val>
                                            <p:strVal val="#ppt_x-#ppt_w*1.125000"/>
                                          </p:val>
                                        </p:tav>
                                        <p:tav tm="100000">
                                          <p:val>
                                            <p:strVal val="#ppt_x"/>
                                          </p:val>
                                        </p:tav>
                                      </p:tavLst>
                                    </p:anim>
                                    <p:animEffect transition="in" filter="wipe(right)">
                                      <p:cBhvr>
                                        <p:cTn id="60" dur="750"/>
                                        <p:tgtEl>
                                          <p:spTgt spid="17"/>
                                        </p:tgtEl>
                                      </p:cBhvr>
                                    </p:animEffect>
                                  </p:childTnLst>
                                </p:cTn>
                              </p:par>
                              <p:par>
                                <p:cTn id="61" presetID="42" presetClass="entr" presetSubtype="0" fill="hold" grpId="0" nodeType="withEffect">
                                  <p:stCondLst>
                                    <p:cond delay="480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750"/>
                                        <p:tgtEl>
                                          <p:spTgt spid="74"/>
                                        </p:tgtEl>
                                      </p:cBhvr>
                                    </p:animEffect>
                                    <p:anim calcmode="lin" valueType="num">
                                      <p:cBhvr>
                                        <p:cTn id="64" dur="750" fill="hold"/>
                                        <p:tgtEl>
                                          <p:spTgt spid="74"/>
                                        </p:tgtEl>
                                        <p:attrNameLst>
                                          <p:attrName>ppt_x</p:attrName>
                                        </p:attrNameLst>
                                      </p:cBhvr>
                                      <p:tavLst>
                                        <p:tav tm="0">
                                          <p:val>
                                            <p:strVal val="#ppt_x"/>
                                          </p:val>
                                        </p:tav>
                                        <p:tav tm="100000">
                                          <p:val>
                                            <p:strVal val="#ppt_x"/>
                                          </p:val>
                                        </p:tav>
                                      </p:tavLst>
                                    </p:anim>
                                    <p:anim calcmode="lin" valueType="num">
                                      <p:cBhvr>
                                        <p:cTn id="65" dur="750" fill="hold"/>
                                        <p:tgtEl>
                                          <p:spTgt spid="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6" grpId="0"/>
      <p:bldP spid="69" grpId="0"/>
      <p:bldP spid="7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p:cNvGrpSpPr/>
          <p:nvPr/>
        </p:nvGrpSpPr>
        <p:grpSpPr>
          <a:xfrm>
            <a:off x="334963" y="0"/>
            <a:ext cx="3247303" cy="908050"/>
            <a:chOff x="334963" y="0"/>
            <a:chExt cx="3247303" cy="908050"/>
          </a:xfrm>
        </p:grpSpPr>
        <p:sp>
          <p:nvSpPr>
            <p:cNvPr id="31" name="矩形"/>
            <p:cNvSpPr/>
            <p:nvPr/>
          </p:nvSpPr>
          <p:spPr>
            <a:xfrm>
              <a:off x="334963" y="0"/>
              <a:ext cx="518795" cy="9080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矩形"/>
            <p:cNvSpPr/>
            <p:nvPr/>
          </p:nvSpPr>
          <p:spPr>
            <a:xfrm>
              <a:off x="396360" y="256025"/>
              <a:ext cx="396000" cy="396000"/>
            </a:xfrm>
            <a:prstGeom prst="rect">
              <a:avLst/>
            </a:prstGeom>
            <a:solidFill>
              <a:schemeClr val="bg1"/>
            </a:solidFill>
            <a:ln>
              <a:no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01"/>
            <p:cNvSpPr/>
            <p:nvPr/>
          </p:nvSpPr>
          <p:spPr>
            <a:xfrm>
              <a:off x="373787" y="269359"/>
              <a:ext cx="441146" cy="369332"/>
            </a:xfrm>
            <a:prstGeom prst="rect">
              <a:avLst/>
            </a:prstGeom>
          </p:spPr>
          <p:txBody>
            <a:bodyPr wrap="none">
              <a:spAutoFit/>
            </a:bodyPr>
            <a:lstStyle/>
            <a:p>
              <a:pPr algn="ctr"/>
              <a:r>
                <a:rPr lang="en-US" altLang="zh-CN"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Strong Preparation"/>
            <p:cNvSpPr txBox="1"/>
            <p:nvPr/>
          </p:nvSpPr>
          <p:spPr>
            <a:xfrm>
              <a:off x="958882" y="542947"/>
              <a:ext cx="2623384" cy="268407"/>
            </a:xfrm>
            <a:prstGeom prst="rect">
              <a:avLst/>
            </a:prstGeom>
            <a:noFill/>
          </p:spPr>
          <p:txBody>
            <a:bodyPr wrap="square" rtlCol="0">
              <a:spAutoFit/>
              <a:scene3d>
                <a:camera prst="orthographicFront"/>
                <a:lightRig rig="threePt" dir="t"/>
              </a:scene3d>
              <a:sp3d contourW="12700"/>
            </a:bodyPr>
            <a:lstStyle/>
            <a:p>
              <a:pPr algn="dist">
                <a:lnSpc>
                  <a:spcPct val="120000"/>
                </a:lnSpc>
              </a:pPr>
              <a:r>
                <a:rPr lang="en-US" altLang="zh-CN" sz="1050">
                  <a:solidFill>
                    <a:prstClr val="white">
                      <a:lumMod val="50000"/>
                    </a:prstClr>
                  </a:solidFill>
                  <a:latin typeface="Arial" panose="020B0604020202020204" pitchFamily="34" charset="0"/>
                  <a:ea typeface="微软雅黑" panose="020B0503020204020204" pitchFamily="34" charset="-122"/>
                  <a:sym typeface="Arial" panose="020B0604020202020204" pitchFamily="34" charset="0"/>
                </a:rPr>
                <a:t>Strong Preparation</a:t>
              </a:r>
            </a:p>
          </p:txBody>
        </p:sp>
        <p:sp>
          <p:nvSpPr>
            <p:cNvPr id="8" name="基础扎实"/>
            <p:cNvSpPr txBox="1"/>
            <p:nvPr/>
          </p:nvSpPr>
          <p:spPr>
            <a:xfrm>
              <a:off x="958882" y="96697"/>
              <a:ext cx="2109035" cy="523220"/>
            </a:xfrm>
            <a:prstGeom prst="rect">
              <a:avLst/>
            </a:prstGeom>
            <a:noFill/>
          </p:spPr>
          <p:txBody>
            <a:bodyPr wrap="square" rtlCol="0">
              <a:spAutoFit/>
              <a:scene3d>
                <a:camera prst="orthographicFront"/>
                <a:lightRig rig="threePt" dir="t"/>
              </a:scene3d>
              <a:sp3d contourW="12700"/>
            </a:bodyPr>
            <a:lstStyle/>
            <a:p>
              <a:pPr algn="dist" defTabSz="457200"/>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项目简介</a:t>
              </a:r>
            </a:p>
          </p:txBody>
        </p:sp>
      </p:grpSp>
      <p:sp>
        <p:nvSpPr>
          <p:cNvPr id="33" name="学校教师以知识产权入股组建的鑫垚、铂力特等公司，在增材制造（3D打印）、陶瓷复合材料、高性能新材料、高端装备制造、通用飞机、智能水下航行器等领域，已经成为地方经济转型升级的中坚力量和区域经济发展的创新源头，逐步形成了行之有效、效而有果的科技成果转化和产业化“西工大模式”和军民融合的“西工大路径”。"/>
          <p:cNvSpPr txBox="1"/>
          <p:nvPr/>
        </p:nvSpPr>
        <p:spPr>
          <a:xfrm>
            <a:off x="4750340" y="2662454"/>
            <a:ext cx="7370323" cy="45085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endParaRPr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a:extLst>
              <a:ext uri="{FF2B5EF4-FFF2-40B4-BE49-F238E27FC236}">
                <a16:creationId xmlns:a16="http://schemas.microsoft.com/office/drawing/2014/main" id="{9BB13C33-265A-4A0F-4767-9BB223A78E19}"/>
              </a:ext>
            </a:extLst>
          </p:cNvPr>
          <p:cNvPicPr>
            <a:picLocks noChangeAspect="1"/>
          </p:cNvPicPr>
          <p:nvPr/>
        </p:nvPicPr>
        <p:blipFill>
          <a:blip r:embed="rId3"/>
          <a:stretch>
            <a:fillRect/>
          </a:stretch>
        </p:blipFill>
        <p:spPr>
          <a:xfrm>
            <a:off x="3808725" y="1000396"/>
            <a:ext cx="8311938" cy="5770703"/>
          </a:xfrm>
          <a:prstGeom prst="rect">
            <a:avLst/>
          </a:prstGeom>
        </p:spPr>
      </p:pic>
      <p:pic>
        <p:nvPicPr>
          <p:cNvPr id="4" name="图片 3">
            <a:extLst>
              <a:ext uri="{FF2B5EF4-FFF2-40B4-BE49-F238E27FC236}">
                <a16:creationId xmlns:a16="http://schemas.microsoft.com/office/drawing/2014/main" id="{5F174079-5674-076C-0B23-647073A62A19}"/>
              </a:ext>
            </a:extLst>
          </p:cNvPr>
          <p:cNvPicPr>
            <a:picLocks noChangeAspect="1"/>
          </p:cNvPicPr>
          <p:nvPr/>
        </p:nvPicPr>
        <p:blipFill>
          <a:blip r:embed="rId4"/>
          <a:stretch>
            <a:fillRect/>
          </a:stretch>
        </p:blipFill>
        <p:spPr>
          <a:xfrm>
            <a:off x="154231" y="811354"/>
            <a:ext cx="3428035" cy="614878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160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7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4962" y="3311506"/>
            <a:ext cx="11522078" cy="321048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任意多边形: 形状 7"/>
          <p:cNvSpPr/>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矩形 8"/>
          <p:cNvSpPr/>
          <p:nvPr/>
        </p:nvSpPr>
        <p:spPr>
          <a:xfrm>
            <a:off x="4760508" y="1336299"/>
            <a:ext cx="2670984" cy="3807111"/>
          </a:xfrm>
          <a:prstGeom prst="rect">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图文框 1"/>
          <p:cNvSpPr/>
          <p:nvPr/>
        </p:nvSpPr>
        <p:spPr>
          <a:xfrm>
            <a:off x="4747911" y="1259013"/>
            <a:ext cx="2696178" cy="3909888"/>
          </a:xfrm>
          <a:prstGeom prst="frame">
            <a:avLst>
              <a:gd name="adj1" fmla="val 2586"/>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 name="文本框 4"/>
          <p:cNvSpPr txBox="1"/>
          <p:nvPr/>
        </p:nvSpPr>
        <p:spPr>
          <a:xfrm>
            <a:off x="4812304" y="3896085"/>
            <a:ext cx="2567392" cy="76944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4400" b="1" dirty="0">
                <a:solidFill>
                  <a:srgbClr val="1045C9"/>
                </a:solidFill>
                <a:cs typeface="+mn-ea"/>
                <a:sym typeface="+mn-lt"/>
              </a:rPr>
              <a:t>团队成员</a:t>
            </a:r>
            <a:endParaRPr kumimoji="0" lang="zh-CN" altLang="en-US" sz="4400" b="1" i="0" u="none" strike="noStrike" kern="1200" cap="none" spc="0" normalizeH="0" baseline="0" noProof="0" dirty="0">
              <a:ln>
                <a:noFill/>
              </a:ln>
              <a:solidFill>
                <a:srgbClr val="1045C9"/>
              </a:solidFill>
              <a:effectLst/>
              <a:uLnTx/>
              <a:uFillTx/>
              <a:cs typeface="+mn-ea"/>
              <a:sym typeface="+mn-lt"/>
            </a:endParaRPr>
          </a:p>
        </p:txBody>
      </p:sp>
      <p:sp>
        <p:nvSpPr>
          <p:cNvPr id="6" name="文本框 5"/>
          <p:cNvSpPr txBox="1"/>
          <p:nvPr/>
        </p:nvSpPr>
        <p:spPr>
          <a:xfrm>
            <a:off x="4864100" y="1741845"/>
            <a:ext cx="2463800" cy="1569660"/>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prstClr val="white"/>
                </a:solidFill>
                <a:effectLst/>
                <a:uLnTx/>
                <a:uFillTx/>
                <a:cs typeface="+mn-ea"/>
                <a:sym typeface="+mn-lt"/>
              </a:rPr>
              <a:t>02</a:t>
            </a:r>
            <a:endParaRPr kumimoji="0" lang="zh-CN" altLang="en-US" sz="9600" b="0" i="0" u="none" strike="noStrike" kern="1200" cap="none" spc="0" normalizeH="0" baseline="0" noProof="0" dirty="0">
              <a:ln>
                <a:noFill/>
              </a:ln>
              <a:solidFill>
                <a:prstClr val="white"/>
              </a:solidFill>
              <a:effectLst/>
              <a:uLnTx/>
              <a:uFillTx/>
              <a:cs typeface="+mn-ea"/>
              <a:sym typeface="+mn-lt"/>
            </a:endParaRPr>
          </a:p>
        </p:txBody>
      </p:sp>
      <p:sp>
        <p:nvSpPr>
          <p:cNvPr id="7" name="文本框 6"/>
          <p:cNvSpPr txBox="1"/>
          <p:nvPr/>
        </p:nvSpPr>
        <p:spPr>
          <a:xfrm>
            <a:off x="3314700" y="5701761"/>
            <a:ext cx="5562600" cy="369332"/>
          </a:xfrm>
          <a:prstGeom prst="rect">
            <a:avLst/>
          </a:prstGeom>
          <a:noFill/>
        </p:spPr>
        <p:txBody>
          <a:bodyPr wrap="square" rtlCol="0">
            <a:spAutoFit/>
            <a:scene3d>
              <a:camera prst="orthographicFront"/>
              <a:lightRig rig="threePt" dir="t"/>
            </a:scene3d>
            <a:sp3d contourW="12700"/>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1045C9"/>
                </a:solidFill>
                <a:effectLst/>
                <a:uLnTx/>
                <a:uFillTx/>
                <a:cs typeface="+mn-ea"/>
                <a:sym typeface="+mn-lt"/>
              </a:rPr>
              <a:t>Strong Preparation</a:t>
            </a:r>
          </a:p>
        </p:txBody>
      </p:sp>
      <p:grpSp>
        <p:nvGrpSpPr>
          <p:cNvPr id="12" name="组合 11"/>
          <p:cNvGrpSpPr/>
          <p:nvPr/>
        </p:nvGrpSpPr>
        <p:grpSpPr>
          <a:xfrm>
            <a:off x="695325" y="663359"/>
            <a:ext cx="2159170" cy="489382"/>
            <a:chOff x="711030" y="663358"/>
            <a:chExt cx="2159170" cy="489382"/>
          </a:xfrm>
        </p:grpSpPr>
        <p:pic>
          <p:nvPicPr>
            <p:cNvPr id="10" name="西北工业大学"/>
            <p:cNvPicPr>
              <a:picLocks noChangeAspect="1"/>
            </p:cNvPicPr>
            <p:nvPr/>
          </p:nvPicPr>
          <p:blipFill>
            <a:blip r:embed="rId4" cstate="screen"/>
            <a:stretch>
              <a:fillRect/>
            </a:stretch>
          </p:blipFill>
          <p:spPr>
            <a:xfrm>
              <a:off x="1324073" y="713583"/>
              <a:ext cx="1546127" cy="388933"/>
            </a:xfrm>
            <a:prstGeom prst="rect">
              <a:avLst/>
            </a:prstGeom>
          </p:spPr>
        </p:pic>
        <p:pic>
          <p:nvPicPr>
            <p:cNvPr id="11" name="校徽"/>
            <p:cNvPicPr>
              <a:picLocks noChangeAspect="1"/>
            </p:cNvPicPr>
            <p:nvPr/>
          </p:nvPicPr>
          <p:blipFill>
            <a:blip r:embed="rId5" cstate="screen"/>
            <a:stretch>
              <a:fillRect/>
            </a:stretch>
          </p:blipFill>
          <p:spPr>
            <a:xfrm>
              <a:off x="711030" y="663358"/>
              <a:ext cx="490134" cy="489382"/>
            </a:xfrm>
            <a:prstGeom prst="rect">
              <a:avLst/>
            </a:prstGeom>
          </p:spPr>
        </p:pic>
      </p:grpSp>
      <p:cxnSp>
        <p:nvCxnSpPr>
          <p:cNvPr id="4" name="直接连接符 3"/>
          <p:cNvCxnSpPr/>
          <p:nvPr/>
        </p:nvCxnSpPr>
        <p:spPr>
          <a:xfrm flipH="1" flipV="1">
            <a:off x="334962" y="396875"/>
            <a:ext cx="1"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1857038" y="396875"/>
            <a:ext cx="0"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4963" y="396875"/>
            <a:ext cx="115220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标题"/>
          <p:cNvGrpSpPr/>
          <p:nvPr/>
        </p:nvGrpSpPr>
        <p:grpSpPr>
          <a:xfrm>
            <a:off x="0" y="-1"/>
            <a:ext cx="12192000" cy="728663"/>
            <a:chOff x="0" y="-1"/>
            <a:chExt cx="12192000" cy="728663"/>
          </a:xfrm>
        </p:grpSpPr>
        <p:sp>
          <p:nvSpPr>
            <p:cNvPr id="33" name="打底色块"/>
            <p:cNvSpPr/>
            <p:nvPr/>
          </p:nvSpPr>
          <p:spPr>
            <a:xfrm>
              <a:off x="0" y="-1"/>
              <a:ext cx="12192000" cy="728663"/>
            </a:xfrm>
            <a:prstGeom prst="rect">
              <a:avLst/>
            </a:prstGeom>
            <a:solidFill>
              <a:schemeClr val="accent1"/>
            </a:solidFill>
            <a:ln w="25400" cap="flat" cmpd="sng" algn="ctr">
              <a:noFill/>
              <a:prstDash val="solid"/>
            </a:ln>
            <a:effectLst/>
          </p:spPr>
          <p:txBody>
            <a:bodyPr rtlCol="0" anchor="ctr"/>
            <a:lstStyle/>
            <a:p>
              <a:pPr lvl="0" algn="ctr" fontAlgn="base">
                <a:lnSpc>
                  <a:spcPct val="105000"/>
                </a:lnSpc>
                <a:spcBef>
                  <a:spcPct val="0"/>
                </a:spcBef>
                <a:spcAft>
                  <a:spcPct val="0"/>
                </a:spcAft>
                <a:buClr>
                  <a:srgbClr val="3366FF"/>
                </a:buClr>
                <a:buSzPct val="80000"/>
                <a:buFont typeface="Wingdings" panose="05000000000000000000" pitchFamily="2" charset="2"/>
                <a:buNone/>
              </a:pPr>
              <a:endParaRPr kumimoji="1" lang="zh-CN" altLang="en-US" sz="2000" b="1" kern="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2" name="西北工业大学"/>
            <p:cNvPicPr>
              <a:picLocks noChangeAspect="1"/>
            </p:cNvPicPr>
            <p:nvPr/>
          </p:nvPicPr>
          <p:blipFill>
            <a:blip r:embed="rId3" cstate="screen"/>
            <a:stretch>
              <a:fillRect/>
            </a:stretch>
          </p:blipFill>
          <p:spPr>
            <a:xfrm>
              <a:off x="10240059" y="169864"/>
              <a:ext cx="1546127" cy="388933"/>
            </a:xfrm>
            <a:prstGeom prst="rect">
              <a:avLst/>
            </a:prstGeom>
          </p:spPr>
        </p:pic>
        <p:pic>
          <p:nvPicPr>
            <p:cNvPr id="43" name="校徽"/>
            <p:cNvPicPr>
              <a:picLocks noChangeAspect="1"/>
            </p:cNvPicPr>
            <p:nvPr/>
          </p:nvPicPr>
          <p:blipFill>
            <a:blip r:embed="rId4" cstate="screen"/>
            <a:stretch>
              <a:fillRect/>
            </a:stretch>
          </p:blipFill>
          <p:spPr>
            <a:xfrm>
              <a:off x="9627016" y="119639"/>
              <a:ext cx="490134" cy="489382"/>
            </a:xfrm>
            <a:prstGeom prst="rect">
              <a:avLst/>
            </a:prstGeom>
          </p:spPr>
        </p:pic>
        <p:sp>
          <p:nvSpPr>
            <p:cNvPr id="45" name="基础扎实 / Strong Preparation"/>
            <p:cNvSpPr txBox="1"/>
            <p:nvPr/>
          </p:nvSpPr>
          <p:spPr>
            <a:xfrm>
              <a:off x="1003300" y="114271"/>
              <a:ext cx="8217902" cy="500119"/>
            </a:xfrm>
            <a:prstGeom prst="rect">
              <a:avLst/>
            </a:prstGeom>
            <a:noFill/>
          </p:spPr>
          <p:txBody>
            <a:bodyPr wrap="square" lIns="68562" tIns="34281" rIns="68562" bIns="34281" rtlCol="0">
              <a:spAutoFit/>
            </a:bodyPr>
            <a:lstStyle/>
            <a:p>
              <a:pPr algn="just">
                <a:buClr>
                  <a:prstClr val="white"/>
                </a:buClr>
              </a:pPr>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项目成员</a:t>
              </a:r>
              <a:endPar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齿轮"/>
            <p:cNvSpPr>
              <a:spLocks noChangeAspect="1"/>
            </p:cNvSpPr>
            <p:nvPr/>
          </p:nvSpPr>
          <p:spPr bwMode="auto">
            <a:xfrm>
              <a:off x="334963" y="121637"/>
              <a:ext cx="484428" cy="485386"/>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chemeClr val="bg1"/>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a:endParaRPr lang="zh-CN" altLang="en-US" sz="1800">
                <a:solidFill>
                  <a:srgbClr val="1C666E"/>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4" name="教东A"/>
          <p:cNvPicPr>
            <a:picLocks noChangeAspect="1"/>
          </p:cNvPicPr>
          <p:nvPr/>
        </p:nvPicPr>
        <p:blipFill rotWithShape="1">
          <a:blip r:embed="rId5"/>
          <a:srcRect t="6282" b="15261"/>
          <a:stretch>
            <a:fillRect/>
          </a:stretch>
        </p:blipFill>
        <p:spPr>
          <a:xfrm>
            <a:off x="1" y="730583"/>
            <a:ext cx="12192000" cy="6127418"/>
          </a:xfrm>
          <a:prstGeom prst="rect">
            <a:avLst/>
          </a:prstGeom>
        </p:spPr>
      </p:pic>
      <p:sp>
        <p:nvSpPr>
          <p:cNvPr id="15" name="遮罩色块"/>
          <p:cNvSpPr/>
          <p:nvPr/>
        </p:nvSpPr>
        <p:spPr>
          <a:xfrm>
            <a:off x="0" y="3614057"/>
            <a:ext cx="12177486" cy="3243943"/>
          </a:xfrm>
          <a:prstGeom prst="rect">
            <a:avLst/>
          </a:prstGeom>
          <a:solidFill>
            <a:schemeClr val="tx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14" name="直接箭头"/>
          <p:cNvCxnSpPr/>
          <p:nvPr/>
        </p:nvCxnSpPr>
        <p:spPr>
          <a:xfrm>
            <a:off x="0" y="3595007"/>
            <a:ext cx="12177486" cy="0"/>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663898" y="4011826"/>
            <a:ext cx="1693072" cy="1203793"/>
            <a:chOff x="1078944" y="4011826"/>
            <a:chExt cx="1693072" cy="1203793"/>
          </a:xfrm>
        </p:grpSpPr>
        <p:sp>
          <p:nvSpPr>
            <p:cNvPr id="74" name="在鼓励潜心研究学问、专注教书育人的同时，产学研融合发展"/>
            <p:cNvSpPr txBox="1"/>
            <p:nvPr/>
          </p:nvSpPr>
          <p:spPr>
            <a:xfrm>
              <a:off x="1078944" y="4514721"/>
              <a:ext cx="1693072" cy="700898"/>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软件学院</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a:t>
              </a: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届本科生</a:t>
              </a:r>
            </a:p>
          </p:txBody>
        </p:sp>
        <p:sp>
          <p:nvSpPr>
            <p:cNvPr id="75" name="加快成果转化"/>
            <p:cNvSpPr txBox="1"/>
            <p:nvPr/>
          </p:nvSpPr>
          <p:spPr>
            <a:xfrm>
              <a:off x="1518535" y="4011826"/>
              <a:ext cx="813889" cy="40011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王正</a:t>
              </a:r>
            </a:p>
          </p:txBody>
        </p:sp>
      </p:grpSp>
      <p:grpSp>
        <p:nvGrpSpPr>
          <p:cNvPr id="18" name="组合 17"/>
          <p:cNvGrpSpPr/>
          <p:nvPr/>
        </p:nvGrpSpPr>
        <p:grpSpPr>
          <a:xfrm>
            <a:off x="2892285" y="4027007"/>
            <a:ext cx="1693072" cy="1188612"/>
            <a:chOff x="3884505" y="4027007"/>
            <a:chExt cx="1693072" cy="1188612"/>
          </a:xfrm>
        </p:grpSpPr>
        <p:sp>
          <p:nvSpPr>
            <p:cNvPr id="82" name="与军工集团公司牵手共建平台，与在陕军工厂所合作共赢"/>
            <p:cNvSpPr txBox="1"/>
            <p:nvPr/>
          </p:nvSpPr>
          <p:spPr>
            <a:xfrm>
              <a:off x="3884505" y="4514721"/>
              <a:ext cx="1693072" cy="700898"/>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软件学院</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a:t>
              </a: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届本科生</a:t>
              </a:r>
            </a:p>
          </p:txBody>
        </p:sp>
        <p:sp>
          <p:nvSpPr>
            <p:cNvPr id="83" name="加快成果转化"/>
            <p:cNvSpPr txBox="1"/>
            <p:nvPr/>
          </p:nvSpPr>
          <p:spPr>
            <a:xfrm>
              <a:off x="4117399" y="4027007"/>
              <a:ext cx="1344259" cy="40011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胡辰朋</a:t>
              </a:r>
            </a:p>
          </p:txBody>
        </p:sp>
      </p:grpSp>
      <p:grpSp>
        <p:nvGrpSpPr>
          <p:cNvPr id="19" name="组合 18"/>
          <p:cNvGrpSpPr/>
          <p:nvPr/>
        </p:nvGrpSpPr>
        <p:grpSpPr>
          <a:xfrm>
            <a:off x="5062308" y="4042358"/>
            <a:ext cx="1693072" cy="1491616"/>
            <a:chOff x="6690066" y="4042358"/>
            <a:chExt cx="1693072" cy="1491616"/>
          </a:xfrm>
        </p:grpSpPr>
        <p:sp>
          <p:nvSpPr>
            <p:cNvPr id="86" name="与西安高新区共建西工大军民融合创新示范园"/>
            <p:cNvSpPr txBox="1"/>
            <p:nvPr/>
          </p:nvSpPr>
          <p:spPr>
            <a:xfrm>
              <a:off x="6690066" y="4514721"/>
              <a:ext cx="1693072" cy="1019253"/>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软件学院</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2023</a:t>
              </a: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届本科生，三航杯项目负责人</a:t>
              </a:r>
            </a:p>
          </p:txBody>
        </p:sp>
        <p:sp>
          <p:nvSpPr>
            <p:cNvPr id="87" name="加快成果转化"/>
            <p:cNvSpPr txBox="1"/>
            <p:nvPr/>
          </p:nvSpPr>
          <p:spPr>
            <a:xfrm>
              <a:off x="6960505" y="4042358"/>
              <a:ext cx="1152194" cy="40011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梁景毓</a:t>
              </a:r>
            </a:p>
          </p:txBody>
        </p:sp>
      </p:grpSp>
      <p:grpSp>
        <p:nvGrpSpPr>
          <p:cNvPr id="20" name="组合 19"/>
          <p:cNvGrpSpPr/>
          <p:nvPr/>
        </p:nvGrpSpPr>
        <p:grpSpPr>
          <a:xfrm>
            <a:off x="7297179" y="4011826"/>
            <a:ext cx="1693072" cy="1203793"/>
            <a:chOff x="9495627" y="4011826"/>
            <a:chExt cx="1693072" cy="1203793"/>
          </a:xfrm>
        </p:grpSpPr>
        <p:sp>
          <p:nvSpPr>
            <p:cNvPr id="90" name="与陕西省科技厅共建陕西空天动力研究院"/>
            <p:cNvSpPr txBox="1"/>
            <p:nvPr/>
          </p:nvSpPr>
          <p:spPr>
            <a:xfrm>
              <a:off x="9495627" y="4514721"/>
              <a:ext cx="1693072" cy="700898"/>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软件学院</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a:t>
              </a: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届本科生</a:t>
              </a:r>
            </a:p>
          </p:txBody>
        </p:sp>
        <p:sp>
          <p:nvSpPr>
            <p:cNvPr id="91" name="加快成果转化"/>
            <p:cNvSpPr txBox="1"/>
            <p:nvPr/>
          </p:nvSpPr>
          <p:spPr>
            <a:xfrm>
              <a:off x="9723172" y="4011826"/>
              <a:ext cx="1222864" cy="40011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杨塬青</a:t>
              </a:r>
            </a:p>
          </p:txBody>
        </p:sp>
      </p:grpSp>
      <p:grpSp>
        <p:nvGrpSpPr>
          <p:cNvPr id="5" name="组合 4"/>
          <p:cNvGrpSpPr/>
          <p:nvPr/>
        </p:nvGrpSpPr>
        <p:grpSpPr>
          <a:xfrm>
            <a:off x="9723580" y="4042358"/>
            <a:ext cx="1693072" cy="1173261"/>
            <a:chOff x="1078944" y="4042358"/>
            <a:chExt cx="1693072" cy="1173261"/>
          </a:xfrm>
        </p:grpSpPr>
        <p:sp>
          <p:nvSpPr>
            <p:cNvPr id="6" name="在鼓励潜心研究学问、专注教书育人的同时，产学研融合发展"/>
            <p:cNvSpPr txBox="1"/>
            <p:nvPr/>
          </p:nvSpPr>
          <p:spPr>
            <a:xfrm>
              <a:off x="1078944" y="4514721"/>
              <a:ext cx="1693072" cy="700898"/>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130000"/>
                </a:lnSpc>
              </a:pP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软件学院</a:t>
              </a:r>
              <a:r>
                <a:rPr lang="en-US" altLang="zh-CN" sz="1600" dirty="0">
                  <a:solidFill>
                    <a:schemeClr val="bg1"/>
                  </a:solidFill>
                  <a:latin typeface="Arial" panose="020B0604020202020204" pitchFamily="34" charset="0"/>
                  <a:ea typeface="微软雅黑" panose="020B0503020204020204" pitchFamily="34" charset="-122"/>
                  <a:sym typeface="Arial" panose="020B0604020202020204" pitchFamily="34" charset="0"/>
                </a:rPr>
                <a:t>2024</a:t>
              </a:r>
              <a:r>
                <a:rPr lang="zh-CN" altLang="en-US" sz="1600" dirty="0">
                  <a:solidFill>
                    <a:schemeClr val="bg1"/>
                  </a:solidFill>
                  <a:latin typeface="Arial" panose="020B0604020202020204" pitchFamily="34" charset="0"/>
                  <a:ea typeface="微软雅黑" panose="020B0503020204020204" pitchFamily="34" charset="-122"/>
                  <a:sym typeface="Arial" panose="020B0604020202020204" pitchFamily="34" charset="0"/>
                </a:rPr>
                <a:t>届本科生</a:t>
              </a:r>
            </a:p>
          </p:txBody>
        </p:sp>
        <p:sp>
          <p:nvSpPr>
            <p:cNvPr id="7" name="加快成果转化"/>
            <p:cNvSpPr txBox="1"/>
            <p:nvPr/>
          </p:nvSpPr>
          <p:spPr>
            <a:xfrm>
              <a:off x="1472514" y="4042358"/>
              <a:ext cx="832825" cy="40011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黄伟</a:t>
              </a:r>
            </a:p>
          </p:txBody>
        </p:sp>
      </p:grpSp>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898" y="1672876"/>
            <a:ext cx="1376842" cy="1913811"/>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24724" y="1675242"/>
            <a:ext cx="1389818" cy="1945532"/>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08329" y="1638791"/>
            <a:ext cx="1415851" cy="1981983"/>
          </a:xfrm>
          <a:prstGeom prst="rect">
            <a:avLst/>
          </a:prstGeom>
        </p:spPr>
      </p:pic>
      <p:pic>
        <p:nvPicPr>
          <p:cNvPr id="8" name="图片 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580" y="1668880"/>
            <a:ext cx="1415851" cy="1997743"/>
          </a:xfrm>
          <a:prstGeom prst="rect">
            <a:avLst/>
          </a:prstGeom>
        </p:spPr>
      </p:pic>
      <p:pic>
        <p:nvPicPr>
          <p:cNvPr id="2" name="图片 1"/>
          <p:cNvPicPr>
            <a:picLocks noChangeAspect="1"/>
          </p:cNvPicPr>
          <p:nvPr/>
        </p:nvPicPr>
        <p:blipFill>
          <a:blip r:embed="rId10"/>
          <a:stretch>
            <a:fillRect/>
          </a:stretch>
        </p:blipFill>
        <p:spPr>
          <a:xfrm>
            <a:off x="2767012" y="1645752"/>
            <a:ext cx="1637107" cy="200451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50"/>
                                        <p:tgtEl>
                                          <p:spTgt spid="4"/>
                                        </p:tgtEl>
                                      </p:cBhvr>
                                    </p:animEffect>
                                  </p:childTnLst>
                                </p:cTn>
                              </p:par>
                              <p:par>
                                <p:cTn id="12" presetID="22" presetClass="entr" presetSubtype="4" fill="hold" grpId="0" nodeType="withEffect">
                                  <p:stCondLst>
                                    <p:cond delay="800"/>
                                  </p:stCondLst>
                                  <p:childTnLst>
                                    <p:set>
                                      <p:cBhvr>
                                        <p:cTn id="13" dur="1" fill="hold">
                                          <p:stCondLst>
                                            <p:cond delay="0"/>
                                          </p:stCondLst>
                                        </p:cTn>
                                        <p:tgtEl>
                                          <p:spTgt spid="15"/>
                                        </p:tgtEl>
                                        <p:attrNameLst>
                                          <p:attrName>style.visibility</p:attrName>
                                        </p:attrNameLst>
                                      </p:cBhvr>
                                      <p:to>
                                        <p:strVal val="visible"/>
                                      </p:to>
                                    </p:set>
                                    <p:animEffect transition="in" filter="wipe(down)">
                                      <p:cBhvr>
                                        <p:cTn id="14" dur="750"/>
                                        <p:tgtEl>
                                          <p:spTgt spid="15"/>
                                        </p:tgtEl>
                                      </p:cBhvr>
                                    </p:animEffect>
                                  </p:childTnLst>
                                </p:cTn>
                              </p:par>
                              <p:par>
                                <p:cTn id="15" presetID="22" presetClass="entr" presetSubtype="8" fill="hold" nodeType="withEffect">
                                  <p:stCondLst>
                                    <p:cond delay="120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750"/>
                                        <p:tgtEl>
                                          <p:spTgt spid="14"/>
                                        </p:tgtEl>
                                      </p:cBhvr>
                                    </p:animEffect>
                                  </p:childTnLst>
                                </p:cTn>
                              </p:par>
                              <p:par>
                                <p:cTn id="18" presetID="42" presetClass="entr" presetSubtype="0" fill="hold" nodeType="withEffect">
                                  <p:stCondLst>
                                    <p:cond delay="200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750"/>
                                        <p:tgtEl>
                                          <p:spTgt spid="17"/>
                                        </p:tgtEl>
                                      </p:cBhvr>
                                    </p:animEffect>
                                    <p:anim calcmode="lin" valueType="num">
                                      <p:cBhvr>
                                        <p:cTn id="21" dur="750" fill="hold"/>
                                        <p:tgtEl>
                                          <p:spTgt spid="17"/>
                                        </p:tgtEl>
                                        <p:attrNameLst>
                                          <p:attrName>ppt_x</p:attrName>
                                        </p:attrNameLst>
                                      </p:cBhvr>
                                      <p:tavLst>
                                        <p:tav tm="0">
                                          <p:val>
                                            <p:strVal val="#ppt_x"/>
                                          </p:val>
                                        </p:tav>
                                        <p:tav tm="100000">
                                          <p:val>
                                            <p:strVal val="#ppt_x"/>
                                          </p:val>
                                        </p:tav>
                                      </p:tavLst>
                                    </p:anim>
                                    <p:anim calcmode="lin" valueType="num">
                                      <p:cBhvr>
                                        <p:cTn id="22" dur="750" fill="hold"/>
                                        <p:tgtEl>
                                          <p:spTgt spid="1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28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750"/>
                                        <p:tgtEl>
                                          <p:spTgt spid="18"/>
                                        </p:tgtEl>
                                      </p:cBhvr>
                                    </p:animEffect>
                                    <p:anim calcmode="lin" valueType="num">
                                      <p:cBhvr>
                                        <p:cTn id="26" dur="750" fill="hold"/>
                                        <p:tgtEl>
                                          <p:spTgt spid="18"/>
                                        </p:tgtEl>
                                        <p:attrNameLst>
                                          <p:attrName>ppt_x</p:attrName>
                                        </p:attrNameLst>
                                      </p:cBhvr>
                                      <p:tavLst>
                                        <p:tav tm="0">
                                          <p:val>
                                            <p:strVal val="#ppt_x"/>
                                          </p:val>
                                        </p:tav>
                                        <p:tav tm="100000">
                                          <p:val>
                                            <p:strVal val="#ppt_x"/>
                                          </p:val>
                                        </p:tav>
                                      </p:tavLst>
                                    </p:anim>
                                    <p:anim calcmode="lin" valueType="num">
                                      <p:cBhvr>
                                        <p:cTn id="27" dur="750" fill="hold"/>
                                        <p:tgtEl>
                                          <p:spTgt spid="18"/>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360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750"/>
                                        <p:tgtEl>
                                          <p:spTgt spid="19"/>
                                        </p:tgtEl>
                                      </p:cBhvr>
                                    </p:animEffect>
                                    <p:anim calcmode="lin" valueType="num">
                                      <p:cBhvr>
                                        <p:cTn id="31" dur="750" fill="hold"/>
                                        <p:tgtEl>
                                          <p:spTgt spid="19"/>
                                        </p:tgtEl>
                                        <p:attrNameLst>
                                          <p:attrName>ppt_x</p:attrName>
                                        </p:attrNameLst>
                                      </p:cBhvr>
                                      <p:tavLst>
                                        <p:tav tm="0">
                                          <p:val>
                                            <p:strVal val="#ppt_x"/>
                                          </p:val>
                                        </p:tav>
                                        <p:tav tm="100000">
                                          <p:val>
                                            <p:strVal val="#ppt_x"/>
                                          </p:val>
                                        </p:tav>
                                      </p:tavLst>
                                    </p:anim>
                                    <p:anim calcmode="lin" valueType="num">
                                      <p:cBhvr>
                                        <p:cTn id="32" dur="750" fill="hold"/>
                                        <p:tgtEl>
                                          <p:spTgt spid="1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440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750"/>
                                        <p:tgtEl>
                                          <p:spTgt spid="20"/>
                                        </p:tgtEl>
                                      </p:cBhvr>
                                    </p:animEffect>
                                    <p:anim calcmode="lin" valueType="num">
                                      <p:cBhvr>
                                        <p:cTn id="36" dur="750" fill="hold"/>
                                        <p:tgtEl>
                                          <p:spTgt spid="20"/>
                                        </p:tgtEl>
                                        <p:attrNameLst>
                                          <p:attrName>ppt_x</p:attrName>
                                        </p:attrNameLst>
                                      </p:cBhvr>
                                      <p:tavLst>
                                        <p:tav tm="0">
                                          <p:val>
                                            <p:strVal val="#ppt_x"/>
                                          </p:val>
                                        </p:tav>
                                        <p:tav tm="100000">
                                          <p:val>
                                            <p:strVal val="#ppt_x"/>
                                          </p:val>
                                        </p:tav>
                                      </p:tavLst>
                                    </p:anim>
                                    <p:anim calcmode="lin" valueType="num">
                                      <p:cBhvr>
                                        <p:cTn id="37" dur="750" fill="hold"/>
                                        <p:tgtEl>
                                          <p:spTgt spid="20"/>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200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750"/>
                                        <p:tgtEl>
                                          <p:spTgt spid="5"/>
                                        </p:tgtEl>
                                      </p:cBhvr>
                                    </p:animEffect>
                                    <p:anim calcmode="lin" valueType="num">
                                      <p:cBhvr>
                                        <p:cTn id="41" dur="750" fill="hold"/>
                                        <p:tgtEl>
                                          <p:spTgt spid="5"/>
                                        </p:tgtEl>
                                        <p:attrNameLst>
                                          <p:attrName>ppt_x</p:attrName>
                                        </p:attrNameLst>
                                      </p:cBhvr>
                                      <p:tavLst>
                                        <p:tav tm="0">
                                          <p:val>
                                            <p:strVal val="#ppt_x"/>
                                          </p:val>
                                        </p:tav>
                                        <p:tav tm="100000">
                                          <p:val>
                                            <p:strVal val="#ppt_x"/>
                                          </p:val>
                                        </p:tav>
                                      </p:tavLst>
                                    </p:anim>
                                    <p:anim calcmode="lin" valueType="num">
                                      <p:cBhvr>
                                        <p:cTn id="42"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4962" y="3311506"/>
            <a:ext cx="11522078" cy="321048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任意多边形: 形状 7"/>
          <p:cNvSpPr/>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矩形 8"/>
          <p:cNvSpPr/>
          <p:nvPr/>
        </p:nvSpPr>
        <p:spPr>
          <a:xfrm>
            <a:off x="4760508" y="1336299"/>
            <a:ext cx="2670984" cy="3807111"/>
          </a:xfrm>
          <a:prstGeom prst="rect">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图文框 1"/>
          <p:cNvSpPr/>
          <p:nvPr/>
        </p:nvSpPr>
        <p:spPr>
          <a:xfrm>
            <a:off x="4747911" y="1259013"/>
            <a:ext cx="2696178" cy="3909888"/>
          </a:xfrm>
          <a:prstGeom prst="frame">
            <a:avLst>
              <a:gd name="adj1" fmla="val 2586"/>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 name="文本框 4"/>
          <p:cNvSpPr txBox="1"/>
          <p:nvPr/>
        </p:nvSpPr>
        <p:spPr>
          <a:xfrm>
            <a:off x="4812304" y="3896085"/>
            <a:ext cx="2567392" cy="76944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4400" b="1" dirty="0">
                <a:solidFill>
                  <a:srgbClr val="1045C9"/>
                </a:solidFill>
                <a:cs typeface="+mn-ea"/>
                <a:sym typeface="+mn-lt"/>
              </a:rPr>
              <a:t>指导教师</a:t>
            </a:r>
            <a:endParaRPr kumimoji="0" lang="zh-CN" altLang="en-US" sz="4400" b="1" i="0" u="none" strike="noStrike" kern="1200" cap="none" spc="0" normalizeH="0" baseline="0" noProof="0" dirty="0">
              <a:ln>
                <a:noFill/>
              </a:ln>
              <a:solidFill>
                <a:srgbClr val="1045C9"/>
              </a:solidFill>
              <a:effectLst/>
              <a:uLnTx/>
              <a:uFillTx/>
              <a:cs typeface="+mn-ea"/>
              <a:sym typeface="+mn-lt"/>
            </a:endParaRPr>
          </a:p>
        </p:txBody>
      </p:sp>
      <p:sp>
        <p:nvSpPr>
          <p:cNvPr id="6" name="文本框 5"/>
          <p:cNvSpPr txBox="1"/>
          <p:nvPr/>
        </p:nvSpPr>
        <p:spPr>
          <a:xfrm>
            <a:off x="4864100" y="1741845"/>
            <a:ext cx="2463800" cy="1569660"/>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prstClr val="white"/>
                </a:solidFill>
                <a:effectLst/>
                <a:uLnTx/>
                <a:uFillTx/>
                <a:cs typeface="+mn-ea"/>
                <a:sym typeface="+mn-lt"/>
              </a:rPr>
              <a:t>03</a:t>
            </a:r>
            <a:endParaRPr kumimoji="0" lang="zh-CN" altLang="en-US" sz="9600" b="0" i="0" u="none" strike="noStrike" kern="1200" cap="none" spc="0" normalizeH="0" baseline="0" noProof="0" dirty="0">
              <a:ln>
                <a:noFill/>
              </a:ln>
              <a:solidFill>
                <a:prstClr val="white"/>
              </a:solidFill>
              <a:effectLst/>
              <a:uLnTx/>
              <a:uFillTx/>
              <a:cs typeface="+mn-ea"/>
              <a:sym typeface="+mn-lt"/>
            </a:endParaRPr>
          </a:p>
        </p:txBody>
      </p:sp>
      <p:sp>
        <p:nvSpPr>
          <p:cNvPr id="7" name="文本框 6"/>
          <p:cNvSpPr txBox="1"/>
          <p:nvPr/>
        </p:nvSpPr>
        <p:spPr>
          <a:xfrm>
            <a:off x="3314700" y="5701761"/>
            <a:ext cx="5562600" cy="369332"/>
          </a:xfrm>
          <a:prstGeom prst="rect">
            <a:avLst/>
          </a:prstGeom>
          <a:noFill/>
        </p:spPr>
        <p:txBody>
          <a:bodyPr wrap="square" rtlCol="0">
            <a:spAutoFit/>
            <a:scene3d>
              <a:camera prst="orthographicFront"/>
              <a:lightRig rig="threePt" dir="t"/>
            </a:scene3d>
            <a:sp3d contourW="12700"/>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1045C9"/>
                </a:solidFill>
                <a:effectLst/>
                <a:uLnTx/>
                <a:uFillTx/>
                <a:cs typeface="+mn-ea"/>
                <a:sym typeface="+mn-lt"/>
              </a:rPr>
              <a:t>Strong Preparation</a:t>
            </a:r>
          </a:p>
        </p:txBody>
      </p:sp>
      <p:grpSp>
        <p:nvGrpSpPr>
          <p:cNvPr id="12" name="组合 11"/>
          <p:cNvGrpSpPr/>
          <p:nvPr/>
        </p:nvGrpSpPr>
        <p:grpSpPr>
          <a:xfrm>
            <a:off x="695325" y="663359"/>
            <a:ext cx="2159170" cy="489382"/>
            <a:chOff x="711030" y="663358"/>
            <a:chExt cx="2159170" cy="489382"/>
          </a:xfrm>
        </p:grpSpPr>
        <p:pic>
          <p:nvPicPr>
            <p:cNvPr id="10" name="西北工业大学"/>
            <p:cNvPicPr>
              <a:picLocks noChangeAspect="1"/>
            </p:cNvPicPr>
            <p:nvPr/>
          </p:nvPicPr>
          <p:blipFill>
            <a:blip r:embed="rId4" cstate="screen"/>
            <a:stretch>
              <a:fillRect/>
            </a:stretch>
          </p:blipFill>
          <p:spPr>
            <a:xfrm>
              <a:off x="1324073" y="713583"/>
              <a:ext cx="1546127" cy="388933"/>
            </a:xfrm>
            <a:prstGeom prst="rect">
              <a:avLst/>
            </a:prstGeom>
          </p:spPr>
        </p:pic>
        <p:pic>
          <p:nvPicPr>
            <p:cNvPr id="11" name="校徽"/>
            <p:cNvPicPr>
              <a:picLocks noChangeAspect="1"/>
            </p:cNvPicPr>
            <p:nvPr/>
          </p:nvPicPr>
          <p:blipFill>
            <a:blip r:embed="rId5" cstate="screen"/>
            <a:stretch>
              <a:fillRect/>
            </a:stretch>
          </p:blipFill>
          <p:spPr>
            <a:xfrm>
              <a:off x="711030" y="663358"/>
              <a:ext cx="490134" cy="489382"/>
            </a:xfrm>
            <a:prstGeom prst="rect">
              <a:avLst/>
            </a:prstGeom>
          </p:spPr>
        </p:pic>
      </p:grpSp>
      <p:cxnSp>
        <p:nvCxnSpPr>
          <p:cNvPr id="4" name="直接连接符 3"/>
          <p:cNvCxnSpPr/>
          <p:nvPr/>
        </p:nvCxnSpPr>
        <p:spPr>
          <a:xfrm flipH="1" flipV="1">
            <a:off x="334962" y="396875"/>
            <a:ext cx="1"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1857038" y="396875"/>
            <a:ext cx="0"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4963" y="396875"/>
            <a:ext cx="115220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标题"/>
          <p:cNvGrpSpPr/>
          <p:nvPr/>
        </p:nvGrpSpPr>
        <p:grpSpPr>
          <a:xfrm>
            <a:off x="0" y="-1"/>
            <a:ext cx="12192000" cy="728663"/>
            <a:chOff x="0" y="-1"/>
            <a:chExt cx="12192000" cy="728663"/>
          </a:xfrm>
        </p:grpSpPr>
        <p:sp>
          <p:nvSpPr>
            <p:cNvPr id="33" name="打底色块"/>
            <p:cNvSpPr/>
            <p:nvPr/>
          </p:nvSpPr>
          <p:spPr>
            <a:xfrm>
              <a:off x="0" y="-1"/>
              <a:ext cx="12192000" cy="728663"/>
            </a:xfrm>
            <a:prstGeom prst="rect">
              <a:avLst/>
            </a:prstGeom>
            <a:solidFill>
              <a:schemeClr val="accent1"/>
            </a:solidFill>
            <a:ln w="25400" cap="flat" cmpd="sng" algn="ctr">
              <a:noFill/>
              <a:prstDash val="solid"/>
            </a:ln>
            <a:effectLst/>
          </p:spPr>
          <p:txBody>
            <a:bodyPr rtlCol="0" anchor="ctr"/>
            <a:lstStyle/>
            <a:p>
              <a:pPr lvl="0" algn="ctr" fontAlgn="base">
                <a:lnSpc>
                  <a:spcPct val="105000"/>
                </a:lnSpc>
                <a:spcBef>
                  <a:spcPct val="0"/>
                </a:spcBef>
                <a:spcAft>
                  <a:spcPct val="0"/>
                </a:spcAft>
                <a:buClr>
                  <a:srgbClr val="3366FF"/>
                </a:buClr>
                <a:buSzPct val="80000"/>
                <a:buFont typeface="Wingdings" panose="05000000000000000000" pitchFamily="2" charset="2"/>
                <a:buNone/>
              </a:pPr>
              <a:endParaRPr kumimoji="1" lang="zh-CN" altLang="en-US" sz="2000" b="1" kern="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2" name="西北工业大学"/>
            <p:cNvPicPr>
              <a:picLocks noChangeAspect="1"/>
            </p:cNvPicPr>
            <p:nvPr/>
          </p:nvPicPr>
          <p:blipFill>
            <a:blip r:embed="rId7" cstate="screen"/>
            <a:stretch>
              <a:fillRect/>
            </a:stretch>
          </p:blipFill>
          <p:spPr>
            <a:xfrm>
              <a:off x="10240059" y="169864"/>
              <a:ext cx="1546127" cy="388933"/>
            </a:xfrm>
            <a:prstGeom prst="rect">
              <a:avLst/>
            </a:prstGeom>
          </p:spPr>
        </p:pic>
        <p:pic>
          <p:nvPicPr>
            <p:cNvPr id="43" name="校徽"/>
            <p:cNvPicPr>
              <a:picLocks noChangeAspect="1"/>
            </p:cNvPicPr>
            <p:nvPr/>
          </p:nvPicPr>
          <p:blipFill>
            <a:blip r:embed="rId8" cstate="screen"/>
            <a:stretch>
              <a:fillRect/>
            </a:stretch>
          </p:blipFill>
          <p:spPr>
            <a:xfrm>
              <a:off x="9627016" y="119639"/>
              <a:ext cx="490134" cy="489382"/>
            </a:xfrm>
            <a:prstGeom prst="rect">
              <a:avLst/>
            </a:prstGeom>
          </p:spPr>
        </p:pic>
        <p:sp>
          <p:nvSpPr>
            <p:cNvPr id="45" name="基础扎实 / Strong Preparation"/>
            <p:cNvSpPr txBox="1"/>
            <p:nvPr/>
          </p:nvSpPr>
          <p:spPr>
            <a:xfrm>
              <a:off x="819150" y="116811"/>
              <a:ext cx="8217902" cy="497840"/>
            </a:xfrm>
            <a:prstGeom prst="rect">
              <a:avLst/>
            </a:prstGeom>
            <a:noFill/>
          </p:spPr>
          <p:txBody>
            <a:bodyPr wrap="square" lIns="68562" tIns="34281" rIns="68562" bIns="34281" rtlCol="0">
              <a:spAutoFit/>
            </a:bodyPr>
            <a:lstStyle/>
            <a:p>
              <a:pPr algn="just">
                <a:buClr>
                  <a:prstClr val="white"/>
                </a:buClr>
              </a:pPr>
              <a:r>
                <a:rPr lang="zh-CN" altLang="en-US" sz="1600">
                  <a:solidFill>
                    <a:schemeClr val="bg1"/>
                  </a:solidFill>
                  <a:latin typeface="Arial" panose="020B0604020202020204" pitchFamily="34" charset="0"/>
                  <a:ea typeface="微软雅黑" panose="020B0503020204020204" pitchFamily="34" charset="-122"/>
                  <a:sym typeface="Arial" panose="020B0604020202020204" pitchFamily="34" charset="0"/>
                </a:rPr>
                <a:t>指导老师</a:t>
              </a:r>
              <a:r>
                <a:rPr lang="en-US" altLang="zh-CN" sz="1600">
                  <a:solidFill>
                    <a:schemeClr val="bg1"/>
                  </a:solidFill>
                  <a:latin typeface="Arial" panose="020B0604020202020204" pitchFamily="34" charset="0"/>
                  <a:ea typeface="微软雅黑" panose="020B0503020204020204" pitchFamily="34" charset="-122"/>
                  <a:sym typeface="Arial" panose="020B0604020202020204" pitchFamily="34" charset="0"/>
                </a:rPr>
                <a:t>/</a:t>
              </a:r>
              <a:r>
                <a:rPr lang="en-US" altLang="zh-CN" sz="2800" b="1">
                  <a:solidFill>
                    <a:schemeClr val="bg1"/>
                  </a:solidFill>
                  <a:latin typeface="Arial" panose="020B0604020202020204" pitchFamily="34" charset="0"/>
                  <a:ea typeface="微软雅黑" panose="020B0503020204020204" pitchFamily="34" charset="-122"/>
                  <a:sym typeface="Arial" panose="020B0604020202020204" pitchFamily="34" charset="0"/>
                </a:rPr>
                <a:t> </a:t>
              </a:r>
              <a:r>
                <a:rPr lang="en-US" altLang="zh-CN" sz="1600" b="1">
                  <a:solidFill>
                    <a:schemeClr val="bg1"/>
                  </a:solidFill>
                  <a:latin typeface="Arial" panose="020B0604020202020204" pitchFamily="34" charset="0"/>
                  <a:ea typeface="微软雅黑" panose="020B0503020204020204" pitchFamily="34" charset="-122"/>
                  <a:sym typeface="Arial" panose="020B0604020202020204" pitchFamily="34" charset="0"/>
                </a:rPr>
                <a:t>A</a:t>
              </a:r>
              <a:r>
                <a:rPr lang="en-US" altLang="zh-CN" sz="1600">
                  <a:solidFill>
                    <a:schemeClr val="bg1"/>
                  </a:solidFill>
                  <a:latin typeface="Arial" panose="020B0604020202020204" pitchFamily="34" charset="0"/>
                  <a:ea typeface="微软雅黑" panose="020B0503020204020204" pitchFamily="34" charset="-122"/>
                  <a:sym typeface="Arial" panose="020B0604020202020204" pitchFamily="34" charset="0"/>
                </a:rPr>
                <a:t>cademic Advisor</a:t>
              </a:r>
            </a:p>
          </p:txBody>
        </p:sp>
        <p:sp>
          <p:nvSpPr>
            <p:cNvPr id="46" name="齿轮"/>
            <p:cNvSpPr>
              <a:spLocks noChangeAspect="1"/>
            </p:cNvSpPr>
            <p:nvPr/>
          </p:nvSpPr>
          <p:spPr bwMode="auto">
            <a:xfrm>
              <a:off x="334963" y="121637"/>
              <a:ext cx="484428" cy="485386"/>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chemeClr val="bg1"/>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a:endParaRPr lang="zh-CN" altLang="en-US" sz="1800">
                <a:solidFill>
                  <a:srgbClr val="1C666E"/>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50" name="分割虚线"/>
          <p:cNvCxnSpPr/>
          <p:nvPr>
            <p:custDataLst>
              <p:tags r:id="rId1"/>
            </p:custDataLst>
          </p:nvPr>
        </p:nvCxnSpPr>
        <p:spPr>
          <a:xfrm>
            <a:off x="5874847" y="1254242"/>
            <a:ext cx="0" cy="312269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0" name="组合"/>
          <p:cNvGrpSpPr/>
          <p:nvPr>
            <p:custDataLst>
              <p:tags r:id="rId2"/>
            </p:custDataLst>
          </p:nvPr>
        </p:nvGrpSpPr>
        <p:grpSpPr>
          <a:xfrm>
            <a:off x="-7400272" y="-479822"/>
            <a:ext cx="9773091" cy="1853962"/>
            <a:chOff x="1447994" y="3117865"/>
            <a:chExt cx="9773091" cy="1853962"/>
          </a:xfrm>
        </p:grpSpPr>
        <p:sp>
          <p:nvSpPr>
            <p:cNvPr id="8" name="圆角矩形"/>
            <p:cNvSpPr/>
            <p:nvPr>
              <p:custDataLst>
                <p:tags r:id="rId3"/>
              </p:custDataLst>
            </p:nvPr>
          </p:nvSpPr>
          <p:spPr>
            <a:xfrm>
              <a:off x="9183663" y="4602495"/>
              <a:ext cx="2037422" cy="36933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Arial" panose="020B0604020202020204" pitchFamily="34" charset="0"/>
                  <a:ea typeface="微软雅黑" panose="020B0503020204020204" pitchFamily="34" charset="-122"/>
                  <a:sym typeface="Arial" panose="020B0604020202020204" pitchFamily="34" charset="0"/>
                </a:rPr>
                <a:t>指导老师简介</a:t>
              </a:r>
            </a:p>
          </p:txBody>
        </p:sp>
        <p:sp>
          <p:nvSpPr>
            <p:cNvPr id="9" name="科技贡献大"/>
            <p:cNvSpPr/>
            <p:nvPr>
              <p:custDataLst>
                <p:tags r:id="rId4"/>
              </p:custDataLst>
            </p:nvPr>
          </p:nvSpPr>
          <p:spPr>
            <a:xfrm>
              <a:off x="1447994" y="3117865"/>
              <a:ext cx="1619790" cy="369332"/>
            </a:xfrm>
            <a:prstGeom prst="rect">
              <a:avLst/>
            </a:prstGeom>
          </p:spPr>
          <p:txBody>
            <a:bodyPr wrap="square">
              <a:spAutoFit/>
            </a:bodyPr>
            <a:lstStyle/>
            <a:p>
              <a:pPr algn="dist" defTabSz="457200"/>
              <a:r>
                <a:rPr lang="zh-CN" altLang="en-US" b="1">
                  <a:solidFill>
                    <a:schemeClr val="bg1"/>
                  </a:solidFill>
                  <a:latin typeface="Arial" panose="020B0604020202020204" pitchFamily="34" charset="0"/>
                  <a:ea typeface="微软雅黑" panose="020B0503020204020204" pitchFamily="34" charset="-122"/>
                  <a:sym typeface="Arial" panose="020B0604020202020204" pitchFamily="34" charset="0"/>
                </a:rPr>
                <a:t>科技贡献大</a:t>
              </a:r>
            </a:p>
          </p:txBody>
        </p:sp>
      </p:grpSp>
      <p:pic>
        <p:nvPicPr>
          <p:cNvPr id="100" name="图片 99"/>
          <p:cNvPicPr/>
          <p:nvPr/>
        </p:nvPicPr>
        <p:blipFill>
          <a:blip r:embed="rId9"/>
          <a:stretch>
            <a:fillRect/>
          </a:stretch>
        </p:blipFill>
        <p:spPr>
          <a:xfrm>
            <a:off x="697230" y="1710055"/>
            <a:ext cx="1052195" cy="1437640"/>
          </a:xfrm>
          <a:prstGeom prst="rect">
            <a:avLst/>
          </a:prstGeom>
          <a:noFill/>
          <a:ln w="9525">
            <a:noFill/>
          </a:ln>
        </p:spPr>
      </p:pic>
      <p:sp>
        <p:nvSpPr>
          <p:cNvPr id="11" name="文本框 10"/>
          <p:cNvSpPr txBox="1"/>
          <p:nvPr/>
        </p:nvSpPr>
        <p:spPr>
          <a:xfrm>
            <a:off x="2022475" y="1725295"/>
            <a:ext cx="2635885" cy="368300"/>
          </a:xfrm>
          <a:prstGeom prst="rect">
            <a:avLst/>
          </a:prstGeom>
          <a:noFill/>
        </p:spPr>
        <p:txBody>
          <a:bodyPr wrap="square" rtlCol="0">
            <a:spAutoFit/>
          </a:bodyPr>
          <a:lstStyle/>
          <a:p>
            <a:r>
              <a:rPr lang="zh-CN" altLang="en-US"/>
              <a:t>教师姓名：高利鹏</a:t>
            </a:r>
          </a:p>
        </p:txBody>
      </p:sp>
      <p:sp>
        <p:nvSpPr>
          <p:cNvPr id="12" name="文本框 11"/>
          <p:cNvSpPr txBox="1"/>
          <p:nvPr/>
        </p:nvSpPr>
        <p:spPr>
          <a:xfrm>
            <a:off x="2025015" y="2284730"/>
            <a:ext cx="3295650" cy="1691640"/>
          </a:xfrm>
          <a:prstGeom prst="rect">
            <a:avLst/>
          </a:prstGeom>
          <a:noFill/>
        </p:spPr>
        <p:txBody>
          <a:bodyPr wrap="square" rtlCol="0">
            <a:spAutoFit/>
          </a:bodyPr>
          <a:lstStyle/>
          <a:p>
            <a:r>
              <a:rPr lang="zh-CN" altLang="en-US"/>
              <a:t>学院: 软件学院</a:t>
            </a:r>
          </a:p>
          <a:p>
            <a:endParaRPr lang="zh-CN" altLang="en-US"/>
          </a:p>
          <a:p>
            <a:r>
              <a:rPr lang="zh-CN" altLang="en-US"/>
              <a:t>学历: 博士研究生毕业</a:t>
            </a:r>
          </a:p>
          <a:p>
            <a:endParaRPr lang="zh-CN" altLang="en-US"/>
          </a:p>
          <a:p>
            <a:r>
              <a:rPr lang="zh-CN" altLang="en-US"/>
              <a:t>学位: 工学博士</a:t>
            </a:r>
          </a:p>
          <a:p>
            <a:endParaRPr lang="zh-CN" altLang="en-US" sz="1400"/>
          </a:p>
        </p:txBody>
      </p:sp>
      <p:sp>
        <p:nvSpPr>
          <p:cNvPr id="13" name="文本框 12"/>
          <p:cNvSpPr txBox="1"/>
          <p:nvPr/>
        </p:nvSpPr>
        <p:spPr>
          <a:xfrm>
            <a:off x="434975" y="3731895"/>
            <a:ext cx="5440045" cy="4129405"/>
          </a:xfrm>
          <a:prstGeom prst="rect">
            <a:avLst/>
          </a:prstGeom>
          <a:noFill/>
        </p:spPr>
        <p:txBody>
          <a:bodyPr wrap="square" rtlCol="0">
            <a:noAutofit/>
          </a:bodyPr>
          <a:lstStyle/>
          <a:p>
            <a:endParaRPr lang="zh-CN" altLang="en-US" sz="1400">
              <a:sym typeface="+mn-ea"/>
            </a:endParaRPr>
          </a:p>
          <a:p>
            <a:r>
              <a:rPr lang="zh-CN" altLang="en-US" sz="1400">
                <a:sym typeface="+mn-ea"/>
              </a:rPr>
              <a:t>获奖信息</a:t>
            </a:r>
            <a:r>
              <a:rPr lang="en-US" altLang="zh-CN" sz="1400">
                <a:sym typeface="+mn-ea"/>
              </a:rPr>
              <a:t> </a:t>
            </a:r>
            <a:r>
              <a:rPr lang="zh-CN" altLang="en-US" sz="1400">
                <a:sym typeface="+mn-ea"/>
              </a:rPr>
              <a:t>The winning information</a:t>
            </a:r>
          </a:p>
          <a:p>
            <a:endParaRPr lang="zh-CN" altLang="en-US" sz="1400">
              <a:sym typeface="+mn-ea"/>
            </a:endParaRPr>
          </a:p>
          <a:p>
            <a:r>
              <a:rPr lang="zh-CN" altLang="en-US" sz="1400">
                <a:sym typeface="+mn-ea"/>
              </a:rPr>
              <a:t>1. 测绘科技进步奖特等奖，中国测绘地理信息学会</a:t>
            </a:r>
          </a:p>
          <a:p>
            <a:r>
              <a:rPr lang="zh-CN" altLang="en-US" sz="1400">
                <a:sym typeface="+mn-ea"/>
              </a:rPr>
              <a:t>2.中国高校计算机教育大会最佳论文奖，中国计算机学会 </a:t>
            </a:r>
          </a:p>
          <a:p>
            <a:r>
              <a:rPr lang="zh-CN" altLang="en-US" sz="1400">
                <a:sym typeface="+mn-ea"/>
              </a:rPr>
              <a:t>3. 优秀本科毕业设计指导教师(2次)，西北工业大学</a:t>
            </a:r>
          </a:p>
          <a:p>
            <a:r>
              <a:rPr lang="en-US" altLang="zh-CN" sz="1400">
                <a:sym typeface="+mn-ea"/>
              </a:rPr>
              <a:t>4</a:t>
            </a:r>
            <a:r>
              <a:rPr lang="zh-CN" altLang="en-US" sz="1400">
                <a:sym typeface="+mn-ea"/>
              </a:rPr>
              <a:t>. 本科教学成果二等奖(2次)，西北工业大学</a:t>
            </a:r>
          </a:p>
          <a:p>
            <a:r>
              <a:rPr lang="en-US" altLang="zh-CN" sz="1400">
                <a:sym typeface="+mn-ea"/>
              </a:rPr>
              <a:t>5</a:t>
            </a:r>
            <a:r>
              <a:rPr lang="zh-CN" altLang="en-US" sz="1400">
                <a:sym typeface="+mn-ea"/>
              </a:rPr>
              <a:t>. 2021年度校级优秀教师，西北工业大学</a:t>
            </a:r>
          </a:p>
          <a:p>
            <a:r>
              <a:rPr lang="en-US" altLang="zh-CN" sz="1400">
                <a:sym typeface="+mn-ea"/>
              </a:rPr>
              <a:t>6</a:t>
            </a:r>
            <a:r>
              <a:rPr lang="zh-CN" altLang="en-US" sz="1400">
                <a:sym typeface="+mn-ea"/>
              </a:rPr>
              <a:t>.研究生教学成果一等奖，西北工业大学</a:t>
            </a:r>
          </a:p>
          <a:p>
            <a:r>
              <a:rPr lang="en-US" altLang="zh-CN" sz="1400">
                <a:sym typeface="+mn-ea"/>
              </a:rPr>
              <a:t>7</a:t>
            </a:r>
            <a:r>
              <a:rPr lang="zh-CN" altLang="en-US" sz="1400">
                <a:sym typeface="+mn-ea"/>
              </a:rPr>
              <a:t>.第三届国际城市信息学大会最佳论文奖，国际城市信息学会</a:t>
            </a:r>
          </a:p>
        </p:txBody>
      </p:sp>
      <p:pic>
        <p:nvPicPr>
          <p:cNvPr id="14" name="图片 13"/>
          <p:cNvPicPr>
            <a:picLocks noChangeAspect="1"/>
          </p:cNvPicPr>
          <p:nvPr/>
        </p:nvPicPr>
        <p:blipFill>
          <a:blip r:embed="rId10"/>
          <a:stretch>
            <a:fillRect/>
          </a:stretch>
        </p:blipFill>
        <p:spPr>
          <a:xfrm>
            <a:off x="6102350" y="1649730"/>
            <a:ext cx="1191895" cy="1566545"/>
          </a:xfrm>
          <a:prstGeom prst="rect">
            <a:avLst/>
          </a:prstGeom>
        </p:spPr>
      </p:pic>
      <p:sp>
        <p:nvSpPr>
          <p:cNvPr id="15" name="文本框 14"/>
          <p:cNvSpPr txBox="1"/>
          <p:nvPr/>
        </p:nvSpPr>
        <p:spPr>
          <a:xfrm>
            <a:off x="7849235" y="1538605"/>
            <a:ext cx="2352675" cy="2569210"/>
          </a:xfrm>
          <a:prstGeom prst="rect">
            <a:avLst/>
          </a:prstGeom>
          <a:noFill/>
        </p:spPr>
        <p:txBody>
          <a:bodyPr wrap="square" rtlCol="0">
            <a:noAutofit/>
          </a:bodyPr>
          <a:lstStyle/>
          <a:p>
            <a:r>
              <a:rPr lang="zh-CN" altLang="en-US"/>
              <a:t>教师姓名：蔡文静</a:t>
            </a:r>
          </a:p>
          <a:p>
            <a:endParaRPr lang="zh-CN" altLang="en-US"/>
          </a:p>
          <a:p>
            <a:r>
              <a:rPr lang="zh-CN" altLang="en-US">
                <a:sym typeface="+mn-ea"/>
              </a:rPr>
              <a:t>学院：网络空间安全学院/国家保密学院</a:t>
            </a:r>
            <a:endParaRPr lang="zh-CN" altLang="en-US"/>
          </a:p>
          <a:p>
            <a:endParaRPr lang="zh-CN" altLang="en-US"/>
          </a:p>
          <a:p>
            <a:r>
              <a:rPr lang="zh-CN" altLang="en-US"/>
              <a:t>学历：博士研究生毕业</a:t>
            </a:r>
          </a:p>
          <a:p>
            <a:r>
              <a:rPr lang="zh-CN" altLang="en-US"/>
              <a:t>学位：工学博士</a:t>
            </a:r>
          </a:p>
          <a:p>
            <a:endParaRPr lang="zh-CN" altLang="en-US"/>
          </a:p>
        </p:txBody>
      </p:sp>
      <p:sp>
        <p:nvSpPr>
          <p:cNvPr id="16" name="文本框 15"/>
          <p:cNvSpPr txBox="1"/>
          <p:nvPr/>
        </p:nvSpPr>
        <p:spPr>
          <a:xfrm>
            <a:off x="6007735" y="4251325"/>
            <a:ext cx="5778500" cy="2245360"/>
          </a:xfrm>
          <a:prstGeom prst="rect">
            <a:avLst/>
          </a:prstGeom>
          <a:noFill/>
        </p:spPr>
        <p:txBody>
          <a:bodyPr wrap="square" rtlCol="0">
            <a:noAutofit/>
          </a:bodyPr>
          <a:lstStyle/>
          <a:p>
            <a:pPr algn="just">
              <a:buClr>
                <a:prstClr val="white"/>
              </a:buClr>
            </a:pPr>
            <a:r>
              <a:rPr lang="zh-CN" altLang="en-US" sz="1600">
                <a:sym typeface="+mn-ea"/>
              </a:rPr>
              <a:t>获奖信息</a:t>
            </a:r>
            <a:r>
              <a:rPr lang="en-US" altLang="zh-CN" sz="1600">
                <a:sym typeface="+mn-ea"/>
              </a:rPr>
              <a:t> </a:t>
            </a:r>
            <a:r>
              <a:rPr lang="zh-CN" altLang="en-US" sz="1600">
                <a:sym typeface="+mn-ea"/>
              </a:rPr>
              <a:t>The winning information</a:t>
            </a:r>
          </a:p>
          <a:p>
            <a:pPr algn="just">
              <a:buClr>
                <a:prstClr val="white"/>
              </a:buClr>
            </a:pPr>
            <a:endParaRPr lang="zh-CN" altLang="en-US" sz="1600">
              <a:sym typeface="+mn-ea"/>
            </a:endParaRPr>
          </a:p>
          <a:p>
            <a:pPr algn="just">
              <a:buClr>
                <a:prstClr val="white"/>
              </a:buClr>
            </a:pPr>
            <a:r>
              <a:rPr lang="en-US" altLang="zh-CN" sz="1600">
                <a:sym typeface="+mn-ea"/>
              </a:rPr>
              <a:t>1.2022年中国高校计算机教育大会会议最佳论文</a:t>
            </a:r>
            <a:r>
              <a:rPr lang="zh-CN" altLang="en-US" sz="1600">
                <a:sym typeface="+mn-ea"/>
              </a:rPr>
              <a:t>，中国计算机协会</a:t>
            </a:r>
          </a:p>
          <a:p>
            <a:pPr algn="just">
              <a:buClr>
                <a:prstClr val="white"/>
              </a:buClr>
            </a:pPr>
            <a:r>
              <a:rPr lang="en-US" altLang="zh-CN" sz="1600">
                <a:sym typeface="+mn-ea"/>
              </a:rPr>
              <a:t>2.2020年中国高校计算机教育大会优秀论文奖</a:t>
            </a:r>
            <a:r>
              <a:rPr lang="zh-CN" altLang="en-US" sz="1600">
                <a:sym typeface="+mn-ea"/>
              </a:rPr>
              <a:t>，中国计算机学会</a:t>
            </a:r>
          </a:p>
          <a:p>
            <a:pPr algn="just">
              <a:buClr>
                <a:prstClr val="white"/>
              </a:buClr>
            </a:pPr>
            <a:r>
              <a:rPr lang="en-US" altLang="zh-CN" sz="1600">
                <a:sym typeface="+mn-ea"/>
              </a:rPr>
              <a:t>3.2022-2023学年</a:t>
            </a:r>
            <a:r>
              <a:rPr lang="zh-CN" altLang="en-US" sz="1600">
                <a:sym typeface="+mn-ea"/>
              </a:rPr>
              <a:t>“优秀班主任”，西北工业大学</a:t>
            </a:r>
          </a:p>
          <a:p>
            <a:pPr algn="just">
              <a:buClr>
                <a:prstClr val="white"/>
              </a:buClr>
            </a:pPr>
            <a:endParaRPr lang="zh-CN" altLang="en-US" sz="1600">
              <a:sym typeface="+mn-ea"/>
            </a:endParaRPr>
          </a:p>
          <a:p>
            <a:pPr algn="just">
              <a:buClr>
                <a:prstClr val="white"/>
              </a:buClr>
            </a:pPr>
            <a:endParaRPr lang="zh-CN" altLang="en-US" sz="1400">
              <a:sym typeface="+mn-ea"/>
            </a:endParaRPr>
          </a:p>
          <a:p>
            <a:pPr algn="just">
              <a:buClr>
                <a:prstClr val="white"/>
              </a:buClr>
            </a:pPr>
            <a:r>
              <a:rPr lang="en-US" altLang="zh-CN" b="1">
                <a:solidFill>
                  <a:schemeClr val="bg1"/>
                </a:solidFill>
                <a:latin typeface="Arial" panose="020B0604020202020204" pitchFamily="34" charset="0"/>
                <a:ea typeface="微软雅黑" panose="020B0503020204020204" pitchFamily="34" charset="-122"/>
                <a:sym typeface="Arial" panose="020B0604020202020204" pitchFamily="34" charset="0"/>
              </a:rPr>
              <a:t>A</a:t>
            </a:r>
            <a:r>
              <a:rPr lang="en-US" altLang="zh-CN">
                <a:solidFill>
                  <a:schemeClr val="bg1"/>
                </a:solidFill>
                <a:latin typeface="Arial" panose="020B0604020202020204" pitchFamily="34" charset="0"/>
                <a:ea typeface="微软雅黑" panose="020B0503020204020204" pitchFamily="34" charset="-122"/>
                <a:sym typeface="Arial" panose="020B0604020202020204" pitchFamily="34" charset="0"/>
              </a:rPr>
              <a:t>cad</a:t>
            </a:r>
            <a:r>
              <a:rPr lang="en-US" altLang="zh-CN" b="1">
                <a:solidFill>
                  <a:schemeClr val="bg1"/>
                </a:solidFill>
                <a:latin typeface="Arial" panose="020B0604020202020204" pitchFamily="34" charset="0"/>
                <a:ea typeface="微软雅黑" panose="020B0503020204020204" pitchFamily="34" charset="-122"/>
                <a:sym typeface="Arial" panose="020B0604020202020204" pitchFamily="34" charset="0"/>
              </a:rPr>
              <a:t>A</a:t>
            </a:r>
            <a:r>
              <a:rPr lang="en-US" altLang="zh-CN">
                <a:solidFill>
                  <a:schemeClr val="bg1"/>
                </a:solidFill>
                <a:latin typeface="Arial" panose="020B0604020202020204" pitchFamily="34" charset="0"/>
                <a:ea typeface="微软雅黑" panose="020B0503020204020204" pitchFamily="34" charset="-122"/>
                <a:sym typeface="Arial" panose="020B0604020202020204" pitchFamily="34" charset="0"/>
              </a:rPr>
              <a:t>cademic Advisor</a:t>
            </a:r>
          </a:p>
          <a:p>
            <a:pPr algn="just">
              <a:buClr>
                <a:prstClr val="white"/>
              </a:buClr>
            </a:pP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16" presetClass="entr" presetSubtype="37" fill="hold" nodeType="withEffect">
                                  <p:stCondLst>
                                    <p:cond delay="800"/>
                                  </p:stCondLst>
                                  <p:childTnLst>
                                    <p:set>
                                      <p:cBhvr>
                                        <p:cTn id="10" dur="1" fill="hold">
                                          <p:stCondLst>
                                            <p:cond delay="0"/>
                                          </p:stCondLst>
                                        </p:cTn>
                                        <p:tgtEl>
                                          <p:spTgt spid="10"/>
                                        </p:tgtEl>
                                        <p:attrNameLst>
                                          <p:attrName>style.visibility</p:attrName>
                                        </p:attrNameLst>
                                      </p:cBhvr>
                                      <p:to>
                                        <p:strVal val="visible"/>
                                      </p:to>
                                    </p:set>
                                    <p:animEffect transition="in" filter="barn(outVertical)">
                                      <p:cBhvr>
                                        <p:cTn id="11" dur="750"/>
                                        <p:tgtEl>
                                          <p:spTgt spid="10"/>
                                        </p:tgtEl>
                                      </p:cBhvr>
                                    </p:animEffect>
                                  </p:childTnLst>
                                </p:cTn>
                              </p:par>
                              <p:par>
                                <p:cTn id="12" presetID="16" presetClass="entr" presetSubtype="42" fill="hold" nodeType="withEffect">
                                  <p:stCondLst>
                                    <p:cond delay="1600"/>
                                  </p:stCondLst>
                                  <p:childTnLst>
                                    <p:set>
                                      <p:cBhvr>
                                        <p:cTn id="13" dur="1" fill="hold">
                                          <p:stCondLst>
                                            <p:cond delay="0"/>
                                          </p:stCondLst>
                                        </p:cTn>
                                        <p:tgtEl>
                                          <p:spTgt spid="50"/>
                                        </p:tgtEl>
                                        <p:attrNameLst>
                                          <p:attrName>style.visibility</p:attrName>
                                        </p:attrNameLst>
                                      </p:cBhvr>
                                      <p:to>
                                        <p:strVal val="visible"/>
                                      </p:to>
                                    </p:set>
                                    <p:animEffect transition="in" filter="barn(outHorizontal)">
                                      <p:cBhvr>
                                        <p:cTn id="14" dur="7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4962" y="3311506"/>
            <a:ext cx="11522078" cy="321048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任意多边形: 形状 7"/>
          <p:cNvSpPr/>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矩形 8"/>
          <p:cNvSpPr/>
          <p:nvPr/>
        </p:nvSpPr>
        <p:spPr>
          <a:xfrm>
            <a:off x="4760508" y="1336299"/>
            <a:ext cx="2670984" cy="3807111"/>
          </a:xfrm>
          <a:prstGeom prst="rect">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图文框 1"/>
          <p:cNvSpPr/>
          <p:nvPr/>
        </p:nvSpPr>
        <p:spPr>
          <a:xfrm>
            <a:off x="4747911" y="1259013"/>
            <a:ext cx="2696178" cy="3909888"/>
          </a:xfrm>
          <a:prstGeom prst="frame">
            <a:avLst>
              <a:gd name="adj1" fmla="val 2586"/>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5" name="文本框 4"/>
          <p:cNvSpPr txBox="1"/>
          <p:nvPr/>
        </p:nvSpPr>
        <p:spPr>
          <a:xfrm>
            <a:off x="4812304" y="3896085"/>
            <a:ext cx="2567392" cy="76944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4400" b="1" dirty="0">
                <a:solidFill>
                  <a:srgbClr val="1045C9"/>
                </a:solidFill>
                <a:cs typeface="+mn-ea"/>
                <a:sym typeface="+mn-lt"/>
              </a:rPr>
              <a:t>立项依据</a:t>
            </a:r>
            <a:endParaRPr kumimoji="0" lang="zh-CN" altLang="en-US" sz="4400" b="1" i="0" u="none" strike="noStrike" kern="1200" cap="none" spc="0" normalizeH="0" baseline="0" noProof="0" dirty="0">
              <a:ln>
                <a:noFill/>
              </a:ln>
              <a:solidFill>
                <a:srgbClr val="1045C9"/>
              </a:solidFill>
              <a:effectLst/>
              <a:uLnTx/>
              <a:uFillTx/>
              <a:cs typeface="+mn-ea"/>
              <a:sym typeface="+mn-lt"/>
            </a:endParaRPr>
          </a:p>
        </p:txBody>
      </p:sp>
      <p:sp>
        <p:nvSpPr>
          <p:cNvPr id="6" name="文本框 5"/>
          <p:cNvSpPr txBox="1"/>
          <p:nvPr/>
        </p:nvSpPr>
        <p:spPr>
          <a:xfrm>
            <a:off x="4864100" y="1741845"/>
            <a:ext cx="2463800" cy="1569660"/>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prstClr val="white"/>
                </a:solidFill>
                <a:effectLst/>
                <a:uLnTx/>
                <a:uFillTx/>
                <a:cs typeface="+mn-ea"/>
                <a:sym typeface="+mn-lt"/>
              </a:rPr>
              <a:t>0</a:t>
            </a:r>
            <a:r>
              <a:rPr lang="en-US" altLang="zh-CN" sz="9600" dirty="0">
                <a:solidFill>
                  <a:prstClr val="white"/>
                </a:solidFill>
                <a:cs typeface="+mn-ea"/>
                <a:sym typeface="+mn-lt"/>
              </a:rPr>
              <a:t>4</a:t>
            </a:r>
            <a:endParaRPr kumimoji="0" lang="zh-CN" altLang="en-US" sz="9600" b="0" i="0" u="none" strike="noStrike" kern="1200" cap="none" spc="0" normalizeH="0" baseline="0" noProof="0" dirty="0">
              <a:ln>
                <a:noFill/>
              </a:ln>
              <a:solidFill>
                <a:prstClr val="white"/>
              </a:solidFill>
              <a:effectLst/>
              <a:uLnTx/>
              <a:uFillTx/>
              <a:cs typeface="+mn-ea"/>
              <a:sym typeface="+mn-lt"/>
            </a:endParaRPr>
          </a:p>
        </p:txBody>
      </p:sp>
      <p:sp>
        <p:nvSpPr>
          <p:cNvPr id="7" name="文本框 6"/>
          <p:cNvSpPr txBox="1"/>
          <p:nvPr/>
        </p:nvSpPr>
        <p:spPr>
          <a:xfrm>
            <a:off x="3314700" y="5701761"/>
            <a:ext cx="5562600" cy="369332"/>
          </a:xfrm>
          <a:prstGeom prst="rect">
            <a:avLst/>
          </a:prstGeom>
          <a:noFill/>
        </p:spPr>
        <p:txBody>
          <a:bodyPr wrap="square" rtlCol="0">
            <a:spAutoFit/>
            <a:scene3d>
              <a:camera prst="orthographicFront"/>
              <a:lightRig rig="threePt" dir="t"/>
            </a:scene3d>
            <a:sp3d contourW="12700"/>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1045C9"/>
                </a:solidFill>
                <a:effectLst/>
                <a:uLnTx/>
                <a:uFillTx/>
                <a:cs typeface="+mn-ea"/>
                <a:sym typeface="+mn-lt"/>
              </a:rPr>
              <a:t>Strong Preparation</a:t>
            </a:r>
          </a:p>
        </p:txBody>
      </p:sp>
      <p:grpSp>
        <p:nvGrpSpPr>
          <p:cNvPr id="12" name="组合 11"/>
          <p:cNvGrpSpPr/>
          <p:nvPr/>
        </p:nvGrpSpPr>
        <p:grpSpPr>
          <a:xfrm>
            <a:off x="695325" y="663359"/>
            <a:ext cx="2159170" cy="489382"/>
            <a:chOff x="711030" y="663358"/>
            <a:chExt cx="2159170" cy="489382"/>
          </a:xfrm>
        </p:grpSpPr>
        <p:pic>
          <p:nvPicPr>
            <p:cNvPr id="10" name="西北工业大学"/>
            <p:cNvPicPr>
              <a:picLocks noChangeAspect="1"/>
            </p:cNvPicPr>
            <p:nvPr/>
          </p:nvPicPr>
          <p:blipFill>
            <a:blip r:embed="rId4" cstate="screen"/>
            <a:stretch>
              <a:fillRect/>
            </a:stretch>
          </p:blipFill>
          <p:spPr>
            <a:xfrm>
              <a:off x="1324073" y="713583"/>
              <a:ext cx="1546127" cy="388933"/>
            </a:xfrm>
            <a:prstGeom prst="rect">
              <a:avLst/>
            </a:prstGeom>
          </p:spPr>
        </p:pic>
        <p:pic>
          <p:nvPicPr>
            <p:cNvPr id="11" name="校徽"/>
            <p:cNvPicPr>
              <a:picLocks noChangeAspect="1"/>
            </p:cNvPicPr>
            <p:nvPr/>
          </p:nvPicPr>
          <p:blipFill>
            <a:blip r:embed="rId5" cstate="screen"/>
            <a:stretch>
              <a:fillRect/>
            </a:stretch>
          </p:blipFill>
          <p:spPr>
            <a:xfrm>
              <a:off x="711030" y="663358"/>
              <a:ext cx="490134" cy="489382"/>
            </a:xfrm>
            <a:prstGeom prst="rect">
              <a:avLst/>
            </a:prstGeom>
          </p:spPr>
        </p:pic>
      </p:grpSp>
      <p:cxnSp>
        <p:nvCxnSpPr>
          <p:cNvPr id="4" name="直接连接符 3"/>
          <p:cNvCxnSpPr/>
          <p:nvPr/>
        </p:nvCxnSpPr>
        <p:spPr>
          <a:xfrm flipH="1" flipV="1">
            <a:off x="334962" y="396875"/>
            <a:ext cx="1"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1857038" y="396875"/>
            <a:ext cx="0"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4963" y="396875"/>
            <a:ext cx="115220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海天苑"/>
          <p:cNvPicPr>
            <a:picLocks noChangeAspect="1"/>
          </p:cNvPicPr>
          <p:nvPr/>
        </p:nvPicPr>
        <p:blipFill>
          <a:blip r:embed="rId3"/>
          <a:stretch>
            <a:fillRect/>
          </a:stretch>
        </p:blipFill>
        <p:spPr>
          <a:xfrm>
            <a:off x="380998" y="419099"/>
            <a:ext cx="10919171" cy="6128385"/>
          </a:xfrm>
          <a:prstGeom prst="rect">
            <a:avLst/>
          </a:prstGeom>
        </p:spPr>
      </p:pic>
      <p:sp>
        <p:nvSpPr>
          <p:cNvPr id="44" name="背景色块"/>
          <p:cNvSpPr/>
          <p:nvPr/>
        </p:nvSpPr>
        <p:spPr>
          <a:xfrm>
            <a:off x="381000" y="419100"/>
            <a:ext cx="2869109" cy="6142034"/>
          </a:xfrm>
          <a:prstGeom prst="rect">
            <a:avLst/>
          </a:prstGeom>
          <a:solidFill>
            <a:schemeClr val="accent6"/>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目录组合"/>
          <p:cNvGrpSpPr/>
          <p:nvPr/>
        </p:nvGrpSpPr>
        <p:grpSpPr>
          <a:xfrm>
            <a:off x="730006" y="1920120"/>
            <a:ext cx="1637895" cy="2294003"/>
            <a:chOff x="465344" y="1778149"/>
            <a:chExt cx="1848771" cy="2561411"/>
          </a:xfrm>
        </p:grpSpPr>
        <p:sp>
          <p:nvSpPr>
            <p:cNvPr id="46" name="目录英文"/>
            <p:cNvSpPr txBox="1"/>
            <p:nvPr/>
          </p:nvSpPr>
          <p:spPr>
            <a:xfrm>
              <a:off x="626808" y="3910300"/>
              <a:ext cx="1525842" cy="429260"/>
            </a:xfrm>
            <a:prstGeom prst="rect">
              <a:avLst/>
            </a:prstGeom>
            <a:noFill/>
          </p:spPr>
          <p:txBody>
            <a:bodyPr wrap="square" rtlCol="0">
              <a:spAutoFit/>
            </a:bodyPr>
            <a:lstStyle/>
            <a:p>
              <a:pPr algn="dist" defTabSz="457200" fontAlgn="base">
                <a:spcBef>
                  <a:spcPct val="0"/>
                </a:spcBef>
                <a:spcAft>
                  <a:spcPct val="0"/>
                </a:spcAft>
              </a:pPr>
              <a:endParaRPr lang="en-US" altLang="zh-CN" sz="15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7" name="点缀线段"/>
            <p:cNvCxnSpPr/>
            <p:nvPr/>
          </p:nvCxnSpPr>
          <p:spPr>
            <a:xfrm>
              <a:off x="570270" y="3690610"/>
              <a:ext cx="163891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目录"/>
            <p:cNvSpPr txBox="1"/>
            <p:nvPr/>
          </p:nvSpPr>
          <p:spPr>
            <a:xfrm>
              <a:off x="465344" y="1778149"/>
              <a:ext cx="1848771" cy="1783927"/>
            </a:xfrm>
            <a:prstGeom prst="rect">
              <a:avLst/>
            </a:prstGeom>
            <a:noFill/>
          </p:spPr>
          <p:txBody>
            <a:bodyPr wrap="square" rtlCol="0">
              <a:spAutoFit/>
            </a:bodyPr>
            <a:lstStyle/>
            <a:p>
              <a:pPr algn="dist" defTabSz="457200" fontAlgn="base">
                <a:spcBef>
                  <a:spcPct val="0"/>
                </a:spcBef>
                <a:spcAft>
                  <a:spcPct val="0"/>
                </a:spcAft>
              </a:pPr>
              <a:r>
                <a:rPr lang="zh-CN" altLang="en-US" sz="4050" b="1">
                  <a:solidFill>
                    <a:srgbClr val="FFFFFF"/>
                  </a:solidFill>
                  <a:latin typeface="Arial" panose="020B0604020202020204" pitchFamily="34" charset="0"/>
                  <a:ea typeface="微软雅黑" panose="020B0503020204020204" pitchFamily="34" charset="-122"/>
                  <a:sym typeface="Arial" panose="020B0604020202020204" pitchFamily="34" charset="0"/>
                </a:rPr>
                <a:t>立项依据</a:t>
              </a:r>
            </a:p>
          </p:txBody>
        </p:sp>
      </p:grpSp>
      <p:sp>
        <p:nvSpPr>
          <p:cNvPr id="49" name="打底色块"/>
          <p:cNvSpPr/>
          <p:nvPr/>
        </p:nvSpPr>
        <p:spPr>
          <a:xfrm>
            <a:off x="2360931" y="824706"/>
            <a:ext cx="7856294" cy="5158172"/>
          </a:xfrm>
          <a:prstGeom prst="rect">
            <a:avLst/>
          </a:prstGeom>
          <a:solidFill>
            <a:schemeClr val="bg1"/>
          </a:solidFill>
          <a:ln>
            <a:noFill/>
          </a:ln>
          <a:effectLst>
            <a:outerShdw blurRad="190500" dir="54000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6" name="书1"/>
          <p:cNvSpPr>
            <a:spLocks noChangeAspect="1"/>
          </p:cNvSpPr>
          <p:nvPr/>
        </p:nvSpPr>
        <p:spPr bwMode="auto">
          <a:xfrm>
            <a:off x="3009265" y="2025651"/>
            <a:ext cx="604346" cy="574015"/>
          </a:xfrm>
          <a:custGeom>
            <a:avLst/>
            <a:gdLst>
              <a:gd name="connsiteX0" fmla="*/ 420884 w 608697"/>
              <a:gd name="connsiteY0" fmla="*/ 485137 h 568475"/>
              <a:gd name="connsiteX1" fmla="*/ 589080 w 608697"/>
              <a:gd name="connsiteY1" fmla="*/ 485137 h 568475"/>
              <a:gd name="connsiteX2" fmla="*/ 608697 w 608697"/>
              <a:gd name="connsiteY2" fmla="*/ 504650 h 568475"/>
              <a:gd name="connsiteX3" fmla="*/ 608697 w 608697"/>
              <a:gd name="connsiteY3" fmla="*/ 511203 h 568475"/>
              <a:gd name="connsiteX4" fmla="*/ 589080 w 608697"/>
              <a:gd name="connsiteY4" fmla="*/ 530716 h 568475"/>
              <a:gd name="connsiteX5" fmla="*/ 418721 w 608697"/>
              <a:gd name="connsiteY5" fmla="*/ 530716 h 568475"/>
              <a:gd name="connsiteX6" fmla="*/ 330483 w 608697"/>
              <a:gd name="connsiteY6" fmla="*/ 564900 h 568475"/>
              <a:gd name="connsiteX7" fmla="*/ 320861 w 608697"/>
              <a:gd name="connsiteY7" fmla="*/ 568475 h 568475"/>
              <a:gd name="connsiteX8" fmla="*/ 320861 w 608697"/>
              <a:gd name="connsiteY8" fmla="*/ 526992 h 568475"/>
              <a:gd name="connsiteX9" fmla="*/ 328096 w 608697"/>
              <a:gd name="connsiteY9" fmla="*/ 513438 h 568475"/>
              <a:gd name="connsiteX10" fmla="*/ 420884 w 608697"/>
              <a:gd name="connsiteY10" fmla="*/ 485137 h 568475"/>
              <a:gd name="connsiteX11" fmla="*/ 19622 w 608697"/>
              <a:gd name="connsiteY11" fmla="*/ 485137 h 568475"/>
              <a:gd name="connsiteX12" fmla="*/ 187860 w 608697"/>
              <a:gd name="connsiteY12" fmla="*/ 485137 h 568475"/>
              <a:gd name="connsiteX13" fmla="*/ 280670 w 608697"/>
              <a:gd name="connsiteY13" fmla="*/ 513438 h 568475"/>
              <a:gd name="connsiteX14" fmla="*/ 287907 w 608697"/>
              <a:gd name="connsiteY14" fmla="*/ 526992 h 568475"/>
              <a:gd name="connsiteX15" fmla="*/ 287907 w 608697"/>
              <a:gd name="connsiteY15" fmla="*/ 568475 h 568475"/>
              <a:gd name="connsiteX16" fmla="*/ 278134 w 608697"/>
              <a:gd name="connsiteY16" fmla="*/ 564826 h 568475"/>
              <a:gd name="connsiteX17" fmla="*/ 187860 w 608697"/>
              <a:gd name="connsiteY17" fmla="*/ 530716 h 568475"/>
              <a:gd name="connsiteX18" fmla="*/ 19622 w 608697"/>
              <a:gd name="connsiteY18" fmla="*/ 530716 h 568475"/>
              <a:gd name="connsiteX19" fmla="*/ 0 w 608697"/>
              <a:gd name="connsiteY19" fmla="*/ 511203 h 568475"/>
              <a:gd name="connsiteX20" fmla="*/ 0 w 608697"/>
              <a:gd name="connsiteY20" fmla="*/ 504650 h 568475"/>
              <a:gd name="connsiteX21" fmla="*/ 19622 w 608697"/>
              <a:gd name="connsiteY21" fmla="*/ 485137 h 568475"/>
              <a:gd name="connsiteX22" fmla="*/ 420884 w 608697"/>
              <a:gd name="connsiteY22" fmla="*/ 29920 h 568475"/>
              <a:gd name="connsiteX23" fmla="*/ 438710 w 608697"/>
              <a:gd name="connsiteY23" fmla="*/ 29920 h 568475"/>
              <a:gd name="connsiteX24" fmla="*/ 438710 w 608697"/>
              <a:gd name="connsiteY24" fmla="*/ 162804 h 568475"/>
              <a:gd name="connsiteX25" fmla="*/ 450421 w 608697"/>
              <a:gd name="connsiteY25" fmla="*/ 193343 h 568475"/>
              <a:gd name="connsiteX26" fmla="*/ 473469 w 608697"/>
              <a:gd name="connsiteY26" fmla="*/ 218817 h 568475"/>
              <a:gd name="connsiteX27" fmla="*/ 500097 w 608697"/>
              <a:gd name="connsiteY27" fmla="*/ 230661 h 568475"/>
              <a:gd name="connsiteX28" fmla="*/ 526799 w 608697"/>
              <a:gd name="connsiteY28" fmla="*/ 218817 h 568475"/>
              <a:gd name="connsiteX29" fmla="*/ 549772 w 608697"/>
              <a:gd name="connsiteY29" fmla="*/ 193343 h 568475"/>
              <a:gd name="connsiteX30" fmla="*/ 561557 w 608697"/>
              <a:gd name="connsiteY30" fmla="*/ 162804 h 568475"/>
              <a:gd name="connsiteX31" fmla="*/ 561557 w 608697"/>
              <a:gd name="connsiteY31" fmla="*/ 29920 h 568475"/>
              <a:gd name="connsiteX32" fmla="*/ 589080 w 608697"/>
              <a:gd name="connsiteY32" fmla="*/ 29920 h 568475"/>
              <a:gd name="connsiteX33" fmla="*/ 608697 w 608697"/>
              <a:gd name="connsiteY33" fmla="*/ 49435 h 568475"/>
              <a:gd name="connsiteX34" fmla="*/ 608697 w 608697"/>
              <a:gd name="connsiteY34" fmla="*/ 440489 h 568475"/>
              <a:gd name="connsiteX35" fmla="*/ 589080 w 608697"/>
              <a:gd name="connsiteY35" fmla="*/ 460004 h 568475"/>
              <a:gd name="connsiteX36" fmla="*/ 420884 w 608697"/>
              <a:gd name="connsiteY36" fmla="*/ 460004 h 568475"/>
              <a:gd name="connsiteX37" fmla="*/ 320861 w 608697"/>
              <a:gd name="connsiteY37" fmla="*/ 497769 h 568475"/>
              <a:gd name="connsiteX38" fmla="*/ 320861 w 608697"/>
              <a:gd name="connsiteY38" fmla="*/ 67610 h 568475"/>
              <a:gd name="connsiteX39" fmla="*/ 420884 w 608697"/>
              <a:gd name="connsiteY39" fmla="*/ 29920 h 568475"/>
              <a:gd name="connsiteX40" fmla="*/ 19622 w 608697"/>
              <a:gd name="connsiteY40" fmla="*/ 29920 h 568475"/>
              <a:gd name="connsiteX41" fmla="*/ 187860 w 608697"/>
              <a:gd name="connsiteY41" fmla="*/ 29920 h 568475"/>
              <a:gd name="connsiteX42" fmla="*/ 287907 w 608697"/>
              <a:gd name="connsiteY42" fmla="*/ 67610 h 568475"/>
              <a:gd name="connsiteX43" fmla="*/ 287907 w 608697"/>
              <a:gd name="connsiteY43" fmla="*/ 497769 h 568475"/>
              <a:gd name="connsiteX44" fmla="*/ 187860 w 608697"/>
              <a:gd name="connsiteY44" fmla="*/ 460004 h 568475"/>
              <a:gd name="connsiteX45" fmla="*/ 19622 w 608697"/>
              <a:gd name="connsiteY45" fmla="*/ 460004 h 568475"/>
              <a:gd name="connsiteX46" fmla="*/ 0 w 608697"/>
              <a:gd name="connsiteY46" fmla="*/ 440489 h 568475"/>
              <a:gd name="connsiteX47" fmla="*/ 0 w 608697"/>
              <a:gd name="connsiteY47" fmla="*/ 49435 h 568475"/>
              <a:gd name="connsiteX48" fmla="*/ 19622 w 608697"/>
              <a:gd name="connsiteY48" fmla="*/ 29920 h 568475"/>
              <a:gd name="connsiteX49" fmla="*/ 484356 w 608697"/>
              <a:gd name="connsiteY49" fmla="*/ 0 h 568475"/>
              <a:gd name="connsiteX50" fmla="*/ 515833 w 608697"/>
              <a:gd name="connsiteY50" fmla="*/ 0 h 568475"/>
              <a:gd name="connsiteX51" fmla="*/ 535450 w 608697"/>
              <a:gd name="connsiteY51" fmla="*/ 19586 h 568475"/>
              <a:gd name="connsiteX52" fmla="*/ 535450 w 608697"/>
              <a:gd name="connsiteY52" fmla="*/ 29937 h 568475"/>
              <a:gd name="connsiteX53" fmla="*/ 535450 w 608697"/>
              <a:gd name="connsiteY53" fmla="*/ 162791 h 568475"/>
              <a:gd name="connsiteX54" fmla="*/ 530378 w 608697"/>
              <a:gd name="connsiteY54" fmla="*/ 175898 h 568475"/>
              <a:gd name="connsiteX55" fmla="*/ 507404 w 608697"/>
              <a:gd name="connsiteY55" fmla="*/ 201367 h 568475"/>
              <a:gd name="connsiteX56" fmla="*/ 500095 w 608697"/>
              <a:gd name="connsiteY56" fmla="*/ 204569 h 568475"/>
              <a:gd name="connsiteX57" fmla="*/ 492860 w 608697"/>
              <a:gd name="connsiteY57" fmla="*/ 201367 h 568475"/>
              <a:gd name="connsiteX58" fmla="*/ 469811 w 608697"/>
              <a:gd name="connsiteY58" fmla="*/ 175898 h 568475"/>
              <a:gd name="connsiteX59" fmla="*/ 464814 w 608697"/>
              <a:gd name="connsiteY59" fmla="*/ 162791 h 568475"/>
              <a:gd name="connsiteX60" fmla="*/ 464814 w 608697"/>
              <a:gd name="connsiteY60" fmla="*/ 29937 h 568475"/>
              <a:gd name="connsiteX61" fmla="*/ 464814 w 608697"/>
              <a:gd name="connsiteY61" fmla="*/ 19586 h 568475"/>
              <a:gd name="connsiteX62" fmla="*/ 484356 w 608697"/>
              <a:gd name="connsiteY62" fmla="*/ 0 h 56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697" h="568475">
                <a:moveTo>
                  <a:pt x="420884" y="485137"/>
                </a:moveTo>
                <a:lnTo>
                  <a:pt x="589080" y="485137"/>
                </a:lnTo>
                <a:cubicBezTo>
                  <a:pt x="599896" y="485137"/>
                  <a:pt x="608697" y="493851"/>
                  <a:pt x="608697" y="504650"/>
                </a:cubicBezTo>
                <a:lnTo>
                  <a:pt x="608697" y="511203"/>
                </a:lnTo>
                <a:cubicBezTo>
                  <a:pt x="608697" y="522002"/>
                  <a:pt x="599896" y="530716"/>
                  <a:pt x="589080" y="530716"/>
                </a:cubicBezTo>
                <a:lnTo>
                  <a:pt x="418721" y="530716"/>
                </a:lnTo>
                <a:cubicBezTo>
                  <a:pt x="386051" y="530716"/>
                  <a:pt x="355172" y="543526"/>
                  <a:pt x="330483" y="564900"/>
                </a:cubicBezTo>
                <a:cubicBezTo>
                  <a:pt x="327723" y="567283"/>
                  <a:pt x="324292" y="568475"/>
                  <a:pt x="320861" y="568475"/>
                </a:cubicBezTo>
                <a:lnTo>
                  <a:pt x="320861" y="526992"/>
                </a:lnTo>
                <a:cubicBezTo>
                  <a:pt x="320861" y="521556"/>
                  <a:pt x="323621" y="516491"/>
                  <a:pt x="328096" y="513438"/>
                </a:cubicBezTo>
                <a:cubicBezTo>
                  <a:pt x="355395" y="495042"/>
                  <a:pt x="387617" y="485137"/>
                  <a:pt x="420884" y="485137"/>
                </a:cubicBezTo>
                <a:close/>
                <a:moveTo>
                  <a:pt x="19622" y="485137"/>
                </a:moveTo>
                <a:lnTo>
                  <a:pt x="187860" y="485137"/>
                </a:lnTo>
                <a:cubicBezTo>
                  <a:pt x="221134" y="485137"/>
                  <a:pt x="253364" y="495042"/>
                  <a:pt x="280670" y="513438"/>
                </a:cubicBezTo>
                <a:cubicBezTo>
                  <a:pt x="285147" y="516491"/>
                  <a:pt x="287907" y="521556"/>
                  <a:pt x="287907" y="526992"/>
                </a:cubicBezTo>
                <a:lnTo>
                  <a:pt x="287907" y="568475"/>
                </a:lnTo>
                <a:cubicBezTo>
                  <a:pt x="284400" y="568475"/>
                  <a:pt x="280969" y="567283"/>
                  <a:pt x="278134" y="564826"/>
                </a:cubicBezTo>
                <a:cubicBezTo>
                  <a:pt x="253215" y="542856"/>
                  <a:pt x="221134" y="530716"/>
                  <a:pt x="187860" y="530716"/>
                </a:cubicBezTo>
                <a:lnTo>
                  <a:pt x="19622" y="530716"/>
                </a:lnTo>
                <a:cubicBezTo>
                  <a:pt x="8804" y="530716"/>
                  <a:pt x="0" y="522002"/>
                  <a:pt x="0" y="511203"/>
                </a:cubicBezTo>
                <a:lnTo>
                  <a:pt x="0" y="504650"/>
                </a:lnTo>
                <a:cubicBezTo>
                  <a:pt x="0" y="493851"/>
                  <a:pt x="8804" y="485137"/>
                  <a:pt x="19622" y="485137"/>
                </a:cubicBezTo>
                <a:close/>
                <a:moveTo>
                  <a:pt x="420884" y="29920"/>
                </a:moveTo>
                <a:lnTo>
                  <a:pt x="438710" y="29920"/>
                </a:lnTo>
                <a:lnTo>
                  <a:pt x="438710" y="162804"/>
                </a:lnTo>
                <a:cubicBezTo>
                  <a:pt x="438710" y="174126"/>
                  <a:pt x="442887" y="184926"/>
                  <a:pt x="450421" y="193343"/>
                </a:cubicBezTo>
                <a:lnTo>
                  <a:pt x="473469" y="218817"/>
                </a:lnTo>
                <a:cubicBezTo>
                  <a:pt x="480256" y="226341"/>
                  <a:pt x="489953" y="230661"/>
                  <a:pt x="500097" y="230661"/>
                </a:cubicBezTo>
                <a:cubicBezTo>
                  <a:pt x="510241" y="230661"/>
                  <a:pt x="520012" y="226341"/>
                  <a:pt x="526799" y="218817"/>
                </a:cubicBezTo>
                <a:lnTo>
                  <a:pt x="549772" y="193343"/>
                </a:lnTo>
                <a:cubicBezTo>
                  <a:pt x="557380" y="184926"/>
                  <a:pt x="561557" y="174126"/>
                  <a:pt x="561557" y="162804"/>
                </a:cubicBezTo>
                <a:lnTo>
                  <a:pt x="561557" y="29920"/>
                </a:lnTo>
                <a:lnTo>
                  <a:pt x="589080" y="29920"/>
                </a:lnTo>
                <a:cubicBezTo>
                  <a:pt x="599896" y="29920"/>
                  <a:pt x="608697" y="38635"/>
                  <a:pt x="608697" y="49435"/>
                </a:cubicBezTo>
                <a:lnTo>
                  <a:pt x="608697" y="440489"/>
                </a:lnTo>
                <a:cubicBezTo>
                  <a:pt x="608697" y="451289"/>
                  <a:pt x="599896" y="460004"/>
                  <a:pt x="589080" y="460004"/>
                </a:cubicBezTo>
                <a:lnTo>
                  <a:pt x="420884" y="460004"/>
                </a:lnTo>
                <a:cubicBezTo>
                  <a:pt x="384037" y="460004"/>
                  <a:pt x="348533" y="473412"/>
                  <a:pt x="320861" y="497769"/>
                </a:cubicBezTo>
                <a:lnTo>
                  <a:pt x="320861" y="67610"/>
                </a:lnTo>
                <a:cubicBezTo>
                  <a:pt x="348533" y="43327"/>
                  <a:pt x="384037" y="29920"/>
                  <a:pt x="420884" y="29920"/>
                </a:cubicBezTo>
                <a:close/>
                <a:moveTo>
                  <a:pt x="19622" y="29920"/>
                </a:moveTo>
                <a:lnTo>
                  <a:pt x="187860" y="29920"/>
                </a:lnTo>
                <a:cubicBezTo>
                  <a:pt x="224715" y="29920"/>
                  <a:pt x="260228" y="43327"/>
                  <a:pt x="287907" y="67610"/>
                </a:cubicBezTo>
                <a:lnTo>
                  <a:pt x="287907" y="497769"/>
                </a:lnTo>
                <a:cubicBezTo>
                  <a:pt x="260228" y="473412"/>
                  <a:pt x="224715" y="460004"/>
                  <a:pt x="187860" y="460004"/>
                </a:cubicBezTo>
                <a:lnTo>
                  <a:pt x="19622" y="460004"/>
                </a:lnTo>
                <a:cubicBezTo>
                  <a:pt x="8804" y="460004"/>
                  <a:pt x="0" y="451289"/>
                  <a:pt x="0" y="440489"/>
                </a:cubicBezTo>
                <a:lnTo>
                  <a:pt x="0" y="49435"/>
                </a:lnTo>
                <a:cubicBezTo>
                  <a:pt x="0" y="38635"/>
                  <a:pt x="8804" y="29920"/>
                  <a:pt x="19622" y="29920"/>
                </a:cubicBezTo>
                <a:close/>
                <a:moveTo>
                  <a:pt x="484356" y="0"/>
                </a:moveTo>
                <a:lnTo>
                  <a:pt x="515833" y="0"/>
                </a:lnTo>
                <a:cubicBezTo>
                  <a:pt x="526648" y="0"/>
                  <a:pt x="535450" y="8787"/>
                  <a:pt x="535450" y="19586"/>
                </a:cubicBezTo>
                <a:lnTo>
                  <a:pt x="535450" y="29937"/>
                </a:lnTo>
                <a:lnTo>
                  <a:pt x="535450" y="162791"/>
                </a:lnTo>
                <a:cubicBezTo>
                  <a:pt x="535450" y="167632"/>
                  <a:pt x="533660" y="172249"/>
                  <a:pt x="530378" y="175898"/>
                </a:cubicBezTo>
                <a:lnTo>
                  <a:pt x="507404" y="201367"/>
                </a:lnTo>
                <a:cubicBezTo>
                  <a:pt x="505465" y="203526"/>
                  <a:pt x="502780" y="204569"/>
                  <a:pt x="500095" y="204569"/>
                </a:cubicBezTo>
                <a:cubicBezTo>
                  <a:pt x="497409" y="204569"/>
                  <a:pt x="494799" y="203526"/>
                  <a:pt x="492860" y="201367"/>
                </a:cubicBezTo>
                <a:lnTo>
                  <a:pt x="469811" y="175898"/>
                </a:lnTo>
                <a:cubicBezTo>
                  <a:pt x="466604" y="172249"/>
                  <a:pt x="464814" y="167632"/>
                  <a:pt x="464814" y="162791"/>
                </a:cubicBezTo>
                <a:lnTo>
                  <a:pt x="464814" y="29937"/>
                </a:lnTo>
                <a:lnTo>
                  <a:pt x="464814" y="19586"/>
                </a:lnTo>
                <a:cubicBezTo>
                  <a:pt x="464814" y="8787"/>
                  <a:pt x="473541" y="0"/>
                  <a:pt x="484356" y="0"/>
                </a:cubicBezTo>
                <a:close/>
              </a:path>
            </a:pathLst>
          </a:custGeom>
          <a:solidFill>
            <a:schemeClr val="accent6"/>
          </a:solidFill>
          <a:ln>
            <a:noFill/>
          </a:ln>
        </p:spPr>
        <p:txBody>
          <a:bodyPr/>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9" name="组合"/>
          <p:cNvGrpSpPr/>
          <p:nvPr/>
        </p:nvGrpSpPr>
        <p:grpSpPr>
          <a:xfrm>
            <a:off x="3867074" y="1301456"/>
            <a:ext cx="5387634" cy="4110610"/>
            <a:chOff x="881964" y="2767721"/>
            <a:chExt cx="6081280" cy="4589776"/>
          </a:xfrm>
          <a:solidFill>
            <a:schemeClr val="bg1"/>
          </a:solidFill>
        </p:grpSpPr>
        <p:sp>
          <p:nvSpPr>
            <p:cNvPr id="70" name="ESI国际学科排名"/>
            <p:cNvSpPr txBox="1"/>
            <p:nvPr/>
          </p:nvSpPr>
          <p:spPr>
            <a:xfrm>
              <a:off x="881964" y="3273318"/>
              <a:ext cx="6081280" cy="4084179"/>
            </a:xfrm>
            <a:prstGeom prst="rect">
              <a:avLst/>
            </a:prstGeom>
            <a:grpFill/>
          </p:spPr>
          <p:txBody>
            <a:bodyPr wrap="square" rtlCol="0">
              <a:spAutoFit/>
              <a:scene3d>
                <a:camera prst="orthographicFront"/>
                <a:lightRig rig="threePt" dir="t"/>
              </a:scene3d>
              <a:sp3d contourW="12700"/>
            </a:bodyPr>
            <a:lstStyle/>
            <a:p>
              <a:pPr defTabSz="457200" fontAlgn="base">
                <a:lnSpc>
                  <a:spcPct val="130000"/>
                </a:lnSpc>
                <a:spcBef>
                  <a:spcPct val="0"/>
                </a:spcBef>
                <a:spcAft>
                  <a:spcPct val="0"/>
                </a:spcAft>
              </a:pPr>
              <a:r>
                <a:rPr lang="en-US"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dirty="0" err="1">
                  <a:solidFill>
                    <a:srgbClr val="000000"/>
                  </a:solidFill>
                  <a:latin typeface="Arial" panose="020B0604020202020204" pitchFamily="34" charset="0"/>
                  <a:ea typeface="微软雅黑" panose="020B0503020204020204" pitchFamily="34" charset="-122"/>
                  <a:sym typeface="Arial" panose="020B0604020202020204" pitchFamily="34" charset="0"/>
                </a:rPr>
                <a:t>项目</a:t>
              </a:r>
              <a:r>
                <a:rPr lang="zh-CN" altLang="en-US"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r>
                <a:rPr dirty="0" err="1">
                  <a:solidFill>
                    <a:srgbClr val="000000"/>
                  </a:solidFill>
                  <a:latin typeface="Arial" panose="020B0604020202020204" pitchFamily="34" charset="0"/>
                  <a:ea typeface="微软雅黑" panose="020B0503020204020204" pitchFamily="34" charset="-122"/>
                  <a:sym typeface="Arial" panose="020B0604020202020204" pitchFamily="34" charset="0"/>
                </a:rPr>
                <a:t>基于深度学习的源代码漏洞检测技术</a:t>
              </a:r>
              <a:r>
                <a:rPr lang="zh-CN" altLang="en-US"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r>
                <a:rPr dirty="0">
                  <a:solidFill>
                    <a:srgbClr val="000000"/>
                  </a:solidFill>
                  <a:latin typeface="Arial" panose="020B0604020202020204" pitchFamily="34" charset="0"/>
                  <a:ea typeface="微软雅黑" panose="020B0503020204020204" pitchFamily="34" charset="-122"/>
                  <a:sym typeface="Arial" panose="020B0604020202020204" pitchFamily="34" charset="0"/>
                </a:rPr>
                <a:t>在当前软件安全领域的发展动态中，正逐渐成为研究热点。随着深度学习技术的不断进步，研究者们不断探索如何利用深度学习算法提高源代码漏洞检测的准确性和效率。目前，一些研究者已经提出了基于深度学习的静态分析方法，能够有效地识别源代码中的潜在安全漏洞，为软件安全提供更加全面的保障。未来，随着深度学习技术的不断发展，我们有望看到更多创新的源代码漏洞检测技术的涌现，为软件安全领域带来新的突破。</a:t>
              </a:r>
            </a:p>
          </p:txBody>
        </p:sp>
        <p:sp>
          <p:nvSpPr>
            <p:cNvPr id="71" name="学科特色鲜明"/>
            <p:cNvSpPr txBox="1"/>
            <p:nvPr/>
          </p:nvSpPr>
          <p:spPr>
            <a:xfrm>
              <a:off x="881964" y="2767721"/>
              <a:ext cx="3746500" cy="412384"/>
            </a:xfrm>
            <a:prstGeom prst="rect">
              <a:avLst/>
            </a:prstGeom>
            <a:solidFill>
              <a:schemeClr val="bg1"/>
            </a:solidFill>
          </p:spPr>
          <p:txBody>
            <a:bodyPr wrap="square" rtlCol="0">
              <a:spAutoFit/>
              <a:scene3d>
                <a:camera prst="orthographicFront"/>
                <a:lightRig rig="threePt" dir="t"/>
              </a:scene3d>
              <a:sp3d contourW="12700"/>
            </a:bodyPr>
            <a:lstStyle/>
            <a:p>
              <a:pPr defTabSz="457200" fontAlgn="base">
                <a:spcBef>
                  <a:spcPct val="0"/>
                </a:spcBef>
                <a:spcAft>
                  <a:spcPct val="0"/>
                </a:spcAft>
              </a:pPr>
              <a:r>
                <a:rPr lang="zh-CN" altLang="en-US" b="1">
                  <a:solidFill>
                    <a:srgbClr val="2D2D89"/>
                  </a:solidFill>
                  <a:latin typeface="Arial" panose="020B0604020202020204" pitchFamily="34" charset="0"/>
                  <a:ea typeface="微软雅黑" panose="020B0503020204020204" pitchFamily="34" charset="-122"/>
                  <a:sym typeface="Arial" panose="020B0604020202020204" pitchFamily="34" charset="0"/>
                </a:rPr>
                <a:t>项目相关研究现状及发展动态</a:t>
              </a:r>
            </a:p>
          </p:txBody>
        </p:sp>
        <p:cxnSp>
          <p:nvCxnSpPr>
            <p:cNvPr id="72" name="点缀线段"/>
            <p:cNvCxnSpPr/>
            <p:nvPr/>
          </p:nvCxnSpPr>
          <p:spPr>
            <a:xfrm>
              <a:off x="881964" y="3265696"/>
              <a:ext cx="6081280" cy="0"/>
            </a:xfrm>
            <a:prstGeom prst="line">
              <a:avLst/>
            </a:prstGeom>
            <a:grpFill/>
            <a:ln w="12700">
              <a:solidFill>
                <a:schemeClr val="accent6"/>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trips(downRight)">
                                      <p:cBhvr>
                                        <p:cTn id="7" dur="750"/>
                                        <p:tgtEl>
                                          <p:spTgt spid="43"/>
                                        </p:tgtEl>
                                      </p:cBhvr>
                                    </p:animEffect>
                                  </p:childTnLst>
                                </p:cTn>
                              </p:par>
                              <p:par>
                                <p:cTn id="8" presetID="2" presetClass="entr" presetSubtype="8" fill="hold" grpId="0" nodeType="withEffect">
                                  <p:stCondLst>
                                    <p:cond delay="400"/>
                                  </p:stCondLst>
                                  <p:childTnLst>
                                    <p:set>
                                      <p:cBhvr>
                                        <p:cTn id="9" dur="1" fill="hold">
                                          <p:stCondLst>
                                            <p:cond delay="0"/>
                                          </p:stCondLst>
                                        </p:cTn>
                                        <p:tgtEl>
                                          <p:spTgt spid="44"/>
                                        </p:tgtEl>
                                        <p:attrNameLst>
                                          <p:attrName>style.visibility</p:attrName>
                                        </p:attrNameLst>
                                      </p:cBhvr>
                                      <p:to>
                                        <p:strVal val="visible"/>
                                      </p:to>
                                    </p:set>
                                    <p:anim calcmode="lin" valueType="num">
                                      <p:cBhvr additive="base">
                                        <p:cTn id="10" dur="750" fill="hold"/>
                                        <p:tgtEl>
                                          <p:spTgt spid="44"/>
                                        </p:tgtEl>
                                        <p:attrNameLst>
                                          <p:attrName>ppt_x</p:attrName>
                                        </p:attrNameLst>
                                      </p:cBhvr>
                                      <p:tavLst>
                                        <p:tav tm="0">
                                          <p:val>
                                            <p:strVal val="0-#ppt_w/2"/>
                                          </p:val>
                                        </p:tav>
                                        <p:tav tm="100000">
                                          <p:val>
                                            <p:strVal val="#ppt_x"/>
                                          </p:val>
                                        </p:tav>
                                      </p:tavLst>
                                    </p:anim>
                                    <p:anim calcmode="lin" valueType="num">
                                      <p:cBhvr additive="base">
                                        <p:cTn id="11" dur="750" fill="hold"/>
                                        <p:tgtEl>
                                          <p:spTgt spid="44"/>
                                        </p:tgtEl>
                                        <p:attrNameLst>
                                          <p:attrName>ppt_y</p:attrName>
                                        </p:attrNameLst>
                                      </p:cBhvr>
                                      <p:tavLst>
                                        <p:tav tm="0">
                                          <p:val>
                                            <p:strVal val="#ppt_y"/>
                                          </p:val>
                                        </p:tav>
                                        <p:tav tm="100000">
                                          <p:val>
                                            <p:strVal val="#ppt_y"/>
                                          </p:val>
                                        </p:tav>
                                      </p:tavLst>
                                    </p:anim>
                                  </p:childTnLst>
                                </p:cTn>
                              </p:par>
                              <p:par>
                                <p:cTn id="12" presetID="50" presetClass="entr" presetSubtype="0" decel="100000" fill="hold" nodeType="withEffect">
                                  <p:stCondLst>
                                    <p:cond delay="80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strVal val="#ppt_w+.3"/>
                                          </p:val>
                                        </p:tav>
                                        <p:tav tm="100000">
                                          <p:val>
                                            <p:strVal val="#ppt_w"/>
                                          </p:val>
                                        </p:tav>
                                      </p:tavLst>
                                    </p:anim>
                                    <p:anim calcmode="lin" valueType="num">
                                      <p:cBhvr>
                                        <p:cTn id="15" dur="750" fill="hold"/>
                                        <p:tgtEl>
                                          <p:spTgt spid="45"/>
                                        </p:tgtEl>
                                        <p:attrNameLst>
                                          <p:attrName>ppt_h</p:attrName>
                                        </p:attrNameLst>
                                      </p:cBhvr>
                                      <p:tavLst>
                                        <p:tav tm="0">
                                          <p:val>
                                            <p:strVal val="#ppt_h"/>
                                          </p:val>
                                        </p:tav>
                                        <p:tav tm="100000">
                                          <p:val>
                                            <p:strVal val="#ppt_h"/>
                                          </p:val>
                                        </p:tav>
                                      </p:tavLst>
                                    </p:anim>
                                    <p:animEffect transition="in" filter="fade">
                                      <p:cBhvr>
                                        <p:cTn id="16" dur="750"/>
                                        <p:tgtEl>
                                          <p:spTgt spid="45"/>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750"/>
                                        <p:tgtEl>
                                          <p:spTgt spid="49"/>
                                        </p:tgtEl>
                                      </p:cBhvr>
                                    </p:animEffect>
                                  </p:childTnLst>
                                </p:cTn>
                              </p:par>
                              <p:par>
                                <p:cTn id="20" presetID="10" presetClass="entr" presetSubtype="0" fill="hold" nodeType="withEffect">
                                  <p:stCondLst>
                                    <p:cond delay="1600"/>
                                  </p:stCondLst>
                                  <p:childTnLst>
                                    <p:set>
                                      <p:cBhvr>
                                        <p:cTn id="21" dur="1" fill="hold">
                                          <p:stCondLst>
                                            <p:cond delay="0"/>
                                          </p:stCondLst>
                                        </p:cTn>
                                        <p:tgtEl>
                                          <p:spTgt spid="66"/>
                                        </p:tgtEl>
                                        <p:attrNameLst>
                                          <p:attrName>style.visibility</p:attrName>
                                        </p:attrNameLst>
                                      </p:cBhvr>
                                      <p:to>
                                        <p:strVal val="visible"/>
                                      </p:to>
                                    </p:set>
                                    <p:animEffect transition="in" filter="fade">
                                      <p:cBhvr>
                                        <p:cTn id="22" dur="750"/>
                                        <p:tgtEl>
                                          <p:spTgt spid="66"/>
                                        </p:tgtEl>
                                      </p:cBhvr>
                                    </p:animEffect>
                                  </p:childTnLst>
                                </p:cTn>
                              </p:par>
                              <p:par>
                                <p:cTn id="23" presetID="12" presetClass="entr" presetSubtype="8" fill="hold" nodeType="withEffect">
                                  <p:stCondLst>
                                    <p:cond delay="2000"/>
                                  </p:stCondLst>
                                  <p:childTnLst>
                                    <p:set>
                                      <p:cBhvr>
                                        <p:cTn id="24" dur="1" fill="hold">
                                          <p:stCondLst>
                                            <p:cond delay="0"/>
                                          </p:stCondLst>
                                        </p:cTn>
                                        <p:tgtEl>
                                          <p:spTgt spid="69"/>
                                        </p:tgtEl>
                                        <p:attrNameLst>
                                          <p:attrName>style.visibility</p:attrName>
                                        </p:attrNameLst>
                                      </p:cBhvr>
                                      <p:to>
                                        <p:strVal val="visible"/>
                                      </p:to>
                                    </p:set>
                                    <p:anim calcmode="lin" valueType="num">
                                      <p:cBhvr additive="base">
                                        <p:cTn id="25" dur="750"/>
                                        <p:tgtEl>
                                          <p:spTgt spid="69"/>
                                        </p:tgtEl>
                                        <p:attrNameLst>
                                          <p:attrName>ppt_x</p:attrName>
                                        </p:attrNameLst>
                                      </p:cBhvr>
                                      <p:tavLst>
                                        <p:tav tm="0">
                                          <p:val>
                                            <p:strVal val="#ppt_x-#ppt_w*1.125000"/>
                                          </p:val>
                                        </p:tav>
                                        <p:tav tm="100000">
                                          <p:val>
                                            <p:strVal val="#ppt_x"/>
                                          </p:val>
                                        </p:tav>
                                      </p:tavLst>
                                    </p:anim>
                                    <p:animEffect transition="in" filter="wipe(right)">
                                      <p:cBhvr>
                                        <p:cTn id="26" dur="7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海天苑"/>
          <p:cNvPicPr>
            <a:picLocks noChangeAspect="1"/>
          </p:cNvPicPr>
          <p:nvPr/>
        </p:nvPicPr>
        <p:blipFill>
          <a:blip r:embed="rId3"/>
          <a:stretch>
            <a:fillRect/>
          </a:stretch>
        </p:blipFill>
        <p:spPr>
          <a:xfrm>
            <a:off x="279400" y="374014"/>
            <a:ext cx="11179396" cy="6274436"/>
          </a:xfrm>
          <a:prstGeom prst="rect">
            <a:avLst/>
          </a:prstGeom>
        </p:spPr>
      </p:pic>
      <p:sp>
        <p:nvSpPr>
          <p:cNvPr id="44" name="背景色块"/>
          <p:cNvSpPr/>
          <p:nvPr/>
        </p:nvSpPr>
        <p:spPr>
          <a:xfrm>
            <a:off x="279401" y="374015"/>
            <a:ext cx="2924770" cy="623034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目录组合"/>
          <p:cNvGrpSpPr/>
          <p:nvPr/>
        </p:nvGrpSpPr>
        <p:grpSpPr>
          <a:xfrm>
            <a:off x="628407" y="1875035"/>
            <a:ext cx="1669671" cy="2326986"/>
            <a:chOff x="465344" y="1778149"/>
            <a:chExt cx="1848771" cy="2561411"/>
          </a:xfrm>
        </p:grpSpPr>
        <p:sp>
          <p:nvSpPr>
            <p:cNvPr id="46" name="目录英文"/>
            <p:cNvSpPr txBox="1"/>
            <p:nvPr/>
          </p:nvSpPr>
          <p:spPr>
            <a:xfrm>
              <a:off x="626808" y="3910300"/>
              <a:ext cx="1525842" cy="429260"/>
            </a:xfrm>
            <a:prstGeom prst="rect">
              <a:avLst/>
            </a:prstGeom>
            <a:noFill/>
          </p:spPr>
          <p:txBody>
            <a:bodyPr wrap="square" rtlCol="0">
              <a:spAutoFit/>
            </a:bodyPr>
            <a:lstStyle/>
            <a:p>
              <a:pPr algn="dist" defTabSz="457200" fontAlgn="base">
                <a:spcBef>
                  <a:spcPct val="0"/>
                </a:spcBef>
                <a:spcAft>
                  <a:spcPct val="0"/>
                </a:spcAft>
              </a:pPr>
              <a:endParaRPr lang="en-US" altLang="zh-CN" sz="15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7" name="点缀线段"/>
            <p:cNvCxnSpPr/>
            <p:nvPr/>
          </p:nvCxnSpPr>
          <p:spPr>
            <a:xfrm>
              <a:off x="570270" y="3690610"/>
              <a:ext cx="163891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目录"/>
            <p:cNvSpPr txBox="1"/>
            <p:nvPr/>
          </p:nvSpPr>
          <p:spPr>
            <a:xfrm>
              <a:off x="465344" y="1778149"/>
              <a:ext cx="1848771" cy="1783927"/>
            </a:xfrm>
            <a:prstGeom prst="rect">
              <a:avLst/>
            </a:prstGeom>
            <a:noFill/>
          </p:spPr>
          <p:txBody>
            <a:bodyPr wrap="square" rtlCol="0">
              <a:spAutoFit/>
            </a:bodyPr>
            <a:lstStyle/>
            <a:p>
              <a:pPr algn="dist" defTabSz="457200" fontAlgn="base">
                <a:spcBef>
                  <a:spcPct val="0"/>
                </a:spcBef>
                <a:spcAft>
                  <a:spcPct val="0"/>
                </a:spcAft>
              </a:pPr>
              <a:r>
                <a:rPr lang="zh-CN" altLang="en-US" sz="4050" b="1">
                  <a:solidFill>
                    <a:srgbClr val="FFFFFF"/>
                  </a:solidFill>
                  <a:latin typeface="Arial" panose="020B0604020202020204" pitchFamily="34" charset="0"/>
                  <a:ea typeface="微软雅黑" panose="020B0503020204020204" pitchFamily="34" charset="-122"/>
                  <a:sym typeface="Arial" panose="020B0604020202020204" pitchFamily="34" charset="0"/>
                </a:rPr>
                <a:t>立项依据</a:t>
              </a:r>
            </a:p>
          </p:txBody>
        </p:sp>
      </p:grpSp>
      <p:sp>
        <p:nvSpPr>
          <p:cNvPr id="49" name="打底色块"/>
          <p:cNvSpPr/>
          <p:nvPr/>
        </p:nvSpPr>
        <p:spPr>
          <a:xfrm>
            <a:off x="2259331" y="779620"/>
            <a:ext cx="8008709" cy="5232337"/>
          </a:xfrm>
          <a:prstGeom prst="rect">
            <a:avLst/>
          </a:prstGeom>
          <a:solidFill>
            <a:schemeClr val="bg1"/>
          </a:solidFill>
          <a:ln>
            <a:noFill/>
          </a:ln>
          <a:effectLst>
            <a:outerShdw blurRad="190500" dir="54000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7" name="书2"/>
          <p:cNvSpPr>
            <a:spLocks noChangeAspect="1"/>
          </p:cNvSpPr>
          <p:nvPr/>
        </p:nvSpPr>
        <p:spPr bwMode="auto">
          <a:xfrm>
            <a:off x="2944494" y="2684144"/>
            <a:ext cx="664553" cy="600892"/>
          </a:xfrm>
          <a:custGeom>
            <a:avLst/>
            <a:gdLst>
              <a:gd name="T0" fmla="*/ 0 w 783"/>
              <a:gd name="T1" fmla="*/ 251 h 708"/>
              <a:gd name="T2" fmla="*/ 0 w 783"/>
              <a:gd name="T3" fmla="*/ 327 h 708"/>
              <a:gd name="T4" fmla="*/ 0 w 783"/>
              <a:gd name="T5" fmla="*/ 372 h 708"/>
              <a:gd name="T6" fmla="*/ 0 w 783"/>
              <a:gd name="T7" fmla="*/ 449 h 708"/>
              <a:gd name="T8" fmla="*/ 0 w 783"/>
              <a:gd name="T9" fmla="*/ 494 h 708"/>
              <a:gd name="T10" fmla="*/ 0 w 783"/>
              <a:gd name="T11" fmla="*/ 570 h 708"/>
              <a:gd name="T12" fmla="*/ 783 w 783"/>
              <a:gd name="T13" fmla="*/ 458 h 708"/>
              <a:gd name="T14" fmla="*/ 783 w 783"/>
              <a:gd name="T15" fmla="*/ 381 h 708"/>
              <a:gd name="T16" fmla="*/ 783 w 783"/>
              <a:gd name="T17" fmla="*/ 319 h 708"/>
              <a:gd name="T18" fmla="*/ 783 w 783"/>
              <a:gd name="T19" fmla="*/ 242 h 708"/>
              <a:gd name="T20" fmla="*/ 771 w 783"/>
              <a:gd name="T21" fmla="*/ 193 h 708"/>
              <a:gd name="T22" fmla="*/ 38 w 783"/>
              <a:gd name="T23" fmla="*/ 254 h 708"/>
              <a:gd name="T24" fmla="*/ 19 w 783"/>
              <a:gd name="T25" fmla="*/ 327 h 708"/>
              <a:gd name="T26" fmla="*/ 19 w 783"/>
              <a:gd name="T27" fmla="*/ 270 h 708"/>
              <a:gd name="T28" fmla="*/ 30 w 783"/>
              <a:gd name="T29" fmla="*/ 316 h 708"/>
              <a:gd name="T30" fmla="*/ 19 w 783"/>
              <a:gd name="T31" fmla="*/ 327 h 708"/>
              <a:gd name="T32" fmla="*/ 42 w 783"/>
              <a:gd name="T33" fmla="*/ 359 h 708"/>
              <a:gd name="T34" fmla="*/ 19 w 783"/>
              <a:gd name="T35" fmla="*/ 437 h 708"/>
              <a:gd name="T36" fmla="*/ 30 w 783"/>
              <a:gd name="T37" fmla="*/ 400 h 708"/>
              <a:gd name="T38" fmla="*/ 30 w 783"/>
              <a:gd name="T39" fmla="*/ 459 h 708"/>
              <a:gd name="T40" fmla="*/ 38 w 783"/>
              <a:gd name="T41" fmla="*/ 497 h 708"/>
              <a:gd name="T42" fmla="*/ 19 w 783"/>
              <a:gd name="T43" fmla="*/ 570 h 708"/>
              <a:gd name="T44" fmla="*/ 19 w 783"/>
              <a:gd name="T45" fmla="*/ 513 h 708"/>
              <a:gd name="T46" fmla="*/ 30 w 783"/>
              <a:gd name="T47" fmla="*/ 559 h 708"/>
              <a:gd name="T48" fmla="*/ 19 w 783"/>
              <a:gd name="T49" fmla="*/ 570 h 708"/>
              <a:gd name="T50" fmla="*/ 42 w 783"/>
              <a:gd name="T51" fmla="*/ 544 h 708"/>
              <a:gd name="T52" fmla="*/ 74 w 783"/>
              <a:gd name="T53" fmla="*/ 532 h 708"/>
              <a:gd name="T54" fmla="*/ 758 w 783"/>
              <a:gd name="T55" fmla="*/ 391 h 708"/>
              <a:gd name="T56" fmla="*/ 758 w 783"/>
              <a:gd name="T57" fmla="*/ 448 h 708"/>
              <a:gd name="T58" fmla="*/ 734 w 783"/>
              <a:gd name="T59" fmla="*/ 347 h 708"/>
              <a:gd name="T60" fmla="*/ 656 w 783"/>
              <a:gd name="T61" fmla="*/ 393 h 708"/>
              <a:gd name="T62" fmla="*/ 127 w 783"/>
              <a:gd name="T63" fmla="*/ 493 h 708"/>
              <a:gd name="T64" fmla="*/ 48 w 783"/>
              <a:gd name="T65" fmla="*/ 466 h 708"/>
              <a:gd name="T66" fmla="*/ 42 w 783"/>
              <a:gd name="T67" fmla="*/ 423 h 708"/>
              <a:gd name="T68" fmla="*/ 75 w 783"/>
              <a:gd name="T69" fmla="*/ 411 h 708"/>
              <a:gd name="T70" fmla="*/ 145 w 783"/>
              <a:gd name="T71" fmla="*/ 435 h 708"/>
              <a:gd name="T72" fmla="*/ 583 w 783"/>
              <a:gd name="T73" fmla="*/ 372 h 708"/>
              <a:gd name="T74" fmla="*/ 665 w 783"/>
              <a:gd name="T75" fmla="*/ 324 h 708"/>
              <a:gd name="T76" fmla="*/ 758 w 783"/>
              <a:gd name="T77" fmla="*/ 269 h 708"/>
              <a:gd name="T78" fmla="*/ 758 w 783"/>
              <a:gd name="T79" fmla="*/ 326 h 708"/>
              <a:gd name="T80" fmla="*/ 726 w 783"/>
              <a:gd name="T81" fmla="*/ 223 h 708"/>
              <a:gd name="T82" fmla="*/ 723 w 783"/>
              <a:gd name="T83" fmla="*/ 232 h 708"/>
              <a:gd name="T84" fmla="*/ 602 w 783"/>
              <a:gd name="T85" fmla="*/ 302 h 708"/>
              <a:gd name="T86" fmla="*/ 522 w 783"/>
              <a:gd name="T87" fmla="*/ 349 h 708"/>
              <a:gd name="T88" fmla="*/ 207 w 783"/>
              <a:gd name="T89" fmla="*/ 399 h 708"/>
              <a:gd name="T90" fmla="*/ 135 w 783"/>
              <a:gd name="T91" fmla="*/ 374 h 708"/>
              <a:gd name="T92" fmla="*/ 54 w 783"/>
              <a:gd name="T93" fmla="*/ 346 h 708"/>
              <a:gd name="T94" fmla="*/ 42 w 783"/>
              <a:gd name="T95" fmla="*/ 309 h 708"/>
              <a:gd name="T96" fmla="*/ 67 w 783"/>
              <a:gd name="T97" fmla="*/ 287 h 708"/>
              <a:gd name="T98" fmla="*/ 129 w 783"/>
              <a:gd name="T99" fmla="*/ 308 h 708"/>
              <a:gd name="T100" fmla="*/ 249 w 783"/>
              <a:gd name="T101" fmla="*/ 349 h 708"/>
              <a:gd name="T102" fmla="*/ 322 w 783"/>
              <a:gd name="T103" fmla="*/ 374 h 708"/>
              <a:gd name="T104" fmla="*/ 463 w 783"/>
              <a:gd name="T105" fmla="*/ 320 h 708"/>
              <a:gd name="T106" fmla="*/ 534 w 783"/>
              <a:gd name="T107" fmla="*/ 279 h 708"/>
              <a:gd name="T108" fmla="*/ 660 w 783"/>
              <a:gd name="T109" fmla="*/ 205 h 708"/>
              <a:gd name="T110" fmla="*/ 716 w 783"/>
              <a:gd name="T111" fmla="*/ 172 h 708"/>
              <a:gd name="T112" fmla="*/ 758 w 783"/>
              <a:gd name="T113" fmla="*/ 195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708">
                <a:moveTo>
                  <a:pt x="783" y="138"/>
                </a:moveTo>
                <a:lnTo>
                  <a:pt x="783" y="121"/>
                </a:lnTo>
                <a:lnTo>
                  <a:pt x="431" y="0"/>
                </a:lnTo>
                <a:lnTo>
                  <a:pt x="0" y="251"/>
                </a:lnTo>
                <a:lnTo>
                  <a:pt x="0" y="255"/>
                </a:lnTo>
                <a:lnTo>
                  <a:pt x="0" y="264"/>
                </a:lnTo>
                <a:lnTo>
                  <a:pt x="0" y="268"/>
                </a:lnTo>
                <a:lnTo>
                  <a:pt x="0" y="327"/>
                </a:lnTo>
                <a:lnTo>
                  <a:pt x="0" y="340"/>
                </a:lnTo>
                <a:lnTo>
                  <a:pt x="0" y="344"/>
                </a:lnTo>
                <a:lnTo>
                  <a:pt x="30" y="355"/>
                </a:lnTo>
                <a:lnTo>
                  <a:pt x="0" y="372"/>
                </a:lnTo>
                <a:lnTo>
                  <a:pt x="0" y="376"/>
                </a:lnTo>
                <a:lnTo>
                  <a:pt x="0" y="385"/>
                </a:lnTo>
                <a:lnTo>
                  <a:pt x="0" y="389"/>
                </a:lnTo>
                <a:lnTo>
                  <a:pt x="0" y="449"/>
                </a:lnTo>
                <a:lnTo>
                  <a:pt x="0" y="462"/>
                </a:lnTo>
                <a:lnTo>
                  <a:pt x="0" y="466"/>
                </a:lnTo>
                <a:lnTo>
                  <a:pt x="30" y="476"/>
                </a:lnTo>
                <a:lnTo>
                  <a:pt x="0" y="494"/>
                </a:lnTo>
                <a:lnTo>
                  <a:pt x="0" y="498"/>
                </a:lnTo>
                <a:lnTo>
                  <a:pt x="0" y="507"/>
                </a:lnTo>
                <a:lnTo>
                  <a:pt x="0" y="511"/>
                </a:lnTo>
                <a:lnTo>
                  <a:pt x="0" y="570"/>
                </a:lnTo>
                <a:lnTo>
                  <a:pt x="0" y="583"/>
                </a:lnTo>
                <a:lnTo>
                  <a:pt x="0" y="588"/>
                </a:lnTo>
                <a:lnTo>
                  <a:pt x="351" y="708"/>
                </a:lnTo>
                <a:lnTo>
                  <a:pt x="783" y="458"/>
                </a:lnTo>
                <a:lnTo>
                  <a:pt x="783" y="441"/>
                </a:lnTo>
                <a:lnTo>
                  <a:pt x="771" y="436"/>
                </a:lnTo>
                <a:lnTo>
                  <a:pt x="771" y="388"/>
                </a:lnTo>
                <a:lnTo>
                  <a:pt x="783" y="381"/>
                </a:lnTo>
                <a:lnTo>
                  <a:pt x="783" y="364"/>
                </a:lnTo>
                <a:lnTo>
                  <a:pt x="753" y="354"/>
                </a:lnTo>
                <a:lnTo>
                  <a:pt x="783" y="336"/>
                </a:lnTo>
                <a:lnTo>
                  <a:pt x="783" y="319"/>
                </a:lnTo>
                <a:lnTo>
                  <a:pt x="771" y="315"/>
                </a:lnTo>
                <a:lnTo>
                  <a:pt x="771" y="267"/>
                </a:lnTo>
                <a:lnTo>
                  <a:pt x="783" y="260"/>
                </a:lnTo>
                <a:lnTo>
                  <a:pt x="783" y="242"/>
                </a:lnTo>
                <a:lnTo>
                  <a:pt x="753" y="232"/>
                </a:lnTo>
                <a:lnTo>
                  <a:pt x="783" y="215"/>
                </a:lnTo>
                <a:lnTo>
                  <a:pt x="783" y="198"/>
                </a:lnTo>
                <a:lnTo>
                  <a:pt x="771" y="193"/>
                </a:lnTo>
                <a:lnTo>
                  <a:pt x="771" y="145"/>
                </a:lnTo>
                <a:lnTo>
                  <a:pt x="783" y="138"/>
                </a:lnTo>
                <a:close/>
                <a:moveTo>
                  <a:pt x="448" y="16"/>
                </a:moveTo>
                <a:lnTo>
                  <a:pt x="38" y="254"/>
                </a:lnTo>
                <a:lnTo>
                  <a:pt x="22" y="248"/>
                </a:lnTo>
                <a:lnTo>
                  <a:pt x="432" y="10"/>
                </a:lnTo>
                <a:lnTo>
                  <a:pt x="448" y="16"/>
                </a:lnTo>
                <a:close/>
                <a:moveTo>
                  <a:pt x="19" y="327"/>
                </a:moveTo>
                <a:lnTo>
                  <a:pt x="19" y="323"/>
                </a:lnTo>
                <a:lnTo>
                  <a:pt x="19" y="316"/>
                </a:lnTo>
                <a:lnTo>
                  <a:pt x="19" y="274"/>
                </a:lnTo>
                <a:lnTo>
                  <a:pt x="19" y="270"/>
                </a:lnTo>
                <a:lnTo>
                  <a:pt x="30" y="274"/>
                </a:lnTo>
                <a:lnTo>
                  <a:pt x="30" y="278"/>
                </a:lnTo>
                <a:lnTo>
                  <a:pt x="30" y="309"/>
                </a:lnTo>
                <a:lnTo>
                  <a:pt x="30" y="316"/>
                </a:lnTo>
                <a:lnTo>
                  <a:pt x="30" y="331"/>
                </a:lnTo>
                <a:lnTo>
                  <a:pt x="30" y="337"/>
                </a:lnTo>
                <a:lnTo>
                  <a:pt x="19" y="334"/>
                </a:lnTo>
                <a:lnTo>
                  <a:pt x="19" y="327"/>
                </a:lnTo>
                <a:close/>
                <a:moveTo>
                  <a:pt x="57" y="364"/>
                </a:moveTo>
                <a:lnTo>
                  <a:pt x="38" y="375"/>
                </a:lnTo>
                <a:lnTo>
                  <a:pt x="22" y="370"/>
                </a:lnTo>
                <a:lnTo>
                  <a:pt x="42" y="359"/>
                </a:lnTo>
                <a:lnTo>
                  <a:pt x="57" y="364"/>
                </a:lnTo>
                <a:close/>
                <a:moveTo>
                  <a:pt x="19" y="449"/>
                </a:moveTo>
                <a:lnTo>
                  <a:pt x="19" y="444"/>
                </a:lnTo>
                <a:lnTo>
                  <a:pt x="19" y="437"/>
                </a:lnTo>
                <a:lnTo>
                  <a:pt x="19" y="396"/>
                </a:lnTo>
                <a:lnTo>
                  <a:pt x="19" y="392"/>
                </a:lnTo>
                <a:lnTo>
                  <a:pt x="30" y="395"/>
                </a:lnTo>
                <a:lnTo>
                  <a:pt x="30" y="400"/>
                </a:lnTo>
                <a:lnTo>
                  <a:pt x="30" y="431"/>
                </a:lnTo>
                <a:lnTo>
                  <a:pt x="30" y="438"/>
                </a:lnTo>
                <a:lnTo>
                  <a:pt x="30" y="452"/>
                </a:lnTo>
                <a:lnTo>
                  <a:pt x="30" y="459"/>
                </a:lnTo>
                <a:lnTo>
                  <a:pt x="19" y="455"/>
                </a:lnTo>
                <a:lnTo>
                  <a:pt x="19" y="449"/>
                </a:lnTo>
                <a:close/>
                <a:moveTo>
                  <a:pt x="57" y="486"/>
                </a:moveTo>
                <a:lnTo>
                  <a:pt x="38" y="497"/>
                </a:lnTo>
                <a:lnTo>
                  <a:pt x="22" y="491"/>
                </a:lnTo>
                <a:lnTo>
                  <a:pt x="42" y="480"/>
                </a:lnTo>
                <a:lnTo>
                  <a:pt x="57" y="486"/>
                </a:lnTo>
                <a:close/>
                <a:moveTo>
                  <a:pt x="19" y="570"/>
                </a:moveTo>
                <a:lnTo>
                  <a:pt x="19" y="566"/>
                </a:lnTo>
                <a:lnTo>
                  <a:pt x="19" y="559"/>
                </a:lnTo>
                <a:lnTo>
                  <a:pt x="19" y="517"/>
                </a:lnTo>
                <a:lnTo>
                  <a:pt x="19" y="513"/>
                </a:lnTo>
                <a:lnTo>
                  <a:pt x="30" y="517"/>
                </a:lnTo>
                <a:lnTo>
                  <a:pt x="30" y="521"/>
                </a:lnTo>
                <a:lnTo>
                  <a:pt x="30" y="552"/>
                </a:lnTo>
                <a:lnTo>
                  <a:pt x="30" y="559"/>
                </a:lnTo>
                <a:lnTo>
                  <a:pt x="30" y="574"/>
                </a:lnTo>
                <a:lnTo>
                  <a:pt x="30" y="581"/>
                </a:lnTo>
                <a:lnTo>
                  <a:pt x="19" y="577"/>
                </a:lnTo>
                <a:lnTo>
                  <a:pt x="19" y="570"/>
                </a:lnTo>
                <a:close/>
                <a:moveTo>
                  <a:pt x="42" y="585"/>
                </a:moveTo>
                <a:lnTo>
                  <a:pt x="42" y="578"/>
                </a:lnTo>
                <a:lnTo>
                  <a:pt x="42" y="552"/>
                </a:lnTo>
                <a:lnTo>
                  <a:pt x="42" y="544"/>
                </a:lnTo>
                <a:lnTo>
                  <a:pt x="42" y="525"/>
                </a:lnTo>
                <a:lnTo>
                  <a:pt x="42" y="521"/>
                </a:lnTo>
                <a:lnTo>
                  <a:pt x="67" y="529"/>
                </a:lnTo>
                <a:lnTo>
                  <a:pt x="74" y="532"/>
                </a:lnTo>
                <a:lnTo>
                  <a:pt x="351" y="627"/>
                </a:lnTo>
                <a:lnTo>
                  <a:pt x="709" y="419"/>
                </a:lnTo>
                <a:lnTo>
                  <a:pt x="716" y="415"/>
                </a:lnTo>
                <a:lnTo>
                  <a:pt x="758" y="391"/>
                </a:lnTo>
                <a:lnTo>
                  <a:pt x="758" y="395"/>
                </a:lnTo>
                <a:lnTo>
                  <a:pt x="758" y="431"/>
                </a:lnTo>
                <a:lnTo>
                  <a:pt x="758" y="438"/>
                </a:lnTo>
                <a:lnTo>
                  <a:pt x="758" y="448"/>
                </a:lnTo>
                <a:lnTo>
                  <a:pt x="758" y="455"/>
                </a:lnTo>
                <a:lnTo>
                  <a:pt x="351" y="691"/>
                </a:lnTo>
                <a:lnTo>
                  <a:pt x="42" y="585"/>
                </a:lnTo>
                <a:close/>
                <a:moveTo>
                  <a:pt x="734" y="347"/>
                </a:moveTo>
                <a:lnTo>
                  <a:pt x="734" y="347"/>
                </a:lnTo>
                <a:lnTo>
                  <a:pt x="729" y="350"/>
                </a:lnTo>
                <a:lnTo>
                  <a:pt x="723" y="354"/>
                </a:lnTo>
                <a:lnTo>
                  <a:pt x="656" y="393"/>
                </a:lnTo>
                <a:lnTo>
                  <a:pt x="649" y="397"/>
                </a:lnTo>
                <a:lnTo>
                  <a:pt x="351" y="570"/>
                </a:lnTo>
                <a:lnTo>
                  <a:pt x="135" y="495"/>
                </a:lnTo>
                <a:lnTo>
                  <a:pt x="127" y="493"/>
                </a:lnTo>
                <a:lnTo>
                  <a:pt x="76" y="475"/>
                </a:lnTo>
                <a:lnTo>
                  <a:pt x="60" y="469"/>
                </a:lnTo>
                <a:lnTo>
                  <a:pt x="54" y="467"/>
                </a:lnTo>
                <a:lnTo>
                  <a:pt x="48" y="466"/>
                </a:lnTo>
                <a:lnTo>
                  <a:pt x="42" y="463"/>
                </a:lnTo>
                <a:lnTo>
                  <a:pt x="42" y="457"/>
                </a:lnTo>
                <a:lnTo>
                  <a:pt x="42" y="430"/>
                </a:lnTo>
                <a:lnTo>
                  <a:pt x="42" y="423"/>
                </a:lnTo>
                <a:lnTo>
                  <a:pt x="42" y="404"/>
                </a:lnTo>
                <a:lnTo>
                  <a:pt x="42" y="400"/>
                </a:lnTo>
                <a:lnTo>
                  <a:pt x="67" y="408"/>
                </a:lnTo>
                <a:lnTo>
                  <a:pt x="75" y="411"/>
                </a:lnTo>
                <a:lnTo>
                  <a:pt x="117" y="425"/>
                </a:lnTo>
                <a:lnTo>
                  <a:pt x="123" y="427"/>
                </a:lnTo>
                <a:lnTo>
                  <a:pt x="129" y="429"/>
                </a:lnTo>
                <a:lnTo>
                  <a:pt x="145" y="435"/>
                </a:lnTo>
                <a:lnTo>
                  <a:pt x="194" y="452"/>
                </a:lnTo>
                <a:lnTo>
                  <a:pt x="202" y="454"/>
                </a:lnTo>
                <a:lnTo>
                  <a:pt x="352" y="506"/>
                </a:lnTo>
                <a:lnTo>
                  <a:pt x="583" y="372"/>
                </a:lnTo>
                <a:lnTo>
                  <a:pt x="589" y="367"/>
                </a:lnTo>
                <a:lnTo>
                  <a:pt x="654" y="330"/>
                </a:lnTo>
                <a:lnTo>
                  <a:pt x="660" y="327"/>
                </a:lnTo>
                <a:lnTo>
                  <a:pt x="665" y="324"/>
                </a:lnTo>
                <a:lnTo>
                  <a:pt x="665" y="324"/>
                </a:lnTo>
                <a:lnTo>
                  <a:pt x="709" y="298"/>
                </a:lnTo>
                <a:lnTo>
                  <a:pt x="716" y="294"/>
                </a:lnTo>
                <a:lnTo>
                  <a:pt x="758" y="269"/>
                </a:lnTo>
                <a:lnTo>
                  <a:pt x="758" y="274"/>
                </a:lnTo>
                <a:lnTo>
                  <a:pt x="758" y="310"/>
                </a:lnTo>
                <a:lnTo>
                  <a:pt x="758" y="317"/>
                </a:lnTo>
                <a:lnTo>
                  <a:pt x="758" y="326"/>
                </a:lnTo>
                <a:lnTo>
                  <a:pt x="758" y="333"/>
                </a:lnTo>
                <a:lnTo>
                  <a:pt x="734" y="347"/>
                </a:lnTo>
                <a:close/>
                <a:moveTo>
                  <a:pt x="734" y="226"/>
                </a:moveTo>
                <a:lnTo>
                  <a:pt x="726" y="223"/>
                </a:lnTo>
                <a:lnTo>
                  <a:pt x="726" y="223"/>
                </a:lnTo>
                <a:lnTo>
                  <a:pt x="734" y="226"/>
                </a:lnTo>
                <a:lnTo>
                  <a:pt x="729" y="229"/>
                </a:lnTo>
                <a:lnTo>
                  <a:pt x="723" y="232"/>
                </a:lnTo>
                <a:lnTo>
                  <a:pt x="656" y="271"/>
                </a:lnTo>
                <a:lnTo>
                  <a:pt x="649" y="275"/>
                </a:lnTo>
                <a:lnTo>
                  <a:pt x="603" y="302"/>
                </a:lnTo>
                <a:lnTo>
                  <a:pt x="602" y="302"/>
                </a:lnTo>
                <a:lnTo>
                  <a:pt x="597" y="305"/>
                </a:lnTo>
                <a:lnTo>
                  <a:pt x="592" y="308"/>
                </a:lnTo>
                <a:lnTo>
                  <a:pt x="529" y="345"/>
                </a:lnTo>
                <a:lnTo>
                  <a:pt x="522" y="349"/>
                </a:lnTo>
                <a:lnTo>
                  <a:pt x="351" y="448"/>
                </a:lnTo>
                <a:lnTo>
                  <a:pt x="263" y="418"/>
                </a:lnTo>
                <a:lnTo>
                  <a:pt x="255" y="415"/>
                </a:lnTo>
                <a:lnTo>
                  <a:pt x="207" y="399"/>
                </a:lnTo>
                <a:lnTo>
                  <a:pt x="192" y="393"/>
                </a:lnTo>
                <a:lnTo>
                  <a:pt x="186" y="391"/>
                </a:lnTo>
                <a:lnTo>
                  <a:pt x="180" y="389"/>
                </a:lnTo>
                <a:lnTo>
                  <a:pt x="135" y="374"/>
                </a:lnTo>
                <a:lnTo>
                  <a:pt x="127" y="371"/>
                </a:lnTo>
                <a:lnTo>
                  <a:pt x="76" y="353"/>
                </a:lnTo>
                <a:lnTo>
                  <a:pt x="60" y="348"/>
                </a:lnTo>
                <a:lnTo>
                  <a:pt x="54" y="346"/>
                </a:lnTo>
                <a:lnTo>
                  <a:pt x="48" y="344"/>
                </a:lnTo>
                <a:lnTo>
                  <a:pt x="42" y="342"/>
                </a:lnTo>
                <a:lnTo>
                  <a:pt x="42" y="335"/>
                </a:lnTo>
                <a:lnTo>
                  <a:pt x="42" y="309"/>
                </a:lnTo>
                <a:lnTo>
                  <a:pt x="42" y="302"/>
                </a:lnTo>
                <a:lnTo>
                  <a:pt x="42" y="283"/>
                </a:lnTo>
                <a:lnTo>
                  <a:pt x="42" y="278"/>
                </a:lnTo>
                <a:lnTo>
                  <a:pt x="67" y="287"/>
                </a:lnTo>
                <a:lnTo>
                  <a:pt x="74" y="289"/>
                </a:lnTo>
                <a:lnTo>
                  <a:pt x="117" y="304"/>
                </a:lnTo>
                <a:lnTo>
                  <a:pt x="123" y="306"/>
                </a:lnTo>
                <a:lnTo>
                  <a:pt x="129" y="308"/>
                </a:lnTo>
                <a:lnTo>
                  <a:pt x="145" y="313"/>
                </a:lnTo>
                <a:lnTo>
                  <a:pt x="194" y="330"/>
                </a:lnTo>
                <a:lnTo>
                  <a:pt x="202" y="333"/>
                </a:lnTo>
                <a:lnTo>
                  <a:pt x="249" y="349"/>
                </a:lnTo>
                <a:lnTo>
                  <a:pt x="255" y="351"/>
                </a:lnTo>
                <a:lnTo>
                  <a:pt x="261" y="353"/>
                </a:lnTo>
                <a:lnTo>
                  <a:pt x="276" y="359"/>
                </a:lnTo>
                <a:lnTo>
                  <a:pt x="322" y="374"/>
                </a:lnTo>
                <a:lnTo>
                  <a:pt x="329" y="377"/>
                </a:lnTo>
                <a:lnTo>
                  <a:pt x="351" y="384"/>
                </a:lnTo>
                <a:lnTo>
                  <a:pt x="456" y="324"/>
                </a:lnTo>
                <a:lnTo>
                  <a:pt x="463" y="320"/>
                </a:lnTo>
                <a:lnTo>
                  <a:pt x="523" y="285"/>
                </a:lnTo>
                <a:lnTo>
                  <a:pt x="528" y="282"/>
                </a:lnTo>
                <a:lnTo>
                  <a:pt x="533" y="279"/>
                </a:lnTo>
                <a:lnTo>
                  <a:pt x="534" y="279"/>
                </a:lnTo>
                <a:lnTo>
                  <a:pt x="583" y="250"/>
                </a:lnTo>
                <a:lnTo>
                  <a:pt x="589" y="246"/>
                </a:lnTo>
                <a:lnTo>
                  <a:pt x="654" y="208"/>
                </a:lnTo>
                <a:lnTo>
                  <a:pt x="660" y="205"/>
                </a:lnTo>
                <a:lnTo>
                  <a:pt x="665" y="202"/>
                </a:lnTo>
                <a:lnTo>
                  <a:pt x="665" y="202"/>
                </a:lnTo>
                <a:lnTo>
                  <a:pt x="709" y="177"/>
                </a:lnTo>
                <a:lnTo>
                  <a:pt x="716" y="172"/>
                </a:lnTo>
                <a:lnTo>
                  <a:pt x="758" y="148"/>
                </a:lnTo>
                <a:lnTo>
                  <a:pt x="758" y="152"/>
                </a:lnTo>
                <a:lnTo>
                  <a:pt x="758" y="189"/>
                </a:lnTo>
                <a:lnTo>
                  <a:pt x="758" y="195"/>
                </a:lnTo>
                <a:lnTo>
                  <a:pt x="758" y="205"/>
                </a:lnTo>
                <a:lnTo>
                  <a:pt x="758" y="212"/>
                </a:lnTo>
                <a:lnTo>
                  <a:pt x="734" y="226"/>
                </a:lnTo>
                <a:close/>
              </a:path>
            </a:pathLst>
          </a:custGeom>
          <a:solidFill>
            <a:schemeClr val="accent6"/>
          </a:solidFill>
          <a:ln>
            <a:noFill/>
          </a:ln>
        </p:spPr>
        <p:txBody>
          <a:bodyPr/>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3" name="组合"/>
          <p:cNvGrpSpPr/>
          <p:nvPr/>
        </p:nvGrpSpPr>
        <p:grpSpPr>
          <a:xfrm>
            <a:off x="3627680" y="1067947"/>
            <a:ext cx="5578561" cy="3828761"/>
            <a:chOff x="786291" y="1039674"/>
            <a:chExt cx="6176953" cy="4214476"/>
          </a:xfrm>
        </p:grpSpPr>
        <p:sp>
          <p:nvSpPr>
            <p:cNvPr id="74" name="学科群"/>
            <p:cNvSpPr txBox="1"/>
            <p:nvPr/>
          </p:nvSpPr>
          <p:spPr>
            <a:xfrm>
              <a:off x="881964" y="1590145"/>
              <a:ext cx="6081280" cy="3664005"/>
            </a:xfrm>
            <a:prstGeom prst="rect">
              <a:avLst/>
            </a:prstGeom>
            <a:noFill/>
          </p:spPr>
          <p:txBody>
            <a:bodyPr wrap="square" rtlCol="0">
              <a:spAutoFit/>
              <a:scene3d>
                <a:camera prst="orthographicFront"/>
                <a:lightRig rig="threePt" dir="t"/>
              </a:scene3d>
              <a:sp3d contourW="12700"/>
            </a:bodyPr>
            <a:lstStyle/>
            <a:p>
              <a:pPr defTabSz="457200" fontAlgn="base">
                <a:lnSpc>
                  <a:spcPct val="130000"/>
                </a:lnSpc>
                <a:spcBef>
                  <a:spcPct val="0"/>
                </a:spcBef>
                <a:spcAft>
                  <a:spcPct val="0"/>
                </a:spcAft>
              </a:pPr>
              <a:r>
                <a:rPr lang="en-US" sz="120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a:solidFill>
                    <a:srgbClr val="000000"/>
                  </a:solidFill>
                  <a:latin typeface="Arial" panose="020B0604020202020204" pitchFamily="34" charset="0"/>
                  <a:ea typeface="微软雅黑" panose="020B0503020204020204" pitchFamily="34" charset="-122"/>
                  <a:sym typeface="Arial" panose="020B0604020202020204" pitchFamily="34" charset="0"/>
                </a:rPr>
                <a:t>提高软件安全性：可以帮助开发人员及时发现潜在漏洞，从而提高软件系统的安全性，减少系统受到的攻击和数据泄露风险。</a:t>
              </a:r>
            </a:p>
            <a:p>
              <a:pPr defTabSz="457200" fontAlgn="base">
                <a:lnSpc>
                  <a:spcPct val="130000"/>
                </a:lnSpc>
                <a:spcBef>
                  <a:spcPct val="0"/>
                </a:spcBef>
                <a:spcAft>
                  <a:spcPct val="0"/>
                </a:spcAft>
              </a:pPr>
              <a:r>
                <a:rPr lang="en-US">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a:solidFill>
                    <a:srgbClr val="000000"/>
                  </a:solidFill>
                  <a:latin typeface="Arial" panose="020B0604020202020204" pitchFamily="34" charset="0"/>
                  <a:ea typeface="微软雅黑" panose="020B0503020204020204" pitchFamily="34" charset="-122"/>
                  <a:sym typeface="Arial" panose="020B0604020202020204" pitchFamily="34" charset="0"/>
                </a:rPr>
                <a:t>降低维护成本：可以提高检测效率，减少人工干预，从而降低维护成本并提高软件系统的稳定性。</a:t>
              </a:r>
            </a:p>
            <a:p>
              <a:pPr defTabSz="457200" fontAlgn="base">
                <a:lnSpc>
                  <a:spcPct val="130000"/>
                </a:lnSpc>
                <a:spcBef>
                  <a:spcPct val="0"/>
                </a:spcBef>
                <a:spcAft>
                  <a:spcPct val="0"/>
                </a:spcAft>
              </a:pPr>
              <a:r>
                <a:rPr lang="en-US">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a:solidFill>
                    <a:srgbClr val="000000"/>
                  </a:solidFill>
                  <a:latin typeface="Arial" panose="020B0604020202020204" pitchFamily="34" charset="0"/>
                  <a:ea typeface="微软雅黑" panose="020B0503020204020204" pitchFamily="34" charset="-122"/>
                  <a:sym typeface="Arial" panose="020B0604020202020204" pitchFamily="34" charset="0"/>
                </a:rPr>
                <a:t>推动技术创新：可以为软件安全领域带来新的突破，推动整个行业的发展。</a:t>
              </a:r>
            </a:p>
            <a:p>
              <a:pPr defTabSz="457200" fontAlgn="base">
                <a:lnSpc>
                  <a:spcPct val="130000"/>
                </a:lnSpc>
                <a:spcBef>
                  <a:spcPct val="0"/>
                </a:spcBef>
                <a:spcAft>
                  <a:spcPct val="0"/>
                </a:spcAft>
              </a:pPr>
              <a:r>
                <a:rPr lang="en-US">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a:solidFill>
                    <a:srgbClr val="000000"/>
                  </a:solidFill>
                  <a:latin typeface="Arial" panose="020B0604020202020204" pitchFamily="34" charset="0"/>
                  <a:ea typeface="微软雅黑" panose="020B0503020204020204" pitchFamily="34" charset="-122"/>
                  <a:sym typeface="Arial" panose="020B0604020202020204" pitchFamily="34" charset="0"/>
                </a:rPr>
                <a:t>保护用户隐私和数据安全：可以有效保护用户隐私和数据安全，提升用户体验和信任度。</a:t>
              </a:r>
            </a:p>
          </p:txBody>
        </p:sp>
        <p:sp>
          <p:nvSpPr>
            <p:cNvPr id="75" name="学科特色鲜明"/>
            <p:cNvSpPr txBox="1"/>
            <p:nvPr/>
          </p:nvSpPr>
          <p:spPr>
            <a:xfrm>
              <a:off x="881963" y="1039674"/>
              <a:ext cx="4026747" cy="429260"/>
            </a:xfrm>
            <a:prstGeom prst="rect">
              <a:avLst/>
            </a:prstGeom>
            <a:solidFill>
              <a:schemeClr val="bg1"/>
            </a:solidFill>
          </p:spPr>
          <p:txBody>
            <a:bodyPr wrap="square" rtlCol="0">
              <a:spAutoFit/>
              <a:scene3d>
                <a:camera prst="orthographicFront"/>
                <a:lightRig rig="threePt" dir="t"/>
              </a:scene3d>
              <a:sp3d contourW="12700"/>
            </a:bodyPr>
            <a:lstStyle/>
            <a:p>
              <a:pPr defTabSz="457200" fontAlgn="base">
                <a:spcBef>
                  <a:spcPct val="0"/>
                </a:spcBef>
                <a:spcAft>
                  <a:spcPct val="0"/>
                </a:spcAft>
              </a:pPr>
              <a:r>
                <a:rPr lang="zh-CN" altLang="en-US" sz="1500" b="1">
                  <a:solidFill>
                    <a:srgbClr val="2D2D89"/>
                  </a:solidFill>
                  <a:latin typeface="Arial" panose="020B0604020202020204" pitchFamily="34" charset="0"/>
                  <a:ea typeface="微软雅黑" panose="020B0503020204020204" pitchFamily="34" charset="-122"/>
                  <a:sym typeface="Arial" panose="020B0604020202020204" pitchFamily="34" charset="0"/>
                </a:rPr>
                <a:t>项目实施的目的、意义</a:t>
              </a:r>
            </a:p>
          </p:txBody>
        </p:sp>
        <p:cxnSp>
          <p:nvCxnSpPr>
            <p:cNvPr id="76" name="点缀线段"/>
            <p:cNvCxnSpPr/>
            <p:nvPr/>
          </p:nvCxnSpPr>
          <p:spPr>
            <a:xfrm>
              <a:off x="786291" y="1590143"/>
              <a:ext cx="608128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trips(downRight)">
                                      <p:cBhvr>
                                        <p:cTn id="7" dur="750"/>
                                        <p:tgtEl>
                                          <p:spTgt spid="43"/>
                                        </p:tgtEl>
                                      </p:cBhvr>
                                    </p:animEffect>
                                  </p:childTnLst>
                                </p:cTn>
                              </p:par>
                              <p:par>
                                <p:cTn id="8" presetID="2" presetClass="entr" presetSubtype="8" fill="hold" grpId="0" nodeType="withEffect">
                                  <p:stCondLst>
                                    <p:cond delay="400"/>
                                  </p:stCondLst>
                                  <p:childTnLst>
                                    <p:set>
                                      <p:cBhvr>
                                        <p:cTn id="9" dur="1" fill="hold">
                                          <p:stCondLst>
                                            <p:cond delay="0"/>
                                          </p:stCondLst>
                                        </p:cTn>
                                        <p:tgtEl>
                                          <p:spTgt spid="44"/>
                                        </p:tgtEl>
                                        <p:attrNameLst>
                                          <p:attrName>style.visibility</p:attrName>
                                        </p:attrNameLst>
                                      </p:cBhvr>
                                      <p:to>
                                        <p:strVal val="visible"/>
                                      </p:to>
                                    </p:set>
                                    <p:anim calcmode="lin" valueType="num">
                                      <p:cBhvr additive="base">
                                        <p:cTn id="10" dur="750" fill="hold"/>
                                        <p:tgtEl>
                                          <p:spTgt spid="44"/>
                                        </p:tgtEl>
                                        <p:attrNameLst>
                                          <p:attrName>ppt_x</p:attrName>
                                        </p:attrNameLst>
                                      </p:cBhvr>
                                      <p:tavLst>
                                        <p:tav tm="0">
                                          <p:val>
                                            <p:strVal val="0-#ppt_w/2"/>
                                          </p:val>
                                        </p:tav>
                                        <p:tav tm="100000">
                                          <p:val>
                                            <p:strVal val="#ppt_x"/>
                                          </p:val>
                                        </p:tav>
                                      </p:tavLst>
                                    </p:anim>
                                    <p:anim calcmode="lin" valueType="num">
                                      <p:cBhvr additive="base">
                                        <p:cTn id="11" dur="750" fill="hold"/>
                                        <p:tgtEl>
                                          <p:spTgt spid="44"/>
                                        </p:tgtEl>
                                        <p:attrNameLst>
                                          <p:attrName>ppt_y</p:attrName>
                                        </p:attrNameLst>
                                      </p:cBhvr>
                                      <p:tavLst>
                                        <p:tav tm="0">
                                          <p:val>
                                            <p:strVal val="#ppt_y"/>
                                          </p:val>
                                        </p:tav>
                                        <p:tav tm="100000">
                                          <p:val>
                                            <p:strVal val="#ppt_y"/>
                                          </p:val>
                                        </p:tav>
                                      </p:tavLst>
                                    </p:anim>
                                  </p:childTnLst>
                                </p:cTn>
                              </p:par>
                              <p:par>
                                <p:cTn id="12" presetID="50" presetClass="entr" presetSubtype="0" decel="100000" fill="hold" nodeType="withEffect">
                                  <p:stCondLst>
                                    <p:cond delay="80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strVal val="#ppt_w+.3"/>
                                          </p:val>
                                        </p:tav>
                                        <p:tav tm="100000">
                                          <p:val>
                                            <p:strVal val="#ppt_w"/>
                                          </p:val>
                                        </p:tav>
                                      </p:tavLst>
                                    </p:anim>
                                    <p:anim calcmode="lin" valueType="num">
                                      <p:cBhvr>
                                        <p:cTn id="15" dur="750" fill="hold"/>
                                        <p:tgtEl>
                                          <p:spTgt spid="45"/>
                                        </p:tgtEl>
                                        <p:attrNameLst>
                                          <p:attrName>ppt_h</p:attrName>
                                        </p:attrNameLst>
                                      </p:cBhvr>
                                      <p:tavLst>
                                        <p:tav tm="0">
                                          <p:val>
                                            <p:strVal val="#ppt_h"/>
                                          </p:val>
                                        </p:tav>
                                        <p:tav tm="100000">
                                          <p:val>
                                            <p:strVal val="#ppt_h"/>
                                          </p:val>
                                        </p:tav>
                                      </p:tavLst>
                                    </p:anim>
                                    <p:animEffect transition="in" filter="fade">
                                      <p:cBhvr>
                                        <p:cTn id="16" dur="750"/>
                                        <p:tgtEl>
                                          <p:spTgt spid="45"/>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750"/>
                                        <p:tgtEl>
                                          <p:spTgt spid="49"/>
                                        </p:tgtEl>
                                      </p:cBhvr>
                                    </p:animEffect>
                                  </p:childTnLst>
                                </p:cTn>
                              </p:par>
                              <p:par>
                                <p:cTn id="20" presetID="10" presetClass="entr" presetSubtype="0" fill="hold" grpId="0" nodeType="withEffect">
                                  <p:stCondLst>
                                    <p:cond delay="240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750"/>
                                        <p:tgtEl>
                                          <p:spTgt spid="67"/>
                                        </p:tgtEl>
                                      </p:cBhvr>
                                    </p:animEffect>
                                  </p:childTnLst>
                                </p:cTn>
                              </p:par>
                              <p:par>
                                <p:cTn id="23" presetID="12" presetClass="entr" presetSubtype="8" fill="hold" nodeType="withEffect">
                                  <p:stCondLst>
                                    <p:cond delay="2800"/>
                                  </p:stCondLst>
                                  <p:childTnLst>
                                    <p:set>
                                      <p:cBhvr>
                                        <p:cTn id="24" dur="1" fill="hold">
                                          <p:stCondLst>
                                            <p:cond delay="0"/>
                                          </p:stCondLst>
                                        </p:cTn>
                                        <p:tgtEl>
                                          <p:spTgt spid="73"/>
                                        </p:tgtEl>
                                        <p:attrNameLst>
                                          <p:attrName>style.visibility</p:attrName>
                                        </p:attrNameLst>
                                      </p:cBhvr>
                                      <p:to>
                                        <p:strVal val="visible"/>
                                      </p:to>
                                    </p:set>
                                    <p:anim calcmode="lin" valueType="num">
                                      <p:cBhvr additive="base">
                                        <p:cTn id="25" dur="750"/>
                                        <p:tgtEl>
                                          <p:spTgt spid="73"/>
                                        </p:tgtEl>
                                        <p:attrNameLst>
                                          <p:attrName>ppt_x</p:attrName>
                                        </p:attrNameLst>
                                      </p:cBhvr>
                                      <p:tavLst>
                                        <p:tav tm="0">
                                          <p:val>
                                            <p:strVal val="#ppt_x-#ppt_w*1.125000"/>
                                          </p:val>
                                        </p:tav>
                                        <p:tav tm="100000">
                                          <p:val>
                                            <p:strVal val="#ppt_x"/>
                                          </p:val>
                                        </p:tav>
                                      </p:tavLst>
                                    </p:anim>
                                    <p:animEffect transition="in" filter="wipe(right)">
                                      <p:cBhvr>
                                        <p:cTn id="26" dur="7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9" grpId="0" bldLvl="0" animBg="1"/>
      <p:bldP spid="6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rcRect l="29012" r="29012"/>
          <a:stretch>
            <a:fillRect/>
          </a:stretch>
        </p:blipFill>
        <p:spPr>
          <a:xfrm>
            <a:off x="7607935" y="548641"/>
            <a:ext cx="3041650" cy="4826635"/>
          </a:xfrm>
          <a:prstGeom prst="rect">
            <a:avLst/>
          </a:prstGeom>
        </p:spPr>
      </p:pic>
      <p:grpSp>
        <p:nvGrpSpPr>
          <p:cNvPr id="14" name="竖线组合"/>
          <p:cNvGrpSpPr/>
          <p:nvPr/>
        </p:nvGrpSpPr>
        <p:grpSpPr>
          <a:xfrm>
            <a:off x="8498682" y="851298"/>
            <a:ext cx="1079897" cy="5151835"/>
            <a:chOff x="9299575" y="-7938"/>
            <a:chExt cx="1439863" cy="6869113"/>
          </a:xfrm>
        </p:grpSpPr>
        <p:sp>
          <p:nvSpPr>
            <p:cNvPr id="15" name="Line 20"/>
            <p:cNvSpPr>
              <a:spLocks noChangeShapeType="1"/>
            </p:cNvSpPr>
            <p:nvPr/>
          </p:nvSpPr>
          <p:spPr bwMode="auto">
            <a:xfrm>
              <a:off x="9299575" y="-7938"/>
              <a:ext cx="0" cy="6869113"/>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Line 21"/>
            <p:cNvSpPr>
              <a:spLocks noChangeShapeType="1"/>
            </p:cNvSpPr>
            <p:nvPr/>
          </p:nvSpPr>
          <p:spPr bwMode="auto">
            <a:xfrm>
              <a:off x="10739438" y="-7938"/>
              <a:ext cx="0" cy="6869113"/>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7" name="横线组合"/>
          <p:cNvGrpSpPr/>
          <p:nvPr/>
        </p:nvGrpSpPr>
        <p:grpSpPr>
          <a:xfrm>
            <a:off x="7412832" y="1883569"/>
            <a:ext cx="3251597" cy="3086100"/>
            <a:chOff x="7851775" y="1368425"/>
            <a:chExt cx="4335463" cy="4114800"/>
          </a:xfrm>
        </p:grpSpPr>
        <p:sp>
          <p:nvSpPr>
            <p:cNvPr id="18" name="Line 22"/>
            <p:cNvSpPr>
              <a:spLocks noChangeShapeType="1"/>
            </p:cNvSpPr>
            <p:nvPr/>
          </p:nvSpPr>
          <p:spPr bwMode="auto">
            <a:xfrm>
              <a:off x="7851775" y="1368425"/>
              <a:ext cx="433546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Line 23"/>
            <p:cNvSpPr>
              <a:spLocks noChangeShapeType="1"/>
            </p:cNvSpPr>
            <p:nvPr/>
          </p:nvSpPr>
          <p:spPr bwMode="auto">
            <a:xfrm>
              <a:off x="7851775" y="2740025"/>
              <a:ext cx="433546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Line 24"/>
            <p:cNvSpPr>
              <a:spLocks noChangeShapeType="1"/>
            </p:cNvSpPr>
            <p:nvPr/>
          </p:nvSpPr>
          <p:spPr bwMode="auto">
            <a:xfrm>
              <a:off x="7851775" y="4111625"/>
              <a:ext cx="433546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Line 25"/>
            <p:cNvSpPr>
              <a:spLocks noChangeShapeType="1"/>
            </p:cNvSpPr>
            <p:nvPr/>
          </p:nvSpPr>
          <p:spPr bwMode="auto">
            <a:xfrm>
              <a:off x="7851775" y="5483225"/>
              <a:ext cx="4335463" cy="0"/>
            </a:xfrm>
            <a:prstGeom prst="line">
              <a:avLst/>
            </a:prstGeom>
            <a:noFill/>
            <a:ln w="12700" cap="flat">
              <a:solidFill>
                <a:srgbClr val="FFFFFF"/>
              </a:solidFill>
              <a:prstDash val="solid"/>
              <a:rou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2" name="校徽组合"/>
          <p:cNvGrpSpPr/>
          <p:nvPr/>
        </p:nvGrpSpPr>
        <p:grpSpPr>
          <a:xfrm>
            <a:off x="8508053" y="3945731"/>
            <a:ext cx="1079897" cy="1028700"/>
            <a:chOff x="9299575" y="2740025"/>
            <a:chExt cx="1439863" cy="1371600"/>
          </a:xfrm>
        </p:grpSpPr>
        <p:sp>
          <p:nvSpPr>
            <p:cNvPr id="23" name="打底色块"/>
            <p:cNvSpPr>
              <a:spLocks noChangeArrowheads="1"/>
            </p:cNvSpPr>
            <p:nvPr/>
          </p:nvSpPr>
          <p:spPr bwMode="auto">
            <a:xfrm>
              <a:off x="9299575" y="2740025"/>
              <a:ext cx="1439863" cy="1371600"/>
            </a:xfrm>
            <a:prstGeom prst="rect">
              <a:avLst/>
            </a:prstGeom>
            <a:solidFill>
              <a:schemeClr val="accent1"/>
            </a:solidFill>
            <a:ln>
              <a:solidFill>
                <a:schemeClr val="bg1"/>
              </a:solidFill>
            </a:ln>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4" name="校徽"/>
            <p:cNvPicPr>
              <a:picLocks noChangeAspect="1"/>
            </p:cNvPicPr>
            <p:nvPr/>
          </p:nvPicPr>
          <p:blipFill>
            <a:blip r:embed="rId5" cstate="screen"/>
            <a:stretch>
              <a:fillRect/>
            </a:stretch>
          </p:blipFill>
          <p:spPr>
            <a:xfrm>
              <a:off x="9537699" y="2944759"/>
              <a:ext cx="963614" cy="962132"/>
            </a:xfrm>
            <a:prstGeom prst="rect">
              <a:avLst/>
            </a:prstGeom>
          </p:spPr>
        </p:pic>
      </p:grpSp>
      <p:sp>
        <p:nvSpPr>
          <p:cNvPr id="25" name="遮罩色块37%"/>
          <p:cNvSpPr>
            <a:spLocks noChangeArrowheads="1"/>
          </p:cNvSpPr>
          <p:nvPr/>
        </p:nvSpPr>
        <p:spPr bwMode="auto">
          <a:xfrm>
            <a:off x="9588104" y="2914650"/>
            <a:ext cx="1079897" cy="1028700"/>
          </a:xfrm>
          <a:prstGeom prst="rect">
            <a:avLst/>
          </a:prstGeom>
          <a:solidFill>
            <a:schemeClr val="bg1">
              <a:alpha val="63000"/>
            </a:schemeClr>
          </a:solidFill>
          <a:ln>
            <a:noFill/>
          </a:ln>
        </p:spPr>
        <p:txBody>
          <a:bodyPr vert="horz" wrap="square" lIns="68580" tIns="34290" rIns="68580" bIns="34290" numCol="1" anchor="t" anchorCtr="0" compatLnSpc="1"/>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色块"/>
          <p:cNvSpPr/>
          <p:nvPr/>
        </p:nvSpPr>
        <p:spPr>
          <a:xfrm>
            <a:off x="1775461" y="1487805"/>
            <a:ext cx="5563235" cy="4701540"/>
          </a:xfrm>
          <a:prstGeom prst="rect">
            <a:avLst/>
          </a:prstGeom>
          <a:solidFill>
            <a:schemeClr val="accent6"/>
          </a:solidFill>
          <a:ln>
            <a:solidFill>
              <a:schemeClr val="accent1"/>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rPr>
              <a:t>还有</a:t>
            </a:r>
          </a:p>
        </p:txBody>
      </p:sp>
      <p:grpSp>
        <p:nvGrpSpPr>
          <p:cNvPr id="9" name="组合 8"/>
          <p:cNvGrpSpPr>
            <a:grpSpLocks noChangeAspect="1"/>
          </p:cNvGrpSpPr>
          <p:nvPr/>
        </p:nvGrpSpPr>
        <p:grpSpPr>
          <a:xfrm>
            <a:off x="2032271" y="2206695"/>
            <a:ext cx="459000" cy="459000"/>
            <a:chOff x="1562097" y="1458161"/>
            <a:chExt cx="527802" cy="527802"/>
          </a:xfrm>
        </p:grpSpPr>
        <p:sp>
          <p:nvSpPr>
            <p:cNvPr id="6" name="矩形 5"/>
            <p:cNvSpPr/>
            <p:nvPr/>
          </p:nvSpPr>
          <p:spPr>
            <a:xfrm>
              <a:off x="1562097" y="1458161"/>
              <a:ext cx="527802" cy="527802"/>
            </a:xfrm>
            <a:prstGeom prst="rect">
              <a:avLst/>
            </a:prstGeom>
            <a:solidFill>
              <a:schemeClr val="bg1"/>
            </a:solidFill>
            <a:ln>
              <a:solidFill>
                <a:schemeClr val="accent6"/>
              </a:solid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人"/>
            <p:cNvSpPr>
              <a:spLocks noChangeAspect="1"/>
            </p:cNvSpPr>
            <p:nvPr/>
          </p:nvSpPr>
          <p:spPr bwMode="auto">
            <a:xfrm>
              <a:off x="1651421" y="1561984"/>
              <a:ext cx="349154" cy="32015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191" h="558596">
                  <a:moveTo>
                    <a:pt x="471165" y="329425"/>
                  </a:moveTo>
                  <a:lnTo>
                    <a:pt x="443060" y="378169"/>
                  </a:lnTo>
                  <a:lnTo>
                    <a:pt x="387892" y="389810"/>
                  </a:lnTo>
                  <a:lnTo>
                    <a:pt x="425677" y="431590"/>
                  </a:lnTo>
                  <a:lnTo>
                    <a:pt x="419640" y="487506"/>
                  </a:lnTo>
                  <a:lnTo>
                    <a:pt x="471165" y="464537"/>
                  </a:lnTo>
                  <a:lnTo>
                    <a:pt x="522587" y="487506"/>
                  </a:lnTo>
                  <a:lnTo>
                    <a:pt x="516653" y="431590"/>
                  </a:lnTo>
                  <a:lnTo>
                    <a:pt x="554439" y="389810"/>
                  </a:lnTo>
                  <a:lnTo>
                    <a:pt x="499270" y="378169"/>
                  </a:lnTo>
                  <a:close/>
                  <a:moveTo>
                    <a:pt x="471165" y="282967"/>
                  </a:moveTo>
                  <a:cubicBezTo>
                    <a:pt x="547256" y="282967"/>
                    <a:pt x="609191" y="344807"/>
                    <a:pt x="609191" y="420781"/>
                  </a:cubicBezTo>
                  <a:cubicBezTo>
                    <a:pt x="609191" y="496756"/>
                    <a:pt x="547256" y="558596"/>
                    <a:pt x="471165" y="558596"/>
                  </a:cubicBezTo>
                  <a:cubicBezTo>
                    <a:pt x="395074" y="558596"/>
                    <a:pt x="333139" y="496756"/>
                    <a:pt x="333139" y="420781"/>
                  </a:cubicBezTo>
                  <a:cubicBezTo>
                    <a:pt x="333139" y="344807"/>
                    <a:pt x="395074" y="282967"/>
                    <a:pt x="471165" y="282967"/>
                  </a:cubicBezTo>
                  <a:close/>
                  <a:moveTo>
                    <a:pt x="150904" y="207815"/>
                  </a:moveTo>
                  <a:cubicBezTo>
                    <a:pt x="234265" y="207815"/>
                    <a:pt x="301808" y="275279"/>
                    <a:pt x="301808" y="358543"/>
                  </a:cubicBezTo>
                  <a:lnTo>
                    <a:pt x="0" y="358543"/>
                  </a:lnTo>
                  <a:cubicBezTo>
                    <a:pt x="0" y="275279"/>
                    <a:pt x="67542" y="207815"/>
                    <a:pt x="150904" y="207815"/>
                  </a:cubicBezTo>
                  <a:close/>
                  <a:moveTo>
                    <a:pt x="365622" y="202311"/>
                  </a:moveTo>
                  <a:cubicBezTo>
                    <a:pt x="400080" y="202311"/>
                    <a:pt x="430895" y="217900"/>
                    <a:pt x="451195" y="242530"/>
                  </a:cubicBezTo>
                  <a:cubicBezTo>
                    <a:pt x="405182" y="247623"/>
                    <a:pt x="364269" y="270175"/>
                    <a:pt x="335432" y="303431"/>
                  </a:cubicBezTo>
                  <a:cubicBezTo>
                    <a:pt x="327312" y="275995"/>
                    <a:pt x="312945" y="250637"/>
                    <a:pt x="293270" y="229020"/>
                  </a:cubicBezTo>
                  <a:cubicBezTo>
                    <a:pt x="312737" y="212392"/>
                    <a:pt x="337931" y="202311"/>
                    <a:pt x="365622" y="202311"/>
                  </a:cubicBezTo>
                  <a:close/>
                  <a:moveTo>
                    <a:pt x="365600" y="38458"/>
                  </a:moveTo>
                  <a:cubicBezTo>
                    <a:pt x="399428" y="38458"/>
                    <a:pt x="426851" y="65834"/>
                    <a:pt x="426851" y="99603"/>
                  </a:cubicBezTo>
                  <a:cubicBezTo>
                    <a:pt x="426851" y="133372"/>
                    <a:pt x="399428" y="160748"/>
                    <a:pt x="365600" y="160748"/>
                  </a:cubicBezTo>
                  <a:cubicBezTo>
                    <a:pt x="331772" y="160748"/>
                    <a:pt x="304349" y="133372"/>
                    <a:pt x="304349" y="99603"/>
                  </a:cubicBezTo>
                  <a:cubicBezTo>
                    <a:pt x="304349" y="65834"/>
                    <a:pt x="331772" y="38458"/>
                    <a:pt x="365600" y="38458"/>
                  </a:cubicBezTo>
                  <a:close/>
                  <a:moveTo>
                    <a:pt x="150939" y="0"/>
                  </a:moveTo>
                  <a:cubicBezTo>
                    <a:pt x="196926" y="0"/>
                    <a:pt x="234206" y="37217"/>
                    <a:pt x="234206" y="83126"/>
                  </a:cubicBezTo>
                  <a:cubicBezTo>
                    <a:pt x="234206" y="129035"/>
                    <a:pt x="196926" y="166252"/>
                    <a:pt x="150939" y="166252"/>
                  </a:cubicBezTo>
                  <a:cubicBezTo>
                    <a:pt x="104952" y="166252"/>
                    <a:pt x="67672" y="129035"/>
                    <a:pt x="67672" y="83126"/>
                  </a:cubicBezTo>
                  <a:cubicBezTo>
                    <a:pt x="67672" y="37217"/>
                    <a:pt x="104952" y="0"/>
                    <a:pt x="150939" y="0"/>
                  </a:cubicBezTo>
                  <a:close/>
                </a:path>
              </a:pathLst>
            </a:custGeom>
            <a:solidFill>
              <a:schemeClr val="accent6"/>
            </a:solidFill>
            <a:ln>
              <a:solidFill>
                <a:schemeClr val="accent6"/>
              </a:solid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sz="135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组合 3"/>
          <p:cNvGrpSpPr/>
          <p:nvPr/>
        </p:nvGrpSpPr>
        <p:grpSpPr>
          <a:xfrm>
            <a:off x="2756116" y="1759331"/>
            <a:ext cx="4080113" cy="4926237"/>
            <a:chOff x="1583553" y="1202774"/>
            <a:chExt cx="5440151" cy="6568318"/>
          </a:xfrm>
        </p:grpSpPr>
        <p:sp>
          <p:nvSpPr>
            <p:cNvPr id="30" name="立德树人，精心育才"/>
            <p:cNvSpPr/>
            <p:nvPr/>
          </p:nvSpPr>
          <p:spPr>
            <a:xfrm>
              <a:off x="1642820" y="1202774"/>
              <a:ext cx="2209512" cy="410369"/>
            </a:xfrm>
            <a:prstGeom prst="rect">
              <a:avLst/>
            </a:prstGeom>
            <a:noFill/>
          </p:spPr>
          <p:txBody>
            <a:bodyPr wrap="square">
              <a:spAutoFit/>
            </a:bodyPr>
            <a:lstStyle/>
            <a:p>
              <a:pPr algn="dist" fontAlgn="base">
                <a:spcBef>
                  <a:spcPct val="0"/>
                </a:spcBef>
                <a:spcAft>
                  <a:spcPct val="0"/>
                </a:spcAft>
                <a:defRPr/>
              </a:pPr>
              <a:r>
                <a:rPr lang="en-US" altLang="zh-CN" sz="1400" kern="100" dirty="0" err="1">
                  <a:solidFill>
                    <a:srgbClr val="FFFFFF"/>
                  </a:solidFill>
                  <a:latin typeface="宋体" panose="02010600030101010101" pitchFamily="2" charset="-122"/>
                  <a:ea typeface="宋体" panose="02010600030101010101" pitchFamily="2" charset="-122"/>
                  <a:cs typeface="微软雅黑" panose="020B0503020204020204" pitchFamily="34" charset="-122"/>
                  <a:sym typeface="Arial" panose="020B0604020202020204" pitchFamily="34" charset="0"/>
                </a:rPr>
                <a:t>项目</a:t>
              </a:r>
              <a:r>
                <a:rPr lang="zh-CN" altLang="en-US" sz="1400" kern="100" dirty="0">
                  <a:solidFill>
                    <a:srgbClr val="FFFFFF"/>
                  </a:solidFill>
                  <a:latin typeface="宋体" panose="02010600030101010101" pitchFamily="2" charset="-122"/>
                  <a:ea typeface="宋体" panose="02010600030101010101" pitchFamily="2" charset="-122"/>
                  <a:cs typeface="微软雅黑" panose="020B0503020204020204" pitchFamily="34" charset="-122"/>
                  <a:sym typeface="Arial" panose="020B0604020202020204" pitchFamily="34" charset="0"/>
                </a:rPr>
                <a:t>预期目标</a:t>
              </a:r>
            </a:p>
          </p:txBody>
        </p:sp>
        <p:sp>
          <p:nvSpPr>
            <p:cNvPr id="34" name="西工大现象"/>
            <p:cNvSpPr txBox="1"/>
            <p:nvPr/>
          </p:nvSpPr>
          <p:spPr>
            <a:xfrm>
              <a:off x="1583553" y="1468937"/>
              <a:ext cx="5440151" cy="6302155"/>
            </a:xfrm>
            <a:prstGeom prst="rect">
              <a:avLst/>
            </a:prstGeom>
            <a:noFill/>
          </p:spPr>
          <p:txBody>
            <a:bodyPr wrap="square" rtlCol="0">
              <a:spAutoFit/>
              <a:scene3d>
                <a:camera prst="orthographicFront"/>
                <a:lightRig rig="threePt" dir="t"/>
              </a:scene3d>
              <a:sp3d contourW="12700"/>
            </a:bodyPr>
            <a:lstStyle/>
            <a:p>
              <a:pPr algn="just" defTabSz="457200" fontAlgn="base">
                <a:lnSpc>
                  <a:spcPct val="150000"/>
                </a:lnSpc>
                <a:spcBef>
                  <a:spcPct val="0"/>
                </a:spcBef>
                <a:spcAft>
                  <a:spcPct val="0"/>
                </a:spcAft>
              </a:pPr>
              <a:r>
                <a:rPr lang="en-US" altLang="zh-CN" sz="1400" dirty="0">
                  <a:solidFill>
                    <a:srgbClr val="FFFFFF"/>
                  </a:solidFill>
                  <a:latin typeface="+mj-ea"/>
                  <a:ea typeface="+mj-ea"/>
                  <a:sym typeface="Arial" panose="020B0604020202020204" pitchFamily="34" charset="0"/>
                </a:rPr>
                <a:t>    减少人工干预：传统的基于模式的方法需要耗费大量的人力去定义模式，而深度学习方法能够自动学习和识别潜在的漏洞模式，减少了对专业人员的依赖。</a:t>
              </a:r>
            </a:p>
            <a:p>
              <a:pPr algn="just" defTabSz="457200" fontAlgn="base">
                <a:lnSpc>
                  <a:spcPct val="150000"/>
                </a:lnSpc>
                <a:spcBef>
                  <a:spcPct val="0"/>
                </a:spcBef>
                <a:spcAft>
                  <a:spcPct val="0"/>
                </a:spcAft>
              </a:pPr>
              <a:r>
                <a:rPr lang="en-US" altLang="zh-CN" sz="1400" dirty="0">
                  <a:solidFill>
                    <a:srgbClr val="FFFFFF"/>
                  </a:solidFill>
                  <a:latin typeface="+mj-ea"/>
                  <a:ea typeface="+mj-ea"/>
                  <a:sym typeface="Arial" panose="020B0604020202020204" pitchFamily="34" charset="0"/>
                </a:rPr>
                <a:t>    </a:t>
              </a:r>
              <a:r>
                <a:rPr lang="zh-CN" altLang="en-US" sz="1400" dirty="0">
                  <a:solidFill>
                    <a:srgbClr val="FFFFFF"/>
                  </a:solidFill>
                  <a:latin typeface="+mj-ea"/>
                  <a:ea typeface="+mj-ea"/>
                  <a:sym typeface="Arial" panose="020B0604020202020204" pitchFamily="34" charset="0"/>
                </a:rPr>
                <a:t>提高检测效率：深度学习方法相较于基于代码相似性的方法，能够检测出更多类型的漏洞，不仅限于与代码克隆相关的漏洞，从而提高了漏洞检测的效率和覆盖范围。</a:t>
              </a:r>
              <a:endParaRPr lang="en-US" altLang="zh-CN" sz="1400" dirty="0">
                <a:solidFill>
                  <a:srgbClr val="FFFFFF"/>
                </a:solidFill>
                <a:latin typeface="+mj-ea"/>
                <a:ea typeface="+mj-ea"/>
                <a:sym typeface="Arial" panose="020B0604020202020204" pitchFamily="34" charset="0"/>
              </a:endParaRPr>
            </a:p>
            <a:p>
              <a:pPr algn="just" defTabSz="457200" fontAlgn="base">
                <a:lnSpc>
                  <a:spcPct val="150000"/>
                </a:lnSpc>
                <a:spcBef>
                  <a:spcPct val="0"/>
                </a:spcBef>
                <a:spcAft>
                  <a:spcPct val="0"/>
                </a:spcAft>
              </a:pPr>
              <a:r>
                <a:rPr lang="en-US" altLang="zh-CN" sz="1400" dirty="0">
                  <a:solidFill>
                    <a:srgbClr val="FFFFFF"/>
                  </a:solidFill>
                  <a:latin typeface="+mj-ea"/>
                  <a:ea typeface="+mj-ea"/>
                  <a:sym typeface="Arial" panose="020B0604020202020204" pitchFamily="34" charset="0"/>
                </a:rPr>
                <a:t>    </a:t>
              </a:r>
              <a:r>
                <a:rPr lang="zh-CN" altLang="en-US" sz="1400" dirty="0">
                  <a:solidFill>
                    <a:srgbClr val="FFFFFF"/>
                  </a:solidFill>
                  <a:latin typeface="+mj-ea"/>
                  <a:ea typeface="+mj-ea"/>
                  <a:sym typeface="Arial" panose="020B0604020202020204" pitchFamily="34" charset="0"/>
                </a:rPr>
                <a:t>扩大应用范围：探索将我们的方法应用于其他编程语言和软件类型，以进一步提高漏洞检测的准确率和解释能力。 </a:t>
              </a:r>
              <a:endParaRPr lang="en-US" altLang="zh-CN" sz="1400" dirty="0">
                <a:solidFill>
                  <a:srgbClr val="FFFFFF"/>
                </a:solidFill>
                <a:latin typeface="+mj-ea"/>
                <a:ea typeface="+mj-ea"/>
                <a:sym typeface="Arial" panose="020B0604020202020204" pitchFamily="34" charset="0"/>
              </a:endParaRPr>
            </a:p>
            <a:p>
              <a:pPr algn="just" defTabSz="457200" fontAlgn="base">
                <a:lnSpc>
                  <a:spcPct val="150000"/>
                </a:lnSpc>
                <a:spcBef>
                  <a:spcPct val="0"/>
                </a:spcBef>
                <a:spcAft>
                  <a:spcPct val="0"/>
                </a:spcAft>
              </a:pPr>
              <a:r>
                <a:rPr lang="en-US" altLang="zh-CN" sz="1400" dirty="0">
                  <a:solidFill>
                    <a:srgbClr val="FFFFFF"/>
                  </a:solidFill>
                  <a:latin typeface="+mj-ea"/>
                  <a:ea typeface="+mj-ea"/>
                  <a:sym typeface="Arial" panose="020B0604020202020204" pitchFamily="34" charset="0"/>
                </a:rPr>
                <a:t>    </a:t>
              </a:r>
              <a:r>
                <a:rPr lang="zh-CN" altLang="en-US" sz="1400" dirty="0">
                  <a:solidFill>
                    <a:srgbClr val="FFFFFF"/>
                  </a:solidFill>
                  <a:latin typeface="+mj-ea"/>
                  <a:ea typeface="+mj-ea"/>
                  <a:sym typeface="Arial" panose="020B0604020202020204" pitchFamily="34" charset="0"/>
                </a:rPr>
                <a:t>我们的预期结题目标是发表一篇软著和一篇论文。</a:t>
              </a:r>
            </a:p>
            <a:p>
              <a:pPr algn="just" defTabSz="457200" fontAlgn="base">
                <a:lnSpc>
                  <a:spcPct val="150000"/>
                </a:lnSpc>
                <a:spcBef>
                  <a:spcPct val="0"/>
                </a:spcBef>
                <a:spcAft>
                  <a:spcPct val="0"/>
                </a:spcAft>
              </a:pPr>
              <a:endParaRPr lang="zh-CN" altLang="en-US" sz="10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a:p>
              <a:pPr algn="just" defTabSz="457200" fontAlgn="base">
                <a:lnSpc>
                  <a:spcPct val="150000"/>
                </a:lnSpc>
                <a:spcBef>
                  <a:spcPct val="0"/>
                </a:spcBef>
                <a:spcAft>
                  <a:spcPct val="0"/>
                </a:spcAft>
              </a:pPr>
              <a:endParaRPr lang="zh-CN" altLang="en-US" sz="10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3" name="文本框 2"/>
          <p:cNvSpPr txBox="1"/>
          <p:nvPr/>
        </p:nvSpPr>
        <p:spPr>
          <a:xfrm>
            <a:off x="1919605" y="692786"/>
            <a:ext cx="3048000" cy="531495"/>
          </a:xfrm>
          <a:prstGeom prst="rect">
            <a:avLst/>
          </a:prstGeom>
          <a:noFill/>
        </p:spPr>
        <p:txBody>
          <a:bodyPr wrap="square" rtlCol="0">
            <a:noAutofit/>
          </a:bodyPr>
          <a:lstStyle/>
          <a:p>
            <a:pPr fontAlgn="base">
              <a:spcBef>
                <a:spcPct val="0"/>
              </a:spcBef>
              <a:spcAft>
                <a:spcPct val="0"/>
              </a:spcAft>
            </a:pPr>
            <a:r>
              <a:rPr lang="zh-CN" altLang="en-US" sz="2000" b="1">
                <a:solidFill>
                  <a:srgbClr val="2D2D89"/>
                </a:solidFill>
                <a:latin typeface="Arial" panose="020B0604020202020204" pitchFamily="34" charset="0"/>
                <a:ea typeface="微软雅黑" panose="020B0503020204020204" pitchFamily="34" charset="-122"/>
                <a:sym typeface="Arial" panose="020B0604020202020204" pitchFamily="34" charset="0"/>
              </a:rPr>
              <a:t>立项依据</a:t>
            </a:r>
            <a:endParaRPr lang="zh-CN" altLang="en-US">
              <a:solidFill>
                <a:srgbClr val="00000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40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750"/>
                                        <p:tgtEl>
                                          <p:spTgt spid="27"/>
                                        </p:tgtEl>
                                      </p:cBhvr>
                                    </p:animEffect>
                                  </p:childTnLst>
                                </p:cTn>
                              </p:par>
                              <p:par>
                                <p:cTn id="8" presetID="53" presetClass="entr" presetSubtype="16" fill="hold" nodeType="withEffect">
                                  <p:stCondLst>
                                    <p:cond delay="800"/>
                                  </p:stCondLst>
                                  <p:childTnLst>
                                    <p:set>
                                      <p:cBhvr>
                                        <p:cTn id="9" dur="1" fill="hold">
                                          <p:stCondLst>
                                            <p:cond delay="0"/>
                                          </p:stCondLst>
                                        </p:cTn>
                                        <p:tgtEl>
                                          <p:spTgt spid="9"/>
                                        </p:tgtEl>
                                        <p:attrNameLst>
                                          <p:attrName>style.visibility</p:attrName>
                                        </p:attrNameLst>
                                      </p:cBhvr>
                                      <p:to>
                                        <p:strVal val="visible"/>
                                      </p:to>
                                    </p:set>
                                    <p:anim calcmode="lin" valueType="num">
                                      <p:cBhvr>
                                        <p:cTn id="10" dur="750" fill="hold"/>
                                        <p:tgtEl>
                                          <p:spTgt spid="9"/>
                                        </p:tgtEl>
                                        <p:attrNameLst>
                                          <p:attrName>ppt_w</p:attrName>
                                        </p:attrNameLst>
                                      </p:cBhvr>
                                      <p:tavLst>
                                        <p:tav tm="0">
                                          <p:val>
                                            <p:fltVal val="0"/>
                                          </p:val>
                                        </p:tav>
                                        <p:tav tm="100000">
                                          <p:val>
                                            <p:strVal val="#ppt_w"/>
                                          </p:val>
                                        </p:tav>
                                      </p:tavLst>
                                    </p:anim>
                                    <p:anim calcmode="lin" valueType="num">
                                      <p:cBhvr>
                                        <p:cTn id="11" dur="750" fill="hold"/>
                                        <p:tgtEl>
                                          <p:spTgt spid="9"/>
                                        </p:tgtEl>
                                        <p:attrNameLst>
                                          <p:attrName>ppt_h</p:attrName>
                                        </p:attrNameLst>
                                      </p:cBhvr>
                                      <p:tavLst>
                                        <p:tav tm="0">
                                          <p:val>
                                            <p:fltVal val="0"/>
                                          </p:val>
                                        </p:tav>
                                        <p:tav tm="100000">
                                          <p:val>
                                            <p:strVal val="#ppt_h"/>
                                          </p:val>
                                        </p:tav>
                                      </p:tavLst>
                                    </p:anim>
                                    <p:animEffect transition="in" filter="fade">
                                      <p:cBhvr>
                                        <p:cTn id="12" dur="750"/>
                                        <p:tgtEl>
                                          <p:spTgt spid="9"/>
                                        </p:tgtEl>
                                      </p:cBhvr>
                                    </p:animEffect>
                                  </p:childTnLst>
                                </p:cTn>
                              </p:par>
                              <p:par>
                                <p:cTn id="13" presetID="12" presetClass="entr" presetSubtype="8" fill="hold" nodeType="withEffect">
                                  <p:stCondLst>
                                    <p:cond delay="12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p:tgtEl>
                                          <p:spTgt spid="4"/>
                                        </p:tgtEl>
                                        <p:attrNameLst>
                                          <p:attrName>ppt_x</p:attrName>
                                        </p:attrNameLst>
                                      </p:cBhvr>
                                      <p:tavLst>
                                        <p:tav tm="0">
                                          <p:val>
                                            <p:strVal val="#ppt_x-#ppt_w*1.125000"/>
                                          </p:val>
                                        </p:tav>
                                        <p:tav tm="100000">
                                          <p:val>
                                            <p:strVal val="#ppt_x"/>
                                          </p:val>
                                        </p:tav>
                                      </p:tavLst>
                                    </p:anim>
                                    <p:animEffect transition="in" filter="wipe(right)">
                                      <p:cBhvr>
                                        <p:cTn id="16" dur="750"/>
                                        <p:tgtEl>
                                          <p:spTgt spid="4"/>
                                        </p:tgtEl>
                                      </p:cBhvr>
                                    </p:animEffect>
                                  </p:childTnLst>
                                </p:cTn>
                              </p:par>
                              <p:par>
                                <p:cTn id="17" presetID="53" presetClass="entr" presetSubtype="16" fill="hold" nodeType="withEffect">
                                  <p:stCondLst>
                                    <p:cond delay="2800"/>
                                  </p:stCondLst>
                                  <p:childTnLst>
                                    <p:set>
                                      <p:cBhvr>
                                        <p:cTn id="18" dur="1" fill="hold">
                                          <p:stCondLst>
                                            <p:cond delay="0"/>
                                          </p:stCondLst>
                                        </p:cTn>
                                        <p:tgtEl>
                                          <p:spTgt spid="5"/>
                                        </p:tgtEl>
                                        <p:attrNameLst>
                                          <p:attrName>style.visibility</p:attrName>
                                        </p:attrNameLst>
                                      </p:cBhvr>
                                      <p:to>
                                        <p:strVal val="visible"/>
                                      </p:to>
                                    </p:set>
                                    <p:anim calcmode="lin" valueType="num">
                                      <p:cBhvr>
                                        <p:cTn id="19" dur="750" fill="hold"/>
                                        <p:tgtEl>
                                          <p:spTgt spid="5"/>
                                        </p:tgtEl>
                                        <p:attrNameLst>
                                          <p:attrName>ppt_w</p:attrName>
                                        </p:attrNameLst>
                                      </p:cBhvr>
                                      <p:tavLst>
                                        <p:tav tm="0">
                                          <p:val>
                                            <p:fltVal val="0"/>
                                          </p:val>
                                        </p:tav>
                                        <p:tav tm="100000">
                                          <p:val>
                                            <p:strVal val="#ppt_w"/>
                                          </p:val>
                                        </p:tav>
                                      </p:tavLst>
                                    </p:anim>
                                    <p:anim calcmode="lin" valueType="num">
                                      <p:cBhvr>
                                        <p:cTn id="20" dur="750" fill="hold"/>
                                        <p:tgtEl>
                                          <p:spTgt spid="5"/>
                                        </p:tgtEl>
                                        <p:attrNameLst>
                                          <p:attrName>ppt_h</p:attrName>
                                        </p:attrNameLst>
                                      </p:cBhvr>
                                      <p:tavLst>
                                        <p:tav tm="0">
                                          <p:val>
                                            <p:fltVal val="0"/>
                                          </p:val>
                                        </p:tav>
                                        <p:tav tm="100000">
                                          <p:val>
                                            <p:strVal val="#ppt_h"/>
                                          </p:val>
                                        </p:tav>
                                      </p:tavLst>
                                    </p:anim>
                                    <p:animEffect transition="in" filter="fade">
                                      <p:cBhvr>
                                        <p:cTn id="21" dur="750"/>
                                        <p:tgtEl>
                                          <p:spTgt spid="5"/>
                                        </p:tgtEl>
                                      </p:cBhvr>
                                    </p:animEffect>
                                  </p:childTnLst>
                                </p:cTn>
                              </p:par>
                              <p:par>
                                <p:cTn id="22" presetID="22" presetClass="entr" presetSubtype="2" fill="hold" nodeType="withEffect">
                                  <p:stCondLst>
                                    <p:cond delay="3200"/>
                                  </p:stCondLst>
                                  <p:childTnLst>
                                    <p:set>
                                      <p:cBhvr>
                                        <p:cTn id="23" dur="1" fill="hold">
                                          <p:stCondLst>
                                            <p:cond delay="0"/>
                                          </p:stCondLst>
                                        </p:cTn>
                                        <p:tgtEl>
                                          <p:spTgt spid="17"/>
                                        </p:tgtEl>
                                        <p:attrNameLst>
                                          <p:attrName>style.visibility</p:attrName>
                                        </p:attrNameLst>
                                      </p:cBhvr>
                                      <p:to>
                                        <p:strVal val="visible"/>
                                      </p:to>
                                    </p:set>
                                    <p:animEffect transition="in" filter="wipe(right)">
                                      <p:cBhvr>
                                        <p:cTn id="24" dur="750"/>
                                        <p:tgtEl>
                                          <p:spTgt spid="17"/>
                                        </p:tgtEl>
                                      </p:cBhvr>
                                    </p:animEffect>
                                  </p:childTnLst>
                                </p:cTn>
                              </p:par>
                              <p:par>
                                <p:cTn id="25" presetID="22" presetClass="entr" presetSubtype="1" fill="hold" nodeType="withEffect">
                                  <p:stCondLst>
                                    <p:cond delay="360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750"/>
                                        <p:tgtEl>
                                          <p:spTgt spid="14"/>
                                        </p:tgtEl>
                                      </p:cBhvr>
                                    </p:animEffect>
                                  </p:childTnLst>
                                </p:cTn>
                              </p:par>
                              <p:par>
                                <p:cTn id="28" presetID="53" presetClass="entr" presetSubtype="16" fill="hold" nodeType="withEffect">
                                  <p:stCondLst>
                                    <p:cond delay="4000"/>
                                  </p:stCondLst>
                                  <p:childTnLst>
                                    <p:set>
                                      <p:cBhvr>
                                        <p:cTn id="29" dur="1" fill="hold">
                                          <p:stCondLst>
                                            <p:cond delay="0"/>
                                          </p:stCondLst>
                                        </p:cTn>
                                        <p:tgtEl>
                                          <p:spTgt spid="22"/>
                                        </p:tgtEl>
                                        <p:attrNameLst>
                                          <p:attrName>style.visibility</p:attrName>
                                        </p:attrNameLst>
                                      </p:cBhvr>
                                      <p:to>
                                        <p:strVal val="visible"/>
                                      </p:to>
                                    </p:set>
                                    <p:anim calcmode="lin" valueType="num">
                                      <p:cBhvr>
                                        <p:cTn id="30" dur="750" fill="hold"/>
                                        <p:tgtEl>
                                          <p:spTgt spid="22"/>
                                        </p:tgtEl>
                                        <p:attrNameLst>
                                          <p:attrName>ppt_w</p:attrName>
                                        </p:attrNameLst>
                                      </p:cBhvr>
                                      <p:tavLst>
                                        <p:tav tm="0">
                                          <p:val>
                                            <p:fltVal val="0"/>
                                          </p:val>
                                        </p:tav>
                                        <p:tav tm="100000">
                                          <p:val>
                                            <p:strVal val="#ppt_w"/>
                                          </p:val>
                                        </p:tav>
                                      </p:tavLst>
                                    </p:anim>
                                    <p:anim calcmode="lin" valueType="num">
                                      <p:cBhvr>
                                        <p:cTn id="31" dur="750" fill="hold"/>
                                        <p:tgtEl>
                                          <p:spTgt spid="22"/>
                                        </p:tgtEl>
                                        <p:attrNameLst>
                                          <p:attrName>ppt_h</p:attrName>
                                        </p:attrNameLst>
                                      </p:cBhvr>
                                      <p:tavLst>
                                        <p:tav tm="0">
                                          <p:val>
                                            <p:fltVal val="0"/>
                                          </p:val>
                                        </p:tav>
                                        <p:tav tm="100000">
                                          <p:val>
                                            <p:strVal val="#ppt_h"/>
                                          </p:val>
                                        </p:tav>
                                      </p:tavLst>
                                    </p:anim>
                                    <p:animEffect transition="in" filter="fade">
                                      <p:cBhvr>
                                        <p:cTn id="32" dur="750"/>
                                        <p:tgtEl>
                                          <p:spTgt spid="22"/>
                                        </p:tgtEl>
                                      </p:cBhvr>
                                    </p:animEffect>
                                  </p:childTnLst>
                                </p:cTn>
                              </p:par>
                              <p:par>
                                <p:cTn id="33" presetID="53" presetClass="entr" presetSubtype="16" fill="hold" grpId="0" nodeType="withEffect">
                                  <p:stCondLst>
                                    <p:cond delay="4400"/>
                                  </p:stCondLst>
                                  <p:childTnLst>
                                    <p:set>
                                      <p:cBhvr>
                                        <p:cTn id="34" dur="1" fill="hold">
                                          <p:stCondLst>
                                            <p:cond delay="0"/>
                                          </p:stCondLst>
                                        </p:cTn>
                                        <p:tgtEl>
                                          <p:spTgt spid="25"/>
                                        </p:tgtEl>
                                        <p:attrNameLst>
                                          <p:attrName>style.visibility</p:attrName>
                                        </p:attrNameLst>
                                      </p:cBhvr>
                                      <p:to>
                                        <p:strVal val="visible"/>
                                      </p:to>
                                    </p:set>
                                    <p:anim calcmode="lin" valueType="num">
                                      <p:cBhvr>
                                        <p:cTn id="35" dur="750" fill="hold"/>
                                        <p:tgtEl>
                                          <p:spTgt spid="25"/>
                                        </p:tgtEl>
                                        <p:attrNameLst>
                                          <p:attrName>ppt_w</p:attrName>
                                        </p:attrNameLst>
                                      </p:cBhvr>
                                      <p:tavLst>
                                        <p:tav tm="0">
                                          <p:val>
                                            <p:fltVal val="0"/>
                                          </p:val>
                                        </p:tav>
                                        <p:tav tm="100000">
                                          <p:val>
                                            <p:strVal val="#ppt_w"/>
                                          </p:val>
                                        </p:tav>
                                      </p:tavLst>
                                    </p:anim>
                                    <p:anim calcmode="lin" valueType="num">
                                      <p:cBhvr>
                                        <p:cTn id="36" dur="750" fill="hold"/>
                                        <p:tgtEl>
                                          <p:spTgt spid="25"/>
                                        </p:tgtEl>
                                        <p:attrNameLst>
                                          <p:attrName>ppt_h</p:attrName>
                                        </p:attrNameLst>
                                      </p:cBhvr>
                                      <p:tavLst>
                                        <p:tav tm="0">
                                          <p:val>
                                            <p:fltVal val="0"/>
                                          </p:val>
                                        </p:tav>
                                        <p:tav tm="100000">
                                          <p:val>
                                            <p:strVal val="#ppt_h"/>
                                          </p:val>
                                        </p:tav>
                                      </p:tavLst>
                                    </p:anim>
                                    <p:animEffect transition="in" filter="fade">
                                      <p:cBhvr>
                                        <p:cTn id="37" dur="7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海天苑"/>
          <p:cNvPicPr>
            <a:picLocks noChangeAspect="1"/>
          </p:cNvPicPr>
          <p:nvPr/>
        </p:nvPicPr>
        <p:blipFill>
          <a:blip r:embed="rId3"/>
          <a:stretch>
            <a:fillRect/>
          </a:stretch>
        </p:blipFill>
        <p:spPr>
          <a:xfrm>
            <a:off x="292099" y="227964"/>
            <a:ext cx="10839973" cy="6083935"/>
          </a:xfrm>
          <a:prstGeom prst="rect">
            <a:avLst/>
          </a:prstGeom>
        </p:spPr>
      </p:pic>
      <p:sp>
        <p:nvSpPr>
          <p:cNvPr id="44" name="背景色块"/>
          <p:cNvSpPr/>
          <p:nvPr/>
        </p:nvSpPr>
        <p:spPr>
          <a:xfrm>
            <a:off x="292101" y="227964"/>
            <a:ext cx="2799953" cy="60974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目录组合"/>
          <p:cNvGrpSpPr/>
          <p:nvPr/>
        </p:nvGrpSpPr>
        <p:grpSpPr>
          <a:xfrm>
            <a:off x="641108" y="1728986"/>
            <a:ext cx="1598416" cy="1700380"/>
            <a:chOff x="465344" y="1778149"/>
            <a:chExt cx="1848771" cy="1912461"/>
          </a:xfrm>
        </p:grpSpPr>
        <p:cxnSp>
          <p:nvCxnSpPr>
            <p:cNvPr id="47" name="点缀线段"/>
            <p:cNvCxnSpPr/>
            <p:nvPr/>
          </p:nvCxnSpPr>
          <p:spPr>
            <a:xfrm>
              <a:off x="570270" y="3690610"/>
              <a:ext cx="163891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目录"/>
            <p:cNvSpPr txBox="1"/>
            <p:nvPr/>
          </p:nvSpPr>
          <p:spPr>
            <a:xfrm>
              <a:off x="465344" y="1778149"/>
              <a:ext cx="1848771" cy="1783927"/>
            </a:xfrm>
            <a:prstGeom prst="rect">
              <a:avLst/>
            </a:prstGeom>
            <a:noFill/>
          </p:spPr>
          <p:txBody>
            <a:bodyPr wrap="square" rtlCol="0">
              <a:spAutoFit/>
            </a:bodyPr>
            <a:lstStyle/>
            <a:p>
              <a:pPr algn="dist" defTabSz="457200" fontAlgn="base">
                <a:spcBef>
                  <a:spcPct val="0"/>
                </a:spcBef>
                <a:spcAft>
                  <a:spcPct val="0"/>
                </a:spcAft>
              </a:pPr>
              <a:r>
                <a:rPr lang="zh-CN" altLang="en-US" sz="4050" b="1">
                  <a:solidFill>
                    <a:srgbClr val="FFFFFF"/>
                  </a:solidFill>
                  <a:latin typeface="Arial" panose="020B0604020202020204" pitchFamily="34" charset="0"/>
                  <a:ea typeface="微软雅黑" panose="020B0503020204020204" pitchFamily="34" charset="-122"/>
                  <a:sym typeface="Arial" panose="020B0604020202020204" pitchFamily="34" charset="0"/>
                </a:rPr>
                <a:t>立项依据</a:t>
              </a:r>
            </a:p>
          </p:txBody>
        </p:sp>
      </p:grpSp>
      <p:sp>
        <p:nvSpPr>
          <p:cNvPr id="49" name="打底色块"/>
          <p:cNvSpPr/>
          <p:nvPr/>
        </p:nvSpPr>
        <p:spPr>
          <a:xfrm>
            <a:off x="2239647" y="928210"/>
            <a:ext cx="7666930" cy="5120759"/>
          </a:xfrm>
          <a:prstGeom prst="rect">
            <a:avLst/>
          </a:prstGeom>
          <a:solidFill>
            <a:schemeClr val="bg1"/>
          </a:solidFill>
          <a:ln>
            <a:noFill/>
          </a:ln>
          <a:effectLst>
            <a:outerShdw blurRad="190500" dir="54000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8" name="书3"/>
          <p:cNvSpPr>
            <a:spLocks noChangeAspect="1"/>
          </p:cNvSpPr>
          <p:nvPr/>
        </p:nvSpPr>
        <p:spPr bwMode="auto">
          <a:xfrm>
            <a:off x="2920365" y="2172969"/>
            <a:ext cx="752776" cy="682015"/>
          </a:xfrm>
          <a:custGeom>
            <a:avLst/>
            <a:gdLst>
              <a:gd name="connsiteX0" fmla="*/ 215325 w 608256"/>
              <a:gd name="connsiteY0" fmla="*/ 448746 h 550540"/>
              <a:gd name="connsiteX1" fmla="*/ 232806 w 608256"/>
              <a:gd name="connsiteY1" fmla="*/ 514162 h 550540"/>
              <a:gd name="connsiteX2" fmla="*/ 271200 w 608256"/>
              <a:gd name="connsiteY2" fmla="*/ 522155 h 550540"/>
              <a:gd name="connsiteX3" fmla="*/ 269240 w 608256"/>
              <a:gd name="connsiteY3" fmla="*/ 459024 h 550540"/>
              <a:gd name="connsiteX4" fmla="*/ 82496 w 608256"/>
              <a:gd name="connsiteY4" fmla="*/ 423298 h 550540"/>
              <a:gd name="connsiteX5" fmla="*/ 102755 w 608256"/>
              <a:gd name="connsiteY5" fmla="*/ 486756 h 550540"/>
              <a:gd name="connsiteX6" fmla="*/ 102755 w 608256"/>
              <a:gd name="connsiteY6" fmla="*/ 487082 h 550540"/>
              <a:gd name="connsiteX7" fmla="*/ 201764 w 608256"/>
              <a:gd name="connsiteY7" fmla="*/ 507637 h 550540"/>
              <a:gd name="connsiteX8" fmla="*/ 192615 w 608256"/>
              <a:gd name="connsiteY8" fmla="*/ 444342 h 550540"/>
              <a:gd name="connsiteX9" fmla="*/ 26620 w 608256"/>
              <a:gd name="connsiteY9" fmla="*/ 412531 h 550540"/>
              <a:gd name="connsiteX10" fmla="*/ 40018 w 608256"/>
              <a:gd name="connsiteY10" fmla="*/ 474032 h 550540"/>
              <a:gd name="connsiteX11" fmla="*/ 70733 w 608256"/>
              <a:gd name="connsiteY11" fmla="*/ 480394 h 550540"/>
              <a:gd name="connsiteX12" fmla="*/ 59623 w 608256"/>
              <a:gd name="connsiteY12" fmla="*/ 418893 h 550540"/>
              <a:gd name="connsiteX13" fmla="*/ 518067 w 608256"/>
              <a:gd name="connsiteY13" fmla="*/ 410410 h 550540"/>
              <a:gd name="connsiteX14" fmla="*/ 293420 w 608256"/>
              <a:gd name="connsiteY14" fmla="*/ 460492 h 550540"/>
              <a:gd name="connsiteX15" fmla="*/ 299955 w 608256"/>
              <a:gd name="connsiteY15" fmla="*/ 525907 h 550540"/>
              <a:gd name="connsiteX16" fmla="*/ 532281 w 608256"/>
              <a:gd name="connsiteY16" fmla="*/ 468159 h 550540"/>
              <a:gd name="connsiteX17" fmla="*/ 518067 w 608256"/>
              <a:gd name="connsiteY17" fmla="*/ 410410 h 550540"/>
              <a:gd name="connsiteX18" fmla="*/ 82660 w 608256"/>
              <a:gd name="connsiteY18" fmla="*/ 381536 h 550540"/>
              <a:gd name="connsiteX19" fmla="*/ 327893 w 608256"/>
              <a:gd name="connsiteY19" fmla="*/ 432433 h 550540"/>
              <a:gd name="connsiteX20" fmla="*/ 330181 w 608256"/>
              <a:gd name="connsiteY20" fmla="*/ 432759 h 550540"/>
              <a:gd name="connsiteX21" fmla="*/ 330507 w 608256"/>
              <a:gd name="connsiteY21" fmla="*/ 432759 h 550540"/>
              <a:gd name="connsiteX22" fmla="*/ 330834 w 608256"/>
              <a:gd name="connsiteY22" fmla="*/ 432596 h 550540"/>
              <a:gd name="connsiteX23" fmla="*/ 333121 w 608256"/>
              <a:gd name="connsiteY23" fmla="*/ 432433 h 550540"/>
              <a:gd name="connsiteX24" fmla="*/ 516760 w 608256"/>
              <a:gd name="connsiteY24" fmla="*/ 386593 h 550540"/>
              <a:gd name="connsiteX25" fmla="*/ 517741 w 608256"/>
              <a:gd name="connsiteY25" fmla="*/ 386756 h 550540"/>
              <a:gd name="connsiteX26" fmla="*/ 530158 w 608256"/>
              <a:gd name="connsiteY26" fmla="*/ 383983 h 550540"/>
              <a:gd name="connsiteX27" fmla="*/ 541431 w 608256"/>
              <a:gd name="connsiteY27" fmla="*/ 387735 h 550540"/>
              <a:gd name="connsiteX28" fmla="*/ 543555 w 608256"/>
              <a:gd name="connsiteY28" fmla="*/ 399318 h 550540"/>
              <a:gd name="connsiteX29" fmla="*/ 555972 w 608256"/>
              <a:gd name="connsiteY29" fmla="*/ 462123 h 550540"/>
              <a:gd name="connsiteX30" fmla="*/ 559239 w 608256"/>
              <a:gd name="connsiteY30" fmla="*/ 461471 h 550540"/>
              <a:gd name="connsiteX31" fmla="*/ 573290 w 608256"/>
              <a:gd name="connsiteY31" fmla="*/ 469790 h 550540"/>
              <a:gd name="connsiteX32" fmla="*/ 564794 w 608256"/>
              <a:gd name="connsiteY32" fmla="*/ 483820 h 550540"/>
              <a:gd name="connsiteX33" fmla="*/ 298322 w 608256"/>
              <a:gd name="connsiteY33" fmla="*/ 550214 h 550540"/>
              <a:gd name="connsiteX34" fmla="*/ 296198 w 608256"/>
              <a:gd name="connsiteY34" fmla="*/ 550377 h 550540"/>
              <a:gd name="connsiteX35" fmla="*/ 295871 w 608256"/>
              <a:gd name="connsiteY35" fmla="*/ 550540 h 550540"/>
              <a:gd name="connsiteX36" fmla="*/ 295544 w 608256"/>
              <a:gd name="connsiteY36" fmla="*/ 550540 h 550540"/>
              <a:gd name="connsiteX37" fmla="*/ 293257 w 608256"/>
              <a:gd name="connsiteY37" fmla="*/ 550214 h 550540"/>
              <a:gd name="connsiteX38" fmla="*/ 31195 w 608256"/>
              <a:gd name="connsiteY38" fmla="*/ 495728 h 550540"/>
              <a:gd name="connsiteX39" fmla="*/ 24496 w 608256"/>
              <a:gd name="connsiteY39" fmla="*/ 491650 h 550540"/>
              <a:gd name="connsiteX40" fmla="*/ 11753 w 608256"/>
              <a:gd name="connsiteY40" fmla="*/ 392955 h 550540"/>
              <a:gd name="connsiteX41" fmla="*/ 23189 w 608256"/>
              <a:gd name="connsiteY41" fmla="*/ 388388 h 550540"/>
              <a:gd name="connsiteX42" fmla="*/ 34789 w 608256"/>
              <a:gd name="connsiteY42" fmla="*/ 390672 h 550540"/>
              <a:gd name="connsiteX43" fmla="*/ 249973 w 608256"/>
              <a:gd name="connsiteY43" fmla="*/ 320701 h 550540"/>
              <a:gd name="connsiteX44" fmla="*/ 267454 w 608256"/>
              <a:gd name="connsiteY44" fmla="*/ 385948 h 550540"/>
              <a:gd name="connsiteX45" fmla="*/ 305848 w 608256"/>
              <a:gd name="connsiteY45" fmla="*/ 393941 h 550540"/>
              <a:gd name="connsiteX46" fmla="*/ 303888 w 608256"/>
              <a:gd name="connsiteY46" fmla="*/ 330977 h 550540"/>
              <a:gd name="connsiteX47" fmla="*/ 117144 w 608256"/>
              <a:gd name="connsiteY47" fmla="*/ 295092 h 550540"/>
              <a:gd name="connsiteX48" fmla="*/ 137403 w 608256"/>
              <a:gd name="connsiteY48" fmla="*/ 358707 h 550540"/>
              <a:gd name="connsiteX49" fmla="*/ 137567 w 608256"/>
              <a:gd name="connsiteY49" fmla="*/ 359034 h 550540"/>
              <a:gd name="connsiteX50" fmla="*/ 236412 w 608256"/>
              <a:gd name="connsiteY50" fmla="*/ 379586 h 550540"/>
              <a:gd name="connsiteX51" fmla="*/ 227263 w 608256"/>
              <a:gd name="connsiteY51" fmla="*/ 316297 h 550540"/>
              <a:gd name="connsiteX52" fmla="*/ 61432 w 608256"/>
              <a:gd name="connsiteY52" fmla="*/ 284489 h 550540"/>
              <a:gd name="connsiteX53" fmla="*/ 74829 w 608256"/>
              <a:gd name="connsiteY53" fmla="*/ 345821 h 550540"/>
              <a:gd name="connsiteX54" fmla="*/ 105381 w 608256"/>
              <a:gd name="connsiteY54" fmla="*/ 352346 h 550540"/>
              <a:gd name="connsiteX55" fmla="*/ 94271 w 608256"/>
              <a:gd name="connsiteY55" fmla="*/ 290851 h 550540"/>
              <a:gd name="connsiteX56" fmla="*/ 552715 w 608256"/>
              <a:gd name="connsiteY56" fmla="*/ 282205 h 550540"/>
              <a:gd name="connsiteX57" fmla="*/ 328068 w 608256"/>
              <a:gd name="connsiteY57" fmla="*/ 332446 h 550540"/>
              <a:gd name="connsiteX58" fmla="*/ 334767 w 608256"/>
              <a:gd name="connsiteY58" fmla="*/ 397856 h 550540"/>
              <a:gd name="connsiteX59" fmla="*/ 566929 w 608256"/>
              <a:gd name="connsiteY59" fmla="*/ 339949 h 550540"/>
              <a:gd name="connsiteX60" fmla="*/ 552715 w 608256"/>
              <a:gd name="connsiteY60" fmla="*/ 282205 h 550540"/>
              <a:gd name="connsiteX61" fmla="*/ 214192 w 608256"/>
              <a:gd name="connsiteY61" fmla="*/ 234901 h 550540"/>
              <a:gd name="connsiteX62" fmla="*/ 233961 w 608256"/>
              <a:gd name="connsiteY62" fmla="*/ 257901 h 550540"/>
              <a:gd name="connsiteX63" fmla="*/ 263043 w 608256"/>
              <a:gd name="connsiteY63" fmla="*/ 268830 h 550540"/>
              <a:gd name="connsiteX64" fmla="*/ 274316 w 608256"/>
              <a:gd name="connsiteY64" fmla="*/ 267525 h 550540"/>
              <a:gd name="connsiteX65" fmla="*/ 314508 w 608256"/>
              <a:gd name="connsiteY65" fmla="*/ 267525 h 550540"/>
              <a:gd name="connsiteX66" fmla="*/ 325944 w 608256"/>
              <a:gd name="connsiteY66" fmla="*/ 268830 h 550540"/>
              <a:gd name="connsiteX67" fmla="*/ 355026 w 608256"/>
              <a:gd name="connsiteY67" fmla="*/ 257901 h 550540"/>
              <a:gd name="connsiteX68" fmla="*/ 374305 w 608256"/>
              <a:gd name="connsiteY68" fmla="*/ 235227 h 550540"/>
              <a:gd name="connsiteX69" fmla="*/ 552552 w 608256"/>
              <a:gd name="connsiteY69" fmla="*/ 258716 h 550540"/>
              <a:gd name="connsiteX70" fmla="*/ 564806 w 608256"/>
              <a:gd name="connsiteY70" fmla="*/ 255943 h 550540"/>
              <a:gd name="connsiteX71" fmla="*/ 576079 w 608256"/>
              <a:gd name="connsiteY71" fmla="*/ 259532 h 550540"/>
              <a:gd name="connsiteX72" fmla="*/ 578203 w 608256"/>
              <a:gd name="connsiteY72" fmla="*/ 271276 h 550540"/>
              <a:gd name="connsiteX73" fmla="*/ 590620 w 608256"/>
              <a:gd name="connsiteY73" fmla="*/ 334077 h 550540"/>
              <a:gd name="connsiteX74" fmla="*/ 593887 w 608256"/>
              <a:gd name="connsiteY74" fmla="*/ 333261 h 550540"/>
              <a:gd name="connsiteX75" fmla="*/ 607938 w 608256"/>
              <a:gd name="connsiteY75" fmla="*/ 341743 h 550540"/>
              <a:gd name="connsiteX76" fmla="*/ 599442 w 608256"/>
              <a:gd name="connsiteY76" fmla="*/ 355608 h 550540"/>
              <a:gd name="connsiteX77" fmla="*/ 332970 w 608256"/>
              <a:gd name="connsiteY77" fmla="*/ 421997 h 550540"/>
              <a:gd name="connsiteX78" fmla="*/ 330846 w 608256"/>
              <a:gd name="connsiteY78" fmla="*/ 422323 h 550540"/>
              <a:gd name="connsiteX79" fmla="*/ 330519 w 608256"/>
              <a:gd name="connsiteY79" fmla="*/ 422323 h 550540"/>
              <a:gd name="connsiteX80" fmla="*/ 330192 w 608256"/>
              <a:gd name="connsiteY80" fmla="*/ 422323 h 550540"/>
              <a:gd name="connsiteX81" fmla="*/ 327905 w 608256"/>
              <a:gd name="connsiteY81" fmla="*/ 422160 h 550540"/>
              <a:gd name="connsiteX82" fmla="*/ 65843 w 608256"/>
              <a:gd name="connsiteY82" fmla="*/ 367679 h 550540"/>
              <a:gd name="connsiteX83" fmla="*/ 59144 w 608256"/>
              <a:gd name="connsiteY83" fmla="*/ 363601 h 550540"/>
              <a:gd name="connsiteX84" fmla="*/ 46401 w 608256"/>
              <a:gd name="connsiteY84" fmla="*/ 264752 h 550540"/>
              <a:gd name="connsiteX85" fmla="*/ 57837 w 608256"/>
              <a:gd name="connsiteY85" fmla="*/ 260348 h 550540"/>
              <a:gd name="connsiteX86" fmla="*/ 69437 w 608256"/>
              <a:gd name="connsiteY86" fmla="*/ 262468 h 550540"/>
              <a:gd name="connsiteX87" fmla="*/ 241966 w 608256"/>
              <a:gd name="connsiteY87" fmla="*/ 81271 h 550540"/>
              <a:gd name="connsiteX88" fmla="*/ 279375 w 608256"/>
              <a:gd name="connsiteY88" fmla="*/ 91874 h 550540"/>
              <a:gd name="connsiteX89" fmla="*/ 309597 w 608256"/>
              <a:gd name="connsiteY89" fmla="*/ 91710 h 550540"/>
              <a:gd name="connsiteX90" fmla="*/ 346844 w 608256"/>
              <a:gd name="connsiteY90" fmla="*/ 81271 h 550540"/>
              <a:gd name="connsiteX91" fmla="*/ 346680 w 608256"/>
              <a:gd name="connsiteY91" fmla="*/ 249119 h 550540"/>
              <a:gd name="connsiteX92" fmla="*/ 317439 w 608256"/>
              <a:gd name="connsiteY92" fmla="*/ 255481 h 550540"/>
              <a:gd name="connsiteX93" fmla="*/ 294568 w 608256"/>
              <a:gd name="connsiteY93" fmla="*/ 252708 h 550540"/>
              <a:gd name="connsiteX94" fmla="*/ 271534 w 608256"/>
              <a:gd name="connsiteY94" fmla="*/ 255481 h 550540"/>
              <a:gd name="connsiteX95" fmla="*/ 242292 w 608256"/>
              <a:gd name="connsiteY95" fmla="*/ 249119 h 550540"/>
              <a:gd name="connsiteX96" fmla="*/ 241966 w 608256"/>
              <a:gd name="connsiteY96" fmla="*/ 81271 h 550540"/>
              <a:gd name="connsiteX97" fmla="*/ 256820 w 608256"/>
              <a:gd name="connsiteY97" fmla="*/ 327 h 550540"/>
              <a:gd name="connsiteX98" fmla="*/ 306025 w 608256"/>
              <a:gd name="connsiteY98" fmla="*/ 70473 h 550540"/>
              <a:gd name="connsiteX99" fmla="*/ 294418 w 608256"/>
              <a:gd name="connsiteY99" fmla="*/ 82056 h 550540"/>
              <a:gd name="connsiteX100" fmla="*/ 282812 w 608256"/>
              <a:gd name="connsiteY100" fmla="*/ 70473 h 550540"/>
              <a:gd name="connsiteX101" fmla="*/ 250935 w 608256"/>
              <a:gd name="connsiteY101" fmla="*/ 22676 h 550540"/>
              <a:gd name="connsiteX102" fmla="*/ 242598 w 608256"/>
              <a:gd name="connsiteY102" fmla="*/ 8647 h 550540"/>
              <a:gd name="connsiteX103" fmla="*/ 256820 w 608256"/>
              <a:gd name="connsiteY103" fmla="*/ 327 h 55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8256" h="550540">
                <a:moveTo>
                  <a:pt x="215325" y="448746"/>
                </a:moveTo>
                <a:cubicBezTo>
                  <a:pt x="214018" y="461144"/>
                  <a:pt x="213527" y="490019"/>
                  <a:pt x="232806" y="514162"/>
                </a:cubicBezTo>
                <a:lnTo>
                  <a:pt x="271200" y="522155"/>
                </a:lnTo>
                <a:cubicBezTo>
                  <a:pt x="261234" y="498828"/>
                  <a:pt x="263685" y="475500"/>
                  <a:pt x="269240" y="459024"/>
                </a:cubicBezTo>
                <a:close/>
                <a:moveTo>
                  <a:pt x="82496" y="423298"/>
                </a:moveTo>
                <a:cubicBezTo>
                  <a:pt x="81679" y="437980"/>
                  <a:pt x="83313" y="464896"/>
                  <a:pt x="102755" y="486756"/>
                </a:cubicBezTo>
                <a:cubicBezTo>
                  <a:pt x="102755" y="486919"/>
                  <a:pt x="102755" y="486919"/>
                  <a:pt x="102755" y="487082"/>
                </a:cubicBezTo>
                <a:lnTo>
                  <a:pt x="201764" y="507637"/>
                </a:lnTo>
                <a:cubicBezTo>
                  <a:pt x="189837" y="481862"/>
                  <a:pt x="190981" y="456414"/>
                  <a:pt x="192615" y="444342"/>
                </a:cubicBezTo>
                <a:close/>
                <a:moveTo>
                  <a:pt x="26620" y="412531"/>
                </a:moveTo>
                <a:cubicBezTo>
                  <a:pt x="15674" y="436022"/>
                  <a:pt x="33482" y="464570"/>
                  <a:pt x="40018" y="474032"/>
                </a:cubicBezTo>
                <a:lnTo>
                  <a:pt x="70733" y="480394"/>
                </a:lnTo>
                <a:cubicBezTo>
                  <a:pt x="58806" y="456577"/>
                  <a:pt x="58479" y="432759"/>
                  <a:pt x="59623" y="418893"/>
                </a:cubicBezTo>
                <a:close/>
                <a:moveTo>
                  <a:pt x="518067" y="410410"/>
                </a:moveTo>
                <a:lnTo>
                  <a:pt x="293420" y="460492"/>
                </a:lnTo>
                <a:cubicBezTo>
                  <a:pt x="288846" y="470932"/>
                  <a:pt x="280023" y="498828"/>
                  <a:pt x="299955" y="525907"/>
                </a:cubicBezTo>
                <a:lnTo>
                  <a:pt x="532281" y="468159"/>
                </a:lnTo>
                <a:cubicBezTo>
                  <a:pt x="518721" y="445973"/>
                  <a:pt x="516924" y="424929"/>
                  <a:pt x="518067" y="410410"/>
                </a:cubicBezTo>
                <a:close/>
                <a:moveTo>
                  <a:pt x="82660" y="381536"/>
                </a:moveTo>
                <a:lnTo>
                  <a:pt x="327893" y="432433"/>
                </a:lnTo>
                <a:cubicBezTo>
                  <a:pt x="328710" y="432596"/>
                  <a:pt x="329527" y="432759"/>
                  <a:pt x="330181" y="432759"/>
                </a:cubicBezTo>
                <a:cubicBezTo>
                  <a:pt x="330344" y="432759"/>
                  <a:pt x="330344" y="432759"/>
                  <a:pt x="330507" y="432759"/>
                </a:cubicBezTo>
                <a:cubicBezTo>
                  <a:pt x="330671" y="432759"/>
                  <a:pt x="330671" y="432759"/>
                  <a:pt x="330834" y="432596"/>
                </a:cubicBezTo>
                <a:cubicBezTo>
                  <a:pt x="331488" y="432596"/>
                  <a:pt x="332305" y="432596"/>
                  <a:pt x="333121" y="432433"/>
                </a:cubicBezTo>
                <a:lnTo>
                  <a:pt x="516760" y="386593"/>
                </a:lnTo>
                <a:lnTo>
                  <a:pt x="517741" y="386756"/>
                </a:lnTo>
                <a:lnTo>
                  <a:pt x="530158" y="383983"/>
                </a:lnTo>
                <a:cubicBezTo>
                  <a:pt x="534405" y="383168"/>
                  <a:pt x="538653" y="384473"/>
                  <a:pt x="541431" y="387735"/>
                </a:cubicBezTo>
                <a:cubicBezTo>
                  <a:pt x="544208" y="390835"/>
                  <a:pt x="545025" y="395402"/>
                  <a:pt x="543555" y="399318"/>
                </a:cubicBezTo>
                <a:cubicBezTo>
                  <a:pt x="543065" y="400459"/>
                  <a:pt x="532935" y="430639"/>
                  <a:pt x="555972" y="462123"/>
                </a:cubicBezTo>
                <a:lnTo>
                  <a:pt x="559239" y="461471"/>
                </a:lnTo>
                <a:cubicBezTo>
                  <a:pt x="565448" y="459839"/>
                  <a:pt x="571656" y="463591"/>
                  <a:pt x="573290" y="469790"/>
                </a:cubicBezTo>
                <a:cubicBezTo>
                  <a:pt x="574760" y="475989"/>
                  <a:pt x="571002" y="482188"/>
                  <a:pt x="564794" y="483820"/>
                </a:cubicBezTo>
                <a:lnTo>
                  <a:pt x="298322" y="550214"/>
                </a:lnTo>
                <a:cubicBezTo>
                  <a:pt x="297668" y="550377"/>
                  <a:pt x="296851" y="550377"/>
                  <a:pt x="296198" y="550377"/>
                </a:cubicBezTo>
                <a:cubicBezTo>
                  <a:pt x="296034" y="550377"/>
                  <a:pt x="296034" y="550540"/>
                  <a:pt x="295871" y="550540"/>
                </a:cubicBezTo>
                <a:cubicBezTo>
                  <a:pt x="295707" y="550540"/>
                  <a:pt x="295707" y="550540"/>
                  <a:pt x="295544" y="550540"/>
                </a:cubicBezTo>
                <a:cubicBezTo>
                  <a:pt x="294727" y="550540"/>
                  <a:pt x="294074" y="550377"/>
                  <a:pt x="293257" y="550214"/>
                </a:cubicBezTo>
                <a:lnTo>
                  <a:pt x="31195" y="495728"/>
                </a:lnTo>
                <a:cubicBezTo>
                  <a:pt x="28581" y="495239"/>
                  <a:pt x="26130" y="493771"/>
                  <a:pt x="24496" y="491650"/>
                </a:cubicBezTo>
                <a:cubicBezTo>
                  <a:pt x="22699" y="489366"/>
                  <a:pt x="-20106" y="435859"/>
                  <a:pt x="11753" y="392955"/>
                </a:cubicBezTo>
                <a:cubicBezTo>
                  <a:pt x="14367" y="389367"/>
                  <a:pt x="18778" y="387572"/>
                  <a:pt x="23189" y="388388"/>
                </a:cubicBezTo>
                <a:lnTo>
                  <a:pt x="34789" y="390672"/>
                </a:lnTo>
                <a:close/>
                <a:moveTo>
                  <a:pt x="249973" y="320701"/>
                </a:moveTo>
                <a:cubicBezTo>
                  <a:pt x="248666" y="333098"/>
                  <a:pt x="248175" y="361970"/>
                  <a:pt x="267454" y="385948"/>
                </a:cubicBezTo>
                <a:lnTo>
                  <a:pt x="305848" y="393941"/>
                </a:lnTo>
                <a:cubicBezTo>
                  <a:pt x="295882" y="370615"/>
                  <a:pt x="298333" y="347452"/>
                  <a:pt x="303888" y="330977"/>
                </a:cubicBezTo>
                <a:close/>
                <a:moveTo>
                  <a:pt x="117144" y="295092"/>
                </a:moveTo>
                <a:cubicBezTo>
                  <a:pt x="116327" y="309935"/>
                  <a:pt x="117961" y="336850"/>
                  <a:pt x="137403" y="358707"/>
                </a:cubicBezTo>
                <a:cubicBezTo>
                  <a:pt x="137403" y="358707"/>
                  <a:pt x="137403" y="358871"/>
                  <a:pt x="137567" y="359034"/>
                </a:cubicBezTo>
                <a:lnTo>
                  <a:pt x="236412" y="379586"/>
                </a:lnTo>
                <a:cubicBezTo>
                  <a:pt x="224485" y="353651"/>
                  <a:pt x="225629" y="328368"/>
                  <a:pt x="227263" y="316297"/>
                </a:cubicBezTo>
                <a:close/>
                <a:moveTo>
                  <a:pt x="61432" y="284489"/>
                </a:moveTo>
                <a:cubicBezTo>
                  <a:pt x="50322" y="307815"/>
                  <a:pt x="68130" y="336523"/>
                  <a:pt x="74829" y="345821"/>
                </a:cubicBezTo>
                <a:lnTo>
                  <a:pt x="105381" y="352346"/>
                </a:lnTo>
                <a:cubicBezTo>
                  <a:pt x="93454" y="328531"/>
                  <a:pt x="93127" y="304552"/>
                  <a:pt x="94271" y="290851"/>
                </a:cubicBezTo>
                <a:close/>
                <a:moveTo>
                  <a:pt x="552715" y="282205"/>
                </a:moveTo>
                <a:lnTo>
                  <a:pt x="328068" y="332446"/>
                </a:lnTo>
                <a:cubicBezTo>
                  <a:pt x="323494" y="342722"/>
                  <a:pt x="314671" y="370615"/>
                  <a:pt x="334767" y="397856"/>
                </a:cubicBezTo>
                <a:lnTo>
                  <a:pt x="566929" y="339949"/>
                </a:lnTo>
                <a:cubicBezTo>
                  <a:pt x="553369" y="317928"/>
                  <a:pt x="551572" y="296723"/>
                  <a:pt x="552715" y="282205"/>
                </a:cubicBezTo>
                <a:close/>
                <a:moveTo>
                  <a:pt x="214192" y="234901"/>
                </a:moveTo>
                <a:cubicBezTo>
                  <a:pt x="219911" y="242242"/>
                  <a:pt x="226446" y="249908"/>
                  <a:pt x="233961" y="257901"/>
                </a:cubicBezTo>
                <a:cubicBezTo>
                  <a:pt x="240497" y="264752"/>
                  <a:pt x="251116" y="268830"/>
                  <a:pt x="263043" y="268830"/>
                </a:cubicBezTo>
                <a:cubicBezTo>
                  <a:pt x="266964" y="268830"/>
                  <a:pt x="270722" y="268340"/>
                  <a:pt x="274316" y="267525"/>
                </a:cubicBezTo>
                <a:cubicBezTo>
                  <a:pt x="287387" y="264262"/>
                  <a:pt x="301437" y="264262"/>
                  <a:pt x="314508" y="267525"/>
                </a:cubicBezTo>
                <a:cubicBezTo>
                  <a:pt x="318102" y="268340"/>
                  <a:pt x="322023" y="268830"/>
                  <a:pt x="325944" y="268830"/>
                </a:cubicBezTo>
                <a:cubicBezTo>
                  <a:pt x="337708" y="268830"/>
                  <a:pt x="348327" y="264752"/>
                  <a:pt x="355026" y="257901"/>
                </a:cubicBezTo>
                <a:cubicBezTo>
                  <a:pt x="362378" y="250071"/>
                  <a:pt x="368750" y="242568"/>
                  <a:pt x="374305" y="235227"/>
                </a:cubicBezTo>
                <a:lnTo>
                  <a:pt x="552552" y="258716"/>
                </a:lnTo>
                <a:lnTo>
                  <a:pt x="564806" y="255943"/>
                </a:lnTo>
                <a:cubicBezTo>
                  <a:pt x="569053" y="254965"/>
                  <a:pt x="573301" y="256433"/>
                  <a:pt x="576079" y="259532"/>
                </a:cubicBezTo>
                <a:cubicBezTo>
                  <a:pt x="578856" y="262794"/>
                  <a:pt x="579673" y="267199"/>
                  <a:pt x="578203" y="271276"/>
                </a:cubicBezTo>
                <a:cubicBezTo>
                  <a:pt x="577713" y="272418"/>
                  <a:pt x="567583" y="302432"/>
                  <a:pt x="590620" y="334077"/>
                </a:cubicBezTo>
                <a:lnTo>
                  <a:pt x="593887" y="333261"/>
                </a:lnTo>
                <a:cubicBezTo>
                  <a:pt x="600096" y="331793"/>
                  <a:pt x="606304" y="335545"/>
                  <a:pt x="607938" y="341743"/>
                </a:cubicBezTo>
                <a:cubicBezTo>
                  <a:pt x="609408" y="347942"/>
                  <a:pt x="605650" y="354140"/>
                  <a:pt x="599442" y="355608"/>
                </a:cubicBezTo>
                <a:lnTo>
                  <a:pt x="332970" y="421997"/>
                </a:lnTo>
                <a:cubicBezTo>
                  <a:pt x="332316" y="422160"/>
                  <a:pt x="331499" y="422323"/>
                  <a:pt x="330846" y="422323"/>
                </a:cubicBezTo>
                <a:cubicBezTo>
                  <a:pt x="330682" y="422323"/>
                  <a:pt x="330682" y="422323"/>
                  <a:pt x="330519" y="422323"/>
                </a:cubicBezTo>
                <a:cubicBezTo>
                  <a:pt x="330355" y="422323"/>
                  <a:pt x="330355" y="422323"/>
                  <a:pt x="330192" y="422323"/>
                </a:cubicBezTo>
                <a:cubicBezTo>
                  <a:pt x="329539" y="422323"/>
                  <a:pt x="328722" y="422323"/>
                  <a:pt x="327905" y="422160"/>
                </a:cubicBezTo>
                <a:lnTo>
                  <a:pt x="65843" y="367679"/>
                </a:lnTo>
                <a:cubicBezTo>
                  <a:pt x="63229" y="367026"/>
                  <a:pt x="60778" y="365721"/>
                  <a:pt x="59144" y="363601"/>
                </a:cubicBezTo>
                <a:cubicBezTo>
                  <a:pt x="57347" y="361317"/>
                  <a:pt x="14542" y="307815"/>
                  <a:pt x="46401" y="264752"/>
                </a:cubicBezTo>
                <a:cubicBezTo>
                  <a:pt x="49015" y="261163"/>
                  <a:pt x="53426" y="259369"/>
                  <a:pt x="57837" y="260348"/>
                </a:cubicBezTo>
                <a:lnTo>
                  <a:pt x="69437" y="262468"/>
                </a:lnTo>
                <a:close/>
                <a:moveTo>
                  <a:pt x="241966" y="81271"/>
                </a:moveTo>
                <a:cubicBezTo>
                  <a:pt x="254381" y="80292"/>
                  <a:pt x="268757" y="86164"/>
                  <a:pt x="279375" y="91874"/>
                </a:cubicBezTo>
                <a:cubicBezTo>
                  <a:pt x="288034" y="96441"/>
                  <a:pt x="300939" y="96278"/>
                  <a:pt x="309597" y="91710"/>
                </a:cubicBezTo>
                <a:cubicBezTo>
                  <a:pt x="320216" y="86164"/>
                  <a:pt x="334592" y="80292"/>
                  <a:pt x="346844" y="81271"/>
                </a:cubicBezTo>
                <a:cubicBezTo>
                  <a:pt x="368571" y="83228"/>
                  <a:pt x="443227" y="147823"/>
                  <a:pt x="346680" y="249119"/>
                </a:cubicBezTo>
                <a:cubicBezTo>
                  <a:pt x="339819" y="256133"/>
                  <a:pt x="326914" y="257764"/>
                  <a:pt x="317439" y="255481"/>
                </a:cubicBezTo>
                <a:cubicBezTo>
                  <a:pt x="311068" y="253849"/>
                  <a:pt x="303390" y="252708"/>
                  <a:pt x="294568" y="252708"/>
                </a:cubicBezTo>
                <a:cubicBezTo>
                  <a:pt x="285583" y="252708"/>
                  <a:pt x="277742" y="254013"/>
                  <a:pt x="271534" y="255481"/>
                </a:cubicBezTo>
                <a:cubicBezTo>
                  <a:pt x="262059" y="257764"/>
                  <a:pt x="248990" y="256133"/>
                  <a:pt x="242292" y="249119"/>
                </a:cubicBezTo>
                <a:cubicBezTo>
                  <a:pt x="145582" y="147823"/>
                  <a:pt x="220239" y="83228"/>
                  <a:pt x="241966" y="81271"/>
                </a:cubicBezTo>
                <a:close/>
                <a:moveTo>
                  <a:pt x="256820" y="327"/>
                </a:moveTo>
                <a:cubicBezTo>
                  <a:pt x="273821" y="4895"/>
                  <a:pt x="306188" y="25123"/>
                  <a:pt x="306025" y="70473"/>
                </a:cubicBezTo>
                <a:cubicBezTo>
                  <a:pt x="306025" y="76836"/>
                  <a:pt x="300794" y="82056"/>
                  <a:pt x="294418" y="82056"/>
                </a:cubicBezTo>
                <a:cubicBezTo>
                  <a:pt x="288043" y="82056"/>
                  <a:pt x="282812" y="76836"/>
                  <a:pt x="282812" y="70473"/>
                </a:cubicBezTo>
                <a:cubicBezTo>
                  <a:pt x="282976" y="31485"/>
                  <a:pt x="251262" y="22839"/>
                  <a:pt x="250935" y="22676"/>
                </a:cubicBezTo>
                <a:cubicBezTo>
                  <a:pt x="244724" y="21045"/>
                  <a:pt x="241127" y="14846"/>
                  <a:pt x="242598" y="8647"/>
                </a:cubicBezTo>
                <a:cubicBezTo>
                  <a:pt x="244233" y="2448"/>
                  <a:pt x="250609" y="-1141"/>
                  <a:pt x="256820" y="327"/>
                </a:cubicBezTo>
                <a:close/>
              </a:path>
            </a:pathLst>
          </a:custGeom>
          <a:solidFill>
            <a:schemeClr val="accent6"/>
          </a:solidFill>
          <a:ln>
            <a:noFill/>
          </a:ln>
        </p:spPr>
        <p:txBody>
          <a:bodyPr/>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7" name="组合"/>
          <p:cNvGrpSpPr/>
          <p:nvPr/>
        </p:nvGrpSpPr>
        <p:grpSpPr>
          <a:xfrm>
            <a:off x="3567991" y="1281799"/>
            <a:ext cx="5500070" cy="3816298"/>
            <a:chOff x="601717" y="2767721"/>
            <a:chExt cx="6361527" cy="4292290"/>
          </a:xfrm>
        </p:grpSpPr>
        <p:sp>
          <p:nvSpPr>
            <p:cNvPr id="78" name="一流学科"/>
            <p:cNvSpPr txBox="1"/>
            <p:nvPr/>
          </p:nvSpPr>
          <p:spPr>
            <a:xfrm>
              <a:off x="881964" y="3273317"/>
              <a:ext cx="6081280" cy="3786694"/>
            </a:xfrm>
            <a:prstGeom prst="rect">
              <a:avLst/>
            </a:prstGeom>
            <a:noFill/>
          </p:spPr>
          <p:txBody>
            <a:bodyPr wrap="square" rtlCol="0">
              <a:spAutoFit/>
              <a:scene3d>
                <a:camera prst="orthographicFront"/>
                <a:lightRig rig="threePt" dir="t"/>
              </a:scene3d>
              <a:sp3d contourW="12700"/>
            </a:bodyPr>
            <a:lstStyle/>
            <a:p>
              <a:pPr defTabSz="457200" fontAlgn="base">
                <a:lnSpc>
                  <a:spcPct val="130000"/>
                </a:lnSpc>
                <a:spcBef>
                  <a:spcPct val="0"/>
                </a:spcBef>
                <a:spcAft>
                  <a:spcPct val="0"/>
                </a:spcAft>
              </a:pP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项目的研究内容包括但不限于以下几个方面：</a:t>
              </a:r>
            </a:p>
            <a:p>
              <a:pPr defTabSz="457200" fontAlgn="base">
                <a:lnSpc>
                  <a:spcPct val="130000"/>
                </a:lnSpc>
                <a:spcBef>
                  <a:spcPct val="0"/>
                </a:spcBef>
                <a:spcAft>
                  <a:spcPct val="0"/>
                </a:spcAft>
              </a:pP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1.数据集构建：收集大量不同类型的源代码数据，包括有漏洞和无漏洞的代码样本，构建用于训练和测试的数据集。</a:t>
              </a:r>
            </a:p>
            <a:p>
              <a:pPr defTabSz="457200" fontAlgn="base">
                <a:lnSpc>
                  <a:spcPct val="130000"/>
                </a:lnSpc>
                <a:spcBef>
                  <a:spcPct val="0"/>
                </a:spcBef>
                <a:spcAft>
                  <a:spcPct val="0"/>
                </a:spcAft>
              </a:pPr>
              <a:r>
                <a:rPr lang="en-US" altLang="zh-CN"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2.特征提取：利用深度学习模型，如卷积神经网络（CNN）或循环神经网络（RNN），从源代码中提取有用的特征表示，以便区分漏洞和正常代码。</a:t>
              </a:r>
            </a:p>
            <a:p>
              <a:pPr defTabSz="457200" fontAlgn="base">
                <a:lnSpc>
                  <a:spcPct val="130000"/>
                </a:lnSpc>
                <a:spcBef>
                  <a:spcPct val="0"/>
                </a:spcBef>
                <a:spcAft>
                  <a:spcPct val="0"/>
                </a:spcAft>
              </a:pPr>
              <a:r>
                <a:rPr lang="en-US" altLang="zh-CN"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3.模型训练：设计并训练深度学习模型，使其能够准确地识别源代码中的潜在漏洞，同时尽量减少误报率。</a:t>
              </a:r>
            </a:p>
            <a:p>
              <a:pPr defTabSz="457200" fontAlgn="base">
                <a:lnSpc>
                  <a:spcPct val="130000"/>
                </a:lnSpc>
                <a:spcBef>
                  <a:spcPct val="0"/>
                </a:spcBef>
                <a:spcAft>
                  <a:spcPct val="0"/>
                </a:spcAft>
              </a:pPr>
              <a:r>
                <a:rPr lang="en-US" altLang="zh-CN"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4.模型评估：通过在大规模源代码数据集上进行测试和验证，评估所提出的漏洞检测系统的性能和效果，包括准确率、召回率等指标。</a:t>
              </a:r>
              <a:endPar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a:p>
              <a:pPr defTabSz="457200" fontAlgn="base">
                <a:lnSpc>
                  <a:spcPct val="130000"/>
                </a:lnSpc>
                <a:spcBef>
                  <a:spcPct val="0"/>
                </a:spcBef>
                <a:spcAft>
                  <a:spcPct val="0"/>
                </a:spcAft>
              </a:pPr>
              <a:endPar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79" name="学科特色鲜明"/>
            <p:cNvSpPr txBox="1"/>
            <p:nvPr/>
          </p:nvSpPr>
          <p:spPr>
            <a:xfrm>
              <a:off x="601717" y="2767721"/>
              <a:ext cx="4494107" cy="429260"/>
            </a:xfrm>
            <a:prstGeom prst="rect">
              <a:avLst/>
            </a:prstGeom>
            <a:solidFill>
              <a:schemeClr val="bg1"/>
            </a:solidFill>
          </p:spPr>
          <p:txBody>
            <a:bodyPr wrap="square" rtlCol="0">
              <a:spAutoFit/>
              <a:scene3d>
                <a:camera prst="orthographicFront"/>
                <a:lightRig rig="threePt" dir="t"/>
              </a:scene3d>
              <a:sp3d contourW="12700"/>
            </a:bodyPr>
            <a:lstStyle/>
            <a:p>
              <a:pPr defTabSz="457200" fontAlgn="base">
                <a:spcBef>
                  <a:spcPct val="0"/>
                </a:spcBef>
                <a:spcAft>
                  <a:spcPct val="0"/>
                </a:spcAft>
              </a:pPr>
              <a:r>
                <a:rPr lang="zh-CN" altLang="en-US" sz="1500" b="1">
                  <a:solidFill>
                    <a:srgbClr val="2D2D89"/>
                  </a:solidFill>
                  <a:latin typeface="Arial" panose="020B0604020202020204" pitchFamily="34" charset="0"/>
                  <a:ea typeface="微软雅黑" panose="020B0503020204020204" pitchFamily="34" charset="-122"/>
                  <a:sym typeface="Arial" panose="020B0604020202020204" pitchFamily="34" charset="0"/>
                </a:rPr>
                <a:t>项目研究内容和拟解决的关键问题</a:t>
              </a:r>
            </a:p>
          </p:txBody>
        </p:sp>
        <p:cxnSp>
          <p:nvCxnSpPr>
            <p:cNvPr id="80" name="点缀线段"/>
            <p:cNvCxnSpPr/>
            <p:nvPr/>
          </p:nvCxnSpPr>
          <p:spPr>
            <a:xfrm>
              <a:off x="881964" y="3265696"/>
              <a:ext cx="608128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4"/>
          <a:stretch>
            <a:fillRect/>
          </a:stretch>
        </p:blipFill>
        <p:spPr>
          <a:xfrm>
            <a:off x="2763520" y="4801870"/>
            <a:ext cx="5783580" cy="7454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trips(downRight)">
                                      <p:cBhvr>
                                        <p:cTn id="7" dur="750"/>
                                        <p:tgtEl>
                                          <p:spTgt spid="43"/>
                                        </p:tgtEl>
                                      </p:cBhvr>
                                    </p:animEffect>
                                  </p:childTnLst>
                                </p:cTn>
                              </p:par>
                              <p:par>
                                <p:cTn id="8" presetID="2" presetClass="entr" presetSubtype="8" fill="hold" grpId="0" nodeType="withEffect">
                                  <p:stCondLst>
                                    <p:cond delay="400"/>
                                  </p:stCondLst>
                                  <p:childTnLst>
                                    <p:set>
                                      <p:cBhvr>
                                        <p:cTn id="9" dur="1" fill="hold">
                                          <p:stCondLst>
                                            <p:cond delay="0"/>
                                          </p:stCondLst>
                                        </p:cTn>
                                        <p:tgtEl>
                                          <p:spTgt spid="44"/>
                                        </p:tgtEl>
                                        <p:attrNameLst>
                                          <p:attrName>style.visibility</p:attrName>
                                        </p:attrNameLst>
                                      </p:cBhvr>
                                      <p:to>
                                        <p:strVal val="visible"/>
                                      </p:to>
                                    </p:set>
                                    <p:anim calcmode="lin" valueType="num">
                                      <p:cBhvr additive="base">
                                        <p:cTn id="10" dur="750" fill="hold"/>
                                        <p:tgtEl>
                                          <p:spTgt spid="44"/>
                                        </p:tgtEl>
                                        <p:attrNameLst>
                                          <p:attrName>ppt_x</p:attrName>
                                        </p:attrNameLst>
                                      </p:cBhvr>
                                      <p:tavLst>
                                        <p:tav tm="0">
                                          <p:val>
                                            <p:strVal val="0-#ppt_w/2"/>
                                          </p:val>
                                        </p:tav>
                                        <p:tav tm="100000">
                                          <p:val>
                                            <p:strVal val="#ppt_x"/>
                                          </p:val>
                                        </p:tav>
                                      </p:tavLst>
                                    </p:anim>
                                    <p:anim calcmode="lin" valueType="num">
                                      <p:cBhvr additive="base">
                                        <p:cTn id="11" dur="750" fill="hold"/>
                                        <p:tgtEl>
                                          <p:spTgt spid="44"/>
                                        </p:tgtEl>
                                        <p:attrNameLst>
                                          <p:attrName>ppt_y</p:attrName>
                                        </p:attrNameLst>
                                      </p:cBhvr>
                                      <p:tavLst>
                                        <p:tav tm="0">
                                          <p:val>
                                            <p:strVal val="#ppt_y"/>
                                          </p:val>
                                        </p:tav>
                                        <p:tav tm="100000">
                                          <p:val>
                                            <p:strVal val="#ppt_y"/>
                                          </p:val>
                                        </p:tav>
                                      </p:tavLst>
                                    </p:anim>
                                  </p:childTnLst>
                                </p:cTn>
                              </p:par>
                              <p:par>
                                <p:cTn id="12" presetID="50" presetClass="entr" presetSubtype="0" decel="100000" fill="hold" nodeType="withEffect">
                                  <p:stCondLst>
                                    <p:cond delay="80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strVal val="#ppt_w+.3"/>
                                          </p:val>
                                        </p:tav>
                                        <p:tav tm="100000">
                                          <p:val>
                                            <p:strVal val="#ppt_w"/>
                                          </p:val>
                                        </p:tav>
                                      </p:tavLst>
                                    </p:anim>
                                    <p:anim calcmode="lin" valueType="num">
                                      <p:cBhvr>
                                        <p:cTn id="15" dur="750" fill="hold"/>
                                        <p:tgtEl>
                                          <p:spTgt spid="45"/>
                                        </p:tgtEl>
                                        <p:attrNameLst>
                                          <p:attrName>ppt_h</p:attrName>
                                        </p:attrNameLst>
                                      </p:cBhvr>
                                      <p:tavLst>
                                        <p:tav tm="0">
                                          <p:val>
                                            <p:strVal val="#ppt_h"/>
                                          </p:val>
                                        </p:tav>
                                        <p:tav tm="100000">
                                          <p:val>
                                            <p:strVal val="#ppt_h"/>
                                          </p:val>
                                        </p:tav>
                                      </p:tavLst>
                                    </p:anim>
                                    <p:animEffect transition="in" filter="fade">
                                      <p:cBhvr>
                                        <p:cTn id="16" dur="750"/>
                                        <p:tgtEl>
                                          <p:spTgt spid="45"/>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750"/>
                                        <p:tgtEl>
                                          <p:spTgt spid="49"/>
                                        </p:tgtEl>
                                      </p:cBhvr>
                                    </p:animEffect>
                                  </p:childTnLst>
                                </p:cTn>
                              </p:par>
                              <p:par>
                                <p:cTn id="20" presetID="10" presetClass="entr" presetSubtype="0" fill="hold" grpId="0" nodeType="withEffect">
                                  <p:stCondLst>
                                    <p:cond delay="320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750"/>
                                        <p:tgtEl>
                                          <p:spTgt spid="68"/>
                                        </p:tgtEl>
                                      </p:cBhvr>
                                    </p:animEffect>
                                  </p:childTnLst>
                                </p:cTn>
                              </p:par>
                              <p:par>
                                <p:cTn id="23" presetID="12" presetClass="entr" presetSubtype="8" fill="hold" nodeType="withEffect">
                                  <p:stCondLst>
                                    <p:cond delay="3600"/>
                                  </p:stCondLst>
                                  <p:childTnLst>
                                    <p:set>
                                      <p:cBhvr>
                                        <p:cTn id="24" dur="1" fill="hold">
                                          <p:stCondLst>
                                            <p:cond delay="0"/>
                                          </p:stCondLst>
                                        </p:cTn>
                                        <p:tgtEl>
                                          <p:spTgt spid="77"/>
                                        </p:tgtEl>
                                        <p:attrNameLst>
                                          <p:attrName>style.visibility</p:attrName>
                                        </p:attrNameLst>
                                      </p:cBhvr>
                                      <p:to>
                                        <p:strVal val="visible"/>
                                      </p:to>
                                    </p:set>
                                    <p:anim calcmode="lin" valueType="num">
                                      <p:cBhvr additive="base">
                                        <p:cTn id="25" dur="750"/>
                                        <p:tgtEl>
                                          <p:spTgt spid="77"/>
                                        </p:tgtEl>
                                        <p:attrNameLst>
                                          <p:attrName>ppt_x</p:attrName>
                                        </p:attrNameLst>
                                      </p:cBhvr>
                                      <p:tavLst>
                                        <p:tav tm="0">
                                          <p:val>
                                            <p:strVal val="#ppt_x-#ppt_w*1.125000"/>
                                          </p:val>
                                        </p:tav>
                                        <p:tav tm="100000">
                                          <p:val>
                                            <p:strVal val="#ppt_x"/>
                                          </p:val>
                                        </p:tav>
                                      </p:tavLst>
                                    </p:anim>
                                    <p:animEffect transition="in" filter="wipe(right)">
                                      <p:cBhvr>
                                        <p:cTn id="26" dur="7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9" grpId="0" bldLvl="0" animBg="1"/>
      <p:bldP spid="68"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海天苑"/>
          <p:cNvPicPr>
            <a:picLocks noChangeAspect="1"/>
          </p:cNvPicPr>
          <p:nvPr/>
        </p:nvPicPr>
        <p:blipFill>
          <a:blip r:embed="rId3"/>
          <a:stretch>
            <a:fillRect/>
          </a:stretch>
        </p:blipFill>
        <p:spPr>
          <a:xfrm>
            <a:off x="241300" y="183514"/>
            <a:ext cx="11283950" cy="6333117"/>
          </a:xfrm>
          <a:prstGeom prst="rect">
            <a:avLst/>
          </a:prstGeom>
        </p:spPr>
      </p:pic>
      <p:sp>
        <p:nvSpPr>
          <p:cNvPr id="44" name="背景色块"/>
          <p:cNvSpPr/>
          <p:nvPr/>
        </p:nvSpPr>
        <p:spPr>
          <a:xfrm>
            <a:off x="241301" y="183515"/>
            <a:ext cx="2997299" cy="61293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5" name="目录组合"/>
          <p:cNvGrpSpPr/>
          <p:nvPr/>
        </p:nvGrpSpPr>
        <p:grpSpPr>
          <a:xfrm>
            <a:off x="590308" y="1684535"/>
            <a:ext cx="1711076" cy="2289249"/>
            <a:chOff x="465344" y="1778149"/>
            <a:chExt cx="1848771" cy="2561411"/>
          </a:xfrm>
        </p:grpSpPr>
        <p:sp>
          <p:nvSpPr>
            <p:cNvPr id="46" name="目录英文"/>
            <p:cNvSpPr txBox="1"/>
            <p:nvPr/>
          </p:nvSpPr>
          <p:spPr>
            <a:xfrm>
              <a:off x="626808" y="3910300"/>
              <a:ext cx="1525842" cy="429260"/>
            </a:xfrm>
            <a:prstGeom prst="rect">
              <a:avLst/>
            </a:prstGeom>
            <a:noFill/>
          </p:spPr>
          <p:txBody>
            <a:bodyPr wrap="square" rtlCol="0">
              <a:spAutoFit/>
            </a:bodyPr>
            <a:lstStyle/>
            <a:p>
              <a:pPr algn="dist" defTabSz="457200" fontAlgn="base">
                <a:spcBef>
                  <a:spcPct val="0"/>
                </a:spcBef>
                <a:spcAft>
                  <a:spcPct val="0"/>
                </a:spcAft>
              </a:pPr>
              <a:endParaRPr lang="en-US" altLang="zh-CN" sz="15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7" name="点缀线段"/>
            <p:cNvCxnSpPr/>
            <p:nvPr/>
          </p:nvCxnSpPr>
          <p:spPr>
            <a:xfrm>
              <a:off x="570270" y="3690610"/>
              <a:ext cx="163891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目录"/>
            <p:cNvSpPr txBox="1"/>
            <p:nvPr/>
          </p:nvSpPr>
          <p:spPr>
            <a:xfrm>
              <a:off x="465344" y="1778149"/>
              <a:ext cx="1848771" cy="1783927"/>
            </a:xfrm>
            <a:prstGeom prst="rect">
              <a:avLst/>
            </a:prstGeom>
            <a:noFill/>
          </p:spPr>
          <p:txBody>
            <a:bodyPr wrap="square" rtlCol="0">
              <a:spAutoFit/>
            </a:bodyPr>
            <a:lstStyle/>
            <a:p>
              <a:pPr algn="dist" defTabSz="457200" fontAlgn="base">
                <a:spcBef>
                  <a:spcPct val="0"/>
                </a:spcBef>
                <a:spcAft>
                  <a:spcPct val="0"/>
                </a:spcAft>
              </a:pPr>
              <a:r>
                <a:rPr lang="zh-CN" altLang="en-US" sz="4050" b="1">
                  <a:solidFill>
                    <a:srgbClr val="FFFFFF"/>
                  </a:solidFill>
                  <a:latin typeface="Arial" panose="020B0604020202020204" pitchFamily="34" charset="0"/>
                  <a:ea typeface="微软雅黑" panose="020B0503020204020204" pitchFamily="34" charset="-122"/>
                  <a:sym typeface="Arial" panose="020B0604020202020204" pitchFamily="34" charset="0"/>
                </a:rPr>
                <a:t>立项依据</a:t>
              </a:r>
            </a:p>
          </p:txBody>
        </p:sp>
      </p:grpSp>
      <p:sp>
        <p:nvSpPr>
          <p:cNvPr id="49" name="打底色块"/>
          <p:cNvSpPr/>
          <p:nvPr/>
        </p:nvSpPr>
        <p:spPr>
          <a:xfrm>
            <a:off x="2220597" y="733266"/>
            <a:ext cx="8207310" cy="5147482"/>
          </a:xfrm>
          <a:prstGeom prst="rect">
            <a:avLst/>
          </a:prstGeom>
          <a:solidFill>
            <a:schemeClr val="bg1"/>
          </a:solidFill>
          <a:ln>
            <a:noFill/>
          </a:ln>
          <a:effectLst>
            <a:outerShdw blurRad="190500" dir="54000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8" name="书3"/>
          <p:cNvSpPr>
            <a:spLocks noChangeAspect="1"/>
          </p:cNvSpPr>
          <p:nvPr/>
        </p:nvSpPr>
        <p:spPr bwMode="auto">
          <a:xfrm>
            <a:off x="2517775" y="1024889"/>
            <a:ext cx="783608" cy="709949"/>
          </a:xfrm>
          <a:custGeom>
            <a:avLst/>
            <a:gdLst>
              <a:gd name="connsiteX0" fmla="*/ 215325 w 608256"/>
              <a:gd name="connsiteY0" fmla="*/ 448746 h 550540"/>
              <a:gd name="connsiteX1" fmla="*/ 232806 w 608256"/>
              <a:gd name="connsiteY1" fmla="*/ 514162 h 550540"/>
              <a:gd name="connsiteX2" fmla="*/ 271200 w 608256"/>
              <a:gd name="connsiteY2" fmla="*/ 522155 h 550540"/>
              <a:gd name="connsiteX3" fmla="*/ 269240 w 608256"/>
              <a:gd name="connsiteY3" fmla="*/ 459024 h 550540"/>
              <a:gd name="connsiteX4" fmla="*/ 82496 w 608256"/>
              <a:gd name="connsiteY4" fmla="*/ 423298 h 550540"/>
              <a:gd name="connsiteX5" fmla="*/ 102755 w 608256"/>
              <a:gd name="connsiteY5" fmla="*/ 486756 h 550540"/>
              <a:gd name="connsiteX6" fmla="*/ 102755 w 608256"/>
              <a:gd name="connsiteY6" fmla="*/ 487082 h 550540"/>
              <a:gd name="connsiteX7" fmla="*/ 201764 w 608256"/>
              <a:gd name="connsiteY7" fmla="*/ 507637 h 550540"/>
              <a:gd name="connsiteX8" fmla="*/ 192615 w 608256"/>
              <a:gd name="connsiteY8" fmla="*/ 444342 h 550540"/>
              <a:gd name="connsiteX9" fmla="*/ 26620 w 608256"/>
              <a:gd name="connsiteY9" fmla="*/ 412531 h 550540"/>
              <a:gd name="connsiteX10" fmla="*/ 40018 w 608256"/>
              <a:gd name="connsiteY10" fmla="*/ 474032 h 550540"/>
              <a:gd name="connsiteX11" fmla="*/ 70733 w 608256"/>
              <a:gd name="connsiteY11" fmla="*/ 480394 h 550540"/>
              <a:gd name="connsiteX12" fmla="*/ 59623 w 608256"/>
              <a:gd name="connsiteY12" fmla="*/ 418893 h 550540"/>
              <a:gd name="connsiteX13" fmla="*/ 518067 w 608256"/>
              <a:gd name="connsiteY13" fmla="*/ 410410 h 550540"/>
              <a:gd name="connsiteX14" fmla="*/ 293420 w 608256"/>
              <a:gd name="connsiteY14" fmla="*/ 460492 h 550540"/>
              <a:gd name="connsiteX15" fmla="*/ 299955 w 608256"/>
              <a:gd name="connsiteY15" fmla="*/ 525907 h 550540"/>
              <a:gd name="connsiteX16" fmla="*/ 532281 w 608256"/>
              <a:gd name="connsiteY16" fmla="*/ 468159 h 550540"/>
              <a:gd name="connsiteX17" fmla="*/ 518067 w 608256"/>
              <a:gd name="connsiteY17" fmla="*/ 410410 h 550540"/>
              <a:gd name="connsiteX18" fmla="*/ 82660 w 608256"/>
              <a:gd name="connsiteY18" fmla="*/ 381536 h 550540"/>
              <a:gd name="connsiteX19" fmla="*/ 327893 w 608256"/>
              <a:gd name="connsiteY19" fmla="*/ 432433 h 550540"/>
              <a:gd name="connsiteX20" fmla="*/ 330181 w 608256"/>
              <a:gd name="connsiteY20" fmla="*/ 432759 h 550540"/>
              <a:gd name="connsiteX21" fmla="*/ 330507 w 608256"/>
              <a:gd name="connsiteY21" fmla="*/ 432759 h 550540"/>
              <a:gd name="connsiteX22" fmla="*/ 330834 w 608256"/>
              <a:gd name="connsiteY22" fmla="*/ 432596 h 550540"/>
              <a:gd name="connsiteX23" fmla="*/ 333121 w 608256"/>
              <a:gd name="connsiteY23" fmla="*/ 432433 h 550540"/>
              <a:gd name="connsiteX24" fmla="*/ 516760 w 608256"/>
              <a:gd name="connsiteY24" fmla="*/ 386593 h 550540"/>
              <a:gd name="connsiteX25" fmla="*/ 517741 w 608256"/>
              <a:gd name="connsiteY25" fmla="*/ 386756 h 550540"/>
              <a:gd name="connsiteX26" fmla="*/ 530158 w 608256"/>
              <a:gd name="connsiteY26" fmla="*/ 383983 h 550540"/>
              <a:gd name="connsiteX27" fmla="*/ 541431 w 608256"/>
              <a:gd name="connsiteY27" fmla="*/ 387735 h 550540"/>
              <a:gd name="connsiteX28" fmla="*/ 543555 w 608256"/>
              <a:gd name="connsiteY28" fmla="*/ 399318 h 550540"/>
              <a:gd name="connsiteX29" fmla="*/ 555972 w 608256"/>
              <a:gd name="connsiteY29" fmla="*/ 462123 h 550540"/>
              <a:gd name="connsiteX30" fmla="*/ 559239 w 608256"/>
              <a:gd name="connsiteY30" fmla="*/ 461471 h 550540"/>
              <a:gd name="connsiteX31" fmla="*/ 573290 w 608256"/>
              <a:gd name="connsiteY31" fmla="*/ 469790 h 550540"/>
              <a:gd name="connsiteX32" fmla="*/ 564794 w 608256"/>
              <a:gd name="connsiteY32" fmla="*/ 483820 h 550540"/>
              <a:gd name="connsiteX33" fmla="*/ 298322 w 608256"/>
              <a:gd name="connsiteY33" fmla="*/ 550214 h 550540"/>
              <a:gd name="connsiteX34" fmla="*/ 296198 w 608256"/>
              <a:gd name="connsiteY34" fmla="*/ 550377 h 550540"/>
              <a:gd name="connsiteX35" fmla="*/ 295871 w 608256"/>
              <a:gd name="connsiteY35" fmla="*/ 550540 h 550540"/>
              <a:gd name="connsiteX36" fmla="*/ 295544 w 608256"/>
              <a:gd name="connsiteY36" fmla="*/ 550540 h 550540"/>
              <a:gd name="connsiteX37" fmla="*/ 293257 w 608256"/>
              <a:gd name="connsiteY37" fmla="*/ 550214 h 550540"/>
              <a:gd name="connsiteX38" fmla="*/ 31195 w 608256"/>
              <a:gd name="connsiteY38" fmla="*/ 495728 h 550540"/>
              <a:gd name="connsiteX39" fmla="*/ 24496 w 608256"/>
              <a:gd name="connsiteY39" fmla="*/ 491650 h 550540"/>
              <a:gd name="connsiteX40" fmla="*/ 11753 w 608256"/>
              <a:gd name="connsiteY40" fmla="*/ 392955 h 550540"/>
              <a:gd name="connsiteX41" fmla="*/ 23189 w 608256"/>
              <a:gd name="connsiteY41" fmla="*/ 388388 h 550540"/>
              <a:gd name="connsiteX42" fmla="*/ 34789 w 608256"/>
              <a:gd name="connsiteY42" fmla="*/ 390672 h 550540"/>
              <a:gd name="connsiteX43" fmla="*/ 249973 w 608256"/>
              <a:gd name="connsiteY43" fmla="*/ 320701 h 550540"/>
              <a:gd name="connsiteX44" fmla="*/ 267454 w 608256"/>
              <a:gd name="connsiteY44" fmla="*/ 385948 h 550540"/>
              <a:gd name="connsiteX45" fmla="*/ 305848 w 608256"/>
              <a:gd name="connsiteY45" fmla="*/ 393941 h 550540"/>
              <a:gd name="connsiteX46" fmla="*/ 303888 w 608256"/>
              <a:gd name="connsiteY46" fmla="*/ 330977 h 550540"/>
              <a:gd name="connsiteX47" fmla="*/ 117144 w 608256"/>
              <a:gd name="connsiteY47" fmla="*/ 295092 h 550540"/>
              <a:gd name="connsiteX48" fmla="*/ 137403 w 608256"/>
              <a:gd name="connsiteY48" fmla="*/ 358707 h 550540"/>
              <a:gd name="connsiteX49" fmla="*/ 137567 w 608256"/>
              <a:gd name="connsiteY49" fmla="*/ 359034 h 550540"/>
              <a:gd name="connsiteX50" fmla="*/ 236412 w 608256"/>
              <a:gd name="connsiteY50" fmla="*/ 379586 h 550540"/>
              <a:gd name="connsiteX51" fmla="*/ 227263 w 608256"/>
              <a:gd name="connsiteY51" fmla="*/ 316297 h 550540"/>
              <a:gd name="connsiteX52" fmla="*/ 61432 w 608256"/>
              <a:gd name="connsiteY52" fmla="*/ 284489 h 550540"/>
              <a:gd name="connsiteX53" fmla="*/ 74829 w 608256"/>
              <a:gd name="connsiteY53" fmla="*/ 345821 h 550540"/>
              <a:gd name="connsiteX54" fmla="*/ 105381 w 608256"/>
              <a:gd name="connsiteY54" fmla="*/ 352346 h 550540"/>
              <a:gd name="connsiteX55" fmla="*/ 94271 w 608256"/>
              <a:gd name="connsiteY55" fmla="*/ 290851 h 550540"/>
              <a:gd name="connsiteX56" fmla="*/ 552715 w 608256"/>
              <a:gd name="connsiteY56" fmla="*/ 282205 h 550540"/>
              <a:gd name="connsiteX57" fmla="*/ 328068 w 608256"/>
              <a:gd name="connsiteY57" fmla="*/ 332446 h 550540"/>
              <a:gd name="connsiteX58" fmla="*/ 334767 w 608256"/>
              <a:gd name="connsiteY58" fmla="*/ 397856 h 550540"/>
              <a:gd name="connsiteX59" fmla="*/ 566929 w 608256"/>
              <a:gd name="connsiteY59" fmla="*/ 339949 h 550540"/>
              <a:gd name="connsiteX60" fmla="*/ 552715 w 608256"/>
              <a:gd name="connsiteY60" fmla="*/ 282205 h 550540"/>
              <a:gd name="connsiteX61" fmla="*/ 214192 w 608256"/>
              <a:gd name="connsiteY61" fmla="*/ 234901 h 550540"/>
              <a:gd name="connsiteX62" fmla="*/ 233961 w 608256"/>
              <a:gd name="connsiteY62" fmla="*/ 257901 h 550540"/>
              <a:gd name="connsiteX63" fmla="*/ 263043 w 608256"/>
              <a:gd name="connsiteY63" fmla="*/ 268830 h 550540"/>
              <a:gd name="connsiteX64" fmla="*/ 274316 w 608256"/>
              <a:gd name="connsiteY64" fmla="*/ 267525 h 550540"/>
              <a:gd name="connsiteX65" fmla="*/ 314508 w 608256"/>
              <a:gd name="connsiteY65" fmla="*/ 267525 h 550540"/>
              <a:gd name="connsiteX66" fmla="*/ 325944 w 608256"/>
              <a:gd name="connsiteY66" fmla="*/ 268830 h 550540"/>
              <a:gd name="connsiteX67" fmla="*/ 355026 w 608256"/>
              <a:gd name="connsiteY67" fmla="*/ 257901 h 550540"/>
              <a:gd name="connsiteX68" fmla="*/ 374305 w 608256"/>
              <a:gd name="connsiteY68" fmla="*/ 235227 h 550540"/>
              <a:gd name="connsiteX69" fmla="*/ 552552 w 608256"/>
              <a:gd name="connsiteY69" fmla="*/ 258716 h 550540"/>
              <a:gd name="connsiteX70" fmla="*/ 564806 w 608256"/>
              <a:gd name="connsiteY70" fmla="*/ 255943 h 550540"/>
              <a:gd name="connsiteX71" fmla="*/ 576079 w 608256"/>
              <a:gd name="connsiteY71" fmla="*/ 259532 h 550540"/>
              <a:gd name="connsiteX72" fmla="*/ 578203 w 608256"/>
              <a:gd name="connsiteY72" fmla="*/ 271276 h 550540"/>
              <a:gd name="connsiteX73" fmla="*/ 590620 w 608256"/>
              <a:gd name="connsiteY73" fmla="*/ 334077 h 550540"/>
              <a:gd name="connsiteX74" fmla="*/ 593887 w 608256"/>
              <a:gd name="connsiteY74" fmla="*/ 333261 h 550540"/>
              <a:gd name="connsiteX75" fmla="*/ 607938 w 608256"/>
              <a:gd name="connsiteY75" fmla="*/ 341743 h 550540"/>
              <a:gd name="connsiteX76" fmla="*/ 599442 w 608256"/>
              <a:gd name="connsiteY76" fmla="*/ 355608 h 550540"/>
              <a:gd name="connsiteX77" fmla="*/ 332970 w 608256"/>
              <a:gd name="connsiteY77" fmla="*/ 421997 h 550540"/>
              <a:gd name="connsiteX78" fmla="*/ 330846 w 608256"/>
              <a:gd name="connsiteY78" fmla="*/ 422323 h 550540"/>
              <a:gd name="connsiteX79" fmla="*/ 330519 w 608256"/>
              <a:gd name="connsiteY79" fmla="*/ 422323 h 550540"/>
              <a:gd name="connsiteX80" fmla="*/ 330192 w 608256"/>
              <a:gd name="connsiteY80" fmla="*/ 422323 h 550540"/>
              <a:gd name="connsiteX81" fmla="*/ 327905 w 608256"/>
              <a:gd name="connsiteY81" fmla="*/ 422160 h 550540"/>
              <a:gd name="connsiteX82" fmla="*/ 65843 w 608256"/>
              <a:gd name="connsiteY82" fmla="*/ 367679 h 550540"/>
              <a:gd name="connsiteX83" fmla="*/ 59144 w 608256"/>
              <a:gd name="connsiteY83" fmla="*/ 363601 h 550540"/>
              <a:gd name="connsiteX84" fmla="*/ 46401 w 608256"/>
              <a:gd name="connsiteY84" fmla="*/ 264752 h 550540"/>
              <a:gd name="connsiteX85" fmla="*/ 57837 w 608256"/>
              <a:gd name="connsiteY85" fmla="*/ 260348 h 550540"/>
              <a:gd name="connsiteX86" fmla="*/ 69437 w 608256"/>
              <a:gd name="connsiteY86" fmla="*/ 262468 h 550540"/>
              <a:gd name="connsiteX87" fmla="*/ 241966 w 608256"/>
              <a:gd name="connsiteY87" fmla="*/ 81271 h 550540"/>
              <a:gd name="connsiteX88" fmla="*/ 279375 w 608256"/>
              <a:gd name="connsiteY88" fmla="*/ 91874 h 550540"/>
              <a:gd name="connsiteX89" fmla="*/ 309597 w 608256"/>
              <a:gd name="connsiteY89" fmla="*/ 91710 h 550540"/>
              <a:gd name="connsiteX90" fmla="*/ 346844 w 608256"/>
              <a:gd name="connsiteY90" fmla="*/ 81271 h 550540"/>
              <a:gd name="connsiteX91" fmla="*/ 346680 w 608256"/>
              <a:gd name="connsiteY91" fmla="*/ 249119 h 550540"/>
              <a:gd name="connsiteX92" fmla="*/ 317439 w 608256"/>
              <a:gd name="connsiteY92" fmla="*/ 255481 h 550540"/>
              <a:gd name="connsiteX93" fmla="*/ 294568 w 608256"/>
              <a:gd name="connsiteY93" fmla="*/ 252708 h 550540"/>
              <a:gd name="connsiteX94" fmla="*/ 271534 w 608256"/>
              <a:gd name="connsiteY94" fmla="*/ 255481 h 550540"/>
              <a:gd name="connsiteX95" fmla="*/ 242292 w 608256"/>
              <a:gd name="connsiteY95" fmla="*/ 249119 h 550540"/>
              <a:gd name="connsiteX96" fmla="*/ 241966 w 608256"/>
              <a:gd name="connsiteY96" fmla="*/ 81271 h 550540"/>
              <a:gd name="connsiteX97" fmla="*/ 256820 w 608256"/>
              <a:gd name="connsiteY97" fmla="*/ 327 h 550540"/>
              <a:gd name="connsiteX98" fmla="*/ 306025 w 608256"/>
              <a:gd name="connsiteY98" fmla="*/ 70473 h 550540"/>
              <a:gd name="connsiteX99" fmla="*/ 294418 w 608256"/>
              <a:gd name="connsiteY99" fmla="*/ 82056 h 550540"/>
              <a:gd name="connsiteX100" fmla="*/ 282812 w 608256"/>
              <a:gd name="connsiteY100" fmla="*/ 70473 h 550540"/>
              <a:gd name="connsiteX101" fmla="*/ 250935 w 608256"/>
              <a:gd name="connsiteY101" fmla="*/ 22676 h 550540"/>
              <a:gd name="connsiteX102" fmla="*/ 242598 w 608256"/>
              <a:gd name="connsiteY102" fmla="*/ 8647 h 550540"/>
              <a:gd name="connsiteX103" fmla="*/ 256820 w 608256"/>
              <a:gd name="connsiteY103" fmla="*/ 327 h 55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8256" h="550540">
                <a:moveTo>
                  <a:pt x="215325" y="448746"/>
                </a:moveTo>
                <a:cubicBezTo>
                  <a:pt x="214018" y="461144"/>
                  <a:pt x="213527" y="490019"/>
                  <a:pt x="232806" y="514162"/>
                </a:cubicBezTo>
                <a:lnTo>
                  <a:pt x="271200" y="522155"/>
                </a:lnTo>
                <a:cubicBezTo>
                  <a:pt x="261234" y="498828"/>
                  <a:pt x="263685" y="475500"/>
                  <a:pt x="269240" y="459024"/>
                </a:cubicBezTo>
                <a:close/>
                <a:moveTo>
                  <a:pt x="82496" y="423298"/>
                </a:moveTo>
                <a:cubicBezTo>
                  <a:pt x="81679" y="437980"/>
                  <a:pt x="83313" y="464896"/>
                  <a:pt x="102755" y="486756"/>
                </a:cubicBezTo>
                <a:cubicBezTo>
                  <a:pt x="102755" y="486919"/>
                  <a:pt x="102755" y="486919"/>
                  <a:pt x="102755" y="487082"/>
                </a:cubicBezTo>
                <a:lnTo>
                  <a:pt x="201764" y="507637"/>
                </a:lnTo>
                <a:cubicBezTo>
                  <a:pt x="189837" y="481862"/>
                  <a:pt x="190981" y="456414"/>
                  <a:pt x="192615" y="444342"/>
                </a:cubicBezTo>
                <a:close/>
                <a:moveTo>
                  <a:pt x="26620" y="412531"/>
                </a:moveTo>
                <a:cubicBezTo>
                  <a:pt x="15674" y="436022"/>
                  <a:pt x="33482" y="464570"/>
                  <a:pt x="40018" y="474032"/>
                </a:cubicBezTo>
                <a:lnTo>
                  <a:pt x="70733" y="480394"/>
                </a:lnTo>
                <a:cubicBezTo>
                  <a:pt x="58806" y="456577"/>
                  <a:pt x="58479" y="432759"/>
                  <a:pt x="59623" y="418893"/>
                </a:cubicBezTo>
                <a:close/>
                <a:moveTo>
                  <a:pt x="518067" y="410410"/>
                </a:moveTo>
                <a:lnTo>
                  <a:pt x="293420" y="460492"/>
                </a:lnTo>
                <a:cubicBezTo>
                  <a:pt x="288846" y="470932"/>
                  <a:pt x="280023" y="498828"/>
                  <a:pt x="299955" y="525907"/>
                </a:cubicBezTo>
                <a:lnTo>
                  <a:pt x="532281" y="468159"/>
                </a:lnTo>
                <a:cubicBezTo>
                  <a:pt x="518721" y="445973"/>
                  <a:pt x="516924" y="424929"/>
                  <a:pt x="518067" y="410410"/>
                </a:cubicBezTo>
                <a:close/>
                <a:moveTo>
                  <a:pt x="82660" y="381536"/>
                </a:moveTo>
                <a:lnTo>
                  <a:pt x="327893" y="432433"/>
                </a:lnTo>
                <a:cubicBezTo>
                  <a:pt x="328710" y="432596"/>
                  <a:pt x="329527" y="432759"/>
                  <a:pt x="330181" y="432759"/>
                </a:cubicBezTo>
                <a:cubicBezTo>
                  <a:pt x="330344" y="432759"/>
                  <a:pt x="330344" y="432759"/>
                  <a:pt x="330507" y="432759"/>
                </a:cubicBezTo>
                <a:cubicBezTo>
                  <a:pt x="330671" y="432759"/>
                  <a:pt x="330671" y="432759"/>
                  <a:pt x="330834" y="432596"/>
                </a:cubicBezTo>
                <a:cubicBezTo>
                  <a:pt x="331488" y="432596"/>
                  <a:pt x="332305" y="432596"/>
                  <a:pt x="333121" y="432433"/>
                </a:cubicBezTo>
                <a:lnTo>
                  <a:pt x="516760" y="386593"/>
                </a:lnTo>
                <a:lnTo>
                  <a:pt x="517741" y="386756"/>
                </a:lnTo>
                <a:lnTo>
                  <a:pt x="530158" y="383983"/>
                </a:lnTo>
                <a:cubicBezTo>
                  <a:pt x="534405" y="383168"/>
                  <a:pt x="538653" y="384473"/>
                  <a:pt x="541431" y="387735"/>
                </a:cubicBezTo>
                <a:cubicBezTo>
                  <a:pt x="544208" y="390835"/>
                  <a:pt x="545025" y="395402"/>
                  <a:pt x="543555" y="399318"/>
                </a:cubicBezTo>
                <a:cubicBezTo>
                  <a:pt x="543065" y="400459"/>
                  <a:pt x="532935" y="430639"/>
                  <a:pt x="555972" y="462123"/>
                </a:cubicBezTo>
                <a:lnTo>
                  <a:pt x="559239" y="461471"/>
                </a:lnTo>
                <a:cubicBezTo>
                  <a:pt x="565448" y="459839"/>
                  <a:pt x="571656" y="463591"/>
                  <a:pt x="573290" y="469790"/>
                </a:cubicBezTo>
                <a:cubicBezTo>
                  <a:pt x="574760" y="475989"/>
                  <a:pt x="571002" y="482188"/>
                  <a:pt x="564794" y="483820"/>
                </a:cubicBezTo>
                <a:lnTo>
                  <a:pt x="298322" y="550214"/>
                </a:lnTo>
                <a:cubicBezTo>
                  <a:pt x="297668" y="550377"/>
                  <a:pt x="296851" y="550377"/>
                  <a:pt x="296198" y="550377"/>
                </a:cubicBezTo>
                <a:cubicBezTo>
                  <a:pt x="296034" y="550377"/>
                  <a:pt x="296034" y="550540"/>
                  <a:pt x="295871" y="550540"/>
                </a:cubicBezTo>
                <a:cubicBezTo>
                  <a:pt x="295707" y="550540"/>
                  <a:pt x="295707" y="550540"/>
                  <a:pt x="295544" y="550540"/>
                </a:cubicBezTo>
                <a:cubicBezTo>
                  <a:pt x="294727" y="550540"/>
                  <a:pt x="294074" y="550377"/>
                  <a:pt x="293257" y="550214"/>
                </a:cubicBezTo>
                <a:lnTo>
                  <a:pt x="31195" y="495728"/>
                </a:lnTo>
                <a:cubicBezTo>
                  <a:pt x="28581" y="495239"/>
                  <a:pt x="26130" y="493771"/>
                  <a:pt x="24496" y="491650"/>
                </a:cubicBezTo>
                <a:cubicBezTo>
                  <a:pt x="22699" y="489366"/>
                  <a:pt x="-20106" y="435859"/>
                  <a:pt x="11753" y="392955"/>
                </a:cubicBezTo>
                <a:cubicBezTo>
                  <a:pt x="14367" y="389367"/>
                  <a:pt x="18778" y="387572"/>
                  <a:pt x="23189" y="388388"/>
                </a:cubicBezTo>
                <a:lnTo>
                  <a:pt x="34789" y="390672"/>
                </a:lnTo>
                <a:close/>
                <a:moveTo>
                  <a:pt x="249973" y="320701"/>
                </a:moveTo>
                <a:cubicBezTo>
                  <a:pt x="248666" y="333098"/>
                  <a:pt x="248175" y="361970"/>
                  <a:pt x="267454" y="385948"/>
                </a:cubicBezTo>
                <a:lnTo>
                  <a:pt x="305848" y="393941"/>
                </a:lnTo>
                <a:cubicBezTo>
                  <a:pt x="295882" y="370615"/>
                  <a:pt x="298333" y="347452"/>
                  <a:pt x="303888" y="330977"/>
                </a:cubicBezTo>
                <a:close/>
                <a:moveTo>
                  <a:pt x="117144" y="295092"/>
                </a:moveTo>
                <a:cubicBezTo>
                  <a:pt x="116327" y="309935"/>
                  <a:pt x="117961" y="336850"/>
                  <a:pt x="137403" y="358707"/>
                </a:cubicBezTo>
                <a:cubicBezTo>
                  <a:pt x="137403" y="358707"/>
                  <a:pt x="137403" y="358871"/>
                  <a:pt x="137567" y="359034"/>
                </a:cubicBezTo>
                <a:lnTo>
                  <a:pt x="236412" y="379586"/>
                </a:lnTo>
                <a:cubicBezTo>
                  <a:pt x="224485" y="353651"/>
                  <a:pt x="225629" y="328368"/>
                  <a:pt x="227263" y="316297"/>
                </a:cubicBezTo>
                <a:close/>
                <a:moveTo>
                  <a:pt x="61432" y="284489"/>
                </a:moveTo>
                <a:cubicBezTo>
                  <a:pt x="50322" y="307815"/>
                  <a:pt x="68130" y="336523"/>
                  <a:pt x="74829" y="345821"/>
                </a:cubicBezTo>
                <a:lnTo>
                  <a:pt x="105381" y="352346"/>
                </a:lnTo>
                <a:cubicBezTo>
                  <a:pt x="93454" y="328531"/>
                  <a:pt x="93127" y="304552"/>
                  <a:pt x="94271" y="290851"/>
                </a:cubicBezTo>
                <a:close/>
                <a:moveTo>
                  <a:pt x="552715" y="282205"/>
                </a:moveTo>
                <a:lnTo>
                  <a:pt x="328068" y="332446"/>
                </a:lnTo>
                <a:cubicBezTo>
                  <a:pt x="323494" y="342722"/>
                  <a:pt x="314671" y="370615"/>
                  <a:pt x="334767" y="397856"/>
                </a:cubicBezTo>
                <a:lnTo>
                  <a:pt x="566929" y="339949"/>
                </a:lnTo>
                <a:cubicBezTo>
                  <a:pt x="553369" y="317928"/>
                  <a:pt x="551572" y="296723"/>
                  <a:pt x="552715" y="282205"/>
                </a:cubicBezTo>
                <a:close/>
                <a:moveTo>
                  <a:pt x="214192" y="234901"/>
                </a:moveTo>
                <a:cubicBezTo>
                  <a:pt x="219911" y="242242"/>
                  <a:pt x="226446" y="249908"/>
                  <a:pt x="233961" y="257901"/>
                </a:cubicBezTo>
                <a:cubicBezTo>
                  <a:pt x="240497" y="264752"/>
                  <a:pt x="251116" y="268830"/>
                  <a:pt x="263043" y="268830"/>
                </a:cubicBezTo>
                <a:cubicBezTo>
                  <a:pt x="266964" y="268830"/>
                  <a:pt x="270722" y="268340"/>
                  <a:pt x="274316" y="267525"/>
                </a:cubicBezTo>
                <a:cubicBezTo>
                  <a:pt x="287387" y="264262"/>
                  <a:pt x="301437" y="264262"/>
                  <a:pt x="314508" y="267525"/>
                </a:cubicBezTo>
                <a:cubicBezTo>
                  <a:pt x="318102" y="268340"/>
                  <a:pt x="322023" y="268830"/>
                  <a:pt x="325944" y="268830"/>
                </a:cubicBezTo>
                <a:cubicBezTo>
                  <a:pt x="337708" y="268830"/>
                  <a:pt x="348327" y="264752"/>
                  <a:pt x="355026" y="257901"/>
                </a:cubicBezTo>
                <a:cubicBezTo>
                  <a:pt x="362378" y="250071"/>
                  <a:pt x="368750" y="242568"/>
                  <a:pt x="374305" y="235227"/>
                </a:cubicBezTo>
                <a:lnTo>
                  <a:pt x="552552" y="258716"/>
                </a:lnTo>
                <a:lnTo>
                  <a:pt x="564806" y="255943"/>
                </a:lnTo>
                <a:cubicBezTo>
                  <a:pt x="569053" y="254965"/>
                  <a:pt x="573301" y="256433"/>
                  <a:pt x="576079" y="259532"/>
                </a:cubicBezTo>
                <a:cubicBezTo>
                  <a:pt x="578856" y="262794"/>
                  <a:pt x="579673" y="267199"/>
                  <a:pt x="578203" y="271276"/>
                </a:cubicBezTo>
                <a:cubicBezTo>
                  <a:pt x="577713" y="272418"/>
                  <a:pt x="567583" y="302432"/>
                  <a:pt x="590620" y="334077"/>
                </a:cubicBezTo>
                <a:lnTo>
                  <a:pt x="593887" y="333261"/>
                </a:lnTo>
                <a:cubicBezTo>
                  <a:pt x="600096" y="331793"/>
                  <a:pt x="606304" y="335545"/>
                  <a:pt x="607938" y="341743"/>
                </a:cubicBezTo>
                <a:cubicBezTo>
                  <a:pt x="609408" y="347942"/>
                  <a:pt x="605650" y="354140"/>
                  <a:pt x="599442" y="355608"/>
                </a:cubicBezTo>
                <a:lnTo>
                  <a:pt x="332970" y="421997"/>
                </a:lnTo>
                <a:cubicBezTo>
                  <a:pt x="332316" y="422160"/>
                  <a:pt x="331499" y="422323"/>
                  <a:pt x="330846" y="422323"/>
                </a:cubicBezTo>
                <a:cubicBezTo>
                  <a:pt x="330682" y="422323"/>
                  <a:pt x="330682" y="422323"/>
                  <a:pt x="330519" y="422323"/>
                </a:cubicBezTo>
                <a:cubicBezTo>
                  <a:pt x="330355" y="422323"/>
                  <a:pt x="330355" y="422323"/>
                  <a:pt x="330192" y="422323"/>
                </a:cubicBezTo>
                <a:cubicBezTo>
                  <a:pt x="329539" y="422323"/>
                  <a:pt x="328722" y="422323"/>
                  <a:pt x="327905" y="422160"/>
                </a:cubicBezTo>
                <a:lnTo>
                  <a:pt x="65843" y="367679"/>
                </a:lnTo>
                <a:cubicBezTo>
                  <a:pt x="63229" y="367026"/>
                  <a:pt x="60778" y="365721"/>
                  <a:pt x="59144" y="363601"/>
                </a:cubicBezTo>
                <a:cubicBezTo>
                  <a:pt x="57347" y="361317"/>
                  <a:pt x="14542" y="307815"/>
                  <a:pt x="46401" y="264752"/>
                </a:cubicBezTo>
                <a:cubicBezTo>
                  <a:pt x="49015" y="261163"/>
                  <a:pt x="53426" y="259369"/>
                  <a:pt x="57837" y="260348"/>
                </a:cubicBezTo>
                <a:lnTo>
                  <a:pt x="69437" y="262468"/>
                </a:lnTo>
                <a:close/>
                <a:moveTo>
                  <a:pt x="241966" y="81271"/>
                </a:moveTo>
                <a:cubicBezTo>
                  <a:pt x="254381" y="80292"/>
                  <a:pt x="268757" y="86164"/>
                  <a:pt x="279375" y="91874"/>
                </a:cubicBezTo>
                <a:cubicBezTo>
                  <a:pt x="288034" y="96441"/>
                  <a:pt x="300939" y="96278"/>
                  <a:pt x="309597" y="91710"/>
                </a:cubicBezTo>
                <a:cubicBezTo>
                  <a:pt x="320216" y="86164"/>
                  <a:pt x="334592" y="80292"/>
                  <a:pt x="346844" y="81271"/>
                </a:cubicBezTo>
                <a:cubicBezTo>
                  <a:pt x="368571" y="83228"/>
                  <a:pt x="443227" y="147823"/>
                  <a:pt x="346680" y="249119"/>
                </a:cubicBezTo>
                <a:cubicBezTo>
                  <a:pt x="339819" y="256133"/>
                  <a:pt x="326914" y="257764"/>
                  <a:pt x="317439" y="255481"/>
                </a:cubicBezTo>
                <a:cubicBezTo>
                  <a:pt x="311068" y="253849"/>
                  <a:pt x="303390" y="252708"/>
                  <a:pt x="294568" y="252708"/>
                </a:cubicBezTo>
                <a:cubicBezTo>
                  <a:pt x="285583" y="252708"/>
                  <a:pt x="277742" y="254013"/>
                  <a:pt x="271534" y="255481"/>
                </a:cubicBezTo>
                <a:cubicBezTo>
                  <a:pt x="262059" y="257764"/>
                  <a:pt x="248990" y="256133"/>
                  <a:pt x="242292" y="249119"/>
                </a:cubicBezTo>
                <a:cubicBezTo>
                  <a:pt x="145582" y="147823"/>
                  <a:pt x="220239" y="83228"/>
                  <a:pt x="241966" y="81271"/>
                </a:cubicBezTo>
                <a:close/>
                <a:moveTo>
                  <a:pt x="256820" y="327"/>
                </a:moveTo>
                <a:cubicBezTo>
                  <a:pt x="273821" y="4895"/>
                  <a:pt x="306188" y="25123"/>
                  <a:pt x="306025" y="70473"/>
                </a:cubicBezTo>
                <a:cubicBezTo>
                  <a:pt x="306025" y="76836"/>
                  <a:pt x="300794" y="82056"/>
                  <a:pt x="294418" y="82056"/>
                </a:cubicBezTo>
                <a:cubicBezTo>
                  <a:pt x="288043" y="82056"/>
                  <a:pt x="282812" y="76836"/>
                  <a:pt x="282812" y="70473"/>
                </a:cubicBezTo>
                <a:cubicBezTo>
                  <a:pt x="282976" y="31485"/>
                  <a:pt x="251262" y="22839"/>
                  <a:pt x="250935" y="22676"/>
                </a:cubicBezTo>
                <a:cubicBezTo>
                  <a:pt x="244724" y="21045"/>
                  <a:pt x="241127" y="14846"/>
                  <a:pt x="242598" y="8647"/>
                </a:cubicBezTo>
                <a:cubicBezTo>
                  <a:pt x="244233" y="2448"/>
                  <a:pt x="250609" y="-1141"/>
                  <a:pt x="256820" y="327"/>
                </a:cubicBezTo>
                <a:close/>
              </a:path>
            </a:pathLst>
          </a:custGeom>
          <a:solidFill>
            <a:schemeClr val="accent6"/>
          </a:solidFill>
          <a:ln>
            <a:noFill/>
          </a:ln>
        </p:spPr>
        <p:txBody>
          <a:bodyPr/>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7" name="组合"/>
          <p:cNvGrpSpPr/>
          <p:nvPr/>
        </p:nvGrpSpPr>
        <p:grpSpPr>
          <a:xfrm>
            <a:off x="3517191" y="1237349"/>
            <a:ext cx="5887725" cy="4233545"/>
            <a:chOff x="601717" y="2767721"/>
            <a:chExt cx="6361527" cy="4736858"/>
          </a:xfrm>
        </p:grpSpPr>
        <p:sp>
          <p:nvSpPr>
            <p:cNvPr id="78" name="一流学科"/>
            <p:cNvSpPr txBox="1"/>
            <p:nvPr/>
          </p:nvSpPr>
          <p:spPr>
            <a:xfrm>
              <a:off x="3674074" y="3151387"/>
              <a:ext cx="3289165" cy="4353192"/>
            </a:xfrm>
            <a:prstGeom prst="rect">
              <a:avLst/>
            </a:prstGeom>
            <a:noFill/>
          </p:spPr>
          <p:txBody>
            <a:bodyPr wrap="square" rtlCol="0">
              <a:spAutoFit/>
              <a:scene3d>
                <a:camera prst="orthographicFront"/>
                <a:lightRig rig="threePt" dir="t"/>
              </a:scene3d>
              <a:sp3d contourW="12700"/>
            </a:bodyPr>
            <a:lstStyle/>
            <a:p>
              <a:pPr defTabSz="457200" fontAlgn="base">
                <a:lnSpc>
                  <a:spcPct val="130000"/>
                </a:lnSpc>
                <a:spcBef>
                  <a:spcPct val="0"/>
                </a:spcBef>
                <a:spcAft>
                  <a:spcPct val="0"/>
                </a:spcAft>
              </a:pPr>
              <a:r>
                <a:rPr lang="zh-CN" altLang="en-US" sz="1400" dirty="0">
                  <a:solidFill>
                    <a:srgbClr val="000000"/>
                  </a:solidFill>
                  <a:latin typeface="Arial" panose="020B0604020202020204" pitchFamily="34" charset="0"/>
                  <a:ea typeface="微软雅黑" panose="020B0503020204020204" pitchFamily="34" charset="-122"/>
                  <a:sym typeface="Arial" panose="020B0604020202020204" pitchFamily="34" charset="0"/>
                </a:rPr>
                <a:t>拟解决的关键问题包括</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p>
            <a:p>
              <a:pPr defTabSz="457200" fontAlgn="base">
                <a:lnSpc>
                  <a:spcPct val="130000"/>
                </a:lnSpc>
                <a:spcBef>
                  <a:spcPct val="0"/>
                </a:spcBef>
                <a:spcAft>
                  <a:spcPct val="0"/>
                </a:spcAft>
              </a:pPr>
              <a:r>
                <a:rPr lang="en-US" altLang="zh-CN"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600" dirty="0">
                  <a:solidFill>
                    <a:srgbClr val="000000"/>
                  </a:solidFill>
                  <a:latin typeface="Arial" panose="020B0604020202020204" pitchFamily="34" charset="0"/>
                  <a:ea typeface="微软雅黑" panose="020B0503020204020204" pitchFamily="34" charset="-122"/>
                  <a:sym typeface="Arial" panose="020B0604020202020204" pitchFamily="34" charset="0"/>
                </a:rPr>
                <a:t>1.源代码表示学习：如何设计有效的深度学习模型，从源代码中提取能够表征漏洞特征的表示，以区分漏洞和正常代码。</a:t>
              </a:r>
            </a:p>
            <a:p>
              <a:pPr defTabSz="457200" fontAlgn="base">
                <a:lnSpc>
                  <a:spcPct val="130000"/>
                </a:lnSpc>
                <a:spcBef>
                  <a:spcPct val="0"/>
                </a:spcBef>
                <a:spcAft>
                  <a:spcPct val="0"/>
                </a:spcAft>
              </a:pPr>
              <a:r>
                <a:rPr lang="en-US" altLang="zh-CN" sz="16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600" dirty="0">
                  <a:solidFill>
                    <a:srgbClr val="000000"/>
                  </a:solidFill>
                  <a:latin typeface="Arial" panose="020B0604020202020204" pitchFamily="34" charset="0"/>
                  <a:ea typeface="微软雅黑" panose="020B0503020204020204" pitchFamily="34" charset="-122"/>
                  <a:sym typeface="Arial" panose="020B0604020202020204" pitchFamily="34" charset="0"/>
                </a:rPr>
                <a:t>2.样本不平衡：漏洞样本和正常样本在数据集中往往存在不平衡，如何处理样本不平衡问题，提高漏洞检测系统的泛化能力。</a:t>
              </a:r>
            </a:p>
            <a:p>
              <a:pPr defTabSz="457200" fontAlgn="base">
                <a:lnSpc>
                  <a:spcPct val="130000"/>
                </a:lnSpc>
                <a:spcBef>
                  <a:spcPct val="0"/>
                </a:spcBef>
                <a:spcAft>
                  <a:spcPct val="0"/>
                </a:spcAft>
              </a:pPr>
              <a:r>
                <a:rPr lang="en-US" altLang="zh-CN" sz="16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600" dirty="0">
                  <a:solidFill>
                    <a:srgbClr val="000000"/>
                  </a:solidFill>
                  <a:latin typeface="Arial" panose="020B0604020202020204" pitchFamily="34" charset="0"/>
                  <a:ea typeface="微软雅黑" panose="020B0503020204020204" pitchFamily="34" charset="-122"/>
                  <a:sym typeface="Arial" panose="020B0604020202020204" pitchFamily="34" charset="0"/>
                </a:rPr>
                <a:t>3.实用性：考虑系统的实际应用场景，确保系统能够在实际软件开发中得到有效应用。</a:t>
              </a:r>
            </a:p>
          </p:txBody>
        </p:sp>
        <p:sp>
          <p:nvSpPr>
            <p:cNvPr id="79" name="学科特色鲜明"/>
            <p:cNvSpPr txBox="1"/>
            <p:nvPr/>
          </p:nvSpPr>
          <p:spPr>
            <a:xfrm>
              <a:off x="601717" y="2767721"/>
              <a:ext cx="4494107" cy="429260"/>
            </a:xfrm>
            <a:prstGeom prst="rect">
              <a:avLst/>
            </a:prstGeom>
            <a:solidFill>
              <a:schemeClr val="bg1"/>
            </a:solidFill>
          </p:spPr>
          <p:txBody>
            <a:bodyPr wrap="square" rtlCol="0">
              <a:spAutoFit/>
              <a:scene3d>
                <a:camera prst="orthographicFront"/>
                <a:lightRig rig="threePt" dir="t"/>
              </a:scene3d>
              <a:sp3d contourW="12700"/>
            </a:bodyPr>
            <a:lstStyle/>
            <a:p>
              <a:pPr defTabSz="457200" fontAlgn="base">
                <a:spcBef>
                  <a:spcPct val="0"/>
                </a:spcBef>
                <a:spcAft>
                  <a:spcPct val="0"/>
                </a:spcAft>
              </a:pPr>
              <a:r>
                <a:rPr lang="zh-CN" altLang="en-US" sz="1500" b="1">
                  <a:solidFill>
                    <a:srgbClr val="2D2D89"/>
                  </a:solidFill>
                  <a:latin typeface="Arial" panose="020B0604020202020204" pitchFamily="34" charset="0"/>
                  <a:ea typeface="微软雅黑" panose="020B0503020204020204" pitchFamily="34" charset="-122"/>
                  <a:sym typeface="Arial" panose="020B0604020202020204" pitchFamily="34" charset="0"/>
                </a:rPr>
                <a:t>项目研究内容和拟解决的关键问题</a:t>
              </a:r>
            </a:p>
          </p:txBody>
        </p:sp>
        <p:cxnSp>
          <p:nvCxnSpPr>
            <p:cNvPr id="80" name="点缀线段"/>
            <p:cNvCxnSpPr/>
            <p:nvPr/>
          </p:nvCxnSpPr>
          <p:spPr>
            <a:xfrm>
              <a:off x="881964" y="3265696"/>
              <a:ext cx="60812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4"/>
          <a:srcRect b="18344"/>
          <a:stretch>
            <a:fillRect/>
          </a:stretch>
        </p:blipFill>
        <p:spPr>
          <a:xfrm>
            <a:off x="2283460" y="2216150"/>
            <a:ext cx="4077335" cy="2204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strips(downRight)">
                                      <p:cBhvr>
                                        <p:cTn id="7" dur="750"/>
                                        <p:tgtEl>
                                          <p:spTgt spid="43"/>
                                        </p:tgtEl>
                                      </p:cBhvr>
                                    </p:animEffect>
                                  </p:childTnLst>
                                </p:cTn>
                              </p:par>
                              <p:par>
                                <p:cTn id="8" presetID="2" presetClass="entr" presetSubtype="8" fill="hold" grpId="0" nodeType="withEffect">
                                  <p:stCondLst>
                                    <p:cond delay="400"/>
                                  </p:stCondLst>
                                  <p:childTnLst>
                                    <p:set>
                                      <p:cBhvr>
                                        <p:cTn id="9" dur="1" fill="hold">
                                          <p:stCondLst>
                                            <p:cond delay="0"/>
                                          </p:stCondLst>
                                        </p:cTn>
                                        <p:tgtEl>
                                          <p:spTgt spid="44"/>
                                        </p:tgtEl>
                                        <p:attrNameLst>
                                          <p:attrName>style.visibility</p:attrName>
                                        </p:attrNameLst>
                                      </p:cBhvr>
                                      <p:to>
                                        <p:strVal val="visible"/>
                                      </p:to>
                                    </p:set>
                                    <p:anim calcmode="lin" valueType="num">
                                      <p:cBhvr additive="base">
                                        <p:cTn id="10" dur="750" fill="hold"/>
                                        <p:tgtEl>
                                          <p:spTgt spid="44"/>
                                        </p:tgtEl>
                                        <p:attrNameLst>
                                          <p:attrName>ppt_x</p:attrName>
                                        </p:attrNameLst>
                                      </p:cBhvr>
                                      <p:tavLst>
                                        <p:tav tm="0">
                                          <p:val>
                                            <p:strVal val="0-#ppt_w/2"/>
                                          </p:val>
                                        </p:tav>
                                        <p:tav tm="100000">
                                          <p:val>
                                            <p:strVal val="#ppt_x"/>
                                          </p:val>
                                        </p:tav>
                                      </p:tavLst>
                                    </p:anim>
                                    <p:anim calcmode="lin" valueType="num">
                                      <p:cBhvr additive="base">
                                        <p:cTn id="11" dur="750" fill="hold"/>
                                        <p:tgtEl>
                                          <p:spTgt spid="44"/>
                                        </p:tgtEl>
                                        <p:attrNameLst>
                                          <p:attrName>ppt_y</p:attrName>
                                        </p:attrNameLst>
                                      </p:cBhvr>
                                      <p:tavLst>
                                        <p:tav tm="0">
                                          <p:val>
                                            <p:strVal val="#ppt_y"/>
                                          </p:val>
                                        </p:tav>
                                        <p:tav tm="100000">
                                          <p:val>
                                            <p:strVal val="#ppt_y"/>
                                          </p:val>
                                        </p:tav>
                                      </p:tavLst>
                                    </p:anim>
                                  </p:childTnLst>
                                </p:cTn>
                              </p:par>
                              <p:par>
                                <p:cTn id="12" presetID="50" presetClass="entr" presetSubtype="0" decel="100000" fill="hold" nodeType="withEffect">
                                  <p:stCondLst>
                                    <p:cond delay="80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strVal val="#ppt_w+.3"/>
                                          </p:val>
                                        </p:tav>
                                        <p:tav tm="100000">
                                          <p:val>
                                            <p:strVal val="#ppt_w"/>
                                          </p:val>
                                        </p:tav>
                                      </p:tavLst>
                                    </p:anim>
                                    <p:anim calcmode="lin" valueType="num">
                                      <p:cBhvr>
                                        <p:cTn id="15" dur="750" fill="hold"/>
                                        <p:tgtEl>
                                          <p:spTgt spid="45"/>
                                        </p:tgtEl>
                                        <p:attrNameLst>
                                          <p:attrName>ppt_h</p:attrName>
                                        </p:attrNameLst>
                                      </p:cBhvr>
                                      <p:tavLst>
                                        <p:tav tm="0">
                                          <p:val>
                                            <p:strVal val="#ppt_h"/>
                                          </p:val>
                                        </p:tav>
                                        <p:tav tm="100000">
                                          <p:val>
                                            <p:strVal val="#ppt_h"/>
                                          </p:val>
                                        </p:tav>
                                      </p:tavLst>
                                    </p:anim>
                                    <p:animEffect transition="in" filter="fade">
                                      <p:cBhvr>
                                        <p:cTn id="16" dur="750"/>
                                        <p:tgtEl>
                                          <p:spTgt spid="45"/>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750"/>
                                        <p:tgtEl>
                                          <p:spTgt spid="49"/>
                                        </p:tgtEl>
                                      </p:cBhvr>
                                    </p:animEffect>
                                  </p:childTnLst>
                                </p:cTn>
                              </p:par>
                              <p:par>
                                <p:cTn id="20" presetID="10" presetClass="entr" presetSubtype="0" fill="hold" grpId="0" nodeType="withEffect">
                                  <p:stCondLst>
                                    <p:cond delay="320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750"/>
                                        <p:tgtEl>
                                          <p:spTgt spid="68"/>
                                        </p:tgtEl>
                                      </p:cBhvr>
                                    </p:animEffect>
                                  </p:childTnLst>
                                </p:cTn>
                              </p:par>
                              <p:par>
                                <p:cTn id="23" presetID="12" presetClass="entr" presetSubtype="8" fill="hold" nodeType="withEffect">
                                  <p:stCondLst>
                                    <p:cond delay="3600"/>
                                  </p:stCondLst>
                                  <p:childTnLst>
                                    <p:set>
                                      <p:cBhvr>
                                        <p:cTn id="24" dur="1" fill="hold">
                                          <p:stCondLst>
                                            <p:cond delay="0"/>
                                          </p:stCondLst>
                                        </p:cTn>
                                        <p:tgtEl>
                                          <p:spTgt spid="77"/>
                                        </p:tgtEl>
                                        <p:attrNameLst>
                                          <p:attrName>style.visibility</p:attrName>
                                        </p:attrNameLst>
                                      </p:cBhvr>
                                      <p:to>
                                        <p:strVal val="visible"/>
                                      </p:to>
                                    </p:set>
                                    <p:anim calcmode="lin" valueType="num">
                                      <p:cBhvr additive="base">
                                        <p:cTn id="25" dur="750"/>
                                        <p:tgtEl>
                                          <p:spTgt spid="77"/>
                                        </p:tgtEl>
                                        <p:attrNameLst>
                                          <p:attrName>ppt_x</p:attrName>
                                        </p:attrNameLst>
                                      </p:cBhvr>
                                      <p:tavLst>
                                        <p:tav tm="0">
                                          <p:val>
                                            <p:strVal val="#ppt_x-#ppt_w*1.125000"/>
                                          </p:val>
                                        </p:tav>
                                        <p:tav tm="100000">
                                          <p:val>
                                            <p:strVal val="#ppt_x"/>
                                          </p:val>
                                        </p:tav>
                                      </p:tavLst>
                                    </p:anim>
                                    <p:animEffect transition="in" filter="wipe(right)">
                                      <p:cBhvr>
                                        <p:cTn id="26" dur="7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p:bldP spid="49" grpId="0" bldLvl="0" animBg="1"/>
      <p:bldP spid="68"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标题"/>
          <p:cNvGrpSpPr/>
          <p:nvPr/>
        </p:nvGrpSpPr>
        <p:grpSpPr>
          <a:xfrm>
            <a:off x="1524000" y="887095"/>
            <a:ext cx="9144000" cy="546497"/>
            <a:chOff x="0" y="-1"/>
            <a:chExt cx="12192000" cy="728663"/>
          </a:xfrm>
          <a:solidFill>
            <a:schemeClr val="accent6"/>
          </a:solidFill>
        </p:grpSpPr>
        <p:sp>
          <p:nvSpPr>
            <p:cNvPr id="33" name="打底色块"/>
            <p:cNvSpPr/>
            <p:nvPr/>
          </p:nvSpPr>
          <p:spPr>
            <a:xfrm>
              <a:off x="0" y="-1"/>
              <a:ext cx="12192000" cy="728663"/>
            </a:xfrm>
            <a:prstGeom prst="rect">
              <a:avLst/>
            </a:prstGeom>
            <a:grpFill/>
            <a:ln w="25400" cap="flat" cmpd="sng" algn="ctr">
              <a:noFill/>
              <a:prstDash val="solid"/>
            </a:ln>
            <a:effectLst/>
          </p:spPr>
          <p:txBody>
            <a:bodyPr rtlCol="0" anchor="ctr"/>
            <a:lstStyle/>
            <a:p>
              <a:pPr algn="ctr" fontAlgn="base">
                <a:lnSpc>
                  <a:spcPct val="105000"/>
                </a:lnSpc>
                <a:spcBef>
                  <a:spcPct val="0"/>
                </a:spcBef>
                <a:spcAft>
                  <a:spcPct val="0"/>
                </a:spcAft>
                <a:buClr>
                  <a:srgbClr val="3366FF"/>
                </a:buClr>
                <a:buSzPct val="80000"/>
              </a:pPr>
              <a:endParaRPr kumimoji="1" lang="zh-CN" altLang="en-US" sz="1500" b="1" kern="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2" name="西北工业大学"/>
            <p:cNvPicPr>
              <a:picLocks noChangeAspect="1"/>
            </p:cNvPicPr>
            <p:nvPr/>
          </p:nvPicPr>
          <p:blipFill>
            <a:blip r:embed="rId3" cstate="screen"/>
            <a:stretch>
              <a:fillRect/>
            </a:stretch>
          </p:blipFill>
          <p:spPr>
            <a:xfrm>
              <a:off x="10240059" y="169864"/>
              <a:ext cx="1546127" cy="388933"/>
            </a:xfrm>
            <a:prstGeom prst="rect">
              <a:avLst/>
            </a:prstGeom>
            <a:grpFill/>
          </p:spPr>
        </p:pic>
        <p:pic>
          <p:nvPicPr>
            <p:cNvPr id="43" name="校徽"/>
            <p:cNvPicPr>
              <a:picLocks noChangeAspect="1"/>
            </p:cNvPicPr>
            <p:nvPr/>
          </p:nvPicPr>
          <p:blipFill>
            <a:blip r:embed="rId4" cstate="screen"/>
            <a:stretch>
              <a:fillRect/>
            </a:stretch>
          </p:blipFill>
          <p:spPr>
            <a:xfrm>
              <a:off x="9627016" y="119639"/>
              <a:ext cx="490134" cy="489382"/>
            </a:xfrm>
            <a:prstGeom prst="rect">
              <a:avLst/>
            </a:prstGeom>
            <a:grpFill/>
          </p:spPr>
        </p:pic>
        <p:sp>
          <p:nvSpPr>
            <p:cNvPr id="45" name="基础扎实 / Strong Preparation"/>
            <p:cNvSpPr txBox="1"/>
            <p:nvPr/>
          </p:nvSpPr>
          <p:spPr>
            <a:xfrm>
              <a:off x="1003300" y="86331"/>
              <a:ext cx="8217902" cy="559647"/>
            </a:xfrm>
            <a:prstGeom prst="rect">
              <a:avLst/>
            </a:prstGeom>
            <a:grpFill/>
          </p:spPr>
          <p:txBody>
            <a:bodyPr wrap="square" lIns="51421" tIns="25710" rIns="51421" bIns="25710" rtlCol="0">
              <a:spAutoFit/>
            </a:bodyPr>
            <a:lstStyle/>
            <a:p>
              <a:pPr algn="just" fontAlgn="base">
                <a:spcBef>
                  <a:spcPct val="0"/>
                </a:spcBef>
                <a:spcAft>
                  <a:spcPct val="0"/>
                </a:spcAft>
                <a:buClr>
                  <a:prstClr val="white"/>
                </a:buClr>
              </a:pPr>
              <a:r>
                <a:rPr lang="zh-CN" altLang="en-US" sz="2400">
                  <a:solidFill>
                    <a:srgbClr val="FFFFFF"/>
                  </a:solidFill>
                  <a:latin typeface="Arial" panose="020B0604020202020204" pitchFamily="34" charset="0"/>
                  <a:ea typeface="微软雅黑" panose="020B0503020204020204" pitchFamily="34" charset="-122"/>
                  <a:sym typeface="Arial" panose="020B0604020202020204" pitchFamily="34" charset="0"/>
                </a:rPr>
                <a:t>立项依据</a:t>
              </a:r>
            </a:p>
          </p:txBody>
        </p:sp>
        <p:sp>
          <p:nvSpPr>
            <p:cNvPr id="46" name="齿轮"/>
            <p:cNvSpPr>
              <a:spLocks noChangeAspect="1"/>
            </p:cNvSpPr>
            <p:nvPr/>
          </p:nvSpPr>
          <p:spPr bwMode="auto">
            <a:xfrm>
              <a:off x="334963" y="121637"/>
              <a:ext cx="484428" cy="485386"/>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grp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fontAlgn="base">
                <a:spcBef>
                  <a:spcPct val="0"/>
                </a:spcBef>
                <a:spcAft>
                  <a:spcPct val="0"/>
                </a:spcAft>
              </a:pPr>
              <a:endParaRPr lang="zh-CN" altLang="en-US" sz="1350">
                <a:solidFill>
                  <a:srgbClr val="1C666E"/>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 name="组合 3"/>
          <p:cNvGrpSpPr/>
          <p:nvPr/>
        </p:nvGrpSpPr>
        <p:grpSpPr>
          <a:xfrm>
            <a:off x="1524001" y="1822451"/>
            <a:ext cx="9130665" cy="3943985"/>
            <a:chOff x="0" y="1287145"/>
            <a:chExt cx="12192000" cy="5021580"/>
          </a:xfrm>
          <a:solidFill>
            <a:schemeClr val="accent6"/>
          </a:solidFill>
        </p:grpSpPr>
        <p:pic>
          <p:nvPicPr>
            <p:cNvPr id="37" name="海天苑"/>
            <p:cNvPicPr>
              <a:picLocks noChangeAspect="1"/>
            </p:cNvPicPr>
            <p:nvPr/>
          </p:nvPicPr>
          <p:blipFill rotWithShape="1">
            <a:blip r:embed="rId5"/>
            <a:srcRect l="22318" t="8629" r="21379" b="8629"/>
            <a:stretch>
              <a:fillRect/>
            </a:stretch>
          </p:blipFill>
          <p:spPr>
            <a:xfrm>
              <a:off x="0" y="1287145"/>
              <a:ext cx="6096000" cy="5021580"/>
            </a:xfrm>
            <a:prstGeom prst="rect">
              <a:avLst/>
            </a:prstGeom>
            <a:grpFill/>
          </p:spPr>
        </p:pic>
        <p:sp>
          <p:nvSpPr>
            <p:cNvPr id="2" name="矩形 1"/>
            <p:cNvSpPr/>
            <p:nvPr/>
          </p:nvSpPr>
          <p:spPr>
            <a:xfrm>
              <a:off x="6096000" y="1287145"/>
              <a:ext cx="6096000" cy="50215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39" name="矩形"/>
          <p:cNvSpPr/>
          <p:nvPr/>
        </p:nvSpPr>
        <p:spPr>
          <a:xfrm>
            <a:off x="3618231" y="2091690"/>
            <a:ext cx="7049135" cy="3291840"/>
          </a:xfrm>
          <a:prstGeom prst="rect">
            <a:avLst/>
          </a:prstGeom>
          <a:solidFill>
            <a:schemeClr val="bg1"/>
          </a:solidFill>
          <a:ln>
            <a:noFill/>
          </a:ln>
          <a:effectLst>
            <a:outerShdw blurRad="190500" sx="104000" sy="104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sz="100">
              <a:solidFill>
                <a:prstClr val="white">
                  <a:lumMod val="65000"/>
                </a:prst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1" name="组合"/>
          <p:cNvGrpSpPr/>
          <p:nvPr/>
        </p:nvGrpSpPr>
        <p:grpSpPr>
          <a:xfrm>
            <a:off x="5104399" y="2349127"/>
            <a:ext cx="5182626" cy="3480435"/>
            <a:chOff x="53076" y="2758408"/>
            <a:chExt cx="6910168" cy="4640580"/>
          </a:xfrm>
        </p:grpSpPr>
        <p:sp>
          <p:nvSpPr>
            <p:cNvPr id="44" name="全国第一架小型无人机、第一台地效飞行器、第一型50公斤级水下无人智能航行器和第一台航空机载计算机均诞生在我校"/>
            <p:cNvSpPr txBox="1"/>
            <p:nvPr/>
          </p:nvSpPr>
          <p:spPr>
            <a:xfrm>
              <a:off x="3143410" y="3266408"/>
              <a:ext cx="3651674" cy="4132580"/>
            </a:xfrm>
            <a:prstGeom prst="rect">
              <a:avLst/>
            </a:prstGeom>
            <a:noFill/>
          </p:spPr>
          <p:txBody>
            <a:bodyPr wrap="square" rtlCol="0">
              <a:noAutofit/>
              <a:scene3d>
                <a:camera prst="orthographicFront"/>
                <a:lightRig rig="threePt" dir="t"/>
              </a:scene3d>
              <a:sp3d contourW="12700"/>
            </a:bodyPr>
            <a:lstStyle/>
            <a:p>
              <a:pPr defTabSz="457200" fontAlgn="base">
                <a:lnSpc>
                  <a:spcPct val="130000"/>
                </a:lnSpc>
                <a:spcBef>
                  <a:spcPct val="0"/>
                </a:spcBef>
                <a:spcAft>
                  <a:spcPct val="0"/>
                </a:spcAft>
              </a:pPr>
              <a:r>
                <a:rPr lang="en-US"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创新点：首先，利用深度学习技术对Python代码进行检测，能够更好地捕捉代码中的复杂模式和潜在问题，提高检测的准确性和效率；其次，结合自然语言处理技术，能够更好地理解和分析代码中的语义信息</a:t>
              </a:r>
              <a:r>
                <a:rPr lang="zh-CN"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p>
            <a:p>
              <a:pPr defTabSz="457200" fontAlgn="base">
                <a:lnSpc>
                  <a:spcPct val="130000"/>
                </a:lnSpc>
                <a:spcBef>
                  <a:spcPct val="0"/>
                </a:spcBef>
                <a:spcAft>
                  <a:spcPct val="0"/>
                </a:spcAft>
              </a:pPr>
              <a:r>
                <a:rPr lang="en-US"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项目的特色在于其结合了深度学习和Python编程的结合，能够有效地帮助开发人员发现和修复Python代码中的潜在问题，提高代码质量和可靠性，降低软件开发和维护的成本，提升开发效率和用户体验。</a:t>
              </a:r>
            </a:p>
          </p:txBody>
        </p:sp>
        <p:sp>
          <p:nvSpPr>
            <p:cNvPr id="47" name="科研能力强，科技贡献大"/>
            <p:cNvSpPr txBox="1"/>
            <p:nvPr/>
          </p:nvSpPr>
          <p:spPr>
            <a:xfrm>
              <a:off x="53076" y="2758408"/>
              <a:ext cx="5343313" cy="429260"/>
            </a:xfrm>
            <a:prstGeom prst="rect">
              <a:avLst/>
            </a:prstGeom>
            <a:noFill/>
          </p:spPr>
          <p:txBody>
            <a:bodyPr wrap="square" rtlCol="0">
              <a:spAutoFit/>
              <a:scene3d>
                <a:camera prst="orthographicFront"/>
                <a:lightRig rig="threePt" dir="t"/>
              </a:scene3d>
              <a:sp3d contourW="12700"/>
            </a:bodyPr>
            <a:lstStyle/>
            <a:p>
              <a:pPr algn="dist" defTabSz="457200" fontAlgn="base">
                <a:spcBef>
                  <a:spcPct val="0"/>
                </a:spcBef>
                <a:spcAft>
                  <a:spcPct val="0"/>
                </a:spcAft>
              </a:pPr>
              <a:r>
                <a:rPr lang="zh-CN" altLang="en-US" sz="1500" b="1">
                  <a:solidFill>
                    <a:srgbClr val="2D2D89"/>
                  </a:solidFill>
                  <a:latin typeface="Arial" panose="020B0604020202020204" pitchFamily="34" charset="0"/>
                  <a:ea typeface="微软雅黑" panose="020B0503020204020204" pitchFamily="34" charset="-122"/>
                  <a:sym typeface="Arial" panose="020B0604020202020204" pitchFamily="34" charset="0"/>
                </a:rPr>
                <a:t>项目的技术路线、创新点与项目特色</a:t>
              </a:r>
            </a:p>
          </p:txBody>
        </p:sp>
        <p:cxnSp>
          <p:nvCxnSpPr>
            <p:cNvPr id="48" name="点缀线段"/>
            <p:cNvCxnSpPr/>
            <p:nvPr/>
          </p:nvCxnSpPr>
          <p:spPr>
            <a:xfrm>
              <a:off x="881964" y="3265696"/>
              <a:ext cx="608128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pic>
        <p:nvPicPr>
          <p:cNvPr id="5" name="图片 4"/>
          <p:cNvPicPr>
            <a:picLocks noChangeAspect="1"/>
          </p:cNvPicPr>
          <p:nvPr/>
        </p:nvPicPr>
        <p:blipFill>
          <a:blip r:embed="rId6"/>
          <a:stretch>
            <a:fillRect/>
          </a:stretch>
        </p:blipFill>
        <p:spPr>
          <a:xfrm>
            <a:off x="3618231" y="2671072"/>
            <a:ext cx="3849370" cy="22967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16" presetClass="entr" presetSubtype="21" fill="hold"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750"/>
                                        <p:tgtEl>
                                          <p:spTgt spid="4"/>
                                        </p:tgtEl>
                                      </p:cBhvr>
                                    </p:animEffect>
                                  </p:childTnLst>
                                </p:cTn>
                              </p:par>
                              <p:par>
                                <p:cTn id="12" presetID="2" presetClass="entr" presetSubtype="2" fill="hold" grpId="0" nodeType="withEffect">
                                  <p:stCondLst>
                                    <p:cond delay="800"/>
                                  </p:stCondLst>
                                  <p:childTnLst>
                                    <p:set>
                                      <p:cBhvr>
                                        <p:cTn id="13" dur="1" fill="hold">
                                          <p:stCondLst>
                                            <p:cond delay="0"/>
                                          </p:stCondLst>
                                        </p:cTn>
                                        <p:tgtEl>
                                          <p:spTgt spid="39"/>
                                        </p:tgtEl>
                                        <p:attrNameLst>
                                          <p:attrName>style.visibility</p:attrName>
                                        </p:attrNameLst>
                                      </p:cBhvr>
                                      <p:to>
                                        <p:strVal val="visible"/>
                                      </p:to>
                                    </p:set>
                                    <p:anim calcmode="lin" valueType="num">
                                      <p:cBhvr additive="base">
                                        <p:cTn id="14" dur="750" fill="hold"/>
                                        <p:tgtEl>
                                          <p:spTgt spid="39"/>
                                        </p:tgtEl>
                                        <p:attrNameLst>
                                          <p:attrName>ppt_x</p:attrName>
                                        </p:attrNameLst>
                                      </p:cBhvr>
                                      <p:tavLst>
                                        <p:tav tm="0">
                                          <p:val>
                                            <p:strVal val="1+#ppt_w/2"/>
                                          </p:val>
                                        </p:tav>
                                        <p:tav tm="100000">
                                          <p:val>
                                            <p:strVal val="#ppt_x"/>
                                          </p:val>
                                        </p:tav>
                                      </p:tavLst>
                                    </p:anim>
                                    <p:anim calcmode="lin" valueType="num">
                                      <p:cBhvr additive="base">
                                        <p:cTn id="15" dur="750" fill="hold"/>
                                        <p:tgtEl>
                                          <p:spTgt spid="39"/>
                                        </p:tgtEl>
                                        <p:attrNameLst>
                                          <p:attrName>ppt_y</p:attrName>
                                        </p:attrNameLst>
                                      </p:cBhvr>
                                      <p:tavLst>
                                        <p:tav tm="0">
                                          <p:val>
                                            <p:strVal val="#ppt_y"/>
                                          </p:val>
                                        </p:tav>
                                        <p:tav tm="100000">
                                          <p:val>
                                            <p:strVal val="#ppt_y"/>
                                          </p:val>
                                        </p:tav>
                                      </p:tavLst>
                                    </p:anim>
                                  </p:childTnLst>
                                </p:cTn>
                              </p:par>
                              <p:par>
                                <p:cTn id="16" presetID="22" presetClass="entr" presetSubtype="8" fill="hold" nodeType="withEffect">
                                  <p:stCondLst>
                                    <p:cond delay="1600"/>
                                  </p:stCondLst>
                                  <p:childTnLst>
                                    <p:set>
                                      <p:cBhvr>
                                        <p:cTn id="17" dur="1" fill="hold">
                                          <p:stCondLst>
                                            <p:cond delay="0"/>
                                          </p:stCondLst>
                                        </p:cTn>
                                        <p:tgtEl>
                                          <p:spTgt spid="41"/>
                                        </p:tgtEl>
                                        <p:attrNameLst>
                                          <p:attrName>style.visibility</p:attrName>
                                        </p:attrNameLst>
                                      </p:cBhvr>
                                      <p:to>
                                        <p:strVal val="visible"/>
                                      </p:to>
                                    </p:set>
                                    <p:animEffect transition="in" filter="wipe(left)">
                                      <p:cBhvr>
                                        <p:cTn id="18"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标题"/>
          <p:cNvGrpSpPr/>
          <p:nvPr/>
        </p:nvGrpSpPr>
        <p:grpSpPr>
          <a:xfrm>
            <a:off x="1524000" y="857250"/>
            <a:ext cx="9144000" cy="546497"/>
            <a:chOff x="0" y="-1"/>
            <a:chExt cx="12192000" cy="728663"/>
          </a:xfrm>
        </p:grpSpPr>
        <p:sp>
          <p:nvSpPr>
            <p:cNvPr id="33" name="打底色块"/>
            <p:cNvSpPr/>
            <p:nvPr/>
          </p:nvSpPr>
          <p:spPr>
            <a:xfrm>
              <a:off x="0" y="-1"/>
              <a:ext cx="12192000" cy="728663"/>
            </a:xfrm>
            <a:prstGeom prst="rect">
              <a:avLst/>
            </a:prstGeom>
            <a:solidFill>
              <a:schemeClr val="accent6"/>
            </a:solidFill>
            <a:ln w="25400" cap="flat" cmpd="sng" algn="ctr">
              <a:noFill/>
              <a:prstDash val="solid"/>
            </a:ln>
            <a:effectLst/>
          </p:spPr>
          <p:txBody>
            <a:bodyPr rtlCol="0" anchor="ctr"/>
            <a:lstStyle/>
            <a:p>
              <a:pPr algn="ctr" fontAlgn="base">
                <a:lnSpc>
                  <a:spcPct val="105000"/>
                </a:lnSpc>
                <a:spcBef>
                  <a:spcPct val="0"/>
                </a:spcBef>
                <a:spcAft>
                  <a:spcPct val="0"/>
                </a:spcAft>
                <a:buClr>
                  <a:srgbClr val="3366FF"/>
                </a:buClr>
                <a:buSzPct val="80000"/>
              </a:pPr>
              <a:endParaRPr kumimoji="1" lang="zh-CN" altLang="en-US" sz="1500" b="1" kern="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2" name="西北工业大学"/>
            <p:cNvPicPr>
              <a:picLocks noChangeAspect="1"/>
            </p:cNvPicPr>
            <p:nvPr/>
          </p:nvPicPr>
          <p:blipFill>
            <a:blip r:embed="rId33" cstate="screen"/>
            <a:stretch>
              <a:fillRect/>
            </a:stretch>
          </p:blipFill>
          <p:spPr>
            <a:xfrm>
              <a:off x="10240059" y="169864"/>
              <a:ext cx="1546127" cy="388933"/>
            </a:xfrm>
            <a:prstGeom prst="rect">
              <a:avLst/>
            </a:prstGeom>
          </p:spPr>
        </p:pic>
        <p:pic>
          <p:nvPicPr>
            <p:cNvPr id="43" name="校徽"/>
            <p:cNvPicPr>
              <a:picLocks noChangeAspect="1"/>
            </p:cNvPicPr>
            <p:nvPr/>
          </p:nvPicPr>
          <p:blipFill>
            <a:blip r:embed="rId34" cstate="screen"/>
            <a:stretch>
              <a:fillRect/>
            </a:stretch>
          </p:blipFill>
          <p:spPr>
            <a:xfrm>
              <a:off x="9627016" y="119639"/>
              <a:ext cx="490134" cy="489382"/>
            </a:xfrm>
            <a:prstGeom prst="rect">
              <a:avLst/>
            </a:prstGeom>
          </p:spPr>
        </p:pic>
        <p:sp>
          <p:nvSpPr>
            <p:cNvPr id="45" name="基础扎实 / Strong Preparation"/>
            <p:cNvSpPr txBox="1"/>
            <p:nvPr/>
          </p:nvSpPr>
          <p:spPr>
            <a:xfrm>
              <a:off x="911013" y="106651"/>
              <a:ext cx="8217903" cy="500118"/>
            </a:xfrm>
            <a:prstGeom prst="rect">
              <a:avLst/>
            </a:prstGeom>
            <a:solidFill>
              <a:schemeClr val="accent6"/>
            </a:solidFill>
          </p:spPr>
          <p:txBody>
            <a:bodyPr wrap="square" lIns="51421" tIns="25710" rIns="51421" bIns="25710" rtlCol="0">
              <a:spAutoFit/>
            </a:bodyPr>
            <a:lstStyle/>
            <a:p>
              <a:pPr algn="just" fontAlgn="base">
                <a:spcBef>
                  <a:spcPct val="0"/>
                </a:spcBef>
                <a:spcAft>
                  <a:spcPct val="0"/>
                </a:spcAft>
                <a:buClr>
                  <a:prstClr val="white"/>
                </a:buClr>
              </a:pPr>
              <a:r>
                <a:rPr lang="zh-CN" altLang="en-US" sz="2100" b="1" dirty="0">
                  <a:solidFill>
                    <a:srgbClr val="FFFFFF"/>
                  </a:solidFill>
                  <a:latin typeface="Arial" panose="020B0604020202020204" pitchFamily="34" charset="0"/>
                  <a:ea typeface="微软雅黑" panose="020B0503020204020204" pitchFamily="34" charset="-122"/>
                  <a:sym typeface="Arial" panose="020B0604020202020204" pitchFamily="34" charset="0"/>
                </a:rPr>
                <a:t>进度安排</a:t>
              </a:r>
              <a:endParaRPr lang="zh-CN" altLang="en-US" sz="1200" dirty="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齿轮"/>
            <p:cNvSpPr>
              <a:spLocks noChangeAspect="1"/>
            </p:cNvSpPr>
            <p:nvPr/>
          </p:nvSpPr>
          <p:spPr bwMode="auto">
            <a:xfrm>
              <a:off x="334963" y="121637"/>
              <a:ext cx="484428" cy="485386"/>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chemeClr val="bg1"/>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algn="ctr" fontAlgn="base">
                <a:spcBef>
                  <a:spcPct val="0"/>
                </a:spcBef>
                <a:spcAft>
                  <a:spcPct val="0"/>
                </a:spcAft>
              </a:pPr>
              <a:endParaRPr lang="zh-CN" altLang="en-US" sz="1350">
                <a:solidFill>
                  <a:srgbClr val="1C666E"/>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29" name="箭头"/>
          <p:cNvCxnSpPr/>
          <p:nvPr>
            <p:custDataLst>
              <p:tags r:id="rId1"/>
            </p:custDataLst>
          </p:nvPr>
        </p:nvCxnSpPr>
        <p:spPr>
          <a:xfrm>
            <a:off x="1523999" y="3622556"/>
            <a:ext cx="9144002" cy="0"/>
          </a:xfrm>
          <a:prstGeom prst="straightConnector1">
            <a:avLst/>
          </a:prstGeom>
          <a:ln w="101600">
            <a:solidFill>
              <a:schemeClr val="bg1">
                <a:lumMod val="65000"/>
                <a:alpha val="52941"/>
              </a:schemeClr>
            </a:solidFill>
            <a:miter lim="800000"/>
            <a:tailEnd type="arrow" w="sm" len="sm"/>
          </a:ln>
        </p:spPr>
        <p:style>
          <a:lnRef idx="1">
            <a:schemeClr val="accent1"/>
          </a:lnRef>
          <a:fillRef idx="0">
            <a:schemeClr val="accent1"/>
          </a:fillRef>
          <a:effectRef idx="0">
            <a:schemeClr val="accent1"/>
          </a:effectRef>
          <a:fontRef idx="minor">
            <a:schemeClr val="tx1"/>
          </a:fontRef>
        </p:style>
      </p:cxnSp>
      <p:sp>
        <p:nvSpPr>
          <p:cNvPr id="93" name="1"/>
          <p:cNvSpPr>
            <a:spLocks noChangeArrowheads="1"/>
          </p:cNvSpPr>
          <p:nvPr>
            <p:custDataLst>
              <p:tags r:id="rId2"/>
            </p:custDataLst>
          </p:nvPr>
        </p:nvSpPr>
        <p:spPr bwMode="auto">
          <a:xfrm>
            <a:off x="2388330" y="3471864"/>
            <a:ext cx="301387" cy="301387"/>
          </a:xfrm>
          <a:prstGeom prst="ellipse">
            <a:avLst/>
          </a:prstGeom>
          <a:solidFill>
            <a:schemeClr val="accent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sz="1500">
                <a:solidFill>
                  <a:prstClr val="white"/>
                </a:solidFill>
                <a:latin typeface="Arial" panose="020B0604020202020204" pitchFamily="34" charset="0"/>
                <a:ea typeface="微软雅黑" panose="020B0503020204020204" pitchFamily="34" charset="-122"/>
                <a:sym typeface="Arial" panose="020B0604020202020204" pitchFamily="34" charset="0"/>
              </a:rPr>
              <a:t>1</a:t>
            </a:r>
          </a:p>
        </p:txBody>
      </p:sp>
      <p:grpSp>
        <p:nvGrpSpPr>
          <p:cNvPr id="94" name="组合"/>
          <p:cNvGrpSpPr/>
          <p:nvPr>
            <p:custDataLst>
              <p:tags r:id="rId3"/>
            </p:custDataLst>
          </p:nvPr>
        </p:nvGrpSpPr>
        <p:grpSpPr>
          <a:xfrm>
            <a:off x="1675520" y="4541791"/>
            <a:ext cx="1727004" cy="1658524"/>
            <a:chOff x="1783520" y="2827030"/>
            <a:chExt cx="2302672" cy="2211365"/>
          </a:xfrm>
        </p:grpSpPr>
        <p:sp>
          <p:nvSpPr>
            <p:cNvPr id="96" name="学校充分发挥"/>
            <p:cNvSpPr txBox="1"/>
            <p:nvPr>
              <p:custDataLst>
                <p:tags r:id="rId28"/>
              </p:custDataLst>
            </p:nvPr>
          </p:nvSpPr>
          <p:spPr>
            <a:xfrm>
              <a:off x="1783520" y="3263782"/>
              <a:ext cx="2302672" cy="1774613"/>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fontAlgn="base">
                <a:lnSpc>
                  <a:spcPct val="130000"/>
                </a:lnSpc>
                <a:spcBef>
                  <a:spcPct val="0"/>
                </a:spcBef>
                <a:spcAft>
                  <a:spcPct val="0"/>
                </a:spcAft>
              </a:pPr>
              <a:r>
                <a:rPr lang="en-US" altLang="zh-CN"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收集包含有漏洞和无漏洞的源代码数据集，并对数据进行预处理，包括标记、分词、去除噪声等操作，以便于深度学习模型的训练和测试</a:t>
              </a:r>
              <a:r>
                <a:rPr lang="zh-CN" altLang="en-US" sz="1200" dirty="0">
                  <a:solidFill>
                    <a:srgbClr val="000000"/>
                  </a:solidFill>
                  <a:latin typeface="Arial" panose="020B0604020202020204" pitchFamily="34" charset="0"/>
                  <a:ea typeface="微软雅黑" panose="020B0503020204020204" pitchFamily="34" charset="-122"/>
                  <a:sym typeface="Arial" panose="020B0604020202020204" pitchFamily="34" charset="0"/>
                </a:rPr>
                <a:t>。</a:t>
              </a:r>
            </a:p>
          </p:txBody>
        </p:sp>
        <p:sp>
          <p:nvSpPr>
            <p:cNvPr id="97" name="科研能力强"/>
            <p:cNvSpPr txBox="1"/>
            <p:nvPr>
              <p:custDataLst>
                <p:tags r:id="rId29"/>
              </p:custDataLst>
            </p:nvPr>
          </p:nvSpPr>
          <p:spPr>
            <a:xfrm>
              <a:off x="2088319" y="2827030"/>
              <a:ext cx="1693072" cy="367453"/>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fontAlgn="base">
                <a:spcBef>
                  <a:spcPct val="0"/>
                </a:spcBef>
                <a:spcAft>
                  <a:spcPct val="0"/>
                </a:spcAft>
              </a:pPr>
              <a:r>
                <a:rPr lang="zh-CN" altLang="en-US" sz="1200" b="1" dirty="0">
                  <a:solidFill>
                    <a:srgbClr val="2D2D89"/>
                  </a:solidFill>
                  <a:latin typeface="Arial" panose="020B0604020202020204" pitchFamily="34" charset="0"/>
                  <a:ea typeface="微软雅黑" panose="020B0503020204020204" pitchFamily="34" charset="-122"/>
                  <a:sym typeface="Arial" panose="020B0604020202020204" pitchFamily="34" charset="0"/>
                </a:rPr>
                <a:t>数据收集和准备</a:t>
              </a:r>
            </a:p>
          </p:txBody>
        </p:sp>
        <p:cxnSp>
          <p:nvCxnSpPr>
            <p:cNvPr id="98" name="点缀线段"/>
            <p:cNvCxnSpPr/>
            <p:nvPr>
              <p:custDataLst>
                <p:tags r:id="rId30"/>
              </p:custDataLst>
            </p:nvPr>
          </p:nvCxnSpPr>
          <p:spPr>
            <a:xfrm>
              <a:off x="2088540" y="3193729"/>
              <a:ext cx="1602884"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95" name="图标"/>
          <p:cNvSpPr>
            <a:spLocks noChangeAspect="1"/>
          </p:cNvSpPr>
          <p:nvPr>
            <p:custDataLst>
              <p:tags r:id="rId4"/>
            </p:custDataLst>
          </p:nvPr>
        </p:nvSpPr>
        <p:spPr bwMode="auto">
          <a:xfrm>
            <a:off x="2323850" y="4019410"/>
            <a:ext cx="430347" cy="344339"/>
          </a:xfrm>
          <a:custGeom>
            <a:avLst/>
            <a:gdLst>
              <a:gd name="T0" fmla="*/ 669 w 669"/>
              <a:gd name="T1" fmla="*/ 237 h 536"/>
              <a:gd name="T2" fmla="*/ 643 w 669"/>
              <a:gd name="T3" fmla="*/ 180 h 536"/>
              <a:gd name="T4" fmla="*/ 637 w 669"/>
              <a:gd name="T5" fmla="*/ 174 h 536"/>
              <a:gd name="T6" fmla="*/ 303 w 669"/>
              <a:gd name="T7" fmla="*/ 2 h 536"/>
              <a:gd name="T8" fmla="*/ 289 w 669"/>
              <a:gd name="T9" fmla="*/ 2 h 536"/>
              <a:gd name="T10" fmla="*/ 11 w 669"/>
              <a:gd name="T11" fmla="*/ 146 h 536"/>
              <a:gd name="T12" fmla="*/ 2 w 669"/>
              <a:gd name="T13" fmla="*/ 160 h 536"/>
              <a:gd name="T14" fmla="*/ 11 w 669"/>
              <a:gd name="T15" fmla="*/ 174 h 536"/>
              <a:gd name="T16" fmla="*/ 20 w 669"/>
              <a:gd name="T17" fmla="*/ 179 h 536"/>
              <a:gd name="T18" fmla="*/ 27 w 669"/>
              <a:gd name="T19" fmla="*/ 207 h 536"/>
              <a:gd name="T20" fmla="*/ 19 w 669"/>
              <a:gd name="T21" fmla="*/ 238 h 536"/>
              <a:gd name="T22" fmla="*/ 4 w 669"/>
              <a:gd name="T23" fmla="*/ 247 h 536"/>
              <a:gd name="T24" fmla="*/ 11 w 669"/>
              <a:gd name="T25" fmla="*/ 268 h 536"/>
              <a:gd name="T26" fmla="*/ 20 w 669"/>
              <a:gd name="T27" fmla="*/ 273 h 536"/>
              <a:gd name="T28" fmla="*/ 27 w 669"/>
              <a:gd name="T29" fmla="*/ 302 h 536"/>
              <a:gd name="T30" fmla="*/ 19 w 669"/>
              <a:gd name="T31" fmla="*/ 333 h 536"/>
              <a:gd name="T32" fmla="*/ 4 w 669"/>
              <a:gd name="T33" fmla="*/ 341 h 536"/>
              <a:gd name="T34" fmla="*/ 11 w 669"/>
              <a:gd name="T35" fmla="*/ 362 h 536"/>
              <a:gd name="T36" fmla="*/ 345 w 669"/>
              <a:gd name="T37" fmla="*/ 534 h 536"/>
              <a:gd name="T38" fmla="*/ 352 w 669"/>
              <a:gd name="T39" fmla="*/ 536 h 536"/>
              <a:gd name="T40" fmla="*/ 359 w 669"/>
              <a:gd name="T41" fmla="*/ 534 h 536"/>
              <a:gd name="T42" fmla="*/ 635 w 669"/>
              <a:gd name="T43" fmla="*/ 392 h 536"/>
              <a:gd name="T44" fmla="*/ 669 w 669"/>
              <a:gd name="T45" fmla="*/ 332 h 536"/>
              <a:gd name="T46" fmla="*/ 655 w 669"/>
              <a:gd name="T47" fmla="*/ 285 h 536"/>
              <a:gd name="T48" fmla="*/ 669 w 669"/>
              <a:gd name="T49" fmla="*/ 237 h 536"/>
              <a:gd name="T50" fmla="*/ 296 w 669"/>
              <a:gd name="T51" fmla="*/ 87 h 536"/>
              <a:gd name="T52" fmla="*/ 492 w 669"/>
              <a:gd name="T53" fmla="*/ 188 h 536"/>
              <a:gd name="T54" fmla="*/ 352 w 669"/>
              <a:gd name="T55" fmla="*/ 260 h 536"/>
              <a:gd name="T56" fmla="*/ 155 w 669"/>
              <a:gd name="T57" fmla="*/ 160 h 536"/>
              <a:gd name="T58" fmla="*/ 296 w 669"/>
              <a:gd name="T59" fmla="*/ 87 h 536"/>
              <a:gd name="T60" fmla="*/ 630 w 669"/>
              <a:gd name="T61" fmla="*/ 361 h 536"/>
              <a:gd name="T62" fmla="*/ 629 w 669"/>
              <a:gd name="T63" fmla="*/ 361 h 536"/>
              <a:gd name="T64" fmla="*/ 627 w 669"/>
              <a:gd name="T65" fmla="*/ 362 h 536"/>
              <a:gd name="T66" fmla="*/ 623 w 669"/>
              <a:gd name="T67" fmla="*/ 363 h 536"/>
              <a:gd name="T68" fmla="*/ 623 w 669"/>
              <a:gd name="T69" fmla="*/ 363 h 536"/>
              <a:gd name="T70" fmla="*/ 352 w 669"/>
              <a:gd name="T71" fmla="*/ 503 h 536"/>
              <a:gd name="T72" fmla="*/ 34 w 669"/>
              <a:gd name="T73" fmla="*/ 339 h 536"/>
              <a:gd name="T74" fmla="*/ 42 w 669"/>
              <a:gd name="T75" fmla="*/ 302 h 536"/>
              <a:gd name="T76" fmla="*/ 41 w 669"/>
              <a:gd name="T77" fmla="*/ 283 h 536"/>
              <a:gd name="T78" fmla="*/ 345 w 669"/>
              <a:gd name="T79" fmla="*/ 440 h 536"/>
              <a:gd name="T80" fmla="*/ 352 w 669"/>
              <a:gd name="T81" fmla="*/ 441 h 536"/>
              <a:gd name="T82" fmla="*/ 359 w 669"/>
              <a:gd name="T83" fmla="*/ 440 h 536"/>
              <a:gd name="T84" fmla="*/ 627 w 669"/>
              <a:gd name="T85" fmla="*/ 302 h 536"/>
              <a:gd name="T86" fmla="*/ 629 w 669"/>
              <a:gd name="T87" fmla="*/ 302 h 536"/>
              <a:gd name="T88" fmla="*/ 637 w 669"/>
              <a:gd name="T89" fmla="*/ 332 h 536"/>
              <a:gd name="T90" fmla="*/ 630 w 669"/>
              <a:gd name="T91" fmla="*/ 361 h 536"/>
              <a:gd name="T92" fmla="*/ 630 w 669"/>
              <a:gd name="T93" fmla="*/ 267 h 536"/>
              <a:gd name="T94" fmla="*/ 630 w 669"/>
              <a:gd name="T95" fmla="*/ 267 h 536"/>
              <a:gd name="T96" fmla="*/ 627 w 669"/>
              <a:gd name="T97" fmla="*/ 268 h 536"/>
              <a:gd name="T98" fmla="*/ 623 w 669"/>
              <a:gd name="T99" fmla="*/ 268 h 536"/>
              <a:gd name="T100" fmla="*/ 623 w 669"/>
              <a:gd name="T101" fmla="*/ 269 h 536"/>
              <a:gd name="T102" fmla="*/ 352 w 669"/>
              <a:gd name="T103" fmla="*/ 408 h 536"/>
              <a:gd name="T104" fmla="*/ 34 w 669"/>
              <a:gd name="T105" fmla="*/ 245 h 536"/>
              <a:gd name="T106" fmla="*/ 42 w 669"/>
              <a:gd name="T107" fmla="*/ 207 h 536"/>
              <a:gd name="T108" fmla="*/ 41 w 669"/>
              <a:gd name="T109" fmla="*/ 189 h 536"/>
              <a:gd name="T110" fmla="*/ 345 w 669"/>
              <a:gd name="T111" fmla="*/ 345 h 536"/>
              <a:gd name="T112" fmla="*/ 352 w 669"/>
              <a:gd name="T113" fmla="*/ 347 h 536"/>
              <a:gd name="T114" fmla="*/ 359 w 669"/>
              <a:gd name="T115" fmla="*/ 345 h 536"/>
              <a:gd name="T116" fmla="*/ 627 w 669"/>
              <a:gd name="T117" fmla="*/ 207 h 536"/>
              <a:gd name="T118" fmla="*/ 629 w 669"/>
              <a:gd name="T119" fmla="*/ 207 h 536"/>
              <a:gd name="T120" fmla="*/ 637 w 669"/>
              <a:gd name="T121" fmla="*/ 237 h 536"/>
              <a:gd name="T122" fmla="*/ 630 w 669"/>
              <a:gd name="T123" fmla="*/ 267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69" h="536">
                <a:moveTo>
                  <a:pt x="669" y="237"/>
                </a:moveTo>
                <a:cubicBezTo>
                  <a:pt x="669" y="209"/>
                  <a:pt x="659" y="188"/>
                  <a:pt x="643" y="180"/>
                </a:cubicBezTo>
                <a:cubicBezTo>
                  <a:pt x="642" y="177"/>
                  <a:pt x="640" y="175"/>
                  <a:pt x="637" y="174"/>
                </a:cubicBezTo>
                <a:lnTo>
                  <a:pt x="303" y="2"/>
                </a:lnTo>
                <a:cubicBezTo>
                  <a:pt x="299" y="0"/>
                  <a:pt x="293" y="0"/>
                  <a:pt x="289" y="2"/>
                </a:cubicBezTo>
                <a:lnTo>
                  <a:pt x="11" y="146"/>
                </a:lnTo>
                <a:cubicBezTo>
                  <a:pt x="5" y="148"/>
                  <a:pt x="2" y="154"/>
                  <a:pt x="2" y="160"/>
                </a:cubicBezTo>
                <a:cubicBezTo>
                  <a:pt x="2" y="165"/>
                  <a:pt x="5" y="171"/>
                  <a:pt x="11" y="174"/>
                </a:cubicBezTo>
                <a:lnTo>
                  <a:pt x="20" y="179"/>
                </a:lnTo>
                <a:cubicBezTo>
                  <a:pt x="24" y="185"/>
                  <a:pt x="27" y="195"/>
                  <a:pt x="27" y="207"/>
                </a:cubicBezTo>
                <a:cubicBezTo>
                  <a:pt x="27" y="221"/>
                  <a:pt x="23" y="232"/>
                  <a:pt x="19" y="238"/>
                </a:cubicBezTo>
                <a:cubicBezTo>
                  <a:pt x="13" y="238"/>
                  <a:pt x="7" y="241"/>
                  <a:pt x="4" y="247"/>
                </a:cubicBezTo>
                <a:cubicBezTo>
                  <a:pt x="0" y="255"/>
                  <a:pt x="3" y="264"/>
                  <a:pt x="11" y="268"/>
                </a:cubicBezTo>
                <a:lnTo>
                  <a:pt x="20" y="273"/>
                </a:lnTo>
                <a:cubicBezTo>
                  <a:pt x="24" y="280"/>
                  <a:pt x="27" y="289"/>
                  <a:pt x="27" y="302"/>
                </a:cubicBezTo>
                <a:cubicBezTo>
                  <a:pt x="27" y="316"/>
                  <a:pt x="23" y="326"/>
                  <a:pt x="19" y="333"/>
                </a:cubicBezTo>
                <a:cubicBezTo>
                  <a:pt x="13" y="332"/>
                  <a:pt x="7" y="335"/>
                  <a:pt x="4" y="341"/>
                </a:cubicBezTo>
                <a:cubicBezTo>
                  <a:pt x="0" y="349"/>
                  <a:pt x="3" y="359"/>
                  <a:pt x="11" y="362"/>
                </a:cubicBezTo>
                <a:lnTo>
                  <a:pt x="345" y="534"/>
                </a:lnTo>
                <a:cubicBezTo>
                  <a:pt x="347" y="535"/>
                  <a:pt x="349" y="536"/>
                  <a:pt x="352" y="536"/>
                </a:cubicBezTo>
                <a:cubicBezTo>
                  <a:pt x="354" y="536"/>
                  <a:pt x="357" y="535"/>
                  <a:pt x="359" y="534"/>
                </a:cubicBezTo>
                <a:lnTo>
                  <a:pt x="635" y="392"/>
                </a:lnTo>
                <a:cubicBezTo>
                  <a:pt x="655" y="388"/>
                  <a:pt x="669" y="364"/>
                  <a:pt x="669" y="332"/>
                </a:cubicBezTo>
                <a:cubicBezTo>
                  <a:pt x="669" y="312"/>
                  <a:pt x="663" y="295"/>
                  <a:pt x="655" y="285"/>
                </a:cubicBezTo>
                <a:cubicBezTo>
                  <a:pt x="663" y="274"/>
                  <a:pt x="669" y="257"/>
                  <a:pt x="669" y="237"/>
                </a:cubicBezTo>
                <a:close/>
                <a:moveTo>
                  <a:pt x="296" y="87"/>
                </a:moveTo>
                <a:lnTo>
                  <a:pt x="492" y="188"/>
                </a:lnTo>
                <a:lnTo>
                  <a:pt x="352" y="260"/>
                </a:lnTo>
                <a:lnTo>
                  <a:pt x="155" y="160"/>
                </a:lnTo>
                <a:lnTo>
                  <a:pt x="296" y="87"/>
                </a:lnTo>
                <a:close/>
                <a:moveTo>
                  <a:pt x="630" y="361"/>
                </a:moveTo>
                <a:cubicBezTo>
                  <a:pt x="630" y="361"/>
                  <a:pt x="630" y="361"/>
                  <a:pt x="629" y="361"/>
                </a:cubicBezTo>
                <a:cubicBezTo>
                  <a:pt x="629" y="362"/>
                  <a:pt x="628" y="362"/>
                  <a:pt x="627" y="362"/>
                </a:cubicBezTo>
                <a:cubicBezTo>
                  <a:pt x="625" y="362"/>
                  <a:pt x="624" y="362"/>
                  <a:pt x="623" y="363"/>
                </a:cubicBezTo>
                <a:cubicBezTo>
                  <a:pt x="623" y="363"/>
                  <a:pt x="623" y="363"/>
                  <a:pt x="623" y="363"/>
                </a:cubicBezTo>
                <a:lnTo>
                  <a:pt x="352" y="503"/>
                </a:lnTo>
                <a:lnTo>
                  <a:pt x="34" y="339"/>
                </a:lnTo>
                <a:cubicBezTo>
                  <a:pt x="39" y="330"/>
                  <a:pt x="42" y="317"/>
                  <a:pt x="42" y="302"/>
                </a:cubicBezTo>
                <a:cubicBezTo>
                  <a:pt x="42" y="295"/>
                  <a:pt x="42" y="289"/>
                  <a:pt x="41" y="283"/>
                </a:cubicBezTo>
                <a:lnTo>
                  <a:pt x="345" y="440"/>
                </a:lnTo>
                <a:cubicBezTo>
                  <a:pt x="347" y="441"/>
                  <a:pt x="349" y="441"/>
                  <a:pt x="352" y="441"/>
                </a:cubicBezTo>
                <a:cubicBezTo>
                  <a:pt x="354" y="441"/>
                  <a:pt x="357" y="441"/>
                  <a:pt x="359" y="440"/>
                </a:cubicBezTo>
                <a:lnTo>
                  <a:pt x="627" y="302"/>
                </a:lnTo>
                <a:cubicBezTo>
                  <a:pt x="628" y="302"/>
                  <a:pt x="628" y="302"/>
                  <a:pt x="629" y="302"/>
                </a:cubicBezTo>
                <a:cubicBezTo>
                  <a:pt x="631" y="303"/>
                  <a:pt x="637" y="314"/>
                  <a:pt x="637" y="332"/>
                </a:cubicBezTo>
                <a:cubicBezTo>
                  <a:pt x="637" y="349"/>
                  <a:pt x="631" y="360"/>
                  <a:pt x="630" y="361"/>
                </a:cubicBezTo>
                <a:close/>
                <a:moveTo>
                  <a:pt x="630" y="267"/>
                </a:moveTo>
                <a:cubicBezTo>
                  <a:pt x="630" y="267"/>
                  <a:pt x="630" y="267"/>
                  <a:pt x="630" y="267"/>
                </a:cubicBezTo>
                <a:cubicBezTo>
                  <a:pt x="629" y="267"/>
                  <a:pt x="628" y="267"/>
                  <a:pt x="627" y="268"/>
                </a:cubicBezTo>
                <a:cubicBezTo>
                  <a:pt x="625" y="268"/>
                  <a:pt x="624" y="268"/>
                  <a:pt x="623" y="268"/>
                </a:cubicBezTo>
                <a:cubicBezTo>
                  <a:pt x="623" y="269"/>
                  <a:pt x="623" y="269"/>
                  <a:pt x="623" y="269"/>
                </a:cubicBezTo>
                <a:lnTo>
                  <a:pt x="352" y="408"/>
                </a:lnTo>
                <a:lnTo>
                  <a:pt x="34" y="245"/>
                </a:lnTo>
                <a:cubicBezTo>
                  <a:pt x="39" y="235"/>
                  <a:pt x="42" y="222"/>
                  <a:pt x="42" y="207"/>
                </a:cubicBezTo>
                <a:cubicBezTo>
                  <a:pt x="42" y="201"/>
                  <a:pt x="42" y="195"/>
                  <a:pt x="41" y="189"/>
                </a:cubicBezTo>
                <a:lnTo>
                  <a:pt x="345" y="345"/>
                </a:lnTo>
                <a:cubicBezTo>
                  <a:pt x="347" y="346"/>
                  <a:pt x="349" y="347"/>
                  <a:pt x="352" y="347"/>
                </a:cubicBezTo>
                <a:cubicBezTo>
                  <a:pt x="354" y="347"/>
                  <a:pt x="357" y="346"/>
                  <a:pt x="359" y="345"/>
                </a:cubicBezTo>
                <a:lnTo>
                  <a:pt x="627" y="207"/>
                </a:lnTo>
                <a:cubicBezTo>
                  <a:pt x="628" y="207"/>
                  <a:pt x="628" y="207"/>
                  <a:pt x="629" y="207"/>
                </a:cubicBezTo>
                <a:cubicBezTo>
                  <a:pt x="631" y="209"/>
                  <a:pt x="637" y="220"/>
                  <a:pt x="637" y="237"/>
                </a:cubicBezTo>
                <a:cubicBezTo>
                  <a:pt x="637" y="255"/>
                  <a:pt x="631" y="266"/>
                  <a:pt x="630" y="267"/>
                </a:cubicBez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sz="135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00" name="2"/>
          <p:cNvSpPr>
            <a:spLocks noChangeArrowheads="1"/>
          </p:cNvSpPr>
          <p:nvPr>
            <p:custDataLst>
              <p:tags r:id="rId5"/>
            </p:custDataLst>
          </p:nvPr>
        </p:nvSpPr>
        <p:spPr bwMode="auto">
          <a:xfrm>
            <a:off x="3767526" y="3491500"/>
            <a:ext cx="301387" cy="301387"/>
          </a:xfrm>
          <a:prstGeom prst="ellipse">
            <a:avLst/>
          </a:prstGeom>
          <a:solidFill>
            <a:schemeClr val="accent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sz="1500">
                <a:solidFill>
                  <a:prstClr val="white"/>
                </a:solidFill>
                <a:latin typeface="Arial" panose="020B0604020202020204" pitchFamily="34" charset="0"/>
                <a:ea typeface="微软雅黑" panose="020B0503020204020204" pitchFamily="34" charset="-122"/>
                <a:sym typeface="Arial" panose="020B0604020202020204" pitchFamily="34" charset="0"/>
              </a:rPr>
              <a:t>2</a:t>
            </a:r>
          </a:p>
        </p:txBody>
      </p:sp>
      <p:grpSp>
        <p:nvGrpSpPr>
          <p:cNvPr id="101" name="组合"/>
          <p:cNvGrpSpPr/>
          <p:nvPr>
            <p:custDataLst>
              <p:tags r:id="rId6"/>
            </p:custDataLst>
          </p:nvPr>
        </p:nvGrpSpPr>
        <p:grpSpPr>
          <a:xfrm>
            <a:off x="3078361" y="828227"/>
            <a:ext cx="2093398" cy="1209770"/>
            <a:chOff x="990194" y="-1380009"/>
            <a:chExt cx="2791197" cy="1613027"/>
          </a:xfrm>
        </p:grpSpPr>
        <p:sp>
          <p:nvSpPr>
            <p:cNvPr id="103" name="聚焦国家战略需求"/>
            <p:cNvSpPr txBox="1"/>
            <p:nvPr>
              <p:custDataLst>
                <p:tags r:id="rId25"/>
              </p:custDataLst>
            </p:nvPr>
          </p:nvSpPr>
          <p:spPr>
            <a:xfrm>
              <a:off x="990194" y="-1380009"/>
              <a:ext cx="2302672" cy="409941"/>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fontAlgn="base">
                <a:lnSpc>
                  <a:spcPct val="130000"/>
                </a:lnSpc>
                <a:spcBef>
                  <a:spcPct val="0"/>
                </a:spcBef>
                <a:spcAft>
                  <a:spcPct val="0"/>
                </a:spcAft>
              </a:pPr>
              <a:endParaRPr lang="zh-CN" altLang="en-US" sz="12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04" name="科研能力强"/>
            <p:cNvSpPr txBox="1"/>
            <p:nvPr>
              <p:custDataLst>
                <p:tags r:id="rId26"/>
              </p:custDataLst>
            </p:nvPr>
          </p:nvSpPr>
          <p:spPr>
            <a:xfrm>
              <a:off x="2088319" y="-196242"/>
              <a:ext cx="1693072" cy="42926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fontAlgn="base">
                <a:spcBef>
                  <a:spcPct val="0"/>
                </a:spcBef>
                <a:spcAft>
                  <a:spcPct val="0"/>
                </a:spcAft>
              </a:pPr>
              <a:endParaRPr lang="zh-CN" altLang="en-US" sz="1500" b="1">
                <a:solidFill>
                  <a:srgbClr val="BBE0E3"/>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105" name="点缀线段"/>
            <p:cNvCxnSpPr/>
            <p:nvPr>
              <p:custDataLst>
                <p:tags r:id="rId27"/>
              </p:custDataLst>
            </p:nvPr>
          </p:nvCxnSpPr>
          <p:spPr>
            <a:xfrm>
              <a:off x="1222400" y="67164"/>
              <a:ext cx="1728893"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2" name="图标"/>
          <p:cNvSpPr>
            <a:spLocks noChangeAspect="1"/>
          </p:cNvSpPr>
          <p:nvPr>
            <p:custDataLst>
              <p:tags r:id="rId7"/>
            </p:custDataLst>
          </p:nvPr>
        </p:nvSpPr>
        <p:spPr bwMode="auto">
          <a:xfrm>
            <a:off x="3719873" y="2924776"/>
            <a:ext cx="430347" cy="429699"/>
          </a:xfrm>
          <a:custGeom>
            <a:avLst/>
            <a:gdLst>
              <a:gd name="connsiteX0" fmla="*/ 497787 w 609473"/>
              <a:gd name="connsiteY0" fmla="*/ 478678 h 608556"/>
              <a:gd name="connsiteX1" fmla="*/ 484804 w 609473"/>
              <a:gd name="connsiteY1" fmla="*/ 484067 h 608556"/>
              <a:gd name="connsiteX2" fmla="*/ 484804 w 609473"/>
              <a:gd name="connsiteY2" fmla="*/ 509996 h 608556"/>
              <a:gd name="connsiteX3" fmla="*/ 536736 w 609473"/>
              <a:gd name="connsiteY3" fmla="*/ 561775 h 608556"/>
              <a:gd name="connsiteX4" fmla="*/ 549641 w 609473"/>
              <a:gd name="connsiteY4" fmla="*/ 567164 h 608556"/>
              <a:gd name="connsiteX5" fmla="*/ 562624 w 609473"/>
              <a:gd name="connsiteY5" fmla="*/ 561775 h 608556"/>
              <a:gd name="connsiteX6" fmla="*/ 562624 w 609473"/>
              <a:gd name="connsiteY6" fmla="*/ 535924 h 608556"/>
              <a:gd name="connsiteX7" fmla="*/ 510770 w 609473"/>
              <a:gd name="connsiteY7" fmla="*/ 484067 h 608556"/>
              <a:gd name="connsiteX8" fmla="*/ 497787 w 609473"/>
              <a:gd name="connsiteY8" fmla="*/ 478678 h 608556"/>
              <a:gd name="connsiteX9" fmla="*/ 389542 w 609473"/>
              <a:gd name="connsiteY9" fmla="*/ 303502 h 608556"/>
              <a:gd name="connsiteX10" fmla="*/ 403855 w 609473"/>
              <a:gd name="connsiteY10" fmla="*/ 309594 h 608556"/>
              <a:gd name="connsiteX11" fmla="*/ 590077 w 609473"/>
              <a:gd name="connsiteY11" fmla="*/ 495469 h 608556"/>
              <a:gd name="connsiteX12" fmla="*/ 609473 w 609473"/>
              <a:gd name="connsiteY12" fmla="*/ 542328 h 608556"/>
              <a:gd name="connsiteX13" fmla="*/ 590077 w 609473"/>
              <a:gd name="connsiteY13" fmla="*/ 589110 h 608556"/>
              <a:gd name="connsiteX14" fmla="*/ 543228 w 609473"/>
              <a:gd name="connsiteY14" fmla="*/ 608556 h 608556"/>
              <a:gd name="connsiteX15" fmla="*/ 496223 w 609473"/>
              <a:gd name="connsiteY15" fmla="*/ 589110 h 608556"/>
              <a:gd name="connsiteX16" fmla="*/ 310079 w 609473"/>
              <a:gd name="connsiteY16" fmla="*/ 403234 h 608556"/>
              <a:gd name="connsiteX17" fmla="*/ 304057 w 609473"/>
              <a:gd name="connsiteY17" fmla="*/ 386912 h 608556"/>
              <a:gd name="connsiteX18" fmla="*/ 313442 w 609473"/>
              <a:gd name="connsiteY18" fmla="*/ 371995 h 608556"/>
              <a:gd name="connsiteX19" fmla="*/ 372649 w 609473"/>
              <a:gd name="connsiteY19" fmla="*/ 312952 h 608556"/>
              <a:gd name="connsiteX20" fmla="*/ 389542 w 609473"/>
              <a:gd name="connsiteY20" fmla="*/ 303502 h 608556"/>
              <a:gd name="connsiteX21" fmla="*/ 191377 w 609473"/>
              <a:gd name="connsiteY21" fmla="*/ 78953 h 608556"/>
              <a:gd name="connsiteX22" fmla="*/ 79069 w 609473"/>
              <a:gd name="connsiteY22" fmla="*/ 191095 h 608556"/>
              <a:gd name="connsiteX23" fmla="*/ 191377 w 609473"/>
              <a:gd name="connsiteY23" fmla="*/ 303160 h 608556"/>
              <a:gd name="connsiteX24" fmla="*/ 303607 w 609473"/>
              <a:gd name="connsiteY24" fmla="*/ 191095 h 608556"/>
              <a:gd name="connsiteX25" fmla="*/ 191377 w 609473"/>
              <a:gd name="connsiteY25" fmla="*/ 78953 h 608556"/>
              <a:gd name="connsiteX26" fmla="*/ 191377 w 609473"/>
              <a:gd name="connsiteY26" fmla="*/ 0 h 608556"/>
              <a:gd name="connsiteX27" fmla="*/ 382676 w 609473"/>
              <a:gd name="connsiteY27" fmla="*/ 191095 h 608556"/>
              <a:gd name="connsiteX28" fmla="*/ 191377 w 609473"/>
              <a:gd name="connsiteY28" fmla="*/ 382112 h 608556"/>
              <a:gd name="connsiteX29" fmla="*/ 0 w 609473"/>
              <a:gd name="connsiteY29" fmla="*/ 191095 h 608556"/>
              <a:gd name="connsiteX30" fmla="*/ 191377 w 609473"/>
              <a:gd name="connsiteY30"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9473" h="608556">
                <a:moveTo>
                  <a:pt x="497787" y="478678"/>
                </a:moveTo>
                <a:cubicBezTo>
                  <a:pt x="493094" y="478678"/>
                  <a:pt x="488402" y="480474"/>
                  <a:pt x="484804" y="484067"/>
                </a:cubicBezTo>
                <a:cubicBezTo>
                  <a:pt x="477608" y="491252"/>
                  <a:pt x="477608" y="502810"/>
                  <a:pt x="484804" y="509996"/>
                </a:cubicBezTo>
                <a:lnTo>
                  <a:pt x="536736" y="561775"/>
                </a:lnTo>
                <a:cubicBezTo>
                  <a:pt x="540256" y="565368"/>
                  <a:pt x="544949" y="567164"/>
                  <a:pt x="549641" y="567164"/>
                </a:cubicBezTo>
                <a:cubicBezTo>
                  <a:pt x="554334" y="567164"/>
                  <a:pt x="559027" y="565368"/>
                  <a:pt x="562624" y="561775"/>
                </a:cubicBezTo>
                <a:cubicBezTo>
                  <a:pt x="569820" y="554668"/>
                  <a:pt x="569820" y="543031"/>
                  <a:pt x="562624" y="535924"/>
                </a:cubicBezTo>
                <a:lnTo>
                  <a:pt x="510770" y="484067"/>
                </a:lnTo>
                <a:cubicBezTo>
                  <a:pt x="507172" y="480474"/>
                  <a:pt x="502480" y="478678"/>
                  <a:pt x="497787" y="478678"/>
                </a:cubicBezTo>
                <a:close/>
                <a:moveTo>
                  <a:pt x="389542" y="303502"/>
                </a:moveTo>
                <a:cubicBezTo>
                  <a:pt x="394861" y="303502"/>
                  <a:pt x="399944" y="305611"/>
                  <a:pt x="403855" y="309594"/>
                </a:cubicBezTo>
                <a:lnTo>
                  <a:pt x="590077" y="495469"/>
                </a:lnTo>
                <a:cubicBezTo>
                  <a:pt x="602591" y="508043"/>
                  <a:pt x="609473" y="524678"/>
                  <a:pt x="609473" y="542328"/>
                </a:cubicBezTo>
                <a:cubicBezTo>
                  <a:pt x="609473" y="560057"/>
                  <a:pt x="602591" y="576692"/>
                  <a:pt x="590077" y="589110"/>
                </a:cubicBezTo>
                <a:cubicBezTo>
                  <a:pt x="577563" y="601684"/>
                  <a:pt x="560904" y="608556"/>
                  <a:pt x="543228" y="608556"/>
                </a:cubicBezTo>
                <a:cubicBezTo>
                  <a:pt x="525474" y="608556"/>
                  <a:pt x="508815" y="601684"/>
                  <a:pt x="496223" y="589110"/>
                </a:cubicBezTo>
                <a:lnTo>
                  <a:pt x="310079" y="403234"/>
                </a:lnTo>
                <a:cubicBezTo>
                  <a:pt x="305621" y="398783"/>
                  <a:pt x="303431" y="392847"/>
                  <a:pt x="304057" y="386912"/>
                </a:cubicBezTo>
                <a:cubicBezTo>
                  <a:pt x="304683" y="380898"/>
                  <a:pt x="308124" y="375509"/>
                  <a:pt x="313442" y="371995"/>
                </a:cubicBezTo>
                <a:cubicBezTo>
                  <a:pt x="337219" y="356531"/>
                  <a:pt x="357163" y="336694"/>
                  <a:pt x="372649" y="312952"/>
                </a:cubicBezTo>
                <a:cubicBezTo>
                  <a:pt x="376481" y="307017"/>
                  <a:pt x="382816" y="303502"/>
                  <a:pt x="389542" y="303502"/>
                </a:cubicBezTo>
                <a:close/>
                <a:moveTo>
                  <a:pt x="191377" y="78953"/>
                </a:moveTo>
                <a:cubicBezTo>
                  <a:pt x="129436" y="78953"/>
                  <a:pt x="79069" y="129245"/>
                  <a:pt x="79069" y="191095"/>
                </a:cubicBezTo>
                <a:cubicBezTo>
                  <a:pt x="79069" y="252867"/>
                  <a:pt x="129436" y="303160"/>
                  <a:pt x="191377" y="303160"/>
                </a:cubicBezTo>
                <a:cubicBezTo>
                  <a:pt x="253241" y="303160"/>
                  <a:pt x="303607" y="252867"/>
                  <a:pt x="303607" y="191095"/>
                </a:cubicBezTo>
                <a:cubicBezTo>
                  <a:pt x="303607" y="129245"/>
                  <a:pt x="253241" y="78953"/>
                  <a:pt x="191377" y="78953"/>
                </a:cubicBezTo>
                <a:close/>
                <a:moveTo>
                  <a:pt x="191377" y="0"/>
                </a:moveTo>
                <a:cubicBezTo>
                  <a:pt x="296881" y="0"/>
                  <a:pt x="382676" y="85747"/>
                  <a:pt x="382676" y="191095"/>
                </a:cubicBezTo>
                <a:cubicBezTo>
                  <a:pt x="382676" y="296444"/>
                  <a:pt x="296881" y="382112"/>
                  <a:pt x="191377" y="382112"/>
                </a:cubicBezTo>
                <a:cubicBezTo>
                  <a:pt x="85874" y="382112"/>
                  <a:pt x="0" y="296444"/>
                  <a:pt x="0" y="191095"/>
                </a:cubicBezTo>
                <a:cubicBezTo>
                  <a:pt x="0" y="85747"/>
                  <a:pt x="85874" y="0"/>
                  <a:pt x="191377" y="0"/>
                </a:cubicBez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sz="135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28" name="3"/>
          <p:cNvSpPr>
            <a:spLocks noChangeArrowheads="1"/>
          </p:cNvSpPr>
          <p:nvPr>
            <p:custDataLst>
              <p:tags r:id="rId8"/>
            </p:custDataLst>
          </p:nvPr>
        </p:nvSpPr>
        <p:spPr bwMode="auto">
          <a:xfrm>
            <a:off x="5346747" y="3495200"/>
            <a:ext cx="301387" cy="301387"/>
          </a:xfrm>
          <a:prstGeom prst="ellipse">
            <a:avLst/>
          </a:prstGeom>
          <a:solidFill>
            <a:schemeClr val="accent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sz="1500">
                <a:solidFill>
                  <a:prstClr val="white"/>
                </a:solidFill>
                <a:latin typeface="Arial" panose="020B0604020202020204" pitchFamily="34" charset="0"/>
                <a:ea typeface="微软雅黑" panose="020B0503020204020204" pitchFamily="34" charset="-122"/>
                <a:sym typeface="Arial" panose="020B0604020202020204" pitchFamily="34" charset="0"/>
              </a:rPr>
              <a:t>3</a:t>
            </a:r>
          </a:p>
        </p:txBody>
      </p:sp>
      <p:grpSp>
        <p:nvGrpSpPr>
          <p:cNvPr id="129" name="组合"/>
          <p:cNvGrpSpPr/>
          <p:nvPr>
            <p:custDataLst>
              <p:tags r:id="rId9"/>
            </p:custDataLst>
          </p:nvPr>
        </p:nvGrpSpPr>
        <p:grpSpPr>
          <a:xfrm>
            <a:off x="4678387" y="4670696"/>
            <a:ext cx="1727004" cy="1634394"/>
            <a:chOff x="1782673" y="2827030"/>
            <a:chExt cx="2302672" cy="2179192"/>
          </a:xfrm>
        </p:grpSpPr>
        <p:sp>
          <p:nvSpPr>
            <p:cNvPr id="131" name="为我国国防科技事业发展作出了重大贡献"/>
            <p:cNvSpPr txBox="1"/>
            <p:nvPr>
              <p:custDataLst>
                <p:tags r:id="rId22"/>
              </p:custDataLst>
            </p:nvPr>
          </p:nvSpPr>
          <p:spPr>
            <a:xfrm>
              <a:off x="1782673" y="3284102"/>
              <a:ext cx="2302672" cy="172212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fontAlgn="base">
                <a:lnSpc>
                  <a:spcPct val="130000"/>
                </a:lnSpc>
                <a:spcBef>
                  <a:spcPct val="0"/>
                </a:spcBef>
                <a:spcAft>
                  <a:spcPct val="0"/>
                </a:spcAft>
              </a:pPr>
              <a:r>
                <a:rPr lang="en-US" altLang="zh-CN" sz="100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000">
                  <a:solidFill>
                    <a:srgbClr val="000000"/>
                  </a:solidFill>
                  <a:latin typeface="Arial" panose="020B0604020202020204" pitchFamily="34" charset="0"/>
                  <a:ea typeface="微软雅黑" panose="020B0503020204020204" pitchFamily="34" charset="-122"/>
                  <a:sym typeface="Arial" panose="020B0604020202020204" pitchFamily="34" charset="0"/>
                </a:rPr>
                <a:t>将准备好的数据集输入到深度学习模型中进行训练，并使用验证集进行模型的评估和调优，以确保模型在源代码漏洞检测任务上的性能达到要求。</a:t>
              </a:r>
            </a:p>
          </p:txBody>
        </p:sp>
        <p:sp>
          <p:nvSpPr>
            <p:cNvPr id="132" name="科研能力强"/>
            <p:cNvSpPr txBox="1"/>
            <p:nvPr>
              <p:custDataLst>
                <p:tags r:id="rId23"/>
              </p:custDataLst>
            </p:nvPr>
          </p:nvSpPr>
          <p:spPr>
            <a:xfrm>
              <a:off x="2135732" y="2827030"/>
              <a:ext cx="1693072" cy="367453"/>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fontAlgn="base">
                <a:spcBef>
                  <a:spcPct val="0"/>
                </a:spcBef>
                <a:spcAft>
                  <a:spcPct val="0"/>
                </a:spcAft>
              </a:pPr>
              <a:r>
                <a:rPr lang="zh-CN" altLang="en-US" sz="1200" b="1">
                  <a:solidFill>
                    <a:srgbClr val="2D2D89"/>
                  </a:solidFill>
                  <a:latin typeface="Arial" panose="020B0604020202020204" pitchFamily="34" charset="0"/>
                  <a:ea typeface="微软雅黑" panose="020B0503020204020204" pitchFamily="34" charset="-122"/>
                  <a:sym typeface="Arial" panose="020B0604020202020204" pitchFamily="34" charset="0"/>
                </a:rPr>
                <a:t>模型训练和评估</a:t>
              </a:r>
            </a:p>
          </p:txBody>
        </p:sp>
        <p:cxnSp>
          <p:nvCxnSpPr>
            <p:cNvPr id="133" name="点缀线段"/>
            <p:cNvCxnSpPr/>
            <p:nvPr>
              <p:custDataLst>
                <p:tags r:id="rId24"/>
              </p:custDataLst>
            </p:nvPr>
          </p:nvCxnSpPr>
          <p:spPr>
            <a:xfrm>
              <a:off x="2133413" y="3193729"/>
              <a:ext cx="1602884"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30" name="图标"/>
          <p:cNvSpPr>
            <a:spLocks noChangeAspect="1"/>
          </p:cNvSpPr>
          <p:nvPr>
            <p:custDataLst>
              <p:tags r:id="rId10"/>
            </p:custDataLst>
          </p:nvPr>
        </p:nvSpPr>
        <p:spPr bwMode="auto">
          <a:xfrm>
            <a:off x="5281632" y="4019288"/>
            <a:ext cx="430347" cy="429670"/>
          </a:xfrm>
          <a:custGeom>
            <a:avLst/>
            <a:gdLst>
              <a:gd name="connsiteX0" fmla="*/ 483314 w 607630"/>
              <a:gd name="connsiteY0" fmla="*/ 393963 h 606674"/>
              <a:gd name="connsiteX1" fmla="*/ 493817 w 607630"/>
              <a:gd name="connsiteY1" fmla="*/ 434403 h 606674"/>
              <a:gd name="connsiteX2" fmla="*/ 486429 w 607630"/>
              <a:gd name="connsiteY2" fmla="*/ 461423 h 606674"/>
              <a:gd name="connsiteX3" fmla="*/ 349271 w 607630"/>
              <a:gd name="connsiteY3" fmla="*/ 598475 h 606674"/>
              <a:gd name="connsiteX4" fmla="*/ 321857 w 607630"/>
              <a:gd name="connsiteY4" fmla="*/ 605675 h 606674"/>
              <a:gd name="connsiteX5" fmla="*/ 309308 w 607630"/>
              <a:gd name="connsiteY5" fmla="*/ 598475 h 606674"/>
              <a:gd name="connsiteX6" fmla="*/ 301920 w 607630"/>
              <a:gd name="connsiteY6" fmla="*/ 585588 h 606674"/>
              <a:gd name="connsiteX7" fmla="*/ 299784 w 607630"/>
              <a:gd name="connsiteY7" fmla="*/ 577233 h 606674"/>
              <a:gd name="connsiteX8" fmla="*/ 107927 w 607630"/>
              <a:gd name="connsiteY8" fmla="*/ 308861 h 606674"/>
              <a:gd name="connsiteX9" fmla="*/ 133292 w 607630"/>
              <a:gd name="connsiteY9" fmla="*/ 334274 h 606674"/>
              <a:gd name="connsiteX10" fmla="*/ 272936 w 607630"/>
              <a:gd name="connsiteY10" fmla="*/ 473690 h 606674"/>
              <a:gd name="connsiteX11" fmla="*/ 298302 w 607630"/>
              <a:gd name="connsiteY11" fmla="*/ 499014 h 606674"/>
              <a:gd name="connsiteX12" fmla="*/ 283350 w 607630"/>
              <a:gd name="connsiteY12" fmla="*/ 513942 h 606674"/>
              <a:gd name="connsiteX13" fmla="*/ 238493 w 607630"/>
              <a:gd name="connsiteY13" fmla="*/ 558814 h 606674"/>
              <a:gd name="connsiteX14" fmla="*/ 218467 w 607630"/>
              <a:gd name="connsiteY14" fmla="*/ 566989 h 606674"/>
              <a:gd name="connsiteX15" fmla="*/ 198531 w 607630"/>
              <a:gd name="connsiteY15" fmla="*/ 558814 h 606674"/>
              <a:gd name="connsiteX16" fmla="*/ 48028 w 607630"/>
              <a:gd name="connsiteY16" fmla="*/ 408469 h 606674"/>
              <a:gd name="connsiteX17" fmla="*/ 39751 w 607630"/>
              <a:gd name="connsiteY17" fmla="*/ 388565 h 606674"/>
              <a:gd name="connsiteX18" fmla="*/ 48028 w 607630"/>
              <a:gd name="connsiteY18" fmla="*/ 368661 h 606674"/>
              <a:gd name="connsiteX19" fmla="*/ 56572 w 607630"/>
              <a:gd name="connsiteY19" fmla="*/ 360131 h 606674"/>
              <a:gd name="connsiteX20" fmla="*/ 92974 w 607630"/>
              <a:gd name="connsiteY20" fmla="*/ 323789 h 606674"/>
              <a:gd name="connsiteX21" fmla="*/ 172538 w 607630"/>
              <a:gd name="connsiteY21" fmla="*/ 113644 h 606674"/>
              <a:gd name="connsiteX22" fmla="*/ 213130 w 607630"/>
              <a:gd name="connsiteY22" fmla="*/ 124131 h 606674"/>
              <a:gd name="connsiteX23" fmla="*/ 29574 w 607630"/>
              <a:gd name="connsiteY23" fmla="*/ 307380 h 606674"/>
              <a:gd name="connsiteX24" fmla="*/ 21207 w 607630"/>
              <a:gd name="connsiteY24" fmla="*/ 305158 h 606674"/>
              <a:gd name="connsiteX25" fmla="*/ 8299 w 607630"/>
              <a:gd name="connsiteY25" fmla="*/ 297871 h 606674"/>
              <a:gd name="connsiteX26" fmla="*/ 1000 w 607630"/>
              <a:gd name="connsiteY26" fmla="*/ 285340 h 606674"/>
              <a:gd name="connsiteX27" fmla="*/ 8299 w 607630"/>
              <a:gd name="connsiteY27" fmla="*/ 257968 h 606674"/>
              <a:gd name="connsiteX28" fmla="*/ 145565 w 607630"/>
              <a:gd name="connsiteY28" fmla="*/ 120932 h 606674"/>
              <a:gd name="connsiteX29" fmla="*/ 172538 w 607630"/>
              <a:gd name="connsiteY29" fmla="*/ 113644 h 606674"/>
              <a:gd name="connsiteX30" fmla="*/ 313488 w 607630"/>
              <a:gd name="connsiteY30" fmla="*/ 103516 h 606674"/>
              <a:gd name="connsiteX31" fmla="*/ 503929 w 607630"/>
              <a:gd name="connsiteY31" fmla="*/ 293731 h 606674"/>
              <a:gd name="connsiteX32" fmla="*/ 466820 w 607630"/>
              <a:gd name="connsiteY32" fmla="*/ 330707 h 606674"/>
              <a:gd name="connsiteX33" fmla="*/ 338227 w 607630"/>
              <a:gd name="connsiteY33" fmla="*/ 459236 h 606674"/>
              <a:gd name="connsiteX34" fmla="*/ 338227 w 607630"/>
              <a:gd name="connsiteY34" fmla="*/ 459147 h 606674"/>
              <a:gd name="connsiteX35" fmla="*/ 318204 w 607630"/>
              <a:gd name="connsiteY35" fmla="*/ 439237 h 606674"/>
              <a:gd name="connsiteX36" fmla="*/ 167720 w 607630"/>
              <a:gd name="connsiteY36" fmla="*/ 288931 h 606674"/>
              <a:gd name="connsiteX37" fmla="*/ 147786 w 607630"/>
              <a:gd name="connsiteY37" fmla="*/ 269021 h 606674"/>
              <a:gd name="connsiteX38" fmla="*/ 237667 w 607630"/>
              <a:gd name="connsiteY38" fmla="*/ 179246 h 606674"/>
              <a:gd name="connsiteX39" fmla="*/ 276467 w 607630"/>
              <a:gd name="connsiteY39" fmla="*/ 140492 h 606674"/>
              <a:gd name="connsiteX40" fmla="*/ 573120 w 607630"/>
              <a:gd name="connsiteY40" fmla="*/ 32 h 606674"/>
              <a:gd name="connsiteX41" fmla="*/ 580779 w 607630"/>
              <a:gd name="connsiteY41" fmla="*/ 274 h 606674"/>
              <a:gd name="connsiteX42" fmla="*/ 607392 w 607630"/>
              <a:gd name="connsiteY42" fmla="*/ 26843 h 606674"/>
              <a:gd name="connsiteX43" fmla="*/ 542595 w 607630"/>
              <a:gd name="connsiteY43" fmla="*/ 252550 h 606674"/>
              <a:gd name="connsiteX44" fmla="*/ 354613 w 607630"/>
              <a:gd name="connsiteY44" fmla="*/ 64965 h 606674"/>
              <a:gd name="connsiteX45" fmla="*/ 573120 w 607630"/>
              <a:gd name="connsiteY45" fmla="*/ 32 h 606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7630" h="606674">
                <a:moveTo>
                  <a:pt x="483314" y="393963"/>
                </a:moveTo>
                <a:lnTo>
                  <a:pt x="493817" y="434403"/>
                </a:lnTo>
                <a:cubicBezTo>
                  <a:pt x="496309" y="444091"/>
                  <a:pt x="493550" y="454401"/>
                  <a:pt x="486429" y="461423"/>
                </a:cubicBezTo>
                <a:lnTo>
                  <a:pt x="349271" y="598475"/>
                </a:lnTo>
                <a:cubicBezTo>
                  <a:pt x="342062" y="605586"/>
                  <a:pt x="331648" y="608341"/>
                  <a:pt x="321857" y="605675"/>
                </a:cubicBezTo>
                <a:cubicBezTo>
                  <a:pt x="317051" y="604430"/>
                  <a:pt x="312779" y="601853"/>
                  <a:pt x="309308" y="598475"/>
                </a:cubicBezTo>
                <a:cubicBezTo>
                  <a:pt x="305836" y="594920"/>
                  <a:pt x="303255" y="590565"/>
                  <a:pt x="301920" y="585588"/>
                </a:cubicBezTo>
                <a:lnTo>
                  <a:pt x="299784" y="577233"/>
                </a:lnTo>
                <a:close/>
                <a:moveTo>
                  <a:pt x="107927" y="308861"/>
                </a:moveTo>
                <a:lnTo>
                  <a:pt x="133292" y="334274"/>
                </a:lnTo>
                <a:lnTo>
                  <a:pt x="272936" y="473690"/>
                </a:lnTo>
                <a:lnTo>
                  <a:pt x="298302" y="499014"/>
                </a:lnTo>
                <a:lnTo>
                  <a:pt x="283350" y="513942"/>
                </a:lnTo>
                <a:lnTo>
                  <a:pt x="238493" y="558814"/>
                </a:lnTo>
                <a:cubicBezTo>
                  <a:pt x="233152" y="564057"/>
                  <a:pt x="225943" y="566989"/>
                  <a:pt x="218467" y="566989"/>
                </a:cubicBezTo>
                <a:cubicBezTo>
                  <a:pt x="210991" y="566989"/>
                  <a:pt x="203871" y="564057"/>
                  <a:pt x="198531" y="558814"/>
                </a:cubicBezTo>
                <a:lnTo>
                  <a:pt x="48028" y="408469"/>
                </a:lnTo>
                <a:cubicBezTo>
                  <a:pt x="42777" y="403227"/>
                  <a:pt x="39751" y="396029"/>
                  <a:pt x="39751" y="388565"/>
                </a:cubicBezTo>
                <a:cubicBezTo>
                  <a:pt x="39751" y="381101"/>
                  <a:pt x="42777" y="373993"/>
                  <a:pt x="48028" y="368661"/>
                </a:cubicBezTo>
                <a:lnTo>
                  <a:pt x="56572" y="360131"/>
                </a:lnTo>
                <a:lnTo>
                  <a:pt x="92974" y="323789"/>
                </a:lnTo>
                <a:close/>
                <a:moveTo>
                  <a:pt x="172538" y="113644"/>
                </a:moveTo>
                <a:lnTo>
                  <a:pt x="213130" y="124131"/>
                </a:lnTo>
                <a:lnTo>
                  <a:pt x="29574" y="307380"/>
                </a:lnTo>
                <a:lnTo>
                  <a:pt x="21207" y="305158"/>
                </a:lnTo>
                <a:cubicBezTo>
                  <a:pt x="16222" y="303914"/>
                  <a:pt x="11771" y="301337"/>
                  <a:pt x="8299" y="297871"/>
                </a:cubicBezTo>
                <a:cubicBezTo>
                  <a:pt x="4827" y="294405"/>
                  <a:pt x="2335" y="290139"/>
                  <a:pt x="1000" y="285340"/>
                </a:cubicBezTo>
                <a:cubicBezTo>
                  <a:pt x="-1671" y="275565"/>
                  <a:pt x="1089" y="265167"/>
                  <a:pt x="8299" y="257968"/>
                </a:cubicBezTo>
                <a:lnTo>
                  <a:pt x="145565" y="120932"/>
                </a:lnTo>
                <a:cubicBezTo>
                  <a:pt x="152598" y="113911"/>
                  <a:pt x="162924" y="111067"/>
                  <a:pt x="172538" y="113644"/>
                </a:cubicBezTo>
                <a:close/>
                <a:moveTo>
                  <a:pt x="313488" y="103516"/>
                </a:moveTo>
                <a:lnTo>
                  <a:pt x="503929" y="293731"/>
                </a:lnTo>
                <a:lnTo>
                  <a:pt x="466820" y="330707"/>
                </a:lnTo>
                <a:lnTo>
                  <a:pt x="338227" y="459236"/>
                </a:lnTo>
                <a:lnTo>
                  <a:pt x="338227" y="459147"/>
                </a:lnTo>
                <a:lnTo>
                  <a:pt x="318204" y="439237"/>
                </a:lnTo>
                <a:lnTo>
                  <a:pt x="167720" y="288931"/>
                </a:lnTo>
                <a:lnTo>
                  <a:pt x="147786" y="269021"/>
                </a:lnTo>
                <a:lnTo>
                  <a:pt x="237667" y="179246"/>
                </a:lnTo>
                <a:lnTo>
                  <a:pt x="276467" y="140492"/>
                </a:lnTo>
                <a:close/>
                <a:moveTo>
                  <a:pt x="573120" y="32"/>
                </a:moveTo>
                <a:cubicBezTo>
                  <a:pt x="577387" y="95"/>
                  <a:pt x="580045" y="230"/>
                  <a:pt x="580779" y="274"/>
                </a:cubicBezTo>
                <a:cubicBezTo>
                  <a:pt x="595109" y="1074"/>
                  <a:pt x="606590" y="12537"/>
                  <a:pt x="607392" y="26843"/>
                </a:cubicBezTo>
                <a:cubicBezTo>
                  <a:pt x="607659" y="32708"/>
                  <a:pt x="613800" y="161379"/>
                  <a:pt x="542595" y="252550"/>
                </a:cubicBezTo>
                <a:lnTo>
                  <a:pt x="354613" y="64965"/>
                </a:lnTo>
                <a:cubicBezTo>
                  <a:pt x="434519" y="2684"/>
                  <a:pt x="543250" y="-407"/>
                  <a:pt x="573120" y="32"/>
                </a:cubicBez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sz="135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21" name="4"/>
          <p:cNvSpPr>
            <a:spLocks noChangeArrowheads="1"/>
          </p:cNvSpPr>
          <p:nvPr>
            <p:custDataLst>
              <p:tags r:id="rId11"/>
            </p:custDataLst>
          </p:nvPr>
        </p:nvSpPr>
        <p:spPr bwMode="auto">
          <a:xfrm>
            <a:off x="6959940" y="3486848"/>
            <a:ext cx="301387" cy="301387"/>
          </a:xfrm>
          <a:prstGeom prst="ellipse">
            <a:avLst/>
          </a:prstGeom>
          <a:solidFill>
            <a:schemeClr val="accent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sz="1500">
                <a:solidFill>
                  <a:prstClr val="white"/>
                </a:solidFill>
                <a:latin typeface="Arial" panose="020B0604020202020204" pitchFamily="34" charset="0"/>
                <a:ea typeface="微软雅黑" panose="020B0503020204020204" pitchFamily="34" charset="-122"/>
                <a:sym typeface="Arial" panose="020B0604020202020204" pitchFamily="34" charset="0"/>
              </a:rPr>
              <a:t>4</a:t>
            </a:r>
          </a:p>
        </p:txBody>
      </p:sp>
      <p:grpSp>
        <p:nvGrpSpPr>
          <p:cNvPr id="122" name="组合"/>
          <p:cNvGrpSpPr/>
          <p:nvPr>
            <p:custDataLst>
              <p:tags r:id="rId12"/>
            </p:custDataLst>
          </p:nvPr>
        </p:nvGrpSpPr>
        <p:grpSpPr>
          <a:xfrm>
            <a:off x="6405245" y="1656228"/>
            <a:ext cx="1727004" cy="1335309"/>
            <a:chOff x="1777593" y="-196242"/>
            <a:chExt cx="2302672" cy="1780412"/>
          </a:xfrm>
        </p:grpSpPr>
        <p:sp>
          <p:nvSpPr>
            <p:cNvPr id="124" name="为我国国民经济建设"/>
            <p:cNvSpPr txBox="1"/>
            <p:nvPr>
              <p:custDataLst>
                <p:tags r:id="rId19"/>
              </p:custDataLst>
            </p:nvPr>
          </p:nvSpPr>
          <p:spPr>
            <a:xfrm>
              <a:off x="1777593" y="128750"/>
              <a:ext cx="2302672" cy="1455420"/>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fontAlgn="base">
                <a:lnSpc>
                  <a:spcPct val="130000"/>
                </a:lnSpc>
                <a:spcBef>
                  <a:spcPct val="0"/>
                </a:spcBef>
                <a:spcAft>
                  <a:spcPct val="0"/>
                </a:spcAft>
              </a:pPr>
              <a:r>
                <a:rPr lang="zh-CN" altLang="en-US"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利用训练好的深度学习模型对新的源代码进行漏洞检测，识别潜在的安全问题，并提供修复建议，帮助开发人员提高代码质量和安全性。</a:t>
              </a:r>
            </a:p>
          </p:txBody>
        </p:sp>
        <p:sp>
          <p:nvSpPr>
            <p:cNvPr id="125" name="科研能力强"/>
            <p:cNvSpPr txBox="1"/>
            <p:nvPr>
              <p:custDataLst>
                <p:tags r:id="rId20"/>
              </p:custDataLst>
            </p:nvPr>
          </p:nvSpPr>
          <p:spPr>
            <a:xfrm>
              <a:off x="2088319" y="-196242"/>
              <a:ext cx="1693072" cy="367453"/>
            </a:xfrm>
            <a:prstGeom prst="rect">
              <a:avLst/>
            </a:prstGeom>
            <a:solidFill>
              <a:schemeClr val="bg1"/>
            </a:solid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fontAlgn="base">
                <a:spcBef>
                  <a:spcPct val="0"/>
                </a:spcBef>
                <a:spcAft>
                  <a:spcPct val="0"/>
                </a:spcAft>
              </a:pPr>
              <a:r>
                <a:rPr lang="zh-CN" altLang="en-US" sz="1200" b="1" dirty="0">
                  <a:solidFill>
                    <a:srgbClr val="2D2D89"/>
                  </a:solidFill>
                  <a:latin typeface="Arial" panose="020B0604020202020204" pitchFamily="34" charset="0"/>
                  <a:ea typeface="微软雅黑" panose="020B0503020204020204" pitchFamily="34" charset="-122"/>
                  <a:sym typeface="Arial" panose="020B0604020202020204" pitchFamily="34" charset="0"/>
                </a:rPr>
                <a:t>漏洞检测和修复</a:t>
              </a:r>
            </a:p>
          </p:txBody>
        </p:sp>
        <p:cxnSp>
          <p:nvCxnSpPr>
            <p:cNvPr id="126" name="点缀线段"/>
            <p:cNvCxnSpPr/>
            <p:nvPr>
              <p:custDataLst>
                <p:tags r:id="rId21"/>
              </p:custDataLst>
            </p:nvPr>
          </p:nvCxnSpPr>
          <p:spPr>
            <a:xfrm>
              <a:off x="2133413" y="183157"/>
              <a:ext cx="1602884"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23" name="图标"/>
          <p:cNvSpPr>
            <a:spLocks noChangeAspect="1"/>
          </p:cNvSpPr>
          <p:nvPr>
            <p:custDataLst>
              <p:tags r:id="rId13"/>
            </p:custDataLst>
          </p:nvPr>
        </p:nvSpPr>
        <p:spPr bwMode="auto">
          <a:xfrm>
            <a:off x="6887840" y="2996897"/>
            <a:ext cx="430347" cy="397755"/>
          </a:xfrm>
          <a:custGeom>
            <a:avLst/>
            <a:gdLst>
              <a:gd name="T0" fmla="*/ 4437 w 4465"/>
              <a:gd name="T1" fmla="*/ 22 h 4133"/>
              <a:gd name="T2" fmla="*/ 4365 w 4465"/>
              <a:gd name="T3" fmla="*/ 11 h 4133"/>
              <a:gd name="T4" fmla="*/ 39 w 4465"/>
              <a:gd name="T5" fmla="*/ 2022 h 4133"/>
              <a:gd name="T6" fmla="*/ 0 w 4465"/>
              <a:gd name="T7" fmla="*/ 2081 h 4133"/>
              <a:gd name="T8" fmla="*/ 37 w 4465"/>
              <a:gd name="T9" fmla="*/ 2142 h 4133"/>
              <a:gd name="T10" fmla="*/ 1262 w 4465"/>
              <a:gd name="T11" fmla="*/ 2743 h 4133"/>
              <a:gd name="T12" fmla="*/ 1331 w 4465"/>
              <a:gd name="T13" fmla="*/ 2736 h 4133"/>
              <a:gd name="T14" fmla="*/ 2522 w 4465"/>
              <a:gd name="T15" fmla="*/ 1847 h 4133"/>
              <a:gd name="T16" fmla="*/ 1587 w 4465"/>
              <a:gd name="T17" fmla="*/ 2808 h 4133"/>
              <a:gd name="T18" fmla="*/ 1568 w 4465"/>
              <a:gd name="T19" fmla="*/ 2859 h 4133"/>
              <a:gd name="T20" fmla="*/ 1661 w 4465"/>
              <a:gd name="T21" fmla="*/ 4071 h 4133"/>
              <a:gd name="T22" fmla="*/ 1707 w 4465"/>
              <a:gd name="T23" fmla="*/ 4130 h 4133"/>
              <a:gd name="T24" fmla="*/ 1728 w 4465"/>
              <a:gd name="T25" fmla="*/ 4133 h 4133"/>
              <a:gd name="T26" fmla="*/ 1778 w 4465"/>
              <a:gd name="T27" fmla="*/ 4110 h 4133"/>
              <a:gd name="T28" fmla="*/ 2428 w 4465"/>
              <a:gd name="T29" fmla="*/ 3357 h 4133"/>
              <a:gd name="T30" fmla="*/ 3232 w 4465"/>
              <a:gd name="T31" fmla="*/ 3741 h 4133"/>
              <a:gd name="T32" fmla="*/ 3287 w 4465"/>
              <a:gd name="T33" fmla="*/ 3742 h 4133"/>
              <a:gd name="T34" fmla="*/ 3324 w 4465"/>
              <a:gd name="T35" fmla="*/ 3700 h 4133"/>
              <a:gd name="T36" fmla="*/ 4457 w 4465"/>
              <a:gd name="T37" fmla="*/ 92 h 4133"/>
              <a:gd name="T38" fmla="*/ 4437 w 4465"/>
              <a:gd name="T39" fmla="*/ 22 h 4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65" h="4133">
                <a:moveTo>
                  <a:pt x="4437" y="22"/>
                </a:moveTo>
                <a:cubicBezTo>
                  <a:pt x="4417" y="4"/>
                  <a:pt x="4389" y="0"/>
                  <a:pt x="4365" y="11"/>
                </a:cubicBezTo>
                <a:lnTo>
                  <a:pt x="39" y="2022"/>
                </a:lnTo>
                <a:cubicBezTo>
                  <a:pt x="15" y="2032"/>
                  <a:pt x="0" y="2056"/>
                  <a:pt x="0" y="2081"/>
                </a:cubicBezTo>
                <a:cubicBezTo>
                  <a:pt x="0" y="2107"/>
                  <a:pt x="14" y="2131"/>
                  <a:pt x="37" y="2142"/>
                </a:cubicBezTo>
                <a:lnTo>
                  <a:pt x="1262" y="2743"/>
                </a:lnTo>
                <a:cubicBezTo>
                  <a:pt x="1284" y="2754"/>
                  <a:pt x="1311" y="2751"/>
                  <a:pt x="1331" y="2736"/>
                </a:cubicBezTo>
                <a:lnTo>
                  <a:pt x="2522" y="1847"/>
                </a:lnTo>
                <a:lnTo>
                  <a:pt x="1587" y="2808"/>
                </a:lnTo>
                <a:cubicBezTo>
                  <a:pt x="1574" y="2822"/>
                  <a:pt x="1567" y="2840"/>
                  <a:pt x="1568" y="2859"/>
                </a:cubicBezTo>
                <a:lnTo>
                  <a:pt x="1661" y="4071"/>
                </a:lnTo>
                <a:cubicBezTo>
                  <a:pt x="1663" y="4098"/>
                  <a:pt x="1681" y="4121"/>
                  <a:pt x="1707" y="4130"/>
                </a:cubicBezTo>
                <a:cubicBezTo>
                  <a:pt x="1714" y="4132"/>
                  <a:pt x="1721" y="4133"/>
                  <a:pt x="1728" y="4133"/>
                </a:cubicBezTo>
                <a:cubicBezTo>
                  <a:pt x="1747" y="4133"/>
                  <a:pt x="1765" y="4125"/>
                  <a:pt x="1778" y="4110"/>
                </a:cubicBezTo>
                <a:lnTo>
                  <a:pt x="2428" y="3357"/>
                </a:lnTo>
                <a:lnTo>
                  <a:pt x="3232" y="3741"/>
                </a:lnTo>
                <a:cubicBezTo>
                  <a:pt x="3249" y="3749"/>
                  <a:pt x="3269" y="3749"/>
                  <a:pt x="3287" y="3742"/>
                </a:cubicBezTo>
                <a:cubicBezTo>
                  <a:pt x="3305" y="3734"/>
                  <a:pt x="3318" y="3719"/>
                  <a:pt x="3324" y="3700"/>
                </a:cubicBezTo>
                <a:lnTo>
                  <a:pt x="4457" y="92"/>
                </a:lnTo>
                <a:cubicBezTo>
                  <a:pt x="4465" y="67"/>
                  <a:pt x="4457" y="39"/>
                  <a:pt x="4437" y="22"/>
                </a:cubicBezTo>
                <a:close/>
              </a:path>
            </a:pathLst>
          </a:custGeom>
          <a:solidFill>
            <a:schemeClr val="accent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sz="135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4"/>
          <p:cNvSpPr>
            <a:spLocks noChangeArrowheads="1"/>
          </p:cNvSpPr>
          <p:nvPr>
            <p:custDataLst>
              <p:tags r:id="rId14"/>
            </p:custDataLst>
          </p:nvPr>
        </p:nvSpPr>
        <p:spPr bwMode="auto">
          <a:xfrm>
            <a:off x="8471875" y="3486848"/>
            <a:ext cx="301387" cy="301387"/>
          </a:xfrm>
          <a:prstGeom prst="ellipse">
            <a:avLst/>
          </a:prstGeom>
          <a:solidFill>
            <a:schemeClr val="accent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spcBef>
                <a:spcPct val="0"/>
              </a:spcBef>
              <a:spcAft>
                <a:spcPct val="0"/>
              </a:spcAft>
            </a:pPr>
            <a:r>
              <a:rPr lang="en-US" sz="1500">
                <a:solidFill>
                  <a:prstClr val="white"/>
                </a:solidFill>
                <a:latin typeface="Arial" panose="020B0604020202020204" pitchFamily="34" charset="0"/>
                <a:ea typeface="微软雅黑" panose="020B0503020204020204" pitchFamily="34" charset="-122"/>
                <a:sym typeface="Arial" panose="020B0604020202020204" pitchFamily="34" charset="0"/>
              </a:rPr>
              <a:t>5</a:t>
            </a:r>
          </a:p>
        </p:txBody>
      </p:sp>
      <p:sp>
        <p:nvSpPr>
          <p:cNvPr id="5" name="文本框 4"/>
          <p:cNvSpPr txBox="1"/>
          <p:nvPr/>
        </p:nvSpPr>
        <p:spPr>
          <a:xfrm>
            <a:off x="3106421" y="1656080"/>
            <a:ext cx="1880235" cy="269240"/>
          </a:xfrm>
          <a:prstGeom prst="rect">
            <a:avLst/>
          </a:prstGeom>
          <a:noFill/>
        </p:spPr>
        <p:txBody>
          <a:bodyPr wrap="square" rtlCol="0">
            <a:noAutofit/>
          </a:bodyPr>
          <a:lstStyle/>
          <a:p>
            <a:pPr fontAlgn="base">
              <a:spcBef>
                <a:spcPct val="0"/>
              </a:spcBef>
              <a:spcAft>
                <a:spcPct val="0"/>
              </a:spcAft>
            </a:pPr>
            <a:r>
              <a:rPr lang="zh-CN" altLang="en-US" sz="1200" b="1" dirty="0">
                <a:solidFill>
                  <a:srgbClr val="2D2D89"/>
                </a:solidFill>
                <a:latin typeface="Arial" panose="020B0604020202020204" pitchFamily="34" charset="0"/>
                <a:ea typeface="微软雅黑" panose="020B0503020204020204" pitchFamily="34" charset="-122"/>
                <a:sym typeface="Arial" panose="020B0604020202020204" pitchFamily="34" charset="0"/>
              </a:rPr>
              <a:t>构建深度学习模型</a:t>
            </a:r>
          </a:p>
        </p:txBody>
      </p:sp>
      <p:sp>
        <p:nvSpPr>
          <p:cNvPr id="8" name="文本框 7"/>
          <p:cNvSpPr txBox="1"/>
          <p:nvPr/>
        </p:nvSpPr>
        <p:spPr>
          <a:xfrm>
            <a:off x="2855596" y="1920876"/>
            <a:ext cx="2050415" cy="1162685"/>
          </a:xfrm>
          <a:prstGeom prst="rect">
            <a:avLst/>
          </a:prstGeom>
          <a:noFill/>
        </p:spPr>
        <p:txBody>
          <a:bodyPr wrap="square" rtlCol="0">
            <a:noAutofit/>
          </a:bodyPr>
          <a:lstStyle/>
          <a:p>
            <a:pPr fontAlgn="base">
              <a:spcBef>
                <a:spcPct val="0"/>
              </a:spcBef>
              <a:spcAft>
                <a:spcPct val="0"/>
              </a:spcAft>
            </a:pPr>
            <a:r>
              <a:rPr lang="en-US" altLang="zh-CN" sz="1000">
                <a:solidFill>
                  <a:srgbClr val="000000"/>
                </a:solidFill>
                <a:latin typeface="Arial" panose="020B0604020202020204" pitchFamily="34" charset="0"/>
                <a:ea typeface="宋体" panose="02010600030101010101" pitchFamily="2" charset="-122"/>
              </a:rPr>
              <a:t>     </a:t>
            </a:r>
            <a:r>
              <a:rPr lang="zh-CN" altLang="en-US" sz="1000">
                <a:solidFill>
                  <a:srgbClr val="000000"/>
                </a:solidFill>
                <a:latin typeface="Arial" panose="020B0604020202020204" pitchFamily="34" charset="0"/>
                <a:ea typeface="宋体" panose="02010600030101010101" pitchFamily="2" charset="-122"/>
              </a:rPr>
              <a:t>选择适当的深度学习模型，如卷积神经网络（CNN）或循环神经网络（RNN），用于学习源代码中潜在漏洞的模式。通过在大量数据上进行训练，提高模型的准确性和泛化能力。</a:t>
            </a:r>
          </a:p>
        </p:txBody>
      </p:sp>
      <p:sp>
        <p:nvSpPr>
          <p:cNvPr id="68" name="书3"/>
          <p:cNvSpPr>
            <a:spLocks noChangeAspect="1"/>
          </p:cNvSpPr>
          <p:nvPr/>
        </p:nvSpPr>
        <p:spPr bwMode="auto">
          <a:xfrm>
            <a:off x="8370571" y="3890646"/>
            <a:ext cx="568325" cy="514985"/>
          </a:xfrm>
          <a:custGeom>
            <a:avLst/>
            <a:gdLst>
              <a:gd name="connsiteX0" fmla="*/ 215325 w 608256"/>
              <a:gd name="connsiteY0" fmla="*/ 448746 h 550540"/>
              <a:gd name="connsiteX1" fmla="*/ 232806 w 608256"/>
              <a:gd name="connsiteY1" fmla="*/ 514162 h 550540"/>
              <a:gd name="connsiteX2" fmla="*/ 271200 w 608256"/>
              <a:gd name="connsiteY2" fmla="*/ 522155 h 550540"/>
              <a:gd name="connsiteX3" fmla="*/ 269240 w 608256"/>
              <a:gd name="connsiteY3" fmla="*/ 459024 h 550540"/>
              <a:gd name="connsiteX4" fmla="*/ 82496 w 608256"/>
              <a:gd name="connsiteY4" fmla="*/ 423298 h 550540"/>
              <a:gd name="connsiteX5" fmla="*/ 102755 w 608256"/>
              <a:gd name="connsiteY5" fmla="*/ 486756 h 550540"/>
              <a:gd name="connsiteX6" fmla="*/ 102755 w 608256"/>
              <a:gd name="connsiteY6" fmla="*/ 487082 h 550540"/>
              <a:gd name="connsiteX7" fmla="*/ 201764 w 608256"/>
              <a:gd name="connsiteY7" fmla="*/ 507637 h 550540"/>
              <a:gd name="connsiteX8" fmla="*/ 192615 w 608256"/>
              <a:gd name="connsiteY8" fmla="*/ 444342 h 550540"/>
              <a:gd name="connsiteX9" fmla="*/ 26620 w 608256"/>
              <a:gd name="connsiteY9" fmla="*/ 412531 h 550540"/>
              <a:gd name="connsiteX10" fmla="*/ 40018 w 608256"/>
              <a:gd name="connsiteY10" fmla="*/ 474032 h 550540"/>
              <a:gd name="connsiteX11" fmla="*/ 70733 w 608256"/>
              <a:gd name="connsiteY11" fmla="*/ 480394 h 550540"/>
              <a:gd name="connsiteX12" fmla="*/ 59623 w 608256"/>
              <a:gd name="connsiteY12" fmla="*/ 418893 h 550540"/>
              <a:gd name="connsiteX13" fmla="*/ 518067 w 608256"/>
              <a:gd name="connsiteY13" fmla="*/ 410410 h 550540"/>
              <a:gd name="connsiteX14" fmla="*/ 293420 w 608256"/>
              <a:gd name="connsiteY14" fmla="*/ 460492 h 550540"/>
              <a:gd name="connsiteX15" fmla="*/ 299955 w 608256"/>
              <a:gd name="connsiteY15" fmla="*/ 525907 h 550540"/>
              <a:gd name="connsiteX16" fmla="*/ 532281 w 608256"/>
              <a:gd name="connsiteY16" fmla="*/ 468159 h 550540"/>
              <a:gd name="connsiteX17" fmla="*/ 518067 w 608256"/>
              <a:gd name="connsiteY17" fmla="*/ 410410 h 550540"/>
              <a:gd name="connsiteX18" fmla="*/ 82660 w 608256"/>
              <a:gd name="connsiteY18" fmla="*/ 381536 h 550540"/>
              <a:gd name="connsiteX19" fmla="*/ 327893 w 608256"/>
              <a:gd name="connsiteY19" fmla="*/ 432433 h 550540"/>
              <a:gd name="connsiteX20" fmla="*/ 330181 w 608256"/>
              <a:gd name="connsiteY20" fmla="*/ 432759 h 550540"/>
              <a:gd name="connsiteX21" fmla="*/ 330507 w 608256"/>
              <a:gd name="connsiteY21" fmla="*/ 432759 h 550540"/>
              <a:gd name="connsiteX22" fmla="*/ 330834 w 608256"/>
              <a:gd name="connsiteY22" fmla="*/ 432596 h 550540"/>
              <a:gd name="connsiteX23" fmla="*/ 333121 w 608256"/>
              <a:gd name="connsiteY23" fmla="*/ 432433 h 550540"/>
              <a:gd name="connsiteX24" fmla="*/ 516760 w 608256"/>
              <a:gd name="connsiteY24" fmla="*/ 386593 h 550540"/>
              <a:gd name="connsiteX25" fmla="*/ 517741 w 608256"/>
              <a:gd name="connsiteY25" fmla="*/ 386756 h 550540"/>
              <a:gd name="connsiteX26" fmla="*/ 530158 w 608256"/>
              <a:gd name="connsiteY26" fmla="*/ 383983 h 550540"/>
              <a:gd name="connsiteX27" fmla="*/ 541431 w 608256"/>
              <a:gd name="connsiteY27" fmla="*/ 387735 h 550540"/>
              <a:gd name="connsiteX28" fmla="*/ 543555 w 608256"/>
              <a:gd name="connsiteY28" fmla="*/ 399318 h 550540"/>
              <a:gd name="connsiteX29" fmla="*/ 555972 w 608256"/>
              <a:gd name="connsiteY29" fmla="*/ 462123 h 550540"/>
              <a:gd name="connsiteX30" fmla="*/ 559239 w 608256"/>
              <a:gd name="connsiteY30" fmla="*/ 461471 h 550540"/>
              <a:gd name="connsiteX31" fmla="*/ 573290 w 608256"/>
              <a:gd name="connsiteY31" fmla="*/ 469790 h 550540"/>
              <a:gd name="connsiteX32" fmla="*/ 564794 w 608256"/>
              <a:gd name="connsiteY32" fmla="*/ 483820 h 550540"/>
              <a:gd name="connsiteX33" fmla="*/ 298322 w 608256"/>
              <a:gd name="connsiteY33" fmla="*/ 550214 h 550540"/>
              <a:gd name="connsiteX34" fmla="*/ 296198 w 608256"/>
              <a:gd name="connsiteY34" fmla="*/ 550377 h 550540"/>
              <a:gd name="connsiteX35" fmla="*/ 295871 w 608256"/>
              <a:gd name="connsiteY35" fmla="*/ 550540 h 550540"/>
              <a:gd name="connsiteX36" fmla="*/ 295544 w 608256"/>
              <a:gd name="connsiteY36" fmla="*/ 550540 h 550540"/>
              <a:gd name="connsiteX37" fmla="*/ 293257 w 608256"/>
              <a:gd name="connsiteY37" fmla="*/ 550214 h 550540"/>
              <a:gd name="connsiteX38" fmla="*/ 31195 w 608256"/>
              <a:gd name="connsiteY38" fmla="*/ 495728 h 550540"/>
              <a:gd name="connsiteX39" fmla="*/ 24496 w 608256"/>
              <a:gd name="connsiteY39" fmla="*/ 491650 h 550540"/>
              <a:gd name="connsiteX40" fmla="*/ 11753 w 608256"/>
              <a:gd name="connsiteY40" fmla="*/ 392955 h 550540"/>
              <a:gd name="connsiteX41" fmla="*/ 23189 w 608256"/>
              <a:gd name="connsiteY41" fmla="*/ 388388 h 550540"/>
              <a:gd name="connsiteX42" fmla="*/ 34789 w 608256"/>
              <a:gd name="connsiteY42" fmla="*/ 390672 h 550540"/>
              <a:gd name="connsiteX43" fmla="*/ 249973 w 608256"/>
              <a:gd name="connsiteY43" fmla="*/ 320701 h 550540"/>
              <a:gd name="connsiteX44" fmla="*/ 267454 w 608256"/>
              <a:gd name="connsiteY44" fmla="*/ 385948 h 550540"/>
              <a:gd name="connsiteX45" fmla="*/ 305848 w 608256"/>
              <a:gd name="connsiteY45" fmla="*/ 393941 h 550540"/>
              <a:gd name="connsiteX46" fmla="*/ 303888 w 608256"/>
              <a:gd name="connsiteY46" fmla="*/ 330977 h 550540"/>
              <a:gd name="connsiteX47" fmla="*/ 117144 w 608256"/>
              <a:gd name="connsiteY47" fmla="*/ 295092 h 550540"/>
              <a:gd name="connsiteX48" fmla="*/ 137403 w 608256"/>
              <a:gd name="connsiteY48" fmla="*/ 358707 h 550540"/>
              <a:gd name="connsiteX49" fmla="*/ 137567 w 608256"/>
              <a:gd name="connsiteY49" fmla="*/ 359034 h 550540"/>
              <a:gd name="connsiteX50" fmla="*/ 236412 w 608256"/>
              <a:gd name="connsiteY50" fmla="*/ 379586 h 550540"/>
              <a:gd name="connsiteX51" fmla="*/ 227263 w 608256"/>
              <a:gd name="connsiteY51" fmla="*/ 316297 h 550540"/>
              <a:gd name="connsiteX52" fmla="*/ 61432 w 608256"/>
              <a:gd name="connsiteY52" fmla="*/ 284489 h 550540"/>
              <a:gd name="connsiteX53" fmla="*/ 74829 w 608256"/>
              <a:gd name="connsiteY53" fmla="*/ 345821 h 550540"/>
              <a:gd name="connsiteX54" fmla="*/ 105381 w 608256"/>
              <a:gd name="connsiteY54" fmla="*/ 352346 h 550540"/>
              <a:gd name="connsiteX55" fmla="*/ 94271 w 608256"/>
              <a:gd name="connsiteY55" fmla="*/ 290851 h 550540"/>
              <a:gd name="connsiteX56" fmla="*/ 552715 w 608256"/>
              <a:gd name="connsiteY56" fmla="*/ 282205 h 550540"/>
              <a:gd name="connsiteX57" fmla="*/ 328068 w 608256"/>
              <a:gd name="connsiteY57" fmla="*/ 332446 h 550540"/>
              <a:gd name="connsiteX58" fmla="*/ 334767 w 608256"/>
              <a:gd name="connsiteY58" fmla="*/ 397856 h 550540"/>
              <a:gd name="connsiteX59" fmla="*/ 566929 w 608256"/>
              <a:gd name="connsiteY59" fmla="*/ 339949 h 550540"/>
              <a:gd name="connsiteX60" fmla="*/ 552715 w 608256"/>
              <a:gd name="connsiteY60" fmla="*/ 282205 h 550540"/>
              <a:gd name="connsiteX61" fmla="*/ 214192 w 608256"/>
              <a:gd name="connsiteY61" fmla="*/ 234901 h 550540"/>
              <a:gd name="connsiteX62" fmla="*/ 233961 w 608256"/>
              <a:gd name="connsiteY62" fmla="*/ 257901 h 550540"/>
              <a:gd name="connsiteX63" fmla="*/ 263043 w 608256"/>
              <a:gd name="connsiteY63" fmla="*/ 268830 h 550540"/>
              <a:gd name="connsiteX64" fmla="*/ 274316 w 608256"/>
              <a:gd name="connsiteY64" fmla="*/ 267525 h 550540"/>
              <a:gd name="connsiteX65" fmla="*/ 314508 w 608256"/>
              <a:gd name="connsiteY65" fmla="*/ 267525 h 550540"/>
              <a:gd name="connsiteX66" fmla="*/ 325944 w 608256"/>
              <a:gd name="connsiteY66" fmla="*/ 268830 h 550540"/>
              <a:gd name="connsiteX67" fmla="*/ 355026 w 608256"/>
              <a:gd name="connsiteY67" fmla="*/ 257901 h 550540"/>
              <a:gd name="connsiteX68" fmla="*/ 374305 w 608256"/>
              <a:gd name="connsiteY68" fmla="*/ 235227 h 550540"/>
              <a:gd name="connsiteX69" fmla="*/ 552552 w 608256"/>
              <a:gd name="connsiteY69" fmla="*/ 258716 h 550540"/>
              <a:gd name="connsiteX70" fmla="*/ 564806 w 608256"/>
              <a:gd name="connsiteY70" fmla="*/ 255943 h 550540"/>
              <a:gd name="connsiteX71" fmla="*/ 576079 w 608256"/>
              <a:gd name="connsiteY71" fmla="*/ 259532 h 550540"/>
              <a:gd name="connsiteX72" fmla="*/ 578203 w 608256"/>
              <a:gd name="connsiteY72" fmla="*/ 271276 h 550540"/>
              <a:gd name="connsiteX73" fmla="*/ 590620 w 608256"/>
              <a:gd name="connsiteY73" fmla="*/ 334077 h 550540"/>
              <a:gd name="connsiteX74" fmla="*/ 593887 w 608256"/>
              <a:gd name="connsiteY74" fmla="*/ 333261 h 550540"/>
              <a:gd name="connsiteX75" fmla="*/ 607938 w 608256"/>
              <a:gd name="connsiteY75" fmla="*/ 341743 h 550540"/>
              <a:gd name="connsiteX76" fmla="*/ 599442 w 608256"/>
              <a:gd name="connsiteY76" fmla="*/ 355608 h 550540"/>
              <a:gd name="connsiteX77" fmla="*/ 332970 w 608256"/>
              <a:gd name="connsiteY77" fmla="*/ 421997 h 550540"/>
              <a:gd name="connsiteX78" fmla="*/ 330846 w 608256"/>
              <a:gd name="connsiteY78" fmla="*/ 422323 h 550540"/>
              <a:gd name="connsiteX79" fmla="*/ 330519 w 608256"/>
              <a:gd name="connsiteY79" fmla="*/ 422323 h 550540"/>
              <a:gd name="connsiteX80" fmla="*/ 330192 w 608256"/>
              <a:gd name="connsiteY80" fmla="*/ 422323 h 550540"/>
              <a:gd name="connsiteX81" fmla="*/ 327905 w 608256"/>
              <a:gd name="connsiteY81" fmla="*/ 422160 h 550540"/>
              <a:gd name="connsiteX82" fmla="*/ 65843 w 608256"/>
              <a:gd name="connsiteY82" fmla="*/ 367679 h 550540"/>
              <a:gd name="connsiteX83" fmla="*/ 59144 w 608256"/>
              <a:gd name="connsiteY83" fmla="*/ 363601 h 550540"/>
              <a:gd name="connsiteX84" fmla="*/ 46401 w 608256"/>
              <a:gd name="connsiteY84" fmla="*/ 264752 h 550540"/>
              <a:gd name="connsiteX85" fmla="*/ 57837 w 608256"/>
              <a:gd name="connsiteY85" fmla="*/ 260348 h 550540"/>
              <a:gd name="connsiteX86" fmla="*/ 69437 w 608256"/>
              <a:gd name="connsiteY86" fmla="*/ 262468 h 550540"/>
              <a:gd name="connsiteX87" fmla="*/ 241966 w 608256"/>
              <a:gd name="connsiteY87" fmla="*/ 81271 h 550540"/>
              <a:gd name="connsiteX88" fmla="*/ 279375 w 608256"/>
              <a:gd name="connsiteY88" fmla="*/ 91874 h 550540"/>
              <a:gd name="connsiteX89" fmla="*/ 309597 w 608256"/>
              <a:gd name="connsiteY89" fmla="*/ 91710 h 550540"/>
              <a:gd name="connsiteX90" fmla="*/ 346844 w 608256"/>
              <a:gd name="connsiteY90" fmla="*/ 81271 h 550540"/>
              <a:gd name="connsiteX91" fmla="*/ 346680 w 608256"/>
              <a:gd name="connsiteY91" fmla="*/ 249119 h 550540"/>
              <a:gd name="connsiteX92" fmla="*/ 317439 w 608256"/>
              <a:gd name="connsiteY92" fmla="*/ 255481 h 550540"/>
              <a:gd name="connsiteX93" fmla="*/ 294568 w 608256"/>
              <a:gd name="connsiteY93" fmla="*/ 252708 h 550540"/>
              <a:gd name="connsiteX94" fmla="*/ 271534 w 608256"/>
              <a:gd name="connsiteY94" fmla="*/ 255481 h 550540"/>
              <a:gd name="connsiteX95" fmla="*/ 242292 w 608256"/>
              <a:gd name="connsiteY95" fmla="*/ 249119 h 550540"/>
              <a:gd name="connsiteX96" fmla="*/ 241966 w 608256"/>
              <a:gd name="connsiteY96" fmla="*/ 81271 h 550540"/>
              <a:gd name="connsiteX97" fmla="*/ 256820 w 608256"/>
              <a:gd name="connsiteY97" fmla="*/ 327 h 550540"/>
              <a:gd name="connsiteX98" fmla="*/ 306025 w 608256"/>
              <a:gd name="connsiteY98" fmla="*/ 70473 h 550540"/>
              <a:gd name="connsiteX99" fmla="*/ 294418 w 608256"/>
              <a:gd name="connsiteY99" fmla="*/ 82056 h 550540"/>
              <a:gd name="connsiteX100" fmla="*/ 282812 w 608256"/>
              <a:gd name="connsiteY100" fmla="*/ 70473 h 550540"/>
              <a:gd name="connsiteX101" fmla="*/ 250935 w 608256"/>
              <a:gd name="connsiteY101" fmla="*/ 22676 h 550540"/>
              <a:gd name="connsiteX102" fmla="*/ 242598 w 608256"/>
              <a:gd name="connsiteY102" fmla="*/ 8647 h 550540"/>
              <a:gd name="connsiteX103" fmla="*/ 256820 w 608256"/>
              <a:gd name="connsiteY103" fmla="*/ 327 h 55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8256" h="550540">
                <a:moveTo>
                  <a:pt x="215325" y="448746"/>
                </a:moveTo>
                <a:cubicBezTo>
                  <a:pt x="214018" y="461144"/>
                  <a:pt x="213527" y="490019"/>
                  <a:pt x="232806" y="514162"/>
                </a:cubicBezTo>
                <a:lnTo>
                  <a:pt x="271200" y="522155"/>
                </a:lnTo>
                <a:cubicBezTo>
                  <a:pt x="261234" y="498828"/>
                  <a:pt x="263685" y="475500"/>
                  <a:pt x="269240" y="459024"/>
                </a:cubicBezTo>
                <a:close/>
                <a:moveTo>
                  <a:pt x="82496" y="423298"/>
                </a:moveTo>
                <a:cubicBezTo>
                  <a:pt x="81679" y="437980"/>
                  <a:pt x="83313" y="464896"/>
                  <a:pt x="102755" y="486756"/>
                </a:cubicBezTo>
                <a:cubicBezTo>
                  <a:pt x="102755" y="486919"/>
                  <a:pt x="102755" y="486919"/>
                  <a:pt x="102755" y="487082"/>
                </a:cubicBezTo>
                <a:lnTo>
                  <a:pt x="201764" y="507637"/>
                </a:lnTo>
                <a:cubicBezTo>
                  <a:pt x="189837" y="481862"/>
                  <a:pt x="190981" y="456414"/>
                  <a:pt x="192615" y="444342"/>
                </a:cubicBezTo>
                <a:close/>
                <a:moveTo>
                  <a:pt x="26620" y="412531"/>
                </a:moveTo>
                <a:cubicBezTo>
                  <a:pt x="15674" y="436022"/>
                  <a:pt x="33482" y="464570"/>
                  <a:pt x="40018" y="474032"/>
                </a:cubicBezTo>
                <a:lnTo>
                  <a:pt x="70733" y="480394"/>
                </a:lnTo>
                <a:cubicBezTo>
                  <a:pt x="58806" y="456577"/>
                  <a:pt x="58479" y="432759"/>
                  <a:pt x="59623" y="418893"/>
                </a:cubicBezTo>
                <a:close/>
                <a:moveTo>
                  <a:pt x="518067" y="410410"/>
                </a:moveTo>
                <a:lnTo>
                  <a:pt x="293420" y="460492"/>
                </a:lnTo>
                <a:cubicBezTo>
                  <a:pt x="288846" y="470932"/>
                  <a:pt x="280023" y="498828"/>
                  <a:pt x="299955" y="525907"/>
                </a:cubicBezTo>
                <a:lnTo>
                  <a:pt x="532281" y="468159"/>
                </a:lnTo>
                <a:cubicBezTo>
                  <a:pt x="518721" y="445973"/>
                  <a:pt x="516924" y="424929"/>
                  <a:pt x="518067" y="410410"/>
                </a:cubicBezTo>
                <a:close/>
                <a:moveTo>
                  <a:pt x="82660" y="381536"/>
                </a:moveTo>
                <a:lnTo>
                  <a:pt x="327893" y="432433"/>
                </a:lnTo>
                <a:cubicBezTo>
                  <a:pt x="328710" y="432596"/>
                  <a:pt x="329527" y="432759"/>
                  <a:pt x="330181" y="432759"/>
                </a:cubicBezTo>
                <a:cubicBezTo>
                  <a:pt x="330344" y="432759"/>
                  <a:pt x="330344" y="432759"/>
                  <a:pt x="330507" y="432759"/>
                </a:cubicBezTo>
                <a:cubicBezTo>
                  <a:pt x="330671" y="432759"/>
                  <a:pt x="330671" y="432759"/>
                  <a:pt x="330834" y="432596"/>
                </a:cubicBezTo>
                <a:cubicBezTo>
                  <a:pt x="331488" y="432596"/>
                  <a:pt x="332305" y="432596"/>
                  <a:pt x="333121" y="432433"/>
                </a:cubicBezTo>
                <a:lnTo>
                  <a:pt x="516760" y="386593"/>
                </a:lnTo>
                <a:lnTo>
                  <a:pt x="517741" y="386756"/>
                </a:lnTo>
                <a:lnTo>
                  <a:pt x="530158" y="383983"/>
                </a:lnTo>
                <a:cubicBezTo>
                  <a:pt x="534405" y="383168"/>
                  <a:pt x="538653" y="384473"/>
                  <a:pt x="541431" y="387735"/>
                </a:cubicBezTo>
                <a:cubicBezTo>
                  <a:pt x="544208" y="390835"/>
                  <a:pt x="545025" y="395402"/>
                  <a:pt x="543555" y="399318"/>
                </a:cubicBezTo>
                <a:cubicBezTo>
                  <a:pt x="543065" y="400459"/>
                  <a:pt x="532935" y="430639"/>
                  <a:pt x="555972" y="462123"/>
                </a:cubicBezTo>
                <a:lnTo>
                  <a:pt x="559239" y="461471"/>
                </a:lnTo>
                <a:cubicBezTo>
                  <a:pt x="565448" y="459839"/>
                  <a:pt x="571656" y="463591"/>
                  <a:pt x="573290" y="469790"/>
                </a:cubicBezTo>
                <a:cubicBezTo>
                  <a:pt x="574760" y="475989"/>
                  <a:pt x="571002" y="482188"/>
                  <a:pt x="564794" y="483820"/>
                </a:cubicBezTo>
                <a:lnTo>
                  <a:pt x="298322" y="550214"/>
                </a:lnTo>
                <a:cubicBezTo>
                  <a:pt x="297668" y="550377"/>
                  <a:pt x="296851" y="550377"/>
                  <a:pt x="296198" y="550377"/>
                </a:cubicBezTo>
                <a:cubicBezTo>
                  <a:pt x="296034" y="550377"/>
                  <a:pt x="296034" y="550540"/>
                  <a:pt x="295871" y="550540"/>
                </a:cubicBezTo>
                <a:cubicBezTo>
                  <a:pt x="295707" y="550540"/>
                  <a:pt x="295707" y="550540"/>
                  <a:pt x="295544" y="550540"/>
                </a:cubicBezTo>
                <a:cubicBezTo>
                  <a:pt x="294727" y="550540"/>
                  <a:pt x="294074" y="550377"/>
                  <a:pt x="293257" y="550214"/>
                </a:cubicBezTo>
                <a:lnTo>
                  <a:pt x="31195" y="495728"/>
                </a:lnTo>
                <a:cubicBezTo>
                  <a:pt x="28581" y="495239"/>
                  <a:pt x="26130" y="493771"/>
                  <a:pt x="24496" y="491650"/>
                </a:cubicBezTo>
                <a:cubicBezTo>
                  <a:pt x="22699" y="489366"/>
                  <a:pt x="-20106" y="435859"/>
                  <a:pt x="11753" y="392955"/>
                </a:cubicBezTo>
                <a:cubicBezTo>
                  <a:pt x="14367" y="389367"/>
                  <a:pt x="18778" y="387572"/>
                  <a:pt x="23189" y="388388"/>
                </a:cubicBezTo>
                <a:lnTo>
                  <a:pt x="34789" y="390672"/>
                </a:lnTo>
                <a:close/>
                <a:moveTo>
                  <a:pt x="249973" y="320701"/>
                </a:moveTo>
                <a:cubicBezTo>
                  <a:pt x="248666" y="333098"/>
                  <a:pt x="248175" y="361970"/>
                  <a:pt x="267454" y="385948"/>
                </a:cubicBezTo>
                <a:lnTo>
                  <a:pt x="305848" y="393941"/>
                </a:lnTo>
                <a:cubicBezTo>
                  <a:pt x="295882" y="370615"/>
                  <a:pt x="298333" y="347452"/>
                  <a:pt x="303888" y="330977"/>
                </a:cubicBezTo>
                <a:close/>
                <a:moveTo>
                  <a:pt x="117144" y="295092"/>
                </a:moveTo>
                <a:cubicBezTo>
                  <a:pt x="116327" y="309935"/>
                  <a:pt x="117961" y="336850"/>
                  <a:pt x="137403" y="358707"/>
                </a:cubicBezTo>
                <a:cubicBezTo>
                  <a:pt x="137403" y="358707"/>
                  <a:pt x="137403" y="358871"/>
                  <a:pt x="137567" y="359034"/>
                </a:cubicBezTo>
                <a:lnTo>
                  <a:pt x="236412" y="379586"/>
                </a:lnTo>
                <a:cubicBezTo>
                  <a:pt x="224485" y="353651"/>
                  <a:pt x="225629" y="328368"/>
                  <a:pt x="227263" y="316297"/>
                </a:cubicBezTo>
                <a:close/>
                <a:moveTo>
                  <a:pt x="61432" y="284489"/>
                </a:moveTo>
                <a:cubicBezTo>
                  <a:pt x="50322" y="307815"/>
                  <a:pt x="68130" y="336523"/>
                  <a:pt x="74829" y="345821"/>
                </a:cubicBezTo>
                <a:lnTo>
                  <a:pt x="105381" y="352346"/>
                </a:lnTo>
                <a:cubicBezTo>
                  <a:pt x="93454" y="328531"/>
                  <a:pt x="93127" y="304552"/>
                  <a:pt x="94271" y="290851"/>
                </a:cubicBezTo>
                <a:close/>
                <a:moveTo>
                  <a:pt x="552715" y="282205"/>
                </a:moveTo>
                <a:lnTo>
                  <a:pt x="328068" y="332446"/>
                </a:lnTo>
                <a:cubicBezTo>
                  <a:pt x="323494" y="342722"/>
                  <a:pt x="314671" y="370615"/>
                  <a:pt x="334767" y="397856"/>
                </a:cubicBezTo>
                <a:lnTo>
                  <a:pt x="566929" y="339949"/>
                </a:lnTo>
                <a:cubicBezTo>
                  <a:pt x="553369" y="317928"/>
                  <a:pt x="551572" y="296723"/>
                  <a:pt x="552715" y="282205"/>
                </a:cubicBezTo>
                <a:close/>
                <a:moveTo>
                  <a:pt x="214192" y="234901"/>
                </a:moveTo>
                <a:cubicBezTo>
                  <a:pt x="219911" y="242242"/>
                  <a:pt x="226446" y="249908"/>
                  <a:pt x="233961" y="257901"/>
                </a:cubicBezTo>
                <a:cubicBezTo>
                  <a:pt x="240497" y="264752"/>
                  <a:pt x="251116" y="268830"/>
                  <a:pt x="263043" y="268830"/>
                </a:cubicBezTo>
                <a:cubicBezTo>
                  <a:pt x="266964" y="268830"/>
                  <a:pt x="270722" y="268340"/>
                  <a:pt x="274316" y="267525"/>
                </a:cubicBezTo>
                <a:cubicBezTo>
                  <a:pt x="287387" y="264262"/>
                  <a:pt x="301437" y="264262"/>
                  <a:pt x="314508" y="267525"/>
                </a:cubicBezTo>
                <a:cubicBezTo>
                  <a:pt x="318102" y="268340"/>
                  <a:pt x="322023" y="268830"/>
                  <a:pt x="325944" y="268830"/>
                </a:cubicBezTo>
                <a:cubicBezTo>
                  <a:pt x="337708" y="268830"/>
                  <a:pt x="348327" y="264752"/>
                  <a:pt x="355026" y="257901"/>
                </a:cubicBezTo>
                <a:cubicBezTo>
                  <a:pt x="362378" y="250071"/>
                  <a:pt x="368750" y="242568"/>
                  <a:pt x="374305" y="235227"/>
                </a:cubicBezTo>
                <a:lnTo>
                  <a:pt x="552552" y="258716"/>
                </a:lnTo>
                <a:lnTo>
                  <a:pt x="564806" y="255943"/>
                </a:lnTo>
                <a:cubicBezTo>
                  <a:pt x="569053" y="254965"/>
                  <a:pt x="573301" y="256433"/>
                  <a:pt x="576079" y="259532"/>
                </a:cubicBezTo>
                <a:cubicBezTo>
                  <a:pt x="578856" y="262794"/>
                  <a:pt x="579673" y="267199"/>
                  <a:pt x="578203" y="271276"/>
                </a:cubicBezTo>
                <a:cubicBezTo>
                  <a:pt x="577713" y="272418"/>
                  <a:pt x="567583" y="302432"/>
                  <a:pt x="590620" y="334077"/>
                </a:cubicBezTo>
                <a:lnTo>
                  <a:pt x="593887" y="333261"/>
                </a:lnTo>
                <a:cubicBezTo>
                  <a:pt x="600096" y="331793"/>
                  <a:pt x="606304" y="335545"/>
                  <a:pt x="607938" y="341743"/>
                </a:cubicBezTo>
                <a:cubicBezTo>
                  <a:pt x="609408" y="347942"/>
                  <a:pt x="605650" y="354140"/>
                  <a:pt x="599442" y="355608"/>
                </a:cubicBezTo>
                <a:lnTo>
                  <a:pt x="332970" y="421997"/>
                </a:lnTo>
                <a:cubicBezTo>
                  <a:pt x="332316" y="422160"/>
                  <a:pt x="331499" y="422323"/>
                  <a:pt x="330846" y="422323"/>
                </a:cubicBezTo>
                <a:cubicBezTo>
                  <a:pt x="330682" y="422323"/>
                  <a:pt x="330682" y="422323"/>
                  <a:pt x="330519" y="422323"/>
                </a:cubicBezTo>
                <a:cubicBezTo>
                  <a:pt x="330355" y="422323"/>
                  <a:pt x="330355" y="422323"/>
                  <a:pt x="330192" y="422323"/>
                </a:cubicBezTo>
                <a:cubicBezTo>
                  <a:pt x="329539" y="422323"/>
                  <a:pt x="328722" y="422323"/>
                  <a:pt x="327905" y="422160"/>
                </a:cubicBezTo>
                <a:lnTo>
                  <a:pt x="65843" y="367679"/>
                </a:lnTo>
                <a:cubicBezTo>
                  <a:pt x="63229" y="367026"/>
                  <a:pt x="60778" y="365721"/>
                  <a:pt x="59144" y="363601"/>
                </a:cubicBezTo>
                <a:cubicBezTo>
                  <a:pt x="57347" y="361317"/>
                  <a:pt x="14542" y="307815"/>
                  <a:pt x="46401" y="264752"/>
                </a:cubicBezTo>
                <a:cubicBezTo>
                  <a:pt x="49015" y="261163"/>
                  <a:pt x="53426" y="259369"/>
                  <a:pt x="57837" y="260348"/>
                </a:cubicBezTo>
                <a:lnTo>
                  <a:pt x="69437" y="262468"/>
                </a:lnTo>
                <a:close/>
                <a:moveTo>
                  <a:pt x="241966" y="81271"/>
                </a:moveTo>
                <a:cubicBezTo>
                  <a:pt x="254381" y="80292"/>
                  <a:pt x="268757" y="86164"/>
                  <a:pt x="279375" y="91874"/>
                </a:cubicBezTo>
                <a:cubicBezTo>
                  <a:pt x="288034" y="96441"/>
                  <a:pt x="300939" y="96278"/>
                  <a:pt x="309597" y="91710"/>
                </a:cubicBezTo>
                <a:cubicBezTo>
                  <a:pt x="320216" y="86164"/>
                  <a:pt x="334592" y="80292"/>
                  <a:pt x="346844" y="81271"/>
                </a:cubicBezTo>
                <a:cubicBezTo>
                  <a:pt x="368571" y="83228"/>
                  <a:pt x="443227" y="147823"/>
                  <a:pt x="346680" y="249119"/>
                </a:cubicBezTo>
                <a:cubicBezTo>
                  <a:pt x="339819" y="256133"/>
                  <a:pt x="326914" y="257764"/>
                  <a:pt x="317439" y="255481"/>
                </a:cubicBezTo>
                <a:cubicBezTo>
                  <a:pt x="311068" y="253849"/>
                  <a:pt x="303390" y="252708"/>
                  <a:pt x="294568" y="252708"/>
                </a:cubicBezTo>
                <a:cubicBezTo>
                  <a:pt x="285583" y="252708"/>
                  <a:pt x="277742" y="254013"/>
                  <a:pt x="271534" y="255481"/>
                </a:cubicBezTo>
                <a:cubicBezTo>
                  <a:pt x="262059" y="257764"/>
                  <a:pt x="248990" y="256133"/>
                  <a:pt x="242292" y="249119"/>
                </a:cubicBezTo>
                <a:cubicBezTo>
                  <a:pt x="145582" y="147823"/>
                  <a:pt x="220239" y="83228"/>
                  <a:pt x="241966" y="81271"/>
                </a:cubicBezTo>
                <a:close/>
                <a:moveTo>
                  <a:pt x="256820" y="327"/>
                </a:moveTo>
                <a:cubicBezTo>
                  <a:pt x="273821" y="4895"/>
                  <a:pt x="306188" y="25123"/>
                  <a:pt x="306025" y="70473"/>
                </a:cubicBezTo>
                <a:cubicBezTo>
                  <a:pt x="306025" y="76836"/>
                  <a:pt x="300794" y="82056"/>
                  <a:pt x="294418" y="82056"/>
                </a:cubicBezTo>
                <a:cubicBezTo>
                  <a:pt x="288043" y="82056"/>
                  <a:pt x="282812" y="76836"/>
                  <a:pt x="282812" y="70473"/>
                </a:cubicBezTo>
                <a:cubicBezTo>
                  <a:pt x="282976" y="31485"/>
                  <a:pt x="251262" y="22839"/>
                  <a:pt x="250935" y="22676"/>
                </a:cubicBezTo>
                <a:cubicBezTo>
                  <a:pt x="244724" y="21045"/>
                  <a:pt x="241127" y="14846"/>
                  <a:pt x="242598" y="8647"/>
                </a:cubicBezTo>
                <a:cubicBezTo>
                  <a:pt x="244233" y="2448"/>
                  <a:pt x="250609" y="-1141"/>
                  <a:pt x="256820" y="327"/>
                </a:cubicBezTo>
                <a:close/>
              </a:path>
            </a:pathLst>
          </a:custGeom>
          <a:solidFill>
            <a:schemeClr val="accent6"/>
          </a:solidFill>
          <a:ln>
            <a:noFill/>
          </a:ln>
        </p:spPr>
        <p:txBody>
          <a:bodyPr/>
          <a:lstStyle/>
          <a:p>
            <a:pPr fontAlgn="base">
              <a:spcBef>
                <a:spcPct val="0"/>
              </a:spcBef>
              <a:spcAft>
                <a:spcPct val="0"/>
              </a:spcAft>
            </a:pPr>
            <a:endParaRPr lang="zh-CN" altLang="en-US" sz="10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9" name="组合"/>
          <p:cNvGrpSpPr/>
          <p:nvPr>
            <p:custDataLst>
              <p:tags r:id="rId15"/>
            </p:custDataLst>
          </p:nvPr>
        </p:nvGrpSpPr>
        <p:grpSpPr>
          <a:xfrm>
            <a:off x="7784807" y="4673871"/>
            <a:ext cx="1738630" cy="1814682"/>
            <a:chOff x="1782673" y="2827030"/>
            <a:chExt cx="2318173" cy="2419576"/>
          </a:xfrm>
        </p:grpSpPr>
        <p:sp>
          <p:nvSpPr>
            <p:cNvPr id="10" name="为我国国防科技事业发展作出了重大贡献"/>
            <p:cNvSpPr txBox="1"/>
            <p:nvPr>
              <p:custDataLst>
                <p:tags r:id="rId16"/>
              </p:custDataLst>
            </p:nvPr>
          </p:nvSpPr>
          <p:spPr>
            <a:xfrm>
              <a:off x="1782673" y="3284102"/>
              <a:ext cx="2302672" cy="196250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fontAlgn="base">
                <a:lnSpc>
                  <a:spcPct val="130000"/>
                </a:lnSpc>
                <a:spcBef>
                  <a:spcPct val="0"/>
                </a:spcBef>
                <a:spcAft>
                  <a:spcPct val="0"/>
                </a:spcAft>
              </a:pPr>
              <a:r>
                <a:rPr lang="en-US" altLang="zh-CN"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     </a:t>
              </a:r>
              <a:r>
                <a:rPr lang="zh-CN" altLang="en-US" sz="1000" dirty="0">
                  <a:solidFill>
                    <a:srgbClr val="000000"/>
                  </a:solidFill>
                  <a:latin typeface="Arial" panose="020B0604020202020204" pitchFamily="34" charset="0"/>
                  <a:ea typeface="微软雅黑" panose="020B0503020204020204" pitchFamily="34" charset="-122"/>
                  <a:sym typeface="Arial" panose="020B0604020202020204" pitchFamily="34" charset="0"/>
                </a:rPr>
                <a:t>对实验结果进行深入分析，了解模型在不同情况下的表现，并根据反馈结果对模型进行优化和改进，持续提升漏洞检测的准确性和效率。进行论文的投稿以及申请软著。</a:t>
              </a:r>
            </a:p>
          </p:txBody>
        </p:sp>
        <p:sp>
          <p:nvSpPr>
            <p:cNvPr id="11" name="科研能力强"/>
            <p:cNvSpPr txBox="1"/>
            <p:nvPr>
              <p:custDataLst>
                <p:tags r:id="rId17"/>
              </p:custDataLst>
            </p:nvPr>
          </p:nvSpPr>
          <p:spPr>
            <a:xfrm>
              <a:off x="1902053" y="2827030"/>
              <a:ext cx="2198793" cy="367453"/>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defTabSz="457200" fontAlgn="base">
                <a:spcBef>
                  <a:spcPct val="0"/>
                </a:spcBef>
                <a:spcAft>
                  <a:spcPct val="0"/>
                </a:spcAft>
              </a:pPr>
              <a:r>
                <a:rPr lang="zh-CN" altLang="en-US" sz="1200" b="1">
                  <a:solidFill>
                    <a:srgbClr val="2D2D89"/>
                  </a:solidFill>
                  <a:latin typeface="Arial" panose="020B0604020202020204" pitchFamily="34" charset="0"/>
                  <a:ea typeface="微软雅黑" panose="020B0503020204020204" pitchFamily="34" charset="-122"/>
                  <a:sym typeface="Arial" panose="020B0604020202020204" pitchFamily="34" charset="0"/>
                </a:rPr>
                <a:t>实验结果分析和优化</a:t>
              </a:r>
            </a:p>
          </p:txBody>
        </p:sp>
        <p:cxnSp>
          <p:nvCxnSpPr>
            <p:cNvPr id="12" name="点缀线段"/>
            <p:cNvCxnSpPr/>
            <p:nvPr>
              <p:custDataLst>
                <p:tags r:id="rId18"/>
              </p:custDataLst>
            </p:nvPr>
          </p:nvCxnSpPr>
          <p:spPr>
            <a:xfrm>
              <a:off x="2133413" y="3193729"/>
              <a:ext cx="1602884"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369B1CF7-FAC6-87A9-6AFC-321A4CB0A50A}"/>
              </a:ext>
            </a:extLst>
          </p:cNvPr>
          <p:cNvSpPr txBox="1"/>
          <p:nvPr/>
        </p:nvSpPr>
        <p:spPr>
          <a:xfrm>
            <a:off x="1964158" y="3112364"/>
            <a:ext cx="1408593" cy="276999"/>
          </a:xfrm>
          <a:prstGeom prst="rect">
            <a:avLst/>
          </a:prstGeom>
          <a:noFill/>
        </p:spPr>
        <p:txBody>
          <a:bodyPr wrap="square" rtlCol="0">
            <a:spAutoFit/>
          </a:bodyPr>
          <a:lstStyle/>
          <a:p>
            <a:r>
              <a:rPr lang="en-US" altLang="zh-CN" sz="1200" dirty="0"/>
              <a:t>2024.6-2024.9</a:t>
            </a:r>
            <a:endParaRPr lang="zh-CN" altLang="en-US" sz="1200" dirty="0"/>
          </a:p>
        </p:txBody>
      </p:sp>
      <p:sp>
        <p:nvSpPr>
          <p:cNvPr id="6" name="文本框 5">
            <a:extLst>
              <a:ext uri="{FF2B5EF4-FFF2-40B4-BE49-F238E27FC236}">
                <a16:creationId xmlns:a16="http://schemas.microsoft.com/office/drawing/2014/main" id="{37F8A50A-80CF-D8E4-5052-E3C9B3A2A7D2}"/>
              </a:ext>
            </a:extLst>
          </p:cNvPr>
          <p:cNvSpPr txBox="1"/>
          <p:nvPr/>
        </p:nvSpPr>
        <p:spPr>
          <a:xfrm>
            <a:off x="3252516" y="4023052"/>
            <a:ext cx="2410668" cy="276999"/>
          </a:xfrm>
          <a:prstGeom prst="rect">
            <a:avLst/>
          </a:prstGeom>
          <a:noFill/>
        </p:spPr>
        <p:txBody>
          <a:bodyPr wrap="square" rtlCol="0">
            <a:spAutoFit/>
          </a:bodyPr>
          <a:lstStyle/>
          <a:p>
            <a:r>
              <a:rPr lang="en-US" altLang="zh-CN" sz="1200" dirty="0"/>
              <a:t>2024.10-2025.1</a:t>
            </a:r>
            <a:endParaRPr lang="zh-CN" altLang="en-US" sz="1200" dirty="0"/>
          </a:p>
        </p:txBody>
      </p:sp>
      <p:sp>
        <p:nvSpPr>
          <p:cNvPr id="7" name="文本框 6">
            <a:extLst>
              <a:ext uri="{FF2B5EF4-FFF2-40B4-BE49-F238E27FC236}">
                <a16:creationId xmlns:a16="http://schemas.microsoft.com/office/drawing/2014/main" id="{2945CDBE-52AA-739A-76E2-C3387BDA74E9}"/>
              </a:ext>
            </a:extLst>
          </p:cNvPr>
          <p:cNvSpPr txBox="1"/>
          <p:nvPr/>
        </p:nvSpPr>
        <p:spPr>
          <a:xfrm>
            <a:off x="4907284" y="3156453"/>
            <a:ext cx="1946687" cy="276999"/>
          </a:xfrm>
          <a:prstGeom prst="rect">
            <a:avLst/>
          </a:prstGeom>
          <a:noFill/>
        </p:spPr>
        <p:txBody>
          <a:bodyPr wrap="square" rtlCol="0">
            <a:spAutoFit/>
          </a:bodyPr>
          <a:lstStyle/>
          <a:p>
            <a:r>
              <a:rPr lang="en-US" altLang="zh-CN" sz="1200" dirty="0"/>
              <a:t>2025.1-2025.6</a:t>
            </a:r>
            <a:endParaRPr lang="zh-CN" altLang="en-US" sz="1200" dirty="0"/>
          </a:p>
        </p:txBody>
      </p:sp>
      <p:sp>
        <p:nvSpPr>
          <p:cNvPr id="13" name="文本框 12">
            <a:extLst>
              <a:ext uri="{FF2B5EF4-FFF2-40B4-BE49-F238E27FC236}">
                <a16:creationId xmlns:a16="http://schemas.microsoft.com/office/drawing/2014/main" id="{37EC0B0B-692F-6CB7-32CE-6ED266DE1AB3}"/>
              </a:ext>
            </a:extLst>
          </p:cNvPr>
          <p:cNvSpPr txBox="1"/>
          <p:nvPr/>
        </p:nvSpPr>
        <p:spPr>
          <a:xfrm>
            <a:off x="6557337" y="3890081"/>
            <a:ext cx="1946687" cy="276999"/>
          </a:xfrm>
          <a:prstGeom prst="rect">
            <a:avLst/>
          </a:prstGeom>
          <a:noFill/>
        </p:spPr>
        <p:txBody>
          <a:bodyPr wrap="square" rtlCol="0">
            <a:spAutoFit/>
          </a:bodyPr>
          <a:lstStyle/>
          <a:p>
            <a:r>
              <a:rPr lang="en-US" altLang="zh-CN" sz="1200" dirty="0"/>
              <a:t>2025.7-2025.12</a:t>
            </a:r>
            <a:endParaRPr lang="zh-CN" altLang="en-US" sz="1200" dirty="0"/>
          </a:p>
        </p:txBody>
      </p:sp>
      <p:sp>
        <p:nvSpPr>
          <p:cNvPr id="14" name="文本框 13">
            <a:extLst>
              <a:ext uri="{FF2B5EF4-FFF2-40B4-BE49-F238E27FC236}">
                <a16:creationId xmlns:a16="http://schemas.microsoft.com/office/drawing/2014/main" id="{C2A2B426-AD6D-9CE0-654D-2F3B28932779}"/>
              </a:ext>
            </a:extLst>
          </p:cNvPr>
          <p:cNvSpPr txBox="1"/>
          <p:nvPr/>
        </p:nvSpPr>
        <p:spPr>
          <a:xfrm>
            <a:off x="8044154" y="3139204"/>
            <a:ext cx="1946687" cy="276999"/>
          </a:xfrm>
          <a:prstGeom prst="rect">
            <a:avLst/>
          </a:prstGeom>
          <a:noFill/>
        </p:spPr>
        <p:txBody>
          <a:bodyPr wrap="square" rtlCol="0">
            <a:spAutoFit/>
          </a:bodyPr>
          <a:lstStyle/>
          <a:p>
            <a:r>
              <a:rPr lang="en-US" altLang="zh-CN" sz="1200" dirty="0"/>
              <a:t>2026.1-2026.6</a:t>
            </a:r>
            <a:endParaRPr lang="zh-CN" altLang="en-US" sz="12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2" presetClass="entr" presetSubtype="8" fill="hold" nodeType="withEffect">
                                  <p:stCondLst>
                                    <p:cond delay="40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750"/>
                                        <p:tgtEl>
                                          <p:spTgt spid="29"/>
                                        </p:tgtEl>
                                      </p:cBhvr>
                                    </p:animEffect>
                                  </p:childTnLst>
                                </p:cTn>
                              </p:par>
                              <p:par>
                                <p:cTn id="12" presetID="53" presetClass="entr" presetSubtype="16" fill="hold" grpId="0" nodeType="withEffect">
                                  <p:stCondLst>
                                    <p:cond delay="800"/>
                                  </p:stCondLst>
                                  <p:childTnLst>
                                    <p:set>
                                      <p:cBhvr>
                                        <p:cTn id="13" dur="1" fill="hold">
                                          <p:stCondLst>
                                            <p:cond delay="0"/>
                                          </p:stCondLst>
                                        </p:cTn>
                                        <p:tgtEl>
                                          <p:spTgt spid="93"/>
                                        </p:tgtEl>
                                        <p:attrNameLst>
                                          <p:attrName>style.visibility</p:attrName>
                                        </p:attrNameLst>
                                      </p:cBhvr>
                                      <p:to>
                                        <p:strVal val="visible"/>
                                      </p:to>
                                    </p:set>
                                    <p:anim calcmode="lin" valueType="num">
                                      <p:cBhvr>
                                        <p:cTn id="14" dur="750" fill="hold"/>
                                        <p:tgtEl>
                                          <p:spTgt spid="93"/>
                                        </p:tgtEl>
                                        <p:attrNameLst>
                                          <p:attrName>ppt_w</p:attrName>
                                        </p:attrNameLst>
                                      </p:cBhvr>
                                      <p:tavLst>
                                        <p:tav tm="0">
                                          <p:val>
                                            <p:fltVal val="0"/>
                                          </p:val>
                                        </p:tav>
                                        <p:tav tm="100000">
                                          <p:val>
                                            <p:strVal val="#ppt_w"/>
                                          </p:val>
                                        </p:tav>
                                      </p:tavLst>
                                    </p:anim>
                                    <p:anim calcmode="lin" valueType="num">
                                      <p:cBhvr>
                                        <p:cTn id="15" dur="750" fill="hold"/>
                                        <p:tgtEl>
                                          <p:spTgt spid="93"/>
                                        </p:tgtEl>
                                        <p:attrNameLst>
                                          <p:attrName>ppt_h</p:attrName>
                                        </p:attrNameLst>
                                      </p:cBhvr>
                                      <p:tavLst>
                                        <p:tav tm="0">
                                          <p:val>
                                            <p:fltVal val="0"/>
                                          </p:val>
                                        </p:tav>
                                        <p:tav tm="100000">
                                          <p:val>
                                            <p:strVal val="#ppt_h"/>
                                          </p:val>
                                        </p:tav>
                                      </p:tavLst>
                                    </p:anim>
                                    <p:animEffect transition="in" filter="fade">
                                      <p:cBhvr>
                                        <p:cTn id="16" dur="750"/>
                                        <p:tgtEl>
                                          <p:spTgt spid="93"/>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750"/>
                                        <p:tgtEl>
                                          <p:spTgt spid="95"/>
                                        </p:tgtEl>
                                      </p:cBhvr>
                                    </p:animEffect>
                                  </p:childTnLst>
                                </p:cTn>
                              </p:par>
                              <p:par>
                                <p:cTn id="20" presetID="12" presetClass="entr" presetSubtype="1" fill="hold" nodeType="withEffect">
                                  <p:stCondLst>
                                    <p:cond delay="1600"/>
                                  </p:stCondLst>
                                  <p:childTnLst>
                                    <p:set>
                                      <p:cBhvr>
                                        <p:cTn id="21" dur="1" fill="hold">
                                          <p:stCondLst>
                                            <p:cond delay="0"/>
                                          </p:stCondLst>
                                        </p:cTn>
                                        <p:tgtEl>
                                          <p:spTgt spid="94"/>
                                        </p:tgtEl>
                                        <p:attrNameLst>
                                          <p:attrName>style.visibility</p:attrName>
                                        </p:attrNameLst>
                                      </p:cBhvr>
                                      <p:to>
                                        <p:strVal val="visible"/>
                                      </p:to>
                                    </p:set>
                                    <p:anim calcmode="lin" valueType="num">
                                      <p:cBhvr additive="base">
                                        <p:cTn id="22" dur="750"/>
                                        <p:tgtEl>
                                          <p:spTgt spid="94"/>
                                        </p:tgtEl>
                                        <p:attrNameLst>
                                          <p:attrName>ppt_y</p:attrName>
                                        </p:attrNameLst>
                                      </p:cBhvr>
                                      <p:tavLst>
                                        <p:tav tm="0">
                                          <p:val>
                                            <p:strVal val="#ppt_y-#ppt_h*1.125000"/>
                                          </p:val>
                                        </p:tav>
                                        <p:tav tm="100000">
                                          <p:val>
                                            <p:strVal val="#ppt_y"/>
                                          </p:val>
                                        </p:tav>
                                      </p:tavLst>
                                    </p:anim>
                                    <p:animEffect transition="in" filter="wipe(down)">
                                      <p:cBhvr>
                                        <p:cTn id="23" dur="750"/>
                                        <p:tgtEl>
                                          <p:spTgt spid="94"/>
                                        </p:tgtEl>
                                      </p:cBhvr>
                                    </p:animEffect>
                                  </p:childTnLst>
                                </p:cTn>
                              </p:par>
                              <p:par>
                                <p:cTn id="24" presetID="53" presetClass="entr" presetSubtype="16" fill="hold" grpId="0" nodeType="withEffect">
                                  <p:stCondLst>
                                    <p:cond delay="2000"/>
                                  </p:stCondLst>
                                  <p:childTnLst>
                                    <p:set>
                                      <p:cBhvr>
                                        <p:cTn id="25" dur="1" fill="hold">
                                          <p:stCondLst>
                                            <p:cond delay="0"/>
                                          </p:stCondLst>
                                        </p:cTn>
                                        <p:tgtEl>
                                          <p:spTgt spid="100"/>
                                        </p:tgtEl>
                                        <p:attrNameLst>
                                          <p:attrName>style.visibility</p:attrName>
                                        </p:attrNameLst>
                                      </p:cBhvr>
                                      <p:to>
                                        <p:strVal val="visible"/>
                                      </p:to>
                                    </p:set>
                                    <p:anim calcmode="lin" valueType="num">
                                      <p:cBhvr>
                                        <p:cTn id="26" dur="750" fill="hold"/>
                                        <p:tgtEl>
                                          <p:spTgt spid="100"/>
                                        </p:tgtEl>
                                        <p:attrNameLst>
                                          <p:attrName>ppt_w</p:attrName>
                                        </p:attrNameLst>
                                      </p:cBhvr>
                                      <p:tavLst>
                                        <p:tav tm="0">
                                          <p:val>
                                            <p:fltVal val="0"/>
                                          </p:val>
                                        </p:tav>
                                        <p:tav tm="100000">
                                          <p:val>
                                            <p:strVal val="#ppt_w"/>
                                          </p:val>
                                        </p:tav>
                                      </p:tavLst>
                                    </p:anim>
                                    <p:anim calcmode="lin" valueType="num">
                                      <p:cBhvr>
                                        <p:cTn id="27" dur="750" fill="hold"/>
                                        <p:tgtEl>
                                          <p:spTgt spid="100"/>
                                        </p:tgtEl>
                                        <p:attrNameLst>
                                          <p:attrName>ppt_h</p:attrName>
                                        </p:attrNameLst>
                                      </p:cBhvr>
                                      <p:tavLst>
                                        <p:tav tm="0">
                                          <p:val>
                                            <p:fltVal val="0"/>
                                          </p:val>
                                        </p:tav>
                                        <p:tav tm="100000">
                                          <p:val>
                                            <p:strVal val="#ppt_h"/>
                                          </p:val>
                                        </p:tav>
                                      </p:tavLst>
                                    </p:anim>
                                    <p:animEffect transition="in" filter="fade">
                                      <p:cBhvr>
                                        <p:cTn id="28" dur="750"/>
                                        <p:tgtEl>
                                          <p:spTgt spid="100"/>
                                        </p:tgtEl>
                                      </p:cBhvr>
                                    </p:animEffect>
                                  </p:childTnLst>
                                </p:cTn>
                              </p:par>
                              <p:par>
                                <p:cTn id="29" presetID="10" presetClass="entr" presetSubtype="0" fill="hold" grpId="0" nodeType="withEffect">
                                  <p:stCondLst>
                                    <p:cond delay="2400"/>
                                  </p:stCondLst>
                                  <p:childTnLst>
                                    <p:set>
                                      <p:cBhvr>
                                        <p:cTn id="30" dur="1" fill="hold">
                                          <p:stCondLst>
                                            <p:cond delay="0"/>
                                          </p:stCondLst>
                                        </p:cTn>
                                        <p:tgtEl>
                                          <p:spTgt spid="102"/>
                                        </p:tgtEl>
                                        <p:attrNameLst>
                                          <p:attrName>style.visibility</p:attrName>
                                        </p:attrNameLst>
                                      </p:cBhvr>
                                      <p:to>
                                        <p:strVal val="visible"/>
                                      </p:to>
                                    </p:set>
                                    <p:animEffect transition="in" filter="fade">
                                      <p:cBhvr>
                                        <p:cTn id="31" dur="750"/>
                                        <p:tgtEl>
                                          <p:spTgt spid="102"/>
                                        </p:tgtEl>
                                      </p:cBhvr>
                                    </p:animEffect>
                                  </p:childTnLst>
                                </p:cTn>
                              </p:par>
                              <p:par>
                                <p:cTn id="32" presetID="12" presetClass="entr" presetSubtype="4" fill="hold" nodeType="withEffect">
                                  <p:stCondLst>
                                    <p:cond delay="2800"/>
                                  </p:stCondLst>
                                  <p:childTnLst>
                                    <p:set>
                                      <p:cBhvr>
                                        <p:cTn id="33" dur="1" fill="hold">
                                          <p:stCondLst>
                                            <p:cond delay="0"/>
                                          </p:stCondLst>
                                        </p:cTn>
                                        <p:tgtEl>
                                          <p:spTgt spid="101"/>
                                        </p:tgtEl>
                                        <p:attrNameLst>
                                          <p:attrName>style.visibility</p:attrName>
                                        </p:attrNameLst>
                                      </p:cBhvr>
                                      <p:to>
                                        <p:strVal val="visible"/>
                                      </p:to>
                                    </p:set>
                                    <p:anim calcmode="lin" valueType="num">
                                      <p:cBhvr additive="base">
                                        <p:cTn id="34" dur="750"/>
                                        <p:tgtEl>
                                          <p:spTgt spid="101"/>
                                        </p:tgtEl>
                                        <p:attrNameLst>
                                          <p:attrName>ppt_y</p:attrName>
                                        </p:attrNameLst>
                                      </p:cBhvr>
                                      <p:tavLst>
                                        <p:tav tm="0">
                                          <p:val>
                                            <p:strVal val="#ppt_y+#ppt_h*1.125000"/>
                                          </p:val>
                                        </p:tav>
                                        <p:tav tm="100000">
                                          <p:val>
                                            <p:strVal val="#ppt_y"/>
                                          </p:val>
                                        </p:tav>
                                      </p:tavLst>
                                    </p:anim>
                                    <p:animEffect transition="in" filter="wipe(up)">
                                      <p:cBhvr>
                                        <p:cTn id="35" dur="750"/>
                                        <p:tgtEl>
                                          <p:spTgt spid="101"/>
                                        </p:tgtEl>
                                      </p:cBhvr>
                                    </p:animEffect>
                                  </p:childTnLst>
                                </p:cTn>
                              </p:par>
                              <p:par>
                                <p:cTn id="36" presetID="53" presetClass="entr" presetSubtype="16" fill="hold" grpId="0" nodeType="withEffect">
                                  <p:stCondLst>
                                    <p:cond delay="3200"/>
                                  </p:stCondLst>
                                  <p:childTnLst>
                                    <p:set>
                                      <p:cBhvr>
                                        <p:cTn id="37" dur="1" fill="hold">
                                          <p:stCondLst>
                                            <p:cond delay="0"/>
                                          </p:stCondLst>
                                        </p:cTn>
                                        <p:tgtEl>
                                          <p:spTgt spid="128"/>
                                        </p:tgtEl>
                                        <p:attrNameLst>
                                          <p:attrName>style.visibility</p:attrName>
                                        </p:attrNameLst>
                                      </p:cBhvr>
                                      <p:to>
                                        <p:strVal val="visible"/>
                                      </p:to>
                                    </p:set>
                                    <p:anim calcmode="lin" valueType="num">
                                      <p:cBhvr>
                                        <p:cTn id="38" dur="750" fill="hold"/>
                                        <p:tgtEl>
                                          <p:spTgt spid="128"/>
                                        </p:tgtEl>
                                        <p:attrNameLst>
                                          <p:attrName>ppt_w</p:attrName>
                                        </p:attrNameLst>
                                      </p:cBhvr>
                                      <p:tavLst>
                                        <p:tav tm="0">
                                          <p:val>
                                            <p:fltVal val="0"/>
                                          </p:val>
                                        </p:tav>
                                        <p:tav tm="100000">
                                          <p:val>
                                            <p:strVal val="#ppt_w"/>
                                          </p:val>
                                        </p:tav>
                                      </p:tavLst>
                                    </p:anim>
                                    <p:anim calcmode="lin" valueType="num">
                                      <p:cBhvr>
                                        <p:cTn id="39" dur="750" fill="hold"/>
                                        <p:tgtEl>
                                          <p:spTgt spid="128"/>
                                        </p:tgtEl>
                                        <p:attrNameLst>
                                          <p:attrName>ppt_h</p:attrName>
                                        </p:attrNameLst>
                                      </p:cBhvr>
                                      <p:tavLst>
                                        <p:tav tm="0">
                                          <p:val>
                                            <p:fltVal val="0"/>
                                          </p:val>
                                        </p:tav>
                                        <p:tav tm="100000">
                                          <p:val>
                                            <p:strVal val="#ppt_h"/>
                                          </p:val>
                                        </p:tav>
                                      </p:tavLst>
                                    </p:anim>
                                    <p:animEffect transition="in" filter="fade">
                                      <p:cBhvr>
                                        <p:cTn id="40" dur="750"/>
                                        <p:tgtEl>
                                          <p:spTgt spid="128"/>
                                        </p:tgtEl>
                                      </p:cBhvr>
                                    </p:animEffect>
                                  </p:childTnLst>
                                </p:cTn>
                              </p:par>
                              <p:par>
                                <p:cTn id="41" presetID="10" presetClass="entr" presetSubtype="0" fill="hold" grpId="0" nodeType="withEffect">
                                  <p:stCondLst>
                                    <p:cond delay="3600"/>
                                  </p:stCondLst>
                                  <p:childTnLst>
                                    <p:set>
                                      <p:cBhvr>
                                        <p:cTn id="42" dur="1" fill="hold">
                                          <p:stCondLst>
                                            <p:cond delay="0"/>
                                          </p:stCondLst>
                                        </p:cTn>
                                        <p:tgtEl>
                                          <p:spTgt spid="130"/>
                                        </p:tgtEl>
                                        <p:attrNameLst>
                                          <p:attrName>style.visibility</p:attrName>
                                        </p:attrNameLst>
                                      </p:cBhvr>
                                      <p:to>
                                        <p:strVal val="visible"/>
                                      </p:to>
                                    </p:set>
                                    <p:animEffect transition="in" filter="fade">
                                      <p:cBhvr>
                                        <p:cTn id="43" dur="750"/>
                                        <p:tgtEl>
                                          <p:spTgt spid="130"/>
                                        </p:tgtEl>
                                      </p:cBhvr>
                                    </p:animEffect>
                                  </p:childTnLst>
                                </p:cTn>
                              </p:par>
                              <p:par>
                                <p:cTn id="44" presetID="12" presetClass="entr" presetSubtype="1" fill="hold" nodeType="withEffect">
                                  <p:stCondLst>
                                    <p:cond delay="4000"/>
                                  </p:stCondLst>
                                  <p:childTnLst>
                                    <p:set>
                                      <p:cBhvr>
                                        <p:cTn id="45" dur="1" fill="hold">
                                          <p:stCondLst>
                                            <p:cond delay="0"/>
                                          </p:stCondLst>
                                        </p:cTn>
                                        <p:tgtEl>
                                          <p:spTgt spid="129"/>
                                        </p:tgtEl>
                                        <p:attrNameLst>
                                          <p:attrName>style.visibility</p:attrName>
                                        </p:attrNameLst>
                                      </p:cBhvr>
                                      <p:to>
                                        <p:strVal val="visible"/>
                                      </p:to>
                                    </p:set>
                                    <p:anim calcmode="lin" valueType="num">
                                      <p:cBhvr additive="base">
                                        <p:cTn id="46" dur="750"/>
                                        <p:tgtEl>
                                          <p:spTgt spid="129"/>
                                        </p:tgtEl>
                                        <p:attrNameLst>
                                          <p:attrName>ppt_y</p:attrName>
                                        </p:attrNameLst>
                                      </p:cBhvr>
                                      <p:tavLst>
                                        <p:tav tm="0">
                                          <p:val>
                                            <p:strVal val="#ppt_y-#ppt_h*1.125000"/>
                                          </p:val>
                                        </p:tav>
                                        <p:tav tm="100000">
                                          <p:val>
                                            <p:strVal val="#ppt_y"/>
                                          </p:val>
                                        </p:tav>
                                      </p:tavLst>
                                    </p:anim>
                                    <p:animEffect transition="in" filter="wipe(down)">
                                      <p:cBhvr>
                                        <p:cTn id="47" dur="750"/>
                                        <p:tgtEl>
                                          <p:spTgt spid="129"/>
                                        </p:tgtEl>
                                      </p:cBhvr>
                                    </p:animEffect>
                                  </p:childTnLst>
                                </p:cTn>
                              </p:par>
                              <p:par>
                                <p:cTn id="48" presetID="53" presetClass="entr" presetSubtype="16" fill="hold" grpId="0" nodeType="withEffect">
                                  <p:stCondLst>
                                    <p:cond delay="4400"/>
                                  </p:stCondLst>
                                  <p:childTnLst>
                                    <p:set>
                                      <p:cBhvr>
                                        <p:cTn id="49" dur="1" fill="hold">
                                          <p:stCondLst>
                                            <p:cond delay="0"/>
                                          </p:stCondLst>
                                        </p:cTn>
                                        <p:tgtEl>
                                          <p:spTgt spid="121"/>
                                        </p:tgtEl>
                                        <p:attrNameLst>
                                          <p:attrName>style.visibility</p:attrName>
                                        </p:attrNameLst>
                                      </p:cBhvr>
                                      <p:to>
                                        <p:strVal val="visible"/>
                                      </p:to>
                                    </p:set>
                                    <p:anim calcmode="lin" valueType="num">
                                      <p:cBhvr>
                                        <p:cTn id="50" dur="750" fill="hold"/>
                                        <p:tgtEl>
                                          <p:spTgt spid="121"/>
                                        </p:tgtEl>
                                        <p:attrNameLst>
                                          <p:attrName>ppt_w</p:attrName>
                                        </p:attrNameLst>
                                      </p:cBhvr>
                                      <p:tavLst>
                                        <p:tav tm="0">
                                          <p:val>
                                            <p:fltVal val="0"/>
                                          </p:val>
                                        </p:tav>
                                        <p:tav tm="100000">
                                          <p:val>
                                            <p:strVal val="#ppt_w"/>
                                          </p:val>
                                        </p:tav>
                                      </p:tavLst>
                                    </p:anim>
                                    <p:anim calcmode="lin" valueType="num">
                                      <p:cBhvr>
                                        <p:cTn id="51" dur="750" fill="hold"/>
                                        <p:tgtEl>
                                          <p:spTgt spid="121"/>
                                        </p:tgtEl>
                                        <p:attrNameLst>
                                          <p:attrName>ppt_h</p:attrName>
                                        </p:attrNameLst>
                                      </p:cBhvr>
                                      <p:tavLst>
                                        <p:tav tm="0">
                                          <p:val>
                                            <p:fltVal val="0"/>
                                          </p:val>
                                        </p:tav>
                                        <p:tav tm="100000">
                                          <p:val>
                                            <p:strVal val="#ppt_h"/>
                                          </p:val>
                                        </p:tav>
                                      </p:tavLst>
                                    </p:anim>
                                    <p:animEffect transition="in" filter="fade">
                                      <p:cBhvr>
                                        <p:cTn id="52" dur="750"/>
                                        <p:tgtEl>
                                          <p:spTgt spid="121"/>
                                        </p:tgtEl>
                                      </p:cBhvr>
                                    </p:animEffect>
                                  </p:childTnLst>
                                </p:cTn>
                              </p:par>
                              <p:par>
                                <p:cTn id="53" presetID="10" presetClass="entr" presetSubtype="0" fill="hold" grpId="0" nodeType="withEffect">
                                  <p:stCondLst>
                                    <p:cond delay="4800"/>
                                  </p:stCondLst>
                                  <p:childTnLst>
                                    <p:set>
                                      <p:cBhvr>
                                        <p:cTn id="54" dur="1" fill="hold">
                                          <p:stCondLst>
                                            <p:cond delay="0"/>
                                          </p:stCondLst>
                                        </p:cTn>
                                        <p:tgtEl>
                                          <p:spTgt spid="123"/>
                                        </p:tgtEl>
                                        <p:attrNameLst>
                                          <p:attrName>style.visibility</p:attrName>
                                        </p:attrNameLst>
                                      </p:cBhvr>
                                      <p:to>
                                        <p:strVal val="visible"/>
                                      </p:to>
                                    </p:set>
                                    <p:animEffect transition="in" filter="fade">
                                      <p:cBhvr>
                                        <p:cTn id="55" dur="750"/>
                                        <p:tgtEl>
                                          <p:spTgt spid="123"/>
                                        </p:tgtEl>
                                      </p:cBhvr>
                                    </p:animEffect>
                                  </p:childTnLst>
                                </p:cTn>
                              </p:par>
                              <p:par>
                                <p:cTn id="56" presetID="12" presetClass="entr" presetSubtype="4" fill="hold" nodeType="withEffect">
                                  <p:stCondLst>
                                    <p:cond delay="5200"/>
                                  </p:stCondLst>
                                  <p:childTnLst>
                                    <p:set>
                                      <p:cBhvr>
                                        <p:cTn id="57" dur="1" fill="hold">
                                          <p:stCondLst>
                                            <p:cond delay="0"/>
                                          </p:stCondLst>
                                        </p:cTn>
                                        <p:tgtEl>
                                          <p:spTgt spid="122"/>
                                        </p:tgtEl>
                                        <p:attrNameLst>
                                          <p:attrName>style.visibility</p:attrName>
                                        </p:attrNameLst>
                                      </p:cBhvr>
                                      <p:to>
                                        <p:strVal val="visible"/>
                                      </p:to>
                                    </p:set>
                                    <p:anim calcmode="lin" valueType="num">
                                      <p:cBhvr additive="base">
                                        <p:cTn id="58" dur="750"/>
                                        <p:tgtEl>
                                          <p:spTgt spid="122"/>
                                        </p:tgtEl>
                                        <p:attrNameLst>
                                          <p:attrName>ppt_y</p:attrName>
                                        </p:attrNameLst>
                                      </p:cBhvr>
                                      <p:tavLst>
                                        <p:tav tm="0">
                                          <p:val>
                                            <p:strVal val="#ppt_y+#ppt_h*1.125000"/>
                                          </p:val>
                                        </p:tav>
                                        <p:tav tm="100000">
                                          <p:val>
                                            <p:strVal val="#ppt_y"/>
                                          </p:val>
                                        </p:tav>
                                      </p:tavLst>
                                    </p:anim>
                                    <p:animEffect transition="in" filter="wipe(up)">
                                      <p:cBhvr>
                                        <p:cTn id="59" dur="750"/>
                                        <p:tgtEl>
                                          <p:spTgt spid="122"/>
                                        </p:tgtEl>
                                      </p:cBhvr>
                                    </p:animEffect>
                                  </p:childTnLst>
                                </p:cTn>
                              </p:par>
                              <p:par>
                                <p:cTn id="60" presetID="53" presetClass="entr" presetSubtype="16" fill="hold" grpId="0" nodeType="withEffect">
                                  <p:stCondLst>
                                    <p:cond delay="4400"/>
                                  </p:stCondLst>
                                  <p:childTnLst>
                                    <p:set>
                                      <p:cBhvr>
                                        <p:cTn id="61" dur="1" fill="hold">
                                          <p:stCondLst>
                                            <p:cond delay="0"/>
                                          </p:stCondLst>
                                        </p:cTn>
                                        <p:tgtEl>
                                          <p:spTgt spid="2"/>
                                        </p:tgtEl>
                                        <p:attrNameLst>
                                          <p:attrName>style.visibility</p:attrName>
                                        </p:attrNameLst>
                                      </p:cBhvr>
                                      <p:to>
                                        <p:strVal val="visible"/>
                                      </p:to>
                                    </p:set>
                                    <p:anim calcmode="lin" valueType="num">
                                      <p:cBhvr>
                                        <p:cTn id="62" dur="750" fill="hold"/>
                                        <p:tgtEl>
                                          <p:spTgt spid="2"/>
                                        </p:tgtEl>
                                        <p:attrNameLst>
                                          <p:attrName>ppt_w</p:attrName>
                                        </p:attrNameLst>
                                      </p:cBhvr>
                                      <p:tavLst>
                                        <p:tav tm="0">
                                          <p:val>
                                            <p:fltVal val="0"/>
                                          </p:val>
                                        </p:tav>
                                        <p:tav tm="100000">
                                          <p:val>
                                            <p:strVal val="#ppt_w"/>
                                          </p:val>
                                        </p:tav>
                                      </p:tavLst>
                                    </p:anim>
                                    <p:anim calcmode="lin" valueType="num">
                                      <p:cBhvr>
                                        <p:cTn id="63" dur="750" fill="hold"/>
                                        <p:tgtEl>
                                          <p:spTgt spid="2"/>
                                        </p:tgtEl>
                                        <p:attrNameLst>
                                          <p:attrName>ppt_h</p:attrName>
                                        </p:attrNameLst>
                                      </p:cBhvr>
                                      <p:tavLst>
                                        <p:tav tm="0">
                                          <p:val>
                                            <p:fltVal val="0"/>
                                          </p:val>
                                        </p:tav>
                                        <p:tav tm="100000">
                                          <p:val>
                                            <p:strVal val="#ppt_h"/>
                                          </p:val>
                                        </p:tav>
                                      </p:tavLst>
                                    </p:anim>
                                    <p:animEffect transition="in" filter="fade">
                                      <p:cBhvr>
                                        <p:cTn id="64" dur="750"/>
                                        <p:tgtEl>
                                          <p:spTgt spid="2"/>
                                        </p:tgtEl>
                                      </p:cBhvr>
                                    </p:animEffect>
                                  </p:childTnLst>
                                </p:cTn>
                              </p:par>
                              <p:par>
                                <p:cTn id="65" presetID="10" presetClass="entr" presetSubtype="0" fill="hold" grpId="0" nodeType="withEffect">
                                  <p:stCondLst>
                                    <p:cond delay="3200"/>
                                  </p:stCondLst>
                                  <p:childTnLst>
                                    <p:set>
                                      <p:cBhvr>
                                        <p:cTn id="66" dur="1" fill="hold">
                                          <p:stCondLst>
                                            <p:cond delay="0"/>
                                          </p:stCondLst>
                                        </p:cTn>
                                        <p:tgtEl>
                                          <p:spTgt spid="68"/>
                                        </p:tgtEl>
                                        <p:attrNameLst>
                                          <p:attrName>style.visibility</p:attrName>
                                        </p:attrNameLst>
                                      </p:cBhvr>
                                      <p:to>
                                        <p:strVal val="visible"/>
                                      </p:to>
                                    </p:set>
                                    <p:animEffect transition="in" filter="fade">
                                      <p:cBhvr>
                                        <p:cTn id="67" dur="750"/>
                                        <p:tgtEl>
                                          <p:spTgt spid="68"/>
                                        </p:tgtEl>
                                      </p:cBhvr>
                                    </p:animEffect>
                                  </p:childTnLst>
                                </p:cTn>
                              </p:par>
                              <p:par>
                                <p:cTn id="68" presetID="12" presetClass="entr" presetSubtype="1" fill="hold" nodeType="withEffect">
                                  <p:stCondLst>
                                    <p:cond delay="400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750"/>
                                        <p:tgtEl>
                                          <p:spTgt spid="9"/>
                                        </p:tgtEl>
                                        <p:attrNameLst>
                                          <p:attrName>ppt_y</p:attrName>
                                        </p:attrNameLst>
                                      </p:cBhvr>
                                      <p:tavLst>
                                        <p:tav tm="0">
                                          <p:val>
                                            <p:strVal val="#ppt_y-#ppt_h*1.125000"/>
                                          </p:val>
                                        </p:tav>
                                        <p:tav tm="100000">
                                          <p:val>
                                            <p:strVal val="#ppt_y"/>
                                          </p:val>
                                        </p:tav>
                                      </p:tavLst>
                                    </p:anim>
                                    <p:animEffect transition="in" filter="wipe(down)">
                                      <p:cBhvr>
                                        <p:cTn id="71"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bldLvl="0" animBg="1"/>
      <p:bldP spid="95" grpId="0" bldLvl="0" animBg="1"/>
      <p:bldP spid="100" grpId="0" bldLvl="0" animBg="1"/>
      <p:bldP spid="102" grpId="0" bldLvl="0" animBg="1"/>
      <p:bldP spid="128" grpId="0" bldLvl="0" animBg="1"/>
      <p:bldP spid="130" grpId="0" bldLvl="0" animBg="1"/>
      <p:bldP spid="121" grpId="0" bldLvl="0" animBg="1"/>
      <p:bldP spid="123" grpId="0" bldLvl="0" animBg="1"/>
      <p:bldP spid="2" grpId="0" bldLvl="0" animBg="1"/>
      <p:bldP spid="6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4962" y="3311506"/>
            <a:ext cx="11522078" cy="321048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8" name="任意多边形: 形状 7"/>
          <p:cNvSpPr/>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9" name="矩形 8"/>
          <p:cNvSpPr/>
          <p:nvPr/>
        </p:nvSpPr>
        <p:spPr>
          <a:xfrm>
            <a:off x="4760508" y="1336299"/>
            <a:ext cx="2670984" cy="3807111"/>
          </a:xfrm>
          <a:prstGeom prst="rect">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 name="图文框 1"/>
          <p:cNvSpPr/>
          <p:nvPr/>
        </p:nvSpPr>
        <p:spPr>
          <a:xfrm>
            <a:off x="4747911" y="1259013"/>
            <a:ext cx="2696178" cy="3909888"/>
          </a:xfrm>
          <a:prstGeom prst="frame">
            <a:avLst>
              <a:gd name="adj1" fmla="val 2586"/>
            </a:avLst>
          </a:prstGeom>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ea"/>
              <a:sym typeface="+mn-lt"/>
            </a:endParaRPr>
          </a:p>
        </p:txBody>
      </p:sp>
      <p:sp>
        <p:nvSpPr>
          <p:cNvPr id="5" name="文本框 4"/>
          <p:cNvSpPr txBox="1"/>
          <p:nvPr/>
        </p:nvSpPr>
        <p:spPr>
          <a:xfrm>
            <a:off x="4812304" y="3896085"/>
            <a:ext cx="2567392" cy="76944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4400" b="1" dirty="0">
                <a:solidFill>
                  <a:srgbClr val="1045C9"/>
                </a:solidFill>
                <a:latin typeface="等线" panose="02010600030101010101" charset="-122"/>
                <a:ea typeface="等线" panose="02010600030101010101" charset="-122"/>
                <a:cs typeface="+mn-ea"/>
                <a:sym typeface="+mn-lt"/>
              </a:rPr>
              <a:t>经费预算</a:t>
            </a:r>
            <a:endParaRPr kumimoji="0" lang="zh-CN" altLang="en-US" sz="4400" b="1" i="0" u="none" strike="noStrike" kern="1200" cap="none" spc="0" normalizeH="0" baseline="0" noProof="0" dirty="0">
              <a:ln>
                <a:noFill/>
              </a:ln>
              <a:solidFill>
                <a:srgbClr val="1045C9"/>
              </a:solidFill>
              <a:effectLst/>
              <a:uLnTx/>
              <a:uFillTx/>
              <a:latin typeface="等线" panose="02010600030101010101" charset="-122"/>
              <a:ea typeface="等线" panose="02010600030101010101" charset="-122"/>
              <a:cs typeface="+mn-ea"/>
              <a:sym typeface="+mn-lt"/>
            </a:endParaRPr>
          </a:p>
        </p:txBody>
      </p:sp>
      <p:sp>
        <p:nvSpPr>
          <p:cNvPr id="6" name="文本框 5"/>
          <p:cNvSpPr txBox="1"/>
          <p:nvPr/>
        </p:nvSpPr>
        <p:spPr>
          <a:xfrm>
            <a:off x="4864100" y="1741845"/>
            <a:ext cx="2463800" cy="1569660"/>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rPr>
              <a:t>0</a:t>
            </a:r>
            <a:r>
              <a:rPr lang="en-US" altLang="zh-CN" sz="9600" dirty="0">
                <a:solidFill>
                  <a:prstClr val="white"/>
                </a:solidFill>
                <a:latin typeface="等线" panose="02010600030101010101" charset="-122"/>
                <a:ea typeface="等线" panose="02010600030101010101" charset="-122"/>
                <a:cs typeface="+mn-ea"/>
                <a:sym typeface="+mn-lt"/>
              </a:rPr>
              <a:t>5</a:t>
            </a:r>
            <a:endParaRPr kumimoji="0" lang="zh-CN" altLang="en-US" sz="96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7" name="文本框 6"/>
          <p:cNvSpPr txBox="1"/>
          <p:nvPr/>
        </p:nvSpPr>
        <p:spPr>
          <a:xfrm>
            <a:off x="3314700" y="5701761"/>
            <a:ext cx="5562600" cy="369332"/>
          </a:xfrm>
          <a:prstGeom prst="rect">
            <a:avLst/>
          </a:prstGeom>
          <a:noFill/>
        </p:spPr>
        <p:txBody>
          <a:bodyPr wrap="square" rtlCol="0">
            <a:spAutoFit/>
            <a:scene3d>
              <a:camera prst="orthographicFront"/>
              <a:lightRig rig="threePt" dir="t"/>
            </a:scene3d>
            <a:sp3d contourW="12700"/>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1045C9"/>
                </a:solidFill>
                <a:effectLst/>
                <a:uLnTx/>
                <a:uFillTx/>
                <a:latin typeface="等线" panose="02010600030101010101" charset="-122"/>
                <a:ea typeface="等线" panose="02010600030101010101" charset="-122"/>
                <a:cs typeface="+mn-ea"/>
                <a:sym typeface="+mn-lt"/>
              </a:rPr>
              <a:t>Strong Preparation</a:t>
            </a:r>
          </a:p>
        </p:txBody>
      </p:sp>
      <p:grpSp>
        <p:nvGrpSpPr>
          <p:cNvPr id="12" name="组合 11"/>
          <p:cNvGrpSpPr/>
          <p:nvPr/>
        </p:nvGrpSpPr>
        <p:grpSpPr>
          <a:xfrm>
            <a:off x="695325" y="663359"/>
            <a:ext cx="2159170" cy="489382"/>
            <a:chOff x="711030" y="663358"/>
            <a:chExt cx="2159170" cy="489382"/>
          </a:xfrm>
        </p:grpSpPr>
        <p:pic>
          <p:nvPicPr>
            <p:cNvPr id="10" name="西北工业大学"/>
            <p:cNvPicPr>
              <a:picLocks noChangeAspect="1"/>
            </p:cNvPicPr>
            <p:nvPr/>
          </p:nvPicPr>
          <p:blipFill>
            <a:blip r:embed="rId4" cstate="screen"/>
            <a:stretch>
              <a:fillRect/>
            </a:stretch>
          </p:blipFill>
          <p:spPr>
            <a:xfrm>
              <a:off x="1324073" y="713583"/>
              <a:ext cx="1546127" cy="388933"/>
            </a:xfrm>
            <a:prstGeom prst="rect">
              <a:avLst/>
            </a:prstGeom>
          </p:spPr>
        </p:pic>
        <p:pic>
          <p:nvPicPr>
            <p:cNvPr id="11" name="校徽"/>
            <p:cNvPicPr>
              <a:picLocks noChangeAspect="1"/>
            </p:cNvPicPr>
            <p:nvPr/>
          </p:nvPicPr>
          <p:blipFill>
            <a:blip r:embed="rId5" cstate="screen"/>
            <a:stretch>
              <a:fillRect/>
            </a:stretch>
          </p:blipFill>
          <p:spPr>
            <a:xfrm>
              <a:off x="711030" y="663358"/>
              <a:ext cx="490134" cy="489382"/>
            </a:xfrm>
            <a:prstGeom prst="rect">
              <a:avLst/>
            </a:prstGeom>
          </p:spPr>
        </p:pic>
      </p:grpSp>
      <p:cxnSp>
        <p:nvCxnSpPr>
          <p:cNvPr id="4" name="直接连接符 3"/>
          <p:cNvCxnSpPr/>
          <p:nvPr/>
        </p:nvCxnSpPr>
        <p:spPr>
          <a:xfrm flipH="1" flipV="1">
            <a:off x="334962" y="396875"/>
            <a:ext cx="1"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11857038" y="396875"/>
            <a:ext cx="0" cy="301127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4963" y="396875"/>
            <a:ext cx="115220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标题"/>
          <p:cNvGrpSpPr/>
          <p:nvPr/>
        </p:nvGrpSpPr>
        <p:grpSpPr>
          <a:xfrm>
            <a:off x="0" y="-1"/>
            <a:ext cx="12192000" cy="728663"/>
            <a:chOff x="0" y="-1"/>
            <a:chExt cx="12192000" cy="728663"/>
          </a:xfrm>
        </p:grpSpPr>
        <p:sp>
          <p:nvSpPr>
            <p:cNvPr id="33" name="打底色块"/>
            <p:cNvSpPr/>
            <p:nvPr/>
          </p:nvSpPr>
          <p:spPr>
            <a:xfrm>
              <a:off x="0" y="-1"/>
              <a:ext cx="12192000" cy="728663"/>
            </a:xfrm>
            <a:prstGeom prst="rect">
              <a:avLst/>
            </a:prstGeom>
            <a:solidFill>
              <a:schemeClr val="accent1"/>
            </a:solidFill>
            <a:ln w="25400" cap="flat" cmpd="sng" algn="ctr">
              <a:noFill/>
              <a:prstDash val="solid"/>
            </a:ln>
            <a:effectLst/>
          </p:spPr>
          <p:txBody>
            <a:bodyPr rtlCol="0" anchor="ctr"/>
            <a:lstStyle/>
            <a:p>
              <a:pPr marL="0" marR="0" lvl="0" indent="0" algn="ctr" defTabSz="914400" rtl="0" eaLnBrk="1" fontAlgn="base" latinLnBrk="0" hangingPunct="1">
                <a:lnSpc>
                  <a:spcPct val="105000"/>
                </a:lnSpc>
                <a:spcBef>
                  <a:spcPct val="0"/>
                </a:spcBef>
                <a:spcAft>
                  <a:spcPct val="0"/>
                </a:spcAft>
                <a:buClr>
                  <a:srgbClr val="3366FF"/>
                </a:buClr>
                <a:buSzPct val="80000"/>
                <a:buFont typeface="Wingdings" panose="05000000000000000000" pitchFamily="2" charset="2"/>
                <a:buNone/>
                <a:defRPr/>
              </a:pPr>
              <a:endParaRPr kumimoji="1" lang="zh-CN" altLang="en-US" sz="2000" b="1"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42" name="西北工业大学"/>
            <p:cNvPicPr>
              <a:picLocks noChangeAspect="1"/>
            </p:cNvPicPr>
            <p:nvPr/>
          </p:nvPicPr>
          <p:blipFill>
            <a:blip r:embed="rId7" cstate="screen"/>
            <a:stretch>
              <a:fillRect/>
            </a:stretch>
          </p:blipFill>
          <p:spPr>
            <a:xfrm>
              <a:off x="10240059" y="169864"/>
              <a:ext cx="1546127" cy="388933"/>
            </a:xfrm>
            <a:prstGeom prst="rect">
              <a:avLst/>
            </a:prstGeom>
          </p:spPr>
        </p:pic>
        <p:pic>
          <p:nvPicPr>
            <p:cNvPr id="43" name="校徽"/>
            <p:cNvPicPr>
              <a:picLocks noChangeAspect="1"/>
            </p:cNvPicPr>
            <p:nvPr/>
          </p:nvPicPr>
          <p:blipFill>
            <a:blip r:embed="rId8" cstate="screen"/>
            <a:stretch>
              <a:fillRect/>
            </a:stretch>
          </p:blipFill>
          <p:spPr>
            <a:xfrm>
              <a:off x="9627016" y="119639"/>
              <a:ext cx="490134" cy="489382"/>
            </a:xfrm>
            <a:prstGeom prst="rect">
              <a:avLst/>
            </a:prstGeom>
          </p:spPr>
        </p:pic>
        <p:sp>
          <p:nvSpPr>
            <p:cNvPr id="45" name="基础扎实 / Strong Preparation"/>
            <p:cNvSpPr txBox="1"/>
            <p:nvPr/>
          </p:nvSpPr>
          <p:spPr>
            <a:xfrm>
              <a:off x="880745" y="216534"/>
              <a:ext cx="8218170" cy="438150"/>
            </a:xfrm>
            <a:prstGeom prst="rect">
              <a:avLst/>
            </a:prstGeom>
            <a:noFill/>
          </p:spPr>
          <p:txBody>
            <a:bodyPr wrap="square" lIns="68562" tIns="34281" rIns="68562" bIns="34281" rtlCol="0">
              <a:noAutofit/>
            </a:bodyPr>
            <a:lstStyle/>
            <a:p>
              <a:pPr marL="0" marR="0" lvl="0" indent="0" algn="just" defTabSz="914400" rtl="0" eaLnBrk="1" fontAlgn="auto" latinLnBrk="0" hangingPunct="1">
                <a:lnSpc>
                  <a:spcPct val="100000"/>
                </a:lnSpc>
                <a:spcBef>
                  <a:spcPts val="0"/>
                </a:spcBef>
                <a:spcAft>
                  <a:spcPts val="0"/>
                </a:spcAft>
                <a:buClr>
                  <a:prstClr val="white"/>
                </a:buClr>
                <a:buSzTx/>
                <a:buFontTx/>
                <a:buNone/>
                <a:defRPr/>
              </a:pPr>
              <a:r>
                <a:rPr kumimoji="0" lang="en-US" altLang="zh-CN" sz="16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经费预算/Buget</a:t>
              </a:r>
              <a:endParaRPr kumimoji="0" lang="en-US" altLang="zh-CN" sz="2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
                  <a:prstClr val="white"/>
                </a:buClr>
                <a:buSzTx/>
                <a:buFontTx/>
                <a:buNone/>
                <a:defRPr/>
              </a:pPr>
              <a:r>
                <a:rPr kumimoji="0" lang="en-US" altLang="zh-CN" sz="28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 </a:t>
              </a:r>
            </a:p>
          </p:txBody>
        </p:sp>
        <p:sp>
          <p:nvSpPr>
            <p:cNvPr id="46" name="齿轮"/>
            <p:cNvSpPr>
              <a:spLocks noChangeAspect="1"/>
            </p:cNvSpPr>
            <p:nvPr/>
          </p:nvSpPr>
          <p:spPr bwMode="auto">
            <a:xfrm>
              <a:off x="334963" y="121637"/>
              <a:ext cx="484428" cy="485386"/>
            </a:xfrm>
            <a:custGeom>
              <a:avLst/>
              <a:gdLst>
                <a:gd name="T0" fmla="*/ 3717 w 3906"/>
                <a:gd name="T1" fmla="*/ 1560 h 3920"/>
                <a:gd name="T2" fmla="*/ 3475 w 3906"/>
                <a:gd name="T3" fmla="*/ 1560 h 3920"/>
                <a:gd name="T4" fmla="*/ 3313 w 3906"/>
                <a:gd name="T5" fmla="*/ 1170 h 3920"/>
                <a:gd name="T6" fmla="*/ 3491 w 3906"/>
                <a:gd name="T7" fmla="*/ 992 h 3920"/>
                <a:gd name="T8" fmla="*/ 3491 w 3906"/>
                <a:gd name="T9" fmla="*/ 709 h 3920"/>
                <a:gd name="T10" fmla="*/ 3215 w 3906"/>
                <a:gd name="T11" fmla="*/ 433 h 3920"/>
                <a:gd name="T12" fmla="*/ 3074 w 3906"/>
                <a:gd name="T13" fmla="*/ 374 h 3920"/>
                <a:gd name="T14" fmla="*/ 2932 w 3906"/>
                <a:gd name="T15" fmla="*/ 433 h 3920"/>
                <a:gd name="T16" fmla="*/ 2752 w 3906"/>
                <a:gd name="T17" fmla="*/ 609 h 3920"/>
                <a:gd name="T18" fmla="*/ 2346 w 3906"/>
                <a:gd name="T19" fmla="*/ 442 h 3920"/>
                <a:gd name="T20" fmla="*/ 2346 w 3906"/>
                <a:gd name="T21" fmla="*/ 200 h 3920"/>
                <a:gd name="T22" fmla="*/ 2153 w 3906"/>
                <a:gd name="T23" fmla="*/ 0 h 3920"/>
                <a:gd name="T24" fmla="*/ 1762 w 3906"/>
                <a:gd name="T25" fmla="*/ 0 h 3920"/>
                <a:gd name="T26" fmla="*/ 1560 w 3906"/>
                <a:gd name="T27" fmla="*/ 200 h 3920"/>
                <a:gd name="T28" fmla="*/ 1560 w 3906"/>
                <a:gd name="T29" fmla="*/ 442 h 3920"/>
                <a:gd name="T30" fmla="*/ 1174 w 3906"/>
                <a:gd name="T31" fmla="*/ 601 h 3920"/>
                <a:gd name="T32" fmla="*/ 1009 w 3906"/>
                <a:gd name="T33" fmla="*/ 435 h 3920"/>
                <a:gd name="T34" fmla="*/ 726 w 3906"/>
                <a:gd name="T35" fmla="*/ 435 h 3920"/>
                <a:gd name="T36" fmla="*/ 450 w 3906"/>
                <a:gd name="T37" fmla="*/ 711 h 3920"/>
                <a:gd name="T38" fmla="*/ 450 w 3906"/>
                <a:gd name="T39" fmla="*/ 994 h 3920"/>
                <a:gd name="T40" fmla="*/ 611 w 3906"/>
                <a:gd name="T41" fmla="*/ 1155 h 3920"/>
                <a:gd name="T42" fmla="*/ 441 w 3906"/>
                <a:gd name="T43" fmla="*/ 1560 h 3920"/>
                <a:gd name="T44" fmla="*/ 204 w 3906"/>
                <a:gd name="T45" fmla="*/ 1560 h 3920"/>
                <a:gd name="T46" fmla="*/ 0 w 3906"/>
                <a:gd name="T47" fmla="*/ 1761 h 3920"/>
                <a:gd name="T48" fmla="*/ 0 w 3906"/>
                <a:gd name="T49" fmla="*/ 2152 h 3920"/>
                <a:gd name="T50" fmla="*/ 204 w 3906"/>
                <a:gd name="T51" fmla="*/ 2347 h 3920"/>
                <a:gd name="T52" fmla="*/ 439 w 3906"/>
                <a:gd name="T53" fmla="*/ 2347 h 3920"/>
                <a:gd name="T54" fmla="*/ 608 w 3906"/>
                <a:gd name="T55" fmla="*/ 2754 h 3920"/>
                <a:gd name="T56" fmla="*/ 448 w 3906"/>
                <a:gd name="T57" fmla="*/ 2916 h 3920"/>
                <a:gd name="T58" fmla="*/ 448 w 3906"/>
                <a:gd name="T59" fmla="*/ 3199 h 3920"/>
                <a:gd name="T60" fmla="*/ 724 w 3906"/>
                <a:gd name="T61" fmla="*/ 3476 h 3920"/>
                <a:gd name="T62" fmla="*/ 866 w 3906"/>
                <a:gd name="T63" fmla="*/ 3535 h 3920"/>
                <a:gd name="T64" fmla="*/ 1007 w 3906"/>
                <a:gd name="T65" fmla="*/ 3476 h 3920"/>
                <a:gd name="T66" fmla="*/ 1167 w 3906"/>
                <a:gd name="T67" fmla="*/ 3315 h 3920"/>
                <a:gd name="T68" fmla="*/ 1560 w 3906"/>
                <a:gd name="T69" fmla="*/ 3478 h 3920"/>
                <a:gd name="T70" fmla="*/ 1560 w 3906"/>
                <a:gd name="T71" fmla="*/ 3713 h 3920"/>
                <a:gd name="T72" fmla="*/ 1762 w 3906"/>
                <a:gd name="T73" fmla="*/ 3920 h 3920"/>
                <a:gd name="T74" fmla="*/ 2153 w 3906"/>
                <a:gd name="T75" fmla="*/ 3920 h 3920"/>
                <a:gd name="T76" fmla="*/ 2346 w 3906"/>
                <a:gd name="T77" fmla="*/ 3713 h 3920"/>
                <a:gd name="T78" fmla="*/ 2346 w 3906"/>
                <a:gd name="T79" fmla="*/ 3478 h 3920"/>
                <a:gd name="T80" fmla="*/ 2758 w 3906"/>
                <a:gd name="T81" fmla="*/ 3306 h 3920"/>
                <a:gd name="T82" fmla="*/ 2932 w 3906"/>
                <a:gd name="T83" fmla="*/ 3478 h 3920"/>
                <a:gd name="T84" fmla="*/ 3075 w 3906"/>
                <a:gd name="T85" fmla="*/ 3537 h 3920"/>
                <a:gd name="T86" fmla="*/ 3217 w 3906"/>
                <a:gd name="T87" fmla="*/ 3478 h 3920"/>
                <a:gd name="T88" fmla="*/ 3493 w 3906"/>
                <a:gd name="T89" fmla="*/ 3202 h 3920"/>
                <a:gd name="T90" fmla="*/ 3493 w 3906"/>
                <a:gd name="T91" fmla="*/ 2919 h 3920"/>
                <a:gd name="T92" fmla="*/ 3317 w 3906"/>
                <a:gd name="T93" fmla="*/ 2740 h 3920"/>
                <a:gd name="T94" fmla="*/ 3477 w 3906"/>
                <a:gd name="T95" fmla="*/ 2347 h 3920"/>
                <a:gd name="T96" fmla="*/ 3717 w 3906"/>
                <a:gd name="T97" fmla="*/ 2347 h 3920"/>
                <a:gd name="T98" fmla="*/ 3906 w 3906"/>
                <a:gd name="T99" fmla="*/ 2152 h 3920"/>
                <a:gd name="T100" fmla="*/ 3906 w 3906"/>
                <a:gd name="T101" fmla="*/ 1761 h 3920"/>
                <a:gd name="T102" fmla="*/ 3717 w 3906"/>
                <a:gd name="T103" fmla="*/ 1560 h 3920"/>
                <a:gd name="T104" fmla="*/ 2540 w 3906"/>
                <a:gd name="T105" fmla="*/ 1960 h 3920"/>
                <a:gd name="T106" fmla="*/ 1958 w 3906"/>
                <a:gd name="T107" fmla="*/ 2542 h 3920"/>
                <a:gd name="T108" fmla="*/ 1376 w 3906"/>
                <a:gd name="T109" fmla="*/ 1960 h 3920"/>
                <a:gd name="T110" fmla="*/ 1958 w 3906"/>
                <a:gd name="T111" fmla="*/ 1378 h 3920"/>
                <a:gd name="T112" fmla="*/ 2540 w 3906"/>
                <a:gd name="T113" fmla="*/ 1960 h 3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06" h="3920">
                  <a:moveTo>
                    <a:pt x="3717" y="1560"/>
                  </a:moveTo>
                  <a:lnTo>
                    <a:pt x="3475" y="1560"/>
                  </a:lnTo>
                  <a:cubicBezTo>
                    <a:pt x="3439" y="1427"/>
                    <a:pt x="3384" y="1291"/>
                    <a:pt x="3313" y="1170"/>
                  </a:cubicBezTo>
                  <a:lnTo>
                    <a:pt x="3491" y="992"/>
                  </a:lnTo>
                  <a:cubicBezTo>
                    <a:pt x="3570" y="914"/>
                    <a:pt x="3570" y="787"/>
                    <a:pt x="3491" y="709"/>
                  </a:cubicBezTo>
                  <a:lnTo>
                    <a:pt x="3215" y="433"/>
                  </a:lnTo>
                  <a:cubicBezTo>
                    <a:pt x="3177" y="395"/>
                    <a:pt x="3127" y="374"/>
                    <a:pt x="3074" y="374"/>
                  </a:cubicBezTo>
                  <a:cubicBezTo>
                    <a:pt x="3020" y="374"/>
                    <a:pt x="2970" y="395"/>
                    <a:pt x="2932" y="433"/>
                  </a:cubicBezTo>
                  <a:lnTo>
                    <a:pt x="2752" y="609"/>
                  </a:lnTo>
                  <a:cubicBezTo>
                    <a:pt x="2628" y="536"/>
                    <a:pt x="2493" y="479"/>
                    <a:pt x="2346" y="442"/>
                  </a:cubicBezTo>
                  <a:lnTo>
                    <a:pt x="2346" y="200"/>
                  </a:lnTo>
                  <a:cubicBezTo>
                    <a:pt x="2346" y="90"/>
                    <a:pt x="2264" y="0"/>
                    <a:pt x="2153" y="0"/>
                  </a:cubicBezTo>
                  <a:lnTo>
                    <a:pt x="1762" y="0"/>
                  </a:lnTo>
                  <a:cubicBezTo>
                    <a:pt x="1652" y="0"/>
                    <a:pt x="1560" y="90"/>
                    <a:pt x="1560" y="200"/>
                  </a:cubicBezTo>
                  <a:lnTo>
                    <a:pt x="1560" y="442"/>
                  </a:lnTo>
                  <a:cubicBezTo>
                    <a:pt x="1426" y="477"/>
                    <a:pt x="1294" y="531"/>
                    <a:pt x="1174" y="601"/>
                  </a:cubicBezTo>
                  <a:lnTo>
                    <a:pt x="1009" y="435"/>
                  </a:lnTo>
                  <a:cubicBezTo>
                    <a:pt x="930" y="357"/>
                    <a:pt x="804" y="357"/>
                    <a:pt x="726" y="435"/>
                  </a:cubicBezTo>
                  <a:lnTo>
                    <a:pt x="450" y="711"/>
                  </a:lnTo>
                  <a:cubicBezTo>
                    <a:pt x="372" y="789"/>
                    <a:pt x="372" y="916"/>
                    <a:pt x="450" y="994"/>
                  </a:cubicBezTo>
                  <a:lnTo>
                    <a:pt x="611" y="1155"/>
                  </a:lnTo>
                  <a:cubicBezTo>
                    <a:pt x="536" y="1280"/>
                    <a:pt x="478" y="1413"/>
                    <a:pt x="441" y="1560"/>
                  </a:cubicBezTo>
                  <a:lnTo>
                    <a:pt x="204" y="1560"/>
                  </a:lnTo>
                  <a:cubicBezTo>
                    <a:pt x="94" y="1560"/>
                    <a:pt x="0" y="1651"/>
                    <a:pt x="0" y="1761"/>
                  </a:cubicBezTo>
                  <a:lnTo>
                    <a:pt x="0" y="2152"/>
                  </a:lnTo>
                  <a:cubicBezTo>
                    <a:pt x="0" y="2263"/>
                    <a:pt x="94" y="2347"/>
                    <a:pt x="204" y="2347"/>
                  </a:cubicBezTo>
                  <a:lnTo>
                    <a:pt x="439" y="2347"/>
                  </a:lnTo>
                  <a:cubicBezTo>
                    <a:pt x="476" y="2493"/>
                    <a:pt x="534" y="2629"/>
                    <a:pt x="608" y="2754"/>
                  </a:cubicBezTo>
                  <a:lnTo>
                    <a:pt x="448" y="2916"/>
                  </a:lnTo>
                  <a:cubicBezTo>
                    <a:pt x="370" y="2994"/>
                    <a:pt x="370" y="3121"/>
                    <a:pt x="448" y="3199"/>
                  </a:cubicBezTo>
                  <a:lnTo>
                    <a:pt x="724" y="3476"/>
                  </a:lnTo>
                  <a:cubicBezTo>
                    <a:pt x="763" y="3515"/>
                    <a:pt x="815" y="3535"/>
                    <a:pt x="866" y="3535"/>
                  </a:cubicBezTo>
                  <a:cubicBezTo>
                    <a:pt x="917" y="3535"/>
                    <a:pt x="968" y="3515"/>
                    <a:pt x="1007" y="3476"/>
                  </a:cubicBezTo>
                  <a:lnTo>
                    <a:pt x="1167" y="3315"/>
                  </a:lnTo>
                  <a:cubicBezTo>
                    <a:pt x="1289" y="3386"/>
                    <a:pt x="1413" y="3441"/>
                    <a:pt x="1560" y="3478"/>
                  </a:cubicBezTo>
                  <a:lnTo>
                    <a:pt x="1560" y="3713"/>
                  </a:lnTo>
                  <a:cubicBezTo>
                    <a:pt x="1560" y="3824"/>
                    <a:pt x="1652" y="3920"/>
                    <a:pt x="1762" y="3920"/>
                  </a:cubicBezTo>
                  <a:lnTo>
                    <a:pt x="2153" y="3920"/>
                  </a:lnTo>
                  <a:cubicBezTo>
                    <a:pt x="2264" y="3920"/>
                    <a:pt x="2346" y="3824"/>
                    <a:pt x="2346" y="3713"/>
                  </a:cubicBezTo>
                  <a:lnTo>
                    <a:pt x="2346" y="3478"/>
                  </a:lnTo>
                  <a:cubicBezTo>
                    <a:pt x="2493" y="3440"/>
                    <a:pt x="2632" y="3381"/>
                    <a:pt x="2758" y="3306"/>
                  </a:cubicBezTo>
                  <a:lnTo>
                    <a:pt x="2932" y="3478"/>
                  </a:lnTo>
                  <a:cubicBezTo>
                    <a:pt x="2971" y="3518"/>
                    <a:pt x="3024" y="3537"/>
                    <a:pt x="3075" y="3537"/>
                  </a:cubicBezTo>
                  <a:cubicBezTo>
                    <a:pt x="3126" y="3537"/>
                    <a:pt x="3178" y="3518"/>
                    <a:pt x="3217" y="3478"/>
                  </a:cubicBezTo>
                  <a:lnTo>
                    <a:pt x="3493" y="3202"/>
                  </a:lnTo>
                  <a:cubicBezTo>
                    <a:pt x="3571" y="3124"/>
                    <a:pt x="3572" y="2997"/>
                    <a:pt x="3493" y="2919"/>
                  </a:cubicBezTo>
                  <a:lnTo>
                    <a:pt x="3317" y="2740"/>
                  </a:lnTo>
                  <a:cubicBezTo>
                    <a:pt x="3387" y="2619"/>
                    <a:pt x="3441" y="2493"/>
                    <a:pt x="3477" y="2347"/>
                  </a:cubicBezTo>
                  <a:lnTo>
                    <a:pt x="3717" y="2347"/>
                  </a:lnTo>
                  <a:cubicBezTo>
                    <a:pt x="3828" y="2347"/>
                    <a:pt x="3906" y="2263"/>
                    <a:pt x="3906" y="2152"/>
                  </a:cubicBezTo>
                  <a:lnTo>
                    <a:pt x="3906" y="1761"/>
                  </a:lnTo>
                  <a:cubicBezTo>
                    <a:pt x="3906" y="1651"/>
                    <a:pt x="3828" y="1560"/>
                    <a:pt x="3717" y="1560"/>
                  </a:cubicBezTo>
                  <a:close/>
                  <a:moveTo>
                    <a:pt x="2540" y="1960"/>
                  </a:moveTo>
                  <a:cubicBezTo>
                    <a:pt x="2540" y="2281"/>
                    <a:pt x="2279" y="2542"/>
                    <a:pt x="1958" y="2542"/>
                  </a:cubicBezTo>
                  <a:cubicBezTo>
                    <a:pt x="1637" y="2542"/>
                    <a:pt x="1376" y="2281"/>
                    <a:pt x="1376" y="1960"/>
                  </a:cubicBezTo>
                  <a:cubicBezTo>
                    <a:pt x="1376" y="1639"/>
                    <a:pt x="1637" y="1378"/>
                    <a:pt x="1958" y="1378"/>
                  </a:cubicBezTo>
                  <a:cubicBezTo>
                    <a:pt x="2279" y="1378"/>
                    <a:pt x="2540" y="1639"/>
                    <a:pt x="2540" y="1960"/>
                  </a:cubicBezTo>
                  <a:close/>
                </a:path>
              </a:pathLst>
            </a:custGeom>
            <a:solidFill>
              <a:schemeClr val="bg1"/>
            </a:solidFill>
            <a:ln>
              <a:noFill/>
            </a:ln>
            <a:effectLst>
              <a:outerShdw blurRad="50800" dist="38100" dir="2700000" algn="tl" rotWithShape="0">
                <a:prstClr val="black">
                  <a:alpha val="40000"/>
                </a:prstClr>
              </a:outerShdw>
            </a:effectLst>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C666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10" name="组合"/>
          <p:cNvGrpSpPr/>
          <p:nvPr>
            <p:custDataLst>
              <p:tags r:id="rId1"/>
            </p:custDataLst>
          </p:nvPr>
        </p:nvGrpSpPr>
        <p:grpSpPr>
          <a:xfrm>
            <a:off x="-7400272" y="-479822"/>
            <a:ext cx="9773091" cy="1853962"/>
            <a:chOff x="1447994" y="3117865"/>
            <a:chExt cx="9773091" cy="1853962"/>
          </a:xfrm>
        </p:grpSpPr>
        <p:sp>
          <p:nvSpPr>
            <p:cNvPr id="8" name="圆角矩形"/>
            <p:cNvSpPr/>
            <p:nvPr>
              <p:custDataLst>
                <p:tags r:id="rId3"/>
              </p:custDataLst>
            </p:nvPr>
          </p:nvSpPr>
          <p:spPr>
            <a:xfrm>
              <a:off x="9183663" y="4602495"/>
              <a:ext cx="2037422" cy="369332"/>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经费预算</a:t>
              </a:r>
            </a:p>
          </p:txBody>
        </p:sp>
        <p:sp>
          <p:nvSpPr>
            <p:cNvPr id="9" name="科技贡献大"/>
            <p:cNvSpPr/>
            <p:nvPr>
              <p:custDataLst>
                <p:tags r:id="rId4"/>
              </p:custDataLst>
            </p:nvPr>
          </p:nvSpPr>
          <p:spPr>
            <a:xfrm>
              <a:off x="1447994" y="3117865"/>
              <a:ext cx="1619790" cy="369332"/>
            </a:xfrm>
            <a:prstGeom prst="rect">
              <a:avLst/>
            </a:prstGeom>
          </p:spPr>
          <p:txBody>
            <a:bodyPr wrap="square">
              <a:spAutoFit/>
            </a:bodyPr>
            <a:lstStyle/>
            <a:p>
              <a:pPr marL="0" marR="0" lvl="0" indent="0" algn="dist"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科技贡献大</a:t>
              </a:r>
            </a:p>
          </p:txBody>
        </p:sp>
      </p:grpSp>
      <p:graphicFrame>
        <p:nvGraphicFramePr>
          <p:cNvPr id="6" name="表格 5"/>
          <p:cNvGraphicFramePr/>
          <p:nvPr>
            <p:custDataLst>
              <p:tags r:id="rId2"/>
            </p:custDataLst>
            <p:extLst>
              <p:ext uri="{D42A27DB-BD31-4B8C-83A1-F6EECF244321}">
                <p14:modId xmlns:p14="http://schemas.microsoft.com/office/powerpoint/2010/main" val="1788266725"/>
              </p:ext>
            </p:extLst>
          </p:nvPr>
        </p:nvGraphicFramePr>
        <p:xfrm>
          <a:off x="819150" y="1823720"/>
          <a:ext cx="10692269" cy="4029470"/>
        </p:xfrm>
        <a:graphic>
          <a:graphicData uri="http://schemas.openxmlformats.org/drawingml/2006/table">
            <a:tbl>
              <a:tblPr/>
              <a:tblGrid>
                <a:gridCol w="1783663">
                  <a:extLst>
                    <a:ext uri="{9D8B030D-6E8A-4147-A177-3AD203B41FA5}">
                      <a16:colId xmlns:a16="http://schemas.microsoft.com/office/drawing/2014/main" val="20000"/>
                    </a:ext>
                  </a:extLst>
                </a:gridCol>
                <a:gridCol w="2124858">
                  <a:extLst>
                    <a:ext uri="{9D8B030D-6E8A-4147-A177-3AD203B41FA5}">
                      <a16:colId xmlns:a16="http://schemas.microsoft.com/office/drawing/2014/main" val="20001"/>
                    </a:ext>
                  </a:extLst>
                </a:gridCol>
                <a:gridCol w="6783748">
                  <a:extLst>
                    <a:ext uri="{9D8B030D-6E8A-4147-A177-3AD203B41FA5}">
                      <a16:colId xmlns:a16="http://schemas.microsoft.com/office/drawing/2014/main" val="20002"/>
                    </a:ext>
                  </a:extLst>
                </a:gridCol>
              </a:tblGrid>
              <a:tr h="867886">
                <a:tc>
                  <a:txBody>
                    <a:bodyPr/>
                    <a:lstStyle/>
                    <a:p>
                      <a:pPr indent="0" algn="ctr">
                        <a:buNone/>
                      </a:pPr>
                      <a:r>
                        <a:rPr lang="en-US" sz="2000" b="1" strike="noStrike" dirty="0" err="1">
                          <a:effectLst/>
                          <a:latin typeface="微软雅黑" panose="020B0503020204020204" pitchFamily="34" charset="-122"/>
                          <a:ea typeface="微软雅黑" panose="020B0503020204020204" pitchFamily="34" charset="-122"/>
                          <a:cs typeface="宋体" panose="02010600030101010101" pitchFamily="2" charset="-122"/>
                        </a:rPr>
                        <a:t>开支科目</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dirty="0" err="1">
                          <a:effectLst/>
                          <a:latin typeface="微软雅黑" panose="020B0503020204020204" pitchFamily="34" charset="-122"/>
                          <a:ea typeface="微软雅黑" panose="020B0503020204020204" pitchFamily="34" charset="-122"/>
                          <a:cs typeface="宋体" panose="02010600030101010101" pitchFamily="2" charset="-122"/>
                        </a:rPr>
                        <a:t>预算经费（元</a:t>
                      </a:r>
                      <a:r>
                        <a:rPr 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rPr>
                        <a:t>）</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dirty="0" err="1">
                          <a:effectLst/>
                          <a:latin typeface="微软雅黑" panose="020B0503020204020204" pitchFamily="34" charset="-122"/>
                          <a:ea typeface="微软雅黑" panose="020B0503020204020204" pitchFamily="34" charset="-122"/>
                          <a:cs typeface="宋体" panose="02010600030101010101" pitchFamily="2" charset="-122"/>
                        </a:rPr>
                        <a:t>主要用途</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0396">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业务费</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7000</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rPr>
                        <a:t>前期调研，论文出版</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9658">
                <a:tc>
                  <a:txBody>
                    <a:bodyPr/>
                    <a:lstStyle/>
                    <a:p>
                      <a:pPr indent="0" algn="ctr">
                        <a:buNone/>
                      </a:pPr>
                      <a:r>
                        <a:rPr lang="en-US" sz="2000" b="1" strike="noStrike" dirty="0" err="1">
                          <a:effectLst/>
                          <a:latin typeface="微软雅黑" panose="020B0503020204020204" pitchFamily="34" charset="-122"/>
                          <a:ea typeface="微软雅黑" panose="020B0503020204020204" pitchFamily="34" charset="-122"/>
                          <a:cs typeface="宋体" panose="02010600030101010101" pitchFamily="2" charset="-122"/>
                        </a:rPr>
                        <a:t>材料费</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3000</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rPr>
                        <a:t>仪器设备购置费，维护费</a:t>
                      </a: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1134">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其他费用</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0</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 </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90396">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合计</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strike="noStrike">
                          <a:effectLst/>
                          <a:latin typeface="微软雅黑" panose="020B0503020204020204" pitchFamily="34" charset="-122"/>
                          <a:ea typeface="微软雅黑" panose="020B0503020204020204" pitchFamily="34" charset="-122"/>
                          <a:cs typeface="宋体" panose="02010600030101010101" pitchFamily="2" charset="-122"/>
                        </a:rPr>
                        <a:t>10000</a:t>
                      </a:r>
                      <a:endParaRPr lang="en-US" altLang="en-US" sz="2000" b="1" strike="noStrike">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1" strike="noStrike"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16" presetClass="entr" presetSubtype="37" fill="hold" nodeType="withEffect">
                                  <p:stCondLst>
                                    <p:cond delay="800"/>
                                  </p:stCondLst>
                                  <p:childTnLst>
                                    <p:set>
                                      <p:cBhvr>
                                        <p:cTn id="10" dur="1" fill="hold">
                                          <p:stCondLst>
                                            <p:cond delay="0"/>
                                          </p:stCondLst>
                                        </p:cTn>
                                        <p:tgtEl>
                                          <p:spTgt spid="10"/>
                                        </p:tgtEl>
                                        <p:attrNameLst>
                                          <p:attrName>style.visibility</p:attrName>
                                        </p:attrNameLst>
                                      </p:cBhvr>
                                      <p:to>
                                        <p:strVal val="visible"/>
                                      </p:to>
                                    </p:set>
                                    <p:animEffect transition="in" filter="barn(outVertical)">
                                      <p:cBhvr>
                                        <p:cTn id="11"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启真湖"/>
          <p:cNvPicPr>
            <a:picLocks noChangeAspect="1"/>
          </p:cNvPicPr>
          <p:nvPr/>
        </p:nvPicPr>
        <p:blipFill rotWithShape="1">
          <a:blip r:embed="rId3"/>
          <a:srcRect t="8120" b="8120"/>
          <a:stretch>
            <a:fillRect/>
          </a:stretch>
        </p:blipFill>
        <p:spPr>
          <a:xfrm>
            <a:off x="0" y="0"/>
            <a:ext cx="12192000" cy="3593374"/>
          </a:xfrm>
          <a:prstGeom prst="rect">
            <a:avLst/>
          </a:prstGeom>
        </p:spPr>
      </p:pic>
      <p:sp>
        <p:nvSpPr>
          <p:cNvPr id="18" name="遮罩色块"/>
          <p:cNvSpPr/>
          <p:nvPr/>
        </p:nvSpPr>
        <p:spPr>
          <a:xfrm>
            <a:off x="0" y="0"/>
            <a:ext cx="12192000" cy="3593374"/>
          </a:xfrm>
          <a:prstGeom prst="rect">
            <a:avLst/>
          </a:prstGeom>
          <a:gradFill flip="none" rotWithShape="1">
            <a:gsLst>
              <a:gs pos="7000">
                <a:schemeClr val="tx1">
                  <a:alpha val="13000"/>
                </a:schemeClr>
              </a:gs>
              <a:gs pos="100000">
                <a:schemeClr val="tx1">
                  <a:alpha val="63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 name="校徽组合"/>
          <p:cNvGrpSpPr/>
          <p:nvPr/>
        </p:nvGrpSpPr>
        <p:grpSpPr>
          <a:xfrm>
            <a:off x="4781550" y="1619250"/>
            <a:ext cx="2628900" cy="2628900"/>
            <a:chOff x="5036457" y="2009495"/>
            <a:chExt cx="2119086" cy="2119086"/>
          </a:xfrm>
        </p:grpSpPr>
        <p:sp>
          <p:nvSpPr>
            <p:cNvPr id="2" name="圆形色块"/>
            <p:cNvSpPr/>
            <p:nvPr/>
          </p:nvSpPr>
          <p:spPr>
            <a:xfrm>
              <a:off x="5036457" y="2009495"/>
              <a:ext cx="2119086" cy="2119086"/>
            </a:xfrm>
            <a:prstGeom prst="ellipse">
              <a:avLst/>
            </a:prstGeom>
            <a:solidFill>
              <a:schemeClr val="bg1">
                <a:alpha val="83000"/>
              </a:schemeClr>
            </a:solidFill>
            <a:ln>
              <a:noFill/>
            </a:ln>
            <a:effectLst>
              <a:outerShdw blurRad="889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23" name="校徽"/>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Layer>
                  </a14:imgProps>
                </a:ext>
              </a:extLst>
            </a:blip>
            <a:srcRect l="9872" t="9872" r="9872" b="9872"/>
            <a:stretch>
              <a:fillRect/>
            </a:stretch>
          </p:blipFill>
          <p:spPr>
            <a:xfrm>
              <a:off x="5178425" y="2151463"/>
              <a:ext cx="1835152" cy="1835150"/>
            </a:xfrm>
            <a:prstGeom prst="rect">
              <a:avLst/>
            </a:prstGeom>
            <a:noFill/>
            <a:ln>
              <a:noFill/>
            </a:ln>
          </p:spPr>
        </p:pic>
      </p:grpSp>
      <p:sp>
        <p:nvSpPr>
          <p:cNvPr id="25" name="敬请各位批评指正"/>
          <p:cNvSpPr txBox="1"/>
          <p:nvPr/>
        </p:nvSpPr>
        <p:spPr>
          <a:xfrm>
            <a:off x="2351314" y="4575800"/>
            <a:ext cx="7489372" cy="830997"/>
          </a:xfrm>
          <a:prstGeom prst="rect">
            <a:avLst/>
          </a:prstGeom>
          <a:noFill/>
        </p:spPr>
        <p:txBody>
          <a:bodyPr wrap="square" rtlCol="0">
            <a:spAutoFit/>
          </a:bodyPr>
          <a:lstStyle/>
          <a:p>
            <a:pPr algn="dist" defTabSz="457200"/>
            <a:r>
              <a:rPr lang="zh-CN" altLang="en-US" sz="4800" b="1">
                <a:solidFill>
                  <a:schemeClr val="accent1"/>
                </a:solidFill>
                <a:latin typeface="Arial" panose="020B0604020202020204" pitchFamily="34" charset="0"/>
                <a:ea typeface="微软雅黑" panose="020B0503020204020204" pitchFamily="34" charset="-122"/>
                <a:sym typeface="Arial" panose="020B0604020202020204" pitchFamily="34" charset="0"/>
              </a:rPr>
              <a:t>请老师批评</a:t>
            </a:r>
            <a:r>
              <a:rPr lang="zh-CN" altLang="en-US" sz="4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指正</a:t>
            </a:r>
          </a:p>
        </p:txBody>
      </p:sp>
      <p:cxnSp>
        <p:nvCxnSpPr>
          <p:cNvPr id="24" name="点缀线段"/>
          <p:cNvCxnSpPr/>
          <p:nvPr/>
        </p:nvCxnSpPr>
        <p:spPr>
          <a:xfrm>
            <a:off x="2399702" y="5462984"/>
            <a:ext cx="739259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 name="THANK YOU FOR WATCHING"/>
          <p:cNvSpPr txBox="1"/>
          <p:nvPr/>
        </p:nvSpPr>
        <p:spPr>
          <a:xfrm>
            <a:off x="2351314" y="5498068"/>
            <a:ext cx="7489372" cy="369332"/>
          </a:xfrm>
          <a:prstGeom prst="rect">
            <a:avLst/>
          </a:prstGeom>
          <a:noFill/>
        </p:spPr>
        <p:txBody>
          <a:bodyPr wrap="square" rtlCol="0">
            <a:spAutoFit/>
          </a:bodyPr>
          <a:lstStyle/>
          <a:p>
            <a:pPr algn="dist" defTabSz="457200"/>
            <a:r>
              <a:rPr lang="en-US" altLang="zh-CN">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THANK YOU FOR WATCHING</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outVertical)">
                                      <p:cBhvr>
                                        <p:cTn id="7" dur="750"/>
                                        <p:tgtEl>
                                          <p:spTgt spid="27"/>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750"/>
                                        <p:tgtEl>
                                          <p:spTgt spid="18"/>
                                        </p:tgtEl>
                                      </p:cBhvr>
                                    </p:animEffect>
                                  </p:childTnLst>
                                </p:cTn>
                              </p:par>
                              <p:par>
                                <p:cTn id="11" presetID="53" presetClass="entr" presetSubtype="16" fill="hold" nodeType="withEffect">
                                  <p:stCondLst>
                                    <p:cond delay="800"/>
                                  </p:stCondLst>
                                  <p:childTnLst>
                                    <p:set>
                                      <p:cBhvr>
                                        <p:cTn id="12" dur="1" fill="hold">
                                          <p:stCondLst>
                                            <p:cond delay="0"/>
                                          </p:stCondLst>
                                        </p:cTn>
                                        <p:tgtEl>
                                          <p:spTgt spid="3"/>
                                        </p:tgtEl>
                                        <p:attrNameLst>
                                          <p:attrName>style.visibility</p:attrName>
                                        </p:attrNameLst>
                                      </p:cBhvr>
                                      <p:to>
                                        <p:strVal val="visible"/>
                                      </p:to>
                                    </p:set>
                                    <p:anim calcmode="lin" valueType="num">
                                      <p:cBhvr>
                                        <p:cTn id="13" dur="750" fill="hold"/>
                                        <p:tgtEl>
                                          <p:spTgt spid="3"/>
                                        </p:tgtEl>
                                        <p:attrNameLst>
                                          <p:attrName>ppt_w</p:attrName>
                                        </p:attrNameLst>
                                      </p:cBhvr>
                                      <p:tavLst>
                                        <p:tav tm="0">
                                          <p:val>
                                            <p:fltVal val="0"/>
                                          </p:val>
                                        </p:tav>
                                        <p:tav tm="100000">
                                          <p:val>
                                            <p:strVal val="#ppt_w"/>
                                          </p:val>
                                        </p:tav>
                                      </p:tavLst>
                                    </p:anim>
                                    <p:anim calcmode="lin" valueType="num">
                                      <p:cBhvr>
                                        <p:cTn id="14" dur="750" fill="hold"/>
                                        <p:tgtEl>
                                          <p:spTgt spid="3"/>
                                        </p:tgtEl>
                                        <p:attrNameLst>
                                          <p:attrName>ppt_h</p:attrName>
                                        </p:attrNameLst>
                                      </p:cBhvr>
                                      <p:tavLst>
                                        <p:tav tm="0">
                                          <p:val>
                                            <p:fltVal val="0"/>
                                          </p:val>
                                        </p:tav>
                                        <p:tav tm="100000">
                                          <p:val>
                                            <p:strVal val="#ppt_h"/>
                                          </p:val>
                                        </p:tav>
                                      </p:tavLst>
                                    </p:anim>
                                    <p:animEffect transition="in" filter="fade">
                                      <p:cBhvr>
                                        <p:cTn id="15" dur="750"/>
                                        <p:tgtEl>
                                          <p:spTgt spid="3"/>
                                        </p:tgtEl>
                                      </p:cBhvr>
                                    </p:animEffect>
                                  </p:childTnLst>
                                </p:cTn>
                              </p:par>
                              <p:par>
                                <p:cTn id="16" presetID="6" presetClass="emph" presetSubtype="0" autoRev="1" fill="hold" nodeType="withEffect">
                                  <p:stCondLst>
                                    <p:cond delay="1200"/>
                                  </p:stCondLst>
                                  <p:childTnLst>
                                    <p:animScale>
                                      <p:cBhvr>
                                        <p:cTn id="17" dur="400" fill="hold"/>
                                        <p:tgtEl>
                                          <p:spTgt spid="3"/>
                                        </p:tgtEl>
                                      </p:cBhvr>
                                      <p:by x="115000" y="115000"/>
                                    </p:animScale>
                                  </p:childTnLst>
                                </p:cTn>
                              </p:par>
                              <p:par>
                                <p:cTn id="18" presetID="50" presetClass="entr" presetSubtype="0" decel="100000" fill="hold" grpId="0" nodeType="withEffect">
                                  <p:stCondLst>
                                    <p:cond delay="1600"/>
                                  </p:stCondLst>
                                  <p:iterate type="lt">
                                    <p:tmPct val="10000"/>
                                  </p:iterate>
                                  <p:childTnLst>
                                    <p:set>
                                      <p:cBhvr>
                                        <p:cTn id="19" dur="1" fill="hold">
                                          <p:stCondLst>
                                            <p:cond delay="0"/>
                                          </p:stCondLst>
                                        </p:cTn>
                                        <p:tgtEl>
                                          <p:spTgt spid="25"/>
                                        </p:tgtEl>
                                        <p:attrNameLst>
                                          <p:attrName>style.visibility</p:attrName>
                                        </p:attrNameLst>
                                      </p:cBhvr>
                                      <p:to>
                                        <p:strVal val="visible"/>
                                      </p:to>
                                    </p:set>
                                    <p:anim calcmode="lin" valueType="num">
                                      <p:cBhvr>
                                        <p:cTn id="20" dur="750" fill="hold"/>
                                        <p:tgtEl>
                                          <p:spTgt spid="25"/>
                                        </p:tgtEl>
                                        <p:attrNameLst>
                                          <p:attrName>ppt_w</p:attrName>
                                        </p:attrNameLst>
                                      </p:cBhvr>
                                      <p:tavLst>
                                        <p:tav tm="0">
                                          <p:val>
                                            <p:strVal val="#ppt_w+.3"/>
                                          </p:val>
                                        </p:tav>
                                        <p:tav tm="100000">
                                          <p:val>
                                            <p:strVal val="#ppt_w"/>
                                          </p:val>
                                        </p:tav>
                                      </p:tavLst>
                                    </p:anim>
                                    <p:anim calcmode="lin" valueType="num">
                                      <p:cBhvr>
                                        <p:cTn id="21" dur="750" fill="hold"/>
                                        <p:tgtEl>
                                          <p:spTgt spid="25"/>
                                        </p:tgtEl>
                                        <p:attrNameLst>
                                          <p:attrName>ppt_h</p:attrName>
                                        </p:attrNameLst>
                                      </p:cBhvr>
                                      <p:tavLst>
                                        <p:tav tm="0">
                                          <p:val>
                                            <p:strVal val="#ppt_h"/>
                                          </p:val>
                                        </p:tav>
                                        <p:tav tm="100000">
                                          <p:val>
                                            <p:strVal val="#ppt_h"/>
                                          </p:val>
                                        </p:tav>
                                      </p:tavLst>
                                    </p:anim>
                                    <p:animEffect transition="in" filter="fade">
                                      <p:cBhvr>
                                        <p:cTn id="22" dur="750"/>
                                        <p:tgtEl>
                                          <p:spTgt spid="25"/>
                                        </p:tgtEl>
                                      </p:cBhvr>
                                    </p:animEffect>
                                  </p:childTnLst>
                                </p:cTn>
                              </p:par>
                              <p:par>
                                <p:cTn id="23" presetID="16" presetClass="entr" presetSubtype="37" fill="hold" nodeType="withEffect">
                                  <p:stCondLst>
                                    <p:cond delay="2000"/>
                                  </p:stCondLst>
                                  <p:childTnLst>
                                    <p:set>
                                      <p:cBhvr>
                                        <p:cTn id="24" dur="1" fill="hold">
                                          <p:stCondLst>
                                            <p:cond delay="0"/>
                                          </p:stCondLst>
                                        </p:cTn>
                                        <p:tgtEl>
                                          <p:spTgt spid="24"/>
                                        </p:tgtEl>
                                        <p:attrNameLst>
                                          <p:attrName>style.visibility</p:attrName>
                                        </p:attrNameLst>
                                      </p:cBhvr>
                                      <p:to>
                                        <p:strVal val="visible"/>
                                      </p:to>
                                    </p:set>
                                    <p:animEffect transition="in" filter="barn(outVertical)">
                                      <p:cBhvr>
                                        <p:cTn id="25" dur="750"/>
                                        <p:tgtEl>
                                          <p:spTgt spid="24"/>
                                        </p:tgtEl>
                                      </p:cBhvr>
                                    </p:animEffect>
                                  </p:childTnLst>
                                </p:cTn>
                              </p:par>
                              <p:par>
                                <p:cTn id="26" presetID="42" presetClass="entr" presetSubtype="0" fill="hold" grpId="0" nodeType="withEffect">
                                  <p:stCondLst>
                                    <p:cond delay="240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750"/>
                                        <p:tgtEl>
                                          <p:spTgt spid="26"/>
                                        </p:tgtEl>
                                      </p:cBhvr>
                                    </p:animEffect>
                                    <p:anim calcmode="lin" valueType="num">
                                      <p:cBhvr>
                                        <p:cTn id="29" dur="750" fill="hold"/>
                                        <p:tgtEl>
                                          <p:spTgt spid="26"/>
                                        </p:tgtEl>
                                        <p:attrNameLst>
                                          <p:attrName>ppt_x</p:attrName>
                                        </p:attrNameLst>
                                      </p:cBhvr>
                                      <p:tavLst>
                                        <p:tav tm="0">
                                          <p:val>
                                            <p:strVal val="#ppt_x"/>
                                          </p:val>
                                        </p:tav>
                                        <p:tav tm="100000">
                                          <p:val>
                                            <p:strVal val="#ppt_x"/>
                                          </p:val>
                                        </p:tav>
                                      </p:tavLst>
                                    </p:anim>
                                    <p:anim calcmode="lin" valueType="num">
                                      <p:cBhvr>
                                        <p:cTn id="30" dur="75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5" grpId="0"/>
      <p:bldP spid="26"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dkYjkxZGQxNzZkMTJmNWUyOTk4OTA4MjQzMDY2Zjc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14.53015748031504,&quot;left&quot;:66.14850393700787,&quot;top&quot;:117.94913385826771,&quot;width&quot;:854.518188976378}"/>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9.0109448818897,&quot;left&quot;:-7.874015748031496e-05,&quot;top&quot;:92.06299212598425,&quot;width&quot;:960.000157480314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9.0109448818897,&quot;left&quot;:-7.874015748031496e-05,&quot;top&quot;:92.06299212598425,&quot;width&quot;:960.000157480314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9.0109448818897,&quot;left&quot;:-7.874015748031496e-05,&quot;top&quot;:92.06299212598425,&quot;width&quot;:960.000157480314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22.80084645669297,&quot;left&quot;:-7.874015748031496e-05,&quot;top&quot;:92.06299212598425,&quot;width&quot;:960.000157480314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65.xml><?xml version="1.0" encoding="utf-8"?>
<p:tagLst xmlns:a="http://schemas.openxmlformats.org/drawingml/2006/main" xmlns:r="http://schemas.openxmlformats.org/officeDocument/2006/relationships" xmlns:p="http://schemas.openxmlformats.org/presentationml/2006/main">
  <p:tag name="TABLE_ENDDRAG_ORIGIN_RECT" val="804*321"/>
  <p:tag name="TABLE_ENDDRAG_RECT" val="85*143*804*321"/>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529.5812598425197,&quot;left&quot;:-582.6985826771653,&quot;top&quot;:-37.781259842519695,&quot;width&quot;:1476.73472440944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扁平化">
      <a:dk1>
        <a:sysClr val="windowText" lastClr="000000"/>
      </a:dk1>
      <a:lt1>
        <a:sysClr val="window" lastClr="FFFFFF"/>
      </a:lt1>
      <a:dk2>
        <a:srgbClr val="44546A"/>
      </a:dk2>
      <a:lt2>
        <a:srgbClr val="E7E6E6"/>
      </a:lt2>
      <a:accent1>
        <a:srgbClr val="1045C9"/>
      </a:accent1>
      <a:accent2>
        <a:srgbClr val="E74C3C"/>
      </a:accent2>
      <a:accent3>
        <a:srgbClr val="00B050"/>
      </a:accent3>
      <a:accent4>
        <a:srgbClr val="E67E22"/>
      </a:accent4>
      <a:accent5>
        <a:srgbClr val="9B59B6"/>
      </a:accent5>
      <a:accent6>
        <a:srgbClr val="1ABC9C"/>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1296</Words>
  <Application>Microsoft Office PowerPoint</Application>
  <PresentationFormat>宽屏</PresentationFormat>
  <Paragraphs>185</Paragraphs>
  <Slides>20</Slides>
  <Notes>20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20</vt:i4>
      </vt:variant>
    </vt:vector>
  </HeadingPairs>
  <TitlesOfParts>
    <vt:vector size="30" baseType="lpstr">
      <vt:lpstr>等线</vt:lpstr>
      <vt:lpstr>等线 Light</vt:lpstr>
      <vt:lpstr>宋体</vt:lpstr>
      <vt:lpstr>微软雅黑</vt:lpstr>
      <vt:lpstr>Arial</vt:lpstr>
      <vt:lpstr>Calibri</vt:lpstr>
      <vt:lpstr>Wingdings</vt:lpstr>
      <vt:lpstr>Office 主题​​</vt:lpstr>
      <vt:lpstr>默认设计模板</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景毓 梁</dc:creator>
  <cp:lastModifiedBy>景毓 梁</cp:lastModifiedBy>
  <cp:revision>14</cp:revision>
  <dcterms:created xsi:type="dcterms:W3CDTF">2024-05-26T02:56:00Z</dcterms:created>
  <dcterms:modified xsi:type="dcterms:W3CDTF">2024-06-05T07:03:40Z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E37FF0038EC1480ABF7D4EEDE89AEC80_13</vt:lpwstr>
  </property>
  <property fmtid="{D5CDD505-2E9C-101B-9397-08002B2CF9AE}" pid="3" name="KSOProductBuildVer">
    <vt:lpwstr>2052-12.1.0.16729</vt:lpwstr>
  </property>
</Properties>
</file>