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0" r:id="rId5"/>
    <p:sldId id="265" r:id="rId6"/>
    <p:sldId id="264" r:id="rId7"/>
    <p:sldId id="262" r:id="rId8"/>
    <p:sldId id="266" r:id="rId9"/>
    <p:sldId id="276" r:id="rId10"/>
    <p:sldId id="278" r:id="rId11"/>
    <p:sldId id="279" r:id="rId12"/>
    <p:sldId id="268" r:id="rId13"/>
    <p:sldId id="280" r:id="rId14"/>
    <p:sldId id="281" r:id="rId15"/>
    <p:sldId id="282" r:id="rId16"/>
    <p:sldId id="283" r:id="rId17"/>
    <p:sldId id="267" r:id="rId18"/>
    <p:sldId id="269" r:id="rId19"/>
    <p:sldId id="271" r:id="rId20"/>
    <p:sldId id="273" r:id="rId21"/>
    <p:sldId id="263" r:id="rId22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1" userDrawn="1">
          <p15:clr>
            <a:srgbClr val="A4A3A4"/>
          </p15:clr>
        </p15:guide>
        <p15:guide id="2" pos="38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1"/>
        <p:guide pos="384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86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3011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30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Char char="•"/>
            </a:pPr>
            <a:fld id="{9A0DB2DC-4C9A-4742-B13C-FB6460FD3503}" type="slidenum">
              <a:rPr lang="en-US" altLang="en-US" dirty="0"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rPr>
            </a:fld>
            <a:endParaRPr lang="en-US" altLang="en-US" dirty="0">
              <a:solidFill>
                <a:srgbClr val="00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740552-609A-450B-84E0-07992844F450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1CB8912-F0BA-4AD8-8415-DA1F26BCB09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1CB8912-F0BA-4AD8-8415-DA1F26BCB09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1CB8912-F0BA-4AD8-8415-DA1F26BCB09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1CB8912-F0BA-4AD8-8415-DA1F26BCB09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6567411" y="113122"/>
            <a:ext cx="5624592" cy="5392132"/>
          </a:xfrm>
          <a:custGeom>
            <a:avLst/>
            <a:gdLst>
              <a:gd name="connsiteX0" fmla="*/ 927410 w 5510309"/>
              <a:gd name="connsiteY0" fmla="*/ 0 h 5630999"/>
              <a:gd name="connsiteX1" fmla="*/ 5510309 w 5510309"/>
              <a:gd name="connsiteY1" fmla="*/ 1 h 5630999"/>
              <a:gd name="connsiteX2" fmla="*/ 5510309 w 5510309"/>
              <a:gd name="connsiteY2" fmla="*/ 4733026 h 5630999"/>
              <a:gd name="connsiteX3" fmla="*/ 2839300 w 5510309"/>
              <a:gd name="connsiteY3" fmla="*/ 5630999 h 5630999"/>
              <a:gd name="connsiteX4" fmla="*/ 0 w 5510309"/>
              <a:gd name="connsiteY4" fmla="*/ 2806262 h 5630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0309" h="5630999">
                <a:moveTo>
                  <a:pt x="927410" y="0"/>
                </a:moveTo>
                <a:lnTo>
                  <a:pt x="5510309" y="1"/>
                </a:lnTo>
                <a:lnTo>
                  <a:pt x="5510309" y="4733026"/>
                </a:lnTo>
                <a:lnTo>
                  <a:pt x="2839300" y="5630999"/>
                </a:lnTo>
                <a:lnTo>
                  <a:pt x="0" y="280626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grpSp>
        <p:nvGrpSpPr>
          <p:cNvPr id="11" name="组合 10"/>
          <p:cNvGrpSpPr/>
          <p:nvPr userDrawn="1"/>
        </p:nvGrpSpPr>
        <p:grpSpPr>
          <a:xfrm rot="14553514">
            <a:off x="-1699261" y="3479014"/>
            <a:ext cx="7812694" cy="6026935"/>
            <a:chOff x="-1749624" y="571905"/>
            <a:chExt cx="6241492" cy="4814865"/>
          </a:xfrm>
        </p:grpSpPr>
        <p:sp>
          <p:nvSpPr>
            <p:cNvPr id="12" name="六边形 11"/>
            <p:cNvSpPr/>
            <p:nvPr/>
          </p:nvSpPr>
          <p:spPr>
            <a:xfrm rot="2981641">
              <a:off x="-1866004" y="3815597"/>
              <a:ext cx="1687553" cy="1454793"/>
            </a:xfrm>
            <a:prstGeom prst="hexagon">
              <a:avLst/>
            </a:prstGeom>
            <a:noFill/>
            <a:ln w="285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3" name="六边形 12"/>
            <p:cNvSpPr/>
            <p:nvPr/>
          </p:nvSpPr>
          <p:spPr>
            <a:xfrm rot="2981641">
              <a:off x="-767664" y="1553181"/>
              <a:ext cx="3284752" cy="2831690"/>
            </a:xfrm>
            <a:prstGeom prst="hexagon">
              <a:avLst/>
            </a:prstGeom>
            <a:noFill/>
            <a:ln w="285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4" name="六边形 13"/>
            <p:cNvSpPr/>
            <p:nvPr/>
          </p:nvSpPr>
          <p:spPr>
            <a:xfrm rot="6184754">
              <a:off x="998995" y="798436"/>
              <a:ext cx="3284752" cy="2831690"/>
            </a:xfrm>
            <a:prstGeom prst="hexagon">
              <a:avLst/>
            </a:prstGeom>
            <a:noFill/>
            <a:ln w="285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六边形 14"/>
            <p:cNvSpPr/>
            <p:nvPr/>
          </p:nvSpPr>
          <p:spPr>
            <a:xfrm rot="2981641">
              <a:off x="2062097" y="3966502"/>
              <a:ext cx="828668" cy="714370"/>
            </a:xfrm>
            <a:prstGeom prst="hexagon">
              <a:avLst/>
            </a:prstGeom>
            <a:noFill/>
            <a:ln w="285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六边形 15"/>
            <p:cNvSpPr/>
            <p:nvPr/>
          </p:nvSpPr>
          <p:spPr>
            <a:xfrm rot="2981641">
              <a:off x="4022512" y="3239285"/>
              <a:ext cx="504123" cy="434589"/>
            </a:xfrm>
            <a:prstGeom prst="hexagon">
              <a:avLst/>
            </a:prstGeom>
            <a:noFill/>
            <a:ln w="2857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8" Type="http://schemas.openxmlformats.org/officeDocument/2006/relationships/notesSlide" Target="../notesSlides/notesSlide2.xml"/><Relationship Id="rId27" Type="http://schemas.openxmlformats.org/officeDocument/2006/relationships/slideLayout" Target="../slideLayouts/slideLayout12.xml"/><Relationship Id="rId26" Type="http://schemas.openxmlformats.org/officeDocument/2006/relationships/tags" Target="../tags/tag85.xml"/><Relationship Id="rId25" Type="http://schemas.openxmlformats.org/officeDocument/2006/relationships/image" Target="../media/image6.png"/><Relationship Id="rId24" Type="http://schemas.openxmlformats.org/officeDocument/2006/relationships/image" Target="../media/image5.png"/><Relationship Id="rId23" Type="http://schemas.openxmlformats.org/officeDocument/2006/relationships/tags" Target="../tags/tag84.xml"/><Relationship Id="rId22" Type="http://schemas.openxmlformats.org/officeDocument/2006/relationships/tags" Target="../tags/tag83.xml"/><Relationship Id="rId21" Type="http://schemas.openxmlformats.org/officeDocument/2006/relationships/tags" Target="../tags/tag82.xml"/><Relationship Id="rId20" Type="http://schemas.openxmlformats.org/officeDocument/2006/relationships/tags" Target="../tags/tag81.xml"/><Relationship Id="rId2" Type="http://schemas.openxmlformats.org/officeDocument/2006/relationships/tags" Target="../tags/tag63.xml"/><Relationship Id="rId19" Type="http://schemas.openxmlformats.org/officeDocument/2006/relationships/tags" Target="../tags/tag80.xml"/><Relationship Id="rId18" Type="http://schemas.openxmlformats.org/officeDocument/2006/relationships/tags" Target="../tags/tag79.xml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7.xml"/><Relationship Id="rId3" Type="http://schemas.microsoft.com/office/2007/relationships/hdphoto" Target="../media/image15.wdp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启真湖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5232" b="15232"/>
          <a:stretch>
            <a:fillRect/>
          </a:stretch>
        </p:blipFill>
        <p:spPr>
          <a:xfrm>
            <a:off x="0" y="0"/>
            <a:ext cx="12192000" cy="4067456"/>
          </a:xfrm>
          <a:prstGeom prst="rect">
            <a:avLst/>
          </a:prstGeom>
        </p:spPr>
      </p:pic>
      <p:sp>
        <p:nvSpPr>
          <p:cNvPr id="9" name="主标题"/>
          <p:cNvSpPr txBox="1"/>
          <p:nvPr/>
        </p:nvSpPr>
        <p:spPr>
          <a:xfrm>
            <a:off x="1598341" y="4377676"/>
            <a:ext cx="92406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4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基于深度学习的开源软件代码的漏洞检测系统</a:t>
            </a:r>
            <a:endParaRPr lang="zh-CN" altLang="en-US" sz="48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12" name="点缀线段"/>
          <p:cNvCxnSpPr/>
          <p:nvPr/>
        </p:nvCxnSpPr>
        <p:spPr>
          <a:xfrm>
            <a:off x="5791200" y="5751285"/>
            <a:ext cx="60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打底矩形"/>
          <p:cNvSpPr/>
          <p:nvPr/>
        </p:nvSpPr>
        <p:spPr>
          <a:xfrm>
            <a:off x="4441371" y="6024192"/>
            <a:ext cx="3309258" cy="390979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3" name="竖线组合"/>
          <p:cNvGrpSpPr/>
          <p:nvPr/>
        </p:nvGrpSpPr>
        <p:grpSpPr>
          <a:xfrm>
            <a:off x="1520825" y="0"/>
            <a:ext cx="9151938" cy="4083051"/>
            <a:chOff x="1520825" y="0"/>
            <a:chExt cx="9151938" cy="4083051"/>
          </a:xfrm>
        </p:grpSpPr>
        <p:sp>
          <p:nvSpPr>
            <p:cNvPr id="36" name="Line 29"/>
            <p:cNvSpPr>
              <a:spLocks noChangeShapeType="1"/>
            </p:cNvSpPr>
            <p:nvPr/>
          </p:nvSpPr>
          <p:spPr bwMode="auto">
            <a:xfrm>
              <a:off x="1520825" y="0"/>
              <a:ext cx="0" cy="408305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7" name="Line 30"/>
            <p:cNvSpPr>
              <a:spLocks noChangeShapeType="1"/>
            </p:cNvSpPr>
            <p:nvPr/>
          </p:nvSpPr>
          <p:spPr bwMode="auto">
            <a:xfrm>
              <a:off x="3044825" y="0"/>
              <a:ext cx="0" cy="408305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8" name="Line 31"/>
            <p:cNvSpPr>
              <a:spLocks noChangeShapeType="1"/>
            </p:cNvSpPr>
            <p:nvPr/>
          </p:nvSpPr>
          <p:spPr bwMode="auto">
            <a:xfrm>
              <a:off x="4568825" y="0"/>
              <a:ext cx="0" cy="408305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9" name="Line 32"/>
            <p:cNvSpPr>
              <a:spLocks noChangeShapeType="1"/>
            </p:cNvSpPr>
            <p:nvPr/>
          </p:nvSpPr>
          <p:spPr bwMode="auto">
            <a:xfrm>
              <a:off x="6092825" y="0"/>
              <a:ext cx="0" cy="408305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0" name="Line 33"/>
            <p:cNvSpPr>
              <a:spLocks noChangeShapeType="1"/>
            </p:cNvSpPr>
            <p:nvPr/>
          </p:nvSpPr>
          <p:spPr bwMode="auto">
            <a:xfrm>
              <a:off x="7616825" y="1588"/>
              <a:ext cx="0" cy="408146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1" name="Line 34"/>
            <p:cNvSpPr>
              <a:spLocks noChangeShapeType="1"/>
            </p:cNvSpPr>
            <p:nvPr/>
          </p:nvSpPr>
          <p:spPr bwMode="auto">
            <a:xfrm>
              <a:off x="9140825" y="1588"/>
              <a:ext cx="0" cy="408146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2" name="Line 35"/>
            <p:cNvSpPr>
              <a:spLocks noChangeShapeType="1"/>
            </p:cNvSpPr>
            <p:nvPr/>
          </p:nvSpPr>
          <p:spPr bwMode="auto">
            <a:xfrm>
              <a:off x="10672763" y="1588"/>
              <a:ext cx="0" cy="408146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" name="横线组合"/>
          <p:cNvGrpSpPr/>
          <p:nvPr/>
        </p:nvGrpSpPr>
        <p:grpSpPr>
          <a:xfrm>
            <a:off x="-7938" y="1363663"/>
            <a:ext cx="12203113" cy="1357312"/>
            <a:chOff x="-7938" y="1363663"/>
            <a:chExt cx="12203113" cy="1357312"/>
          </a:xfrm>
        </p:grpSpPr>
        <p:sp>
          <p:nvSpPr>
            <p:cNvPr id="43" name="Line 36"/>
            <p:cNvSpPr>
              <a:spLocks noChangeShapeType="1"/>
            </p:cNvSpPr>
            <p:nvPr/>
          </p:nvSpPr>
          <p:spPr bwMode="auto">
            <a:xfrm>
              <a:off x="-7938" y="1363663"/>
              <a:ext cx="12203113" cy="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4" name="Line 37"/>
            <p:cNvSpPr>
              <a:spLocks noChangeShapeType="1"/>
            </p:cNvSpPr>
            <p:nvPr/>
          </p:nvSpPr>
          <p:spPr bwMode="auto">
            <a:xfrm>
              <a:off x="-7938" y="2720975"/>
              <a:ext cx="12203113" cy="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6" name="校徽组合"/>
          <p:cNvGrpSpPr/>
          <p:nvPr/>
        </p:nvGrpSpPr>
        <p:grpSpPr>
          <a:xfrm>
            <a:off x="1528764" y="1370014"/>
            <a:ext cx="1508124" cy="1357313"/>
            <a:chOff x="1528764" y="1370014"/>
            <a:chExt cx="1508124" cy="1357313"/>
          </a:xfrm>
        </p:grpSpPr>
        <p:sp>
          <p:nvSpPr>
            <p:cNvPr id="89" name="Rectangle 49"/>
            <p:cNvSpPr>
              <a:spLocks noChangeArrowheads="1"/>
            </p:cNvSpPr>
            <p:nvPr/>
          </p:nvSpPr>
          <p:spPr bwMode="auto">
            <a:xfrm>
              <a:off x="1528764" y="1370014"/>
              <a:ext cx="1508124" cy="1357313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pic>
          <p:nvPicPr>
            <p:cNvPr id="90" name="校徽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1749654" y="1508392"/>
              <a:ext cx="1082221" cy="1080559"/>
            </a:xfrm>
            <a:prstGeom prst="rect">
              <a:avLst/>
            </a:prstGeom>
          </p:spPr>
        </p:pic>
      </p:grpSp>
      <p:sp>
        <p:nvSpPr>
          <p:cNvPr id="91" name="遮罩色块17%"/>
          <p:cNvSpPr>
            <a:spLocks noChangeArrowheads="1"/>
          </p:cNvSpPr>
          <p:nvPr/>
        </p:nvSpPr>
        <p:spPr bwMode="auto">
          <a:xfrm>
            <a:off x="9148763" y="-1"/>
            <a:ext cx="1524000" cy="1370015"/>
          </a:xfrm>
          <a:prstGeom prst="rect">
            <a:avLst/>
          </a:prstGeom>
          <a:solidFill>
            <a:schemeClr val="bg1">
              <a:alpha val="83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2" name="遮罩色块27%"/>
          <p:cNvSpPr>
            <a:spLocks noChangeArrowheads="1"/>
          </p:cNvSpPr>
          <p:nvPr/>
        </p:nvSpPr>
        <p:spPr bwMode="auto">
          <a:xfrm>
            <a:off x="10672762" y="2720975"/>
            <a:ext cx="1519237" cy="135731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3" name="遮罩色块37%"/>
          <p:cNvSpPr>
            <a:spLocks noChangeArrowheads="1"/>
          </p:cNvSpPr>
          <p:nvPr/>
        </p:nvSpPr>
        <p:spPr bwMode="auto">
          <a:xfrm>
            <a:off x="7616825" y="1363980"/>
            <a:ext cx="1509395" cy="1364615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18734" y="6045839"/>
            <a:ext cx="2948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软件学院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bldLvl="0" animBg="1"/>
      <p:bldP spid="92" grpId="0" bldLvl="0" animBg="1"/>
      <p:bldP spid="93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7"/>
          <p:cNvPicPr>
            <a:picLocks noGrp="1" noChangeAspect="1"/>
          </p:cNvPicPr>
          <p:nvPr>
            <p:ph type="pic" sz="quarter" idx="10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317" y="1045794"/>
            <a:ext cx="6483802" cy="4862851"/>
          </a:xfrm>
          <a:effectLst>
            <a:innerShdw blurRad="63500" dist="50800" dir="10800000">
              <a:prstClr val="black">
                <a:alpha val="50000"/>
              </a:prstClr>
            </a:innerShdw>
          </a:effectLst>
        </p:spPr>
      </p:pic>
      <p:grpSp>
        <p:nvGrpSpPr>
          <p:cNvPr id="4" name="组合 3"/>
          <p:cNvGrpSpPr/>
          <p:nvPr/>
        </p:nvGrpSpPr>
        <p:grpSpPr>
          <a:xfrm>
            <a:off x="11181534" y="5433169"/>
            <a:ext cx="664254" cy="770531"/>
            <a:chOff x="8966893" y="4861108"/>
            <a:chExt cx="1147748" cy="1331382"/>
          </a:xfrm>
        </p:grpSpPr>
        <p:sp>
          <p:nvSpPr>
            <p:cNvPr id="29" name="六边形 28"/>
            <p:cNvSpPr/>
            <p:nvPr/>
          </p:nvSpPr>
          <p:spPr>
            <a:xfrm rot="5400000">
              <a:off x="8875076" y="4952925"/>
              <a:ext cx="1331382" cy="1147748"/>
            </a:xfrm>
            <a:prstGeom prst="hexagon">
              <a:avLst/>
            </a:prstGeom>
            <a:solidFill>
              <a:schemeClr val="bg1"/>
            </a:solidFill>
            <a:ln w="28575">
              <a:solidFill>
                <a:schemeClr val="bg2"/>
              </a:solidFill>
            </a:ln>
            <a:effectLst>
              <a:outerShdw blurRad="3937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9099810" y="5085842"/>
              <a:ext cx="881914" cy="88191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32" name="椭圆 45"/>
            <p:cNvSpPr/>
            <p:nvPr/>
          </p:nvSpPr>
          <p:spPr>
            <a:xfrm>
              <a:off x="9319844" y="5291582"/>
              <a:ext cx="441846" cy="470434"/>
            </a:xfrm>
            <a:custGeom>
              <a:avLst/>
              <a:gdLst>
                <a:gd name="T0" fmla="*/ 0 w 391"/>
                <a:gd name="T1" fmla="*/ 196 h 417"/>
                <a:gd name="T2" fmla="*/ 391 w 391"/>
                <a:gd name="T3" fmla="*/ 0 h 417"/>
                <a:gd name="T4" fmla="*/ 298 w 391"/>
                <a:gd name="T5" fmla="*/ 388 h 417"/>
                <a:gd name="T6" fmla="*/ 223 w 391"/>
                <a:gd name="T7" fmla="*/ 340 h 417"/>
                <a:gd name="T8" fmla="*/ 159 w 391"/>
                <a:gd name="T9" fmla="*/ 417 h 417"/>
                <a:gd name="T10" fmla="*/ 159 w 391"/>
                <a:gd name="T11" fmla="*/ 295 h 417"/>
                <a:gd name="T12" fmla="*/ 296 w 391"/>
                <a:gd name="T13" fmla="*/ 112 h 417"/>
                <a:gd name="T14" fmla="*/ 113 w 391"/>
                <a:gd name="T15" fmla="*/ 269 h 417"/>
                <a:gd name="T16" fmla="*/ 0 w 391"/>
                <a:gd name="T17" fmla="*/ 196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1" h="417">
                  <a:moveTo>
                    <a:pt x="0" y="196"/>
                  </a:moveTo>
                  <a:lnTo>
                    <a:pt x="391" y="0"/>
                  </a:lnTo>
                  <a:lnTo>
                    <a:pt x="298" y="388"/>
                  </a:lnTo>
                  <a:lnTo>
                    <a:pt x="223" y="340"/>
                  </a:lnTo>
                  <a:lnTo>
                    <a:pt x="159" y="417"/>
                  </a:lnTo>
                  <a:lnTo>
                    <a:pt x="159" y="295"/>
                  </a:lnTo>
                  <a:lnTo>
                    <a:pt x="296" y="112"/>
                  </a:lnTo>
                  <a:lnTo>
                    <a:pt x="113" y="269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33" name="直接连接符 32"/>
          <p:cNvCxnSpPr/>
          <p:nvPr>
            <p:custDataLst>
              <p:tags r:id="rId2"/>
            </p:custDataLst>
          </p:nvPr>
        </p:nvCxnSpPr>
        <p:spPr>
          <a:xfrm>
            <a:off x="1597288" y="1702724"/>
            <a:ext cx="285751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>
            <p:custDataLst>
              <p:tags r:id="rId3"/>
            </p:custDataLst>
          </p:nvPr>
        </p:nvGrpSpPr>
        <p:grpSpPr>
          <a:xfrm>
            <a:off x="778143" y="3643968"/>
            <a:ext cx="4869299" cy="793890"/>
            <a:chOff x="4977508" y="4521158"/>
            <a:chExt cx="4869299" cy="793890"/>
          </a:xfrm>
        </p:grpSpPr>
        <p:sp>
          <p:nvSpPr>
            <p:cNvPr id="39" name="矩形 38"/>
            <p:cNvSpPr/>
            <p:nvPr>
              <p:custDataLst>
                <p:tags r:id="rId4"/>
              </p:custDataLst>
            </p:nvPr>
          </p:nvSpPr>
          <p:spPr>
            <a:xfrm>
              <a:off x="4977508" y="4538096"/>
              <a:ext cx="748800" cy="750173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66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03</a:t>
              </a:r>
              <a:endParaRPr kumimoji="0" lang="zh-CN" altLang="en-US" sz="266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0" name="矩形 39"/>
            <p:cNvSpPr/>
            <p:nvPr>
              <p:custDataLst>
                <p:tags r:id="rId5"/>
              </p:custDataLst>
            </p:nvPr>
          </p:nvSpPr>
          <p:spPr>
            <a:xfrm>
              <a:off x="5863887" y="4976494"/>
              <a:ext cx="398292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045C9"/>
                  </a:solidFill>
                  <a:effectLst/>
                  <a:uLnTx/>
                  <a:uFillTx/>
                  <a:cs typeface="+mn-ea"/>
                  <a:sym typeface="+mn-lt"/>
                </a:rPr>
                <a:t>Northwestern Polytechnical University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045C9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1" name="矩形 40"/>
            <p:cNvSpPr/>
            <p:nvPr>
              <p:custDataLst>
                <p:tags r:id="rId6"/>
              </p:custDataLst>
            </p:nvPr>
          </p:nvSpPr>
          <p:spPr>
            <a:xfrm>
              <a:off x="5847759" y="4521158"/>
              <a:ext cx="1402080" cy="4603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defTabSz="914400"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045C9"/>
                  </a:solidFill>
                  <a:effectLst/>
                  <a:uLnTx/>
                  <a:uFillTx/>
                  <a:cs typeface="+mn-ea"/>
                  <a:sym typeface="+mn-lt"/>
                </a:rPr>
                <a:t>代码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045C9"/>
                  </a:solidFill>
                  <a:effectLst/>
                  <a:uLnTx/>
                  <a:uFillTx/>
                  <a:cs typeface="+mn-ea"/>
                  <a:sym typeface="+mn-lt"/>
                </a:rPr>
                <a:t>实例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045C9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>
            <p:custDataLst>
              <p:tags r:id="rId7"/>
            </p:custDataLst>
          </p:nvPr>
        </p:nvGrpSpPr>
        <p:grpSpPr>
          <a:xfrm>
            <a:off x="778143" y="1709434"/>
            <a:ext cx="4869299" cy="830422"/>
            <a:chOff x="4977508" y="2146481"/>
            <a:chExt cx="4869299" cy="830422"/>
          </a:xfrm>
        </p:grpSpPr>
        <p:sp>
          <p:nvSpPr>
            <p:cNvPr id="48" name="矩形 47"/>
            <p:cNvSpPr/>
            <p:nvPr>
              <p:custDataLst>
                <p:tags r:id="rId8"/>
              </p:custDataLst>
            </p:nvPr>
          </p:nvSpPr>
          <p:spPr>
            <a:xfrm>
              <a:off x="5863887" y="2601817"/>
              <a:ext cx="398292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045C9"/>
                  </a:solidFill>
                  <a:effectLst/>
                  <a:uLnTx/>
                  <a:uFillTx/>
                  <a:cs typeface="+mn-ea"/>
                  <a:sym typeface="+mn-lt"/>
                </a:rPr>
                <a:t>Northwestern Polytechnical University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045C9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9" name="矩形 48"/>
            <p:cNvSpPr/>
            <p:nvPr>
              <p:custDataLst>
                <p:tags r:id="rId9"/>
              </p:custDataLst>
            </p:nvPr>
          </p:nvSpPr>
          <p:spPr>
            <a:xfrm>
              <a:off x="5847759" y="2146481"/>
              <a:ext cx="1402080" cy="4603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045C9"/>
                  </a:solidFill>
                  <a:effectLst/>
                  <a:uLnTx/>
                  <a:uFillTx/>
                  <a:cs typeface="+mn-ea"/>
                  <a:sym typeface="+mn-lt"/>
                </a:rPr>
                <a:t>项目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045C9"/>
                  </a:solidFill>
                  <a:effectLst/>
                  <a:uLnTx/>
                  <a:uFillTx/>
                  <a:cs typeface="+mn-ea"/>
                  <a:sym typeface="+mn-lt"/>
                </a:rPr>
                <a:t>介绍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045C9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0" name="矩形 49"/>
            <p:cNvSpPr/>
            <p:nvPr>
              <p:custDataLst>
                <p:tags r:id="rId10"/>
              </p:custDataLst>
            </p:nvPr>
          </p:nvSpPr>
          <p:spPr>
            <a:xfrm>
              <a:off x="4977508" y="2226730"/>
              <a:ext cx="748800" cy="750173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66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01</a:t>
              </a:r>
              <a:endParaRPr kumimoji="0" lang="zh-CN" altLang="en-US" sz="266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cxnSp>
        <p:nvCxnSpPr>
          <p:cNvPr id="51" name="直接连接符 50"/>
          <p:cNvCxnSpPr/>
          <p:nvPr>
            <p:custDataLst>
              <p:tags r:id="rId11"/>
            </p:custDataLst>
          </p:nvPr>
        </p:nvCxnSpPr>
        <p:spPr>
          <a:xfrm>
            <a:off x="939559" y="1965403"/>
            <a:ext cx="286439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>
            <p:custDataLst>
              <p:tags r:id="rId12"/>
            </p:custDataLst>
          </p:nvPr>
        </p:nvGrpSpPr>
        <p:grpSpPr>
          <a:xfrm>
            <a:off x="1444779" y="2666127"/>
            <a:ext cx="4869299" cy="793890"/>
            <a:chOff x="2342542" y="2213318"/>
            <a:chExt cx="4869299" cy="793890"/>
          </a:xfrm>
        </p:grpSpPr>
        <p:grpSp>
          <p:nvGrpSpPr>
            <p:cNvPr id="34" name="组合 33"/>
            <p:cNvGrpSpPr/>
            <p:nvPr/>
          </p:nvGrpSpPr>
          <p:grpSpPr>
            <a:xfrm>
              <a:off x="2342542" y="2213318"/>
              <a:ext cx="4869299" cy="793890"/>
              <a:chOff x="4977508" y="3321660"/>
              <a:chExt cx="4869299" cy="793890"/>
            </a:xfrm>
          </p:grpSpPr>
          <p:sp>
            <p:nvSpPr>
              <p:cNvPr id="35" name="矩形 34"/>
              <p:cNvSpPr/>
              <p:nvPr>
                <p:custDataLst>
                  <p:tags r:id="rId13"/>
                </p:custDataLst>
              </p:nvPr>
            </p:nvSpPr>
            <p:spPr>
              <a:xfrm>
                <a:off x="4977508" y="3343519"/>
                <a:ext cx="748800" cy="750173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none" anchor="ctr" anchorCtr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665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02</a:t>
                </a:r>
                <a:endParaRPr kumimoji="0" lang="zh-CN" altLang="en-US" sz="266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" name="矩形 35"/>
              <p:cNvSpPr/>
              <p:nvPr>
                <p:custDataLst>
                  <p:tags r:id="rId14"/>
                </p:custDataLst>
              </p:nvPr>
            </p:nvSpPr>
            <p:spPr>
              <a:xfrm>
                <a:off x="5863887" y="3776996"/>
                <a:ext cx="3982920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045C9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Northwestern Polytechnical University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045C9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" name="矩形 36"/>
              <p:cNvSpPr/>
              <p:nvPr>
                <p:custDataLst>
                  <p:tags r:id="rId15"/>
                </p:custDataLst>
              </p:nvPr>
            </p:nvSpPr>
            <p:spPr>
              <a:xfrm>
                <a:off x="5847759" y="3321660"/>
                <a:ext cx="1402080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defTabSz="914400"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045C9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研究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045C9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过程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045C9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cxnSp>
          <p:nvCxnSpPr>
            <p:cNvPr id="52" name="直接连接符 51"/>
            <p:cNvCxnSpPr/>
            <p:nvPr>
              <p:custDataLst>
                <p:tags r:id="rId16"/>
              </p:custDataLst>
            </p:nvPr>
          </p:nvCxnSpPr>
          <p:spPr>
            <a:xfrm>
              <a:off x="2573722" y="2837931"/>
              <a:ext cx="28643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直接连接符 52"/>
          <p:cNvCxnSpPr/>
          <p:nvPr>
            <p:custDataLst>
              <p:tags r:id="rId17"/>
            </p:custDataLst>
          </p:nvPr>
        </p:nvCxnSpPr>
        <p:spPr>
          <a:xfrm>
            <a:off x="939559" y="4992806"/>
            <a:ext cx="286439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>
            <p:custDataLst>
              <p:tags r:id="rId18"/>
            </p:custDataLst>
          </p:nvPr>
        </p:nvGrpSpPr>
        <p:grpSpPr>
          <a:xfrm>
            <a:off x="1534133" y="4610179"/>
            <a:ext cx="4869299" cy="793890"/>
            <a:chOff x="2342542" y="4121996"/>
            <a:chExt cx="4869299" cy="793890"/>
          </a:xfrm>
        </p:grpSpPr>
        <p:grpSp>
          <p:nvGrpSpPr>
            <p:cNvPr id="42" name="组合 41"/>
            <p:cNvGrpSpPr/>
            <p:nvPr/>
          </p:nvGrpSpPr>
          <p:grpSpPr>
            <a:xfrm>
              <a:off x="2342542" y="4121996"/>
              <a:ext cx="4869299" cy="793890"/>
              <a:chOff x="5721600" y="5512380"/>
              <a:chExt cx="4869299" cy="793890"/>
            </a:xfrm>
          </p:grpSpPr>
          <p:cxnSp>
            <p:nvCxnSpPr>
              <p:cNvPr id="43" name="直接连接符 42"/>
              <p:cNvCxnSpPr/>
              <p:nvPr>
                <p:custDataLst>
                  <p:tags r:id="rId19"/>
                </p:custDataLst>
              </p:nvPr>
            </p:nvCxnSpPr>
            <p:spPr>
              <a:xfrm>
                <a:off x="6736662" y="5960620"/>
                <a:ext cx="285751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矩形 43"/>
              <p:cNvSpPr/>
              <p:nvPr>
                <p:custDataLst>
                  <p:tags r:id="rId20"/>
                </p:custDataLst>
              </p:nvPr>
            </p:nvSpPr>
            <p:spPr>
              <a:xfrm>
                <a:off x="5721600" y="5534239"/>
                <a:ext cx="748800" cy="750173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none" anchor="ctr" anchorCtr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665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04</a:t>
                </a:r>
                <a:endParaRPr kumimoji="0" lang="zh-CN" altLang="en-US" sz="266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5" name="矩形 44"/>
              <p:cNvSpPr/>
              <p:nvPr>
                <p:custDataLst>
                  <p:tags r:id="rId21"/>
                </p:custDataLst>
              </p:nvPr>
            </p:nvSpPr>
            <p:spPr>
              <a:xfrm>
                <a:off x="6607979" y="5967716"/>
                <a:ext cx="3982920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045C9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Northwestern Polytechnical University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045C9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" name="矩形 45"/>
              <p:cNvSpPr/>
              <p:nvPr>
                <p:custDataLst>
                  <p:tags r:id="rId22"/>
                </p:custDataLst>
              </p:nvPr>
            </p:nvSpPr>
            <p:spPr>
              <a:xfrm>
                <a:off x="6591851" y="5512380"/>
                <a:ext cx="1402080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defTabSz="914400"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045C9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未来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045C9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展望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045C9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cxnSp>
          <p:nvCxnSpPr>
            <p:cNvPr id="54" name="直接连接符 53"/>
            <p:cNvCxnSpPr/>
            <p:nvPr>
              <p:custDataLst>
                <p:tags r:id="rId23"/>
              </p:custDataLst>
            </p:nvPr>
          </p:nvCxnSpPr>
          <p:spPr>
            <a:xfrm>
              <a:off x="2573722" y="4757687"/>
              <a:ext cx="28643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/>
        </p:nvGrpSpPr>
        <p:grpSpPr>
          <a:xfrm>
            <a:off x="9972920" y="592586"/>
            <a:ext cx="2219080" cy="538397"/>
            <a:chOff x="9846796" y="286695"/>
            <a:chExt cx="2345202" cy="568997"/>
          </a:xfrm>
        </p:grpSpPr>
        <p:sp>
          <p:nvSpPr>
            <p:cNvPr id="56" name="打底色块"/>
            <p:cNvSpPr/>
            <p:nvPr userDrawn="1"/>
          </p:nvSpPr>
          <p:spPr>
            <a:xfrm>
              <a:off x="9846796" y="286695"/>
              <a:ext cx="2345202" cy="568997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endParaRPr>
            </a:p>
          </p:txBody>
        </p:sp>
        <p:pic>
          <p:nvPicPr>
            <p:cNvPr id="57" name="西北工业大学"/>
            <p:cNvPicPr>
              <a:picLocks noChangeAspect="1"/>
            </p:cNvPicPr>
            <p:nvPr userDrawn="1"/>
          </p:nvPicPr>
          <p:blipFill>
            <a:blip r:embed="rId24" cstate="screen"/>
            <a:stretch>
              <a:fillRect/>
            </a:stretch>
          </p:blipFill>
          <p:spPr>
            <a:xfrm>
              <a:off x="10501316" y="376728"/>
              <a:ext cx="1546127" cy="388933"/>
            </a:xfrm>
            <a:prstGeom prst="rect">
              <a:avLst/>
            </a:prstGeom>
          </p:spPr>
        </p:pic>
        <p:pic>
          <p:nvPicPr>
            <p:cNvPr id="58" name="校徽"/>
            <p:cNvPicPr>
              <a:picLocks noChangeAspect="1"/>
            </p:cNvPicPr>
            <p:nvPr userDrawn="1"/>
          </p:nvPicPr>
          <p:blipFill>
            <a:blip r:embed="rId25" cstate="screen"/>
            <a:stretch>
              <a:fillRect/>
            </a:stretch>
          </p:blipFill>
          <p:spPr>
            <a:xfrm>
              <a:off x="9888273" y="326503"/>
              <a:ext cx="490134" cy="489382"/>
            </a:xfrm>
            <a:prstGeom prst="rect">
              <a:avLst/>
            </a:prstGeom>
          </p:spPr>
        </p:pic>
      </p:grpSp>
      <p:cxnSp>
        <p:nvCxnSpPr>
          <p:cNvPr id="59" name="直接连接符 58"/>
          <p:cNvCxnSpPr/>
          <p:nvPr>
            <p:custDataLst>
              <p:tags r:id="rId26"/>
            </p:custDataLst>
          </p:nvPr>
        </p:nvCxnSpPr>
        <p:spPr>
          <a:xfrm>
            <a:off x="939559" y="4377799"/>
            <a:ext cx="286439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目录组合"/>
          <p:cNvGrpSpPr/>
          <p:nvPr/>
        </p:nvGrpSpPr>
        <p:grpSpPr>
          <a:xfrm>
            <a:off x="584707" y="381541"/>
            <a:ext cx="5265737" cy="862363"/>
            <a:chOff x="1300749" y="958849"/>
            <a:chExt cx="5265737" cy="862363"/>
          </a:xfrm>
        </p:grpSpPr>
        <p:sp>
          <p:nvSpPr>
            <p:cNvPr id="61" name="目录英文"/>
            <p:cNvSpPr txBox="1"/>
            <p:nvPr/>
          </p:nvSpPr>
          <p:spPr>
            <a:xfrm>
              <a:off x="3451810" y="1008558"/>
              <a:ext cx="311467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/>
              <a:r>
                <a:rPr lang="en-US" altLang="zh-CN" sz="4400" dirty="0">
                  <a:solidFill>
                    <a:schemeClr val="accent1"/>
                  </a:solidFill>
                  <a:cs typeface="+mn-ea"/>
                  <a:sym typeface="+mn-lt"/>
                </a:rPr>
                <a:t>contents</a:t>
              </a:r>
              <a:endParaRPr lang="zh-CN" altLang="en-US" sz="440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cxnSp>
          <p:nvCxnSpPr>
            <p:cNvPr id="62" name="点缀线段"/>
            <p:cNvCxnSpPr/>
            <p:nvPr/>
          </p:nvCxnSpPr>
          <p:spPr>
            <a:xfrm>
              <a:off x="3308936" y="958849"/>
              <a:ext cx="0" cy="8191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目录"/>
            <p:cNvSpPr txBox="1"/>
            <p:nvPr/>
          </p:nvSpPr>
          <p:spPr>
            <a:xfrm>
              <a:off x="1300749" y="990215"/>
              <a:ext cx="18192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 defTabSz="457200"/>
              <a:r>
                <a:rPr lang="zh-CN" altLang="en-US" sz="4800" b="1" dirty="0">
                  <a:solidFill>
                    <a:schemeClr val="accent1"/>
                  </a:solidFill>
                  <a:cs typeface="+mn-ea"/>
                  <a:sym typeface="+mn-lt"/>
                </a:rPr>
                <a:t>目录</a:t>
              </a:r>
              <a:endParaRPr lang="zh-CN" altLang="en-US" sz="4800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9" name="直接连接符 8"/>
          <p:cNvCxnSpPr/>
          <p:nvPr/>
        </p:nvCxnSpPr>
        <p:spPr>
          <a:xfrm>
            <a:off x="2592894" y="502920"/>
            <a:ext cx="0" cy="69777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34962" y="3311506"/>
            <a:ext cx="11522078" cy="321048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0" y="0"/>
            <a:ext cx="12192000" cy="3429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8705850 w 12192000"/>
              <a:gd name="connsiteY3" fmla="*/ 3429000 h 3429000"/>
              <a:gd name="connsiteX4" fmla="*/ 8640080 w 12192000"/>
              <a:gd name="connsiteY4" fmla="*/ 3429000 h 3429000"/>
              <a:gd name="connsiteX5" fmla="*/ 3551920 w 12192000"/>
              <a:gd name="connsiteY5" fmla="*/ 3429000 h 3429000"/>
              <a:gd name="connsiteX6" fmla="*/ 3486150 w 12192000"/>
              <a:gd name="connsiteY6" fmla="*/ 3429000 h 3429000"/>
              <a:gd name="connsiteX7" fmla="*/ 0 w 12192000"/>
              <a:gd name="connsiteY7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8705850" y="3429000"/>
                </a:lnTo>
                <a:lnTo>
                  <a:pt x="8640080" y="3429000"/>
                </a:lnTo>
                <a:lnTo>
                  <a:pt x="3551920" y="3429000"/>
                </a:lnTo>
                <a:lnTo>
                  <a:pt x="3486150" y="3429000"/>
                </a:lnTo>
                <a:lnTo>
                  <a:pt x="0" y="3429000"/>
                </a:lnTo>
                <a:close/>
              </a:path>
            </a:pathLst>
          </a:cu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0508" y="1336299"/>
            <a:ext cx="2670984" cy="3807111"/>
          </a:xfrm>
          <a:prstGeom prst="rect">
            <a:avLst/>
          </a:prstGeom>
          <a:solidFill>
            <a:schemeClr val="bg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图文框 1"/>
          <p:cNvSpPr/>
          <p:nvPr/>
        </p:nvSpPr>
        <p:spPr>
          <a:xfrm>
            <a:off x="4747911" y="1259013"/>
            <a:ext cx="2696178" cy="3909888"/>
          </a:xfrm>
          <a:prstGeom prst="frame">
            <a:avLst>
              <a:gd name="adj1" fmla="val 2586"/>
            </a:avLst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12304" y="3896085"/>
            <a:ext cx="2567392" cy="7683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b="1" dirty="0">
                <a:solidFill>
                  <a:srgbClr val="1045C9"/>
                </a:solidFill>
                <a:cs typeface="+mn-ea"/>
                <a:sym typeface="+mn-lt"/>
              </a:rPr>
              <a:t>项目</a:t>
            </a:r>
            <a:r>
              <a:rPr lang="zh-CN" altLang="en-US" sz="4400" b="1" dirty="0">
                <a:solidFill>
                  <a:srgbClr val="1045C9"/>
                </a:solidFill>
                <a:cs typeface="+mn-ea"/>
                <a:sym typeface="+mn-lt"/>
              </a:rPr>
              <a:t>介绍</a:t>
            </a:r>
            <a:endParaRPr lang="zh-CN" altLang="en-US" sz="4400" b="1" dirty="0">
              <a:solidFill>
                <a:srgbClr val="1045C9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64100" y="1741845"/>
            <a:ext cx="2463800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01</a:t>
            </a: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14700" y="5701761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1045C9"/>
                </a:solidFill>
                <a:effectLst/>
                <a:uLnTx/>
                <a:uFillTx/>
                <a:cs typeface="+mn-ea"/>
                <a:sym typeface="+mn-lt"/>
              </a:rPr>
              <a:t>Strong Preparation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1045C9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95325" y="663359"/>
            <a:ext cx="2159170" cy="489382"/>
            <a:chOff x="711030" y="663358"/>
            <a:chExt cx="2159170" cy="489382"/>
          </a:xfrm>
        </p:grpSpPr>
        <p:pic>
          <p:nvPicPr>
            <p:cNvPr id="10" name="西北工业大学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1324073" y="713583"/>
              <a:ext cx="1546127" cy="388933"/>
            </a:xfrm>
            <a:prstGeom prst="rect">
              <a:avLst/>
            </a:prstGeom>
          </p:spPr>
        </p:pic>
        <p:pic>
          <p:nvPicPr>
            <p:cNvPr id="11" name="校徽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711030" y="663358"/>
              <a:ext cx="490134" cy="489382"/>
            </a:xfrm>
            <a:prstGeom prst="rect">
              <a:avLst/>
            </a:prstGeom>
          </p:spPr>
        </p:pic>
      </p:grpSp>
      <p:cxnSp>
        <p:nvCxnSpPr>
          <p:cNvPr id="4" name="直接连接符 3"/>
          <p:cNvCxnSpPr/>
          <p:nvPr/>
        </p:nvCxnSpPr>
        <p:spPr>
          <a:xfrm flipH="1" flipV="1">
            <a:off x="334962" y="396875"/>
            <a:ext cx="1" cy="301127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11857038" y="396875"/>
            <a:ext cx="0" cy="301127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334963" y="396875"/>
            <a:ext cx="1152207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"/>
          <p:cNvGrpSpPr/>
          <p:nvPr/>
        </p:nvGrpSpPr>
        <p:grpSpPr>
          <a:xfrm>
            <a:off x="334963" y="0"/>
            <a:ext cx="3247303" cy="908050"/>
            <a:chOff x="334963" y="0"/>
            <a:chExt cx="3247303" cy="908050"/>
          </a:xfrm>
        </p:grpSpPr>
        <p:sp>
          <p:nvSpPr>
            <p:cNvPr id="31" name="矩形"/>
            <p:cNvSpPr/>
            <p:nvPr/>
          </p:nvSpPr>
          <p:spPr>
            <a:xfrm>
              <a:off x="334963" y="0"/>
              <a:ext cx="518795" cy="908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2" name="矩形"/>
            <p:cNvSpPr/>
            <p:nvPr/>
          </p:nvSpPr>
          <p:spPr>
            <a:xfrm>
              <a:off x="396360" y="256025"/>
              <a:ext cx="396000" cy="39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sx="104000" sy="104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dirty="0">
                <a:solidFill>
                  <a:prstClr val="white">
                    <a:lumMod val="6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6" name="01"/>
            <p:cNvSpPr/>
            <p:nvPr/>
          </p:nvSpPr>
          <p:spPr>
            <a:xfrm>
              <a:off x="373787" y="269359"/>
              <a:ext cx="44114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01</a:t>
              </a:r>
              <a:endPara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" name="Strong Preparation"/>
            <p:cNvSpPr txBox="1"/>
            <p:nvPr/>
          </p:nvSpPr>
          <p:spPr>
            <a:xfrm>
              <a:off x="958882" y="542947"/>
              <a:ext cx="2623384" cy="26840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>
                <a:lnSpc>
                  <a:spcPct val="120000"/>
                </a:lnSpc>
              </a:pPr>
              <a:r>
                <a:rPr lang="en-US" altLang="zh-CN"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Strong Preparation</a:t>
              </a:r>
              <a:endParaRPr lang="en-US" altLang="zh-CN" sz="105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8" name="基础扎实"/>
            <p:cNvSpPr txBox="1"/>
            <p:nvPr/>
          </p:nvSpPr>
          <p:spPr>
            <a:xfrm>
              <a:off x="958882" y="96697"/>
              <a:ext cx="210903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 defTabSz="457200"/>
              <a:r>
                <a:rPr lang="zh-CN" altLang="en-US" sz="28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项目</a:t>
              </a:r>
              <a:r>
                <a:rPr lang="zh-CN" altLang="en-US" sz="28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介绍</a:t>
              </a:r>
              <a:endPara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3" name="学校教师以知识产权入股组建的鑫垚、铂力特等公司，在增材制造（3D打印）、陶瓷复合材料、高性能新材料、高端装备制造、通用飞机、智能水下航行器等领域，已经成为地方经济转型升级的中坚力量和区域经济发展的创新源头，逐步形成了行之有效、效而有果的科技成果转化和产业化“西工大模式”和军民融合的“西工大路径”。"/>
          <p:cNvSpPr txBox="1"/>
          <p:nvPr/>
        </p:nvSpPr>
        <p:spPr>
          <a:xfrm>
            <a:off x="4750340" y="2662454"/>
            <a:ext cx="7370323" cy="4508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lnSpc>
                <a:spcPct val="130000"/>
              </a:lnSpc>
            </a:pPr>
            <a:endParaRPr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0245" y="1020445"/>
            <a:ext cx="6501130" cy="547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/>
              <a:t>本项目聚焦于构建一套基于深度学习的开源代码漏洞检测系统，旨在通过智能化手段提升软件安全性。研究内容围绕以下核心环节展开：</a:t>
            </a:r>
            <a:r>
              <a:rPr lang="en-US" altLang="zh-CN"/>
              <a:t>  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1.</a:t>
            </a:r>
            <a:r>
              <a:rPr lang="zh-CN" altLang="en-US"/>
              <a:t>多样化数据集构建</a:t>
            </a:r>
            <a:r>
              <a:rPr lang="en-US" altLang="zh-CN"/>
              <a:t>  </a:t>
            </a:r>
            <a:endParaRPr lang="en-US" altLang="zh-CN"/>
          </a:p>
          <a:p>
            <a:r>
              <a:rPr lang="en-US" altLang="zh-CN"/>
              <a:t>   - </a:t>
            </a:r>
            <a:r>
              <a:rPr lang="zh-CN" altLang="en-US"/>
              <a:t>系统性收集涵盖</a:t>
            </a:r>
            <a:r>
              <a:rPr lang="en-US" altLang="zh-CN"/>
              <a:t>C/C++</a:t>
            </a:r>
            <a:r>
              <a:rPr lang="zh-CN" altLang="en-US"/>
              <a:t>、</a:t>
            </a:r>
            <a:r>
              <a:rPr lang="en-US" altLang="zh-CN"/>
              <a:t>Java</a:t>
            </a:r>
            <a:r>
              <a:rPr lang="zh-CN" altLang="en-US"/>
              <a:t>、</a:t>
            </a:r>
            <a:r>
              <a:rPr lang="en-US" altLang="zh-CN"/>
              <a:t>Python</a:t>
            </a:r>
            <a:r>
              <a:rPr lang="zh-CN" altLang="en-US"/>
              <a:t>等主流语言的源代码样本，包含已验证的漏洞代码（如</a:t>
            </a:r>
            <a:r>
              <a:rPr lang="en-US" altLang="zh-CN"/>
              <a:t>CVE</a:t>
            </a:r>
            <a:r>
              <a:rPr lang="zh-CN" altLang="en-US"/>
              <a:t>公开漏洞案例）与安全代码，构建平衡且具有代表性的训练数据集。</a:t>
            </a:r>
            <a:r>
              <a:rPr lang="en-US" altLang="zh-CN"/>
              <a:t>  </a:t>
            </a:r>
            <a:endParaRPr lang="en-US" altLang="zh-CN"/>
          </a:p>
          <a:p>
            <a:r>
              <a:rPr lang="en-US" altLang="zh-CN"/>
              <a:t>   - </a:t>
            </a:r>
            <a:r>
              <a:rPr lang="zh-CN" altLang="en-US"/>
              <a:t>通过数据清洗、标注及增强技术（如代码片段变异、上下文扩展），提升数据集对复杂漏洞模式的覆盖能力。</a:t>
            </a:r>
            <a:r>
              <a:rPr lang="en-US" altLang="zh-CN"/>
              <a:t>  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代码特征深度解析</a:t>
            </a:r>
            <a:endParaRPr lang="en-US" altLang="zh-CN"/>
          </a:p>
          <a:p>
            <a:r>
              <a:rPr lang="en-US" altLang="zh-CN"/>
              <a:t>   - </a:t>
            </a:r>
            <a:r>
              <a:rPr lang="zh-CN" altLang="en-US"/>
              <a:t>采用卷积神经网络（</a:t>
            </a:r>
            <a:r>
              <a:rPr lang="en-US" altLang="zh-CN"/>
              <a:t>CNN</a:t>
            </a:r>
            <a:r>
              <a:rPr lang="zh-CN" altLang="en-US"/>
              <a:t>）捕捉代码的局部语法特征（如变量命名、函数调用），结合循环神经网络（</a:t>
            </a:r>
            <a:r>
              <a:rPr lang="en-US" altLang="zh-CN"/>
              <a:t>RNN</a:t>
            </a:r>
            <a:r>
              <a:rPr lang="zh-CN" altLang="en-US"/>
              <a:t>）建模代码上下文依赖关系（如循环、条件分支）。</a:t>
            </a:r>
            <a:r>
              <a:rPr lang="en-US" altLang="zh-CN"/>
              <a:t>  </a:t>
            </a:r>
            <a:endParaRPr lang="en-US" altLang="zh-CN"/>
          </a:p>
          <a:p>
            <a:r>
              <a:rPr lang="en-US" altLang="zh-CN"/>
              <a:t>   - </a:t>
            </a:r>
            <a:r>
              <a:rPr lang="zh-CN" altLang="en-US"/>
              <a:t>融合代码的抽象语法树（</a:t>
            </a:r>
            <a:r>
              <a:rPr lang="en-US" altLang="zh-CN"/>
              <a:t>AST</a:t>
            </a:r>
            <a:r>
              <a:rPr lang="zh-CN" altLang="en-US"/>
              <a:t>）、控制流图（</a:t>
            </a:r>
            <a:r>
              <a:rPr lang="en-US" altLang="zh-CN"/>
              <a:t>CFG</a:t>
            </a:r>
            <a:r>
              <a:rPr lang="zh-CN" altLang="en-US"/>
              <a:t>）等结构化表示，从语义层面识别潜在漏洞的异常模式（如内存越界、权限控制缺失）。</a:t>
            </a:r>
            <a:r>
              <a:rPr lang="en-US" altLang="zh-CN" sz="1600"/>
              <a:t>  </a:t>
            </a:r>
            <a:endParaRPr lang="en-US" altLang="zh-CN" sz="1600"/>
          </a:p>
          <a:p>
            <a:endParaRPr lang="en-US" altLang="zh-CN" sz="1600"/>
          </a:p>
          <a:p>
            <a:endParaRPr lang="zh-CN" altLang="en-US" sz="16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521" y="422099"/>
            <a:ext cx="3428035" cy="61487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"/>
          <p:cNvGrpSpPr/>
          <p:nvPr/>
        </p:nvGrpSpPr>
        <p:grpSpPr>
          <a:xfrm>
            <a:off x="334963" y="0"/>
            <a:ext cx="3247303" cy="1049832"/>
            <a:chOff x="334963" y="0"/>
            <a:chExt cx="3247303" cy="1049832"/>
          </a:xfrm>
        </p:grpSpPr>
        <p:sp>
          <p:nvSpPr>
            <p:cNvPr id="31" name="矩形"/>
            <p:cNvSpPr/>
            <p:nvPr/>
          </p:nvSpPr>
          <p:spPr>
            <a:xfrm>
              <a:off x="334963" y="0"/>
              <a:ext cx="518795" cy="908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2" name="矩形"/>
            <p:cNvSpPr/>
            <p:nvPr/>
          </p:nvSpPr>
          <p:spPr>
            <a:xfrm>
              <a:off x="396360" y="256025"/>
              <a:ext cx="396000" cy="39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sx="104000" sy="104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dirty="0">
                <a:solidFill>
                  <a:prstClr val="white">
                    <a:lumMod val="6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6" name="01"/>
            <p:cNvSpPr/>
            <p:nvPr/>
          </p:nvSpPr>
          <p:spPr>
            <a:xfrm>
              <a:off x="373787" y="269359"/>
              <a:ext cx="44114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01</a:t>
              </a:r>
              <a:endPara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" name="Strong Preparation"/>
            <p:cNvSpPr txBox="1"/>
            <p:nvPr/>
          </p:nvSpPr>
          <p:spPr>
            <a:xfrm>
              <a:off x="958882" y="542947"/>
              <a:ext cx="2623384" cy="26840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>
                <a:lnSpc>
                  <a:spcPct val="120000"/>
                </a:lnSpc>
              </a:pPr>
              <a:r>
                <a:rPr lang="en-US" altLang="zh-CN"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Strong Preparation</a:t>
              </a:r>
              <a:endParaRPr lang="en-US" altLang="zh-CN" sz="105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8" name="基础扎实"/>
            <p:cNvSpPr txBox="1"/>
            <p:nvPr/>
          </p:nvSpPr>
          <p:spPr>
            <a:xfrm>
              <a:off x="958882" y="96697"/>
              <a:ext cx="2109035" cy="95313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 defTabSz="457200"/>
              <a:r>
                <a:rPr lang="zh-CN" altLang="en-US" sz="28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项目介</a:t>
              </a:r>
              <a:r>
                <a:rPr lang="zh-CN" altLang="en-US" sz="28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绍</a:t>
              </a:r>
              <a:endPara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algn="dist" defTabSz="457200"/>
              <a:endPara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3" name="学校教师以知识产权入股组建的鑫垚、铂力特等公司，在增材制造（3D打印）、陶瓷复合材料、高性能新材料、高端装备制造、通用飞机、智能水下航行器等领域，已经成为地方经济转型升级的中坚力量和区域经济发展的创新源头，逐步形成了行之有效、效而有果的科技成果转化和产业化“西工大模式”和军民融合的“西工大路径”。"/>
          <p:cNvSpPr txBox="1"/>
          <p:nvPr/>
        </p:nvSpPr>
        <p:spPr>
          <a:xfrm>
            <a:off x="4750340" y="2662454"/>
            <a:ext cx="7370323" cy="4508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lnSpc>
                <a:spcPct val="130000"/>
              </a:lnSpc>
            </a:pPr>
            <a:endParaRPr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8725" y="1000396"/>
            <a:ext cx="8311938" cy="577070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47955" y="1239520"/>
            <a:ext cx="3612515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3. </a:t>
            </a:r>
            <a:r>
              <a:rPr lang="zh-CN" altLang="en-US">
                <a:sym typeface="+mn-ea"/>
              </a:rPr>
              <a:t>高精度模型训练与优化</a:t>
            </a:r>
            <a:r>
              <a:rPr lang="en-US" altLang="zh-CN">
                <a:sym typeface="+mn-ea"/>
              </a:rPr>
              <a:t>  </a:t>
            </a:r>
            <a:endParaRPr lang="en-US" altLang="zh-CN"/>
          </a:p>
          <a:p>
            <a:r>
              <a:rPr lang="en-US" altLang="zh-CN">
                <a:sym typeface="+mn-ea"/>
              </a:rPr>
              <a:t>   - </a:t>
            </a:r>
            <a:r>
              <a:rPr lang="zh-CN" altLang="en-US">
                <a:sym typeface="+mn-ea"/>
              </a:rPr>
              <a:t>设计混合神经网络架构，整合</a:t>
            </a:r>
            <a:r>
              <a:rPr lang="en-US" altLang="zh-CN">
                <a:sym typeface="+mn-ea"/>
              </a:rPr>
              <a:t>CNN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RNN</a:t>
            </a:r>
            <a:r>
              <a:rPr lang="zh-CN" altLang="en-US">
                <a:sym typeface="+mn-ea"/>
              </a:rPr>
              <a:t>与注意力机制，强化模型对长距离代码逻辑的关联分析能力。</a:t>
            </a:r>
            <a:r>
              <a:rPr lang="en-US" altLang="zh-CN">
                <a:sym typeface="+mn-ea"/>
              </a:rPr>
              <a:t>  </a:t>
            </a:r>
            <a:endParaRPr lang="en-US" altLang="zh-CN"/>
          </a:p>
          <a:p>
            <a:r>
              <a:rPr lang="en-US" altLang="zh-CN">
                <a:sym typeface="+mn-ea"/>
              </a:rPr>
              <a:t>   - </a:t>
            </a:r>
            <a:r>
              <a:rPr lang="zh-CN" altLang="en-US">
                <a:sym typeface="+mn-ea"/>
              </a:rPr>
              <a:t>通过对抗训练、动态权重调整等技术，提升漏洞检出率。</a:t>
            </a:r>
            <a:r>
              <a:rPr lang="en-US" altLang="zh-CN">
                <a:sym typeface="+mn-ea"/>
              </a:rPr>
              <a:t>  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本系统不仅为开发者提供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即插即用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的自动化代码审查工具，还可通过可视化报告定位风险代码位置，并推荐修复方案，助力实现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开发即安全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的软件生命周期管理。研究成果将显著降低企业安全维护成本，为开源生态提供可信赖的防护屏障。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34962" y="3311506"/>
            <a:ext cx="11522078" cy="321048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0" y="0"/>
            <a:ext cx="12192000" cy="3429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8705850 w 12192000"/>
              <a:gd name="connsiteY3" fmla="*/ 3429000 h 3429000"/>
              <a:gd name="connsiteX4" fmla="*/ 8640080 w 12192000"/>
              <a:gd name="connsiteY4" fmla="*/ 3429000 h 3429000"/>
              <a:gd name="connsiteX5" fmla="*/ 3551920 w 12192000"/>
              <a:gd name="connsiteY5" fmla="*/ 3429000 h 3429000"/>
              <a:gd name="connsiteX6" fmla="*/ 3486150 w 12192000"/>
              <a:gd name="connsiteY6" fmla="*/ 3429000 h 3429000"/>
              <a:gd name="connsiteX7" fmla="*/ 0 w 12192000"/>
              <a:gd name="connsiteY7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8705850" y="3429000"/>
                </a:lnTo>
                <a:lnTo>
                  <a:pt x="8640080" y="3429000"/>
                </a:lnTo>
                <a:lnTo>
                  <a:pt x="3551920" y="3429000"/>
                </a:lnTo>
                <a:lnTo>
                  <a:pt x="3486150" y="3429000"/>
                </a:lnTo>
                <a:lnTo>
                  <a:pt x="0" y="3429000"/>
                </a:lnTo>
                <a:close/>
              </a:path>
            </a:pathLst>
          </a:cu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0508" y="1336299"/>
            <a:ext cx="2670984" cy="3807111"/>
          </a:xfrm>
          <a:prstGeom prst="rect">
            <a:avLst/>
          </a:prstGeom>
          <a:solidFill>
            <a:schemeClr val="bg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图文框 1"/>
          <p:cNvSpPr/>
          <p:nvPr/>
        </p:nvSpPr>
        <p:spPr>
          <a:xfrm>
            <a:off x="4747911" y="1259013"/>
            <a:ext cx="2696178" cy="3909888"/>
          </a:xfrm>
          <a:prstGeom prst="frame">
            <a:avLst>
              <a:gd name="adj1" fmla="val 2586"/>
            </a:avLst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12304" y="3896085"/>
            <a:ext cx="2567392" cy="7683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b="1" dirty="0">
                <a:solidFill>
                  <a:srgbClr val="1045C9"/>
                </a:solidFill>
                <a:cs typeface="+mn-ea"/>
                <a:sym typeface="+mn-lt"/>
              </a:rPr>
              <a:t>研究</a:t>
            </a:r>
            <a:r>
              <a:rPr lang="zh-CN" altLang="en-US" sz="4400" b="1" dirty="0">
                <a:solidFill>
                  <a:srgbClr val="1045C9"/>
                </a:solidFill>
                <a:cs typeface="+mn-ea"/>
                <a:sym typeface="+mn-lt"/>
              </a:rPr>
              <a:t>过程</a:t>
            </a:r>
            <a:endParaRPr lang="zh-CN" altLang="en-US" sz="4400" b="1" dirty="0">
              <a:solidFill>
                <a:srgbClr val="1045C9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64100" y="1741845"/>
            <a:ext cx="2463800" cy="15684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02</a:t>
            </a: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14700" y="5701761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1045C9"/>
                </a:solidFill>
                <a:effectLst/>
                <a:uLnTx/>
                <a:uFillTx/>
                <a:cs typeface="+mn-ea"/>
                <a:sym typeface="+mn-lt"/>
              </a:rPr>
              <a:t>Strong Preparation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1045C9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95325" y="663359"/>
            <a:ext cx="2159170" cy="489382"/>
            <a:chOff x="711030" y="663358"/>
            <a:chExt cx="2159170" cy="489382"/>
          </a:xfrm>
        </p:grpSpPr>
        <p:pic>
          <p:nvPicPr>
            <p:cNvPr id="10" name="西北工业大学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1324073" y="713583"/>
              <a:ext cx="1546127" cy="388933"/>
            </a:xfrm>
            <a:prstGeom prst="rect">
              <a:avLst/>
            </a:prstGeom>
          </p:spPr>
        </p:pic>
        <p:pic>
          <p:nvPicPr>
            <p:cNvPr id="11" name="校徽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711030" y="663358"/>
              <a:ext cx="490134" cy="489382"/>
            </a:xfrm>
            <a:prstGeom prst="rect">
              <a:avLst/>
            </a:prstGeom>
          </p:spPr>
        </p:pic>
      </p:grpSp>
      <p:cxnSp>
        <p:nvCxnSpPr>
          <p:cNvPr id="4" name="直接连接符 3"/>
          <p:cNvCxnSpPr/>
          <p:nvPr/>
        </p:nvCxnSpPr>
        <p:spPr>
          <a:xfrm flipH="1" flipV="1">
            <a:off x="334962" y="396875"/>
            <a:ext cx="1" cy="301127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11857038" y="396875"/>
            <a:ext cx="0" cy="301127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334963" y="396875"/>
            <a:ext cx="1152207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"/>
          <p:cNvGrpSpPr/>
          <p:nvPr/>
        </p:nvGrpSpPr>
        <p:grpSpPr>
          <a:xfrm>
            <a:off x="334963" y="0"/>
            <a:ext cx="3247303" cy="908050"/>
            <a:chOff x="334963" y="0"/>
            <a:chExt cx="3247303" cy="908050"/>
          </a:xfrm>
        </p:grpSpPr>
        <p:sp>
          <p:nvSpPr>
            <p:cNvPr id="31" name="矩形"/>
            <p:cNvSpPr/>
            <p:nvPr/>
          </p:nvSpPr>
          <p:spPr>
            <a:xfrm>
              <a:off x="334963" y="0"/>
              <a:ext cx="518795" cy="908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2" name="矩形"/>
            <p:cNvSpPr/>
            <p:nvPr/>
          </p:nvSpPr>
          <p:spPr>
            <a:xfrm>
              <a:off x="396360" y="256025"/>
              <a:ext cx="396000" cy="39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sx="104000" sy="104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dirty="0">
                <a:solidFill>
                  <a:prstClr val="white">
                    <a:lumMod val="6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6" name="01"/>
            <p:cNvSpPr/>
            <p:nvPr/>
          </p:nvSpPr>
          <p:spPr>
            <a:xfrm>
              <a:off x="375920" y="269359"/>
              <a:ext cx="436880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02</a:t>
              </a:r>
              <a:endPara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" name="Strong Preparation"/>
            <p:cNvSpPr txBox="1"/>
            <p:nvPr/>
          </p:nvSpPr>
          <p:spPr>
            <a:xfrm>
              <a:off x="958882" y="542947"/>
              <a:ext cx="2623384" cy="26840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>
                <a:lnSpc>
                  <a:spcPct val="120000"/>
                </a:lnSpc>
              </a:pPr>
              <a:r>
                <a:rPr lang="en-US" altLang="zh-CN"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Strong Preparation</a:t>
              </a:r>
              <a:endParaRPr lang="en-US" altLang="zh-CN" sz="105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8" name="基础扎实"/>
            <p:cNvSpPr txBox="1"/>
            <p:nvPr/>
          </p:nvSpPr>
          <p:spPr>
            <a:xfrm>
              <a:off x="958882" y="96697"/>
              <a:ext cx="210903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 defTabSz="457200"/>
              <a:r>
                <a:rPr lang="zh-CN" altLang="en-US" sz="28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研究过程</a:t>
              </a:r>
              <a:endPara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3" name="学校教师以知识产权入股组建的鑫垚、铂力特等公司，在增材制造（3D打印）、陶瓷复合材料、高性能新材料、高端装备制造、通用飞机、智能水下航行器等领域，已经成为地方经济转型升级的中坚力量和区域经济发展的创新源头，逐步形成了行之有效、效而有果的科技成果转化和产业化“西工大模式”和军民融合的“西工大路径”。"/>
          <p:cNvSpPr txBox="1"/>
          <p:nvPr/>
        </p:nvSpPr>
        <p:spPr>
          <a:xfrm>
            <a:off x="4750340" y="2662454"/>
            <a:ext cx="7370323" cy="4508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lnSpc>
                <a:spcPct val="130000"/>
              </a:lnSpc>
            </a:pPr>
            <a:endParaRPr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0" y="908050"/>
            <a:ext cx="11184890" cy="6217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"/>
          <p:cNvGrpSpPr/>
          <p:nvPr/>
        </p:nvGrpSpPr>
        <p:grpSpPr>
          <a:xfrm>
            <a:off x="334963" y="0"/>
            <a:ext cx="3247303" cy="908050"/>
            <a:chOff x="334963" y="0"/>
            <a:chExt cx="3247303" cy="908050"/>
          </a:xfrm>
        </p:grpSpPr>
        <p:sp>
          <p:nvSpPr>
            <p:cNvPr id="31" name="矩形"/>
            <p:cNvSpPr/>
            <p:nvPr/>
          </p:nvSpPr>
          <p:spPr>
            <a:xfrm>
              <a:off x="334963" y="0"/>
              <a:ext cx="518795" cy="908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2" name="矩形"/>
            <p:cNvSpPr/>
            <p:nvPr/>
          </p:nvSpPr>
          <p:spPr>
            <a:xfrm>
              <a:off x="396360" y="256025"/>
              <a:ext cx="396000" cy="39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sx="104000" sy="104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dirty="0">
                <a:solidFill>
                  <a:prstClr val="white">
                    <a:lumMod val="6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6" name="01"/>
            <p:cNvSpPr/>
            <p:nvPr/>
          </p:nvSpPr>
          <p:spPr>
            <a:xfrm>
              <a:off x="375920" y="269359"/>
              <a:ext cx="436880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02</a:t>
              </a:r>
              <a:endPara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" name="Strong Preparation"/>
            <p:cNvSpPr txBox="1"/>
            <p:nvPr/>
          </p:nvSpPr>
          <p:spPr>
            <a:xfrm>
              <a:off x="958882" y="542947"/>
              <a:ext cx="2623384" cy="26840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>
                <a:lnSpc>
                  <a:spcPct val="120000"/>
                </a:lnSpc>
              </a:pPr>
              <a:r>
                <a:rPr lang="en-US" altLang="zh-CN"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Strong Preparation</a:t>
              </a:r>
              <a:endParaRPr lang="en-US" altLang="zh-CN" sz="105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8" name="基础扎实"/>
            <p:cNvSpPr txBox="1"/>
            <p:nvPr/>
          </p:nvSpPr>
          <p:spPr>
            <a:xfrm>
              <a:off x="958882" y="96697"/>
              <a:ext cx="210903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 defTabSz="457200"/>
              <a:r>
                <a:rPr lang="zh-CN" altLang="en-US" sz="28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研究过程</a:t>
              </a:r>
              <a:endPara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3" name="学校教师以知识产权入股组建的鑫垚、铂力特等公司，在增材制造（3D打印）、陶瓷复合材料、高性能新材料、高端装备制造、通用飞机、智能水下航行器等领域，已经成为地方经济转型升级的中坚力量和区域经济发展的创新源头，逐步形成了行之有效、效而有果的科技成果转化和产业化“西工大模式”和军民融合的“西工大路径”。"/>
          <p:cNvSpPr txBox="1"/>
          <p:nvPr/>
        </p:nvSpPr>
        <p:spPr>
          <a:xfrm>
            <a:off x="4750340" y="2662454"/>
            <a:ext cx="7370323" cy="4508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lnSpc>
                <a:spcPct val="130000"/>
              </a:lnSpc>
            </a:pPr>
            <a:endParaRPr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70" y="1346200"/>
            <a:ext cx="12005310" cy="5511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"/>
          <p:cNvGrpSpPr/>
          <p:nvPr/>
        </p:nvGrpSpPr>
        <p:grpSpPr>
          <a:xfrm>
            <a:off x="334963" y="0"/>
            <a:ext cx="3247303" cy="908050"/>
            <a:chOff x="334963" y="0"/>
            <a:chExt cx="3247303" cy="908050"/>
          </a:xfrm>
        </p:grpSpPr>
        <p:sp>
          <p:nvSpPr>
            <p:cNvPr id="31" name="矩形"/>
            <p:cNvSpPr/>
            <p:nvPr/>
          </p:nvSpPr>
          <p:spPr>
            <a:xfrm>
              <a:off x="334963" y="0"/>
              <a:ext cx="518795" cy="908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2" name="矩形"/>
            <p:cNvSpPr/>
            <p:nvPr/>
          </p:nvSpPr>
          <p:spPr>
            <a:xfrm>
              <a:off x="396360" y="256025"/>
              <a:ext cx="396000" cy="39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sx="104000" sy="104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dirty="0">
                <a:solidFill>
                  <a:prstClr val="white">
                    <a:lumMod val="6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6" name="01"/>
            <p:cNvSpPr/>
            <p:nvPr/>
          </p:nvSpPr>
          <p:spPr>
            <a:xfrm>
              <a:off x="375920" y="269359"/>
              <a:ext cx="436880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02</a:t>
              </a:r>
              <a:endPara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" name="Strong Preparation"/>
            <p:cNvSpPr txBox="1"/>
            <p:nvPr/>
          </p:nvSpPr>
          <p:spPr>
            <a:xfrm>
              <a:off x="958882" y="542947"/>
              <a:ext cx="2623384" cy="26840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>
                <a:lnSpc>
                  <a:spcPct val="120000"/>
                </a:lnSpc>
              </a:pPr>
              <a:r>
                <a:rPr lang="en-US" altLang="zh-CN"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Strong Preparation</a:t>
              </a:r>
              <a:endParaRPr lang="en-US" altLang="zh-CN" sz="105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8" name="基础扎实"/>
            <p:cNvSpPr txBox="1"/>
            <p:nvPr/>
          </p:nvSpPr>
          <p:spPr>
            <a:xfrm>
              <a:off x="958882" y="96697"/>
              <a:ext cx="210903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 defTabSz="457200"/>
              <a:r>
                <a:rPr lang="zh-CN" altLang="en-US" sz="28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研究过程</a:t>
              </a:r>
              <a:endPara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3" name="学校教师以知识产权入股组建的鑫垚、铂力特等公司，在增材制造（3D打印）、陶瓷复合材料、高性能新材料、高端装备制造、通用飞机、智能水下航行器等领域，已经成为地方经济转型升级的中坚力量和区域经济发展的创新源头，逐步形成了行之有效、效而有果的科技成果转化和产业化“西工大模式”和军民融合的“西工大路径”。"/>
          <p:cNvSpPr txBox="1"/>
          <p:nvPr/>
        </p:nvSpPr>
        <p:spPr>
          <a:xfrm>
            <a:off x="4750340" y="2662454"/>
            <a:ext cx="7370323" cy="4508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lnSpc>
                <a:spcPct val="130000"/>
              </a:lnSpc>
            </a:pPr>
            <a:endParaRPr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048385"/>
            <a:ext cx="10476230" cy="5902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34962" y="3311506"/>
            <a:ext cx="11522078" cy="321048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0" y="0"/>
            <a:ext cx="12192000" cy="3429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8705850 w 12192000"/>
              <a:gd name="connsiteY3" fmla="*/ 3429000 h 3429000"/>
              <a:gd name="connsiteX4" fmla="*/ 8640080 w 12192000"/>
              <a:gd name="connsiteY4" fmla="*/ 3429000 h 3429000"/>
              <a:gd name="connsiteX5" fmla="*/ 3551920 w 12192000"/>
              <a:gd name="connsiteY5" fmla="*/ 3429000 h 3429000"/>
              <a:gd name="connsiteX6" fmla="*/ 3486150 w 12192000"/>
              <a:gd name="connsiteY6" fmla="*/ 3429000 h 3429000"/>
              <a:gd name="connsiteX7" fmla="*/ 0 w 12192000"/>
              <a:gd name="connsiteY7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8705850" y="3429000"/>
                </a:lnTo>
                <a:lnTo>
                  <a:pt x="8640080" y="3429000"/>
                </a:lnTo>
                <a:lnTo>
                  <a:pt x="3551920" y="3429000"/>
                </a:lnTo>
                <a:lnTo>
                  <a:pt x="3486150" y="3429000"/>
                </a:lnTo>
                <a:lnTo>
                  <a:pt x="0" y="3429000"/>
                </a:lnTo>
                <a:close/>
              </a:path>
            </a:pathLst>
          </a:cu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0508" y="1336299"/>
            <a:ext cx="2670984" cy="3807111"/>
          </a:xfrm>
          <a:prstGeom prst="rect">
            <a:avLst/>
          </a:prstGeom>
          <a:solidFill>
            <a:schemeClr val="bg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图文框 1"/>
          <p:cNvSpPr/>
          <p:nvPr/>
        </p:nvSpPr>
        <p:spPr>
          <a:xfrm>
            <a:off x="4747911" y="1259013"/>
            <a:ext cx="2696178" cy="3909888"/>
          </a:xfrm>
          <a:prstGeom prst="frame">
            <a:avLst>
              <a:gd name="adj1" fmla="val 2586"/>
            </a:avLst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12304" y="3896085"/>
            <a:ext cx="2567392" cy="7683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defTabSz="914400">
              <a:defRPr/>
            </a:pPr>
            <a:r>
              <a:rPr lang="zh-CN" altLang="en-US" sz="4400" noProof="0" dirty="0">
                <a:ln>
                  <a:noFill/>
                </a:ln>
                <a:solidFill>
                  <a:srgbClr val="1045C9"/>
                </a:solidFill>
                <a:effectLst/>
                <a:uLnTx/>
                <a:uFillTx/>
                <a:cs typeface="+mn-ea"/>
                <a:sym typeface="+mn-lt"/>
              </a:rPr>
              <a:t>代码实例</a:t>
            </a:r>
            <a:endParaRPr lang="zh-CN" altLang="en-US" sz="4400" b="1" dirty="0">
              <a:solidFill>
                <a:srgbClr val="1045C9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64100" y="1741845"/>
            <a:ext cx="2463800" cy="15684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03</a:t>
            </a: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14700" y="5701761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1045C9"/>
                </a:solidFill>
                <a:effectLst/>
                <a:uLnTx/>
                <a:uFillTx/>
                <a:cs typeface="+mn-ea"/>
                <a:sym typeface="+mn-lt"/>
              </a:rPr>
              <a:t>Strong Preparation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1045C9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95325" y="663359"/>
            <a:ext cx="2159170" cy="489382"/>
            <a:chOff x="711030" y="663358"/>
            <a:chExt cx="2159170" cy="489382"/>
          </a:xfrm>
        </p:grpSpPr>
        <p:pic>
          <p:nvPicPr>
            <p:cNvPr id="10" name="西北工业大学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1324073" y="713583"/>
              <a:ext cx="1546127" cy="388933"/>
            </a:xfrm>
            <a:prstGeom prst="rect">
              <a:avLst/>
            </a:prstGeom>
          </p:spPr>
        </p:pic>
        <p:pic>
          <p:nvPicPr>
            <p:cNvPr id="11" name="校徽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711030" y="663358"/>
              <a:ext cx="490134" cy="489382"/>
            </a:xfrm>
            <a:prstGeom prst="rect">
              <a:avLst/>
            </a:prstGeom>
          </p:spPr>
        </p:pic>
      </p:grpSp>
      <p:cxnSp>
        <p:nvCxnSpPr>
          <p:cNvPr id="4" name="直接连接符 3"/>
          <p:cNvCxnSpPr/>
          <p:nvPr/>
        </p:nvCxnSpPr>
        <p:spPr>
          <a:xfrm flipH="1" flipV="1">
            <a:off x="334962" y="396875"/>
            <a:ext cx="1" cy="301127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11857038" y="396875"/>
            <a:ext cx="0" cy="301127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334963" y="396875"/>
            <a:ext cx="1152207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"/>
          <p:cNvGrpSpPr/>
          <p:nvPr/>
        </p:nvGrpSpPr>
        <p:grpSpPr>
          <a:xfrm>
            <a:off x="334963" y="0"/>
            <a:ext cx="3247303" cy="1049832"/>
            <a:chOff x="334963" y="0"/>
            <a:chExt cx="3247303" cy="1049832"/>
          </a:xfrm>
        </p:grpSpPr>
        <p:sp>
          <p:nvSpPr>
            <p:cNvPr id="31" name="矩形"/>
            <p:cNvSpPr/>
            <p:nvPr/>
          </p:nvSpPr>
          <p:spPr>
            <a:xfrm>
              <a:off x="334963" y="0"/>
              <a:ext cx="518795" cy="908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2" name="矩形"/>
            <p:cNvSpPr/>
            <p:nvPr/>
          </p:nvSpPr>
          <p:spPr>
            <a:xfrm>
              <a:off x="396360" y="256025"/>
              <a:ext cx="396000" cy="39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sx="104000" sy="104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dirty="0">
                <a:solidFill>
                  <a:prstClr val="white">
                    <a:lumMod val="6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6" name="01"/>
            <p:cNvSpPr/>
            <p:nvPr/>
          </p:nvSpPr>
          <p:spPr>
            <a:xfrm>
              <a:off x="375920" y="269359"/>
              <a:ext cx="436880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03</a:t>
              </a:r>
              <a:endPara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" name="Strong Preparation"/>
            <p:cNvSpPr txBox="1"/>
            <p:nvPr/>
          </p:nvSpPr>
          <p:spPr>
            <a:xfrm>
              <a:off x="958882" y="542947"/>
              <a:ext cx="2623384" cy="25273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dist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050" noProof="0" dirty="0">
                  <a:ln>
                    <a:noFill/>
                  </a:ln>
                  <a:solidFill>
                    <a:srgbClr val="1045C9"/>
                  </a:solidFill>
                  <a:effectLst/>
                  <a:uLnTx/>
                  <a:uFillTx/>
                  <a:cs typeface="+mn-ea"/>
                  <a:sym typeface="+mn-lt"/>
                </a:rPr>
                <a:t>Strong Preparation</a:t>
              </a:r>
              <a:endParaRPr lang="en-US" altLang="zh-CN" sz="105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8" name="基础扎实"/>
            <p:cNvSpPr txBox="1"/>
            <p:nvPr/>
          </p:nvSpPr>
          <p:spPr>
            <a:xfrm>
              <a:off x="958882" y="96697"/>
              <a:ext cx="2109035" cy="95313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 defTabSz="457200"/>
              <a:r>
                <a:rPr lang="zh-CN" altLang="en-US" sz="2800" noProof="0" dirty="0">
                  <a:ln>
                    <a:noFill/>
                  </a:ln>
                  <a:solidFill>
                    <a:srgbClr val="1045C9"/>
                  </a:solidFill>
                  <a:effectLst/>
                  <a:uLnTx/>
                  <a:uFillTx/>
                  <a:cs typeface="+mn-ea"/>
                  <a:sym typeface="+mn-lt"/>
                </a:rPr>
                <a:t>代码实例</a:t>
              </a:r>
              <a:endParaRPr lang="zh-CN" altLang="en-US" sz="2800" b="1" dirty="0">
                <a:solidFill>
                  <a:srgbClr val="1045C9"/>
                </a:solidFill>
                <a:cs typeface="+mn-ea"/>
                <a:sym typeface="+mn-lt"/>
              </a:endParaRPr>
            </a:p>
            <a:p>
              <a:pPr algn="dist" defTabSz="457200"/>
              <a:endPara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3" name="学校教师以知识产权入股组建的鑫垚、铂力特等公司，在增材制造（3D打印）、陶瓷复合材料、高性能新材料、高端装备制造、通用飞机、智能水下航行器等领域，已经成为地方经济转型升级的中坚力量和区域经济发展的创新源头，逐步形成了行之有效、效而有果的科技成果转化和产业化“西工大模式”和军民融合的“西工大路径”。"/>
          <p:cNvSpPr txBox="1"/>
          <p:nvPr/>
        </p:nvSpPr>
        <p:spPr>
          <a:xfrm>
            <a:off x="4750340" y="2662454"/>
            <a:ext cx="7370323" cy="4508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lnSpc>
                <a:spcPct val="130000"/>
              </a:lnSpc>
            </a:pPr>
            <a:endParaRPr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0245" y="1020445"/>
            <a:ext cx="4683760" cy="547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b="1">
                <a:solidFill>
                  <a:schemeClr val="accent1"/>
                </a:solidFill>
              </a:rPr>
              <a:t>板块一：代码到图结构的转换</a:t>
            </a:r>
            <a:endParaRPr lang="zh-CN" altLang="en-US" b="1">
              <a:solidFill>
                <a:schemeClr val="accent1"/>
              </a:solidFill>
            </a:endParaRPr>
          </a:p>
          <a:p>
            <a:pPr indent="457200"/>
            <a:endParaRPr lang="en-US" altLang="zh-CN" sz="1200"/>
          </a:p>
          <a:p>
            <a:pPr indent="457200"/>
            <a:r>
              <a:rPr lang="en-US" altLang="zh-CN" sz="1200"/>
              <a:t>python</a:t>
            </a:r>
            <a:endParaRPr lang="en-US" altLang="zh-CN" sz="1200"/>
          </a:p>
          <a:p>
            <a:pPr indent="457200"/>
            <a:r>
              <a:rPr lang="en-US" altLang="zh-CN" sz="1200"/>
              <a:t>def _extract_ast(self, code):</a:t>
            </a:r>
            <a:endParaRPr lang="en-US" altLang="zh-CN" sz="1200"/>
          </a:p>
          <a:p>
            <a:pPr indent="457200"/>
            <a:r>
              <a:rPr lang="en-US" altLang="zh-CN" sz="1200"/>
              <a:t>    """</a:t>
            </a:r>
            <a:r>
              <a:rPr lang="zh-CN" altLang="en-US" sz="1200"/>
              <a:t>将代码解析为</a:t>
            </a:r>
            <a:r>
              <a:rPr lang="en-US" altLang="zh-CN" sz="1200"/>
              <a:t>AST"""</a:t>
            </a:r>
            <a:endParaRPr lang="en-US" altLang="zh-CN" sz="1200"/>
          </a:p>
          <a:p>
            <a:pPr indent="457200"/>
            <a:r>
              <a:rPr lang="en-US" altLang="zh-CN" sz="1200"/>
              <a:t>    tree = self.parser.parse(bytes(code, 'utf8'))</a:t>
            </a:r>
            <a:endParaRPr lang="en-US" altLang="zh-CN" sz="1200"/>
          </a:p>
          <a:p>
            <a:pPr indent="457200"/>
            <a:r>
              <a:rPr lang="en-US" altLang="zh-CN" sz="1200"/>
              <a:t>    root_node = tree.root_node</a:t>
            </a:r>
            <a:endParaRPr lang="en-US" altLang="zh-CN" sz="1200"/>
          </a:p>
          <a:p>
            <a:pPr indent="457200"/>
            <a:r>
              <a:rPr lang="en-US" altLang="zh-CN" sz="1200"/>
              <a:t>    </a:t>
            </a:r>
            <a:endParaRPr lang="en-US" altLang="zh-CN" sz="1200"/>
          </a:p>
          <a:p>
            <a:pPr indent="457200"/>
            <a:r>
              <a:rPr lang="en-US" altLang="zh-CN" sz="1200"/>
              <a:t>    # </a:t>
            </a:r>
            <a:r>
              <a:rPr lang="zh-CN" altLang="en-US" sz="1200"/>
              <a:t>将</a:t>
            </a:r>
            <a:r>
              <a:rPr lang="en-US" altLang="zh-CN" sz="1200"/>
              <a:t>AST</a:t>
            </a:r>
            <a:r>
              <a:rPr lang="zh-CN" altLang="en-US" sz="1200"/>
              <a:t>转换为</a:t>
            </a:r>
            <a:r>
              <a:rPr lang="en-US" altLang="zh-CN" sz="1200"/>
              <a:t>NetworkX</a:t>
            </a:r>
            <a:r>
              <a:rPr lang="zh-CN" altLang="en-US" sz="1200"/>
              <a:t>图</a:t>
            </a:r>
            <a:endParaRPr lang="zh-CN" altLang="en-US" sz="1200"/>
          </a:p>
          <a:p>
            <a:pPr indent="457200"/>
            <a:r>
              <a:rPr lang="en-US" altLang="zh-CN" sz="1200"/>
              <a:t>    G = nx.DiGraph()</a:t>
            </a:r>
            <a:endParaRPr lang="en-US" altLang="zh-CN" sz="1200"/>
          </a:p>
          <a:p>
            <a:pPr indent="457200"/>
            <a:r>
              <a:rPr lang="en-US" altLang="zh-CN" sz="1200"/>
              <a:t>    </a:t>
            </a:r>
            <a:endParaRPr lang="en-US" altLang="zh-CN" sz="1200"/>
          </a:p>
          <a:p>
            <a:pPr indent="457200"/>
            <a:r>
              <a:rPr lang="en-US" altLang="zh-CN" sz="1200"/>
              <a:t>    def traverse_node(node, parent_id=None):</a:t>
            </a:r>
            <a:endParaRPr lang="en-US" altLang="zh-CN" sz="1200"/>
          </a:p>
          <a:p>
            <a:pPr indent="457200"/>
            <a:r>
              <a:rPr lang="en-US" altLang="zh-CN" sz="1200"/>
              <a:t>        node_id = len(G)</a:t>
            </a:r>
            <a:endParaRPr lang="en-US" altLang="zh-CN" sz="1200"/>
          </a:p>
          <a:p>
            <a:pPr indent="457200"/>
            <a:r>
              <a:rPr lang="en-US" altLang="zh-CN" sz="1200"/>
              <a:t>        # </a:t>
            </a:r>
            <a:r>
              <a:rPr lang="zh-CN" altLang="en-US" sz="1200"/>
              <a:t>提取节点类型和文本作为节点特征</a:t>
            </a:r>
            <a:endParaRPr lang="zh-CN" altLang="en-US" sz="1200"/>
          </a:p>
          <a:p>
            <a:pPr indent="457200"/>
            <a:r>
              <a:rPr lang="en-US" altLang="zh-CN" sz="1200"/>
              <a:t>        G.add_node(node_id, </a:t>
            </a:r>
            <a:endParaRPr lang="en-US" altLang="zh-CN" sz="1200"/>
          </a:p>
          <a:p>
            <a:pPr indent="457200"/>
            <a:r>
              <a:rPr lang="en-US" altLang="zh-CN" sz="1200"/>
              <a:t>                  type=node.type, </a:t>
            </a:r>
            <a:endParaRPr lang="en-US" altLang="zh-CN" sz="1200"/>
          </a:p>
          <a:p>
            <a:pPr indent="457200"/>
            <a:r>
              <a:rPr lang="en-US" altLang="zh-CN" sz="1200"/>
              <a:t>                  text=code[node.start_byte:node.end_byte],</a:t>
            </a:r>
            <a:endParaRPr lang="en-US" altLang="zh-CN" sz="1200"/>
          </a:p>
          <a:p>
            <a:pPr indent="457200"/>
            <a:r>
              <a:rPr lang="en-US" altLang="zh-CN" sz="1200"/>
              <a:t>                  start=node.start_byte,</a:t>
            </a:r>
            <a:endParaRPr lang="en-US" altLang="zh-CN" sz="1200"/>
          </a:p>
          <a:p>
            <a:pPr indent="457200"/>
            <a:r>
              <a:rPr lang="en-US" altLang="zh-CN" sz="1200"/>
              <a:t>                  end=node.end_byte)</a:t>
            </a:r>
            <a:endParaRPr lang="en-US" altLang="zh-CN" sz="1200"/>
          </a:p>
          <a:p>
            <a:pPr indent="457200"/>
            <a:r>
              <a:rPr lang="en-US" altLang="zh-CN" sz="1200"/>
              <a:t>        </a:t>
            </a:r>
            <a:endParaRPr lang="en-US" altLang="zh-CN" sz="1200"/>
          </a:p>
          <a:p>
            <a:pPr indent="457200"/>
            <a:r>
              <a:rPr lang="en-US" altLang="zh-CN" sz="1200"/>
              <a:t>        if parent_id is not None:</a:t>
            </a:r>
            <a:endParaRPr lang="en-US" altLang="zh-CN" sz="1200"/>
          </a:p>
          <a:p>
            <a:pPr indent="457200"/>
            <a:r>
              <a:rPr lang="en-US" altLang="zh-CN" sz="1200"/>
              <a:t>            G.add_edge(parent_id, node_id)</a:t>
            </a:r>
            <a:endParaRPr lang="en-US" altLang="zh-CN" sz="1200"/>
          </a:p>
          <a:p>
            <a:pPr indent="457200"/>
            <a:r>
              <a:rPr lang="en-US" altLang="zh-CN" sz="1200"/>
              <a:t>        </a:t>
            </a:r>
            <a:endParaRPr lang="en-US" altLang="zh-CN" sz="1200"/>
          </a:p>
          <a:p>
            <a:pPr indent="457200"/>
            <a:r>
              <a:rPr lang="en-US" altLang="zh-CN" sz="1200"/>
              <a:t>        for child in node.children:</a:t>
            </a:r>
            <a:endParaRPr lang="en-US" altLang="zh-CN" sz="1200"/>
          </a:p>
          <a:p>
            <a:pPr indent="457200"/>
            <a:r>
              <a:rPr lang="en-US" altLang="zh-CN" sz="1200"/>
              <a:t>            traverse_node(child, node_id)</a:t>
            </a:r>
            <a:endParaRPr lang="en-US" altLang="zh-CN" sz="1200"/>
          </a:p>
          <a:p>
            <a:pPr indent="457200"/>
            <a:r>
              <a:rPr lang="en-US" altLang="zh-CN" sz="1200"/>
              <a:t>    </a:t>
            </a:r>
            <a:endParaRPr lang="en-US" altLang="zh-CN" sz="1200"/>
          </a:p>
          <a:p>
            <a:pPr indent="457200"/>
            <a:r>
              <a:rPr lang="en-US" altLang="zh-CN" sz="1200"/>
              <a:t>    traverse_node(root_node)</a:t>
            </a:r>
            <a:endParaRPr lang="en-US" altLang="zh-CN" sz="1200"/>
          </a:p>
          <a:p>
            <a:pPr indent="457200"/>
            <a:r>
              <a:rPr lang="en-US" altLang="zh-CN" sz="1200"/>
              <a:t>    return G</a:t>
            </a:r>
            <a:endParaRPr lang="en-US" altLang="zh-CN" sz="1200"/>
          </a:p>
        </p:txBody>
      </p:sp>
      <p:sp>
        <p:nvSpPr>
          <p:cNvPr id="2" name="文本框 1"/>
          <p:cNvSpPr txBox="1"/>
          <p:nvPr/>
        </p:nvSpPr>
        <p:spPr>
          <a:xfrm>
            <a:off x="5776595" y="1068070"/>
            <a:ext cx="6032500" cy="3188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accent1"/>
                </a:solidFill>
              </a:rPr>
              <a:t>功能介绍</a:t>
            </a:r>
            <a:r>
              <a:rPr lang="zh-CN" altLang="en-US"/>
              <a:t>：</a:t>
            </a:r>
            <a:endParaRPr lang="en-US" altLang="zh-CN"/>
          </a:p>
          <a:p>
            <a:r>
              <a:rPr lang="zh-CN" altLang="en-US"/>
              <a:t>这个函数是系统的基础，它实现了源代码到图结构的转换过程：</a:t>
            </a:r>
            <a:endParaRPr lang="zh-CN" altLang="en-US"/>
          </a:p>
          <a:p>
            <a:r>
              <a:rPr lang="zh-CN" altLang="en-US"/>
              <a:t>利用</a:t>
            </a:r>
            <a:r>
              <a:rPr lang="en-US" altLang="zh-CN"/>
              <a:t>Tree-sitter</a:t>
            </a:r>
            <a:r>
              <a:rPr lang="zh-CN" altLang="en-US"/>
              <a:t>解析器将源代码解析为抽象语法树</a:t>
            </a:r>
            <a:r>
              <a:rPr lang="en-US" altLang="zh-CN"/>
              <a:t>(AST)</a:t>
            </a:r>
            <a:endParaRPr lang="en-US" altLang="zh-CN"/>
          </a:p>
          <a:p>
            <a:r>
              <a:rPr lang="zh-CN" altLang="en-US"/>
              <a:t>通过深度优先遍历，将</a:t>
            </a:r>
            <a:r>
              <a:rPr lang="en-US" altLang="zh-CN"/>
              <a:t>AST</a:t>
            </a:r>
            <a:r>
              <a:rPr lang="zh-CN" altLang="en-US"/>
              <a:t>中的每个节点和边转换为图数据结构</a:t>
            </a:r>
            <a:endParaRPr lang="zh-CN" altLang="en-US"/>
          </a:p>
          <a:p>
            <a:r>
              <a:rPr lang="zh-CN" altLang="en-US"/>
              <a:t>保留代码的结构信息和语义元素，如节点类型和文本内容</a:t>
            </a:r>
            <a:endParaRPr lang="zh-CN" altLang="en-US"/>
          </a:p>
          <a:p>
            <a:r>
              <a:rPr lang="zh-CN" altLang="en-US"/>
              <a:t>创建了代码的结构化表示，使机器学习模型能够处理代码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"/>
          <p:cNvGrpSpPr/>
          <p:nvPr/>
        </p:nvGrpSpPr>
        <p:grpSpPr>
          <a:xfrm>
            <a:off x="334963" y="0"/>
            <a:ext cx="3247303" cy="1049832"/>
            <a:chOff x="334963" y="0"/>
            <a:chExt cx="3247303" cy="1049832"/>
          </a:xfrm>
        </p:grpSpPr>
        <p:sp>
          <p:nvSpPr>
            <p:cNvPr id="31" name="矩形"/>
            <p:cNvSpPr/>
            <p:nvPr/>
          </p:nvSpPr>
          <p:spPr>
            <a:xfrm>
              <a:off x="334963" y="0"/>
              <a:ext cx="518795" cy="908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2" name="矩形"/>
            <p:cNvSpPr/>
            <p:nvPr/>
          </p:nvSpPr>
          <p:spPr>
            <a:xfrm>
              <a:off x="396360" y="256025"/>
              <a:ext cx="396000" cy="39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sx="104000" sy="104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dirty="0">
                <a:solidFill>
                  <a:prstClr val="white">
                    <a:lumMod val="6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6" name="01"/>
            <p:cNvSpPr/>
            <p:nvPr/>
          </p:nvSpPr>
          <p:spPr>
            <a:xfrm>
              <a:off x="375920" y="269359"/>
              <a:ext cx="436880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03</a:t>
              </a:r>
              <a:endPara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" name="Strong Preparation"/>
            <p:cNvSpPr txBox="1"/>
            <p:nvPr/>
          </p:nvSpPr>
          <p:spPr>
            <a:xfrm>
              <a:off x="958882" y="542947"/>
              <a:ext cx="2623384" cy="25273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dist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050" noProof="0" dirty="0">
                  <a:ln>
                    <a:noFill/>
                  </a:ln>
                  <a:solidFill>
                    <a:srgbClr val="1045C9"/>
                  </a:solidFill>
                  <a:effectLst/>
                  <a:uLnTx/>
                  <a:uFillTx/>
                  <a:cs typeface="+mn-ea"/>
                  <a:sym typeface="+mn-lt"/>
                </a:rPr>
                <a:t>Strong Preparation</a:t>
              </a:r>
              <a:endParaRPr lang="en-US" altLang="zh-CN" sz="105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8" name="基础扎实"/>
            <p:cNvSpPr txBox="1"/>
            <p:nvPr/>
          </p:nvSpPr>
          <p:spPr>
            <a:xfrm>
              <a:off x="958882" y="96697"/>
              <a:ext cx="2109035" cy="95313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 defTabSz="457200"/>
              <a:r>
                <a:rPr lang="zh-CN" altLang="en-US" sz="2800" noProof="0" dirty="0">
                  <a:ln>
                    <a:noFill/>
                  </a:ln>
                  <a:solidFill>
                    <a:srgbClr val="1045C9"/>
                  </a:solidFill>
                  <a:effectLst/>
                  <a:uLnTx/>
                  <a:uFillTx/>
                  <a:cs typeface="+mn-ea"/>
                  <a:sym typeface="+mn-lt"/>
                </a:rPr>
                <a:t>代码实例</a:t>
              </a:r>
              <a:endParaRPr lang="zh-CN" altLang="en-US" sz="2800" b="1" dirty="0">
                <a:solidFill>
                  <a:srgbClr val="1045C9"/>
                </a:solidFill>
                <a:cs typeface="+mn-ea"/>
                <a:sym typeface="+mn-lt"/>
              </a:endParaRPr>
            </a:p>
            <a:p>
              <a:pPr algn="dist" defTabSz="457200"/>
              <a:endPara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3" name="学校教师以知识产权入股组建的鑫垚、铂力特等公司，在增材制造（3D打印）、陶瓷复合材料、高性能新材料、高端装备制造、通用飞机、智能水下航行器等领域，已经成为地方经济转型升级的中坚力量和区域经济发展的创新源头，逐步形成了行之有效、效而有果的科技成果转化和产业化“西工大模式”和军民融合的“西工大路径”。"/>
          <p:cNvSpPr txBox="1"/>
          <p:nvPr/>
        </p:nvSpPr>
        <p:spPr>
          <a:xfrm>
            <a:off x="4750340" y="2662454"/>
            <a:ext cx="7370323" cy="4508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lnSpc>
                <a:spcPct val="130000"/>
              </a:lnSpc>
            </a:pPr>
            <a:endParaRPr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0245" y="1020445"/>
            <a:ext cx="4683760" cy="5786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b="1">
                <a:solidFill>
                  <a:schemeClr val="accent1"/>
                </a:solidFill>
              </a:rPr>
              <a:t>板块二：</a:t>
            </a:r>
            <a:r>
              <a:rPr lang="en-US" altLang="zh-CN" b="1">
                <a:solidFill>
                  <a:schemeClr val="accent1"/>
                </a:solidFill>
              </a:rPr>
              <a:t>GNN</a:t>
            </a:r>
            <a:r>
              <a:rPr lang="zh-CN" altLang="en-US" b="1">
                <a:solidFill>
                  <a:schemeClr val="accent1"/>
                </a:solidFill>
              </a:rPr>
              <a:t>模型架构</a:t>
            </a:r>
            <a:endParaRPr lang="zh-CN" altLang="en-US" b="1">
              <a:solidFill>
                <a:schemeClr val="accent1"/>
              </a:solidFill>
            </a:endParaRPr>
          </a:p>
          <a:p>
            <a:pPr indent="457200"/>
            <a:r>
              <a:rPr lang="en-US" altLang="zh-CN" sz="1200"/>
              <a:t>python</a:t>
            </a:r>
            <a:endParaRPr lang="en-US" altLang="zh-CN" sz="1200"/>
          </a:p>
          <a:p>
            <a:pPr indent="457200"/>
            <a:r>
              <a:rPr lang="en-US" altLang="zh-CN" sz="1200"/>
              <a:t>class VulnerabilityGNN(nn.Module):</a:t>
            </a:r>
            <a:endParaRPr lang="en-US" altLang="zh-CN" sz="1200"/>
          </a:p>
          <a:p>
            <a:pPr indent="457200"/>
            <a:r>
              <a:rPr lang="en-US" altLang="zh-CN" sz="1200"/>
              <a:t>    def __init__(self, in_feats, h_feats, num_classes=2, gnn_type='gcn'):</a:t>
            </a:r>
            <a:endParaRPr lang="en-US" altLang="zh-CN" sz="1200"/>
          </a:p>
          <a:p>
            <a:pPr indent="457200"/>
            <a:r>
              <a:rPr lang="en-US" altLang="zh-CN" sz="1200"/>
              <a:t>        super(VulnerabilityGNN, self).__init__()</a:t>
            </a:r>
            <a:endParaRPr lang="en-US" altLang="zh-CN" sz="1200"/>
          </a:p>
          <a:p>
            <a:pPr indent="457200"/>
            <a:r>
              <a:rPr lang="en-US" altLang="zh-CN" sz="1200"/>
              <a:t>        self.gnn_type = gnn_type</a:t>
            </a:r>
            <a:endParaRPr lang="en-US" altLang="zh-CN" sz="1200"/>
          </a:p>
          <a:p>
            <a:pPr indent="457200"/>
            <a:r>
              <a:rPr lang="en-US" altLang="zh-CN" sz="1200"/>
              <a:t>        </a:t>
            </a:r>
            <a:endParaRPr lang="en-US" altLang="zh-CN" sz="1200"/>
          </a:p>
          <a:p>
            <a:pPr indent="457200"/>
            <a:r>
              <a:rPr lang="en-US" altLang="zh-CN" sz="1200"/>
              <a:t>        # </a:t>
            </a:r>
            <a:r>
              <a:rPr lang="zh-CN" altLang="en-US" sz="1200"/>
              <a:t>第一层</a:t>
            </a:r>
            <a:r>
              <a:rPr lang="en-US" altLang="zh-CN" sz="1200"/>
              <a:t>GNN</a:t>
            </a:r>
            <a:endParaRPr lang="en-US" altLang="zh-CN" sz="1200"/>
          </a:p>
          <a:p>
            <a:pPr indent="457200"/>
            <a:r>
              <a:rPr lang="en-US" altLang="zh-CN" sz="1200"/>
              <a:t>        if gnn_type == 'gcn':</a:t>
            </a:r>
            <a:endParaRPr lang="en-US" altLang="zh-CN" sz="1200"/>
          </a:p>
          <a:p>
            <a:pPr indent="457200"/>
            <a:r>
              <a:rPr lang="en-US" altLang="zh-CN" sz="1200"/>
              <a:t>            self.conv1 = GraphConv(in_feats, h_feats)</a:t>
            </a:r>
            <a:endParaRPr lang="en-US" altLang="zh-CN" sz="1200"/>
          </a:p>
          <a:p>
            <a:pPr indent="457200"/>
            <a:r>
              <a:rPr lang="en-US" altLang="zh-CN" sz="1200"/>
              <a:t>        elif gnn_type == 'gat':</a:t>
            </a:r>
            <a:endParaRPr lang="en-US" altLang="zh-CN" sz="1200"/>
          </a:p>
          <a:p>
            <a:pPr indent="457200"/>
            <a:r>
              <a:rPr lang="en-US" altLang="zh-CN" sz="1200"/>
              <a:t>            self.conv1 = GATConv(in_feats, h_feats, num_heads=4)</a:t>
            </a:r>
            <a:endParaRPr lang="en-US" altLang="zh-CN" sz="1200"/>
          </a:p>
          <a:p>
            <a:pPr indent="457200"/>
            <a:r>
              <a:rPr lang="en-US" altLang="zh-CN" sz="1200"/>
              <a:t>        elif gnn_type == 'sage':</a:t>
            </a:r>
            <a:endParaRPr lang="en-US" altLang="zh-CN" sz="1200"/>
          </a:p>
          <a:p>
            <a:pPr indent="457200"/>
            <a:r>
              <a:rPr lang="en-US" altLang="zh-CN" sz="1200"/>
              <a:t>            self.conv1 = SAGEConv(in_feats, h_feats, aggregator_type='mean')</a:t>
            </a:r>
            <a:endParaRPr lang="en-US" altLang="zh-CN" sz="1200"/>
          </a:p>
          <a:p>
            <a:pPr indent="457200"/>
            <a:r>
              <a:rPr lang="en-US" altLang="zh-CN" sz="1200"/>
              <a:t>        </a:t>
            </a:r>
            <a:endParaRPr lang="en-US" altLang="zh-CN" sz="1200"/>
          </a:p>
          <a:p>
            <a:pPr indent="457200"/>
            <a:r>
              <a:rPr lang="en-US" altLang="zh-CN" sz="1200"/>
              <a:t>        # </a:t>
            </a:r>
            <a:r>
              <a:rPr lang="zh-CN" altLang="en-US" sz="1200"/>
              <a:t>第二层</a:t>
            </a:r>
            <a:r>
              <a:rPr lang="en-US" altLang="zh-CN" sz="1200"/>
              <a:t>GNN</a:t>
            </a:r>
            <a:endParaRPr lang="en-US" altLang="zh-CN" sz="1200"/>
          </a:p>
          <a:p>
            <a:pPr indent="457200"/>
            <a:r>
              <a:rPr lang="en-US" altLang="zh-CN" sz="1200"/>
              <a:t>        if gnn_type == 'gcn':</a:t>
            </a:r>
            <a:endParaRPr lang="en-US" altLang="zh-CN" sz="1200"/>
          </a:p>
          <a:p>
            <a:pPr indent="457200"/>
            <a:r>
              <a:rPr lang="en-US" altLang="zh-CN" sz="1200"/>
              <a:t>            self.conv2 = GraphConv(h_feats, h_feats)</a:t>
            </a:r>
            <a:endParaRPr lang="en-US" altLang="zh-CN" sz="1200"/>
          </a:p>
          <a:p>
            <a:pPr indent="457200"/>
            <a:r>
              <a:rPr lang="en-US" altLang="zh-CN" sz="1200"/>
              <a:t>        elif gnn_type == 'gat':</a:t>
            </a:r>
            <a:endParaRPr lang="en-US" altLang="zh-CN" sz="1200"/>
          </a:p>
          <a:p>
            <a:pPr indent="457200"/>
            <a:r>
              <a:rPr lang="en-US" altLang="zh-CN" sz="1200"/>
              <a:t>            self.conv2 = GATConv(h_feats * 4, h_feats, num_heads=1)</a:t>
            </a:r>
            <a:endParaRPr lang="en-US" altLang="zh-CN" sz="1200"/>
          </a:p>
          <a:p>
            <a:pPr indent="457200"/>
            <a:r>
              <a:rPr lang="en-US" altLang="zh-CN" sz="1200"/>
              <a:t>        elif gnn_type == 'sage':</a:t>
            </a:r>
            <a:endParaRPr lang="en-US" altLang="zh-CN" sz="1200"/>
          </a:p>
          <a:p>
            <a:pPr indent="457200"/>
            <a:r>
              <a:rPr lang="en-US" altLang="zh-CN" sz="1200"/>
              <a:t>            self.conv2 = SAGEConv(h_feats, h_feats, aggregator_type='mean')</a:t>
            </a:r>
            <a:endParaRPr lang="en-US" altLang="zh-CN" sz="1200"/>
          </a:p>
          <a:p>
            <a:pPr indent="457200"/>
            <a:r>
              <a:rPr lang="en-US" altLang="zh-CN" sz="1200"/>
              <a:t>        </a:t>
            </a:r>
            <a:endParaRPr lang="en-US" altLang="zh-CN" sz="1200"/>
          </a:p>
          <a:p>
            <a:pPr indent="457200"/>
            <a:r>
              <a:rPr lang="en-US" altLang="zh-CN" sz="1200"/>
              <a:t>        # </a:t>
            </a:r>
            <a:r>
              <a:rPr lang="zh-CN" altLang="en-US" sz="1200"/>
              <a:t>预测层</a:t>
            </a:r>
            <a:endParaRPr lang="zh-CN" altLang="en-US" sz="1200"/>
          </a:p>
          <a:p>
            <a:pPr indent="457200"/>
            <a:r>
              <a:rPr lang="en-US" altLang="zh-CN" sz="1200"/>
              <a:t>        self.predict = nn.Linear(h_feats, num_classes)</a:t>
            </a:r>
            <a:endParaRPr lang="en-US" altLang="zh-CN" sz="1200"/>
          </a:p>
          <a:p>
            <a:pPr indent="457200"/>
            <a:r>
              <a:rPr lang="en-US" altLang="zh-CN" sz="1200"/>
              <a:t>        self.dropout = nn.Dropout(0.5)</a:t>
            </a:r>
            <a:endParaRPr lang="en-US" altLang="zh-CN" sz="1200"/>
          </a:p>
        </p:txBody>
      </p:sp>
      <p:sp>
        <p:nvSpPr>
          <p:cNvPr id="2" name="文本框 1"/>
          <p:cNvSpPr txBox="1"/>
          <p:nvPr/>
        </p:nvSpPr>
        <p:spPr>
          <a:xfrm>
            <a:off x="5776595" y="1068070"/>
            <a:ext cx="6032500" cy="3188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accent1"/>
                </a:solidFill>
              </a:rPr>
              <a:t>功能介绍</a:t>
            </a:r>
            <a:r>
              <a:rPr lang="zh-CN" altLang="en-US"/>
              <a:t>：</a:t>
            </a:r>
            <a:endParaRPr lang="en-US" altLang="zh-CN"/>
          </a:p>
          <a:p>
            <a:r>
              <a:rPr lang="zh-CN" altLang="en-US"/>
              <a:t>这段代码定义了漏洞检测的核心图神经网络模型：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支持多种</a:t>
            </a:r>
            <a:r>
              <a:rPr lang="en-US" altLang="zh-CN"/>
              <a:t>GNN</a:t>
            </a:r>
            <a:r>
              <a:rPr lang="zh-CN" altLang="en-US"/>
              <a:t>变体（</a:t>
            </a:r>
            <a:r>
              <a:rPr lang="en-US" altLang="zh-CN"/>
              <a:t>GCN</a:t>
            </a:r>
            <a:r>
              <a:rPr lang="zh-CN" altLang="en-US"/>
              <a:t>、</a:t>
            </a:r>
            <a:r>
              <a:rPr lang="en-US" altLang="zh-CN"/>
              <a:t>GAT</a:t>
            </a:r>
            <a:r>
              <a:rPr lang="zh-CN" altLang="en-US"/>
              <a:t>、</a:t>
            </a:r>
            <a:r>
              <a:rPr lang="en-US" altLang="zh-CN"/>
              <a:t>GraphSAGE</a:t>
            </a:r>
            <a:r>
              <a:rPr lang="zh-CN" altLang="en-US"/>
              <a:t>），适应不同类型的代码结构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采用两层</a:t>
            </a:r>
            <a:r>
              <a:rPr lang="en-US" altLang="zh-CN"/>
              <a:t>GNN</a:t>
            </a:r>
            <a:r>
              <a:rPr lang="zh-CN" altLang="en-US"/>
              <a:t>架构进行消息传递和特征学习</a:t>
            </a:r>
            <a:endParaRPr lang="zh-CN" altLang="en-US"/>
          </a:p>
          <a:p>
            <a:r>
              <a:rPr lang="en-US" altLang="zh-CN"/>
              <a:t>- GAT</a:t>
            </a:r>
            <a:r>
              <a:rPr lang="zh-CN" altLang="en-US"/>
              <a:t>变体使用注意力机制，自动学习不同节点之间的重要性权重</a:t>
            </a:r>
            <a:endParaRPr lang="zh-CN" altLang="en-US"/>
          </a:p>
          <a:p>
            <a:r>
              <a:rPr lang="en-US" altLang="zh-CN"/>
              <a:t>- Dropout</a:t>
            </a:r>
            <a:r>
              <a:rPr lang="zh-CN" altLang="en-US"/>
              <a:t>层防止过拟合，提高模型泛化能力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最终的线性层将节点表示映射为漏洞预测结果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"/>
          <p:cNvGrpSpPr/>
          <p:nvPr/>
        </p:nvGrpSpPr>
        <p:grpSpPr>
          <a:xfrm>
            <a:off x="334963" y="0"/>
            <a:ext cx="3247303" cy="1049832"/>
            <a:chOff x="334963" y="0"/>
            <a:chExt cx="3247303" cy="1049832"/>
          </a:xfrm>
        </p:grpSpPr>
        <p:sp>
          <p:nvSpPr>
            <p:cNvPr id="31" name="矩形"/>
            <p:cNvSpPr/>
            <p:nvPr/>
          </p:nvSpPr>
          <p:spPr>
            <a:xfrm>
              <a:off x="334963" y="0"/>
              <a:ext cx="518795" cy="908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2" name="矩形"/>
            <p:cNvSpPr/>
            <p:nvPr/>
          </p:nvSpPr>
          <p:spPr>
            <a:xfrm>
              <a:off x="396360" y="256025"/>
              <a:ext cx="396000" cy="39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sx="104000" sy="104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dirty="0">
                <a:solidFill>
                  <a:prstClr val="white">
                    <a:lumMod val="6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6" name="01"/>
            <p:cNvSpPr/>
            <p:nvPr/>
          </p:nvSpPr>
          <p:spPr>
            <a:xfrm>
              <a:off x="375920" y="269359"/>
              <a:ext cx="436880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03</a:t>
              </a:r>
              <a:endPara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" name="Strong Preparation"/>
            <p:cNvSpPr txBox="1"/>
            <p:nvPr/>
          </p:nvSpPr>
          <p:spPr>
            <a:xfrm>
              <a:off x="958882" y="542947"/>
              <a:ext cx="2623384" cy="25273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dist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050" noProof="0" dirty="0">
                  <a:ln>
                    <a:noFill/>
                  </a:ln>
                  <a:solidFill>
                    <a:srgbClr val="1045C9"/>
                  </a:solidFill>
                  <a:effectLst/>
                  <a:uLnTx/>
                  <a:uFillTx/>
                  <a:cs typeface="+mn-ea"/>
                  <a:sym typeface="+mn-lt"/>
                </a:rPr>
                <a:t>Strong Preparation</a:t>
              </a:r>
              <a:endParaRPr lang="en-US" altLang="zh-CN" sz="105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8" name="基础扎实"/>
            <p:cNvSpPr txBox="1"/>
            <p:nvPr/>
          </p:nvSpPr>
          <p:spPr>
            <a:xfrm>
              <a:off x="958882" y="96697"/>
              <a:ext cx="2109035" cy="95313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 defTabSz="457200"/>
              <a:r>
                <a:rPr lang="zh-CN" altLang="en-US" sz="2800" noProof="0" dirty="0">
                  <a:ln>
                    <a:noFill/>
                  </a:ln>
                  <a:solidFill>
                    <a:srgbClr val="1045C9"/>
                  </a:solidFill>
                  <a:effectLst/>
                  <a:uLnTx/>
                  <a:uFillTx/>
                  <a:cs typeface="+mn-ea"/>
                  <a:sym typeface="+mn-lt"/>
                </a:rPr>
                <a:t>代码实例</a:t>
              </a:r>
              <a:endParaRPr lang="zh-CN" altLang="en-US" sz="2800" b="1" dirty="0">
                <a:solidFill>
                  <a:srgbClr val="1045C9"/>
                </a:solidFill>
                <a:cs typeface="+mn-ea"/>
                <a:sym typeface="+mn-lt"/>
              </a:endParaRPr>
            </a:p>
            <a:p>
              <a:pPr algn="dist" defTabSz="457200"/>
              <a:endPara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3" name="学校教师以知识产权入股组建的鑫垚、铂力特等公司，在增材制造（3D打印）、陶瓷复合材料、高性能新材料、高端装备制造、通用飞机、智能水下航行器等领域，已经成为地方经济转型升级的中坚力量和区域经济发展的创新源头，逐步形成了行之有效、效而有果的科技成果转化和产业化“西工大模式”和军民融合的“西工大路径”。"/>
          <p:cNvSpPr txBox="1"/>
          <p:nvPr/>
        </p:nvSpPr>
        <p:spPr>
          <a:xfrm>
            <a:off x="4750340" y="2662454"/>
            <a:ext cx="7370323" cy="4508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lnSpc>
                <a:spcPct val="130000"/>
              </a:lnSpc>
            </a:pPr>
            <a:endParaRPr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0245" y="1020445"/>
            <a:ext cx="4683760" cy="4227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b="1">
                <a:solidFill>
                  <a:schemeClr val="accent1"/>
                </a:solidFill>
              </a:rPr>
              <a:t>板块三：消息传递机制</a:t>
            </a:r>
            <a:r>
              <a:rPr lang="en-US" altLang="zh-CN" b="1">
                <a:solidFill>
                  <a:schemeClr val="accent1"/>
                </a:solidFill>
              </a:rPr>
              <a:t>python</a:t>
            </a:r>
            <a:endParaRPr lang="en-US" altLang="zh-CN" b="1">
              <a:solidFill>
                <a:schemeClr val="accent1"/>
              </a:solidFill>
            </a:endParaRPr>
          </a:p>
          <a:p>
            <a:pPr indent="457200"/>
            <a:r>
              <a:rPr lang="en-US" altLang="zh-CN" sz="1200"/>
              <a:t>python</a:t>
            </a:r>
            <a:endParaRPr lang="en-US" altLang="zh-CN" sz="1200"/>
          </a:p>
          <a:p>
            <a:pPr indent="457200"/>
            <a:r>
              <a:rPr lang="en-US" altLang="zh-CN" sz="1200"/>
              <a:t>def forward(self, g, features):</a:t>
            </a:r>
            <a:endParaRPr lang="en-US" altLang="zh-CN" sz="1200"/>
          </a:p>
          <a:p>
            <a:pPr indent="457200"/>
            <a:r>
              <a:rPr lang="en-US" altLang="zh-CN" sz="1200"/>
              <a:t>    # </a:t>
            </a:r>
            <a:r>
              <a:rPr lang="zh-CN" altLang="en-US" sz="1200"/>
              <a:t>第一层</a:t>
            </a:r>
            <a:r>
              <a:rPr lang="en-US" altLang="zh-CN" sz="1200"/>
              <a:t>GNN</a:t>
            </a:r>
            <a:r>
              <a:rPr lang="zh-CN" altLang="en-US" sz="1200"/>
              <a:t>消息传递</a:t>
            </a:r>
            <a:endParaRPr lang="zh-CN" altLang="en-US" sz="1200"/>
          </a:p>
          <a:p>
            <a:pPr indent="457200"/>
            <a:r>
              <a:rPr lang="en-US" altLang="zh-CN" sz="1200"/>
              <a:t>    if self.gnn_type == 'gat':</a:t>
            </a:r>
            <a:endParaRPr lang="en-US" altLang="zh-CN" sz="1200"/>
          </a:p>
          <a:p>
            <a:pPr indent="457200"/>
            <a:r>
              <a:rPr lang="en-US" altLang="zh-CN" sz="1200"/>
              <a:t>        h = self.conv1(g, features)</a:t>
            </a:r>
            <a:endParaRPr lang="en-US" altLang="zh-CN" sz="1200"/>
          </a:p>
          <a:p>
            <a:pPr indent="457200"/>
            <a:r>
              <a:rPr lang="en-US" altLang="zh-CN" sz="1200"/>
              <a:t>        h = h.view(h.shape[0], -1)  # </a:t>
            </a:r>
            <a:r>
              <a:rPr lang="zh-CN" altLang="en-US" sz="1200"/>
              <a:t>展平多头注意力的结果</a:t>
            </a:r>
            <a:endParaRPr lang="zh-CN" altLang="en-US" sz="1200"/>
          </a:p>
          <a:p>
            <a:pPr indent="457200"/>
            <a:r>
              <a:rPr lang="en-US" altLang="zh-CN" sz="1200"/>
              <a:t>    else:</a:t>
            </a:r>
            <a:endParaRPr lang="en-US" altLang="zh-CN" sz="1200"/>
          </a:p>
          <a:p>
            <a:pPr indent="457200"/>
            <a:r>
              <a:rPr lang="en-US" altLang="zh-CN" sz="1200"/>
              <a:t>        h = self.conv1(g, features)</a:t>
            </a:r>
            <a:endParaRPr lang="en-US" altLang="zh-CN" sz="1200"/>
          </a:p>
          <a:p>
            <a:pPr indent="457200"/>
            <a:r>
              <a:rPr lang="en-US" altLang="zh-CN" sz="1200"/>
              <a:t>    </a:t>
            </a:r>
            <a:endParaRPr lang="en-US" altLang="zh-CN" sz="1200"/>
          </a:p>
          <a:p>
            <a:pPr indent="457200"/>
            <a:r>
              <a:rPr lang="en-US" altLang="zh-CN" sz="1200"/>
              <a:t>    h = F.relu(h)</a:t>
            </a:r>
            <a:endParaRPr lang="en-US" altLang="zh-CN" sz="1200"/>
          </a:p>
          <a:p>
            <a:pPr indent="457200"/>
            <a:r>
              <a:rPr lang="en-US" altLang="zh-CN" sz="1200"/>
              <a:t>    h = self.dropout(h)</a:t>
            </a:r>
            <a:endParaRPr lang="en-US" altLang="zh-CN" sz="1200"/>
          </a:p>
          <a:p>
            <a:pPr indent="457200"/>
            <a:r>
              <a:rPr lang="en-US" altLang="zh-CN" sz="1200"/>
              <a:t>    </a:t>
            </a:r>
            <a:endParaRPr lang="en-US" altLang="zh-CN" sz="1200"/>
          </a:p>
          <a:p>
            <a:pPr indent="457200"/>
            <a:r>
              <a:rPr lang="en-US" altLang="zh-CN" sz="1200"/>
              <a:t>    # </a:t>
            </a:r>
            <a:r>
              <a:rPr lang="zh-CN" altLang="en-US" sz="1200"/>
              <a:t>第二层</a:t>
            </a:r>
            <a:r>
              <a:rPr lang="en-US" altLang="zh-CN" sz="1200"/>
              <a:t>GNN</a:t>
            </a:r>
            <a:r>
              <a:rPr lang="zh-CN" altLang="en-US" sz="1200"/>
              <a:t>消息传递</a:t>
            </a:r>
            <a:endParaRPr lang="zh-CN" altLang="en-US" sz="1200"/>
          </a:p>
          <a:p>
            <a:pPr indent="457200"/>
            <a:r>
              <a:rPr lang="en-US" altLang="zh-CN" sz="1200"/>
              <a:t>    h = self.conv2(g, h)</a:t>
            </a:r>
            <a:endParaRPr lang="en-US" altLang="zh-CN" sz="1200"/>
          </a:p>
          <a:p>
            <a:pPr indent="457200"/>
            <a:r>
              <a:rPr lang="en-US" altLang="zh-CN" sz="1200"/>
              <a:t>    h = F.relu(h)</a:t>
            </a:r>
            <a:endParaRPr lang="en-US" altLang="zh-CN" sz="1200"/>
          </a:p>
          <a:p>
            <a:pPr indent="457200"/>
            <a:r>
              <a:rPr lang="en-US" altLang="zh-CN" sz="1200"/>
              <a:t>    h = self.dropout(h)</a:t>
            </a:r>
            <a:endParaRPr lang="en-US" altLang="zh-CN" sz="1200"/>
          </a:p>
          <a:p>
            <a:pPr indent="457200"/>
            <a:r>
              <a:rPr lang="en-US" altLang="zh-CN" sz="1200"/>
              <a:t>    </a:t>
            </a:r>
            <a:endParaRPr lang="en-US" altLang="zh-CN" sz="1200"/>
          </a:p>
          <a:p>
            <a:pPr indent="457200"/>
            <a:r>
              <a:rPr lang="en-US" altLang="zh-CN" sz="1200"/>
              <a:t>    # </a:t>
            </a:r>
            <a:r>
              <a:rPr lang="zh-CN" altLang="en-US" sz="1200"/>
              <a:t>预测</a:t>
            </a:r>
            <a:endParaRPr lang="zh-CN" altLang="en-US" sz="1200"/>
          </a:p>
          <a:p>
            <a:pPr indent="457200"/>
            <a:r>
              <a:rPr lang="en-US" altLang="zh-CN" sz="1200"/>
              <a:t>    return self.predict(h)</a:t>
            </a:r>
            <a:endParaRPr lang="en-US" altLang="zh-CN" sz="1200"/>
          </a:p>
        </p:txBody>
      </p:sp>
      <p:sp>
        <p:nvSpPr>
          <p:cNvPr id="2" name="文本框 1"/>
          <p:cNvSpPr txBox="1"/>
          <p:nvPr/>
        </p:nvSpPr>
        <p:spPr>
          <a:xfrm>
            <a:off x="5826125" y="1068070"/>
            <a:ext cx="6032500" cy="3188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accent1"/>
                </a:solidFill>
              </a:rPr>
              <a:t>功能介绍</a:t>
            </a:r>
            <a:r>
              <a:rPr lang="zh-CN" altLang="en-US"/>
              <a:t>：</a:t>
            </a:r>
            <a:endParaRPr lang="en-US" altLang="zh-CN"/>
          </a:p>
          <a:p>
            <a:r>
              <a:rPr lang="zh-CN" altLang="en-US"/>
              <a:t>这个函数实现了</a:t>
            </a:r>
            <a:r>
              <a:rPr lang="en-US" altLang="zh-CN"/>
              <a:t>GNN</a:t>
            </a:r>
            <a:r>
              <a:rPr lang="zh-CN" altLang="en-US"/>
              <a:t>的核心消息传递过程：</a:t>
            </a:r>
            <a:endParaRPr lang="zh-CN" altLang="en-US"/>
          </a:p>
          <a:p>
            <a:r>
              <a:rPr lang="zh-CN" altLang="en-US"/>
              <a:t>通过图卷积操作，节点能够聚合来自相邻节点的信息</a:t>
            </a:r>
            <a:endParaRPr lang="zh-CN" altLang="en-US"/>
          </a:p>
          <a:p>
            <a:r>
              <a:rPr lang="zh-CN" altLang="en-US"/>
              <a:t>每个节点根据其邻居节点的特征更新自己的表示</a:t>
            </a:r>
            <a:endParaRPr lang="zh-CN" altLang="en-US"/>
          </a:p>
          <a:p>
            <a:r>
              <a:rPr lang="zh-CN" altLang="en-US"/>
              <a:t>多层消息传递使节点能够获取更广范围的上下文信息</a:t>
            </a:r>
            <a:endParaRPr lang="zh-CN" altLang="en-US"/>
          </a:p>
          <a:p>
            <a:r>
              <a:rPr lang="zh-CN" altLang="en-US"/>
              <a:t>激活函数引入非线性，增强模型表达能力</a:t>
            </a:r>
            <a:endParaRPr lang="zh-CN" altLang="en-US"/>
          </a:p>
          <a:p>
            <a:r>
              <a:rPr lang="zh-CN" altLang="en-US"/>
              <a:t>这种机制使模型能够理解代码元素之间的语义关系和依赖性，例如变量的使用和函数的调用关系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"/>
          <p:cNvGrpSpPr/>
          <p:nvPr/>
        </p:nvGrpSpPr>
        <p:grpSpPr>
          <a:xfrm>
            <a:off x="334963" y="0"/>
            <a:ext cx="3247303" cy="1049832"/>
            <a:chOff x="334963" y="0"/>
            <a:chExt cx="3247303" cy="1049832"/>
          </a:xfrm>
        </p:grpSpPr>
        <p:sp>
          <p:nvSpPr>
            <p:cNvPr id="31" name="矩形"/>
            <p:cNvSpPr/>
            <p:nvPr/>
          </p:nvSpPr>
          <p:spPr>
            <a:xfrm>
              <a:off x="334963" y="0"/>
              <a:ext cx="518795" cy="908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2" name="矩形"/>
            <p:cNvSpPr/>
            <p:nvPr/>
          </p:nvSpPr>
          <p:spPr>
            <a:xfrm>
              <a:off x="396360" y="256025"/>
              <a:ext cx="396000" cy="39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sx="104000" sy="104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dirty="0">
                <a:solidFill>
                  <a:prstClr val="white">
                    <a:lumMod val="6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6" name="01"/>
            <p:cNvSpPr/>
            <p:nvPr/>
          </p:nvSpPr>
          <p:spPr>
            <a:xfrm>
              <a:off x="375920" y="269359"/>
              <a:ext cx="436880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03</a:t>
              </a:r>
              <a:endPara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" name="Strong Preparation"/>
            <p:cNvSpPr txBox="1"/>
            <p:nvPr/>
          </p:nvSpPr>
          <p:spPr>
            <a:xfrm>
              <a:off x="958882" y="542947"/>
              <a:ext cx="2623384" cy="25273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dist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050" noProof="0" dirty="0">
                  <a:ln>
                    <a:noFill/>
                  </a:ln>
                  <a:solidFill>
                    <a:srgbClr val="1045C9"/>
                  </a:solidFill>
                  <a:effectLst/>
                  <a:uLnTx/>
                  <a:uFillTx/>
                  <a:cs typeface="+mn-ea"/>
                  <a:sym typeface="+mn-lt"/>
                </a:rPr>
                <a:t>Strong Preparation</a:t>
              </a:r>
              <a:endParaRPr lang="en-US" altLang="zh-CN" sz="105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8" name="基础扎实"/>
            <p:cNvSpPr txBox="1"/>
            <p:nvPr/>
          </p:nvSpPr>
          <p:spPr>
            <a:xfrm>
              <a:off x="958882" y="96697"/>
              <a:ext cx="2109035" cy="95313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 defTabSz="457200"/>
              <a:r>
                <a:rPr lang="zh-CN" altLang="en-US" sz="2800" noProof="0" dirty="0">
                  <a:ln>
                    <a:noFill/>
                  </a:ln>
                  <a:solidFill>
                    <a:srgbClr val="1045C9"/>
                  </a:solidFill>
                  <a:effectLst/>
                  <a:uLnTx/>
                  <a:uFillTx/>
                  <a:cs typeface="+mn-ea"/>
                  <a:sym typeface="+mn-lt"/>
                </a:rPr>
                <a:t>代码实例</a:t>
              </a:r>
              <a:endParaRPr lang="zh-CN" altLang="en-US" sz="2800" b="1" dirty="0">
                <a:solidFill>
                  <a:srgbClr val="1045C9"/>
                </a:solidFill>
                <a:cs typeface="+mn-ea"/>
                <a:sym typeface="+mn-lt"/>
              </a:endParaRPr>
            </a:p>
            <a:p>
              <a:pPr algn="dist" defTabSz="457200"/>
              <a:endPara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3" name="学校教师以知识产权入股组建的鑫垚、铂力特等公司，在增材制造（3D打印）、陶瓷复合材料、高性能新材料、高端装备制造、通用飞机、智能水下航行器等领域，已经成为地方经济转型升级的中坚力量和区域经济发展的创新源头，逐步形成了行之有效、效而有果的科技成果转化和产业化“西工大模式”和军民融合的“西工大路径”。"/>
          <p:cNvSpPr txBox="1"/>
          <p:nvPr/>
        </p:nvSpPr>
        <p:spPr>
          <a:xfrm>
            <a:off x="4750340" y="2662454"/>
            <a:ext cx="7370323" cy="4508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lnSpc>
                <a:spcPct val="130000"/>
              </a:lnSpc>
            </a:pPr>
            <a:endParaRPr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3550" y="977900"/>
            <a:ext cx="8345170" cy="5922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b="1">
                <a:solidFill>
                  <a:schemeClr val="accent1"/>
                </a:solidFill>
              </a:rPr>
              <a:t>板块四：漏洞检测和解释</a:t>
            </a:r>
            <a:r>
              <a:rPr lang="en-US" altLang="zh-CN" b="1">
                <a:solidFill>
                  <a:schemeClr val="accent1"/>
                </a:solidFill>
              </a:rPr>
              <a:t>python</a:t>
            </a:r>
            <a:endParaRPr lang="en-US" altLang="zh-CN" b="1">
              <a:solidFill>
                <a:schemeClr val="accent1"/>
              </a:solidFill>
            </a:endParaRPr>
          </a:p>
          <a:p>
            <a:pPr indent="457200"/>
            <a:r>
              <a:rPr lang="en-US" altLang="zh-CN" sz="1000"/>
              <a:t>python</a:t>
            </a:r>
            <a:endParaRPr lang="en-US" altLang="zh-CN" sz="1000"/>
          </a:p>
          <a:p>
            <a:pPr indent="457200"/>
            <a:r>
              <a:rPr lang="en-US" altLang="zh-CN" sz="1000"/>
              <a:t>def explain_prediction(self, code):</a:t>
            </a:r>
            <a:endParaRPr lang="en-US" altLang="zh-CN" sz="1000"/>
          </a:p>
          <a:p>
            <a:pPr indent="457200"/>
            <a:r>
              <a:rPr lang="en-US" altLang="zh-CN" sz="1000"/>
              <a:t>    </a:t>
            </a:r>
            <a:r>
              <a:rPr lang="en-US" altLang="zh-CN" sz="1000">
                <a:sym typeface="+mn-ea"/>
              </a:rPr>
              <a:t>#</a:t>
            </a:r>
            <a:r>
              <a:rPr lang="en-US" altLang="zh-CN" sz="1000"/>
              <a:t> </a:t>
            </a:r>
            <a:r>
              <a:rPr lang="zh-CN" altLang="en-US" sz="1000"/>
              <a:t>解释模型对代码的预测</a:t>
            </a:r>
            <a:endParaRPr lang="zh-CN" altLang="en-US" sz="1000"/>
          </a:p>
          <a:p>
            <a:pPr indent="457200"/>
            <a:r>
              <a:rPr lang="en-US" altLang="zh-CN" sz="1000"/>
              <a:t>    result = self.predict(code, return_explanations=True)</a:t>
            </a:r>
            <a:endParaRPr lang="en-US" altLang="zh-CN" sz="1000"/>
          </a:p>
          <a:p>
            <a:pPr indent="457200"/>
            <a:r>
              <a:rPr lang="en-US" altLang="zh-CN" sz="1000"/>
              <a:t>    explanation = {</a:t>
            </a:r>
            <a:endParaRPr lang="en-US" altLang="zh-CN" sz="1000"/>
          </a:p>
          <a:p>
            <a:pPr indent="457200"/>
            <a:r>
              <a:rPr lang="en-US" altLang="zh-CN" sz="1000"/>
              <a:t>        'overall_vulnerability': result['vulnerability_probability'],</a:t>
            </a:r>
            <a:endParaRPr lang="en-US" altLang="zh-CN" sz="1000"/>
          </a:p>
          <a:p>
            <a:pPr indent="457200"/>
            <a:r>
              <a:rPr lang="en-US" altLang="zh-CN" sz="1000"/>
              <a:t>        'prediction': "Vulnerable" if result['is_vulnerable'] else "Not Vulnerable",</a:t>
            </a:r>
            <a:endParaRPr lang="en-US" altLang="zh-CN" sz="1000"/>
          </a:p>
          <a:p>
            <a:pPr indent="457200"/>
            <a:r>
              <a:rPr lang="en-US" altLang="zh-CN" sz="1000"/>
              <a:t>        'top_vulnerable_elements': []</a:t>
            </a:r>
            <a:endParaRPr lang="en-US" altLang="zh-CN" sz="1000"/>
          </a:p>
          <a:p>
            <a:pPr indent="457200"/>
            <a:r>
              <a:rPr lang="en-US" altLang="zh-CN" sz="1000"/>
              <a:t>    }</a:t>
            </a:r>
            <a:endParaRPr lang="en-US" altLang="zh-CN" sz="1000"/>
          </a:p>
          <a:p>
            <a:pPr indent="457200"/>
            <a:r>
              <a:rPr lang="en-US" altLang="zh-CN" sz="1000"/>
              <a:t>    # </a:t>
            </a:r>
            <a:r>
              <a:rPr lang="zh-CN" altLang="en-US" sz="1000"/>
              <a:t>提取最可能的漏洞代码元素</a:t>
            </a:r>
            <a:endParaRPr lang="zh-CN" altLang="en-US" sz="1000"/>
          </a:p>
          <a:p>
            <a:pPr indent="457200"/>
            <a:r>
              <a:rPr lang="en-US" altLang="zh-CN" sz="1000"/>
              <a:t>    for node in result['vulnerable_nodes']:</a:t>
            </a:r>
            <a:endParaRPr lang="en-US" altLang="zh-CN" sz="1000"/>
          </a:p>
          <a:p>
            <a:pPr indent="457200"/>
            <a:r>
              <a:rPr lang="en-US" altLang="zh-CN" sz="1000"/>
              <a:t>        explanation['top_vulnerable_elements'].append({</a:t>
            </a:r>
            <a:endParaRPr lang="en-US" altLang="zh-CN" sz="1000"/>
          </a:p>
          <a:p>
            <a:pPr indent="457200"/>
            <a:r>
              <a:rPr lang="en-US" altLang="zh-CN" sz="1000"/>
              <a:t>            'code': node['text'],</a:t>
            </a:r>
            <a:endParaRPr lang="en-US" altLang="zh-CN" sz="1000"/>
          </a:p>
          <a:p>
            <a:pPr indent="457200"/>
            <a:r>
              <a:rPr lang="en-US" altLang="zh-CN" sz="1000"/>
              <a:t>            'type': node['type'],</a:t>
            </a:r>
            <a:endParaRPr lang="en-US" altLang="zh-CN" sz="1000"/>
          </a:p>
          <a:p>
            <a:pPr indent="457200"/>
            <a:r>
              <a:rPr lang="en-US" altLang="zh-CN" sz="1000"/>
              <a:t>            'confidence': node['prob']</a:t>
            </a:r>
            <a:endParaRPr lang="en-US" altLang="zh-CN" sz="1000"/>
          </a:p>
          <a:p>
            <a:pPr indent="457200"/>
            <a:r>
              <a:rPr lang="en-US" altLang="zh-CN" sz="1000"/>
              <a:t>        })</a:t>
            </a:r>
            <a:endParaRPr lang="en-US" altLang="zh-CN" sz="1000"/>
          </a:p>
          <a:p>
            <a:pPr indent="457200"/>
            <a:r>
              <a:rPr lang="en-US" altLang="zh-CN" sz="1000"/>
              <a:t>    # </a:t>
            </a:r>
            <a:r>
              <a:rPr lang="zh-CN" altLang="en-US" sz="1000"/>
              <a:t>识别可能的漏洞类型</a:t>
            </a:r>
            <a:endParaRPr lang="zh-CN" altLang="en-US" sz="1000"/>
          </a:p>
          <a:p>
            <a:pPr indent="457200"/>
            <a:r>
              <a:rPr lang="en-US" altLang="zh-CN" sz="1000"/>
              <a:t>    vuln_types = set()</a:t>
            </a:r>
            <a:endParaRPr lang="en-US" altLang="zh-CN" sz="1000"/>
          </a:p>
          <a:p>
            <a:pPr indent="457200"/>
            <a:r>
              <a:rPr lang="en-US" altLang="zh-CN" sz="1000"/>
              <a:t>    dangerous_funcs = {'strcpy', 'strcat', 'gets', 'sprintf', 'system', 'exec'}</a:t>
            </a:r>
            <a:endParaRPr lang="en-US" altLang="zh-CN" sz="1000"/>
          </a:p>
          <a:p>
            <a:pPr indent="457200"/>
            <a:r>
              <a:rPr lang="en-US" altLang="zh-CN" sz="1000"/>
              <a:t>    </a:t>
            </a:r>
            <a:endParaRPr lang="en-US" altLang="zh-CN" sz="1000"/>
          </a:p>
          <a:p>
            <a:pPr indent="457200"/>
            <a:r>
              <a:rPr lang="en-US" altLang="zh-CN" sz="1000"/>
              <a:t>    for node in result['vulnerable_nodes']:</a:t>
            </a:r>
            <a:endParaRPr lang="en-US" altLang="zh-CN" sz="1000"/>
          </a:p>
          <a:p>
            <a:pPr indent="457200"/>
            <a:r>
              <a:rPr lang="en-US" altLang="zh-CN" sz="1000"/>
              <a:t>        node_text = node['text']</a:t>
            </a:r>
            <a:endParaRPr lang="en-US" altLang="zh-CN" sz="1000"/>
          </a:p>
          <a:p>
            <a:pPr indent="457200"/>
            <a:r>
              <a:rPr lang="en-US" altLang="zh-CN" sz="1000"/>
              <a:t>        # </a:t>
            </a:r>
            <a:r>
              <a:rPr lang="zh-CN" altLang="en-US" sz="1000"/>
              <a:t>检查危险函数</a:t>
            </a:r>
            <a:endParaRPr lang="zh-CN" altLang="en-US" sz="1000"/>
          </a:p>
          <a:p>
            <a:pPr indent="457200"/>
            <a:r>
              <a:rPr lang="en-US" altLang="zh-CN" sz="1000"/>
              <a:t>        for func in dangerous_funcs:</a:t>
            </a:r>
            <a:endParaRPr lang="en-US" altLang="zh-CN" sz="1000"/>
          </a:p>
          <a:p>
            <a:pPr indent="457200"/>
            <a:r>
              <a:rPr lang="en-US" altLang="zh-CN" sz="1000"/>
              <a:t>            if func in node_text:</a:t>
            </a:r>
            <a:endParaRPr lang="en-US" altLang="zh-CN" sz="1000"/>
          </a:p>
          <a:p>
            <a:pPr indent="457200"/>
            <a:r>
              <a:rPr lang="en-US" altLang="zh-CN" sz="1000"/>
              <a:t>                if 'str' in func:</a:t>
            </a:r>
            <a:endParaRPr lang="en-US" altLang="zh-CN" sz="1000"/>
          </a:p>
          <a:p>
            <a:pPr indent="457200"/>
            <a:r>
              <a:rPr lang="en-US" altLang="zh-CN" sz="1000"/>
              <a:t>                    vuln_types.add('Buffer Overflow')</a:t>
            </a:r>
            <a:endParaRPr lang="en-US" altLang="zh-CN" sz="1000"/>
          </a:p>
          <a:p>
            <a:pPr indent="457200"/>
            <a:r>
              <a:rPr lang="en-US" altLang="zh-CN" sz="1000"/>
              <a:t>                elif func in {'system', 'exec'}:</a:t>
            </a:r>
            <a:endParaRPr lang="en-US" altLang="zh-CN" sz="1000"/>
          </a:p>
          <a:p>
            <a:pPr indent="457200"/>
            <a:r>
              <a:rPr lang="en-US" altLang="zh-CN" sz="1000"/>
              <a:t>                    vuln_types.add('Command Injection')</a:t>
            </a:r>
            <a:endParaRPr lang="en-US" altLang="zh-CN" sz="1000"/>
          </a:p>
          <a:p>
            <a:pPr indent="457200"/>
            <a:r>
              <a:rPr lang="en-US" altLang="zh-CN" sz="1000"/>
              <a:t>    </a:t>
            </a:r>
            <a:endParaRPr lang="en-US" altLang="zh-CN" sz="1000"/>
          </a:p>
          <a:p>
            <a:pPr indent="457200"/>
            <a:r>
              <a:rPr lang="en-US" altLang="zh-CN" sz="1000"/>
              <a:t>    explanation['potential_vulnerability_types'] = list(vuln_types)</a:t>
            </a:r>
            <a:endParaRPr lang="en-US" altLang="zh-CN" sz="1000"/>
          </a:p>
          <a:p>
            <a:pPr indent="457200"/>
            <a:r>
              <a:rPr lang="en-US" altLang="zh-CN" sz="1000"/>
              <a:t>    </a:t>
            </a:r>
            <a:endParaRPr lang="en-US" altLang="zh-CN" sz="1000"/>
          </a:p>
          <a:p>
            <a:pPr indent="457200"/>
            <a:r>
              <a:rPr lang="en-US" altLang="zh-CN" sz="1000"/>
              <a:t>    return explanation</a:t>
            </a:r>
            <a:endParaRPr lang="en-US" altLang="zh-CN" sz="1000"/>
          </a:p>
        </p:txBody>
      </p:sp>
      <p:sp>
        <p:nvSpPr>
          <p:cNvPr id="2" name="文本框 1"/>
          <p:cNvSpPr txBox="1"/>
          <p:nvPr/>
        </p:nvSpPr>
        <p:spPr>
          <a:xfrm>
            <a:off x="5776595" y="1515110"/>
            <a:ext cx="6032500" cy="2798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accent1"/>
                </a:solidFill>
              </a:rPr>
              <a:t>功能介绍</a:t>
            </a:r>
            <a:r>
              <a:rPr lang="zh-CN" altLang="en-US"/>
              <a:t>：</a:t>
            </a:r>
            <a:endParaRPr lang="en-US" altLang="zh-CN"/>
          </a:p>
          <a:p>
            <a:r>
              <a:rPr lang="zh-CN" altLang="en-US"/>
              <a:t>这段代码展示了系统如何提供可解释的漏洞检测结果：</a:t>
            </a:r>
            <a:endParaRPr lang="zh-CN" altLang="en-US"/>
          </a:p>
          <a:p>
            <a:r>
              <a:rPr lang="zh-CN" altLang="en-US"/>
              <a:t>不仅提供整体漏洞概率，还定位具体的漏洞代码元素</a:t>
            </a:r>
            <a:endParaRPr lang="zh-CN" altLang="en-US"/>
          </a:p>
          <a:p>
            <a:r>
              <a:rPr lang="zh-CN" altLang="en-US"/>
              <a:t>通过分析节点特征和预测概率，识别最可能包含漏洞的代码片段</a:t>
            </a:r>
            <a:endParaRPr lang="zh-CN" altLang="en-US"/>
          </a:p>
          <a:p>
            <a:r>
              <a:rPr lang="zh-CN" altLang="en-US"/>
              <a:t>基于已知的漏洞模式库，推断潜在的漏洞类型（如缓冲区溢出、命令注入等）</a:t>
            </a:r>
            <a:endParaRPr lang="zh-CN" altLang="en-US"/>
          </a:p>
          <a:p>
            <a:r>
              <a:rPr lang="zh-CN" altLang="en-US"/>
              <a:t>为每个可疑代码元素提供置信度评分，帮助开发者优先修复高风险问题</a:t>
            </a:r>
            <a:endParaRPr lang="zh-CN" altLang="en-US"/>
          </a:p>
          <a:p>
            <a:r>
              <a:rPr lang="zh-CN" altLang="en-US"/>
              <a:t>这种可解释性设计使系统不仅能检测漏洞，还能辅助开发者理解和修复问题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34962" y="3311506"/>
            <a:ext cx="11522078" cy="321048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0" y="0"/>
            <a:ext cx="12192000" cy="3429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8705850 w 12192000"/>
              <a:gd name="connsiteY3" fmla="*/ 3429000 h 3429000"/>
              <a:gd name="connsiteX4" fmla="*/ 8640080 w 12192000"/>
              <a:gd name="connsiteY4" fmla="*/ 3429000 h 3429000"/>
              <a:gd name="connsiteX5" fmla="*/ 3551920 w 12192000"/>
              <a:gd name="connsiteY5" fmla="*/ 3429000 h 3429000"/>
              <a:gd name="connsiteX6" fmla="*/ 3486150 w 12192000"/>
              <a:gd name="connsiteY6" fmla="*/ 3429000 h 3429000"/>
              <a:gd name="connsiteX7" fmla="*/ 0 w 12192000"/>
              <a:gd name="connsiteY7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8705850" y="3429000"/>
                </a:lnTo>
                <a:lnTo>
                  <a:pt x="8640080" y="3429000"/>
                </a:lnTo>
                <a:lnTo>
                  <a:pt x="3551920" y="3429000"/>
                </a:lnTo>
                <a:lnTo>
                  <a:pt x="3486150" y="3429000"/>
                </a:lnTo>
                <a:lnTo>
                  <a:pt x="0" y="3429000"/>
                </a:lnTo>
                <a:close/>
              </a:path>
            </a:pathLst>
          </a:cu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0508" y="1336299"/>
            <a:ext cx="2670984" cy="3807111"/>
          </a:xfrm>
          <a:prstGeom prst="rect">
            <a:avLst/>
          </a:prstGeom>
          <a:solidFill>
            <a:schemeClr val="bg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图文框 1"/>
          <p:cNvSpPr/>
          <p:nvPr/>
        </p:nvSpPr>
        <p:spPr>
          <a:xfrm>
            <a:off x="4747911" y="1259013"/>
            <a:ext cx="2696178" cy="3909888"/>
          </a:xfrm>
          <a:prstGeom prst="frame">
            <a:avLst>
              <a:gd name="adj1" fmla="val 2586"/>
            </a:avLst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12304" y="3896085"/>
            <a:ext cx="2567392" cy="7683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defTabSz="914400">
              <a:defRPr/>
            </a:pPr>
            <a:r>
              <a:rPr lang="zh-CN" altLang="en-US" sz="4400" noProof="0" dirty="0">
                <a:ln>
                  <a:noFill/>
                </a:ln>
                <a:solidFill>
                  <a:srgbClr val="1045C9"/>
                </a:solidFill>
                <a:effectLst/>
                <a:uLnTx/>
                <a:uFillTx/>
                <a:cs typeface="+mn-ea"/>
                <a:sym typeface="+mn-lt"/>
              </a:rPr>
              <a:t>未来展望</a:t>
            </a:r>
            <a:endParaRPr lang="zh-CN" altLang="en-US" sz="4400" b="1" dirty="0">
              <a:solidFill>
                <a:srgbClr val="1045C9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64100" y="1741845"/>
            <a:ext cx="2463800" cy="15684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04</a:t>
            </a: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14700" y="5701761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1045C9"/>
                </a:solidFill>
                <a:effectLst/>
                <a:uLnTx/>
                <a:uFillTx/>
                <a:cs typeface="+mn-ea"/>
                <a:sym typeface="+mn-lt"/>
              </a:rPr>
              <a:t>Strong Preparation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1045C9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95325" y="663359"/>
            <a:ext cx="2159170" cy="489382"/>
            <a:chOff x="711030" y="663358"/>
            <a:chExt cx="2159170" cy="489382"/>
          </a:xfrm>
        </p:grpSpPr>
        <p:pic>
          <p:nvPicPr>
            <p:cNvPr id="10" name="西北工业大学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1324073" y="713583"/>
              <a:ext cx="1546127" cy="388933"/>
            </a:xfrm>
            <a:prstGeom prst="rect">
              <a:avLst/>
            </a:prstGeom>
          </p:spPr>
        </p:pic>
        <p:pic>
          <p:nvPicPr>
            <p:cNvPr id="11" name="校徽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711030" y="663358"/>
              <a:ext cx="490134" cy="489382"/>
            </a:xfrm>
            <a:prstGeom prst="rect">
              <a:avLst/>
            </a:prstGeom>
          </p:spPr>
        </p:pic>
      </p:grpSp>
      <p:cxnSp>
        <p:nvCxnSpPr>
          <p:cNvPr id="4" name="直接连接符 3"/>
          <p:cNvCxnSpPr/>
          <p:nvPr/>
        </p:nvCxnSpPr>
        <p:spPr>
          <a:xfrm flipH="1" flipV="1">
            <a:off x="334962" y="396875"/>
            <a:ext cx="1" cy="301127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11857038" y="396875"/>
            <a:ext cx="0" cy="301127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334963" y="396875"/>
            <a:ext cx="1152207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"/>
          <p:cNvGrpSpPr/>
          <p:nvPr/>
        </p:nvGrpSpPr>
        <p:grpSpPr>
          <a:xfrm>
            <a:off x="334963" y="0"/>
            <a:ext cx="3247303" cy="908050"/>
            <a:chOff x="334963" y="0"/>
            <a:chExt cx="3247303" cy="908050"/>
          </a:xfrm>
        </p:grpSpPr>
        <p:sp>
          <p:nvSpPr>
            <p:cNvPr id="31" name="矩形"/>
            <p:cNvSpPr/>
            <p:nvPr/>
          </p:nvSpPr>
          <p:spPr>
            <a:xfrm>
              <a:off x="334963" y="0"/>
              <a:ext cx="518795" cy="908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2" name="矩形"/>
            <p:cNvSpPr/>
            <p:nvPr/>
          </p:nvSpPr>
          <p:spPr>
            <a:xfrm>
              <a:off x="396360" y="256025"/>
              <a:ext cx="396000" cy="39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sx="104000" sy="104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dirty="0">
                <a:solidFill>
                  <a:prstClr val="white">
                    <a:lumMod val="6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6" name="01"/>
            <p:cNvSpPr/>
            <p:nvPr/>
          </p:nvSpPr>
          <p:spPr>
            <a:xfrm>
              <a:off x="375920" y="269359"/>
              <a:ext cx="436880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04</a:t>
              </a:r>
              <a:endPara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" name="Strong Preparation"/>
            <p:cNvSpPr txBox="1"/>
            <p:nvPr/>
          </p:nvSpPr>
          <p:spPr>
            <a:xfrm>
              <a:off x="958882" y="542947"/>
              <a:ext cx="2623384" cy="26840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>
                <a:lnSpc>
                  <a:spcPct val="120000"/>
                </a:lnSpc>
              </a:pPr>
              <a:r>
                <a:rPr lang="en-US" altLang="zh-CN"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Strong Preparation</a:t>
              </a:r>
              <a:endParaRPr lang="en-US" altLang="zh-CN" sz="105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8" name="基础扎实"/>
            <p:cNvSpPr txBox="1"/>
            <p:nvPr/>
          </p:nvSpPr>
          <p:spPr>
            <a:xfrm>
              <a:off x="958882" y="96697"/>
              <a:ext cx="210903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 defTabSz="457200"/>
              <a:r>
                <a:rPr lang="zh-CN" altLang="en-US" sz="28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未来</a:t>
              </a:r>
              <a:r>
                <a:rPr lang="zh-CN" altLang="en-US" sz="28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展望</a:t>
              </a:r>
              <a:endPara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3" name="学校教师以知识产权入股组建的鑫垚、铂力特等公司，在增材制造（3D打印）、陶瓷复合材料、高性能新材料、高端装备制造、通用飞机、智能水下航行器等领域，已经成为地方经济转型升级的中坚力量和区域经济发展的创新源头，逐步形成了行之有效、效而有果的科技成果转化和产业化“西工大模式”和军民融合的“西工大路径”。"/>
          <p:cNvSpPr txBox="1"/>
          <p:nvPr/>
        </p:nvSpPr>
        <p:spPr>
          <a:xfrm>
            <a:off x="4750340" y="2662454"/>
            <a:ext cx="7370323" cy="4508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lnSpc>
                <a:spcPct val="130000"/>
              </a:lnSpc>
            </a:pPr>
            <a:endParaRPr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0245" y="1020445"/>
            <a:ext cx="10467975" cy="547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sz="1600"/>
              <a:t>本项目作为一项聚焦代码安全的半成品研究，未来将围绕技术深化、功能扩展与生态共建三个维度持续推进，逐步打造更智能、更普适的代码安全解决方案。以下为具体规划与改进思路：</a:t>
            </a:r>
            <a:endParaRPr lang="zh-CN" altLang="en-US" sz="1600"/>
          </a:p>
          <a:p>
            <a:pPr indent="457200"/>
            <a:endParaRPr lang="en-US" altLang="zh-CN" sz="1600"/>
          </a:p>
          <a:p>
            <a:pPr indent="457200"/>
            <a:endParaRPr lang="en-US" altLang="zh-CN" sz="1600"/>
          </a:p>
          <a:p>
            <a:pPr indent="457200"/>
            <a:r>
              <a:rPr lang="en-US" altLang="zh-CN" sz="1600"/>
              <a:t>1. </a:t>
            </a:r>
            <a:r>
              <a:rPr lang="zh-CN" altLang="en-US" sz="1600"/>
              <a:t>技术优化与创新</a:t>
            </a:r>
            <a:endParaRPr lang="zh-CN" altLang="en-US" sz="1600"/>
          </a:p>
          <a:p>
            <a:pPr indent="457200"/>
            <a:r>
              <a:rPr lang="zh-CN" altLang="en-US" sz="1600"/>
              <a:t>模型轻量化与效率提升</a:t>
            </a:r>
            <a:endParaRPr lang="zh-CN" altLang="en-US" sz="1600"/>
          </a:p>
          <a:p>
            <a:pPr indent="457200"/>
            <a:r>
              <a:rPr lang="zh-CN" altLang="en-US" sz="1600"/>
              <a:t>针对当前模型训练资源消耗较高的问题，探索知识蒸馏、模型剪枝等技术，压缩模型体积，降低推理延迟，适配边缘设备（如</a:t>
            </a:r>
            <a:r>
              <a:rPr lang="en-US" altLang="zh-CN" sz="1600"/>
              <a:t>IDE</a:t>
            </a:r>
            <a:r>
              <a:rPr lang="zh-CN" altLang="en-US" sz="1600"/>
              <a:t>插件）的实时检测需求。</a:t>
            </a:r>
            <a:endParaRPr lang="zh-CN" altLang="en-US" sz="1600"/>
          </a:p>
          <a:p>
            <a:pPr indent="457200"/>
            <a:endParaRPr lang="en-US" altLang="zh-CN" sz="1600"/>
          </a:p>
          <a:p>
            <a:pPr indent="457200"/>
            <a:r>
              <a:rPr lang="zh-CN" altLang="en-US" sz="1600"/>
              <a:t>多模态特征融合增强</a:t>
            </a:r>
            <a:endParaRPr lang="zh-CN" altLang="en-US" sz="1600"/>
          </a:p>
          <a:p>
            <a:pPr indent="457200"/>
            <a:r>
              <a:rPr lang="zh-CN" altLang="en-US" sz="1600"/>
              <a:t>引入代码注释、提交历史等开发上下文信息，结合自然语言处理（</a:t>
            </a:r>
            <a:r>
              <a:rPr lang="en-US" altLang="zh-CN" sz="1600"/>
              <a:t>NLP</a:t>
            </a:r>
            <a:r>
              <a:rPr lang="zh-CN" altLang="en-US" sz="1600"/>
              <a:t>）技术，提升模型对逻辑漏洞（如权限设计缺陷）的敏感度。</a:t>
            </a:r>
            <a:endParaRPr lang="zh-CN" altLang="en-US" sz="1600"/>
          </a:p>
          <a:p>
            <a:pPr indent="457200"/>
            <a:endParaRPr lang="en-US" altLang="zh-CN" sz="1600"/>
          </a:p>
          <a:p>
            <a:pPr indent="457200"/>
            <a:r>
              <a:rPr lang="zh-CN" altLang="en-US" sz="1600"/>
              <a:t>小样本学习与增量训练</a:t>
            </a:r>
            <a:endParaRPr lang="zh-CN" altLang="en-US" sz="1600"/>
          </a:p>
          <a:p>
            <a:pPr indent="457200"/>
            <a:r>
              <a:rPr lang="zh-CN" altLang="en-US" sz="1600"/>
              <a:t>开发针对罕见漏洞类型的自适应学习模块，通过小样本学习（</a:t>
            </a:r>
            <a:r>
              <a:rPr lang="en-US" altLang="zh-CN" sz="1600"/>
              <a:t>Few-shot Learning</a:t>
            </a:r>
            <a:r>
              <a:rPr lang="zh-CN" altLang="en-US" sz="1600"/>
              <a:t>）解决数据稀疏性问题，并支持在线更新模型，持续适应新型漏洞模式。</a:t>
            </a:r>
            <a:endParaRPr lang="zh-CN" altLang="en-US" sz="1600"/>
          </a:p>
          <a:p>
            <a:pPr indent="457200"/>
            <a:endParaRPr lang="en-US" altLang="zh-CN" sz="1600"/>
          </a:p>
          <a:p>
            <a:pPr indent="457200"/>
            <a:endParaRPr lang="en-US" altLang="zh-CN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"/>
          <p:cNvGrpSpPr/>
          <p:nvPr/>
        </p:nvGrpSpPr>
        <p:grpSpPr>
          <a:xfrm>
            <a:off x="334963" y="0"/>
            <a:ext cx="3247303" cy="908050"/>
            <a:chOff x="334963" y="0"/>
            <a:chExt cx="3247303" cy="908050"/>
          </a:xfrm>
        </p:grpSpPr>
        <p:sp>
          <p:nvSpPr>
            <p:cNvPr id="31" name="矩形"/>
            <p:cNvSpPr/>
            <p:nvPr/>
          </p:nvSpPr>
          <p:spPr>
            <a:xfrm>
              <a:off x="334963" y="0"/>
              <a:ext cx="518795" cy="908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2" name="矩形"/>
            <p:cNvSpPr/>
            <p:nvPr/>
          </p:nvSpPr>
          <p:spPr>
            <a:xfrm>
              <a:off x="396360" y="256025"/>
              <a:ext cx="396000" cy="39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sx="104000" sy="104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dirty="0">
                <a:solidFill>
                  <a:prstClr val="white">
                    <a:lumMod val="6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6" name="01"/>
            <p:cNvSpPr/>
            <p:nvPr/>
          </p:nvSpPr>
          <p:spPr>
            <a:xfrm>
              <a:off x="375920" y="269359"/>
              <a:ext cx="436880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04</a:t>
              </a:r>
              <a:endPara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" name="Strong Preparation"/>
            <p:cNvSpPr txBox="1"/>
            <p:nvPr/>
          </p:nvSpPr>
          <p:spPr>
            <a:xfrm>
              <a:off x="958882" y="542947"/>
              <a:ext cx="2623384" cy="26840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>
                <a:lnSpc>
                  <a:spcPct val="120000"/>
                </a:lnSpc>
              </a:pPr>
              <a:r>
                <a:rPr lang="en-US" altLang="zh-CN"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Strong Preparation</a:t>
              </a:r>
              <a:endParaRPr lang="en-US" altLang="zh-CN" sz="105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8" name="基础扎实"/>
            <p:cNvSpPr txBox="1"/>
            <p:nvPr/>
          </p:nvSpPr>
          <p:spPr>
            <a:xfrm>
              <a:off x="958882" y="96697"/>
              <a:ext cx="210903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 defTabSz="457200"/>
              <a:r>
                <a:rPr lang="zh-CN" altLang="en-US" sz="28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未来</a:t>
              </a:r>
              <a:r>
                <a:rPr lang="zh-CN" altLang="en-US" sz="28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展望</a:t>
              </a:r>
              <a:endPara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3" name="学校教师以知识产权入股组建的鑫垚、铂力特等公司，在增材制造（3D打印）、陶瓷复合材料、高性能新材料、高端装备制造、通用飞机、智能水下航行器等领域，已经成为地方经济转型升级的中坚力量和区域经济发展的创新源头，逐步形成了行之有效、效而有果的科技成果转化和产业化“西工大模式”和军民融合的“西工大路径”。"/>
          <p:cNvSpPr txBox="1"/>
          <p:nvPr/>
        </p:nvSpPr>
        <p:spPr>
          <a:xfrm>
            <a:off x="4750340" y="2662454"/>
            <a:ext cx="7370323" cy="4508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lnSpc>
                <a:spcPct val="130000"/>
              </a:lnSpc>
            </a:pPr>
            <a:endParaRPr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0245" y="1020445"/>
            <a:ext cx="10467975" cy="547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zh-CN" sz="1600"/>
              <a:t>2. </a:t>
            </a:r>
            <a:r>
              <a:rPr lang="zh-CN" altLang="en-US" sz="1600"/>
              <a:t>功能扩展与场景适配</a:t>
            </a:r>
            <a:endParaRPr lang="zh-CN" altLang="en-US" sz="1600"/>
          </a:p>
          <a:p>
            <a:pPr indent="457200"/>
            <a:r>
              <a:rPr lang="zh-CN" altLang="en-US" sz="1600"/>
              <a:t>支持更多编程语言与框架</a:t>
            </a:r>
            <a:endParaRPr lang="zh-CN" altLang="en-US" sz="1600"/>
          </a:p>
          <a:p>
            <a:pPr indent="457200"/>
            <a:r>
              <a:rPr lang="zh-CN" altLang="en-US" sz="1600"/>
              <a:t>扩展对</a:t>
            </a:r>
            <a:r>
              <a:rPr lang="en-US" altLang="zh-CN" sz="1600"/>
              <a:t>Rust</a:t>
            </a:r>
            <a:r>
              <a:rPr lang="zh-CN" altLang="en-US" sz="1600"/>
              <a:t>、</a:t>
            </a:r>
            <a:r>
              <a:rPr lang="en-US" altLang="zh-CN" sz="1600"/>
              <a:t>Go</a:t>
            </a:r>
            <a:r>
              <a:rPr lang="zh-CN" altLang="en-US" sz="1600"/>
              <a:t>等内存安全语言及主流框架（如</a:t>
            </a:r>
            <a:r>
              <a:rPr lang="en-US" altLang="zh-CN" sz="1600"/>
              <a:t>React</a:t>
            </a:r>
            <a:r>
              <a:rPr lang="zh-CN" altLang="en-US" sz="1600"/>
              <a:t>、</a:t>
            </a:r>
            <a:r>
              <a:rPr lang="en-US" altLang="zh-CN" sz="1600"/>
              <a:t>TensorFlow</a:t>
            </a:r>
            <a:r>
              <a:rPr lang="zh-CN" altLang="en-US" sz="1600"/>
              <a:t>）的检测能力，覆盖云原生、</a:t>
            </a:r>
            <a:r>
              <a:rPr lang="en-US" altLang="zh-CN" sz="1600"/>
              <a:t>AI</a:t>
            </a:r>
            <a:r>
              <a:rPr lang="zh-CN" altLang="en-US" sz="1600"/>
              <a:t>模型等新兴领域的安全需求。</a:t>
            </a:r>
            <a:endParaRPr lang="zh-CN" altLang="en-US" sz="1600"/>
          </a:p>
          <a:p>
            <a:pPr indent="457200"/>
            <a:endParaRPr lang="en-US" altLang="zh-CN" sz="1600"/>
          </a:p>
          <a:p>
            <a:pPr indent="457200"/>
            <a:r>
              <a:rPr lang="zh-CN" altLang="en-US" sz="1600"/>
              <a:t>开发者交互体验升级</a:t>
            </a:r>
            <a:endParaRPr lang="zh-CN" altLang="en-US" sz="1600"/>
          </a:p>
          <a:p>
            <a:pPr indent="457200"/>
            <a:r>
              <a:rPr lang="zh-CN" altLang="en-US" sz="1600"/>
              <a:t>开发交互式代码审查插件（如</a:t>
            </a:r>
            <a:r>
              <a:rPr lang="en-US" altLang="zh-CN" sz="1600"/>
              <a:t>VS Code</a:t>
            </a:r>
            <a:r>
              <a:rPr lang="zh-CN" altLang="en-US" sz="1600"/>
              <a:t>扩展），提供</a:t>
            </a:r>
            <a:r>
              <a:rPr lang="en-US" altLang="zh-CN" sz="1600"/>
              <a:t>“</a:t>
            </a:r>
            <a:r>
              <a:rPr lang="zh-CN" altLang="en-US" sz="1600"/>
              <a:t>逐行风险提示</a:t>
            </a:r>
            <a:r>
              <a:rPr lang="en-US" altLang="zh-CN" sz="1600"/>
              <a:t>+</a:t>
            </a:r>
            <a:r>
              <a:rPr lang="zh-CN" altLang="en-US" sz="1600"/>
              <a:t>修复示例</a:t>
            </a:r>
            <a:r>
              <a:rPr lang="en-US" altLang="zh-CN" sz="1600"/>
              <a:t>”</a:t>
            </a:r>
            <a:r>
              <a:rPr lang="zh-CN" altLang="en-US" sz="1600"/>
              <a:t>的沉浸式体验，并集成漏洞知识库（如</a:t>
            </a:r>
            <a:r>
              <a:rPr lang="en-US" altLang="zh-CN" sz="1600"/>
              <a:t>CWE</a:t>
            </a:r>
            <a:r>
              <a:rPr lang="zh-CN" altLang="en-US" sz="1600"/>
              <a:t>分类说明），辅助开发者理解风险根源。</a:t>
            </a:r>
            <a:endParaRPr lang="zh-CN" altLang="en-US" sz="1600"/>
          </a:p>
          <a:p>
            <a:pPr indent="457200"/>
            <a:endParaRPr lang="en-US" altLang="zh-CN" sz="1600"/>
          </a:p>
          <a:p>
            <a:pPr indent="457200"/>
            <a:r>
              <a:rPr lang="zh-CN" altLang="en-US" sz="1600"/>
              <a:t>自动化修复建议生成</a:t>
            </a:r>
            <a:endParaRPr lang="zh-CN" altLang="en-US" sz="1600"/>
          </a:p>
          <a:p>
            <a:pPr indent="457200"/>
            <a:r>
              <a:rPr lang="zh-CN" altLang="en-US" sz="1600"/>
              <a:t>基于强化学习技术，探索从漏洞检测到修复代码生成的闭环能力，例如自动生成补丁代码或推荐安全</a:t>
            </a:r>
            <a:r>
              <a:rPr lang="en-US" altLang="zh-CN" sz="1600"/>
              <a:t>API</a:t>
            </a:r>
            <a:r>
              <a:rPr lang="zh-CN" altLang="en-US" sz="1600"/>
              <a:t>替换方案。</a:t>
            </a:r>
            <a:endParaRPr lang="zh-CN" altLang="en-US" sz="1600"/>
          </a:p>
          <a:p>
            <a:pPr indent="457200"/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"/>
          <p:cNvGrpSpPr/>
          <p:nvPr/>
        </p:nvGrpSpPr>
        <p:grpSpPr>
          <a:xfrm>
            <a:off x="334963" y="0"/>
            <a:ext cx="3247303" cy="908050"/>
            <a:chOff x="334963" y="0"/>
            <a:chExt cx="3247303" cy="908050"/>
          </a:xfrm>
        </p:grpSpPr>
        <p:sp>
          <p:nvSpPr>
            <p:cNvPr id="31" name="矩形"/>
            <p:cNvSpPr/>
            <p:nvPr/>
          </p:nvSpPr>
          <p:spPr>
            <a:xfrm>
              <a:off x="334963" y="0"/>
              <a:ext cx="518795" cy="908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2" name="矩形"/>
            <p:cNvSpPr/>
            <p:nvPr/>
          </p:nvSpPr>
          <p:spPr>
            <a:xfrm>
              <a:off x="396360" y="256025"/>
              <a:ext cx="396000" cy="39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sx="104000" sy="104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 dirty="0">
                <a:solidFill>
                  <a:prstClr val="white">
                    <a:lumMod val="65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6" name="01"/>
            <p:cNvSpPr/>
            <p:nvPr/>
          </p:nvSpPr>
          <p:spPr>
            <a:xfrm>
              <a:off x="375920" y="269359"/>
              <a:ext cx="436880" cy="3683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04</a:t>
              </a:r>
              <a:endPara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" name="Strong Preparation"/>
            <p:cNvSpPr txBox="1"/>
            <p:nvPr/>
          </p:nvSpPr>
          <p:spPr>
            <a:xfrm>
              <a:off x="958882" y="542947"/>
              <a:ext cx="2623384" cy="26840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>
                <a:lnSpc>
                  <a:spcPct val="120000"/>
                </a:lnSpc>
              </a:pPr>
              <a:r>
                <a:rPr lang="en-US" altLang="zh-CN"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Strong Preparation</a:t>
              </a:r>
              <a:endParaRPr lang="en-US" altLang="zh-CN" sz="105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8" name="基础扎实"/>
            <p:cNvSpPr txBox="1"/>
            <p:nvPr/>
          </p:nvSpPr>
          <p:spPr>
            <a:xfrm>
              <a:off x="958882" y="96697"/>
              <a:ext cx="210903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 defTabSz="457200"/>
              <a:r>
                <a:rPr lang="zh-CN" altLang="en-US" sz="28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未来</a:t>
              </a:r>
              <a:r>
                <a:rPr lang="zh-CN" altLang="en-US" sz="28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展望</a:t>
              </a:r>
              <a:endParaRPr lang="zh-CN" alt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3" name="学校教师以知识产权入股组建的鑫垚、铂力特等公司，在增材制造（3D打印）、陶瓷复合材料、高性能新材料、高端装备制造、通用飞机、智能水下航行器等领域，已经成为地方经济转型升级的中坚力量和区域经济发展的创新源头，逐步形成了行之有效、效而有果的科技成果转化和产业化“西工大模式”和军民融合的“西工大路径”。"/>
          <p:cNvSpPr txBox="1"/>
          <p:nvPr/>
        </p:nvSpPr>
        <p:spPr>
          <a:xfrm>
            <a:off x="4750340" y="2662454"/>
            <a:ext cx="7370323" cy="4508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lnSpc>
                <a:spcPct val="130000"/>
              </a:lnSpc>
            </a:pPr>
            <a:endParaRPr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0245" y="860425"/>
            <a:ext cx="10467975" cy="547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zh-CN" sz="1600"/>
              <a:t>3. </a:t>
            </a:r>
            <a:r>
              <a:rPr lang="zh-CN" altLang="en-US" sz="1600"/>
              <a:t>生态共建与落地应用</a:t>
            </a:r>
            <a:endParaRPr lang="zh-CN" altLang="en-US" sz="1600"/>
          </a:p>
          <a:p>
            <a:pPr indent="457200"/>
            <a:r>
              <a:rPr lang="zh-CN" altLang="en-US" sz="1600"/>
              <a:t>开源社区协作计划</a:t>
            </a:r>
            <a:endParaRPr lang="zh-CN" altLang="en-US" sz="1600"/>
          </a:p>
          <a:p>
            <a:pPr indent="457200"/>
            <a:r>
              <a:rPr lang="zh-CN" altLang="en-US" sz="1600"/>
              <a:t>建立漏洞样本众包平台，鼓励开发者提交真实项目漏洞案例，构建动态更新的开放数据集，形成</a:t>
            </a:r>
            <a:r>
              <a:rPr lang="en-US" altLang="zh-CN" sz="1600"/>
              <a:t>“</a:t>
            </a:r>
            <a:r>
              <a:rPr lang="zh-CN" altLang="en-US" sz="1600"/>
              <a:t>检测</a:t>
            </a:r>
            <a:r>
              <a:rPr lang="en-US" altLang="zh-CN" sz="1600"/>
              <a:t>-</a:t>
            </a:r>
            <a:r>
              <a:rPr lang="zh-CN" altLang="en-US" sz="1600"/>
              <a:t>反馈</a:t>
            </a:r>
            <a:r>
              <a:rPr lang="en-US" altLang="zh-CN" sz="1600"/>
              <a:t>-</a:t>
            </a:r>
            <a:r>
              <a:rPr lang="zh-CN" altLang="en-US" sz="1600"/>
              <a:t>优化</a:t>
            </a:r>
            <a:r>
              <a:rPr lang="en-US" altLang="zh-CN" sz="1600"/>
              <a:t>”</a:t>
            </a:r>
            <a:r>
              <a:rPr lang="zh-CN" altLang="en-US" sz="1600"/>
              <a:t>的良性循环。</a:t>
            </a:r>
            <a:endParaRPr lang="zh-CN" altLang="en-US" sz="1600"/>
          </a:p>
          <a:p>
            <a:pPr indent="457200"/>
            <a:endParaRPr lang="en-US" altLang="zh-CN" sz="1600"/>
          </a:p>
          <a:p>
            <a:pPr indent="457200"/>
            <a:r>
              <a:rPr lang="zh-CN" altLang="en-US" sz="1600"/>
              <a:t>企业级解决方案定制</a:t>
            </a:r>
            <a:endParaRPr lang="zh-CN" altLang="en-US" sz="1600"/>
          </a:p>
          <a:p>
            <a:pPr indent="457200"/>
            <a:r>
              <a:rPr lang="zh-CN" altLang="en-US" sz="1600"/>
              <a:t>针对金融、物联网等高安全需求行业，开发定制化规则引擎与合规性检查模块，支持</a:t>
            </a:r>
            <a:r>
              <a:rPr lang="en-US" altLang="zh-CN" sz="1600"/>
              <a:t>GDPR</a:t>
            </a:r>
            <a:r>
              <a:rPr lang="zh-CN" altLang="en-US" sz="1600"/>
              <a:t>、等保</a:t>
            </a:r>
            <a:r>
              <a:rPr lang="en-US" altLang="zh-CN" sz="1600"/>
              <a:t>2.0</a:t>
            </a:r>
            <a:r>
              <a:rPr lang="zh-CN" altLang="en-US" sz="1600"/>
              <a:t>等法规的自动化审计。</a:t>
            </a:r>
            <a:endParaRPr lang="zh-CN" altLang="en-US" sz="1600"/>
          </a:p>
          <a:p>
            <a:pPr indent="457200"/>
            <a:endParaRPr lang="en-US" altLang="zh-CN" sz="1600"/>
          </a:p>
          <a:p>
            <a:pPr indent="457200"/>
            <a:r>
              <a:rPr lang="zh-CN" altLang="en-US" sz="1600"/>
              <a:t>学术与产业联动</a:t>
            </a:r>
            <a:endParaRPr lang="zh-CN" altLang="en-US" sz="1600"/>
          </a:p>
          <a:p>
            <a:pPr indent="457200"/>
            <a:r>
              <a:rPr lang="zh-CN" altLang="en-US" sz="1600"/>
              <a:t>联合高校与安全厂商，举办漏洞检测算法竞赛（如基于</a:t>
            </a:r>
            <a:r>
              <a:rPr lang="en-US" altLang="zh-CN" sz="1600"/>
              <a:t>CTF</a:t>
            </a:r>
            <a:r>
              <a:rPr lang="zh-CN" altLang="en-US" sz="1600"/>
              <a:t>赛题的数据挑战赛），推动前沿技术的快速落地与产学研融合。</a:t>
            </a:r>
            <a:endParaRPr lang="zh-CN" altLang="en-US" sz="1600"/>
          </a:p>
          <a:p>
            <a:pPr indent="457200"/>
            <a:endParaRPr lang="en-US" altLang="zh-CN" sz="1600"/>
          </a:p>
          <a:p>
            <a:pPr indent="457200"/>
            <a:r>
              <a:rPr lang="zh-CN" altLang="en-US" sz="1600"/>
              <a:t>潜在挑战与应对策略</a:t>
            </a:r>
            <a:endParaRPr lang="zh-CN" altLang="en-US" sz="1600"/>
          </a:p>
          <a:p>
            <a:pPr indent="457200"/>
            <a:r>
              <a:rPr lang="zh-CN" altLang="en-US" sz="1600"/>
              <a:t>误报率与解释性平衡</a:t>
            </a:r>
            <a:endParaRPr lang="zh-CN" altLang="en-US" sz="1600"/>
          </a:p>
          <a:p>
            <a:pPr indent="457200"/>
            <a:r>
              <a:rPr lang="zh-CN" altLang="en-US" sz="1600"/>
              <a:t>在提升检测精度的同时，开发可视化溯源功能（如热力图标记风险代码段），增强模型决策的可解释性，降低开发者信任成本。</a:t>
            </a:r>
            <a:endParaRPr lang="zh-CN" altLang="en-US" sz="1600"/>
          </a:p>
          <a:p>
            <a:pPr indent="457200"/>
            <a:endParaRPr lang="en-US" altLang="zh-CN" sz="1600"/>
          </a:p>
          <a:p>
            <a:pPr indent="457200"/>
            <a:r>
              <a:rPr lang="zh-CN" altLang="en-US" sz="1600"/>
              <a:t>对抗性代码防御</a:t>
            </a:r>
            <a:endParaRPr lang="zh-CN" altLang="en-US" sz="1600"/>
          </a:p>
          <a:p>
            <a:pPr indent="457200"/>
            <a:r>
              <a:rPr lang="zh-CN" altLang="en-US" sz="1600"/>
              <a:t>研究针对代码混淆、对抗样本攻击的鲁棒性训练方法，确保系统在恶意规避场景下的稳定性。</a:t>
            </a:r>
            <a:endParaRPr lang="zh-CN" altLang="en-US" sz="1600"/>
          </a:p>
          <a:p>
            <a:pPr indent="457200"/>
            <a:endParaRPr lang="en-US" altLang="zh-CN" sz="1600"/>
          </a:p>
          <a:p>
            <a:pPr indent="457200"/>
            <a:r>
              <a:rPr lang="zh-CN" altLang="en-US" sz="1600"/>
              <a:t>隐私与合规风险</a:t>
            </a:r>
            <a:endParaRPr lang="zh-CN" altLang="en-US" sz="1600"/>
          </a:p>
          <a:p>
            <a:pPr indent="457200"/>
            <a:r>
              <a:rPr lang="zh-CN" altLang="en-US" sz="1600"/>
              <a:t>设计本地化部署方案与数据脱敏机制，满足企业对代码隐私的保护需求，规避开源代码使用的版权风险。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启真湖"/>
          <p:cNvPicPr>
            <a:picLocks noChangeAspect="1"/>
          </p:cNvPicPr>
          <p:nvPr/>
        </p:nvPicPr>
        <p:blipFill rotWithShape="1">
          <a:blip r:embed="rId1"/>
          <a:srcRect t="8120" b="8120"/>
          <a:stretch>
            <a:fillRect/>
          </a:stretch>
        </p:blipFill>
        <p:spPr>
          <a:xfrm>
            <a:off x="0" y="0"/>
            <a:ext cx="12192000" cy="3593374"/>
          </a:xfrm>
          <a:prstGeom prst="rect">
            <a:avLst/>
          </a:prstGeom>
        </p:spPr>
      </p:pic>
      <p:sp>
        <p:nvSpPr>
          <p:cNvPr id="18" name="遮罩色块"/>
          <p:cNvSpPr/>
          <p:nvPr/>
        </p:nvSpPr>
        <p:spPr>
          <a:xfrm>
            <a:off x="0" y="0"/>
            <a:ext cx="12192000" cy="3593374"/>
          </a:xfrm>
          <a:prstGeom prst="rect">
            <a:avLst/>
          </a:prstGeom>
          <a:gradFill flip="none" rotWithShape="1">
            <a:gsLst>
              <a:gs pos="7000">
                <a:schemeClr val="tx1">
                  <a:alpha val="13000"/>
                </a:schemeClr>
              </a:gs>
              <a:gs pos="100000">
                <a:schemeClr val="tx1">
                  <a:alpha val="63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3" name="校徽组合"/>
          <p:cNvGrpSpPr/>
          <p:nvPr/>
        </p:nvGrpSpPr>
        <p:grpSpPr>
          <a:xfrm>
            <a:off x="4781550" y="1619250"/>
            <a:ext cx="2628900" cy="2628900"/>
            <a:chOff x="5036457" y="2009495"/>
            <a:chExt cx="2119086" cy="2119086"/>
          </a:xfrm>
        </p:grpSpPr>
        <p:sp>
          <p:nvSpPr>
            <p:cNvPr id="2" name="圆形色块"/>
            <p:cNvSpPr/>
            <p:nvPr/>
          </p:nvSpPr>
          <p:spPr>
            <a:xfrm>
              <a:off x="5036457" y="2009495"/>
              <a:ext cx="2119086" cy="2119086"/>
            </a:xfrm>
            <a:prstGeom prst="ellipse">
              <a:avLst/>
            </a:prstGeom>
            <a:solidFill>
              <a:schemeClr val="bg1">
                <a:alpha val="83000"/>
              </a:schemeClr>
            </a:solidFill>
            <a:ln>
              <a:noFill/>
            </a:ln>
            <a:effectLst>
              <a:outerShdw blurRad="889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pic>
          <p:nvPicPr>
            <p:cNvPr id="23" name="校徽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rcRect l="9872" t="9872" r="9872" b="9872"/>
            <a:stretch>
              <a:fillRect/>
            </a:stretch>
          </p:blipFill>
          <p:spPr>
            <a:xfrm>
              <a:off x="5178425" y="2151463"/>
              <a:ext cx="1835152" cy="1835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敬请各位批评指正"/>
          <p:cNvSpPr txBox="1"/>
          <p:nvPr/>
        </p:nvSpPr>
        <p:spPr>
          <a:xfrm>
            <a:off x="2351314" y="4575800"/>
            <a:ext cx="7489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4800" b="1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请老师批评</a:t>
            </a:r>
            <a:r>
              <a:rPr lang="zh-CN" altLang="en-US" sz="4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指正</a:t>
            </a:r>
            <a:endParaRPr lang="zh-CN" altLang="en-US" sz="48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24" name="点缀线段"/>
          <p:cNvCxnSpPr/>
          <p:nvPr/>
        </p:nvCxnSpPr>
        <p:spPr>
          <a:xfrm>
            <a:off x="2399702" y="5462984"/>
            <a:ext cx="7392596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HANK YOU FOR WATCHING"/>
          <p:cNvSpPr txBox="1"/>
          <p:nvPr/>
        </p:nvSpPr>
        <p:spPr>
          <a:xfrm>
            <a:off x="2351314" y="5498068"/>
            <a:ext cx="7489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THANK YOU FOR WATCHING</a:t>
            </a:r>
            <a:endParaRPr lang="en-US" altLang="zh-CN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mph" presetSubtype="0" autoRev="1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Scale>
                                      <p:cBhvr>
                                        <p:cTn id="17" dur="400" fill="hold"/>
                                        <p:tgtEl>
                                          <p:spTgt spid="3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50" presetClass="entr" presetSubtype="0" decel="100000" fill="hold" grpId="0" nodeType="withEffect">
                                  <p:stCondLst>
                                    <p:cond delay="16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37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25" grpId="0"/>
      <p:bldP spid="26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364.3190551181102,&quot;left&quot;:61.27110236220473,&quot;top&quot;:134.0727559055118,&quot;width&quot;:442.93614173228343}"/>
</p:tagLst>
</file>

<file path=ppt/tags/tag64.xml><?xml version="1.0" encoding="utf-8"?>
<p:tagLst xmlns:p="http://schemas.openxmlformats.org/presentationml/2006/main">
  <p:tag name="KSO_WM_DIAGRAM_VIRTUALLY_FRAME" val="{&quot;height&quot;:364.3190551181102,&quot;left&quot;:61.27110236220473,&quot;top&quot;:134.0727559055118,&quot;width&quot;:442.93614173228343}"/>
</p:tagLst>
</file>

<file path=ppt/tags/tag65.xml><?xml version="1.0" encoding="utf-8"?>
<p:tagLst xmlns:p="http://schemas.openxmlformats.org/presentationml/2006/main">
  <p:tag name="KSO_WM_DIAGRAM_VIRTUALLY_FRAME" val="{&quot;height&quot;:364.3190551181102,&quot;left&quot;:61.27110236220473,&quot;top&quot;:134.0727559055118,&quot;width&quot;:442.93614173228343}"/>
</p:tagLst>
</file>

<file path=ppt/tags/tag66.xml><?xml version="1.0" encoding="utf-8"?>
<p:tagLst xmlns:p="http://schemas.openxmlformats.org/presentationml/2006/main">
  <p:tag name="KSO_WM_DIAGRAM_VIRTUALLY_FRAME" val="{&quot;height&quot;:364.3190551181102,&quot;left&quot;:61.27110236220473,&quot;top&quot;:134.0727559055118,&quot;width&quot;:442.93614173228343}"/>
</p:tagLst>
</file>

<file path=ppt/tags/tag67.xml><?xml version="1.0" encoding="utf-8"?>
<p:tagLst xmlns:p="http://schemas.openxmlformats.org/presentationml/2006/main">
  <p:tag name="KSO_WM_DIAGRAM_VIRTUALLY_FRAME" val="{&quot;height&quot;:364.3190551181102,&quot;left&quot;:61.27110236220473,&quot;top&quot;:134.0727559055118,&quot;width&quot;:442.93614173228343}"/>
</p:tagLst>
</file>

<file path=ppt/tags/tag68.xml><?xml version="1.0" encoding="utf-8"?>
<p:tagLst xmlns:p="http://schemas.openxmlformats.org/presentationml/2006/main">
  <p:tag name="KSO_WM_DIAGRAM_VIRTUALLY_FRAME" val="{&quot;height&quot;:364.3190551181102,&quot;left&quot;:61.27110236220473,&quot;top&quot;:134.0727559055118,&quot;width&quot;:442.93614173228343}"/>
</p:tagLst>
</file>

<file path=ppt/tags/tag69.xml><?xml version="1.0" encoding="utf-8"?>
<p:tagLst xmlns:p="http://schemas.openxmlformats.org/presentationml/2006/main">
  <p:tag name="KSO_WM_DIAGRAM_VIRTUALLY_FRAME" val="{&quot;height&quot;:364.3190551181102,&quot;left&quot;:61.27110236220473,&quot;top&quot;:134.0727559055118,&quot;width&quot;:442.93614173228343}"/>
</p:tagLst>
</file>

<file path=ppt/tags/tag70.xml><?xml version="1.0" encoding="utf-8"?>
<p:tagLst xmlns:p="http://schemas.openxmlformats.org/presentationml/2006/main">
  <p:tag name="KSO_WM_DIAGRAM_VIRTUALLY_FRAME" val="{&quot;height&quot;:364.3190551181102,&quot;left&quot;:61.27110236220473,&quot;top&quot;:134.0727559055118,&quot;width&quot;:442.93614173228343}"/>
</p:tagLst>
</file>

<file path=ppt/tags/tag71.xml><?xml version="1.0" encoding="utf-8"?>
<p:tagLst xmlns:p="http://schemas.openxmlformats.org/presentationml/2006/main">
  <p:tag name="KSO_WM_DIAGRAM_VIRTUALLY_FRAME" val="{&quot;height&quot;:364.3190551181102,&quot;left&quot;:61.27110236220473,&quot;top&quot;:134.0727559055118,&quot;width&quot;:442.93614173228343}"/>
</p:tagLst>
</file>

<file path=ppt/tags/tag72.xml><?xml version="1.0" encoding="utf-8"?>
<p:tagLst xmlns:p="http://schemas.openxmlformats.org/presentationml/2006/main">
  <p:tag name="KSO_WM_DIAGRAM_VIRTUALLY_FRAME" val="{&quot;height&quot;:364.3190551181102,&quot;left&quot;:61.27110236220473,&quot;top&quot;:134.0727559055118,&quot;width&quot;:442.93614173228343}"/>
</p:tagLst>
</file>

<file path=ppt/tags/tag73.xml><?xml version="1.0" encoding="utf-8"?>
<p:tagLst xmlns:p="http://schemas.openxmlformats.org/presentationml/2006/main">
  <p:tag name="KSO_WM_DIAGRAM_VIRTUALLY_FRAME" val="{&quot;height&quot;:364.3190551181102,&quot;left&quot;:61.27110236220473,&quot;top&quot;:134.0727559055118,&quot;width&quot;:442.93614173228343}"/>
</p:tagLst>
</file>

<file path=ppt/tags/tag74.xml><?xml version="1.0" encoding="utf-8"?>
<p:tagLst xmlns:p="http://schemas.openxmlformats.org/presentationml/2006/main">
  <p:tag name="KSO_WM_DIAGRAM_VIRTUALLY_FRAME" val="{&quot;height&quot;:364.3190551181102,&quot;left&quot;:61.27110236220473,&quot;top&quot;:134.0727559055118,&quot;width&quot;:442.93614173228343}"/>
</p:tagLst>
</file>

<file path=ppt/tags/tag75.xml><?xml version="1.0" encoding="utf-8"?>
<p:tagLst xmlns:p="http://schemas.openxmlformats.org/presentationml/2006/main">
  <p:tag name="KSO_WM_DIAGRAM_VIRTUALLY_FRAME" val="{&quot;height&quot;:364.3190551181102,&quot;left&quot;:61.27110236220473,&quot;top&quot;:134.0727559055118,&quot;width&quot;:442.93614173228343}"/>
</p:tagLst>
</file>

<file path=ppt/tags/tag76.xml><?xml version="1.0" encoding="utf-8"?>
<p:tagLst xmlns:p="http://schemas.openxmlformats.org/presentationml/2006/main">
  <p:tag name="KSO_WM_DIAGRAM_VIRTUALLY_FRAME" val="{&quot;height&quot;:364.3190551181102,&quot;left&quot;:61.27110236220473,&quot;top&quot;:134.0727559055118,&quot;width&quot;:442.93614173228343}"/>
</p:tagLst>
</file>

<file path=ppt/tags/tag77.xml><?xml version="1.0" encoding="utf-8"?>
<p:tagLst xmlns:p="http://schemas.openxmlformats.org/presentationml/2006/main">
  <p:tag name="KSO_WM_DIAGRAM_VIRTUALLY_FRAME" val="{&quot;height&quot;:364.3190551181102,&quot;left&quot;:61.27110236220473,&quot;top&quot;:134.0727559055118,&quot;width&quot;:442.93614173228343}"/>
</p:tagLst>
</file>

<file path=ppt/tags/tag78.xml><?xml version="1.0" encoding="utf-8"?>
<p:tagLst xmlns:p="http://schemas.openxmlformats.org/presentationml/2006/main">
  <p:tag name="KSO_WM_DIAGRAM_VIRTUALLY_FRAME" val="{&quot;height&quot;:364.3190551181102,&quot;left&quot;:61.27110236220473,&quot;top&quot;:134.0727559055118,&quot;width&quot;:442.93614173228343}"/>
</p:tagLst>
</file>

<file path=ppt/tags/tag79.xml><?xml version="1.0" encoding="utf-8"?>
<p:tagLst xmlns:p="http://schemas.openxmlformats.org/presentationml/2006/main">
  <p:tag name="KSO_WM_DIAGRAM_VIRTUALLY_FRAME" val="{&quot;height&quot;:364.3190551181102,&quot;left&quot;:61.27110236220473,&quot;top&quot;:134.0727559055118,&quot;width&quot;:442.93614173228343}"/>
</p:tagLst>
</file>

<file path=ppt/tags/tag80.xml><?xml version="1.0" encoding="utf-8"?>
<p:tagLst xmlns:p="http://schemas.openxmlformats.org/presentationml/2006/main">
  <p:tag name="KSO_WM_DIAGRAM_VIRTUALLY_FRAME" val="{&quot;height&quot;:364.3190551181102,&quot;left&quot;:61.27110236220473,&quot;top&quot;:134.0727559055118,&quot;width&quot;:442.93614173228343}"/>
</p:tagLst>
</file>

<file path=ppt/tags/tag81.xml><?xml version="1.0" encoding="utf-8"?>
<p:tagLst xmlns:p="http://schemas.openxmlformats.org/presentationml/2006/main">
  <p:tag name="KSO_WM_DIAGRAM_VIRTUALLY_FRAME" val="{&quot;height&quot;:364.3190551181102,&quot;left&quot;:61.27110236220473,&quot;top&quot;:134.0727559055118,&quot;width&quot;:442.93614173228343}"/>
</p:tagLst>
</file>

<file path=ppt/tags/tag82.xml><?xml version="1.0" encoding="utf-8"?>
<p:tagLst xmlns:p="http://schemas.openxmlformats.org/presentationml/2006/main">
  <p:tag name="KSO_WM_DIAGRAM_VIRTUALLY_FRAME" val="{&quot;height&quot;:364.3190551181102,&quot;left&quot;:61.27110236220473,&quot;top&quot;:134.0727559055118,&quot;width&quot;:442.93614173228343}"/>
</p:tagLst>
</file>

<file path=ppt/tags/tag83.xml><?xml version="1.0" encoding="utf-8"?>
<p:tagLst xmlns:p="http://schemas.openxmlformats.org/presentationml/2006/main">
  <p:tag name="KSO_WM_DIAGRAM_VIRTUALLY_FRAME" val="{&quot;height&quot;:364.3190551181102,&quot;left&quot;:61.27110236220473,&quot;top&quot;:134.0727559055118,&quot;width&quot;:442.93614173228343}"/>
</p:tagLst>
</file>

<file path=ppt/tags/tag84.xml><?xml version="1.0" encoding="utf-8"?>
<p:tagLst xmlns:p="http://schemas.openxmlformats.org/presentationml/2006/main">
  <p:tag name="KSO_WM_DIAGRAM_VIRTUALLY_FRAME" val="{&quot;height&quot;:364.3190551181102,&quot;left&quot;:61.27110236220473,&quot;top&quot;:134.0727559055118,&quot;width&quot;:442.93614173228343}"/>
</p:tagLst>
</file>

<file path=ppt/tags/tag85.xml><?xml version="1.0" encoding="utf-8"?>
<p:tagLst xmlns:p="http://schemas.openxmlformats.org/presentationml/2006/main">
  <p:tag name="KSO_WM_DIAGRAM_VIRTUALLY_FRAME" val="{&quot;height&quot;:364.3190551181102,&quot;left&quot;:61.27110236220473,&quot;top&quot;:134.0727559055118,&quot;width&quot;:442.93614173228343}"/>
</p:tagLst>
</file>

<file path=ppt/tags/tag86.xml><?xml version="1.0" encoding="utf-8"?>
<p:tagLst xmlns:p="http://schemas.openxmlformats.org/presentationml/2006/main">
  <p:tag name="KSO_WPP_MARK_KEY" val="afa8dbb2-254f-406e-af78-0340a8a0d770"/>
  <p:tag name="COMMONDATA" val="eyJoZGlkIjoiNjM0YzhiMDNiZTg5ZjJlYzVjYThkYWZkNDlmOGU1Yj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5960</Words>
  <Application>WPS 演示</Application>
  <PresentationFormat>宽屏</PresentationFormat>
  <Paragraphs>345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宋体</vt:lpstr>
      <vt:lpstr>Wingdings</vt:lpstr>
      <vt:lpstr>Wingdings</vt:lpstr>
      <vt:lpstr>微软雅黑</vt:lpstr>
      <vt:lpstr>Calibri</vt:lpstr>
      <vt:lpstr>等线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梁景毓</cp:lastModifiedBy>
  <cp:revision>161</cp:revision>
  <dcterms:created xsi:type="dcterms:W3CDTF">2019-06-19T02:08:00Z</dcterms:created>
  <dcterms:modified xsi:type="dcterms:W3CDTF">2025-04-22T12:13:35Z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C0EEC27DA14A458AB2CBB33DD6A7BE57</vt:lpwstr>
  </property>
</Properties>
</file>