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645" r:id="rId3"/>
    <p:sldId id="331" r:id="rId5"/>
    <p:sldId id="332" r:id="rId6"/>
    <p:sldId id="565" r:id="rId7"/>
    <p:sldId id="630" r:id="rId8"/>
    <p:sldId id="566" r:id="rId9"/>
    <p:sldId id="567" r:id="rId10"/>
    <p:sldId id="568" r:id="rId11"/>
    <p:sldId id="626" r:id="rId12"/>
    <p:sldId id="569" r:id="rId13"/>
    <p:sldId id="627" r:id="rId14"/>
    <p:sldId id="592" r:id="rId15"/>
    <p:sldId id="628" r:id="rId16"/>
    <p:sldId id="593" r:id="rId17"/>
    <p:sldId id="594" r:id="rId18"/>
    <p:sldId id="595" r:id="rId19"/>
    <p:sldId id="596" r:id="rId20"/>
    <p:sldId id="572" r:id="rId21"/>
    <p:sldId id="597" r:id="rId22"/>
    <p:sldId id="598" r:id="rId23"/>
    <p:sldId id="604" r:id="rId24"/>
    <p:sldId id="605" r:id="rId25"/>
    <p:sldId id="606" r:id="rId26"/>
    <p:sldId id="647" r:id="rId27"/>
    <p:sldId id="607" r:id="rId28"/>
    <p:sldId id="665" r:id="rId29"/>
    <p:sldId id="629" r:id="rId30"/>
    <p:sldId id="608" r:id="rId31"/>
    <p:sldId id="609" r:id="rId32"/>
    <p:sldId id="666" r:id="rId33"/>
    <p:sldId id="667" r:id="rId34"/>
    <p:sldId id="668" r:id="rId35"/>
    <p:sldId id="610" r:id="rId36"/>
    <p:sldId id="612" r:id="rId37"/>
    <p:sldId id="646" r:id="rId38"/>
    <p:sldId id="651" r:id="rId39"/>
    <p:sldId id="654" r:id="rId40"/>
    <p:sldId id="652" r:id="rId41"/>
    <p:sldId id="611" r:id="rId42"/>
    <p:sldId id="613" r:id="rId43"/>
    <p:sldId id="600" r:id="rId44"/>
    <p:sldId id="601" r:id="rId45"/>
    <p:sldId id="633" r:id="rId46"/>
    <p:sldId id="602" r:id="rId47"/>
    <p:sldId id="603" r:id="rId48"/>
    <p:sldId id="634" r:id="rId49"/>
    <p:sldId id="574" r:id="rId50"/>
    <p:sldId id="635" r:id="rId51"/>
    <p:sldId id="576" r:id="rId52"/>
    <p:sldId id="577" r:id="rId53"/>
    <p:sldId id="617" r:id="rId54"/>
    <p:sldId id="614" r:id="rId55"/>
    <p:sldId id="615" r:id="rId56"/>
    <p:sldId id="625" r:id="rId57"/>
    <p:sldId id="616" r:id="rId58"/>
    <p:sldId id="671" r:id="rId59"/>
    <p:sldId id="578" r:id="rId60"/>
    <p:sldId id="655" r:id="rId61"/>
    <p:sldId id="579" r:id="rId62"/>
    <p:sldId id="657" r:id="rId63"/>
    <p:sldId id="656" r:id="rId64"/>
    <p:sldId id="580" r:id="rId65"/>
    <p:sldId id="581" r:id="rId66"/>
    <p:sldId id="583" r:id="rId67"/>
    <p:sldId id="660" r:id="rId68"/>
    <p:sldId id="585" r:id="rId69"/>
    <p:sldId id="637" r:id="rId70"/>
    <p:sldId id="618" r:id="rId71"/>
    <p:sldId id="638" r:id="rId72"/>
    <p:sldId id="623" r:id="rId73"/>
    <p:sldId id="663" r:id="rId74"/>
    <p:sldId id="664" r:id="rId75"/>
    <p:sldId id="619" r:id="rId76"/>
    <p:sldId id="639" r:id="rId77"/>
    <p:sldId id="640" r:id="rId78"/>
    <p:sldId id="620" r:id="rId79"/>
    <p:sldId id="621" r:id="rId80"/>
    <p:sldId id="644" r:id="rId81"/>
    <p:sldId id="564" r:id="rId82"/>
    <p:sldId id="643" r:id="rId83"/>
    <p:sldId id="642" r:id="rId84"/>
    <p:sldId id="624" r:id="rId85"/>
    <p:sldId id="669" r:id="rId86"/>
    <p:sldId id="670" r:id="rId87"/>
    <p:sldId id="631" r:id="rId88"/>
    <p:sldId id="632" r:id="rId89"/>
  </p:sldIdLst>
  <p:sldSz cx="9144000" cy="6858000" type="screen4x3"/>
  <p:notesSz cx="6858000" cy="9144000"/>
  <p:custDataLst>
    <p:tags r:id="rId93"/>
  </p:custDataLst>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76" autoAdjust="0"/>
    <p:restoredTop sz="79361" autoAdjust="0"/>
  </p:normalViewPr>
  <p:slideViewPr>
    <p:cSldViewPr snapToGrid="0" showGuides="1">
      <p:cViewPr varScale="1">
        <p:scale>
          <a:sx n="69" d="100"/>
          <a:sy n="69" d="100"/>
        </p:scale>
        <p:origin x="1810" y="7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3" Type="http://schemas.openxmlformats.org/officeDocument/2006/relationships/tags" Target="tags/tag93.xml"/><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D330F28-D18C-485B-AD2B-7DF346A53225}"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CN" altLang="en-US"/>
        </a:p>
      </dgm:t>
    </dgm:pt>
    <dgm:pt modelId="{7AA4BCE5-838A-452C-BA06-A869C07EAE33}">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D703FA97-3964-407D-BCB3-03578955312E}" cxnId="{E87C870E-8802-4DE6-99E1-34561ECF1851}" type="parTrans">
      <dgm:prSet/>
      <dgm:spPr/>
      <dgm:t>
        <a:bodyPr/>
        <a:lstStyle/>
        <a:p>
          <a:endParaRPr lang="zh-CN" altLang="en-US"/>
        </a:p>
      </dgm:t>
    </dgm:pt>
    <dgm:pt modelId="{3FEA1EA7-43E1-472F-A09C-BB829D763F53}" cxnId="{E87C870E-8802-4DE6-99E1-34561ECF1851}" type="sibTrans">
      <dgm:prSet/>
      <dgm:spPr/>
      <dgm:t>
        <a:bodyPr/>
        <a:lstStyle/>
        <a:p>
          <a:endParaRPr lang="zh-CN" altLang="en-US"/>
        </a:p>
      </dgm:t>
    </dgm:pt>
    <dgm:pt modelId="{033AB355-DEBE-4BC0-81F7-79E198B90F3F}">
      <dgm:prSet phldrT="[文本]" custT="1"/>
      <dgm:spPr/>
      <dgm:t>
        <a:bodyPr/>
        <a:lstStyle/>
        <a:p>
          <a:r>
            <a:rPr lang="zh-CN" altLang="en-US" sz="3600" dirty="0" smtClean="0">
              <a:solidFill>
                <a:srgbClr val="FF0000"/>
              </a:solidFill>
              <a:latin typeface="楷体" panose="02010609060101010101" pitchFamily="49" charset="-122"/>
              <a:ea typeface="楷体" panose="02010609060101010101" pitchFamily="49" charset="-122"/>
            </a:rPr>
            <a:t>分支限界法基本思想</a:t>
          </a:r>
          <a:endParaRPr lang="zh-CN" altLang="en-US" sz="3600" dirty="0">
            <a:solidFill>
              <a:srgbClr val="FF0000"/>
            </a:solidFill>
            <a:latin typeface="楷体" panose="02010609060101010101" pitchFamily="49" charset="-122"/>
            <a:ea typeface="楷体" panose="02010609060101010101" pitchFamily="49" charset="-122"/>
          </a:endParaRPr>
        </a:p>
      </dgm:t>
    </dgm:pt>
    <dgm:pt modelId="{4CE9AD92-BF00-42FB-A676-BF6DF5ADD430}" cxnId="{6FB2A94C-20CC-4D6B-8B2C-F31843D57B69}" type="parTrans">
      <dgm:prSet/>
      <dgm:spPr/>
      <dgm:t>
        <a:bodyPr/>
        <a:lstStyle/>
        <a:p>
          <a:endParaRPr lang="zh-CN" altLang="en-US"/>
        </a:p>
      </dgm:t>
    </dgm:pt>
    <dgm:pt modelId="{282FCBF8-1A05-4DF3-828E-5CB36D65DE37}" cxnId="{6FB2A94C-20CC-4D6B-8B2C-F31843D57B69}" type="sibTrans">
      <dgm:prSet/>
      <dgm:spPr/>
      <dgm:t>
        <a:bodyPr/>
        <a:lstStyle/>
        <a:p>
          <a:endParaRPr lang="zh-CN" altLang="en-US"/>
        </a:p>
      </dgm:t>
    </dgm:pt>
    <dgm:pt modelId="{8C52E961-8DC7-4BA8-9EFE-B5D4E7BFCB2C}">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06C084B8-CA07-4300-9514-C36F01B77F84}" cxnId="{8A157C6C-0F81-4767-850C-8243FF679803}" type="parTrans">
      <dgm:prSet/>
      <dgm:spPr/>
      <dgm:t>
        <a:bodyPr/>
        <a:lstStyle/>
        <a:p>
          <a:endParaRPr lang="zh-CN" altLang="en-US"/>
        </a:p>
      </dgm:t>
    </dgm:pt>
    <dgm:pt modelId="{AED74C2A-4C95-4A64-AE41-935EC9214B07}" cxnId="{8A157C6C-0F81-4767-850C-8243FF679803}" type="sibTrans">
      <dgm:prSet/>
      <dgm:spPr/>
      <dgm:t>
        <a:bodyPr/>
        <a:lstStyle/>
        <a:p>
          <a:endParaRPr lang="zh-CN" altLang="en-US"/>
        </a:p>
      </dgm:t>
    </dgm:pt>
    <dgm:pt modelId="{0C14CBCD-34EC-43F9-88B3-B5B73566B37B}">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分支定界法设计要素</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90801A33-C96F-4A81-B93A-0852A9956992}" cxnId="{126D26C8-D6CF-48ED-B10B-256EDA69A0E3}" type="parTrans">
      <dgm:prSet/>
      <dgm:spPr/>
      <dgm:t>
        <a:bodyPr/>
        <a:lstStyle/>
        <a:p>
          <a:endParaRPr lang="zh-CN" altLang="en-US"/>
        </a:p>
      </dgm:t>
    </dgm:pt>
    <dgm:pt modelId="{1B669E59-2BD4-468F-B2F8-A293D31DB965}" cxnId="{126D26C8-D6CF-48ED-B10B-256EDA69A0E3}" type="sibTrans">
      <dgm:prSet/>
      <dgm:spPr/>
      <dgm:t>
        <a:bodyPr/>
        <a:lstStyle/>
        <a:p>
          <a:endParaRPr lang="zh-CN" altLang="en-US"/>
        </a:p>
      </dgm:t>
    </dgm:pt>
    <dgm:pt modelId="{62F14362-0BA0-43B6-9C2F-9CE9057D4DF0}">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CDF3E7AF-3551-41F1-9ECA-68622446D3EB}" cxnId="{07B7A958-7CEF-45E9-AC1B-1F1A55A45858}" type="parTrans">
      <dgm:prSet/>
      <dgm:spPr/>
      <dgm:t>
        <a:bodyPr/>
        <a:lstStyle/>
        <a:p>
          <a:endParaRPr lang="zh-CN" altLang="en-US"/>
        </a:p>
      </dgm:t>
    </dgm:pt>
    <dgm:pt modelId="{A32A4E3C-B771-4D7B-AAFB-AD232D6DC34D}" cxnId="{07B7A958-7CEF-45E9-AC1B-1F1A55A45858}" type="sibTrans">
      <dgm:prSet/>
      <dgm:spPr/>
      <dgm:t>
        <a:bodyPr/>
        <a:lstStyle/>
        <a:p>
          <a:endParaRPr lang="zh-CN" altLang="en-US"/>
        </a:p>
      </dgm:t>
    </dgm:pt>
    <dgm:pt modelId="{DE6243F6-0982-4749-BDA9-3D7D8184C26A}">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案例分析：装载问题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4E43DCB8-FD68-424F-8D7A-EA8B37717DFA}" cxnId="{FB086BEE-81B2-4ED3-8935-6D4ECF6A1B51}" type="parTrans">
      <dgm:prSet/>
      <dgm:spPr/>
      <dgm:t>
        <a:bodyPr/>
        <a:lstStyle/>
        <a:p>
          <a:endParaRPr lang="zh-CN" altLang="en-US"/>
        </a:p>
      </dgm:t>
    </dgm:pt>
    <dgm:pt modelId="{AE990C81-80DD-4734-A92A-C91E19EF55BD}" cxnId="{FB086BEE-81B2-4ED3-8935-6D4ECF6A1B51}" type="sibTrans">
      <dgm:prSet/>
      <dgm:spPr/>
      <dgm:t>
        <a:bodyPr/>
        <a:lstStyle/>
        <a:p>
          <a:endParaRPr lang="zh-CN" altLang="en-US"/>
        </a:p>
      </dgm:t>
    </dgm:pt>
    <dgm:pt modelId="{9D86A73C-E86D-4AAF-B0E8-6A97AC00E5A7}">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8351CB61-64A9-487C-873B-AB30EE6EB332}" cxnId="{498A534E-6488-45E3-9C79-2ABB07DC381A}" type="parTrans">
      <dgm:prSet/>
      <dgm:spPr/>
      <dgm:t>
        <a:bodyPr/>
        <a:lstStyle/>
        <a:p>
          <a:endParaRPr lang="zh-CN" altLang="en-US"/>
        </a:p>
      </dgm:t>
    </dgm:pt>
    <dgm:pt modelId="{FED2A96A-EBDD-4A03-A3BD-37056BFE36D4}" cxnId="{498A534E-6488-45E3-9C79-2ABB07DC381A}" type="sibTrans">
      <dgm:prSet/>
      <dgm:spPr/>
      <dgm:t>
        <a:bodyPr/>
        <a:lstStyle/>
        <a:p>
          <a:endParaRPr lang="zh-CN" altLang="en-US"/>
        </a:p>
      </dgm:t>
    </dgm:pt>
    <dgm:pt modelId="{0DAAF06F-B1D9-4FF4-9699-13EFE5C37F21}">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72D9623A-45B7-47AC-905E-F602609A5D17}" cxnId="{1BC291E5-951D-4A13-A57D-DA1C18B66788}" type="parTrans">
      <dgm:prSet/>
      <dgm:spPr/>
      <dgm:t>
        <a:bodyPr/>
        <a:lstStyle/>
        <a:p>
          <a:endParaRPr lang="zh-CN" altLang="en-US"/>
        </a:p>
      </dgm:t>
    </dgm:pt>
    <dgm:pt modelId="{67D094FD-53C8-407C-A51C-3A10DAC12FD7}" cxnId="{1BC291E5-951D-4A13-A57D-DA1C18B66788}" type="sibTrans">
      <dgm:prSet/>
      <dgm:spPr/>
      <dgm:t>
        <a:bodyPr/>
        <a:lstStyle/>
        <a:p>
          <a:endParaRPr lang="zh-CN" altLang="en-US"/>
        </a:p>
      </dgm:t>
    </dgm:pt>
    <dgm:pt modelId="{82317BD2-FB94-48E1-BC4C-A946E0BA34B6}" type="pres">
      <dgm:prSet presAssocID="{5D330F28-D18C-485B-AD2B-7DF346A53225}" presName="linearFlow" presStyleCnt="0">
        <dgm:presLayoutVars>
          <dgm:dir/>
          <dgm:animLvl val="lvl"/>
          <dgm:resizeHandles val="exact"/>
        </dgm:presLayoutVars>
      </dgm:prSet>
      <dgm:spPr/>
      <dgm:t>
        <a:bodyPr/>
        <a:lstStyle/>
        <a:p>
          <a:endParaRPr lang="zh-CN" altLang="en-US"/>
        </a:p>
      </dgm:t>
    </dgm:pt>
    <dgm:pt modelId="{6C1D086C-E1C9-4393-9235-13A5556BA65D}" type="pres">
      <dgm:prSet presAssocID="{7AA4BCE5-838A-452C-BA06-A869C07EAE33}" presName="composite" presStyleCnt="0"/>
      <dgm:spPr/>
    </dgm:pt>
    <dgm:pt modelId="{EEC96708-49E3-4A42-ACE1-C2020844E9DB}" type="pres">
      <dgm:prSet presAssocID="{7AA4BCE5-838A-452C-BA06-A869C07EAE33}" presName="parentText" presStyleLbl="alignNode1" presStyleIdx="0" presStyleCnt="4">
        <dgm:presLayoutVars>
          <dgm:chMax val="1"/>
          <dgm:bulletEnabled val="1"/>
        </dgm:presLayoutVars>
      </dgm:prSet>
      <dgm:spPr/>
      <dgm:t>
        <a:bodyPr/>
        <a:lstStyle/>
        <a:p>
          <a:endParaRPr lang="zh-CN" altLang="en-US"/>
        </a:p>
      </dgm:t>
    </dgm:pt>
    <dgm:pt modelId="{B0D5B842-CFD7-4F5C-8567-ABE9C6F65A41}" type="pres">
      <dgm:prSet presAssocID="{7AA4BCE5-838A-452C-BA06-A869C07EAE33}" presName="descendantText" presStyleLbl="alignAcc1" presStyleIdx="0" presStyleCnt="4">
        <dgm:presLayoutVars>
          <dgm:bulletEnabled val="1"/>
        </dgm:presLayoutVars>
      </dgm:prSet>
      <dgm:spPr/>
      <dgm:t>
        <a:bodyPr/>
        <a:lstStyle/>
        <a:p>
          <a:endParaRPr lang="zh-CN" altLang="en-US"/>
        </a:p>
      </dgm:t>
    </dgm:pt>
    <dgm:pt modelId="{95C2C221-9BB3-4F27-ABEA-3C9C634746D8}" type="pres">
      <dgm:prSet presAssocID="{3FEA1EA7-43E1-472F-A09C-BB829D763F53}" presName="sp" presStyleCnt="0"/>
      <dgm:spPr/>
    </dgm:pt>
    <dgm:pt modelId="{5D56E540-3580-486B-8A26-E6493EE00583}" type="pres">
      <dgm:prSet presAssocID="{8C52E961-8DC7-4BA8-9EFE-B5D4E7BFCB2C}" presName="composite" presStyleCnt="0"/>
      <dgm:spPr/>
    </dgm:pt>
    <dgm:pt modelId="{75BB0E8A-43DB-48C7-A63A-6F886446931F}" type="pres">
      <dgm:prSet presAssocID="{8C52E961-8DC7-4BA8-9EFE-B5D4E7BFCB2C}" presName="parentText" presStyleLbl="alignNode1" presStyleIdx="1" presStyleCnt="4">
        <dgm:presLayoutVars>
          <dgm:chMax val="1"/>
          <dgm:bulletEnabled val="1"/>
        </dgm:presLayoutVars>
      </dgm:prSet>
      <dgm:spPr/>
      <dgm:t>
        <a:bodyPr/>
        <a:lstStyle/>
        <a:p>
          <a:endParaRPr lang="zh-CN" altLang="en-US"/>
        </a:p>
      </dgm:t>
    </dgm:pt>
    <dgm:pt modelId="{23879B60-AA3C-4F85-B34A-EACE2437749A}" type="pres">
      <dgm:prSet presAssocID="{8C52E961-8DC7-4BA8-9EFE-B5D4E7BFCB2C}" presName="descendantText" presStyleLbl="alignAcc1" presStyleIdx="1" presStyleCnt="4">
        <dgm:presLayoutVars>
          <dgm:bulletEnabled val="1"/>
        </dgm:presLayoutVars>
      </dgm:prSet>
      <dgm:spPr/>
      <dgm:t>
        <a:bodyPr/>
        <a:lstStyle/>
        <a:p>
          <a:endParaRPr lang="zh-CN" altLang="en-US"/>
        </a:p>
      </dgm:t>
    </dgm:pt>
    <dgm:pt modelId="{5C8F247B-6C82-443F-8937-DB94A5EF8871}" type="pres">
      <dgm:prSet presAssocID="{AED74C2A-4C95-4A64-AE41-935EC9214B07}" presName="sp" presStyleCnt="0"/>
      <dgm:spPr/>
    </dgm:pt>
    <dgm:pt modelId="{6B14C85C-A315-423E-86AF-D0DB467E8042}" type="pres">
      <dgm:prSet presAssocID="{62F14362-0BA0-43B6-9C2F-9CE9057D4DF0}" presName="composite" presStyleCnt="0"/>
      <dgm:spPr/>
    </dgm:pt>
    <dgm:pt modelId="{A045862D-78AC-44F9-BFD7-D9799FC417C9}" type="pres">
      <dgm:prSet presAssocID="{62F14362-0BA0-43B6-9C2F-9CE9057D4DF0}" presName="parentText" presStyleLbl="alignNode1" presStyleIdx="2" presStyleCnt="4">
        <dgm:presLayoutVars>
          <dgm:chMax val="1"/>
          <dgm:bulletEnabled val="1"/>
        </dgm:presLayoutVars>
      </dgm:prSet>
      <dgm:spPr/>
      <dgm:t>
        <a:bodyPr/>
        <a:lstStyle/>
        <a:p>
          <a:endParaRPr lang="zh-CN" altLang="en-US"/>
        </a:p>
      </dgm:t>
    </dgm:pt>
    <dgm:pt modelId="{150E90A1-794C-4F0B-9934-A8E58ABC48E6}" type="pres">
      <dgm:prSet presAssocID="{62F14362-0BA0-43B6-9C2F-9CE9057D4DF0}" presName="descendantText" presStyleLbl="alignAcc1" presStyleIdx="2" presStyleCnt="4">
        <dgm:presLayoutVars>
          <dgm:bulletEnabled val="1"/>
        </dgm:presLayoutVars>
      </dgm:prSet>
      <dgm:spPr/>
      <dgm:t>
        <a:bodyPr/>
        <a:lstStyle/>
        <a:p>
          <a:endParaRPr lang="zh-CN" altLang="en-US"/>
        </a:p>
      </dgm:t>
    </dgm:pt>
    <dgm:pt modelId="{E39FE392-81EE-405C-AFA2-A7A9E94329F7}" type="pres">
      <dgm:prSet presAssocID="{A32A4E3C-B771-4D7B-AAFB-AD232D6DC34D}" presName="sp" presStyleCnt="0"/>
      <dgm:spPr/>
    </dgm:pt>
    <dgm:pt modelId="{9F8822EB-FA47-4DF0-9226-122A445F4A28}" type="pres">
      <dgm:prSet presAssocID="{9D86A73C-E86D-4AAF-B0E8-6A97AC00E5A7}" presName="composite" presStyleCnt="0"/>
      <dgm:spPr/>
    </dgm:pt>
    <dgm:pt modelId="{0130137D-86A9-4CA1-B654-96683AA3D24E}" type="pres">
      <dgm:prSet presAssocID="{9D86A73C-E86D-4AAF-B0E8-6A97AC00E5A7}" presName="parentText" presStyleLbl="alignNode1" presStyleIdx="3" presStyleCnt="4">
        <dgm:presLayoutVars>
          <dgm:chMax val="1"/>
          <dgm:bulletEnabled val="1"/>
        </dgm:presLayoutVars>
      </dgm:prSet>
      <dgm:spPr/>
      <dgm:t>
        <a:bodyPr/>
        <a:lstStyle/>
        <a:p>
          <a:endParaRPr lang="zh-CN" altLang="en-US"/>
        </a:p>
      </dgm:t>
    </dgm:pt>
    <dgm:pt modelId="{CBD335E0-8D6A-469E-B81C-6247BD0A19E2}" type="pres">
      <dgm:prSet presAssocID="{9D86A73C-E86D-4AAF-B0E8-6A97AC00E5A7}" presName="descendantText" presStyleLbl="alignAcc1" presStyleIdx="3" presStyleCnt="4">
        <dgm:presLayoutVars>
          <dgm:bulletEnabled val="1"/>
        </dgm:presLayoutVars>
      </dgm:prSet>
      <dgm:spPr/>
      <dgm:t>
        <a:bodyPr/>
        <a:lstStyle/>
        <a:p>
          <a:endParaRPr lang="zh-CN" altLang="en-US"/>
        </a:p>
      </dgm:t>
    </dgm:pt>
  </dgm:ptLst>
  <dgm:cxnLst>
    <dgm:cxn modelId="{6FB2A94C-20CC-4D6B-8B2C-F31843D57B69}" srcId="{7AA4BCE5-838A-452C-BA06-A869C07EAE33}" destId="{033AB355-DEBE-4BC0-81F7-79E198B90F3F}" srcOrd="0" destOrd="0" parTransId="{4CE9AD92-BF00-42FB-A676-BF6DF5ADD430}" sibTransId="{282FCBF8-1A05-4DF3-828E-5CB36D65DE37}"/>
    <dgm:cxn modelId="{FB086BEE-81B2-4ED3-8935-6D4ECF6A1B51}" srcId="{62F14362-0BA0-43B6-9C2F-9CE9057D4DF0}" destId="{DE6243F6-0982-4749-BDA9-3D7D8184C26A}" srcOrd="0" destOrd="0" parTransId="{4E43DCB8-FD68-424F-8D7A-EA8B37717DFA}" sibTransId="{AE990C81-80DD-4734-A92A-C91E19EF55BD}"/>
    <dgm:cxn modelId="{498A534E-6488-45E3-9C79-2ABB07DC381A}" srcId="{5D330F28-D18C-485B-AD2B-7DF346A53225}" destId="{9D86A73C-E86D-4AAF-B0E8-6A97AC00E5A7}" srcOrd="3" destOrd="0" parTransId="{8351CB61-64A9-487C-873B-AB30EE6EB332}" sibTransId="{FED2A96A-EBDD-4A03-A3BD-37056BFE36D4}"/>
    <dgm:cxn modelId="{126D26C8-D6CF-48ED-B10B-256EDA69A0E3}" srcId="{8C52E961-8DC7-4BA8-9EFE-B5D4E7BFCB2C}" destId="{0C14CBCD-34EC-43F9-88B3-B5B73566B37B}" srcOrd="0" destOrd="0" parTransId="{90801A33-C96F-4A81-B93A-0852A9956992}" sibTransId="{1B669E59-2BD4-468F-B2F8-A293D31DB965}"/>
    <dgm:cxn modelId="{07B7A958-7CEF-45E9-AC1B-1F1A55A45858}" srcId="{5D330F28-D18C-485B-AD2B-7DF346A53225}" destId="{62F14362-0BA0-43B6-9C2F-9CE9057D4DF0}" srcOrd="2" destOrd="0" parTransId="{CDF3E7AF-3551-41F1-9ECA-68622446D3EB}" sibTransId="{A32A4E3C-B771-4D7B-AAFB-AD232D6DC34D}"/>
    <dgm:cxn modelId="{7752DE53-6789-48A9-A1A4-AC130E0C1787}" type="presOf" srcId="{0DAAF06F-B1D9-4FF4-9699-13EFE5C37F21}" destId="{CBD335E0-8D6A-469E-B81C-6247BD0A19E2}" srcOrd="0" destOrd="0" presId="urn:microsoft.com/office/officeart/2005/8/layout/chevron2"/>
    <dgm:cxn modelId="{3D67E4C5-B576-467A-B5E4-3D21606E2A61}" type="presOf" srcId="{9D86A73C-E86D-4AAF-B0E8-6A97AC00E5A7}" destId="{0130137D-86A9-4CA1-B654-96683AA3D24E}" srcOrd="0" destOrd="0" presId="urn:microsoft.com/office/officeart/2005/8/layout/chevron2"/>
    <dgm:cxn modelId="{89568072-DF18-4119-912C-BAC24760675A}" type="presOf" srcId="{DE6243F6-0982-4749-BDA9-3D7D8184C26A}" destId="{150E90A1-794C-4F0B-9934-A8E58ABC48E6}" srcOrd="0" destOrd="0" presId="urn:microsoft.com/office/officeart/2005/8/layout/chevron2"/>
    <dgm:cxn modelId="{2D304D41-E80F-4FBD-9BA3-5BD14E89C785}" type="presOf" srcId="{5D330F28-D18C-485B-AD2B-7DF346A53225}" destId="{82317BD2-FB94-48E1-BC4C-A946E0BA34B6}" srcOrd="0" destOrd="0" presId="urn:microsoft.com/office/officeart/2005/8/layout/chevron2"/>
    <dgm:cxn modelId="{5A029738-DBED-4EA1-A784-D9ABB7B3B320}" type="presOf" srcId="{7AA4BCE5-838A-452C-BA06-A869C07EAE33}" destId="{EEC96708-49E3-4A42-ACE1-C2020844E9DB}" srcOrd="0" destOrd="0" presId="urn:microsoft.com/office/officeart/2005/8/layout/chevron2"/>
    <dgm:cxn modelId="{AE0F388A-CAB3-4FD7-9B53-7778563124E2}" type="presOf" srcId="{8C52E961-8DC7-4BA8-9EFE-B5D4E7BFCB2C}" destId="{75BB0E8A-43DB-48C7-A63A-6F886446931F}" srcOrd="0" destOrd="0" presId="urn:microsoft.com/office/officeart/2005/8/layout/chevron2"/>
    <dgm:cxn modelId="{2110C19D-7C8C-409F-8364-E3473BB838D4}" type="presOf" srcId="{0C14CBCD-34EC-43F9-88B3-B5B73566B37B}" destId="{23879B60-AA3C-4F85-B34A-EACE2437749A}" srcOrd="0" destOrd="0" presId="urn:microsoft.com/office/officeart/2005/8/layout/chevron2"/>
    <dgm:cxn modelId="{E87C870E-8802-4DE6-99E1-34561ECF1851}" srcId="{5D330F28-D18C-485B-AD2B-7DF346A53225}" destId="{7AA4BCE5-838A-452C-BA06-A869C07EAE33}" srcOrd="0" destOrd="0" parTransId="{D703FA97-3964-407D-BCB3-03578955312E}" sibTransId="{3FEA1EA7-43E1-472F-A09C-BB829D763F53}"/>
    <dgm:cxn modelId="{4FF395B2-84F0-4B71-91F2-D3641A5F37FB}" type="presOf" srcId="{62F14362-0BA0-43B6-9C2F-9CE9057D4DF0}" destId="{A045862D-78AC-44F9-BFD7-D9799FC417C9}" srcOrd="0" destOrd="0" presId="urn:microsoft.com/office/officeart/2005/8/layout/chevron2"/>
    <dgm:cxn modelId="{1BC291E5-951D-4A13-A57D-DA1C18B66788}" srcId="{9D86A73C-E86D-4AAF-B0E8-6A97AC00E5A7}" destId="{0DAAF06F-B1D9-4FF4-9699-13EFE5C37F21}" srcOrd="0" destOrd="0" parTransId="{72D9623A-45B7-47AC-905E-F602609A5D17}" sibTransId="{67D094FD-53C8-407C-A51C-3A10DAC12FD7}"/>
    <dgm:cxn modelId="{8A157C6C-0F81-4767-850C-8243FF679803}" srcId="{5D330F28-D18C-485B-AD2B-7DF346A53225}" destId="{8C52E961-8DC7-4BA8-9EFE-B5D4E7BFCB2C}" srcOrd="1" destOrd="0" parTransId="{06C084B8-CA07-4300-9514-C36F01B77F84}" sibTransId="{AED74C2A-4C95-4A64-AE41-935EC9214B07}"/>
    <dgm:cxn modelId="{EA43E60C-1625-4E10-84A8-5D4A8273BDEE}" type="presOf" srcId="{033AB355-DEBE-4BC0-81F7-79E198B90F3F}" destId="{B0D5B842-CFD7-4F5C-8567-ABE9C6F65A41}" srcOrd="0" destOrd="0" presId="urn:microsoft.com/office/officeart/2005/8/layout/chevron2"/>
    <dgm:cxn modelId="{E5015FB4-4D25-4A74-AEFF-EFFB56DE402F}" type="presParOf" srcId="{82317BD2-FB94-48E1-BC4C-A946E0BA34B6}" destId="{6C1D086C-E1C9-4393-9235-13A5556BA65D}" srcOrd="0" destOrd="0" presId="urn:microsoft.com/office/officeart/2005/8/layout/chevron2"/>
    <dgm:cxn modelId="{9A034A52-7E15-4492-8EAF-9F73B9E9F400}" type="presParOf" srcId="{6C1D086C-E1C9-4393-9235-13A5556BA65D}" destId="{EEC96708-49E3-4A42-ACE1-C2020844E9DB}" srcOrd="0" destOrd="0" presId="urn:microsoft.com/office/officeart/2005/8/layout/chevron2"/>
    <dgm:cxn modelId="{364FF5A2-002A-43BD-89F4-DBB554E117CE}" type="presParOf" srcId="{6C1D086C-E1C9-4393-9235-13A5556BA65D}" destId="{B0D5B842-CFD7-4F5C-8567-ABE9C6F65A41}" srcOrd="1" destOrd="0" presId="urn:microsoft.com/office/officeart/2005/8/layout/chevron2"/>
    <dgm:cxn modelId="{7024C77F-1955-4063-90F6-9C0BADC6294C}" type="presParOf" srcId="{82317BD2-FB94-48E1-BC4C-A946E0BA34B6}" destId="{95C2C221-9BB3-4F27-ABEA-3C9C634746D8}" srcOrd="1" destOrd="0" presId="urn:microsoft.com/office/officeart/2005/8/layout/chevron2"/>
    <dgm:cxn modelId="{129F3D9D-23C6-4CD3-9860-2CD3DDCFCE0F}" type="presParOf" srcId="{82317BD2-FB94-48E1-BC4C-A946E0BA34B6}" destId="{5D56E540-3580-486B-8A26-E6493EE00583}" srcOrd="2" destOrd="0" presId="urn:microsoft.com/office/officeart/2005/8/layout/chevron2"/>
    <dgm:cxn modelId="{56A9E20E-5A2D-4602-981A-3D2F1EB16670}" type="presParOf" srcId="{5D56E540-3580-486B-8A26-E6493EE00583}" destId="{75BB0E8A-43DB-48C7-A63A-6F886446931F}" srcOrd="0" destOrd="0" presId="urn:microsoft.com/office/officeart/2005/8/layout/chevron2"/>
    <dgm:cxn modelId="{E7FC4B51-DC48-407B-8F7C-DA980B012A38}" type="presParOf" srcId="{5D56E540-3580-486B-8A26-E6493EE00583}" destId="{23879B60-AA3C-4F85-B34A-EACE2437749A}" srcOrd="1" destOrd="0" presId="urn:microsoft.com/office/officeart/2005/8/layout/chevron2"/>
    <dgm:cxn modelId="{685A11BB-8D63-4516-86A6-59964A67F77E}" type="presParOf" srcId="{82317BD2-FB94-48E1-BC4C-A946E0BA34B6}" destId="{5C8F247B-6C82-443F-8937-DB94A5EF8871}" srcOrd="3" destOrd="0" presId="urn:microsoft.com/office/officeart/2005/8/layout/chevron2"/>
    <dgm:cxn modelId="{D8E16745-DB25-4428-A9F8-B4259E494E23}" type="presParOf" srcId="{82317BD2-FB94-48E1-BC4C-A946E0BA34B6}" destId="{6B14C85C-A315-423E-86AF-D0DB467E8042}" srcOrd="4" destOrd="0" presId="urn:microsoft.com/office/officeart/2005/8/layout/chevron2"/>
    <dgm:cxn modelId="{C08C831B-3F46-454F-870B-B8F05BDE9C7B}" type="presParOf" srcId="{6B14C85C-A315-423E-86AF-D0DB467E8042}" destId="{A045862D-78AC-44F9-BFD7-D9799FC417C9}" srcOrd="0" destOrd="0" presId="urn:microsoft.com/office/officeart/2005/8/layout/chevron2"/>
    <dgm:cxn modelId="{94F7E180-A046-470C-8283-28CD01BC1903}" type="presParOf" srcId="{6B14C85C-A315-423E-86AF-D0DB467E8042}" destId="{150E90A1-794C-4F0B-9934-A8E58ABC48E6}" srcOrd="1" destOrd="0" presId="urn:microsoft.com/office/officeart/2005/8/layout/chevron2"/>
    <dgm:cxn modelId="{02B089FB-6245-4340-B6D7-1071EED1DC26}" type="presParOf" srcId="{82317BD2-FB94-48E1-BC4C-A946E0BA34B6}" destId="{E39FE392-81EE-405C-AFA2-A7A9E94329F7}" srcOrd="5" destOrd="0" presId="urn:microsoft.com/office/officeart/2005/8/layout/chevron2"/>
    <dgm:cxn modelId="{3793908E-3C68-434B-963F-147013C0F6B0}" type="presParOf" srcId="{82317BD2-FB94-48E1-BC4C-A946E0BA34B6}" destId="{9F8822EB-FA47-4DF0-9226-122A445F4A28}" srcOrd="6" destOrd="0" presId="urn:microsoft.com/office/officeart/2005/8/layout/chevron2"/>
    <dgm:cxn modelId="{9DF6CDD1-B1E2-4CA6-9910-842CB801ECB9}" type="presParOf" srcId="{9F8822EB-FA47-4DF0-9226-122A445F4A28}" destId="{0130137D-86A9-4CA1-B654-96683AA3D24E}" srcOrd="0" destOrd="0" presId="urn:microsoft.com/office/officeart/2005/8/layout/chevron2"/>
    <dgm:cxn modelId="{DC0D402C-F2C6-43AC-B30B-D716E8FBACD0}" type="presParOf" srcId="{9F8822EB-FA47-4DF0-9226-122A445F4A28}" destId="{CBD335E0-8D6A-469E-B81C-6247BD0A19E2}"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330F28-D18C-485B-AD2B-7DF346A53225}"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CN" altLang="en-US"/>
        </a:p>
      </dgm:t>
    </dgm:pt>
    <dgm:pt modelId="{7AA4BCE5-838A-452C-BA06-A869C07EAE33}">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D703FA97-3964-407D-BCB3-03578955312E}" cxnId="{E87C870E-8802-4DE6-99E1-34561ECF1851}" type="parTrans">
      <dgm:prSet/>
      <dgm:spPr/>
      <dgm:t>
        <a:bodyPr/>
        <a:lstStyle/>
        <a:p>
          <a:endParaRPr lang="zh-CN" altLang="en-US"/>
        </a:p>
      </dgm:t>
    </dgm:pt>
    <dgm:pt modelId="{3FEA1EA7-43E1-472F-A09C-BB829D763F53}" cxnId="{E87C870E-8802-4DE6-99E1-34561ECF1851}" type="sibTrans">
      <dgm:prSet/>
      <dgm:spPr/>
      <dgm:t>
        <a:bodyPr/>
        <a:lstStyle/>
        <a:p>
          <a:endParaRPr lang="zh-CN" altLang="en-US"/>
        </a:p>
      </dgm:t>
    </dgm:pt>
    <dgm:pt modelId="{033AB355-DEBE-4BC0-81F7-79E198B90F3F}">
      <dgm:prSet phldrT="[文本]"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分支限界法基本思想</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CE9AD92-BF00-42FB-A676-BF6DF5ADD430}" cxnId="{6FB2A94C-20CC-4D6B-8B2C-F31843D57B69}" type="parTrans">
      <dgm:prSet/>
      <dgm:spPr/>
      <dgm:t>
        <a:bodyPr/>
        <a:lstStyle/>
        <a:p>
          <a:endParaRPr lang="zh-CN" altLang="en-US"/>
        </a:p>
      </dgm:t>
    </dgm:pt>
    <dgm:pt modelId="{282FCBF8-1A05-4DF3-828E-5CB36D65DE37}" cxnId="{6FB2A94C-20CC-4D6B-8B2C-F31843D57B69}" type="sibTrans">
      <dgm:prSet/>
      <dgm:spPr/>
      <dgm:t>
        <a:bodyPr/>
        <a:lstStyle/>
        <a:p>
          <a:endParaRPr lang="zh-CN" altLang="en-US"/>
        </a:p>
      </dgm:t>
    </dgm:pt>
    <dgm:pt modelId="{8C52E961-8DC7-4BA8-9EFE-B5D4E7BFCB2C}">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06C084B8-CA07-4300-9514-C36F01B77F84}" cxnId="{8A157C6C-0F81-4767-850C-8243FF679803}" type="parTrans">
      <dgm:prSet/>
      <dgm:spPr/>
      <dgm:t>
        <a:bodyPr/>
        <a:lstStyle/>
        <a:p>
          <a:endParaRPr lang="zh-CN" altLang="en-US"/>
        </a:p>
      </dgm:t>
    </dgm:pt>
    <dgm:pt modelId="{AED74C2A-4C95-4A64-AE41-935EC9214B07}" cxnId="{8A157C6C-0F81-4767-850C-8243FF679803}" type="sibTrans">
      <dgm:prSet/>
      <dgm:spPr/>
      <dgm:t>
        <a:bodyPr/>
        <a:lstStyle/>
        <a:p>
          <a:endParaRPr lang="zh-CN" altLang="en-US"/>
        </a:p>
      </dgm:t>
    </dgm:pt>
    <dgm:pt modelId="{0C14CBCD-34EC-43F9-88B3-B5B73566B37B}">
      <dgm:prSet custT="1"/>
      <dgm:spPr/>
      <dgm:t>
        <a:bodyPr/>
        <a:lstStyle/>
        <a:p>
          <a:r>
            <a:rPr lang="zh-CN" altLang="en-US" sz="3600" dirty="0" smtClean="0">
              <a:solidFill>
                <a:srgbClr val="FF0000"/>
              </a:solidFill>
              <a:latin typeface="楷体" panose="02010609060101010101" pitchFamily="49" charset="-122"/>
              <a:ea typeface="楷体" panose="02010609060101010101" pitchFamily="49" charset="-122"/>
            </a:rPr>
            <a:t>分支定界法设计要素</a:t>
          </a:r>
          <a:endParaRPr lang="zh-CN" altLang="en-US" sz="3600" dirty="0">
            <a:solidFill>
              <a:srgbClr val="FF0000"/>
            </a:solidFill>
            <a:latin typeface="楷体" panose="02010609060101010101" pitchFamily="49" charset="-122"/>
            <a:ea typeface="楷体" panose="02010609060101010101" pitchFamily="49" charset="-122"/>
          </a:endParaRPr>
        </a:p>
      </dgm:t>
    </dgm:pt>
    <dgm:pt modelId="{90801A33-C96F-4A81-B93A-0852A9956992}" cxnId="{126D26C8-D6CF-48ED-B10B-256EDA69A0E3}" type="parTrans">
      <dgm:prSet/>
      <dgm:spPr/>
      <dgm:t>
        <a:bodyPr/>
        <a:lstStyle/>
        <a:p>
          <a:endParaRPr lang="zh-CN" altLang="en-US"/>
        </a:p>
      </dgm:t>
    </dgm:pt>
    <dgm:pt modelId="{1B669E59-2BD4-468F-B2F8-A293D31DB965}" cxnId="{126D26C8-D6CF-48ED-B10B-256EDA69A0E3}" type="sibTrans">
      <dgm:prSet/>
      <dgm:spPr/>
      <dgm:t>
        <a:bodyPr/>
        <a:lstStyle/>
        <a:p>
          <a:endParaRPr lang="zh-CN" altLang="en-US"/>
        </a:p>
      </dgm:t>
    </dgm:pt>
    <dgm:pt modelId="{62F14362-0BA0-43B6-9C2F-9CE9057D4DF0}">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CDF3E7AF-3551-41F1-9ECA-68622446D3EB}" cxnId="{07B7A958-7CEF-45E9-AC1B-1F1A55A45858}" type="parTrans">
      <dgm:prSet/>
      <dgm:spPr/>
      <dgm:t>
        <a:bodyPr/>
        <a:lstStyle/>
        <a:p>
          <a:endParaRPr lang="zh-CN" altLang="en-US"/>
        </a:p>
      </dgm:t>
    </dgm:pt>
    <dgm:pt modelId="{A32A4E3C-B771-4D7B-AAFB-AD232D6DC34D}" cxnId="{07B7A958-7CEF-45E9-AC1B-1F1A55A45858}" type="sibTrans">
      <dgm:prSet/>
      <dgm:spPr/>
      <dgm:t>
        <a:bodyPr/>
        <a:lstStyle/>
        <a:p>
          <a:endParaRPr lang="zh-CN" altLang="en-US"/>
        </a:p>
      </dgm:t>
    </dgm:pt>
    <dgm:pt modelId="{DE6243F6-0982-4749-BDA9-3D7D8184C26A}">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案例分析：装载问题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4E43DCB8-FD68-424F-8D7A-EA8B37717DFA}" cxnId="{FB086BEE-81B2-4ED3-8935-6D4ECF6A1B51}" type="parTrans">
      <dgm:prSet/>
      <dgm:spPr/>
      <dgm:t>
        <a:bodyPr/>
        <a:lstStyle/>
        <a:p>
          <a:endParaRPr lang="zh-CN" altLang="en-US"/>
        </a:p>
      </dgm:t>
    </dgm:pt>
    <dgm:pt modelId="{AE990C81-80DD-4734-A92A-C91E19EF55BD}" cxnId="{FB086BEE-81B2-4ED3-8935-6D4ECF6A1B51}" type="sibTrans">
      <dgm:prSet/>
      <dgm:spPr/>
      <dgm:t>
        <a:bodyPr/>
        <a:lstStyle/>
        <a:p>
          <a:endParaRPr lang="zh-CN" altLang="en-US"/>
        </a:p>
      </dgm:t>
    </dgm:pt>
    <dgm:pt modelId="{9D86A73C-E86D-4AAF-B0E8-6A97AC00E5A7}">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8351CB61-64A9-487C-873B-AB30EE6EB332}" cxnId="{498A534E-6488-45E3-9C79-2ABB07DC381A}" type="parTrans">
      <dgm:prSet/>
      <dgm:spPr/>
      <dgm:t>
        <a:bodyPr/>
        <a:lstStyle/>
        <a:p>
          <a:endParaRPr lang="zh-CN" altLang="en-US"/>
        </a:p>
      </dgm:t>
    </dgm:pt>
    <dgm:pt modelId="{FED2A96A-EBDD-4A03-A3BD-37056BFE36D4}" cxnId="{498A534E-6488-45E3-9C79-2ABB07DC381A}" type="sibTrans">
      <dgm:prSet/>
      <dgm:spPr/>
      <dgm:t>
        <a:bodyPr/>
        <a:lstStyle/>
        <a:p>
          <a:endParaRPr lang="zh-CN" altLang="en-US"/>
        </a:p>
      </dgm:t>
    </dgm:pt>
    <dgm:pt modelId="{0DAAF06F-B1D9-4FF4-9699-13EFE5C37F21}">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72D9623A-45B7-47AC-905E-F602609A5D17}" cxnId="{1BC291E5-951D-4A13-A57D-DA1C18B66788}" type="parTrans">
      <dgm:prSet/>
      <dgm:spPr/>
      <dgm:t>
        <a:bodyPr/>
        <a:lstStyle/>
        <a:p>
          <a:endParaRPr lang="zh-CN" altLang="en-US"/>
        </a:p>
      </dgm:t>
    </dgm:pt>
    <dgm:pt modelId="{67D094FD-53C8-407C-A51C-3A10DAC12FD7}" cxnId="{1BC291E5-951D-4A13-A57D-DA1C18B66788}" type="sibTrans">
      <dgm:prSet/>
      <dgm:spPr/>
      <dgm:t>
        <a:bodyPr/>
        <a:lstStyle/>
        <a:p>
          <a:endParaRPr lang="zh-CN" altLang="en-US"/>
        </a:p>
      </dgm:t>
    </dgm:pt>
    <dgm:pt modelId="{82317BD2-FB94-48E1-BC4C-A946E0BA34B6}" type="pres">
      <dgm:prSet presAssocID="{5D330F28-D18C-485B-AD2B-7DF346A53225}" presName="linearFlow" presStyleCnt="0">
        <dgm:presLayoutVars>
          <dgm:dir/>
          <dgm:animLvl val="lvl"/>
          <dgm:resizeHandles val="exact"/>
        </dgm:presLayoutVars>
      </dgm:prSet>
      <dgm:spPr/>
      <dgm:t>
        <a:bodyPr/>
        <a:lstStyle/>
        <a:p>
          <a:endParaRPr lang="zh-CN" altLang="en-US"/>
        </a:p>
      </dgm:t>
    </dgm:pt>
    <dgm:pt modelId="{6C1D086C-E1C9-4393-9235-13A5556BA65D}" type="pres">
      <dgm:prSet presAssocID="{7AA4BCE5-838A-452C-BA06-A869C07EAE33}" presName="composite" presStyleCnt="0"/>
      <dgm:spPr/>
    </dgm:pt>
    <dgm:pt modelId="{EEC96708-49E3-4A42-ACE1-C2020844E9DB}" type="pres">
      <dgm:prSet presAssocID="{7AA4BCE5-838A-452C-BA06-A869C07EAE33}" presName="parentText" presStyleLbl="alignNode1" presStyleIdx="0" presStyleCnt="4">
        <dgm:presLayoutVars>
          <dgm:chMax val="1"/>
          <dgm:bulletEnabled val="1"/>
        </dgm:presLayoutVars>
      </dgm:prSet>
      <dgm:spPr/>
      <dgm:t>
        <a:bodyPr/>
        <a:lstStyle/>
        <a:p>
          <a:endParaRPr lang="zh-CN" altLang="en-US"/>
        </a:p>
      </dgm:t>
    </dgm:pt>
    <dgm:pt modelId="{B0D5B842-CFD7-4F5C-8567-ABE9C6F65A41}" type="pres">
      <dgm:prSet presAssocID="{7AA4BCE5-838A-452C-BA06-A869C07EAE33}" presName="descendantText" presStyleLbl="alignAcc1" presStyleIdx="0" presStyleCnt="4">
        <dgm:presLayoutVars>
          <dgm:bulletEnabled val="1"/>
        </dgm:presLayoutVars>
      </dgm:prSet>
      <dgm:spPr/>
      <dgm:t>
        <a:bodyPr/>
        <a:lstStyle/>
        <a:p>
          <a:endParaRPr lang="zh-CN" altLang="en-US"/>
        </a:p>
      </dgm:t>
    </dgm:pt>
    <dgm:pt modelId="{95C2C221-9BB3-4F27-ABEA-3C9C634746D8}" type="pres">
      <dgm:prSet presAssocID="{3FEA1EA7-43E1-472F-A09C-BB829D763F53}" presName="sp" presStyleCnt="0"/>
      <dgm:spPr/>
    </dgm:pt>
    <dgm:pt modelId="{5D56E540-3580-486B-8A26-E6493EE00583}" type="pres">
      <dgm:prSet presAssocID="{8C52E961-8DC7-4BA8-9EFE-B5D4E7BFCB2C}" presName="composite" presStyleCnt="0"/>
      <dgm:spPr/>
    </dgm:pt>
    <dgm:pt modelId="{75BB0E8A-43DB-48C7-A63A-6F886446931F}" type="pres">
      <dgm:prSet presAssocID="{8C52E961-8DC7-4BA8-9EFE-B5D4E7BFCB2C}" presName="parentText" presStyleLbl="alignNode1" presStyleIdx="1" presStyleCnt="4">
        <dgm:presLayoutVars>
          <dgm:chMax val="1"/>
          <dgm:bulletEnabled val="1"/>
        </dgm:presLayoutVars>
      </dgm:prSet>
      <dgm:spPr/>
      <dgm:t>
        <a:bodyPr/>
        <a:lstStyle/>
        <a:p>
          <a:endParaRPr lang="zh-CN" altLang="en-US"/>
        </a:p>
      </dgm:t>
    </dgm:pt>
    <dgm:pt modelId="{23879B60-AA3C-4F85-B34A-EACE2437749A}" type="pres">
      <dgm:prSet presAssocID="{8C52E961-8DC7-4BA8-9EFE-B5D4E7BFCB2C}" presName="descendantText" presStyleLbl="alignAcc1" presStyleIdx="1" presStyleCnt="4">
        <dgm:presLayoutVars>
          <dgm:bulletEnabled val="1"/>
        </dgm:presLayoutVars>
      </dgm:prSet>
      <dgm:spPr/>
      <dgm:t>
        <a:bodyPr/>
        <a:lstStyle/>
        <a:p>
          <a:endParaRPr lang="zh-CN" altLang="en-US"/>
        </a:p>
      </dgm:t>
    </dgm:pt>
    <dgm:pt modelId="{5C8F247B-6C82-443F-8937-DB94A5EF8871}" type="pres">
      <dgm:prSet presAssocID="{AED74C2A-4C95-4A64-AE41-935EC9214B07}" presName="sp" presStyleCnt="0"/>
      <dgm:spPr/>
    </dgm:pt>
    <dgm:pt modelId="{6B14C85C-A315-423E-86AF-D0DB467E8042}" type="pres">
      <dgm:prSet presAssocID="{62F14362-0BA0-43B6-9C2F-9CE9057D4DF0}" presName="composite" presStyleCnt="0"/>
      <dgm:spPr/>
    </dgm:pt>
    <dgm:pt modelId="{A045862D-78AC-44F9-BFD7-D9799FC417C9}" type="pres">
      <dgm:prSet presAssocID="{62F14362-0BA0-43B6-9C2F-9CE9057D4DF0}" presName="parentText" presStyleLbl="alignNode1" presStyleIdx="2" presStyleCnt="4">
        <dgm:presLayoutVars>
          <dgm:chMax val="1"/>
          <dgm:bulletEnabled val="1"/>
        </dgm:presLayoutVars>
      </dgm:prSet>
      <dgm:spPr/>
      <dgm:t>
        <a:bodyPr/>
        <a:lstStyle/>
        <a:p>
          <a:endParaRPr lang="zh-CN" altLang="en-US"/>
        </a:p>
      </dgm:t>
    </dgm:pt>
    <dgm:pt modelId="{150E90A1-794C-4F0B-9934-A8E58ABC48E6}" type="pres">
      <dgm:prSet presAssocID="{62F14362-0BA0-43B6-9C2F-9CE9057D4DF0}" presName="descendantText" presStyleLbl="alignAcc1" presStyleIdx="2" presStyleCnt="4">
        <dgm:presLayoutVars>
          <dgm:bulletEnabled val="1"/>
        </dgm:presLayoutVars>
      </dgm:prSet>
      <dgm:spPr/>
      <dgm:t>
        <a:bodyPr/>
        <a:lstStyle/>
        <a:p>
          <a:endParaRPr lang="zh-CN" altLang="en-US"/>
        </a:p>
      </dgm:t>
    </dgm:pt>
    <dgm:pt modelId="{E39FE392-81EE-405C-AFA2-A7A9E94329F7}" type="pres">
      <dgm:prSet presAssocID="{A32A4E3C-B771-4D7B-AAFB-AD232D6DC34D}" presName="sp" presStyleCnt="0"/>
      <dgm:spPr/>
    </dgm:pt>
    <dgm:pt modelId="{9F8822EB-FA47-4DF0-9226-122A445F4A28}" type="pres">
      <dgm:prSet presAssocID="{9D86A73C-E86D-4AAF-B0E8-6A97AC00E5A7}" presName="composite" presStyleCnt="0"/>
      <dgm:spPr/>
    </dgm:pt>
    <dgm:pt modelId="{0130137D-86A9-4CA1-B654-96683AA3D24E}" type="pres">
      <dgm:prSet presAssocID="{9D86A73C-E86D-4AAF-B0E8-6A97AC00E5A7}" presName="parentText" presStyleLbl="alignNode1" presStyleIdx="3" presStyleCnt="4">
        <dgm:presLayoutVars>
          <dgm:chMax val="1"/>
          <dgm:bulletEnabled val="1"/>
        </dgm:presLayoutVars>
      </dgm:prSet>
      <dgm:spPr/>
      <dgm:t>
        <a:bodyPr/>
        <a:lstStyle/>
        <a:p>
          <a:endParaRPr lang="zh-CN" altLang="en-US"/>
        </a:p>
      </dgm:t>
    </dgm:pt>
    <dgm:pt modelId="{CBD335E0-8D6A-469E-B81C-6247BD0A19E2}" type="pres">
      <dgm:prSet presAssocID="{9D86A73C-E86D-4AAF-B0E8-6A97AC00E5A7}" presName="descendantText" presStyleLbl="alignAcc1" presStyleIdx="3" presStyleCnt="4">
        <dgm:presLayoutVars>
          <dgm:bulletEnabled val="1"/>
        </dgm:presLayoutVars>
      </dgm:prSet>
      <dgm:spPr/>
      <dgm:t>
        <a:bodyPr/>
        <a:lstStyle/>
        <a:p>
          <a:endParaRPr lang="zh-CN" altLang="en-US"/>
        </a:p>
      </dgm:t>
    </dgm:pt>
  </dgm:ptLst>
  <dgm:cxnLst>
    <dgm:cxn modelId="{8A157C6C-0F81-4767-850C-8243FF679803}" srcId="{5D330F28-D18C-485B-AD2B-7DF346A53225}" destId="{8C52E961-8DC7-4BA8-9EFE-B5D4E7BFCB2C}" srcOrd="1" destOrd="0" parTransId="{06C084B8-CA07-4300-9514-C36F01B77F84}" sibTransId="{AED74C2A-4C95-4A64-AE41-935EC9214B07}"/>
    <dgm:cxn modelId="{498A534E-6488-45E3-9C79-2ABB07DC381A}" srcId="{5D330F28-D18C-485B-AD2B-7DF346A53225}" destId="{9D86A73C-E86D-4AAF-B0E8-6A97AC00E5A7}" srcOrd="3" destOrd="0" parTransId="{8351CB61-64A9-487C-873B-AB30EE6EB332}" sibTransId="{FED2A96A-EBDD-4A03-A3BD-37056BFE36D4}"/>
    <dgm:cxn modelId="{E87C870E-8802-4DE6-99E1-34561ECF1851}" srcId="{5D330F28-D18C-485B-AD2B-7DF346A53225}" destId="{7AA4BCE5-838A-452C-BA06-A869C07EAE33}" srcOrd="0" destOrd="0" parTransId="{D703FA97-3964-407D-BCB3-03578955312E}" sibTransId="{3FEA1EA7-43E1-472F-A09C-BB829D763F53}"/>
    <dgm:cxn modelId="{D9252FC5-3FDE-4C00-AED2-66895B88B455}" type="presOf" srcId="{0C14CBCD-34EC-43F9-88B3-B5B73566B37B}" destId="{23879B60-AA3C-4F85-B34A-EACE2437749A}" srcOrd="0" destOrd="0" presId="urn:microsoft.com/office/officeart/2005/8/layout/chevron2"/>
    <dgm:cxn modelId="{FB086BEE-81B2-4ED3-8935-6D4ECF6A1B51}" srcId="{62F14362-0BA0-43B6-9C2F-9CE9057D4DF0}" destId="{DE6243F6-0982-4749-BDA9-3D7D8184C26A}" srcOrd="0" destOrd="0" parTransId="{4E43DCB8-FD68-424F-8D7A-EA8B37717DFA}" sibTransId="{AE990C81-80DD-4734-A92A-C91E19EF55BD}"/>
    <dgm:cxn modelId="{1BC291E5-951D-4A13-A57D-DA1C18B66788}" srcId="{9D86A73C-E86D-4AAF-B0E8-6A97AC00E5A7}" destId="{0DAAF06F-B1D9-4FF4-9699-13EFE5C37F21}" srcOrd="0" destOrd="0" parTransId="{72D9623A-45B7-47AC-905E-F602609A5D17}" sibTransId="{67D094FD-53C8-407C-A51C-3A10DAC12FD7}"/>
    <dgm:cxn modelId="{9E480E81-B543-4245-A9E6-45384304C8FE}" type="presOf" srcId="{0DAAF06F-B1D9-4FF4-9699-13EFE5C37F21}" destId="{CBD335E0-8D6A-469E-B81C-6247BD0A19E2}" srcOrd="0" destOrd="0" presId="urn:microsoft.com/office/officeart/2005/8/layout/chevron2"/>
    <dgm:cxn modelId="{126D26C8-D6CF-48ED-B10B-256EDA69A0E3}" srcId="{8C52E961-8DC7-4BA8-9EFE-B5D4E7BFCB2C}" destId="{0C14CBCD-34EC-43F9-88B3-B5B73566B37B}" srcOrd="0" destOrd="0" parTransId="{90801A33-C96F-4A81-B93A-0852A9956992}" sibTransId="{1B669E59-2BD4-468F-B2F8-A293D31DB965}"/>
    <dgm:cxn modelId="{86548FEC-1523-4722-BCD1-45AD15CE450E}" type="presOf" srcId="{7AA4BCE5-838A-452C-BA06-A869C07EAE33}" destId="{EEC96708-49E3-4A42-ACE1-C2020844E9DB}" srcOrd="0" destOrd="0" presId="urn:microsoft.com/office/officeart/2005/8/layout/chevron2"/>
    <dgm:cxn modelId="{76F415AB-B0E8-4D17-8192-2ACD662A6768}" type="presOf" srcId="{9D86A73C-E86D-4AAF-B0E8-6A97AC00E5A7}" destId="{0130137D-86A9-4CA1-B654-96683AA3D24E}" srcOrd="0" destOrd="0" presId="urn:microsoft.com/office/officeart/2005/8/layout/chevron2"/>
    <dgm:cxn modelId="{8E5310E0-75F4-4F37-8139-8EDBD4BE8DA0}" type="presOf" srcId="{DE6243F6-0982-4749-BDA9-3D7D8184C26A}" destId="{150E90A1-794C-4F0B-9934-A8E58ABC48E6}" srcOrd="0" destOrd="0" presId="urn:microsoft.com/office/officeart/2005/8/layout/chevron2"/>
    <dgm:cxn modelId="{892D2E0A-01EC-4C26-9D7C-97DB7847BC52}" type="presOf" srcId="{033AB355-DEBE-4BC0-81F7-79E198B90F3F}" destId="{B0D5B842-CFD7-4F5C-8567-ABE9C6F65A41}" srcOrd="0" destOrd="0" presId="urn:microsoft.com/office/officeart/2005/8/layout/chevron2"/>
    <dgm:cxn modelId="{114C85DA-C018-4951-BEAD-A4E8AEC6D9A4}" type="presOf" srcId="{5D330F28-D18C-485B-AD2B-7DF346A53225}" destId="{82317BD2-FB94-48E1-BC4C-A946E0BA34B6}" srcOrd="0" destOrd="0" presId="urn:microsoft.com/office/officeart/2005/8/layout/chevron2"/>
    <dgm:cxn modelId="{6FB2A94C-20CC-4D6B-8B2C-F31843D57B69}" srcId="{7AA4BCE5-838A-452C-BA06-A869C07EAE33}" destId="{033AB355-DEBE-4BC0-81F7-79E198B90F3F}" srcOrd="0" destOrd="0" parTransId="{4CE9AD92-BF00-42FB-A676-BF6DF5ADD430}" sibTransId="{282FCBF8-1A05-4DF3-828E-5CB36D65DE37}"/>
    <dgm:cxn modelId="{ED914FDC-78A0-44DF-B168-9073B3720A20}" type="presOf" srcId="{8C52E961-8DC7-4BA8-9EFE-B5D4E7BFCB2C}" destId="{75BB0E8A-43DB-48C7-A63A-6F886446931F}" srcOrd="0" destOrd="0" presId="urn:microsoft.com/office/officeart/2005/8/layout/chevron2"/>
    <dgm:cxn modelId="{31669D21-AFD3-446B-BC9C-7E61FE8A2A3B}" type="presOf" srcId="{62F14362-0BA0-43B6-9C2F-9CE9057D4DF0}" destId="{A045862D-78AC-44F9-BFD7-D9799FC417C9}" srcOrd="0" destOrd="0" presId="urn:microsoft.com/office/officeart/2005/8/layout/chevron2"/>
    <dgm:cxn modelId="{07B7A958-7CEF-45E9-AC1B-1F1A55A45858}" srcId="{5D330F28-D18C-485B-AD2B-7DF346A53225}" destId="{62F14362-0BA0-43B6-9C2F-9CE9057D4DF0}" srcOrd="2" destOrd="0" parTransId="{CDF3E7AF-3551-41F1-9ECA-68622446D3EB}" sibTransId="{A32A4E3C-B771-4D7B-AAFB-AD232D6DC34D}"/>
    <dgm:cxn modelId="{90988B85-1D4B-4346-922D-402DDB31F3D8}" type="presParOf" srcId="{82317BD2-FB94-48E1-BC4C-A946E0BA34B6}" destId="{6C1D086C-E1C9-4393-9235-13A5556BA65D}" srcOrd="0" destOrd="0" presId="urn:microsoft.com/office/officeart/2005/8/layout/chevron2"/>
    <dgm:cxn modelId="{0B68AA27-7131-4BC4-93C8-15CA7AB7C32D}" type="presParOf" srcId="{6C1D086C-E1C9-4393-9235-13A5556BA65D}" destId="{EEC96708-49E3-4A42-ACE1-C2020844E9DB}" srcOrd="0" destOrd="0" presId="urn:microsoft.com/office/officeart/2005/8/layout/chevron2"/>
    <dgm:cxn modelId="{1B8EF0E2-7791-45C8-BB1C-8AC11DBDDB65}" type="presParOf" srcId="{6C1D086C-E1C9-4393-9235-13A5556BA65D}" destId="{B0D5B842-CFD7-4F5C-8567-ABE9C6F65A41}" srcOrd="1" destOrd="0" presId="urn:microsoft.com/office/officeart/2005/8/layout/chevron2"/>
    <dgm:cxn modelId="{4C19CFC2-9BD4-4E56-B430-0FC36B321F9B}" type="presParOf" srcId="{82317BD2-FB94-48E1-BC4C-A946E0BA34B6}" destId="{95C2C221-9BB3-4F27-ABEA-3C9C634746D8}" srcOrd="1" destOrd="0" presId="urn:microsoft.com/office/officeart/2005/8/layout/chevron2"/>
    <dgm:cxn modelId="{A06726EF-BBAC-4180-88DE-6799632A9625}" type="presParOf" srcId="{82317BD2-FB94-48E1-BC4C-A946E0BA34B6}" destId="{5D56E540-3580-486B-8A26-E6493EE00583}" srcOrd="2" destOrd="0" presId="urn:microsoft.com/office/officeart/2005/8/layout/chevron2"/>
    <dgm:cxn modelId="{DF3D5B7A-E0A6-4B17-9846-B128EE7FBF97}" type="presParOf" srcId="{5D56E540-3580-486B-8A26-E6493EE00583}" destId="{75BB0E8A-43DB-48C7-A63A-6F886446931F}" srcOrd="0" destOrd="0" presId="urn:microsoft.com/office/officeart/2005/8/layout/chevron2"/>
    <dgm:cxn modelId="{596E0BFC-66CA-4FD3-BD04-E3CE5EE3920A}" type="presParOf" srcId="{5D56E540-3580-486B-8A26-E6493EE00583}" destId="{23879B60-AA3C-4F85-B34A-EACE2437749A}" srcOrd="1" destOrd="0" presId="urn:microsoft.com/office/officeart/2005/8/layout/chevron2"/>
    <dgm:cxn modelId="{481B792A-4A44-4146-B719-523B8BF4CCAC}" type="presParOf" srcId="{82317BD2-FB94-48E1-BC4C-A946E0BA34B6}" destId="{5C8F247B-6C82-443F-8937-DB94A5EF8871}" srcOrd="3" destOrd="0" presId="urn:microsoft.com/office/officeart/2005/8/layout/chevron2"/>
    <dgm:cxn modelId="{99239FAD-0777-40E9-AAFA-23F1E0EE2654}" type="presParOf" srcId="{82317BD2-FB94-48E1-BC4C-A946E0BA34B6}" destId="{6B14C85C-A315-423E-86AF-D0DB467E8042}" srcOrd="4" destOrd="0" presId="urn:microsoft.com/office/officeart/2005/8/layout/chevron2"/>
    <dgm:cxn modelId="{B3CC6D31-59B9-4C41-9C3C-ECCEA87EABB0}" type="presParOf" srcId="{6B14C85C-A315-423E-86AF-D0DB467E8042}" destId="{A045862D-78AC-44F9-BFD7-D9799FC417C9}" srcOrd="0" destOrd="0" presId="urn:microsoft.com/office/officeart/2005/8/layout/chevron2"/>
    <dgm:cxn modelId="{3AC2E633-AFD3-42A2-918B-10CB9E9ACD1F}" type="presParOf" srcId="{6B14C85C-A315-423E-86AF-D0DB467E8042}" destId="{150E90A1-794C-4F0B-9934-A8E58ABC48E6}" srcOrd="1" destOrd="0" presId="urn:microsoft.com/office/officeart/2005/8/layout/chevron2"/>
    <dgm:cxn modelId="{6DC5BFAC-2D3B-4D8D-B135-B0B70950B462}" type="presParOf" srcId="{82317BD2-FB94-48E1-BC4C-A946E0BA34B6}" destId="{E39FE392-81EE-405C-AFA2-A7A9E94329F7}" srcOrd="5" destOrd="0" presId="urn:microsoft.com/office/officeart/2005/8/layout/chevron2"/>
    <dgm:cxn modelId="{99929F3C-0D5C-4ED1-8575-3450BA9BEA5D}" type="presParOf" srcId="{82317BD2-FB94-48E1-BC4C-A946E0BA34B6}" destId="{9F8822EB-FA47-4DF0-9226-122A445F4A28}" srcOrd="6" destOrd="0" presId="urn:microsoft.com/office/officeart/2005/8/layout/chevron2"/>
    <dgm:cxn modelId="{D2CE3BDC-EB44-4212-90A6-9E39C743811F}" type="presParOf" srcId="{9F8822EB-FA47-4DF0-9226-122A445F4A28}" destId="{0130137D-86A9-4CA1-B654-96683AA3D24E}" srcOrd="0" destOrd="0" presId="urn:microsoft.com/office/officeart/2005/8/layout/chevron2"/>
    <dgm:cxn modelId="{0363AD1A-0B77-406A-85AF-1C1AF583D174}" type="presParOf" srcId="{9F8822EB-FA47-4DF0-9226-122A445F4A28}" destId="{CBD335E0-8D6A-469E-B81C-6247BD0A19E2}"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330F28-D18C-485B-AD2B-7DF346A53225}"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CN" altLang="en-US"/>
        </a:p>
      </dgm:t>
    </dgm:pt>
    <dgm:pt modelId="{7AA4BCE5-838A-452C-BA06-A869C07EAE33}">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D703FA97-3964-407D-BCB3-03578955312E}" cxnId="{E87C870E-8802-4DE6-99E1-34561ECF1851}" type="parTrans">
      <dgm:prSet/>
      <dgm:spPr/>
      <dgm:t>
        <a:bodyPr/>
        <a:lstStyle/>
        <a:p>
          <a:endParaRPr lang="zh-CN" altLang="en-US"/>
        </a:p>
      </dgm:t>
    </dgm:pt>
    <dgm:pt modelId="{3FEA1EA7-43E1-472F-A09C-BB829D763F53}" cxnId="{E87C870E-8802-4DE6-99E1-34561ECF1851}" type="sibTrans">
      <dgm:prSet/>
      <dgm:spPr/>
      <dgm:t>
        <a:bodyPr/>
        <a:lstStyle/>
        <a:p>
          <a:endParaRPr lang="zh-CN" altLang="en-US"/>
        </a:p>
      </dgm:t>
    </dgm:pt>
    <dgm:pt modelId="{033AB355-DEBE-4BC0-81F7-79E198B90F3F}">
      <dgm:prSet phldrT="[文本]"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分支限界法基本思想</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CE9AD92-BF00-42FB-A676-BF6DF5ADD430}" cxnId="{6FB2A94C-20CC-4D6B-8B2C-F31843D57B69}" type="parTrans">
      <dgm:prSet/>
      <dgm:spPr/>
      <dgm:t>
        <a:bodyPr/>
        <a:lstStyle/>
        <a:p>
          <a:endParaRPr lang="zh-CN" altLang="en-US"/>
        </a:p>
      </dgm:t>
    </dgm:pt>
    <dgm:pt modelId="{282FCBF8-1A05-4DF3-828E-5CB36D65DE37}" cxnId="{6FB2A94C-20CC-4D6B-8B2C-F31843D57B69}" type="sibTrans">
      <dgm:prSet/>
      <dgm:spPr/>
      <dgm:t>
        <a:bodyPr/>
        <a:lstStyle/>
        <a:p>
          <a:endParaRPr lang="zh-CN" altLang="en-US"/>
        </a:p>
      </dgm:t>
    </dgm:pt>
    <dgm:pt modelId="{8C52E961-8DC7-4BA8-9EFE-B5D4E7BFCB2C}">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06C084B8-CA07-4300-9514-C36F01B77F84}" cxnId="{8A157C6C-0F81-4767-850C-8243FF679803}" type="parTrans">
      <dgm:prSet/>
      <dgm:spPr/>
      <dgm:t>
        <a:bodyPr/>
        <a:lstStyle/>
        <a:p>
          <a:endParaRPr lang="zh-CN" altLang="en-US"/>
        </a:p>
      </dgm:t>
    </dgm:pt>
    <dgm:pt modelId="{AED74C2A-4C95-4A64-AE41-935EC9214B07}" cxnId="{8A157C6C-0F81-4767-850C-8243FF679803}" type="sibTrans">
      <dgm:prSet/>
      <dgm:spPr/>
      <dgm:t>
        <a:bodyPr/>
        <a:lstStyle/>
        <a:p>
          <a:endParaRPr lang="zh-CN" altLang="en-US"/>
        </a:p>
      </dgm:t>
    </dgm:pt>
    <dgm:pt modelId="{0C14CBCD-34EC-43F9-88B3-B5B73566B37B}">
      <dgm:prSet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分支定界法设计要素</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90801A33-C96F-4A81-B93A-0852A9956992}" cxnId="{126D26C8-D6CF-48ED-B10B-256EDA69A0E3}" type="parTrans">
      <dgm:prSet/>
      <dgm:spPr/>
      <dgm:t>
        <a:bodyPr/>
        <a:lstStyle/>
        <a:p>
          <a:endParaRPr lang="zh-CN" altLang="en-US"/>
        </a:p>
      </dgm:t>
    </dgm:pt>
    <dgm:pt modelId="{1B669E59-2BD4-468F-B2F8-A293D31DB965}" cxnId="{126D26C8-D6CF-48ED-B10B-256EDA69A0E3}" type="sibTrans">
      <dgm:prSet/>
      <dgm:spPr/>
      <dgm:t>
        <a:bodyPr/>
        <a:lstStyle/>
        <a:p>
          <a:endParaRPr lang="zh-CN" altLang="en-US"/>
        </a:p>
      </dgm:t>
    </dgm:pt>
    <dgm:pt modelId="{62F14362-0BA0-43B6-9C2F-9CE9057D4DF0}">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CDF3E7AF-3551-41F1-9ECA-68622446D3EB}" cxnId="{07B7A958-7CEF-45E9-AC1B-1F1A55A45858}" type="parTrans">
      <dgm:prSet/>
      <dgm:spPr/>
      <dgm:t>
        <a:bodyPr/>
        <a:lstStyle/>
        <a:p>
          <a:endParaRPr lang="zh-CN" altLang="en-US"/>
        </a:p>
      </dgm:t>
    </dgm:pt>
    <dgm:pt modelId="{A32A4E3C-B771-4D7B-AAFB-AD232D6DC34D}" cxnId="{07B7A958-7CEF-45E9-AC1B-1F1A55A45858}" type="sibTrans">
      <dgm:prSet/>
      <dgm:spPr/>
      <dgm:t>
        <a:bodyPr/>
        <a:lstStyle/>
        <a:p>
          <a:endParaRPr lang="zh-CN" altLang="en-US"/>
        </a:p>
      </dgm:t>
    </dgm:pt>
    <dgm:pt modelId="{DE6243F6-0982-4749-BDA9-3D7D8184C26A}">
      <dgm:prSet custT="1"/>
      <dgm:spPr/>
      <dgm:t>
        <a:bodyPr/>
        <a:lstStyle/>
        <a:p>
          <a:r>
            <a:rPr lang="zh-CN" altLang="en-US" sz="3600" dirty="0" smtClean="0">
              <a:solidFill>
                <a:srgbClr val="FF0000"/>
              </a:solidFill>
              <a:latin typeface="楷体" panose="02010609060101010101" pitchFamily="49" charset="-122"/>
              <a:ea typeface="楷体" panose="02010609060101010101" pitchFamily="49" charset="-122"/>
            </a:rPr>
            <a:t>案例分析：装载问题</a:t>
          </a:r>
          <a:endParaRPr lang="zh-CN" altLang="en-US" sz="3600" dirty="0">
            <a:solidFill>
              <a:srgbClr val="FF0000"/>
            </a:solidFill>
            <a:latin typeface="楷体" panose="02010609060101010101" pitchFamily="49" charset="-122"/>
            <a:ea typeface="楷体" panose="02010609060101010101" pitchFamily="49" charset="-122"/>
          </a:endParaRPr>
        </a:p>
      </dgm:t>
    </dgm:pt>
    <dgm:pt modelId="{4E43DCB8-FD68-424F-8D7A-EA8B37717DFA}" cxnId="{FB086BEE-81B2-4ED3-8935-6D4ECF6A1B51}" type="parTrans">
      <dgm:prSet/>
      <dgm:spPr/>
      <dgm:t>
        <a:bodyPr/>
        <a:lstStyle/>
        <a:p>
          <a:endParaRPr lang="zh-CN" altLang="en-US"/>
        </a:p>
      </dgm:t>
    </dgm:pt>
    <dgm:pt modelId="{AE990C81-80DD-4734-A92A-C91E19EF55BD}" cxnId="{FB086BEE-81B2-4ED3-8935-6D4ECF6A1B51}" type="sibTrans">
      <dgm:prSet/>
      <dgm:spPr/>
      <dgm:t>
        <a:bodyPr/>
        <a:lstStyle/>
        <a:p>
          <a:endParaRPr lang="zh-CN" altLang="en-US"/>
        </a:p>
      </dgm:t>
    </dgm:pt>
    <dgm:pt modelId="{9D86A73C-E86D-4AAF-B0E8-6A97AC00E5A7}">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8351CB61-64A9-487C-873B-AB30EE6EB332}" cxnId="{498A534E-6488-45E3-9C79-2ABB07DC381A}" type="parTrans">
      <dgm:prSet/>
      <dgm:spPr/>
      <dgm:t>
        <a:bodyPr/>
        <a:lstStyle/>
        <a:p>
          <a:endParaRPr lang="zh-CN" altLang="en-US"/>
        </a:p>
      </dgm:t>
    </dgm:pt>
    <dgm:pt modelId="{FED2A96A-EBDD-4A03-A3BD-37056BFE36D4}" cxnId="{498A534E-6488-45E3-9C79-2ABB07DC381A}" type="sibTrans">
      <dgm:prSet/>
      <dgm:spPr/>
      <dgm:t>
        <a:bodyPr/>
        <a:lstStyle/>
        <a:p>
          <a:endParaRPr lang="zh-CN" altLang="en-US"/>
        </a:p>
      </dgm:t>
    </dgm:pt>
    <dgm:pt modelId="{0DAAF06F-B1D9-4FF4-9699-13EFE5C37F21}">
      <dgm:prSet custT="1"/>
      <dgm:spPr/>
      <dgm:t>
        <a:bodyPr/>
        <a:lstStyle/>
        <a:p>
          <a:r>
            <a:rPr lang="zh-CN" altLang="en-US" sz="36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gm:t>
    </dgm:pt>
    <dgm:pt modelId="{72D9623A-45B7-47AC-905E-F602609A5D17}" cxnId="{1BC291E5-951D-4A13-A57D-DA1C18B66788}" type="parTrans">
      <dgm:prSet/>
      <dgm:spPr/>
      <dgm:t>
        <a:bodyPr/>
        <a:lstStyle/>
        <a:p>
          <a:endParaRPr lang="zh-CN" altLang="en-US"/>
        </a:p>
      </dgm:t>
    </dgm:pt>
    <dgm:pt modelId="{67D094FD-53C8-407C-A51C-3A10DAC12FD7}" cxnId="{1BC291E5-951D-4A13-A57D-DA1C18B66788}" type="sibTrans">
      <dgm:prSet/>
      <dgm:spPr/>
      <dgm:t>
        <a:bodyPr/>
        <a:lstStyle/>
        <a:p>
          <a:endParaRPr lang="zh-CN" altLang="en-US"/>
        </a:p>
      </dgm:t>
    </dgm:pt>
    <dgm:pt modelId="{82317BD2-FB94-48E1-BC4C-A946E0BA34B6}" type="pres">
      <dgm:prSet presAssocID="{5D330F28-D18C-485B-AD2B-7DF346A53225}" presName="linearFlow" presStyleCnt="0">
        <dgm:presLayoutVars>
          <dgm:dir/>
          <dgm:animLvl val="lvl"/>
          <dgm:resizeHandles val="exact"/>
        </dgm:presLayoutVars>
      </dgm:prSet>
      <dgm:spPr/>
      <dgm:t>
        <a:bodyPr/>
        <a:lstStyle/>
        <a:p>
          <a:endParaRPr lang="zh-CN" altLang="en-US"/>
        </a:p>
      </dgm:t>
    </dgm:pt>
    <dgm:pt modelId="{6C1D086C-E1C9-4393-9235-13A5556BA65D}" type="pres">
      <dgm:prSet presAssocID="{7AA4BCE5-838A-452C-BA06-A869C07EAE33}" presName="composite" presStyleCnt="0"/>
      <dgm:spPr/>
    </dgm:pt>
    <dgm:pt modelId="{EEC96708-49E3-4A42-ACE1-C2020844E9DB}" type="pres">
      <dgm:prSet presAssocID="{7AA4BCE5-838A-452C-BA06-A869C07EAE33}" presName="parentText" presStyleLbl="alignNode1" presStyleIdx="0" presStyleCnt="4">
        <dgm:presLayoutVars>
          <dgm:chMax val="1"/>
          <dgm:bulletEnabled val="1"/>
        </dgm:presLayoutVars>
      </dgm:prSet>
      <dgm:spPr/>
      <dgm:t>
        <a:bodyPr/>
        <a:lstStyle/>
        <a:p>
          <a:endParaRPr lang="zh-CN" altLang="en-US"/>
        </a:p>
      </dgm:t>
    </dgm:pt>
    <dgm:pt modelId="{B0D5B842-CFD7-4F5C-8567-ABE9C6F65A41}" type="pres">
      <dgm:prSet presAssocID="{7AA4BCE5-838A-452C-BA06-A869C07EAE33}" presName="descendantText" presStyleLbl="alignAcc1" presStyleIdx="0" presStyleCnt="4">
        <dgm:presLayoutVars>
          <dgm:bulletEnabled val="1"/>
        </dgm:presLayoutVars>
      </dgm:prSet>
      <dgm:spPr/>
      <dgm:t>
        <a:bodyPr/>
        <a:lstStyle/>
        <a:p>
          <a:endParaRPr lang="zh-CN" altLang="en-US"/>
        </a:p>
      </dgm:t>
    </dgm:pt>
    <dgm:pt modelId="{95C2C221-9BB3-4F27-ABEA-3C9C634746D8}" type="pres">
      <dgm:prSet presAssocID="{3FEA1EA7-43E1-472F-A09C-BB829D763F53}" presName="sp" presStyleCnt="0"/>
      <dgm:spPr/>
    </dgm:pt>
    <dgm:pt modelId="{5D56E540-3580-486B-8A26-E6493EE00583}" type="pres">
      <dgm:prSet presAssocID="{8C52E961-8DC7-4BA8-9EFE-B5D4E7BFCB2C}" presName="composite" presStyleCnt="0"/>
      <dgm:spPr/>
    </dgm:pt>
    <dgm:pt modelId="{75BB0E8A-43DB-48C7-A63A-6F886446931F}" type="pres">
      <dgm:prSet presAssocID="{8C52E961-8DC7-4BA8-9EFE-B5D4E7BFCB2C}" presName="parentText" presStyleLbl="alignNode1" presStyleIdx="1" presStyleCnt="4">
        <dgm:presLayoutVars>
          <dgm:chMax val="1"/>
          <dgm:bulletEnabled val="1"/>
        </dgm:presLayoutVars>
      </dgm:prSet>
      <dgm:spPr/>
      <dgm:t>
        <a:bodyPr/>
        <a:lstStyle/>
        <a:p>
          <a:endParaRPr lang="zh-CN" altLang="en-US"/>
        </a:p>
      </dgm:t>
    </dgm:pt>
    <dgm:pt modelId="{23879B60-AA3C-4F85-B34A-EACE2437749A}" type="pres">
      <dgm:prSet presAssocID="{8C52E961-8DC7-4BA8-9EFE-B5D4E7BFCB2C}" presName="descendantText" presStyleLbl="alignAcc1" presStyleIdx="1" presStyleCnt="4">
        <dgm:presLayoutVars>
          <dgm:bulletEnabled val="1"/>
        </dgm:presLayoutVars>
      </dgm:prSet>
      <dgm:spPr/>
      <dgm:t>
        <a:bodyPr/>
        <a:lstStyle/>
        <a:p>
          <a:endParaRPr lang="zh-CN" altLang="en-US"/>
        </a:p>
      </dgm:t>
    </dgm:pt>
    <dgm:pt modelId="{5C8F247B-6C82-443F-8937-DB94A5EF8871}" type="pres">
      <dgm:prSet presAssocID="{AED74C2A-4C95-4A64-AE41-935EC9214B07}" presName="sp" presStyleCnt="0"/>
      <dgm:spPr/>
    </dgm:pt>
    <dgm:pt modelId="{6B14C85C-A315-423E-86AF-D0DB467E8042}" type="pres">
      <dgm:prSet presAssocID="{62F14362-0BA0-43B6-9C2F-9CE9057D4DF0}" presName="composite" presStyleCnt="0"/>
      <dgm:spPr/>
    </dgm:pt>
    <dgm:pt modelId="{A045862D-78AC-44F9-BFD7-D9799FC417C9}" type="pres">
      <dgm:prSet presAssocID="{62F14362-0BA0-43B6-9C2F-9CE9057D4DF0}" presName="parentText" presStyleLbl="alignNode1" presStyleIdx="2" presStyleCnt="4">
        <dgm:presLayoutVars>
          <dgm:chMax val="1"/>
          <dgm:bulletEnabled val="1"/>
        </dgm:presLayoutVars>
      </dgm:prSet>
      <dgm:spPr/>
      <dgm:t>
        <a:bodyPr/>
        <a:lstStyle/>
        <a:p>
          <a:endParaRPr lang="zh-CN" altLang="en-US"/>
        </a:p>
      </dgm:t>
    </dgm:pt>
    <dgm:pt modelId="{150E90A1-794C-4F0B-9934-A8E58ABC48E6}" type="pres">
      <dgm:prSet presAssocID="{62F14362-0BA0-43B6-9C2F-9CE9057D4DF0}" presName="descendantText" presStyleLbl="alignAcc1" presStyleIdx="2" presStyleCnt="4">
        <dgm:presLayoutVars>
          <dgm:bulletEnabled val="1"/>
        </dgm:presLayoutVars>
      </dgm:prSet>
      <dgm:spPr/>
      <dgm:t>
        <a:bodyPr/>
        <a:lstStyle/>
        <a:p>
          <a:endParaRPr lang="zh-CN" altLang="en-US"/>
        </a:p>
      </dgm:t>
    </dgm:pt>
    <dgm:pt modelId="{E39FE392-81EE-405C-AFA2-A7A9E94329F7}" type="pres">
      <dgm:prSet presAssocID="{A32A4E3C-B771-4D7B-AAFB-AD232D6DC34D}" presName="sp" presStyleCnt="0"/>
      <dgm:spPr/>
    </dgm:pt>
    <dgm:pt modelId="{9F8822EB-FA47-4DF0-9226-122A445F4A28}" type="pres">
      <dgm:prSet presAssocID="{9D86A73C-E86D-4AAF-B0E8-6A97AC00E5A7}" presName="composite" presStyleCnt="0"/>
      <dgm:spPr/>
    </dgm:pt>
    <dgm:pt modelId="{0130137D-86A9-4CA1-B654-96683AA3D24E}" type="pres">
      <dgm:prSet presAssocID="{9D86A73C-E86D-4AAF-B0E8-6A97AC00E5A7}" presName="parentText" presStyleLbl="alignNode1" presStyleIdx="3" presStyleCnt="4">
        <dgm:presLayoutVars>
          <dgm:chMax val="1"/>
          <dgm:bulletEnabled val="1"/>
        </dgm:presLayoutVars>
      </dgm:prSet>
      <dgm:spPr/>
      <dgm:t>
        <a:bodyPr/>
        <a:lstStyle/>
        <a:p>
          <a:endParaRPr lang="zh-CN" altLang="en-US"/>
        </a:p>
      </dgm:t>
    </dgm:pt>
    <dgm:pt modelId="{CBD335E0-8D6A-469E-B81C-6247BD0A19E2}" type="pres">
      <dgm:prSet presAssocID="{9D86A73C-E86D-4AAF-B0E8-6A97AC00E5A7}" presName="descendantText" presStyleLbl="alignAcc1" presStyleIdx="3" presStyleCnt="4">
        <dgm:presLayoutVars>
          <dgm:bulletEnabled val="1"/>
        </dgm:presLayoutVars>
      </dgm:prSet>
      <dgm:spPr/>
      <dgm:t>
        <a:bodyPr/>
        <a:lstStyle/>
        <a:p>
          <a:endParaRPr lang="zh-CN" altLang="en-US"/>
        </a:p>
      </dgm:t>
    </dgm:pt>
  </dgm:ptLst>
  <dgm:cxnLst>
    <dgm:cxn modelId="{8A157C6C-0F81-4767-850C-8243FF679803}" srcId="{5D330F28-D18C-485B-AD2B-7DF346A53225}" destId="{8C52E961-8DC7-4BA8-9EFE-B5D4E7BFCB2C}" srcOrd="1" destOrd="0" parTransId="{06C084B8-CA07-4300-9514-C36F01B77F84}" sibTransId="{AED74C2A-4C95-4A64-AE41-935EC9214B07}"/>
    <dgm:cxn modelId="{40BCADC5-48EF-4F36-A45A-7D93CBA145C8}" type="presOf" srcId="{0DAAF06F-B1D9-4FF4-9699-13EFE5C37F21}" destId="{CBD335E0-8D6A-469E-B81C-6247BD0A19E2}" srcOrd="0" destOrd="0" presId="urn:microsoft.com/office/officeart/2005/8/layout/chevron2"/>
    <dgm:cxn modelId="{A6317A32-BB8D-48EB-9FDB-F0AD4191F4F9}" type="presOf" srcId="{033AB355-DEBE-4BC0-81F7-79E198B90F3F}" destId="{B0D5B842-CFD7-4F5C-8567-ABE9C6F65A41}" srcOrd="0" destOrd="0" presId="urn:microsoft.com/office/officeart/2005/8/layout/chevron2"/>
    <dgm:cxn modelId="{498A534E-6488-45E3-9C79-2ABB07DC381A}" srcId="{5D330F28-D18C-485B-AD2B-7DF346A53225}" destId="{9D86A73C-E86D-4AAF-B0E8-6A97AC00E5A7}" srcOrd="3" destOrd="0" parTransId="{8351CB61-64A9-487C-873B-AB30EE6EB332}" sibTransId="{FED2A96A-EBDD-4A03-A3BD-37056BFE36D4}"/>
    <dgm:cxn modelId="{9B226B26-6D90-4027-A945-0DF7EA5D90C9}" type="presOf" srcId="{5D330F28-D18C-485B-AD2B-7DF346A53225}" destId="{82317BD2-FB94-48E1-BC4C-A946E0BA34B6}" srcOrd="0" destOrd="0" presId="urn:microsoft.com/office/officeart/2005/8/layout/chevron2"/>
    <dgm:cxn modelId="{8021F8EF-F87A-464A-ABD1-4C50AF1E885F}" type="presOf" srcId="{62F14362-0BA0-43B6-9C2F-9CE9057D4DF0}" destId="{A045862D-78AC-44F9-BFD7-D9799FC417C9}" srcOrd="0" destOrd="0" presId="urn:microsoft.com/office/officeart/2005/8/layout/chevron2"/>
    <dgm:cxn modelId="{085EBB4C-573B-4F62-ADA0-4300B2CA0234}" type="presOf" srcId="{7AA4BCE5-838A-452C-BA06-A869C07EAE33}" destId="{EEC96708-49E3-4A42-ACE1-C2020844E9DB}" srcOrd="0" destOrd="0" presId="urn:microsoft.com/office/officeart/2005/8/layout/chevron2"/>
    <dgm:cxn modelId="{E87C870E-8802-4DE6-99E1-34561ECF1851}" srcId="{5D330F28-D18C-485B-AD2B-7DF346A53225}" destId="{7AA4BCE5-838A-452C-BA06-A869C07EAE33}" srcOrd="0" destOrd="0" parTransId="{D703FA97-3964-407D-BCB3-03578955312E}" sibTransId="{3FEA1EA7-43E1-472F-A09C-BB829D763F53}"/>
    <dgm:cxn modelId="{2E231D86-5C63-4348-B030-C478EE22187D}" type="presOf" srcId="{DE6243F6-0982-4749-BDA9-3D7D8184C26A}" destId="{150E90A1-794C-4F0B-9934-A8E58ABC48E6}" srcOrd="0" destOrd="0" presId="urn:microsoft.com/office/officeart/2005/8/layout/chevron2"/>
    <dgm:cxn modelId="{FB086BEE-81B2-4ED3-8935-6D4ECF6A1B51}" srcId="{62F14362-0BA0-43B6-9C2F-9CE9057D4DF0}" destId="{DE6243F6-0982-4749-BDA9-3D7D8184C26A}" srcOrd="0" destOrd="0" parTransId="{4E43DCB8-FD68-424F-8D7A-EA8B37717DFA}" sibTransId="{AE990C81-80DD-4734-A92A-C91E19EF55BD}"/>
    <dgm:cxn modelId="{1BC291E5-951D-4A13-A57D-DA1C18B66788}" srcId="{9D86A73C-E86D-4AAF-B0E8-6A97AC00E5A7}" destId="{0DAAF06F-B1D9-4FF4-9699-13EFE5C37F21}" srcOrd="0" destOrd="0" parTransId="{72D9623A-45B7-47AC-905E-F602609A5D17}" sibTransId="{67D094FD-53C8-407C-A51C-3A10DAC12FD7}"/>
    <dgm:cxn modelId="{126D26C8-D6CF-48ED-B10B-256EDA69A0E3}" srcId="{8C52E961-8DC7-4BA8-9EFE-B5D4E7BFCB2C}" destId="{0C14CBCD-34EC-43F9-88B3-B5B73566B37B}" srcOrd="0" destOrd="0" parTransId="{90801A33-C96F-4A81-B93A-0852A9956992}" sibTransId="{1B669E59-2BD4-468F-B2F8-A293D31DB965}"/>
    <dgm:cxn modelId="{C53ED516-6D48-4E48-90AC-B454AD6896DF}" type="presOf" srcId="{0C14CBCD-34EC-43F9-88B3-B5B73566B37B}" destId="{23879B60-AA3C-4F85-B34A-EACE2437749A}" srcOrd="0" destOrd="0" presId="urn:microsoft.com/office/officeart/2005/8/layout/chevron2"/>
    <dgm:cxn modelId="{6FB2A94C-20CC-4D6B-8B2C-F31843D57B69}" srcId="{7AA4BCE5-838A-452C-BA06-A869C07EAE33}" destId="{033AB355-DEBE-4BC0-81F7-79E198B90F3F}" srcOrd="0" destOrd="0" parTransId="{4CE9AD92-BF00-42FB-A676-BF6DF5ADD430}" sibTransId="{282FCBF8-1A05-4DF3-828E-5CB36D65DE37}"/>
    <dgm:cxn modelId="{6EAF6198-202C-4AE1-BBD8-5B184C3C407D}" type="presOf" srcId="{9D86A73C-E86D-4AAF-B0E8-6A97AC00E5A7}" destId="{0130137D-86A9-4CA1-B654-96683AA3D24E}" srcOrd="0" destOrd="0" presId="urn:microsoft.com/office/officeart/2005/8/layout/chevron2"/>
    <dgm:cxn modelId="{1683197E-2F75-49C8-8BC9-37BD416259BE}" type="presOf" srcId="{8C52E961-8DC7-4BA8-9EFE-B5D4E7BFCB2C}" destId="{75BB0E8A-43DB-48C7-A63A-6F886446931F}" srcOrd="0" destOrd="0" presId="urn:microsoft.com/office/officeart/2005/8/layout/chevron2"/>
    <dgm:cxn modelId="{07B7A958-7CEF-45E9-AC1B-1F1A55A45858}" srcId="{5D330F28-D18C-485B-AD2B-7DF346A53225}" destId="{62F14362-0BA0-43B6-9C2F-9CE9057D4DF0}" srcOrd="2" destOrd="0" parTransId="{CDF3E7AF-3551-41F1-9ECA-68622446D3EB}" sibTransId="{A32A4E3C-B771-4D7B-AAFB-AD232D6DC34D}"/>
    <dgm:cxn modelId="{03E7C36C-C604-42EC-A4D9-D45E67B8532F}" type="presParOf" srcId="{82317BD2-FB94-48E1-BC4C-A946E0BA34B6}" destId="{6C1D086C-E1C9-4393-9235-13A5556BA65D}" srcOrd="0" destOrd="0" presId="urn:microsoft.com/office/officeart/2005/8/layout/chevron2"/>
    <dgm:cxn modelId="{8347E91E-1FFF-48CC-B0BD-E1D24B7D8070}" type="presParOf" srcId="{6C1D086C-E1C9-4393-9235-13A5556BA65D}" destId="{EEC96708-49E3-4A42-ACE1-C2020844E9DB}" srcOrd="0" destOrd="0" presId="urn:microsoft.com/office/officeart/2005/8/layout/chevron2"/>
    <dgm:cxn modelId="{F3B1D70D-FC70-4E2B-BE4E-1887B1807E91}" type="presParOf" srcId="{6C1D086C-E1C9-4393-9235-13A5556BA65D}" destId="{B0D5B842-CFD7-4F5C-8567-ABE9C6F65A41}" srcOrd="1" destOrd="0" presId="urn:microsoft.com/office/officeart/2005/8/layout/chevron2"/>
    <dgm:cxn modelId="{2851E786-A72F-4A6D-956E-01C58EEC415A}" type="presParOf" srcId="{82317BD2-FB94-48E1-BC4C-A946E0BA34B6}" destId="{95C2C221-9BB3-4F27-ABEA-3C9C634746D8}" srcOrd="1" destOrd="0" presId="urn:microsoft.com/office/officeart/2005/8/layout/chevron2"/>
    <dgm:cxn modelId="{B0487DCF-75E9-4D1D-AFA1-81AAF2DA0CFB}" type="presParOf" srcId="{82317BD2-FB94-48E1-BC4C-A946E0BA34B6}" destId="{5D56E540-3580-486B-8A26-E6493EE00583}" srcOrd="2" destOrd="0" presId="urn:microsoft.com/office/officeart/2005/8/layout/chevron2"/>
    <dgm:cxn modelId="{96FD19BE-6780-4188-8A5B-9EF3496F5304}" type="presParOf" srcId="{5D56E540-3580-486B-8A26-E6493EE00583}" destId="{75BB0E8A-43DB-48C7-A63A-6F886446931F}" srcOrd="0" destOrd="0" presId="urn:microsoft.com/office/officeart/2005/8/layout/chevron2"/>
    <dgm:cxn modelId="{B454C1AD-CDC4-417D-BF71-19033093473B}" type="presParOf" srcId="{5D56E540-3580-486B-8A26-E6493EE00583}" destId="{23879B60-AA3C-4F85-B34A-EACE2437749A}" srcOrd="1" destOrd="0" presId="urn:microsoft.com/office/officeart/2005/8/layout/chevron2"/>
    <dgm:cxn modelId="{9D794210-4FEC-461F-8223-8D4961ADEFDA}" type="presParOf" srcId="{82317BD2-FB94-48E1-BC4C-A946E0BA34B6}" destId="{5C8F247B-6C82-443F-8937-DB94A5EF8871}" srcOrd="3" destOrd="0" presId="urn:microsoft.com/office/officeart/2005/8/layout/chevron2"/>
    <dgm:cxn modelId="{53383662-776E-4910-90AA-328B38059021}" type="presParOf" srcId="{82317BD2-FB94-48E1-BC4C-A946E0BA34B6}" destId="{6B14C85C-A315-423E-86AF-D0DB467E8042}" srcOrd="4" destOrd="0" presId="urn:microsoft.com/office/officeart/2005/8/layout/chevron2"/>
    <dgm:cxn modelId="{77487E4F-2471-4119-872E-2506BAD3F1ED}" type="presParOf" srcId="{6B14C85C-A315-423E-86AF-D0DB467E8042}" destId="{A045862D-78AC-44F9-BFD7-D9799FC417C9}" srcOrd="0" destOrd="0" presId="urn:microsoft.com/office/officeart/2005/8/layout/chevron2"/>
    <dgm:cxn modelId="{B6C665EB-66CD-4CA7-97AE-266632DFCF36}" type="presParOf" srcId="{6B14C85C-A315-423E-86AF-D0DB467E8042}" destId="{150E90A1-794C-4F0B-9934-A8E58ABC48E6}" srcOrd="1" destOrd="0" presId="urn:microsoft.com/office/officeart/2005/8/layout/chevron2"/>
    <dgm:cxn modelId="{318650DA-3729-4205-BE8C-AC8098D34398}" type="presParOf" srcId="{82317BD2-FB94-48E1-BC4C-A946E0BA34B6}" destId="{E39FE392-81EE-405C-AFA2-A7A9E94329F7}" srcOrd="5" destOrd="0" presId="urn:microsoft.com/office/officeart/2005/8/layout/chevron2"/>
    <dgm:cxn modelId="{C9206644-E4D0-43BB-A194-5B42EE29EA80}" type="presParOf" srcId="{82317BD2-FB94-48E1-BC4C-A946E0BA34B6}" destId="{9F8822EB-FA47-4DF0-9226-122A445F4A28}" srcOrd="6" destOrd="0" presId="urn:microsoft.com/office/officeart/2005/8/layout/chevron2"/>
    <dgm:cxn modelId="{0E89DD4A-9AEA-4AEB-8146-9700943D562E}" type="presParOf" srcId="{9F8822EB-FA47-4DF0-9226-122A445F4A28}" destId="{0130137D-86A9-4CA1-B654-96683AA3D24E}" srcOrd="0" destOrd="0" presId="urn:microsoft.com/office/officeart/2005/8/layout/chevron2"/>
    <dgm:cxn modelId="{0E20A4E0-C121-4AAA-95BC-00486D6CBB82}" type="presParOf" srcId="{9F8822EB-FA47-4DF0-9226-122A445F4A28}" destId="{CBD335E0-8D6A-469E-B81C-6247BD0A19E2}"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D330F28-D18C-485B-AD2B-7DF346A53225}"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CN" altLang="en-US"/>
        </a:p>
      </dgm:t>
    </dgm:pt>
    <dgm:pt modelId="{7AA4BCE5-838A-452C-BA06-A869C07EAE33}">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D703FA97-3964-407D-BCB3-03578955312E}" cxnId="{E87C870E-8802-4DE6-99E1-34561ECF1851}" type="parTrans">
      <dgm:prSet/>
      <dgm:spPr/>
      <dgm:t>
        <a:bodyPr/>
        <a:lstStyle/>
        <a:p>
          <a:endParaRPr lang="zh-CN" altLang="en-US"/>
        </a:p>
      </dgm:t>
    </dgm:pt>
    <dgm:pt modelId="{3FEA1EA7-43E1-472F-A09C-BB829D763F53}" cxnId="{E87C870E-8802-4DE6-99E1-34561ECF1851}" type="sibTrans">
      <dgm:prSet/>
      <dgm:spPr/>
      <dgm:t>
        <a:bodyPr/>
        <a:lstStyle/>
        <a:p>
          <a:endParaRPr lang="zh-CN" altLang="en-US"/>
        </a:p>
      </dgm:t>
    </dgm:pt>
    <dgm:pt modelId="{033AB355-DEBE-4BC0-81F7-79E198B90F3F}">
      <dgm:prSet phldrT="[文本]"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分支限界法基本思想</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CE9AD92-BF00-42FB-A676-BF6DF5ADD430}" cxnId="{6FB2A94C-20CC-4D6B-8B2C-F31843D57B69}" type="parTrans">
      <dgm:prSet/>
      <dgm:spPr/>
      <dgm:t>
        <a:bodyPr/>
        <a:lstStyle/>
        <a:p>
          <a:endParaRPr lang="zh-CN" altLang="en-US"/>
        </a:p>
      </dgm:t>
    </dgm:pt>
    <dgm:pt modelId="{282FCBF8-1A05-4DF3-828E-5CB36D65DE37}" cxnId="{6FB2A94C-20CC-4D6B-8B2C-F31843D57B69}" type="sibTrans">
      <dgm:prSet/>
      <dgm:spPr/>
      <dgm:t>
        <a:bodyPr/>
        <a:lstStyle/>
        <a:p>
          <a:endParaRPr lang="zh-CN" altLang="en-US"/>
        </a:p>
      </dgm:t>
    </dgm:pt>
    <dgm:pt modelId="{8C52E961-8DC7-4BA8-9EFE-B5D4E7BFCB2C}">
      <dgm:prSet phldrT="[文本]"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06C084B8-CA07-4300-9514-C36F01B77F84}" cxnId="{8A157C6C-0F81-4767-850C-8243FF679803}" type="parTrans">
      <dgm:prSet/>
      <dgm:spPr/>
      <dgm:t>
        <a:bodyPr/>
        <a:lstStyle/>
        <a:p>
          <a:endParaRPr lang="zh-CN" altLang="en-US"/>
        </a:p>
      </dgm:t>
    </dgm:pt>
    <dgm:pt modelId="{AED74C2A-4C95-4A64-AE41-935EC9214B07}" cxnId="{8A157C6C-0F81-4767-850C-8243FF679803}" type="sibTrans">
      <dgm:prSet/>
      <dgm:spPr/>
      <dgm:t>
        <a:bodyPr/>
        <a:lstStyle/>
        <a:p>
          <a:endParaRPr lang="zh-CN" altLang="en-US"/>
        </a:p>
      </dgm:t>
    </dgm:pt>
    <dgm:pt modelId="{0C14CBCD-34EC-43F9-88B3-B5B73566B37B}">
      <dgm:prSet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分支定界法设计要素</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90801A33-C96F-4A81-B93A-0852A9956992}" cxnId="{126D26C8-D6CF-48ED-B10B-256EDA69A0E3}" type="parTrans">
      <dgm:prSet/>
      <dgm:spPr/>
      <dgm:t>
        <a:bodyPr/>
        <a:lstStyle/>
        <a:p>
          <a:endParaRPr lang="zh-CN" altLang="en-US"/>
        </a:p>
      </dgm:t>
    </dgm:pt>
    <dgm:pt modelId="{1B669E59-2BD4-468F-B2F8-A293D31DB965}" cxnId="{126D26C8-D6CF-48ED-B10B-256EDA69A0E3}" type="sibTrans">
      <dgm:prSet/>
      <dgm:spPr/>
      <dgm:t>
        <a:bodyPr/>
        <a:lstStyle/>
        <a:p>
          <a:endParaRPr lang="zh-CN" altLang="en-US"/>
        </a:p>
      </dgm:t>
    </dgm:pt>
    <dgm:pt modelId="{62F14362-0BA0-43B6-9C2F-9CE9057D4DF0}">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CDF3E7AF-3551-41F1-9ECA-68622446D3EB}" cxnId="{07B7A958-7CEF-45E9-AC1B-1F1A55A45858}" type="parTrans">
      <dgm:prSet/>
      <dgm:spPr/>
      <dgm:t>
        <a:bodyPr/>
        <a:lstStyle/>
        <a:p>
          <a:endParaRPr lang="zh-CN" altLang="en-US"/>
        </a:p>
      </dgm:t>
    </dgm:pt>
    <dgm:pt modelId="{A32A4E3C-B771-4D7B-AAFB-AD232D6DC34D}" cxnId="{07B7A958-7CEF-45E9-AC1B-1F1A55A45858}" type="sibTrans">
      <dgm:prSet/>
      <dgm:spPr/>
      <dgm:t>
        <a:bodyPr/>
        <a:lstStyle/>
        <a:p>
          <a:endParaRPr lang="zh-CN" altLang="en-US"/>
        </a:p>
      </dgm:t>
    </dgm:pt>
    <dgm:pt modelId="{DE6243F6-0982-4749-BDA9-3D7D8184C26A}">
      <dgm:prSet custT="1"/>
      <dgm:spPr/>
      <dgm:t>
        <a:bodyPr/>
        <a:lstStyle/>
        <a:p>
          <a:r>
            <a:rPr lang="zh-CN" altLang="en-US" sz="3600" dirty="0" smtClean="0">
              <a:solidFill>
                <a:schemeClr val="tx1">
                  <a:lumMod val="50000"/>
                </a:schemeClr>
              </a:solidFill>
              <a:latin typeface="楷体" panose="02010609060101010101" pitchFamily="49" charset="-122"/>
              <a:ea typeface="楷体" panose="02010609060101010101" pitchFamily="49" charset="-122"/>
            </a:rPr>
            <a:t>案例分析：装载问题</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gm:t>
    </dgm:pt>
    <dgm:pt modelId="{4E43DCB8-FD68-424F-8D7A-EA8B37717DFA}" cxnId="{FB086BEE-81B2-4ED3-8935-6D4ECF6A1B51}" type="parTrans">
      <dgm:prSet/>
      <dgm:spPr/>
      <dgm:t>
        <a:bodyPr/>
        <a:lstStyle/>
        <a:p>
          <a:endParaRPr lang="zh-CN" altLang="en-US"/>
        </a:p>
      </dgm:t>
    </dgm:pt>
    <dgm:pt modelId="{AE990C81-80DD-4734-A92A-C91E19EF55BD}" cxnId="{FB086BEE-81B2-4ED3-8935-6D4ECF6A1B51}" type="sibTrans">
      <dgm:prSet/>
      <dgm:spPr/>
      <dgm:t>
        <a:bodyPr/>
        <a:lstStyle/>
        <a:p>
          <a:endParaRPr lang="zh-CN" altLang="en-US"/>
        </a:p>
      </dgm:t>
    </dgm:pt>
    <dgm:pt modelId="{9D86A73C-E86D-4AAF-B0E8-6A97AC00E5A7}">
      <dgm:prSet custT="1"/>
      <dgm:spPr/>
      <dgm:t>
        <a:bodyPr/>
        <a:lstStyle/>
        <a:p>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gm:t>
    </dgm:pt>
    <dgm:pt modelId="{8351CB61-64A9-487C-873B-AB30EE6EB332}" cxnId="{498A534E-6488-45E3-9C79-2ABB07DC381A}" type="parTrans">
      <dgm:prSet/>
      <dgm:spPr/>
      <dgm:t>
        <a:bodyPr/>
        <a:lstStyle/>
        <a:p>
          <a:endParaRPr lang="zh-CN" altLang="en-US"/>
        </a:p>
      </dgm:t>
    </dgm:pt>
    <dgm:pt modelId="{FED2A96A-EBDD-4A03-A3BD-37056BFE36D4}" cxnId="{498A534E-6488-45E3-9C79-2ABB07DC381A}" type="sibTrans">
      <dgm:prSet/>
      <dgm:spPr/>
      <dgm:t>
        <a:bodyPr/>
        <a:lstStyle/>
        <a:p>
          <a:endParaRPr lang="zh-CN" altLang="en-US"/>
        </a:p>
      </dgm:t>
    </dgm:pt>
    <dgm:pt modelId="{0DAAF06F-B1D9-4FF4-9699-13EFE5C37F21}">
      <dgm:prSet custT="1"/>
      <dgm:spPr/>
      <dgm:t>
        <a:bodyPr/>
        <a:lstStyle/>
        <a:p>
          <a:r>
            <a:rPr lang="zh-CN" altLang="en-US" sz="3600" dirty="0" smtClean="0">
              <a:solidFill>
                <a:srgbClr val="FF0000"/>
              </a:solidFill>
              <a:latin typeface="楷体" panose="02010609060101010101" pitchFamily="49" charset="-122"/>
              <a:ea typeface="楷体" panose="02010609060101010101" pitchFamily="49" charset="-122"/>
            </a:rPr>
            <a:t>其它案例分析</a:t>
          </a:r>
          <a:endParaRPr lang="zh-CN" altLang="en-US" sz="3600" dirty="0">
            <a:solidFill>
              <a:srgbClr val="FF0000"/>
            </a:solidFill>
            <a:latin typeface="楷体" panose="02010609060101010101" pitchFamily="49" charset="-122"/>
            <a:ea typeface="楷体" panose="02010609060101010101" pitchFamily="49" charset="-122"/>
          </a:endParaRPr>
        </a:p>
      </dgm:t>
    </dgm:pt>
    <dgm:pt modelId="{72D9623A-45B7-47AC-905E-F602609A5D17}" cxnId="{1BC291E5-951D-4A13-A57D-DA1C18B66788}" type="parTrans">
      <dgm:prSet/>
      <dgm:spPr/>
      <dgm:t>
        <a:bodyPr/>
        <a:lstStyle/>
        <a:p>
          <a:endParaRPr lang="zh-CN" altLang="en-US"/>
        </a:p>
      </dgm:t>
    </dgm:pt>
    <dgm:pt modelId="{67D094FD-53C8-407C-A51C-3A10DAC12FD7}" cxnId="{1BC291E5-951D-4A13-A57D-DA1C18B66788}" type="sibTrans">
      <dgm:prSet/>
      <dgm:spPr/>
      <dgm:t>
        <a:bodyPr/>
        <a:lstStyle/>
        <a:p>
          <a:endParaRPr lang="zh-CN" altLang="en-US"/>
        </a:p>
      </dgm:t>
    </dgm:pt>
    <dgm:pt modelId="{82317BD2-FB94-48E1-BC4C-A946E0BA34B6}" type="pres">
      <dgm:prSet presAssocID="{5D330F28-D18C-485B-AD2B-7DF346A53225}" presName="linearFlow" presStyleCnt="0">
        <dgm:presLayoutVars>
          <dgm:dir/>
          <dgm:animLvl val="lvl"/>
          <dgm:resizeHandles val="exact"/>
        </dgm:presLayoutVars>
      </dgm:prSet>
      <dgm:spPr/>
      <dgm:t>
        <a:bodyPr/>
        <a:lstStyle/>
        <a:p>
          <a:endParaRPr lang="zh-CN" altLang="en-US"/>
        </a:p>
      </dgm:t>
    </dgm:pt>
    <dgm:pt modelId="{6C1D086C-E1C9-4393-9235-13A5556BA65D}" type="pres">
      <dgm:prSet presAssocID="{7AA4BCE5-838A-452C-BA06-A869C07EAE33}" presName="composite" presStyleCnt="0"/>
      <dgm:spPr/>
    </dgm:pt>
    <dgm:pt modelId="{EEC96708-49E3-4A42-ACE1-C2020844E9DB}" type="pres">
      <dgm:prSet presAssocID="{7AA4BCE5-838A-452C-BA06-A869C07EAE33}" presName="parentText" presStyleLbl="alignNode1" presStyleIdx="0" presStyleCnt="4">
        <dgm:presLayoutVars>
          <dgm:chMax val="1"/>
          <dgm:bulletEnabled val="1"/>
        </dgm:presLayoutVars>
      </dgm:prSet>
      <dgm:spPr/>
      <dgm:t>
        <a:bodyPr/>
        <a:lstStyle/>
        <a:p>
          <a:endParaRPr lang="zh-CN" altLang="en-US"/>
        </a:p>
      </dgm:t>
    </dgm:pt>
    <dgm:pt modelId="{B0D5B842-CFD7-4F5C-8567-ABE9C6F65A41}" type="pres">
      <dgm:prSet presAssocID="{7AA4BCE5-838A-452C-BA06-A869C07EAE33}" presName="descendantText" presStyleLbl="alignAcc1" presStyleIdx="0" presStyleCnt="4">
        <dgm:presLayoutVars>
          <dgm:bulletEnabled val="1"/>
        </dgm:presLayoutVars>
      </dgm:prSet>
      <dgm:spPr/>
      <dgm:t>
        <a:bodyPr/>
        <a:lstStyle/>
        <a:p>
          <a:endParaRPr lang="zh-CN" altLang="en-US"/>
        </a:p>
      </dgm:t>
    </dgm:pt>
    <dgm:pt modelId="{95C2C221-9BB3-4F27-ABEA-3C9C634746D8}" type="pres">
      <dgm:prSet presAssocID="{3FEA1EA7-43E1-472F-A09C-BB829D763F53}" presName="sp" presStyleCnt="0"/>
      <dgm:spPr/>
    </dgm:pt>
    <dgm:pt modelId="{5D56E540-3580-486B-8A26-E6493EE00583}" type="pres">
      <dgm:prSet presAssocID="{8C52E961-8DC7-4BA8-9EFE-B5D4E7BFCB2C}" presName="composite" presStyleCnt="0"/>
      <dgm:spPr/>
    </dgm:pt>
    <dgm:pt modelId="{75BB0E8A-43DB-48C7-A63A-6F886446931F}" type="pres">
      <dgm:prSet presAssocID="{8C52E961-8DC7-4BA8-9EFE-B5D4E7BFCB2C}" presName="parentText" presStyleLbl="alignNode1" presStyleIdx="1" presStyleCnt="4">
        <dgm:presLayoutVars>
          <dgm:chMax val="1"/>
          <dgm:bulletEnabled val="1"/>
        </dgm:presLayoutVars>
      </dgm:prSet>
      <dgm:spPr/>
      <dgm:t>
        <a:bodyPr/>
        <a:lstStyle/>
        <a:p>
          <a:endParaRPr lang="zh-CN" altLang="en-US"/>
        </a:p>
      </dgm:t>
    </dgm:pt>
    <dgm:pt modelId="{23879B60-AA3C-4F85-B34A-EACE2437749A}" type="pres">
      <dgm:prSet presAssocID="{8C52E961-8DC7-4BA8-9EFE-B5D4E7BFCB2C}" presName="descendantText" presStyleLbl="alignAcc1" presStyleIdx="1" presStyleCnt="4">
        <dgm:presLayoutVars>
          <dgm:bulletEnabled val="1"/>
        </dgm:presLayoutVars>
      </dgm:prSet>
      <dgm:spPr/>
      <dgm:t>
        <a:bodyPr/>
        <a:lstStyle/>
        <a:p>
          <a:endParaRPr lang="zh-CN" altLang="en-US"/>
        </a:p>
      </dgm:t>
    </dgm:pt>
    <dgm:pt modelId="{5C8F247B-6C82-443F-8937-DB94A5EF8871}" type="pres">
      <dgm:prSet presAssocID="{AED74C2A-4C95-4A64-AE41-935EC9214B07}" presName="sp" presStyleCnt="0"/>
      <dgm:spPr/>
    </dgm:pt>
    <dgm:pt modelId="{6B14C85C-A315-423E-86AF-D0DB467E8042}" type="pres">
      <dgm:prSet presAssocID="{62F14362-0BA0-43B6-9C2F-9CE9057D4DF0}" presName="composite" presStyleCnt="0"/>
      <dgm:spPr/>
    </dgm:pt>
    <dgm:pt modelId="{A045862D-78AC-44F9-BFD7-D9799FC417C9}" type="pres">
      <dgm:prSet presAssocID="{62F14362-0BA0-43B6-9C2F-9CE9057D4DF0}" presName="parentText" presStyleLbl="alignNode1" presStyleIdx="2" presStyleCnt="4">
        <dgm:presLayoutVars>
          <dgm:chMax val="1"/>
          <dgm:bulletEnabled val="1"/>
        </dgm:presLayoutVars>
      </dgm:prSet>
      <dgm:spPr/>
      <dgm:t>
        <a:bodyPr/>
        <a:lstStyle/>
        <a:p>
          <a:endParaRPr lang="zh-CN" altLang="en-US"/>
        </a:p>
      </dgm:t>
    </dgm:pt>
    <dgm:pt modelId="{150E90A1-794C-4F0B-9934-A8E58ABC48E6}" type="pres">
      <dgm:prSet presAssocID="{62F14362-0BA0-43B6-9C2F-9CE9057D4DF0}" presName="descendantText" presStyleLbl="alignAcc1" presStyleIdx="2" presStyleCnt="4">
        <dgm:presLayoutVars>
          <dgm:bulletEnabled val="1"/>
        </dgm:presLayoutVars>
      </dgm:prSet>
      <dgm:spPr/>
      <dgm:t>
        <a:bodyPr/>
        <a:lstStyle/>
        <a:p>
          <a:endParaRPr lang="zh-CN" altLang="en-US"/>
        </a:p>
      </dgm:t>
    </dgm:pt>
    <dgm:pt modelId="{E39FE392-81EE-405C-AFA2-A7A9E94329F7}" type="pres">
      <dgm:prSet presAssocID="{A32A4E3C-B771-4D7B-AAFB-AD232D6DC34D}" presName="sp" presStyleCnt="0"/>
      <dgm:spPr/>
    </dgm:pt>
    <dgm:pt modelId="{9F8822EB-FA47-4DF0-9226-122A445F4A28}" type="pres">
      <dgm:prSet presAssocID="{9D86A73C-E86D-4AAF-B0E8-6A97AC00E5A7}" presName="composite" presStyleCnt="0"/>
      <dgm:spPr/>
    </dgm:pt>
    <dgm:pt modelId="{0130137D-86A9-4CA1-B654-96683AA3D24E}" type="pres">
      <dgm:prSet presAssocID="{9D86A73C-E86D-4AAF-B0E8-6A97AC00E5A7}" presName="parentText" presStyleLbl="alignNode1" presStyleIdx="3" presStyleCnt="4">
        <dgm:presLayoutVars>
          <dgm:chMax val="1"/>
          <dgm:bulletEnabled val="1"/>
        </dgm:presLayoutVars>
      </dgm:prSet>
      <dgm:spPr/>
      <dgm:t>
        <a:bodyPr/>
        <a:lstStyle/>
        <a:p>
          <a:endParaRPr lang="zh-CN" altLang="en-US"/>
        </a:p>
      </dgm:t>
    </dgm:pt>
    <dgm:pt modelId="{CBD335E0-8D6A-469E-B81C-6247BD0A19E2}" type="pres">
      <dgm:prSet presAssocID="{9D86A73C-E86D-4AAF-B0E8-6A97AC00E5A7}" presName="descendantText" presStyleLbl="alignAcc1" presStyleIdx="3" presStyleCnt="4">
        <dgm:presLayoutVars>
          <dgm:bulletEnabled val="1"/>
        </dgm:presLayoutVars>
      </dgm:prSet>
      <dgm:spPr/>
      <dgm:t>
        <a:bodyPr/>
        <a:lstStyle/>
        <a:p>
          <a:endParaRPr lang="zh-CN" altLang="en-US"/>
        </a:p>
      </dgm:t>
    </dgm:pt>
  </dgm:ptLst>
  <dgm:cxnLst>
    <dgm:cxn modelId="{F81895FB-CF2F-4EF0-B64A-B6D0ADB79EBE}" type="presOf" srcId="{62F14362-0BA0-43B6-9C2F-9CE9057D4DF0}" destId="{A045862D-78AC-44F9-BFD7-D9799FC417C9}" srcOrd="0" destOrd="0" presId="urn:microsoft.com/office/officeart/2005/8/layout/chevron2"/>
    <dgm:cxn modelId="{8A157C6C-0F81-4767-850C-8243FF679803}" srcId="{5D330F28-D18C-485B-AD2B-7DF346A53225}" destId="{8C52E961-8DC7-4BA8-9EFE-B5D4E7BFCB2C}" srcOrd="1" destOrd="0" parTransId="{06C084B8-CA07-4300-9514-C36F01B77F84}" sibTransId="{AED74C2A-4C95-4A64-AE41-935EC9214B07}"/>
    <dgm:cxn modelId="{46861749-033C-470A-BA57-DECAC1AB0B21}" type="presOf" srcId="{9D86A73C-E86D-4AAF-B0E8-6A97AC00E5A7}" destId="{0130137D-86A9-4CA1-B654-96683AA3D24E}" srcOrd="0" destOrd="0" presId="urn:microsoft.com/office/officeart/2005/8/layout/chevron2"/>
    <dgm:cxn modelId="{498A534E-6488-45E3-9C79-2ABB07DC381A}" srcId="{5D330F28-D18C-485B-AD2B-7DF346A53225}" destId="{9D86A73C-E86D-4AAF-B0E8-6A97AC00E5A7}" srcOrd="3" destOrd="0" parTransId="{8351CB61-64A9-487C-873B-AB30EE6EB332}" sibTransId="{FED2A96A-EBDD-4A03-A3BD-37056BFE36D4}"/>
    <dgm:cxn modelId="{97DA20ED-3D94-4CF8-9575-44C11C47A232}" type="presOf" srcId="{7AA4BCE5-838A-452C-BA06-A869C07EAE33}" destId="{EEC96708-49E3-4A42-ACE1-C2020844E9DB}" srcOrd="0" destOrd="0" presId="urn:microsoft.com/office/officeart/2005/8/layout/chevron2"/>
    <dgm:cxn modelId="{383DBB49-93A8-424D-9569-9BDF2DCE63AF}" type="presOf" srcId="{DE6243F6-0982-4749-BDA9-3D7D8184C26A}" destId="{150E90A1-794C-4F0B-9934-A8E58ABC48E6}" srcOrd="0" destOrd="0" presId="urn:microsoft.com/office/officeart/2005/8/layout/chevron2"/>
    <dgm:cxn modelId="{869CFABA-E914-46F1-ADDE-44FEADDFAC02}" type="presOf" srcId="{0DAAF06F-B1D9-4FF4-9699-13EFE5C37F21}" destId="{CBD335E0-8D6A-469E-B81C-6247BD0A19E2}" srcOrd="0" destOrd="0" presId="urn:microsoft.com/office/officeart/2005/8/layout/chevron2"/>
    <dgm:cxn modelId="{5770CEC8-B43C-430F-B58C-EA17529BEC4C}" type="presOf" srcId="{8C52E961-8DC7-4BA8-9EFE-B5D4E7BFCB2C}" destId="{75BB0E8A-43DB-48C7-A63A-6F886446931F}" srcOrd="0" destOrd="0" presId="urn:microsoft.com/office/officeart/2005/8/layout/chevron2"/>
    <dgm:cxn modelId="{C4885257-6460-4C34-BCA1-B90E27499054}" type="presOf" srcId="{0C14CBCD-34EC-43F9-88B3-B5B73566B37B}" destId="{23879B60-AA3C-4F85-B34A-EACE2437749A}" srcOrd="0" destOrd="0" presId="urn:microsoft.com/office/officeart/2005/8/layout/chevron2"/>
    <dgm:cxn modelId="{E87C870E-8802-4DE6-99E1-34561ECF1851}" srcId="{5D330F28-D18C-485B-AD2B-7DF346A53225}" destId="{7AA4BCE5-838A-452C-BA06-A869C07EAE33}" srcOrd="0" destOrd="0" parTransId="{D703FA97-3964-407D-BCB3-03578955312E}" sibTransId="{3FEA1EA7-43E1-472F-A09C-BB829D763F53}"/>
    <dgm:cxn modelId="{A5E58B3C-6509-4391-B9A5-B98DE20309F5}" type="presOf" srcId="{033AB355-DEBE-4BC0-81F7-79E198B90F3F}" destId="{B0D5B842-CFD7-4F5C-8567-ABE9C6F65A41}" srcOrd="0" destOrd="0" presId="urn:microsoft.com/office/officeart/2005/8/layout/chevron2"/>
    <dgm:cxn modelId="{F7B4CB8A-F7E3-4592-8DF9-F3973E92C9E8}" type="presOf" srcId="{5D330F28-D18C-485B-AD2B-7DF346A53225}" destId="{82317BD2-FB94-48E1-BC4C-A946E0BA34B6}" srcOrd="0" destOrd="0" presId="urn:microsoft.com/office/officeart/2005/8/layout/chevron2"/>
    <dgm:cxn modelId="{FB086BEE-81B2-4ED3-8935-6D4ECF6A1B51}" srcId="{62F14362-0BA0-43B6-9C2F-9CE9057D4DF0}" destId="{DE6243F6-0982-4749-BDA9-3D7D8184C26A}" srcOrd="0" destOrd="0" parTransId="{4E43DCB8-FD68-424F-8D7A-EA8B37717DFA}" sibTransId="{AE990C81-80DD-4734-A92A-C91E19EF55BD}"/>
    <dgm:cxn modelId="{1BC291E5-951D-4A13-A57D-DA1C18B66788}" srcId="{9D86A73C-E86D-4AAF-B0E8-6A97AC00E5A7}" destId="{0DAAF06F-B1D9-4FF4-9699-13EFE5C37F21}" srcOrd="0" destOrd="0" parTransId="{72D9623A-45B7-47AC-905E-F602609A5D17}" sibTransId="{67D094FD-53C8-407C-A51C-3A10DAC12FD7}"/>
    <dgm:cxn modelId="{126D26C8-D6CF-48ED-B10B-256EDA69A0E3}" srcId="{8C52E961-8DC7-4BA8-9EFE-B5D4E7BFCB2C}" destId="{0C14CBCD-34EC-43F9-88B3-B5B73566B37B}" srcOrd="0" destOrd="0" parTransId="{90801A33-C96F-4A81-B93A-0852A9956992}" sibTransId="{1B669E59-2BD4-468F-B2F8-A293D31DB965}"/>
    <dgm:cxn modelId="{6FB2A94C-20CC-4D6B-8B2C-F31843D57B69}" srcId="{7AA4BCE5-838A-452C-BA06-A869C07EAE33}" destId="{033AB355-DEBE-4BC0-81F7-79E198B90F3F}" srcOrd="0" destOrd="0" parTransId="{4CE9AD92-BF00-42FB-A676-BF6DF5ADD430}" sibTransId="{282FCBF8-1A05-4DF3-828E-5CB36D65DE37}"/>
    <dgm:cxn modelId="{07B7A958-7CEF-45E9-AC1B-1F1A55A45858}" srcId="{5D330F28-D18C-485B-AD2B-7DF346A53225}" destId="{62F14362-0BA0-43B6-9C2F-9CE9057D4DF0}" srcOrd="2" destOrd="0" parTransId="{CDF3E7AF-3551-41F1-9ECA-68622446D3EB}" sibTransId="{A32A4E3C-B771-4D7B-AAFB-AD232D6DC34D}"/>
    <dgm:cxn modelId="{27970524-7F62-4FFC-A39A-449D4F8CD7CE}" type="presParOf" srcId="{82317BD2-FB94-48E1-BC4C-A946E0BA34B6}" destId="{6C1D086C-E1C9-4393-9235-13A5556BA65D}" srcOrd="0" destOrd="0" presId="urn:microsoft.com/office/officeart/2005/8/layout/chevron2"/>
    <dgm:cxn modelId="{3880F947-8BA2-482E-89DE-B6DEAC05E29B}" type="presParOf" srcId="{6C1D086C-E1C9-4393-9235-13A5556BA65D}" destId="{EEC96708-49E3-4A42-ACE1-C2020844E9DB}" srcOrd="0" destOrd="0" presId="urn:microsoft.com/office/officeart/2005/8/layout/chevron2"/>
    <dgm:cxn modelId="{800424F3-C067-44D2-8417-FC7EBCAB73E7}" type="presParOf" srcId="{6C1D086C-E1C9-4393-9235-13A5556BA65D}" destId="{B0D5B842-CFD7-4F5C-8567-ABE9C6F65A41}" srcOrd="1" destOrd="0" presId="urn:microsoft.com/office/officeart/2005/8/layout/chevron2"/>
    <dgm:cxn modelId="{1080581C-FB47-4C6A-94C4-CA218B3DC05E}" type="presParOf" srcId="{82317BD2-FB94-48E1-BC4C-A946E0BA34B6}" destId="{95C2C221-9BB3-4F27-ABEA-3C9C634746D8}" srcOrd="1" destOrd="0" presId="urn:microsoft.com/office/officeart/2005/8/layout/chevron2"/>
    <dgm:cxn modelId="{168CE8AD-0E0D-447F-AFAE-48F430DFCD0D}" type="presParOf" srcId="{82317BD2-FB94-48E1-BC4C-A946E0BA34B6}" destId="{5D56E540-3580-486B-8A26-E6493EE00583}" srcOrd="2" destOrd="0" presId="urn:microsoft.com/office/officeart/2005/8/layout/chevron2"/>
    <dgm:cxn modelId="{C454CDBB-D62A-4B3E-BF43-7AEFC98F8EFE}" type="presParOf" srcId="{5D56E540-3580-486B-8A26-E6493EE00583}" destId="{75BB0E8A-43DB-48C7-A63A-6F886446931F}" srcOrd="0" destOrd="0" presId="urn:microsoft.com/office/officeart/2005/8/layout/chevron2"/>
    <dgm:cxn modelId="{D246E8CD-1769-41A6-9DAA-F5FD1A848795}" type="presParOf" srcId="{5D56E540-3580-486B-8A26-E6493EE00583}" destId="{23879B60-AA3C-4F85-B34A-EACE2437749A}" srcOrd="1" destOrd="0" presId="urn:microsoft.com/office/officeart/2005/8/layout/chevron2"/>
    <dgm:cxn modelId="{D8F5B870-7667-44FB-9334-CE0440C85BFF}" type="presParOf" srcId="{82317BD2-FB94-48E1-BC4C-A946E0BA34B6}" destId="{5C8F247B-6C82-443F-8937-DB94A5EF8871}" srcOrd="3" destOrd="0" presId="urn:microsoft.com/office/officeart/2005/8/layout/chevron2"/>
    <dgm:cxn modelId="{77D12CD5-2727-4457-A608-188AD94F6565}" type="presParOf" srcId="{82317BD2-FB94-48E1-BC4C-A946E0BA34B6}" destId="{6B14C85C-A315-423E-86AF-D0DB467E8042}" srcOrd="4" destOrd="0" presId="urn:microsoft.com/office/officeart/2005/8/layout/chevron2"/>
    <dgm:cxn modelId="{782B42CF-906C-412C-A8D8-FEFBD24D3E34}" type="presParOf" srcId="{6B14C85C-A315-423E-86AF-D0DB467E8042}" destId="{A045862D-78AC-44F9-BFD7-D9799FC417C9}" srcOrd="0" destOrd="0" presId="urn:microsoft.com/office/officeart/2005/8/layout/chevron2"/>
    <dgm:cxn modelId="{60D2F3FD-5D1F-4E6E-BCAE-0770C3443D3A}" type="presParOf" srcId="{6B14C85C-A315-423E-86AF-D0DB467E8042}" destId="{150E90A1-794C-4F0B-9934-A8E58ABC48E6}" srcOrd="1" destOrd="0" presId="urn:microsoft.com/office/officeart/2005/8/layout/chevron2"/>
    <dgm:cxn modelId="{4C8E70BB-9D6A-4EEA-AF94-657372B4830F}" type="presParOf" srcId="{82317BD2-FB94-48E1-BC4C-A946E0BA34B6}" destId="{E39FE392-81EE-405C-AFA2-A7A9E94329F7}" srcOrd="5" destOrd="0" presId="urn:microsoft.com/office/officeart/2005/8/layout/chevron2"/>
    <dgm:cxn modelId="{553AAFC7-3744-4FB2-93B1-E3886ED1CFF6}" type="presParOf" srcId="{82317BD2-FB94-48E1-BC4C-A946E0BA34B6}" destId="{9F8822EB-FA47-4DF0-9226-122A445F4A28}" srcOrd="6" destOrd="0" presId="urn:microsoft.com/office/officeart/2005/8/layout/chevron2"/>
    <dgm:cxn modelId="{45CDE263-93CB-4FC7-914E-7974DDBF0D12}" type="presParOf" srcId="{9F8822EB-FA47-4DF0-9226-122A445F4A28}" destId="{0130137D-86A9-4CA1-B654-96683AA3D24E}" srcOrd="0" destOrd="0" presId="urn:microsoft.com/office/officeart/2005/8/layout/chevron2"/>
    <dgm:cxn modelId="{29FF8A8A-F52F-4FF3-A30C-4C1CD8C9FAFC}" type="presParOf" srcId="{9F8822EB-FA47-4DF0-9226-122A445F4A28}" destId="{CBD335E0-8D6A-469E-B81C-6247BD0A19E2}"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660900"/>
        <a:chOff x="0" y="0"/>
        <a:chExt cx="6096000" cy="4660900"/>
      </a:xfrm>
    </dsp:grpSpPr>
    <dsp:sp modelId="{EEC96708-49E3-4A42-ACE1-C2020844E9DB}">
      <dsp:nvSpPr>
        <dsp:cNvPr id="3" name="燕尾形 2"/>
        <dsp:cNvSpPr/>
      </dsp:nvSpPr>
      <dsp:spPr bwMode="white">
        <a:xfrm rot="5400000">
          <a:off x="-191271" y="191271"/>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191271"/>
        <a:ext cx="1275139" cy="892598"/>
      </dsp:txXfrm>
    </dsp:sp>
    <dsp:sp modelId="{B0D5B842-CFD7-4F5C-8567-ABE9C6F65A41}">
      <dsp:nvSpPr>
        <dsp:cNvPr id="4" name="同侧圆角矩形 3"/>
        <dsp:cNvSpPr/>
      </dsp:nvSpPr>
      <dsp:spPr bwMode="white">
        <a:xfrm rot="5400000">
          <a:off x="3079878" y="-2187281"/>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rgbClr val="FF0000"/>
              </a:solidFill>
              <a:latin typeface="楷体" panose="02010609060101010101" pitchFamily="49" charset="-122"/>
              <a:ea typeface="楷体" panose="02010609060101010101" pitchFamily="49" charset="-122"/>
            </a:rPr>
            <a:t>分支限界法基本思想</a:t>
          </a:r>
          <a:endParaRPr lang="zh-CN" altLang="en-US" sz="3600" dirty="0">
            <a:solidFill>
              <a:srgbClr val="FF0000"/>
            </a:solidFill>
            <a:latin typeface="楷体" panose="02010609060101010101" pitchFamily="49" charset="-122"/>
            <a:ea typeface="楷体" panose="02010609060101010101" pitchFamily="49" charset="-122"/>
          </a:endParaRPr>
        </a:p>
      </dsp:txBody>
      <dsp:txXfrm rot="5400000">
        <a:off x="3079878" y="-2187281"/>
        <a:ext cx="828841" cy="5203402"/>
      </dsp:txXfrm>
    </dsp:sp>
    <dsp:sp modelId="{75BB0E8A-43DB-48C7-A63A-6F886446931F}">
      <dsp:nvSpPr>
        <dsp:cNvPr id="5" name="燕尾形 4"/>
        <dsp:cNvSpPr/>
      </dsp:nvSpPr>
      <dsp:spPr bwMode="white">
        <a:xfrm rot="5400000">
          <a:off x="-191271" y="1319858"/>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1319858"/>
        <a:ext cx="1275139" cy="892598"/>
      </dsp:txXfrm>
    </dsp:sp>
    <dsp:sp modelId="{23879B60-AA3C-4F85-B34A-EACE2437749A}">
      <dsp:nvSpPr>
        <dsp:cNvPr id="6" name="同侧圆角矩形 5"/>
        <dsp:cNvSpPr/>
      </dsp:nvSpPr>
      <dsp:spPr bwMode="white">
        <a:xfrm rot="5400000">
          <a:off x="3079878" y="-1058694"/>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chemeClr val="tx2">
                  <a:lumMod val="50000"/>
                </a:schemeClr>
              </a:solidFill>
              <a:latin typeface="楷体" panose="02010609060101010101" pitchFamily="49" charset="-122"/>
              <a:ea typeface="楷体" panose="02010609060101010101" pitchFamily="49" charset="-122"/>
            </a:rPr>
            <a:t>分支定界法设计要素</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sp:txBody>
      <dsp:txXfrm rot="5400000">
        <a:off x="3079878" y="-1058694"/>
        <a:ext cx="828841" cy="5203402"/>
      </dsp:txXfrm>
    </dsp:sp>
    <dsp:sp modelId="{A045862D-78AC-44F9-BFD7-D9799FC417C9}">
      <dsp:nvSpPr>
        <dsp:cNvPr id="7" name="燕尾形 6"/>
        <dsp:cNvSpPr/>
      </dsp:nvSpPr>
      <dsp:spPr bwMode="white">
        <a:xfrm rot="5400000">
          <a:off x="-191271" y="2448445"/>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2448445"/>
        <a:ext cx="1275139" cy="892598"/>
      </dsp:txXfrm>
    </dsp:sp>
    <dsp:sp modelId="{150E90A1-794C-4F0B-9934-A8E58ABC48E6}">
      <dsp:nvSpPr>
        <dsp:cNvPr id="8" name="同侧圆角矩形 7"/>
        <dsp:cNvSpPr/>
      </dsp:nvSpPr>
      <dsp:spPr bwMode="white">
        <a:xfrm rot="5400000">
          <a:off x="3079878" y="69893"/>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chemeClr val="tx2">
                  <a:lumMod val="50000"/>
                </a:schemeClr>
              </a:solidFill>
              <a:latin typeface="楷体" panose="02010609060101010101" pitchFamily="49" charset="-122"/>
              <a:ea typeface="楷体" panose="02010609060101010101" pitchFamily="49" charset="-122"/>
            </a:rPr>
            <a:t>案例分析：装载问题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sp:txBody>
      <dsp:txXfrm rot="5400000">
        <a:off x="3079878" y="69893"/>
        <a:ext cx="828841" cy="5203402"/>
      </dsp:txXfrm>
    </dsp:sp>
    <dsp:sp modelId="{0130137D-86A9-4CA1-B654-96683AA3D24E}">
      <dsp:nvSpPr>
        <dsp:cNvPr id="9" name="燕尾形 8"/>
        <dsp:cNvSpPr/>
      </dsp:nvSpPr>
      <dsp:spPr bwMode="white">
        <a:xfrm rot="5400000">
          <a:off x="-191271" y="3577032"/>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3577032"/>
        <a:ext cx="1275139" cy="892598"/>
      </dsp:txXfrm>
    </dsp:sp>
    <dsp:sp modelId="{CBD335E0-8D6A-469E-B81C-6247BD0A19E2}">
      <dsp:nvSpPr>
        <dsp:cNvPr id="10" name="同侧圆角矩形 9"/>
        <dsp:cNvSpPr/>
      </dsp:nvSpPr>
      <dsp:spPr bwMode="white">
        <a:xfrm rot="5400000">
          <a:off x="3079878" y="1198480"/>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sp:txBody>
      <dsp:txXfrm rot="5400000">
        <a:off x="3079878" y="1198480"/>
        <a:ext cx="828841" cy="5203402"/>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660900"/>
        <a:chOff x="0" y="0"/>
        <a:chExt cx="6096000" cy="4660900"/>
      </a:xfrm>
    </dsp:grpSpPr>
    <dsp:sp modelId="{EEC96708-49E3-4A42-ACE1-C2020844E9DB}">
      <dsp:nvSpPr>
        <dsp:cNvPr id="3" name="燕尾形 2"/>
        <dsp:cNvSpPr/>
      </dsp:nvSpPr>
      <dsp:spPr bwMode="white">
        <a:xfrm rot="5400000">
          <a:off x="-191271" y="191271"/>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191271"/>
        <a:ext cx="1275139" cy="892598"/>
      </dsp:txXfrm>
    </dsp:sp>
    <dsp:sp modelId="{B0D5B842-CFD7-4F5C-8567-ABE9C6F65A41}">
      <dsp:nvSpPr>
        <dsp:cNvPr id="4" name="同侧圆角矩形 3"/>
        <dsp:cNvSpPr/>
      </dsp:nvSpPr>
      <dsp:spPr bwMode="white">
        <a:xfrm rot="5400000">
          <a:off x="3079878" y="-2187281"/>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chemeClr val="tx1">
                  <a:lumMod val="50000"/>
                </a:schemeClr>
              </a:solidFill>
              <a:latin typeface="楷体" panose="02010609060101010101" pitchFamily="49" charset="-122"/>
              <a:ea typeface="楷体" panose="02010609060101010101" pitchFamily="49" charset="-122"/>
            </a:rPr>
            <a:t>分支限界法基本思想</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sp:txBody>
      <dsp:txXfrm rot="5400000">
        <a:off x="3079878" y="-2187281"/>
        <a:ext cx="828841" cy="5203402"/>
      </dsp:txXfrm>
    </dsp:sp>
    <dsp:sp modelId="{75BB0E8A-43DB-48C7-A63A-6F886446931F}">
      <dsp:nvSpPr>
        <dsp:cNvPr id="5" name="燕尾形 4"/>
        <dsp:cNvSpPr/>
      </dsp:nvSpPr>
      <dsp:spPr bwMode="white">
        <a:xfrm rot="5400000">
          <a:off x="-191271" y="1319858"/>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1319858"/>
        <a:ext cx="1275139" cy="892598"/>
      </dsp:txXfrm>
    </dsp:sp>
    <dsp:sp modelId="{23879B60-AA3C-4F85-B34A-EACE2437749A}">
      <dsp:nvSpPr>
        <dsp:cNvPr id="6" name="同侧圆角矩形 5"/>
        <dsp:cNvSpPr/>
      </dsp:nvSpPr>
      <dsp:spPr bwMode="white">
        <a:xfrm rot="5400000">
          <a:off x="3079878" y="-1058694"/>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rgbClr val="FF0000"/>
              </a:solidFill>
              <a:latin typeface="楷体" panose="02010609060101010101" pitchFamily="49" charset="-122"/>
              <a:ea typeface="楷体" panose="02010609060101010101" pitchFamily="49" charset="-122"/>
            </a:rPr>
            <a:t>分支定界法设计要素</a:t>
          </a:r>
          <a:endParaRPr lang="zh-CN" altLang="en-US" sz="3600" dirty="0">
            <a:solidFill>
              <a:srgbClr val="FF0000"/>
            </a:solidFill>
            <a:latin typeface="楷体" panose="02010609060101010101" pitchFamily="49" charset="-122"/>
            <a:ea typeface="楷体" panose="02010609060101010101" pitchFamily="49" charset="-122"/>
          </a:endParaRPr>
        </a:p>
      </dsp:txBody>
      <dsp:txXfrm rot="5400000">
        <a:off x="3079878" y="-1058694"/>
        <a:ext cx="828841" cy="5203402"/>
      </dsp:txXfrm>
    </dsp:sp>
    <dsp:sp modelId="{A045862D-78AC-44F9-BFD7-D9799FC417C9}">
      <dsp:nvSpPr>
        <dsp:cNvPr id="7" name="燕尾形 6"/>
        <dsp:cNvSpPr/>
      </dsp:nvSpPr>
      <dsp:spPr bwMode="white">
        <a:xfrm rot="5400000">
          <a:off x="-191271" y="2448445"/>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2448445"/>
        <a:ext cx="1275139" cy="892598"/>
      </dsp:txXfrm>
    </dsp:sp>
    <dsp:sp modelId="{150E90A1-794C-4F0B-9934-A8E58ABC48E6}">
      <dsp:nvSpPr>
        <dsp:cNvPr id="8" name="同侧圆角矩形 7"/>
        <dsp:cNvSpPr/>
      </dsp:nvSpPr>
      <dsp:spPr bwMode="white">
        <a:xfrm rot="5400000">
          <a:off x="3079878" y="69893"/>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chemeClr val="tx2">
                  <a:lumMod val="50000"/>
                </a:schemeClr>
              </a:solidFill>
              <a:latin typeface="楷体" panose="02010609060101010101" pitchFamily="49" charset="-122"/>
              <a:ea typeface="楷体" panose="02010609060101010101" pitchFamily="49" charset="-122"/>
            </a:rPr>
            <a:t>案例分析：装载问题</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sp:txBody>
      <dsp:txXfrm rot="5400000">
        <a:off x="3079878" y="69893"/>
        <a:ext cx="828841" cy="5203402"/>
      </dsp:txXfrm>
    </dsp:sp>
    <dsp:sp modelId="{0130137D-86A9-4CA1-B654-96683AA3D24E}">
      <dsp:nvSpPr>
        <dsp:cNvPr id="9" name="燕尾形 8"/>
        <dsp:cNvSpPr/>
      </dsp:nvSpPr>
      <dsp:spPr bwMode="white">
        <a:xfrm rot="5400000">
          <a:off x="-191271" y="3577032"/>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3577032"/>
        <a:ext cx="1275139" cy="892598"/>
      </dsp:txXfrm>
    </dsp:sp>
    <dsp:sp modelId="{CBD335E0-8D6A-469E-B81C-6247BD0A19E2}">
      <dsp:nvSpPr>
        <dsp:cNvPr id="10" name="同侧圆角矩形 9"/>
        <dsp:cNvSpPr/>
      </dsp:nvSpPr>
      <dsp:spPr bwMode="white">
        <a:xfrm rot="5400000">
          <a:off x="3079878" y="1198480"/>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sp:txBody>
      <dsp:txXfrm rot="5400000">
        <a:off x="3079878" y="1198480"/>
        <a:ext cx="828841" cy="5203402"/>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660900"/>
        <a:chOff x="0" y="0"/>
        <a:chExt cx="6096000" cy="4660900"/>
      </a:xfrm>
    </dsp:grpSpPr>
    <dsp:sp modelId="{EEC96708-49E3-4A42-ACE1-C2020844E9DB}">
      <dsp:nvSpPr>
        <dsp:cNvPr id="3" name="燕尾形 2"/>
        <dsp:cNvSpPr/>
      </dsp:nvSpPr>
      <dsp:spPr bwMode="white">
        <a:xfrm rot="5400000">
          <a:off x="-191271" y="191271"/>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191271"/>
        <a:ext cx="1275139" cy="892598"/>
      </dsp:txXfrm>
    </dsp:sp>
    <dsp:sp modelId="{B0D5B842-CFD7-4F5C-8567-ABE9C6F65A41}">
      <dsp:nvSpPr>
        <dsp:cNvPr id="4" name="同侧圆角矩形 3"/>
        <dsp:cNvSpPr/>
      </dsp:nvSpPr>
      <dsp:spPr bwMode="white">
        <a:xfrm rot="5400000">
          <a:off x="3079878" y="-2187281"/>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chemeClr val="tx1">
                  <a:lumMod val="50000"/>
                </a:schemeClr>
              </a:solidFill>
              <a:latin typeface="楷体" panose="02010609060101010101" pitchFamily="49" charset="-122"/>
              <a:ea typeface="楷体" panose="02010609060101010101" pitchFamily="49" charset="-122"/>
            </a:rPr>
            <a:t>分支限界法基本思想</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sp:txBody>
      <dsp:txXfrm rot="5400000">
        <a:off x="3079878" y="-2187281"/>
        <a:ext cx="828841" cy="5203402"/>
      </dsp:txXfrm>
    </dsp:sp>
    <dsp:sp modelId="{75BB0E8A-43DB-48C7-A63A-6F886446931F}">
      <dsp:nvSpPr>
        <dsp:cNvPr id="5" name="燕尾形 4"/>
        <dsp:cNvSpPr/>
      </dsp:nvSpPr>
      <dsp:spPr bwMode="white">
        <a:xfrm rot="5400000">
          <a:off x="-191271" y="1319858"/>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1319858"/>
        <a:ext cx="1275139" cy="892598"/>
      </dsp:txXfrm>
    </dsp:sp>
    <dsp:sp modelId="{23879B60-AA3C-4F85-B34A-EACE2437749A}">
      <dsp:nvSpPr>
        <dsp:cNvPr id="6" name="同侧圆角矩形 5"/>
        <dsp:cNvSpPr/>
      </dsp:nvSpPr>
      <dsp:spPr bwMode="white">
        <a:xfrm rot="5400000">
          <a:off x="3079878" y="-1058694"/>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chemeClr val="tx1">
                  <a:lumMod val="50000"/>
                </a:schemeClr>
              </a:solidFill>
              <a:latin typeface="楷体" panose="02010609060101010101" pitchFamily="49" charset="-122"/>
              <a:ea typeface="楷体" panose="02010609060101010101" pitchFamily="49" charset="-122"/>
            </a:rPr>
            <a:t>分支定界法设计要素</a:t>
          </a:r>
          <a:endParaRPr lang="zh-CN" altLang="en-US" sz="3600" dirty="0">
            <a:solidFill>
              <a:schemeClr val="tx1">
                <a:lumMod val="50000"/>
              </a:schemeClr>
            </a:solidFill>
            <a:latin typeface="楷体" panose="02010609060101010101" pitchFamily="49" charset="-122"/>
            <a:ea typeface="楷体" panose="02010609060101010101" pitchFamily="49" charset="-122"/>
          </a:endParaRPr>
        </a:p>
      </dsp:txBody>
      <dsp:txXfrm rot="5400000">
        <a:off x="3079878" y="-1058694"/>
        <a:ext cx="828841" cy="5203402"/>
      </dsp:txXfrm>
    </dsp:sp>
    <dsp:sp modelId="{A045862D-78AC-44F9-BFD7-D9799FC417C9}">
      <dsp:nvSpPr>
        <dsp:cNvPr id="7" name="燕尾形 6"/>
        <dsp:cNvSpPr/>
      </dsp:nvSpPr>
      <dsp:spPr bwMode="white">
        <a:xfrm rot="5400000">
          <a:off x="-191271" y="2448445"/>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2448445"/>
        <a:ext cx="1275139" cy="892598"/>
      </dsp:txXfrm>
    </dsp:sp>
    <dsp:sp modelId="{150E90A1-794C-4F0B-9934-A8E58ABC48E6}">
      <dsp:nvSpPr>
        <dsp:cNvPr id="8" name="同侧圆角矩形 7"/>
        <dsp:cNvSpPr/>
      </dsp:nvSpPr>
      <dsp:spPr bwMode="white">
        <a:xfrm rot="5400000">
          <a:off x="3079878" y="69893"/>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rgbClr val="FF0000"/>
              </a:solidFill>
              <a:latin typeface="楷体" panose="02010609060101010101" pitchFamily="49" charset="-122"/>
              <a:ea typeface="楷体" panose="02010609060101010101" pitchFamily="49" charset="-122"/>
            </a:rPr>
            <a:t>案例分析：装载问题</a:t>
          </a:r>
          <a:endParaRPr lang="zh-CN" altLang="en-US" sz="3600" dirty="0">
            <a:solidFill>
              <a:srgbClr val="FF0000"/>
            </a:solidFill>
            <a:latin typeface="楷体" panose="02010609060101010101" pitchFamily="49" charset="-122"/>
            <a:ea typeface="楷体" panose="02010609060101010101" pitchFamily="49" charset="-122"/>
          </a:endParaRPr>
        </a:p>
      </dsp:txBody>
      <dsp:txXfrm rot="5400000">
        <a:off x="3079878" y="69893"/>
        <a:ext cx="828841" cy="5203402"/>
      </dsp:txXfrm>
    </dsp:sp>
    <dsp:sp modelId="{0130137D-86A9-4CA1-B654-96683AA3D24E}">
      <dsp:nvSpPr>
        <dsp:cNvPr id="9" name="燕尾形 8"/>
        <dsp:cNvSpPr/>
      </dsp:nvSpPr>
      <dsp:spPr bwMode="white">
        <a:xfrm rot="5400000">
          <a:off x="-191271" y="3577032"/>
          <a:ext cx="1275139" cy="892598"/>
        </a:xfrm>
        <a:prstGeom prst="chevron">
          <a:avLst/>
        </a:prstGeom>
      </dsp:spPr>
      <dsp:style>
        <a:lnRef idx="2">
          <a:schemeClr val="accent1"/>
        </a:lnRef>
        <a:fillRef idx="1">
          <a:schemeClr val="accent1"/>
        </a:fillRef>
        <a:effectRef idx="0">
          <a:scrgbClr r="0" g="0" b="0"/>
        </a:effectRef>
        <a:fontRef idx="minor">
          <a:schemeClr val="lt1"/>
        </a:fontRef>
      </dsp:style>
      <dsp:txBody>
        <a:bodyPr rot="-5400000"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800" dirty="0" smtClean="0">
              <a:latin typeface="Times New Roman" panose="02020603050405020304" pitchFamily="18" charset="0"/>
              <a:ea typeface="楷体" panose="02010609060101010101" pitchFamily="49" charset="-122"/>
              <a:cs typeface="Times New Roman" panose="02020603050405020304" pitchFamily="18" charset="0"/>
            </a:rPr>
            <a:t>4</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dsp:txBody>
      <dsp:txXfrm rot="5400000">
        <a:off x="-191271" y="3577032"/>
        <a:ext cx="1275139" cy="892598"/>
      </dsp:txXfrm>
    </dsp:sp>
    <dsp:sp modelId="{CBD335E0-8D6A-469E-B81C-6247BD0A19E2}">
      <dsp:nvSpPr>
        <dsp:cNvPr id="10" name="同侧圆角矩形 9"/>
        <dsp:cNvSpPr/>
      </dsp:nvSpPr>
      <dsp:spPr bwMode="white">
        <a:xfrm rot="5400000">
          <a:off x="3079878" y="1198480"/>
          <a:ext cx="828841" cy="5203402"/>
        </a:xfrm>
        <a:prstGeom prst="round2SameRect">
          <a:avLst/>
        </a:prstGeom>
      </dsp:spPr>
      <dsp:style>
        <a:lnRef idx="2">
          <a:schemeClr val="accent1"/>
        </a:lnRef>
        <a:fillRef idx="1">
          <a:schemeClr val="lt1">
            <a:alpha val="90000"/>
          </a:schemeClr>
        </a:fillRef>
        <a:effectRef idx="0">
          <a:scrgbClr r="0" g="0" b="0"/>
        </a:effectRef>
        <a:fontRef idx="minor"/>
      </dsp:style>
      <dsp:txBody>
        <a:bodyPr rot="-5400000" lIns="256032" tIns="22860" rIns="22860" bIns="228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nSpc>
              <a:spcPct val="100000"/>
            </a:lnSpc>
            <a:spcBef>
              <a:spcPct val="0"/>
            </a:spcBef>
            <a:spcAft>
              <a:spcPct val="15000"/>
            </a:spcAft>
            <a:buChar char="•"/>
          </a:pPr>
          <a:r>
            <a:rPr lang="zh-CN" altLang="en-US" sz="3600" dirty="0" smtClean="0">
              <a:solidFill>
                <a:schemeClr val="tx2">
                  <a:lumMod val="50000"/>
                </a:schemeClr>
              </a:solidFill>
              <a:latin typeface="楷体" panose="02010609060101010101" pitchFamily="49" charset="-122"/>
              <a:ea typeface="楷体" panose="02010609060101010101" pitchFamily="49" charset="-122"/>
            </a:rPr>
            <a:t>其它案例分析</a:t>
          </a:r>
          <a:endParaRPr lang="zh-CN" altLang="en-US" sz="3600" dirty="0">
            <a:solidFill>
              <a:schemeClr val="tx2">
                <a:lumMod val="50000"/>
              </a:schemeClr>
            </a:solidFill>
            <a:latin typeface="楷体" panose="02010609060101010101" pitchFamily="49" charset="-122"/>
            <a:ea typeface="楷体" panose="02010609060101010101" pitchFamily="49" charset="-122"/>
          </a:endParaRPr>
        </a:p>
      </dsp:txBody>
      <dsp:txXfrm rot="5400000">
        <a:off x="3079878" y="1198480"/>
        <a:ext cx="828841" cy="52034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96708-49E3-4A42-ACE1-C2020844E9DB}">
      <dsp:nvSpPr>
        <dsp:cNvPr id="0" name=""/>
        <dsp:cNvSpPr/>
      </dsp:nvSpPr>
      <dsp:spPr>
        <a:xfrm rot="5400000">
          <a:off x="-190983" y="194490"/>
          <a:ext cx="1273220" cy="89125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itchFamily="18" charset="0"/>
              <a:ea typeface="楷体" pitchFamily="49" charset="-122"/>
              <a:cs typeface="Times New Roman" pitchFamily="18" charset="0"/>
            </a:rPr>
            <a:t>1</a:t>
          </a:r>
          <a:endParaRPr lang="zh-CN" altLang="en-US" sz="2800" kern="1200" dirty="0">
            <a:latin typeface="Times New Roman" pitchFamily="18" charset="0"/>
            <a:ea typeface="楷体" pitchFamily="49" charset="-122"/>
            <a:cs typeface="Times New Roman" pitchFamily="18" charset="0"/>
          </a:endParaRPr>
        </a:p>
      </dsp:txBody>
      <dsp:txXfrm rot="-5400000">
        <a:off x="0" y="449134"/>
        <a:ext cx="891254" cy="381966"/>
      </dsp:txXfrm>
    </dsp:sp>
    <dsp:sp modelId="{B0D5B842-CFD7-4F5C-8567-ABE9C6F65A41}">
      <dsp:nvSpPr>
        <dsp:cNvPr id="0" name=""/>
        <dsp:cNvSpPr/>
      </dsp:nvSpPr>
      <dsp:spPr>
        <a:xfrm rot="5400000">
          <a:off x="3079612" y="-2184851"/>
          <a:ext cx="828028" cy="52047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itchFamily="49" charset="-122"/>
              <a:ea typeface="楷体" pitchFamily="49" charset="-122"/>
            </a:rPr>
            <a:t>分支限界法基本思想</a:t>
          </a:r>
          <a:endParaRPr lang="zh-CN" altLang="en-US" sz="3600" kern="1200" dirty="0">
            <a:solidFill>
              <a:schemeClr val="tx1">
                <a:lumMod val="50000"/>
              </a:schemeClr>
            </a:solidFill>
            <a:latin typeface="楷体" pitchFamily="49" charset="-122"/>
            <a:ea typeface="楷体" pitchFamily="49" charset="-122"/>
          </a:endParaRPr>
        </a:p>
      </dsp:txBody>
      <dsp:txXfrm rot="-5400000">
        <a:off x="891254" y="43928"/>
        <a:ext cx="5164324" cy="747186"/>
      </dsp:txXfrm>
    </dsp:sp>
    <dsp:sp modelId="{75BB0E8A-43DB-48C7-A63A-6F886446931F}">
      <dsp:nvSpPr>
        <dsp:cNvPr id="0" name=""/>
        <dsp:cNvSpPr/>
      </dsp:nvSpPr>
      <dsp:spPr>
        <a:xfrm rot="5400000">
          <a:off x="-190983" y="1321378"/>
          <a:ext cx="1273220" cy="89125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itchFamily="18" charset="0"/>
              <a:ea typeface="楷体" pitchFamily="49" charset="-122"/>
              <a:cs typeface="Times New Roman" pitchFamily="18" charset="0"/>
            </a:rPr>
            <a:t>2</a:t>
          </a:r>
          <a:endParaRPr lang="zh-CN" altLang="en-US" sz="2800" kern="1200" dirty="0">
            <a:latin typeface="Times New Roman" pitchFamily="18" charset="0"/>
            <a:ea typeface="楷体" pitchFamily="49" charset="-122"/>
            <a:cs typeface="Times New Roman" pitchFamily="18" charset="0"/>
          </a:endParaRPr>
        </a:p>
      </dsp:txBody>
      <dsp:txXfrm rot="-5400000">
        <a:off x="0" y="1576022"/>
        <a:ext cx="891254" cy="381966"/>
      </dsp:txXfrm>
    </dsp:sp>
    <dsp:sp modelId="{23879B60-AA3C-4F85-B34A-EACE2437749A}">
      <dsp:nvSpPr>
        <dsp:cNvPr id="0" name=""/>
        <dsp:cNvSpPr/>
      </dsp:nvSpPr>
      <dsp:spPr>
        <a:xfrm rot="5400000">
          <a:off x="3079830" y="-1058180"/>
          <a:ext cx="827593" cy="52047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itchFamily="49" charset="-122"/>
              <a:ea typeface="楷体" pitchFamily="49" charset="-122"/>
            </a:rPr>
            <a:t>分支定界法设计要素</a:t>
          </a:r>
          <a:endParaRPr lang="zh-CN" altLang="en-US" sz="3600" kern="1200" dirty="0">
            <a:solidFill>
              <a:schemeClr val="tx1">
                <a:lumMod val="50000"/>
              </a:schemeClr>
            </a:solidFill>
            <a:latin typeface="楷体" pitchFamily="49" charset="-122"/>
            <a:ea typeface="楷体" pitchFamily="49" charset="-122"/>
          </a:endParaRPr>
        </a:p>
      </dsp:txBody>
      <dsp:txXfrm rot="-5400000">
        <a:off x="891254" y="1170796"/>
        <a:ext cx="5164345" cy="746793"/>
      </dsp:txXfrm>
    </dsp:sp>
    <dsp:sp modelId="{A045862D-78AC-44F9-BFD7-D9799FC417C9}">
      <dsp:nvSpPr>
        <dsp:cNvPr id="0" name=""/>
        <dsp:cNvSpPr/>
      </dsp:nvSpPr>
      <dsp:spPr>
        <a:xfrm rot="5400000">
          <a:off x="-190983" y="2448267"/>
          <a:ext cx="1273220" cy="89125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itchFamily="18" charset="0"/>
              <a:ea typeface="楷体" pitchFamily="49" charset="-122"/>
              <a:cs typeface="Times New Roman" pitchFamily="18" charset="0"/>
            </a:rPr>
            <a:t>3</a:t>
          </a:r>
          <a:endParaRPr lang="zh-CN" altLang="en-US" sz="2800" kern="1200" dirty="0">
            <a:latin typeface="Times New Roman" pitchFamily="18" charset="0"/>
            <a:ea typeface="楷体" pitchFamily="49" charset="-122"/>
            <a:cs typeface="Times New Roman" pitchFamily="18" charset="0"/>
          </a:endParaRPr>
        </a:p>
      </dsp:txBody>
      <dsp:txXfrm rot="-5400000">
        <a:off x="0" y="2702911"/>
        <a:ext cx="891254" cy="381966"/>
      </dsp:txXfrm>
    </dsp:sp>
    <dsp:sp modelId="{150E90A1-794C-4F0B-9934-A8E58ABC48E6}">
      <dsp:nvSpPr>
        <dsp:cNvPr id="0" name=""/>
        <dsp:cNvSpPr/>
      </dsp:nvSpPr>
      <dsp:spPr>
        <a:xfrm rot="5400000">
          <a:off x="3079830" y="68707"/>
          <a:ext cx="827593" cy="52047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chemeClr val="tx1">
                  <a:lumMod val="50000"/>
                </a:schemeClr>
              </a:solidFill>
              <a:latin typeface="楷体" pitchFamily="49" charset="-122"/>
              <a:ea typeface="楷体" pitchFamily="49" charset="-122"/>
            </a:rPr>
            <a:t>案例分析：装载问题</a:t>
          </a:r>
          <a:endParaRPr lang="zh-CN" altLang="en-US" sz="3600" kern="1200" dirty="0">
            <a:solidFill>
              <a:schemeClr val="tx1">
                <a:lumMod val="50000"/>
              </a:schemeClr>
            </a:solidFill>
            <a:latin typeface="楷体" pitchFamily="49" charset="-122"/>
            <a:ea typeface="楷体" pitchFamily="49" charset="-122"/>
          </a:endParaRPr>
        </a:p>
      </dsp:txBody>
      <dsp:txXfrm rot="-5400000">
        <a:off x="891254" y="2297683"/>
        <a:ext cx="5164345" cy="746793"/>
      </dsp:txXfrm>
    </dsp:sp>
    <dsp:sp modelId="{0130137D-86A9-4CA1-B654-96683AA3D24E}">
      <dsp:nvSpPr>
        <dsp:cNvPr id="0" name=""/>
        <dsp:cNvSpPr/>
      </dsp:nvSpPr>
      <dsp:spPr>
        <a:xfrm rot="5400000">
          <a:off x="-190983" y="3575155"/>
          <a:ext cx="1273220" cy="89125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altLang="zh-CN" sz="2800" kern="1200" dirty="0" smtClean="0">
              <a:latin typeface="Times New Roman" pitchFamily="18" charset="0"/>
              <a:ea typeface="楷体" pitchFamily="49" charset="-122"/>
              <a:cs typeface="Times New Roman" pitchFamily="18" charset="0"/>
            </a:rPr>
            <a:t>4</a:t>
          </a:r>
          <a:endParaRPr lang="zh-CN" altLang="en-US" sz="2800" kern="1200" dirty="0">
            <a:latin typeface="Times New Roman" pitchFamily="18" charset="0"/>
            <a:ea typeface="楷体" pitchFamily="49" charset="-122"/>
            <a:cs typeface="Times New Roman" pitchFamily="18" charset="0"/>
          </a:endParaRPr>
        </a:p>
      </dsp:txBody>
      <dsp:txXfrm rot="-5400000">
        <a:off x="0" y="3829799"/>
        <a:ext cx="891254" cy="381966"/>
      </dsp:txXfrm>
    </dsp:sp>
    <dsp:sp modelId="{CBD335E0-8D6A-469E-B81C-6247BD0A19E2}">
      <dsp:nvSpPr>
        <dsp:cNvPr id="0" name=""/>
        <dsp:cNvSpPr/>
      </dsp:nvSpPr>
      <dsp:spPr>
        <a:xfrm rot="5400000">
          <a:off x="3079830" y="1195595"/>
          <a:ext cx="827593" cy="520474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zh-CN" altLang="en-US" sz="3600" kern="1200" dirty="0" smtClean="0">
              <a:solidFill>
                <a:srgbClr val="FF0000"/>
              </a:solidFill>
              <a:latin typeface="楷体" pitchFamily="49" charset="-122"/>
              <a:ea typeface="楷体" pitchFamily="49" charset="-122"/>
            </a:rPr>
            <a:t>其它案例分析</a:t>
          </a:r>
          <a:endParaRPr lang="zh-CN" altLang="en-US" sz="3600" kern="1200" dirty="0">
            <a:solidFill>
              <a:srgbClr val="FF0000"/>
            </a:solidFill>
            <a:latin typeface="楷体" pitchFamily="49" charset="-122"/>
            <a:ea typeface="楷体" pitchFamily="49" charset="-122"/>
          </a:endParaRPr>
        </a:p>
      </dsp:txBody>
      <dsp:txXfrm rot="-5400000">
        <a:off x="891254" y="3424571"/>
        <a:ext cx="5164345" cy="746793"/>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lstStyle>
            <a:lvl1pPr eaLnBrk="1" hangingPunct="1">
              <a:defRPr sz="1200">
                <a:latin typeface="Calibri" panose="020F0502020204030204" pitchFamily="34" charset="0"/>
                <a:ea typeface="PMingLiU" pitchFamily="18" charset="-120"/>
              </a:defRPr>
            </a:lvl1pPr>
          </a:lstStyle>
          <a:p>
            <a:pPr>
              <a:defRPr/>
            </a:pPr>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lstStyle>
            <a:lvl1pPr algn="r" eaLnBrk="1" hangingPunct="1">
              <a:defRPr sz="1200">
                <a:latin typeface="Calibri" panose="020F0502020204030204" pitchFamily="34" charset="0"/>
                <a:ea typeface="PMingLiU" pitchFamily="18" charset="-120"/>
              </a:defRPr>
            </a:lvl1pPr>
          </a:lstStyle>
          <a:p>
            <a:pPr>
              <a:defRPr/>
            </a:pPr>
            <a:fld id="{FC41FAE0-C1C1-4FBB-B7CE-CFD4F873DBEC}" type="datetimeFigureOut">
              <a:rPr lang="zh-TW" altLang="en-US"/>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TW" altLang="en-US" noProof="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noProof="0"/>
              <a:t>編輯母片文字樣式</a:t>
            </a:r>
            <a:endParaRPr lang="zh-TW" altLang="en-US" noProof="0"/>
          </a:p>
          <a:p>
            <a:pPr lvl="1"/>
            <a:r>
              <a:rPr lang="zh-TW" altLang="en-US" noProof="0"/>
              <a:t>第二層</a:t>
            </a:r>
            <a:endParaRPr lang="zh-TW" altLang="en-US" noProof="0"/>
          </a:p>
          <a:p>
            <a:pPr lvl="2"/>
            <a:r>
              <a:rPr lang="zh-TW" altLang="en-US" noProof="0"/>
              <a:t>第三層</a:t>
            </a:r>
            <a:endParaRPr lang="zh-TW" altLang="en-US" noProof="0"/>
          </a:p>
          <a:p>
            <a:pPr lvl="3"/>
            <a:r>
              <a:rPr lang="zh-TW" altLang="en-US" noProof="0"/>
              <a:t>第四層</a:t>
            </a:r>
            <a:endParaRPr lang="zh-TW" altLang="en-US" noProof="0"/>
          </a:p>
          <a:p>
            <a:pPr lvl="4"/>
            <a:r>
              <a:rPr lang="zh-TW" altLang="en-US" noProof="0"/>
              <a:t>第五層</a:t>
            </a:r>
            <a:endParaRPr lang="zh-TW" altLang="en-US" noProof="0"/>
          </a:p>
        </p:txBody>
      </p:sp>
      <p:sp>
        <p:nvSpPr>
          <p:cNvPr id="6" name="頁尾版面配置區 5"/>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lstStyle>
            <a:lvl1pPr eaLnBrk="1" hangingPunct="1">
              <a:defRPr sz="1200">
                <a:latin typeface="Calibri" panose="020F0502020204030204" pitchFamily="34" charset="0"/>
                <a:ea typeface="PMingLiU" pitchFamily="18" charset="-120"/>
              </a:defRPr>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ea typeface="PMingLiU" pitchFamily="18" charset="-120"/>
              </a:defRPr>
            </a:lvl1pPr>
          </a:lstStyle>
          <a:p>
            <a:pPr>
              <a:defRPr/>
            </a:pPr>
            <a:fld id="{8C6B5E19-3776-42AB-AD18-431DD08118C1}" type="slidenum">
              <a:rPr lang="zh-TW" altLang="en-US"/>
            </a:fld>
            <a:endParaRPr lang="zh-TW"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62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上节课我们介绍了回溯法，回溯法和分支限界法都属于搜索算法，它们有什么不同呢？这节课我们就来学习分支限界法，并回答这个问题。分支限界法的基本知识包括如何用界来剪支以及如何进行搜索，关于剪枝：回溯法的时候已经学过了一部分了，比如装载问题我们用当前载重</a:t>
            </a:r>
            <a:r>
              <a:rPr lang="en-US" altLang="zh-CN" dirty="0" smtClean="0"/>
              <a:t>+</a:t>
            </a:r>
            <a:r>
              <a:rPr lang="zh-CN" altLang="en-US" dirty="0" smtClean="0"/>
              <a:t>剩余可选物品的重量和与当前最好解进行比较，如果小于则说明没有可能找到更好的解，就进行剪枝，分支限界的难点在于好的上界和下界的设计，最好的上界和下界的作用是不需要进行搜索，在根结点就给出了答案！当然这对于大部分问题而言是难度很大的。</a:t>
            </a:r>
            <a:endParaRPr lang="en-US" altLang="zh-CN" dirty="0" smtClean="0"/>
          </a:p>
          <a:p>
            <a:pPr eaLnBrk="1" hangingPunct="1">
              <a:spcBef>
                <a:spcPct val="0"/>
              </a:spcBef>
            </a:pPr>
            <a:endParaRPr lang="en-US" altLang="zh-CN" dirty="0" smtClean="0"/>
          </a:p>
        </p:txBody>
      </p:sp>
      <p:sp>
        <p:nvSpPr>
          <p:cNvPr id="962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4D87BAFD-F6C0-40E6-AF08-FE2C7A67CFA3}"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72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972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1639BA86-A1C1-41D4-A14E-8882010E0657}"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83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分支定界的思想和回溯法很像，都属于将优化问题转换为解空间树的搜索问题，它们区别在于搜索方式不同而已。</a:t>
            </a:r>
            <a:endParaRPr lang="zh-CN" altLang="en-US" smtClean="0"/>
          </a:p>
        </p:txBody>
      </p:sp>
      <p:sp>
        <p:nvSpPr>
          <p:cNvPr id="983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7DCCD4EE-6A6E-4262-BE1D-682CF34635B8}"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93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不停的选择活结点，扩展活结点。活结点包含哪些结点？</a:t>
            </a:r>
            <a:endParaRPr lang="en-US" altLang="zh-CN" dirty="0" smtClean="0"/>
          </a:p>
          <a:p>
            <a:pPr eaLnBrk="1" hangingPunct="1">
              <a:spcBef>
                <a:spcPct val="0"/>
              </a:spcBef>
            </a:pPr>
            <a:r>
              <a:rPr lang="zh-CN" altLang="en-US" dirty="0" smtClean="0"/>
              <a:t>扩展结点的过程和回溯法的</a:t>
            </a:r>
            <a:r>
              <a:rPr lang="en-US" altLang="zh-CN" dirty="0" smtClean="0"/>
              <a:t>for</a:t>
            </a:r>
            <a:r>
              <a:rPr lang="zh-CN" altLang="en-US" dirty="0" smtClean="0"/>
              <a:t>循环是一致的，区别在于回溯法满足约束和界就往下走了，而分支定界满足约束和界就存储起来。</a:t>
            </a:r>
            <a:endParaRPr lang="en-US" altLang="zh-CN" dirty="0" smtClean="0"/>
          </a:p>
        </p:txBody>
      </p:sp>
      <p:sp>
        <p:nvSpPr>
          <p:cNvPr id="993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9458E88F-D14D-4597-9B5A-DD7D1C3F5DC8}"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03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不停的选择活结点，扩展活结点。活结点又叫什么结点？</a:t>
            </a:r>
            <a:endParaRPr lang="en-US" altLang="zh-CN" dirty="0" smtClean="0"/>
          </a:p>
          <a:p>
            <a:pPr eaLnBrk="1" hangingPunct="1">
              <a:spcBef>
                <a:spcPct val="0"/>
              </a:spcBef>
            </a:pPr>
            <a:r>
              <a:rPr lang="zh-CN" altLang="en-US" dirty="0" smtClean="0"/>
              <a:t>怎么从列表中选择结点呢？</a:t>
            </a:r>
            <a:endParaRPr lang="en-US" altLang="zh-CN" dirty="0" smtClean="0"/>
          </a:p>
        </p:txBody>
      </p:sp>
      <p:sp>
        <p:nvSpPr>
          <p:cNvPr id="1003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015BBFBD-82E5-4F38-8606-6B22FC344A5F}"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13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分支定界法是一种不断选择活结点不断扩展活结点的过程，它的重点就在于我如何选择一个结点？这里主要有两种方式。</a:t>
            </a:r>
            <a:endParaRPr lang="en-US" altLang="zh-CN" dirty="0" smtClean="0"/>
          </a:p>
          <a:p>
            <a:pPr eaLnBrk="1" hangingPunct="1">
              <a:spcBef>
                <a:spcPct val="0"/>
              </a:spcBef>
            </a:pPr>
            <a:r>
              <a:rPr lang="en-US" altLang="zh-CN" dirty="0" smtClean="0"/>
              <a:t>FIFO</a:t>
            </a:r>
            <a:r>
              <a:rPr lang="zh-CN" altLang="en-US" dirty="0" smtClean="0"/>
              <a:t>是什么搜索方式？广度优先 队列</a:t>
            </a:r>
            <a:endParaRPr lang="en-US" altLang="zh-CN" dirty="0" smtClean="0"/>
          </a:p>
          <a:p>
            <a:pPr eaLnBrk="1" hangingPunct="1">
              <a:spcBef>
                <a:spcPct val="0"/>
              </a:spcBef>
            </a:pPr>
            <a:r>
              <a:rPr lang="zh-CN" altLang="en-US" dirty="0" smtClean="0"/>
              <a:t>优先队列又是什么搜索方式？函数式优先，最大堆实现最大优先队列，最小堆实现最小优先队列</a:t>
            </a:r>
            <a:endParaRPr lang="zh-CN" altLang="en-US" dirty="0" smtClean="0"/>
          </a:p>
        </p:txBody>
      </p:sp>
      <p:sp>
        <p:nvSpPr>
          <p:cNvPr id="1013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D0D7CBF5-6DEC-4B79-9772-2DEF4E28C944}"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队列式与优先队列式的搜索过程举例</a:t>
            </a:r>
            <a:endParaRPr lang="zh-CN" altLang="en-US" smtClean="0"/>
          </a:p>
        </p:txBody>
      </p:sp>
      <p:sp>
        <p:nvSpPr>
          <p:cNvPr id="1024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64BA220D-B5BD-4E3F-B209-39690375A1AE}"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34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知道了选择结点的过程，下面我们来看扩展结点过程的难点？好的上界和下界能够很大程度上降低搜索的空间，从而加快搜索的过程。但通常好的上界和下界通常需要耗费较大的计算时间，因此需要有一个折中。我们希望上界越大越好还是越小越好？越小越好，无穷就等同于没有上界。</a:t>
            </a:r>
            <a:endParaRPr lang="zh-CN" altLang="en-US" dirty="0" smtClean="0"/>
          </a:p>
        </p:txBody>
      </p:sp>
      <p:sp>
        <p:nvSpPr>
          <p:cNvPr id="1034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A21C4C1A-91D1-4590-BE3A-B780D1FD64D1}"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44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知道了选择结点的过程，下面我们来看扩展结点过程的难点？好的上界和下界能够很大程度上降低搜索的空间，从而加快搜索的过程。但通常好的上界和下界通常需要耗费较大的计算时间，因此需要有一个折中。我们希望下界越大越好？越大越好，负无穷就等于没有下界</a:t>
            </a:r>
            <a:r>
              <a:rPr lang="en-US" altLang="zh-CN" dirty="0" smtClean="0"/>
              <a:t>.</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上界与下界怎么产生和怎么用呢？</a:t>
            </a:r>
            <a:endParaRPr lang="zh-CN" altLang="en-US" dirty="0" smtClean="0"/>
          </a:p>
        </p:txBody>
      </p:sp>
      <p:sp>
        <p:nvSpPr>
          <p:cNvPr id="1044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BC96BB5A-5FAC-4C42-BB61-6760A7E55B31}"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54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给出好的</a:t>
            </a:r>
            <a:r>
              <a:rPr lang="en-US" altLang="zh-CN" smtClean="0"/>
              <a:t>LB</a:t>
            </a:r>
            <a:r>
              <a:rPr lang="zh-CN" altLang="en-US" smtClean="0"/>
              <a:t>和</a:t>
            </a:r>
            <a:r>
              <a:rPr lang="en-US" altLang="zh-CN" smtClean="0"/>
              <a:t>UB</a:t>
            </a:r>
            <a:r>
              <a:rPr lang="zh-CN" altLang="en-US" smtClean="0"/>
              <a:t>非常重要，设计的好可能直接输出结果。</a:t>
            </a:r>
            <a:endParaRPr lang="zh-CN" altLang="en-US" smtClean="0"/>
          </a:p>
        </p:txBody>
      </p:sp>
      <p:sp>
        <p:nvSpPr>
          <p:cNvPr id="1054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427FB901-43EF-4C14-9416-E49E960A13AA}"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64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除了可以用上、下界进行剪枝，还可以用界值做什么呢？</a:t>
            </a:r>
            <a:endParaRPr lang="zh-CN" altLang="en-US" smtClean="0"/>
          </a:p>
        </p:txBody>
      </p:sp>
      <p:sp>
        <p:nvSpPr>
          <p:cNvPr id="1065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6A3F4A59-7692-4F14-9355-A1E4E45127E5}"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75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给出好的</a:t>
            </a:r>
            <a:r>
              <a:rPr lang="en-US" altLang="zh-CN" smtClean="0"/>
              <a:t>LB</a:t>
            </a:r>
            <a:r>
              <a:rPr lang="zh-CN" altLang="en-US" smtClean="0"/>
              <a:t>和</a:t>
            </a:r>
            <a:r>
              <a:rPr lang="en-US" altLang="zh-CN" smtClean="0"/>
              <a:t>UB</a:t>
            </a:r>
            <a:r>
              <a:rPr lang="zh-CN" altLang="en-US" smtClean="0"/>
              <a:t>非常重要，设计的好可能直接输出结果。</a:t>
            </a:r>
            <a:endParaRPr lang="zh-CN" altLang="en-US" smtClean="0"/>
          </a:p>
        </p:txBody>
      </p:sp>
      <p:sp>
        <p:nvSpPr>
          <p:cNvPr id="1075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25892E89-8752-42C1-84F2-71F7987D6F7A}"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85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给出好的</a:t>
            </a:r>
            <a:r>
              <a:rPr lang="en-US" altLang="zh-CN" smtClean="0"/>
              <a:t>LB</a:t>
            </a:r>
            <a:r>
              <a:rPr lang="zh-CN" altLang="en-US" smtClean="0"/>
              <a:t>和</a:t>
            </a:r>
            <a:r>
              <a:rPr lang="en-US" altLang="zh-CN" smtClean="0"/>
              <a:t>UB</a:t>
            </a:r>
            <a:r>
              <a:rPr lang="zh-CN" altLang="en-US" smtClean="0"/>
              <a:t>非常重要，设计的好可能直接输出结果。除了可以用下界进行剪枝，还可以用界值做什么呢？</a:t>
            </a:r>
            <a:endParaRPr lang="zh-CN" altLang="en-US" smtClean="0"/>
          </a:p>
          <a:p>
            <a:pPr eaLnBrk="1" hangingPunct="1">
              <a:spcBef>
                <a:spcPct val="0"/>
              </a:spcBef>
            </a:pPr>
            <a:endParaRPr lang="zh-CN" altLang="en-US" smtClean="0"/>
          </a:p>
        </p:txBody>
      </p:sp>
      <p:sp>
        <p:nvSpPr>
          <p:cNvPr id="1085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27331BBA-4619-4898-8236-CF8BD1B0DB39}"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95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怎么样求上界和下界，以及怎么用它们呢？下面我们通过例子来说明。</a:t>
            </a:r>
            <a:endParaRPr lang="en-US" altLang="zh-CN" smtClean="0"/>
          </a:p>
          <a:p>
            <a:pPr eaLnBrk="1" hangingPunct="1">
              <a:spcBef>
                <a:spcPct val="0"/>
              </a:spcBef>
            </a:pPr>
            <a:r>
              <a:rPr lang="zh-CN" altLang="en-US" smtClean="0"/>
              <a:t>求下界给出一个解即可，装不满就不装了；</a:t>
            </a:r>
            <a:endParaRPr lang="en-US" altLang="zh-CN" smtClean="0"/>
          </a:p>
          <a:p>
            <a:pPr eaLnBrk="1" hangingPunct="1">
              <a:spcBef>
                <a:spcPct val="0"/>
              </a:spcBef>
            </a:pPr>
            <a:r>
              <a:rPr lang="zh-CN" altLang="en-US" smtClean="0"/>
              <a:t>而求上界，装不满不一定为最优的，因此还需要把物品拆分装。</a:t>
            </a:r>
            <a:endParaRPr lang="zh-CN" altLang="en-US" smtClean="0"/>
          </a:p>
        </p:txBody>
      </p:sp>
      <p:sp>
        <p:nvSpPr>
          <p:cNvPr id="1095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4042BCD2-8B0A-4E06-B59A-2452DF78F027}"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05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物品重量大于剩余容量的先除掉，因为这些物品是不可能装入到剩余容量中的。</a:t>
            </a:r>
            <a:endParaRPr lang="zh-CN" altLang="en-US" smtClean="0"/>
          </a:p>
        </p:txBody>
      </p:sp>
      <p:sp>
        <p:nvSpPr>
          <p:cNvPr id="1105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783EA11E-4A40-4E6B-B48C-370C3E7D6338}"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16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zh-CN" smtClean="0"/>
          </a:p>
          <a:p>
            <a:pPr eaLnBrk="1" hangingPunct="1">
              <a:spcBef>
                <a:spcPct val="0"/>
              </a:spcBef>
            </a:pPr>
            <a:r>
              <a:rPr lang="zh-CN" altLang="en-US" smtClean="0"/>
              <a:t>好的上界和下界是不需要太搜索的</a:t>
            </a:r>
            <a:endParaRPr lang="en-US" altLang="zh-CN" smtClean="0"/>
          </a:p>
          <a:p>
            <a:pPr eaLnBrk="1" hangingPunct="1">
              <a:spcBef>
                <a:spcPct val="0"/>
              </a:spcBef>
            </a:pPr>
            <a:endParaRPr lang="en-US" altLang="zh-CN" smtClean="0"/>
          </a:p>
          <a:p>
            <a:pPr eaLnBrk="1" hangingPunct="1">
              <a:spcBef>
                <a:spcPct val="0"/>
              </a:spcBef>
            </a:pPr>
            <a:r>
              <a:rPr lang="zh-CN" altLang="en-US" smtClean="0"/>
              <a:t>将搜索解的过程和找工作的过程联系到一起，分支定界的界就好比我们人生的目标，下界就对应于最低目标，有了人生目标的同学，这样在茫茫的工作选择中才能不盲目，不迷茫，在目标单位中综合考虑工作潜力和性质，优中选优，这样才能更快的找到目标工作，避免迷失在工作的海洋中。如果一心读研的同学，短期也不用受找工作的困扰，优先保研，保不了就一心准备考研，一般用心准备考研都能考上。目标不明确，则一会找工作，一会准备考研，最后时间有限，两头做不好。</a:t>
            </a:r>
            <a:endParaRPr lang="en-US" altLang="zh-CN" smtClean="0"/>
          </a:p>
        </p:txBody>
      </p:sp>
      <p:sp>
        <p:nvSpPr>
          <p:cNvPr id="1116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1182DE23-4268-4C0D-94D0-7D13901CE36D}"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126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1DAE1B8-D727-400E-8FF7-C4C7A4D7BC90}"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36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136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AA0526F0-F095-44B5-90A0-CB0C17956F48}"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46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分支定界法剪枝可能会减掉同为最优解的解，因此不用它计算求所有问题的最优解的问题。</a:t>
            </a:r>
            <a:endParaRPr lang="zh-CN" altLang="en-US" smtClean="0"/>
          </a:p>
        </p:txBody>
      </p:sp>
      <p:sp>
        <p:nvSpPr>
          <p:cNvPr id="1146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B7B9DF4B-F47C-4040-891D-A17BA52F4CA1}"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57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157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173D322C-5645-4C9E-B8F6-86F69F49EB5E}"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67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本案例分析主要讲解程序结构</a:t>
            </a:r>
            <a:r>
              <a:rPr lang="en-US" altLang="zh-CN" smtClean="0"/>
              <a:t>FIFO</a:t>
            </a:r>
            <a:r>
              <a:rPr lang="zh-CN" altLang="en-US" smtClean="0"/>
              <a:t>，队列式代码结构，以及如何利用界函数进行剪枝。</a:t>
            </a:r>
            <a:endParaRPr lang="zh-CN" altLang="en-US" smtClean="0"/>
          </a:p>
        </p:txBody>
      </p:sp>
      <p:sp>
        <p:nvSpPr>
          <p:cNvPr id="1167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B4F2531C-73B0-41B7-BFBC-11C13386E104}"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77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怎么特殊呢？单位重量价值都一样，求最大载重，等价于</a:t>
            </a:r>
            <a:r>
              <a:rPr lang="en-US" altLang="zh-CN" smtClean="0"/>
              <a:t>0-1</a:t>
            </a:r>
            <a:r>
              <a:rPr lang="zh-CN" altLang="en-US" smtClean="0"/>
              <a:t>背包问题求最大价值。</a:t>
            </a:r>
            <a:endParaRPr lang="zh-CN" altLang="en-US" smtClean="0"/>
          </a:p>
        </p:txBody>
      </p:sp>
      <p:sp>
        <p:nvSpPr>
          <p:cNvPr id="1177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79D4AD4C-0A30-45B6-8C3F-917C802276D9}"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87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第一个算法主要介绍</a:t>
            </a:r>
            <a:r>
              <a:rPr lang="en-US" altLang="zh-CN" dirty="0" smtClean="0"/>
              <a:t>FIFO</a:t>
            </a:r>
            <a:r>
              <a:rPr lang="zh-CN" altLang="en-US" dirty="0" smtClean="0"/>
              <a:t>的分支框架。</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除了用</a:t>
            </a:r>
            <a:r>
              <a:rPr lang="en-US" altLang="zh-CN" dirty="0" smtClean="0"/>
              <a:t>-1</a:t>
            </a:r>
            <a:r>
              <a:rPr lang="zh-CN" altLang="en-US" dirty="0" smtClean="0"/>
              <a:t>的方式记录层，我们还可以通过让结点记录物品的选取情况来做</a:t>
            </a:r>
            <a:endParaRPr lang="zh-CN" altLang="en-US" dirty="0" smtClean="0"/>
          </a:p>
        </p:txBody>
      </p:sp>
      <p:sp>
        <p:nvSpPr>
          <p:cNvPr id="1187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095A8DA8-D386-4983-A63F-5A442D173FCA}"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98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第一个算法主要介绍</a:t>
            </a:r>
            <a:r>
              <a:rPr lang="en-US" altLang="zh-CN" dirty="0" smtClean="0"/>
              <a:t>FIFO</a:t>
            </a:r>
            <a:r>
              <a:rPr lang="zh-CN" altLang="en-US" dirty="0" smtClean="0"/>
              <a:t>的分支框架。</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除了用</a:t>
            </a:r>
            <a:r>
              <a:rPr lang="en-US" altLang="zh-CN" dirty="0" smtClean="0"/>
              <a:t>-1</a:t>
            </a:r>
            <a:r>
              <a:rPr lang="zh-CN" altLang="en-US" dirty="0" smtClean="0"/>
              <a:t>的方式记录层，我们还可以通过让结点记录物品的选取情况来做</a:t>
            </a:r>
            <a:endParaRPr lang="zh-CN" altLang="en-US" dirty="0" smtClean="0"/>
          </a:p>
        </p:txBody>
      </p:sp>
      <p:sp>
        <p:nvSpPr>
          <p:cNvPr id="1198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F82B7BCB-B0F1-4D42-BA25-15F35191C134}"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08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我们需要选择结点，然后扩展结点，所以核心在于结点需要保存哪些信息？</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当前层可以统一记录；</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每个点指向父结点，并且存储是父结点的哪个分支即可。</a:t>
            </a:r>
            <a:endParaRPr lang="en-US" altLang="zh-CN" dirty="0" smtClean="0"/>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F3DC2C3-6588-43E7-AEA7-DCEDE574C083}"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18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先不考虑界，怎么设计代码呢？</a:t>
            </a:r>
            <a:endParaRPr lang="en-US" altLang="zh-CN" smtClean="0"/>
          </a:p>
          <a:p>
            <a:pPr eaLnBrk="1" hangingPunct="1">
              <a:spcBef>
                <a:spcPct val="0"/>
              </a:spcBef>
            </a:pPr>
            <a:endParaRPr lang="en-US" altLang="zh-CN" smtClean="0"/>
          </a:p>
          <a:p>
            <a:pPr eaLnBrk="1" hangingPunct="1">
              <a:spcBef>
                <a:spcPct val="0"/>
              </a:spcBef>
            </a:pPr>
            <a:r>
              <a:rPr lang="zh-CN" altLang="en-US" smtClean="0"/>
              <a:t>是否需要等到最后才能更新</a:t>
            </a:r>
            <a:r>
              <a:rPr lang="en-US" altLang="zh-CN" smtClean="0"/>
              <a:t>bestC?</a:t>
            </a:r>
            <a:r>
              <a:rPr lang="zh-CN" altLang="en-US" smtClean="0"/>
              <a:t>不需要，这是一个子集树问题，部分解也可以作为问题的解，故时刻都可以更新最优解。</a:t>
            </a:r>
            <a:endParaRPr lang="zh-CN" altLang="en-US" smtClean="0"/>
          </a:p>
        </p:txBody>
      </p:sp>
      <p:sp>
        <p:nvSpPr>
          <p:cNvPr id="1218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02BEFFA4-6ADB-44B3-9B73-C640DD80D4E3}"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8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怎么解决以上问题呢</a:t>
            </a:r>
            <a:r>
              <a:rPr lang="en-US" altLang="zh-CN" dirty="0" smtClean="0"/>
              <a:t>, </a:t>
            </a:r>
            <a:r>
              <a:rPr lang="zh-CN" altLang="en-US" dirty="0" smtClean="0"/>
              <a:t>用什么数据结构，怎么存储？方案一：用一个较大的数组来存储活结点，优点，很直观，缺点，需要存储的活结点数量大，活结点的扩展关系不能准确存储。方案二：存储二叉树，每个结点都能指向父结点的指针，方便从叶子结点回溯找到解，另外还需要记录当前结点是父结点的哪一个儿子。</a:t>
            </a:r>
            <a:endParaRPr lang="zh-CN" altLang="en-US" dirty="0" smtClean="0"/>
          </a:p>
        </p:txBody>
      </p:sp>
      <p:sp>
        <p:nvSpPr>
          <p:cNvPr id="1228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32FDC92E-F17A-4CF6-9CB8-41C88663A17F}"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39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怎么解决以上问题呢</a:t>
            </a:r>
            <a:r>
              <a:rPr lang="en-US" altLang="zh-CN" dirty="0" smtClean="0"/>
              <a:t>, </a:t>
            </a:r>
            <a:r>
              <a:rPr lang="zh-CN" altLang="en-US" dirty="0" smtClean="0"/>
              <a:t>用什么数据结构，怎么存储？方案一：用一个较大的数组来存储活结点，优点，很直观，缺点，需要存储的活结点数量大，活结点的扩展关系不能准确存储。方案二：存储二叉树，每个结点都能指向父结点的指针，方便从叶子结点回溯找到解，另外还需要记录当前结点是父结点的哪一个儿子。</a:t>
            </a:r>
            <a:endParaRPr lang="zh-CN" altLang="en-US" dirty="0" smtClean="0"/>
          </a:p>
        </p:txBody>
      </p:sp>
      <p:sp>
        <p:nvSpPr>
          <p:cNvPr id="1239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2E3DD924-A281-49A8-B8D1-A3C481D7CB9B}"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49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为什么需要记录是否为左儿子结点？确定解。代码流程和上一个代码一样，加上了界，并且更改了数据结构，方便记录解。</a:t>
            </a:r>
            <a:endParaRPr lang="en-US" altLang="zh-CN" smtClean="0"/>
          </a:p>
          <a:p>
            <a:pPr eaLnBrk="1" hangingPunct="1">
              <a:spcBef>
                <a:spcPct val="0"/>
              </a:spcBef>
            </a:pPr>
            <a:r>
              <a:rPr lang="zh-CN" altLang="en-US" smtClean="0"/>
              <a:t>为什么可以提前更新</a:t>
            </a:r>
            <a:r>
              <a:rPr lang="en-US" altLang="zh-CN" smtClean="0"/>
              <a:t>bestW?</a:t>
            </a:r>
            <a:r>
              <a:rPr lang="zh-CN" altLang="en-US" smtClean="0"/>
              <a:t>多米诺性质保证了部分解也是问题的解。</a:t>
            </a:r>
            <a:endParaRPr lang="zh-CN" altLang="en-US" smtClean="0"/>
          </a:p>
        </p:txBody>
      </p:sp>
      <p:sp>
        <p:nvSpPr>
          <p:cNvPr id="1249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11EEB62D-2D7C-4577-9B80-CDD61253469C}"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59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为什么需要记录是否为左儿子结点？确定解。代码流程和上一个代码一样，加上了界，并且更改了数据结构，方便记录解。</a:t>
            </a:r>
            <a:endParaRPr lang="en-US" altLang="zh-CN" smtClean="0"/>
          </a:p>
          <a:p>
            <a:pPr eaLnBrk="1" hangingPunct="1">
              <a:spcBef>
                <a:spcPct val="0"/>
              </a:spcBef>
            </a:pPr>
            <a:r>
              <a:rPr lang="zh-CN" altLang="en-US" smtClean="0"/>
              <a:t>为什么可以提前更新</a:t>
            </a:r>
            <a:r>
              <a:rPr lang="en-US" altLang="zh-CN" smtClean="0"/>
              <a:t>bestW?</a:t>
            </a:r>
            <a:r>
              <a:rPr lang="zh-CN" altLang="en-US" smtClean="0"/>
              <a:t>多米诺性质保证了部分解也是问题的解。</a:t>
            </a:r>
            <a:endParaRPr lang="zh-CN" altLang="en-US" smtClean="0"/>
          </a:p>
        </p:txBody>
      </p:sp>
      <p:sp>
        <p:nvSpPr>
          <p:cNvPr id="1259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751D1401-D796-4D00-B19B-955F47AE3594}"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69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为什么需要记录是否为左儿子结点？确定解。代码流程和上一个代码一样，加上了界，并且更改了数据结构，方便记录解。</a:t>
            </a:r>
            <a:endParaRPr lang="en-US" altLang="zh-CN" dirty="0" smtClean="0"/>
          </a:p>
          <a:p>
            <a:pPr eaLnBrk="1" hangingPunct="1">
              <a:spcBef>
                <a:spcPct val="0"/>
              </a:spcBef>
            </a:pPr>
            <a:r>
              <a:rPr lang="zh-CN" altLang="en-US" dirty="0" smtClean="0"/>
              <a:t>为什么可以提前更新</a:t>
            </a:r>
            <a:r>
              <a:rPr lang="en-US" altLang="zh-CN" dirty="0" err="1" smtClean="0"/>
              <a:t>bestW</a:t>
            </a:r>
            <a:r>
              <a:rPr lang="en-US" altLang="zh-CN" dirty="0" smtClean="0"/>
              <a:t>?</a:t>
            </a:r>
            <a:r>
              <a:rPr lang="zh-CN" altLang="en-US" dirty="0" smtClean="0"/>
              <a:t>多米诺性质保证了部分解也是问题的解。</a:t>
            </a:r>
            <a:endParaRPr lang="zh-CN" altLang="en-US" dirty="0" smtClean="0"/>
          </a:p>
        </p:txBody>
      </p:sp>
      <p:sp>
        <p:nvSpPr>
          <p:cNvPr id="1269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C5D3BD7E-B1DE-4BFE-8397-F81B41DB0A2A}"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69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为什么需要记录是否为左儿子结点？确定解。代码流程和上一个代码一样，加上了界，并且更改了数据结构，方便记录解。</a:t>
            </a:r>
            <a:endParaRPr lang="en-US" altLang="zh-CN" dirty="0" smtClean="0"/>
          </a:p>
          <a:p>
            <a:pPr eaLnBrk="1" hangingPunct="1">
              <a:spcBef>
                <a:spcPct val="0"/>
              </a:spcBef>
            </a:pPr>
            <a:r>
              <a:rPr lang="zh-CN" altLang="en-US" dirty="0" smtClean="0"/>
              <a:t>为什么可以提前更新</a:t>
            </a:r>
            <a:r>
              <a:rPr lang="en-US" altLang="zh-CN" dirty="0" err="1" smtClean="0"/>
              <a:t>bestW</a:t>
            </a:r>
            <a:r>
              <a:rPr lang="en-US" altLang="zh-CN" dirty="0" smtClean="0"/>
              <a:t>?</a:t>
            </a:r>
            <a:r>
              <a:rPr lang="zh-CN" altLang="en-US" dirty="0" smtClean="0"/>
              <a:t>多米诺性质保证了部分解也是问题的解。</a:t>
            </a:r>
            <a:endParaRPr lang="zh-CN" altLang="en-US" dirty="0" smtClean="0"/>
          </a:p>
        </p:txBody>
      </p:sp>
      <p:sp>
        <p:nvSpPr>
          <p:cNvPr id="1269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C5D3BD7E-B1DE-4BFE-8397-F81B41DB0A2A}"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90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90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8423DE1-B85A-4FF0-BAC7-AB528F0B9C35}"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00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smtClean="0"/>
              <a:t>Level</a:t>
            </a:r>
            <a:r>
              <a:rPr lang="zh-CN" altLang="en-US" smtClean="0"/>
              <a:t>是因为初始结点在第</a:t>
            </a:r>
            <a:r>
              <a:rPr lang="en-US" altLang="zh-CN" smtClean="0"/>
              <a:t>1</a:t>
            </a:r>
            <a:r>
              <a:rPr lang="zh-CN" altLang="en-US" smtClean="0"/>
              <a:t>层，剩余物品的和，即</a:t>
            </a:r>
            <a:r>
              <a:rPr lang="en-US" altLang="zh-CN" smtClean="0"/>
              <a:t>r[1] =</a:t>
            </a:r>
            <a:r>
              <a:rPr lang="zh-CN" altLang="en-US" smtClean="0"/>
              <a:t> </a:t>
            </a:r>
            <a:r>
              <a:rPr lang="en-US" altLang="zh-CN" smtClean="0"/>
              <a:t>w[2]+w[3]+…+w[n].</a:t>
            </a:r>
            <a:endParaRPr lang="zh-CN" altLang="en-US" smtClean="0"/>
          </a:p>
        </p:txBody>
      </p:sp>
      <p:sp>
        <p:nvSpPr>
          <p:cNvPr id="1300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8521E981-91A9-4362-B16D-CD47C44FC56D}"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10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smtClean="0"/>
              <a:t>Level</a:t>
            </a:r>
            <a:r>
              <a:rPr lang="zh-CN" altLang="en-US" smtClean="0"/>
              <a:t>是因为初始结点在第</a:t>
            </a:r>
            <a:r>
              <a:rPr lang="en-US" altLang="zh-CN" smtClean="0"/>
              <a:t>1</a:t>
            </a:r>
            <a:r>
              <a:rPr lang="zh-CN" altLang="en-US" smtClean="0"/>
              <a:t>层，剩余物品的和，即</a:t>
            </a:r>
            <a:r>
              <a:rPr lang="en-US" altLang="zh-CN" smtClean="0"/>
              <a:t>r[1] =</a:t>
            </a:r>
            <a:r>
              <a:rPr lang="zh-CN" altLang="en-US" smtClean="0"/>
              <a:t> </a:t>
            </a:r>
            <a:r>
              <a:rPr lang="en-US" altLang="zh-CN" smtClean="0"/>
              <a:t>w[1]+w[2]+w[3]+…+w[n].</a:t>
            </a:r>
            <a:endParaRPr lang="zh-CN" altLang="en-US" smtClean="0"/>
          </a:p>
        </p:txBody>
      </p:sp>
      <p:sp>
        <p:nvSpPr>
          <p:cNvPr id="1310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F50FE7E2-FA47-4AF1-9BE0-ABB1BB6D1E56}"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2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当前载重可以由载重上界推导出来</a:t>
            </a:r>
            <a:endParaRPr lang="zh-CN" altLang="en-US" smtClean="0"/>
          </a:p>
        </p:txBody>
      </p:sp>
      <p:sp>
        <p:nvSpPr>
          <p:cNvPr id="132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27C719A-CFB3-466D-A6DC-0A4C9BC004BC}"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31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331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38CB5291-DD09-4A0B-9634-816026681B77}"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4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这里界值的计算直接采取的是当前容量加剩余可用容量。</a:t>
            </a:r>
            <a:endParaRPr lang="zh-CN" altLang="en-US" dirty="0" smtClean="0"/>
          </a:p>
        </p:txBody>
      </p:sp>
      <p:sp>
        <p:nvSpPr>
          <p:cNvPr id="134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1FBA0B9-6686-4427-950E-573BA7EAC7C3}"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51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zh-CN" dirty="0" smtClean="0"/>
          </a:p>
          <a:p>
            <a:pPr eaLnBrk="1" hangingPunct="1">
              <a:spcBef>
                <a:spcPct val="0"/>
              </a:spcBef>
            </a:pPr>
            <a:r>
              <a:rPr lang="zh-CN" altLang="en-US" dirty="0" smtClean="0"/>
              <a:t>这里界值的计算直接采取的是当前容量加剩余可用容量。每加一个结点需要从新对</a:t>
            </a:r>
            <a:r>
              <a:rPr lang="en-US" altLang="zh-CN" dirty="0" smtClean="0"/>
              <a:t>heap</a:t>
            </a:r>
            <a:r>
              <a:rPr lang="zh-CN" altLang="en-US" dirty="0" smtClean="0"/>
              <a:t>进行重新排序；</a:t>
            </a:r>
            <a:endParaRPr lang="zh-CN" altLang="en-US" dirty="0" smtClean="0"/>
          </a:p>
        </p:txBody>
      </p:sp>
      <p:sp>
        <p:nvSpPr>
          <p:cNvPr id="1351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6EE7BB5-7FA5-46C2-870F-281A69F700EE}"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72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分支定界法的流程都是一样的，不同点在于界值的计算，因此，对于已经讲过的问题，我们案例分析重点讲解如何计算上界和下界以及怎么样用上界和下界进行剪枝。没讲过的问题我们简单讲解代码。</a:t>
            </a:r>
            <a:endParaRPr lang="zh-CN" altLang="en-US" smtClean="0"/>
          </a:p>
        </p:txBody>
      </p:sp>
      <p:sp>
        <p:nvSpPr>
          <p:cNvPr id="1372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CC648A99-148B-4B25-8533-1933EEB64D2D}"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82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382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9C23A8C6-D4F1-4AB6-9473-70DE9B1EC699}"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9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smtClean="0"/>
              <a:t>0-1</a:t>
            </a:r>
            <a:r>
              <a:rPr lang="zh-CN" altLang="en-US" dirty="0" smtClean="0"/>
              <a:t>背包问题的按优先队列的搜索方式。明显可以看出右子树直接没有被搜索，直接被去掉了。如果按</a:t>
            </a:r>
            <a:r>
              <a:rPr lang="en-US" altLang="zh-CN" dirty="0" smtClean="0"/>
              <a:t>FIFO</a:t>
            </a:r>
            <a:r>
              <a:rPr lang="zh-CN" altLang="en-US" dirty="0" smtClean="0"/>
              <a:t>方式，明显不能减少搜索范围，结点会多很多。这里我们的界还是很好的，我们可以设计更好的界，并引入下界。</a:t>
            </a:r>
            <a:endParaRPr lang="zh-CN" altLang="en-US" dirty="0" smtClean="0"/>
          </a:p>
        </p:txBody>
      </p:sp>
      <p:sp>
        <p:nvSpPr>
          <p:cNvPr id="139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395D8265-F029-4961-8B14-1DC4B7CFF228}"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0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当然这里我们也可以用更好的上界，贪心的方式给出，我们可以看出来，更好的的界，效率更高。并且，下界可以用于提前结束搜索，并且下界可以用于剪掉上界不够好的结点。好的界效果更好，剪枝效果明显，并且下界上来就可一个给出一个标准。</a:t>
            </a:r>
            <a:endParaRPr lang="zh-CN" altLang="en-US" dirty="0" smtClean="0"/>
          </a:p>
        </p:txBody>
      </p:sp>
      <p:sp>
        <p:nvSpPr>
          <p:cNvPr id="140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259DE71B-1B09-4139-99B2-0FA54EFEA772}"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1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41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89DDA157-4265-478A-8B7B-1CD512AAF097}"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23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货郎担问题是求极小值问题还是求极大值问题？</a:t>
            </a:r>
            <a:endParaRPr lang="en-US" altLang="zh-CN" smtClean="0"/>
          </a:p>
          <a:p>
            <a:pPr eaLnBrk="1" hangingPunct="1">
              <a:spcBef>
                <a:spcPct val="0"/>
              </a:spcBef>
            </a:pPr>
            <a:r>
              <a:rPr lang="zh-CN" altLang="en-US" smtClean="0"/>
              <a:t>上界只要是问题的解即可，下界需要严格证明。</a:t>
            </a:r>
            <a:endParaRPr lang="en-US" altLang="zh-CN" smtClean="0"/>
          </a:p>
          <a:p>
            <a:pPr eaLnBrk="1" hangingPunct="1">
              <a:spcBef>
                <a:spcPct val="0"/>
              </a:spcBef>
            </a:pPr>
            <a:r>
              <a:rPr lang="zh-CN" altLang="en-US" smtClean="0"/>
              <a:t>下界越大越好，还是越小越好？</a:t>
            </a:r>
            <a:endParaRPr lang="en-US" altLang="zh-CN" smtClean="0"/>
          </a:p>
        </p:txBody>
      </p:sp>
      <p:sp>
        <p:nvSpPr>
          <p:cNvPr id="1423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153EF40F-9772-4B6B-9FD2-850404278B45}"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33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货郎担问题是求极小值问题还是求极大值问题？</a:t>
            </a:r>
            <a:endParaRPr lang="en-US" altLang="zh-CN" smtClean="0"/>
          </a:p>
          <a:p>
            <a:pPr eaLnBrk="1" hangingPunct="1">
              <a:spcBef>
                <a:spcPct val="0"/>
              </a:spcBef>
            </a:pPr>
            <a:r>
              <a:rPr lang="zh-CN" altLang="en-US" smtClean="0"/>
              <a:t>上界只要是问题的解即可，下界需要严格证明。</a:t>
            </a:r>
            <a:endParaRPr lang="en-US" altLang="zh-CN" smtClean="0"/>
          </a:p>
          <a:p>
            <a:pPr eaLnBrk="1" hangingPunct="1">
              <a:spcBef>
                <a:spcPct val="0"/>
              </a:spcBef>
            </a:pPr>
            <a:r>
              <a:rPr lang="zh-CN" altLang="en-US" smtClean="0"/>
              <a:t>下界越大越好，还是越小越好？</a:t>
            </a:r>
            <a:endParaRPr lang="en-US" altLang="zh-CN" smtClean="0"/>
          </a:p>
          <a:p>
            <a:pPr eaLnBrk="1" hangingPunct="1">
              <a:spcBef>
                <a:spcPct val="0"/>
              </a:spcBef>
            </a:pPr>
            <a:r>
              <a:rPr lang="zh-CN" altLang="en-US" smtClean="0"/>
              <a:t>问题的一个解相当于是每个城市都有一条连接的边，故（</a:t>
            </a:r>
            <a:r>
              <a:rPr lang="en-US" altLang="zh-CN" smtClean="0"/>
              <a:t>1</a:t>
            </a:r>
            <a:r>
              <a:rPr lang="zh-CN" altLang="en-US" smtClean="0"/>
              <a:t>）为下界，同理问题的一个解相当于每个城市有一个入边一个出边，故（</a:t>
            </a:r>
            <a:r>
              <a:rPr lang="en-US" altLang="zh-CN" smtClean="0"/>
              <a:t>2</a:t>
            </a:r>
            <a:r>
              <a:rPr lang="zh-CN" altLang="en-US" smtClean="0"/>
              <a:t>）为下界。很显然下界</a:t>
            </a:r>
            <a:r>
              <a:rPr lang="en-US" altLang="zh-CN" smtClean="0"/>
              <a:t>2</a:t>
            </a:r>
            <a:r>
              <a:rPr lang="zh-CN" altLang="en-US" smtClean="0"/>
              <a:t>要比下界</a:t>
            </a:r>
            <a:r>
              <a:rPr lang="en-US" altLang="zh-CN" smtClean="0"/>
              <a:t>1</a:t>
            </a:r>
            <a:r>
              <a:rPr lang="zh-CN" altLang="en-US" smtClean="0"/>
              <a:t>要好，因为它更大。</a:t>
            </a:r>
            <a:endParaRPr lang="zh-CN" altLang="en-US" smtClean="0"/>
          </a:p>
        </p:txBody>
      </p:sp>
      <p:sp>
        <p:nvSpPr>
          <p:cNvPr id="1433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F25CFE8C-73D9-4412-B486-95752F3539D7}"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43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smtClean="0"/>
              <a:t>U</a:t>
            </a:r>
            <a:r>
              <a:rPr lang="zh-CN" altLang="en-US" dirty="0" smtClean="0"/>
              <a:t>是已经选择的结点的集合，本质上还是最小的两个元素的和，只是对于已经选择的结点，其中一个最小元素换成了已经走过的边的长度。</a:t>
            </a:r>
            <a:r>
              <a:rPr lang="zh-CN" altLang="en-US" dirty="0" smtClean="0">
                <a:solidFill>
                  <a:srgbClr val="FF0000"/>
                </a:solidFill>
              </a:rPr>
              <a:t>该下届对于已经有出入边的结点的最小值还在考虑显然不合理，应该把最小元素的结点集合设置为</a:t>
            </a:r>
            <a:r>
              <a:rPr lang="en-US" altLang="zh-CN" dirty="0" smtClean="0">
                <a:solidFill>
                  <a:srgbClr val="FF0000"/>
                </a:solidFill>
              </a:rPr>
              <a:t>U\{U</a:t>
            </a:r>
            <a:r>
              <a:rPr lang="zh-CN" altLang="en-US" dirty="0" smtClean="0">
                <a:solidFill>
                  <a:srgbClr val="FF0000"/>
                </a:solidFill>
              </a:rPr>
              <a:t>中同时有出入边的元素</a:t>
            </a:r>
            <a:r>
              <a:rPr lang="en-US" altLang="zh-CN" dirty="0" smtClean="0">
                <a:solidFill>
                  <a:srgbClr val="FF0000"/>
                </a:solidFill>
              </a:rPr>
              <a:t>}</a:t>
            </a:r>
            <a:endParaRPr lang="zh-CN" altLang="en-US" dirty="0" smtClean="0">
              <a:solidFill>
                <a:srgbClr val="FF0000"/>
              </a:solidFill>
            </a:endParaRPr>
          </a:p>
        </p:txBody>
      </p:sp>
      <p:sp>
        <p:nvSpPr>
          <p:cNvPr id="1443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0C381424-5D39-41A2-BC9D-C96397C02EC0}"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54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smtClean="0"/>
              <a:t>U</a:t>
            </a:r>
            <a:r>
              <a:rPr lang="zh-CN" altLang="en-US" dirty="0" smtClean="0"/>
              <a:t>是已经选择的结点的集合，本质上还是最小的两个元素的和，只是对于已经选择的结点，其中一个最小元素换成了已经走过的边的长度。</a:t>
            </a:r>
            <a:endParaRPr lang="zh-CN" altLang="en-US" dirty="0" smtClean="0">
              <a:solidFill>
                <a:srgbClr val="FF0000"/>
              </a:solidFill>
            </a:endParaRPr>
          </a:p>
        </p:txBody>
      </p:sp>
      <p:sp>
        <p:nvSpPr>
          <p:cNvPr id="1454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9701E9E4-E28B-4B4B-ACCF-FE55BBB02771}"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64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下界为</a:t>
            </a:r>
            <a:r>
              <a:rPr lang="en-US" altLang="zh-CN" dirty="0" smtClean="0"/>
              <a:t>14</a:t>
            </a:r>
            <a:r>
              <a:rPr lang="zh-CN" altLang="en-US" dirty="0" smtClean="0"/>
              <a:t>，上界为</a:t>
            </a:r>
            <a:r>
              <a:rPr lang="en-US" altLang="zh-CN" dirty="0" smtClean="0"/>
              <a:t>16</a:t>
            </a:r>
            <a:r>
              <a:rPr lang="zh-CN" altLang="en-US" dirty="0" smtClean="0"/>
              <a:t>，实际上</a:t>
            </a:r>
            <a:r>
              <a:rPr lang="en-US" altLang="zh-CN" dirty="0" err="1" smtClean="0"/>
              <a:t>lb</a:t>
            </a:r>
            <a:r>
              <a:rPr lang="zh-CN" altLang="en-US" dirty="0" smtClean="0"/>
              <a:t>为</a:t>
            </a:r>
            <a:r>
              <a:rPr lang="en-US" altLang="zh-CN" dirty="0" smtClean="0"/>
              <a:t>16</a:t>
            </a:r>
            <a:r>
              <a:rPr lang="zh-CN" altLang="en-US" dirty="0" smtClean="0"/>
              <a:t>的结点都是可以先去掉不考虑的，因为已经有解的上界为</a:t>
            </a:r>
            <a:r>
              <a:rPr lang="en-US" altLang="zh-CN" dirty="0" smtClean="0"/>
              <a:t>16</a:t>
            </a:r>
            <a:r>
              <a:rPr lang="zh-CN" altLang="en-US" dirty="0" smtClean="0"/>
              <a:t>了。</a:t>
            </a:r>
            <a:endParaRPr lang="zh-CN" altLang="en-US" dirty="0" smtClean="0"/>
          </a:p>
        </p:txBody>
      </p:sp>
      <p:sp>
        <p:nvSpPr>
          <p:cNvPr id="1464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D1A2755F-C39A-45CA-BEDE-5CB9DBBD4735}"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74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474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69A1C95-6E20-4668-B50F-63B9C4EF4AAD}"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84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484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FA82807-B9F2-4F82-8AD4-05A98EC6AB8E}"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95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495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CFB8586-0230-443C-A0A7-071138BEF883}"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05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zh-CN" dirty="0" smtClean="0"/>
          </a:p>
        </p:txBody>
      </p:sp>
      <p:sp>
        <p:nvSpPr>
          <p:cNvPr id="1505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543C6439-0D38-4CD0-85C0-17135E2CD269}"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15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布线问题的算法流程就是宽度优先搜索问题。</a:t>
            </a:r>
            <a:endParaRPr lang="en-US" altLang="zh-CN" dirty="0" smtClean="0"/>
          </a:p>
        </p:txBody>
      </p:sp>
      <p:sp>
        <p:nvSpPr>
          <p:cNvPr id="1515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DEDA6F05-F878-4457-A38F-D475F53F939C}"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2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smtClean="0"/>
              <a:t>A</a:t>
            </a:r>
            <a:r>
              <a:rPr lang="zh-CN" altLang="en-US" smtClean="0"/>
              <a:t>为进攻方，</a:t>
            </a:r>
            <a:r>
              <a:rPr lang="en-US" altLang="zh-CN" smtClean="0"/>
              <a:t>B</a:t>
            </a:r>
            <a:r>
              <a:rPr lang="zh-CN" altLang="en-US" smtClean="0"/>
              <a:t>为防守方，</a:t>
            </a:r>
            <a:r>
              <a:rPr lang="en-US" altLang="zh-CN" smtClean="0"/>
              <a:t>A</a:t>
            </a:r>
            <a:r>
              <a:rPr lang="zh-CN" altLang="en-US" smtClean="0"/>
              <a:t>如何才能尽快吃掉</a:t>
            </a:r>
            <a:r>
              <a:rPr lang="en-US" altLang="zh-CN" smtClean="0"/>
              <a:t>B</a:t>
            </a:r>
            <a:r>
              <a:rPr lang="zh-CN" altLang="en-US" smtClean="0"/>
              <a:t>？</a:t>
            </a:r>
            <a:endParaRPr lang="zh-CN" altLang="en-US" smtClean="0"/>
          </a:p>
        </p:txBody>
      </p:sp>
      <p:sp>
        <p:nvSpPr>
          <p:cNvPr id="1525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4A60186F-F64E-41A5-9C5F-31A0DBF8DCDD}"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2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smtClean="0"/>
          </a:p>
        </p:txBody>
      </p:sp>
      <p:sp>
        <p:nvSpPr>
          <p:cNvPr id="1525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4A60186F-F64E-41A5-9C5F-31A0DBF8DCDD}"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536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A36B218A-4A48-4313-8B72-8CA38D0EB869}"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46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546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4AA0B08E-DEF0-4E13-8FE4-A3A9690D2D57}"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56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求最大团，上界需要证明</a:t>
            </a:r>
            <a:endParaRPr lang="zh-CN" altLang="en-US" smtClean="0"/>
          </a:p>
        </p:txBody>
      </p:sp>
      <p:sp>
        <p:nvSpPr>
          <p:cNvPr id="1556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B81C7B49-028E-49FC-AFDF-5BF704A68EE8}"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66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err="1" smtClean="0"/>
              <a:t>cliqueSize</a:t>
            </a:r>
            <a:r>
              <a:rPr lang="zh-CN" altLang="en-US" dirty="0" smtClean="0"/>
              <a:t>可以通过</a:t>
            </a:r>
            <a:r>
              <a:rPr lang="en-US" altLang="zh-CN" dirty="0" err="1" smtClean="0"/>
              <a:t>upperSize</a:t>
            </a:r>
            <a:r>
              <a:rPr lang="zh-CN" altLang="en-US" dirty="0" smtClean="0"/>
              <a:t>得到</a:t>
            </a:r>
            <a:endParaRPr lang="en-US" altLang="zh-CN" dirty="0" smtClean="0"/>
          </a:p>
          <a:p>
            <a:pPr eaLnBrk="1" hangingPunct="1">
              <a:spcBef>
                <a:spcPct val="0"/>
              </a:spcBef>
            </a:pPr>
            <a:endParaRPr lang="en-US" altLang="zh-CN" dirty="0" smtClean="0"/>
          </a:p>
          <a:p>
            <a:pPr eaLnBrk="1" hangingPunct="1">
              <a:spcBef>
                <a:spcPct val="0"/>
              </a:spcBef>
            </a:pPr>
            <a:r>
              <a:rPr lang="zh-CN" altLang="en-US" dirty="0" smtClean="0"/>
              <a:t>检查约束可以通过找父结点，确定哪个点选了，哪个点没选</a:t>
            </a:r>
            <a:endParaRPr lang="zh-CN" altLang="en-US" dirty="0" smtClean="0"/>
          </a:p>
        </p:txBody>
      </p:sp>
      <p:sp>
        <p:nvSpPr>
          <p:cNvPr id="1566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43725618-2FF2-4215-B782-745128955618}"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76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子集树问题，左结点就可以更新最优值。右结点需要考虑界值。</a:t>
            </a:r>
            <a:endParaRPr lang="zh-CN" altLang="en-US" dirty="0" smtClean="0"/>
          </a:p>
        </p:txBody>
      </p:sp>
      <p:sp>
        <p:nvSpPr>
          <p:cNvPr id="1577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7B8EFCBE-E34E-4C45-A493-5FB30ECDC98D}"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87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子集树问题，左结点就可以更新最优值。右结点需要考虑界值。</a:t>
            </a:r>
            <a:endParaRPr lang="zh-CN" altLang="en-US" dirty="0" smtClean="0"/>
          </a:p>
        </p:txBody>
      </p:sp>
      <p:sp>
        <p:nvSpPr>
          <p:cNvPr id="1587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D369CFB9-9223-44DB-BB39-0CA0BF7B77D0}"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97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597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3AEF1F6B-6A60-4BF5-A7FF-5FD099EC4946}"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28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这里</a:t>
            </a:r>
            <a:r>
              <a:rPr lang="en-US" altLang="zh-CN" dirty="0" smtClean="0"/>
              <a:t>Q</a:t>
            </a:r>
            <a:r>
              <a:rPr lang="zh-CN" altLang="en-US" dirty="0" smtClean="0"/>
              <a:t>包含了，权值，</a:t>
            </a:r>
            <a:r>
              <a:rPr lang="en-US" altLang="zh-CN" dirty="0" err="1" smtClean="0"/>
              <a:t>cn,level</a:t>
            </a:r>
            <a:r>
              <a:rPr lang="zh-CN" altLang="en-US" dirty="0" smtClean="0"/>
              <a:t>， </a:t>
            </a:r>
            <a:r>
              <a:rPr lang="en-US" altLang="zh-CN" dirty="0" err="1" smtClean="0"/>
              <a:t>pNode</a:t>
            </a:r>
            <a:r>
              <a:rPr lang="en-US" altLang="zh-CN" dirty="0" smtClean="0"/>
              <a:t>, </a:t>
            </a:r>
            <a:r>
              <a:rPr lang="en-US" altLang="zh-CN" dirty="0" err="1" smtClean="0"/>
              <a:t>isLeft</a:t>
            </a:r>
            <a:r>
              <a:rPr lang="en-US" altLang="zh-CN" dirty="0" smtClean="0"/>
              <a:t>,</a:t>
            </a:r>
            <a:r>
              <a:rPr lang="zh-CN" altLang="en-US" dirty="0" smtClean="0"/>
              <a:t>以及已选择结点的状况</a:t>
            </a:r>
            <a:r>
              <a:rPr lang="en-US" altLang="zh-CN" dirty="0" smtClean="0"/>
              <a:t>x[];</a:t>
            </a:r>
            <a:r>
              <a:rPr lang="zh-CN" altLang="en-US" dirty="0" smtClean="0"/>
              <a:t>实际上是可以通过界值来结算</a:t>
            </a:r>
            <a:r>
              <a:rPr lang="en-US" altLang="zh-CN" dirty="0" err="1" smtClean="0"/>
              <a:t>cn</a:t>
            </a:r>
            <a:r>
              <a:rPr lang="zh-CN" altLang="en-US" dirty="0" smtClean="0"/>
              <a:t>的，从而省略掉</a:t>
            </a:r>
            <a:r>
              <a:rPr lang="en-US" altLang="zh-CN" dirty="0" err="1" smtClean="0"/>
              <a:t>cn</a:t>
            </a:r>
            <a:r>
              <a:rPr lang="zh-CN" altLang="en-US" dirty="0" smtClean="0"/>
              <a:t>的存储，</a:t>
            </a:r>
            <a:r>
              <a:rPr lang="en-US" altLang="zh-CN" dirty="0" err="1" smtClean="0"/>
              <a:t>cn</a:t>
            </a:r>
            <a:r>
              <a:rPr lang="en-US" altLang="zh-CN" dirty="0" smtClean="0"/>
              <a:t> = weight – n + </a:t>
            </a:r>
            <a:r>
              <a:rPr lang="en-US" altLang="zh-CN" dirty="0" err="1" smtClean="0"/>
              <a:t>i</a:t>
            </a:r>
            <a:r>
              <a:rPr lang="en-US" altLang="zh-CN" dirty="0" smtClean="0"/>
              <a:t>-1;</a:t>
            </a:r>
            <a:endParaRPr lang="zh-CN" altLang="en-US" dirty="0" smtClean="0"/>
          </a:p>
        </p:txBody>
      </p:sp>
      <p:sp>
        <p:nvSpPr>
          <p:cNvPr id="1628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87CB40A7-A56C-4181-8F2C-59AF1DEDBCC6}"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3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这里</a:t>
            </a:r>
            <a:r>
              <a:rPr lang="en-US" altLang="zh-CN" dirty="0" smtClean="0"/>
              <a:t>Q</a:t>
            </a:r>
            <a:r>
              <a:rPr lang="zh-CN" altLang="en-US" dirty="0" smtClean="0"/>
              <a:t>包含了，权值，</a:t>
            </a:r>
            <a:r>
              <a:rPr lang="en-US" altLang="zh-CN" dirty="0" err="1" smtClean="0"/>
              <a:t>cn,level</a:t>
            </a:r>
            <a:r>
              <a:rPr lang="zh-CN" altLang="en-US" dirty="0" smtClean="0"/>
              <a:t>， </a:t>
            </a:r>
            <a:r>
              <a:rPr lang="en-US" altLang="zh-CN" dirty="0" err="1" smtClean="0"/>
              <a:t>pNode</a:t>
            </a:r>
            <a:r>
              <a:rPr lang="en-US" altLang="zh-CN" dirty="0" smtClean="0"/>
              <a:t>, </a:t>
            </a:r>
            <a:r>
              <a:rPr lang="en-US" altLang="zh-CN" dirty="0" err="1" smtClean="0"/>
              <a:t>isLeft</a:t>
            </a:r>
            <a:r>
              <a:rPr lang="en-US" altLang="zh-CN" dirty="0" smtClean="0"/>
              <a:t>,</a:t>
            </a:r>
            <a:r>
              <a:rPr lang="zh-CN" altLang="en-US" dirty="0" smtClean="0"/>
              <a:t>以及已选择结点的状况</a:t>
            </a:r>
            <a:r>
              <a:rPr lang="en-US" altLang="zh-CN" dirty="0" smtClean="0"/>
              <a:t>x[];</a:t>
            </a:r>
            <a:r>
              <a:rPr lang="zh-CN" altLang="en-US" dirty="0" smtClean="0"/>
              <a:t>实际上是可以通过界值来结算</a:t>
            </a:r>
            <a:r>
              <a:rPr lang="en-US" altLang="zh-CN" dirty="0" err="1" smtClean="0"/>
              <a:t>cn</a:t>
            </a:r>
            <a:r>
              <a:rPr lang="zh-CN" altLang="en-US" dirty="0" smtClean="0"/>
              <a:t>的，从而省略掉</a:t>
            </a:r>
            <a:r>
              <a:rPr lang="en-US" altLang="zh-CN" dirty="0" err="1" smtClean="0"/>
              <a:t>cn</a:t>
            </a:r>
            <a:r>
              <a:rPr lang="zh-CN" altLang="en-US" dirty="0" smtClean="0"/>
              <a:t>的存储，</a:t>
            </a:r>
            <a:r>
              <a:rPr lang="en-US" altLang="zh-CN" dirty="0" err="1" smtClean="0"/>
              <a:t>cn</a:t>
            </a:r>
            <a:r>
              <a:rPr lang="en-US" altLang="zh-CN" dirty="0" smtClean="0"/>
              <a:t> = weight – n + </a:t>
            </a:r>
            <a:r>
              <a:rPr lang="en-US" altLang="zh-CN" dirty="0" err="1" smtClean="0"/>
              <a:t>i</a:t>
            </a:r>
            <a:r>
              <a:rPr lang="en-US" altLang="zh-CN" dirty="0" smtClean="0"/>
              <a:t>-1;</a:t>
            </a:r>
            <a:endParaRPr lang="zh-CN" altLang="en-US" dirty="0" smtClean="0"/>
          </a:p>
        </p:txBody>
      </p:sp>
      <p:sp>
        <p:nvSpPr>
          <p:cNvPr id="163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DC97D5D5-7571-4AC0-BE8D-21D310982EBF}"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48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648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1E509EA-3D71-40A1-8701-50777369DC5E}"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5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这里</a:t>
            </a:r>
            <a:r>
              <a:rPr lang="en-US" altLang="zh-CN" smtClean="0"/>
              <a:t>3</a:t>
            </a:r>
            <a:r>
              <a:rPr lang="zh-CN" altLang="en-US" smtClean="0"/>
              <a:t>个工件的一个作业调度问题，下图是计算时间的过程，比如第一种排列，是</a:t>
            </a:r>
            <a:r>
              <a:rPr lang="en-US" altLang="zh-CN" smtClean="0"/>
              <a:t>1,2,3</a:t>
            </a:r>
            <a:r>
              <a:rPr lang="zh-CN" altLang="en-US" smtClean="0"/>
              <a:t>，其完工时间为第一个工件的完工时间为</a:t>
            </a:r>
            <a:r>
              <a:rPr lang="en-US" altLang="zh-CN" smtClean="0"/>
              <a:t>3+6+10=19</a:t>
            </a:r>
            <a:endParaRPr lang="en-US" altLang="zh-CN" smtClean="0"/>
          </a:p>
          <a:p>
            <a:pPr eaLnBrk="1" hangingPunct="1">
              <a:spcBef>
                <a:spcPct val="0"/>
              </a:spcBef>
            </a:pPr>
            <a:r>
              <a:rPr lang="en-US" altLang="zh-CN" smtClean="0"/>
              <a:t>1,3,2,3+7+8=18,</a:t>
            </a:r>
            <a:r>
              <a:rPr lang="zh-CN" altLang="en-US" smtClean="0"/>
              <a:t>这里我们可以发现，工件</a:t>
            </a:r>
            <a:r>
              <a:rPr lang="en-US" altLang="zh-CN" smtClean="0"/>
              <a:t>i</a:t>
            </a:r>
            <a:r>
              <a:rPr lang="zh-CN" altLang="en-US" smtClean="0"/>
              <a:t>在机器</a:t>
            </a:r>
            <a:r>
              <a:rPr lang="en-US" altLang="zh-CN" smtClean="0"/>
              <a:t>2</a:t>
            </a:r>
            <a:r>
              <a:rPr lang="zh-CN" altLang="en-US" smtClean="0"/>
              <a:t>上的开始时间是工件</a:t>
            </a:r>
            <a:r>
              <a:rPr lang="en-US" altLang="zh-CN" smtClean="0"/>
              <a:t>i</a:t>
            </a:r>
            <a:r>
              <a:rPr lang="zh-CN" altLang="en-US" smtClean="0"/>
              <a:t>在机器</a:t>
            </a:r>
            <a:r>
              <a:rPr lang="en-US" altLang="zh-CN" smtClean="0"/>
              <a:t>1</a:t>
            </a:r>
            <a:r>
              <a:rPr lang="zh-CN" altLang="en-US" smtClean="0"/>
              <a:t>上的完成时间与机器</a:t>
            </a:r>
            <a:r>
              <a:rPr lang="en-US" altLang="zh-CN" smtClean="0"/>
              <a:t>2</a:t>
            </a:r>
            <a:r>
              <a:rPr lang="zh-CN" altLang="en-US" smtClean="0"/>
              <a:t>上的第</a:t>
            </a:r>
            <a:r>
              <a:rPr lang="en-US" altLang="zh-CN" smtClean="0"/>
              <a:t>(i-1)</a:t>
            </a:r>
            <a:r>
              <a:rPr lang="zh-CN" altLang="en-US" smtClean="0"/>
              <a:t>工件的完成时间取大，</a:t>
            </a:r>
            <a:r>
              <a:rPr lang="en-US" altLang="zh-CN" smtClean="0"/>
              <a:t>F(i-1)</a:t>
            </a:r>
            <a:endParaRPr lang="zh-CN" altLang="en-US" smtClean="0"/>
          </a:p>
        </p:txBody>
      </p:sp>
      <p:sp>
        <p:nvSpPr>
          <p:cNvPr id="165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6C30AADB-A2CB-4615-8E9C-519293882460}"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69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在理想的情况下，求余下的工件的完工时间的和。</a:t>
            </a:r>
            <a:endParaRPr lang="zh-CN" altLang="en-US" smtClean="0"/>
          </a:p>
        </p:txBody>
      </p:sp>
      <p:sp>
        <p:nvSpPr>
          <p:cNvPr id="1669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34EE1859-A2F6-486B-A19C-40A5C548117F}"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79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smtClean="0"/>
              <a:t>F1pr+t1i</a:t>
            </a:r>
            <a:r>
              <a:rPr lang="zh-CN" altLang="en-US" smtClean="0"/>
              <a:t>为下一个工件在机器</a:t>
            </a:r>
            <a:r>
              <a:rPr lang="en-US" altLang="zh-CN" smtClean="0"/>
              <a:t>1</a:t>
            </a:r>
            <a:r>
              <a:rPr lang="zh-CN" altLang="en-US" smtClean="0"/>
              <a:t>上的最早完成时间，因为</a:t>
            </a:r>
            <a:r>
              <a:rPr lang="en-US" altLang="zh-CN" smtClean="0"/>
              <a:t>pr+1</a:t>
            </a:r>
            <a:r>
              <a:rPr lang="zh-CN" altLang="en-US" smtClean="0"/>
              <a:t>在机器</a:t>
            </a:r>
            <a:r>
              <a:rPr lang="en-US" altLang="zh-CN" smtClean="0"/>
              <a:t>1</a:t>
            </a:r>
            <a:r>
              <a:rPr lang="zh-CN" altLang="en-US" smtClean="0"/>
              <a:t>上的完成时间一定大于</a:t>
            </a:r>
            <a:r>
              <a:rPr lang="en-US" altLang="zh-CN" smtClean="0"/>
              <a:t>F1pr+t1i</a:t>
            </a:r>
            <a:r>
              <a:rPr lang="zh-CN" altLang="en-US" smtClean="0"/>
              <a:t>，第一步完成才能开始第二步加工，因此，</a:t>
            </a:r>
            <a:r>
              <a:rPr lang="en-US" altLang="zh-CN" smtClean="0"/>
              <a:t>pr+1</a:t>
            </a:r>
            <a:r>
              <a:rPr lang="zh-CN" altLang="en-US" smtClean="0"/>
              <a:t>在机器二上的开始时间一定大于</a:t>
            </a:r>
            <a:r>
              <a:rPr lang="en-US" altLang="zh-CN" smtClean="0"/>
              <a:t>F1pr+t1i</a:t>
            </a:r>
            <a:r>
              <a:rPr lang="zh-CN" altLang="en-US" smtClean="0"/>
              <a:t>，另外，</a:t>
            </a:r>
            <a:r>
              <a:rPr lang="en-US" altLang="zh-CN" smtClean="0"/>
              <a:t>pr+1</a:t>
            </a:r>
            <a:r>
              <a:rPr lang="zh-CN" altLang="en-US" smtClean="0"/>
              <a:t>在机器</a:t>
            </a:r>
            <a:r>
              <a:rPr lang="en-US" altLang="zh-CN" smtClean="0"/>
              <a:t>2</a:t>
            </a:r>
            <a:r>
              <a:rPr lang="zh-CN" altLang="en-US" smtClean="0"/>
              <a:t>上的开始时间一定得大于</a:t>
            </a:r>
            <a:r>
              <a:rPr lang="en-US" altLang="zh-CN" smtClean="0"/>
              <a:t>F2pr</a:t>
            </a:r>
            <a:r>
              <a:rPr lang="zh-CN" altLang="en-US" smtClean="0"/>
              <a:t>，因此</a:t>
            </a:r>
            <a:r>
              <a:rPr lang="en-US" altLang="zh-CN" smtClean="0"/>
              <a:t>pr+1</a:t>
            </a:r>
            <a:r>
              <a:rPr lang="zh-CN" altLang="en-US" smtClean="0"/>
              <a:t>的开始时间为两项取大</a:t>
            </a:r>
            <a:r>
              <a:rPr lang="en-US" altLang="zh-CN" smtClean="0"/>
              <a:t>~</a:t>
            </a:r>
            <a:r>
              <a:rPr lang="zh-CN" altLang="en-US" smtClean="0"/>
              <a:t>因此红框中一定为</a:t>
            </a:r>
            <a:r>
              <a:rPr lang="en-US" altLang="zh-CN" smtClean="0"/>
              <a:t>pr+1</a:t>
            </a:r>
            <a:r>
              <a:rPr lang="zh-CN" altLang="en-US" smtClean="0"/>
              <a:t>在机器</a:t>
            </a:r>
            <a:r>
              <a:rPr lang="en-US" altLang="zh-CN" smtClean="0"/>
              <a:t>2</a:t>
            </a:r>
            <a:r>
              <a:rPr lang="zh-CN" altLang="en-US" smtClean="0"/>
              <a:t>上的最早完成时间，最早开始时间</a:t>
            </a:r>
            <a:r>
              <a:rPr lang="en-US" altLang="zh-CN" smtClean="0"/>
              <a:t>+</a:t>
            </a:r>
            <a:r>
              <a:rPr lang="zh-CN" altLang="en-US" smtClean="0"/>
              <a:t>加工时间，没有空闲，因此一定是最小的；</a:t>
            </a:r>
            <a:endParaRPr lang="zh-CN" altLang="en-US" smtClean="0"/>
          </a:p>
        </p:txBody>
      </p:sp>
      <p:sp>
        <p:nvSpPr>
          <p:cNvPr id="1679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DC5DA97D-E78C-4860-816A-800D2052D4ED}"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89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smtClean="0"/>
              <a:t>S1</a:t>
            </a:r>
            <a:r>
              <a:rPr lang="zh-CN" altLang="en-US" smtClean="0"/>
              <a:t>为假设机器</a:t>
            </a:r>
            <a:r>
              <a:rPr lang="en-US" altLang="zh-CN" smtClean="0"/>
              <a:t>1</a:t>
            </a:r>
            <a:r>
              <a:rPr lang="zh-CN" altLang="en-US" smtClean="0"/>
              <a:t>上的工件加工完成后立马能够在机器二上加工得到的完工时间的和，即机器</a:t>
            </a:r>
            <a:r>
              <a:rPr lang="en-US" altLang="zh-CN" smtClean="0"/>
              <a:t>1</a:t>
            </a:r>
            <a:r>
              <a:rPr lang="zh-CN" altLang="en-US" smtClean="0"/>
              <a:t>没有空闲时间的完工时间的和，</a:t>
            </a:r>
            <a:r>
              <a:rPr lang="en-US" altLang="zh-CN" smtClean="0"/>
              <a:t>S2</a:t>
            </a:r>
            <a:r>
              <a:rPr lang="zh-CN" altLang="en-US" smtClean="0"/>
              <a:t>是机器机器</a:t>
            </a:r>
            <a:r>
              <a:rPr lang="en-US" altLang="zh-CN" smtClean="0"/>
              <a:t>2</a:t>
            </a:r>
            <a:r>
              <a:rPr lang="zh-CN" altLang="en-US" smtClean="0"/>
              <a:t>没有空闲时间的完工时间的和。</a:t>
            </a:r>
            <a:endParaRPr lang="zh-CN" altLang="en-US" smtClean="0"/>
          </a:p>
        </p:txBody>
      </p:sp>
      <p:sp>
        <p:nvSpPr>
          <p:cNvPr id="1689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05A08F75-17AB-4E49-86E1-640E69E555FE}"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99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作业的调度最开始存的是所有工件的序号，当前调度的完成时间和</a:t>
            </a:r>
            <a:r>
              <a:rPr lang="en-US" altLang="zh-CN" dirty="0" err="1" smtClean="0"/>
              <a:t>sf2</a:t>
            </a:r>
            <a:r>
              <a:rPr lang="zh-CN" altLang="en-US" dirty="0" smtClean="0"/>
              <a:t>不保存，那每一次计算</a:t>
            </a:r>
            <a:r>
              <a:rPr lang="en-US" altLang="zh-CN" dirty="0" err="1" smtClean="0"/>
              <a:t>lb</a:t>
            </a:r>
            <a:r>
              <a:rPr lang="zh-CN" altLang="en-US" dirty="0" smtClean="0"/>
              <a:t>都得重新算一遍；另外两个机器的完成时间</a:t>
            </a:r>
            <a:r>
              <a:rPr lang="en-US" altLang="zh-CN" dirty="0" smtClean="0"/>
              <a:t>f</a:t>
            </a:r>
            <a:r>
              <a:rPr lang="zh-CN" altLang="en-US" dirty="0" smtClean="0"/>
              <a:t>也是，不保存，每次都得从头算，</a:t>
            </a:r>
            <a:r>
              <a:rPr lang="en-US" altLang="zh-CN" dirty="0" err="1" smtClean="0"/>
              <a:t>F1pr</a:t>
            </a:r>
            <a:r>
              <a:rPr lang="zh-CN" altLang="en-US" dirty="0" smtClean="0"/>
              <a:t>与</a:t>
            </a:r>
            <a:r>
              <a:rPr lang="en-US" altLang="zh-CN" dirty="0" err="1" smtClean="0"/>
              <a:t>F2Pr</a:t>
            </a:r>
            <a:r>
              <a:rPr lang="en-US" altLang="zh-CN" dirty="0" smtClean="0"/>
              <a:t>.</a:t>
            </a:r>
            <a:endParaRPr lang="zh-CN" altLang="en-US" dirty="0" smtClean="0"/>
          </a:p>
        </p:txBody>
      </p:sp>
      <p:sp>
        <p:nvSpPr>
          <p:cNvPr id="1699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A120D135-667F-432B-A63A-27C12D2812C2}"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99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求解具体的结果存在</a:t>
            </a:r>
            <a:r>
              <a:rPr lang="en-US" altLang="zh-CN" dirty="0" smtClean="0"/>
              <a:t>x</a:t>
            </a:r>
            <a:r>
              <a:rPr lang="zh-CN" altLang="en-US" dirty="0" smtClean="0"/>
              <a:t>当中，不需要父结点和父结点的左右；</a:t>
            </a:r>
            <a:endParaRPr lang="zh-CN" altLang="en-US" dirty="0" smtClean="0"/>
          </a:p>
        </p:txBody>
      </p:sp>
      <p:sp>
        <p:nvSpPr>
          <p:cNvPr id="1699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A120D135-667F-432B-A63A-27C12D2812C2}"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10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问，是否可以提前更新最优值？不可以，注意子集树问题可以提前更新，而排列树只能到叶子结点后开始更新</a:t>
            </a:r>
            <a:endParaRPr lang="zh-CN" altLang="en-US" dirty="0" smtClean="0"/>
          </a:p>
        </p:txBody>
      </p:sp>
      <p:sp>
        <p:nvSpPr>
          <p:cNvPr id="1710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64FC52CB-A11D-413D-9CDF-0B546F6E930B}"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20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720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1A5A0AFA-1A0A-48B6-9C0C-6A938923EB9C}"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3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问，是否可以提前更新最优值？不可以，注意子集树问题可以提前更新，而排列树只能到叶子结点后开始更新</a:t>
            </a:r>
            <a:endParaRPr lang="zh-CN" altLang="en-US" dirty="0" smtClean="0"/>
          </a:p>
        </p:txBody>
      </p:sp>
      <p:sp>
        <p:nvSpPr>
          <p:cNvPr id="173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D0E9CF20-7231-4F52-AE9C-690DDD67FB2F}"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40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这里部分调度存储在结点中，对于排列树问题，部分调度存在结点中的好处是，向下扩展的时候，不需要回溯计算余下的工件集合，相当于用空间换取时间。而子集树问题扩展时，和以前的搜索路径无关，因此，不建议存储，存储父结点即可。</a:t>
            </a:r>
            <a:endParaRPr lang="zh-CN" altLang="en-US" dirty="0" smtClean="0"/>
          </a:p>
        </p:txBody>
      </p:sp>
      <p:sp>
        <p:nvSpPr>
          <p:cNvPr id="1740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653A2DF5-7035-4A0B-98B5-0076C2A2A37B}"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51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smtClean="0"/>
              <a:t>交换的意义跟回溯法一样，一个矩阵，前面部分表示已经搜索过的结点，后面部分表示没有搜索过的结点。从</a:t>
            </a:r>
            <a:r>
              <a:rPr lang="en-US" altLang="zh-CN" dirty="0" smtClean="0"/>
              <a:t>s</a:t>
            </a:r>
            <a:r>
              <a:rPr lang="zh-CN" altLang="en-US" dirty="0" smtClean="0"/>
              <a:t>开始，避免重复。</a:t>
            </a:r>
            <a:endParaRPr lang="zh-CN" altLang="en-US" dirty="0" smtClean="0"/>
          </a:p>
        </p:txBody>
      </p:sp>
      <p:sp>
        <p:nvSpPr>
          <p:cNvPr id="1751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09BA531D-8039-46CF-8945-4C979CABDEC2}"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6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理想化，可以拆分；</a:t>
            </a:r>
            <a:endParaRPr lang="zh-CN" altLang="en-US" smtClean="0"/>
          </a:p>
        </p:txBody>
      </p:sp>
      <p:sp>
        <p:nvSpPr>
          <p:cNvPr id="176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EFA935F5-FA15-4EC3-9277-9AFAD43B54B4}"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71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理想化，所有的都可以进团，理想化，取最小的两个，一个出边，一个入边，理想化假设没有空闲时间。</a:t>
            </a:r>
            <a:endParaRPr lang="zh-CN" altLang="en-US" smtClean="0"/>
          </a:p>
        </p:txBody>
      </p:sp>
      <p:sp>
        <p:nvSpPr>
          <p:cNvPr id="1771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16CD3EF5-E6CB-4633-BDDA-DAE6F64ACCFA}"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81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对于电路板布线问题，上次课，有同学说，用横纵坐标的绝对值之差的和作为下界，有同学说用启发式函数的方式可能更好？</a:t>
            </a:r>
            <a:endParaRPr lang="zh-CN" altLang="en-US" smtClean="0"/>
          </a:p>
        </p:txBody>
      </p:sp>
      <p:sp>
        <p:nvSpPr>
          <p:cNvPr id="1781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DEF32328-53A7-479F-8A49-A86E53DA6900}"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792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什么时候用取决于，你的问题适合用什么样的搜索方式，如果是深度优先，那就回溯法，如果宽度或者优先队列，那就分支定界。但是，不管回溯法还是分支定界，一定都要好好设计界值。</a:t>
            </a:r>
            <a:endParaRPr lang="zh-CN" altLang="en-US" smtClean="0"/>
          </a:p>
        </p:txBody>
      </p:sp>
      <p:sp>
        <p:nvSpPr>
          <p:cNvPr id="1792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53AF46B4-AACD-42AF-9903-4C97171FFC04}"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0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80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A0109804-2511-4002-A4FC-57D636DCB896}"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5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smtClean="0"/>
          </a:p>
        </p:txBody>
      </p:sp>
      <p:sp>
        <p:nvSpPr>
          <p:cNvPr id="165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CB6E2950-ED7F-42ED-8E03-DAB0A1C1A837}" type="slidenum">
              <a:rPr lang="zh-CN" altLang="en-US" smtClean="0">
                <a:solidFill>
                  <a:srgbClr val="000000"/>
                </a:solidFill>
                <a:ea typeface="宋体" panose="02010600030101010101" pitchFamily="2" charset="-122"/>
              </a:rPr>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5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smtClean="0"/>
          </a:p>
        </p:txBody>
      </p:sp>
      <p:sp>
        <p:nvSpPr>
          <p:cNvPr id="165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defTabSz="914400" eaLnBrk="1" hangingPunct="1">
              <a:spcBef>
                <a:spcPct val="0"/>
              </a:spcBef>
            </a:pPr>
            <a:fld id="{CB6E2950-ED7F-42ED-8E03-DAB0A1C1A837}" type="slidenum">
              <a:rPr lang="zh-CN" altLang="en-US" smtClean="0">
                <a:solidFill>
                  <a:srgbClr val="000000"/>
                </a:solidFill>
                <a:ea typeface="宋体" panose="02010600030101010101" pitchFamily="2" charset="-122"/>
              </a:rPr>
            </a:fld>
            <a:endParaRPr lang="zh-CN" altLang="en-US" smtClean="0">
              <a:solidFill>
                <a:srgbClr val="000000"/>
              </a:solidFill>
              <a:ea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12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我们要记录层的信息是因为，我们需要知道接下来判断的是哪个物品，以及当前层剩余多少物品。大家不明白为啥要放层的信息，我觉得是原因有两点：</a:t>
            </a:r>
            <a:r>
              <a:rPr lang="en-US" altLang="zh-CN" smtClean="0"/>
              <a:t>1</a:t>
            </a:r>
            <a:r>
              <a:rPr lang="zh-CN" altLang="en-US" smtClean="0"/>
              <a:t>）不理解优先队列它不是按照一层一层来搜索的，因此没办法统一记录层信息；另外一个原因是不了解解空间树的构成。</a:t>
            </a:r>
            <a:endParaRPr lang="zh-CN" altLang="en-US" smtClean="0"/>
          </a:p>
        </p:txBody>
      </p:sp>
      <p:sp>
        <p:nvSpPr>
          <p:cNvPr id="1812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68CED51C-3338-499B-9C98-443073F21A47}"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22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smtClean="0"/>
              <a:t>这是我们</a:t>
            </a:r>
            <a:r>
              <a:rPr lang="en-US" altLang="zh-CN" smtClean="0"/>
              <a:t>0,1</a:t>
            </a:r>
            <a:r>
              <a:rPr lang="zh-CN" altLang="en-US" smtClean="0"/>
              <a:t>背包问题的解空间树，解空间树的第一层都在判断第一个物品，放或者不放，第二层判断的是第二个物品放或者不放第三层判断第三个物品放或者不放，因此我们知道层信息就知道接下来要判断的物品，另外，我们在哪一层就知道我们还剩余多少物品，比如，我们在第一层，第一个物品不选，还剩第二个和第三个物品，第二层，我们第二个物品不选，还剩第三个物品，第三层，我们第三个物品不选就不剩了。</a:t>
            </a:r>
            <a:endParaRPr lang="zh-CN" altLang="en-US" smtClean="0"/>
          </a:p>
        </p:txBody>
      </p:sp>
      <p:sp>
        <p:nvSpPr>
          <p:cNvPr id="1822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a:fld id="{107E17D4-6550-4C27-A656-A51B9659C415}" type="slidenum">
              <a:rPr lang="zh-CN" altLang="en-US" smtClean="0">
                <a:solidFill>
                  <a:srgbClr val="000000"/>
                </a:solidFill>
                <a:latin typeface="Calibri" panose="020F0502020204030204" pitchFamily="34" charset="0"/>
              </a:rPr>
            </a:fld>
            <a:endParaRPr lang="zh-CN" altLang="en-US" smtClean="0">
              <a:solidFill>
                <a:srgbClr val="000000"/>
              </a:solidFill>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组合 8"/>
          <p:cNvGrpSpPr/>
          <p:nvPr/>
        </p:nvGrpSpPr>
        <p:grpSpPr bwMode="auto">
          <a:xfrm>
            <a:off x="0" y="706438"/>
            <a:ext cx="9144000" cy="4875212"/>
            <a:chOff x="0" y="1395055"/>
            <a:chExt cx="9144000" cy="3762130"/>
          </a:xfrm>
        </p:grpSpPr>
        <p:pic>
          <p:nvPicPr>
            <p:cNvPr id="5" name="Picture 2" descr="D:\SLIDEtoME\TP模板\新建文件夹 (9)\bg2.jpg"/>
            <p:cNvPicPr>
              <a:picLocks noChangeAspect="1" noChangeArrowheads="1"/>
            </p:cNvPicPr>
            <p:nvPr/>
          </p:nvPicPr>
          <p:blipFill>
            <a:blip r:embed="rId2">
              <a:extLst>
                <a:ext uri="{28A0092B-C50C-407E-A947-70E740481C1C}">
                  <a14:useLocalDpi xmlns:a14="http://schemas.microsoft.com/office/drawing/2010/main" val="0"/>
                </a:ext>
              </a:extLst>
            </a:blip>
            <a:srcRect t="18394" b="35513"/>
            <a:stretch>
              <a:fillRect/>
            </a:stretch>
          </p:blipFill>
          <p:spPr bwMode="auto">
            <a:xfrm>
              <a:off x="0" y="1694062"/>
              <a:ext cx="9144000" cy="316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0" y="1395055"/>
              <a:ext cx="9144000" cy="614975"/>
            </a:xfrm>
            <a:prstGeom prst="rect">
              <a:avLst/>
            </a:prstGeom>
            <a:solidFill>
              <a:schemeClr val="bg1">
                <a:alpha val="6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200" dirty="0"/>
            </a:p>
          </p:txBody>
        </p:sp>
        <p:sp>
          <p:nvSpPr>
            <p:cNvPr id="7" name="矩形 6"/>
            <p:cNvSpPr/>
            <p:nvPr/>
          </p:nvSpPr>
          <p:spPr>
            <a:xfrm>
              <a:off x="0" y="4542210"/>
              <a:ext cx="9144000" cy="614975"/>
            </a:xfrm>
            <a:prstGeom prst="rect">
              <a:avLst/>
            </a:prstGeom>
            <a:solidFill>
              <a:schemeClr val="bg1">
                <a:alpha val="6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200" dirty="0"/>
            </a:p>
          </p:txBody>
        </p:sp>
      </p:grpSp>
      <p:sp>
        <p:nvSpPr>
          <p:cNvPr id="2" name="Title 1"/>
          <p:cNvSpPr>
            <a:spLocks noGrp="1"/>
          </p:cNvSpPr>
          <p:nvPr>
            <p:ph type="ctrTitle"/>
          </p:nvPr>
        </p:nvSpPr>
        <p:spPr>
          <a:xfrm>
            <a:off x="2686050" y="2057401"/>
            <a:ext cx="6243638" cy="1247775"/>
          </a:xfrm>
        </p:spPr>
        <p:txBody>
          <a:bodyPr anchor="b">
            <a:normAutofit/>
          </a:bodyPr>
          <a:lstStyle>
            <a:lvl1pPr algn="ctr">
              <a:defRPr sz="2325" b="1">
                <a:solidFill>
                  <a:schemeClr val="bg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2686050" y="3459162"/>
            <a:ext cx="6243638" cy="437499"/>
          </a:xfrm>
        </p:spPr>
        <p:txBody>
          <a:bodyPr/>
          <a:lstStyle>
            <a:lvl1pPr marL="0" indent="0" algn="ctr">
              <a:buNone/>
              <a:defRPr sz="135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en-US" dirty="0"/>
          </a:p>
        </p:txBody>
      </p:sp>
      <p:sp>
        <p:nvSpPr>
          <p:cNvPr id="8" name="Date Placeholder 3"/>
          <p:cNvSpPr>
            <a:spLocks noGrp="1"/>
          </p:cNvSpPr>
          <p:nvPr>
            <p:ph type="dt" sz="half" idx="10"/>
          </p:nvPr>
        </p:nvSpPr>
        <p:spPr/>
        <p:txBody>
          <a:bodyPr/>
          <a:lstStyle>
            <a:lvl1pPr>
              <a:defRPr/>
            </a:lvl1pPr>
          </a:lstStyle>
          <a:p>
            <a:pPr>
              <a:defRPr/>
            </a:pPr>
            <a:fld id="{5139F87B-1A88-4E36-9CA3-CA19B09CBA18}" type="datetime1">
              <a:rPr lang="zh-CN" altLang="en-US"/>
            </a:fld>
            <a:endParaRPr lang="zh-CN" altLang="en-US"/>
          </a:p>
        </p:txBody>
      </p:sp>
      <p:sp>
        <p:nvSpPr>
          <p:cNvPr id="9" name="Footer Placeholder 4"/>
          <p:cNvSpPr>
            <a:spLocks noGrp="1"/>
          </p:cNvSpPr>
          <p:nvPr>
            <p:ph type="ftr" sz="quarter" idx="11"/>
          </p:nvPr>
        </p:nvSpPr>
        <p:spPr/>
        <p:txBody>
          <a:bodyPr/>
          <a:lstStyle>
            <a:lvl1pPr>
              <a:defRPr/>
            </a:lvl1pPr>
          </a:lstStyle>
          <a:p>
            <a:pPr>
              <a:defRPr/>
            </a:pPr>
            <a:endParaRPr lang="zh-CN" altLang="en-US"/>
          </a:p>
        </p:txBody>
      </p:sp>
      <p:sp>
        <p:nvSpPr>
          <p:cNvPr id="10" name="Slide Number Placeholder 5"/>
          <p:cNvSpPr>
            <a:spLocks noGrp="1"/>
          </p:cNvSpPr>
          <p:nvPr>
            <p:ph type="sldNum" sz="quarter" idx="12"/>
          </p:nvPr>
        </p:nvSpPr>
        <p:spPr/>
        <p:txBody>
          <a:bodyPr/>
          <a:lstStyle>
            <a:lvl1pPr>
              <a:defRPr/>
            </a:lvl1pPr>
          </a:lstStyle>
          <a:p>
            <a:pPr>
              <a:defRPr/>
            </a:pPr>
            <a:fld id="{466081AF-267A-4905-B78B-F896FA1EC157}"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DFDDBD63-5592-4E8F-B756-16CD9D3A8150}" type="datetime1">
              <a:rPr lang="zh-CN" altLang="en-US"/>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D10DDAD0-463C-4D3D-9CF4-5CC6BA19872E}"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cxnSp>
        <p:nvCxnSpPr>
          <p:cNvPr id="4" name="直接连接符 3"/>
          <p:cNvCxnSpPr/>
          <p:nvPr/>
        </p:nvCxnSpPr>
        <p:spPr>
          <a:xfrm>
            <a:off x="495300" y="0"/>
            <a:ext cx="0" cy="6858000"/>
          </a:xfrm>
          <a:prstGeom prst="line">
            <a:avLst/>
          </a:prstGeom>
          <a:ln w="63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3848100"/>
            <a:ext cx="9144000" cy="0"/>
          </a:xfrm>
          <a:prstGeom prst="line">
            <a:avLst/>
          </a:prstGeom>
          <a:ln w="63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2711450"/>
            <a:ext cx="1628775" cy="15367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eaLnBrk="1" fontAlgn="auto" hangingPunct="1">
              <a:spcBef>
                <a:spcPts val="0"/>
              </a:spcBef>
              <a:spcAft>
                <a:spcPts val="0"/>
              </a:spcAft>
              <a:defRPr/>
            </a:pPr>
            <a:endParaRPr lang="zh-CN" altLang="en-US" sz="4500" dirty="0">
              <a:solidFill>
                <a:srgbClr val="FCFCFC"/>
              </a:solidFill>
              <a:latin typeface="Gungsuh" panose="02030600000101010101" pitchFamily="18" charset="-127"/>
            </a:endParaRPr>
          </a:p>
        </p:txBody>
      </p:sp>
      <p:sp>
        <p:nvSpPr>
          <p:cNvPr id="2" name="Title 1"/>
          <p:cNvSpPr>
            <a:spLocks noGrp="1"/>
          </p:cNvSpPr>
          <p:nvPr>
            <p:ph type="title"/>
          </p:nvPr>
        </p:nvSpPr>
        <p:spPr>
          <a:xfrm>
            <a:off x="1752600" y="2914650"/>
            <a:ext cx="7171134" cy="933450"/>
          </a:xfrm>
        </p:spPr>
        <p:txBody>
          <a:bodyPr>
            <a:normAutofit/>
          </a:bodyPr>
          <a:lstStyle>
            <a:lvl1pPr algn="ctr">
              <a:defRPr sz="2400">
                <a:solidFill>
                  <a:schemeClr val="accent1">
                    <a:lumMod val="75000"/>
                  </a:schemeClr>
                </a:solidFill>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1752600" y="3857626"/>
            <a:ext cx="7171134" cy="381000"/>
          </a:xfrm>
        </p:spPr>
        <p:txBody>
          <a:bodyPr anchor="ctr"/>
          <a:lstStyle>
            <a:lvl1pPr marL="0" indent="0" algn="ctr">
              <a:buNone/>
              <a:defRPr sz="1350">
                <a:solidFill>
                  <a:schemeClr val="accent1">
                    <a:lumMod val="60000"/>
                    <a:lumOff val="4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
        <p:nvSpPr>
          <p:cNvPr id="7" name="Date Placeholder 3"/>
          <p:cNvSpPr>
            <a:spLocks noGrp="1"/>
          </p:cNvSpPr>
          <p:nvPr>
            <p:ph type="dt" sz="half" idx="10"/>
          </p:nvPr>
        </p:nvSpPr>
        <p:spPr/>
        <p:txBody>
          <a:bodyPr/>
          <a:lstStyle>
            <a:lvl1pPr>
              <a:defRPr/>
            </a:lvl1pPr>
          </a:lstStyle>
          <a:p>
            <a:pPr>
              <a:defRPr/>
            </a:pPr>
            <a:fld id="{1C05320C-5EBF-4D25-8249-C4CED8C74E88}" type="datetime1">
              <a:rPr lang="zh-CN" altLang="en-US"/>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D5F1FF06-E851-4871-8C1A-E3134706AE5D}"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33500"/>
            <a:ext cx="3886200" cy="4767263"/>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p:nvPr>
        </p:nvSpPr>
        <p:spPr>
          <a:xfrm>
            <a:off x="4629150" y="1333500"/>
            <a:ext cx="3886200" cy="4767263"/>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E62E9C14-9300-4545-A1AD-775A5537F67A}" type="datetime1">
              <a:rPr lang="zh-CN" altLang="en-US"/>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F675BF45-13D0-4817-911A-CE3A6B96CAC5}"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8650" y="188914"/>
            <a:ext cx="7886700" cy="72548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300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266951"/>
            <a:ext cx="3868340" cy="3922713"/>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Text Placeholder 4"/>
          <p:cNvSpPr>
            <a:spLocks noGrp="1"/>
          </p:cNvSpPr>
          <p:nvPr>
            <p:ph type="body" sz="quarter" idx="3"/>
          </p:nvPr>
        </p:nvSpPr>
        <p:spPr>
          <a:xfrm>
            <a:off x="4629150" y="1300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266951"/>
            <a:ext cx="3887391" cy="39227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7366B1D7-C360-482E-A66E-F269C4355A3C}" type="datetime1">
              <a:rPr lang="zh-CN" altLang="en-US"/>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AE114E76-BB43-4555-B26A-0A9419342F9F}"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空心弧 2"/>
          <p:cNvSpPr/>
          <p:nvPr/>
        </p:nvSpPr>
        <p:spPr bwMode="auto">
          <a:xfrm rot="7086271">
            <a:off x="5123656" y="3105944"/>
            <a:ext cx="1482725" cy="1112838"/>
          </a:xfrm>
          <a:prstGeom prst="blockArc">
            <a:avLst>
              <a:gd name="adj1" fmla="val 5502533"/>
              <a:gd name="adj2" fmla="val 1980318"/>
              <a:gd name="adj3" fmla="val 1053"/>
            </a:avLst>
          </a:prstGeom>
          <a:solidFill>
            <a:schemeClr val="accent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endParaRPr>
          </a:p>
        </p:txBody>
      </p:sp>
      <p:sp>
        <p:nvSpPr>
          <p:cNvPr id="2" name="Title 1"/>
          <p:cNvSpPr>
            <a:spLocks noGrp="1"/>
          </p:cNvSpPr>
          <p:nvPr>
            <p:ph type="title"/>
          </p:nvPr>
        </p:nvSpPr>
        <p:spPr>
          <a:xfrm>
            <a:off x="3500438" y="3271819"/>
            <a:ext cx="2657475" cy="781378"/>
          </a:xfrm>
        </p:spPr>
        <p:txBody>
          <a:bodyPr>
            <a:noAutofit/>
          </a:bodyPr>
          <a:lstStyle>
            <a:lvl1pPr algn="ctr">
              <a:defRPr sz="4500">
                <a:solidFill>
                  <a:schemeClr val="accent1"/>
                </a:solidFill>
              </a:defRPr>
            </a:lvl1pPr>
          </a:lstStyle>
          <a:p>
            <a:r>
              <a:rPr lang="zh-CN" altLang="en-US" smtClean="0"/>
              <a:t>单击此处编辑母版标题样式</a:t>
            </a:r>
            <a:endParaRPr lang="en-US" dirty="0"/>
          </a:p>
        </p:txBody>
      </p:sp>
      <p:sp>
        <p:nvSpPr>
          <p:cNvPr id="4" name="Date Placeholder 2"/>
          <p:cNvSpPr>
            <a:spLocks noGrp="1"/>
          </p:cNvSpPr>
          <p:nvPr>
            <p:ph type="dt" sz="half" idx="10"/>
          </p:nvPr>
        </p:nvSpPr>
        <p:spPr/>
        <p:txBody>
          <a:bodyPr/>
          <a:lstStyle>
            <a:lvl1pPr>
              <a:defRPr/>
            </a:lvl1pPr>
          </a:lstStyle>
          <a:p>
            <a:pPr>
              <a:defRPr/>
            </a:pPr>
            <a:fld id="{67E79EAF-F2BC-49FB-9621-546E54E9F232}" type="datetime1">
              <a:rPr lang="zh-CN" altLang="en-US"/>
            </a:fld>
            <a:endParaRPr lang="zh-CN" altLang="en-US"/>
          </a:p>
        </p:txBody>
      </p:sp>
      <p:sp>
        <p:nvSpPr>
          <p:cNvPr id="5" name="Footer Placeholder 3"/>
          <p:cNvSpPr>
            <a:spLocks noGrp="1"/>
          </p:cNvSpPr>
          <p:nvPr>
            <p:ph type="ftr" sz="quarter" idx="11"/>
          </p:nvPr>
        </p:nvSpPr>
        <p:spPr/>
        <p:txBody>
          <a:bodyPr/>
          <a:lstStyle>
            <a:lvl1pPr>
              <a:defRPr/>
            </a:lvl1pPr>
          </a:lstStyle>
          <a:p>
            <a:pPr>
              <a:defRPr/>
            </a:pPr>
            <a:endParaRPr lang="zh-CN" altLang="en-US"/>
          </a:p>
        </p:txBody>
      </p:sp>
      <p:sp>
        <p:nvSpPr>
          <p:cNvPr id="6" name="Slide Number Placeholder 4"/>
          <p:cNvSpPr>
            <a:spLocks noGrp="1"/>
          </p:cNvSpPr>
          <p:nvPr>
            <p:ph type="sldNum" sz="quarter" idx="12"/>
          </p:nvPr>
        </p:nvSpPr>
        <p:spPr/>
        <p:txBody>
          <a:bodyPr/>
          <a:lstStyle>
            <a:lvl1pPr>
              <a:defRPr/>
            </a:lvl1pPr>
          </a:lstStyle>
          <a:p>
            <a:pPr>
              <a:defRPr/>
            </a:pPr>
            <a:fld id="{7B193C37-6C07-4CED-A39A-07C0F3EA4A3A}"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7E8D21E6-4015-4A11-BF2A-153E26763355}" type="datetime1">
              <a:rPr lang="zh-CN" altLang="en-US"/>
            </a:fld>
            <a:endParaRPr lang="zh-CN" altLang="en-US"/>
          </a:p>
        </p:txBody>
      </p:sp>
      <p:sp>
        <p:nvSpPr>
          <p:cNvPr id="3" name="Footer Placeholder 2"/>
          <p:cNvSpPr>
            <a:spLocks noGrp="1"/>
          </p:cNvSpPr>
          <p:nvPr>
            <p:ph type="ftr" sz="quarter" idx="11"/>
          </p:nvPr>
        </p:nvSpPr>
        <p:spPr/>
        <p:txBody>
          <a:bodyPr/>
          <a:lstStyle>
            <a:lvl1pPr>
              <a:defRPr/>
            </a:lvl1pPr>
          </a:lstStyle>
          <a:p>
            <a:pPr>
              <a:defRPr/>
            </a:pPr>
            <a:endParaRPr lang="zh-CN" altLang="en-US"/>
          </a:p>
        </p:txBody>
      </p:sp>
      <p:sp>
        <p:nvSpPr>
          <p:cNvPr id="4" name="Slide Number Placeholder 3"/>
          <p:cNvSpPr>
            <a:spLocks noGrp="1"/>
          </p:cNvSpPr>
          <p:nvPr>
            <p:ph type="sldNum" sz="quarter" idx="12"/>
          </p:nvPr>
        </p:nvSpPr>
        <p:spPr/>
        <p:txBody>
          <a:bodyPr/>
          <a:lstStyle>
            <a:lvl1pPr>
              <a:defRPr/>
            </a:lvl1pPr>
          </a:lstStyle>
          <a:p>
            <a:pPr>
              <a:defRPr/>
            </a:pPr>
            <a:fld id="{E65F5599-3FAD-40BA-853D-51ED62C5753B}"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043583" y="1143000"/>
            <a:ext cx="7056834" cy="685800"/>
          </a:xfrm>
        </p:spPr>
        <p:txBody>
          <a:bodyPr>
            <a:normAutofit/>
          </a:bodyPr>
          <a:lstStyle>
            <a:lvl1pPr algn="ctr">
              <a:defRPr sz="2100" b="1">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74634" y="1954211"/>
            <a:ext cx="3182257" cy="4276725"/>
          </a:xfrm>
          <a:solidFill>
            <a:srgbClr val="EEEEEE"/>
          </a:solidFill>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4704241" y="1954212"/>
            <a:ext cx="3227189" cy="4276725"/>
          </a:xfrm>
        </p:spPr>
        <p:txBody>
          <a:bodyPr/>
          <a:lstStyle>
            <a:lvl1pPr marL="0" indent="0">
              <a:buNone/>
              <a:defRPr sz="1350">
                <a:latin typeface="黑体" panose="02010609060101010101" pitchFamily="49" charset="-122"/>
                <a:ea typeface="黑体" panose="02010609060101010101" pitchFamily="49" charset="-122"/>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Date Placeholder 3"/>
          <p:cNvSpPr>
            <a:spLocks noGrp="1"/>
          </p:cNvSpPr>
          <p:nvPr>
            <p:ph type="dt" sz="half" idx="10"/>
          </p:nvPr>
        </p:nvSpPr>
        <p:spPr/>
        <p:txBody>
          <a:bodyPr/>
          <a:lstStyle>
            <a:lvl1pPr>
              <a:defRPr/>
            </a:lvl1pPr>
          </a:lstStyle>
          <a:p>
            <a:pPr>
              <a:defRPr/>
            </a:pPr>
            <a:fld id="{86095AB8-8B9A-415F-A6ED-1D7C8B89C50A}" type="datetime1">
              <a:rPr lang="zh-CN" altLang="en-US"/>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297E5251-76F0-44B2-B558-5DBFB50CB408}"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15237" y="365125"/>
            <a:ext cx="900113" cy="5811838"/>
          </a:xfrm>
        </p:spPr>
        <p:txBody>
          <a:bodyPr vert="eaVert"/>
          <a:lstStyle>
            <a:lvl1pPr>
              <a:defRPr>
                <a:solidFill>
                  <a:schemeClr val="accent1"/>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6872288"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FDBE1990-2E5C-4D95-B72E-7638E6B3A592}" type="datetime1">
              <a:rPr lang="zh-CN" altLang="en-US"/>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A8C12B0-0E21-4A26-B0BB-771B11271124}"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内容">
    <p:spTree>
      <p:nvGrpSpPr>
        <p:cNvPr id="1" name=""/>
        <p:cNvGrpSpPr/>
        <p:nvPr/>
      </p:nvGrpSpPr>
      <p:grpSpPr>
        <a:xfrm>
          <a:off x="0" y="0"/>
          <a:ext cx="0" cy="0"/>
          <a:chOff x="0" y="0"/>
          <a:chExt cx="0" cy="0"/>
        </a:xfrm>
      </p:grpSpPr>
      <p:sp>
        <p:nvSpPr>
          <p:cNvPr id="9" name="内容占位符 7"/>
          <p:cNvSpPr>
            <a:spLocks noGrp="1"/>
          </p:cNvSpPr>
          <p:nvPr>
            <p:ph sz="quarter" idx="13"/>
          </p:nvPr>
        </p:nvSpPr>
        <p:spPr>
          <a:xfrm>
            <a:off x="628651" y="381001"/>
            <a:ext cx="7886701" cy="5783266"/>
          </a:xfrm>
        </p:spPr>
        <p:txBody>
          <a:bodyPr/>
          <a:lstStyle>
            <a:lvl1pPr>
              <a:defRPr sz="1800"/>
            </a:lvl1pPr>
            <a:lvl2pPr>
              <a:defRPr sz="1500"/>
            </a:lvl2pPr>
            <a:lvl3pPr>
              <a:defRPr sz="1350"/>
            </a:lvl3pPr>
            <a:lvl4pPr>
              <a:defRPr sz="1350"/>
            </a:lvl4pPr>
            <a:lvl5pPr>
              <a:defRPr sz="135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4"/>
          </p:nvPr>
        </p:nvSpPr>
        <p:spPr/>
        <p:txBody>
          <a:bodyPr/>
          <a:lstStyle>
            <a:lvl1pPr>
              <a:defRPr/>
            </a:lvl1pPr>
          </a:lstStyle>
          <a:p>
            <a:pPr>
              <a:defRPr/>
            </a:pPr>
            <a:fld id="{C967DAF8-E83E-486A-889C-0B1948B5D42C}" type="datetime1">
              <a:rPr lang="zh-CN" altLang="en-US"/>
            </a:fld>
            <a:endParaRPr lang="zh-CN" altLang="en-US"/>
          </a:p>
        </p:txBody>
      </p:sp>
      <p:sp>
        <p:nvSpPr>
          <p:cNvPr id="4" name="页脚占位符 3"/>
          <p:cNvSpPr>
            <a:spLocks noGrp="1"/>
          </p:cNvSpPr>
          <p:nvPr>
            <p:ph type="ftr" sz="quarter" idx="15"/>
          </p:nvPr>
        </p:nvSpPr>
        <p:spPr/>
        <p:txBody>
          <a:bodyPr/>
          <a:lstStyle>
            <a:lvl1pPr>
              <a:defRPr/>
            </a:lvl1pPr>
          </a:lstStyle>
          <a:p>
            <a:pPr>
              <a:defRPr/>
            </a:pPr>
            <a:endParaRPr lang="zh-CN" altLang="en-US"/>
          </a:p>
        </p:txBody>
      </p:sp>
      <p:sp>
        <p:nvSpPr>
          <p:cNvPr id="5" name="灯片编号占位符 4"/>
          <p:cNvSpPr>
            <a:spLocks noGrp="1"/>
          </p:cNvSpPr>
          <p:nvPr>
            <p:ph type="sldNum" sz="quarter" idx="16"/>
          </p:nvPr>
        </p:nvSpPr>
        <p:spPr/>
        <p:txBody>
          <a:bodyPr/>
          <a:lstStyle>
            <a:lvl1pPr>
              <a:defRPr/>
            </a:lvl1pPr>
          </a:lstStyle>
          <a:p>
            <a:pPr>
              <a:defRPr/>
            </a:pPr>
            <a:fld id="{E5198635-A88B-451E-B4E7-7AA86EA7F223}"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3.xml"/><Relationship Id="rId13" Type="http://schemas.openxmlformats.org/officeDocument/2006/relationships/tags" Target="../tags/tag2.xml"/><Relationship Id="rId12" Type="http://schemas.openxmlformats.org/officeDocument/2006/relationships/tags" Target="../tags/tag1.xml"/><Relationship Id="rId11" Type="http://schemas.openxmlformats.org/officeDocument/2006/relationships/image" Target="../media/image2.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42" name="Picture 3" descr="D:\SLIDEtoME\TP模板\新建文件夹 (9)\bg3.jpg"/>
          <p:cNvPicPr>
            <a:picLocks noChangeAspect="1" noChangeArrowheads="1"/>
          </p:cNvPicPr>
          <p:nvPr/>
        </p:nvPicPr>
        <p:blipFill>
          <a:blip r:embed="rId11">
            <a:extLst>
              <a:ext uri="{28A0092B-C50C-407E-A947-70E740481C1C}">
                <a14:useLocalDpi xmlns:a14="http://schemas.microsoft.com/office/drawing/2010/main" val="0"/>
              </a:ext>
            </a:extLst>
          </a:blip>
          <a:srcRect t="2" b="4099"/>
          <a:stretch>
            <a:fillRect/>
          </a:stretch>
        </p:blipFill>
        <p:spPr bwMode="auto">
          <a:xfrm>
            <a:off x="0" y="0"/>
            <a:ext cx="914400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Title Placeholder 1"/>
          <p:cNvSpPr>
            <a:spLocks noGrp="1"/>
          </p:cNvSpPr>
          <p:nvPr>
            <p:ph type="title"/>
            <p:custDataLst>
              <p:tags r:id="rId12"/>
            </p:custDataLst>
          </p:nvPr>
        </p:nvSpPr>
        <p:spPr bwMode="auto">
          <a:xfrm>
            <a:off x="628650" y="149225"/>
            <a:ext cx="78867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44" name="Text Placeholder 2"/>
          <p:cNvSpPr>
            <a:spLocks noGrp="1"/>
          </p:cNvSpPr>
          <p:nvPr>
            <p:ph type="body" idx="1"/>
            <p:custDataLst>
              <p:tags r:id="rId13"/>
            </p:custDataLst>
          </p:nvPr>
        </p:nvSpPr>
        <p:spPr bwMode="auto">
          <a:xfrm>
            <a:off x="628650" y="1195388"/>
            <a:ext cx="78867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3653CDA8-FBE1-416E-9509-A15BE0FAEC42}" type="datetime1">
              <a:rPr lang="zh-CN" altLang="en-US"/>
            </a:fld>
            <a:endParaRPr lang="zh-CN"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zh-CN" alt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eaLnBrk="1" hangingPunct="1">
              <a:defRPr sz="900">
                <a:solidFill>
                  <a:srgbClr val="9D9D9D"/>
                </a:solidFill>
                <a:ea typeface="黑体" panose="02010609060101010101" pitchFamily="49" charset="-122"/>
              </a:defRPr>
            </a:lvl1pPr>
          </a:lstStyle>
          <a:p>
            <a:pPr>
              <a:defRPr/>
            </a:pPr>
            <a:fld id="{1345DFAD-7CED-48D1-BD0D-0D9944A2A200}" type="slidenum">
              <a:rPr lang="zh-CN" altLang="en-US"/>
            </a:fld>
            <a:endParaRPr lang="zh-CN" altLang="en-US"/>
          </a:p>
        </p:txBody>
      </p:sp>
      <p:sp>
        <p:nvSpPr>
          <p:cNvPr id="8"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685800" rtl="0" eaLnBrk="0" fontAlgn="base" hangingPunct="0">
        <a:lnSpc>
          <a:spcPct val="90000"/>
        </a:lnSpc>
        <a:spcBef>
          <a:spcPct val="0"/>
        </a:spcBef>
        <a:spcAft>
          <a:spcPct val="0"/>
        </a:spcAft>
        <a:defRPr sz="2100" kern="1200">
          <a:solidFill>
            <a:schemeClr val="bg1"/>
          </a:solidFill>
          <a:latin typeface="黑体" panose="02010609060101010101" pitchFamily="49" charset="-122"/>
          <a:ea typeface="黑体" panose="02010609060101010101" pitchFamily="49" charset="-122"/>
          <a:cs typeface="+mj-cs"/>
        </a:defRPr>
      </a:lvl1pPr>
      <a:lvl2pPr algn="l" defTabSz="685800" rtl="0" eaLnBrk="0" fontAlgn="base" hangingPunct="0">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2pPr>
      <a:lvl3pPr algn="l" defTabSz="685800" rtl="0" eaLnBrk="0" fontAlgn="base" hangingPunct="0">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3pPr>
      <a:lvl4pPr algn="l" defTabSz="685800" rtl="0" eaLnBrk="0" fontAlgn="base" hangingPunct="0">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4pPr>
      <a:lvl5pPr algn="l" defTabSz="685800" rtl="0" eaLnBrk="0" fontAlgn="base" hangingPunct="0">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5pPr>
      <a:lvl6pPr marL="457200" algn="l" defTabSz="685800" rtl="0" fontAlgn="base">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6pPr>
      <a:lvl7pPr marL="914400" algn="l" defTabSz="685800" rtl="0" fontAlgn="base">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7pPr>
      <a:lvl8pPr marL="1371600" algn="l" defTabSz="685800" rtl="0" fontAlgn="base">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8pPr>
      <a:lvl9pPr marL="1828800" algn="l" defTabSz="685800" rtl="0" fontAlgn="base">
        <a:lnSpc>
          <a:spcPct val="90000"/>
        </a:lnSpc>
        <a:spcBef>
          <a:spcPct val="0"/>
        </a:spcBef>
        <a:spcAft>
          <a:spcPct val="0"/>
        </a:spcAft>
        <a:defRPr sz="2100">
          <a:solidFill>
            <a:schemeClr val="bg1"/>
          </a:solidFill>
          <a:latin typeface="黑体" panose="02010609060101010101" pitchFamily="49" charset="-122"/>
          <a:ea typeface="黑体" panose="02010609060101010101" pitchFamily="49" charset="-122"/>
        </a:defRPr>
      </a:lvl9pPr>
    </p:titleStyle>
    <p:bodyStyle>
      <a:lvl1pPr marL="171450" indent="-171450" algn="l" defTabSz="685800" rtl="0" eaLnBrk="0" fontAlgn="base" hangingPunct="0">
        <a:lnSpc>
          <a:spcPct val="90000"/>
        </a:lnSpc>
        <a:spcBef>
          <a:spcPts val="750"/>
        </a:spcBef>
        <a:spcAft>
          <a:spcPct val="0"/>
        </a:spcAft>
        <a:buClr>
          <a:schemeClr val="accent1"/>
        </a:buClr>
        <a:buSzPct val="75000"/>
        <a:buFont typeface="Wingdings" panose="05000000000000000000" pitchFamily="2" charset="2"/>
        <a:buChar char=""/>
        <a:defRPr kern="1200">
          <a:solidFill>
            <a:schemeClr val="accent1"/>
          </a:solidFill>
          <a:latin typeface="黑体" panose="02010609060101010101" pitchFamily="49" charset="-122"/>
          <a:ea typeface="黑体" panose="02010609060101010101" pitchFamily="49" charset="-122"/>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黑体" panose="02010609060101010101" pitchFamily="49" charset="-122"/>
          <a:ea typeface="黑体" panose="02010609060101010101" pitchFamily="49" charset="-122"/>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黑体" panose="02010609060101010101" pitchFamily="49" charset="-122"/>
          <a:ea typeface="黑体" panose="02010609060101010101" pitchFamily="49" charset="-122"/>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黑体" panose="02010609060101010101" pitchFamily="49" charset="-122"/>
          <a:ea typeface="黑体" panose="02010609060101010101" pitchFamily="49" charset="-122"/>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黑体" panose="02010609060101010101" pitchFamily="49" charset="-122"/>
          <a:ea typeface="黑体" panose="02010609060101010101" pitchFamily="49"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openxmlformats.org/officeDocument/2006/relationships/tags" Target="../tags/tag8.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xml"/><Relationship Id="rId6" Type="http://schemas.openxmlformats.org/officeDocument/2006/relationships/tags" Target="../tags/tag2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2.xml"/><Relationship Id="rId6" Type="http://schemas.openxmlformats.org/officeDocument/2006/relationships/tags" Target="../tags/tag26.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27.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tags" Target="../tags/tag28.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slide" Target="slide8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40.xml"/><Relationship Id="rId7" Type="http://schemas.openxmlformats.org/officeDocument/2006/relationships/slideLayout" Target="../slideLayouts/slideLayout2.xml"/><Relationship Id="rId6" Type="http://schemas.openxmlformats.org/officeDocument/2006/relationships/tags" Target="../tags/tag46.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tags" Target="../tags/tag48.xml"/><Relationship Id="rId2" Type="http://schemas.openxmlformats.org/officeDocument/2006/relationships/image" Target="../media/image6.wmf"/><Relationship Id="rId1" Type="http://schemas.openxmlformats.org/officeDocument/2006/relationships/oleObject" Target="../embeddings/oleObject3.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tags" Target="../tags/tag53.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2.xml"/><Relationship Id="rId3" Type="http://schemas.openxmlformats.org/officeDocument/2006/relationships/tags" Target="../tags/tag56.xml"/><Relationship Id="rId2" Type="http://schemas.openxmlformats.org/officeDocument/2006/relationships/image" Target="../media/image9.png"/><Relationship Id="rId1" Type="http://schemas.openxmlformats.org/officeDocument/2006/relationships/image" Target="../media/image8.png"/></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2.xml"/><Relationship Id="rId3" Type="http://schemas.openxmlformats.org/officeDocument/2006/relationships/tags" Target="../tags/tag57.xml"/><Relationship Id="rId2" Type="http://schemas.openxmlformats.org/officeDocument/2006/relationships/image" Target="../media/image11.png"/><Relationship Id="rId1" Type="http://schemas.openxmlformats.org/officeDocument/2006/relationships/image" Target="../media/image10.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slideLayout" Target="../slideLayouts/slideLayout2.xml"/><Relationship Id="rId3" Type="http://schemas.openxmlformats.org/officeDocument/2006/relationships/tags" Target="../tags/tag60.xml"/><Relationship Id="rId2" Type="http://schemas.openxmlformats.org/officeDocument/2006/relationships/image" Target="../media/image11.png"/><Relationship Id="rId1" Type="http://schemas.openxmlformats.org/officeDocument/2006/relationships/image" Target="../media/image10.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image" Target="../media/image1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66.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image" Target="../media/image14.wmf"/><Relationship Id="rId1" Type="http://schemas.openxmlformats.org/officeDocument/2006/relationships/oleObject" Target="../embeddings/oleObject5.bin"/></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68.xml.rels><?xml version="1.0" encoding="UTF-8" standalone="yes"?>
<Relationships xmlns="http://schemas.openxmlformats.org/package/2006/relationships"><Relationship Id="rId6" Type="http://schemas.openxmlformats.org/officeDocument/2006/relationships/notesSlide" Target="../notesSlides/notesSlide68.xml"/><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image" Target="../media/image15.wmf"/><Relationship Id="rId1" Type="http://schemas.openxmlformats.org/officeDocument/2006/relationships/oleObject" Target="../embeddings/oleObject6.bin"/></Relationships>
</file>

<file path=ppt/slides/_rels/slide69.xml.rels><?xml version="1.0" encoding="UTF-8" standalone="yes"?>
<Relationships xmlns="http://schemas.openxmlformats.org/package/2006/relationships"><Relationship Id="rId6" Type="http://schemas.openxmlformats.org/officeDocument/2006/relationships/notesSlide" Target="../notesSlides/notesSlide69.xml"/><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tags" Target="../tags/tag75.xml"/><Relationship Id="rId2" Type="http://schemas.openxmlformats.org/officeDocument/2006/relationships/image" Target="../media/image16.wmf"/><Relationship Id="rId1" Type="http://schemas.openxmlformats.org/officeDocument/2006/relationships/oleObject" Target="../embeddings/oleObject7.bin"/></Relationships>
</file>

<file path=ppt/slides/_rels/slide70.xml.rels><?xml version="1.0" encoding="UTF-8" standalone="yes"?>
<Relationships xmlns="http://schemas.openxmlformats.org/package/2006/relationships"><Relationship Id="rId8" Type="http://schemas.openxmlformats.org/officeDocument/2006/relationships/notesSlide" Target="../notesSlides/notesSlide70.xml"/><Relationship Id="rId7" Type="http://schemas.openxmlformats.org/officeDocument/2006/relationships/vmlDrawing" Target="../drawings/vmlDrawing8.vml"/><Relationship Id="rId6" Type="http://schemas.openxmlformats.org/officeDocument/2006/relationships/slideLayout" Target="../slideLayouts/slideLayout2.xml"/><Relationship Id="rId5" Type="http://schemas.openxmlformats.org/officeDocument/2006/relationships/tags" Target="../tags/tag76.xml"/><Relationship Id="rId4" Type="http://schemas.openxmlformats.org/officeDocument/2006/relationships/image" Target="../media/image18.wmf"/><Relationship Id="rId3" Type="http://schemas.openxmlformats.org/officeDocument/2006/relationships/oleObject" Target="../embeddings/oleObject9.bin"/><Relationship Id="rId2" Type="http://schemas.openxmlformats.org/officeDocument/2006/relationships/image" Target="../media/image17.wmf"/><Relationship Id="rId1" Type="http://schemas.openxmlformats.org/officeDocument/2006/relationships/oleObject" Target="../embeddings/oleObject8.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72.xml.rels><?xml version="1.0" encoding="UTF-8" standalone="yes"?>
<Relationships xmlns="http://schemas.openxmlformats.org/package/2006/relationships"><Relationship Id="rId6" Type="http://schemas.openxmlformats.org/officeDocument/2006/relationships/notesSlide" Target="../notesSlides/notesSlide72.xml"/><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image" Target="../media/image19.wmf"/><Relationship Id="rId1" Type="http://schemas.openxmlformats.org/officeDocument/2006/relationships/oleObject" Target="../embeddings/oleObject10.bin"/></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86.xml"/><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slide" Target="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custDataLst>
              <p:tags r:id="rId1"/>
            </p:custDataLst>
          </p:nvPr>
        </p:nvSpPr>
        <p:spPr>
          <a:xfrm>
            <a:off x="2282825" y="3730625"/>
            <a:ext cx="6861175" cy="893762"/>
          </a:xfrm>
        </p:spPr>
        <p:txBody>
          <a:bodyPr rtlCol="0">
            <a:noAutofit/>
          </a:bodyPr>
          <a:lstStyle/>
          <a:p>
            <a:pPr eaLnBrk="1" fontAlgn="auto" hangingPunct="1">
              <a:spcAft>
                <a:spcPts val="0"/>
              </a:spcAft>
              <a:defRPr/>
            </a:pPr>
            <a:r>
              <a:rPr lang="en-US" altLang="zh-CN" sz="2400" b="1" dirty="0">
                <a:latin typeface="+mn-lt"/>
                <a:ea typeface="+mn-ea"/>
              </a:rPr>
              <a:t>                       </a:t>
            </a:r>
            <a:r>
              <a:rPr lang="en-US" altLang="zh-CN" sz="2400" b="1" dirty="0" smtClean="0">
                <a:latin typeface="+mn-lt"/>
                <a:ea typeface="+mn-ea"/>
              </a:rPr>
              <a:t>               </a:t>
            </a:r>
            <a:r>
              <a:rPr lang="zh-CN" altLang="en-US" sz="2400" b="1" dirty="0" smtClean="0">
                <a:latin typeface="楷体" panose="02010609060101010101" pitchFamily="49" charset="-122"/>
                <a:ea typeface="楷体" panose="02010609060101010101" pitchFamily="49" charset="-122"/>
              </a:rPr>
              <a:t>罗建超</a:t>
            </a:r>
            <a:endParaRPr lang="en-US" altLang="zh-CN" sz="2400" b="1" dirty="0" smtClean="0">
              <a:latin typeface="楷体" panose="02010609060101010101" pitchFamily="49" charset="-122"/>
              <a:ea typeface="楷体" panose="02010609060101010101" pitchFamily="49" charset="-122"/>
            </a:endParaRPr>
          </a:p>
          <a:p>
            <a:pPr algn="r" eaLnBrk="1" fontAlgn="auto" hangingPunct="1">
              <a:spcAft>
                <a:spcPts val="0"/>
              </a:spcAft>
              <a:defRPr/>
            </a:pPr>
            <a:r>
              <a:rPr lang="zh-CN" altLang="en-US" sz="2400" b="1" dirty="0" smtClean="0">
                <a:latin typeface="楷体" panose="02010609060101010101" pitchFamily="49" charset="-122"/>
                <a:ea typeface="楷体" panose="02010609060101010101" pitchFamily="49" charset="-122"/>
              </a:rPr>
              <a:t>长</a:t>
            </a:r>
            <a:r>
              <a:rPr lang="zh-CN" altLang="en-US" sz="2400" b="1" dirty="0">
                <a:latin typeface="楷体" panose="02010609060101010101" pitchFamily="49" charset="-122"/>
                <a:ea typeface="楷体" panose="02010609060101010101" pitchFamily="49" charset="-122"/>
              </a:rPr>
              <a:t>聘副教授、</a:t>
            </a:r>
            <a:r>
              <a:rPr lang="zh-CN" altLang="en-US" sz="2400" b="1" dirty="0" smtClean="0">
                <a:latin typeface="楷体" panose="02010609060101010101" pitchFamily="49" charset="-122"/>
                <a:ea typeface="楷体" panose="02010609060101010101" pitchFamily="49" charset="-122"/>
              </a:rPr>
              <a:t>博士生</a:t>
            </a:r>
            <a:r>
              <a:rPr lang="zh-CN" altLang="en-US" sz="2400" b="1" dirty="0">
                <a:latin typeface="楷体" panose="02010609060101010101" pitchFamily="49" charset="-122"/>
                <a:ea typeface="楷体" panose="02010609060101010101" pitchFamily="49" charset="-122"/>
              </a:rPr>
              <a:t>导师</a:t>
            </a:r>
            <a:endParaRPr lang="en-US" altLang="zh-CN" sz="2400" b="1" dirty="0">
              <a:latin typeface="楷体" panose="02010609060101010101" pitchFamily="49" charset="-122"/>
              <a:ea typeface="楷体" panose="02010609060101010101" pitchFamily="49" charset="-122"/>
            </a:endParaRPr>
          </a:p>
          <a:p>
            <a:pPr eaLnBrk="1" fontAlgn="auto" hangingPunct="1">
              <a:spcAft>
                <a:spcPts val="0"/>
              </a:spcAft>
              <a:defRPr/>
            </a:pPr>
            <a:endParaRPr lang="en-US" altLang="zh-CN" sz="2400" b="1" dirty="0" smtClean="0">
              <a:latin typeface="楷体" panose="02010609060101010101" pitchFamily="49" charset="-122"/>
              <a:ea typeface="楷体" panose="02010609060101010101" pitchFamily="49" charset="-122"/>
            </a:endParaRPr>
          </a:p>
        </p:txBody>
      </p:sp>
      <p:sp>
        <p:nvSpPr>
          <p:cNvPr id="4" name="标题 1"/>
          <p:cNvSpPr txBox="1"/>
          <p:nvPr>
            <p:custDataLst>
              <p:tags r:id="rId2"/>
            </p:custDataLst>
          </p:nvPr>
        </p:nvSpPr>
        <p:spPr bwMode="auto">
          <a:xfrm>
            <a:off x="3286125" y="2867025"/>
            <a:ext cx="4962525" cy="495300"/>
          </a:xfrm>
          <a:prstGeom prst="rect">
            <a:avLst/>
          </a:prstGeom>
          <a:noFill/>
          <a:ln w="9525">
            <a:noFill/>
            <a:miter lim="800000"/>
          </a:ln>
        </p:spPr>
        <p:txBody>
          <a:bodyPr anchor="b"/>
          <a:lstStyle/>
          <a:p>
            <a:pPr algn="ctr" defTabSz="685800" eaLnBrk="1" fontAlgn="auto" hangingPunct="1">
              <a:lnSpc>
                <a:spcPct val="90000"/>
              </a:lnSpc>
              <a:spcAft>
                <a:spcPts val="0"/>
              </a:spcAft>
              <a:defRPr/>
            </a:pPr>
            <a:r>
              <a:rPr lang="en-US" altLang="zh-CN" sz="4000" b="1" dirty="0">
                <a:solidFill>
                  <a:schemeClr val="bg1"/>
                </a:solidFill>
                <a:latin typeface="楷体" panose="02010609060101010101" pitchFamily="49" charset="-122"/>
                <a:ea typeface="楷体" panose="02010609060101010101" pitchFamily="49" charset="-122"/>
                <a:cs typeface="+mj-cs"/>
              </a:rPr>
              <a:t>《</a:t>
            </a:r>
            <a:r>
              <a:rPr lang="zh-CN" altLang="en-US" sz="4000" b="1" dirty="0">
                <a:solidFill>
                  <a:schemeClr val="bg1"/>
                </a:solidFill>
                <a:latin typeface="楷体" panose="02010609060101010101" pitchFamily="49" charset="-122"/>
                <a:ea typeface="楷体" panose="02010609060101010101" pitchFamily="49" charset="-122"/>
                <a:cs typeface="+mj-cs"/>
              </a:rPr>
              <a:t>算法分析与设计</a:t>
            </a:r>
            <a:r>
              <a:rPr lang="en-US" altLang="zh-CN" sz="4000" b="1" dirty="0">
                <a:solidFill>
                  <a:schemeClr val="bg1"/>
                </a:solidFill>
                <a:latin typeface="楷体" panose="02010609060101010101" pitchFamily="49" charset="-122"/>
                <a:ea typeface="楷体" panose="02010609060101010101" pitchFamily="49" charset="-122"/>
                <a:cs typeface="+mj-cs"/>
              </a:rPr>
              <a:t>》</a:t>
            </a:r>
            <a:endParaRPr lang="zh-CN" altLang="en-US" sz="4000" b="1" dirty="0">
              <a:solidFill>
                <a:schemeClr val="bg1"/>
              </a:solidFill>
              <a:latin typeface="楷体" panose="02010609060101010101" pitchFamily="49" charset="-122"/>
              <a:ea typeface="楷体" panose="02010609060101010101" pitchFamily="49" charset="-122"/>
              <a:cs typeface="+mj-cs"/>
            </a:endParaRPr>
          </a:p>
        </p:txBody>
      </p:sp>
      <p:sp>
        <p:nvSpPr>
          <p:cNvPr id="7" name="标题 1"/>
          <p:cNvSpPr txBox="1"/>
          <p:nvPr>
            <p:custDataLst>
              <p:tags r:id="rId3"/>
            </p:custDataLst>
          </p:nvPr>
        </p:nvSpPr>
        <p:spPr bwMode="auto">
          <a:xfrm>
            <a:off x="3286125" y="2003425"/>
            <a:ext cx="4962525" cy="495300"/>
          </a:xfrm>
          <a:prstGeom prst="rect">
            <a:avLst/>
          </a:prstGeom>
          <a:noFill/>
          <a:ln w="9525">
            <a:noFill/>
            <a:miter lim="800000"/>
          </a:ln>
        </p:spPr>
        <p:txBody>
          <a:bodyPr anchor="b"/>
          <a:lstStyle/>
          <a:p>
            <a:pPr algn="ctr" defTabSz="685800" eaLnBrk="1" fontAlgn="auto" hangingPunct="1">
              <a:lnSpc>
                <a:spcPct val="90000"/>
              </a:lnSpc>
              <a:spcAft>
                <a:spcPts val="0"/>
              </a:spcAft>
              <a:defRPr/>
            </a:pPr>
            <a:r>
              <a:rPr lang="zh-CN" altLang="en-US" sz="6000" b="1" dirty="0" smtClean="0">
                <a:solidFill>
                  <a:schemeClr val="bg1"/>
                </a:solidFill>
                <a:latin typeface="楷体" panose="02010609060101010101" pitchFamily="49" charset="-122"/>
                <a:ea typeface="楷体" panose="02010609060101010101" pitchFamily="49" charset="-122"/>
                <a:cs typeface="+mj-cs"/>
              </a:rPr>
              <a:t>分支限界法</a:t>
            </a:r>
            <a:endParaRPr lang="zh-CN" altLang="en-US" sz="6000" b="1" dirty="0">
              <a:solidFill>
                <a:schemeClr val="bg1"/>
              </a:solidFill>
              <a:latin typeface="楷体" panose="02010609060101010101" pitchFamily="49" charset="-122"/>
              <a:ea typeface="楷体" panose="02010609060101010101" pitchFamily="49" charset="-122"/>
              <a:cs typeface="+mj-cs"/>
            </a:endParaRPr>
          </a:p>
        </p:txBody>
      </p:sp>
    </p:spTree>
    <p:custDataLst>
      <p:tags r:id="rId4"/>
    </p:custDataLst>
  </p:cSld>
  <p:clrMapOvr>
    <a:masterClrMapping/>
  </p:clrMapOvr>
  <p:transition advTm="21091"/>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2"/>
          <p:cNvSpPr>
            <a:spLocks noChangeArrowheads="1"/>
          </p:cNvSpPr>
          <p:nvPr/>
        </p:nvSpPr>
        <p:spPr bwMode="auto">
          <a:xfrm>
            <a:off x="4044950" y="4191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目录</a:t>
            </a:r>
            <a:endParaRPr lang="zh-CN" altLang="en-US" sz="3200">
              <a:solidFill>
                <a:schemeClr val="bg1"/>
              </a:solidFill>
              <a:latin typeface="楷体" panose="02010609060101010101" pitchFamily="49" charset="-122"/>
              <a:ea typeface="楷体" panose="02010609060101010101" pitchFamily="49" charset="-122"/>
            </a:endParaRPr>
          </a:p>
        </p:txBody>
      </p:sp>
      <p:graphicFrame>
        <p:nvGraphicFramePr>
          <p:cNvPr id="7" name="图示 6"/>
          <p:cNvGraphicFramePr/>
          <p:nvPr/>
        </p:nvGraphicFramePr>
        <p:xfrm>
          <a:off x="1552575" y="1549400"/>
          <a:ext cx="6096000" cy="46609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ustDataLst>
      <p:tags r:id="rId6"/>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9" name="内容占位符 2"/>
          <p:cNvSpPr>
            <a:spLocks noGrp="1"/>
          </p:cNvSpPr>
          <p:nvPr>
            <p:ph idx="1"/>
          </p:nvPr>
        </p:nvSpPr>
        <p:spPr>
          <a:xfrm>
            <a:off x="503238" y="1320800"/>
            <a:ext cx="8178800" cy="1066800"/>
          </a:xfrm>
          <a:solidFill>
            <a:schemeClr val="bg1"/>
          </a:solidFill>
          <a:ln>
            <a:solidFill>
              <a:srgbClr val="FF0000"/>
            </a:solidFill>
          </a:ln>
        </p:spPr>
        <p:txBody>
          <a:bodyPr/>
          <a:lstStyle/>
          <a:p>
            <a:pPr marL="0" indent="0" defTabSz="914400" eaLnBrk="1" fontAlgn="auto" hangingPunct="1">
              <a:lnSpc>
                <a:spcPct val="100000"/>
              </a:lnSpc>
              <a:spcBef>
                <a:spcPts val="0"/>
              </a:spcBef>
              <a:spcAft>
                <a:spcPts val="0"/>
              </a:spcAft>
              <a:buClrTx/>
              <a:buSzTx/>
              <a:buFontTx/>
              <a:buNone/>
              <a:defRPr/>
            </a:pP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分支界限法与回溯</a:t>
            </a:r>
            <a:r>
              <a:rPr lang="zh-CN" altLang="en-US" sz="2800" b="1" kern="0" dirty="0">
                <a:solidFill>
                  <a:sysClr val="windowText" lastClr="000000"/>
                </a:solidFill>
                <a:latin typeface="华文楷体" panose="02010600040101010101" pitchFamily="2" charset="-122"/>
                <a:ea typeface="华文楷体" panose="02010600040101010101" pitchFamily="2" charset="-122"/>
              </a:rPr>
              <a:t>法类似，</a:t>
            </a: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也是在</a:t>
            </a:r>
            <a:r>
              <a:rPr lang="zh-CN" altLang="en-US" sz="2800" b="1" kern="0" dirty="0" smtClean="0">
                <a:solidFill>
                  <a:srgbClr val="FF0000"/>
                </a:solidFill>
                <a:latin typeface="华文楷体" panose="02010600040101010101" pitchFamily="2" charset="-122"/>
                <a:ea typeface="华文楷体" panose="02010600040101010101" pitchFamily="2" charset="-122"/>
              </a:rPr>
              <a:t>问题解空间</a:t>
            </a:r>
            <a:r>
              <a:rPr lang="zh-CN" altLang="en-US" sz="2800" b="1" kern="0" dirty="0" smtClean="0">
                <a:solidFill>
                  <a:sysClr val="windowText" lastClr="000000"/>
                </a:solidFill>
                <a:latin typeface="华文楷体" panose="02010600040101010101" pitchFamily="2" charset="-122"/>
                <a:ea typeface="华文楷体" panose="02010600040101010101" pitchFamily="2" charset="-122"/>
              </a:rPr>
              <a:t>中搜索问题解的一种算法。</a:t>
            </a:r>
            <a:endParaRPr lang="en-US" altLang="zh-CN" sz="2800" b="1" kern="0" dirty="0" smtClean="0">
              <a:solidFill>
                <a:sysClr val="windowText" lastClr="000000"/>
              </a:solidFill>
              <a:latin typeface="华文楷体" panose="02010600040101010101" pitchFamily="2" charset="-122"/>
              <a:ea typeface="华文楷体" panose="02010600040101010101" pitchFamily="2" charset="-122"/>
            </a:endParaRPr>
          </a:p>
          <a:p>
            <a:pPr marL="0" indent="0" defTabSz="914400" eaLnBrk="1" fontAlgn="auto" hangingPunct="1">
              <a:lnSpc>
                <a:spcPct val="100000"/>
              </a:lnSpc>
              <a:spcBef>
                <a:spcPts val="0"/>
              </a:spcBef>
              <a:spcAft>
                <a:spcPts val="0"/>
              </a:spcAft>
              <a:buClrTx/>
              <a:buSzTx/>
              <a:buFontTx/>
              <a:buNone/>
              <a:defRPr/>
            </a:pPr>
            <a:endParaRPr lang="zh-CN" altLang="en-US" sz="2800" b="1" kern="0" dirty="0" smtClean="0">
              <a:solidFill>
                <a:sysClr val="windowText" lastClr="000000"/>
              </a:solidFill>
              <a:latin typeface="华文楷体" panose="02010600040101010101" pitchFamily="2" charset="-122"/>
              <a:ea typeface="华文楷体" panose="02010600040101010101" pitchFamily="2" charset="-122"/>
            </a:endParaRPr>
          </a:p>
          <a:p>
            <a:pPr marL="0" indent="0" defTabSz="914400" eaLnBrk="1" fontAlgn="auto" hangingPunct="1">
              <a:lnSpc>
                <a:spcPct val="100000"/>
              </a:lnSpc>
              <a:spcBef>
                <a:spcPts val="0"/>
              </a:spcBef>
              <a:spcAft>
                <a:spcPts val="0"/>
              </a:spcAft>
              <a:buClrTx/>
              <a:buSzTx/>
              <a:buFontTx/>
              <a:buNone/>
              <a:defRPr/>
            </a:pPr>
            <a:endParaRPr lang="zh-CN" altLang="en-US" kern="0" dirty="0" smtClean="0">
              <a:solidFill>
                <a:sysClr val="windowText" lastClr="000000"/>
              </a:solidFill>
            </a:endParaRPr>
          </a:p>
        </p:txBody>
      </p:sp>
      <p:sp>
        <p:nvSpPr>
          <p:cNvPr id="4" name="矩形 3"/>
          <p:cNvSpPr/>
          <p:nvPr/>
        </p:nvSpPr>
        <p:spPr>
          <a:xfrm>
            <a:off x="522288" y="2478088"/>
            <a:ext cx="8158162" cy="224790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defTabSz="914400" eaLnBrk="1" fontAlgn="auto" hangingPunct="1">
              <a:spcBef>
                <a:spcPts val="0"/>
              </a:spcBef>
              <a:spcAft>
                <a:spcPts val="0"/>
              </a:spcAft>
              <a:defRPr/>
            </a:pPr>
            <a:r>
              <a:rPr lang="zh-CN" altLang="en-US" sz="2800" b="1" kern="0" dirty="0">
                <a:solidFill>
                  <a:srgbClr val="00B050"/>
                </a:solidFill>
                <a:latin typeface="华文楷体" panose="02010600040101010101" pitchFamily="2" charset="-122"/>
                <a:ea typeface="华文楷体" panose="02010600040101010101" pitchFamily="2" charset="-122"/>
              </a:rPr>
              <a:t>分支界限法与回溯法对比：</a:t>
            </a:r>
            <a:endParaRPr lang="zh-CN" altLang="en-US" sz="2800" b="1" kern="0" dirty="0">
              <a:solidFill>
                <a:srgbClr val="00B050"/>
              </a:solidFill>
              <a:latin typeface="华文楷体" panose="02010600040101010101" pitchFamily="2" charset="-122"/>
              <a:ea typeface="华文楷体" panose="02010600040101010101" pitchFamily="2" charset="-122"/>
            </a:endParaRPr>
          </a:p>
          <a:p>
            <a:pPr marL="0" lvl="1" defTabSz="914400" eaLnBrk="1" fontAlgn="auto" hangingPunct="1">
              <a:spcBef>
                <a:spcPts val="0"/>
              </a:spcBef>
              <a:spcAft>
                <a:spcPts val="0"/>
              </a:spcAft>
              <a:defRPr/>
            </a:pPr>
            <a:r>
              <a:rPr lang="zh-CN" altLang="en-US" sz="2800" b="1" kern="0" dirty="0">
                <a:solidFill>
                  <a:srgbClr val="990000"/>
                </a:solidFill>
                <a:latin typeface="华文楷体" panose="02010600040101010101" pitchFamily="2" charset="-122"/>
                <a:ea typeface="华文楷体" panose="02010600040101010101" pitchFamily="2" charset="-122"/>
              </a:rPr>
              <a:t>求解目标不同</a:t>
            </a:r>
            <a:r>
              <a:rPr lang="zh-CN" altLang="en-US" sz="2800" b="1" kern="0" dirty="0">
                <a:solidFill>
                  <a:sysClr val="windowText" lastClr="000000"/>
                </a:solidFill>
                <a:latin typeface="华文楷体" panose="02010600040101010101" pitchFamily="2" charset="-122"/>
                <a:ea typeface="华文楷体" panose="02010600040101010101" pitchFamily="2" charset="-122"/>
              </a:rPr>
              <a:t>：回溯法的</a:t>
            </a:r>
            <a:r>
              <a:rPr lang="zh-CN" altLang="en-US" sz="2800" b="1" kern="0" dirty="0">
                <a:solidFill>
                  <a:srgbClr val="FF0000"/>
                </a:solidFill>
                <a:latin typeface="华文楷体" panose="02010600040101010101" pitchFamily="2" charset="-122"/>
                <a:ea typeface="华文楷体" panose="02010600040101010101" pitchFamily="2" charset="-122"/>
              </a:rPr>
              <a:t>可以用于</a:t>
            </a:r>
            <a:r>
              <a:rPr lang="zh-CN" altLang="en-US" sz="2800" b="1" kern="0" dirty="0">
                <a:solidFill>
                  <a:sysClr val="windowText" lastClr="000000"/>
                </a:solidFill>
                <a:latin typeface="华文楷体" panose="02010600040101010101" pitchFamily="2" charset="-122"/>
                <a:ea typeface="华文楷体" panose="02010600040101010101" pitchFamily="2" charset="-122"/>
              </a:rPr>
              <a:t>求解目标是找出解空间树中满足约束条件的</a:t>
            </a:r>
            <a:r>
              <a:rPr lang="zh-CN" altLang="en-US" sz="2800" b="1" kern="0" dirty="0">
                <a:solidFill>
                  <a:srgbClr val="FF0000"/>
                </a:solidFill>
                <a:latin typeface="华文楷体" panose="02010600040101010101" pitchFamily="2" charset="-122"/>
                <a:ea typeface="华文楷体" panose="02010600040101010101" pitchFamily="2" charset="-122"/>
              </a:rPr>
              <a:t>所有解</a:t>
            </a:r>
            <a:r>
              <a:rPr lang="zh-CN" altLang="en-US" sz="2800" b="1" kern="0" dirty="0">
                <a:solidFill>
                  <a:sysClr val="windowText" lastClr="000000"/>
                </a:solidFill>
                <a:latin typeface="华文楷体" panose="02010600040101010101" pitchFamily="2" charset="-122"/>
                <a:ea typeface="华文楷体" panose="02010600040101010101" pitchFamily="2" charset="-122"/>
              </a:rPr>
              <a:t>，而分支限界法的求解目标</a:t>
            </a:r>
            <a:r>
              <a:rPr lang="zh-CN" altLang="en-US" sz="2800" b="1" kern="0" dirty="0">
                <a:solidFill>
                  <a:srgbClr val="FF0000"/>
                </a:solidFill>
                <a:latin typeface="华文楷体" panose="02010600040101010101" pitchFamily="2" charset="-122"/>
                <a:ea typeface="华文楷体" panose="02010600040101010101" pitchFamily="2" charset="-122"/>
              </a:rPr>
              <a:t>通常是</a:t>
            </a:r>
            <a:r>
              <a:rPr lang="zh-CN" altLang="en-US" sz="2800" b="1" kern="0" dirty="0">
                <a:solidFill>
                  <a:sysClr val="windowText" lastClr="000000"/>
                </a:solidFill>
                <a:latin typeface="华文楷体" panose="02010600040101010101" pitchFamily="2" charset="-122"/>
                <a:ea typeface="华文楷体" panose="02010600040101010101" pitchFamily="2" charset="-122"/>
              </a:rPr>
              <a:t>找出满足约束条件的</a:t>
            </a:r>
            <a:r>
              <a:rPr lang="zh-CN" altLang="en-US" sz="2800" b="1" kern="0" dirty="0">
                <a:solidFill>
                  <a:srgbClr val="FF0000"/>
                </a:solidFill>
                <a:latin typeface="华文楷体" panose="02010600040101010101" pitchFamily="2" charset="-122"/>
                <a:ea typeface="华文楷体" panose="02010600040101010101" pitchFamily="2" charset="-122"/>
              </a:rPr>
              <a:t>一个解</a:t>
            </a:r>
            <a:r>
              <a:rPr lang="zh-CN" altLang="en-US" sz="2800" b="1" kern="0" dirty="0">
                <a:solidFill>
                  <a:sysClr val="windowText" lastClr="000000"/>
                </a:solidFill>
                <a:latin typeface="华文楷体" panose="02010600040101010101" pitchFamily="2" charset="-122"/>
                <a:ea typeface="华文楷体" panose="02010600040101010101" pitchFamily="2" charset="-122"/>
              </a:rPr>
              <a:t>或</a:t>
            </a:r>
            <a:r>
              <a:rPr lang="zh-CN" altLang="en-US" sz="2800" b="1" kern="0" dirty="0">
                <a:solidFill>
                  <a:srgbClr val="FF0000"/>
                </a:solidFill>
                <a:latin typeface="华文楷体" panose="02010600040101010101" pitchFamily="2" charset="-122"/>
                <a:ea typeface="华文楷体" panose="02010600040101010101" pitchFamily="2" charset="-122"/>
              </a:rPr>
              <a:t>最优解</a:t>
            </a:r>
            <a:r>
              <a:rPr lang="zh-CN" altLang="en-US" sz="2800" b="1" kern="0" dirty="0">
                <a:solidFill>
                  <a:sysClr val="windowText" lastClr="000000"/>
                </a:solidFill>
                <a:latin typeface="华文楷体" panose="02010600040101010101" pitchFamily="2" charset="-122"/>
                <a:ea typeface="华文楷体" panose="02010600040101010101" pitchFamily="2" charset="-122"/>
              </a:rPr>
              <a:t>。</a:t>
            </a:r>
            <a:endParaRPr lang="zh-CN" altLang="en-US" sz="2800" b="1" kern="0" dirty="0">
              <a:solidFill>
                <a:sysClr val="windowText" lastClr="000000"/>
              </a:solidFill>
              <a:latin typeface="华文楷体" panose="02010600040101010101" pitchFamily="2" charset="-122"/>
              <a:ea typeface="华文楷体" panose="02010600040101010101" pitchFamily="2" charset="-122"/>
            </a:endParaRPr>
          </a:p>
        </p:txBody>
      </p:sp>
      <p:sp>
        <p:nvSpPr>
          <p:cNvPr id="5" name="矩形 4"/>
          <p:cNvSpPr/>
          <p:nvPr/>
        </p:nvSpPr>
        <p:spPr>
          <a:xfrm>
            <a:off x="511175" y="4872038"/>
            <a:ext cx="8205788" cy="1384300"/>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marL="0" lvl="1" defTabSz="914400" eaLnBrk="1" fontAlgn="auto" hangingPunct="1">
              <a:spcBef>
                <a:spcPts val="0"/>
              </a:spcBef>
              <a:spcAft>
                <a:spcPts val="0"/>
              </a:spcAft>
              <a:defRPr/>
            </a:pPr>
            <a:r>
              <a:rPr lang="zh-CN" altLang="en-US" sz="2800" b="1" kern="0" dirty="0">
                <a:solidFill>
                  <a:srgbClr val="990000"/>
                </a:solidFill>
                <a:latin typeface="华文楷体" panose="02010600040101010101" pitchFamily="2" charset="-122"/>
                <a:ea typeface="华文楷体" panose="02010600040101010101" pitchFamily="2" charset="-122"/>
              </a:rPr>
              <a:t>搜索方式不同</a:t>
            </a:r>
            <a:r>
              <a:rPr lang="zh-CN" altLang="en-US" sz="2800" b="1" kern="0" dirty="0">
                <a:solidFill>
                  <a:sysClr val="windowText" lastClr="000000"/>
                </a:solidFill>
                <a:latin typeface="华文楷体" panose="02010600040101010101" pitchFamily="2" charset="-122"/>
                <a:ea typeface="华文楷体" panose="02010600040101010101" pitchFamily="2" charset="-122"/>
              </a:rPr>
              <a:t>：回溯法</a:t>
            </a:r>
            <a:r>
              <a:rPr lang="zh-CN" altLang="en-US" sz="2800" b="1" kern="0" dirty="0">
                <a:solidFill>
                  <a:srgbClr val="FF0000"/>
                </a:solidFill>
                <a:latin typeface="华文楷体" panose="02010600040101010101" pitchFamily="2" charset="-122"/>
                <a:ea typeface="华文楷体" panose="02010600040101010101" pitchFamily="2" charset="-122"/>
              </a:rPr>
              <a:t>主要</a:t>
            </a:r>
            <a:r>
              <a:rPr lang="zh-CN" altLang="en-US" sz="2800" b="1" kern="0" dirty="0">
                <a:solidFill>
                  <a:sysClr val="windowText" lastClr="000000"/>
                </a:solidFill>
                <a:latin typeface="华文楷体" panose="02010600040101010101" pitchFamily="2" charset="-122"/>
                <a:ea typeface="华文楷体" panose="02010600040101010101" pitchFamily="2" charset="-122"/>
              </a:rPr>
              <a:t>以</a:t>
            </a:r>
            <a:r>
              <a:rPr lang="zh-CN" altLang="en-US" sz="2800" b="1" kern="0" dirty="0">
                <a:solidFill>
                  <a:srgbClr val="FF0000"/>
                </a:solidFill>
                <a:latin typeface="华文楷体" panose="02010600040101010101" pitchFamily="2" charset="-122"/>
                <a:ea typeface="华文楷体" panose="02010600040101010101" pitchFamily="2" charset="-122"/>
              </a:rPr>
              <a:t>深度优先</a:t>
            </a:r>
            <a:r>
              <a:rPr lang="zh-CN" altLang="en-US" sz="2800" b="1" kern="0" dirty="0">
                <a:solidFill>
                  <a:sysClr val="windowText" lastClr="000000"/>
                </a:solidFill>
                <a:latin typeface="华文楷体" panose="02010600040101010101" pitchFamily="2" charset="-122"/>
                <a:ea typeface="华文楷体" panose="02010600040101010101" pitchFamily="2" charset="-122"/>
              </a:rPr>
              <a:t>的方式搜索解空间树，而分支限界法则</a:t>
            </a:r>
            <a:r>
              <a:rPr lang="zh-CN" altLang="en-US" sz="2800" b="1" kern="0" dirty="0">
                <a:solidFill>
                  <a:srgbClr val="FF0000"/>
                </a:solidFill>
                <a:latin typeface="华文楷体" panose="02010600040101010101" pitchFamily="2" charset="-122"/>
                <a:ea typeface="华文楷体" panose="02010600040101010101" pitchFamily="2" charset="-122"/>
              </a:rPr>
              <a:t>主要</a:t>
            </a:r>
            <a:r>
              <a:rPr lang="zh-CN" altLang="en-US" sz="2800" b="1" kern="0" dirty="0">
                <a:solidFill>
                  <a:sysClr val="windowText" lastClr="000000"/>
                </a:solidFill>
                <a:latin typeface="华文楷体" panose="02010600040101010101" pitchFamily="2" charset="-122"/>
                <a:ea typeface="华文楷体" panose="02010600040101010101" pitchFamily="2" charset="-122"/>
              </a:rPr>
              <a:t>以</a:t>
            </a:r>
            <a:r>
              <a:rPr lang="zh-CN" altLang="en-US" sz="2800" b="1" kern="0" dirty="0">
                <a:solidFill>
                  <a:srgbClr val="FF0000"/>
                </a:solidFill>
                <a:latin typeface="华文楷体" panose="02010600040101010101" pitchFamily="2" charset="-122"/>
                <a:ea typeface="华文楷体" panose="02010600040101010101" pitchFamily="2" charset="-122"/>
              </a:rPr>
              <a:t>广度优先或以函数优先</a:t>
            </a:r>
            <a:r>
              <a:rPr lang="zh-CN" altLang="en-US" sz="2800" b="1" kern="0" dirty="0">
                <a:solidFill>
                  <a:sysClr val="windowText" lastClr="000000"/>
                </a:solidFill>
                <a:latin typeface="华文楷体" panose="02010600040101010101" pitchFamily="2" charset="-122"/>
                <a:ea typeface="华文楷体" panose="02010600040101010101" pitchFamily="2" charset="-122"/>
              </a:rPr>
              <a:t>的方式搜索解空间树。</a:t>
            </a:r>
            <a:endParaRPr lang="zh-CN" altLang="en-US" sz="2800" b="1" kern="0" dirty="0">
              <a:solidFill>
                <a:sysClr val="windowText" lastClr="000000"/>
              </a:solidFill>
              <a:latin typeface="华文楷体" panose="02010600040101010101" pitchFamily="2" charset="-122"/>
              <a:ea typeface="华文楷体"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427038" y="4022725"/>
            <a:ext cx="8285162" cy="1962150"/>
          </a:xfrm>
        </p:spPr>
        <p:style>
          <a:lnRef idx="2">
            <a:schemeClr val="accent1"/>
          </a:lnRef>
          <a:fillRef idx="1">
            <a:schemeClr val="lt1"/>
          </a:fillRef>
          <a:effectRef idx="0">
            <a:schemeClr val="accent1"/>
          </a:effectRef>
          <a:fontRef idx="minor">
            <a:schemeClr val="dk1"/>
          </a:fontRef>
        </p:style>
        <p:txBody>
          <a:bodyPr/>
          <a:lstStyle/>
          <a:p>
            <a:pPr>
              <a:buClr>
                <a:srgbClr val="00B050"/>
              </a:buClr>
              <a:buFont typeface="Wingdings" panose="05000000000000000000" pitchFamily="2" charset="2"/>
              <a:buChar char="n"/>
              <a:defRPr/>
            </a:pPr>
            <a:r>
              <a:rPr lang="zh-CN" altLang="en-US" sz="3200" b="1" dirty="0" smtClean="0">
                <a:solidFill>
                  <a:schemeClr val="tx1">
                    <a:lumMod val="50000"/>
                  </a:schemeClr>
                </a:solidFill>
                <a:latin typeface="华文楷体" panose="02010600040101010101" pitchFamily="2" charset="-122"/>
                <a:ea typeface="华文楷体" panose="02010600040101010101" pitchFamily="2" charset="-122"/>
              </a:rPr>
              <a:t>此后，从活结点表中</a:t>
            </a:r>
            <a:r>
              <a:rPr lang="zh-CN" altLang="en-US" sz="3200" b="1" dirty="0" smtClean="0">
                <a:solidFill>
                  <a:srgbClr val="FF0000"/>
                </a:solidFill>
                <a:latin typeface="华文楷体" panose="02010600040101010101" pitchFamily="2" charset="-122"/>
                <a:ea typeface="华文楷体" panose="02010600040101010101" pitchFamily="2" charset="-122"/>
              </a:rPr>
              <a:t>取下一结点</a:t>
            </a:r>
            <a:r>
              <a:rPr lang="zh-CN" altLang="en-US" sz="3200" b="1" dirty="0" smtClean="0">
                <a:solidFill>
                  <a:schemeClr val="tx1">
                    <a:lumMod val="50000"/>
                  </a:schemeClr>
                </a:solidFill>
                <a:latin typeface="华文楷体" panose="02010600040101010101" pitchFamily="2" charset="-122"/>
                <a:ea typeface="华文楷体" panose="02010600040101010101" pitchFamily="2" charset="-122"/>
              </a:rPr>
              <a:t>成为当前扩展结点，并重复上述结点扩展过程。这个过程一直持续到</a:t>
            </a:r>
            <a:r>
              <a:rPr lang="zh-CN" altLang="en-US" sz="3200" b="1" dirty="0" smtClean="0">
                <a:solidFill>
                  <a:srgbClr val="FF0000"/>
                </a:solidFill>
                <a:latin typeface="华文楷体" panose="02010600040101010101" pitchFamily="2" charset="-122"/>
                <a:ea typeface="华文楷体" panose="02010600040101010101" pitchFamily="2" charset="-122"/>
              </a:rPr>
              <a:t>找到所需的解或活结点表为空</a:t>
            </a:r>
            <a:r>
              <a:rPr lang="zh-CN" altLang="en-US" sz="3200" b="1" dirty="0" smtClean="0">
                <a:solidFill>
                  <a:schemeClr val="tx1">
                    <a:lumMod val="50000"/>
                  </a:schemeClr>
                </a:solidFill>
                <a:latin typeface="华文楷体" panose="02010600040101010101" pitchFamily="2" charset="-122"/>
                <a:ea typeface="华文楷体" panose="02010600040101010101" pitchFamily="2" charset="-122"/>
              </a:rPr>
              <a:t>时为止。</a:t>
            </a:r>
            <a:endParaRPr lang="zh-CN" altLang="en-US" sz="3200" b="1" dirty="0" smtClean="0">
              <a:solidFill>
                <a:schemeClr val="tx1">
                  <a:lumMod val="50000"/>
                </a:schemeClr>
              </a:solidFill>
              <a:latin typeface="华文楷体" panose="02010600040101010101" pitchFamily="2" charset="-122"/>
              <a:ea typeface="华文楷体" panose="02010600040101010101" pitchFamily="2" charset="-122"/>
            </a:endParaRPr>
          </a:p>
        </p:txBody>
      </p:sp>
      <p:sp>
        <p:nvSpPr>
          <p:cNvPr id="4" name="矩形 3"/>
          <p:cNvSpPr/>
          <p:nvPr/>
        </p:nvSpPr>
        <p:spPr>
          <a:xfrm>
            <a:off x="446088" y="1328738"/>
            <a:ext cx="8281987" cy="231140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marL="171450" indent="-171450" defTabSz="685800">
              <a:lnSpc>
                <a:spcPct val="90000"/>
              </a:lnSpc>
              <a:spcBef>
                <a:spcPts val="750"/>
              </a:spcBef>
              <a:buClr>
                <a:srgbClr val="00B050"/>
              </a:buClr>
              <a:buSzPct val="75000"/>
              <a:buFont typeface="Wingdings" panose="05000000000000000000" pitchFamily="2" charset="2"/>
              <a:buChar char="n"/>
              <a:defRPr/>
            </a:pPr>
            <a:r>
              <a:rPr lang="zh-CN" altLang="en-US" sz="3200" b="1" dirty="0">
                <a:solidFill>
                  <a:srgbClr val="5F5F5F">
                    <a:lumMod val="50000"/>
                  </a:srgbClr>
                </a:solidFill>
                <a:latin typeface="华文楷体" panose="02010600040101010101" pitchFamily="2" charset="-122"/>
                <a:ea typeface="华文楷体" panose="02010600040101010101" pitchFamily="2" charset="-122"/>
              </a:rPr>
              <a:t>在分支限界法中，每个</a:t>
            </a:r>
            <a:r>
              <a:rPr lang="zh-CN" altLang="en-US" sz="3200" b="1" dirty="0">
                <a:solidFill>
                  <a:srgbClr val="FF0000"/>
                </a:solidFill>
                <a:latin typeface="华文楷体" panose="02010600040101010101" pitchFamily="2" charset="-122"/>
                <a:ea typeface="华文楷体" panose="02010600040101010101" pitchFamily="2" charset="-122"/>
              </a:rPr>
              <a:t>活结点</a:t>
            </a:r>
            <a:r>
              <a:rPr lang="zh-CN" altLang="en-US" sz="3200" b="1" dirty="0">
                <a:solidFill>
                  <a:srgbClr val="5F5F5F">
                    <a:lumMod val="50000"/>
                  </a:srgbClr>
                </a:solidFill>
                <a:latin typeface="华文楷体" panose="02010600040101010101" pitchFamily="2" charset="-122"/>
                <a:ea typeface="华文楷体" panose="02010600040101010101" pitchFamily="2" charset="-122"/>
              </a:rPr>
              <a:t>只有一次机会成为扩展结点。一旦成为扩展结点，就</a:t>
            </a:r>
            <a:r>
              <a:rPr lang="zh-CN" altLang="en-US" sz="3200" b="1" dirty="0">
                <a:solidFill>
                  <a:srgbClr val="FF0000"/>
                </a:solidFill>
                <a:latin typeface="华文楷体" panose="02010600040101010101" pitchFamily="2" charset="-122"/>
                <a:ea typeface="华文楷体" panose="02010600040101010101" pitchFamily="2" charset="-122"/>
              </a:rPr>
              <a:t>一次性产生其所有儿子结点</a:t>
            </a:r>
            <a:r>
              <a:rPr lang="zh-CN" altLang="en-US" sz="3200" b="1" dirty="0">
                <a:solidFill>
                  <a:srgbClr val="5F5F5F">
                    <a:lumMod val="50000"/>
                  </a:srgbClr>
                </a:solidFill>
                <a:latin typeface="华文楷体" panose="02010600040101010101" pitchFamily="2" charset="-122"/>
                <a:ea typeface="华文楷体" panose="02010600040101010101" pitchFamily="2" charset="-122"/>
              </a:rPr>
              <a:t>。在这些儿子结点中，导致不可行解或导致非最优解的儿子结点被</a:t>
            </a:r>
            <a:r>
              <a:rPr lang="zh-CN" altLang="en-US" sz="3200" b="1" dirty="0">
                <a:solidFill>
                  <a:srgbClr val="FF0000"/>
                </a:solidFill>
                <a:latin typeface="华文楷体" panose="02010600040101010101" pitchFamily="2" charset="-122"/>
                <a:ea typeface="华文楷体" panose="02010600040101010101" pitchFamily="2" charset="-122"/>
              </a:rPr>
              <a:t>舍弃</a:t>
            </a:r>
            <a:r>
              <a:rPr lang="zh-CN" altLang="en-US" sz="3200" b="1" dirty="0">
                <a:solidFill>
                  <a:srgbClr val="5F5F5F">
                    <a:lumMod val="50000"/>
                  </a:srgbClr>
                </a:solidFill>
                <a:latin typeface="华文楷体" panose="02010600040101010101" pitchFamily="2" charset="-122"/>
                <a:ea typeface="华文楷体" panose="02010600040101010101" pitchFamily="2" charset="-122"/>
              </a:rPr>
              <a:t>，其余儿子结点被加入</a:t>
            </a:r>
            <a:r>
              <a:rPr lang="zh-CN" altLang="en-US" sz="3200" b="1" dirty="0">
                <a:solidFill>
                  <a:srgbClr val="FF0000"/>
                </a:solidFill>
                <a:latin typeface="华文楷体" panose="02010600040101010101" pitchFamily="2" charset="-122"/>
                <a:ea typeface="华文楷体" panose="02010600040101010101" pitchFamily="2" charset="-122"/>
              </a:rPr>
              <a:t>活结点表</a:t>
            </a:r>
            <a:r>
              <a:rPr lang="zh-CN" altLang="en-US" sz="3200" b="1" dirty="0">
                <a:solidFill>
                  <a:srgbClr val="5F5F5F">
                    <a:lumMod val="50000"/>
                  </a:srgbClr>
                </a:solidFill>
                <a:latin typeface="华文楷体" panose="02010600040101010101" pitchFamily="2" charset="-122"/>
                <a:ea typeface="华文楷体" panose="02010600040101010101" pitchFamily="2" charset="-122"/>
              </a:rPr>
              <a:t>中。</a:t>
            </a:r>
            <a:endParaRPr lang="en-US" altLang="zh-CN" sz="3200" b="1" dirty="0">
              <a:solidFill>
                <a:srgbClr val="5F5F5F">
                  <a:lumMod val="50000"/>
                </a:srgbClr>
              </a:solidFill>
              <a:latin typeface="华文楷体" panose="02010600040101010101" pitchFamily="2" charset="-122"/>
              <a:ea typeface="华文楷体" panose="02010600040101010101" pitchFamily="2" charset="-122"/>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2"/>
          <p:cNvSpPr>
            <a:spLocks noChangeArrowheads="1"/>
          </p:cNvSpPr>
          <p:nvPr/>
        </p:nvSpPr>
        <p:spPr bwMode="auto">
          <a:xfrm>
            <a:off x="292100" y="376238"/>
            <a:ext cx="60420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代码框架</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 name="Text Box 4"/>
          <p:cNvSpPr txBox="1">
            <a:spLocks noChangeArrowheads="1"/>
          </p:cNvSpPr>
          <p:nvPr/>
        </p:nvSpPr>
        <p:spPr bwMode="auto">
          <a:xfrm>
            <a:off x="342900" y="1314450"/>
            <a:ext cx="8515350" cy="4371975"/>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Q = {</a:t>
            </a:r>
            <a:r>
              <a:rPr lang="en-US" altLang="zh-CN" sz="2800" b="1" dirty="0">
                <a:solidFill>
                  <a:srgbClr val="FF0000"/>
                </a:solidFill>
                <a:latin typeface="Times New Roman" panose="02020603050405020304" pitchFamily="18" charset="0"/>
                <a:cs typeface="Times New Roman" panose="02020603050405020304" pitchFamily="18" charset="0"/>
              </a:rPr>
              <a:t>q</a:t>
            </a:r>
            <a:r>
              <a:rPr lang="en-US" altLang="zh-CN" sz="2800" b="1" baseline="-25000" dirty="0">
                <a:solidFill>
                  <a:srgbClr val="FF0000"/>
                </a:solidFill>
                <a:latin typeface="Times New Roman" panose="02020603050405020304" pitchFamily="18" charset="0"/>
                <a:cs typeface="Times New Roman" panose="02020603050405020304" pitchFamily="18" charset="0"/>
              </a:rPr>
              <a:t>0</a:t>
            </a:r>
            <a:r>
              <a:rPr lang="en-US" altLang="zh-CN" sz="2800" b="1" dirty="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存储所有的活结点</a:t>
            </a:r>
            <a:r>
              <a:rPr lang="en-US" altLang="zh-CN" sz="2800" b="1" dirty="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初始化为</a:t>
            </a:r>
            <a:r>
              <a:rPr lang="zh-CN" altLang="en-US" sz="2800" b="1" dirty="0" smtClean="0">
                <a:solidFill>
                  <a:srgbClr val="FF0000"/>
                </a:solidFill>
                <a:latin typeface="Times New Roman" panose="02020603050405020304" pitchFamily="18" charset="0"/>
                <a:cs typeface="Times New Roman" panose="02020603050405020304" pitchFamily="18" charset="0"/>
              </a:rPr>
              <a:t>根结点</a:t>
            </a:r>
            <a:endParaRPr lang="en-US" altLang="zh-CN" sz="2800" b="1" dirty="0">
              <a:solidFill>
                <a:srgbClr val="FF0000"/>
              </a:solidFill>
              <a:latin typeface="Times New Roman" panose="02020603050405020304" pitchFamily="18" charset="0"/>
              <a:cs typeface="Times New Roman" panose="02020603050405020304" pitchFamily="18" charset="0"/>
            </a:endParaRPr>
          </a:p>
          <a:p>
            <a:pPr eaLnBrk="1" hangingPunct="1">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void </a:t>
            </a:r>
            <a:r>
              <a:rPr lang="en-US" altLang="zh-CN" sz="2800" b="1" dirty="0" err="1">
                <a:solidFill>
                  <a:schemeClr val="tx1">
                    <a:lumMod val="50000"/>
                  </a:schemeClr>
                </a:solidFill>
                <a:latin typeface="Times New Roman" panose="02020603050405020304" pitchFamily="18" charset="0"/>
                <a:cs typeface="Times New Roman" panose="02020603050405020304" pitchFamily="18" charset="0"/>
              </a:rPr>
              <a:t>Branch&amp;Bound</a:t>
            </a: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 ()</a:t>
            </a:r>
            <a:endParaRPr lang="en-US" altLang="zh-CN" sz="2800" b="1" dirty="0">
              <a:solidFill>
                <a:schemeClr val="tx1">
                  <a:lumMod val="50000"/>
                </a:schemeClr>
              </a:solidFill>
              <a:latin typeface="Times New Roman" panose="02020603050405020304" pitchFamily="18" charset="0"/>
              <a:cs typeface="Times New Roman" panose="02020603050405020304" pitchFamily="18" charset="0"/>
            </a:endParaRPr>
          </a:p>
          <a:p>
            <a:pPr eaLnBrk="1" hangingPunct="1">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a:t>
            </a:r>
            <a:endParaRPr lang="en-US" altLang="zh-CN" sz="2800" b="1" dirty="0">
              <a:solidFill>
                <a:schemeClr val="tx1">
                  <a:lumMod val="50000"/>
                </a:schemeClr>
              </a:solidFill>
              <a:latin typeface="Times New Roman" panose="02020603050405020304" pitchFamily="18" charset="0"/>
              <a:cs typeface="Times New Roman" panose="02020603050405020304" pitchFamily="18" charset="0"/>
            </a:endParaRPr>
          </a:p>
          <a:p>
            <a:pPr eaLnBrk="1" hangingPunct="1">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	while (Q!=</a:t>
            </a:r>
            <a:r>
              <a:rPr lang="en-US" altLang="zh-CN" sz="2800" b="1" dirty="0">
                <a:solidFill>
                  <a:schemeClr val="tx1">
                    <a:lumMod val="50000"/>
                  </a:schemeClr>
                </a:solidFill>
                <a:latin typeface="Times New Roman" panose="02020603050405020304" pitchFamily="18" charset="0"/>
                <a:cs typeface="Times New Roman" panose="02020603050405020304" pitchFamily="18" charset="0"/>
                <a:sym typeface="Symbol" panose="05050102010706020507"/>
              </a:rPr>
              <a:t></a:t>
            </a: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 {</a:t>
            </a:r>
            <a:endParaRPr lang="en-US" altLang="zh-CN" sz="2800" b="1" dirty="0">
              <a:solidFill>
                <a:schemeClr val="tx1">
                  <a:lumMod val="50000"/>
                </a:schemeClr>
              </a:solidFill>
              <a:latin typeface="Times New Roman" panose="02020603050405020304" pitchFamily="18" charset="0"/>
              <a:cs typeface="Times New Roman" panose="02020603050405020304" pitchFamily="18" charset="0"/>
            </a:endParaRPr>
          </a:p>
          <a:p>
            <a:pPr eaLnBrk="1" hangingPunct="1">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		select a node </a:t>
            </a:r>
            <a:r>
              <a:rPr lang="en-US" altLang="zh-CN" sz="2800" b="1" dirty="0">
                <a:solidFill>
                  <a:srgbClr val="FF0000"/>
                </a:solidFill>
                <a:latin typeface="Times New Roman" panose="02020603050405020304" pitchFamily="18" charset="0"/>
                <a:cs typeface="Times New Roman" panose="02020603050405020304" pitchFamily="18" charset="0"/>
              </a:rPr>
              <a:t>q</a:t>
            </a: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 from Q</a:t>
            </a:r>
            <a:r>
              <a:rPr lang="en-US" altLang="zh-CN" sz="2800" b="1" dirty="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从</a:t>
            </a:r>
            <a:r>
              <a:rPr lang="en-US" altLang="zh-CN" sz="2800" b="1" dirty="0">
                <a:solidFill>
                  <a:srgbClr val="FF0000"/>
                </a:solidFill>
                <a:latin typeface="Times New Roman" panose="02020603050405020304" pitchFamily="18" charset="0"/>
                <a:cs typeface="Times New Roman" panose="02020603050405020304" pitchFamily="18" charset="0"/>
              </a:rPr>
              <a:t>Q</a:t>
            </a:r>
            <a:r>
              <a:rPr lang="zh-CN" altLang="en-US" sz="2800" b="1" dirty="0">
                <a:solidFill>
                  <a:srgbClr val="FF0000"/>
                </a:solidFill>
                <a:latin typeface="Times New Roman" panose="02020603050405020304" pitchFamily="18" charset="0"/>
                <a:cs typeface="Times New Roman" panose="02020603050405020304" pitchFamily="18" charset="0"/>
              </a:rPr>
              <a:t>选择一个结点</a:t>
            </a:r>
            <a:endParaRPr lang="en-US" altLang="zh-CN" sz="2800" b="1" dirty="0">
              <a:solidFill>
                <a:srgbClr val="FF0000"/>
              </a:solidFill>
              <a:latin typeface="Times New Roman" panose="02020603050405020304" pitchFamily="18" charset="0"/>
              <a:cs typeface="Times New Roman" panose="02020603050405020304" pitchFamily="18" charset="0"/>
            </a:endParaRPr>
          </a:p>
          <a:p>
            <a:pPr eaLnBrk="1" hangingPunct="1">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800" b="1" dirty="0" smtClean="0">
                <a:solidFill>
                  <a:schemeClr val="tx1">
                    <a:lumMod val="50000"/>
                  </a:schemeClr>
                </a:solidFill>
                <a:latin typeface="Times New Roman" panose="02020603050405020304" pitchFamily="18" charset="0"/>
                <a:cs typeface="Times New Roman" panose="02020603050405020304" pitchFamily="18" charset="0"/>
              </a:rPr>
              <a:t>Branch(q, </a:t>
            </a:r>
            <a:r>
              <a:rPr lang="en-US" altLang="zh-CN" sz="2800" b="1" dirty="0" err="1" smtClean="0">
                <a:solidFill>
                  <a:schemeClr val="tx1">
                    <a:lumMod val="50000"/>
                  </a:schemeClr>
                </a:solidFill>
                <a:latin typeface="Times New Roman" panose="02020603050405020304" pitchFamily="18" charset="0"/>
                <a:cs typeface="Times New Roman" panose="02020603050405020304" pitchFamily="18" charset="0"/>
              </a:rPr>
              <a:t>Q</a:t>
            </a:r>
            <a:r>
              <a:rPr lang="en-US" altLang="zh-CN" sz="2800" b="1" baseline="-25000" dirty="0" err="1" smtClean="0">
                <a:solidFill>
                  <a:schemeClr val="tx1">
                    <a:lumMod val="50000"/>
                  </a:schemeClr>
                </a:solidFill>
                <a:latin typeface="Times New Roman" panose="02020603050405020304" pitchFamily="18" charset="0"/>
                <a:cs typeface="Times New Roman" panose="02020603050405020304" pitchFamily="18" charset="0"/>
              </a:rPr>
              <a:t>1</a:t>
            </a:r>
            <a:r>
              <a:rPr lang="en-US" altLang="zh-CN" sz="2800" b="1" dirty="0" smtClean="0">
                <a:solidFill>
                  <a:schemeClr val="tx1">
                    <a:lumMod val="50000"/>
                  </a:schemeClr>
                </a:solidFill>
                <a:latin typeface="Times New Roman" panose="02020603050405020304" pitchFamily="18" charset="0"/>
                <a:cs typeface="Times New Roman" panose="02020603050405020304" pitchFamily="18" charset="0"/>
              </a:rPr>
              <a:t>); </a:t>
            </a:r>
            <a:r>
              <a:rPr lang="en-US" altLang="zh-CN" sz="2800" b="1" dirty="0" smtClean="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对</a:t>
            </a:r>
            <a:r>
              <a:rPr lang="en-US" altLang="zh-CN" sz="2800" b="1" dirty="0">
                <a:solidFill>
                  <a:srgbClr val="FF0000"/>
                </a:solidFill>
                <a:latin typeface="Times New Roman" panose="02020603050405020304" pitchFamily="18" charset="0"/>
                <a:cs typeface="Times New Roman" panose="02020603050405020304" pitchFamily="18" charset="0"/>
              </a:rPr>
              <a:t>q</a:t>
            </a:r>
            <a:r>
              <a:rPr lang="zh-CN" altLang="en-US" sz="2800" b="1" dirty="0">
                <a:solidFill>
                  <a:srgbClr val="FF0000"/>
                </a:solidFill>
                <a:latin typeface="Times New Roman" panose="02020603050405020304" pitchFamily="18" charset="0"/>
                <a:cs typeface="Times New Roman" panose="02020603050405020304" pitchFamily="18" charset="0"/>
              </a:rPr>
              <a:t>进行分支，产生</a:t>
            </a:r>
            <a:r>
              <a:rPr lang="en-US" altLang="zh-CN" sz="2800" b="1" dirty="0">
                <a:solidFill>
                  <a:srgbClr val="FF0000"/>
                </a:solidFill>
                <a:latin typeface="Times New Roman" panose="02020603050405020304" pitchFamily="18" charset="0"/>
                <a:cs typeface="Times New Roman" panose="02020603050405020304" pitchFamily="18" charset="0"/>
              </a:rPr>
              <a:t>Q1</a:t>
            </a:r>
            <a:r>
              <a:rPr lang="zh-CN" altLang="en-US" sz="2800" b="1" dirty="0">
                <a:solidFill>
                  <a:srgbClr val="FF0000"/>
                </a:solidFill>
                <a:latin typeface="Times New Roman" panose="02020603050405020304" pitchFamily="18" charset="0"/>
                <a:cs typeface="Times New Roman" panose="02020603050405020304" pitchFamily="18" charset="0"/>
              </a:rPr>
              <a:t>，分支时</a:t>
            </a:r>
            <a:r>
              <a:rPr lang="zh-CN" altLang="en-US" sz="2800" b="1" dirty="0" smtClean="0">
                <a:solidFill>
                  <a:srgbClr val="FF0000"/>
                </a:solidFill>
                <a:latin typeface="Times New Roman" panose="02020603050405020304" pitchFamily="18" charset="0"/>
                <a:cs typeface="Times New Roman" panose="02020603050405020304" pitchFamily="18" charset="0"/>
              </a:rPr>
              <a:t>利用约束</a:t>
            </a:r>
            <a:r>
              <a:rPr lang="zh-CN" altLang="en-US" sz="2800" b="1" dirty="0">
                <a:solidFill>
                  <a:srgbClr val="FF0000"/>
                </a:solidFill>
                <a:latin typeface="Times New Roman" panose="02020603050405020304" pitchFamily="18" charset="0"/>
                <a:cs typeface="Times New Roman" panose="02020603050405020304" pitchFamily="18" charset="0"/>
              </a:rPr>
              <a:t>和界进行剪枝</a:t>
            </a:r>
            <a:endParaRPr lang="en-US" altLang="zh-CN" sz="2800" b="1" dirty="0">
              <a:solidFill>
                <a:srgbClr val="FF0000"/>
              </a:solidFill>
              <a:latin typeface="Times New Roman" panose="02020603050405020304" pitchFamily="18" charset="0"/>
              <a:cs typeface="Times New Roman" panose="02020603050405020304" pitchFamily="18" charset="0"/>
            </a:endParaRPr>
          </a:p>
          <a:p>
            <a:pPr eaLnBrk="1" hangingPunct="1">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		add (Q1, Q);/</a:t>
            </a:r>
            <a:r>
              <a:rPr lang="en-US" altLang="zh-CN" sz="2800" b="1" dirty="0">
                <a:solidFill>
                  <a:srgbClr val="FF0000"/>
                </a:solidFill>
                <a:latin typeface="Times New Roman" panose="02020603050405020304" pitchFamily="18" charset="0"/>
                <a:cs typeface="Times New Roman" panose="02020603050405020304" pitchFamily="18" charset="0"/>
              </a:rPr>
              <a:t>/ </a:t>
            </a:r>
            <a:r>
              <a:rPr lang="zh-CN" altLang="en-US" sz="2800" b="1" dirty="0">
                <a:solidFill>
                  <a:srgbClr val="FF0000"/>
                </a:solidFill>
                <a:latin typeface="Times New Roman" panose="02020603050405020304" pitchFamily="18" charset="0"/>
                <a:cs typeface="Times New Roman" panose="02020603050405020304" pitchFamily="18" charset="0"/>
              </a:rPr>
              <a:t>将新产生的活结点加入</a:t>
            </a:r>
            <a:r>
              <a:rPr lang="en-US" altLang="zh-CN" sz="2800" b="1" dirty="0">
                <a:solidFill>
                  <a:srgbClr val="FF0000"/>
                </a:solidFill>
                <a:latin typeface="Times New Roman" panose="02020603050405020304" pitchFamily="18" charset="0"/>
                <a:cs typeface="Times New Roman" panose="02020603050405020304" pitchFamily="18" charset="0"/>
              </a:rPr>
              <a:t>Q</a:t>
            </a:r>
            <a:endParaRPr lang="en-US" altLang="zh-CN" sz="2800" b="1" dirty="0">
              <a:solidFill>
                <a:srgbClr val="FF0000"/>
              </a:solidFill>
              <a:latin typeface="Times New Roman" panose="02020603050405020304" pitchFamily="18" charset="0"/>
              <a:cs typeface="Times New Roman" panose="02020603050405020304" pitchFamily="18" charset="0"/>
            </a:endParaRPr>
          </a:p>
          <a:p>
            <a:pPr eaLnBrk="1" hangingPunct="1">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        }</a:t>
            </a:r>
            <a:endParaRPr lang="en-US" altLang="zh-CN" sz="2800" b="1" dirty="0">
              <a:solidFill>
                <a:schemeClr val="tx1">
                  <a:lumMod val="50000"/>
                </a:schemeClr>
              </a:solidFill>
              <a:latin typeface="Times New Roman" panose="02020603050405020304" pitchFamily="18" charset="0"/>
              <a:cs typeface="Times New Roman" panose="02020603050405020304" pitchFamily="18" charset="0"/>
            </a:endParaRPr>
          </a:p>
          <a:p>
            <a:pPr eaLnBrk="1" hangingPunct="1">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a:t>
            </a:r>
            <a:endParaRPr lang="zh-CN" altLang="en-US" sz="2800" b="1" dirty="0">
              <a:solidFill>
                <a:schemeClr val="tx1">
                  <a:lumMod val="50000"/>
                </a:schemeClr>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4" name="矩形 3"/>
          <p:cNvSpPr/>
          <p:nvPr/>
        </p:nvSpPr>
        <p:spPr>
          <a:xfrm>
            <a:off x="808038" y="3040063"/>
            <a:ext cx="7635875" cy="5111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endParaRPr lang="zh-CN" altLang="en-US" sz="3200">
              <a:solidFill>
                <a:schemeClr val="bg1"/>
              </a:solidFill>
              <a:latin typeface="楷体" panose="02010609060101010101" pitchFamily="49" charset="-122"/>
              <a:ea typeface="楷体" panose="02010609060101010101" pitchFamily="49" charset="-122"/>
            </a:endParaRPr>
          </a:p>
        </p:txBody>
      </p:sp>
      <p:sp>
        <p:nvSpPr>
          <p:cNvPr id="4" name="内容占位符 2"/>
          <p:cNvSpPr>
            <a:spLocks noGrp="1"/>
          </p:cNvSpPr>
          <p:nvPr>
            <p:ph idx="1"/>
          </p:nvPr>
        </p:nvSpPr>
        <p:spPr>
          <a:xfrm>
            <a:off x="307975" y="1116013"/>
            <a:ext cx="8586788" cy="998537"/>
          </a:xfrm>
        </p:spPr>
        <p:txBody>
          <a:bodyPr/>
          <a:lstStyle/>
          <a:p>
            <a:pPr marL="0" indent="0" algn="just" defTabSz="914400" eaLnBrk="1" fontAlgn="auto" hangingPunct="1">
              <a:lnSpc>
                <a:spcPct val="150000"/>
              </a:lnSpc>
              <a:spcBef>
                <a:spcPts val="0"/>
              </a:spcBef>
              <a:spcAft>
                <a:spcPts val="0"/>
              </a:spcAft>
              <a:buClrTx/>
              <a:buSzTx/>
              <a:buFontTx/>
              <a:buNone/>
              <a:defRPr/>
            </a:pPr>
            <a:r>
              <a:rPr lang="zh-CN" altLang="en-US" sz="3200" b="1" kern="0" dirty="0" smtClean="0">
                <a:solidFill>
                  <a:srgbClr val="00B050"/>
                </a:solidFill>
                <a:latin typeface="华文楷体" panose="02010600040101010101" pitchFamily="2" charset="-122"/>
                <a:ea typeface="华文楷体" panose="02010600040101010101" pitchFamily="2" charset="-122"/>
              </a:rPr>
              <a:t>常见的两种分支搜索法（</a:t>
            </a:r>
            <a:r>
              <a:rPr lang="zh-CN" altLang="en-US" sz="3200" b="1" kern="0" dirty="0" smtClean="0">
                <a:solidFill>
                  <a:srgbClr val="FF0000"/>
                </a:solidFill>
                <a:latin typeface="华文楷体" panose="02010600040101010101" pitchFamily="2" charset="-122"/>
                <a:ea typeface="华文楷体" panose="02010600040101010101" pitchFamily="2" charset="-122"/>
              </a:rPr>
              <a:t>选择结点方式</a:t>
            </a:r>
            <a:r>
              <a:rPr lang="zh-CN" altLang="en-US" sz="3200" b="1" kern="0" dirty="0" smtClean="0">
                <a:solidFill>
                  <a:srgbClr val="00B050"/>
                </a:solidFill>
                <a:latin typeface="华文楷体" panose="02010600040101010101" pitchFamily="2" charset="-122"/>
                <a:ea typeface="华文楷体" panose="02010600040101010101" pitchFamily="2" charset="-122"/>
              </a:rPr>
              <a:t>）</a:t>
            </a:r>
            <a:endParaRPr lang="zh-CN" altLang="en-US" sz="3200" b="1" kern="0" dirty="0" smtClean="0">
              <a:solidFill>
                <a:srgbClr val="00B050"/>
              </a:solidFill>
              <a:latin typeface="华文楷体" panose="02010600040101010101" pitchFamily="2" charset="-122"/>
              <a:ea typeface="华文楷体" panose="02010600040101010101" pitchFamily="2" charset="-122"/>
            </a:endParaRPr>
          </a:p>
          <a:p>
            <a:pPr marL="0" indent="0" algn="just" defTabSz="914400" eaLnBrk="1" fontAlgn="auto" hangingPunct="1">
              <a:lnSpc>
                <a:spcPct val="100000"/>
              </a:lnSpc>
              <a:spcBef>
                <a:spcPts val="0"/>
              </a:spcBef>
              <a:spcAft>
                <a:spcPts val="0"/>
              </a:spcAft>
              <a:buClrTx/>
              <a:buSzTx/>
              <a:buFontTx/>
              <a:buNone/>
              <a:defRPr/>
            </a:pPr>
            <a:endParaRPr lang="zh-CN" altLang="en-US" kern="0" dirty="0" smtClean="0">
              <a:solidFill>
                <a:sysClr val="windowText" lastClr="000000"/>
              </a:solidFill>
            </a:endParaRPr>
          </a:p>
        </p:txBody>
      </p:sp>
      <p:sp>
        <p:nvSpPr>
          <p:cNvPr id="5" name="矩形 4"/>
          <p:cNvSpPr/>
          <p:nvPr/>
        </p:nvSpPr>
        <p:spPr>
          <a:xfrm>
            <a:off x="385763" y="5305425"/>
            <a:ext cx="8450262" cy="1077913"/>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marL="0" lvl="2" algn="just" defTabSz="914400" eaLnBrk="1" fontAlgn="auto" hangingPunct="1">
              <a:spcBef>
                <a:spcPts val="0"/>
              </a:spcBef>
              <a:spcAft>
                <a:spcPts val="0"/>
              </a:spcAft>
              <a:buClr>
                <a:srgbClr val="00B050"/>
              </a:buClr>
              <a:buFont typeface="Wingdings" panose="05000000000000000000" pitchFamily="2" charset="2"/>
              <a:buChar char="Ø"/>
              <a:defRPr/>
            </a:pPr>
            <a:r>
              <a:rPr lang="zh-CN" altLang="en-US" sz="3200" b="1" kern="0" dirty="0">
                <a:solidFill>
                  <a:sysClr val="windowText" lastClr="000000"/>
                </a:solidFill>
                <a:latin typeface="华文楷体" panose="02010600040101010101" pitchFamily="2" charset="-122"/>
                <a:ea typeface="华文楷体" panose="02010600040101010101" pitchFamily="2" charset="-122"/>
              </a:rPr>
              <a:t>最大堆（最大优先队列）：最大效益优先</a:t>
            </a:r>
            <a:endParaRPr lang="en-US" altLang="zh-CN" sz="3200" b="1" kern="0" dirty="0">
              <a:solidFill>
                <a:sysClr val="windowText" lastClr="000000"/>
              </a:solidFill>
              <a:latin typeface="华文楷体" panose="02010600040101010101" pitchFamily="2" charset="-122"/>
              <a:ea typeface="华文楷体" panose="02010600040101010101" pitchFamily="2" charset="-122"/>
            </a:endParaRPr>
          </a:p>
          <a:p>
            <a:pPr marL="0" lvl="2" algn="just" defTabSz="914400" eaLnBrk="1" fontAlgn="auto" hangingPunct="1">
              <a:spcBef>
                <a:spcPts val="0"/>
              </a:spcBef>
              <a:spcAft>
                <a:spcPts val="0"/>
              </a:spcAft>
              <a:buClr>
                <a:srgbClr val="00B050"/>
              </a:buClr>
              <a:buFont typeface="Wingdings" panose="05000000000000000000" pitchFamily="2" charset="2"/>
              <a:buChar char="Ø"/>
              <a:defRPr/>
            </a:pPr>
            <a:r>
              <a:rPr lang="zh-CN" altLang="en-US" sz="3200" b="1" kern="0" dirty="0">
                <a:solidFill>
                  <a:sysClr val="windowText" lastClr="000000"/>
                </a:solidFill>
                <a:latin typeface="华文楷体" panose="02010600040101010101" pitchFamily="2" charset="-122"/>
                <a:ea typeface="华文楷体" panose="02010600040101010101" pitchFamily="2" charset="-122"/>
              </a:rPr>
              <a:t>最小堆（最小优先队列）：最小耗费优先</a:t>
            </a:r>
            <a:endParaRPr lang="zh-CN" altLang="en-US" sz="3200" b="1" kern="0" dirty="0">
              <a:solidFill>
                <a:sysClr val="windowText" lastClr="000000"/>
              </a:solidFill>
              <a:latin typeface="华文楷体" panose="02010600040101010101" pitchFamily="2" charset="-122"/>
              <a:ea typeface="华文楷体" panose="02010600040101010101" pitchFamily="2" charset="-122"/>
            </a:endParaRPr>
          </a:p>
        </p:txBody>
      </p:sp>
      <p:sp>
        <p:nvSpPr>
          <p:cNvPr id="6" name="矩形 5"/>
          <p:cNvSpPr/>
          <p:nvPr/>
        </p:nvSpPr>
        <p:spPr>
          <a:xfrm>
            <a:off x="379413" y="1984375"/>
            <a:ext cx="8443912" cy="137160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marL="0" lvl="1" algn="just" defTabSz="914400" eaLnBrk="1" fontAlgn="auto" hangingPunct="1">
              <a:lnSpc>
                <a:spcPct val="130000"/>
              </a:lnSpc>
              <a:spcBef>
                <a:spcPts val="0"/>
              </a:spcBef>
              <a:spcAft>
                <a:spcPts val="0"/>
              </a:spcAft>
              <a:defRPr/>
            </a:pPr>
            <a:r>
              <a:rPr lang="zh-CN" altLang="en-US" sz="3200" b="1" kern="0" dirty="0">
                <a:solidFill>
                  <a:srgbClr val="990000"/>
                </a:solidFill>
                <a:latin typeface="华文楷体" panose="02010600040101010101" pitchFamily="2" charset="-122"/>
                <a:ea typeface="华文楷体" panose="02010600040101010101" pitchFamily="2" charset="-122"/>
              </a:rPr>
              <a:t>队列式(</a:t>
            </a:r>
            <a:r>
              <a:rPr lang="en-US" altLang="zh-CN" sz="3200" b="1" kern="0" dirty="0">
                <a:solidFill>
                  <a:srgbClr val="990000"/>
                </a:solidFill>
                <a:latin typeface="华文楷体" panose="02010600040101010101" pitchFamily="2" charset="-122"/>
                <a:ea typeface="华文楷体" panose="02010600040101010101" pitchFamily="2" charset="-122"/>
              </a:rPr>
              <a:t>FIFO)</a:t>
            </a:r>
            <a:r>
              <a:rPr lang="zh-CN" altLang="en-US" sz="3200" b="1" kern="0" dirty="0">
                <a:solidFill>
                  <a:srgbClr val="990000"/>
                </a:solidFill>
                <a:latin typeface="华文楷体" panose="02010600040101010101" pitchFamily="2" charset="-122"/>
                <a:ea typeface="华文楷体" panose="02010600040101010101" pitchFamily="2" charset="-122"/>
              </a:rPr>
              <a:t>搜索法</a:t>
            </a:r>
            <a:r>
              <a:rPr lang="zh-CN" altLang="en-US" sz="3200" b="1" kern="0" dirty="0">
                <a:solidFill>
                  <a:sysClr val="windowText" lastClr="000000"/>
                </a:solidFill>
                <a:latin typeface="华文楷体" panose="02010600040101010101" pitchFamily="2" charset="-122"/>
                <a:ea typeface="华文楷体" panose="02010600040101010101" pitchFamily="2" charset="-122"/>
              </a:rPr>
              <a:t>：按照队列先进先出（</a:t>
            </a:r>
            <a:r>
              <a:rPr lang="en-US" altLang="zh-CN" sz="3200" b="1" kern="0" dirty="0">
                <a:solidFill>
                  <a:sysClr val="windowText" lastClr="000000"/>
                </a:solidFill>
                <a:latin typeface="华文楷体" panose="02010600040101010101" pitchFamily="2" charset="-122"/>
                <a:ea typeface="华文楷体" panose="02010600040101010101" pitchFamily="2" charset="-122"/>
              </a:rPr>
              <a:t>FIFO）</a:t>
            </a:r>
            <a:r>
              <a:rPr lang="zh-CN" altLang="en-US" sz="3200" b="1" kern="0" dirty="0">
                <a:solidFill>
                  <a:sysClr val="windowText" lastClr="000000"/>
                </a:solidFill>
                <a:latin typeface="华文楷体" panose="02010600040101010101" pitchFamily="2" charset="-122"/>
                <a:ea typeface="华文楷体" panose="02010600040101010101" pitchFamily="2" charset="-122"/>
              </a:rPr>
              <a:t>原则选取下一</a:t>
            </a:r>
            <a:r>
              <a:rPr lang="zh-CN" altLang="en-US" sz="3200" b="1" kern="0" dirty="0" smtClean="0">
                <a:solidFill>
                  <a:sysClr val="windowText" lastClr="000000"/>
                </a:solidFill>
                <a:latin typeface="华文楷体" panose="02010600040101010101" pitchFamily="2" charset="-122"/>
                <a:ea typeface="华文楷体" panose="02010600040101010101" pitchFamily="2" charset="-122"/>
              </a:rPr>
              <a:t>个结点为扩展结点。</a:t>
            </a:r>
            <a:endParaRPr lang="en-US" altLang="zh-CN" sz="3200" b="1" kern="0" dirty="0">
              <a:solidFill>
                <a:sysClr val="windowText" lastClr="000000"/>
              </a:solidFill>
              <a:latin typeface="华文楷体" panose="02010600040101010101" pitchFamily="2" charset="-122"/>
              <a:ea typeface="华文楷体" panose="02010600040101010101" pitchFamily="2" charset="-122"/>
            </a:endParaRPr>
          </a:p>
        </p:txBody>
      </p:sp>
      <p:sp>
        <p:nvSpPr>
          <p:cNvPr id="7" name="矩形 6"/>
          <p:cNvSpPr/>
          <p:nvPr/>
        </p:nvSpPr>
        <p:spPr>
          <a:xfrm>
            <a:off x="379413" y="3622675"/>
            <a:ext cx="8456612" cy="137318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lvl="1" algn="just" defTabSz="914400" eaLnBrk="1" fontAlgn="auto" hangingPunct="1">
              <a:lnSpc>
                <a:spcPct val="130000"/>
              </a:lnSpc>
              <a:spcBef>
                <a:spcPts val="0"/>
              </a:spcBef>
              <a:spcAft>
                <a:spcPts val="0"/>
              </a:spcAft>
              <a:defRPr/>
            </a:pPr>
            <a:r>
              <a:rPr lang="zh-CN" altLang="en-US" sz="3200" b="1" kern="0" dirty="0">
                <a:solidFill>
                  <a:srgbClr val="990000"/>
                </a:solidFill>
                <a:latin typeface="华文楷体" panose="02010600040101010101" pitchFamily="2" charset="-122"/>
                <a:ea typeface="华文楷体" panose="02010600040101010101" pitchFamily="2" charset="-122"/>
              </a:rPr>
              <a:t>优先队列式搜索法</a:t>
            </a:r>
            <a:r>
              <a:rPr lang="zh-CN" altLang="en-US" sz="3200" b="1" kern="0" dirty="0">
                <a:solidFill>
                  <a:sysClr val="windowText" lastClr="000000"/>
                </a:solidFill>
                <a:latin typeface="华文楷体" panose="02010600040101010101" pitchFamily="2" charset="-122"/>
                <a:ea typeface="华文楷体" panose="02010600040101010101" pitchFamily="2" charset="-122"/>
              </a:rPr>
              <a:t>：按照优先队列中</a:t>
            </a:r>
            <a:r>
              <a:rPr lang="zh-CN" altLang="en-US" sz="3200" b="1" kern="0" dirty="0">
                <a:solidFill>
                  <a:srgbClr val="FF0000"/>
                </a:solidFill>
                <a:latin typeface="华文楷体" panose="02010600040101010101" pitchFamily="2" charset="-122"/>
                <a:ea typeface="华文楷体" panose="02010600040101010101" pitchFamily="2" charset="-122"/>
              </a:rPr>
              <a:t>规定的优先级</a:t>
            </a:r>
            <a:r>
              <a:rPr lang="zh-CN" altLang="en-US" sz="3200" b="1" kern="0" dirty="0">
                <a:solidFill>
                  <a:sysClr val="windowText" lastClr="000000"/>
                </a:solidFill>
                <a:latin typeface="华文楷体" panose="02010600040101010101" pitchFamily="2" charset="-122"/>
                <a:ea typeface="华文楷体" panose="02010600040101010101" pitchFamily="2" charset="-122"/>
              </a:rPr>
              <a:t>选取</a:t>
            </a:r>
            <a:r>
              <a:rPr lang="zh-CN" altLang="en-US" sz="3200" b="1" kern="0" dirty="0">
                <a:solidFill>
                  <a:srgbClr val="FF0000"/>
                </a:solidFill>
                <a:latin typeface="华文楷体" panose="02010600040101010101" pitchFamily="2" charset="-122"/>
                <a:ea typeface="华文楷体" panose="02010600040101010101" pitchFamily="2" charset="-122"/>
              </a:rPr>
              <a:t>优先级最高</a:t>
            </a:r>
            <a:r>
              <a:rPr lang="zh-CN" altLang="en-US" sz="3200" b="1" kern="0" dirty="0" smtClean="0">
                <a:solidFill>
                  <a:srgbClr val="FF0000"/>
                </a:solidFill>
                <a:latin typeface="华文楷体" panose="02010600040101010101" pitchFamily="2" charset="-122"/>
                <a:ea typeface="华文楷体" panose="02010600040101010101" pitchFamily="2" charset="-122"/>
              </a:rPr>
              <a:t>的结点</a:t>
            </a:r>
            <a:r>
              <a:rPr lang="zh-CN" altLang="en-US" sz="3200" b="1" kern="0" dirty="0" smtClean="0">
                <a:solidFill>
                  <a:sysClr val="windowText" lastClr="000000"/>
                </a:solidFill>
                <a:latin typeface="华文楷体" panose="02010600040101010101" pitchFamily="2" charset="-122"/>
                <a:ea typeface="华文楷体" panose="02010600040101010101" pitchFamily="2" charset="-122"/>
              </a:rPr>
              <a:t>成为</a:t>
            </a:r>
            <a:r>
              <a:rPr lang="zh-CN" altLang="en-US" sz="3200" b="1" kern="0" dirty="0">
                <a:solidFill>
                  <a:sysClr val="windowText" lastClr="000000"/>
                </a:solidFill>
                <a:latin typeface="华文楷体" panose="02010600040101010101" pitchFamily="2" charset="-122"/>
                <a:ea typeface="华文楷体" panose="02010600040101010101" pitchFamily="2" charset="-122"/>
              </a:rPr>
              <a:t>当前</a:t>
            </a:r>
            <a:r>
              <a:rPr lang="zh-CN" altLang="en-US" sz="3200" b="1" kern="0" dirty="0" smtClean="0">
                <a:solidFill>
                  <a:sysClr val="windowText" lastClr="000000"/>
                </a:solidFill>
                <a:latin typeface="华文楷体" panose="02010600040101010101" pitchFamily="2" charset="-122"/>
                <a:ea typeface="华文楷体" panose="02010600040101010101" pitchFamily="2" charset="-122"/>
              </a:rPr>
              <a:t>扩展结点。</a:t>
            </a:r>
            <a:endParaRPr lang="zh-CN" altLang="en-US" sz="3200" b="1" kern="0" dirty="0">
              <a:solidFill>
                <a:sysClr val="windowText" lastClr="000000"/>
              </a:solidFill>
              <a:latin typeface="华文楷体" panose="02010600040101010101" pitchFamily="2" charset="-122"/>
              <a:ea typeface="华文楷体"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endParaRPr lang="zh-CN" altLang="en-US" sz="3200">
              <a:solidFill>
                <a:schemeClr val="bg1"/>
              </a:solidFill>
              <a:latin typeface="楷体" panose="02010609060101010101" pitchFamily="49" charset="-122"/>
              <a:ea typeface="楷体" panose="02010609060101010101" pitchFamily="49" charset="-122"/>
            </a:endParaRPr>
          </a:p>
        </p:txBody>
      </p:sp>
      <p:sp>
        <p:nvSpPr>
          <p:cNvPr id="90" name="内容占位符 2"/>
          <p:cNvSpPr>
            <a:spLocks noGrp="1"/>
          </p:cNvSpPr>
          <p:nvPr>
            <p:ph idx="1"/>
          </p:nvPr>
        </p:nvSpPr>
        <p:spPr>
          <a:xfrm>
            <a:off x="550863" y="1422400"/>
            <a:ext cx="8178800" cy="4457700"/>
          </a:xfrm>
        </p:spPr>
        <p:txBody>
          <a:bodyPr/>
          <a:lstStyle/>
          <a:p>
            <a:pPr marL="0" indent="0" defTabSz="914400" eaLnBrk="1" fontAlgn="auto" hangingPunct="1">
              <a:lnSpc>
                <a:spcPct val="100000"/>
              </a:lnSpc>
              <a:spcBef>
                <a:spcPts val="0"/>
              </a:spcBef>
              <a:spcAft>
                <a:spcPts val="0"/>
              </a:spcAft>
              <a:buClrTx/>
              <a:buSzTx/>
              <a:buFontTx/>
              <a:buNone/>
              <a:defRPr/>
            </a:pPr>
            <a:endParaRPr lang="zh-CN" altLang="en-US"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556" name="Text Box 4"/>
          <p:cNvSpPr txBox="1">
            <a:spLocks noChangeArrowheads="1"/>
          </p:cNvSpPr>
          <p:nvPr/>
        </p:nvSpPr>
        <p:spPr bwMode="auto">
          <a:xfrm>
            <a:off x="631825" y="1300163"/>
            <a:ext cx="8099425" cy="898525"/>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0-1</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背包问题</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zh-CN" altLang="en-US" sz="24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分析队列式与优先队列式过程</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endPar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n=3, C=30, w={16, 15, 15}, v={45, 25, 25}</a:t>
            </a:r>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23557" name="Group 57"/>
          <p:cNvGrpSpPr/>
          <p:nvPr/>
        </p:nvGrpSpPr>
        <p:grpSpPr bwMode="auto">
          <a:xfrm>
            <a:off x="3948113" y="2581275"/>
            <a:ext cx="395287" cy="395288"/>
            <a:chOff x="4531" y="2063"/>
            <a:chExt cx="249" cy="249"/>
          </a:xfrm>
        </p:grpSpPr>
        <p:sp>
          <p:nvSpPr>
            <p:cNvPr id="23639" name="Oval 58"/>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40" name="Text Box 5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58" name="Group 60"/>
          <p:cNvGrpSpPr/>
          <p:nvPr/>
        </p:nvGrpSpPr>
        <p:grpSpPr bwMode="auto">
          <a:xfrm>
            <a:off x="2403475" y="3141663"/>
            <a:ext cx="395288" cy="395287"/>
            <a:chOff x="4531" y="2063"/>
            <a:chExt cx="249" cy="249"/>
          </a:xfrm>
        </p:grpSpPr>
        <p:sp>
          <p:nvSpPr>
            <p:cNvPr id="23637" name="Oval 61"/>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38" name="Text Box 6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59" name="Group 63"/>
          <p:cNvGrpSpPr/>
          <p:nvPr/>
        </p:nvGrpSpPr>
        <p:grpSpPr bwMode="auto">
          <a:xfrm>
            <a:off x="5583238" y="3136900"/>
            <a:ext cx="395287" cy="395288"/>
            <a:chOff x="4531" y="2063"/>
            <a:chExt cx="249" cy="249"/>
          </a:xfrm>
        </p:grpSpPr>
        <p:sp>
          <p:nvSpPr>
            <p:cNvPr id="23635" name="Oval 64"/>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36" name="Text Box 65"/>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60" name="Group 66"/>
          <p:cNvGrpSpPr/>
          <p:nvPr/>
        </p:nvGrpSpPr>
        <p:grpSpPr bwMode="auto">
          <a:xfrm>
            <a:off x="1652588" y="3884613"/>
            <a:ext cx="395287" cy="395287"/>
            <a:chOff x="4531" y="2063"/>
            <a:chExt cx="249" cy="249"/>
          </a:xfrm>
        </p:grpSpPr>
        <p:sp>
          <p:nvSpPr>
            <p:cNvPr id="23633" name="Oval 67"/>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34" name="Text Box 6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D</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61" name="Group 69"/>
          <p:cNvGrpSpPr/>
          <p:nvPr/>
        </p:nvGrpSpPr>
        <p:grpSpPr bwMode="auto">
          <a:xfrm>
            <a:off x="3109913" y="3884613"/>
            <a:ext cx="395287" cy="395287"/>
            <a:chOff x="4531" y="2063"/>
            <a:chExt cx="249" cy="249"/>
          </a:xfrm>
        </p:grpSpPr>
        <p:sp>
          <p:nvSpPr>
            <p:cNvPr id="23631" name="Oval 70"/>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32" name="Text Box 7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62" name="Group 78"/>
          <p:cNvGrpSpPr/>
          <p:nvPr/>
        </p:nvGrpSpPr>
        <p:grpSpPr bwMode="auto">
          <a:xfrm>
            <a:off x="1217613" y="4768850"/>
            <a:ext cx="395287" cy="395288"/>
            <a:chOff x="4531" y="2063"/>
            <a:chExt cx="249" cy="249"/>
          </a:xfrm>
        </p:grpSpPr>
        <p:sp>
          <p:nvSpPr>
            <p:cNvPr id="23629" name="Oval 79"/>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30" name="Text Box 8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H</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63" name="Group 81"/>
          <p:cNvGrpSpPr/>
          <p:nvPr/>
        </p:nvGrpSpPr>
        <p:grpSpPr bwMode="auto">
          <a:xfrm>
            <a:off x="2019300" y="4764088"/>
            <a:ext cx="395288" cy="395287"/>
            <a:chOff x="4531" y="2063"/>
            <a:chExt cx="249" cy="249"/>
          </a:xfrm>
        </p:grpSpPr>
        <p:sp>
          <p:nvSpPr>
            <p:cNvPr id="23627" name="Oval 82"/>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28" name="Text Box 8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23564" name="Line 110"/>
          <p:cNvSpPr>
            <a:spLocks noChangeShapeType="1"/>
          </p:cNvSpPr>
          <p:nvPr/>
        </p:nvSpPr>
        <p:spPr bwMode="auto">
          <a:xfrm flipH="1">
            <a:off x="2776538" y="2867025"/>
            <a:ext cx="1189037" cy="38100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65" name="Line 111"/>
          <p:cNvSpPr>
            <a:spLocks noChangeShapeType="1"/>
          </p:cNvSpPr>
          <p:nvPr/>
        </p:nvSpPr>
        <p:spPr bwMode="auto">
          <a:xfrm>
            <a:off x="4346575" y="2851150"/>
            <a:ext cx="1250950" cy="4254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66" name="Line 112"/>
          <p:cNvSpPr>
            <a:spLocks noChangeShapeType="1"/>
          </p:cNvSpPr>
          <p:nvPr/>
        </p:nvSpPr>
        <p:spPr bwMode="auto">
          <a:xfrm flipH="1">
            <a:off x="1968500" y="3462338"/>
            <a:ext cx="474663" cy="455612"/>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3567" name="Line 113"/>
          <p:cNvSpPr>
            <a:spLocks noChangeShapeType="1"/>
          </p:cNvSpPr>
          <p:nvPr/>
        </p:nvSpPr>
        <p:spPr bwMode="auto">
          <a:xfrm>
            <a:off x="2744788" y="3492500"/>
            <a:ext cx="425450" cy="42386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68" name="Line 120"/>
          <p:cNvSpPr>
            <a:spLocks noChangeShapeType="1"/>
          </p:cNvSpPr>
          <p:nvPr/>
        </p:nvSpPr>
        <p:spPr bwMode="auto">
          <a:xfrm flipH="1">
            <a:off x="5241925" y="3487738"/>
            <a:ext cx="411163" cy="427037"/>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69" name="Line 121"/>
          <p:cNvSpPr>
            <a:spLocks noChangeShapeType="1"/>
          </p:cNvSpPr>
          <p:nvPr/>
        </p:nvSpPr>
        <p:spPr bwMode="auto">
          <a:xfrm>
            <a:off x="5895975" y="3487738"/>
            <a:ext cx="515938" cy="457200"/>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3570" name="Text Box 127"/>
          <p:cNvSpPr txBox="1">
            <a:spLocks noChangeArrowheads="1"/>
          </p:cNvSpPr>
          <p:nvPr/>
        </p:nvSpPr>
        <p:spPr bwMode="auto">
          <a:xfrm>
            <a:off x="4394200" y="2476500"/>
            <a:ext cx="1524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Cr=C=30,V=0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23571" name="Group 141"/>
          <p:cNvGrpSpPr/>
          <p:nvPr/>
        </p:nvGrpSpPr>
        <p:grpSpPr bwMode="auto">
          <a:xfrm>
            <a:off x="4903788" y="3881438"/>
            <a:ext cx="395287" cy="395287"/>
            <a:chOff x="4531" y="2063"/>
            <a:chExt cx="249" cy="249"/>
          </a:xfrm>
        </p:grpSpPr>
        <p:sp>
          <p:nvSpPr>
            <p:cNvPr id="23625" name="Oval 142"/>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26" name="Text Box 14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F</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72" name="Group 144"/>
          <p:cNvGrpSpPr/>
          <p:nvPr/>
        </p:nvGrpSpPr>
        <p:grpSpPr bwMode="auto">
          <a:xfrm>
            <a:off x="6329363" y="3881438"/>
            <a:ext cx="395287" cy="395287"/>
            <a:chOff x="4531" y="2063"/>
            <a:chExt cx="249" cy="249"/>
          </a:xfrm>
        </p:grpSpPr>
        <p:sp>
          <p:nvSpPr>
            <p:cNvPr id="23623" name="Oval 145"/>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24" name="Text Box 146"/>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73" name="Group 147"/>
          <p:cNvGrpSpPr/>
          <p:nvPr/>
        </p:nvGrpSpPr>
        <p:grpSpPr bwMode="auto">
          <a:xfrm>
            <a:off x="2786063" y="4751388"/>
            <a:ext cx="395287" cy="395287"/>
            <a:chOff x="4531" y="2063"/>
            <a:chExt cx="249" cy="249"/>
          </a:xfrm>
        </p:grpSpPr>
        <p:sp>
          <p:nvSpPr>
            <p:cNvPr id="23621" name="Oval 148"/>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22" name="Text Box 14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J</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74" name="Group 150"/>
          <p:cNvGrpSpPr/>
          <p:nvPr/>
        </p:nvGrpSpPr>
        <p:grpSpPr bwMode="auto">
          <a:xfrm>
            <a:off x="3587750" y="4746625"/>
            <a:ext cx="395288" cy="395288"/>
            <a:chOff x="4531" y="2063"/>
            <a:chExt cx="249" cy="249"/>
          </a:xfrm>
        </p:grpSpPr>
        <p:sp>
          <p:nvSpPr>
            <p:cNvPr id="23619" name="Oval 151"/>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20" name="Text Box 15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K</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75" name="Group 153"/>
          <p:cNvGrpSpPr/>
          <p:nvPr/>
        </p:nvGrpSpPr>
        <p:grpSpPr bwMode="auto">
          <a:xfrm>
            <a:off x="4491038" y="4765675"/>
            <a:ext cx="395287" cy="395288"/>
            <a:chOff x="4531" y="2063"/>
            <a:chExt cx="249" cy="249"/>
          </a:xfrm>
        </p:grpSpPr>
        <p:sp>
          <p:nvSpPr>
            <p:cNvPr id="23617" name="Oval 154"/>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18" name="Text Box 155"/>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76" name="Group 156"/>
          <p:cNvGrpSpPr/>
          <p:nvPr/>
        </p:nvGrpSpPr>
        <p:grpSpPr bwMode="auto">
          <a:xfrm>
            <a:off x="5292725" y="4760913"/>
            <a:ext cx="395288" cy="395287"/>
            <a:chOff x="4531" y="2063"/>
            <a:chExt cx="249" cy="249"/>
          </a:xfrm>
        </p:grpSpPr>
        <p:sp>
          <p:nvSpPr>
            <p:cNvPr id="23615" name="Oval 157"/>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16" name="Text Box 15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77" name="Group 159"/>
          <p:cNvGrpSpPr/>
          <p:nvPr/>
        </p:nvGrpSpPr>
        <p:grpSpPr bwMode="auto">
          <a:xfrm>
            <a:off x="6059488" y="4748213"/>
            <a:ext cx="395287" cy="395287"/>
            <a:chOff x="4531" y="2063"/>
            <a:chExt cx="249" cy="249"/>
          </a:xfrm>
        </p:grpSpPr>
        <p:sp>
          <p:nvSpPr>
            <p:cNvPr id="23613" name="Oval 160"/>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14" name="Text Box 16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23578" name="Group 162"/>
          <p:cNvGrpSpPr/>
          <p:nvPr/>
        </p:nvGrpSpPr>
        <p:grpSpPr bwMode="auto">
          <a:xfrm>
            <a:off x="6861175" y="4743450"/>
            <a:ext cx="395288" cy="395288"/>
            <a:chOff x="4531" y="2063"/>
            <a:chExt cx="249" cy="249"/>
          </a:xfrm>
        </p:grpSpPr>
        <p:sp>
          <p:nvSpPr>
            <p:cNvPr id="23611" name="Oval 163"/>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612" name="Text Box 164"/>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O</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23579" name="Line 165"/>
          <p:cNvSpPr>
            <a:spLocks noChangeShapeType="1"/>
          </p:cNvSpPr>
          <p:nvPr/>
        </p:nvSpPr>
        <p:spPr bwMode="auto">
          <a:xfrm flipH="1">
            <a:off x="1493838" y="4251325"/>
            <a:ext cx="246062" cy="533400"/>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3580" name="Line 166"/>
          <p:cNvSpPr>
            <a:spLocks noChangeShapeType="1"/>
          </p:cNvSpPr>
          <p:nvPr/>
        </p:nvSpPr>
        <p:spPr bwMode="auto">
          <a:xfrm>
            <a:off x="1933575" y="4267200"/>
            <a:ext cx="228600" cy="515938"/>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3581" name="Line 167"/>
          <p:cNvSpPr>
            <a:spLocks noChangeShapeType="1"/>
          </p:cNvSpPr>
          <p:nvPr/>
        </p:nvSpPr>
        <p:spPr bwMode="auto">
          <a:xfrm flipH="1">
            <a:off x="3028950" y="4264025"/>
            <a:ext cx="200025" cy="503238"/>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3582" name="Line 168"/>
          <p:cNvSpPr>
            <a:spLocks noChangeShapeType="1"/>
          </p:cNvSpPr>
          <p:nvPr/>
        </p:nvSpPr>
        <p:spPr bwMode="auto">
          <a:xfrm>
            <a:off x="3424238" y="4265613"/>
            <a:ext cx="242887" cy="515937"/>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83" name="Line 169"/>
          <p:cNvSpPr>
            <a:spLocks noChangeShapeType="1"/>
          </p:cNvSpPr>
          <p:nvPr/>
        </p:nvSpPr>
        <p:spPr bwMode="auto">
          <a:xfrm flipH="1">
            <a:off x="4737100" y="4246563"/>
            <a:ext cx="246063" cy="53340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84" name="Line 170"/>
          <p:cNvSpPr>
            <a:spLocks noChangeShapeType="1"/>
          </p:cNvSpPr>
          <p:nvPr/>
        </p:nvSpPr>
        <p:spPr bwMode="auto">
          <a:xfrm>
            <a:off x="5176838" y="4262438"/>
            <a:ext cx="228600" cy="515937"/>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3585" name="Line 171"/>
          <p:cNvSpPr>
            <a:spLocks noChangeShapeType="1"/>
          </p:cNvSpPr>
          <p:nvPr/>
        </p:nvSpPr>
        <p:spPr bwMode="auto">
          <a:xfrm flipH="1">
            <a:off x="6318250" y="4244975"/>
            <a:ext cx="138113" cy="519113"/>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3586" name="Line 172"/>
          <p:cNvSpPr>
            <a:spLocks noChangeShapeType="1"/>
          </p:cNvSpPr>
          <p:nvPr/>
        </p:nvSpPr>
        <p:spPr bwMode="auto">
          <a:xfrm>
            <a:off x="6651625" y="4246563"/>
            <a:ext cx="303213" cy="515937"/>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3587" name="Text Box 173"/>
          <p:cNvSpPr txBox="1">
            <a:spLocks noChangeArrowheads="1"/>
          </p:cNvSpPr>
          <p:nvPr/>
        </p:nvSpPr>
        <p:spPr bwMode="auto">
          <a:xfrm>
            <a:off x="793750" y="3143250"/>
            <a:ext cx="14176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Cr=14,V=45</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588" name="Text Box 174"/>
          <p:cNvSpPr txBox="1">
            <a:spLocks noChangeArrowheads="1"/>
          </p:cNvSpPr>
          <p:nvPr/>
        </p:nvSpPr>
        <p:spPr bwMode="auto">
          <a:xfrm>
            <a:off x="6094413" y="3154363"/>
            <a:ext cx="1417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Cr=30,V=0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589" name="Text Box 175"/>
          <p:cNvSpPr txBox="1">
            <a:spLocks noChangeArrowheads="1"/>
          </p:cNvSpPr>
          <p:nvPr/>
        </p:nvSpPr>
        <p:spPr bwMode="auto">
          <a:xfrm>
            <a:off x="173038" y="3932238"/>
            <a:ext cx="1417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Cr&lt;w</a:t>
            </a:r>
            <a:r>
              <a:rPr kumimoji="1" lang="en-US" altLang="zh-CN" b="1" baseline="-2500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不可行</a:t>
            </a:r>
            <a:endPar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590" name="Text Box 176"/>
          <p:cNvSpPr txBox="1">
            <a:spLocks noChangeArrowheads="1"/>
          </p:cNvSpPr>
          <p:nvPr/>
        </p:nvSpPr>
        <p:spPr bwMode="auto">
          <a:xfrm>
            <a:off x="2330450" y="3827463"/>
            <a:ext cx="762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Cr=14,V=45</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591" name="Text Box 177"/>
          <p:cNvSpPr txBox="1">
            <a:spLocks noChangeArrowheads="1"/>
          </p:cNvSpPr>
          <p:nvPr/>
        </p:nvSpPr>
        <p:spPr bwMode="auto">
          <a:xfrm>
            <a:off x="6746875" y="3943350"/>
            <a:ext cx="14176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Cr=30,V=0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592" name="Text Box 178"/>
          <p:cNvSpPr txBox="1">
            <a:spLocks noChangeArrowheads="1"/>
          </p:cNvSpPr>
          <p:nvPr/>
        </p:nvSpPr>
        <p:spPr bwMode="auto">
          <a:xfrm>
            <a:off x="4079875" y="3792538"/>
            <a:ext cx="762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Cr=15,V=25</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593" name="Text Box 179"/>
          <p:cNvSpPr txBox="1">
            <a:spLocks noChangeArrowheads="1"/>
          </p:cNvSpPr>
          <p:nvPr/>
        </p:nvSpPr>
        <p:spPr bwMode="auto">
          <a:xfrm>
            <a:off x="2471738" y="5224463"/>
            <a:ext cx="7318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Cr&lt;w</a:t>
            </a:r>
            <a:r>
              <a:rPr kumimoji="1" lang="en-US" altLang="zh-CN" b="1" baseline="-2500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不可行</a:t>
            </a:r>
            <a:endPar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594" name="Text Box 180"/>
          <p:cNvSpPr txBox="1">
            <a:spLocks noChangeArrowheads="1"/>
          </p:cNvSpPr>
          <p:nvPr/>
        </p:nvSpPr>
        <p:spPr bwMode="auto">
          <a:xfrm>
            <a:off x="3378200" y="5241925"/>
            <a:ext cx="762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Cr=14,</a:t>
            </a:r>
            <a:r>
              <a:rPr kumimoji="1" lang="en-US" altLang="zh-CN" b="1">
                <a:solidFill>
                  <a:srgbClr val="CC0000"/>
                </a:solidFill>
                <a:latin typeface="Times New Roman" panose="02020603050405020304" pitchFamily="18" charset="0"/>
                <a:ea typeface="华文楷体" panose="02010600040101010101" pitchFamily="2" charset="-122"/>
                <a:cs typeface="Times New Roman" panose="02020603050405020304" pitchFamily="18" charset="0"/>
              </a:rPr>
              <a:t>V=45</a:t>
            </a:r>
            <a:endParaRPr kumimoji="1" lang="en-US" altLang="zh-CN" b="1">
              <a:solidFill>
                <a:srgbClr val="CC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595" name="Text Box 181"/>
          <p:cNvSpPr txBox="1">
            <a:spLocks noChangeArrowheads="1"/>
          </p:cNvSpPr>
          <p:nvPr/>
        </p:nvSpPr>
        <p:spPr bwMode="auto">
          <a:xfrm>
            <a:off x="7307263" y="4808538"/>
            <a:ext cx="1417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Cr=30,V=0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596" name="Text Box 182"/>
          <p:cNvSpPr txBox="1">
            <a:spLocks noChangeArrowheads="1"/>
          </p:cNvSpPr>
          <p:nvPr/>
        </p:nvSpPr>
        <p:spPr bwMode="auto">
          <a:xfrm>
            <a:off x="4351338" y="5205413"/>
            <a:ext cx="5937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Cr=0,</a:t>
            </a:r>
            <a:r>
              <a:rPr kumimoji="1" lang="en-US" altLang="zh-CN" b="1">
                <a:solidFill>
                  <a:srgbClr val="CC0000"/>
                </a:solidFill>
                <a:latin typeface="Times New Roman" panose="02020603050405020304" pitchFamily="18" charset="0"/>
                <a:ea typeface="华文楷体" panose="02010600040101010101" pitchFamily="2" charset="-122"/>
                <a:cs typeface="Times New Roman" panose="02020603050405020304" pitchFamily="18" charset="0"/>
              </a:rPr>
              <a:t>V=50</a:t>
            </a:r>
            <a:endParaRPr kumimoji="1" lang="en-US" altLang="zh-CN" b="1">
              <a:solidFill>
                <a:srgbClr val="CC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3" name="Text Box 190"/>
          <p:cNvSpPr txBox="1">
            <a:spLocks noChangeArrowheads="1"/>
          </p:cNvSpPr>
          <p:nvPr/>
        </p:nvSpPr>
        <p:spPr bwMode="auto">
          <a:xfrm>
            <a:off x="374650" y="6038850"/>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4" name="Text Box 191"/>
          <p:cNvSpPr txBox="1">
            <a:spLocks noChangeArrowheads="1"/>
          </p:cNvSpPr>
          <p:nvPr/>
        </p:nvSpPr>
        <p:spPr bwMode="auto">
          <a:xfrm>
            <a:off x="877888" y="6037263"/>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5" name="Text Box 192"/>
          <p:cNvSpPr txBox="1">
            <a:spLocks noChangeArrowheads="1"/>
          </p:cNvSpPr>
          <p:nvPr/>
        </p:nvSpPr>
        <p:spPr bwMode="auto">
          <a:xfrm>
            <a:off x="1376363" y="6037263"/>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6" name="Text Box 193"/>
          <p:cNvSpPr txBox="1">
            <a:spLocks noChangeArrowheads="1"/>
          </p:cNvSpPr>
          <p:nvPr/>
        </p:nvSpPr>
        <p:spPr bwMode="auto">
          <a:xfrm>
            <a:off x="1879600" y="6035675"/>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7" name="Text Box 194"/>
          <p:cNvSpPr txBox="1">
            <a:spLocks noChangeArrowheads="1"/>
          </p:cNvSpPr>
          <p:nvPr/>
        </p:nvSpPr>
        <p:spPr bwMode="auto">
          <a:xfrm>
            <a:off x="2382838" y="6035675"/>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F</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8" name="Text Box 195"/>
          <p:cNvSpPr txBox="1">
            <a:spLocks noChangeArrowheads="1"/>
          </p:cNvSpPr>
          <p:nvPr/>
        </p:nvSpPr>
        <p:spPr bwMode="auto">
          <a:xfrm>
            <a:off x="2886075" y="6034088"/>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K</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9" name="Text Box 196"/>
          <p:cNvSpPr txBox="1">
            <a:spLocks noChangeArrowheads="1"/>
          </p:cNvSpPr>
          <p:nvPr/>
        </p:nvSpPr>
        <p:spPr bwMode="auto">
          <a:xfrm>
            <a:off x="3384550" y="6034088"/>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0" name="Text Box 198"/>
          <p:cNvSpPr txBox="1">
            <a:spLocks noChangeArrowheads="1"/>
          </p:cNvSpPr>
          <p:nvPr/>
        </p:nvSpPr>
        <p:spPr bwMode="auto">
          <a:xfrm>
            <a:off x="4881563" y="6035675"/>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1" name="Text Box 199"/>
          <p:cNvSpPr txBox="1">
            <a:spLocks noChangeArrowheads="1"/>
          </p:cNvSpPr>
          <p:nvPr/>
        </p:nvSpPr>
        <p:spPr bwMode="auto">
          <a:xfrm>
            <a:off x="5384800" y="6034088"/>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 name="Text Box 200"/>
          <p:cNvSpPr txBox="1">
            <a:spLocks noChangeArrowheads="1"/>
          </p:cNvSpPr>
          <p:nvPr/>
        </p:nvSpPr>
        <p:spPr bwMode="auto">
          <a:xfrm>
            <a:off x="5883275" y="6034088"/>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3" name="Text Box 201"/>
          <p:cNvSpPr txBox="1">
            <a:spLocks noChangeArrowheads="1"/>
          </p:cNvSpPr>
          <p:nvPr/>
        </p:nvSpPr>
        <p:spPr bwMode="auto">
          <a:xfrm>
            <a:off x="6386513" y="6032500"/>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 name="Text Box 202"/>
          <p:cNvSpPr txBox="1">
            <a:spLocks noChangeArrowheads="1"/>
          </p:cNvSpPr>
          <p:nvPr/>
        </p:nvSpPr>
        <p:spPr bwMode="auto">
          <a:xfrm>
            <a:off x="6889750" y="6032500"/>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K</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5" name="Text Box 203"/>
          <p:cNvSpPr txBox="1">
            <a:spLocks noChangeArrowheads="1"/>
          </p:cNvSpPr>
          <p:nvPr/>
        </p:nvSpPr>
        <p:spPr bwMode="auto">
          <a:xfrm>
            <a:off x="7392988" y="6030913"/>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6" name="Text Box 204"/>
          <p:cNvSpPr txBox="1">
            <a:spLocks noChangeArrowheads="1"/>
          </p:cNvSpPr>
          <p:nvPr/>
        </p:nvSpPr>
        <p:spPr bwMode="auto">
          <a:xfrm>
            <a:off x="7891463" y="6030913"/>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wipe(right)">
                                      <p:cBhvr>
                                        <p:cTn id="7" dur="1000"/>
                                        <p:tgtEl>
                                          <p:spTgt spid="1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64"/>
                                        </p:tgtEl>
                                        <p:attrNameLst>
                                          <p:attrName>style.visibility</p:attrName>
                                        </p:attrNameLst>
                                      </p:cBhvr>
                                      <p:to>
                                        <p:strVal val="visible"/>
                                      </p:to>
                                    </p:set>
                                    <p:animEffect transition="in" filter="wipe(right)">
                                      <p:cBhvr>
                                        <p:cTn id="12" dur="1000"/>
                                        <p:tgtEl>
                                          <p:spTgt spid="164"/>
                                        </p:tgtEl>
                                      </p:cBhvr>
                                    </p:animEffect>
                                  </p:childTnLst>
                                </p:cTn>
                              </p:par>
                            </p:childTnLst>
                          </p:cTn>
                        </p:par>
                        <p:par>
                          <p:cTn id="13" fill="hold">
                            <p:stCondLst>
                              <p:cond delay="1000"/>
                            </p:stCondLst>
                            <p:childTnLst>
                              <p:par>
                                <p:cTn id="14" presetID="22" presetClass="entr" presetSubtype="2" fill="hold" grpId="0" nodeType="afterEffect">
                                  <p:stCondLst>
                                    <p:cond delay="0"/>
                                  </p:stCondLst>
                                  <p:childTnLst>
                                    <p:set>
                                      <p:cBhvr>
                                        <p:cTn id="15" dur="1" fill="hold">
                                          <p:stCondLst>
                                            <p:cond delay="0"/>
                                          </p:stCondLst>
                                        </p:cTn>
                                        <p:tgtEl>
                                          <p:spTgt spid="165"/>
                                        </p:tgtEl>
                                        <p:attrNameLst>
                                          <p:attrName>style.visibility</p:attrName>
                                        </p:attrNameLst>
                                      </p:cBhvr>
                                      <p:to>
                                        <p:strVal val="visible"/>
                                      </p:to>
                                    </p:set>
                                    <p:animEffect transition="in" filter="wipe(right)">
                                      <p:cBhvr>
                                        <p:cTn id="16" dur="1000"/>
                                        <p:tgtEl>
                                          <p:spTgt spid="16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mph" presetSubtype="2" fill="hold" nodeType="clickEffect">
                                  <p:stCondLst>
                                    <p:cond delay="0"/>
                                  </p:stCondLst>
                                  <p:childTnLst>
                                    <p:animClr clrSpc="rgb" dir="cw">
                                      <p:cBhvr>
                                        <p:cTn id="20" dur="500" fill="hold"/>
                                        <p:tgtEl>
                                          <p:spTgt spid="163"/>
                                        </p:tgtEl>
                                        <p:attrNameLst>
                                          <p:attrName>fillcolor</p:attrName>
                                        </p:attrNameLst>
                                      </p:cBhvr>
                                      <p:to>
                                        <a:srgbClr val="CC0000"/>
                                      </p:to>
                                    </p:animClr>
                                    <p:set>
                                      <p:cBhvr>
                                        <p:cTn id="21" dur="500" fill="hold"/>
                                        <p:tgtEl>
                                          <p:spTgt spid="163"/>
                                        </p:tgtEl>
                                        <p:attrNameLst>
                                          <p:attrName>fill.type</p:attrName>
                                        </p:attrNameLst>
                                      </p:cBhvr>
                                      <p:to>
                                        <p:strVal val="solid"/>
                                      </p:to>
                                    </p:set>
                                    <p:set>
                                      <p:cBhvr>
                                        <p:cTn id="22" dur="500" fill="hold"/>
                                        <p:tgtEl>
                                          <p:spTgt spid="163"/>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animEffect transition="in" filter="wipe(right)">
                                      <p:cBhvr>
                                        <p:cTn id="27" dur="1000"/>
                                        <p:tgtEl>
                                          <p:spTgt spid="16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mph" presetSubtype="2" fill="hold" nodeType="clickEffect">
                                  <p:stCondLst>
                                    <p:cond delay="0"/>
                                  </p:stCondLst>
                                  <p:childTnLst>
                                    <p:animClr clrSpc="rgb" dir="cw">
                                      <p:cBhvr>
                                        <p:cTn id="31" dur="500" fill="hold"/>
                                        <p:tgtEl>
                                          <p:spTgt spid="164"/>
                                        </p:tgtEl>
                                        <p:attrNameLst>
                                          <p:attrName>fillcolor</p:attrName>
                                        </p:attrNameLst>
                                      </p:cBhvr>
                                      <p:to>
                                        <a:srgbClr val="CC0000"/>
                                      </p:to>
                                    </p:animClr>
                                    <p:set>
                                      <p:cBhvr>
                                        <p:cTn id="32" dur="500" fill="hold"/>
                                        <p:tgtEl>
                                          <p:spTgt spid="164"/>
                                        </p:tgtEl>
                                        <p:attrNameLst>
                                          <p:attrName>fill.type</p:attrName>
                                        </p:attrNameLst>
                                      </p:cBhvr>
                                      <p:to>
                                        <p:strVal val="solid"/>
                                      </p:to>
                                    </p:set>
                                    <p:set>
                                      <p:cBhvr>
                                        <p:cTn id="33" dur="500" fill="hold"/>
                                        <p:tgtEl>
                                          <p:spTgt spid="164"/>
                                        </p:tgtEl>
                                        <p:attrNameLst>
                                          <p:attrName>fill.on</p:attrName>
                                        </p:attrNameLst>
                                      </p:cBhvr>
                                      <p:to>
                                        <p:strVal val="tru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grpId="0" nodeType="clickEffect">
                                  <p:stCondLst>
                                    <p:cond delay="0"/>
                                  </p:stCondLst>
                                  <p:childTnLst>
                                    <p:set>
                                      <p:cBhvr>
                                        <p:cTn id="37" dur="1" fill="hold">
                                          <p:stCondLst>
                                            <p:cond delay="0"/>
                                          </p:stCondLst>
                                        </p:cTn>
                                        <p:tgtEl>
                                          <p:spTgt spid="167"/>
                                        </p:tgtEl>
                                        <p:attrNameLst>
                                          <p:attrName>style.visibility</p:attrName>
                                        </p:attrNameLst>
                                      </p:cBhvr>
                                      <p:to>
                                        <p:strVal val="visible"/>
                                      </p:to>
                                    </p:set>
                                    <p:animEffect transition="in" filter="wipe(right)">
                                      <p:cBhvr>
                                        <p:cTn id="38" dur="1000"/>
                                        <p:tgtEl>
                                          <p:spTgt spid="16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mph" presetSubtype="2" fill="hold" nodeType="clickEffect">
                                  <p:stCondLst>
                                    <p:cond delay="0"/>
                                  </p:stCondLst>
                                  <p:childTnLst>
                                    <p:animClr clrSpc="rgb" dir="cw">
                                      <p:cBhvr>
                                        <p:cTn id="42" dur="500" fill="hold"/>
                                        <p:tgtEl>
                                          <p:spTgt spid="165"/>
                                        </p:tgtEl>
                                        <p:attrNameLst>
                                          <p:attrName>fillcolor</p:attrName>
                                        </p:attrNameLst>
                                      </p:cBhvr>
                                      <p:to>
                                        <a:srgbClr val="CC0000"/>
                                      </p:to>
                                    </p:animClr>
                                    <p:set>
                                      <p:cBhvr>
                                        <p:cTn id="43" dur="500" fill="hold"/>
                                        <p:tgtEl>
                                          <p:spTgt spid="165"/>
                                        </p:tgtEl>
                                        <p:attrNameLst>
                                          <p:attrName>fill.type</p:attrName>
                                        </p:attrNameLst>
                                      </p:cBhvr>
                                      <p:to>
                                        <p:strVal val="solid"/>
                                      </p:to>
                                    </p:set>
                                    <p:set>
                                      <p:cBhvr>
                                        <p:cTn id="44" dur="500" fill="hold"/>
                                        <p:tgtEl>
                                          <p:spTgt spid="165"/>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168"/>
                                        </p:tgtEl>
                                        <p:attrNameLst>
                                          <p:attrName>style.visibility</p:attrName>
                                        </p:attrNameLst>
                                      </p:cBhvr>
                                      <p:to>
                                        <p:strVal val="visible"/>
                                      </p:to>
                                    </p:set>
                                    <p:animEffect transition="in" filter="wipe(right)">
                                      <p:cBhvr>
                                        <p:cTn id="49" dur="1000"/>
                                        <p:tgtEl>
                                          <p:spTgt spid="16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mph" presetSubtype="2" fill="hold" nodeType="clickEffect">
                                  <p:stCondLst>
                                    <p:cond delay="0"/>
                                  </p:stCondLst>
                                  <p:childTnLst>
                                    <p:animClr clrSpc="rgb" dir="cw">
                                      <p:cBhvr>
                                        <p:cTn id="53" dur="500" fill="hold"/>
                                        <p:tgtEl>
                                          <p:spTgt spid="166"/>
                                        </p:tgtEl>
                                        <p:attrNameLst>
                                          <p:attrName>fillcolor</p:attrName>
                                        </p:attrNameLst>
                                      </p:cBhvr>
                                      <p:to>
                                        <a:srgbClr val="CC0000"/>
                                      </p:to>
                                    </p:animClr>
                                    <p:set>
                                      <p:cBhvr>
                                        <p:cTn id="54" dur="500" fill="hold"/>
                                        <p:tgtEl>
                                          <p:spTgt spid="166"/>
                                        </p:tgtEl>
                                        <p:attrNameLst>
                                          <p:attrName>fill.type</p:attrName>
                                        </p:attrNameLst>
                                      </p:cBhvr>
                                      <p:to>
                                        <p:strVal val="solid"/>
                                      </p:to>
                                    </p:set>
                                    <p:set>
                                      <p:cBhvr>
                                        <p:cTn id="55" dur="500" fill="hold"/>
                                        <p:tgtEl>
                                          <p:spTgt spid="166"/>
                                        </p:tgtEl>
                                        <p:attrNameLst>
                                          <p:attrName>fill.on</p:attrName>
                                        </p:attrNameLst>
                                      </p:cBhvr>
                                      <p:to>
                                        <p:strVal val="tru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grpId="0" nodeType="clickEffect">
                                  <p:stCondLst>
                                    <p:cond delay="0"/>
                                  </p:stCondLst>
                                  <p:childTnLst>
                                    <p:set>
                                      <p:cBhvr>
                                        <p:cTn id="59" dur="1" fill="hold">
                                          <p:stCondLst>
                                            <p:cond delay="0"/>
                                          </p:stCondLst>
                                        </p:cTn>
                                        <p:tgtEl>
                                          <p:spTgt spid="169"/>
                                        </p:tgtEl>
                                        <p:attrNameLst>
                                          <p:attrName>style.visibility</p:attrName>
                                        </p:attrNameLst>
                                      </p:cBhvr>
                                      <p:to>
                                        <p:strVal val="visible"/>
                                      </p:to>
                                    </p:set>
                                    <p:animEffect transition="in" filter="wipe(right)">
                                      <p:cBhvr>
                                        <p:cTn id="60" dur="1000"/>
                                        <p:tgtEl>
                                          <p:spTgt spid="169"/>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mph" presetSubtype="2" fill="hold" nodeType="clickEffect">
                                  <p:stCondLst>
                                    <p:cond delay="0"/>
                                  </p:stCondLst>
                                  <p:childTnLst>
                                    <p:animClr clrSpc="rgb" dir="cw">
                                      <p:cBhvr>
                                        <p:cTn id="64" dur="500" fill="hold"/>
                                        <p:tgtEl>
                                          <p:spTgt spid="167"/>
                                        </p:tgtEl>
                                        <p:attrNameLst>
                                          <p:attrName>fillcolor</p:attrName>
                                        </p:attrNameLst>
                                      </p:cBhvr>
                                      <p:to>
                                        <a:srgbClr val="CC0000"/>
                                      </p:to>
                                    </p:animClr>
                                    <p:set>
                                      <p:cBhvr>
                                        <p:cTn id="65" dur="500" fill="hold"/>
                                        <p:tgtEl>
                                          <p:spTgt spid="167"/>
                                        </p:tgtEl>
                                        <p:attrNameLst>
                                          <p:attrName>fill.type</p:attrName>
                                        </p:attrNameLst>
                                      </p:cBhvr>
                                      <p:to>
                                        <p:strVal val="solid"/>
                                      </p:to>
                                    </p:set>
                                    <p:set>
                                      <p:cBhvr>
                                        <p:cTn id="66" dur="500" fill="hold"/>
                                        <p:tgtEl>
                                          <p:spTgt spid="167"/>
                                        </p:tgtEl>
                                        <p:attrNameLst>
                                          <p:attrName>fill.on</p:attrName>
                                        </p:attrNameLst>
                                      </p:cBhvr>
                                      <p:to>
                                        <p:strVal val="true"/>
                                      </p:to>
                                    </p:set>
                                  </p:childTnLst>
                                </p:cTn>
                              </p:par>
                            </p:childTnLst>
                          </p:cTn>
                        </p:par>
                      </p:childTnLst>
                    </p:cTn>
                  </p:par>
                  <p:par>
                    <p:cTn id="67" fill="hold">
                      <p:stCondLst>
                        <p:cond delay="indefinite"/>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168"/>
                                        </p:tgtEl>
                                        <p:attrNameLst>
                                          <p:attrName>fillcolor</p:attrName>
                                        </p:attrNameLst>
                                      </p:cBhvr>
                                      <p:to>
                                        <a:srgbClr val="CC0000"/>
                                      </p:to>
                                    </p:animClr>
                                    <p:set>
                                      <p:cBhvr>
                                        <p:cTn id="71" dur="500" fill="hold"/>
                                        <p:tgtEl>
                                          <p:spTgt spid="168"/>
                                        </p:tgtEl>
                                        <p:attrNameLst>
                                          <p:attrName>fill.type</p:attrName>
                                        </p:attrNameLst>
                                      </p:cBhvr>
                                      <p:to>
                                        <p:strVal val="solid"/>
                                      </p:to>
                                    </p:set>
                                    <p:set>
                                      <p:cBhvr>
                                        <p:cTn id="72" dur="500" fill="hold"/>
                                        <p:tgtEl>
                                          <p:spTgt spid="168"/>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mph" presetSubtype="2" fill="hold" nodeType="clickEffect">
                                  <p:stCondLst>
                                    <p:cond delay="0"/>
                                  </p:stCondLst>
                                  <p:childTnLst>
                                    <p:animClr clrSpc="rgb" dir="cw">
                                      <p:cBhvr>
                                        <p:cTn id="76" dur="500" fill="hold"/>
                                        <p:tgtEl>
                                          <p:spTgt spid="169"/>
                                        </p:tgtEl>
                                        <p:attrNameLst>
                                          <p:attrName>fillcolor</p:attrName>
                                        </p:attrNameLst>
                                      </p:cBhvr>
                                      <p:to>
                                        <a:srgbClr val="CC0000"/>
                                      </p:to>
                                    </p:animClr>
                                    <p:set>
                                      <p:cBhvr>
                                        <p:cTn id="77" dur="500" fill="hold"/>
                                        <p:tgtEl>
                                          <p:spTgt spid="169"/>
                                        </p:tgtEl>
                                        <p:attrNameLst>
                                          <p:attrName>fill.type</p:attrName>
                                        </p:attrNameLst>
                                      </p:cBhvr>
                                      <p:to>
                                        <p:strVal val="solid"/>
                                      </p:to>
                                    </p:set>
                                    <p:set>
                                      <p:cBhvr>
                                        <p:cTn id="78" dur="500" fill="hold"/>
                                        <p:tgtEl>
                                          <p:spTgt spid="169"/>
                                        </p:tgtEl>
                                        <p:attrNameLst>
                                          <p:attrName>fill.on</p:attrName>
                                        </p:attrNameLst>
                                      </p:cBhvr>
                                      <p:to>
                                        <p:strVal val="tru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2" fill="hold" grpId="0" nodeType="clickEffect">
                                  <p:stCondLst>
                                    <p:cond delay="0"/>
                                  </p:stCondLst>
                                  <p:childTnLst>
                                    <p:set>
                                      <p:cBhvr>
                                        <p:cTn id="82" dur="1" fill="hold">
                                          <p:stCondLst>
                                            <p:cond delay="0"/>
                                          </p:stCondLst>
                                        </p:cTn>
                                        <p:tgtEl>
                                          <p:spTgt spid="170"/>
                                        </p:tgtEl>
                                        <p:attrNameLst>
                                          <p:attrName>style.visibility</p:attrName>
                                        </p:attrNameLst>
                                      </p:cBhvr>
                                      <p:to>
                                        <p:strVal val="visible"/>
                                      </p:to>
                                    </p:set>
                                    <p:animEffect transition="in" filter="wipe(right)">
                                      <p:cBhvr>
                                        <p:cTn id="83" dur="1000"/>
                                        <p:tgtEl>
                                          <p:spTgt spid="170"/>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2" fill="hold" grpId="0" nodeType="clickEffect">
                                  <p:stCondLst>
                                    <p:cond delay="0"/>
                                  </p:stCondLst>
                                  <p:childTnLst>
                                    <p:set>
                                      <p:cBhvr>
                                        <p:cTn id="87" dur="1" fill="hold">
                                          <p:stCondLst>
                                            <p:cond delay="0"/>
                                          </p:stCondLst>
                                        </p:cTn>
                                        <p:tgtEl>
                                          <p:spTgt spid="171"/>
                                        </p:tgtEl>
                                        <p:attrNameLst>
                                          <p:attrName>style.visibility</p:attrName>
                                        </p:attrNameLst>
                                      </p:cBhvr>
                                      <p:to>
                                        <p:strVal val="visible"/>
                                      </p:to>
                                    </p:set>
                                    <p:animEffect transition="in" filter="wipe(right)">
                                      <p:cBhvr>
                                        <p:cTn id="88" dur="1000"/>
                                        <p:tgtEl>
                                          <p:spTgt spid="171"/>
                                        </p:tgtEl>
                                      </p:cBhvr>
                                    </p:animEffect>
                                  </p:childTnLst>
                                </p:cTn>
                              </p:par>
                            </p:childTnLst>
                          </p:cTn>
                        </p:par>
                        <p:par>
                          <p:cTn id="89" fill="hold">
                            <p:stCondLst>
                              <p:cond delay="1000"/>
                            </p:stCondLst>
                            <p:childTnLst>
                              <p:par>
                                <p:cTn id="90" presetID="22" presetClass="entr" presetSubtype="2" fill="hold" grpId="0" nodeType="afterEffect">
                                  <p:stCondLst>
                                    <p:cond delay="0"/>
                                  </p:stCondLst>
                                  <p:childTnLst>
                                    <p:set>
                                      <p:cBhvr>
                                        <p:cTn id="91" dur="1" fill="hold">
                                          <p:stCondLst>
                                            <p:cond delay="0"/>
                                          </p:stCondLst>
                                        </p:cTn>
                                        <p:tgtEl>
                                          <p:spTgt spid="172"/>
                                        </p:tgtEl>
                                        <p:attrNameLst>
                                          <p:attrName>style.visibility</p:attrName>
                                        </p:attrNameLst>
                                      </p:cBhvr>
                                      <p:to>
                                        <p:strVal val="visible"/>
                                      </p:to>
                                    </p:set>
                                    <p:animEffect transition="in" filter="wipe(right)">
                                      <p:cBhvr>
                                        <p:cTn id="92" dur="1000"/>
                                        <p:tgtEl>
                                          <p:spTgt spid="172"/>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mph" presetSubtype="2" fill="hold" nodeType="clickEffect">
                                  <p:stCondLst>
                                    <p:cond delay="0"/>
                                  </p:stCondLst>
                                  <p:childTnLst>
                                    <p:animClr clrSpc="rgb" dir="cw">
                                      <p:cBhvr>
                                        <p:cTn id="96" dur="500" fill="hold"/>
                                        <p:tgtEl>
                                          <p:spTgt spid="170"/>
                                        </p:tgtEl>
                                        <p:attrNameLst>
                                          <p:attrName>fillcolor</p:attrName>
                                        </p:attrNameLst>
                                      </p:cBhvr>
                                      <p:to>
                                        <a:srgbClr val="CC0000"/>
                                      </p:to>
                                    </p:animClr>
                                    <p:set>
                                      <p:cBhvr>
                                        <p:cTn id="97" dur="500" fill="hold"/>
                                        <p:tgtEl>
                                          <p:spTgt spid="170"/>
                                        </p:tgtEl>
                                        <p:attrNameLst>
                                          <p:attrName>fill.type</p:attrName>
                                        </p:attrNameLst>
                                      </p:cBhvr>
                                      <p:to>
                                        <p:strVal val="solid"/>
                                      </p:to>
                                    </p:set>
                                    <p:set>
                                      <p:cBhvr>
                                        <p:cTn id="98" dur="500" fill="hold"/>
                                        <p:tgtEl>
                                          <p:spTgt spid="170"/>
                                        </p:tgtEl>
                                        <p:attrNameLst>
                                          <p:attrName>fill.on</p:attrName>
                                        </p:attrNameLst>
                                      </p:cBhvr>
                                      <p:to>
                                        <p:strVal val="tru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2" fill="hold" grpId="0" nodeType="clickEffect">
                                  <p:stCondLst>
                                    <p:cond delay="0"/>
                                  </p:stCondLst>
                                  <p:childTnLst>
                                    <p:set>
                                      <p:cBhvr>
                                        <p:cTn id="102" dur="1" fill="hold">
                                          <p:stCondLst>
                                            <p:cond delay="0"/>
                                          </p:stCondLst>
                                        </p:cTn>
                                        <p:tgtEl>
                                          <p:spTgt spid="173"/>
                                        </p:tgtEl>
                                        <p:attrNameLst>
                                          <p:attrName>style.visibility</p:attrName>
                                        </p:attrNameLst>
                                      </p:cBhvr>
                                      <p:to>
                                        <p:strVal val="visible"/>
                                      </p:to>
                                    </p:set>
                                    <p:animEffect transition="in" filter="wipe(right)">
                                      <p:cBhvr>
                                        <p:cTn id="103" dur="1000"/>
                                        <p:tgtEl>
                                          <p:spTgt spid="173"/>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mph" presetSubtype="2" fill="hold" nodeType="clickEffect">
                                  <p:stCondLst>
                                    <p:cond delay="0"/>
                                  </p:stCondLst>
                                  <p:childTnLst>
                                    <p:animClr clrSpc="rgb" dir="cw">
                                      <p:cBhvr>
                                        <p:cTn id="107" dur="500" fill="hold"/>
                                        <p:tgtEl>
                                          <p:spTgt spid="171"/>
                                        </p:tgtEl>
                                        <p:attrNameLst>
                                          <p:attrName>fillcolor</p:attrName>
                                        </p:attrNameLst>
                                      </p:cBhvr>
                                      <p:to>
                                        <a:srgbClr val="CC0000"/>
                                      </p:to>
                                    </p:animClr>
                                    <p:set>
                                      <p:cBhvr>
                                        <p:cTn id="108" dur="500" fill="hold"/>
                                        <p:tgtEl>
                                          <p:spTgt spid="171"/>
                                        </p:tgtEl>
                                        <p:attrNameLst>
                                          <p:attrName>fill.type</p:attrName>
                                        </p:attrNameLst>
                                      </p:cBhvr>
                                      <p:to>
                                        <p:strVal val="solid"/>
                                      </p:to>
                                    </p:set>
                                    <p:set>
                                      <p:cBhvr>
                                        <p:cTn id="109" dur="500" fill="hold"/>
                                        <p:tgtEl>
                                          <p:spTgt spid="171"/>
                                        </p:tgtEl>
                                        <p:attrNameLst>
                                          <p:attrName>fill.on</p:attrName>
                                        </p:attrNameLst>
                                      </p:cBhvr>
                                      <p:to>
                                        <p:strVal val="true"/>
                                      </p:to>
                                    </p:set>
                                  </p:childTnLst>
                                </p:cTn>
                              </p:par>
                            </p:childTnLst>
                          </p:cTn>
                        </p:par>
                      </p:childTnLst>
                    </p:cTn>
                  </p:par>
                  <p:par>
                    <p:cTn id="110" fill="hold">
                      <p:stCondLst>
                        <p:cond delay="indefinite"/>
                      </p:stCondLst>
                      <p:childTnLst>
                        <p:par>
                          <p:cTn id="111" fill="hold">
                            <p:stCondLst>
                              <p:cond delay="0"/>
                            </p:stCondLst>
                            <p:childTnLst>
                              <p:par>
                                <p:cTn id="112" presetID="22" presetClass="entr" presetSubtype="2" fill="hold" grpId="0" nodeType="clickEffect">
                                  <p:stCondLst>
                                    <p:cond delay="0"/>
                                  </p:stCondLst>
                                  <p:childTnLst>
                                    <p:set>
                                      <p:cBhvr>
                                        <p:cTn id="113" dur="1" fill="hold">
                                          <p:stCondLst>
                                            <p:cond delay="0"/>
                                          </p:stCondLst>
                                        </p:cTn>
                                        <p:tgtEl>
                                          <p:spTgt spid="174"/>
                                        </p:tgtEl>
                                        <p:attrNameLst>
                                          <p:attrName>style.visibility</p:attrName>
                                        </p:attrNameLst>
                                      </p:cBhvr>
                                      <p:to>
                                        <p:strVal val="visible"/>
                                      </p:to>
                                    </p:set>
                                    <p:animEffect transition="in" filter="wipe(right)">
                                      <p:cBhvr>
                                        <p:cTn id="114" dur="1000"/>
                                        <p:tgtEl>
                                          <p:spTgt spid="174"/>
                                        </p:tgtEl>
                                      </p:cBhvr>
                                    </p:animEffect>
                                  </p:childTnLst>
                                </p:cTn>
                              </p:par>
                            </p:childTnLst>
                          </p:cTn>
                        </p:par>
                      </p:childTnLst>
                    </p:cTn>
                  </p:par>
                  <p:par>
                    <p:cTn id="115" fill="hold">
                      <p:stCondLst>
                        <p:cond delay="indefinite"/>
                      </p:stCondLst>
                      <p:childTnLst>
                        <p:par>
                          <p:cTn id="116" fill="hold">
                            <p:stCondLst>
                              <p:cond delay="0"/>
                            </p:stCondLst>
                            <p:childTnLst>
                              <p:par>
                                <p:cTn id="117" presetID="1" presetClass="emph" presetSubtype="2" fill="hold" nodeType="clickEffect">
                                  <p:stCondLst>
                                    <p:cond delay="0"/>
                                  </p:stCondLst>
                                  <p:childTnLst>
                                    <p:animClr clrSpc="rgb" dir="cw">
                                      <p:cBhvr>
                                        <p:cTn id="118" dur="500" fill="hold"/>
                                        <p:tgtEl>
                                          <p:spTgt spid="173"/>
                                        </p:tgtEl>
                                        <p:attrNameLst>
                                          <p:attrName>fillcolor</p:attrName>
                                        </p:attrNameLst>
                                      </p:cBhvr>
                                      <p:to>
                                        <a:srgbClr val="CC0000"/>
                                      </p:to>
                                    </p:animClr>
                                    <p:set>
                                      <p:cBhvr>
                                        <p:cTn id="119" dur="500" fill="hold"/>
                                        <p:tgtEl>
                                          <p:spTgt spid="173"/>
                                        </p:tgtEl>
                                        <p:attrNameLst>
                                          <p:attrName>fill.type</p:attrName>
                                        </p:attrNameLst>
                                      </p:cBhvr>
                                      <p:to>
                                        <p:strVal val="solid"/>
                                      </p:to>
                                    </p:set>
                                    <p:set>
                                      <p:cBhvr>
                                        <p:cTn id="120" dur="500" fill="hold"/>
                                        <p:tgtEl>
                                          <p:spTgt spid="173"/>
                                        </p:tgtEl>
                                        <p:attrNameLst>
                                          <p:attrName>fill.on</p:attrName>
                                        </p:attrNameLst>
                                      </p:cBhvr>
                                      <p:to>
                                        <p:strVal val="true"/>
                                      </p:to>
                                    </p:set>
                                  </p:childTnLst>
                                </p:cTn>
                              </p:par>
                            </p:childTnLst>
                          </p:cTn>
                        </p:par>
                      </p:childTnLst>
                    </p:cTn>
                  </p:par>
                  <p:par>
                    <p:cTn id="121" fill="hold">
                      <p:stCondLst>
                        <p:cond delay="indefinite"/>
                      </p:stCondLst>
                      <p:childTnLst>
                        <p:par>
                          <p:cTn id="122" fill="hold">
                            <p:stCondLst>
                              <p:cond delay="0"/>
                            </p:stCondLst>
                            <p:childTnLst>
                              <p:par>
                                <p:cTn id="123" presetID="1" presetClass="emph" presetSubtype="2" fill="hold" nodeType="clickEffect">
                                  <p:stCondLst>
                                    <p:cond delay="0"/>
                                  </p:stCondLst>
                                  <p:childTnLst>
                                    <p:animClr clrSpc="rgb" dir="cw">
                                      <p:cBhvr>
                                        <p:cTn id="124" dur="500" fill="hold"/>
                                        <p:tgtEl>
                                          <p:spTgt spid="174"/>
                                        </p:tgtEl>
                                        <p:attrNameLst>
                                          <p:attrName>fillcolor</p:attrName>
                                        </p:attrNameLst>
                                      </p:cBhvr>
                                      <p:to>
                                        <a:srgbClr val="CC0000"/>
                                      </p:to>
                                    </p:animClr>
                                    <p:set>
                                      <p:cBhvr>
                                        <p:cTn id="125" dur="500" fill="hold"/>
                                        <p:tgtEl>
                                          <p:spTgt spid="174"/>
                                        </p:tgtEl>
                                        <p:attrNameLst>
                                          <p:attrName>fill.type</p:attrName>
                                        </p:attrNameLst>
                                      </p:cBhvr>
                                      <p:to>
                                        <p:strVal val="solid"/>
                                      </p:to>
                                    </p:set>
                                    <p:set>
                                      <p:cBhvr>
                                        <p:cTn id="126" dur="500" fill="hold"/>
                                        <p:tgtEl>
                                          <p:spTgt spid="174"/>
                                        </p:tgtEl>
                                        <p:attrNameLst>
                                          <p:attrName>fill.on</p:attrName>
                                        </p:attrNameLst>
                                      </p:cBhvr>
                                      <p:to>
                                        <p:strVal val="true"/>
                                      </p:to>
                                    </p:set>
                                  </p:childTnLst>
                                </p:cTn>
                              </p:par>
                            </p:childTnLst>
                          </p:cTn>
                        </p:par>
                      </p:childTnLst>
                    </p:cTn>
                  </p:par>
                  <p:par>
                    <p:cTn id="127" fill="hold">
                      <p:stCondLst>
                        <p:cond delay="indefinite"/>
                      </p:stCondLst>
                      <p:childTnLst>
                        <p:par>
                          <p:cTn id="128" fill="hold">
                            <p:stCondLst>
                              <p:cond delay="0"/>
                            </p:stCondLst>
                            <p:childTnLst>
                              <p:par>
                                <p:cTn id="129" presetID="22" presetClass="entr" presetSubtype="2" fill="hold" grpId="0" nodeType="clickEffect">
                                  <p:stCondLst>
                                    <p:cond delay="0"/>
                                  </p:stCondLst>
                                  <p:childTnLst>
                                    <p:set>
                                      <p:cBhvr>
                                        <p:cTn id="130" dur="1" fill="hold">
                                          <p:stCondLst>
                                            <p:cond delay="0"/>
                                          </p:stCondLst>
                                        </p:cTn>
                                        <p:tgtEl>
                                          <p:spTgt spid="175"/>
                                        </p:tgtEl>
                                        <p:attrNameLst>
                                          <p:attrName>style.visibility</p:attrName>
                                        </p:attrNameLst>
                                      </p:cBhvr>
                                      <p:to>
                                        <p:strVal val="visible"/>
                                      </p:to>
                                    </p:set>
                                    <p:animEffect transition="in" filter="wipe(right)">
                                      <p:cBhvr>
                                        <p:cTn id="131" dur="1000"/>
                                        <p:tgtEl>
                                          <p:spTgt spid="175"/>
                                        </p:tgtEl>
                                      </p:cBhvr>
                                    </p:animEffect>
                                  </p:childTnLst>
                                </p:cTn>
                              </p:par>
                            </p:childTnLst>
                          </p:cTn>
                        </p:par>
                      </p:childTnLst>
                    </p:cTn>
                  </p:par>
                  <p:par>
                    <p:cTn id="132" fill="hold">
                      <p:stCondLst>
                        <p:cond delay="indefinite"/>
                      </p:stCondLst>
                      <p:childTnLst>
                        <p:par>
                          <p:cTn id="133" fill="hold">
                            <p:stCondLst>
                              <p:cond delay="0"/>
                            </p:stCondLst>
                            <p:childTnLst>
                              <p:par>
                                <p:cTn id="134" presetID="1" presetClass="emph" presetSubtype="2" fill="hold" nodeType="clickEffect">
                                  <p:stCondLst>
                                    <p:cond delay="0"/>
                                  </p:stCondLst>
                                  <p:childTnLst>
                                    <p:animClr clrSpc="rgb" dir="cw">
                                      <p:cBhvr>
                                        <p:cTn id="135" dur="500" fill="hold"/>
                                        <p:tgtEl>
                                          <p:spTgt spid="172"/>
                                        </p:tgtEl>
                                        <p:attrNameLst>
                                          <p:attrName>fillcolor</p:attrName>
                                        </p:attrNameLst>
                                      </p:cBhvr>
                                      <p:to>
                                        <a:srgbClr val="CC0000"/>
                                      </p:to>
                                    </p:animClr>
                                    <p:set>
                                      <p:cBhvr>
                                        <p:cTn id="136" dur="500" fill="hold"/>
                                        <p:tgtEl>
                                          <p:spTgt spid="172"/>
                                        </p:tgtEl>
                                        <p:attrNameLst>
                                          <p:attrName>fill.type</p:attrName>
                                        </p:attrNameLst>
                                      </p:cBhvr>
                                      <p:to>
                                        <p:strVal val="solid"/>
                                      </p:to>
                                    </p:set>
                                    <p:set>
                                      <p:cBhvr>
                                        <p:cTn id="137" dur="500" fill="hold"/>
                                        <p:tgtEl>
                                          <p:spTgt spid="172"/>
                                        </p:tgtEl>
                                        <p:attrNameLst>
                                          <p:attrName>fill.on</p:attrName>
                                        </p:attrNameLst>
                                      </p:cBhvr>
                                      <p:to>
                                        <p:strVal val="true"/>
                                      </p:to>
                                    </p:set>
                                  </p:childTnLst>
                                </p:cTn>
                              </p:par>
                            </p:childTnLst>
                          </p:cTn>
                        </p:par>
                      </p:childTnLst>
                    </p:cTn>
                  </p:par>
                  <p:par>
                    <p:cTn id="138" fill="hold">
                      <p:stCondLst>
                        <p:cond delay="indefinite"/>
                      </p:stCondLst>
                      <p:childTnLst>
                        <p:par>
                          <p:cTn id="139" fill="hold">
                            <p:stCondLst>
                              <p:cond delay="0"/>
                            </p:stCondLst>
                            <p:childTnLst>
                              <p:par>
                                <p:cTn id="140" presetID="22" presetClass="entr" presetSubtype="2" fill="hold" grpId="0" nodeType="clickEffect">
                                  <p:stCondLst>
                                    <p:cond delay="0"/>
                                  </p:stCondLst>
                                  <p:childTnLst>
                                    <p:set>
                                      <p:cBhvr>
                                        <p:cTn id="141" dur="1" fill="hold">
                                          <p:stCondLst>
                                            <p:cond delay="0"/>
                                          </p:stCondLst>
                                        </p:cTn>
                                        <p:tgtEl>
                                          <p:spTgt spid="176"/>
                                        </p:tgtEl>
                                        <p:attrNameLst>
                                          <p:attrName>style.visibility</p:attrName>
                                        </p:attrNameLst>
                                      </p:cBhvr>
                                      <p:to>
                                        <p:strVal val="visible"/>
                                      </p:to>
                                    </p:set>
                                    <p:animEffect transition="in" filter="wipe(right)">
                                      <p:cBhvr>
                                        <p:cTn id="142" dur="1000"/>
                                        <p:tgtEl>
                                          <p:spTgt spid="176"/>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mph" presetSubtype="2" fill="hold" nodeType="clickEffect">
                                  <p:stCondLst>
                                    <p:cond delay="0"/>
                                  </p:stCondLst>
                                  <p:childTnLst>
                                    <p:animClr clrSpc="rgb" dir="cw">
                                      <p:cBhvr>
                                        <p:cTn id="146" dur="500" fill="hold"/>
                                        <p:tgtEl>
                                          <p:spTgt spid="175"/>
                                        </p:tgtEl>
                                        <p:attrNameLst>
                                          <p:attrName>fillcolor</p:attrName>
                                        </p:attrNameLst>
                                      </p:cBhvr>
                                      <p:to>
                                        <a:srgbClr val="CC0000"/>
                                      </p:to>
                                    </p:animClr>
                                    <p:set>
                                      <p:cBhvr>
                                        <p:cTn id="147" dur="500" fill="hold"/>
                                        <p:tgtEl>
                                          <p:spTgt spid="175"/>
                                        </p:tgtEl>
                                        <p:attrNameLst>
                                          <p:attrName>fill.type</p:attrName>
                                        </p:attrNameLst>
                                      </p:cBhvr>
                                      <p:to>
                                        <p:strVal val="solid"/>
                                      </p:to>
                                    </p:set>
                                    <p:set>
                                      <p:cBhvr>
                                        <p:cTn id="148" dur="500" fill="hold"/>
                                        <p:tgtEl>
                                          <p:spTgt spid="175"/>
                                        </p:tgtEl>
                                        <p:attrNameLst>
                                          <p:attrName>fill.on</p:attrName>
                                        </p:attrNameLst>
                                      </p:cBhvr>
                                      <p:to>
                                        <p:strVal val="true"/>
                                      </p:to>
                                    </p:set>
                                  </p:childTnLst>
                                </p:cTn>
                              </p:par>
                            </p:childTnLst>
                          </p:cTn>
                        </p:par>
                      </p:childTnLst>
                    </p:cTn>
                  </p:par>
                  <p:par>
                    <p:cTn id="149" fill="hold">
                      <p:stCondLst>
                        <p:cond delay="indefinite"/>
                      </p:stCondLst>
                      <p:childTnLst>
                        <p:par>
                          <p:cTn id="150" fill="hold">
                            <p:stCondLst>
                              <p:cond delay="0"/>
                            </p:stCondLst>
                            <p:childTnLst>
                              <p:par>
                                <p:cTn id="151" presetID="1" presetClass="emph" presetSubtype="2" fill="hold" nodeType="clickEffect">
                                  <p:stCondLst>
                                    <p:cond delay="0"/>
                                  </p:stCondLst>
                                  <p:childTnLst>
                                    <p:animClr clrSpc="rgb" dir="cw">
                                      <p:cBhvr>
                                        <p:cTn id="152" dur="500" fill="hold"/>
                                        <p:tgtEl>
                                          <p:spTgt spid="176"/>
                                        </p:tgtEl>
                                        <p:attrNameLst>
                                          <p:attrName>fillcolor</p:attrName>
                                        </p:attrNameLst>
                                      </p:cBhvr>
                                      <p:to>
                                        <a:srgbClr val="CC0000"/>
                                      </p:to>
                                    </p:animClr>
                                    <p:set>
                                      <p:cBhvr>
                                        <p:cTn id="153" dur="500" fill="hold"/>
                                        <p:tgtEl>
                                          <p:spTgt spid="176"/>
                                        </p:tgtEl>
                                        <p:attrNameLst>
                                          <p:attrName>fill.type</p:attrName>
                                        </p:attrNameLst>
                                      </p:cBhvr>
                                      <p:to>
                                        <p:strVal val="solid"/>
                                      </p:to>
                                    </p:set>
                                    <p:set>
                                      <p:cBhvr>
                                        <p:cTn id="154" dur="500" fill="hold"/>
                                        <p:tgtEl>
                                          <p:spTgt spid="17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2"/>
          <p:cNvSpPr>
            <a:spLocks noChangeArrowheads="1"/>
          </p:cNvSpPr>
          <p:nvPr/>
        </p:nvSpPr>
        <p:spPr bwMode="auto">
          <a:xfrm>
            <a:off x="292100" y="376238"/>
            <a:ext cx="6750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上界</a:t>
            </a:r>
            <a:r>
              <a:rPr lang="en-US" altLang="zh-CN" sz="3200">
                <a:solidFill>
                  <a:schemeClr val="bg1"/>
                </a:solidFill>
                <a:latin typeface="楷体" panose="02010609060101010101" pitchFamily="49" charset="-122"/>
                <a:ea typeface="楷体" panose="02010609060101010101" pitchFamily="49" charset="-122"/>
              </a:rPr>
              <a:t>&amp;</a:t>
            </a:r>
            <a:r>
              <a:rPr lang="zh-CN" altLang="en-US" sz="3200">
                <a:solidFill>
                  <a:schemeClr val="bg1"/>
                </a:solidFill>
                <a:latin typeface="楷体" panose="02010609060101010101" pitchFamily="49" charset="-122"/>
                <a:ea typeface="楷体" panose="02010609060101010101" pitchFamily="49" charset="-122"/>
              </a:rPr>
              <a:t>下界</a:t>
            </a:r>
            <a:endParaRPr lang="zh-CN" altLang="en-US" sz="3200">
              <a:solidFill>
                <a:schemeClr val="bg1"/>
              </a:solidFill>
              <a:latin typeface="楷体" panose="02010609060101010101" pitchFamily="49" charset="-122"/>
              <a:ea typeface="楷体" panose="02010609060101010101" pitchFamily="49" charset="-122"/>
            </a:endParaRPr>
          </a:p>
        </p:txBody>
      </p:sp>
      <p:sp>
        <p:nvSpPr>
          <p:cNvPr id="4" name="矩形 3"/>
          <p:cNvSpPr/>
          <p:nvPr/>
        </p:nvSpPr>
        <p:spPr>
          <a:xfrm>
            <a:off x="506413" y="1276350"/>
            <a:ext cx="8277225" cy="424815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just" defTabSz="914400" eaLnBrk="1" fontAlgn="auto" hangingPunct="1">
              <a:lnSpc>
                <a:spcPct val="150000"/>
              </a:lnSpc>
              <a:spcBef>
                <a:spcPts val="0"/>
              </a:spcBef>
              <a:spcAft>
                <a:spcPts val="0"/>
              </a:spcAft>
              <a:defRPr/>
            </a:pPr>
            <a:r>
              <a:rPr lang="zh-CN" altLang="en-US" sz="3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结点</a:t>
            </a:r>
            <a:r>
              <a:rPr lang="en-US" altLang="zh-CN" sz="3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36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上界</a:t>
            </a:r>
            <a:r>
              <a:rPr lang="en-US" altLang="zh-CN" sz="36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(UB(v))</a:t>
            </a:r>
            <a:r>
              <a:rPr lang="zh-CN" altLang="en-US"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：从</a:t>
            </a:r>
            <a:r>
              <a:rPr lang="en-US" altLang="zh-CN"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出发得到的所有</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叶子结点的</a:t>
            </a:r>
            <a:r>
              <a:rPr lang="zh-CN" altLang="en-US"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效益值均</a:t>
            </a:r>
            <a:r>
              <a:rPr lang="zh-CN" altLang="en-US" sz="36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不大于</a:t>
            </a:r>
            <a:r>
              <a:rPr lang="en-US" altLang="zh-CN"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UB(v)</a:t>
            </a:r>
            <a:r>
              <a:rPr lang="zh-CN" altLang="en-US"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，则</a:t>
            </a:r>
            <a:r>
              <a:rPr lang="en-US" altLang="zh-CN"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UB(v)</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为结点</a:t>
            </a:r>
            <a:r>
              <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的上界；</a:t>
            </a:r>
            <a:endParaRPr lang="en-US" altLang="zh-CN"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defTabSz="914400" eaLnBrk="1" fontAlgn="auto" hangingPunct="1">
              <a:lnSpc>
                <a:spcPct val="150000"/>
              </a:lnSpc>
              <a:spcBef>
                <a:spcPts val="0"/>
              </a:spcBef>
              <a:spcAft>
                <a:spcPts val="0"/>
              </a:spcAft>
              <a:defRPr/>
            </a:pPr>
            <a:r>
              <a:rPr lang="zh-CN" altLang="en-US"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如果所有</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叶子结点的</a:t>
            </a:r>
            <a:r>
              <a:rPr lang="zh-CN" altLang="en-US"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最大效益值</a:t>
            </a:r>
            <a:r>
              <a:rPr lang="zh-CN" altLang="en-US" sz="36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等于</a:t>
            </a:r>
            <a:r>
              <a:rPr lang="en-US" altLang="zh-CN"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UB(v)</a:t>
            </a:r>
            <a:r>
              <a:rPr lang="zh-CN" altLang="en-US"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，则</a:t>
            </a:r>
            <a:r>
              <a:rPr lang="en-US" altLang="zh-CN"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UB(v)</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为结点</a:t>
            </a:r>
            <a:r>
              <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36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上确界</a:t>
            </a:r>
            <a:r>
              <a:rPr lang="zh-CN" altLang="en-US"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600" b="1" kern="0" dirty="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Text Box 4"/>
          <p:cNvSpPr txBox="1">
            <a:spLocks noChangeArrowheads="1"/>
          </p:cNvSpPr>
          <p:nvPr/>
        </p:nvSpPr>
        <p:spPr bwMode="auto">
          <a:xfrm>
            <a:off x="508000" y="5767388"/>
            <a:ext cx="8283575" cy="898525"/>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上界越大越好，还是越小越好？</a:t>
            </a:r>
            <a:endParaRPr lang="zh-CN" altLang="en-US" sz="4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2"/>
          <p:cNvSpPr>
            <a:spLocks noChangeArrowheads="1"/>
          </p:cNvSpPr>
          <p:nvPr/>
        </p:nvSpPr>
        <p:spPr bwMode="auto">
          <a:xfrm>
            <a:off x="292100" y="376238"/>
            <a:ext cx="6750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上界</a:t>
            </a:r>
            <a:r>
              <a:rPr lang="en-US" altLang="zh-CN" sz="3200">
                <a:solidFill>
                  <a:schemeClr val="bg1"/>
                </a:solidFill>
                <a:latin typeface="楷体" panose="02010609060101010101" pitchFamily="49" charset="-122"/>
                <a:ea typeface="楷体" panose="02010609060101010101" pitchFamily="49" charset="-122"/>
              </a:rPr>
              <a:t>&amp;</a:t>
            </a:r>
            <a:r>
              <a:rPr lang="zh-CN" altLang="en-US" sz="3200">
                <a:solidFill>
                  <a:schemeClr val="bg1"/>
                </a:solidFill>
                <a:latin typeface="楷体" panose="02010609060101010101" pitchFamily="49" charset="-122"/>
                <a:ea typeface="楷体" panose="02010609060101010101" pitchFamily="49" charset="-122"/>
              </a:rPr>
              <a:t>下界</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393700" y="1379538"/>
            <a:ext cx="8348663" cy="4262437"/>
          </a:xfrm>
        </p:spPr>
        <p:style>
          <a:lnRef idx="2">
            <a:schemeClr val="dk1"/>
          </a:lnRef>
          <a:fillRef idx="1">
            <a:schemeClr val="lt1"/>
          </a:fillRef>
          <a:effectRef idx="0">
            <a:schemeClr val="dk1"/>
          </a:effectRef>
          <a:fontRef idx="minor">
            <a:schemeClr val="dk1"/>
          </a:fontRef>
        </p:style>
        <p:txBody>
          <a:bodyPr/>
          <a:lstStyle/>
          <a:p>
            <a:pPr marL="0" indent="0" algn="just" defTabSz="914400" eaLnBrk="1" fontAlgn="auto" hangingPunct="1">
              <a:lnSpc>
                <a:spcPct val="150000"/>
              </a:lnSpc>
              <a:spcBef>
                <a:spcPts val="0"/>
              </a:spcBef>
              <a:spcAft>
                <a:spcPts val="0"/>
              </a:spcAft>
              <a:buClrTx/>
              <a:buSzTx/>
              <a:buFont typeface="Wingdings" panose="05000000000000000000" pitchFamily="2" charset="2"/>
              <a:buNone/>
              <a:defRPr/>
            </a:pPr>
            <a:r>
              <a:rPr lang="zh-CN" altLang="en-US" sz="3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结点</a:t>
            </a:r>
            <a:r>
              <a:rPr lang="en-US" altLang="zh-CN" sz="3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3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下界</a:t>
            </a:r>
            <a:r>
              <a:rPr lang="en-US" altLang="zh-CN" sz="3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(LB(v))</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：从</a:t>
            </a:r>
            <a:r>
              <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出发得到的所有叶子结点的效益值均</a:t>
            </a:r>
            <a:r>
              <a:rPr lang="zh-CN" altLang="en-US" sz="3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不小于</a:t>
            </a:r>
            <a:r>
              <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LB(v)</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，则</a:t>
            </a:r>
            <a:r>
              <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LB(v)</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为结点</a:t>
            </a:r>
            <a:r>
              <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的下界；</a:t>
            </a:r>
            <a:endPar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gn="just" defTabSz="914400" eaLnBrk="1" fontAlgn="auto" hangingPunct="1">
              <a:lnSpc>
                <a:spcPct val="150000"/>
              </a:lnSpc>
              <a:spcBef>
                <a:spcPts val="0"/>
              </a:spcBef>
              <a:spcAft>
                <a:spcPts val="0"/>
              </a:spcAft>
              <a:buClrTx/>
              <a:buSzTx/>
              <a:buFont typeface="Wingdings" panose="05000000000000000000" pitchFamily="2" charset="2"/>
              <a:buNone/>
              <a:defRPr/>
            </a:pP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如果所有叶子结点的最小效益值</a:t>
            </a:r>
            <a:r>
              <a:rPr lang="zh-CN" altLang="en-US" sz="3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等于</a:t>
            </a:r>
            <a:r>
              <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LB(v)</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，则</a:t>
            </a:r>
            <a:r>
              <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LB(v)</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为结点</a:t>
            </a:r>
            <a:r>
              <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3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下确界</a:t>
            </a:r>
            <a:r>
              <a:rPr lang="zh-CN" altLang="en-US"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defTabSz="914400" eaLnBrk="1" fontAlgn="auto" hangingPunct="1">
              <a:lnSpc>
                <a:spcPct val="100000"/>
              </a:lnSpc>
              <a:spcBef>
                <a:spcPts val="0"/>
              </a:spcBef>
              <a:spcAft>
                <a:spcPts val="0"/>
              </a:spcAft>
              <a:buClrTx/>
              <a:buSzTx/>
              <a:buFontTx/>
              <a:buNone/>
              <a:defRPr/>
            </a:pPr>
            <a:endParaRPr lang="en-US" altLang="zh-CN" sz="3600" kern="0" dirty="0" smtClean="0">
              <a:solidFill>
                <a:sysClr val="windowText" lastClr="000000"/>
              </a:solidFill>
            </a:endParaRPr>
          </a:p>
          <a:p>
            <a:pPr marL="0" indent="0" defTabSz="914400" eaLnBrk="1" fontAlgn="auto" hangingPunct="1">
              <a:lnSpc>
                <a:spcPct val="100000"/>
              </a:lnSpc>
              <a:spcBef>
                <a:spcPts val="0"/>
              </a:spcBef>
              <a:spcAft>
                <a:spcPts val="0"/>
              </a:spcAft>
              <a:buClrTx/>
              <a:buSzTx/>
              <a:buFontTx/>
              <a:buNone/>
              <a:defRPr/>
            </a:pPr>
            <a:endParaRPr lang="zh-CN" altLang="en-US" sz="3600" kern="0" dirty="0" smtClean="0">
              <a:solidFill>
                <a:sysClr val="windowText" lastClr="000000"/>
              </a:solidFill>
            </a:endParaRPr>
          </a:p>
        </p:txBody>
      </p:sp>
      <p:sp>
        <p:nvSpPr>
          <p:cNvPr id="4" name="Text Box 4"/>
          <p:cNvSpPr txBox="1">
            <a:spLocks noChangeArrowheads="1"/>
          </p:cNvSpPr>
          <p:nvPr/>
        </p:nvSpPr>
        <p:spPr bwMode="auto">
          <a:xfrm>
            <a:off x="412750" y="5853113"/>
            <a:ext cx="8283575" cy="898525"/>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下界越大越好，还是越小越好？</a:t>
            </a:r>
            <a:endParaRPr lang="zh-CN" altLang="en-US" sz="4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2"/>
          <p:cNvSpPr>
            <a:spLocks noChangeArrowheads="1"/>
          </p:cNvSpPr>
          <p:nvPr/>
        </p:nvSpPr>
        <p:spPr bwMode="auto">
          <a:xfrm>
            <a:off x="292100" y="376238"/>
            <a:ext cx="66309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极小化</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438150" y="1303338"/>
            <a:ext cx="8407400" cy="4765675"/>
          </a:xfrm>
        </p:spPr>
        <p:style>
          <a:lnRef idx="2">
            <a:schemeClr val="dk1"/>
          </a:lnRef>
          <a:fillRef idx="1">
            <a:schemeClr val="lt1"/>
          </a:fillRef>
          <a:effectRef idx="0">
            <a:schemeClr val="dk1"/>
          </a:effectRef>
          <a:fontRef idx="minor">
            <a:schemeClr val="dk1"/>
          </a:fontRef>
        </p:style>
        <p:txBody>
          <a:bodyPr/>
          <a:lstStyle/>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对于求最小值的优化问题</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，如果</a:t>
            </a:r>
            <a:r>
              <a:rPr lang="en-US" altLang="zh-CN"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LB(v) </a:t>
            </a:r>
            <a:r>
              <a:rPr lang="en-US" altLang="zh-CN"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3200" b="1" kern="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cBest</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，则结点</a:t>
            </a:r>
            <a:r>
              <a:rPr lang="en-US" altLang="zh-CN"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可以加入黑名单，不再对其搜索。</a:t>
            </a:r>
            <a:endPar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endParaRPr>
          </a:p>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UB(v)</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通常可以利用</a:t>
            </a:r>
            <a:r>
              <a:rPr lang="zh-CN" altLang="en-US"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贪心思路或者其它方式</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得到一个解，令其作为</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UB(v)</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，而</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LB(v)</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通常需要经过</a:t>
            </a:r>
            <a:r>
              <a:rPr lang="zh-CN" altLang="en-US"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严格的证明</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endParaRPr>
          </a:p>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endParaRPr lang="en-US" altLang="zh-CN" sz="2800" b="1" kern="0" dirty="0" smtClean="0">
              <a:solidFill>
                <a:sysClr val="windowText" lastClr="000000"/>
              </a:solidFill>
              <a:latin typeface="华文楷体" panose="02010600040101010101" pitchFamily="2" charset="-122"/>
              <a:ea typeface="华文楷体" panose="02010600040101010101" pitchFamily="2" charset="-122"/>
            </a:endParaRPr>
          </a:p>
          <a:p>
            <a:pPr marL="0" indent="0" algn="just" defTabSz="914400" eaLnBrk="1" fontAlgn="auto" hangingPunct="1">
              <a:lnSpc>
                <a:spcPct val="100000"/>
              </a:lnSpc>
              <a:spcBef>
                <a:spcPts val="0"/>
              </a:spcBef>
              <a:spcAft>
                <a:spcPts val="0"/>
              </a:spcAft>
              <a:buClrTx/>
              <a:buSzTx/>
              <a:buFontTx/>
              <a:buNone/>
              <a:defRPr/>
            </a:pPr>
            <a:endParaRPr lang="en-US" altLang="zh-CN" kern="0" dirty="0" smtClean="0">
              <a:solidFill>
                <a:sysClr val="windowText" lastClr="000000"/>
              </a:solidFill>
            </a:endParaRPr>
          </a:p>
          <a:p>
            <a:pPr marL="0" indent="0" algn="just" defTabSz="914400" eaLnBrk="1" fontAlgn="auto" hangingPunct="1">
              <a:lnSpc>
                <a:spcPct val="100000"/>
              </a:lnSpc>
              <a:spcBef>
                <a:spcPts val="0"/>
              </a:spcBef>
              <a:spcAft>
                <a:spcPts val="0"/>
              </a:spcAft>
              <a:buClrTx/>
              <a:buSzTx/>
              <a:buFontTx/>
              <a:buNone/>
              <a:defRPr/>
            </a:pPr>
            <a:endParaRPr lang="zh-CN" altLang="en-US" kern="0" dirty="0" smtClean="0">
              <a:solidFill>
                <a:sysClr val="windowText" lastClr="00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2"/>
          <p:cNvSpPr>
            <a:spLocks noChangeArrowheads="1"/>
          </p:cNvSpPr>
          <p:nvPr/>
        </p:nvSpPr>
        <p:spPr bwMode="auto">
          <a:xfrm>
            <a:off x="292100" y="376238"/>
            <a:ext cx="66309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极小化</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438150" y="1248127"/>
            <a:ext cx="8407400" cy="4514850"/>
          </a:xfrm>
        </p:spPr>
        <p:style>
          <a:lnRef idx="2">
            <a:schemeClr val="accent1"/>
          </a:lnRef>
          <a:fillRef idx="1">
            <a:schemeClr val="lt1"/>
          </a:fillRef>
          <a:effectRef idx="0">
            <a:schemeClr val="accent1"/>
          </a:effectRef>
          <a:fontRef idx="minor">
            <a:schemeClr val="dk1"/>
          </a:fontRef>
        </p:style>
        <p:txBody>
          <a:bodyPr/>
          <a:lstStyle/>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对于求最小值的优化问题</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如果</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UB(v</a:t>
            </a:r>
            <a:r>
              <a:rPr lang="en-US" altLang="zh-CN" sz="2400" b="1" kern="0"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LB(v</a:t>
            </a:r>
            <a:r>
              <a:rPr lang="en-US" altLang="zh-CN" sz="2400" b="1" kern="0"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，则直接结束，输出对应于</a:t>
            </a:r>
            <a:r>
              <a:rPr lang="en-US" altLang="zh-CN" sz="24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UB(v</a:t>
            </a:r>
            <a:r>
              <a:rPr lang="en-US" altLang="zh-CN" sz="2400" b="1" kern="0" baseline="-2500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4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的解即可；</a:t>
            </a:r>
            <a:endParaRPr lang="en-US" altLang="zh-CN" sz="24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如果结点</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v</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的</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UB(v) = LB(v)</a:t>
            </a:r>
            <a:r>
              <a:rPr lang="zh-CN" altLang="en-US"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，则该结点不用继续搜索，直接用</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UB(v) </a:t>
            </a:r>
            <a:r>
              <a:rPr lang="zh-CN" altLang="en-US"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作为其可到达的最优值，对</a:t>
            </a:r>
            <a:r>
              <a:rPr lang="en-US" altLang="zh-CN" sz="2400" b="1" kern="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cBest</a:t>
            </a:r>
            <a:r>
              <a:rPr lang="zh-CN" altLang="en-US"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进行更新；</a:t>
            </a:r>
            <a:endPar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如果找到叶结点</a:t>
            </a:r>
            <a:r>
              <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v</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使得</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f(v) = </a:t>
            </a:r>
            <a:r>
              <a:rPr lang="en-US" altLang="zh-CN" sz="2400" b="1" kern="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LB</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kern="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kern="0" baseline="-2500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f(v) </a:t>
            </a:r>
            <a:r>
              <a:rPr lang="zh-CN" altLang="en-US"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的真实目标值）</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或者所有的结点搜索完毕</a:t>
            </a:r>
            <a:r>
              <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则搜索完毕。</a:t>
            </a:r>
            <a:endPar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en-US" altLang="zh-CN" sz="2400" b="1" kern="0" dirty="0" err="1"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cBest</a:t>
            </a:r>
            <a:r>
              <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初始等于</a:t>
            </a:r>
            <a:r>
              <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U</a:t>
            </a:r>
            <a:r>
              <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B(v</a:t>
            </a:r>
            <a:r>
              <a:rPr lang="en-US" altLang="zh-CN" sz="2400"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找到</a:t>
            </a:r>
            <a:r>
              <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UB(v)</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小于</a:t>
            </a:r>
            <a:r>
              <a:rPr lang="en-US" altLang="zh-CN" sz="2400" b="1" kern="0" dirty="0" err="1"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cBest</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，则可以更新</a:t>
            </a:r>
            <a:r>
              <a:rPr lang="en-US" altLang="zh-CN" sz="2400" b="1" kern="0" dirty="0" err="1"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cBest</a:t>
            </a:r>
            <a:r>
              <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，另外可以</a:t>
            </a:r>
            <a:r>
              <a:rPr lang="zh-CN" altLang="en-US"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剪掉</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LB(v)  </a:t>
            </a:r>
            <a:r>
              <a:rPr lang="en-US" altLang="zh-CN" sz="2400" b="1" kern="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cBest</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的点</a:t>
            </a:r>
            <a:r>
              <a:rPr lang="en-US" altLang="zh-CN" sz="24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v</a:t>
            </a:r>
            <a:r>
              <a:rPr lang="zh-CN" altLang="en-US"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endParaRPr lang="en-US" altLang="zh-CN" sz="24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endParaRPr>
          </a:p>
          <a:p>
            <a:pPr marL="0" indent="0"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endParaRPr lang="en-US" altLang="zh-CN" sz="2800" b="1" kern="0" dirty="0" smtClean="0">
              <a:solidFill>
                <a:sysClr val="windowText" lastClr="000000"/>
              </a:solidFill>
              <a:latin typeface="华文楷体" panose="02010600040101010101" pitchFamily="2" charset="-122"/>
              <a:ea typeface="华文楷体" panose="02010600040101010101" pitchFamily="2" charset="-122"/>
            </a:endParaRPr>
          </a:p>
          <a:p>
            <a:pPr marL="0" indent="0" defTabSz="914400" eaLnBrk="1" fontAlgn="auto" hangingPunct="1">
              <a:lnSpc>
                <a:spcPct val="100000"/>
              </a:lnSpc>
              <a:spcBef>
                <a:spcPts val="0"/>
              </a:spcBef>
              <a:spcAft>
                <a:spcPts val="0"/>
              </a:spcAft>
              <a:buClrTx/>
              <a:buSzTx/>
              <a:buFontTx/>
              <a:buNone/>
              <a:defRPr/>
            </a:pPr>
            <a:endParaRPr lang="en-US" altLang="zh-CN" b="1" kern="0" dirty="0" smtClean="0">
              <a:solidFill>
                <a:sysClr val="windowText" lastClr="000000"/>
              </a:solidFill>
            </a:endParaRPr>
          </a:p>
          <a:p>
            <a:pPr marL="0" indent="0" defTabSz="914400" eaLnBrk="1" fontAlgn="auto" hangingPunct="1">
              <a:lnSpc>
                <a:spcPct val="100000"/>
              </a:lnSpc>
              <a:spcBef>
                <a:spcPts val="0"/>
              </a:spcBef>
              <a:spcAft>
                <a:spcPts val="0"/>
              </a:spcAft>
              <a:buClrTx/>
              <a:buSzTx/>
              <a:buFontTx/>
              <a:buNone/>
              <a:defRPr/>
            </a:pPr>
            <a:endParaRPr lang="zh-CN" altLang="en-US" b="1" kern="0" dirty="0" smtClean="0">
              <a:solidFill>
                <a:sysClr val="windowText" lastClr="000000"/>
              </a:solidFill>
            </a:endParaRPr>
          </a:p>
        </p:txBody>
      </p:sp>
      <p:sp>
        <p:nvSpPr>
          <p:cNvPr id="4" name="Text Box 4"/>
          <p:cNvSpPr txBox="1">
            <a:spLocks noChangeArrowheads="1"/>
          </p:cNvSpPr>
          <p:nvPr/>
        </p:nvSpPr>
        <p:spPr bwMode="auto">
          <a:xfrm>
            <a:off x="438150" y="5858933"/>
            <a:ext cx="8407400" cy="898525"/>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极小化问题主要用上界还是下界剪枝？</a:t>
            </a:r>
            <a:endParaRPr lang="zh-CN" altLang="en-US" sz="4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2"/>
          <p:cNvSpPr>
            <a:spLocks noChangeArrowheads="1"/>
          </p:cNvSpPr>
          <p:nvPr/>
        </p:nvSpPr>
        <p:spPr bwMode="auto">
          <a:xfrm>
            <a:off x="292100" y="376238"/>
            <a:ext cx="5657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极大化</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344488" y="1320800"/>
            <a:ext cx="8521700" cy="5281613"/>
          </a:xfrm>
        </p:spPr>
        <p:style>
          <a:lnRef idx="2">
            <a:schemeClr val="accent1"/>
          </a:lnRef>
          <a:fillRef idx="1">
            <a:schemeClr val="lt1"/>
          </a:fillRef>
          <a:effectRef idx="0">
            <a:schemeClr val="accent1"/>
          </a:effectRef>
          <a:fontRef idx="minor">
            <a:schemeClr val="dk1"/>
          </a:fontRef>
        </p:style>
        <p:txBody>
          <a:bodyPr/>
          <a:lstStyle/>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对于求最大值的优化问题</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，如果</a:t>
            </a:r>
            <a:r>
              <a:rPr lang="en-US" altLang="zh-CN"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UB(v) </a:t>
            </a:r>
            <a:r>
              <a:rPr lang="en-US" altLang="zh-CN"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3200" b="1" kern="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cBest</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，则结点</a:t>
            </a:r>
            <a:r>
              <a:rPr lang="en-US" altLang="zh-CN"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v</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可以加入黑名单，不再对其搜索。</a:t>
            </a:r>
            <a:endPar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endParaRPr>
          </a:p>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LB(v)</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通常可以利用</a:t>
            </a:r>
            <a:r>
              <a:rPr lang="zh-CN" altLang="en-US"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贪心思路或者其它方式得到一个解</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，令其作为</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LB(v)</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，而</a:t>
            </a:r>
            <a:r>
              <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UB(v)</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通常需要经过</a:t>
            </a:r>
            <a:r>
              <a:rPr lang="zh-CN" altLang="en-US" sz="32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严格的证明</a:t>
            </a:r>
            <a:r>
              <a:rPr lang="zh-CN" altLang="en-US"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endParaRPr>
          </a:p>
          <a:p>
            <a:pPr marL="0" indent="0" algn="just" defTabSz="914400" eaLnBrk="1" fontAlgn="auto" hangingPunct="1">
              <a:lnSpc>
                <a:spcPct val="150000"/>
              </a:lnSpc>
              <a:spcBef>
                <a:spcPts val="0"/>
              </a:spcBef>
              <a:spcAft>
                <a:spcPts val="0"/>
              </a:spcAft>
              <a:buClrTx/>
              <a:buSzTx/>
              <a:buFontTx/>
              <a:buNone/>
              <a:defRPr/>
            </a:pPr>
            <a:endParaRPr lang="en-US" altLang="zh-CN" sz="3200" b="1" kern="0" dirty="0" smtClean="0">
              <a:solidFill>
                <a:sysClr val="windowText" lastClr="000000"/>
              </a:solidFill>
              <a:latin typeface="华文楷体" panose="02010600040101010101" pitchFamily="2" charset="-122"/>
              <a:ea typeface="华文楷体" panose="02010600040101010101" pitchFamily="2" charset="-122"/>
              <a:sym typeface="Symbol" panose="05050102010706020507"/>
            </a:endParaRPr>
          </a:p>
          <a:p>
            <a:pPr marL="0" indent="0" algn="just" defTabSz="914400" eaLnBrk="1" fontAlgn="auto" hangingPunct="1">
              <a:lnSpc>
                <a:spcPct val="150000"/>
              </a:lnSpc>
              <a:spcBef>
                <a:spcPts val="0"/>
              </a:spcBef>
              <a:spcAft>
                <a:spcPts val="0"/>
              </a:spcAft>
              <a:buClrTx/>
              <a:buSzTx/>
              <a:buFontTx/>
              <a:buNone/>
              <a:defRPr/>
            </a:pPr>
            <a:endParaRPr lang="en-US" altLang="zh-CN" sz="3200" b="1" kern="0" dirty="0" smtClean="0">
              <a:solidFill>
                <a:sysClr val="windowText" lastClr="000000"/>
              </a:solidFill>
              <a:latin typeface="华文楷体" panose="02010600040101010101" pitchFamily="2" charset="-122"/>
              <a:ea typeface="华文楷体" panose="02010600040101010101" pitchFamily="2" charset="-122"/>
              <a:sym typeface="Symbol" panose="05050102010706020507"/>
            </a:endParaRPr>
          </a:p>
          <a:p>
            <a:pPr marL="0" indent="0" algn="just" defTabSz="914400" eaLnBrk="1" fontAlgn="auto" hangingPunct="1">
              <a:lnSpc>
                <a:spcPct val="150000"/>
              </a:lnSpc>
              <a:spcBef>
                <a:spcPts val="0"/>
              </a:spcBef>
              <a:spcAft>
                <a:spcPts val="0"/>
              </a:spcAft>
              <a:buClrTx/>
              <a:buSzTx/>
              <a:buFontTx/>
              <a:buNone/>
              <a:defRPr/>
            </a:pPr>
            <a:endParaRPr lang="en-US" altLang="zh-CN" sz="3200" b="1" kern="0" dirty="0" smtClean="0">
              <a:solidFill>
                <a:sysClr val="windowText" lastClr="000000"/>
              </a:solidFill>
              <a:latin typeface="华文楷体" panose="02010600040101010101" pitchFamily="2" charset="-122"/>
              <a:ea typeface="华文楷体" panose="02010600040101010101" pitchFamily="2" charset="-122"/>
            </a:endParaRPr>
          </a:p>
          <a:p>
            <a:pPr marL="0" indent="0" algn="just" defTabSz="914400" eaLnBrk="1" fontAlgn="auto" hangingPunct="1">
              <a:lnSpc>
                <a:spcPct val="100000"/>
              </a:lnSpc>
              <a:spcBef>
                <a:spcPts val="0"/>
              </a:spcBef>
              <a:spcAft>
                <a:spcPts val="0"/>
              </a:spcAft>
              <a:buClrTx/>
              <a:buSzTx/>
              <a:buFontTx/>
              <a:buNone/>
              <a:defRPr/>
            </a:pPr>
            <a:endParaRPr lang="en-US" altLang="zh-CN" sz="3200" b="1" kern="0" dirty="0" smtClean="0">
              <a:solidFill>
                <a:sysClr val="windowText" lastClr="000000"/>
              </a:solidFill>
            </a:endParaRPr>
          </a:p>
          <a:p>
            <a:pPr marL="0" indent="0" algn="just" defTabSz="914400" eaLnBrk="1" fontAlgn="auto" hangingPunct="1">
              <a:lnSpc>
                <a:spcPct val="100000"/>
              </a:lnSpc>
              <a:spcBef>
                <a:spcPts val="0"/>
              </a:spcBef>
              <a:spcAft>
                <a:spcPts val="0"/>
              </a:spcAft>
              <a:buClrTx/>
              <a:buSzTx/>
              <a:buFontTx/>
              <a:buNone/>
              <a:defRPr/>
            </a:pPr>
            <a:endParaRPr lang="zh-CN" altLang="en-US" sz="3200" b="1" kern="0" dirty="0" smtClean="0">
              <a:solidFill>
                <a:sysClr val="windowText" lastClr="00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2"/>
          <p:cNvSpPr>
            <a:spLocks noChangeArrowheads="1"/>
          </p:cNvSpPr>
          <p:nvPr/>
        </p:nvSpPr>
        <p:spPr bwMode="auto">
          <a:xfrm>
            <a:off x="292100" y="376238"/>
            <a:ext cx="5657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极大化</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388938" y="1134709"/>
            <a:ext cx="8405812" cy="5189537"/>
          </a:xfrm>
        </p:spPr>
        <p:style>
          <a:lnRef idx="2">
            <a:schemeClr val="accent1"/>
          </a:lnRef>
          <a:fillRef idx="1">
            <a:schemeClr val="lt1"/>
          </a:fillRef>
          <a:effectRef idx="0">
            <a:schemeClr val="accent1"/>
          </a:effectRef>
          <a:fontRef idx="minor">
            <a:schemeClr val="dk1"/>
          </a:fontRef>
        </p:style>
        <p:txBody>
          <a:bodyPr/>
          <a:lstStyle/>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如果</a:t>
            </a:r>
            <a:r>
              <a:rPr lang="en-US" altLang="zh-CN"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UB(v</a:t>
            </a:r>
            <a:r>
              <a:rPr lang="en-US" altLang="zh-CN" sz="2600" b="1" kern="0"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LB(v</a:t>
            </a:r>
            <a:r>
              <a:rPr lang="en-US" altLang="zh-CN" sz="2600" b="1" kern="0"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，则直接结束，</a:t>
            </a:r>
            <a:r>
              <a:rPr lang="zh-CN" altLang="en-US" sz="26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输出对应于</a:t>
            </a:r>
            <a:r>
              <a:rPr lang="en-US" altLang="zh-CN" sz="26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LB(v</a:t>
            </a:r>
            <a:r>
              <a:rPr lang="en-US" altLang="zh-CN" sz="2600" b="1" kern="0" baseline="-2500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6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6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的解即可；</a:t>
            </a:r>
            <a:endParaRPr lang="en-US" altLang="zh-CN" sz="2600" b="1" kern="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如果结点</a:t>
            </a:r>
            <a:r>
              <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v</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的</a:t>
            </a:r>
            <a:r>
              <a:rPr lang="en-US" altLang="zh-CN"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UB(v) = LB(v)</a:t>
            </a:r>
            <a:r>
              <a:rPr lang="zh-CN" altLang="en-US"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，则该结点不用继续搜索，直接用</a:t>
            </a:r>
            <a:r>
              <a:rPr lang="en-US" altLang="zh-CN"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LB(v) </a:t>
            </a:r>
            <a:r>
              <a:rPr lang="zh-CN" altLang="en-US"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作为其可到达的最优值，对</a:t>
            </a:r>
            <a:r>
              <a:rPr lang="en-US" altLang="zh-CN" sz="2600" b="1" kern="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cBest</a:t>
            </a:r>
            <a:r>
              <a:rPr lang="zh-CN" altLang="en-US"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进行更新；</a:t>
            </a:r>
            <a:endPar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如果找到叶结点</a:t>
            </a:r>
            <a:r>
              <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v</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使得</a:t>
            </a:r>
            <a:r>
              <a:rPr lang="en-US" altLang="zh-CN"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f(v) = UB(v</a:t>
            </a:r>
            <a:r>
              <a:rPr lang="en-US" altLang="zh-CN" sz="2600" b="1" kern="0" baseline="-2500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6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或者所有的结点搜索完毕</a:t>
            </a:r>
            <a:r>
              <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则搜索完毕。</a:t>
            </a:r>
            <a:endPar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gn="just"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en-US" altLang="zh-CN" sz="2600" b="1" kern="0" dirty="0" err="1"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cBest</a:t>
            </a:r>
            <a:r>
              <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初始等于</a:t>
            </a:r>
            <a:r>
              <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L</a:t>
            </a:r>
            <a:r>
              <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B(v</a:t>
            </a:r>
            <a:r>
              <a:rPr lang="en-US" altLang="zh-CN" sz="2600" b="1" kern="0" baseline="-2500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找到</a:t>
            </a:r>
            <a:r>
              <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L</a:t>
            </a:r>
            <a:r>
              <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B(v)</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rPr>
              <a:t>大于</a:t>
            </a:r>
            <a:r>
              <a:rPr lang="en-US" altLang="zh-CN" sz="2600" b="1" kern="0" dirty="0" err="1"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cBest</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，则可以更新</a:t>
            </a:r>
            <a:r>
              <a:rPr lang="en-US" altLang="zh-CN" sz="2600" b="1" kern="0" dirty="0" err="1"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cBest</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zh-CN" altLang="en-US" sz="28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另外可以</a:t>
            </a:r>
            <a:r>
              <a:rPr lang="zh-CN" altLang="en-US" sz="28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剪掉</a:t>
            </a:r>
            <a:r>
              <a:rPr lang="en-US" altLang="zh-CN" sz="28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UB(v)  </a:t>
            </a:r>
            <a:r>
              <a:rPr lang="en-US" altLang="zh-CN" sz="2800" b="1" kern="0"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cBest</a:t>
            </a:r>
            <a:r>
              <a:rPr lang="zh-CN" altLang="en-US" sz="28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的点</a:t>
            </a:r>
            <a:r>
              <a:rPr lang="en-US" altLang="zh-CN" sz="2800" b="1" kern="0"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v</a:t>
            </a:r>
            <a:r>
              <a:rPr lang="zh-CN" altLang="en-US"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endParaRPr lang="en-US" altLang="zh-CN" sz="2600"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endParaRPr>
          </a:p>
          <a:p>
            <a:pPr marL="0" indent="0" algn="just" defTabSz="914400" eaLnBrk="1" fontAlgn="auto" hangingPunct="1">
              <a:lnSpc>
                <a:spcPct val="150000"/>
              </a:lnSpc>
              <a:spcBef>
                <a:spcPts val="0"/>
              </a:spcBef>
              <a:spcAft>
                <a:spcPts val="0"/>
              </a:spcAft>
              <a:buClrTx/>
              <a:buSzTx/>
              <a:buFontTx/>
              <a:buNone/>
              <a:defRPr/>
            </a:pPr>
            <a:endParaRPr lang="en-US" altLang="zh-CN" sz="2600" b="1" kern="0" dirty="0" smtClean="0">
              <a:solidFill>
                <a:sysClr val="windowText" lastClr="000000"/>
              </a:solidFill>
              <a:latin typeface="华文楷体" panose="02010600040101010101" pitchFamily="2" charset="-122"/>
              <a:ea typeface="华文楷体" panose="02010600040101010101" pitchFamily="2" charset="-122"/>
              <a:sym typeface="Symbol" panose="05050102010706020507"/>
            </a:endParaRPr>
          </a:p>
          <a:p>
            <a:pPr marL="0" indent="0" algn="just" defTabSz="914400" eaLnBrk="1" fontAlgn="auto" hangingPunct="1">
              <a:lnSpc>
                <a:spcPct val="150000"/>
              </a:lnSpc>
              <a:spcBef>
                <a:spcPts val="0"/>
              </a:spcBef>
              <a:spcAft>
                <a:spcPts val="0"/>
              </a:spcAft>
              <a:buClrTx/>
              <a:buSzTx/>
              <a:buFontTx/>
              <a:buNone/>
              <a:defRPr/>
            </a:pPr>
            <a:endParaRPr lang="en-US" altLang="zh-CN" sz="2600" b="1" kern="0" dirty="0" smtClean="0">
              <a:solidFill>
                <a:sysClr val="windowText" lastClr="000000"/>
              </a:solidFill>
              <a:latin typeface="华文楷体" panose="02010600040101010101" pitchFamily="2" charset="-122"/>
              <a:ea typeface="华文楷体" panose="02010600040101010101" pitchFamily="2" charset="-122"/>
              <a:sym typeface="Symbol" panose="05050102010706020507"/>
            </a:endParaRPr>
          </a:p>
          <a:p>
            <a:pPr marL="0" indent="0" algn="just" defTabSz="914400" eaLnBrk="1" fontAlgn="auto" hangingPunct="1">
              <a:lnSpc>
                <a:spcPct val="150000"/>
              </a:lnSpc>
              <a:spcBef>
                <a:spcPts val="0"/>
              </a:spcBef>
              <a:spcAft>
                <a:spcPts val="0"/>
              </a:spcAft>
              <a:buClrTx/>
              <a:buSzTx/>
              <a:buFontTx/>
              <a:buNone/>
              <a:defRPr/>
            </a:pPr>
            <a:endParaRPr lang="en-US" altLang="zh-CN" sz="2600" b="1" kern="0" dirty="0" smtClean="0">
              <a:solidFill>
                <a:sysClr val="windowText" lastClr="000000"/>
              </a:solidFill>
              <a:latin typeface="华文楷体" panose="02010600040101010101" pitchFamily="2" charset="-122"/>
              <a:ea typeface="华文楷体" panose="02010600040101010101" pitchFamily="2" charset="-122"/>
            </a:endParaRPr>
          </a:p>
          <a:p>
            <a:pPr marL="0" indent="0" algn="just" defTabSz="914400" eaLnBrk="1" fontAlgn="auto" hangingPunct="1">
              <a:lnSpc>
                <a:spcPct val="100000"/>
              </a:lnSpc>
              <a:spcBef>
                <a:spcPts val="0"/>
              </a:spcBef>
              <a:spcAft>
                <a:spcPts val="0"/>
              </a:spcAft>
              <a:buClrTx/>
              <a:buSzTx/>
              <a:buFontTx/>
              <a:buNone/>
              <a:defRPr/>
            </a:pPr>
            <a:endParaRPr lang="en-US" altLang="zh-CN" sz="2600" kern="0" dirty="0" smtClean="0">
              <a:solidFill>
                <a:sysClr val="windowText" lastClr="000000"/>
              </a:solidFill>
            </a:endParaRPr>
          </a:p>
          <a:p>
            <a:pPr marL="0" indent="0" algn="just" defTabSz="914400" eaLnBrk="1" fontAlgn="auto" hangingPunct="1">
              <a:lnSpc>
                <a:spcPct val="100000"/>
              </a:lnSpc>
              <a:spcBef>
                <a:spcPts val="0"/>
              </a:spcBef>
              <a:spcAft>
                <a:spcPts val="0"/>
              </a:spcAft>
              <a:buClrTx/>
              <a:buSzTx/>
              <a:buFontTx/>
              <a:buNone/>
              <a:defRPr/>
            </a:pPr>
            <a:endParaRPr lang="zh-CN" altLang="en-US" sz="2600" kern="0" dirty="0" smtClean="0">
              <a:solidFill>
                <a:sysClr val="windowText" lastClr="000000"/>
              </a:solidFill>
            </a:endParaRPr>
          </a:p>
        </p:txBody>
      </p:sp>
      <p:sp>
        <p:nvSpPr>
          <p:cNvPr id="4" name="Text Box 4"/>
          <p:cNvSpPr txBox="1">
            <a:spLocks noChangeArrowheads="1"/>
          </p:cNvSpPr>
          <p:nvPr/>
        </p:nvSpPr>
        <p:spPr bwMode="auto">
          <a:xfrm>
            <a:off x="387350" y="6196010"/>
            <a:ext cx="8407400" cy="605014"/>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4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极大化问题主要用上界还是下界剪枝？</a:t>
            </a:r>
            <a:endParaRPr lang="zh-CN" altLang="en-US" sz="4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2"/>
          <p:cNvSpPr>
            <a:spLocks noChangeArrowheads="1"/>
          </p:cNvSpPr>
          <p:nvPr/>
        </p:nvSpPr>
        <p:spPr bwMode="auto">
          <a:xfrm>
            <a:off x="292100" y="376238"/>
            <a:ext cx="64801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上界</a:t>
            </a:r>
            <a:r>
              <a:rPr lang="en-US" altLang="zh-CN" sz="3200">
                <a:solidFill>
                  <a:schemeClr val="bg1"/>
                </a:solidFill>
                <a:latin typeface="楷体" panose="02010609060101010101" pitchFamily="49" charset="-122"/>
                <a:ea typeface="楷体" panose="02010609060101010101" pitchFamily="49" charset="-122"/>
              </a:rPr>
              <a:t>&amp;</a:t>
            </a:r>
            <a:r>
              <a:rPr lang="zh-CN" altLang="en-US" sz="3200">
                <a:solidFill>
                  <a:schemeClr val="bg1"/>
                </a:solidFill>
                <a:latin typeface="楷体" panose="02010609060101010101" pitchFamily="49" charset="-122"/>
                <a:ea typeface="楷体" panose="02010609060101010101" pitchFamily="49" charset="-122"/>
              </a:rPr>
              <a:t>下界</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0723" name="Text Box 4"/>
          <p:cNvSpPr txBox="1">
            <a:spLocks noChangeArrowheads="1"/>
          </p:cNvSpPr>
          <p:nvPr/>
        </p:nvSpPr>
        <p:spPr bwMode="auto">
          <a:xfrm>
            <a:off x="538163" y="1062038"/>
            <a:ext cx="8166100" cy="1217612"/>
          </a:xfrm>
          <a:prstGeom prst="rect">
            <a:avLst/>
          </a:prstGeom>
        </p:spPr>
        <p:style>
          <a:lnRef idx="2">
            <a:schemeClr val="dk1"/>
          </a:lnRef>
          <a:fillRef idx="1">
            <a:schemeClr val="lt1"/>
          </a:fillRef>
          <a:effectRef idx="0">
            <a:schemeClr val="dk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0-1</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背包问题</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r>
              <a:rPr lang="zh-CN" altLang="en-US" sz="24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极大值问题</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endPar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pP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n=3, C=30, w={16, 15, 15}, v={28, 30, 30}</a:t>
            </a:r>
            <a:endPar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矩形 4"/>
          <p:cNvSpPr/>
          <p:nvPr/>
        </p:nvSpPr>
        <p:spPr>
          <a:xfrm>
            <a:off x="528638" y="2352675"/>
            <a:ext cx="8175625" cy="230822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just" eaLnBrk="1" hangingPunct="1">
              <a:lnSpc>
                <a:spcPct val="150000"/>
              </a:lnSpc>
              <a:defRPr/>
            </a:pP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物品按照价值比重量的大小进行排序：</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{w2, w3, w1}.</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下界：</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按照价值比重量的大小依次装包，在满足容量约束的前提下得到的最大值作为下界</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LB</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，即</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LB(v0) = 30 + 30 = 60</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，对应的解为（</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矩形 5"/>
          <p:cNvSpPr/>
          <p:nvPr/>
        </p:nvSpPr>
        <p:spPr>
          <a:xfrm>
            <a:off x="552450" y="4735513"/>
            <a:ext cx="8151813" cy="175418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just" eaLnBrk="1" hangingPunct="1">
              <a:lnSpc>
                <a:spcPct val="150000"/>
              </a:lnSpc>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上界：</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按照价值比重量的大小依次装包，</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没装满的按照未装的物品的最大比重进行换算</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，即</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UB(v0) = 30 + 30 = 60</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defRPr/>
            </a:pP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LB(v0) = UB(v0)</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，故最优解为（</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2"/>
          <p:cNvSpPr>
            <a:spLocks noChangeArrowheads="1"/>
          </p:cNvSpPr>
          <p:nvPr/>
        </p:nvSpPr>
        <p:spPr bwMode="auto">
          <a:xfrm>
            <a:off x="292100" y="376238"/>
            <a:ext cx="6184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上界</a:t>
            </a:r>
            <a:r>
              <a:rPr lang="en-US" altLang="zh-CN" sz="3200">
                <a:solidFill>
                  <a:schemeClr val="bg1"/>
                </a:solidFill>
                <a:latin typeface="楷体" panose="02010609060101010101" pitchFamily="49" charset="-122"/>
                <a:ea typeface="楷体" panose="02010609060101010101" pitchFamily="49" charset="-122"/>
              </a:rPr>
              <a:t>&amp;</a:t>
            </a:r>
            <a:r>
              <a:rPr lang="zh-CN" altLang="en-US" sz="3200">
                <a:solidFill>
                  <a:schemeClr val="bg1"/>
                </a:solidFill>
                <a:latin typeface="楷体" panose="02010609060101010101" pitchFamily="49" charset="-122"/>
                <a:ea typeface="楷体" panose="02010609060101010101" pitchFamily="49" charset="-122"/>
              </a:rPr>
              <a:t>下界</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2772" name="Text Box 4"/>
          <p:cNvSpPr txBox="1">
            <a:spLocks noChangeArrowheads="1"/>
          </p:cNvSpPr>
          <p:nvPr/>
        </p:nvSpPr>
        <p:spPr bwMode="auto">
          <a:xfrm>
            <a:off x="631825" y="1163638"/>
            <a:ext cx="8099425" cy="4987925"/>
          </a:xfrm>
          <a:prstGeom prst="rect">
            <a:avLst/>
          </a:prstGeom>
        </p:spPr>
        <p:style>
          <a:lnRef idx="2">
            <a:schemeClr val="dk1"/>
          </a:lnRef>
          <a:fillRef idx="1">
            <a:schemeClr val="lt1"/>
          </a:fillRef>
          <a:effectRef idx="0">
            <a:schemeClr val="dk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背包问题</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pP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n=3, C=30, w={16, 15, 15}, v={45, 25, 25}</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pP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物品按照价值比重量的大小进行排序：</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{w1, w2, w3}.</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下界：</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按照价值比重量的大小依次装包，在满足容量约束的前提下得到的最大值作为下届</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LB</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，即</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LB(v0) = 45</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，对应的解为（</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上界：先把物品重量大于余量的除掉，剩下物品</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按照价值比重量的大小依次装包，最后没装满的按照未装的物品的最大比重进行换算，即</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UB1(v0) = 45 + 14</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25/15 = 68.33</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endPar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p:nvPr/>
        </p:nvSpPr>
        <p:spPr>
          <a:xfrm>
            <a:off x="539750" y="2886075"/>
            <a:ext cx="8224838" cy="168751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gn="just" eaLnBrk="1" hangingPunct="1">
              <a:lnSpc>
                <a:spcPct val="150000"/>
              </a:lnSpc>
              <a:defRPr/>
            </a:pP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如果</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n=4, C=30, w={</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40</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,16, 15, 15}, v={</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160</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,45, 25, 25}</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，不去掉物品</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，上界为</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UB1(v0) = 30</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160/40 =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120 》68.33</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defRPr/>
            </a:pP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矩形 92"/>
          <p:cNvSpPr/>
          <p:nvPr/>
        </p:nvSpPr>
        <p:spPr>
          <a:xfrm>
            <a:off x="4441825" y="4413250"/>
            <a:ext cx="2919413" cy="16240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9" name="矩形 88"/>
          <p:cNvSpPr/>
          <p:nvPr/>
        </p:nvSpPr>
        <p:spPr>
          <a:xfrm>
            <a:off x="1008063" y="4422775"/>
            <a:ext cx="3068637" cy="16049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277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2773" name="Text Box 4"/>
          <p:cNvSpPr txBox="1">
            <a:spLocks noChangeArrowheads="1"/>
          </p:cNvSpPr>
          <p:nvPr/>
        </p:nvSpPr>
        <p:spPr bwMode="auto">
          <a:xfrm>
            <a:off x="603250" y="1497013"/>
            <a:ext cx="8099425" cy="898525"/>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0-1</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背包问题</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endPar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n=3, C=30, w={16, 15, 15}, v={45, 25, 25}</a:t>
            </a:r>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2774" name="Group 57"/>
          <p:cNvGrpSpPr/>
          <p:nvPr/>
        </p:nvGrpSpPr>
        <p:grpSpPr bwMode="auto">
          <a:xfrm>
            <a:off x="3967163" y="3309938"/>
            <a:ext cx="395287" cy="395287"/>
            <a:chOff x="4531" y="2063"/>
            <a:chExt cx="249" cy="249"/>
          </a:xfrm>
        </p:grpSpPr>
        <p:sp>
          <p:nvSpPr>
            <p:cNvPr id="32834" name="Oval 58"/>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35" name="Text Box 5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75" name="Group 60"/>
          <p:cNvGrpSpPr/>
          <p:nvPr/>
        </p:nvGrpSpPr>
        <p:grpSpPr bwMode="auto">
          <a:xfrm>
            <a:off x="2422525" y="3870325"/>
            <a:ext cx="395288" cy="395288"/>
            <a:chOff x="4531" y="2063"/>
            <a:chExt cx="249" cy="249"/>
          </a:xfrm>
        </p:grpSpPr>
        <p:sp>
          <p:nvSpPr>
            <p:cNvPr id="32832" name="Oval 61"/>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33" name="Text Box 6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76" name="Group 63"/>
          <p:cNvGrpSpPr/>
          <p:nvPr/>
        </p:nvGrpSpPr>
        <p:grpSpPr bwMode="auto">
          <a:xfrm>
            <a:off x="5602288" y="3865563"/>
            <a:ext cx="395287" cy="395287"/>
            <a:chOff x="4531" y="2063"/>
            <a:chExt cx="249" cy="249"/>
          </a:xfrm>
        </p:grpSpPr>
        <p:sp>
          <p:nvSpPr>
            <p:cNvPr id="32830" name="Oval 64"/>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31" name="Text Box 65"/>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77" name="Group 66"/>
          <p:cNvGrpSpPr/>
          <p:nvPr/>
        </p:nvGrpSpPr>
        <p:grpSpPr bwMode="auto">
          <a:xfrm>
            <a:off x="1671638" y="4613275"/>
            <a:ext cx="395287" cy="395288"/>
            <a:chOff x="4531" y="2063"/>
            <a:chExt cx="249" cy="249"/>
          </a:xfrm>
        </p:grpSpPr>
        <p:sp>
          <p:nvSpPr>
            <p:cNvPr id="32828" name="Oval 67"/>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29" name="Text Box 6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D</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78" name="Group 69"/>
          <p:cNvGrpSpPr/>
          <p:nvPr/>
        </p:nvGrpSpPr>
        <p:grpSpPr bwMode="auto">
          <a:xfrm>
            <a:off x="3128963" y="4613275"/>
            <a:ext cx="395287" cy="395288"/>
            <a:chOff x="4531" y="2063"/>
            <a:chExt cx="249" cy="249"/>
          </a:xfrm>
        </p:grpSpPr>
        <p:sp>
          <p:nvSpPr>
            <p:cNvPr id="32826" name="Oval 70"/>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27" name="Text Box 7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79" name="Group 78"/>
          <p:cNvGrpSpPr/>
          <p:nvPr/>
        </p:nvGrpSpPr>
        <p:grpSpPr bwMode="auto">
          <a:xfrm>
            <a:off x="1236663" y="5497513"/>
            <a:ext cx="395287" cy="395287"/>
            <a:chOff x="4531" y="2063"/>
            <a:chExt cx="249" cy="249"/>
          </a:xfrm>
        </p:grpSpPr>
        <p:sp>
          <p:nvSpPr>
            <p:cNvPr id="32824" name="Oval 79"/>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25" name="Text Box 8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H</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80" name="Group 81"/>
          <p:cNvGrpSpPr/>
          <p:nvPr/>
        </p:nvGrpSpPr>
        <p:grpSpPr bwMode="auto">
          <a:xfrm>
            <a:off x="2038350" y="5492750"/>
            <a:ext cx="395288" cy="395288"/>
            <a:chOff x="4531" y="2063"/>
            <a:chExt cx="249" cy="249"/>
          </a:xfrm>
        </p:grpSpPr>
        <p:sp>
          <p:nvSpPr>
            <p:cNvPr id="32822" name="Oval 82"/>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23" name="Text Box 8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32781" name="Line 110"/>
          <p:cNvSpPr>
            <a:spLocks noChangeShapeType="1"/>
          </p:cNvSpPr>
          <p:nvPr/>
        </p:nvSpPr>
        <p:spPr bwMode="auto">
          <a:xfrm flipH="1">
            <a:off x="2795588" y="3595688"/>
            <a:ext cx="1189037" cy="38100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782" name="Line 111"/>
          <p:cNvSpPr>
            <a:spLocks noChangeShapeType="1"/>
          </p:cNvSpPr>
          <p:nvPr/>
        </p:nvSpPr>
        <p:spPr bwMode="auto">
          <a:xfrm>
            <a:off x="4365625" y="3579813"/>
            <a:ext cx="1250950" cy="4254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783" name="Line 112"/>
          <p:cNvSpPr>
            <a:spLocks noChangeShapeType="1"/>
          </p:cNvSpPr>
          <p:nvPr/>
        </p:nvSpPr>
        <p:spPr bwMode="auto">
          <a:xfrm flipH="1">
            <a:off x="1987550" y="4191000"/>
            <a:ext cx="474663" cy="455613"/>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784" name="Line 113"/>
          <p:cNvSpPr>
            <a:spLocks noChangeShapeType="1"/>
          </p:cNvSpPr>
          <p:nvPr/>
        </p:nvSpPr>
        <p:spPr bwMode="auto">
          <a:xfrm>
            <a:off x="2763838" y="4221163"/>
            <a:ext cx="425450" cy="423862"/>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785" name="Line 120"/>
          <p:cNvSpPr>
            <a:spLocks noChangeShapeType="1"/>
          </p:cNvSpPr>
          <p:nvPr/>
        </p:nvSpPr>
        <p:spPr bwMode="auto">
          <a:xfrm flipH="1">
            <a:off x="5260975" y="4216400"/>
            <a:ext cx="411163" cy="427038"/>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786" name="Line 121"/>
          <p:cNvSpPr>
            <a:spLocks noChangeShapeType="1"/>
          </p:cNvSpPr>
          <p:nvPr/>
        </p:nvSpPr>
        <p:spPr bwMode="auto">
          <a:xfrm>
            <a:off x="5915025" y="4216400"/>
            <a:ext cx="515938" cy="457200"/>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787" name="Text Box 127"/>
          <p:cNvSpPr txBox="1">
            <a:spLocks noChangeArrowheads="1"/>
          </p:cNvSpPr>
          <p:nvPr/>
        </p:nvSpPr>
        <p:spPr bwMode="auto">
          <a:xfrm>
            <a:off x="4552950" y="3017838"/>
            <a:ext cx="24177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Cr=C=30,V=0</a:t>
            </a:r>
            <a:r>
              <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LB = 45</a:t>
            </a:r>
            <a:r>
              <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UB = 68.33 </a:t>
            </a:r>
            <a:r>
              <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bestV = 45</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2788" name="Group 141"/>
          <p:cNvGrpSpPr/>
          <p:nvPr/>
        </p:nvGrpSpPr>
        <p:grpSpPr bwMode="auto">
          <a:xfrm>
            <a:off x="4922838" y="4610100"/>
            <a:ext cx="395287" cy="395288"/>
            <a:chOff x="4531" y="2063"/>
            <a:chExt cx="249" cy="249"/>
          </a:xfrm>
        </p:grpSpPr>
        <p:sp>
          <p:nvSpPr>
            <p:cNvPr id="32820" name="Oval 142"/>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21" name="Text Box 14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F</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89" name="Group 144"/>
          <p:cNvGrpSpPr/>
          <p:nvPr/>
        </p:nvGrpSpPr>
        <p:grpSpPr bwMode="auto">
          <a:xfrm>
            <a:off x="6348413" y="4610100"/>
            <a:ext cx="395287" cy="395288"/>
            <a:chOff x="4531" y="2063"/>
            <a:chExt cx="249" cy="249"/>
          </a:xfrm>
        </p:grpSpPr>
        <p:sp>
          <p:nvSpPr>
            <p:cNvPr id="32818" name="Oval 145"/>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19" name="Text Box 146"/>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90" name="Group 147"/>
          <p:cNvGrpSpPr/>
          <p:nvPr/>
        </p:nvGrpSpPr>
        <p:grpSpPr bwMode="auto">
          <a:xfrm>
            <a:off x="2805113" y="5480050"/>
            <a:ext cx="395287" cy="395288"/>
            <a:chOff x="4531" y="2063"/>
            <a:chExt cx="249" cy="249"/>
          </a:xfrm>
        </p:grpSpPr>
        <p:sp>
          <p:nvSpPr>
            <p:cNvPr id="32816" name="Oval 148"/>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17" name="Text Box 14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J</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91" name="Group 150"/>
          <p:cNvGrpSpPr/>
          <p:nvPr/>
        </p:nvGrpSpPr>
        <p:grpSpPr bwMode="auto">
          <a:xfrm>
            <a:off x="3606800" y="5475288"/>
            <a:ext cx="395288" cy="395287"/>
            <a:chOff x="4531" y="2063"/>
            <a:chExt cx="249" cy="249"/>
          </a:xfrm>
        </p:grpSpPr>
        <p:sp>
          <p:nvSpPr>
            <p:cNvPr id="32814" name="Oval 151"/>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15" name="Text Box 15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K</a:t>
              </a:r>
              <a:endParaRPr lang="en-US" altLang="zh-CN" sz="1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92" name="Group 153"/>
          <p:cNvGrpSpPr/>
          <p:nvPr/>
        </p:nvGrpSpPr>
        <p:grpSpPr bwMode="auto">
          <a:xfrm>
            <a:off x="4510088" y="5494338"/>
            <a:ext cx="395287" cy="395287"/>
            <a:chOff x="4531" y="2063"/>
            <a:chExt cx="249" cy="249"/>
          </a:xfrm>
        </p:grpSpPr>
        <p:sp>
          <p:nvSpPr>
            <p:cNvPr id="32812" name="Oval 154"/>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13" name="Text Box 155"/>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93" name="Group 156"/>
          <p:cNvGrpSpPr/>
          <p:nvPr/>
        </p:nvGrpSpPr>
        <p:grpSpPr bwMode="auto">
          <a:xfrm>
            <a:off x="5311775" y="5489575"/>
            <a:ext cx="395288" cy="395288"/>
            <a:chOff x="4531" y="2063"/>
            <a:chExt cx="249" cy="249"/>
          </a:xfrm>
        </p:grpSpPr>
        <p:sp>
          <p:nvSpPr>
            <p:cNvPr id="32810" name="Oval 157"/>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11" name="Text Box 15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94" name="Group 159"/>
          <p:cNvGrpSpPr/>
          <p:nvPr/>
        </p:nvGrpSpPr>
        <p:grpSpPr bwMode="auto">
          <a:xfrm>
            <a:off x="6078538" y="5476875"/>
            <a:ext cx="395287" cy="395288"/>
            <a:chOff x="4531" y="2063"/>
            <a:chExt cx="249" cy="249"/>
          </a:xfrm>
        </p:grpSpPr>
        <p:sp>
          <p:nvSpPr>
            <p:cNvPr id="32808" name="Oval 160"/>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09" name="Text Box 16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2795" name="Group 162"/>
          <p:cNvGrpSpPr/>
          <p:nvPr/>
        </p:nvGrpSpPr>
        <p:grpSpPr bwMode="auto">
          <a:xfrm>
            <a:off x="6880225" y="5472113"/>
            <a:ext cx="395288" cy="395287"/>
            <a:chOff x="4531" y="2063"/>
            <a:chExt cx="249" cy="249"/>
          </a:xfrm>
        </p:grpSpPr>
        <p:sp>
          <p:nvSpPr>
            <p:cNvPr id="32806" name="Oval 163"/>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07" name="Text Box 164"/>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O</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32796" name="Line 165"/>
          <p:cNvSpPr>
            <a:spLocks noChangeShapeType="1"/>
          </p:cNvSpPr>
          <p:nvPr/>
        </p:nvSpPr>
        <p:spPr bwMode="auto">
          <a:xfrm flipH="1">
            <a:off x="1512888" y="4979988"/>
            <a:ext cx="246062" cy="533400"/>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797" name="Line 166"/>
          <p:cNvSpPr>
            <a:spLocks noChangeShapeType="1"/>
          </p:cNvSpPr>
          <p:nvPr/>
        </p:nvSpPr>
        <p:spPr bwMode="auto">
          <a:xfrm>
            <a:off x="1952625" y="4995863"/>
            <a:ext cx="228600" cy="515937"/>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798" name="Line 167"/>
          <p:cNvSpPr>
            <a:spLocks noChangeShapeType="1"/>
          </p:cNvSpPr>
          <p:nvPr/>
        </p:nvSpPr>
        <p:spPr bwMode="auto">
          <a:xfrm flipH="1">
            <a:off x="3048000" y="4992688"/>
            <a:ext cx="200025" cy="503237"/>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799" name="Line 168"/>
          <p:cNvSpPr>
            <a:spLocks noChangeShapeType="1"/>
          </p:cNvSpPr>
          <p:nvPr/>
        </p:nvSpPr>
        <p:spPr bwMode="auto">
          <a:xfrm>
            <a:off x="3443288" y="4994275"/>
            <a:ext cx="242887" cy="515938"/>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00" name="Line 169"/>
          <p:cNvSpPr>
            <a:spLocks noChangeShapeType="1"/>
          </p:cNvSpPr>
          <p:nvPr/>
        </p:nvSpPr>
        <p:spPr bwMode="auto">
          <a:xfrm flipH="1">
            <a:off x="4756150" y="4975225"/>
            <a:ext cx="246063" cy="53340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801" name="Line 170"/>
          <p:cNvSpPr>
            <a:spLocks noChangeShapeType="1"/>
          </p:cNvSpPr>
          <p:nvPr/>
        </p:nvSpPr>
        <p:spPr bwMode="auto">
          <a:xfrm>
            <a:off x="5195888" y="4991100"/>
            <a:ext cx="228600" cy="515938"/>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802" name="Line 171"/>
          <p:cNvSpPr>
            <a:spLocks noChangeShapeType="1"/>
          </p:cNvSpPr>
          <p:nvPr/>
        </p:nvSpPr>
        <p:spPr bwMode="auto">
          <a:xfrm flipH="1">
            <a:off x="6337300" y="4973638"/>
            <a:ext cx="138113" cy="519112"/>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803" name="Line 172"/>
          <p:cNvSpPr>
            <a:spLocks noChangeShapeType="1"/>
          </p:cNvSpPr>
          <p:nvPr/>
        </p:nvSpPr>
        <p:spPr bwMode="auto">
          <a:xfrm>
            <a:off x="6670675" y="4975225"/>
            <a:ext cx="303213" cy="515938"/>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153" name="Text Box 173"/>
          <p:cNvSpPr txBox="1">
            <a:spLocks noChangeArrowheads="1"/>
          </p:cNvSpPr>
          <p:nvPr/>
        </p:nvSpPr>
        <p:spPr bwMode="auto">
          <a:xfrm>
            <a:off x="560388" y="3619500"/>
            <a:ext cx="1855787" cy="554038"/>
          </a:xfrm>
          <a:prstGeom prst="rect">
            <a:avLst/>
          </a:prstGeom>
        </p:spPr>
        <p:style>
          <a:lnRef idx="2">
            <a:schemeClr val="dk1"/>
          </a:lnRef>
          <a:fillRef idx="1">
            <a:schemeClr val="lt1"/>
          </a:fillRef>
          <a:effectRef idx="0">
            <a:schemeClr val="dk1"/>
          </a:effectRef>
          <a:fontRef idx="minor">
            <a:schemeClr val="dk1"/>
          </a:fontRef>
        </p:style>
        <p:txBody>
          <a:bodyPr lIns="0" tIns="0" rIns="0" bIns="0">
            <a:spAutoFit/>
          </a:bodyPr>
          <a:lstStyle/>
          <a:p>
            <a:pPr eaLnBrk="1" hangingPunct="1">
              <a:spcBef>
                <a:spcPct val="50000"/>
              </a:spcBef>
              <a:defRPr/>
            </a:pP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Cr=14,V=45, LB = 45, UB= 45</a:t>
            </a:r>
            <a:endPar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830" name="Text Box 174"/>
          <p:cNvSpPr txBox="1">
            <a:spLocks noChangeArrowheads="1"/>
          </p:cNvSpPr>
          <p:nvPr/>
        </p:nvSpPr>
        <p:spPr bwMode="auto">
          <a:xfrm>
            <a:off x="6113463" y="3733800"/>
            <a:ext cx="271303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Cr=30,V=0 , LB = 50, UB= 50,  bestV = 50,  (0, 1, 1)</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8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89" grpId="0" animBg="1"/>
      <p:bldP spid="153" grpId="0" animBg="1"/>
      <p:bldP spid="338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2"/>
          <p:cNvSpPr>
            <a:spLocks noChangeArrowheads="1"/>
          </p:cNvSpPr>
          <p:nvPr/>
        </p:nvSpPr>
        <p:spPr bwMode="auto">
          <a:xfrm>
            <a:off x="4044950" y="4191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目录</a:t>
            </a:r>
            <a:endParaRPr lang="zh-CN" altLang="en-US" sz="3200">
              <a:solidFill>
                <a:schemeClr val="bg1"/>
              </a:solidFill>
              <a:latin typeface="楷体" panose="02010609060101010101" pitchFamily="49" charset="-122"/>
              <a:ea typeface="楷体" panose="02010609060101010101" pitchFamily="49" charset="-122"/>
            </a:endParaRPr>
          </a:p>
        </p:txBody>
      </p:sp>
      <p:graphicFrame>
        <p:nvGraphicFramePr>
          <p:cNvPr id="7" name="图示 6"/>
          <p:cNvGraphicFramePr/>
          <p:nvPr/>
        </p:nvGraphicFramePr>
        <p:xfrm>
          <a:off x="1552575" y="1549400"/>
          <a:ext cx="6096000" cy="46609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ustDataLst>
      <p:tags r:id="rId6"/>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分支限界法设计要素</a:t>
            </a:r>
            <a:endParaRPr lang="zh-CN" altLang="en-US" sz="3200">
              <a:solidFill>
                <a:schemeClr val="bg1"/>
              </a:solidFill>
              <a:latin typeface="楷体" panose="02010609060101010101" pitchFamily="49" charset="-122"/>
              <a:ea typeface="楷体" panose="02010609060101010101" pitchFamily="49" charset="-122"/>
            </a:endParaRPr>
          </a:p>
        </p:txBody>
      </p:sp>
      <p:sp>
        <p:nvSpPr>
          <p:cNvPr id="4" name="内容占位符 2"/>
          <p:cNvSpPr>
            <a:spLocks noGrp="1"/>
          </p:cNvSpPr>
          <p:nvPr>
            <p:ph idx="1"/>
          </p:nvPr>
        </p:nvSpPr>
        <p:spPr>
          <a:xfrm>
            <a:off x="563563" y="1314450"/>
            <a:ext cx="8178800" cy="4919663"/>
          </a:xfrm>
        </p:spPr>
        <p:style>
          <a:lnRef idx="2">
            <a:schemeClr val="accent1"/>
          </a:lnRef>
          <a:fillRef idx="1">
            <a:schemeClr val="lt1"/>
          </a:fillRef>
          <a:effectRef idx="0">
            <a:schemeClr val="accent1"/>
          </a:effectRef>
          <a:fontRef idx="minor">
            <a:schemeClr val="dk1"/>
          </a:fontRef>
        </p:style>
        <p:txBody>
          <a:bodyPr/>
          <a:lstStyle/>
          <a:p>
            <a:pPr marL="0" indent="0"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3200" b="1" kern="0" dirty="0" smtClean="0">
                <a:solidFill>
                  <a:sysClr val="windowText" lastClr="000000"/>
                </a:solidFill>
                <a:latin typeface="华文楷体" panose="02010600040101010101" pitchFamily="2" charset="-122"/>
                <a:ea typeface="华文楷体" panose="02010600040101010101" pitchFamily="2" charset="-122"/>
              </a:rPr>
              <a:t>针对问题定义解空间：</a:t>
            </a:r>
            <a:endParaRPr lang="zh-CN" altLang="en-US" sz="3200" b="1" kern="0" dirty="0" smtClean="0">
              <a:solidFill>
                <a:sysClr val="windowText" lastClr="000000"/>
              </a:solidFill>
              <a:latin typeface="华文楷体" panose="02010600040101010101" pitchFamily="2" charset="-122"/>
              <a:ea typeface="华文楷体" panose="02010600040101010101" pitchFamily="2" charset="-122"/>
            </a:endParaRPr>
          </a:p>
          <a:p>
            <a:pPr marL="467995" lvl="1" indent="0" defTabSz="914400" eaLnBrk="1" fontAlgn="auto" hangingPunct="1">
              <a:lnSpc>
                <a:spcPct val="150000"/>
              </a:lnSpc>
              <a:spcBef>
                <a:spcPts val="0"/>
              </a:spcBef>
              <a:spcAft>
                <a:spcPts val="0"/>
              </a:spcAft>
              <a:buClr>
                <a:srgbClr val="00B050"/>
              </a:buClr>
              <a:buFont typeface="Wingdings" panose="05000000000000000000" pitchFamily="2" charset="2"/>
              <a:buChar char="Ø"/>
              <a:defRPr/>
            </a:pPr>
            <a:r>
              <a:rPr lang="zh-CN" altLang="en-US" sz="3200" b="1" kern="0" dirty="0" smtClean="0">
                <a:solidFill>
                  <a:srgbClr val="FF0000"/>
                </a:solidFill>
                <a:latin typeface="华文楷体" panose="02010600040101010101" pitchFamily="2" charset="-122"/>
                <a:ea typeface="华文楷体" panose="02010600040101010101" pitchFamily="2" charset="-122"/>
              </a:rPr>
              <a:t>问题解向量</a:t>
            </a:r>
            <a:endParaRPr lang="zh-CN" altLang="en-US" sz="3200" b="1" kern="0" dirty="0" smtClean="0">
              <a:solidFill>
                <a:srgbClr val="FF0000"/>
              </a:solidFill>
              <a:latin typeface="华文楷体" panose="02010600040101010101" pitchFamily="2" charset="-122"/>
              <a:ea typeface="华文楷体" panose="02010600040101010101" pitchFamily="2" charset="-122"/>
            </a:endParaRPr>
          </a:p>
          <a:p>
            <a:pPr marL="467995" lvl="1" indent="0" defTabSz="914400" eaLnBrk="1" fontAlgn="auto" hangingPunct="1">
              <a:lnSpc>
                <a:spcPct val="150000"/>
              </a:lnSpc>
              <a:spcBef>
                <a:spcPts val="0"/>
              </a:spcBef>
              <a:spcAft>
                <a:spcPts val="0"/>
              </a:spcAft>
              <a:buClr>
                <a:srgbClr val="00B050"/>
              </a:buClr>
              <a:buFont typeface="Wingdings" panose="05000000000000000000" pitchFamily="2" charset="2"/>
              <a:buChar char="Ø"/>
              <a:defRPr/>
            </a:pPr>
            <a:r>
              <a:rPr lang="zh-CN" altLang="en-US" sz="3200" b="1" kern="0" dirty="0" smtClean="0">
                <a:solidFill>
                  <a:srgbClr val="FF0000"/>
                </a:solidFill>
                <a:latin typeface="华文楷体" panose="02010600040101010101" pitchFamily="2" charset="-122"/>
                <a:ea typeface="华文楷体" panose="02010600040101010101" pitchFamily="2" charset="-122"/>
              </a:rPr>
              <a:t>解向量分量取值集合</a:t>
            </a:r>
            <a:endParaRPr lang="zh-CN" altLang="en-US" sz="3200" b="1" kern="0" dirty="0" smtClean="0">
              <a:solidFill>
                <a:srgbClr val="FF0000"/>
              </a:solidFill>
              <a:latin typeface="华文楷体" panose="02010600040101010101" pitchFamily="2" charset="-122"/>
              <a:ea typeface="华文楷体" panose="02010600040101010101" pitchFamily="2" charset="-122"/>
            </a:endParaRPr>
          </a:p>
          <a:p>
            <a:pPr marL="467995" lvl="1" indent="0" defTabSz="914400" eaLnBrk="1" fontAlgn="auto" hangingPunct="1">
              <a:lnSpc>
                <a:spcPct val="150000"/>
              </a:lnSpc>
              <a:spcBef>
                <a:spcPts val="0"/>
              </a:spcBef>
              <a:spcAft>
                <a:spcPts val="0"/>
              </a:spcAft>
              <a:buClr>
                <a:srgbClr val="00B050"/>
              </a:buClr>
              <a:buFont typeface="Wingdings" panose="05000000000000000000" pitchFamily="2" charset="2"/>
              <a:buChar char="Ø"/>
              <a:defRPr/>
            </a:pPr>
            <a:r>
              <a:rPr lang="zh-CN" altLang="en-US" sz="3200" b="1" kern="0" dirty="0" smtClean="0">
                <a:solidFill>
                  <a:srgbClr val="FF0000"/>
                </a:solidFill>
                <a:latin typeface="华文楷体" panose="02010600040101010101" pitchFamily="2" charset="-122"/>
                <a:ea typeface="华文楷体" panose="02010600040101010101" pitchFamily="2" charset="-122"/>
              </a:rPr>
              <a:t>构造解空间树</a:t>
            </a:r>
            <a:endParaRPr lang="zh-CN" altLang="en-US" sz="3200" b="1" kern="0" dirty="0" smtClean="0">
              <a:solidFill>
                <a:srgbClr val="FF0000"/>
              </a:solidFill>
              <a:latin typeface="华文楷体" panose="02010600040101010101" pitchFamily="2" charset="-122"/>
              <a:ea typeface="华文楷体" panose="02010600040101010101" pitchFamily="2" charset="-122"/>
            </a:endParaRPr>
          </a:p>
          <a:p>
            <a:pPr marL="0" indent="0"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3200" b="1" kern="0" dirty="0" smtClean="0">
                <a:solidFill>
                  <a:sysClr val="windowText" lastClr="000000"/>
                </a:solidFill>
                <a:latin typeface="华文楷体" panose="02010600040101010101" pitchFamily="2" charset="-122"/>
                <a:ea typeface="华文楷体" panose="02010600040101010101" pitchFamily="2" charset="-122"/>
              </a:rPr>
              <a:t>判断问题是否满足</a:t>
            </a:r>
            <a:r>
              <a:rPr lang="zh-CN" altLang="en-US" sz="3200" b="1" kern="0" dirty="0" smtClean="0">
                <a:solidFill>
                  <a:srgbClr val="FF0000"/>
                </a:solidFill>
                <a:latin typeface="华文楷体" panose="02010600040101010101" pitchFamily="2" charset="-122"/>
                <a:ea typeface="华文楷体" panose="02010600040101010101" pitchFamily="2" charset="-122"/>
              </a:rPr>
              <a:t>多米诺性质</a:t>
            </a:r>
            <a:endParaRPr lang="zh-CN" altLang="en-US" sz="3200" b="1" kern="0" dirty="0" smtClean="0">
              <a:solidFill>
                <a:srgbClr val="FF0000"/>
              </a:solidFill>
              <a:latin typeface="华文楷体" panose="02010600040101010101" pitchFamily="2" charset="-122"/>
              <a:ea typeface="华文楷体" panose="02010600040101010101" pitchFamily="2" charset="-122"/>
            </a:endParaRPr>
          </a:p>
          <a:p>
            <a:pPr marL="0" indent="0" defTabSz="914400" eaLnBrk="1" fontAlgn="auto" hangingPunct="1">
              <a:lnSpc>
                <a:spcPct val="150000"/>
              </a:lnSpc>
              <a:spcBef>
                <a:spcPts val="0"/>
              </a:spcBef>
              <a:spcAft>
                <a:spcPts val="0"/>
              </a:spcAft>
              <a:buClr>
                <a:srgbClr val="00B050"/>
              </a:buClr>
              <a:buSzTx/>
              <a:buFont typeface="Wingdings" panose="05000000000000000000" pitchFamily="2" charset="2"/>
              <a:buChar char="u"/>
              <a:defRPr/>
            </a:pPr>
            <a:r>
              <a:rPr lang="zh-CN" altLang="en-US" sz="3200" b="1" kern="0" dirty="0" smtClean="0">
                <a:solidFill>
                  <a:sysClr val="windowText" lastClr="000000"/>
                </a:solidFill>
                <a:latin typeface="华文楷体" panose="02010600040101010101" pitchFamily="2" charset="-122"/>
                <a:ea typeface="华文楷体" panose="02010600040101010101" pitchFamily="2" charset="-122"/>
              </a:rPr>
              <a:t>确定剪枝函数与</a:t>
            </a:r>
            <a:r>
              <a:rPr lang="zh-CN" altLang="en-US" sz="3200" b="1" kern="0" dirty="0" smtClean="0">
                <a:solidFill>
                  <a:srgbClr val="FF0000"/>
                </a:solidFill>
                <a:latin typeface="华文楷体" panose="02010600040101010101" pitchFamily="2" charset="-122"/>
                <a:ea typeface="华文楷体" panose="02010600040101010101" pitchFamily="2" charset="-122"/>
              </a:rPr>
              <a:t>界函数</a:t>
            </a:r>
            <a:endParaRPr lang="zh-CN" altLang="en-US" sz="3200" b="1" kern="0" dirty="0" smtClean="0">
              <a:solidFill>
                <a:srgbClr val="FF0000"/>
              </a:solidFill>
              <a:latin typeface="华文楷体" panose="02010600040101010101" pitchFamily="2" charset="-122"/>
              <a:ea typeface="华文楷体" panose="02010600040101010101" pitchFamily="2" charset="-122"/>
            </a:endParaRPr>
          </a:p>
        </p:txBody>
      </p:sp>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分支限界法设计要素</a:t>
            </a:r>
            <a:endParaRPr lang="zh-CN" altLang="en-US" sz="3200">
              <a:solidFill>
                <a:schemeClr val="bg1"/>
              </a:solidFill>
              <a:latin typeface="楷体" panose="02010609060101010101" pitchFamily="49" charset="-122"/>
              <a:ea typeface="楷体" panose="02010609060101010101" pitchFamily="49" charset="-122"/>
            </a:endParaRPr>
          </a:p>
        </p:txBody>
      </p:sp>
      <p:sp>
        <p:nvSpPr>
          <p:cNvPr id="29699" name="内容占位符 2"/>
          <p:cNvSpPr>
            <a:spLocks noGrp="1"/>
          </p:cNvSpPr>
          <p:nvPr>
            <p:ph idx="1"/>
          </p:nvPr>
        </p:nvSpPr>
        <p:spPr>
          <a:xfrm>
            <a:off x="320675" y="1419225"/>
            <a:ext cx="8574088" cy="4446588"/>
          </a:xfrm>
        </p:spPr>
        <p:style>
          <a:lnRef idx="2">
            <a:schemeClr val="dk1"/>
          </a:lnRef>
          <a:fillRef idx="1">
            <a:schemeClr val="lt1"/>
          </a:fillRef>
          <a:effectRef idx="0">
            <a:schemeClr val="dk1"/>
          </a:effectRef>
          <a:fontRef idx="minor">
            <a:schemeClr val="dk1"/>
          </a:fontRef>
        </p:style>
        <p:txBody>
          <a:bodyPr/>
          <a:lstStyle/>
          <a:p>
            <a:pPr>
              <a:lnSpc>
                <a:spcPct val="200000"/>
              </a:lnSpc>
              <a:buClr>
                <a:srgbClr val="00B050"/>
              </a:buClr>
              <a:buFont typeface="Wingdings" panose="05000000000000000000" pitchFamily="2" charset="2"/>
              <a:buChar char="u"/>
              <a:defRPr/>
            </a:pPr>
            <a:r>
              <a:rPr lang="zh-CN" altLang="en-US" sz="3200" b="1" dirty="0" smtClean="0">
                <a:solidFill>
                  <a:srgbClr val="FF0000"/>
                </a:solidFill>
                <a:latin typeface="华文楷体" panose="02010600040101010101" pitchFamily="2" charset="-122"/>
                <a:ea typeface="华文楷体" panose="02010600040101010101" pitchFamily="2" charset="-122"/>
              </a:rPr>
              <a:t>适用条件</a:t>
            </a:r>
            <a:r>
              <a:rPr lang="zh-CN" altLang="en-US" sz="3200" b="1" dirty="0" smtClean="0">
                <a:solidFill>
                  <a:srgbClr val="303030"/>
                </a:solidFill>
                <a:latin typeface="华文楷体" panose="02010600040101010101" pitchFamily="2" charset="-122"/>
                <a:ea typeface="华文楷体" panose="02010600040101010101" pitchFamily="2" charset="-122"/>
              </a:rPr>
              <a:t>：与回溯法相同，问题需要具备</a:t>
            </a:r>
            <a:r>
              <a:rPr lang="zh-CN" altLang="en-US" sz="3200" b="1" dirty="0" smtClean="0">
                <a:solidFill>
                  <a:srgbClr val="FF0000"/>
                </a:solidFill>
                <a:latin typeface="华文楷体" panose="02010600040101010101" pitchFamily="2" charset="-122"/>
                <a:ea typeface="华文楷体" panose="02010600040101010101" pitchFamily="2" charset="-122"/>
              </a:rPr>
              <a:t>多米诺</a:t>
            </a:r>
            <a:r>
              <a:rPr lang="zh-CN" altLang="en-US" sz="3200" b="1" dirty="0" smtClean="0">
                <a:solidFill>
                  <a:srgbClr val="303030"/>
                </a:solidFill>
                <a:latin typeface="华文楷体" panose="02010600040101010101" pitchFamily="2" charset="-122"/>
                <a:ea typeface="华文楷体" panose="02010600040101010101" pitchFamily="2" charset="-122"/>
              </a:rPr>
              <a:t>性质。</a:t>
            </a:r>
            <a:endParaRPr lang="en-US" altLang="zh-CN" sz="3200" b="1" dirty="0" smtClean="0">
              <a:solidFill>
                <a:srgbClr val="303030"/>
              </a:solidFill>
              <a:latin typeface="华文楷体" panose="02010600040101010101" pitchFamily="2" charset="-122"/>
              <a:ea typeface="华文楷体" panose="02010600040101010101" pitchFamily="2" charset="-122"/>
            </a:endParaRPr>
          </a:p>
          <a:p>
            <a:pPr>
              <a:lnSpc>
                <a:spcPct val="200000"/>
              </a:lnSpc>
              <a:buClr>
                <a:srgbClr val="00B050"/>
              </a:buClr>
              <a:buFont typeface="Wingdings" panose="05000000000000000000" pitchFamily="2" charset="2"/>
              <a:buChar char="u"/>
              <a:defRPr/>
            </a:pPr>
            <a:r>
              <a:rPr lang="zh-CN" altLang="en-US" sz="3200" b="1" dirty="0" smtClean="0">
                <a:solidFill>
                  <a:srgbClr val="FF0000"/>
                </a:solidFill>
                <a:latin typeface="华文楷体" panose="02010600040101010101" pitchFamily="2" charset="-122"/>
                <a:ea typeface="华文楷体" panose="02010600040101010101" pitchFamily="2" charset="-122"/>
              </a:rPr>
              <a:t>适用问题</a:t>
            </a:r>
            <a:r>
              <a:rPr lang="zh-CN" altLang="en-US" sz="3200" b="1" dirty="0" smtClean="0">
                <a:solidFill>
                  <a:srgbClr val="303030"/>
                </a:solidFill>
                <a:latin typeface="华文楷体" panose="02010600040101010101" pitchFamily="2" charset="-122"/>
                <a:ea typeface="华文楷体" panose="02010600040101010101" pitchFamily="2" charset="-122"/>
              </a:rPr>
              <a:t>：适合于求解</a:t>
            </a:r>
            <a:r>
              <a:rPr lang="zh-CN" altLang="en-US" sz="3200" b="1" dirty="0" smtClean="0">
                <a:solidFill>
                  <a:srgbClr val="FF0000"/>
                </a:solidFill>
                <a:latin typeface="华文楷体" panose="02010600040101010101" pitchFamily="2" charset="-122"/>
                <a:ea typeface="华文楷体" panose="02010600040101010101" pitchFamily="2" charset="-122"/>
              </a:rPr>
              <a:t>最优解或一个可行解</a:t>
            </a:r>
            <a:endParaRPr lang="zh-CN" altLang="en-US" sz="3200" b="1" dirty="0" smtClean="0">
              <a:solidFill>
                <a:srgbClr val="FF0000"/>
              </a:solidFill>
              <a:latin typeface="华文楷体" panose="02010600040101010101" pitchFamily="2" charset="-122"/>
              <a:ea typeface="华文楷体" panose="02010600040101010101" pitchFamily="2" charset="-122"/>
            </a:endParaRPr>
          </a:p>
          <a:p>
            <a:pPr eaLnBrk="1" hangingPunct="1">
              <a:lnSpc>
                <a:spcPct val="200000"/>
              </a:lnSpc>
              <a:spcBef>
                <a:spcPct val="0"/>
              </a:spcBef>
              <a:buClr>
                <a:srgbClr val="00B050"/>
              </a:buClr>
              <a:buSzTx/>
              <a:buFont typeface="Wingdings" panose="05000000000000000000" pitchFamily="2" charset="2"/>
              <a:buChar char="u"/>
              <a:defRPr/>
            </a:pPr>
            <a:r>
              <a:rPr lang="zh-CN" altLang="en-US" sz="3200" b="1" dirty="0" smtClean="0">
                <a:solidFill>
                  <a:srgbClr val="FF0000"/>
                </a:solidFill>
                <a:latin typeface="华文楷体" panose="02010600040101010101" pitchFamily="2" charset="-122"/>
                <a:ea typeface="华文楷体" panose="02010600040101010101" pitchFamily="2" charset="-122"/>
              </a:rPr>
              <a:t>程序结构</a:t>
            </a:r>
            <a:r>
              <a:rPr lang="zh-CN" altLang="en-US" sz="3200" b="1" dirty="0" smtClean="0">
                <a:solidFill>
                  <a:srgbClr val="303030"/>
                </a:solidFill>
                <a:latin typeface="华文楷体" panose="02010600040101010101" pitchFamily="2" charset="-122"/>
                <a:ea typeface="华文楷体" panose="02010600040101010101" pitchFamily="2" charset="-122"/>
              </a:rPr>
              <a:t>：结点扩展适合采用</a:t>
            </a:r>
            <a:r>
              <a:rPr lang="zh-CN" altLang="en-US" sz="3200" b="1" dirty="0" smtClean="0">
                <a:solidFill>
                  <a:srgbClr val="FF0000"/>
                </a:solidFill>
                <a:latin typeface="华文楷体" panose="02010600040101010101" pitchFamily="2" charset="-122"/>
                <a:ea typeface="华文楷体" panose="02010600040101010101" pitchFamily="2" charset="-122"/>
              </a:rPr>
              <a:t>迭代法</a:t>
            </a:r>
            <a:r>
              <a:rPr lang="zh-CN" altLang="en-US" sz="3200" b="1" dirty="0" smtClean="0">
                <a:solidFill>
                  <a:srgbClr val="303030"/>
                </a:solidFill>
                <a:latin typeface="华文楷体" panose="02010600040101010101" pitchFamily="2" charset="-122"/>
                <a:ea typeface="华文楷体" panose="02010600040101010101" pitchFamily="2" charset="-122"/>
              </a:rPr>
              <a:t>进行。</a:t>
            </a:r>
            <a:endParaRPr lang="en-US" altLang="zh-CN" sz="3200" b="1" dirty="0" smtClean="0">
              <a:solidFill>
                <a:srgbClr val="303030"/>
              </a:solidFill>
              <a:latin typeface="华文楷体" panose="02010600040101010101" pitchFamily="2" charset="-122"/>
              <a:ea typeface="华文楷体" panose="02010600040101010101" pitchFamily="2" charset="-122"/>
            </a:endParaRPr>
          </a:p>
          <a:p>
            <a:pPr eaLnBrk="1" hangingPunct="1">
              <a:lnSpc>
                <a:spcPct val="100000"/>
              </a:lnSpc>
              <a:spcBef>
                <a:spcPct val="0"/>
              </a:spcBef>
              <a:buClrTx/>
              <a:buSzTx/>
              <a:buFontTx/>
              <a:buNone/>
              <a:defRPr/>
            </a:pPr>
            <a:endParaRPr lang="zh-CN" altLang="en-US" dirty="0" smtClean="0">
              <a:solidFill>
                <a:srgbClr val="000000"/>
              </a:solidFill>
            </a:endParaRPr>
          </a:p>
        </p:txBody>
      </p:sp>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2"/>
          <p:cNvSpPr>
            <a:spLocks noChangeArrowheads="1"/>
          </p:cNvSpPr>
          <p:nvPr/>
        </p:nvSpPr>
        <p:spPr bwMode="auto">
          <a:xfrm>
            <a:off x="4044950" y="4191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目录</a:t>
            </a:r>
            <a:endParaRPr lang="zh-CN" altLang="en-US" sz="3200">
              <a:solidFill>
                <a:schemeClr val="bg1"/>
              </a:solidFill>
              <a:latin typeface="楷体" panose="02010609060101010101" pitchFamily="49" charset="-122"/>
              <a:ea typeface="楷体" panose="02010609060101010101" pitchFamily="49" charset="-122"/>
            </a:endParaRPr>
          </a:p>
        </p:txBody>
      </p:sp>
      <p:graphicFrame>
        <p:nvGraphicFramePr>
          <p:cNvPr id="7" name="图示 6"/>
          <p:cNvGraphicFramePr/>
          <p:nvPr/>
        </p:nvGraphicFramePr>
        <p:xfrm>
          <a:off x="1552575" y="1549400"/>
          <a:ext cx="6096000" cy="46609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ustDataLst>
      <p:tags r:id="rId6"/>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矩形 2"/>
          <p:cNvSpPr>
            <a:spLocks noChangeArrowheads="1"/>
          </p:cNvSpPr>
          <p:nvPr/>
        </p:nvSpPr>
        <p:spPr bwMode="auto">
          <a:xfrm>
            <a:off x="292100" y="376238"/>
            <a:ext cx="47831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13" name="内容占位符 2"/>
          <p:cNvSpPr>
            <a:spLocks noGrp="1"/>
          </p:cNvSpPr>
          <p:nvPr>
            <p:ph idx="1"/>
          </p:nvPr>
        </p:nvSpPr>
        <p:spPr>
          <a:xfrm>
            <a:off x="396875" y="1316038"/>
            <a:ext cx="8472488" cy="4779962"/>
          </a:xfrm>
        </p:spPr>
        <p:txBody>
          <a:bodyPr/>
          <a:lstStyle/>
          <a:p>
            <a:pPr marL="0" indent="0" defTabSz="914400" eaLnBrk="1" fontAlgn="auto" hangingPunct="1">
              <a:lnSpc>
                <a:spcPct val="100000"/>
              </a:lnSpc>
              <a:spcBef>
                <a:spcPts val="0"/>
              </a:spcBef>
              <a:spcAft>
                <a:spcPts val="0"/>
              </a:spcAft>
              <a:buClrTx/>
              <a:buSzTx/>
              <a:buFontTx/>
              <a:buNone/>
              <a:defRPr/>
            </a:pPr>
            <a:endParaRPr lang="zh-CN" altLang="en-US" sz="2800" b="1" kern="0" dirty="0" smtClean="0">
              <a:solidFill>
                <a:srgbClr val="FF0000"/>
              </a:solidFill>
              <a:latin typeface="华文楷体" panose="02010600040101010101" pitchFamily="2" charset="-122"/>
              <a:ea typeface="华文楷体" panose="02010600040101010101" pitchFamily="2" charset="-122"/>
            </a:endParaRPr>
          </a:p>
        </p:txBody>
      </p:sp>
      <p:sp>
        <p:nvSpPr>
          <p:cNvPr id="1029" name="Text Box 4"/>
          <p:cNvSpPr txBox="1">
            <a:spLocks noChangeArrowheads="1"/>
          </p:cNvSpPr>
          <p:nvPr/>
        </p:nvSpPr>
        <p:spPr bwMode="auto">
          <a:xfrm>
            <a:off x="477838" y="1436688"/>
            <a:ext cx="8099425" cy="2738437"/>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有一批共</a:t>
            </a:r>
            <a:r>
              <a:rPr lang="en-US" altLang="zh-CN" sz="2800" b="1" i="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个集装箱要装上</a:t>
            </a:r>
            <a:r>
              <a:rPr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艘载重量分别为</a:t>
            </a:r>
            <a:r>
              <a:rPr lang="en-US" altLang="zh-CN" sz="2800" b="1" i="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r>
              <a:rPr lang="en-US" altLang="zh-CN" sz="28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b="1" i="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r>
              <a:rPr lang="en-US" altLang="zh-CN" sz="28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的轮船，其中集装箱</a:t>
            </a:r>
            <a:r>
              <a:rPr lang="en-US" altLang="zh-CN" sz="2800" b="1" i="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的重量为</a:t>
            </a:r>
            <a:r>
              <a:rPr lang="en-US" altLang="zh-CN" sz="2800" b="1" i="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800" b="1" i="1" baseline="-25000"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，且</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endPar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装载问题要求确定是否有一个合理的装载方案可将这批集装箱装上这</a:t>
            </a:r>
            <a:r>
              <a:rPr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艘轮船。如果有，找出一种装载方案。</a:t>
            </a:r>
            <a:endPar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30" name="Text Box 7"/>
          <p:cNvSpPr txBox="1">
            <a:spLocks noChangeArrowheads="1"/>
          </p:cNvSpPr>
          <p:nvPr/>
        </p:nvSpPr>
        <p:spPr bwMode="auto">
          <a:xfrm>
            <a:off x="498475" y="4392613"/>
            <a:ext cx="8116888" cy="1530350"/>
          </a:xfrm>
          <a:prstGeom prst="rect">
            <a:avLst/>
          </a:prstGeom>
        </p:spPr>
        <p:style>
          <a:lnRef idx="2">
            <a:schemeClr val="accent2"/>
          </a:lnRef>
          <a:fillRef idx="1">
            <a:schemeClr val="lt1"/>
          </a:fillRef>
          <a:effectRef idx="0">
            <a:schemeClr val="accent2"/>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例如：当</a:t>
            </a:r>
            <a:r>
              <a:rPr lang="en-US" altLang="zh-CN" sz="2800" b="1" i="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3, </a:t>
            </a:r>
            <a:r>
              <a:rPr lang="en-US" altLang="zh-CN" sz="2800" b="1" i="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r>
              <a:rPr lang="en-US" altLang="zh-CN" sz="2800" b="1" baseline="-2500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i="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r>
              <a:rPr lang="en-US" altLang="zh-CN" sz="2800" b="1" baseline="-2500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=50,</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且</a:t>
            </a:r>
            <a:r>
              <a:rPr lang="en-US" altLang="zh-CN" sz="2800" b="1" i="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[10,40,40]</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时，可将</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装上第一艘轮船，</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装入第二艘轮船；若</a:t>
            </a:r>
            <a:r>
              <a:rPr lang="en-US" altLang="zh-CN" sz="2800" b="1" i="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 </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[20,40,40]</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，则无法将这三个集装箱都装上轮船。</a:t>
            </a:r>
            <a:endPar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026" name="Object 5"/>
          <p:cNvGraphicFramePr>
            <a:graphicFrameLocks noChangeAspect="1"/>
          </p:cNvGraphicFramePr>
          <p:nvPr/>
        </p:nvGraphicFramePr>
        <p:xfrm>
          <a:off x="6359525" y="1814513"/>
          <a:ext cx="1836738" cy="849312"/>
        </p:xfrm>
        <a:graphic>
          <a:graphicData uri="http://schemas.openxmlformats.org/presentationml/2006/ole">
            <mc:AlternateContent xmlns:mc="http://schemas.openxmlformats.org/markup-compatibility/2006">
              <mc:Choice xmlns:v="urn:schemas-microsoft-com:vml" Requires="v">
                <p:oleObj spid="_x0000_s1155" name="Microsoft 公式 3.0" r:id="rId1" imgW="927100" imgH="431800" progId="Equation.3">
                  <p:embed/>
                </p:oleObj>
              </mc:Choice>
              <mc:Fallback>
                <p:oleObj name="Microsoft 公式 3.0" r:id="rId1" imgW="927100" imgH="431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9525" y="1814513"/>
                        <a:ext cx="1836738"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矩形 2"/>
          <p:cNvSpPr>
            <a:spLocks noChangeArrowheads="1"/>
          </p:cNvSpPr>
          <p:nvPr/>
        </p:nvSpPr>
        <p:spPr bwMode="auto">
          <a:xfrm>
            <a:off x="292100" y="376238"/>
            <a:ext cx="4522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2052" name="Text Box 4"/>
          <p:cNvSpPr txBox="1">
            <a:spLocks noChangeArrowheads="1"/>
          </p:cNvSpPr>
          <p:nvPr/>
        </p:nvSpPr>
        <p:spPr bwMode="auto">
          <a:xfrm>
            <a:off x="538163" y="1371600"/>
            <a:ext cx="8281987" cy="2695575"/>
          </a:xfrm>
          <a:prstGeom prst="rect">
            <a:avLst/>
          </a:prstGeom>
        </p:spPr>
        <p:style>
          <a:lnRef idx="2">
            <a:schemeClr val="dk1"/>
          </a:lnRef>
          <a:fillRef idx="1">
            <a:schemeClr val="lt1"/>
          </a:fillRef>
          <a:effectRef idx="0">
            <a:schemeClr val="dk1"/>
          </a:effectRef>
          <a:fontRef idx="minor">
            <a:schemeClr val="dk1"/>
          </a:fontRef>
        </p:style>
        <p:txBody>
          <a:bodyPr/>
          <a:lstStyle/>
          <a:p>
            <a:pPr eaLnBrk="1" hangingPunct="1">
              <a:defRPr/>
            </a:pPr>
            <a:r>
              <a:rPr lang="zh-CN" altLang="en-US" sz="2400" b="1" dirty="0">
                <a:solidFill>
                  <a:schemeClr val="tx2">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容易证明，如果一个给定装载问题有解，则采用下面的策略可得到一个装载方案。</a:t>
            </a:r>
            <a:endParaRPr lang="zh-CN" altLang="en-US" sz="2400" b="1" dirty="0">
              <a:solidFill>
                <a:schemeClr val="tx2">
                  <a:lumMod val="50000"/>
                </a:schemeClr>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defRPr/>
            </a:pPr>
            <a:r>
              <a:rPr lang="en-US" altLang="zh-CN"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(1)</a:t>
            </a:r>
            <a:r>
              <a:rPr lang="zh-CN" altLang="en-US"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首先将第一艘轮船尽可能装满；</a:t>
            </a:r>
            <a:endParaRPr lang="zh-CN" altLang="en-US"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defRPr/>
            </a:pPr>
            <a:r>
              <a:rPr lang="en-US" altLang="zh-CN" sz="2400" b="1"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(2)</a:t>
            </a:r>
            <a:r>
              <a:rPr lang="zh-CN" altLang="en-US" sz="2400" b="1"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将剩余的集装箱装上第二艘轮船。</a:t>
            </a:r>
            <a:endParaRPr lang="zh-CN" altLang="en-US" sz="2400" b="1"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defRPr/>
            </a:pPr>
            <a:r>
              <a:rPr lang="zh-CN" altLang="en-US" sz="2400" b="1"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将第一艘轮船尽可能装满等价于选取全体集装箱的一个子集，使该子集中集装箱重量之和最接近。</a:t>
            </a:r>
            <a:r>
              <a:rPr lang="zh-CN" altLang="en-US"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由此可知，装载问题等价于以下特殊的</a:t>
            </a:r>
            <a:r>
              <a:rPr lang="en-US" altLang="zh-CN"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0-1</a:t>
            </a:r>
            <a:r>
              <a:rPr lang="zh-CN" altLang="en-US"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背包问题。</a:t>
            </a:r>
            <a:endParaRPr lang="zh-CN" altLang="en-US" sz="24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p:txBody>
      </p:sp>
      <p:graphicFrame>
        <p:nvGraphicFramePr>
          <p:cNvPr id="2050" name="Object 5"/>
          <p:cNvGraphicFramePr>
            <a:graphicFrameLocks noChangeAspect="1"/>
          </p:cNvGraphicFramePr>
          <p:nvPr/>
        </p:nvGraphicFramePr>
        <p:xfrm>
          <a:off x="4976813" y="4205288"/>
          <a:ext cx="2146300" cy="2146300"/>
        </p:xfrm>
        <a:graphic>
          <a:graphicData uri="http://schemas.openxmlformats.org/presentationml/2006/ole">
            <mc:AlternateContent xmlns:mc="http://schemas.openxmlformats.org/markup-compatibility/2006">
              <mc:Choice xmlns:v="urn:schemas-microsoft-com:vml" Requires="v">
                <p:oleObj spid="_x0000_s2178" name="公式" r:id="rId1" imgW="1104900" imgH="1104900" progId="Equation.3">
                  <p:embed/>
                </p:oleObj>
              </mc:Choice>
              <mc:Fallback>
                <p:oleObj name="公式" r:id="rId1" imgW="1104900" imgH="11049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813" y="4205288"/>
                        <a:ext cx="2146300"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p:nvPr/>
        </p:nvSpPr>
        <p:spPr>
          <a:xfrm>
            <a:off x="1073150" y="4795838"/>
            <a:ext cx="2538413" cy="86836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zh-CN" altLang="en-US" sz="2800" dirty="0">
                <a:latin typeface="华文楷体" panose="02010600040101010101" pitchFamily="2" charset="-122"/>
                <a:ea typeface="华文楷体" panose="02010600040101010101" pitchFamily="2" charset="-122"/>
              </a:rPr>
              <a:t>问题模型</a:t>
            </a:r>
            <a:endParaRPr lang="zh-CN" altLang="en-US" sz="2800" dirty="0">
              <a:latin typeface="华文楷体" panose="02010600040101010101" pitchFamily="2" charset="-122"/>
              <a:ea typeface="华文楷体" panose="02010600040101010101" pitchFamily="2" charset="-122"/>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2"/>
          <p:cNvSpPr>
            <a:spLocks noChangeArrowheads="1"/>
          </p:cNvSpPr>
          <p:nvPr/>
        </p:nvSpPr>
        <p:spPr bwMode="auto">
          <a:xfrm>
            <a:off x="292100" y="376238"/>
            <a:ext cx="56419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(FIFO)</a:t>
            </a:r>
            <a:endPar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Text Box 4"/>
          <p:cNvSpPr txBox="1">
            <a:spLocks noChangeArrowheads="1"/>
          </p:cNvSpPr>
          <p:nvPr/>
        </p:nvSpPr>
        <p:spPr bwMode="auto">
          <a:xfrm>
            <a:off x="271463" y="1227138"/>
            <a:ext cx="8605837" cy="5154612"/>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lnSpc>
                <a:spcPct val="150000"/>
              </a:lnSpc>
              <a:buClr>
                <a:schemeClr val="accent2"/>
              </a:buClr>
              <a:defRPr/>
            </a:pPr>
            <a:r>
              <a:rPr lang="zh-CN" altLang="en-US"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算法思想</a:t>
            </a: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：问题的解空间为子集树，搜索空间为</a:t>
            </a: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3000" b="1" i="1" baseline="30000"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000" b="1" i="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为物品的数量。</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chemeClr val="accent2"/>
              </a:buClr>
              <a:defRPr/>
            </a:pP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）用</a:t>
            </a: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FIFO</a:t>
            </a: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分支搜索所有的分支，并记录已搜索的分支的最优解，搜索完子集树，就找到了问题的解。</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chemeClr val="accent2"/>
              </a:buClr>
              <a:defRPr/>
            </a:pP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要想求出最优解，必须搜索到</a:t>
            </a:r>
            <a:r>
              <a:rPr lang="zh-CN" altLang="en-US"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叶结点</a:t>
            </a: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。需要记录树的层次，</a:t>
            </a:r>
            <a:r>
              <a:rPr lang="zh-CN" altLang="en-US"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可以每处理完一层让</a:t>
            </a:r>
            <a:r>
              <a:rPr lang="en-US" altLang="zh-CN"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入队，来识别层数。</a:t>
            </a:r>
            <a:endParaRPr lang="zh-CN" altLang="en-US"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2"/>
          <p:cNvSpPr>
            <a:spLocks noChangeArrowheads="1"/>
          </p:cNvSpPr>
          <p:nvPr/>
        </p:nvSpPr>
        <p:spPr bwMode="auto">
          <a:xfrm>
            <a:off x="292100" y="376238"/>
            <a:ext cx="56419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(FIFO)</a:t>
            </a:r>
            <a:endPar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12" name="椭圆 11"/>
          <p:cNvSpPr/>
          <p:nvPr/>
        </p:nvSpPr>
        <p:spPr>
          <a:xfrm>
            <a:off x="2279650" y="1122363"/>
            <a:ext cx="914400" cy="901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3200" b="1" dirty="0">
                <a:latin typeface="Times New Roman" panose="02020603050405020304" pitchFamily="18" charset="0"/>
                <a:cs typeface="Times New Roman" panose="02020603050405020304" pitchFamily="18" charset="0"/>
              </a:rPr>
              <a:t>r</a:t>
            </a:r>
            <a:r>
              <a:rPr lang="en-US" altLang="zh-CN" sz="3200" b="1" baseline="-25000" dirty="0">
                <a:latin typeface="Times New Roman" panose="02020603050405020304" pitchFamily="18" charset="0"/>
                <a:cs typeface="Times New Roman" panose="02020603050405020304" pitchFamily="18" charset="0"/>
              </a:rPr>
              <a:t>0</a:t>
            </a:r>
            <a:endParaRPr lang="zh-CN" altLang="en-US" sz="3200" b="1" baseline="-25000" dirty="0">
              <a:latin typeface="Times New Roman" panose="02020603050405020304" pitchFamily="18" charset="0"/>
              <a:cs typeface="Times New Roman" panose="02020603050405020304" pitchFamily="18" charset="0"/>
            </a:endParaRPr>
          </a:p>
        </p:txBody>
      </p:sp>
      <p:sp>
        <p:nvSpPr>
          <p:cNvPr id="13" name="Text Box 4"/>
          <p:cNvSpPr txBox="1">
            <a:spLocks noChangeArrowheads="1"/>
          </p:cNvSpPr>
          <p:nvPr/>
        </p:nvSpPr>
        <p:spPr bwMode="auto">
          <a:xfrm>
            <a:off x="5449888" y="1346200"/>
            <a:ext cx="2944812" cy="912813"/>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lnSpc>
                <a:spcPct val="150000"/>
              </a:lnSpc>
              <a:buClr>
                <a:schemeClr val="accent2"/>
              </a:buClr>
              <a:defRPr/>
            </a:pP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Queue={</a:t>
            </a:r>
            <a:r>
              <a:rPr lang="en-US" altLang="zh-CN"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3000" b="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-1}</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4" name="椭圆 13"/>
          <p:cNvSpPr/>
          <p:nvPr/>
        </p:nvSpPr>
        <p:spPr>
          <a:xfrm>
            <a:off x="923925" y="2878138"/>
            <a:ext cx="914400" cy="901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3200" b="1" dirty="0">
                <a:latin typeface="Times New Roman" panose="02020603050405020304" pitchFamily="18" charset="0"/>
                <a:cs typeface="Times New Roman" panose="02020603050405020304" pitchFamily="18" charset="0"/>
              </a:rPr>
              <a:t>A</a:t>
            </a:r>
            <a:endParaRPr lang="zh-CN" altLang="en-US" sz="3200" b="1" dirty="0">
              <a:latin typeface="Times New Roman" panose="02020603050405020304" pitchFamily="18" charset="0"/>
              <a:cs typeface="Times New Roman" panose="02020603050405020304" pitchFamily="18" charset="0"/>
            </a:endParaRPr>
          </a:p>
        </p:txBody>
      </p:sp>
      <p:cxnSp>
        <p:nvCxnSpPr>
          <p:cNvPr id="16" name="直接连接符 15"/>
          <p:cNvCxnSpPr>
            <a:stCxn id="12" idx="4"/>
            <a:endCxn id="14" idx="0"/>
          </p:cNvCxnSpPr>
          <p:nvPr/>
        </p:nvCxnSpPr>
        <p:spPr>
          <a:xfrm rot="5400000">
            <a:off x="1631950" y="1773238"/>
            <a:ext cx="854075" cy="1355725"/>
          </a:xfrm>
          <a:prstGeom prst="line">
            <a:avLst/>
          </a:prstGeom>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3498850" y="2805113"/>
            <a:ext cx="914400" cy="901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3200" b="1" dirty="0">
                <a:latin typeface="Times New Roman" panose="02020603050405020304" pitchFamily="18" charset="0"/>
                <a:cs typeface="Times New Roman" panose="02020603050405020304" pitchFamily="18" charset="0"/>
              </a:rPr>
              <a:t>B</a:t>
            </a:r>
            <a:endParaRPr lang="zh-CN" altLang="en-US" sz="3200" b="1" dirty="0">
              <a:latin typeface="Times New Roman" panose="02020603050405020304" pitchFamily="18" charset="0"/>
              <a:cs typeface="Times New Roman" panose="02020603050405020304" pitchFamily="18" charset="0"/>
            </a:endParaRPr>
          </a:p>
        </p:txBody>
      </p:sp>
      <p:cxnSp>
        <p:nvCxnSpPr>
          <p:cNvPr id="19" name="直接连接符 18"/>
          <p:cNvCxnSpPr>
            <a:stCxn id="12" idx="4"/>
            <a:endCxn id="17" idx="0"/>
          </p:cNvCxnSpPr>
          <p:nvPr/>
        </p:nvCxnSpPr>
        <p:spPr>
          <a:xfrm rot="16200000" flipH="1">
            <a:off x="2955925" y="1804988"/>
            <a:ext cx="781050" cy="121920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 Box 4"/>
          <p:cNvSpPr txBox="1">
            <a:spLocks noChangeArrowheads="1"/>
          </p:cNvSpPr>
          <p:nvPr/>
        </p:nvSpPr>
        <p:spPr bwMode="auto">
          <a:xfrm>
            <a:off x="5454650" y="2511425"/>
            <a:ext cx="2944813" cy="912813"/>
          </a:xfrm>
          <a:prstGeom prst="rect">
            <a:avLst/>
          </a:prstGeom>
        </p:spPr>
        <p:style>
          <a:lnRef idx="2">
            <a:schemeClr val="accent2"/>
          </a:lnRef>
          <a:fillRef idx="1">
            <a:schemeClr val="lt1"/>
          </a:fillRef>
          <a:effectRef idx="0">
            <a:schemeClr val="accent2"/>
          </a:effectRef>
          <a:fontRef idx="minor">
            <a:schemeClr val="dk1"/>
          </a:fontRef>
        </p:style>
        <p:txBody>
          <a:bodyPr/>
          <a:lstStyle/>
          <a:p>
            <a:pPr eaLnBrk="1" hangingPunct="1">
              <a:lnSpc>
                <a:spcPct val="150000"/>
              </a:lnSpc>
              <a:buClr>
                <a:schemeClr val="accent2"/>
              </a:buClr>
              <a:defRPr/>
            </a:pP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Queue={</a:t>
            </a:r>
            <a:r>
              <a:rPr lang="en-US" altLang="zh-CN"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A,B}</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 name="Text Box 4"/>
          <p:cNvSpPr txBox="1">
            <a:spLocks noChangeArrowheads="1"/>
          </p:cNvSpPr>
          <p:nvPr/>
        </p:nvSpPr>
        <p:spPr bwMode="auto">
          <a:xfrm>
            <a:off x="5470525" y="3644900"/>
            <a:ext cx="2944813" cy="912813"/>
          </a:xfrm>
          <a:prstGeom prst="rect">
            <a:avLst/>
          </a:prstGeom>
        </p:spPr>
        <p:style>
          <a:lnRef idx="2">
            <a:schemeClr val="dk1"/>
          </a:lnRef>
          <a:fillRef idx="1">
            <a:schemeClr val="lt1"/>
          </a:fillRef>
          <a:effectRef idx="0">
            <a:schemeClr val="dk1"/>
          </a:effectRef>
          <a:fontRef idx="minor">
            <a:schemeClr val="dk1"/>
          </a:fontRef>
        </p:style>
        <p:txBody>
          <a:bodyPr/>
          <a:lstStyle/>
          <a:p>
            <a:pPr eaLnBrk="1" hangingPunct="1">
              <a:lnSpc>
                <a:spcPct val="150000"/>
              </a:lnSpc>
              <a:buClr>
                <a:schemeClr val="accent2"/>
              </a:buClr>
              <a:defRPr/>
            </a:pP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Queue={A,B,</a:t>
            </a:r>
            <a:r>
              <a:rPr lang="en-US" altLang="zh-CN"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-1</a:t>
            </a: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3" name="椭圆 22"/>
          <p:cNvSpPr/>
          <p:nvPr/>
        </p:nvSpPr>
        <p:spPr>
          <a:xfrm>
            <a:off x="0" y="5395913"/>
            <a:ext cx="914400" cy="901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3200" b="1" dirty="0">
                <a:latin typeface="Times New Roman" panose="02020603050405020304" pitchFamily="18" charset="0"/>
                <a:cs typeface="Times New Roman" panose="02020603050405020304" pitchFamily="18" charset="0"/>
              </a:rPr>
              <a:t>C</a:t>
            </a:r>
            <a:endParaRPr lang="zh-CN" altLang="en-US" sz="3200" b="1" dirty="0">
              <a:latin typeface="Times New Roman" panose="02020603050405020304" pitchFamily="18" charset="0"/>
              <a:cs typeface="Times New Roman" panose="02020603050405020304" pitchFamily="18" charset="0"/>
            </a:endParaRPr>
          </a:p>
        </p:txBody>
      </p:sp>
      <p:sp>
        <p:nvSpPr>
          <p:cNvPr id="24" name="椭圆 23"/>
          <p:cNvSpPr/>
          <p:nvPr/>
        </p:nvSpPr>
        <p:spPr>
          <a:xfrm>
            <a:off x="1371600" y="5453063"/>
            <a:ext cx="914400" cy="901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3200" b="1" dirty="0">
                <a:latin typeface="Times New Roman" panose="02020603050405020304" pitchFamily="18" charset="0"/>
                <a:cs typeface="Times New Roman" panose="02020603050405020304" pitchFamily="18" charset="0"/>
              </a:rPr>
              <a:t>D</a:t>
            </a:r>
            <a:endParaRPr lang="zh-CN" altLang="en-US" sz="3200" b="1" dirty="0">
              <a:latin typeface="Times New Roman" panose="02020603050405020304" pitchFamily="18" charset="0"/>
              <a:cs typeface="Times New Roman" panose="02020603050405020304" pitchFamily="18" charset="0"/>
            </a:endParaRPr>
          </a:p>
        </p:txBody>
      </p:sp>
      <p:sp>
        <p:nvSpPr>
          <p:cNvPr id="25" name="椭圆 24"/>
          <p:cNvSpPr/>
          <p:nvPr/>
        </p:nvSpPr>
        <p:spPr>
          <a:xfrm>
            <a:off x="2921000" y="5381625"/>
            <a:ext cx="914400" cy="901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3200" b="1" dirty="0">
                <a:latin typeface="Times New Roman" panose="02020603050405020304" pitchFamily="18" charset="0"/>
                <a:cs typeface="Times New Roman" panose="02020603050405020304" pitchFamily="18" charset="0"/>
              </a:rPr>
              <a:t>E</a:t>
            </a:r>
            <a:endParaRPr lang="zh-CN" altLang="en-US" sz="3200" b="1" dirty="0">
              <a:latin typeface="Times New Roman" panose="02020603050405020304" pitchFamily="18" charset="0"/>
              <a:cs typeface="Times New Roman" panose="02020603050405020304" pitchFamily="18" charset="0"/>
            </a:endParaRPr>
          </a:p>
        </p:txBody>
      </p:sp>
      <p:sp>
        <p:nvSpPr>
          <p:cNvPr id="26" name="椭圆 25"/>
          <p:cNvSpPr/>
          <p:nvPr/>
        </p:nvSpPr>
        <p:spPr>
          <a:xfrm>
            <a:off x="4292600" y="5438775"/>
            <a:ext cx="914400" cy="9032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3200" b="1" dirty="0">
                <a:latin typeface="Times New Roman" panose="02020603050405020304" pitchFamily="18" charset="0"/>
                <a:cs typeface="Times New Roman" panose="02020603050405020304" pitchFamily="18" charset="0"/>
              </a:rPr>
              <a:t>F</a:t>
            </a:r>
            <a:endParaRPr lang="zh-CN" altLang="en-US" sz="3200" b="1" dirty="0">
              <a:latin typeface="Times New Roman" panose="02020603050405020304" pitchFamily="18" charset="0"/>
              <a:cs typeface="Times New Roman" panose="02020603050405020304" pitchFamily="18" charset="0"/>
            </a:endParaRPr>
          </a:p>
        </p:txBody>
      </p:sp>
      <p:cxnSp>
        <p:nvCxnSpPr>
          <p:cNvPr id="27" name="直接连接符 26"/>
          <p:cNvCxnSpPr>
            <a:stCxn id="14" idx="4"/>
            <a:endCxn id="23" idx="0"/>
          </p:cNvCxnSpPr>
          <p:nvPr/>
        </p:nvCxnSpPr>
        <p:spPr>
          <a:xfrm flipH="1">
            <a:off x="457200" y="3779838"/>
            <a:ext cx="923925" cy="1616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4" idx="4"/>
            <a:endCxn id="24" idx="0"/>
          </p:cNvCxnSpPr>
          <p:nvPr/>
        </p:nvCxnSpPr>
        <p:spPr>
          <a:xfrm>
            <a:off x="1381125" y="3779838"/>
            <a:ext cx="447675" cy="1673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7" idx="4"/>
            <a:endCxn id="26" idx="0"/>
          </p:cNvCxnSpPr>
          <p:nvPr/>
        </p:nvCxnSpPr>
        <p:spPr>
          <a:xfrm>
            <a:off x="3956050" y="3706813"/>
            <a:ext cx="793750" cy="17319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17" idx="4"/>
            <a:endCxn id="25" idx="0"/>
          </p:cNvCxnSpPr>
          <p:nvPr/>
        </p:nvCxnSpPr>
        <p:spPr>
          <a:xfrm flipH="1">
            <a:off x="3378200" y="3706813"/>
            <a:ext cx="577850" cy="1674812"/>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 Box 4"/>
          <p:cNvSpPr txBox="1">
            <a:spLocks noChangeArrowheads="1"/>
          </p:cNvSpPr>
          <p:nvPr/>
        </p:nvSpPr>
        <p:spPr bwMode="auto">
          <a:xfrm>
            <a:off x="5445125" y="4668838"/>
            <a:ext cx="3698875" cy="912812"/>
          </a:xfrm>
          <a:prstGeom prst="rect">
            <a:avLst/>
          </a:prstGeom>
        </p:spPr>
        <p:style>
          <a:lnRef idx="2">
            <a:schemeClr val="accent3"/>
          </a:lnRef>
          <a:fillRef idx="1">
            <a:schemeClr val="lt1"/>
          </a:fillRef>
          <a:effectRef idx="0">
            <a:schemeClr val="accent3"/>
          </a:effectRef>
          <a:fontRef idx="minor">
            <a:schemeClr val="dk1"/>
          </a:fontRef>
        </p:style>
        <p:txBody>
          <a:bodyPr/>
          <a:lstStyle/>
          <a:p>
            <a:pPr eaLnBrk="1" hangingPunct="1">
              <a:lnSpc>
                <a:spcPct val="150000"/>
              </a:lnSpc>
              <a:buClr>
                <a:schemeClr val="accent2"/>
              </a:buClr>
              <a:defRPr/>
            </a:pP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Queue={B,</a:t>
            </a:r>
            <a:r>
              <a:rPr lang="en-US" altLang="zh-CN"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-1, </a:t>
            </a:r>
            <a:r>
              <a:rPr lang="en-US" altLang="zh-CN" sz="30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 D </a:t>
            </a: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0" name="Text Box 4"/>
          <p:cNvSpPr txBox="1">
            <a:spLocks noChangeArrowheads="1"/>
          </p:cNvSpPr>
          <p:nvPr/>
        </p:nvSpPr>
        <p:spPr bwMode="auto">
          <a:xfrm>
            <a:off x="5445125" y="5754688"/>
            <a:ext cx="3698875" cy="912812"/>
          </a:xfrm>
          <a:prstGeom prst="rect">
            <a:avLst/>
          </a:prstGeom>
        </p:spPr>
        <p:style>
          <a:lnRef idx="2">
            <a:schemeClr val="accent5"/>
          </a:lnRef>
          <a:fillRef idx="1">
            <a:schemeClr val="lt1"/>
          </a:fillRef>
          <a:effectRef idx="0">
            <a:schemeClr val="accent5"/>
          </a:effectRef>
          <a:fontRef idx="minor">
            <a:schemeClr val="dk1"/>
          </a:fontRef>
        </p:style>
        <p:txBody>
          <a:bodyPr/>
          <a:lstStyle/>
          <a:p>
            <a:pPr eaLnBrk="1" hangingPunct="1">
              <a:lnSpc>
                <a:spcPct val="150000"/>
              </a:lnSpc>
              <a:buClr>
                <a:schemeClr val="accent2"/>
              </a:buClr>
              <a:defRPr/>
            </a:pP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Queue={</a:t>
            </a:r>
            <a:r>
              <a:rPr lang="en-US" altLang="zh-CN"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30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C, D,E,F </a:t>
            </a: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2" name="直接连接符 41"/>
          <p:cNvCxnSpPr/>
          <p:nvPr/>
        </p:nvCxnSpPr>
        <p:spPr>
          <a:xfrm>
            <a:off x="0" y="3162300"/>
            <a:ext cx="8753475" cy="28575"/>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80975" y="5905500"/>
            <a:ext cx="9477375" cy="28575"/>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0"/>
                                  </p:stCondLst>
                                  <p:childTnLst>
                                    <p:set>
                                      <p:cBhvr>
                                        <p:cTn id="47" dur="1" fill="hold">
                                          <p:stCondLst>
                                            <p:cond delay="0"/>
                                          </p:stCondLst>
                                        </p:cTn>
                                        <p:tgtEl>
                                          <p:spTgt spid="26"/>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nodeType="after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3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20" grpId="0" animBg="1"/>
      <p:bldP spid="21" grpId="0" animBg="1"/>
      <p:bldP spid="23" grpId="0" animBg="1"/>
      <p:bldP spid="24" grpId="0" animBg="1"/>
      <p:bldP spid="25" grpId="0" animBg="1"/>
      <p:bldP spid="26" grpId="0" animBg="1"/>
      <p:bldP spid="39" grpId="0" animBg="1"/>
      <p:bldP spid="4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2"/>
          <p:cNvSpPr>
            <a:spLocks noChangeArrowheads="1"/>
          </p:cNvSpPr>
          <p:nvPr/>
        </p:nvSpPr>
        <p:spPr bwMode="auto">
          <a:xfrm>
            <a:off x="292100" y="376238"/>
            <a:ext cx="59594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(FIFO)</a:t>
            </a:r>
            <a:endPar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Text Box 4"/>
          <p:cNvSpPr txBox="1">
            <a:spLocks noChangeArrowheads="1"/>
          </p:cNvSpPr>
          <p:nvPr/>
        </p:nvSpPr>
        <p:spPr bwMode="auto">
          <a:xfrm>
            <a:off x="271463" y="1227138"/>
            <a:ext cx="8605837" cy="1720850"/>
          </a:xfrm>
          <a:prstGeom prst="rect">
            <a:avLst/>
          </a:prstGeom>
        </p:spPr>
        <p:style>
          <a:lnRef idx="2">
            <a:schemeClr val="dk1"/>
          </a:lnRef>
          <a:fillRef idx="1">
            <a:schemeClr val="lt1"/>
          </a:fillRef>
          <a:effectRef idx="0">
            <a:schemeClr val="dk1"/>
          </a:effectRef>
          <a:fontRef idx="minor">
            <a:schemeClr val="dk1"/>
          </a:fontRef>
        </p:style>
        <p:txBody>
          <a:bodyPr/>
          <a:lstStyle/>
          <a:p>
            <a:pPr eaLnBrk="1" hangingPunct="1">
              <a:lnSpc>
                <a:spcPct val="150000"/>
              </a:lnSpc>
              <a:buClr>
                <a:schemeClr val="accent2"/>
              </a:buClr>
              <a:defRPr/>
            </a:pPr>
            <a:r>
              <a:rPr lang="zh-CN" altLang="en-US" sz="3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算法设计</a:t>
            </a: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chemeClr val="accent2"/>
              </a:buClr>
              <a:defRPr/>
            </a:pP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每个活结点要记录哪些信息？</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Text Box 4"/>
          <p:cNvSpPr txBox="1">
            <a:spLocks noChangeArrowheads="1"/>
          </p:cNvSpPr>
          <p:nvPr/>
        </p:nvSpPr>
        <p:spPr bwMode="auto">
          <a:xfrm>
            <a:off x="190500" y="3386138"/>
            <a:ext cx="2944813" cy="2884487"/>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lnSpc>
                <a:spcPct val="150000"/>
              </a:lnSpc>
              <a:buClr>
                <a:schemeClr val="accent2"/>
              </a:buClr>
              <a:defRPr/>
            </a:pP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、当前载重量；</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chemeClr val="accent2"/>
              </a:buClr>
              <a:defRPr/>
            </a:pP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、当前层数；</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chemeClr val="accent2"/>
              </a:buClr>
              <a:defRPr/>
            </a:pPr>
            <a:r>
              <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、当前物品的选择情况。</a:t>
            </a:r>
            <a:endParaRPr lang="en-US" altLang="zh-CN" sz="3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Text Box 4"/>
          <p:cNvSpPr txBox="1">
            <a:spLocks noChangeArrowheads="1"/>
          </p:cNvSpPr>
          <p:nvPr/>
        </p:nvSpPr>
        <p:spPr bwMode="auto">
          <a:xfrm>
            <a:off x="3368675" y="3154363"/>
            <a:ext cx="5580063" cy="3376612"/>
          </a:xfrm>
          <a:prstGeom prst="rect">
            <a:avLst/>
          </a:prstGeom>
        </p:spPr>
        <p:style>
          <a:lnRef idx="2">
            <a:schemeClr val="accent2"/>
          </a:lnRef>
          <a:fillRef idx="1">
            <a:schemeClr val="lt1"/>
          </a:fillRef>
          <a:effectRef idx="0">
            <a:schemeClr val="accent2"/>
          </a:effectRef>
          <a:fontRef idx="minor">
            <a:schemeClr val="dk1"/>
          </a:fontRef>
        </p:style>
        <p:txBody>
          <a:bodyPr/>
          <a:lstStyle/>
          <a:p>
            <a:pPr algn="just" eaLnBrk="1" hangingPunct="1">
              <a:lnSpc>
                <a:spcPct val="150000"/>
              </a:lnSpc>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、必须，否则需要重复计算；</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、当前层数，可以统一记录，避免重复；</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buClr>
                <a:schemeClr val="accent2"/>
              </a:buClr>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、如果只求最大载重则不需要记录，如果需要给出方案则需要记录，</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物品选择情况可以存储树优化，不必每个点都存储</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2"/>
          <p:cNvSpPr>
            <a:spLocks noChangeArrowheads="1"/>
          </p:cNvSpPr>
          <p:nvPr/>
        </p:nvSpPr>
        <p:spPr bwMode="auto">
          <a:xfrm>
            <a:off x="292100" y="376238"/>
            <a:ext cx="5576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smtClean="0">
                <a:solidFill>
                  <a:schemeClr val="bg1"/>
                </a:solidFill>
                <a:latin typeface="楷体" panose="02010609060101010101" pitchFamily="49" charset="-122"/>
                <a:ea typeface="楷体" panose="02010609060101010101" pitchFamily="49" charset="-122"/>
              </a:rPr>
              <a:t>装载</a:t>
            </a:r>
            <a:r>
              <a:rPr lang="zh-CN" altLang="en-US" sz="3200" dirty="0">
                <a:solidFill>
                  <a:schemeClr val="bg1"/>
                </a:solidFill>
                <a:latin typeface="楷体" panose="02010609060101010101" pitchFamily="49" charset="-122"/>
                <a:ea typeface="楷体" panose="02010609060101010101" pitchFamily="49" charset="-122"/>
              </a:rPr>
              <a:t>问题</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(FIFO)</a:t>
            </a:r>
            <a:endParaRPr lang="zh-CN" altLang="en-US"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963" name="Text Box 5"/>
          <p:cNvSpPr txBox="1">
            <a:spLocks noChangeArrowheads="1"/>
          </p:cNvSpPr>
          <p:nvPr/>
        </p:nvSpPr>
        <p:spPr bwMode="auto">
          <a:xfrm>
            <a:off x="365125" y="1068388"/>
            <a:ext cx="8499475" cy="4287837"/>
          </a:xfrm>
          <a:prstGeom prst="rect">
            <a:avLst/>
          </a:prstGeom>
        </p:spPr>
        <p:style>
          <a:lnRef idx="2">
            <a:schemeClr val="accent2"/>
          </a:lnRef>
          <a:fillRef idx="1">
            <a:schemeClr val="lt1"/>
          </a:fillRef>
          <a:effectRef idx="0">
            <a:schemeClr val="accent2"/>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MaxLoadingFIFO</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w[],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c,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n)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队列式分支限界法，返回最优载重</a:t>
            </a:r>
            <a:endPar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Q.add</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//Q</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为活结点队列，加入队列标记分层</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1;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根结点结点的层</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0</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根结点当前的载重</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0;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目前的最优值</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while(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Q.isEmpty</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w[</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&lt;= c)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AddLiveNode</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i+1);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添加左儿子结点</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AddLiveNode</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i+1);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添加右儿子结点</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Q.poll</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从</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Q</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中取下一个扩展结点，并赋给</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 -1) { //</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同层尾部结点</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if(</a:t>
            </a:r>
            <a:r>
              <a:rPr kumimoji="1" lang="en-US" altLang="zh-CN"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Q.isEmpty</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return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Q.add</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同层尾部标识</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Q.poll</a:t>
            </a:r>
            <a:r>
              <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取下一个扩展结点</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进入下一层</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Text Box 5"/>
          <p:cNvSpPr txBox="1">
            <a:spLocks noChangeArrowheads="1"/>
          </p:cNvSpPr>
          <p:nvPr/>
        </p:nvSpPr>
        <p:spPr bwMode="auto">
          <a:xfrm>
            <a:off x="374650" y="5367338"/>
            <a:ext cx="8499475" cy="1431925"/>
          </a:xfrm>
          <a:prstGeom prst="rect">
            <a:avLst/>
          </a:prstGeom>
        </p:spPr>
        <p:style>
          <a:lnRef idx="2">
            <a:schemeClr val="accent2"/>
          </a:lnRef>
          <a:fillRef idx="1">
            <a:schemeClr val="lt1"/>
          </a:fillRef>
          <a:effectRef idx="0">
            <a:schemeClr val="accent2"/>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void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AddLiveNode</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zh-CN" altLang="en-US"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if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 (</a:t>
            </a:r>
            <a:r>
              <a:rPr kumimoji="1"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n+1</a:t>
            </a:r>
            <a:r>
              <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&gt;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else</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Q.add</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2"/>
          <p:cNvSpPr>
            <a:spLocks noChangeArrowheads="1"/>
          </p:cNvSpPr>
          <p:nvPr/>
        </p:nvSpPr>
        <p:spPr bwMode="auto">
          <a:xfrm>
            <a:off x="292100" y="376238"/>
            <a:ext cx="6481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(FIFO </a:t>
            </a: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改进</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Text Box 4"/>
          <p:cNvSpPr txBox="1">
            <a:spLocks noChangeArrowheads="1"/>
          </p:cNvSpPr>
          <p:nvPr/>
        </p:nvSpPr>
        <p:spPr bwMode="auto">
          <a:xfrm>
            <a:off x="261938" y="1133475"/>
            <a:ext cx="8605837" cy="4792663"/>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lnSpc>
                <a:spcPct val="200000"/>
              </a:lnSpc>
              <a:buClr>
                <a:schemeClr val="accent2"/>
              </a:buClr>
              <a:defRPr/>
            </a:pP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存在问题</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200000"/>
              </a:lnSpc>
              <a:buClr>
                <a:srgbClr val="00B050"/>
              </a:buClr>
              <a:buFont typeface="Wingdings" panose="05000000000000000000" pitchFamily="2" charset="2"/>
              <a:buChar char="Ø"/>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没有给出具体的装载方案；</a:t>
            </a:r>
            <a:endPar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200000"/>
              </a:lnSpc>
              <a:buClr>
                <a:srgbClr val="00B050"/>
              </a:buClr>
              <a:buFont typeface="Wingdings" panose="05000000000000000000" pitchFamily="2" charset="2"/>
              <a:buChar char="Ø"/>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没有加入限界的技巧，属于盲目搜索；</a:t>
            </a:r>
            <a:endPar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200000"/>
              </a:lnSpc>
              <a:buClr>
                <a:srgbClr val="00B050"/>
              </a:buClr>
              <a:buFont typeface="Wingdings" panose="05000000000000000000" pitchFamily="2" charset="2"/>
              <a:buChar char="Ø"/>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在深度为</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的时候才更新最优解，实际上在</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n+1</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之前的任何一个深度都可以更新最优解；</a:t>
            </a:r>
            <a:endPar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2"/>
          <p:cNvSpPr>
            <a:spLocks noChangeArrowheads="1"/>
          </p:cNvSpPr>
          <p:nvPr/>
        </p:nvSpPr>
        <p:spPr bwMode="auto">
          <a:xfrm>
            <a:off x="292100" y="376238"/>
            <a:ext cx="6481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(FIFO </a:t>
            </a:r>
            <a:r>
              <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改进</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Text Box 4"/>
          <p:cNvSpPr txBox="1">
            <a:spLocks noChangeArrowheads="1"/>
          </p:cNvSpPr>
          <p:nvPr/>
        </p:nvSpPr>
        <p:spPr bwMode="auto">
          <a:xfrm>
            <a:off x="300038" y="1343025"/>
            <a:ext cx="8605837" cy="2433638"/>
          </a:xfrm>
          <a:prstGeom prst="rect">
            <a:avLst/>
          </a:prstGeom>
        </p:spPr>
        <p:style>
          <a:lnRef idx="2">
            <a:schemeClr val="dk1"/>
          </a:lnRef>
          <a:fillRef idx="1">
            <a:schemeClr val="lt1"/>
          </a:fillRef>
          <a:effectRef idx="0">
            <a:schemeClr val="dk1"/>
          </a:effectRef>
          <a:fontRef idx="minor">
            <a:schemeClr val="dk1"/>
          </a:fontRef>
        </p:style>
        <p:txBody>
          <a:bodyPr/>
          <a:lstStyle/>
          <a:p>
            <a:pPr eaLnBrk="1" hangingPunct="1">
              <a:lnSpc>
                <a:spcPct val="150000"/>
              </a:lnSpc>
              <a:buClr>
                <a:schemeClr val="accent2"/>
              </a:buClr>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解决办法</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rgbClr val="00B050"/>
              </a:buClr>
              <a:buFont typeface="Wingdings" panose="05000000000000000000" pitchFamily="2" charset="2"/>
              <a:buChar char="Ø"/>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问题一</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：存储二叉树，</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每个结点都</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能</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指向父结点的指针</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，方便从</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叶子结点回溯</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找到解，另外还需要记录当前结点是父结点的</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哪一个儿子</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矩形 4"/>
          <p:cNvSpPr/>
          <p:nvPr/>
        </p:nvSpPr>
        <p:spPr>
          <a:xfrm>
            <a:off x="285750" y="4016375"/>
            <a:ext cx="8601075" cy="646113"/>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eaLnBrk="1" hangingPunct="1">
              <a:lnSpc>
                <a:spcPct val="150000"/>
              </a:lnSpc>
              <a:buClr>
                <a:srgbClr val="00B050"/>
              </a:buClr>
              <a:buFont typeface="Wingdings" panose="05000000000000000000" pitchFamily="2" charset="2"/>
              <a:buChar char="Ø"/>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问题二</a:t>
            </a:r>
            <a:r>
              <a:rPr lang="zh-CN" altLang="en-US"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：令</a:t>
            </a:r>
            <a:r>
              <a:rPr lang="en-US" altLang="zh-CN"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UB = </a:t>
            </a:r>
            <a:r>
              <a:rPr lang="en-US" altLang="zh-CN" sz="2400" b="1" dirty="0" err="1">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cw</a:t>
            </a:r>
            <a:r>
              <a:rPr lang="en-US" altLang="zh-CN"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 + r</a:t>
            </a:r>
            <a:r>
              <a:rPr lang="zh-CN" altLang="en-US"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，如果</a:t>
            </a:r>
            <a:r>
              <a:rPr lang="en-US" altLang="zh-CN"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UB  </a:t>
            </a:r>
            <a:r>
              <a:rPr lang="en-US" altLang="zh-CN"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r>
              <a:rPr lang="en-US" altLang="zh-CN" sz="2400" b="1" dirty="0" err="1">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bestw</a:t>
            </a:r>
            <a:r>
              <a:rPr lang="zh-CN" altLang="en-US"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时可</a:t>
            </a:r>
            <a:r>
              <a:rPr lang="zh-CN" altLang="en-US" sz="2400" b="1" dirty="0" smtClean="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将结点剪</a:t>
            </a:r>
            <a:r>
              <a:rPr lang="zh-CN" altLang="en-US"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去</a:t>
            </a:r>
            <a:r>
              <a:rPr lang="en-US" altLang="zh-CN"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zh-CN" altLang="en-US"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a:t>
            </a:r>
            <a:endParaRPr lang="en-US" altLang="zh-CN"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矩形 5"/>
          <p:cNvSpPr/>
          <p:nvPr/>
        </p:nvSpPr>
        <p:spPr>
          <a:xfrm>
            <a:off x="284163" y="5043488"/>
            <a:ext cx="8601075" cy="12001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eaLnBrk="1" hangingPunct="1">
              <a:lnSpc>
                <a:spcPct val="150000"/>
              </a:lnSpc>
              <a:buClr>
                <a:srgbClr val="00B050"/>
              </a:buClr>
              <a:buFont typeface="Wingdings" panose="05000000000000000000" pitchFamily="2" charset="2"/>
              <a:buChar char="Ø"/>
              <a:defRPr/>
            </a:pP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问题三</a:t>
            </a:r>
            <a:r>
              <a:rPr lang="zh-CN" altLang="en-US"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如果</a:t>
            </a:r>
            <a:r>
              <a:rPr lang="en-US" altLang="zh-CN" sz="2400" b="1" dirty="0" err="1">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cw</a:t>
            </a:r>
            <a:r>
              <a:rPr lang="en-US" altLang="zh-CN"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 &gt; </a:t>
            </a:r>
            <a:r>
              <a:rPr lang="en-US" altLang="zh-CN" sz="2400" b="1" dirty="0" err="1">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bestw</a:t>
            </a:r>
            <a:r>
              <a:rPr lang="zh-CN" altLang="en-US"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即可对</a:t>
            </a:r>
            <a:r>
              <a:rPr lang="en-US" altLang="zh-CN" sz="2400" b="1" dirty="0" err="1">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bestw</a:t>
            </a:r>
            <a:r>
              <a:rPr lang="zh-CN" altLang="en-US"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进行更新，</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不需要等到</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叶子结点</a:t>
            </a:r>
            <a:r>
              <a:rPr lang="zh-CN" altLang="en-US" sz="2400" b="1" dirty="0" smtClean="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endParaRPr lang="en-US" altLang="zh-CN" sz="2400" b="1" dirty="0">
              <a:solidFill>
                <a:srgbClr val="5F5F5F">
                  <a:lumMod val="50000"/>
                </a:srgb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2"/>
          <p:cNvSpPr>
            <a:spLocks noChangeArrowheads="1"/>
          </p:cNvSpPr>
          <p:nvPr/>
        </p:nvSpPr>
        <p:spPr bwMode="auto">
          <a:xfrm>
            <a:off x="292100" y="376238"/>
            <a:ext cx="6556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solidFill>
                  <a:schemeClr val="bg1"/>
                </a:solidFill>
                <a:latin typeface="楷体" panose="02010609060101010101" pitchFamily="49" charset="-122"/>
                <a:ea typeface="楷体" panose="02010609060101010101" pitchFamily="49" charset="-122"/>
              </a:rPr>
              <a:t>分支限界法</a:t>
            </a:r>
            <a:r>
              <a:rPr lang="en-US" altLang="zh-CN" sz="3200" dirty="0">
                <a:solidFill>
                  <a:schemeClr val="bg1"/>
                </a:solidFill>
                <a:latin typeface="楷体" panose="02010609060101010101" pitchFamily="49" charset="-122"/>
                <a:ea typeface="楷体" panose="02010609060101010101" pitchFamily="49" charset="-122"/>
              </a:rPr>
              <a:t>—</a:t>
            </a:r>
            <a:r>
              <a:rPr lang="zh-CN" altLang="en-US" sz="3200" dirty="0">
                <a:solidFill>
                  <a:schemeClr val="bg1"/>
                </a:solidFill>
                <a:latin typeface="楷体" panose="02010609060101010101" pitchFamily="49" charset="-122"/>
                <a:ea typeface="楷体" panose="02010609060101010101" pitchFamily="49" charset="-122"/>
              </a:rPr>
              <a:t>装载问题</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(FIFO </a:t>
            </a:r>
            <a:r>
              <a:rPr lang="zh-CN" altLang="en-US"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改进</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3" name="Text Box 4"/>
          <p:cNvSpPr txBox="1">
            <a:spLocks noChangeArrowheads="1"/>
          </p:cNvSpPr>
          <p:nvPr/>
        </p:nvSpPr>
        <p:spPr bwMode="auto">
          <a:xfrm>
            <a:off x="261938" y="1133475"/>
            <a:ext cx="8605837" cy="5338763"/>
          </a:xfrm>
          <a:prstGeom prst="rect">
            <a:avLst/>
          </a:prstGeom>
        </p:spPr>
        <p:style>
          <a:lnRef idx="2">
            <a:schemeClr val="accent2"/>
          </a:lnRef>
          <a:fillRef idx="1">
            <a:schemeClr val="lt1"/>
          </a:fillRef>
          <a:effectRef idx="0">
            <a:schemeClr val="accent2"/>
          </a:effectRef>
          <a:fontRef idx="minor">
            <a:schemeClr val="dk1"/>
          </a:fontRef>
        </p:style>
        <p:txBody>
          <a:bodyPr/>
          <a:lstStyle/>
          <a:p>
            <a:pPr eaLnBrk="1" hangingPunct="1">
              <a:buClr>
                <a:schemeClr val="accent2"/>
              </a:buClr>
              <a:defRPr/>
            </a:pPr>
            <a:r>
              <a:rPr lang="zh-CN" altLang="en-US" sz="3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数据结构</a:t>
            </a: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：二叉树，树的结点的信息</a:t>
            </a:r>
            <a:r>
              <a:rPr lang="zh-CN" altLang="en-US" sz="36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包括</a:t>
            </a:r>
            <a:r>
              <a:rPr lang="zh-CN" altLang="en-US" sz="36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已装船</a:t>
            </a:r>
            <a:r>
              <a:rPr lang="zh-CN" altLang="en-US" sz="36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的集装箱</a:t>
            </a: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36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重量</a:t>
            </a:r>
            <a:r>
              <a:rPr lang="en-US" altLang="zh-CN" sz="36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cw</a:t>
            </a:r>
            <a:r>
              <a:rPr lang="zh-CN" altLang="en-US" sz="36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父指针（</a:t>
            </a:r>
            <a:r>
              <a:rPr lang="en-US" altLang="zh-CN"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java</a:t>
            </a: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存父结点），</a:t>
            </a:r>
            <a:r>
              <a:rPr lang="en-US" altLang="zh-CN"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parent</a:t>
            </a: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是否左儿子</a:t>
            </a:r>
            <a:r>
              <a:rPr lang="en-US" altLang="zh-CN" sz="36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Lchild</a:t>
            </a:r>
            <a:r>
              <a:rPr lang="zh-CN" altLang="en-US" sz="36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buClr>
                <a:schemeClr val="accent2"/>
              </a:buClr>
              <a:defRPr/>
            </a:pPr>
            <a:r>
              <a:rPr kumimoji="1" lang="en-US" altLang="zh-CN" sz="36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Qnode</a:t>
            </a:r>
            <a:r>
              <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3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buClr>
                <a:schemeClr val="accent2"/>
              </a:buClr>
              <a:defRPr/>
            </a:pPr>
            <a:r>
              <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3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3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3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3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buClr>
                <a:schemeClr val="accent2"/>
              </a:buClr>
              <a:defRPr/>
            </a:pPr>
            <a:r>
              <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36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Qnode</a:t>
            </a:r>
            <a:r>
              <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parent;</a:t>
            </a:r>
            <a:endPar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buClr>
                <a:schemeClr val="accent2"/>
              </a:buClr>
              <a:defRPr/>
            </a:pPr>
            <a:r>
              <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36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boolean</a:t>
            </a:r>
            <a:r>
              <a:rPr kumimoji="1" lang="en-US" altLang="zh-CN" sz="3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36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Lchild</a:t>
            </a:r>
            <a:r>
              <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3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buClr>
                <a:schemeClr val="accent2"/>
              </a:buClr>
              <a:defRPr/>
            </a:pPr>
            <a:r>
              <a:rPr kumimoji="1" lang="en-US" altLang="zh-CN" sz="36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2"/>
          <p:cNvSpPr>
            <a:spLocks noChangeArrowheads="1"/>
          </p:cNvSpPr>
          <p:nvPr/>
        </p:nvSpPr>
        <p:spPr bwMode="auto">
          <a:xfrm>
            <a:off x="292100" y="376238"/>
            <a:ext cx="6556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smtClean="0">
                <a:solidFill>
                  <a:schemeClr val="bg1"/>
                </a:solidFill>
                <a:latin typeface="楷体" panose="02010609060101010101" pitchFamily="49" charset="-122"/>
                <a:ea typeface="楷体" panose="02010609060101010101" pitchFamily="49" charset="-122"/>
              </a:rPr>
              <a:t>装载</a:t>
            </a:r>
            <a:r>
              <a:rPr lang="zh-CN" altLang="en-US" sz="3200" dirty="0">
                <a:solidFill>
                  <a:schemeClr val="bg1"/>
                </a:solidFill>
                <a:latin typeface="楷体" panose="02010609060101010101" pitchFamily="49" charset="-122"/>
                <a:ea typeface="楷体" panose="02010609060101010101" pitchFamily="49" charset="-122"/>
              </a:rPr>
              <a:t>问题</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(FIFO </a:t>
            </a:r>
            <a:r>
              <a:rPr lang="zh-CN" altLang="en-US"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改进</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5" name="Text Box 5"/>
          <p:cNvSpPr txBox="1">
            <a:spLocks noChangeArrowheads="1"/>
          </p:cNvSpPr>
          <p:nvPr/>
        </p:nvSpPr>
        <p:spPr bwMode="auto">
          <a:xfrm>
            <a:off x="88901" y="1106488"/>
            <a:ext cx="8966200" cy="5700712"/>
          </a:xfrm>
          <a:prstGeom prst="rect">
            <a:avLst/>
          </a:prstGeom>
        </p:spPr>
        <p:style>
          <a:lnRef idx="2">
            <a:schemeClr val="accent2"/>
          </a:lnRef>
          <a:fillRef idx="1">
            <a:schemeClr val="lt1"/>
          </a:fillRef>
          <a:effectRef idx="0">
            <a:schemeClr val="accent2"/>
          </a:effectRef>
          <a:fontRef idx="minor">
            <a:schemeClr val="dk1"/>
          </a:fontRef>
        </p:style>
        <p:txBody>
          <a:bodyPr/>
          <a:lstStyle/>
          <a:p>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Queue&lt;</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Qnode</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&gt; Q = new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LinkedList</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&lt;</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Qnode</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&gt;();</a:t>
            </a:r>
            <a:endPar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Qnode</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bestNode</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0; //</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目前的最优值</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Vector&lt;Boolean</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bestH</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new Vector&lt;Boolean&gt;();</a:t>
            </a:r>
            <a:endPar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ts val="3300"/>
              </a:lnSpc>
              <a:defRPr/>
            </a:pP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void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MaxLoadingFIFOImpr</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w[],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c,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n) {// </a:t>
            </a:r>
            <a:r>
              <a:rPr kumimoji="1"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队列式</a:t>
            </a:r>
            <a:endParaRPr kumimoji="1"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ts val="3300"/>
              </a:lnSpc>
              <a:defRPr/>
            </a:pP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Q.add</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(new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Qnode</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 null</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false</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初始化结点队列</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标记分层</a:t>
            </a:r>
            <a:endPar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ts val="3300"/>
              </a:lnSpc>
              <a:defRPr/>
            </a:pP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1; //</a:t>
            </a:r>
            <a:r>
              <a:rPr kumimoji="1"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扩展结点的</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层</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ts val="3300"/>
              </a:lnSpc>
              <a:defRPr/>
            </a:pPr>
            <a:r>
              <a:rPr kumimoji="1"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4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0</a:t>
            </a:r>
            <a:r>
              <a:rPr kumimoji="1"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扩展结点当前</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的载重</a:t>
            </a:r>
            <a:endPar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ts val="3300"/>
              </a:lnSpc>
              <a:defRPr/>
            </a:pP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 = 0; //</a:t>
            </a:r>
            <a:r>
              <a:rPr kumimoji="1"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记录剩余容量</a:t>
            </a:r>
            <a:endPar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ts val="3300"/>
              </a:lnSpc>
              <a:defRPr/>
            </a:pP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for(</a:t>
            </a:r>
            <a:r>
              <a:rPr kumimoji="1"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j = 2; j &lt;= n; j++)</a:t>
            </a:r>
            <a:endPar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ts val="3300"/>
              </a:lnSpc>
              <a:defRPr/>
            </a:pP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r= </a:t>
            </a:r>
            <a:r>
              <a:rPr kumimoji="1"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r+w</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[j];</a:t>
            </a:r>
            <a:endPar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ts val="3300"/>
              </a:lnSpc>
              <a:defRPr/>
            </a:pP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Qnode</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cQnode</a:t>
            </a:r>
            <a:r>
              <a:rPr kumimoji="1"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null; </a:t>
            </a:r>
            <a:r>
              <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根结点</a:t>
            </a:r>
            <a:endParaRPr kumimoji="1"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1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16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2"/>
          <p:cNvSpPr>
            <a:spLocks noChangeArrowheads="1"/>
          </p:cNvSpPr>
          <p:nvPr/>
        </p:nvSpPr>
        <p:spPr bwMode="auto">
          <a:xfrm>
            <a:off x="292100" y="376238"/>
            <a:ext cx="6556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smtClean="0">
                <a:solidFill>
                  <a:schemeClr val="bg1"/>
                </a:solidFill>
                <a:latin typeface="楷体" panose="02010609060101010101" pitchFamily="49" charset="-122"/>
                <a:ea typeface="楷体" panose="02010609060101010101" pitchFamily="49" charset="-122"/>
              </a:rPr>
              <a:t>装载</a:t>
            </a:r>
            <a:r>
              <a:rPr lang="zh-CN" altLang="en-US" sz="3200" dirty="0">
                <a:solidFill>
                  <a:schemeClr val="bg1"/>
                </a:solidFill>
                <a:latin typeface="楷体" panose="02010609060101010101" pitchFamily="49" charset="-122"/>
                <a:ea typeface="楷体" panose="02010609060101010101" pitchFamily="49" charset="-122"/>
              </a:rPr>
              <a:t>问题</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(FIFO </a:t>
            </a:r>
            <a:r>
              <a:rPr lang="zh-CN" altLang="en-US"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改进</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46083" name="Text Box 5"/>
          <p:cNvSpPr txBox="1">
            <a:spLocks noChangeArrowheads="1"/>
          </p:cNvSpPr>
          <p:nvPr/>
        </p:nvSpPr>
        <p:spPr bwMode="auto">
          <a:xfrm>
            <a:off x="271463" y="1057275"/>
            <a:ext cx="8582025" cy="5641975"/>
          </a:xfrm>
          <a:prstGeom prst="rect">
            <a:avLst/>
          </a:prstGeom>
        </p:spPr>
        <p:style>
          <a:lnRef idx="2">
            <a:schemeClr val="accent2"/>
          </a:lnRef>
          <a:fillRef idx="1">
            <a:schemeClr val="lt1"/>
          </a:fillRef>
          <a:effectRef idx="0">
            <a:schemeClr val="accent2"/>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while(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Q.isEmpty</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w[</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&lt;= c) </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左子树判断约束</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w[</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&gt;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更新</a:t>
            </a:r>
            <a:r>
              <a:rPr kumimoji="1"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bestw</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w[</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bestNode</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new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Qnode</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cQnode</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true);}</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AddLiveNode</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cQnode</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true, i+1);  </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添加左儿子结点</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r &gt;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利用上界进行剪枝</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AddLiveNode</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cQnode</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false, i+1); </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添加右儿子结点</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cQnode</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Q.poll</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取下一个扩展结点，并赋值给</a:t>
            </a:r>
            <a:r>
              <a:rPr kumimoji="1"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cQnode</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cQnode.cw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cQnode</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 -1) </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同层尾部结点</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if(</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Q.isEmpty</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break;</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Q.add</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(new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Qnode</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 null, false)); </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同层尾部标识</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cQnode</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Q.poll</a:t>
            </a:r>
            <a:r>
              <a:rPr kumimoji="1" lang="en-US" altLang="zh-CN" sz="20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取下一个扩展结点</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sz="20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cQnode.cw</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进入下一层</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r= r – w[</a:t>
            </a:r>
            <a:r>
              <a:rPr kumimoji="1"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0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椭圆形标注 5"/>
          <p:cNvSpPr/>
          <p:nvPr/>
        </p:nvSpPr>
        <p:spPr>
          <a:xfrm>
            <a:off x="5673725" y="1841500"/>
            <a:ext cx="2547938" cy="400050"/>
          </a:xfrm>
          <a:prstGeom prst="wedgeEllipseCallout">
            <a:avLst>
              <a:gd name="adj1" fmla="val -60290"/>
              <a:gd name="adj2" fmla="val 56960"/>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提前更新</a:t>
            </a:r>
            <a:r>
              <a:rPr lang="en-US" altLang="zh-CN" b="1" dirty="0" err="1">
                <a:latin typeface="Times New Roman" panose="02020603050405020304" pitchFamily="18" charset="0"/>
                <a:ea typeface="华文楷体" panose="02010600040101010101" pitchFamily="2" charset="-122"/>
                <a:cs typeface="Times New Roman" panose="02020603050405020304" pitchFamily="18" charset="0"/>
              </a:rPr>
              <a:t>bestW</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椭圆形标注 6"/>
          <p:cNvSpPr/>
          <p:nvPr/>
        </p:nvSpPr>
        <p:spPr>
          <a:xfrm>
            <a:off x="6049962" y="3140428"/>
            <a:ext cx="3094038" cy="401638"/>
          </a:xfrm>
          <a:prstGeom prst="wedgeEllipseCallout">
            <a:avLst>
              <a:gd name="adj1" fmla="val -57463"/>
              <a:gd name="adj2" fmla="val 46221"/>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利用上界进行剪枝</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2"/>
          <p:cNvSpPr>
            <a:spLocks noChangeArrowheads="1"/>
          </p:cNvSpPr>
          <p:nvPr/>
        </p:nvSpPr>
        <p:spPr bwMode="auto">
          <a:xfrm>
            <a:off x="292100" y="376238"/>
            <a:ext cx="6556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smtClean="0">
                <a:solidFill>
                  <a:schemeClr val="bg1"/>
                </a:solidFill>
                <a:latin typeface="楷体" panose="02010609060101010101" pitchFamily="49" charset="-122"/>
                <a:ea typeface="楷体" panose="02010609060101010101" pitchFamily="49" charset="-122"/>
              </a:rPr>
              <a:t>装载</a:t>
            </a:r>
            <a:r>
              <a:rPr lang="zh-CN" altLang="en-US" sz="3200" dirty="0">
                <a:solidFill>
                  <a:schemeClr val="bg1"/>
                </a:solidFill>
                <a:latin typeface="楷体" panose="02010609060101010101" pitchFamily="49" charset="-122"/>
                <a:ea typeface="楷体" panose="02010609060101010101" pitchFamily="49" charset="-122"/>
              </a:rPr>
              <a:t>问题</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(FIFO </a:t>
            </a:r>
            <a:r>
              <a:rPr lang="zh-CN" altLang="en-US"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改进</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46083" name="Text Box 5"/>
          <p:cNvSpPr txBox="1">
            <a:spLocks noChangeArrowheads="1"/>
          </p:cNvSpPr>
          <p:nvPr/>
        </p:nvSpPr>
        <p:spPr bwMode="auto">
          <a:xfrm>
            <a:off x="114301" y="1057276"/>
            <a:ext cx="8940800" cy="2735792"/>
          </a:xfrm>
          <a:prstGeom prst="rect">
            <a:avLst/>
          </a:prstGeom>
        </p:spPr>
        <p:style>
          <a:lnRef idx="2">
            <a:schemeClr val="accent2"/>
          </a:lnRef>
          <a:fillRef idx="1">
            <a:schemeClr val="lt1"/>
          </a:fillRef>
          <a:effectRef idx="0">
            <a:schemeClr val="accent2"/>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while </a:t>
            </a:r>
            <a:r>
              <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bestNode</a:t>
            </a:r>
            <a:r>
              <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null) </a:t>
            </a:r>
            <a:r>
              <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查找记录最优解</a:t>
            </a:r>
            <a:endPar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r>
              <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8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bestH.add</a:t>
            </a:r>
            <a:r>
              <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bestNode.Lchild</a:t>
            </a:r>
            <a:r>
              <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r>
              <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8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bestNode</a:t>
            </a:r>
            <a:r>
              <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8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bestNode.parent</a:t>
            </a:r>
            <a:r>
              <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r>
              <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r>
              <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8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endParaRPr kumimoji="1" lang="en-US" altLang="zh-CN"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Text Box 5"/>
          <p:cNvSpPr txBox="1">
            <a:spLocks noChangeArrowheads="1"/>
          </p:cNvSpPr>
          <p:nvPr/>
        </p:nvSpPr>
        <p:spPr bwMode="auto">
          <a:xfrm>
            <a:off x="114300" y="3863975"/>
            <a:ext cx="8941435" cy="2355850"/>
          </a:xfrm>
          <a:prstGeom prst="rect">
            <a:avLst/>
          </a:prstGeom>
        </p:spPr>
        <p:style>
          <a:lnRef idx="2">
            <a:schemeClr val="accent2"/>
          </a:lnRef>
          <a:fillRef idx="1">
            <a:schemeClr val="lt1"/>
          </a:fillRef>
          <a:effectRef idx="0">
            <a:schemeClr val="accent2"/>
          </a:effectRef>
          <a:fontRef idx="minor">
            <a:schemeClr val="dk1"/>
          </a:fontRef>
        </p:style>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void </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AddLiveNode</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int</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mn-ea"/>
              </a:rPr>
              <a:t>Qnode parent, </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bool Lchild, int i</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if (</a:t>
            </a:r>
            <a:r>
              <a:rPr kumimoji="1"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 (</a:t>
            </a:r>
            <a:r>
              <a:rPr kumimoji="1"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n+1</a:t>
            </a:r>
            <a:r>
              <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if(</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&gt; </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bestw</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 </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else</a:t>
            </a:r>
            <a:endPar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Q.add</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cw, </a:t>
            </a:r>
            <a:r>
              <a:rPr kumimoji="1"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mn-ea"/>
              </a:rPr>
              <a:t>parent, </a:t>
            </a:r>
            <a:r>
              <a:rPr kumimoji="1" lang="en-US" altLang="zh-CN" sz="2400" b="1" dirty="0" err="1"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mn-ea"/>
              </a:rPr>
              <a:t>Lchild</a:t>
            </a: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2"/>
          <p:cNvSpPr>
            <a:spLocks noChangeArrowheads="1"/>
          </p:cNvSpPr>
          <p:nvPr/>
        </p:nvSpPr>
        <p:spPr bwMode="auto">
          <a:xfrm>
            <a:off x="292100" y="376238"/>
            <a:ext cx="644525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Text Box 4"/>
          <p:cNvSpPr txBox="1">
            <a:spLocks noChangeArrowheads="1"/>
          </p:cNvSpPr>
          <p:nvPr/>
        </p:nvSpPr>
        <p:spPr bwMode="auto">
          <a:xfrm>
            <a:off x="261938" y="1133475"/>
            <a:ext cx="8605837" cy="2170113"/>
          </a:xfrm>
          <a:prstGeom prst="rect">
            <a:avLst/>
          </a:prstGeom>
        </p:spPr>
        <p:style>
          <a:lnRef idx="2">
            <a:schemeClr val="dk1"/>
          </a:lnRef>
          <a:fillRef idx="1">
            <a:schemeClr val="lt1"/>
          </a:fillRef>
          <a:effectRef idx="0">
            <a:schemeClr val="dk1"/>
          </a:effectRef>
          <a:fontRef idx="minor">
            <a:schemeClr val="dk1"/>
          </a:fontRef>
        </p:style>
        <p:txBody>
          <a:bodyPr/>
          <a:lstStyle/>
          <a:p>
            <a:pPr eaLnBrk="1" hangingPunct="1">
              <a:buClr>
                <a:schemeClr val="accent2"/>
              </a:buClr>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存在问题</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buClr>
                <a:srgbClr val="00B050"/>
              </a:buClr>
              <a:defRPr/>
            </a:pP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加入了界，但是搜索还是属于</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盲目搜索</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。先</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搜索优先级高</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的结点</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能够</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尽快朝较好的方向分支，可以较快得到一个</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较好</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的解</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有利于后面搜索过程的剪枝，从而减少搜索量。</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Text Box 4"/>
          <p:cNvSpPr txBox="1">
            <a:spLocks noChangeArrowheads="1"/>
          </p:cNvSpPr>
          <p:nvPr/>
        </p:nvSpPr>
        <p:spPr bwMode="auto">
          <a:xfrm>
            <a:off x="261938" y="3519488"/>
            <a:ext cx="8605837" cy="2947987"/>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lnSpc>
                <a:spcPct val="150000"/>
              </a:lnSpc>
              <a:buClr>
                <a:schemeClr val="accent2"/>
              </a:buClr>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解决办法</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rgbClr val="00B050"/>
              </a:buClr>
              <a:buFont typeface="Wingdings" panose="05000000000000000000" pitchFamily="2" charset="2"/>
              <a:buChar char="Ø"/>
              <a:defRPr/>
            </a:pP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将活结点组织成一个</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优先队列</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，并按优先队列中规定</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的结点的</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优先级</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对结点进行</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扩展。</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rgbClr val="00B050"/>
              </a:buClr>
              <a:buFont typeface="Wingdings" panose="05000000000000000000" pitchFamily="2" charset="2"/>
              <a:buChar char="Ø"/>
              <a:defRPr/>
            </a:pP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结点的</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优先级可以</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通过结点的</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上界来定</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2"/>
          <p:cNvSpPr>
            <a:spLocks noChangeArrowheads="1"/>
          </p:cNvSpPr>
          <p:nvPr/>
        </p:nvSpPr>
        <p:spPr bwMode="auto">
          <a:xfrm>
            <a:off x="292100" y="376238"/>
            <a:ext cx="6342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p:txBody>
      </p:sp>
      <p:sp>
        <p:nvSpPr>
          <p:cNvPr id="4" name="Text Box 4"/>
          <p:cNvSpPr txBox="1">
            <a:spLocks noChangeArrowheads="1"/>
          </p:cNvSpPr>
          <p:nvPr/>
        </p:nvSpPr>
        <p:spPr bwMode="auto">
          <a:xfrm>
            <a:off x="55563" y="1306513"/>
            <a:ext cx="9032875" cy="4583112"/>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buClr>
                <a:schemeClr val="accent2"/>
              </a:buClr>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数据结构设计</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rgbClr val="00B050"/>
              </a:buClr>
              <a:buFont typeface="Wingdings" panose="05000000000000000000" pitchFamily="2" charset="2"/>
              <a:buChar char="Ø"/>
              <a:defRPr/>
            </a:pP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要输出解的方案，搜索过程中仍需要生成解空间树</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，结点信息</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包括</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父结点、</a:t>
            </a:r>
            <a:r>
              <a:rPr lang="en-US" altLang="zh-CN" sz="28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Lchild</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uWeight</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优先级信息</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rgbClr val="00B050"/>
              </a:buClr>
              <a:buFont typeface="Wingdings" panose="05000000000000000000" pitchFamily="2" charset="2"/>
              <a:buChar char="Ø"/>
              <a:defRPr/>
            </a:pP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优先队列无法体现</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层（</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level</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）信息</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，只能存储在结点中。</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buClr>
                <a:srgbClr val="00B050"/>
              </a:buClr>
              <a:buFont typeface="Wingdings" panose="05000000000000000000" pitchFamily="2" charset="2"/>
              <a:buChar char="Ø"/>
              <a:defRPr/>
            </a:pP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需要用</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来记录各层的</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最大剩余重量</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，例如</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r[1] = w[1]+w[2]+w[3]+…+w[n]</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rgbClr val="00B050"/>
              </a:buClr>
              <a:buFont typeface="Wingdings" panose="05000000000000000000" pitchFamily="2" charset="2"/>
              <a:buChar char="Ø"/>
              <a:defRPr/>
            </a:pP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结点的</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优先级</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信息用</a:t>
            </a:r>
            <a:r>
              <a:rPr lang="en-US" altLang="zh-CN" sz="28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uWeight</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UB(v)</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cw</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r[level]</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rgbClr val="00B050"/>
              </a:buClr>
              <a:defRPr/>
            </a:pP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动作按钮: 前进或下一项 4">
            <a:hlinkClick r:id="rId1" action="ppaction://hlinksldjump" highlightClick="1"/>
          </p:cNvPr>
          <p:cNvSpPr/>
          <p:nvPr/>
        </p:nvSpPr>
        <p:spPr>
          <a:xfrm>
            <a:off x="3752850" y="5973763"/>
            <a:ext cx="1590675" cy="682625"/>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2"/>
          <p:cNvSpPr>
            <a:spLocks noChangeArrowheads="1"/>
          </p:cNvSpPr>
          <p:nvPr/>
        </p:nvSpPr>
        <p:spPr bwMode="auto">
          <a:xfrm>
            <a:off x="292100" y="376238"/>
            <a:ext cx="6342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p:txBody>
      </p:sp>
      <p:sp>
        <p:nvSpPr>
          <p:cNvPr id="7" name="椭圆 6"/>
          <p:cNvSpPr/>
          <p:nvPr/>
        </p:nvSpPr>
        <p:spPr>
          <a:xfrm>
            <a:off x="784225" y="2909888"/>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椭圆 7"/>
          <p:cNvSpPr/>
          <p:nvPr/>
        </p:nvSpPr>
        <p:spPr>
          <a:xfrm>
            <a:off x="1685925" y="1401763"/>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椭圆 8"/>
          <p:cNvSpPr/>
          <p:nvPr/>
        </p:nvSpPr>
        <p:spPr>
          <a:xfrm>
            <a:off x="2589213" y="2897188"/>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11" name="直接连接符 10"/>
          <p:cNvCxnSpPr>
            <a:stCxn id="8" idx="4"/>
            <a:endCxn id="7" idx="0"/>
          </p:cNvCxnSpPr>
          <p:nvPr/>
        </p:nvCxnSpPr>
        <p:spPr>
          <a:xfrm rot="5400000">
            <a:off x="1395412" y="2162176"/>
            <a:ext cx="593725" cy="901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8" idx="4"/>
            <a:endCxn id="9" idx="0"/>
          </p:cNvCxnSpPr>
          <p:nvPr/>
        </p:nvCxnSpPr>
        <p:spPr>
          <a:xfrm rot="16200000" flipH="1">
            <a:off x="2304256" y="2155032"/>
            <a:ext cx="581025" cy="9032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 Box 4"/>
          <p:cNvSpPr txBox="1">
            <a:spLocks noChangeArrowheads="1"/>
          </p:cNvSpPr>
          <p:nvPr/>
        </p:nvSpPr>
        <p:spPr bwMode="auto">
          <a:xfrm>
            <a:off x="3195638" y="1239838"/>
            <a:ext cx="3086100" cy="862012"/>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lnSpc>
                <a:spcPct val="150000"/>
              </a:lnSpc>
              <a:buClr>
                <a:schemeClr val="accent2"/>
              </a:buClr>
              <a:defRPr/>
            </a:pPr>
            <a:r>
              <a:rPr lang="en-US" altLang="zh-CN"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root</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结点 </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level = 1</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 name="Text Box 4"/>
          <p:cNvSpPr txBox="1">
            <a:spLocks noChangeArrowheads="1"/>
          </p:cNvSpPr>
          <p:nvPr/>
        </p:nvSpPr>
        <p:spPr bwMode="auto">
          <a:xfrm>
            <a:off x="3621088" y="2638425"/>
            <a:ext cx="2435225" cy="1257300"/>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lnSpc>
                <a:spcPct val="150000"/>
              </a:lnSpc>
              <a:buClr>
                <a:schemeClr val="accent2"/>
              </a:buClr>
              <a:defRPr/>
            </a:pP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root</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儿子点 </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level = 2</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圆角矩形标注 16"/>
          <p:cNvSpPr/>
          <p:nvPr/>
        </p:nvSpPr>
        <p:spPr>
          <a:xfrm>
            <a:off x="6686550" y="1139825"/>
            <a:ext cx="2279650" cy="2220913"/>
          </a:xfrm>
          <a:prstGeom prst="wedgeRoundRectCallout">
            <a:avLst>
              <a:gd name="adj1" fmla="val -70599"/>
              <a:gd name="adj2" fmla="val 11749"/>
              <a:gd name="adj3" fmla="val 16667"/>
            </a:avLst>
          </a:prstGeom>
        </p:spPr>
        <p:style>
          <a:lnRef idx="2">
            <a:schemeClr val="accent3"/>
          </a:lnRef>
          <a:fillRef idx="1">
            <a:schemeClr val="lt1"/>
          </a:fillRef>
          <a:effectRef idx="0">
            <a:schemeClr val="accent3"/>
          </a:effectRef>
          <a:fontRef idx="minor">
            <a:schemeClr val="dk1"/>
          </a:fontRef>
        </p:style>
        <p:txBody>
          <a:bodyPr anchor="ctr"/>
          <a:lstStyle/>
          <a:p>
            <a:pPr algn="ctr" eaLnBrk="1" hangingPunct="1">
              <a:defRPr/>
            </a:pP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优点：</a:t>
            </a:r>
            <a:r>
              <a:rPr lang="en-US" altLang="zh-CN" sz="2400" b="1" dirty="0">
                <a:solidFill>
                  <a:srgbClr val="FF0000"/>
                </a:solidFill>
                <a:latin typeface="Times New Roman" panose="02020603050405020304" pitchFamily="18" charset="0"/>
                <a:cs typeface="Times New Roman" panose="02020603050405020304" pitchFamily="18" charset="0"/>
              </a:rPr>
              <a:t>level</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=1</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的时候，确定</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x[</a:t>
            </a:r>
            <a:r>
              <a:rPr lang="en-US" altLang="zh-CN" sz="2400" b="1" dirty="0">
                <a:solidFill>
                  <a:srgbClr val="FF0000"/>
                </a:solidFill>
                <a:latin typeface="Times New Roman" panose="02020603050405020304" pitchFamily="18" charset="0"/>
                <a:cs typeface="Times New Roman" panose="02020603050405020304" pitchFamily="18" charset="0"/>
              </a:rPr>
              <a:t>level</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的值，只有知道</a:t>
            </a:r>
            <a:r>
              <a:rPr lang="en-US" altLang="zh-CN" sz="2400" b="1" dirty="0">
                <a:solidFill>
                  <a:srgbClr val="FF0000"/>
                </a:solidFill>
                <a:latin typeface="Times New Roman" panose="02020603050405020304" pitchFamily="18" charset="0"/>
                <a:cs typeface="Times New Roman" panose="02020603050405020304" pitchFamily="18" charset="0"/>
              </a:rPr>
              <a:t>level</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，才知道确定哪个物品</a:t>
            </a:r>
            <a:endParaRPr lang="zh-CN" altLang="en-US" sz="2400" b="1" dirty="0">
              <a:solidFill>
                <a:schemeClr val="tx1">
                  <a:lumMod val="50000"/>
                </a:schemeClr>
              </a:solidFill>
              <a:latin typeface="Times New Roman" panose="02020603050405020304" pitchFamily="18" charset="0"/>
              <a:cs typeface="Times New Roman" panose="02020603050405020304" pitchFamily="18" charset="0"/>
            </a:endParaRPr>
          </a:p>
        </p:txBody>
      </p:sp>
      <p:sp>
        <p:nvSpPr>
          <p:cNvPr id="18" name="Text Box 4"/>
          <p:cNvSpPr txBox="1">
            <a:spLocks noChangeArrowheads="1"/>
          </p:cNvSpPr>
          <p:nvPr/>
        </p:nvSpPr>
        <p:spPr bwMode="auto">
          <a:xfrm>
            <a:off x="460375" y="4192588"/>
            <a:ext cx="4360863" cy="2630487"/>
          </a:xfrm>
          <a:prstGeom prst="rect">
            <a:avLst/>
          </a:prstGeom>
        </p:spPr>
        <p:style>
          <a:lnRef idx="2">
            <a:schemeClr val="dk1"/>
          </a:lnRef>
          <a:fillRef idx="1">
            <a:schemeClr val="lt1"/>
          </a:fillRef>
          <a:effectRef idx="0">
            <a:schemeClr val="dk1"/>
          </a:effectRef>
          <a:fontRef idx="minor">
            <a:schemeClr val="dk1"/>
          </a:fontRef>
        </p:style>
        <p:txBody>
          <a:bodyPr/>
          <a:lstStyle/>
          <a:p>
            <a:pPr eaLnBrk="1" hangingPunct="1">
              <a:lnSpc>
                <a:spcPct val="150000"/>
              </a:lnSpc>
              <a:buClr>
                <a:schemeClr val="accent2"/>
              </a:buClr>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r[1] =</a:t>
            </a:r>
            <a:r>
              <a:rPr lang="zh-CN" altLang="en-US" sz="28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w[1]+w[2]+…+w[n]</a:t>
            </a:r>
            <a:endParaRPr lang="en-US" altLang="zh-CN" sz="2800" b="1" dirty="0">
              <a:solidFill>
                <a:schemeClr val="tx1">
                  <a:lumMod val="50000"/>
                </a:schemeClr>
              </a:solidFill>
              <a:latin typeface="Times New Roman" panose="02020603050405020304" pitchFamily="18" charset="0"/>
              <a:cs typeface="Times New Roman" panose="02020603050405020304" pitchFamily="18" charset="0"/>
            </a:endParaRPr>
          </a:p>
          <a:p>
            <a:pPr eaLnBrk="1" hangingPunct="1">
              <a:lnSpc>
                <a:spcPct val="150000"/>
              </a:lnSpc>
              <a:buClr>
                <a:schemeClr val="accent2"/>
              </a:buClr>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r[2] =</a:t>
            </a:r>
            <a:r>
              <a:rPr lang="zh-CN" altLang="en-US" sz="28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w[2]+…+w[n]</a:t>
            </a:r>
            <a:endParaRPr lang="en-US" altLang="zh-CN" sz="2800" b="1" dirty="0">
              <a:solidFill>
                <a:schemeClr val="tx1">
                  <a:lumMod val="50000"/>
                </a:schemeClr>
              </a:solidFill>
              <a:latin typeface="Times New Roman" panose="02020603050405020304" pitchFamily="18" charset="0"/>
              <a:cs typeface="Times New Roman" panose="02020603050405020304" pitchFamily="18" charset="0"/>
            </a:endParaRPr>
          </a:p>
          <a:p>
            <a:pPr eaLnBrk="1" hangingPunct="1">
              <a:lnSpc>
                <a:spcPct val="150000"/>
              </a:lnSpc>
              <a:buClr>
                <a:schemeClr val="accent2"/>
              </a:buClr>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r[n-1] =</a:t>
            </a:r>
            <a:r>
              <a:rPr lang="zh-CN" altLang="en-US" sz="28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w[n-1]+w[n]</a:t>
            </a:r>
            <a:endParaRPr lang="en-US" altLang="zh-CN" sz="2800" b="1" dirty="0">
              <a:solidFill>
                <a:schemeClr val="tx1">
                  <a:lumMod val="50000"/>
                </a:schemeClr>
              </a:solidFill>
              <a:latin typeface="Times New Roman" panose="02020603050405020304" pitchFamily="18" charset="0"/>
              <a:cs typeface="Times New Roman" panose="02020603050405020304" pitchFamily="18" charset="0"/>
            </a:endParaRPr>
          </a:p>
          <a:p>
            <a:pPr eaLnBrk="1" hangingPunct="1">
              <a:lnSpc>
                <a:spcPct val="150000"/>
              </a:lnSpc>
              <a:buClr>
                <a:schemeClr val="accent2"/>
              </a:buClr>
              <a:defRPr/>
            </a:pP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r[n] =</a:t>
            </a:r>
            <a:r>
              <a:rPr lang="zh-CN" altLang="en-US" sz="2800" b="1" dirty="0">
                <a:solidFill>
                  <a:schemeClr val="tx1">
                    <a:lumMod val="50000"/>
                  </a:schemeClr>
                </a:solidFill>
                <a:latin typeface="Times New Roman" panose="02020603050405020304" pitchFamily="18" charset="0"/>
                <a:cs typeface="Times New Roman" panose="02020603050405020304" pitchFamily="18" charset="0"/>
              </a:rPr>
              <a:t> </a:t>
            </a:r>
            <a:r>
              <a:rPr lang="en-US" altLang="zh-CN" sz="2800" b="1" dirty="0">
                <a:solidFill>
                  <a:schemeClr val="tx1">
                    <a:lumMod val="50000"/>
                  </a:schemeClr>
                </a:solidFill>
                <a:latin typeface="Times New Roman" panose="02020603050405020304" pitchFamily="18" charset="0"/>
                <a:cs typeface="Times New Roman" panose="02020603050405020304" pitchFamily="18" charset="0"/>
              </a:rPr>
              <a:t>w[n]</a:t>
            </a:r>
            <a:endParaRPr lang="en-US" altLang="zh-CN" sz="2800" b="1" dirty="0">
              <a:solidFill>
                <a:schemeClr val="tx1">
                  <a:lumMod val="50000"/>
                </a:schemeClr>
              </a:solidFill>
              <a:latin typeface="Times New Roman" panose="02020603050405020304" pitchFamily="18" charset="0"/>
              <a:cs typeface="Times New Roman" panose="02020603050405020304" pitchFamily="18" charset="0"/>
            </a:endParaRPr>
          </a:p>
          <a:p>
            <a:pPr eaLnBrk="1" hangingPunct="1">
              <a:lnSpc>
                <a:spcPct val="150000"/>
              </a:lnSpc>
              <a:buClr>
                <a:schemeClr val="accent2"/>
              </a:buClr>
              <a:defRPr/>
            </a:pPr>
            <a:endParaRPr lang="en-US" altLang="zh-CN" sz="2800" b="1" dirty="0">
              <a:latin typeface="Times New Roman" panose="02020603050405020304" pitchFamily="18" charset="0"/>
              <a:cs typeface="Times New Roman" panose="02020603050405020304" pitchFamily="18" charset="0"/>
            </a:endParaRPr>
          </a:p>
        </p:txBody>
      </p:sp>
      <p:sp>
        <p:nvSpPr>
          <p:cNvPr id="19" name="圆角矩形标注 18"/>
          <p:cNvSpPr/>
          <p:nvPr/>
        </p:nvSpPr>
        <p:spPr>
          <a:xfrm>
            <a:off x="5365750" y="4462463"/>
            <a:ext cx="3611563" cy="1865312"/>
          </a:xfrm>
          <a:prstGeom prst="wedgeRoundRectCallout">
            <a:avLst>
              <a:gd name="adj1" fmla="val -66513"/>
              <a:gd name="adj2" fmla="val 11749"/>
              <a:gd name="adj3" fmla="val 16667"/>
            </a:avLst>
          </a:prstGeom>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优点：</a:t>
            </a:r>
            <a:r>
              <a:rPr lang="en-US" altLang="zh-CN" sz="2400" b="1" dirty="0">
                <a:solidFill>
                  <a:srgbClr val="FF0000"/>
                </a:solidFill>
                <a:latin typeface="Times New Roman" panose="02020603050405020304" pitchFamily="18" charset="0"/>
                <a:cs typeface="Times New Roman" panose="02020603050405020304" pitchFamily="18" charset="0"/>
              </a:rPr>
              <a:t>level</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=2</a:t>
            </a:r>
            <a:r>
              <a:rPr lang="zh-CN" altLang="en-US" sz="2400" b="1" dirty="0">
                <a:solidFill>
                  <a:schemeClr val="tx1">
                    <a:lumMod val="50000"/>
                  </a:schemeClr>
                </a:solidFill>
                <a:latin typeface="Times New Roman" panose="02020603050405020304" pitchFamily="18" charset="0"/>
                <a:cs typeface="Times New Roman" panose="02020603050405020304" pitchFamily="18" charset="0"/>
              </a:rPr>
              <a:t>时，计算剩余可选物品重量和即为</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w[2]+w[3]+…+w[n] = r[2] = r[</a:t>
            </a:r>
            <a:r>
              <a:rPr lang="en-US" altLang="zh-CN" sz="2400" b="1" dirty="0">
                <a:solidFill>
                  <a:srgbClr val="FF0000"/>
                </a:solidFill>
                <a:latin typeface="Times New Roman" panose="02020603050405020304" pitchFamily="18" charset="0"/>
                <a:cs typeface="Times New Roman" panose="02020603050405020304" pitchFamily="18" charset="0"/>
              </a:rPr>
              <a:t>level</a:t>
            </a:r>
            <a:r>
              <a:rPr lang="en-US" altLang="zh-CN" sz="2400" b="1" dirty="0">
                <a:solidFill>
                  <a:schemeClr val="tx1">
                    <a:lumMod val="50000"/>
                  </a:schemeClr>
                </a:solidFill>
                <a:latin typeface="Times New Roman" panose="02020603050405020304" pitchFamily="18" charset="0"/>
                <a:cs typeface="Times New Roman" panose="02020603050405020304" pitchFamily="18" charset="0"/>
              </a:rPr>
              <a:t>] </a:t>
            </a:r>
            <a:endParaRPr lang="zh-CN" altLang="en-US" sz="2400" b="1" dirty="0">
              <a:solidFill>
                <a:schemeClr val="tx1">
                  <a:lumMod val="50000"/>
                </a:schemeClr>
              </a:solidFill>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2"/>
          <p:cNvSpPr>
            <a:spLocks noChangeArrowheads="1"/>
          </p:cNvSpPr>
          <p:nvPr/>
        </p:nvSpPr>
        <p:spPr bwMode="auto">
          <a:xfrm>
            <a:off x="292100" y="376238"/>
            <a:ext cx="6342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solidFill>
                  <a:schemeClr val="bg1"/>
                </a:solidFill>
                <a:latin typeface="楷体" panose="02010609060101010101" pitchFamily="49" charset="-122"/>
                <a:ea typeface="楷体" panose="02010609060101010101" pitchFamily="49" charset="-122"/>
              </a:rPr>
              <a:t>分支限界法</a:t>
            </a:r>
            <a:r>
              <a:rPr lang="en-US" altLang="zh-CN" sz="3200" dirty="0">
                <a:solidFill>
                  <a:schemeClr val="bg1"/>
                </a:solidFill>
                <a:latin typeface="楷体" panose="02010609060101010101" pitchFamily="49" charset="-122"/>
                <a:ea typeface="楷体" panose="02010609060101010101" pitchFamily="49" charset="-122"/>
              </a:rPr>
              <a:t>—</a:t>
            </a:r>
            <a:r>
              <a:rPr lang="zh-CN" altLang="en-US" sz="3200" dirty="0">
                <a:solidFill>
                  <a:schemeClr val="bg1"/>
                </a:solidFill>
                <a:latin typeface="楷体" panose="02010609060101010101" pitchFamily="49" charset="-122"/>
                <a:ea typeface="楷体" panose="02010609060101010101" pitchFamily="49" charset="-122"/>
              </a:rPr>
              <a:t>装载问题</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3200" dirty="0" err="1">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r>
              <a:rPr lang="en-US" altLang="zh-CN" sz="32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6" name="圆角矩形 5"/>
          <p:cNvSpPr/>
          <p:nvPr/>
        </p:nvSpPr>
        <p:spPr>
          <a:xfrm>
            <a:off x="285750" y="1057275"/>
            <a:ext cx="8585200" cy="5105400"/>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eaLnBrk="1" hangingPunct="1">
              <a:lnSpc>
                <a:spcPct val="150000"/>
              </a:lnSpc>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数据结构：</a:t>
            </a:r>
            <a:endPar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Node {</a:t>
            </a:r>
            <a:endPar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b="1" dirty="0"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uweight</a:t>
            </a:r>
            <a:r>
              <a:rPr lang="en-US" altLang="zh-CN" sz="2800" b="1" dirty="0"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载重上界（包含了载重信息）</a:t>
            </a:r>
            <a:endParaRPr lang="en-US" altLang="zh-CN"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b="1" dirty="0"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level; </a:t>
            </a:r>
            <a:r>
              <a:rPr lang="en-US" altLang="zh-CN"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所在层</a:t>
            </a:r>
            <a:endParaRPr lang="en-US" altLang="zh-CN"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Node  parent;</a:t>
            </a:r>
            <a:r>
              <a:rPr lang="en-US" altLang="zh-CN"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父结点</a:t>
            </a:r>
            <a:endParaRPr lang="en-US" altLang="zh-CN"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boolean</a:t>
            </a:r>
            <a:r>
              <a:rPr lang="en-US" altLang="zh-CN" sz="2800" b="1" dirty="0"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leftCh</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是否为</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左</a:t>
            </a:r>
            <a:endPar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2"/>
          <p:cNvSpPr>
            <a:spLocks noChangeArrowheads="1"/>
          </p:cNvSpPr>
          <p:nvPr/>
        </p:nvSpPr>
        <p:spPr bwMode="auto">
          <a:xfrm>
            <a:off x="292100" y="376238"/>
            <a:ext cx="6342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 name="圆角矩形 5"/>
          <p:cNvSpPr/>
          <p:nvPr/>
        </p:nvSpPr>
        <p:spPr>
          <a:xfrm>
            <a:off x="153988" y="1306513"/>
            <a:ext cx="8859837" cy="5213350"/>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eaLnBrk="1" hangingPunct="1">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数据结构：</a:t>
            </a:r>
            <a:endPar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Comparator&lt;Node&gt; </a:t>
            </a:r>
            <a:r>
              <a:rPr lang="en-US" altLang="zh-CN" sz="28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cmp</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new Comparator&lt;Node&gt;() {</a:t>
            </a:r>
            <a:endPar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public </a:t>
            </a:r>
            <a:r>
              <a:rPr lang="en-US" altLang="zh-CN" sz="28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compare(Node e1, Node e2) {</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从大到小</a:t>
            </a:r>
            <a:endPar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return e2.uweight - e1.uweight;</a:t>
            </a:r>
            <a:endPar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zh-CN" altLang="en-US"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zh-CN" altLang="en-US"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PriorityQueue</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&lt;Node&gt; </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heap</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PriorityQueue</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&lt;Node&gt; (100, </a:t>
            </a:r>
            <a:r>
              <a:rPr lang="en-US" altLang="zh-CN" sz="28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cmp</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2"/>
          <p:cNvSpPr>
            <a:spLocks noChangeArrowheads="1"/>
          </p:cNvSpPr>
          <p:nvPr/>
        </p:nvSpPr>
        <p:spPr bwMode="auto">
          <a:xfrm>
            <a:off x="292100" y="376238"/>
            <a:ext cx="6462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p:txBody>
      </p:sp>
      <p:sp>
        <p:nvSpPr>
          <p:cNvPr id="5" name="Text Box 5"/>
          <p:cNvSpPr txBox="1">
            <a:spLocks noChangeArrowheads="1"/>
          </p:cNvSpPr>
          <p:nvPr/>
        </p:nvSpPr>
        <p:spPr bwMode="auto">
          <a:xfrm>
            <a:off x="177800" y="1168400"/>
            <a:ext cx="8920163" cy="5535613"/>
          </a:xfrm>
          <a:prstGeom prst="rect">
            <a:avLst/>
          </a:prstGeom>
        </p:spPr>
        <p:style>
          <a:lnRef idx="2">
            <a:schemeClr val="accent1"/>
          </a:lnRef>
          <a:fillRef idx="1">
            <a:schemeClr val="lt1"/>
          </a:fillRef>
          <a:effectRef idx="0">
            <a:schemeClr val="accent1"/>
          </a:effectRef>
          <a:fontRef idx="minor">
            <a:schemeClr val="dk1"/>
          </a:fontRef>
        </p:style>
        <p:txBody>
          <a:bodyPr/>
          <a:lstStyle/>
          <a:p>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bestw</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0;</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Vector&lt;Boolean&gt;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bestH</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new Vector&lt;Boolean&gt;(); // </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记录最优解</a:t>
            </a:r>
            <a:endPar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Node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public </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MaxLoadingPrior</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w,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c,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n) {</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Node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null;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当前扩展结点</a:t>
            </a:r>
            <a:endPar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扩展结点的层         </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cw</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0;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扩展结点当前的载重  </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r = new </a:t>
            </a:r>
            <a:r>
              <a:rPr lang="en-US" altLang="zh-CN" sz="24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n+2</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定义剩余重量数组</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n+1</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for(</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j = </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 </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j &gt; 0; j--)</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r[j]=r[j+1]+w[j]; </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1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1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矩形 2"/>
          <p:cNvSpPr>
            <a:spLocks noChangeArrowheads="1"/>
          </p:cNvSpPr>
          <p:nvPr/>
        </p:nvSpPr>
        <p:spPr bwMode="auto">
          <a:xfrm>
            <a:off x="292100" y="376238"/>
            <a:ext cx="6462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装载问题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p:txBody>
      </p:sp>
      <p:sp>
        <p:nvSpPr>
          <p:cNvPr id="5" name="Text Box 5"/>
          <p:cNvSpPr txBox="1">
            <a:spLocks noChangeArrowheads="1"/>
          </p:cNvSpPr>
          <p:nvPr/>
        </p:nvSpPr>
        <p:spPr bwMode="auto">
          <a:xfrm>
            <a:off x="338138" y="1066800"/>
            <a:ext cx="8640762" cy="5791200"/>
          </a:xfrm>
          <a:prstGeom prst="rect">
            <a:avLst/>
          </a:prstGeom>
        </p:spPr>
        <p:style>
          <a:lnRef idx="2">
            <a:schemeClr val="accent2"/>
          </a:lnRef>
          <a:fillRef idx="1">
            <a:schemeClr val="lt1"/>
          </a:fillRef>
          <a:effectRef idx="0">
            <a:schemeClr val="accent2"/>
          </a:effectRef>
          <a:fontRef idx="minor">
            <a:schemeClr val="dk1"/>
          </a:fontRef>
        </p:style>
        <p:txBody>
          <a:bodyPr/>
          <a:lstStyle/>
          <a:p>
            <a:pPr eaLnBrk="1" hangingPunct="1">
              <a:defRPr/>
            </a:pPr>
            <a:r>
              <a:rPr lang="en-US" altLang="zh-CN" sz="1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while(</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n+1</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如果搜索到</a:t>
            </a:r>
            <a:r>
              <a:rPr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叶子结点层</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，且</a:t>
            </a:r>
            <a:r>
              <a:rPr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该结点的</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上界</a:t>
            </a:r>
            <a:r>
              <a:rPr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所有结点的</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上界中是最大的，那么从</a:t>
            </a:r>
            <a:r>
              <a:rPr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其它结点出发</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到达的</a:t>
            </a:r>
            <a:r>
              <a:rPr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叶子结点的</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最大装载量都不可能比这个值大</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cw</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w[</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&lt;= c)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搜索左子树</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pl-PL"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if(cw + w[i] &gt; bestw) //</a:t>
            </a:r>
            <a:r>
              <a:rPr lang="zh-CN" altLang="pl-PL"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更新</a:t>
            </a:r>
            <a:r>
              <a:rPr lang="pl-PL" altLang="zh-CN" sz="2000" b="1"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bestw</a:t>
            </a:r>
            <a:r>
              <a:rPr lang="en-US" altLang="zh-CN" sz="2000" b="1"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bestw</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cw</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w[</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u="sng"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todo</a:t>
            </a:r>
            <a:r>
              <a:rPr lang="en-US" altLang="zh-CN" sz="2000" b="1"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清理</a:t>
            </a:r>
            <a:r>
              <a:rPr lang="en-US" altLang="zh-CN" sz="2000" b="1"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heap</a:t>
            </a:r>
            <a:r>
              <a:rPr lang="zh-CN" altLang="en-US" sz="2000" b="1"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中上界小于</a:t>
            </a:r>
            <a:r>
              <a:rPr lang="en-US" altLang="zh-CN" sz="2000" b="1" u="sng"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bestw</a:t>
            </a:r>
            <a:r>
              <a:rPr lang="zh-CN" altLang="en-US" sz="2000" b="1" u="sng"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的结点</a:t>
            </a:r>
            <a:endParaRPr lang="zh-CN" altLang="en-US" sz="2000" b="1"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new Node(</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cw+w</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r[i+1]</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i+1,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true); }</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AddLiveNode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cw+w</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r[i+1]</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i+1,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true); }</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cw</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r[i+1] &gt;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bestw</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利用上界进行剪枝</a:t>
            </a:r>
            <a:endPar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AddLiveNode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cw+</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[i+1], </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i+1,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false);</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heap.size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0) break</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取下一个结点</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heap.poll</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cNode.level</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cw</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cNode.uweight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while(</a:t>
            </a:r>
            <a:r>
              <a:rPr lang="en-US" altLang="zh-CN" sz="20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a:t>
            </a:r>
            <a:r>
              <a:rPr lang="en-US" altLang="zh-CN"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!=null)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保留最优解</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bestH.add</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bestNode.leftCh</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bestNode.parent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椭圆形标注 5"/>
          <p:cNvSpPr/>
          <p:nvPr/>
        </p:nvSpPr>
        <p:spPr>
          <a:xfrm>
            <a:off x="5778500" y="1827212"/>
            <a:ext cx="2895600" cy="485775"/>
          </a:xfrm>
          <a:prstGeom prst="wedgeEllipseCallout">
            <a:avLst>
              <a:gd name="adj1" fmla="val -54586"/>
              <a:gd name="adj2" fmla="val 63959"/>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提前更新</a:t>
            </a:r>
            <a:r>
              <a:rPr lang="en-US" altLang="zh-CN" sz="2000" b="1" dirty="0" err="1">
                <a:latin typeface="Times New Roman" panose="02020603050405020304" pitchFamily="18" charset="0"/>
                <a:ea typeface="华文楷体" panose="02010600040101010101" pitchFamily="2" charset="-122"/>
                <a:cs typeface="Times New Roman" panose="02020603050405020304" pitchFamily="18" charset="0"/>
              </a:rPr>
              <a:t>bestW</a:t>
            </a:r>
            <a:endParaRPr lang="zh-CN" altLang="en-US" sz="20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椭圆形标注 6"/>
          <p:cNvSpPr/>
          <p:nvPr/>
        </p:nvSpPr>
        <p:spPr>
          <a:xfrm>
            <a:off x="5219700" y="4876800"/>
            <a:ext cx="3597275" cy="977900"/>
          </a:xfrm>
          <a:prstGeom prst="wedgeEllipseCallout">
            <a:avLst>
              <a:gd name="adj1" fmla="val -39144"/>
              <a:gd name="adj2" fmla="val -160675"/>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利用上界进行剪枝</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矩形 2"/>
          <p:cNvSpPr>
            <a:spLocks noChangeArrowheads="1"/>
          </p:cNvSpPr>
          <p:nvPr/>
        </p:nvSpPr>
        <p:spPr bwMode="auto">
          <a:xfrm>
            <a:off x="4044950" y="4191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目录</a:t>
            </a:r>
            <a:endParaRPr lang="zh-CN" altLang="en-US" sz="3200">
              <a:solidFill>
                <a:schemeClr val="bg1"/>
              </a:solidFill>
              <a:latin typeface="楷体" panose="02010609060101010101" pitchFamily="49" charset="-122"/>
              <a:ea typeface="楷体" panose="02010609060101010101" pitchFamily="49" charset="-122"/>
            </a:endParaRPr>
          </a:p>
        </p:txBody>
      </p:sp>
      <p:graphicFrame>
        <p:nvGraphicFramePr>
          <p:cNvPr id="7" name="图示 6"/>
          <p:cNvGraphicFramePr/>
          <p:nvPr/>
        </p:nvGraphicFramePr>
        <p:xfrm>
          <a:off x="1552575" y="1549400"/>
          <a:ext cx="6096000" cy="46609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ustDataLst>
      <p:tags r:id="rId6"/>
    </p:custData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2"/>
          <p:cNvSpPr>
            <a:spLocks noChangeArrowheads="1"/>
          </p:cNvSpPr>
          <p:nvPr/>
        </p:nvSpPr>
        <p:spPr bwMode="auto">
          <a:xfrm>
            <a:off x="292100" y="376238"/>
            <a:ext cx="45132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背包问题</a:t>
            </a:r>
            <a:endPar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68" name="内容占位符 2"/>
          <p:cNvSpPr>
            <a:spLocks noGrp="1"/>
          </p:cNvSpPr>
          <p:nvPr>
            <p:ph idx="1"/>
          </p:nvPr>
        </p:nvSpPr>
        <p:spPr>
          <a:xfrm>
            <a:off x="457200" y="1600200"/>
            <a:ext cx="8178800" cy="4457700"/>
          </a:xfrm>
        </p:spPr>
        <p:txBody>
          <a:bodyPr/>
          <a:lstStyle/>
          <a:p>
            <a:pPr marL="0" indent="0" defTabSz="914400" eaLnBrk="1" fontAlgn="auto" hangingPunct="1">
              <a:lnSpc>
                <a:spcPct val="100000"/>
              </a:lnSpc>
              <a:spcBef>
                <a:spcPts val="0"/>
              </a:spcBef>
              <a:spcAft>
                <a:spcPts val="0"/>
              </a:spcAft>
              <a:buClrTx/>
              <a:buSzTx/>
              <a:buFontTx/>
              <a:buNone/>
              <a:defRPr/>
            </a:pPr>
            <a:endParaRPr lang="zh-CN" altLang="en-US" kern="0" dirty="0" smtClean="0">
              <a:solidFill>
                <a:sysClr val="windowText" lastClr="000000"/>
              </a:solidFill>
            </a:endParaRPr>
          </a:p>
        </p:txBody>
      </p:sp>
      <p:sp>
        <p:nvSpPr>
          <p:cNvPr id="57348" name="Text Box 4"/>
          <p:cNvSpPr txBox="1">
            <a:spLocks noChangeArrowheads="1"/>
          </p:cNvSpPr>
          <p:nvPr/>
        </p:nvSpPr>
        <p:spPr bwMode="auto">
          <a:xfrm>
            <a:off x="538163" y="1477963"/>
            <a:ext cx="8099425" cy="898525"/>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背包问题</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优先队列式求解</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n=4, C=10, w={4, 7, 5, 3}, v={40, 42, 25, 12}</a:t>
            </a:r>
            <a:endPar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57349" name="Group 5"/>
          <p:cNvGrpSpPr/>
          <p:nvPr/>
        </p:nvGrpSpPr>
        <p:grpSpPr bwMode="auto">
          <a:xfrm>
            <a:off x="1346200" y="2620963"/>
            <a:ext cx="6318250" cy="2892425"/>
            <a:chOff x="-2" y="-2"/>
            <a:chExt cx="1929" cy="1914"/>
          </a:xfrm>
        </p:grpSpPr>
        <p:grpSp>
          <p:nvGrpSpPr>
            <p:cNvPr id="57350" name="Group 6"/>
            <p:cNvGrpSpPr/>
            <p:nvPr/>
          </p:nvGrpSpPr>
          <p:grpSpPr bwMode="auto">
            <a:xfrm>
              <a:off x="0" y="0"/>
              <a:ext cx="1925" cy="1910"/>
              <a:chOff x="0" y="0"/>
              <a:chExt cx="1925" cy="1910"/>
            </a:xfrm>
          </p:grpSpPr>
          <p:grpSp>
            <p:nvGrpSpPr>
              <p:cNvPr id="57352" name="Group 7"/>
              <p:cNvGrpSpPr/>
              <p:nvPr/>
            </p:nvGrpSpPr>
            <p:grpSpPr bwMode="auto">
              <a:xfrm>
                <a:off x="0" y="0"/>
                <a:ext cx="428" cy="374"/>
                <a:chOff x="0" y="0"/>
                <a:chExt cx="428" cy="374"/>
              </a:xfrm>
            </p:grpSpPr>
            <p:sp>
              <p:nvSpPr>
                <p:cNvPr id="57410" name="Rectangle 8"/>
                <p:cNvSpPr>
                  <a:spLocks noChangeArrowheads="1"/>
                </p:cNvSpPr>
                <p:nvPr/>
              </p:nvSpPr>
              <p:spPr bwMode="auto">
                <a:xfrm>
                  <a:off x="43" y="0"/>
                  <a:ext cx="34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a:solidFill>
                        <a:srgbClr val="000066"/>
                      </a:solidFill>
                      <a:latin typeface="Times New Roman" panose="02020603050405020304" pitchFamily="18" charset="0"/>
                    </a:rPr>
                    <a:t>物品</a:t>
                  </a:r>
                  <a:endParaRPr kumimoji="1" lang="zh-CN" altLang="en-US" sz="2000" b="1">
                    <a:solidFill>
                      <a:srgbClr val="000066"/>
                    </a:solidFill>
                    <a:latin typeface="Times New Roman" panose="02020603050405020304" pitchFamily="18" charset="0"/>
                  </a:endParaRPr>
                </a:p>
              </p:txBody>
            </p:sp>
            <p:sp>
              <p:nvSpPr>
                <p:cNvPr id="57411" name="Rectangle 9"/>
                <p:cNvSpPr>
                  <a:spLocks noChangeArrowheads="1"/>
                </p:cNvSpPr>
                <p:nvPr/>
              </p:nvSpPr>
              <p:spPr bwMode="auto">
                <a:xfrm>
                  <a:off x="0" y="0"/>
                  <a:ext cx="428"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53" name="Group 10"/>
              <p:cNvGrpSpPr/>
              <p:nvPr/>
            </p:nvGrpSpPr>
            <p:grpSpPr bwMode="auto">
              <a:xfrm>
                <a:off x="428" y="0"/>
                <a:ext cx="428" cy="374"/>
                <a:chOff x="428" y="0"/>
                <a:chExt cx="428" cy="374"/>
              </a:xfrm>
            </p:grpSpPr>
            <p:sp>
              <p:nvSpPr>
                <p:cNvPr id="57408" name="Rectangle 11"/>
                <p:cNvSpPr>
                  <a:spLocks noChangeArrowheads="1"/>
                </p:cNvSpPr>
                <p:nvPr/>
              </p:nvSpPr>
              <p:spPr bwMode="auto">
                <a:xfrm>
                  <a:off x="471" y="0"/>
                  <a:ext cx="34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a:solidFill>
                        <a:srgbClr val="000066"/>
                      </a:solidFill>
                      <a:latin typeface="Times New Roman" panose="02020603050405020304" pitchFamily="18" charset="0"/>
                    </a:rPr>
                    <a:t>重量</a:t>
                  </a:r>
                  <a:r>
                    <a:rPr kumimoji="1" lang="en-US" altLang="zh-CN" sz="2000" b="1">
                      <a:solidFill>
                        <a:srgbClr val="000066"/>
                      </a:solidFill>
                      <a:latin typeface="Times New Roman" panose="02020603050405020304" pitchFamily="18" charset="0"/>
                    </a:rPr>
                    <a:t>(</a:t>
                  </a:r>
                  <a:r>
                    <a:rPr kumimoji="1" lang="en-US" altLang="zh-CN" sz="2000" b="1" i="1">
                      <a:solidFill>
                        <a:srgbClr val="000066"/>
                      </a:solidFill>
                      <a:latin typeface="Times New Roman" panose="02020603050405020304" pitchFamily="18" charset="0"/>
                    </a:rPr>
                    <a:t>w</a:t>
                  </a:r>
                  <a:r>
                    <a:rPr kumimoji="1" lang="en-US" altLang="zh-CN" sz="2000" b="1">
                      <a:solidFill>
                        <a:srgbClr val="000066"/>
                      </a:solidFill>
                      <a:latin typeface="Times New Roman" panose="02020603050405020304" pitchFamily="18" charset="0"/>
                    </a:rPr>
                    <a:t>)</a:t>
                  </a:r>
                  <a:endParaRPr kumimoji="1" lang="en-US" altLang="zh-CN" sz="2000" b="1">
                    <a:solidFill>
                      <a:srgbClr val="000066"/>
                    </a:solidFill>
                    <a:latin typeface="Times New Roman" panose="02020603050405020304" pitchFamily="18" charset="0"/>
                  </a:endParaRPr>
                </a:p>
              </p:txBody>
            </p:sp>
            <p:sp>
              <p:nvSpPr>
                <p:cNvPr id="57409" name="Rectangle 12"/>
                <p:cNvSpPr>
                  <a:spLocks noChangeArrowheads="1"/>
                </p:cNvSpPr>
                <p:nvPr/>
              </p:nvSpPr>
              <p:spPr bwMode="auto">
                <a:xfrm>
                  <a:off x="428" y="0"/>
                  <a:ext cx="428"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54" name="Group 13"/>
              <p:cNvGrpSpPr/>
              <p:nvPr/>
            </p:nvGrpSpPr>
            <p:grpSpPr bwMode="auto">
              <a:xfrm>
                <a:off x="856" y="0"/>
                <a:ext cx="428" cy="374"/>
                <a:chOff x="856" y="0"/>
                <a:chExt cx="428" cy="374"/>
              </a:xfrm>
            </p:grpSpPr>
            <p:sp>
              <p:nvSpPr>
                <p:cNvPr id="57406" name="Rectangle 14"/>
                <p:cNvSpPr>
                  <a:spLocks noChangeArrowheads="1"/>
                </p:cNvSpPr>
                <p:nvPr/>
              </p:nvSpPr>
              <p:spPr bwMode="auto">
                <a:xfrm>
                  <a:off x="899" y="0"/>
                  <a:ext cx="34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a:solidFill>
                        <a:srgbClr val="000066"/>
                      </a:solidFill>
                      <a:latin typeface="Times New Roman" panose="02020603050405020304" pitchFamily="18" charset="0"/>
                    </a:rPr>
                    <a:t>价值</a:t>
                  </a:r>
                  <a:r>
                    <a:rPr kumimoji="1" lang="en-US" altLang="zh-CN" sz="2000" b="1">
                      <a:solidFill>
                        <a:srgbClr val="000066"/>
                      </a:solidFill>
                      <a:latin typeface="Times New Roman" panose="02020603050405020304" pitchFamily="18" charset="0"/>
                    </a:rPr>
                    <a:t>(</a:t>
                  </a:r>
                  <a:r>
                    <a:rPr kumimoji="1" lang="en-US" altLang="zh-CN" sz="2000" b="1" i="1">
                      <a:solidFill>
                        <a:srgbClr val="000066"/>
                      </a:solidFill>
                      <a:latin typeface="Times New Roman" panose="02020603050405020304" pitchFamily="18" charset="0"/>
                    </a:rPr>
                    <a:t>v</a:t>
                  </a:r>
                  <a:r>
                    <a:rPr kumimoji="1" lang="en-US" altLang="zh-CN" sz="2000" b="1">
                      <a:solidFill>
                        <a:srgbClr val="000066"/>
                      </a:solidFill>
                      <a:latin typeface="Times New Roman" panose="02020603050405020304" pitchFamily="18" charset="0"/>
                    </a:rPr>
                    <a:t>)</a:t>
                  </a:r>
                  <a:endParaRPr kumimoji="1" lang="en-US" altLang="zh-CN" sz="2000" b="1">
                    <a:solidFill>
                      <a:srgbClr val="000066"/>
                    </a:solidFill>
                    <a:latin typeface="Times New Roman" panose="02020603050405020304" pitchFamily="18" charset="0"/>
                  </a:endParaRPr>
                </a:p>
              </p:txBody>
            </p:sp>
            <p:sp>
              <p:nvSpPr>
                <p:cNvPr id="57407" name="Rectangle 15"/>
                <p:cNvSpPr>
                  <a:spLocks noChangeArrowheads="1"/>
                </p:cNvSpPr>
                <p:nvPr/>
              </p:nvSpPr>
              <p:spPr bwMode="auto">
                <a:xfrm>
                  <a:off x="856" y="0"/>
                  <a:ext cx="428"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55" name="Group 16"/>
              <p:cNvGrpSpPr/>
              <p:nvPr/>
            </p:nvGrpSpPr>
            <p:grpSpPr bwMode="auto">
              <a:xfrm>
                <a:off x="1284" y="0"/>
                <a:ext cx="641" cy="374"/>
                <a:chOff x="1284" y="0"/>
                <a:chExt cx="641" cy="374"/>
              </a:xfrm>
            </p:grpSpPr>
            <p:sp>
              <p:nvSpPr>
                <p:cNvPr id="57404" name="Rectangle 17"/>
                <p:cNvSpPr>
                  <a:spLocks noChangeArrowheads="1"/>
                </p:cNvSpPr>
                <p:nvPr/>
              </p:nvSpPr>
              <p:spPr bwMode="auto">
                <a:xfrm>
                  <a:off x="1327" y="0"/>
                  <a:ext cx="55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b="1">
                      <a:solidFill>
                        <a:srgbClr val="000066"/>
                      </a:solidFill>
                      <a:latin typeface="Times New Roman" panose="02020603050405020304" pitchFamily="18" charset="0"/>
                    </a:rPr>
                    <a:t>价值</a:t>
                  </a:r>
                  <a:r>
                    <a:rPr kumimoji="1" lang="en-US" altLang="zh-CN" sz="2000" b="1">
                      <a:solidFill>
                        <a:srgbClr val="000066"/>
                      </a:solidFill>
                      <a:latin typeface="Times New Roman" panose="02020603050405020304" pitchFamily="18" charset="0"/>
                    </a:rPr>
                    <a:t>/</a:t>
                  </a:r>
                  <a:r>
                    <a:rPr kumimoji="1" lang="zh-CN" altLang="en-US" sz="2000" b="1">
                      <a:solidFill>
                        <a:srgbClr val="000066"/>
                      </a:solidFill>
                      <a:latin typeface="Times New Roman" panose="02020603050405020304" pitchFamily="18" charset="0"/>
                    </a:rPr>
                    <a:t>重量</a:t>
                  </a:r>
                  <a:r>
                    <a:rPr kumimoji="1" lang="en-US" altLang="zh-CN" sz="2000" b="1">
                      <a:solidFill>
                        <a:srgbClr val="000066"/>
                      </a:solidFill>
                      <a:latin typeface="Times New Roman" panose="02020603050405020304" pitchFamily="18" charset="0"/>
                    </a:rPr>
                    <a:t>(</a:t>
                  </a:r>
                  <a:r>
                    <a:rPr kumimoji="1" lang="en-US" altLang="zh-CN" sz="2000" b="1" i="1">
                      <a:solidFill>
                        <a:srgbClr val="000066"/>
                      </a:solidFill>
                      <a:latin typeface="Times New Roman" panose="02020603050405020304" pitchFamily="18" charset="0"/>
                    </a:rPr>
                    <a:t>v</a:t>
                  </a:r>
                  <a:r>
                    <a:rPr kumimoji="1" lang="en-US" altLang="zh-CN" sz="2000" b="1">
                      <a:solidFill>
                        <a:srgbClr val="000066"/>
                      </a:solidFill>
                      <a:latin typeface="Times New Roman" panose="02020603050405020304" pitchFamily="18" charset="0"/>
                    </a:rPr>
                    <a:t>/</a:t>
                  </a:r>
                  <a:r>
                    <a:rPr kumimoji="1" lang="en-US" altLang="zh-CN" sz="2000" b="1" i="1">
                      <a:solidFill>
                        <a:srgbClr val="000066"/>
                      </a:solidFill>
                      <a:latin typeface="Times New Roman" panose="02020603050405020304" pitchFamily="18" charset="0"/>
                    </a:rPr>
                    <a:t>w</a:t>
                  </a:r>
                  <a:r>
                    <a:rPr kumimoji="1" lang="en-US" altLang="zh-CN" sz="2000" b="1">
                      <a:solidFill>
                        <a:srgbClr val="000066"/>
                      </a:solidFill>
                      <a:latin typeface="Times New Roman" panose="02020603050405020304" pitchFamily="18" charset="0"/>
                    </a:rPr>
                    <a:t>)</a:t>
                  </a:r>
                  <a:endParaRPr kumimoji="1" lang="en-US" altLang="zh-CN" sz="2000" b="1">
                    <a:solidFill>
                      <a:srgbClr val="000066"/>
                    </a:solidFill>
                    <a:latin typeface="Times New Roman" panose="02020603050405020304" pitchFamily="18" charset="0"/>
                  </a:endParaRPr>
                </a:p>
              </p:txBody>
            </p:sp>
            <p:sp>
              <p:nvSpPr>
                <p:cNvPr id="57405" name="Rectangle 18"/>
                <p:cNvSpPr>
                  <a:spLocks noChangeArrowheads="1"/>
                </p:cNvSpPr>
                <p:nvPr/>
              </p:nvSpPr>
              <p:spPr bwMode="auto">
                <a:xfrm>
                  <a:off x="1284" y="0"/>
                  <a:ext cx="641" cy="37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56" name="Group 19"/>
              <p:cNvGrpSpPr/>
              <p:nvPr/>
            </p:nvGrpSpPr>
            <p:grpSpPr bwMode="auto">
              <a:xfrm>
                <a:off x="0" y="374"/>
                <a:ext cx="428" cy="384"/>
                <a:chOff x="0" y="374"/>
                <a:chExt cx="428" cy="384"/>
              </a:xfrm>
            </p:grpSpPr>
            <p:sp>
              <p:nvSpPr>
                <p:cNvPr id="57402" name="Rectangle 20"/>
                <p:cNvSpPr>
                  <a:spLocks noChangeArrowheads="1"/>
                </p:cNvSpPr>
                <p:nvPr/>
              </p:nvSpPr>
              <p:spPr bwMode="auto">
                <a:xfrm>
                  <a:off x="43" y="374"/>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1</a:t>
                  </a:r>
                  <a:endParaRPr kumimoji="1" lang="en-US" altLang="zh-CN" sz="2000" b="1">
                    <a:solidFill>
                      <a:srgbClr val="000066"/>
                    </a:solidFill>
                    <a:latin typeface="Times New Roman" panose="02020603050405020304" pitchFamily="18" charset="0"/>
                  </a:endParaRPr>
                </a:p>
              </p:txBody>
            </p:sp>
            <p:sp>
              <p:nvSpPr>
                <p:cNvPr id="57403" name="Rectangle 21"/>
                <p:cNvSpPr>
                  <a:spLocks noChangeArrowheads="1"/>
                </p:cNvSpPr>
                <p:nvPr/>
              </p:nvSpPr>
              <p:spPr bwMode="auto">
                <a:xfrm>
                  <a:off x="0" y="374"/>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57" name="Group 22"/>
              <p:cNvGrpSpPr/>
              <p:nvPr/>
            </p:nvGrpSpPr>
            <p:grpSpPr bwMode="auto">
              <a:xfrm>
                <a:off x="428" y="374"/>
                <a:ext cx="428" cy="384"/>
                <a:chOff x="428" y="374"/>
                <a:chExt cx="428" cy="384"/>
              </a:xfrm>
            </p:grpSpPr>
            <p:sp>
              <p:nvSpPr>
                <p:cNvPr id="57400" name="Rectangle 23"/>
                <p:cNvSpPr>
                  <a:spLocks noChangeArrowheads="1"/>
                </p:cNvSpPr>
                <p:nvPr/>
              </p:nvSpPr>
              <p:spPr bwMode="auto">
                <a:xfrm>
                  <a:off x="471" y="374"/>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4</a:t>
                  </a:r>
                  <a:endParaRPr kumimoji="1" lang="en-US" altLang="zh-CN" sz="2000" b="1">
                    <a:solidFill>
                      <a:srgbClr val="000066"/>
                    </a:solidFill>
                    <a:latin typeface="Times New Roman" panose="02020603050405020304" pitchFamily="18" charset="0"/>
                  </a:endParaRPr>
                </a:p>
              </p:txBody>
            </p:sp>
            <p:sp>
              <p:nvSpPr>
                <p:cNvPr id="57401" name="Rectangle 24"/>
                <p:cNvSpPr>
                  <a:spLocks noChangeArrowheads="1"/>
                </p:cNvSpPr>
                <p:nvPr/>
              </p:nvSpPr>
              <p:spPr bwMode="auto">
                <a:xfrm>
                  <a:off x="428" y="374"/>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58" name="Group 25"/>
              <p:cNvGrpSpPr/>
              <p:nvPr/>
            </p:nvGrpSpPr>
            <p:grpSpPr bwMode="auto">
              <a:xfrm>
                <a:off x="856" y="374"/>
                <a:ext cx="428" cy="384"/>
                <a:chOff x="856" y="374"/>
                <a:chExt cx="428" cy="384"/>
              </a:xfrm>
            </p:grpSpPr>
            <p:sp>
              <p:nvSpPr>
                <p:cNvPr id="57398" name="Rectangle 26"/>
                <p:cNvSpPr>
                  <a:spLocks noChangeArrowheads="1"/>
                </p:cNvSpPr>
                <p:nvPr/>
              </p:nvSpPr>
              <p:spPr bwMode="auto">
                <a:xfrm>
                  <a:off x="899" y="374"/>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40</a:t>
                  </a:r>
                  <a:endParaRPr kumimoji="1" lang="en-US" altLang="zh-CN" sz="2000" b="1">
                    <a:solidFill>
                      <a:srgbClr val="000066"/>
                    </a:solidFill>
                    <a:latin typeface="Times New Roman" panose="02020603050405020304" pitchFamily="18" charset="0"/>
                  </a:endParaRPr>
                </a:p>
              </p:txBody>
            </p:sp>
            <p:sp>
              <p:nvSpPr>
                <p:cNvPr id="57399" name="Rectangle 27"/>
                <p:cNvSpPr>
                  <a:spLocks noChangeArrowheads="1"/>
                </p:cNvSpPr>
                <p:nvPr/>
              </p:nvSpPr>
              <p:spPr bwMode="auto">
                <a:xfrm>
                  <a:off x="856" y="374"/>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59" name="Group 28"/>
              <p:cNvGrpSpPr/>
              <p:nvPr/>
            </p:nvGrpSpPr>
            <p:grpSpPr bwMode="auto">
              <a:xfrm>
                <a:off x="1284" y="374"/>
                <a:ext cx="641" cy="384"/>
                <a:chOff x="1284" y="374"/>
                <a:chExt cx="641" cy="384"/>
              </a:xfrm>
            </p:grpSpPr>
            <p:sp>
              <p:nvSpPr>
                <p:cNvPr id="57396" name="Rectangle 29"/>
                <p:cNvSpPr>
                  <a:spLocks noChangeArrowheads="1"/>
                </p:cNvSpPr>
                <p:nvPr/>
              </p:nvSpPr>
              <p:spPr bwMode="auto">
                <a:xfrm>
                  <a:off x="1327" y="374"/>
                  <a:ext cx="5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10</a:t>
                  </a:r>
                  <a:endParaRPr kumimoji="1" lang="en-US" altLang="zh-CN" sz="2000" b="1">
                    <a:solidFill>
                      <a:srgbClr val="000066"/>
                    </a:solidFill>
                    <a:latin typeface="Times New Roman" panose="02020603050405020304" pitchFamily="18" charset="0"/>
                  </a:endParaRPr>
                </a:p>
              </p:txBody>
            </p:sp>
            <p:sp>
              <p:nvSpPr>
                <p:cNvPr id="57397" name="Rectangle 30"/>
                <p:cNvSpPr>
                  <a:spLocks noChangeArrowheads="1"/>
                </p:cNvSpPr>
                <p:nvPr/>
              </p:nvSpPr>
              <p:spPr bwMode="auto">
                <a:xfrm>
                  <a:off x="1284" y="374"/>
                  <a:ext cx="64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60" name="Group 31"/>
              <p:cNvGrpSpPr/>
              <p:nvPr/>
            </p:nvGrpSpPr>
            <p:grpSpPr bwMode="auto">
              <a:xfrm>
                <a:off x="0" y="758"/>
                <a:ext cx="428" cy="384"/>
                <a:chOff x="0" y="758"/>
                <a:chExt cx="428" cy="384"/>
              </a:xfrm>
            </p:grpSpPr>
            <p:sp>
              <p:nvSpPr>
                <p:cNvPr id="57394" name="Rectangle 32"/>
                <p:cNvSpPr>
                  <a:spLocks noChangeArrowheads="1"/>
                </p:cNvSpPr>
                <p:nvPr/>
              </p:nvSpPr>
              <p:spPr bwMode="auto">
                <a:xfrm>
                  <a:off x="43" y="758"/>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2</a:t>
                  </a:r>
                  <a:endParaRPr kumimoji="1" lang="en-US" altLang="zh-CN" sz="2000" b="1">
                    <a:solidFill>
                      <a:srgbClr val="000066"/>
                    </a:solidFill>
                    <a:latin typeface="Times New Roman" panose="02020603050405020304" pitchFamily="18" charset="0"/>
                  </a:endParaRPr>
                </a:p>
              </p:txBody>
            </p:sp>
            <p:sp>
              <p:nvSpPr>
                <p:cNvPr id="57395" name="Rectangle 33"/>
                <p:cNvSpPr>
                  <a:spLocks noChangeArrowheads="1"/>
                </p:cNvSpPr>
                <p:nvPr/>
              </p:nvSpPr>
              <p:spPr bwMode="auto">
                <a:xfrm>
                  <a:off x="0" y="758"/>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61" name="Group 34"/>
              <p:cNvGrpSpPr/>
              <p:nvPr/>
            </p:nvGrpSpPr>
            <p:grpSpPr bwMode="auto">
              <a:xfrm>
                <a:off x="428" y="758"/>
                <a:ext cx="428" cy="384"/>
                <a:chOff x="428" y="758"/>
                <a:chExt cx="428" cy="384"/>
              </a:xfrm>
            </p:grpSpPr>
            <p:sp>
              <p:nvSpPr>
                <p:cNvPr id="57392" name="Rectangle 35"/>
                <p:cNvSpPr>
                  <a:spLocks noChangeArrowheads="1"/>
                </p:cNvSpPr>
                <p:nvPr/>
              </p:nvSpPr>
              <p:spPr bwMode="auto">
                <a:xfrm>
                  <a:off x="471" y="758"/>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7</a:t>
                  </a:r>
                  <a:endParaRPr kumimoji="1" lang="en-US" altLang="zh-CN" sz="2000" b="1">
                    <a:solidFill>
                      <a:srgbClr val="000066"/>
                    </a:solidFill>
                    <a:latin typeface="Times New Roman" panose="02020603050405020304" pitchFamily="18" charset="0"/>
                  </a:endParaRPr>
                </a:p>
              </p:txBody>
            </p:sp>
            <p:sp>
              <p:nvSpPr>
                <p:cNvPr id="57393" name="Rectangle 36"/>
                <p:cNvSpPr>
                  <a:spLocks noChangeArrowheads="1"/>
                </p:cNvSpPr>
                <p:nvPr/>
              </p:nvSpPr>
              <p:spPr bwMode="auto">
                <a:xfrm>
                  <a:off x="428" y="758"/>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62" name="Group 37"/>
              <p:cNvGrpSpPr/>
              <p:nvPr/>
            </p:nvGrpSpPr>
            <p:grpSpPr bwMode="auto">
              <a:xfrm>
                <a:off x="856" y="758"/>
                <a:ext cx="428" cy="384"/>
                <a:chOff x="856" y="758"/>
                <a:chExt cx="428" cy="384"/>
              </a:xfrm>
            </p:grpSpPr>
            <p:sp>
              <p:nvSpPr>
                <p:cNvPr id="57390" name="Rectangle 38"/>
                <p:cNvSpPr>
                  <a:spLocks noChangeArrowheads="1"/>
                </p:cNvSpPr>
                <p:nvPr/>
              </p:nvSpPr>
              <p:spPr bwMode="auto">
                <a:xfrm>
                  <a:off x="899" y="758"/>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42</a:t>
                  </a:r>
                  <a:endParaRPr kumimoji="1" lang="en-US" altLang="zh-CN" sz="2000" b="1">
                    <a:solidFill>
                      <a:srgbClr val="000066"/>
                    </a:solidFill>
                    <a:latin typeface="Times New Roman" panose="02020603050405020304" pitchFamily="18" charset="0"/>
                  </a:endParaRPr>
                </a:p>
              </p:txBody>
            </p:sp>
            <p:sp>
              <p:nvSpPr>
                <p:cNvPr id="57391" name="Rectangle 39"/>
                <p:cNvSpPr>
                  <a:spLocks noChangeArrowheads="1"/>
                </p:cNvSpPr>
                <p:nvPr/>
              </p:nvSpPr>
              <p:spPr bwMode="auto">
                <a:xfrm>
                  <a:off x="856" y="758"/>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63" name="Group 40"/>
              <p:cNvGrpSpPr/>
              <p:nvPr/>
            </p:nvGrpSpPr>
            <p:grpSpPr bwMode="auto">
              <a:xfrm>
                <a:off x="1284" y="758"/>
                <a:ext cx="641" cy="384"/>
                <a:chOff x="1284" y="758"/>
                <a:chExt cx="641" cy="384"/>
              </a:xfrm>
            </p:grpSpPr>
            <p:sp>
              <p:nvSpPr>
                <p:cNvPr id="57388" name="Rectangle 41"/>
                <p:cNvSpPr>
                  <a:spLocks noChangeArrowheads="1"/>
                </p:cNvSpPr>
                <p:nvPr/>
              </p:nvSpPr>
              <p:spPr bwMode="auto">
                <a:xfrm>
                  <a:off x="1327" y="758"/>
                  <a:ext cx="5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6</a:t>
                  </a:r>
                  <a:endParaRPr kumimoji="1" lang="en-US" altLang="zh-CN" sz="2000" b="1">
                    <a:solidFill>
                      <a:srgbClr val="000066"/>
                    </a:solidFill>
                    <a:latin typeface="Times New Roman" panose="02020603050405020304" pitchFamily="18" charset="0"/>
                  </a:endParaRPr>
                </a:p>
              </p:txBody>
            </p:sp>
            <p:sp>
              <p:nvSpPr>
                <p:cNvPr id="57389" name="Rectangle 42"/>
                <p:cNvSpPr>
                  <a:spLocks noChangeArrowheads="1"/>
                </p:cNvSpPr>
                <p:nvPr/>
              </p:nvSpPr>
              <p:spPr bwMode="auto">
                <a:xfrm>
                  <a:off x="1284" y="758"/>
                  <a:ext cx="64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64" name="Group 43"/>
              <p:cNvGrpSpPr/>
              <p:nvPr/>
            </p:nvGrpSpPr>
            <p:grpSpPr bwMode="auto">
              <a:xfrm>
                <a:off x="0" y="1142"/>
                <a:ext cx="428" cy="384"/>
                <a:chOff x="0" y="1142"/>
                <a:chExt cx="428" cy="384"/>
              </a:xfrm>
            </p:grpSpPr>
            <p:sp>
              <p:nvSpPr>
                <p:cNvPr id="57386" name="Rectangle 44"/>
                <p:cNvSpPr>
                  <a:spLocks noChangeArrowheads="1"/>
                </p:cNvSpPr>
                <p:nvPr/>
              </p:nvSpPr>
              <p:spPr bwMode="auto">
                <a:xfrm>
                  <a:off x="43" y="1142"/>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3</a:t>
                  </a:r>
                  <a:endParaRPr kumimoji="1" lang="en-US" altLang="zh-CN" sz="2000" b="1">
                    <a:solidFill>
                      <a:srgbClr val="000066"/>
                    </a:solidFill>
                    <a:latin typeface="Times New Roman" panose="02020603050405020304" pitchFamily="18" charset="0"/>
                  </a:endParaRPr>
                </a:p>
              </p:txBody>
            </p:sp>
            <p:sp>
              <p:nvSpPr>
                <p:cNvPr id="57387" name="Rectangle 45"/>
                <p:cNvSpPr>
                  <a:spLocks noChangeArrowheads="1"/>
                </p:cNvSpPr>
                <p:nvPr/>
              </p:nvSpPr>
              <p:spPr bwMode="auto">
                <a:xfrm>
                  <a:off x="0" y="1142"/>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65" name="Group 46"/>
              <p:cNvGrpSpPr/>
              <p:nvPr/>
            </p:nvGrpSpPr>
            <p:grpSpPr bwMode="auto">
              <a:xfrm>
                <a:off x="428" y="1142"/>
                <a:ext cx="428" cy="384"/>
                <a:chOff x="428" y="1142"/>
                <a:chExt cx="428" cy="384"/>
              </a:xfrm>
            </p:grpSpPr>
            <p:sp>
              <p:nvSpPr>
                <p:cNvPr id="57384" name="Rectangle 47"/>
                <p:cNvSpPr>
                  <a:spLocks noChangeArrowheads="1"/>
                </p:cNvSpPr>
                <p:nvPr/>
              </p:nvSpPr>
              <p:spPr bwMode="auto">
                <a:xfrm>
                  <a:off x="471" y="1142"/>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5</a:t>
                  </a:r>
                  <a:endParaRPr kumimoji="1" lang="en-US" altLang="zh-CN" sz="2000" b="1">
                    <a:solidFill>
                      <a:srgbClr val="000066"/>
                    </a:solidFill>
                    <a:latin typeface="Times New Roman" panose="02020603050405020304" pitchFamily="18" charset="0"/>
                  </a:endParaRPr>
                </a:p>
              </p:txBody>
            </p:sp>
            <p:sp>
              <p:nvSpPr>
                <p:cNvPr id="57385" name="Rectangle 48"/>
                <p:cNvSpPr>
                  <a:spLocks noChangeArrowheads="1"/>
                </p:cNvSpPr>
                <p:nvPr/>
              </p:nvSpPr>
              <p:spPr bwMode="auto">
                <a:xfrm>
                  <a:off x="428" y="1142"/>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66" name="Group 49"/>
              <p:cNvGrpSpPr/>
              <p:nvPr/>
            </p:nvGrpSpPr>
            <p:grpSpPr bwMode="auto">
              <a:xfrm>
                <a:off x="856" y="1142"/>
                <a:ext cx="428" cy="384"/>
                <a:chOff x="856" y="1142"/>
                <a:chExt cx="428" cy="384"/>
              </a:xfrm>
            </p:grpSpPr>
            <p:sp>
              <p:nvSpPr>
                <p:cNvPr id="57382" name="Rectangle 50"/>
                <p:cNvSpPr>
                  <a:spLocks noChangeArrowheads="1"/>
                </p:cNvSpPr>
                <p:nvPr/>
              </p:nvSpPr>
              <p:spPr bwMode="auto">
                <a:xfrm>
                  <a:off x="899" y="1142"/>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25</a:t>
                  </a:r>
                  <a:endParaRPr kumimoji="1" lang="en-US" altLang="zh-CN" sz="2000" b="1">
                    <a:solidFill>
                      <a:srgbClr val="000066"/>
                    </a:solidFill>
                    <a:latin typeface="Times New Roman" panose="02020603050405020304" pitchFamily="18" charset="0"/>
                  </a:endParaRPr>
                </a:p>
              </p:txBody>
            </p:sp>
            <p:sp>
              <p:nvSpPr>
                <p:cNvPr id="57383" name="Rectangle 51"/>
                <p:cNvSpPr>
                  <a:spLocks noChangeArrowheads="1"/>
                </p:cNvSpPr>
                <p:nvPr/>
              </p:nvSpPr>
              <p:spPr bwMode="auto">
                <a:xfrm>
                  <a:off x="856" y="1142"/>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67" name="Group 52"/>
              <p:cNvGrpSpPr/>
              <p:nvPr/>
            </p:nvGrpSpPr>
            <p:grpSpPr bwMode="auto">
              <a:xfrm>
                <a:off x="1284" y="1142"/>
                <a:ext cx="641" cy="384"/>
                <a:chOff x="1284" y="1142"/>
                <a:chExt cx="641" cy="384"/>
              </a:xfrm>
            </p:grpSpPr>
            <p:sp>
              <p:nvSpPr>
                <p:cNvPr id="57380" name="Rectangle 53"/>
                <p:cNvSpPr>
                  <a:spLocks noChangeArrowheads="1"/>
                </p:cNvSpPr>
                <p:nvPr/>
              </p:nvSpPr>
              <p:spPr bwMode="auto">
                <a:xfrm>
                  <a:off x="1327" y="1142"/>
                  <a:ext cx="5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5</a:t>
                  </a:r>
                  <a:endParaRPr kumimoji="1" lang="en-US" altLang="zh-CN" sz="2000" b="1">
                    <a:solidFill>
                      <a:srgbClr val="000066"/>
                    </a:solidFill>
                    <a:latin typeface="Times New Roman" panose="02020603050405020304" pitchFamily="18" charset="0"/>
                  </a:endParaRPr>
                </a:p>
              </p:txBody>
            </p:sp>
            <p:sp>
              <p:nvSpPr>
                <p:cNvPr id="57381" name="Rectangle 54"/>
                <p:cNvSpPr>
                  <a:spLocks noChangeArrowheads="1"/>
                </p:cNvSpPr>
                <p:nvPr/>
              </p:nvSpPr>
              <p:spPr bwMode="auto">
                <a:xfrm>
                  <a:off x="1284" y="1142"/>
                  <a:ext cx="64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68" name="Group 55"/>
              <p:cNvGrpSpPr/>
              <p:nvPr/>
            </p:nvGrpSpPr>
            <p:grpSpPr bwMode="auto">
              <a:xfrm>
                <a:off x="0" y="1526"/>
                <a:ext cx="428" cy="384"/>
                <a:chOff x="0" y="1526"/>
                <a:chExt cx="428" cy="384"/>
              </a:xfrm>
            </p:grpSpPr>
            <p:sp>
              <p:nvSpPr>
                <p:cNvPr id="57378" name="Rectangle 56"/>
                <p:cNvSpPr>
                  <a:spLocks noChangeArrowheads="1"/>
                </p:cNvSpPr>
                <p:nvPr/>
              </p:nvSpPr>
              <p:spPr bwMode="auto">
                <a:xfrm>
                  <a:off x="43" y="1526"/>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4</a:t>
                  </a:r>
                  <a:endParaRPr kumimoji="1" lang="en-US" altLang="zh-CN" sz="2000" b="1">
                    <a:solidFill>
                      <a:srgbClr val="000066"/>
                    </a:solidFill>
                    <a:latin typeface="Times New Roman" panose="02020603050405020304" pitchFamily="18" charset="0"/>
                  </a:endParaRPr>
                </a:p>
              </p:txBody>
            </p:sp>
            <p:sp>
              <p:nvSpPr>
                <p:cNvPr id="57379" name="Rectangle 57"/>
                <p:cNvSpPr>
                  <a:spLocks noChangeArrowheads="1"/>
                </p:cNvSpPr>
                <p:nvPr/>
              </p:nvSpPr>
              <p:spPr bwMode="auto">
                <a:xfrm>
                  <a:off x="0" y="1526"/>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69" name="Group 58"/>
              <p:cNvGrpSpPr/>
              <p:nvPr/>
            </p:nvGrpSpPr>
            <p:grpSpPr bwMode="auto">
              <a:xfrm>
                <a:off x="428" y="1526"/>
                <a:ext cx="428" cy="384"/>
                <a:chOff x="428" y="1526"/>
                <a:chExt cx="428" cy="384"/>
              </a:xfrm>
            </p:grpSpPr>
            <p:sp>
              <p:nvSpPr>
                <p:cNvPr id="57376" name="Rectangle 59"/>
                <p:cNvSpPr>
                  <a:spLocks noChangeArrowheads="1"/>
                </p:cNvSpPr>
                <p:nvPr/>
              </p:nvSpPr>
              <p:spPr bwMode="auto">
                <a:xfrm>
                  <a:off x="471" y="1526"/>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3</a:t>
                  </a:r>
                  <a:endParaRPr kumimoji="1" lang="en-US" altLang="zh-CN" sz="2000" b="1">
                    <a:solidFill>
                      <a:srgbClr val="000066"/>
                    </a:solidFill>
                    <a:latin typeface="Times New Roman" panose="02020603050405020304" pitchFamily="18" charset="0"/>
                  </a:endParaRPr>
                </a:p>
              </p:txBody>
            </p:sp>
            <p:sp>
              <p:nvSpPr>
                <p:cNvPr id="57377" name="Rectangle 60"/>
                <p:cNvSpPr>
                  <a:spLocks noChangeArrowheads="1"/>
                </p:cNvSpPr>
                <p:nvPr/>
              </p:nvSpPr>
              <p:spPr bwMode="auto">
                <a:xfrm>
                  <a:off x="428" y="1526"/>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70" name="Group 61"/>
              <p:cNvGrpSpPr/>
              <p:nvPr/>
            </p:nvGrpSpPr>
            <p:grpSpPr bwMode="auto">
              <a:xfrm>
                <a:off x="856" y="1526"/>
                <a:ext cx="428" cy="384"/>
                <a:chOff x="856" y="1526"/>
                <a:chExt cx="428" cy="384"/>
              </a:xfrm>
            </p:grpSpPr>
            <p:sp>
              <p:nvSpPr>
                <p:cNvPr id="57374" name="Rectangle 62"/>
                <p:cNvSpPr>
                  <a:spLocks noChangeArrowheads="1"/>
                </p:cNvSpPr>
                <p:nvPr/>
              </p:nvSpPr>
              <p:spPr bwMode="auto">
                <a:xfrm>
                  <a:off x="899" y="1526"/>
                  <a:ext cx="34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12</a:t>
                  </a:r>
                  <a:endParaRPr kumimoji="1" lang="en-US" altLang="zh-CN" sz="2000" b="1">
                    <a:solidFill>
                      <a:srgbClr val="000066"/>
                    </a:solidFill>
                    <a:latin typeface="Times New Roman" panose="02020603050405020304" pitchFamily="18" charset="0"/>
                  </a:endParaRPr>
                </a:p>
              </p:txBody>
            </p:sp>
            <p:sp>
              <p:nvSpPr>
                <p:cNvPr id="57375" name="Rectangle 63"/>
                <p:cNvSpPr>
                  <a:spLocks noChangeArrowheads="1"/>
                </p:cNvSpPr>
                <p:nvPr/>
              </p:nvSpPr>
              <p:spPr bwMode="auto">
                <a:xfrm>
                  <a:off x="856" y="1526"/>
                  <a:ext cx="42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nvGrpSpPr>
              <p:cNvPr id="57371" name="Group 64"/>
              <p:cNvGrpSpPr/>
              <p:nvPr/>
            </p:nvGrpSpPr>
            <p:grpSpPr bwMode="auto">
              <a:xfrm>
                <a:off x="1284" y="1526"/>
                <a:ext cx="641" cy="384"/>
                <a:chOff x="1284" y="1526"/>
                <a:chExt cx="641" cy="384"/>
              </a:xfrm>
            </p:grpSpPr>
            <p:sp>
              <p:nvSpPr>
                <p:cNvPr id="57372" name="Rectangle 65"/>
                <p:cNvSpPr>
                  <a:spLocks noChangeArrowheads="1"/>
                </p:cNvSpPr>
                <p:nvPr/>
              </p:nvSpPr>
              <p:spPr bwMode="auto">
                <a:xfrm>
                  <a:off x="1327" y="1526"/>
                  <a:ext cx="55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rgbClr val="000066"/>
                      </a:solidFill>
                      <a:latin typeface="Times New Roman" panose="02020603050405020304" pitchFamily="18" charset="0"/>
                    </a:rPr>
                    <a:t>4</a:t>
                  </a:r>
                  <a:endParaRPr kumimoji="1" lang="en-US" altLang="zh-CN" sz="2000" b="1">
                    <a:solidFill>
                      <a:srgbClr val="000066"/>
                    </a:solidFill>
                    <a:latin typeface="Times New Roman" panose="02020603050405020304" pitchFamily="18" charset="0"/>
                  </a:endParaRPr>
                </a:p>
              </p:txBody>
            </p:sp>
            <p:sp>
              <p:nvSpPr>
                <p:cNvPr id="57373" name="Rectangle 66"/>
                <p:cNvSpPr>
                  <a:spLocks noChangeArrowheads="1"/>
                </p:cNvSpPr>
                <p:nvPr/>
              </p:nvSpPr>
              <p:spPr bwMode="auto">
                <a:xfrm>
                  <a:off x="1284" y="1526"/>
                  <a:ext cx="641"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grpSp>
        <p:sp>
          <p:nvSpPr>
            <p:cNvPr id="57351" name="Rectangle 67"/>
            <p:cNvSpPr>
              <a:spLocks noChangeArrowheads="1"/>
            </p:cNvSpPr>
            <p:nvPr/>
          </p:nvSpPr>
          <p:spPr bwMode="auto">
            <a:xfrm>
              <a:off x="-2" y="-2"/>
              <a:ext cx="1929" cy="1914"/>
            </a:xfrm>
            <a:prstGeom prst="rect">
              <a:avLst/>
            </a:prstGeom>
            <a:noFill/>
            <a:ln w="6350">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grpSp>
    </p:spTree>
    <p:custDataLst>
      <p:tags r:id="rId1"/>
    </p:custData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矩形 2"/>
          <p:cNvSpPr>
            <a:spLocks noChangeArrowheads="1"/>
          </p:cNvSpPr>
          <p:nvPr/>
        </p:nvSpPr>
        <p:spPr bwMode="auto">
          <a:xfrm>
            <a:off x="292100" y="376238"/>
            <a:ext cx="45132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背包问题</a:t>
            </a:r>
            <a:endPar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3076" name="灯片编号占位符 3"/>
          <p:cNvSpPr>
            <a:spLocks noGrp="1"/>
          </p:cNvSpPr>
          <p:nvPr>
            <p:ph type="sldNum" sz="quarter" idx="12"/>
          </p:nvPr>
        </p:nvSpPr>
        <p:spPr bwMode="auto">
          <a:xfrm>
            <a:off x="6731000" y="6443663"/>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spcBef>
                <a:spcPct val="50000"/>
              </a:spcBef>
            </a:pPr>
            <a:fld id="{A97FE37D-EE91-4F00-9261-B7C520885D73}" type="slidenum">
              <a:rPr lang="en-US" altLang="zh-CN" sz="1000" smtClean="0">
                <a:solidFill>
                  <a:srgbClr val="969696"/>
                </a:solidFill>
              </a:rPr>
            </a:fld>
            <a:endParaRPr lang="en-US" altLang="zh-CN" sz="1000" smtClean="0">
              <a:solidFill>
                <a:srgbClr val="969696"/>
              </a:solidFill>
            </a:endParaRPr>
          </a:p>
        </p:txBody>
      </p:sp>
      <p:sp>
        <p:nvSpPr>
          <p:cNvPr id="64" name="Text Box 7"/>
          <p:cNvSpPr txBox="1">
            <a:spLocks noChangeArrowheads="1"/>
          </p:cNvSpPr>
          <p:nvPr/>
        </p:nvSpPr>
        <p:spPr bwMode="auto">
          <a:xfrm>
            <a:off x="2544763" y="5895975"/>
            <a:ext cx="26511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D60093"/>
                </a:solidFill>
                <a:latin typeface="Times New Roman" panose="02020603050405020304" pitchFamily="18" charset="0"/>
              </a:rPr>
              <a:t>×</a:t>
            </a:r>
            <a:endParaRPr lang="en-US" altLang="zh-CN" sz="2000" b="1">
              <a:solidFill>
                <a:srgbClr val="D60093"/>
              </a:solidFill>
              <a:latin typeface="Times New Roman" panose="02020603050405020304" pitchFamily="18" charset="0"/>
            </a:endParaRPr>
          </a:p>
        </p:txBody>
      </p:sp>
      <p:sp>
        <p:nvSpPr>
          <p:cNvPr id="3078" name="Text Box 8"/>
          <p:cNvSpPr txBox="1">
            <a:spLocks noChangeArrowheads="1"/>
          </p:cNvSpPr>
          <p:nvPr/>
        </p:nvSpPr>
        <p:spPr bwMode="auto">
          <a:xfrm>
            <a:off x="4678363" y="1793875"/>
            <a:ext cx="1492250" cy="6048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=0,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=0</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=100</a:t>
            </a:r>
            <a:endParaRPr lang="en-US" altLang="zh-CN" sz="2000" b="1">
              <a:solidFill>
                <a:srgbClr val="000066"/>
              </a:solidFill>
              <a:latin typeface="Times New Roman" panose="02020603050405020304" pitchFamily="18" charset="0"/>
            </a:endParaRPr>
          </a:p>
        </p:txBody>
      </p:sp>
      <p:sp>
        <p:nvSpPr>
          <p:cNvPr id="3079" name="Line 9"/>
          <p:cNvSpPr>
            <a:spLocks noChangeShapeType="1"/>
          </p:cNvSpPr>
          <p:nvPr/>
        </p:nvSpPr>
        <p:spPr bwMode="auto">
          <a:xfrm flipV="1">
            <a:off x="4678363" y="2114550"/>
            <a:ext cx="14922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67" name="Line 10"/>
          <p:cNvSpPr>
            <a:spLocks noChangeShapeType="1"/>
          </p:cNvSpPr>
          <p:nvPr/>
        </p:nvSpPr>
        <p:spPr bwMode="auto">
          <a:xfrm flipH="1">
            <a:off x="3411538" y="2401888"/>
            <a:ext cx="1609725" cy="4000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68" name="Line 11"/>
          <p:cNvSpPr>
            <a:spLocks noChangeShapeType="1"/>
          </p:cNvSpPr>
          <p:nvPr/>
        </p:nvSpPr>
        <p:spPr bwMode="auto">
          <a:xfrm>
            <a:off x="5875338" y="2405063"/>
            <a:ext cx="1608137" cy="412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69" name="Text Box 12"/>
          <p:cNvSpPr txBox="1">
            <a:spLocks noChangeArrowheads="1"/>
          </p:cNvSpPr>
          <p:nvPr/>
        </p:nvSpPr>
        <p:spPr bwMode="auto">
          <a:xfrm>
            <a:off x="2230438" y="2811463"/>
            <a:ext cx="1525587" cy="60483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=4,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=40</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=76</a:t>
            </a:r>
            <a:endParaRPr lang="en-US" altLang="zh-CN" sz="2000" b="1">
              <a:solidFill>
                <a:srgbClr val="000066"/>
              </a:solidFill>
              <a:latin typeface="Times New Roman" panose="02020603050405020304" pitchFamily="18" charset="0"/>
            </a:endParaRPr>
          </a:p>
        </p:txBody>
      </p:sp>
      <p:sp>
        <p:nvSpPr>
          <p:cNvPr id="70" name="Line 13"/>
          <p:cNvSpPr>
            <a:spLocks noChangeShapeType="1"/>
          </p:cNvSpPr>
          <p:nvPr/>
        </p:nvSpPr>
        <p:spPr bwMode="auto">
          <a:xfrm flipV="1">
            <a:off x="2230438" y="3132138"/>
            <a:ext cx="1525587"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71" name="Text Box 14"/>
          <p:cNvSpPr txBox="1">
            <a:spLocks noChangeArrowheads="1"/>
          </p:cNvSpPr>
          <p:nvPr/>
        </p:nvSpPr>
        <p:spPr bwMode="auto">
          <a:xfrm>
            <a:off x="7126288" y="2811463"/>
            <a:ext cx="1525587" cy="60483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=0,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=0</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=60</a:t>
            </a:r>
            <a:endParaRPr lang="en-US" altLang="zh-CN" sz="2000" b="1">
              <a:solidFill>
                <a:srgbClr val="000066"/>
              </a:solidFill>
              <a:latin typeface="Times New Roman" panose="02020603050405020304" pitchFamily="18" charset="0"/>
            </a:endParaRPr>
          </a:p>
        </p:txBody>
      </p:sp>
      <p:sp>
        <p:nvSpPr>
          <p:cNvPr id="72" name="Line 15"/>
          <p:cNvSpPr>
            <a:spLocks noChangeShapeType="1"/>
          </p:cNvSpPr>
          <p:nvPr/>
        </p:nvSpPr>
        <p:spPr bwMode="auto">
          <a:xfrm flipV="1">
            <a:off x="7126288" y="3132138"/>
            <a:ext cx="1525587"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73" name="Text Box 16"/>
          <p:cNvSpPr txBox="1">
            <a:spLocks noChangeArrowheads="1"/>
          </p:cNvSpPr>
          <p:nvPr/>
        </p:nvSpPr>
        <p:spPr bwMode="auto">
          <a:xfrm>
            <a:off x="436563" y="3925888"/>
            <a:ext cx="1524000" cy="60483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=11</a:t>
            </a:r>
            <a:endParaRPr lang="en-US" altLang="zh-CN" sz="2000" b="1">
              <a:solidFill>
                <a:srgbClr val="000066"/>
              </a:solidFill>
              <a:latin typeface="Times New Roman" panose="02020603050405020304" pitchFamily="18" charset="0"/>
            </a:endParaRPr>
          </a:p>
          <a:p>
            <a:pPr algn="just" eaLnBrk="1" hangingPunct="1">
              <a:lnSpc>
                <a:spcPct val="96000"/>
              </a:lnSpc>
            </a:pPr>
            <a:endParaRPr lang="zh-CN" altLang="en-US" sz="2000" b="1">
              <a:solidFill>
                <a:srgbClr val="000066"/>
              </a:solidFill>
              <a:latin typeface="Times New Roman" panose="02020603050405020304" pitchFamily="18" charset="0"/>
            </a:endParaRPr>
          </a:p>
        </p:txBody>
      </p:sp>
      <p:sp>
        <p:nvSpPr>
          <p:cNvPr id="74" name="Line 17"/>
          <p:cNvSpPr>
            <a:spLocks noChangeShapeType="1"/>
          </p:cNvSpPr>
          <p:nvPr/>
        </p:nvSpPr>
        <p:spPr bwMode="auto">
          <a:xfrm flipV="1">
            <a:off x="436563" y="4244975"/>
            <a:ext cx="1524000" cy="31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75" name="Text Box 18"/>
          <p:cNvSpPr txBox="1">
            <a:spLocks noChangeArrowheads="1"/>
          </p:cNvSpPr>
          <p:nvPr/>
        </p:nvSpPr>
        <p:spPr bwMode="auto">
          <a:xfrm>
            <a:off x="4052888" y="3935413"/>
            <a:ext cx="1527175" cy="60483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=4,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=40</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=70</a:t>
            </a:r>
            <a:endParaRPr lang="en-US" altLang="zh-CN" sz="2000" b="1">
              <a:solidFill>
                <a:srgbClr val="000066"/>
              </a:solidFill>
              <a:latin typeface="Times New Roman" panose="02020603050405020304" pitchFamily="18" charset="0"/>
            </a:endParaRPr>
          </a:p>
        </p:txBody>
      </p:sp>
      <p:sp>
        <p:nvSpPr>
          <p:cNvPr id="76" name="Line 19"/>
          <p:cNvSpPr>
            <a:spLocks noChangeShapeType="1"/>
          </p:cNvSpPr>
          <p:nvPr/>
        </p:nvSpPr>
        <p:spPr bwMode="auto">
          <a:xfrm flipV="1">
            <a:off x="4052888" y="4254500"/>
            <a:ext cx="1527175" cy="31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77" name="Text Box 20"/>
          <p:cNvSpPr txBox="1">
            <a:spLocks noChangeArrowheads="1"/>
          </p:cNvSpPr>
          <p:nvPr/>
        </p:nvSpPr>
        <p:spPr bwMode="auto">
          <a:xfrm>
            <a:off x="2525713" y="5046663"/>
            <a:ext cx="1525587" cy="60483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=9,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=65</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=69</a:t>
            </a:r>
            <a:endParaRPr lang="en-US" altLang="zh-CN" sz="2000" b="1">
              <a:solidFill>
                <a:srgbClr val="000066"/>
              </a:solidFill>
              <a:latin typeface="Times New Roman" panose="02020603050405020304" pitchFamily="18" charset="0"/>
            </a:endParaRPr>
          </a:p>
        </p:txBody>
      </p:sp>
      <p:sp>
        <p:nvSpPr>
          <p:cNvPr id="78" name="Line 21"/>
          <p:cNvSpPr>
            <a:spLocks noChangeShapeType="1"/>
          </p:cNvSpPr>
          <p:nvPr/>
        </p:nvSpPr>
        <p:spPr bwMode="auto">
          <a:xfrm flipV="1">
            <a:off x="2525713" y="5367338"/>
            <a:ext cx="1525587"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79" name="Text Box 22"/>
          <p:cNvSpPr txBox="1">
            <a:spLocks noChangeArrowheads="1"/>
          </p:cNvSpPr>
          <p:nvPr/>
        </p:nvSpPr>
        <p:spPr bwMode="auto">
          <a:xfrm>
            <a:off x="5583238" y="5059363"/>
            <a:ext cx="1524000" cy="6032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=4,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=40</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=64</a:t>
            </a:r>
            <a:endParaRPr lang="en-US" altLang="zh-CN" sz="2000" b="1">
              <a:solidFill>
                <a:srgbClr val="000066"/>
              </a:solidFill>
              <a:latin typeface="Times New Roman" panose="02020603050405020304" pitchFamily="18" charset="0"/>
            </a:endParaRPr>
          </a:p>
        </p:txBody>
      </p:sp>
      <p:sp>
        <p:nvSpPr>
          <p:cNvPr id="80" name="Line 23"/>
          <p:cNvSpPr>
            <a:spLocks noChangeShapeType="1"/>
          </p:cNvSpPr>
          <p:nvPr/>
        </p:nvSpPr>
        <p:spPr bwMode="auto">
          <a:xfrm flipV="1">
            <a:off x="5583238" y="5378450"/>
            <a:ext cx="1524000"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81" name="Text Box 24"/>
          <p:cNvSpPr txBox="1">
            <a:spLocks noChangeArrowheads="1"/>
          </p:cNvSpPr>
          <p:nvPr/>
        </p:nvSpPr>
        <p:spPr bwMode="auto">
          <a:xfrm>
            <a:off x="1293813" y="6161088"/>
            <a:ext cx="1525587" cy="60483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=12</a:t>
            </a:r>
            <a:endParaRPr lang="en-US" altLang="zh-CN" sz="2000" b="1">
              <a:solidFill>
                <a:srgbClr val="000066"/>
              </a:solidFill>
              <a:latin typeface="Times New Roman" panose="02020603050405020304" pitchFamily="18" charset="0"/>
            </a:endParaRPr>
          </a:p>
          <a:p>
            <a:pPr algn="just" eaLnBrk="1" hangingPunct="1">
              <a:lnSpc>
                <a:spcPct val="96000"/>
              </a:lnSpc>
            </a:pPr>
            <a:endParaRPr lang="en-US" altLang="zh-CN" sz="2000" b="1">
              <a:solidFill>
                <a:srgbClr val="000066"/>
              </a:solidFill>
              <a:latin typeface="Times New Roman" panose="02020603050405020304" pitchFamily="18" charset="0"/>
            </a:endParaRPr>
          </a:p>
          <a:p>
            <a:pPr algn="just" eaLnBrk="1" hangingPunct="1">
              <a:lnSpc>
                <a:spcPct val="96000"/>
              </a:lnSpc>
            </a:pPr>
            <a:endParaRPr lang="zh-CN" altLang="en-US" sz="2000" b="1">
              <a:solidFill>
                <a:srgbClr val="000066"/>
              </a:solidFill>
              <a:latin typeface="Times New Roman" panose="02020603050405020304" pitchFamily="18" charset="0"/>
            </a:endParaRPr>
          </a:p>
        </p:txBody>
      </p:sp>
      <p:sp>
        <p:nvSpPr>
          <p:cNvPr id="82" name="Line 25"/>
          <p:cNvSpPr>
            <a:spLocks noChangeShapeType="1"/>
          </p:cNvSpPr>
          <p:nvPr/>
        </p:nvSpPr>
        <p:spPr bwMode="auto">
          <a:xfrm flipV="1">
            <a:off x="1293813" y="6480175"/>
            <a:ext cx="1525587" cy="31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83" name="Text Box 26"/>
          <p:cNvSpPr txBox="1">
            <a:spLocks noChangeArrowheads="1"/>
          </p:cNvSpPr>
          <p:nvPr/>
        </p:nvSpPr>
        <p:spPr bwMode="auto">
          <a:xfrm>
            <a:off x="3821113" y="6180138"/>
            <a:ext cx="1524000" cy="60483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=9,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=65</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=65</a:t>
            </a:r>
            <a:endParaRPr lang="en-US" altLang="zh-CN" sz="2000" b="1">
              <a:solidFill>
                <a:srgbClr val="000066"/>
              </a:solidFill>
              <a:latin typeface="Times New Roman" panose="02020603050405020304" pitchFamily="18" charset="0"/>
            </a:endParaRPr>
          </a:p>
        </p:txBody>
      </p:sp>
      <p:sp>
        <p:nvSpPr>
          <p:cNvPr id="84" name="Line 27"/>
          <p:cNvSpPr>
            <a:spLocks noChangeShapeType="1"/>
          </p:cNvSpPr>
          <p:nvPr/>
        </p:nvSpPr>
        <p:spPr bwMode="auto">
          <a:xfrm flipV="1">
            <a:off x="3821113" y="6500813"/>
            <a:ext cx="152400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85" name="Line 28"/>
          <p:cNvSpPr>
            <a:spLocks noChangeShapeType="1"/>
          </p:cNvSpPr>
          <p:nvPr/>
        </p:nvSpPr>
        <p:spPr bwMode="auto">
          <a:xfrm flipH="1">
            <a:off x="1617663" y="3416300"/>
            <a:ext cx="987425" cy="5159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86" name="Line 29"/>
          <p:cNvSpPr>
            <a:spLocks noChangeShapeType="1"/>
          </p:cNvSpPr>
          <p:nvPr/>
        </p:nvSpPr>
        <p:spPr bwMode="auto">
          <a:xfrm>
            <a:off x="3427413" y="3424238"/>
            <a:ext cx="892175" cy="4984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87" name="Line 30"/>
          <p:cNvSpPr>
            <a:spLocks noChangeShapeType="1"/>
          </p:cNvSpPr>
          <p:nvPr/>
        </p:nvSpPr>
        <p:spPr bwMode="auto">
          <a:xfrm>
            <a:off x="5267325" y="4543425"/>
            <a:ext cx="892175" cy="5159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88" name="Line 31"/>
          <p:cNvSpPr>
            <a:spLocks noChangeShapeType="1"/>
          </p:cNvSpPr>
          <p:nvPr/>
        </p:nvSpPr>
        <p:spPr bwMode="auto">
          <a:xfrm flipH="1">
            <a:off x="2289175" y="5657850"/>
            <a:ext cx="517525" cy="5064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89" name="Line 32"/>
          <p:cNvSpPr>
            <a:spLocks noChangeShapeType="1"/>
          </p:cNvSpPr>
          <p:nvPr/>
        </p:nvSpPr>
        <p:spPr bwMode="auto">
          <a:xfrm>
            <a:off x="3756025" y="5651500"/>
            <a:ext cx="501650" cy="5191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90" name="Text Box 33"/>
          <p:cNvSpPr txBox="1">
            <a:spLocks noChangeArrowheads="1"/>
          </p:cNvSpPr>
          <p:nvPr/>
        </p:nvSpPr>
        <p:spPr bwMode="auto">
          <a:xfrm>
            <a:off x="2560638" y="2535238"/>
            <a:ext cx="185737"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2</a:t>
            </a:r>
            <a:endParaRPr lang="en-US" altLang="zh-CN" sz="2000" b="1">
              <a:solidFill>
                <a:srgbClr val="000066"/>
              </a:solidFill>
              <a:latin typeface="Times New Roman" panose="02020603050405020304" pitchFamily="18" charset="0"/>
            </a:endParaRPr>
          </a:p>
        </p:txBody>
      </p:sp>
      <p:sp>
        <p:nvSpPr>
          <p:cNvPr id="91" name="Text Box 34"/>
          <p:cNvSpPr txBox="1">
            <a:spLocks noChangeArrowheads="1"/>
          </p:cNvSpPr>
          <p:nvPr/>
        </p:nvSpPr>
        <p:spPr bwMode="auto">
          <a:xfrm>
            <a:off x="7627938" y="2544763"/>
            <a:ext cx="18891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3</a:t>
            </a:r>
            <a:endParaRPr lang="en-US" altLang="zh-CN" sz="2000" b="1">
              <a:solidFill>
                <a:srgbClr val="000066"/>
              </a:solidFill>
              <a:latin typeface="Times New Roman" panose="02020603050405020304" pitchFamily="18" charset="0"/>
            </a:endParaRPr>
          </a:p>
        </p:txBody>
      </p:sp>
      <p:sp>
        <p:nvSpPr>
          <p:cNvPr id="92" name="Text Box 35"/>
          <p:cNvSpPr txBox="1">
            <a:spLocks noChangeArrowheads="1"/>
          </p:cNvSpPr>
          <p:nvPr/>
        </p:nvSpPr>
        <p:spPr bwMode="auto">
          <a:xfrm>
            <a:off x="531813" y="3643313"/>
            <a:ext cx="188912"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4</a:t>
            </a:r>
            <a:endParaRPr lang="en-US" altLang="zh-CN" sz="2000" b="1">
              <a:solidFill>
                <a:srgbClr val="000066"/>
              </a:solidFill>
              <a:latin typeface="Times New Roman" panose="02020603050405020304" pitchFamily="18" charset="0"/>
            </a:endParaRPr>
          </a:p>
        </p:txBody>
      </p:sp>
      <p:sp>
        <p:nvSpPr>
          <p:cNvPr id="93" name="Text Box 36"/>
          <p:cNvSpPr txBox="1">
            <a:spLocks noChangeArrowheads="1"/>
          </p:cNvSpPr>
          <p:nvPr/>
        </p:nvSpPr>
        <p:spPr bwMode="auto">
          <a:xfrm>
            <a:off x="4508500" y="3665538"/>
            <a:ext cx="188913"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5</a:t>
            </a:r>
            <a:endParaRPr lang="en-US" altLang="zh-CN" sz="2000" b="1">
              <a:solidFill>
                <a:srgbClr val="000066"/>
              </a:solidFill>
              <a:latin typeface="Times New Roman" panose="02020603050405020304" pitchFamily="18" charset="0"/>
            </a:endParaRPr>
          </a:p>
        </p:txBody>
      </p:sp>
      <p:sp>
        <p:nvSpPr>
          <p:cNvPr id="94" name="Text Box 37"/>
          <p:cNvSpPr txBox="1">
            <a:spLocks noChangeArrowheads="1"/>
          </p:cNvSpPr>
          <p:nvPr/>
        </p:nvSpPr>
        <p:spPr bwMode="auto">
          <a:xfrm>
            <a:off x="2732088" y="4762500"/>
            <a:ext cx="1873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6</a:t>
            </a:r>
            <a:endParaRPr lang="en-US" altLang="zh-CN" sz="2000" b="1">
              <a:solidFill>
                <a:srgbClr val="000066"/>
              </a:solidFill>
              <a:latin typeface="Times New Roman" panose="02020603050405020304" pitchFamily="18" charset="0"/>
            </a:endParaRPr>
          </a:p>
        </p:txBody>
      </p:sp>
      <p:sp>
        <p:nvSpPr>
          <p:cNvPr id="95" name="Text Box 38"/>
          <p:cNvSpPr txBox="1">
            <a:spLocks noChangeArrowheads="1"/>
          </p:cNvSpPr>
          <p:nvPr/>
        </p:nvSpPr>
        <p:spPr bwMode="auto">
          <a:xfrm>
            <a:off x="6256338" y="4797425"/>
            <a:ext cx="185737"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7</a:t>
            </a:r>
            <a:endParaRPr lang="en-US" altLang="zh-CN" sz="2000" b="1">
              <a:solidFill>
                <a:srgbClr val="000066"/>
              </a:solidFill>
              <a:latin typeface="Times New Roman" panose="02020603050405020304" pitchFamily="18" charset="0"/>
            </a:endParaRPr>
          </a:p>
        </p:txBody>
      </p:sp>
      <p:sp>
        <p:nvSpPr>
          <p:cNvPr id="96" name="Text Box 39"/>
          <p:cNvSpPr txBox="1">
            <a:spLocks noChangeArrowheads="1"/>
          </p:cNvSpPr>
          <p:nvPr/>
        </p:nvSpPr>
        <p:spPr bwMode="auto">
          <a:xfrm>
            <a:off x="1358900" y="5883275"/>
            <a:ext cx="1873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8</a:t>
            </a:r>
            <a:endParaRPr lang="en-US" altLang="zh-CN" sz="2000" b="1">
              <a:solidFill>
                <a:srgbClr val="000066"/>
              </a:solidFill>
              <a:latin typeface="Times New Roman" panose="02020603050405020304" pitchFamily="18" charset="0"/>
            </a:endParaRPr>
          </a:p>
        </p:txBody>
      </p:sp>
      <p:sp>
        <p:nvSpPr>
          <p:cNvPr id="97" name="Text Box 40"/>
          <p:cNvSpPr txBox="1">
            <a:spLocks noChangeArrowheads="1"/>
          </p:cNvSpPr>
          <p:nvPr/>
        </p:nvSpPr>
        <p:spPr bwMode="auto">
          <a:xfrm>
            <a:off x="4384675" y="5910263"/>
            <a:ext cx="1873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9</a:t>
            </a:r>
            <a:endParaRPr lang="en-US" altLang="zh-CN" sz="2000" b="1">
              <a:solidFill>
                <a:srgbClr val="000066"/>
              </a:solidFill>
              <a:latin typeface="Times New Roman" panose="02020603050405020304" pitchFamily="18" charset="0"/>
            </a:endParaRPr>
          </a:p>
        </p:txBody>
      </p:sp>
      <p:sp>
        <p:nvSpPr>
          <p:cNvPr id="98" name="Text Box 41"/>
          <p:cNvSpPr txBox="1">
            <a:spLocks noChangeArrowheads="1"/>
          </p:cNvSpPr>
          <p:nvPr/>
        </p:nvSpPr>
        <p:spPr bwMode="auto">
          <a:xfrm>
            <a:off x="1189038" y="3643313"/>
            <a:ext cx="265112"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D60093"/>
                </a:solidFill>
                <a:latin typeface="Times New Roman" panose="02020603050405020304" pitchFamily="18" charset="0"/>
              </a:rPr>
              <a:t>×</a:t>
            </a:r>
            <a:endParaRPr lang="en-US" altLang="zh-CN" sz="2000" b="1">
              <a:solidFill>
                <a:srgbClr val="D60093"/>
              </a:solidFill>
              <a:latin typeface="Times New Roman" panose="02020603050405020304" pitchFamily="18" charset="0"/>
            </a:endParaRPr>
          </a:p>
        </p:txBody>
      </p:sp>
      <p:sp>
        <p:nvSpPr>
          <p:cNvPr id="99" name="Line 43"/>
          <p:cNvSpPr>
            <a:spLocks noChangeShapeType="1"/>
          </p:cNvSpPr>
          <p:nvPr/>
        </p:nvSpPr>
        <p:spPr bwMode="auto">
          <a:xfrm flipH="1">
            <a:off x="3411538" y="4540250"/>
            <a:ext cx="985837" cy="5159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100" name="Text Box 44"/>
          <p:cNvSpPr txBox="1">
            <a:spLocks noChangeArrowheads="1"/>
          </p:cNvSpPr>
          <p:nvPr/>
        </p:nvSpPr>
        <p:spPr bwMode="auto">
          <a:xfrm>
            <a:off x="863600" y="2873375"/>
            <a:ext cx="1235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PT={2, 3}</a:t>
            </a:r>
            <a:endParaRPr lang="en-US" altLang="zh-CN" sz="2000" b="1">
              <a:solidFill>
                <a:srgbClr val="0000FF"/>
              </a:solidFill>
              <a:latin typeface="Times New Roman" panose="02020603050405020304" pitchFamily="18" charset="0"/>
            </a:endParaRPr>
          </a:p>
        </p:txBody>
      </p:sp>
      <p:sp>
        <p:nvSpPr>
          <p:cNvPr id="101" name="Rectangle 45"/>
          <p:cNvSpPr>
            <a:spLocks noChangeArrowheads="1"/>
          </p:cNvSpPr>
          <p:nvPr/>
        </p:nvSpPr>
        <p:spPr bwMode="auto">
          <a:xfrm>
            <a:off x="2222500" y="2801938"/>
            <a:ext cx="1543050" cy="615950"/>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02" name="Text Box 46"/>
          <p:cNvSpPr txBox="1">
            <a:spLocks noChangeArrowheads="1"/>
          </p:cNvSpPr>
          <p:nvPr/>
        </p:nvSpPr>
        <p:spPr bwMode="auto">
          <a:xfrm>
            <a:off x="500063" y="4168775"/>
            <a:ext cx="109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D60093"/>
                </a:solidFill>
              </a:rPr>
              <a:t>无效解</a:t>
            </a:r>
            <a:endParaRPr lang="zh-CN" altLang="en-US" sz="2000" b="1">
              <a:solidFill>
                <a:srgbClr val="D60093"/>
              </a:solidFill>
            </a:endParaRPr>
          </a:p>
        </p:txBody>
      </p:sp>
      <p:sp>
        <p:nvSpPr>
          <p:cNvPr id="103" name="Rectangle 47"/>
          <p:cNvSpPr>
            <a:spLocks noChangeArrowheads="1"/>
          </p:cNvSpPr>
          <p:nvPr/>
        </p:nvSpPr>
        <p:spPr bwMode="auto">
          <a:xfrm>
            <a:off x="4062413" y="3941763"/>
            <a:ext cx="1543050" cy="615950"/>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04" name="Text Box 48"/>
          <p:cNvSpPr txBox="1">
            <a:spLocks noChangeArrowheads="1"/>
          </p:cNvSpPr>
          <p:nvPr/>
        </p:nvSpPr>
        <p:spPr bwMode="auto">
          <a:xfrm>
            <a:off x="5753100" y="4060825"/>
            <a:ext cx="1235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PT={5, 3}</a:t>
            </a:r>
            <a:endParaRPr lang="en-US" altLang="zh-CN" sz="2000" b="1">
              <a:solidFill>
                <a:srgbClr val="0000FF"/>
              </a:solidFill>
              <a:latin typeface="Times New Roman" panose="02020603050405020304" pitchFamily="18" charset="0"/>
            </a:endParaRPr>
          </a:p>
        </p:txBody>
      </p:sp>
      <p:sp>
        <p:nvSpPr>
          <p:cNvPr id="105" name="Text Box 49"/>
          <p:cNvSpPr txBox="1">
            <a:spLocks noChangeArrowheads="1"/>
          </p:cNvSpPr>
          <p:nvPr/>
        </p:nvSpPr>
        <p:spPr bwMode="auto">
          <a:xfrm>
            <a:off x="933450" y="5146675"/>
            <a:ext cx="1489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PT={6, 7, 3}</a:t>
            </a:r>
            <a:endParaRPr lang="en-US" altLang="zh-CN" sz="2000" b="1">
              <a:solidFill>
                <a:srgbClr val="0000FF"/>
              </a:solidFill>
              <a:latin typeface="Times New Roman" panose="02020603050405020304" pitchFamily="18" charset="0"/>
            </a:endParaRPr>
          </a:p>
        </p:txBody>
      </p:sp>
      <p:sp>
        <p:nvSpPr>
          <p:cNvPr id="106" name="Rectangle 50"/>
          <p:cNvSpPr>
            <a:spLocks noChangeArrowheads="1"/>
          </p:cNvSpPr>
          <p:nvPr/>
        </p:nvSpPr>
        <p:spPr bwMode="auto">
          <a:xfrm>
            <a:off x="2532063" y="5033963"/>
            <a:ext cx="1543050" cy="615950"/>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07" name="Text Box 51"/>
          <p:cNvSpPr txBox="1">
            <a:spLocks noChangeArrowheads="1"/>
          </p:cNvSpPr>
          <p:nvPr/>
        </p:nvSpPr>
        <p:spPr bwMode="auto">
          <a:xfrm>
            <a:off x="1365250" y="6402388"/>
            <a:ext cx="1093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D60093"/>
                </a:solidFill>
              </a:rPr>
              <a:t>无效解</a:t>
            </a:r>
            <a:endParaRPr lang="zh-CN" altLang="en-US" sz="2000" b="1">
              <a:solidFill>
                <a:srgbClr val="D60093"/>
              </a:solidFill>
            </a:endParaRPr>
          </a:p>
        </p:txBody>
      </p:sp>
      <p:sp>
        <p:nvSpPr>
          <p:cNvPr id="108" name="Text Box 52"/>
          <p:cNvSpPr txBox="1">
            <a:spLocks noChangeArrowheads="1"/>
          </p:cNvSpPr>
          <p:nvPr/>
        </p:nvSpPr>
        <p:spPr bwMode="auto">
          <a:xfrm>
            <a:off x="3590925" y="2297113"/>
            <a:ext cx="619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1</a:t>
            </a:r>
            <a:r>
              <a:rPr lang="en-US" altLang="zh-CN" b="1">
                <a:solidFill>
                  <a:srgbClr val="000066"/>
                </a:solidFill>
                <a:latin typeface="Times New Roman" panose="02020603050405020304" pitchFamily="18" charset="0"/>
              </a:rPr>
              <a:t>=1</a:t>
            </a:r>
            <a:endParaRPr lang="en-US" altLang="zh-CN" b="1">
              <a:solidFill>
                <a:srgbClr val="000066"/>
              </a:solidFill>
              <a:latin typeface="Times New Roman" panose="02020603050405020304" pitchFamily="18" charset="0"/>
            </a:endParaRPr>
          </a:p>
        </p:txBody>
      </p:sp>
      <p:sp>
        <p:nvSpPr>
          <p:cNvPr id="109" name="Text Box 53"/>
          <p:cNvSpPr txBox="1">
            <a:spLocks noChangeArrowheads="1"/>
          </p:cNvSpPr>
          <p:nvPr/>
        </p:nvSpPr>
        <p:spPr bwMode="auto">
          <a:xfrm>
            <a:off x="6592888" y="2297113"/>
            <a:ext cx="619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1</a:t>
            </a:r>
            <a:r>
              <a:rPr lang="en-US" altLang="zh-CN" b="1">
                <a:solidFill>
                  <a:srgbClr val="000066"/>
                </a:solidFill>
                <a:latin typeface="Times New Roman" panose="02020603050405020304" pitchFamily="18" charset="0"/>
              </a:rPr>
              <a:t>=0</a:t>
            </a:r>
            <a:endParaRPr lang="en-US" altLang="zh-CN" b="1">
              <a:solidFill>
                <a:srgbClr val="000066"/>
              </a:solidFill>
              <a:latin typeface="Times New Roman" panose="02020603050405020304" pitchFamily="18" charset="0"/>
            </a:endParaRPr>
          </a:p>
        </p:txBody>
      </p:sp>
      <p:sp>
        <p:nvSpPr>
          <p:cNvPr id="110" name="Text Box 54"/>
          <p:cNvSpPr txBox="1">
            <a:spLocks noChangeArrowheads="1"/>
          </p:cNvSpPr>
          <p:nvPr/>
        </p:nvSpPr>
        <p:spPr bwMode="auto">
          <a:xfrm>
            <a:off x="1552575" y="3376613"/>
            <a:ext cx="619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2</a:t>
            </a:r>
            <a:r>
              <a:rPr lang="en-US" altLang="zh-CN" b="1">
                <a:solidFill>
                  <a:srgbClr val="000066"/>
                </a:solidFill>
                <a:latin typeface="Times New Roman" panose="02020603050405020304" pitchFamily="18" charset="0"/>
              </a:rPr>
              <a:t>=1</a:t>
            </a:r>
            <a:endParaRPr lang="en-US" altLang="zh-CN" b="1">
              <a:solidFill>
                <a:srgbClr val="000066"/>
              </a:solidFill>
              <a:latin typeface="Times New Roman" panose="02020603050405020304" pitchFamily="18" charset="0"/>
            </a:endParaRPr>
          </a:p>
        </p:txBody>
      </p:sp>
      <p:sp>
        <p:nvSpPr>
          <p:cNvPr id="111" name="Text Box 55"/>
          <p:cNvSpPr txBox="1">
            <a:spLocks noChangeArrowheads="1"/>
          </p:cNvSpPr>
          <p:nvPr/>
        </p:nvSpPr>
        <p:spPr bwMode="auto">
          <a:xfrm>
            <a:off x="3806825" y="3370263"/>
            <a:ext cx="619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2</a:t>
            </a:r>
            <a:r>
              <a:rPr lang="en-US" altLang="zh-CN" b="1">
                <a:solidFill>
                  <a:srgbClr val="000066"/>
                </a:solidFill>
                <a:latin typeface="Times New Roman" panose="02020603050405020304" pitchFamily="18" charset="0"/>
              </a:rPr>
              <a:t>=0</a:t>
            </a:r>
            <a:endParaRPr lang="en-US" altLang="zh-CN" b="1">
              <a:solidFill>
                <a:srgbClr val="000066"/>
              </a:solidFill>
              <a:latin typeface="Times New Roman" panose="02020603050405020304" pitchFamily="18" charset="0"/>
            </a:endParaRPr>
          </a:p>
        </p:txBody>
      </p:sp>
      <p:sp>
        <p:nvSpPr>
          <p:cNvPr id="112" name="Text Box 56"/>
          <p:cNvSpPr txBox="1">
            <a:spLocks noChangeArrowheads="1"/>
          </p:cNvSpPr>
          <p:nvPr/>
        </p:nvSpPr>
        <p:spPr bwMode="auto">
          <a:xfrm>
            <a:off x="3324225" y="4522788"/>
            <a:ext cx="619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3</a:t>
            </a:r>
            <a:r>
              <a:rPr lang="en-US" altLang="zh-CN" b="1">
                <a:solidFill>
                  <a:srgbClr val="000066"/>
                </a:solidFill>
                <a:latin typeface="Times New Roman" panose="02020603050405020304" pitchFamily="18" charset="0"/>
              </a:rPr>
              <a:t>=1</a:t>
            </a:r>
            <a:endParaRPr lang="en-US" altLang="zh-CN" b="1">
              <a:solidFill>
                <a:srgbClr val="000066"/>
              </a:solidFill>
              <a:latin typeface="Times New Roman" panose="02020603050405020304" pitchFamily="18" charset="0"/>
            </a:endParaRPr>
          </a:p>
        </p:txBody>
      </p:sp>
      <p:sp>
        <p:nvSpPr>
          <p:cNvPr id="113" name="Text Box 57"/>
          <p:cNvSpPr txBox="1">
            <a:spLocks noChangeArrowheads="1"/>
          </p:cNvSpPr>
          <p:nvPr/>
        </p:nvSpPr>
        <p:spPr bwMode="auto">
          <a:xfrm>
            <a:off x="5656263" y="4529138"/>
            <a:ext cx="619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3</a:t>
            </a:r>
            <a:r>
              <a:rPr lang="en-US" altLang="zh-CN" b="1">
                <a:solidFill>
                  <a:srgbClr val="000066"/>
                </a:solidFill>
                <a:latin typeface="Times New Roman" panose="02020603050405020304" pitchFamily="18" charset="0"/>
              </a:rPr>
              <a:t>=0</a:t>
            </a:r>
            <a:endParaRPr lang="en-US" altLang="zh-CN" b="1">
              <a:solidFill>
                <a:srgbClr val="000066"/>
              </a:solidFill>
              <a:latin typeface="Times New Roman" panose="02020603050405020304" pitchFamily="18" charset="0"/>
            </a:endParaRPr>
          </a:p>
        </p:txBody>
      </p:sp>
      <p:sp>
        <p:nvSpPr>
          <p:cNvPr id="114" name="Text Box 58"/>
          <p:cNvSpPr txBox="1">
            <a:spLocks noChangeArrowheads="1"/>
          </p:cNvSpPr>
          <p:nvPr/>
        </p:nvSpPr>
        <p:spPr bwMode="auto">
          <a:xfrm>
            <a:off x="1984375" y="5610225"/>
            <a:ext cx="619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4</a:t>
            </a:r>
            <a:r>
              <a:rPr lang="en-US" altLang="zh-CN" b="1">
                <a:solidFill>
                  <a:srgbClr val="000066"/>
                </a:solidFill>
                <a:latin typeface="Times New Roman" panose="02020603050405020304" pitchFamily="18" charset="0"/>
              </a:rPr>
              <a:t>=1</a:t>
            </a:r>
            <a:endParaRPr lang="en-US" altLang="zh-CN" b="1">
              <a:solidFill>
                <a:srgbClr val="000066"/>
              </a:solidFill>
              <a:latin typeface="Times New Roman" panose="02020603050405020304" pitchFamily="18" charset="0"/>
            </a:endParaRPr>
          </a:p>
        </p:txBody>
      </p:sp>
      <p:sp>
        <p:nvSpPr>
          <p:cNvPr id="115" name="Text Box 59"/>
          <p:cNvSpPr txBox="1">
            <a:spLocks noChangeArrowheads="1"/>
          </p:cNvSpPr>
          <p:nvPr/>
        </p:nvSpPr>
        <p:spPr bwMode="auto">
          <a:xfrm>
            <a:off x="3929063" y="5602288"/>
            <a:ext cx="619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4</a:t>
            </a:r>
            <a:r>
              <a:rPr lang="en-US" altLang="zh-CN" b="1">
                <a:solidFill>
                  <a:srgbClr val="000066"/>
                </a:solidFill>
                <a:latin typeface="Times New Roman" panose="02020603050405020304" pitchFamily="18" charset="0"/>
              </a:rPr>
              <a:t>=0</a:t>
            </a:r>
            <a:endParaRPr lang="en-US" altLang="zh-CN" b="1">
              <a:solidFill>
                <a:srgbClr val="000066"/>
              </a:solidFill>
              <a:latin typeface="Times New Roman" panose="02020603050405020304" pitchFamily="18" charset="0"/>
            </a:endParaRPr>
          </a:p>
        </p:txBody>
      </p:sp>
      <p:sp>
        <p:nvSpPr>
          <p:cNvPr id="116" name="Text Box 60"/>
          <p:cNvSpPr txBox="1">
            <a:spLocks noChangeArrowheads="1"/>
          </p:cNvSpPr>
          <p:nvPr/>
        </p:nvSpPr>
        <p:spPr bwMode="auto">
          <a:xfrm>
            <a:off x="5483225" y="6292850"/>
            <a:ext cx="1489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PT={9, 7, 3}</a:t>
            </a:r>
            <a:endParaRPr lang="en-US" altLang="zh-CN" sz="2000" b="1">
              <a:solidFill>
                <a:srgbClr val="0000FF"/>
              </a:solidFill>
              <a:latin typeface="Times New Roman" panose="02020603050405020304" pitchFamily="18" charset="0"/>
            </a:endParaRPr>
          </a:p>
        </p:txBody>
      </p:sp>
      <p:sp>
        <p:nvSpPr>
          <p:cNvPr id="117" name="Rectangle 61"/>
          <p:cNvSpPr>
            <a:spLocks noChangeArrowheads="1"/>
          </p:cNvSpPr>
          <p:nvPr/>
        </p:nvSpPr>
        <p:spPr bwMode="auto">
          <a:xfrm>
            <a:off x="3808413" y="6184900"/>
            <a:ext cx="1543050" cy="615950"/>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18" name="Text Box 62"/>
          <p:cNvSpPr txBox="1">
            <a:spLocks noChangeArrowheads="1"/>
          </p:cNvSpPr>
          <p:nvPr/>
        </p:nvSpPr>
        <p:spPr bwMode="auto">
          <a:xfrm>
            <a:off x="7067550" y="6132513"/>
            <a:ext cx="1570038" cy="701675"/>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66"/>
                </a:solidFill>
                <a:latin typeface="Times New Roman" panose="02020603050405020304" pitchFamily="18" charset="0"/>
              </a:rPr>
              <a:t>V=65</a:t>
            </a:r>
            <a:endParaRPr lang="en-US" altLang="zh-CN" sz="2000" b="1">
              <a:solidFill>
                <a:srgbClr val="000066"/>
              </a:solidFill>
              <a:latin typeface="Times New Roman" panose="02020603050405020304" pitchFamily="18" charset="0"/>
            </a:endParaRPr>
          </a:p>
          <a:p>
            <a:pPr eaLnBrk="1" hangingPunct="1"/>
            <a:r>
              <a:rPr lang="en-US" altLang="zh-CN" sz="2000" b="1">
                <a:solidFill>
                  <a:srgbClr val="000066"/>
                </a:solidFill>
                <a:latin typeface="Times New Roman" panose="02020603050405020304" pitchFamily="18" charset="0"/>
              </a:rPr>
              <a:t>X=(1, 0, 1, 0)</a:t>
            </a:r>
            <a:endParaRPr lang="en-US" altLang="zh-CN" sz="2000" b="1">
              <a:solidFill>
                <a:srgbClr val="000066"/>
              </a:solidFill>
              <a:latin typeface="Times New Roman" panose="02020603050405020304" pitchFamily="18" charset="0"/>
            </a:endParaRPr>
          </a:p>
        </p:txBody>
      </p:sp>
      <p:sp>
        <p:nvSpPr>
          <p:cNvPr id="3132" name="Text Box 63"/>
          <p:cNvSpPr txBox="1">
            <a:spLocks noChangeArrowheads="1"/>
          </p:cNvSpPr>
          <p:nvPr/>
        </p:nvSpPr>
        <p:spPr bwMode="auto">
          <a:xfrm>
            <a:off x="298450" y="1577975"/>
            <a:ext cx="21161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rgbClr val="000066"/>
                </a:solidFill>
                <a:latin typeface="Times New Roman" panose="02020603050405020304" pitchFamily="18" charset="0"/>
              </a:rPr>
              <a:t>w</a:t>
            </a:r>
            <a:r>
              <a:rPr kumimoji="1" lang="en-US" altLang="zh-CN" sz="2000" b="1" baseline="-25000">
                <a:solidFill>
                  <a:srgbClr val="000066"/>
                </a:solidFill>
                <a:latin typeface="Times New Roman" panose="02020603050405020304" pitchFamily="18" charset="0"/>
              </a:rPr>
              <a:t>i</a:t>
            </a:r>
            <a:r>
              <a:rPr kumimoji="1" lang="en-US" altLang="zh-CN" sz="2000" b="1">
                <a:solidFill>
                  <a:srgbClr val="000066"/>
                </a:solidFill>
                <a:latin typeface="Times New Roman" panose="02020603050405020304" pitchFamily="18" charset="0"/>
              </a:rPr>
              <a:t>=(4, 7, 5, 3)</a:t>
            </a:r>
            <a:endParaRPr kumimoji="1" lang="en-US" altLang="zh-CN" sz="2000" b="1">
              <a:solidFill>
                <a:srgbClr val="000066"/>
              </a:solidFill>
              <a:latin typeface="Times New Roman" panose="02020603050405020304" pitchFamily="18" charset="0"/>
            </a:endParaRPr>
          </a:p>
          <a:p>
            <a:pPr eaLnBrk="1" hangingPunct="1"/>
            <a:r>
              <a:rPr kumimoji="1" lang="en-US" altLang="zh-CN" sz="2000" b="1" i="1">
                <a:solidFill>
                  <a:srgbClr val="000066"/>
                </a:solidFill>
                <a:latin typeface="Times New Roman" panose="02020603050405020304" pitchFamily="18" charset="0"/>
              </a:rPr>
              <a:t>v</a:t>
            </a:r>
            <a:r>
              <a:rPr kumimoji="1" lang="en-US" altLang="zh-CN" sz="2000" b="1" baseline="-25000">
                <a:solidFill>
                  <a:srgbClr val="000066"/>
                </a:solidFill>
                <a:latin typeface="Times New Roman" panose="02020603050405020304" pitchFamily="18" charset="0"/>
              </a:rPr>
              <a:t>i</a:t>
            </a:r>
            <a:r>
              <a:rPr kumimoji="1" lang="en-US" altLang="zh-CN" sz="2000" b="1">
                <a:solidFill>
                  <a:srgbClr val="000066"/>
                </a:solidFill>
                <a:latin typeface="Times New Roman" panose="02020603050405020304" pitchFamily="18" charset="0"/>
              </a:rPr>
              <a:t>= (40, 42, 25, 12)</a:t>
            </a:r>
            <a:endParaRPr lang="en-US" altLang="zh-CN" sz="2000" b="1" i="1">
              <a:solidFill>
                <a:srgbClr val="000066"/>
              </a:solidFill>
              <a:latin typeface="Times New Roman" panose="02020603050405020304" pitchFamily="18" charset="0"/>
            </a:endParaRPr>
          </a:p>
          <a:p>
            <a:pPr eaLnBrk="1" hangingPunct="1"/>
            <a:r>
              <a:rPr lang="en-US" altLang="zh-CN" sz="2000" b="1" i="1">
                <a:solidFill>
                  <a:srgbClr val="000066"/>
                </a:solidFill>
                <a:latin typeface="Times New Roman" panose="02020603050405020304" pitchFamily="18" charset="0"/>
              </a:rPr>
              <a:t>v</a:t>
            </a:r>
            <a:r>
              <a:rPr lang="en-US" altLang="zh-CN" sz="2000" b="1" baseline="-25000">
                <a:solidFill>
                  <a:srgbClr val="000066"/>
                </a:solidFill>
                <a:latin typeface="Times New Roman" panose="02020603050405020304" pitchFamily="18" charset="0"/>
              </a:rPr>
              <a:t>i</a:t>
            </a:r>
            <a:r>
              <a:rPr lang="en-US" altLang="zh-CN" sz="2000" b="1">
                <a:solidFill>
                  <a:srgbClr val="000066"/>
                </a:solidFill>
                <a:latin typeface="Times New Roman" panose="02020603050405020304" pitchFamily="18" charset="0"/>
              </a:rPr>
              <a:t>/</a:t>
            </a:r>
            <a:r>
              <a:rPr lang="en-US" altLang="zh-CN" sz="2000" b="1" i="1">
                <a:solidFill>
                  <a:srgbClr val="000066"/>
                </a:solidFill>
                <a:latin typeface="Times New Roman" panose="02020603050405020304" pitchFamily="18" charset="0"/>
              </a:rPr>
              <a:t>w</a:t>
            </a:r>
            <a:r>
              <a:rPr lang="en-US" altLang="zh-CN" sz="2000" b="1" baseline="-25000">
                <a:solidFill>
                  <a:srgbClr val="000066"/>
                </a:solidFill>
                <a:latin typeface="Times New Roman" panose="02020603050405020304" pitchFamily="18" charset="0"/>
              </a:rPr>
              <a:t>i</a:t>
            </a:r>
            <a:r>
              <a:rPr lang="en-US" altLang="zh-CN" sz="2000" b="1">
                <a:solidFill>
                  <a:srgbClr val="000066"/>
                </a:solidFill>
                <a:latin typeface="Times New Roman" panose="02020603050405020304" pitchFamily="18" charset="0"/>
              </a:rPr>
              <a:t>=(10, 6, 5, 4)</a:t>
            </a:r>
            <a:endParaRPr lang="en-US" altLang="zh-CN" sz="2000" b="1">
              <a:solidFill>
                <a:srgbClr val="000066"/>
              </a:solidFill>
              <a:latin typeface="Times New Roman" panose="02020603050405020304" pitchFamily="18" charset="0"/>
            </a:endParaRPr>
          </a:p>
        </p:txBody>
      </p:sp>
      <p:sp>
        <p:nvSpPr>
          <p:cNvPr id="3133" name="Rectangle 64"/>
          <p:cNvSpPr>
            <a:spLocks noChangeArrowheads="1"/>
          </p:cNvSpPr>
          <p:nvPr/>
        </p:nvSpPr>
        <p:spPr bwMode="auto">
          <a:xfrm>
            <a:off x="227013" y="1649413"/>
            <a:ext cx="2232025" cy="936625"/>
          </a:xfrm>
          <a:prstGeom prst="rect">
            <a:avLst/>
          </a:prstGeom>
          <a:noFill/>
          <a:ln w="19050">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3134" name="Text Box 4"/>
          <p:cNvSpPr txBox="1">
            <a:spLocks noChangeArrowheads="1"/>
          </p:cNvSpPr>
          <p:nvPr/>
        </p:nvSpPr>
        <p:spPr bwMode="auto">
          <a:xfrm>
            <a:off x="411163" y="1009650"/>
            <a:ext cx="8099425" cy="533400"/>
          </a:xfrm>
          <a:prstGeom prst="rect">
            <a:avLst/>
          </a:prstGeom>
          <a:solidFill>
            <a:srgbClr val="CCFFFF"/>
          </a:solidFill>
          <a:ln w="25400">
            <a:solidFill>
              <a:srgbClr val="FF6600"/>
            </a:solidFill>
            <a:miter lim="800000"/>
          </a:ln>
        </p:spPr>
        <p:txBody>
          <a:bodyPr/>
          <a:lstStyle/>
          <a:p>
            <a:pPr eaLnBrk="1" hangingPunct="1">
              <a:defRPr/>
            </a:pP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楷体_GB2312" panose="02010609030101010101" pitchFamily="49" charset="-122"/>
              </a:rPr>
              <a:t>上界函数：</a:t>
            </a:r>
            <a:endParaRPr lang="zh-CN" altLang="en-US" sz="2400" b="1" dirty="0">
              <a:solidFill>
                <a:schemeClr val="tx1">
                  <a:lumMod val="50000"/>
                </a:schemeClr>
              </a:solidFill>
              <a:latin typeface="华文楷体" panose="02010600040101010101" pitchFamily="2" charset="-122"/>
              <a:ea typeface="华文楷体" panose="02010600040101010101" pitchFamily="2" charset="-122"/>
              <a:cs typeface="楷体_GB2312" panose="02010609030101010101" pitchFamily="49" charset="-122"/>
            </a:endParaRPr>
          </a:p>
        </p:txBody>
      </p:sp>
      <p:graphicFrame>
        <p:nvGraphicFramePr>
          <p:cNvPr id="122" name="对象 63"/>
          <p:cNvGraphicFramePr>
            <a:graphicFrameLocks noChangeAspect="1"/>
          </p:cNvGraphicFramePr>
          <p:nvPr/>
        </p:nvGraphicFramePr>
        <p:xfrm>
          <a:off x="2073275" y="1049338"/>
          <a:ext cx="3136900" cy="409575"/>
        </p:xfrm>
        <a:graphic>
          <a:graphicData uri="http://schemas.openxmlformats.org/presentationml/2006/ole">
            <mc:AlternateContent xmlns:mc="http://schemas.openxmlformats.org/markup-compatibility/2006">
              <mc:Choice xmlns:v="urn:schemas-microsoft-com:vml" Requires="v">
                <p:oleObj spid="_x0000_s3259" name="公式" r:id="rId1" imgW="1752600" imgH="228600" progId="Equation.3">
                  <p:embed/>
                </p:oleObj>
              </mc:Choice>
              <mc:Fallback>
                <p:oleObj name="公式" r:id="rId1" imgW="1752600" imgH="228600" progId="Equation.3">
                  <p:embed/>
                  <p:pic>
                    <p:nvPicPr>
                      <p:cNvPr id="0" name="对象 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275" y="1049338"/>
                        <a:ext cx="31369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blinds(horizontal)">
                                      <p:cBhvr>
                                        <p:cTn id="7" dur="5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up)">
                                      <p:cBhvr>
                                        <p:cTn id="12" dur="500"/>
                                        <p:tgtEl>
                                          <p:spTgt spid="67"/>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ipe(up)">
                                      <p:cBhvr>
                                        <p:cTn id="15" dur="500"/>
                                        <p:tgtEl>
                                          <p:spTgt spid="68"/>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90"/>
                                        </p:tgtEl>
                                        <p:attrNameLst>
                                          <p:attrName>style.visibility</p:attrName>
                                        </p:attrNameLst>
                                      </p:cBhvr>
                                      <p:to>
                                        <p:strVal val="visible"/>
                                      </p:to>
                                    </p:set>
                                    <p:animEffect transition="in" filter="wipe(up)">
                                      <p:cBhvr>
                                        <p:cTn id="18" dur="500"/>
                                        <p:tgtEl>
                                          <p:spTgt spid="90"/>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91"/>
                                        </p:tgtEl>
                                        <p:attrNameLst>
                                          <p:attrName>style.visibility</p:attrName>
                                        </p:attrNameLst>
                                      </p:cBhvr>
                                      <p:to>
                                        <p:strVal val="visible"/>
                                      </p:to>
                                    </p:set>
                                    <p:animEffect transition="in" filter="wipe(up)">
                                      <p:cBhvr>
                                        <p:cTn id="21" dur="500"/>
                                        <p:tgtEl>
                                          <p:spTgt spid="91"/>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69"/>
                                        </p:tgtEl>
                                        <p:attrNameLst>
                                          <p:attrName>style.visibility</p:attrName>
                                        </p:attrNameLst>
                                      </p:cBhvr>
                                      <p:to>
                                        <p:strVal val="visible"/>
                                      </p:to>
                                    </p:set>
                                    <p:animEffect transition="in" filter="wipe(up)">
                                      <p:cBhvr>
                                        <p:cTn id="24" dur="500"/>
                                        <p:tgtEl>
                                          <p:spTgt spid="69"/>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71"/>
                                        </p:tgtEl>
                                        <p:attrNameLst>
                                          <p:attrName>style.visibility</p:attrName>
                                        </p:attrNameLst>
                                      </p:cBhvr>
                                      <p:to>
                                        <p:strVal val="visible"/>
                                      </p:to>
                                    </p:set>
                                    <p:animEffect transition="in" filter="wipe(up)">
                                      <p:cBhvr>
                                        <p:cTn id="27" dur="500"/>
                                        <p:tgtEl>
                                          <p:spTgt spid="71"/>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70"/>
                                        </p:tgtEl>
                                        <p:attrNameLst>
                                          <p:attrName>style.visibility</p:attrName>
                                        </p:attrNameLst>
                                      </p:cBhvr>
                                      <p:to>
                                        <p:strVal val="visible"/>
                                      </p:to>
                                    </p:set>
                                    <p:animEffect transition="in" filter="wipe(up)">
                                      <p:cBhvr>
                                        <p:cTn id="30" dur="500"/>
                                        <p:tgtEl>
                                          <p:spTgt spid="70"/>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72"/>
                                        </p:tgtEl>
                                        <p:attrNameLst>
                                          <p:attrName>style.visibility</p:attrName>
                                        </p:attrNameLst>
                                      </p:cBhvr>
                                      <p:to>
                                        <p:strVal val="visible"/>
                                      </p:to>
                                    </p:set>
                                    <p:animEffect transition="in" filter="wipe(up)">
                                      <p:cBhvr>
                                        <p:cTn id="33" dur="500"/>
                                        <p:tgtEl>
                                          <p:spTgt spid="72"/>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08"/>
                                        </p:tgtEl>
                                        <p:attrNameLst>
                                          <p:attrName>style.visibility</p:attrName>
                                        </p:attrNameLst>
                                      </p:cBhvr>
                                      <p:to>
                                        <p:strVal val="visible"/>
                                      </p:to>
                                    </p:set>
                                    <p:animEffect transition="in" filter="wipe(up)">
                                      <p:cBhvr>
                                        <p:cTn id="36" dur="500"/>
                                        <p:tgtEl>
                                          <p:spTgt spid="108"/>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09"/>
                                        </p:tgtEl>
                                        <p:attrNameLst>
                                          <p:attrName>style.visibility</p:attrName>
                                        </p:attrNameLst>
                                      </p:cBhvr>
                                      <p:to>
                                        <p:strVal val="visible"/>
                                      </p:to>
                                    </p:set>
                                    <p:animEffect transition="in" filter="wipe(up)">
                                      <p:cBhvr>
                                        <p:cTn id="39" dur="500"/>
                                        <p:tgtEl>
                                          <p:spTgt spid="109"/>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00"/>
                                        </p:tgtEl>
                                        <p:attrNameLst>
                                          <p:attrName>style.visibility</p:attrName>
                                        </p:attrNameLst>
                                      </p:cBhvr>
                                      <p:to>
                                        <p:strVal val="visible"/>
                                      </p:to>
                                    </p:set>
                                    <p:anim calcmode="lin" valueType="num">
                                      <p:cBhvr additive="base">
                                        <p:cTn id="44" dur="500" fill="hold"/>
                                        <p:tgtEl>
                                          <p:spTgt spid="100"/>
                                        </p:tgtEl>
                                        <p:attrNameLst>
                                          <p:attrName>ppt_x</p:attrName>
                                        </p:attrNameLst>
                                      </p:cBhvr>
                                      <p:tavLst>
                                        <p:tav tm="0">
                                          <p:val>
                                            <p:strVal val="0-#ppt_w/2"/>
                                          </p:val>
                                        </p:tav>
                                        <p:tav tm="100000">
                                          <p:val>
                                            <p:strVal val="#ppt_x"/>
                                          </p:val>
                                        </p:tav>
                                      </p:tavLst>
                                    </p:anim>
                                    <p:anim calcmode="lin" valueType="num">
                                      <p:cBhvr additive="base">
                                        <p:cTn id="45" dur="500" fill="hold"/>
                                        <p:tgtEl>
                                          <p:spTgt spid="100"/>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8" presetClass="entr" presetSubtype="32" fill="hold" grpId="0" nodeType="clickEffect">
                                  <p:stCondLst>
                                    <p:cond delay="0"/>
                                  </p:stCondLst>
                                  <p:childTnLst>
                                    <p:set>
                                      <p:cBhvr>
                                        <p:cTn id="49" dur="1" fill="hold">
                                          <p:stCondLst>
                                            <p:cond delay="0"/>
                                          </p:stCondLst>
                                        </p:cTn>
                                        <p:tgtEl>
                                          <p:spTgt spid="101"/>
                                        </p:tgtEl>
                                        <p:attrNameLst>
                                          <p:attrName>style.visibility</p:attrName>
                                        </p:attrNameLst>
                                      </p:cBhvr>
                                      <p:to>
                                        <p:strVal val="visible"/>
                                      </p:to>
                                    </p:set>
                                    <p:animEffect transition="in" filter="diamond(out)">
                                      <p:cBhvr>
                                        <p:cTn id="50" dur="500"/>
                                        <p:tgtEl>
                                          <p:spTgt spid="10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85"/>
                                        </p:tgtEl>
                                        <p:attrNameLst>
                                          <p:attrName>style.visibility</p:attrName>
                                        </p:attrNameLst>
                                      </p:cBhvr>
                                      <p:to>
                                        <p:strVal val="visible"/>
                                      </p:to>
                                    </p:set>
                                    <p:animEffect transition="in" filter="wipe(up)">
                                      <p:cBhvr>
                                        <p:cTn id="53" dur="500"/>
                                        <p:tgtEl>
                                          <p:spTgt spid="85"/>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86"/>
                                        </p:tgtEl>
                                        <p:attrNameLst>
                                          <p:attrName>style.visibility</p:attrName>
                                        </p:attrNameLst>
                                      </p:cBhvr>
                                      <p:to>
                                        <p:strVal val="visible"/>
                                      </p:to>
                                    </p:set>
                                    <p:animEffect transition="in" filter="wipe(up)">
                                      <p:cBhvr>
                                        <p:cTn id="56" dur="500"/>
                                        <p:tgtEl>
                                          <p:spTgt spid="86"/>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92"/>
                                        </p:tgtEl>
                                        <p:attrNameLst>
                                          <p:attrName>style.visibility</p:attrName>
                                        </p:attrNameLst>
                                      </p:cBhvr>
                                      <p:to>
                                        <p:strVal val="visible"/>
                                      </p:to>
                                    </p:set>
                                    <p:animEffect transition="in" filter="wipe(up)">
                                      <p:cBhvr>
                                        <p:cTn id="59" dur="500"/>
                                        <p:tgtEl>
                                          <p:spTgt spid="92"/>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93"/>
                                        </p:tgtEl>
                                        <p:attrNameLst>
                                          <p:attrName>style.visibility</p:attrName>
                                        </p:attrNameLst>
                                      </p:cBhvr>
                                      <p:to>
                                        <p:strVal val="visible"/>
                                      </p:to>
                                    </p:set>
                                    <p:animEffect transition="in" filter="wipe(up)">
                                      <p:cBhvr>
                                        <p:cTn id="62" dur="500"/>
                                        <p:tgtEl>
                                          <p:spTgt spid="93"/>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75"/>
                                        </p:tgtEl>
                                        <p:attrNameLst>
                                          <p:attrName>style.visibility</p:attrName>
                                        </p:attrNameLst>
                                      </p:cBhvr>
                                      <p:to>
                                        <p:strVal val="visible"/>
                                      </p:to>
                                    </p:set>
                                    <p:animEffect transition="in" filter="wipe(up)">
                                      <p:cBhvr>
                                        <p:cTn id="65" dur="500"/>
                                        <p:tgtEl>
                                          <p:spTgt spid="75"/>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76"/>
                                        </p:tgtEl>
                                        <p:attrNameLst>
                                          <p:attrName>style.visibility</p:attrName>
                                        </p:attrNameLst>
                                      </p:cBhvr>
                                      <p:to>
                                        <p:strVal val="visible"/>
                                      </p:to>
                                    </p:set>
                                    <p:animEffect transition="in" filter="wipe(up)">
                                      <p:cBhvr>
                                        <p:cTn id="68" dur="500"/>
                                        <p:tgtEl>
                                          <p:spTgt spid="76"/>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73"/>
                                        </p:tgtEl>
                                        <p:attrNameLst>
                                          <p:attrName>style.visibility</p:attrName>
                                        </p:attrNameLst>
                                      </p:cBhvr>
                                      <p:to>
                                        <p:strVal val="visible"/>
                                      </p:to>
                                    </p:set>
                                    <p:animEffect transition="in" filter="wipe(up)">
                                      <p:cBhvr>
                                        <p:cTn id="71" dur="500"/>
                                        <p:tgtEl>
                                          <p:spTgt spid="73"/>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74"/>
                                        </p:tgtEl>
                                        <p:attrNameLst>
                                          <p:attrName>style.visibility</p:attrName>
                                        </p:attrNameLst>
                                      </p:cBhvr>
                                      <p:to>
                                        <p:strVal val="visible"/>
                                      </p:to>
                                    </p:set>
                                    <p:animEffect transition="in" filter="wipe(up)">
                                      <p:cBhvr>
                                        <p:cTn id="74" dur="500"/>
                                        <p:tgtEl>
                                          <p:spTgt spid="74"/>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110"/>
                                        </p:tgtEl>
                                        <p:attrNameLst>
                                          <p:attrName>style.visibility</p:attrName>
                                        </p:attrNameLst>
                                      </p:cBhvr>
                                      <p:to>
                                        <p:strVal val="visible"/>
                                      </p:to>
                                    </p:set>
                                    <p:animEffect transition="in" filter="wipe(up)">
                                      <p:cBhvr>
                                        <p:cTn id="77" dur="500"/>
                                        <p:tgtEl>
                                          <p:spTgt spid="110"/>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111"/>
                                        </p:tgtEl>
                                        <p:attrNameLst>
                                          <p:attrName>style.visibility</p:attrName>
                                        </p:attrNameLst>
                                      </p:cBhvr>
                                      <p:to>
                                        <p:strVal val="visible"/>
                                      </p:to>
                                    </p:set>
                                    <p:animEffect transition="in" filter="wipe(up)">
                                      <p:cBhvr>
                                        <p:cTn id="80" dur="500"/>
                                        <p:tgtEl>
                                          <p:spTgt spid="111"/>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0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104"/>
                                        </p:tgtEl>
                                        <p:attrNameLst>
                                          <p:attrName>style.visibility</p:attrName>
                                        </p:attrNameLst>
                                      </p:cBhvr>
                                      <p:to>
                                        <p:strVal val="visible"/>
                                      </p:to>
                                    </p:set>
                                    <p:anim calcmode="lin" valueType="num">
                                      <p:cBhvr additive="base">
                                        <p:cTn id="91" dur="500" fill="hold"/>
                                        <p:tgtEl>
                                          <p:spTgt spid="104"/>
                                        </p:tgtEl>
                                        <p:attrNameLst>
                                          <p:attrName>ppt_x</p:attrName>
                                        </p:attrNameLst>
                                      </p:cBhvr>
                                      <p:tavLst>
                                        <p:tav tm="0">
                                          <p:val>
                                            <p:strVal val="1+#ppt_w/2"/>
                                          </p:val>
                                        </p:tav>
                                        <p:tav tm="100000">
                                          <p:val>
                                            <p:strVal val="#ppt_x"/>
                                          </p:val>
                                        </p:tav>
                                      </p:tavLst>
                                    </p:anim>
                                    <p:anim calcmode="lin" valueType="num">
                                      <p:cBhvr additive="base">
                                        <p:cTn id="92" dur="500" fill="hold"/>
                                        <p:tgtEl>
                                          <p:spTgt spid="104"/>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8" presetClass="entr" presetSubtype="32" fill="hold" grpId="0" nodeType="clickEffect">
                                  <p:stCondLst>
                                    <p:cond delay="0"/>
                                  </p:stCondLst>
                                  <p:childTnLst>
                                    <p:set>
                                      <p:cBhvr>
                                        <p:cTn id="96" dur="1" fill="hold">
                                          <p:stCondLst>
                                            <p:cond delay="0"/>
                                          </p:stCondLst>
                                        </p:cTn>
                                        <p:tgtEl>
                                          <p:spTgt spid="103"/>
                                        </p:tgtEl>
                                        <p:attrNameLst>
                                          <p:attrName>style.visibility</p:attrName>
                                        </p:attrNameLst>
                                      </p:cBhvr>
                                      <p:to>
                                        <p:strVal val="visible"/>
                                      </p:to>
                                    </p:set>
                                    <p:animEffect transition="in" filter="diamond(out)">
                                      <p:cBhvr>
                                        <p:cTn id="97" dur="500"/>
                                        <p:tgtEl>
                                          <p:spTgt spid="103"/>
                                        </p:tgtEl>
                                      </p:cBhvr>
                                    </p:animEffect>
                                  </p:childTnLst>
                                </p:cTn>
                              </p:par>
                              <p:par>
                                <p:cTn id="98" presetID="22" presetClass="entr" presetSubtype="1" fill="hold" grpId="0" nodeType="withEffect">
                                  <p:stCondLst>
                                    <p:cond delay="0"/>
                                  </p:stCondLst>
                                  <p:childTnLst>
                                    <p:set>
                                      <p:cBhvr>
                                        <p:cTn id="99" dur="1" fill="hold">
                                          <p:stCondLst>
                                            <p:cond delay="0"/>
                                          </p:stCondLst>
                                        </p:cTn>
                                        <p:tgtEl>
                                          <p:spTgt spid="99"/>
                                        </p:tgtEl>
                                        <p:attrNameLst>
                                          <p:attrName>style.visibility</p:attrName>
                                        </p:attrNameLst>
                                      </p:cBhvr>
                                      <p:to>
                                        <p:strVal val="visible"/>
                                      </p:to>
                                    </p:set>
                                    <p:animEffect transition="in" filter="wipe(up)">
                                      <p:cBhvr>
                                        <p:cTn id="100" dur="500"/>
                                        <p:tgtEl>
                                          <p:spTgt spid="99"/>
                                        </p:tgtEl>
                                      </p:cBhvr>
                                    </p:animEffect>
                                  </p:childTnLst>
                                </p:cTn>
                              </p:par>
                              <p:par>
                                <p:cTn id="101" presetID="22" presetClass="entr" presetSubtype="1" fill="hold" grpId="0" nodeType="withEffect">
                                  <p:stCondLst>
                                    <p:cond delay="0"/>
                                  </p:stCondLst>
                                  <p:childTnLst>
                                    <p:set>
                                      <p:cBhvr>
                                        <p:cTn id="102" dur="1" fill="hold">
                                          <p:stCondLst>
                                            <p:cond delay="0"/>
                                          </p:stCondLst>
                                        </p:cTn>
                                        <p:tgtEl>
                                          <p:spTgt spid="87"/>
                                        </p:tgtEl>
                                        <p:attrNameLst>
                                          <p:attrName>style.visibility</p:attrName>
                                        </p:attrNameLst>
                                      </p:cBhvr>
                                      <p:to>
                                        <p:strVal val="visible"/>
                                      </p:to>
                                    </p:set>
                                    <p:animEffect transition="in" filter="wipe(up)">
                                      <p:cBhvr>
                                        <p:cTn id="103" dur="500"/>
                                        <p:tgtEl>
                                          <p:spTgt spid="87"/>
                                        </p:tgtEl>
                                      </p:cBhvr>
                                    </p:animEffect>
                                  </p:childTnLst>
                                </p:cTn>
                              </p:par>
                              <p:par>
                                <p:cTn id="104" presetID="22" presetClass="entr" presetSubtype="1" fill="hold" grpId="0" nodeType="withEffect">
                                  <p:stCondLst>
                                    <p:cond delay="0"/>
                                  </p:stCondLst>
                                  <p:childTnLst>
                                    <p:set>
                                      <p:cBhvr>
                                        <p:cTn id="105" dur="1" fill="hold">
                                          <p:stCondLst>
                                            <p:cond delay="0"/>
                                          </p:stCondLst>
                                        </p:cTn>
                                        <p:tgtEl>
                                          <p:spTgt spid="94"/>
                                        </p:tgtEl>
                                        <p:attrNameLst>
                                          <p:attrName>style.visibility</p:attrName>
                                        </p:attrNameLst>
                                      </p:cBhvr>
                                      <p:to>
                                        <p:strVal val="visible"/>
                                      </p:to>
                                    </p:set>
                                    <p:animEffect transition="in" filter="wipe(up)">
                                      <p:cBhvr>
                                        <p:cTn id="106" dur="500"/>
                                        <p:tgtEl>
                                          <p:spTgt spid="94"/>
                                        </p:tgtEl>
                                      </p:cBhvr>
                                    </p:animEffect>
                                  </p:childTnLst>
                                </p:cTn>
                              </p:par>
                              <p:par>
                                <p:cTn id="107" presetID="22" presetClass="entr" presetSubtype="1" fill="hold" grpId="0" nodeType="withEffect">
                                  <p:stCondLst>
                                    <p:cond delay="0"/>
                                  </p:stCondLst>
                                  <p:childTnLst>
                                    <p:set>
                                      <p:cBhvr>
                                        <p:cTn id="108" dur="1" fill="hold">
                                          <p:stCondLst>
                                            <p:cond delay="0"/>
                                          </p:stCondLst>
                                        </p:cTn>
                                        <p:tgtEl>
                                          <p:spTgt spid="95"/>
                                        </p:tgtEl>
                                        <p:attrNameLst>
                                          <p:attrName>style.visibility</p:attrName>
                                        </p:attrNameLst>
                                      </p:cBhvr>
                                      <p:to>
                                        <p:strVal val="visible"/>
                                      </p:to>
                                    </p:set>
                                    <p:animEffect transition="in" filter="wipe(up)">
                                      <p:cBhvr>
                                        <p:cTn id="109" dur="500"/>
                                        <p:tgtEl>
                                          <p:spTgt spid="95"/>
                                        </p:tgtEl>
                                      </p:cBhvr>
                                    </p:animEffect>
                                  </p:childTnLst>
                                </p:cTn>
                              </p:par>
                              <p:par>
                                <p:cTn id="110" presetID="22" presetClass="entr" presetSubtype="1" fill="hold" grpId="0" nodeType="withEffect">
                                  <p:stCondLst>
                                    <p:cond delay="0"/>
                                  </p:stCondLst>
                                  <p:childTnLst>
                                    <p:set>
                                      <p:cBhvr>
                                        <p:cTn id="111" dur="1" fill="hold">
                                          <p:stCondLst>
                                            <p:cond delay="0"/>
                                          </p:stCondLst>
                                        </p:cTn>
                                        <p:tgtEl>
                                          <p:spTgt spid="79"/>
                                        </p:tgtEl>
                                        <p:attrNameLst>
                                          <p:attrName>style.visibility</p:attrName>
                                        </p:attrNameLst>
                                      </p:cBhvr>
                                      <p:to>
                                        <p:strVal val="visible"/>
                                      </p:to>
                                    </p:set>
                                    <p:animEffect transition="in" filter="wipe(up)">
                                      <p:cBhvr>
                                        <p:cTn id="112" dur="500"/>
                                        <p:tgtEl>
                                          <p:spTgt spid="79"/>
                                        </p:tgtEl>
                                      </p:cBhvr>
                                    </p:animEffect>
                                  </p:childTnLst>
                                </p:cTn>
                              </p:par>
                              <p:par>
                                <p:cTn id="113" presetID="22" presetClass="entr" presetSubtype="1" fill="hold" grpId="0" nodeType="withEffect">
                                  <p:stCondLst>
                                    <p:cond delay="0"/>
                                  </p:stCondLst>
                                  <p:childTnLst>
                                    <p:set>
                                      <p:cBhvr>
                                        <p:cTn id="114" dur="1" fill="hold">
                                          <p:stCondLst>
                                            <p:cond delay="0"/>
                                          </p:stCondLst>
                                        </p:cTn>
                                        <p:tgtEl>
                                          <p:spTgt spid="80"/>
                                        </p:tgtEl>
                                        <p:attrNameLst>
                                          <p:attrName>style.visibility</p:attrName>
                                        </p:attrNameLst>
                                      </p:cBhvr>
                                      <p:to>
                                        <p:strVal val="visible"/>
                                      </p:to>
                                    </p:set>
                                    <p:animEffect transition="in" filter="wipe(up)">
                                      <p:cBhvr>
                                        <p:cTn id="115" dur="500"/>
                                        <p:tgtEl>
                                          <p:spTgt spid="80"/>
                                        </p:tgtEl>
                                      </p:cBhvr>
                                    </p:animEffect>
                                  </p:childTnLst>
                                </p:cTn>
                              </p:par>
                              <p:par>
                                <p:cTn id="116" presetID="22" presetClass="entr" presetSubtype="1" fill="hold" grpId="0" nodeType="withEffect">
                                  <p:stCondLst>
                                    <p:cond delay="0"/>
                                  </p:stCondLst>
                                  <p:childTnLst>
                                    <p:set>
                                      <p:cBhvr>
                                        <p:cTn id="117" dur="1" fill="hold">
                                          <p:stCondLst>
                                            <p:cond delay="0"/>
                                          </p:stCondLst>
                                        </p:cTn>
                                        <p:tgtEl>
                                          <p:spTgt spid="77"/>
                                        </p:tgtEl>
                                        <p:attrNameLst>
                                          <p:attrName>style.visibility</p:attrName>
                                        </p:attrNameLst>
                                      </p:cBhvr>
                                      <p:to>
                                        <p:strVal val="visible"/>
                                      </p:to>
                                    </p:set>
                                    <p:animEffect transition="in" filter="wipe(up)">
                                      <p:cBhvr>
                                        <p:cTn id="118" dur="500"/>
                                        <p:tgtEl>
                                          <p:spTgt spid="77"/>
                                        </p:tgtEl>
                                      </p:cBhvr>
                                    </p:animEffect>
                                  </p:childTnLst>
                                </p:cTn>
                              </p:par>
                              <p:par>
                                <p:cTn id="119" presetID="22" presetClass="entr" presetSubtype="1" fill="hold" grpId="0" nodeType="withEffect">
                                  <p:stCondLst>
                                    <p:cond delay="0"/>
                                  </p:stCondLst>
                                  <p:childTnLst>
                                    <p:set>
                                      <p:cBhvr>
                                        <p:cTn id="120" dur="1" fill="hold">
                                          <p:stCondLst>
                                            <p:cond delay="0"/>
                                          </p:stCondLst>
                                        </p:cTn>
                                        <p:tgtEl>
                                          <p:spTgt spid="78"/>
                                        </p:tgtEl>
                                        <p:attrNameLst>
                                          <p:attrName>style.visibility</p:attrName>
                                        </p:attrNameLst>
                                      </p:cBhvr>
                                      <p:to>
                                        <p:strVal val="visible"/>
                                      </p:to>
                                    </p:set>
                                    <p:animEffect transition="in" filter="wipe(up)">
                                      <p:cBhvr>
                                        <p:cTn id="121" dur="500"/>
                                        <p:tgtEl>
                                          <p:spTgt spid="78"/>
                                        </p:tgtEl>
                                      </p:cBhvr>
                                    </p:animEffect>
                                  </p:childTnLst>
                                </p:cTn>
                              </p:par>
                              <p:par>
                                <p:cTn id="122" presetID="22" presetClass="entr" presetSubtype="1" fill="hold" grpId="0" nodeType="withEffect">
                                  <p:stCondLst>
                                    <p:cond delay="0"/>
                                  </p:stCondLst>
                                  <p:childTnLst>
                                    <p:set>
                                      <p:cBhvr>
                                        <p:cTn id="123" dur="1" fill="hold">
                                          <p:stCondLst>
                                            <p:cond delay="0"/>
                                          </p:stCondLst>
                                        </p:cTn>
                                        <p:tgtEl>
                                          <p:spTgt spid="112"/>
                                        </p:tgtEl>
                                        <p:attrNameLst>
                                          <p:attrName>style.visibility</p:attrName>
                                        </p:attrNameLst>
                                      </p:cBhvr>
                                      <p:to>
                                        <p:strVal val="visible"/>
                                      </p:to>
                                    </p:set>
                                    <p:animEffect transition="in" filter="wipe(up)">
                                      <p:cBhvr>
                                        <p:cTn id="124" dur="500"/>
                                        <p:tgtEl>
                                          <p:spTgt spid="112"/>
                                        </p:tgtEl>
                                      </p:cBhvr>
                                    </p:animEffect>
                                  </p:childTnLst>
                                </p:cTn>
                              </p:par>
                              <p:par>
                                <p:cTn id="125" presetID="22" presetClass="entr" presetSubtype="1" fill="hold" grpId="0" nodeType="withEffect">
                                  <p:stCondLst>
                                    <p:cond delay="0"/>
                                  </p:stCondLst>
                                  <p:childTnLst>
                                    <p:set>
                                      <p:cBhvr>
                                        <p:cTn id="126" dur="1" fill="hold">
                                          <p:stCondLst>
                                            <p:cond delay="0"/>
                                          </p:stCondLst>
                                        </p:cTn>
                                        <p:tgtEl>
                                          <p:spTgt spid="113"/>
                                        </p:tgtEl>
                                        <p:attrNameLst>
                                          <p:attrName>style.visibility</p:attrName>
                                        </p:attrNameLst>
                                      </p:cBhvr>
                                      <p:to>
                                        <p:strVal val="visible"/>
                                      </p:to>
                                    </p:set>
                                    <p:animEffect transition="in" filter="wipe(up)">
                                      <p:cBhvr>
                                        <p:cTn id="127" dur="500"/>
                                        <p:tgtEl>
                                          <p:spTgt spid="113"/>
                                        </p:tgtEl>
                                      </p:cBhvr>
                                    </p:animEffect>
                                  </p:childTnLst>
                                </p:cTn>
                              </p:par>
                            </p:childTnLst>
                          </p:cTn>
                        </p:par>
                      </p:childTnLst>
                    </p:cTn>
                  </p:par>
                  <p:par>
                    <p:cTn id="128" fill="hold">
                      <p:stCondLst>
                        <p:cond delay="indefinite"/>
                      </p:stCondLst>
                      <p:childTnLst>
                        <p:par>
                          <p:cTn id="129" fill="hold">
                            <p:stCondLst>
                              <p:cond delay="0"/>
                            </p:stCondLst>
                            <p:childTnLst>
                              <p:par>
                                <p:cTn id="130" presetID="2" presetClass="entr" presetSubtype="2" fill="hold" grpId="0" nodeType="clickEffect">
                                  <p:stCondLst>
                                    <p:cond delay="0"/>
                                  </p:stCondLst>
                                  <p:childTnLst>
                                    <p:set>
                                      <p:cBhvr>
                                        <p:cTn id="131" dur="1" fill="hold">
                                          <p:stCondLst>
                                            <p:cond delay="0"/>
                                          </p:stCondLst>
                                        </p:cTn>
                                        <p:tgtEl>
                                          <p:spTgt spid="105"/>
                                        </p:tgtEl>
                                        <p:attrNameLst>
                                          <p:attrName>style.visibility</p:attrName>
                                        </p:attrNameLst>
                                      </p:cBhvr>
                                      <p:to>
                                        <p:strVal val="visible"/>
                                      </p:to>
                                    </p:set>
                                    <p:anim calcmode="lin" valueType="num">
                                      <p:cBhvr additive="base">
                                        <p:cTn id="132" dur="500" fill="hold"/>
                                        <p:tgtEl>
                                          <p:spTgt spid="105"/>
                                        </p:tgtEl>
                                        <p:attrNameLst>
                                          <p:attrName>ppt_x</p:attrName>
                                        </p:attrNameLst>
                                      </p:cBhvr>
                                      <p:tavLst>
                                        <p:tav tm="0">
                                          <p:val>
                                            <p:strVal val="1+#ppt_w/2"/>
                                          </p:val>
                                        </p:tav>
                                        <p:tav tm="100000">
                                          <p:val>
                                            <p:strVal val="#ppt_x"/>
                                          </p:val>
                                        </p:tav>
                                      </p:tavLst>
                                    </p:anim>
                                    <p:anim calcmode="lin" valueType="num">
                                      <p:cBhvr additive="base">
                                        <p:cTn id="133" dur="500" fill="hold"/>
                                        <p:tgtEl>
                                          <p:spTgt spid="105"/>
                                        </p:tgtEl>
                                        <p:attrNameLst>
                                          <p:attrName>ppt_y</p:attrName>
                                        </p:attrNameLst>
                                      </p:cBhvr>
                                      <p:tavLst>
                                        <p:tav tm="0">
                                          <p:val>
                                            <p:strVal val="#ppt_y"/>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8" presetClass="entr" presetSubtype="32" fill="hold" grpId="0" nodeType="clickEffect">
                                  <p:stCondLst>
                                    <p:cond delay="0"/>
                                  </p:stCondLst>
                                  <p:childTnLst>
                                    <p:set>
                                      <p:cBhvr>
                                        <p:cTn id="137" dur="1" fill="hold">
                                          <p:stCondLst>
                                            <p:cond delay="0"/>
                                          </p:stCondLst>
                                        </p:cTn>
                                        <p:tgtEl>
                                          <p:spTgt spid="106"/>
                                        </p:tgtEl>
                                        <p:attrNameLst>
                                          <p:attrName>style.visibility</p:attrName>
                                        </p:attrNameLst>
                                      </p:cBhvr>
                                      <p:to>
                                        <p:strVal val="visible"/>
                                      </p:to>
                                    </p:set>
                                    <p:animEffect transition="in" filter="diamond(out)">
                                      <p:cBhvr>
                                        <p:cTn id="138" dur="500"/>
                                        <p:tgtEl>
                                          <p:spTgt spid="106"/>
                                        </p:tgtEl>
                                      </p:cBhvr>
                                    </p:animEffect>
                                  </p:childTnLst>
                                </p:cTn>
                              </p:par>
                              <p:par>
                                <p:cTn id="139" presetID="22" presetClass="entr" presetSubtype="1" fill="hold" grpId="0" nodeType="withEffect">
                                  <p:stCondLst>
                                    <p:cond delay="0"/>
                                  </p:stCondLst>
                                  <p:childTnLst>
                                    <p:set>
                                      <p:cBhvr>
                                        <p:cTn id="140" dur="1" fill="hold">
                                          <p:stCondLst>
                                            <p:cond delay="0"/>
                                          </p:stCondLst>
                                        </p:cTn>
                                        <p:tgtEl>
                                          <p:spTgt spid="88"/>
                                        </p:tgtEl>
                                        <p:attrNameLst>
                                          <p:attrName>style.visibility</p:attrName>
                                        </p:attrNameLst>
                                      </p:cBhvr>
                                      <p:to>
                                        <p:strVal val="visible"/>
                                      </p:to>
                                    </p:set>
                                    <p:animEffect transition="in" filter="wipe(up)">
                                      <p:cBhvr>
                                        <p:cTn id="141" dur="500"/>
                                        <p:tgtEl>
                                          <p:spTgt spid="88"/>
                                        </p:tgtEl>
                                      </p:cBhvr>
                                    </p:animEffect>
                                  </p:childTnLst>
                                </p:cTn>
                              </p:par>
                              <p:par>
                                <p:cTn id="142" presetID="22" presetClass="entr" presetSubtype="1" fill="hold" grpId="0" nodeType="withEffect">
                                  <p:stCondLst>
                                    <p:cond delay="0"/>
                                  </p:stCondLst>
                                  <p:childTnLst>
                                    <p:set>
                                      <p:cBhvr>
                                        <p:cTn id="143" dur="1" fill="hold">
                                          <p:stCondLst>
                                            <p:cond delay="0"/>
                                          </p:stCondLst>
                                        </p:cTn>
                                        <p:tgtEl>
                                          <p:spTgt spid="89"/>
                                        </p:tgtEl>
                                        <p:attrNameLst>
                                          <p:attrName>style.visibility</p:attrName>
                                        </p:attrNameLst>
                                      </p:cBhvr>
                                      <p:to>
                                        <p:strVal val="visible"/>
                                      </p:to>
                                    </p:set>
                                    <p:animEffect transition="in" filter="wipe(up)">
                                      <p:cBhvr>
                                        <p:cTn id="144" dur="500"/>
                                        <p:tgtEl>
                                          <p:spTgt spid="89"/>
                                        </p:tgtEl>
                                      </p:cBhvr>
                                    </p:animEffect>
                                  </p:childTnLst>
                                </p:cTn>
                              </p:par>
                              <p:par>
                                <p:cTn id="145" presetID="22" presetClass="entr" presetSubtype="1" fill="hold" grpId="0" nodeType="withEffect">
                                  <p:stCondLst>
                                    <p:cond delay="0"/>
                                  </p:stCondLst>
                                  <p:childTnLst>
                                    <p:set>
                                      <p:cBhvr>
                                        <p:cTn id="146" dur="1" fill="hold">
                                          <p:stCondLst>
                                            <p:cond delay="0"/>
                                          </p:stCondLst>
                                        </p:cTn>
                                        <p:tgtEl>
                                          <p:spTgt spid="96"/>
                                        </p:tgtEl>
                                        <p:attrNameLst>
                                          <p:attrName>style.visibility</p:attrName>
                                        </p:attrNameLst>
                                      </p:cBhvr>
                                      <p:to>
                                        <p:strVal val="visible"/>
                                      </p:to>
                                    </p:set>
                                    <p:animEffect transition="in" filter="wipe(up)">
                                      <p:cBhvr>
                                        <p:cTn id="147" dur="500"/>
                                        <p:tgtEl>
                                          <p:spTgt spid="96"/>
                                        </p:tgtEl>
                                      </p:cBhvr>
                                    </p:animEffect>
                                  </p:childTnLst>
                                </p:cTn>
                              </p:par>
                              <p:par>
                                <p:cTn id="148" presetID="22" presetClass="entr" presetSubtype="1" fill="hold" grpId="0" nodeType="withEffect">
                                  <p:stCondLst>
                                    <p:cond delay="0"/>
                                  </p:stCondLst>
                                  <p:childTnLst>
                                    <p:set>
                                      <p:cBhvr>
                                        <p:cTn id="149" dur="1" fill="hold">
                                          <p:stCondLst>
                                            <p:cond delay="0"/>
                                          </p:stCondLst>
                                        </p:cTn>
                                        <p:tgtEl>
                                          <p:spTgt spid="81"/>
                                        </p:tgtEl>
                                        <p:attrNameLst>
                                          <p:attrName>style.visibility</p:attrName>
                                        </p:attrNameLst>
                                      </p:cBhvr>
                                      <p:to>
                                        <p:strVal val="visible"/>
                                      </p:to>
                                    </p:set>
                                    <p:animEffect transition="in" filter="wipe(up)">
                                      <p:cBhvr>
                                        <p:cTn id="150" dur="500"/>
                                        <p:tgtEl>
                                          <p:spTgt spid="81"/>
                                        </p:tgtEl>
                                      </p:cBhvr>
                                    </p:animEffect>
                                  </p:childTnLst>
                                </p:cTn>
                              </p:par>
                              <p:par>
                                <p:cTn id="151" presetID="22" presetClass="entr" presetSubtype="1" fill="hold" grpId="0" nodeType="withEffect">
                                  <p:stCondLst>
                                    <p:cond delay="0"/>
                                  </p:stCondLst>
                                  <p:childTnLst>
                                    <p:set>
                                      <p:cBhvr>
                                        <p:cTn id="152" dur="1" fill="hold">
                                          <p:stCondLst>
                                            <p:cond delay="0"/>
                                          </p:stCondLst>
                                        </p:cTn>
                                        <p:tgtEl>
                                          <p:spTgt spid="82"/>
                                        </p:tgtEl>
                                        <p:attrNameLst>
                                          <p:attrName>style.visibility</p:attrName>
                                        </p:attrNameLst>
                                      </p:cBhvr>
                                      <p:to>
                                        <p:strVal val="visible"/>
                                      </p:to>
                                    </p:set>
                                    <p:animEffect transition="in" filter="wipe(up)">
                                      <p:cBhvr>
                                        <p:cTn id="153" dur="500"/>
                                        <p:tgtEl>
                                          <p:spTgt spid="82"/>
                                        </p:tgtEl>
                                      </p:cBhvr>
                                    </p:animEffect>
                                  </p:childTnLst>
                                </p:cTn>
                              </p:par>
                              <p:par>
                                <p:cTn id="154" presetID="22" presetClass="entr" presetSubtype="1" fill="hold" grpId="0" nodeType="withEffect">
                                  <p:stCondLst>
                                    <p:cond delay="0"/>
                                  </p:stCondLst>
                                  <p:childTnLst>
                                    <p:set>
                                      <p:cBhvr>
                                        <p:cTn id="155" dur="1" fill="hold">
                                          <p:stCondLst>
                                            <p:cond delay="0"/>
                                          </p:stCondLst>
                                        </p:cTn>
                                        <p:tgtEl>
                                          <p:spTgt spid="97"/>
                                        </p:tgtEl>
                                        <p:attrNameLst>
                                          <p:attrName>style.visibility</p:attrName>
                                        </p:attrNameLst>
                                      </p:cBhvr>
                                      <p:to>
                                        <p:strVal val="visible"/>
                                      </p:to>
                                    </p:set>
                                    <p:animEffect transition="in" filter="wipe(up)">
                                      <p:cBhvr>
                                        <p:cTn id="156" dur="500"/>
                                        <p:tgtEl>
                                          <p:spTgt spid="97"/>
                                        </p:tgtEl>
                                      </p:cBhvr>
                                    </p:animEffect>
                                  </p:childTnLst>
                                </p:cTn>
                              </p:par>
                              <p:par>
                                <p:cTn id="157" presetID="22" presetClass="entr" presetSubtype="1" fill="hold" grpId="0" nodeType="withEffect">
                                  <p:stCondLst>
                                    <p:cond delay="0"/>
                                  </p:stCondLst>
                                  <p:childTnLst>
                                    <p:set>
                                      <p:cBhvr>
                                        <p:cTn id="158" dur="1" fill="hold">
                                          <p:stCondLst>
                                            <p:cond delay="0"/>
                                          </p:stCondLst>
                                        </p:cTn>
                                        <p:tgtEl>
                                          <p:spTgt spid="83"/>
                                        </p:tgtEl>
                                        <p:attrNameLst>
                                          <p:attrName>style.visibility</p:attrName>
                                        </p:attrNameLst>
                                      </p:cBhvr>
                                      <p:to>
                                        <p:strVal val="visible"/>
                                      </p:to>
                                    </p:set>
                                    <p:animEffect transition="in" filter="wipe(up)">
                                      <p:cBhvr>
                                        <p:cTn id="159" dur="500"/>
                                        <p:tgtEl>
                                          <p:spTgt spid="83"/>
                                        </p:tgtEl>
                                      </p:cBhvr>
                                    </p:animEffect>
                                  </p:childTnLst>
                                </p:cTn>
                              </p:par>
                              <p:par>
                                <p:cTn id="160" presetID="22" presetClass="entr" presetSubtype="1" fill="hold" grpId="0" nodeType="withEffect">
                                  <p:stCondLst>
                                    <p:cond delay="0"/>
                                  </p:stCondLst>
                                  <p:childTnLst>
                                    <p:set>
                                      <p:cBhvr>
                                        <p:cTn id="161" dur="1" fill="hold">
                                          <p:stCondLst>
                                            <p:cond delay="0"/>
                                          </p:stCondLst>
                                        </p:cTn>
                                        <p:tgtEl>
                                          <p:spTgt spid="84"/>
                                        </p:tgtEl>
                                        <p:attrNameLst>
                                          <p:attrName>style.visibility</p:attrName>
                                        </p:attrNameLst>
                                      </p:cBhvr>
                                      <p:to>
                                        <p:strVal val="visible"/>
                                      </p:to>
                                    </p:set>
                                    <p:animEffect transition="in" filter="wipe(up)">
                                      <p:cBhvr>
                                        <p:cTn id="162" dur="500"/>
                                        <p:tgtEl>
                                          <p:spTgt spid="84"/>
                                        </p:tgtEl>
                                      </p:cBhvr>
                                    </p:animEffect>
                                  </p:childTnLst>
                                </p:cTn>
                              </p:par>
                              <p:par>
                                <p:cTn id="163" presetID="22" presetClass="entr" presetSubtype="1" fill="hold" grpId="0" nodeType="withEffect">
                                  <p:stCondLst>
                                    <p:cond delay="0"/>
                                  </p:stCondLst>
                                  <p:childTnLst>
                                    <p:set>
                                      <p:cBhvr>
                                        <p:cTn id="164" dur="1" fill="hold">
                                          <p:stCondLst>
                                            <p:cond delay="0"/>
                                          </p:stCondLst>
                                        </p:cTn>
                                        <p:tgtEl>
                                          <p:spTgt spid="114"/>
                                        </p:tgtEl>
                                        <p:attrNameLst>
                                          <p:attrName>style.visibility</p:attrName>
                                        </p:attrNameLst>
                                      </p:cBhvr>
                                      <p:to>
                                        <p:strVal val="visible"/>
                                      </p:to>
                                    </p:set>
                                    <p:animEffect transition="in" filter="wipe(up)">
                                      <p:cBhvr>
                                        <p:cTn id="165" dur="500"/>
                                        <p:tgtEl>
                                          <p:spTgt spid="114"/>
                                        </p:tgtEl>
                                      </p:cBhvr>
                                    </p:animEffect>
                                  </p:childTnLst>
                                </p:cTn>
                              </p:par>
                              <p:par>
                                <p:cTn id="166" presetID="22" presetClass="entr" presetSubtype="1" fill="hold" grpId="0" nodeType="withEffect">
                                  <p:stCondLst>
                                    <p:cond delay="0"/>
                                  </p:stCondLst>
                                  <p:childTnLst>
                                    <p:set>
                                      <p:cBhvr>
                                        <p:cTn id="167" dur="1" fill="hold">
                                          <p:stCondLst>
                                            <p:cond delay="0"/>
                                          </p:stCondLst>
                                        </p:cTn>
                                        <p:tgtEl>
                                          <p:spTgt spid="115"/>
                                        </p:tgtEl>
                                        <p:attrNameLst>
                                          <p:attrName>style.visibility</p:attrName>
                                        </p:attrNameLst>
                                      </p:cBhvr>
                                      <p:to>
                                        <p:strVal val="visible"/>
                                      </p:to>
                                    </p:set>
                                    <p:animEffect transition="in" filter="wipe(up)">
                                      <p:cBhvr>
                                        <p:cTn id="168" dur="500"/>
                                        <p:tgtEl>
                                          <p:spTgt spid="115"/>
                                        </p:tgtEl>
                                      </p:cBhvr>
                                    </p:animEffec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107"/>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2" presetClass="entr" presetSubtype="2" fill="hold" grpId="0" nodeType="clickEffect">
                                  <p:stCondLst>
                                    <p:cond delay="0"/>
                                  </p:stCondLst>
                                  <p:childTnLst>
                                    <p:set>
                                      <p:cBhvr>
                                        <p:cTn id="178" dur="1" fill="hold">
                                          <p:stCondLst>
                                            <p:cond delay="0"/>
                                          </p:stCondLst>
                                        </p:cTn>
                                        <p:tgtEl>
                                          <p:spTgt spid="116"/>
                                        </p:tgtEl>
                                        <p:attrNameLst>
                                          <p:attrName>style.visibility</p:attrName>
                                        </p:attrNameLst>
                                      </p:cBhvr>
                                      <p:to>
                                        <p:strVal val="visible"/>
                                      </p:to>
                                    </p:set>
                                    <p:anim calcmode="lin" valueType="num">
                                      <p:cBhvr additive="base">
                                        <p:cTn id="179" dur="500" fill="hold"/>
                                        <p:tgtEl>
                                          <p:spTgt spid="116"/>
                                        </p:tgtEl>
                                        <p:attrNameLst>
                                          <p:attrName>ppt_x</p:attrName>
                                        </p:attrNameLst>
                                      </p:cBhvr>
                                      <p:tavLst>
                                        <p:tav tm="0">
                                          <p:val>
                                            <p:strVal val="1+#ppt_w/2"/>
                                          </p:val>
                                        </p:tav>
                                        <p:tav tm="100000">
                                          <p:val>
                                            <p:strVal val="#ppt_x"/>
                                          </p:val>
                                        </p:tav>
                                      </p:tavLst>
                                    </p:anim>
                                    <p:anim calcmode="lin" valueType="num">
                                      <p:cBhvr additive="base">
                                        <p:cTn id="180" dur="500" fill="hold"/>
                                        <p:tgtEl>
                                          <p:spTgt spid="116"/>
                                        </p:tgtEl>
                                        <p:attrNameLst>
                                          <p:attrName>ppt_y</p:attrName>
                                        </p:attrNameLst>
                                      </p:cBhvr>
                                      <p:tavLst>
                                        <p:tav tm="0">
                                          <p:val>
                                            <p:strVal val="#ppt_y"/>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presetID="8" presetClass="entr" presetSubtype="32" fill="hold" grpId="0" nodeType="clickEffect">
                                  <p:stCondLst>
                                    <p:cond delay="0"/>
                                  </p:stCondLst>
                                  <p:childTnLst>
                                    <p:set>
                                      <p:cBhvr>
                                        <p:cTn id="184" dur="1" fill="hold">
                                          <p:stCondLst>
                                            <p:cond delay="0"/>
                                          </p:stCondLst>
                                        </p:cTn>
                                        <p:tgtEl>
                                          <p:spTgt spid="117"/>
                                        </p:tgtEl>
                                        <p:attrNameLst>
                                          <p:attrName>style.visibility</p:attrName>
                                        </p:attrNameLst>
                                      </p:cBhvr>
                                      <p:to>
                                        <p:strVal val="visible"/>
                                      </p:to>
                                    </p:set>
                                    <p:animEffect transition="in" filter="diamond(out)">
                                      <p:cBhvr>
                                        <p:cTn id="185" dur="500"/>
                                        <p:tgtEl>
                                          <p:spTgt spid="117"/>
                                        </p:tgtEl>
                                      </p:cBhvr>
                                    </p:animEffect>
                                  </p:childTnLst>
                                </p:cTn>
                              </p:par>
                            </p:childTnLst>
                          </p:cTn>
                        </p:par>
                      </p:childTnLst>
                    </p:cTn>
                  </p:par>
                  <p:par>
                    <p:cTn id="186" fill="hold">
                      <p:stCondLst>
                        <p:cond delay="indefinite"/>
                      </p:stCondLst>
                      <p:childTnLst>
                        <p:par>
                          <p:cTn id="187" fill="hold">
                            <p:stCondLst>
                              <p:cond delay="0"/>
                            </p:stCondLst>
                            <p:childTnLst>
                              <p:par>
                                <p:cTn id="188" presetID="2" presetClass="entr" presetSubtype="4" fill="hold" grpId="0" nodeType="clickEffect">
                                  <p:stCondLst>
                                    <p:cond delay="0"/>
                                  </p:stCondLst>
                                  <p:childTnLst>
                                    <p:set>
                                      <p:cBhvr>
                                        <p:cTn id="189" dur="1" fill="hold">
                                          <p:stCondLst>
                                            <p:cond delay="0"/>
                                          </p:stCondLst>
                                        </p:cTn>
                                        <p:tgtEl>
                                          <p:spTgt spid="118"/>
                                        </p:tgtEl>
                                        <p:attrNameLst>
                                          <p:attrName>style.visibility</p:attrName>
                                        </p:attrNameLst>
                                      </p:cBhvr>
                                      <p:to>
                                        <p:strVal val="visible"/>
                                      </p:to>
                                    </p:set>
                                    <p:anim calcmode="lin" valueType="num">
                                      <p:cBhvr additive="base">
                                        <p:cTn id="190" dur="500" fill="hold"/>
                                        <p:tgtEl>
                                          <p:spTgt spid="118"/>
                                        </p:tgtEl>
                                        <p:attrNameLst>
                                          <p:attrName>ppt_x</p:attrName>
                                        </p:attrNameLst>
                                      </p:cBhvr>
                                      <p:tavLst>
                                        <p:tav tm="0">
                                          <p:val>
                                            <p:strVal val="#ppt_x"/>
                                          </p:val>
                                        </p:tav>
                                        <p:tav tm="100000">
                                          <p:val>
                                            <p:strVal val="#ppt_x"/>
                                          </p:val>
                                        </p:tav>
                                      </p:tavLst>
                                    </p:anim>
                                    <p:anim calcmode="lin" valueType="num">
                                      <p:cBhvr additive="base">
                                        <p:cTn id="191" dur="500" fill="hold"/>
                                        <p:tgtEl>
                                          <p:spTgt spid="1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p:bldP spid="91" grpId="0"/>
      <p:bldP spid="92" grpId="0"/>
      <p:bldP spid="93" grpId="0"/>
      <p:bldP spid="94" grpId="0"/>
      <p:bldP spid="95" grpId="0"/>
      <p:bldP spid="96" grpId="0"/>
      <p:bldP spid="97" grpId="0"/>
      <p:bldP spid="98" grpId="0"/>
      <p:bldP spid="99" grpId="0" animBg="1"/>
      <p:bldP spid="100" grpId="0"/>
      <p:bldP spid="101" grpId="0" animBg="1"/>
      <p:bldP spid="102" grpId="0"/>
      <p:bldP spid="103" grpId="0" animBg="1"/>
      <p:bldP spid="104" grpId="0"/>
      <p:bldP spid="105" grpId="0"/>
      <p:bldP spid="106" grpId="0" animBg="1"/>
      <p:bldP spid="107" grpId="0"/>
      <p:bldP spid="108" grpId="0"/>
      <p:bldP spid="109" grpId="0"/>
      <p:bldP spid="110" grpId="0"/>
      <p:bldP spid="111" grpId="0"/>
      <p:bldP spid="112" grpId="0"/>
      <p:bldP spid="113" grpId="0"/>
      <p:bldP spid="114" grpId="0"/>
      <p:bldP spid="115" grpId="0"/>
      <p:bldP spid="116" grpId="0"/>
      <p:bldP spid="117" grpId="0" animBg="1"/>
      <p:bldP spid="11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矩形 2"/>
          <p:cNvSpPr>
            <a:spLocks noChangeArrowheads="1"/>
          </p:cNvSpPr>
          <p:nvPr/>
        </p:nvSpPr>
        <p:spPr bwMode="auto">
          <a:xfrm>
            <a:off x="292100" y="376238"/>
            <a:ext cx="45132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rPr>
              <a:t>背包问题</a:t>
            </a:r>
            <a:endParaRPr lang="zh-CN" altLang="en-US" sz="320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8371" name="灯片编号占位符 3"/>
          <p:cNvSpPr>
            <a:spLocks noGrp="1"/>
          </p:cNvSpPr>
          <p:nvPr>
            <p:ph type="sldNum" sz="quarter" idx="12"/>
          </p:nvPr>
        </p:nvSpPr>
        <p:spPr bwMode="auto">
          <a:xfrm>
            <a:off x="6731000" y="6443663"/>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spcBef>
                <a:spcPct val="50000"/>
              </a:spcBef>
            </a:pPr>
            <a:fld id="{939D6E80-D8D7-42CC-B6A4-C720F8DF9B33}" type="slidenum">
              <a:rPr lang="en-US" altLang="zh-CN" sz="1000" smtClean="0">
                <a:solidFill>
                  <a:srgbClr val="969696"/>
                </a:solidFill>
              </a:rPr>
            </a:fld>
            <a:endParaRPr lang="en-US" altLang="zh-CN" sz="1000" smtClean="0">
              <a:solidFill>
                <a:srgbClr val="969696"/>
              </a:solidFill>
            </a:endParaRPr>
          </a:p>
        </p:txBody>
      </p:sp>
      <p:sp>
        <p:nvSpPr>
          <p:cNvPr id="58372" name="Text Box 8"/>
          <p:cNvSpPr txBox="1">
            <a:spLocks noChangeArrowheads="1"/>
          </p:cNvSpPr>
          <p:nvPr/>
        </p:nvSpPr>
        <p:spPr bwMode="auto">
          <a:xfrm>
            <a:off x="4678363" y="2055813"/>
            <a:ext cx="1492250" cy="60483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=0,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=0</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=76 </a:t>
            </a: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=65</a:t>
            </a:r>
            <a:endParaRPr lang="en-US" altLang="zh-CN" sz="2000" b="1">
              <a:solidFill>
                <a:srgbClr val="000066"/>
              </a:solidFill>
              <a:latin typeface="Times New Roman" panose="02020603050405020304" pitchFamily="18" charset="0"/>
            </a:endParaRPr>
          </a:p>
        </p:txBody>
      </p:sp>
      <p:sp>
        <p:nvSpPr>
          <p:cNvPr id="58373" name="Line 9"/>
          <p:cNvSpPr>
            <a:spLocks noChangeShapeType="1"/>
          </p:cNvSpPr>
          <p:nvPr/>
        </p:nvSpPr>
        <p:spPr bwMode="auto">
          <a:xfrm flipV="1">
            <a:off x="4678363" y="2376488"/>
            <a:ext cx="14922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67" name="Line 10"/>
          <p:cNvSpPr>
            <a:spLocks noChangeShapeType="1"/>
          </p:cNvSpPr>
          <p:nvPr/>
        </p:nvSpPr>
        <p:spPr bwMode="auto">
          <a:xfrm flipH="1">
            <a:off x="3411538" y="2663825"/>
            <a:ext cx="1609725" cy="4000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68" name="Line 11"/>
          <p:cNvSpPr>
            <a:spLocks noChangeShapeType="1"/>
          </p:cNvSpPr>
          <p:nvPr/>
        </p:nvSpPr>
        <p:spPr bwMode="auto">
          <a:xfrm>
            <a:off x="5875338" y="2667000"/>
            <a:ext cx="1608137" cy="412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69" name="Text Box 12"/>
          <p:cNvSpPr txBox="1">
            <a:spLocks noChangeArrowheads="1"/>
          </p:cNvSpPr>
          <p:nvPr/>
        </p:nvSpPr>
        <p:spPr bwMode="auto">
          <a:xfrm>
            <a:off x="2230438" y="3073400"/>
            <a:ext cx="1525587" cy="6048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=4,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=40</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=69 </a:t>
            </a: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=65</a:t>
            </a:r>
            <a:endParaRPr lang="en-US" altLang="zh-CN" sz="2000" b="1">
              <a:solidFill>
                <a:srgbClr val="000066"/>
              </a:solidFill>
              <a:latin typeface="Times New Roman" panose="02020603050405020304" pitchFamily="18" charset="0"/>
            </a:endParaRPr>
          </a:p>
        </p:txBody>
      </p:sp>
      <p:sp>
        <p:nvSpPr>
          <p:cNvPr id="70" name="Line 13"/>
          <p:cNvSpPr>
            <a:spLocks noChangeShapeType="1"/>
          </p:cNvSpPr>
          <p:nvPr/>
        </p:nvSpPr>
        <p:spPr bwMode="auto">
          <a:xfrm flipV="1">
            <a:off x="2230438" y="3394075"/>
            <a:ext cx="1525587"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71" name="Text Box 14"/>
          <p:cNvSpPr txBox="1">
            <a:spLocks noChangeArrowheads="1"/>
          </p:cNvSpPr>
          <p:nvPr/>
        </p:nvSpPr>
        <p:spPr bwMode="auto">
          <a:xfrm>
            <a:off x="7126288" y="3073400"/>
            <a:ext cx="1525587" cy="9525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dirty="0">
                <a:solidFill>
                  <a:srgbClr val="000066"/>
                </a:solidFill>
                <a:latin typeface="Times New Roman" panose="02020603050405020304" pitchFamily="18" charset="0"/>
              </a:rPr>
              <a:t>w</a:t>
            </a:r>
            <a:r>
              <a:rPr lang="en-US" altLang="zh-CN" sz="2000" b="1" dirty="0">
                <a:solidFill>
                  <a:srgbClr val="000066"/>
                </a:solidFill>
                <a:latin typeface="Times New Roman" panose="02020603050405020304" pitchFamily="18" charset="0"/>
              </a:rPr>
              <a:t>=0, </a:t>
            </a:r>
            <a:r>
              <a:rPr lang="en-US" altLang="zh-CN" sz="2000" b="1" i="1" dirty="0">
                <a:solidFill>
                  <a:srgbClr val="000066"/>
                </a:solidFill>
                <a:latin typeface="Times New Roman" panose="02020603050405020304" pitchFamily="18" charset="0"/>
              </a:rPr>
              <a:t>v</a:t>
            </a:r>
            <a:r>
              <a:rPr lang="en-US" altLang="zh-CN" sz="2000" b="1" dirty="0">
                <a:solidFill>
                  <a:srgbClr val="000066"/>
                </a:solidFill>
                <a:latin typeface="Times New Roman" panose="02020603050405020304" pitchFamily="18" charset="0"/>
              </a:rPr>
              <a:t>=0</a:t>
            </a:r>
            <a:endParaRPr lang="en-US" altLang="zh-CN" sz="2000" b="1" dirty="0">
              <a:solidFill>
                <a:srgbClr val="000066"/>
              </a:solidFill>
              <a:latin typeface="Times New Roman" panose="02020603050405020304" pitchFamily="18" charset="0"/>
            </a:endParaRPr>
          </a:p>
          <a:p>
            <a:pPr algn="just" eaLnBrk="1" hangingPunct="1">
              <a:lnSpc>
                <a:spcPct val="96000"/>
              </a:lnSpc>
            </a:pPr>
            <a:r>
              <a:rPr lang="en-US" altLang="zh-CN" sz="2000" b="1" i="1" dirty="0" err="1" smtClean="0">
                <a:solidFill>
                  <a:srgbClr val="000066"/>
                </a:solidFill>
                <a:latin typeface="Times New Roman" panose="02020603050405020304" pitchFamily="18" charset="0"/>
              </a:rPr>
              <a:t>ub</a:t>
            </a:r>
            <a:r>
              <a:rPr lang="en-US" altLang="zh-CN" sz="2000" b="1" dirty="0" smtClean="0">
                <a:solidFill>
                  <a:srgbClr val="000066"/>
                </a:solidFill>
                <a:latin typeface="Times New Roman" panose="02020603050405020304" pitchFamily="18" charset="0"/>
              </a:rPr>
              <a:t>=57&lt;65</a:t>
            </a:r>
            <a:r>
              <a:rPr lang="en-US" altLang="zh-CN" sz="2000" b="1" dirty="0">
                <a:solidFill>
                  <a:srgbClr val="000066"/>
                </a:solidFill>
                <a:latin typeface="Times New Roman" panose="02020603050405020304" pitchFamily="18" charset="0"/>
              </a:rPr>
              <a:t>, </a:t>
            </a:r>
            <a:r>
              <a:rPr lang="zh-CN" altLang="en-US" sz="2000" b="1" dirty="0" smtClean="0">
                <a:solidFill>
                  <a:srgbClr val="FF0000"/>
                </a:solidFill>
                <a:latin typeface="Times New Roman" panose="02020603050405020304" pitchFamily="18" charset="0"/>
              </a:rPr>
              <a:t>剪枝</a:t>
            </a:r>
            <a:endParaRPr lang="en-US" altLang="zh-CN" sz="2000" b="1" dirty="0">
              <a:solidFill>
                <a:srgbClr val="FF0000"/>
              </a:solidFill>
              <a:latin typeface="Times New Roman" panose="02020603050405020304" pitchFamily="18" charset="0"/>
            </a:endParaRPr>
          </a:p>
        </p:txBody>
      </p:sp>
      <p:sp>
        <p:nvSpPr>
          <p:cNvPr id="72" name="Line 15"/>
          <p:cNvSpPr>
            <a:spLocks noChangeShapeType="1"/>
          </p:cNvSpPr>
          <p:nvPr/>
        </p:nvSpPr>
        <p:spPr bwMode="auto">
          <a:xfrm flipV="1">
            <a:off x="7126288" y="3394075"/>
            <a:ext cx="1525587"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73" name="Text Box 16"/>
          <p:cNvSpPr txBox="1">
            <a:spLocks noChangeArrowheads="1"/>
          </p:cNvSpPr>
          <p:nvPr/>
        </p:nvSpPr>
        <p:spPr bwMode="auto">
          <a:xfrm>
            <a:off x="436563" y="4187825"/>
            <a:ext cx="1524000" cy="6048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=11</a:t>
            </a:r>
            <a:endParaRPr lang="en-US" altLang="zh-CN" sz="2000" b="1">
              <a:solidFill>
                <a:srgbClr val="000066"/>
              </a:solidFill>
              <a:latin typeface="Times New Roman" panose="02020603050405020304" pitchFamily="18" charset="0"/>
            </a:endParaRPr>
          </a:p>
          <a:p>
            <a:pPr algn="just" eaLnBrk="1" hangingPunct="1">
              <a:lnSpc>
                <a:spcPct val="96000"/>
              </a:lnSpc>
            </a:pPr>
            <a:endParaRPr lang="zh-CN" altLang="en-US" sz="2000" b="1">
              <a:solidFill>
                <a:srgbClr val="000066"/>
              </a:solidFill>
              <a:latin typeface="Times New Roman" panose="02020603050405020304" pitchFamily="18" charset="0"/>
            </a:endParaRPr>
          </a:p>
        </p:txBody>
      </p:sp>
      <p:sp>
        <p:nvSpPr>
          <p:cNvPr id="74" name="Line 17"/>
          <p:cNvSpPr>
            <a:spLocks noChangeShapeType="1"/>
          </p:cNvSpPr>
          <p:nvPr/>
        </p:nvSpPr>
        <p:spPr bwMode="auto">
          <a:xfrm flipV="1">
            <a:off x="436563" y="4506913"/>
            <a:ext cx="1524000" cy="31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75" name="Text Box 18"/>
          <p:cNvSpPr txBox="1">
            <a:spLocks noChangeArrowheads="1"/>
          </p:cNvSpPr>
          <p:nvPr/>
        </p:nvSpPr>
        <p:spPr bwMode="auto">
          <a:xfrm>
            <a:off x="4052888" y="4197350"/>
            <a:ext cx="1527175" cy="6048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=4,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=40</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=69</a:t>
            </a: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=65</a:t>
            </a:r>
            <a:endParaRPr lang="en-US" altLang="zh-CN" sz="2000" b="1">
              <a:solidFill>
                <a:srgbClr val="000066"/>
              </a:solidFill>
              <a:latin typeface="Times New Roman" panose="02020603050405020304" pitchFamily="18" charset="0"/>
            </a:endParaRPr>
          </a:p>
          <a:p>
            <a:pPr algn="just" eaLnBrk="1" hangingPunct="1">
              <a:lnSpc>
                <a:spcPct val="96000"/>
              </a:lnSpc>
            </a:pPr>
            <a:endParaRPr lang="en-US" altLang="zh-CN" sz="2000" b="1">
              <a:solidFill>
                <a:srgbClr val="000066"/>
              </a:solidFill>
              <a:latin typeface="Times New Roman" panose="02020603050405020304" pitchFamily="18" charset="0"/>
            </a:endParaRPr>
          </a:p>
        </p:txBody>
      </p:sp>
      <p:sp>
        <p:nvSpPr>
          <p:cNvPr id="76" name="Line 19"/>
          <p:cNvSpPr>
            <a:spLocks noChangeShapeType="1"/>
          </p:cNvSpPr>
          <p:nvPr/>
        </p:nvSpPr>
        <p:spPr bwMode="auto">
          <a:xfrm flipV="1">
            <a:off x="4052888" y="4516438"/>
            <a:ext cx="1527175" cy="31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77" name="Text Box 20"/>
          <p:cNvSpPr txBox="1">
            <a:spLocks noChangeArrowheads="1"/>
          </p:cNvSpPr>
          <p:nvPr/>
        </p:nvSpPr>
        <p:spPr bwMode="auto">
          <a:xfrm>
            <a:off x="2525713" y="5308600"/>
            <a:ext cx="1525587" cy="6048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=9,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=65</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=65 </a:t>
            </a: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=65</a:t>
            </a:r>
            <a:endParaRPr lang="en-US" altLang="zh-CN" sz="2000" b="1">
              <a:solidFill>
                <a:srgbClr val="000066"/>
              </a:solidFill>
              <a:latin typeface="Times New Roman" panose="02020603050405020304" pitchFamily="18" charset="0"/>
            </a:endParaRPr>
          </a:p>
        </p:txBody>
      </p:sp>
      <p:sp>
        <p:nvSpPr>
          <p:cNvPr id="78" name="Line 21"/>
          <p:cNvSpPr>
            <a:spLocks noChangeShapeType="1"/>
          </p:cNvSpPr>
          <p:nvPr/>
        </p:nvSpPr>
        <p:spPr bwMode="auto">
          <a:xfrm flipV="1">
            <a:off x="2525713" y="5629275"/>
            <a:ext cx="1525587"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79" name="Text Box 22"/>
          <p:cNvSpPr txBox="1">
            <a:spLocks noChangeArrowheads="1"/>
          </p:cNvSpPr>
          <p:nvPr/>
        </p:nvSpPr>
        <p:spPr bwMode="auto">
          <a:xfrm>
            <a:off x="5583238" y="5321300"/>
            <a:ext cx="1625600" cy="8905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lIns="144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w</a:t>
            </a:r>
            <a:r>
              <a:rPr lang="en-US" altLang="zh-CN" sz="2000" b="1">
                <a:solidFill>
                  <a:srgbClr val="000066"/>
                </a:solidFill>
                <a:latin typeface="Times New Roman" panose="02020603050405020304" pitchFamily="18" charset="0"/>
              </a:rPr>
              <a:t>=4, </a:t>
            </a:r>
            <a:r>
              <a:rPr lang="en-US" altLang="zh-CN" sz="2000" b="1" i="1">
                <a:solidFill>
                  <a:srgbClr val="000066"/>
                </a:solidFill>
                <a:latin typeface="Times New Roman" panose="02020603050405020304" pitchFamily="18" charset="0"/>
              </a:rPr>
              <a:t>v</a:t>
            </a:r>
            <a:r>
              <a:rPr lang="en-US" altLang="zh-CN" sz="2000" b="1">
                <a:solidFill>
                  <a:srgbClr val="000066"/>
                </a:solidFill>
                <a:latin typeface="Times New Roman" panose="02020603050405020304" pitchFamily="18" charset="0"/>
              </a:rPr>
              <a:t>=40</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ub</a:t>
            </a:r>
            <a:r>
              <a:rPr lang="en-US" altLang="zh-CN" sz="2000" b="1">
                <a:solidFill>
                  <a:srgbClr val="000066"/>
                </a:solidFill>
                <a:latin typeface="Times New Roman" panose="02020603050405020304" pitchFamily="18" charset="0"/>
              </a:rPr>
              <a:t>=64 &lt; </a:t>
            </a:r>
            <a:r>
              <a:rPr lang="en-US" altLang="zh-CN" sz="2000" b="1" i="1">
                <a:solidFill>
                  <a:srgbClr val="000066"/>
                </a:solidFill>
                <a:latin typeface="Times New Roman" panose="02020603050405020304" pitchFamily="18" charset="0"/>
              </a:rPr>
              <a:t>lb </a:t>
            </a:r>
            <a:r>
              <a:rPr lang="en-US" altLang="zh-CN" sz="2000" b="1">
                <a:solidFill>
                  <a:srgbClr val="000066"/>
                </a:solidFill>
                <a:latin typeface="Times New Roman" panose="02020603050405020304" pitchFamily="18" charset="0"/>
              </a:rPr>
              <a:t>= 65, </a:t>
            </a:r>
            <a:r>
              <a:rPr lang="zh-CN" altLang="en-US" sz="2000" b="1">
                <a:solidFill>
                  <a:srgbClr val="FF0000"/>
                </a:solidFill>
                <a:latin typeface="Times New Roman" panose="02020603050405020304" pitchFamily="18" charset="0"/>
              </a:rPr>
              <a:t>剪枝</a:t>
            </a:r>
            <a:endParaRPr lang="en-US" altLang="zh-CN" sz="2000" b="1">
              <a:solidFill>
                <a:srgbClr val="000066"/>
              </a:solidFill>
              <a:latin typeface="Times New Roman" panose="02020603050405020304" pitchFamily="18" charset="0"/>
            </a:endParaRPr>
          </a:p>
        </p:txBody>
      </p:sp>
      <p:sp>
        <p:nvSpPr>
          <p:cNvPr id="80" name="Line 23"/>
          <p:cNvSpPr>
            <a:spLocks noChangeShapeType="1"/>
          </p:cNvSpPr>
          <p:nvPr/>
        </p:nvSpPr>
        <p:spPr bwMode="auto">
          <a:xfrm flipV="1">
            <a:off x="5583238" y="5640388"/>
            <a:ext cx="152400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85" name="Line 28"/>
          <p:cNvSpPr>
            <a:spLocks noChangeShapeType="1"/>
          </p:cNvSpPr>
          <p:nvPr/>
        </p:nvSpPr>
        <p:spPr bwMode="auto">
          <a:xfrm flipH="1">
            <a:off x="1617663" y="3678238"/>
            <a:ext cx="987425" cy="5159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86" name="Line 29"/>
          <p:cNvSpPr>
            <a:spLocks noChangeShapeType="1"/>
          </p:cNvSpPr>
          <p:nvPr/>
        </p:nvSpPr>
        <p:spPr bwMode="auto">
          <a:xfrm>
            <a:off x="3427413" y="3686175"/>
            <a:ext cx="892175" cy="4984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87" name="Line 30"/>
          <p:cNvSpPr>
            <a:spLocks noChangeShapeType="1"/>
          </p:cNvSpPr>
          <p:nvPr/>
        </p:nvSpPr>
        <p:spPr bwMode="auto">
          <a:xfrm>
            <a:off x="5267325" y="4805363"/>
            <a:ext cx="892175" cy="5159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90" name="Text Box 33"/>
          <p:cNvSpPr txBox="1">
            <a:spLocks noChangeArrowheads="1"/>
          </p:cNvSpPr>
          <p:nvPr/>
        </p:nvSpPr>
        <p:spPr bwMode="auto">
          <a:xfrm>
            <a:off x="2560638" y="2797175"/>
            <a:ext cx="185737"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2</a:t>
            </a:r>
            <a:endParaRPr lang="en-US" altLang="zh-CN" sz="2000" b="1">
              <a:solidFill>
                <a:srgbClr val="000066"/>
              </a:solidFill>
              <a:latin typeface="Times New Roman" panose="02020603050405020304" pitchFamily="18" charset="0"/>
            </a:endParaRPr>
          </a:p>
        </p:txBody>
      </p:sp>
      <p:sp>
        <p:nvSpPr>
          <p:cNvPr id="91" name="Text Box 34"/>
          <p:cNvSpPr txBox="1">
            <a:spLocks noChangeArrowheads="1"/>
          </p:cNvSpPr>
          <p:nvPr/>
        </p:nvSpPr>
        <p:spPr bwMode="auto">
          <a:xfrm>
            <a:off x="7627938" y="2806700"/>
            <a:ext cx="18891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3</a:t>
            </a:r>
            <a:endParaRPr lang="en-US" altLang="zh-CN" sz="2000" b="1">
              <a:solidFill>
                <a:srgbClr val="000066"/>
              </a:solidFill>
              <a:latin typeface="Times New Roman" panose="02020603050405020304" pitchFamily="18" charset="0"/>
            </a:endParaRPr>
          </a:p>
        </p:txBody>
      </p:sp>
      <p:sp>
        <p:nvSpPr>
          <p:cNvPr id="92" name="Text Box 35"/>
          <p:cNvSpPr txBox="1">
            <a:spLocks noChangeArrowheads="1"/>
          </p:cNvSpPr>
          <p:nvPr/>
        </p:nvSpPr>
        <p:spPr bwMode="auto">
          <a:xfrm>
            <a:off x="531813" y="3905250"/>
            <a:ext cx="188912"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4</a:t>
            </a:r>
            <a:endParaRPr lang="en-US" altLang="zh-CN" sz="2000" b="1">
              <a:solidFill>
                <a:srgbClr val="000066"/>
              </a:solidFill>
              <a:latin typeface="Times New Roman" panose="02020603050405020304" pitchFamily="18" charset="0"/>
            </a:endParaRPr>
          </a:p>
        </p:txBody>
      </p:sp>
      <p:sp>
        <p:nvSpPr>
          <p:cNvPr id="93" name="Text Box 36"/>
          <p:cNvSpPr txBox="1">
            <a:spLocks noChangeArrowheads="1"/>
          </p:cNvSpPr>
          <p:nvPr/>
        </p:nvSpPr>
        <p:spPr bwMode="auto">
          <a:xfrm>
            <a:off x="4508500" y="3927475"/>
            <a:ext cx="188913"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5</a:t>
            </a:r>
            <a:endParaRPr lang="en-US" altLang="zh-CN" sz="2000" b="1">
              <a:solidFill>
                <a:srgbClr val="000066"/>
              </a:solidFill>
              <a:latin typeface="Times New Roman" panose="02020603050405020304" pitchFamily="18" charset="0"/>
            </a:endParaRPr>
          </a:p>
        </p:txBody>
      </p:sp>
      <p:sp>
        <p:nvSpPr>
          <p:cNvPr id="94" name="Text Box 37"/>
          <p:cNvSpPr txBox="1">
            <a:spLocks noChangeArrowheads="1"/>
          </p:cNvSpPr>
          <p:nvPr/>
        </p:nvSpPr>
        <p:spPr bwMode="auto">
          <a:xfrm>
            <a:off x="2732088" y="5024438"/>
            <a:ext cx="1873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6</a:t>
            </a:r>
            <a:endParaRPr lang="en-US" altLang="zh-CN" sz="2000" b="1">
              <a:solidFill>
                <a:srgbClr val="000066"/>
              </a:solidFill>
              <a:latin typeface="Times New Roman" panose="02020603050405020304" pitchFamily="18" charset="0"/>
            </a:endParaRPr>
          </a:p>
        </p:txBody>
      </p:sp>
      <p:sp>
        <p:nvSpPr>
          <p:cNvPr id="95" name="Text Box 38"/>
          <p:cNvSpPr txBox="1">
            <a:spLocks noChangeArrowheads="1"/>
          </p:cNvSpPr>
          <p:nvPr/>
        </p:nvSpPr>
        <p:spPr bwMode="auto">
          <a:xfrm>
            <a:off x="6256338" y="5059363"/>
            <a:ext cx="185737"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7</a:t>
            </a:r>
            <a:endParaRPr lang="en-US" altLang="zh-CN" sz="2000" b="1">
              <a:solidFill>
                <a:srgbClr val="000066"/>
              </a:solidFill>
              <a:latin typeface="Times New Roman" panose="02020603050405020304" pitchFamily="18" charset="0"/>
            </a:endParaRPr>
          </a:p>
        </p:txBody>
      </p:sp>
      <p:sp>
        <p:nvSpPr>
          <p:cNvPr id="98" name="Text Box 41"/>
          <p:cNvSpPr txBox="1">
            <a:spLocks noChangeArrowheads="1"/>
          </p:cNvSpPr>
          <p:nvPr/>
        </p:nvSpPr>
        <p:spPr bwMode="auto">
          <a:xfrm>
            <a:off x="1189038" y="3905250"/>
            <a:ext cx="265112"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4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D60093"/>
                </a:solidFill>
                <a:latin typeface="Times New Roman" panose="02020603050405020304" pitchFamily="18" charset="0"/>
              </a:rPr>
              <a:t>×</a:t>
            </a:r>
            <a:endParaRPr lang="en-US" altLang="zh-CN" sz="2000" b="1">
              <a:solidFill>
                <a:srgbClr val="D60093"/>
              </a:solidFill>
              <a:latin typeface="Times New Roman" panose="02020603050405020304" pitchFamily="18" charset="0"/>
            </a:endParaRPr>
          </a:p>
        </p:txBody>
      </p:sp>
      <p:sp>
        <p:nvSpPr>
          <p:cNvPr id="99" name="Line 43"/>
          <p:cNvSpPr>
            <a:spLocks noChangeShapeType="1"/>
          </p:cNvSpPr>
          <p:nvPr/>
        </p:nvSpPr>
        <p:spPr bwMode="auto">
          <a:xfrm flipH="1">
            <a:off x="3411538" y="4802188"/>
            <a:ext cx="985837" cy="5159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144000"/>
          <a:lstStyle/>
          <a:p>
            <a:endParaRPr lang="zh-CN" altLang="en-US"/>
          </a:p>
        </p:txBody>
      </p:sp>
      <p:sp>
        <p:nvSpPr>
          <p:cNvPr id="100" name="Text Box 44"/>
          <p:cNvSpPr txBox="1">
            <a:spLocks noChangeArrowheads="1"/>
          </p:cNvSpPr>
          <p:nvPr/>
        </p:nvSpPr>
        <p:spPr bwMode="auto">
          <a:xfrm>
            <a:off x="863600" y="3135313"/>
            <a:ext cx="989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PT={2}</a:t>
            </a:r>
            <a:endParaRPr lang="en-US" altLang="zh-CN" sz="2000" b="1">
              <a:solidFill>
                <a:srgbClr val="0000FF"/>
              </a:solidFill>
              <a:latin typeface="Times New Roman" panose="02020603050405020304" pitchFamily="18" charset="0"/>
            </a:endParaRPr>
          </a:p>
        </p:txBody>
      </p:sp>
      <p:sp>
        <p:nvSpPr>
          <p:cNvPr id="101" name="Rectangle 45"/>
          <p:cNvSpPr>
            <a:spLocks noChangeArrowheads="1"/>
          </p:cNvSpPr>
          <p:nvPr/>
        </p:nvSpPr>
        <p:spPr bwMode="auto">
          <a:xfrm>
            <a:off x="2222500" y="3063875"/>
            <a:ext cx="1543050" cy="615950"/>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02" name="Text Box 46"/>
          <p:cNvSpPr txBox="1">
            <a:spLocks noChangeArrowheads="1"/>
          </p:cNvSpPr>
          <p:nvPr/>
        </p:nvSpPr>
        <p:spPr bwMode="auto">
          <a:xfrm>
            <a:off x="500063" y="4430713"/>
            <a:ext cx="1095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D60093"/>
                </a:solidFill>
              </a:rPr>
              <a:t>无效解</a:t>
            </a:r>
            <a:endParaRPr lang="zh-CN" altLang="en-US" sz="2000" b="1">
              <a:solidFill>
                <a:srgbClr val="D60093"/>
              </a:solidFill>
            </a:endParaRPr>
          </a:p>
        </p:txBody>
      </p:sp>
      <p:sp>
        <p:nvSpPr>
          <p:cNvPr id="103" name="Rectangle 47"/>
          <p:cNvSpPr>
            <a:spLocks noChangeArrowheads="1"/>
          </p:cNvSpPr>
          <p:nvPr/>
        </p:nvSpPr>
        <p:spPr bwMode="auto">
          <a:xfrm>
            <a:off x="4062413" y="4203700"/>
            <a:ext cx="1543050" cy="615950"/>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04" name="Text Box 48"/>
          <p:cNvSpPr txBox="1">
            <a:spLocks noChangeArrowheads="1"/>
          </p:cNvSpPr>
          <p:nvPr/>
        </p:nvSpPr>
        <p:spPr bwMode="auto">
          <a:xfrm>
            <a:off x="5753100" y="4322763"/>
            <a:ext cx="989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PT={5}</a:t>
            </a:r>
            <a:endParaRPr lang="en-US" altLang="zh-CN" sz="2000" b="1">
              <a:solidFill>
                <a:srgbClr val="0000FF"/>
              </a:solidFill>
              <a:latin typeface="Times New Roman" panose="02020603050405020304" pitchFamily="18" charset="0"/>
            </a:endParaRPr>
          </a:p>
        </p:txBody>
      </p:sp>
      <p:sp>
        <p:nvSpPr>
          <p:cNvPr id="105" name="Text Box 49"/>
          <p:cNvSpPr txBox="1">
            <a:spLocks noChangeArrowheads="1"/>
          </p:cNvSpPr>
          <p:nvPr/>
        </p:nvSpPr>
        <p:spPr bwMode="auto">
          <a:xfrm>
            <a:off x="933450" y="5408613"/>
            <a:ext cx="989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PT={6}</a:t>
            </a:r>
            <a:endParaRPr lang="en-US" altLang="zh-CN" sz="2000" b="1">
              <a:solidFill>
                <a:srgbClr val="0000FF"/>
              </a:solidFill>
              <a:latin typeface="Times New Roman" panose="02020603050405020304" pitchFamily="18" charset="0"/>
            </a:endParaRPr>
          </a:p>
        </p:txBody>
      </p:sp>
      <p:sp>
        <p:nvSpPr>
          <p:cNvPr id="106" name="Rectangle 50"/>
          <p:cNvSpPr>
            <a:spLocks noChangeArrowheads="1"/>
          </p:cNvSpPr>
          <p:nvPr/>
        </p:nvSpPr>
        <p:spPr bwMode="auto">
          <a:xfrm>
            <a:off x="2532063" y="5295900"/>
            <a:ext cx="1543050" cy="615950"/>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08" name="Text Box 52"/>
          <p:cNvSpPr txBox="1">
            <a:spLocks noChangeArrowheads="1"/>
          </p:cNvSpPr>
          <p:nvPr/>
        </p:nvSpPr>
        <p:spPr bwMode="auto">
          <a:xfrm>
            <a:off x="3590925" y="2559050"/>
            <a:ext cx="619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1</a:t>
            </a:r>
            <a:r>
              <a:rPr lang="en-US" altLang="zh-CN" b="1">
                <a:solidFill>
                  <a:srgbClr val="000066"/>
                </a:solidFill>
                <a:latin typeface="Times New Roman" panose="02020603050405020304" pitchFamily="18" charset="0"/>
              </a:rPr>
              <a:t>=1</a:t>
            </a:r>
            <a:endParaRPr lang="en-US" altLang="zh-CN" b="1">
              <a:solidFill>
                <a:srgbClr val="000066"/>
              </a:solidFill>
              <a:latin typeface="Times New Roman" panose="02020603050405020304" pitchFamily="18" charset="0"/>
            </a:endParaRPr>
          </a:p>
        </p:txBody>
      </p:sp>
      <p:sp>
        <p:nvSpPr>
          <p:cNvPr id="109" name="Text Box 53"/>
          <p:cNvSpPr txBox="1">
            <a:spLocks noChangeArrowheads="1"/>
          </p:cNvSpPr>
          <p:nvPr/>
        </p:nvSpPr>
        <p:spPr bwMode="auto">
          <a:xfrm>
            <a:off x="6592888" y="2559050"/>
            <a:ext cx="619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1</a:t>
            </a:r>
            <a:r>
              <a:rPr lang="en-US" altLang="zh-CN" b="1">
                <a:solidFill>
                  <a:srgbClr val="000066"/>
                </a:solidFill>
                <a:latin typeface="Times New Roman" panose="02020603050405020304" pitchFamily="18" charset="0"/>
              </a:rPr>
              <a:t>=0</a:t>
            </a:r>
            <a:endParaRPr lang="en-US" altLang="zh-CN" b="1">
              <a:solidFill>
                <a:srgbClr val="000066"/>
              </a:solidFill>
              <a:latin typeface="Times New Roman" panose="02020603050405020304" pitchFamily="18" charset="0"/>
            </a:endParaRPr>
          </a:p>
        </p:txBody>
      </p:sp>
      <p:sp>
        <p:nvSpPr>
          <p:cNvPr id="110" name="Text Box 54"/>
          <p:cNvSpPr txBox="1">
            <a:spLocks noChangeArrowheads="1"/>
          </p:cNvSpPr>
          <p:nvPr/>
        </p:nvSpPr>
        <p:spPr bwMode="auto">
          <a:xfrm>
            <a:off x="1552575" y="3638550"/>
            <a:ext cx="619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2</a:t>
            </a:r>
            <a:r>
              <a:rPr lang="en-US" altLang="zh-CN" b="1">
                <a:solidFill>
                  <a:srgbClr val="000066"/>
                </a:solidFill>
                <a:latin typeface="Times New Roman" panose="02020603050405020304" pitchFamily="18" charset="0"/>
              </a:rPr>
              <a:t>=1</a:t>
            </a:r>
            <a:endParaRPr lang="en-US" altLang="zh-CN" b="1">
              <a:solidFill>
                <a:srgbClr val="000066"/>
              </a:solidFill>
              <a:latin typeface="Times New Roman" panose="02020603050405020304" pitchFamily="18" charset="0"/>
            </a:endParaRPr>
          </a:p>
        </p:txBody>
      </p:sp>
      <p:sp>
        <p:nvSpPr>
          <p:cNvPr id="111" name="Text Box 55"/>
          <p:cNvSpPr txBox="1">
            <a:spLocks noChangeArrowheads="1"/>
          </p:cNvSpPr>
          <p:nvPr/>
        </p:nvSpPr>
        <p:spPr bwMode="auto">
          <a:xfrm>
            <a:off x="3806825" y="3632200"/>
            <a:ext cx="619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2</a:t>
            </a:r>
            <a:r>
              <a:rPr lang="en-US" altLang="zh-CN" b="1">
                <a:solidFill>
                  <a:srgbClr val="000066"/>
                </a:solidFill>
                <a:latin typeface="Times New Roman" panose="02020603050405020304" pitchFamily="18" charset="0"/>
              </a:rPr>
              <a:t>=0</a:t>
            </a:r>
            <a:endParaRPr lang="en-US" altLang="zh-CN" b="1">
              <a:solidFill>
                <a:srgbClr val="000066"/>
              </a:solidFill>
              <a:latin typeface="Times New Roman" panose="02020603050405020304" pitchFamily="18" charset="0"/>
            </a:endParaRPr>
          </a:p>
        </p:txBody>
      </p:sp>
      <p:sp>
        <p:nvSpPr>
          <p:cNvPr id="112" name="Text Box 56"/>
          <p:cNvSpPr txBox="1">
            <a:spLocks noChangeArrowheads="1"/>
          </p:cNvSpPr>
          <p:nvPr/>
        </p:nvSpPr>
        <p:spPr bwMode="auto">
          <a:xfrm>
            <a:off x="3324225" y="4784725"/>
            <a:ext cx="619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3</a:t>
            </a:r>
            <a:r>
              <a:rPr lang="en-US" altLang="zh-CN" b="1">
                <a:solidFill>
                  <a:srgbClr val="000066"/>
                </a:solidFill>
                <a:latin typeface="Times New Roman" panose="02020603050405020304" pitchFamily="18" charset="0"/>
              </a:rPr>
              <a:t>=1</a:t>
            </a:r>
            <a:endParaRPr lang="en-US" altLang="zh-CN" b="1">
              <a:solidFill>
                <a:srgbClr val="000066"/>
              </a:solidFill>
              <a:latin typeface="Times New Roman" panose="02020603050405020304" pitchFamily="18" charset="0"/>
            </a:endParaRPr>
          </a:p>
        </p:txBody>
      </p:sp>
      <p:sp>
        <p:nvSpPr>
          <p:cNvPr id="113" name="Text Box 57"/>
          <p:cNvSpPr txBox="1">
            <a:spLocks noChangeArrowheads="1"/>
          </p:cNvSpPr>
          <p:nvPr/>
        </p:nvSpPr>
        <p:spPr bwMode="auto">
          <a:xfrm>
            <a:off x="5656263" y="4791075"/>
            <a:ext cx="619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000066"/>
                </a:solidFill>
                <a:latin typeface="Times New Roman" panose="02020603050405020304" pitchFamily="18" charset="0"/>
              </a:rPr>
              <a:t>x</a:t>
            </a:r>
            <a:r>
              <a:rPr lang="en-US" altLang="zh-CN" b="1" baseline="-25000">
                <a:solidFill>
                  <a:srgbClr val="000066"/>
                </a:solidFill>
                <a:latin typeface="Times New Roman" panose="02020603050405020304" pitchFamily="18" charset="0"/>
              </a:rPr>
              <a:t>3</a:t>
            </a:r>
            <a:r>
              <a:rPr lang="en-US" altLang="zh-CN" b="1">
                <a:solidFill>
                  <a:srgbClr val="000066"/>
                </a:solidFill>
                <a:latin typeface="Times New Roman" panose="02020603050405020304" pitchFamily="18" charset="0"/>
              </a:rPr>
              <a:t>=0</a:t>
            </a:r>
            <a:endParaRPr lang="en-US" altLang="zh-CN" b="1">
              <a:solidFill>
                <a:srgbClr val="000066"/>
              </a:solidFill>
              <a:latin typeface="Times New Roman" panose="02020603050405020304" pitchFamily="18" charset="0"/>
            </a:endParaRPr>
          </a:p>
        </p:txBody>
      </p:sp>
      <p:sp>
        <p:nvSpPr>
          <p:cNvPr id="118" name="Text Box 62"/>
          <p:cNvSpPr txBox="1">
            <a:spLocks noChangeArrowheads="1"/>
          </p:cNvSpPr>
          <p:nvPr/>
        </p:nvSpPr>
        <p:spPr bwMode="auto">
          <a:xfrm>
            <a:off x="2543175" y="6026150"/>
            <a:ext cx="1570038" cy="701675"/>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66"/>
                </a:solidFill>
                <a:latin typeface="Times New Roman" panose="02020603050405020304" pitchFamily="18" charset="0"/>
              </a:rPr>
              <a:t>V=65</a:t>
            </a:r>
            <a:endParaRPr lang="en-US" altLang="zh-CN" sz="2000" b="1">
              <a:solidFill>
                <a:srgbClr val="000066"/>
              </a:solidFill>
              <a:latin typeface="Times New Roman" panose="02020603050405020304" pitchFamily="18" charset="0"/>
            </a:endParaRPr>
          </a:p>
          <a:p>
            <a:pPr eaLnBrk="1" hangingPunct="1"/>
            <a:r>
              <a:rPr lang="en-US" altLang="zh-CN" sz="2000" b="1">
                <a:solidFill>
                  <a:srgbClr val="000066"/>
                </a:solidFill>
                <a:latin typeface="Times New Roman" panose="02020603050405020304" pitchFamily="18" charset="0"/>
              </a:rPr>
              <a:t>X=(1, 0, 1, 0)</a:t>
            </a:r>
            <a:endParaRPr lang="en-US" altLang="zh-CN" sz="2000" b="1">
              <a:solidFill>
                <a:srgbClr val="000066"/>
              </a:solidFill>
              <a:latin typeface="Times New Roman" panose="02020603050405020304" pitchFamily="18" charset="0"/>
            </a:endParaRPr>
          </a:p>
        </p:txBody>
      </p:sp>
      <p:sp>
        <p:nvSpPr>
          <p:cNvPr id="58413" name="Text Box 63"/>
          <p:cNvSpPr txBox="1">
            <a:spLocks noChangeArrowheads="1"/>
          </p:cNvSpPr>
          <p:nvPr/>
        </p:nvSpPr>
        <p:spPr bwMode="auto">
          <a:xfrm>
            <a:off x="298450" y="1839913"/>
            <a:ext cx="21161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rgbClr val="000066"/>
                </a:solidFill>
                <a:latin typeface="Times New Roman" panose="02020603050405020304" pitchFamily="18" charset="0"/>
              </a:rPr>
              <a:t>w</a:t>
            </a:r>
            <a:r>
              <a:rPr kumimoji="1" lang="en-US" altLang="zh-CN" sz="2000" b="1" baseline="-25000">
                <a:solidFill>
                  <a:srgbClr val="000066"/>
                </a:solidFill>
                <a:latin typeface="Times New Roman" panose="02020603050405020304" pitchFamily="18" charset="0"/>
              </a:rPr>
              <a:t>i</a:t>
            </a:r>
            <a:r>
              <a:rPr kumimoji="1" lang="en-US" altLang="zh-CN" sz="2000" b="1">
                <a:solidFill>
                  <a:srgbClr val="000066"/>
                </a:solidFill>
                <a:latin typeface="Times New Roman" panose="02020603050405020304" pitchFamily="18" charset="0"/>
              </a:rPr>
              <a:t>=(4, 7, 5, 3)</a:t>
            </a:r>
            <a:endParaRPr kumimoji="1" lang="en-US" altLang="zh-CN" sz="2000" b="1">
              <a:solidFill>
                <a:srgbClr val="000066"/>
              </a:solidFill>
              <a:latin typeface="Times New Roman" panose="02020603050405020304" pitchFamily="18" charset="0"/>
            </a:endParaRPr>
          </a:p>
          <a:p>
            <a:pPr eaLnBrk="1" hangingPunct="1"/>
            <a:r>
              <a:rPr kumimoji="1" lang="en-US" altLang="zh-CN" sz="2000" b="1" i="1">
                <a:solidFill>
                  <a:srgbClr val="000066"/>
                </a:solidFill>
                <a:latin typeface="Times New Roman" panose="02020603050405020304" pitchFamily="18" charset="0"/>
              </a:rPr>
              <a:t>v</a:t>
            </a:r>
            <a:r>
              <a:rPr kumimoji="1" lang="en-US" altLang="zh-CN" sz="2000" b="1" baseline="-25000">
                <a:solidFill>
                  <a:srgbClr val="000066"/>
                </a:solidFill>
                <a:latin typeface="Times New Roman" panose="02020603050405020304" pitchFamily="18" charset="0"/>
              </a:rPr>
              <a:t>i</a:t>
            </a:r>
            <a:r>
              <a:rPr kumimoji="1" lang="en-US" altLang="zh-CN" sz="2000" b="1">
                <a:solidFill>
                  <a:srgbClr val="000066"/>
                </a:solidFill>
                <a:latin typeface="Times New Roman" panose="02020603050405020304" pitchFamily="18" charset="0"/>
              </a:rPr>
              <a:t>= (40, 42, 25, 12)</a:t>
            </a:r>
            <a:endParaRPr lang="en-US" altLang="zh-CN" sz="2000" b="1" i="1">
              <a:solidFill>
                <a:srgbClr val="000066"/>
              </a:solidFill>
              <a:latin typeface="Times New Roman" panose="02020603050405020304" pitchFamily="18" charset="0"/>
            </a:endParaRPr>
          </a:p>
          <a:p>
            <a:pPr eaLnBrk="1" hangingPunct="1"/>
            <a:r>
              <a:rPr lang="en-US" altLang="zh-CN" sz="2000" b="1" i="1">
                <a:solidFill>
                  <a:srgbClr val="000066"/>
                </a:solidFill>
                <a:latin typeface="Times New Roman" panose="02020603050405020304" pitchFamily="18" charset="0"/>
              </a:rPr>
              <a:t>v</a:t>
            </a:r>
            <a:r>
              <a:rPr lang="en-US" altLang="zh-CN" sz="2000" b="1" baseline="-25000">
                <a:solidFill>
                  <a:srgbClr val="000066"/>
                </a:solidFill>
                <a:latin typeface="Times New Roman" panose="02020603050405020304" pitchFamily="18" charset="0"/>
              </a:rPr>
              <a:t>i</a:t>
            </a:r>
            <a:r>
              <a:rPr lang="en-US" altLang="zh-CN" sz="2000" b="1">
                <a:solidFill>
                  <a:srgbClr val="000066"/>
                </a:solidFill>
                <a:latin typeface="Times New Roman" panose="02020603050405020304" pitchFamily="18" charset="0"/>
              </a:rPr>
              <a:t>/</a:t>
            </a:r>
            <a:r>
              <a:rPr lang="en-US" altLang="zh-CN" sz="2000" b="1" i="1">
                <a:solidFill>
                  <a:srgbClr val="000066"/>
                </a:solidFill>
                <a:latin typeface="Times New Roman" panose="02020603050405020304" pitchFamily="18" charset="0"/>
              </a:rPr>
              <a:t>w</a:t>
            </a:r>
            <a:r>
              <a:rPr lang="en-US" altLang="zh-CN" sz="2000" b="1" baseline="-25000">
                <a:solidFill>
                  <a:srgbClr val="000066"/>
                </a:solidFill>
                <a:latin typeface="Times New Roman" panose="02020603050405020304" pitchFamily="18" charset="0"/>
              </a:rPr>
              <a:t>i</a:t>
            </a:r>
            <a:r>
              <a:rPr lang="en-US" altLang="zh-CN" sz="2000" b="1">
                <a:solidFill>
                  <a:srgbClr val="000066"/>
                </a:solidFill>
                <a:latin typeface="Times New Roman" panose="02020603050405020304" pitchFamily="18" charset="0"/>
              </a:rPr>
              <a:t>=(10, 6, 5, 4)</a:t>
            </a:r>
            <a:endParaRPr lang="en-US" altLang="zh-CN" sz="2000" b="1">
              <a:solidFill>
                <a:srgbClr val="000066"/>
              </a:solidFill>
              <a:latin typeface="Times New Roman" panose="02020603050405020304" pitchFamily="18" charset="0"/>
            </a:endParaRPr>
          </a:p>
        </p:txBody>
      </p:sp>
      <p:sp>
        <p:nvSpPr>
          <p:cNvPr id="58414" name="Rectangle 64"/>
          <p:cNvSpPr>
            <a:spLocks noChangeArrowheads="1"/>
          </p:cNvSpPr>
          <p:nvPr/>
        </p:nvSpPr>
        <p:spPr bwMode="auto">
          <a:xfrm>
            <a:off x="227013" y="1911350"/>
            <a:ext cx="2232025" cy="936625"/>
          </a:xfrm>
          <a:prstGeom prst="rect">
            <a:avLst/>
          </a:prstGeom>
          <a:noFill/>
          <a:ln w="19050">
            <a:solidFill>
              <a:srgbClr val="00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3134" name="Text Box 4"/>
          <p:cNvSpPr txBox="1">
            <a:spLocks noChangeArrowheads="1"/>
          </p:cNvSpPr>
          <p:nvPr/>
        </p:nvSpPr>
        <p:spPr bwMode="auto">
          <a:xfrm>
            <a:off x="0" y="1068388"/>
            <a:ext cx="9144000" cy="712787"/>
          </a:xfrm>
          <a:prstGeom prst="rect">
            <a:avLst/>
          </a:prstGeom>
          <a:solidFill>
            <a:srgbClr val="CCFFFF"/>
          </a:solidFill>
          <a:ln w="25400">
            <a:solidFill>
              <a:srgbClr val="FF6600"/>
            </a:solidFill>
            <a:miter lim="800000"/>
          </a:ln>
        </p:spPr>
        <p:txBody>
          <a:bodyPr/>
          <a:lstStyle/>
          <a:p>
            <a:pPr eaLnBrk="1" hangingPunct="1">
              <a:defRPr/>
            </a:pPr>
            <a:r>
              <a:rPr lang="zh-CN" altLang="en-US" sz="2000" b="1" dirty="0">
                <a:solidFill>
                  <a:srgbClr val="FF0000"/>
                </a:solidFill>
                <a:ea typeface="楷体_GB2312" panose="02010609030101010101" pitchFamily="49" charset="-122"/>
                <a:cs typeface="楷体_GB2312" panose="02010609030101010101" pitchFamily="49" charset="-122"/>
              </a:rPr>
              <a:t>上界函数：</a:t>
            </a:r>
            <a:r>
              <a:rPr lang="zh-CN" altLang="en-US" sz="2000" b="1" dirty="0">
                <a:solidFill>
                  <a:schemeClr val="tx1">
                    <a:lumMod val="50000"/>
                  </a:schemeClr>
                </a:solidFill>
                <a:ea typeface="楷体_GB2312" panose="02010609030101010101" pitchFamily="49" charset="-122"/>
                <a:cs typeface="楷体_GB2312" panose="02010609030101010101" pitchFamily="49" charset="-122"/>
              </a:rPr>
              <a:t>先删除大容量的物品，按照贪心方式给出，装不下了就拆分装满背包；</a:t>
            </a:r>
            <a:endParaRPr lang="en-US" altLang="zh-CN" sz="2000" b="1" dirty="0">
              <a:solidFill>
                <a:schemeClr val="tx1">
                  <a:lumMod val="50000"/>
                </a:schemeClr>
              </a:solidFill>
              <a:ea typeface="楷体_GB2312" panose="02010609030101010101" pitchFamily="49" charset="-122"/>
              <a:cs typeface="楷体_GB2312" panose="02010609030101010101" pitchFamily="49" charset="-122"/>
            </a:endParaRPr>
          </a:p>
          <a:p>
            <a:pPr eaLnBrk="1" hangingPunct="1">
              <a:defRPr/>
            </a:pPr>
            <a:r>
              <a:rPr lang="zh-CN" altLang="en-US" sz="2000" b="1" dirty="0">
                <a:solidFill>
                  <a:srgbClr val="FF0000"/>
                </a:solidFill>
                <a:ea typeface="楷体_GB2312" panose="02010609030101010101" pitchFamily="49" charset="-122"/>
                <a:cs typeface="楷体_GB2312" panose="02010609030101010101" pitchFamily="49" charset="-122"/>
              </a:rPr>
              <a:t>下界函数：</a:t>
            </a:r>
            <a:r>
              <a:rPr lang="zh-CN" altLang="en-US" sz="2000" b="1" dirty="0">
                <a:solidFill>
                  <a:schemeClr val="tx1">
                    <a:lumMod val="50000"/>
                  </a:schemeClr>
                </a:solidFill>
                <a:ea typeface="楷体_GB2312" panose="02010609030101010101" pitchFamily="49" charset="-122"/>
                <a:cs typeface="楷体_GB2312" panose="02010609030101010101" pitchFamily="49" charset="-122"/>
              </a:rPr>
              <a:t>按照贪心方式给出，装不下了不装了；</a:t>
            </a:r>
            <a:endParaRPr lang="zh-CN" altLang="en-US" sz="2000" b="1" dirty="0">
              <a:solidFill>
                <a:schemeClr val="tx1">
                  <a:lumMod val="50000"/>
                </a:schemeClr>
              </a:solidFill>
              <a:ea typeface="楷体_GB2312" panose="02010609030101010101" pitchFamily="49" charset="-122"/>
              <a:cs typeface="楷体_GB2312" panose="02010609030101010101" pitchFamily="49" charset="-122"/>
            </a:endParaRPr>
          </a:p>
          <a:p>
            <a:pPr eaLnBrk="1" hangingPunct="1">
              <a:defRPr/>
            </a:pPr>
            <a:endParaRPr lang="zh-CN" altLang="en-US" sz="2000" b="1" dirty="0">
              <a:solidFill>
                <a:schemeClr val="tx1">
                  <a:lumMod val="50000"/>
                </a:schemeClr>
              </a:solidFill>
              <a:ea typeface="楷体_GB2312" panose="02010609030101010101" pitchFamily="49" charset="-122"/>
              <a:cs typeface="楷体_GB2312" panose="02010609030101010101"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up)">
                                      <p:cBhvr>
                                        <p:cTn id="7" dur="500"/>
                                        <p:tgtEl>
                                          <p:spTgt spid="67"/>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wipe(up)">
                                      <p:cBhvr>
                                        <p:cTn id="10" dur="500"/>
                                        <p:tgtEl>
                                          <p:spTgt spid="68"/>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0"/>
                                        </p:tgtEl>
                                        <p:attrNameLst>
                                          <p:attrName>style.visibility</p:attrName>
                                        </p:attrNameLst>
                                      </p:cBhvr>
                                      <p:to>
                                        <p:strVal val="visible"/>
                                      </p:to>
                                    </p:set>
                                    <p:animEffect transition="in" filter="wipe(up)">
                                      <p:cBhvr>
                                        <p:cTn id="13" dur="500"/>
                                        <p:tgtEl>
                                          <p:spTgt spid="90"/>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91"/>
                                        </p:tgtEl>
                                        <p:attrNameLst>
                                          <p:attrName>style.visibility</p:attrName>
                                        </p:attrNameLst>
                                      </p:cBhvr>
                                      <p:to>
                                        <p:strVal val="visible"/>
                                      </p:to>
                                    </p:set>
                                    <p:animEffect transition="in" filter="wipe(up)">
                                      <p:cBhvr>
                                        <p:cTn id="16" dur="500"/>
                                        <p:tgtEl>
                                          <p:spTgt spid="91"/>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wipe(up)">
                                      <p:cBhvr>
                                        <p:cTn id="19" dur="500"/>
                                        <p:tgtEl>
                                          <p:spTgt spid="69"/>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up)">
                                      <p:cBhvr>
                                        <p:cTn id="22" dur="500"/>
                                        <p:tgtEl>
                                          <p:spTgt spid="71"/>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70"/>
                                        </p:tgtEl>
                                        <p:attrNameLst>
                                          <p:attrName>style.visibility</p:attrName>
                                        </p:attrNameLst>
                                      </p:cBhvr>
                                      <p:to>
                                        <p:strVal val="visible"/>
                                      </p:to>
                                    </p:set>
                                    <p:animEffect transition="in" filter="wipe(up)">
                                      <p:cBhvr>
                                        <p:cTn id="25" dur="500"/>
                                        <p:tgtEl>
                                          <p:spTgt spid="70"/>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72"/>
                                        </p:tgtEl>
                                        <p:attrNameLst>
                                          <p:attrName>style.visibility</p:attrName>
                                        </p:attrNameLst>
                                      </p:cBhvr>
                                      <p:to>
                                        <p:strVal val="visible"/>
                                      </p:to>
                                    </p:set>
                                    <p:animEffect transition="in" filter="wipe(up)">
                                      <p:cBhvr>
                                        <p:cTn id="28" dur="500"/>
                                        <p:tgtEl>
                                          <p:spTgt spid="72"/>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08"/>
                                        </p:tgtEl>
                                        <p:attrNameLst>
                                          <p:attrName>style.visibility</p:attrName>
                                        </p:attrNameLst>
                                      </p:cBhvr>
                                      <p:to>
                                        <p:strVal val="visible"/>
                                      </p:to>
                                    </p:set>
                                    <p:animEffect transition="in" filter="wipe(up)">
                                      <p:cBhvr>
                                        <p:cTn id="31" dur="500"/>
                                        <p:tgtEl>
                                          <p:spTgt spid="108"/>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09"/>
                                        </p:tgtEl>
                                        <p:attrNameLst>
                                          <p:attrName>style.visibility</p:attrName>
                                        </p:attrNameLst>
                                      </p:cBhvr>
                                      <p:to>
                                        <p:strVal val="visible"/>
                                      </p:to>
                                    </p:set>
                                    <p:animEffect transition="in" filter="wipe(up)">
                                      <p:cBhvr>
                                        <p:cTn id="34" dur="500"/>
                                        <p:tgtEl>
                                          <p:spTgt spid="109"/>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00"/>
                                        </p:tgtEl>
                                        <p:attrNameLst>
                                          <p:attrName>style.visibility</p:attrName>
                                        </p:attrNameLst>
                                      </p:cBhvr>
                                      <p:to>
                                        <p:strVal val="visible"/>
                                      </p:to>
                                    </p:set>
                                    <p:anim calcmode="lin" valueType="num">
                                      <p:cBhvr additive="base">
                                        <p:cTn id="39" dur="500" fill="hold"/>
                                        <p:tgtEl>
                                          <p:spTgt spid="100"/>
                                        </p:tgtEl>
                                        <p:attrNameLst>
                                          <p:attrName>ppt_x</p:attrName>
                                        </p:attrNameLst>
                                      </p:cBhvr>
                                      <p:tavLst>
                                        <p:tav tm="0">
                                          <p:val>
                                            <p:strVal val="0-#ppt_w/2"/>
                                          </p:val>
                                        </p:tav>
                                        <p:tav tm="100000">
                                          <p:val>
                                            <p:strVal val="#ppt_x"/>
                                          </p:val>
                                        </p:tav>
                                      </p:tavLst>
                                    </p:anim>
                                    <p:anim calcmode="lin" valueType="num">
                                      <p:cBhvr additive="base">
                                        <p:cTn id="40" dur="500" fill="hold"/>
                                        <p:tgtEl>
                                          <p:spTgt spid="100"/>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8" presetClass="entr" presetSubtype="32" fill="hold" grpId="0" nodeType="clickEffect">
                                  <p:stCondLst>
                                    <p:cond delay="0"/>
                                  </p:stCondLst>
                                  <p:childTnLst>
                                    <p:set>
                                      <p:cBhvr>
                                        <p:cTn id="44" dur="1" fill="hold">
                                          <p:stCondLst>
                                            <p:cond delay="0"/>
                                          </p:stCondLst>
                                        </p:cTn>
                                        <p:tgtEl>
                                          <p:spTgt spid="101"/>
                                        </p:tgtEl>
                                        <p:attrNameLst>
                                          <p:attrName>style.visibility</p:attrName>
                                        </p:attrNameLst>
                                      </p:cBhvr>
                                      <p:to>
                                        <p:strVal val="visible"/>
                                      </p:to>
                                    </p:set>
                                    <p:animEffect transition="in" filter="diamond(out)">
                                      <p:cBhvr>
                                        <p:cTn id="45" dur="500"/>
                                        <p:tgtEl>
                                          <p:spTgt spid="101"/>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85"/>
                                        </p:tgtEl>
                                        <p:attrNameLst>
                                          <p:attrName>style.visibility</p:attrName>
                                        </p:attrNameLst>
                                      </p:cBhvr>
                                      <p:to>
                                        <p:strVal val="visible"/>
                                      </p:to>
                                    </p:set>
                                    <p:animEffect transition="in" filter="wipe(up)">
                                      <p:cBhvr>
                                        <p:cTn id="48" dur="500"/>
                                        <p:tgtEl>
                                          <p:spTgt spid="85"/>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86"/>
                                        </p:tgtEl>
                                        <p:attrNameLst>
                                          <p:attrName>style.visibility</p:attrName>
                                        </p:attrNameLst>
                                      </p:cBhvr>
                                      <p:to>
                                        <p:strVal val="visible"/>
                                      </p:to>
                                    </p:set>
                                    <p:animEffect transition="in" filter="wipe(up)">
                                      <p:cBhvr>
                                        <p:cTn id="51" dur="500"/>
                                        <p:tgtEl>
                                          <p:spTgt spid="86"/>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92"/>
                                        </p:tgtEl>
                                        <p:attrNameLst>
                                          <p:attrName>style.visibility</p:attrName>
                                        </p:attrNameLst>
                                      </p:cBhvr>
                                      <p:to>
                                        <p:strVal val="visible"/>
                                      </p:to>
                                    </p:set>
                                    <p:animEffect transition="in" filter="wipe(up)">
                                      <p:cBhvr>
                                        <p:cTn id="54" dur="500"/>
                                        <p:tgtEl>
                                          <p:spTgt spid="92"/>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93"/>
                                        </p:tgtEl>
                                        <p:attrNameLst>
                                          <p:attrName>style.visibility</p:attrName>
                                        </p:attrNameLst>
                                      </p:cBhvr>
                                      <p:to>
                                        <p:strVal val="visible"/>
                                      </p:to>
                                    </p:set>
                                    <p:animEffect transition="in" filter="wipe(up)">
                                      <p:cBhvr>
                                        <p:cTn id="57" dur="500"/>
                                        <p:tgtEl>
                                          <p:spTgt spid="93"/>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75"/>
                                        </p:tgtEl>
                                        <p:attrNameLst>
                                          <p:attrName>style.visibility</p:attrName>
                                        </p:attrNameLst>
                                      </p:cBhvr>
                                      <p:to>
                                        <p:strVal val="visible"/>
                                      </p:to>
                                    </p:set>
                                    <p:animEffect transition="in" filter="wipe(up)">
                                      <p:cBhvr>
                                        <p:cTn id="60" dur="500"/>
                                        <p:tgtEl>
                                          <p:spTgt spid="75"/>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76"/>
                                        </p:tgtEl>
                                        <p:attrNameLst>
                                          <p:attrName>style.visibility</p:attrName>
                                        </p:attrNameLst>
                                      </p:cBhvr>
                                      <p:to>
                                        <p:strVal val="visible"/>
                                      </p:to>
                                    </p:set>
                                    <p:animEffect transition="in" filter="wipe(up)">
                                      <p:cBhvr>
                                        <p:cTn id="63" dur="500"/>
                                        <p:tgtEl>
                                          <p:spTgt spid="76"/>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73"/>
                                        </p:tgtEl>
                                        <p:attrNameLst>
                                          <p:attrName>style.visibility</p:attrName>
                                        </p:attrNameLst>
                                      </p:cBhvr>
                                      <p:to>
                                        <p:strVal val="visible"/>
                                      </p:to>
                                    </p:set>
                                    <p:animEffect transition="in" filter="wipe(up)">
                                      <p:cBhvr>
                                        <p:cTn id="66" dur="500"/>
                                        <p:tgtEl>
                                          <p:spTgt spid="73"/>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74"/>
                                        </p:tgtEl>
                                        <p:attrNameLst>
                                          <p:attrName>style.visibility</p:attrName>
                                        </p:attrNameLst>
                                      </p:cBhvr>
                                      <p:to>
                                        <p:strVal val="visible"/>
                                      </p:to>
                                    </p:set>
                                    <p:animEffect transition="in" filter="wipe(up)">
                                      <p:cBhvr>
                                        <p:cTn id="69" dur="500"/>
                                        <p:tgtEl>
                                          <p:spTgt spid="74"/>
                                        </p:tgtEl>
                                      </p:cBhvr>
                                    </p:animEffect>
                                  </p:childTnLst>
                                </p:cTn>
                              </p:par>
                              <p:par>
                                <p:cTn id="70" presetID="22" presetClass="entr" presetSubtype="1" fill="hold" grpId="0" nodeType="withEffect">
                                  <p:stCondLst>
                                    <p:cond delay="0"/>
                                  </p:stCondLst>
                                  <p:childTnLst>
                                    <p:set>
                                      <p:cBhvr>
                                        <p:cTn id="71" dur="1" fill="hold">
                                          <p:stCondLst>
                                            <p:cond delay="0"/>
                                          </p:stCondLst>
                                        </p:cTn>
                                        <p:tgtEl>
                                          <p:spTgt spid="110"/>
                                        </p:tgtEl>
                                        <p:attrNameLst>
                                          <p:attrName>style.visibility</p:attrName>
                                        </p:attrNameLst>
                                      </p:cBhvr>
                                      <p:to>
                                        <p:strVal val="visible"/>
                                      </p:to>
                                    </p:set>
                                    <p:animEffect transition="in" filter="wipe(up)">
                                      <p:cBhvr>
                                        <p:cTn id="72" dur="500"/>
                                        <p:tgtEl>
                                          <p:spTgt spid="110"/>
                                        </p:tgtEl>
                                      </p:cBhvr>
                                    </p:animEffect>
                                  </p:childTnLst>
                                </p:cTn>
                              </p:par>
                              <p:par>
                                <p:cTn id="73" presetID="22" presetClass="entr" presetSubtype="1" fill="hold" grpId="0" nodeType="withEffect">
                                  <p:stCondLst>
                                    <p:cond delay="0"/>
                                  </p:stCondLst>
                                  <p:childTnLst>
                                    <p:set>
                                      <p:cBhvr>
                                        <p:cTn id="74" dur="1" fill="hold">
                                          <p:stCondLst>
                                            <p:cond delay="0"/>
                                          </p:stCondLst>
                                        </p:cTn>
                                        <p:tgtEl>
                                          <p:spTgt spid="111"/>
                                        </p:tgtEl>
                                        <p:attrNameLst>
                                          <p:attrName>style.visibility</p:attrName>
                                        </p:attrNameLst>
                                      </p:cBhvr>
                                      <p:to>
                                        <p:strVal val="visible"/>
                                      </p:to>
                                    </p:set>
                                    <p:animEffect transition="in" filter="wipe(up)">
                                      <p:cBhvr>
                                        <p:cTn id="75" dur="500"/>
                                        <p:tgtEl>
                                          <p:spTgt spid="111"/>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102"/>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98"/>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 presetClass="entr" presetSubtype="2" fill="hold" grpId="0" nodeType="clickEffect">
                                  <p:stCondLst>
                                    <p:cond delay="0"/>
                                  </p:stCondLst>
                                  <p:childTnLst>
                                    <p:set>
                                      <p:cBhvr>
                                        <p:cTn id="85" dur="1" fill="hold">
                                          <p:stCondLst>
                                            <p:cond delay="0"/>
                                          </p:stCondLst>
                                        </p:cTn>
                                        <p:tgtEl>
                                          <p:spTgt spid="104"/>
                                        </p:tgtEl>
                                        <p:attrNameLst>
                                          <p:attrName>style.visibility</p:attrName>
                                        </p:attrNameLst>
                                      </p:cBhvr>
                                      <p:to>
                                        <p:strVal val="visible"/>
                                      </p:to>
                                    </p:set>
                                    <p:anim calcmode="lin" valueType="num">
                                      <p:cBhvr additive="base">
                                        <p:cTn id="86" dur="500" fill="hold"/>
                                        <p:tgtEl>
                                          <p:spTgt spid="104"/>
                                        </p:tgtEl>
                                        <p:attrNameLst>
                                          <p:attrName>ppt_x</p:attrName>
                                        </p:attrNameLst>
                                      </p:cBhvr>
                                      <p:tavLst>
                                        <p:tav tm="0">
                                          <p:val>
                                            <p:strVal val="1+#ppt_w/2"/>
                                          </p:val>
                                        </p:tav>
                                        <p:tav tm="100000">
                                          <p:val>
                                            <p:strVal val="#ppt_x"/>
                                          </p:val>
                                        </p:tav>
                                      </p:tavLst>
                                    </p:anim>
                                    <p:anim calcmode="lin" valueType="num">
                                      <p:cBhvr additive="base">
                                        <p:cTn id="87" dur="500" fill="hold"/>
                                        <p:tgtEl>
                                          <p:spTgt spid="104"/>
                                        </p:tgtEl>
                                        <p:attrNameLst>
                                          <p:attrName>ppt_y</p:attrName>
                                        </p:attrNameLst>
                                      </p:cBhvr>
                                      <p:tavLst>
                                        <p:tav tm="0">
                                          <p:val>
                                            <p:strVal val="#ppt_y"/>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8" presetClass="entr" presetSubtype="32" fill="hold" grpId="0" nodeType="clickEffect">
                                  <p:stCondLst>
                                    <p:cond delay="0"/>
                                  </p:stCondLst>
                                  <p:childTnLst>
                                    <p:set>
                                      <p:cBhvr>
                                        <p:cTn id="91" dur="1" fill="hold">
                                          <p:stCondLst>
                                            <p:cond delay="0"/>
                                          </p:stCondLst>
                                        </p:cTn>
                                        <p:tgtEl>
                                          <p:spTgt spid="103"/>
                                        </p:tgtEl>
                                        <p:attrNameLst>
                                          <p:attrName>style.visibility</p:attrName>
                                        </p:attrNameLst>
                                      </p:cBhvr>
                                      <p:to>
                                        <p:strVal val="visible"/>
                                      </p:to>
                                    </p:set>
                                    <p:animEffect transition="in" filter="diamond(out)">
                                      <p:cBhvr>
                                        <p:cTn id="92" dur="500"/>
                                        <p:tgtEl>
                                          <p:spTgt spid="103"/>
                                        </p:tgtEl>
                                      </p:cBhvr>
                                    </p:animEffect>
                                  </p:childTnLst>
                                </p:cTn>
                              </p:par>
                              <p:par>
                                <p:cTn id="93" presetID="22" presetClass="entr" presetSubtype="1" fill="hold" grpId="0" nodeType="withEffect">
                                  <p:stCondLst>
                                    <p:cond delay="0"/>
                                  </p:stCondLst>
                                  <p:childTnLst>
                                    <p:set>
                                      <p:cBhvr>
                                        <p:cTn id="94" dur="1" fill="hold">
                                          <p:stCondLst>
                                            <p:cond delay="0"/>
                                          </p:stCondLst>
                                        </p:cTn>
                                        <p:tgtEl>
                                          <p:spTgt spid="99"/>
                                        </p:tgtEl>
                                        <p:attrNameLst>
                                          <p:attrName>style.visibility</p:attrName>
                                        </p:attrNameLst>
                                      </p:cBhvr>
                                      <p:to>
                                        <p:strVal val="visible"/>
                                      </p:to>
                                    </p:set>
                                    <p:animEffect transition="in" filter="wipe(up)">
                                      <p:cBhvr>
                                        <p:cTn id="95" dur="500"/>
                                        <p:tgtEl>
                                          <p:spTgt spid="99"/>
                                        </p:tgtEl>
                                      </p:cBhvr>
                                    </p:animEffect>
                                  </p:childTnLst>
                                </p:cTn>
                              </p:par>
                              <p:par>
                                <p:cTn id="96" presetID="22" presetClass="entr" presetSubtype="1" fill="hold" grpId="0" nodeType="withEffect">
                                  <p:stCondLst>
                                    <p:cond delay="0"/>
                                  </p:stCondLst>
                                  <p:childTnLst>
                                    <p:set>
                                      <p:cBhvr>
                                        <p:cTn id="97" dur="1" fill="hold">
                                          <p:stCondLst>
                                            <p:cond delay="0"/>
                                          </p:stCondLst>
                                        </p:cTn>
                                        <p:tgtEl>
                                          <p:spTgt spid="87"/>
                                        </p:tgtEl>
                                        <p:attrNameLst>
                                          <p:attrName>style.visibility</p:attrName>
                                        </p:attrNameLst>
                                      </p:cBhvr>
                                      <p:to>
                                        <p:strVal val="visible"/>
                                      </p:to>
                                    </p:set>
                                    <p:animEffect transition="in" filter="wipe(up)">
                                      <p:cBhvr>
                                        <p:cTn id="98" dur="500"/>
                                        <p:tgtEl>
                                          <p:spTgt spid="87"/>
                                        </p:tgtEl>
                                      </p:cBhvr>
                                    </p:animEffect>
                                  </p:childTnLst>
                                </p:cTn>
                              </p:par>
                              <p:par>
                                <p:cTn id="99" presetID="22" presetClass="entr" presetSubtype="1" fill="hold" grpId="0" nodeType="withEffect">
                                  <p:stCondLst>
                                    <p:cond delay="0"/>
                                  </p:stCondLst>
                                  <p:childTnLst>
                                    <p:set>
                                      <p:cBhvr>
                                        <p:cTn id="100" dur="1" fill="hold">
                                          <p:stCondLst>
                                            <p:cond delay="0"/>
                                          </p:stCondLst>
                                        </p:cTn>
                                        <p:tgtEl>
                                          <p:spTgt spid="94"/>
                                        </p:tgtEl>
                                        <p:attrNameLst>
                                          <p:attrName>style.visibility</p:attrName>
                                        </p:attrNameLst>
                                      </p:cBhvr>
                                      <p:to>
                                        <p:strVal val="visible"/>
                                      </p:to>
                                    </p:set>
                                    <p:animEffect transition="in" filter="wipe(up)">
                                      <p:cBhvr>
                                        <p:cTn id="101" dur="500"/>
                                        <p:tgtEl>
                                          <p:spTgt spid="94"/>
                                        </p:tgtEl>
                                      </p:cBhvr>
                                    </p:animEffect>
                                  </p:childTnLst>
                                </p:cTn>
                              </p:par>
                              <p:par>
                                <p:cTn id="102" presetID="22" presetClass="entr" presetSubtype="1" fill="hold" grpId="0" nodeType="withEffect">
                                  <p:stCondLst>
                                    <p:cond delay="0"/>
                                  </p:stCondLst>
                                  <p:childTnLst>
                                    <p:set>
                                      <p:cBhvr>
                                        <p:cTn id="103" dur="1" fill="hold">
                                          <p:stCondLst>
                                            <p:cond delay="0"/>
                                          </p:stCondLst>
                                        </p:cTn>
                                        <p:tgtEl>
                                          <p:spTgt spid="95"/>
                                        </p:tgtEl>
                                        <p:attrNameLst>
                                          <p:attrName>style.visibility</p:attrName>
                                        </p:attrNameLst>
                                      </p:cBhvr>
                                      <p:to>
                                        <p:strVal val="visible"/>
                                      </p:to>
                                    </p:set>
                                    <p:animEffect transition="in" filter="wipe(up)">
                                      <p:cBhvr>
                                        <p:cTn id="104" dur="500"/>
                                        <p:tgtEl>
                                          <p:spTgt spid="95"/>
                                        </p:tgtEl>
                                      </p:cBhvr>
                                    </p:animEffect>
                                  </p:childTnLst>
                                </p:cTn>
                              </p:par>
                              <p:par>
                                <p:cTn id="105" presetID="22" presetClass="entr" presetSubtype="1" fill="hold" grpId="0" nodeType="withEffect">
                                  <p:stCondLst>
                                    <p:cond delay="0"/>
                                  </p:stCondLst>
                                  <p:childTnLst>
                                    <p:set>
                                      <p:cBhvr>
                                        <p:cTn id="106" dur="1" fill="hold">
                                          <p:stCondLst>
                                            <p:cond delay="0"/>
                                          </p:stCondLst>
                                        </p:cTn>
                                        <p:tgtEl>
                                          <p:spTgt spid="79"/>
                                        </p:tgtEl>
                                        <p:attrNameLst>
                                          <p:attrName>style.visibility</p:attrName>
                                        </p:attrNameLst>
                                      </p:cBhvr>
                                      <p:to>
                                        <p:strVal val="visible"/>
                                      </p:to>
                                    </p:set>
                                    <p:animEffect transition="in" filter="wipe(up)">
                                      <p:cBhvr>
                                        <p:cTn id="107" dur="500"/>
                                        <p:tgtEl>
                                          <p:spTgt spid="79"/>
                                        </p:tgtEl>
                                      </p:cBhvr>
                                    </p:animEffect>
                                  </p:childTnLst>
                                </p:cTn>
                              </p:par>
                              <p:par>
                                <p:cTn id="108" presetID="22" presetClass="entr" presetSubtype="1" fill="hold" grpId="0" nodeType="withEffect">
                                  <p:stCondLst>
                                    <p:cond delay="0"/>
                                  </p:stCondLst>
                                  <p:childTnLst>
                                    <p:set>
                                      <p:cBhvr>
                                        <p:cTn id="109" dur="1" fill="hold">
                                          <p:stCondLst>
                                            <p:cond delay="0"/>
                                          </p:stCondLst>
                                        </p:cTn>
                                        <p:tgtEl>
                                          <p:spTgt spid="80"/>
                                        </p:tgtEl>
                                        <p:attrNameLst>
                                          <p:attrName>style.visibility</p:attrName>
                                        </p:attrNameLst>
                                      </p:cBhvr>
                                      <p:to>
                                        <p:strVal val="visible"/>
                                      </p:to>
                                    </p:set>
                                    <p:animEffect transition="in" filter="wipe(up)">
                                      <p:cBhvr>
                                        <p:cTn id="110" dur="500"/>
                                        <p:tgtEl>
                                          <p:spTgt spid="80"/>
                                        </p:tgtEl>
                                      </p:cBhvr>
                                    </p:animEffect>
                                  </p:childTnLst>
                                </p:cTn>
                              </p:par>
                              <p:par>
                                <p:cTn id="111" presetID="22" presetClass="entr" presetSubtype="1" fill="hold" grpId="0" nodeType="withEffect">
                                  <p:stCondLst>
                                    <p:cond delay="0"/>
                                  </p:stCondLst>
                                  <p:childTnLst>
                                    <p:set>
                                      <p:cBhvr>
                                        <p:cTn id="112" dur="1" fill="hold">
                                          <p:stCondLst>
                                            <p:cond delay="0"/>
                                          </p:stCondLst>
                                        </p:cTn>
                                        <p:tgtEl>
                                          <p:spTgt spid="77"/>
                                        </p:tgtEl>
                                        <p:attrNameLst>
                                          <p:attrName>style.visibility</p:attrName>
                                        </p:attrNameLst>
                                      </p:cBhvr>
                                      <p:to>
                                        <p:strVal val="visible"/>
                                      </p:to>
                                    </p:set>
                                    <p:animEffect transition="in" filter="wipe(up)">
                                      <p:cBhvr>
                                        <p:cTn id="113" dur="500"/>
                                        <p:tgtEl>
                                          <p:spTgt spid="77"/>
                                        </p:tgtEl>
                                      </p:cBhvr>
                                    </p:animEffect>
                                  </p:childTnLst>
                                </p:cTn>
                              </p:par>
                              <p:par>
                                <p:cTn id="114" presetID="22" presetClass="entr" presetSubtype="1" fill="hold" grpId="0" nodeType="withEffect">
                                  <p:stCondLst>
                                    <p:cond delay="0"/>
                                  </p:stCondLst>
                                  <p:childTnLst>
                                    <p:set>
                                      <p:cBhvr>
                                        <p:cTn id="115" dur="1" fill="hold">
                                          <p:stCondLst>
                                            <p:cond delay="0"/>
                                          </p:stCondLst>
                                        </p:cTn>
                                        <p:tgtEl>
                                          <p:spTgt spid="78"/>
                                        </p:tgtEl>
                                        <p:attrNameLst>
                                          <p:attrName>style.visibility</p:attrName>
                                        </p:attrNameLst>
                                      </p:cBhvr>
                                      <p:to>
                                        <p:strVal val="visible"/>
                                      </p:to>
                                    </p:set>
                                    <p:animEffect transition="in" filter="wipe(up)">
                                      <p:cBhvr>
                                        <p:cTn id="116" dur="500"/>
                                        <p:tgtEl>
                                          <p:spTgt spid="78"/>
                                        </p:tgtEl>
                                      </p:cBhvr>
                                    </p:animEffect>
                                  </p:childTnLst>
                                </p:cTn>
                              </p:par>
                              <p:par>
                                <p:cTn id="117" presetID="22" presetClass="entr" presetSubtype="1" fill="hold" grpId="0" nodeType="withEffect">
                                  <p:stCondLst>
                                    <p:cond delay="0"/>
                                  </p:stCondLst>
                                  <p:childTnLst>
                                    <p:set>
                                      <p:cBhvr>
                                        <p:cTn id="118" dur="1" fill="hold">
                                          <p:stCondLst>
                                            <p:cond delay="0"/>
                                          </p:stCondLst>
                                        </p:cTn>
                                        <p:tgtEl>
                                          <p:spTgt spid="112"/>
                                        </p:tgtEl>
                                        <p:attrNameLst>
                                          <p:attrName>style.visibility</p:attrName>
                                        </p:attrNameLst>
                                      </p:cBhvr>
                                      <p:to>
                                        <p:strVal val="visible"/>
                                      </p:to>
                                    </p:set>
                                    <p:animEffect transition="in" filter="wipe(up)">
                                      <p:cBhvr>
                                        <p:cTn id="119" dur="500"/>
                                        <p:tgtEl>
                                          <p:spTgt spid="112"/>
                                        </p:tgtEl>
                                      </p:cBhvr>
                                    </p:animEffect>
                                  </p:childTnLst>
                                </p:cTn>
                              </p:par>
                              <p:par>
                                <p:cTn id="120" presetID="22" presetClass="entr" presetSubtype="1" fill="hold" grpId="0" nodeType="withEffect">
                                  <p:stCondLst>
                                    <p:cond delay="0"/>
                                  </p:stCondLst>
                                  <p:childTnLst>
                                    <p:set>
                                      <p:cBhvr>
                                        <p:cTn id="121" dur="1" fill="hold">
                                          <p:stCondLst>
                                            <p:cond delay="0"/>
                                          </p:stCondLst>
                                        </p:cTn>
                                        <p:tgtEl>
                                          <p:spTgt spid="113"/>
                                        </p:tgtEl>
                                        <p:attrNameLst>
                                          <p:attrName>style.visibility</p:attrName>
                                        </p:attrNameLst>
                                      </p:cBhvr>
                                      <p:to>
                                        <p:strVal val="visible"/>
                                      </p:to>
                                    </p:set>
                                    <p:animEffect transition="in" filter="wipe(up)">
                                      <p:cBhvr>
                                        <p:cTn id="122" dur="500"/>
                                        <p:tgtEl>
                                          <p:spTgt spid="113"/>
                                        </p:tgtEl>
                                      </p:cBhvr>
                                    </p:animEffect>
                                  </p:childTnLst>
                                </p:cTn>
                              </p:par>
                            </p:childTnLst>
                          </p:cTn>
                        </p:par>
                      </p:childTnLst>
                    </p:cTn>
                  </p:par>
                  <p:par>
                    <p:cTn id="123" fill="hold">
                      <p:stCondLst>
                        <p:cond delay="indefinite"/>
                      </p:stCondLst>
                      <p:childTnLst>
                        <p:par>
                          <p:cTn id="124" fill="hold">
                            <p:stCondLst>
                              <p:cond delay="0"/>
                            </p:stCondLst>
                            <p:childTnLst>
                              <p:par>
                                <p:cTn id="125" presetID="2" presetClass="entr" presetSubtype="2" fill="hold" grpId="0" nodeType="clickEffect">
                                  <p:stCondLst>
                                    <p:cond delay="0"/>
                                  </p:stCondLst>
                                  <p:childTnLst>
                                    <p:set>
                                      <p:cBhvr>
                                        <p:cTn id="126" dur="1" fill="hold">
                                          <p:stCondLst>
                                            <p:cond delay="0"/>
                                          </p:stCondLst>
                                        </p:cTn>
                                        <p:tgtEl>
                                          <p:spTgt spid="105"/>
                                        </p:tgtEl>
                                        <p:attrNameLst>
                                          <p:attrName>style.visibility</p:attrName>
                                        </p:attrNameLst>
                                      </p:cBhvr>
                                      <p:to>
                                        <p:strVal val="visible"/>
                                      </p:to>
                                    </p:set>
                                    <p:anim calcmode="lin" valueType="num">
                                      <p:cBhvr additive="base">
                                        <p:cTn id="127" dur="500" fill="hold"/>
                                        <p:tgtEl>
                                          <p:spTgt spid="105"/>
                                        </p:tgtEl>
                                        <p:attrNameLst>
                                          <p:attrName>ppt_x</p:attrName>
                                        </p:attrNameLst>
                                      </p:cBhvr>
                                      <p:tavLst>
                                        <p:tav tm="0">
                                          <p:val>
                                            <p:strVal val="1+#ppt_w/2"/>
                                          </p:val>
                                        </p:tav>
                                        <p:tav tm="100000">
                                          <p:val>
                                            <p:strVal val="#ppt_x"/>
                                          </p:val>
                                        </p:tav>
                                      </p:tavLst>
                                    </p:anim>
                                    <p:anim calcmode="lin" valueType="num">
                                      <p:cBhvr additive="base">
                                        <p:cTn id="128" dur="500" fill="hold"/>
                                        <p:tgtEl>
                                          <p:spTgt spid="105"/>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8" presetClass="entr" presetSubtype="32" fill="hold" grpId="0" nodeType="clickEffect">
                                  <p:stCondLst>
                                    <p:cond delay="0"/>
                                  </p:stCondLst>
                                  <p:childTnLst>
                                    <p:set>
                                      <p:cBhvr>
                                        <p:cTn id="132" dur="1" fill="hold">
                                          <p:stCondLst>
                                            <p:cond delay="0"/>
                                          </p:stCondLst>
                                        </p:cTn>
                                        <p:tgtEl>
                                          <p:spTgt spid="106"/>
                                        </p:tgtEl>
                                        <p:attrNameLst>
                                          <p:attrName>style.visibility</p:attrName>
                                        </p:attrNameLst>
                                      </p:cBhvr>
                                      <p:to>
                                        <p:strVal val="visible"/>
                                      </p:to>
                                    </p:set>
                                    <p:animEffect transition="in" filter="diamond(out)">
                                      <p:cBhvr>
                                        <p:cTn id="133" dur="500"/>
                                        <p:tgtEl>
                                          <p:spTgt spid="106"/>
                                        </p:tgtEl>
                                      </p:cBhvr>
                                    </p:animEffect>
                                  </p:childTnLst>
                                </p:cTn>
                              </p:par>
                            </p:childTnLst>
                          </p:cTn>
                        </p:par>
                      </p:childTnLst>
                    </p:cTn>
                  </p:par>
                  <p:par>
                    <p:cTn id="134" fill="hold">
                      <p:stCondLst>
                        <p:cond delay="indefinite"/>
                      </p:stCondLst>
                      <p:childTnLst>
                        <p:par>
                          <p:cTn id="135" fill="hold">
                            <p:stCondLst>
                              <p:cond delay="0"/>
                            </p:stCondLst>
                            <p:childTnLst>
                              <p:par>
                                <p:cTn id="136" presetID="2" presetClass="entr" presetSubtype="4" fill="hold" grpId="0" nodeType="clickEffect">
                                  <p:stCondLst>
                                    <p:cond delay="0"/>
                                  </p:stCondLst>
                                  <p:childTnLst>
                                    <p:set>
                                      <p:cBhvr>
                                        <p:cTn id="137" dur="1" fill="hold">
                                          <p:stCondLst>
                                            <p:cond delay="0"/>
                                          </p:stCondLst>
                                        </p:cTn>
                                        <p:tgtEl>
                                          <p:spTgt spid="118"/>
                                        </p:tgtEl>
                                        <p:attrNameLst>
                                          <p:attrName>style.visibility</p:attrName>
                                        </p:attrNameLst>
                                      </p:cBhvr>
                                      <p:to>
                                        <p:strVal val="visible"/>
                                      </p:to>
                                    </p:set>
                                    <p:anim calcmode="lin" valueType="num">
                                      <p:cBhvr additive="base">
                                        <p:cTn id="138" dur="500" fill="hold"/>
                                        <p:tgtEl>
                                          <p:spTgt spid="118"/>
                                        </p:tgtEl>
                                        <p:attrNameLst>
                                          <p:attrName>ppt_x</p:attrName>
                                        </p:attrNameLst>
                                      </p:cBhvr>
                                      <p:tavLst>
                                        <p:tav tm="0">
                                          <p:val>
                                            <p:strVal val="#ppt_x"/>
                                          </p:val>
                                        </p:tav>
                                        <p:tav tm="100000">
                                          <p:val>
                                            <p:strVal val="#ppt_x"/>
                                          </p:val>
                                        </p:tav>
                                      </p:tavLst>
                                    </p:anim>
                                    <p:anim calcmode="lin" valueType="num">
                                      <p:cBhvr additive="base">
                                        <p:cTn id="139" dur="500" fill="hold"/>
                                        <p:tgtEl>
                                          <p:spTgt spid="1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5" grpId="0" animBg="1"/>
      <p:bldP spid="86" grpId="0" animBg="1"/>
      <p:bldP spid="87" grpId="0" animBg="1"/>
      <p:bldP spid="90" grpId="0"/>
      <p:bldP spid="91" grpId="0"/>
      <p:bldP spid="92" grpId="0"/>
      <p:bldP spid="93" grpId="0"/>
      <p:bldP spid="94" grpId="0"/>
      <p:bldP spid="95" grpId="0"/>
      <p:bldP spid="98" grpId="0"/>
      <p:bldP spid="99" grpId="0" animBg="1"/>
      <p:bldP spid="100" grpId="0"/>
      <p:bldP spid="101" grpId="0" animBg="1"/>
      <p:bldP spid="102" grpId="0"/>
      <p:bldP spid="103" grpId="0" animBg="1"/>
      <p:bldP spid="104" grpId="0"/>
      <p:bldP spid="105" grpId="0"/>
      <p:bldP spid="106" grpId="0" animBg="1"/>
      <p:bldP spid="108" grpId="0"/>
      <p:bldP spid="109" grpId="0"/>
      <p:bldP spid="110" grpId="0"/>
      <p:bldP spid="111" grpId="0"/>
      <p:bldP spid="112" grpId="0"/>
      <p:bldP spid="113" grpId="0"/>
      <p:bldP spid="11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2"/>
          <p:cNvSpPr>
            <a:spLocks noChangeArrowheads="1"/>
          </p:cNvSpPr>
          <p:nvPr/>
        </p:nvSpPr>
        <p:spPr bwMode="auto">
          <a:xfrm>
            <a:off x="292100" y="376238"/>
            <a:ext cx="45132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货郎担问题</a:t>
            </a:r>
            <a:endParaRPr lang="zh-CN" altLang="en-US" sz="3200">
              <a:solidFill>
                <a:schemeClr val="bg1"/>
              </a:solidFill>
              <a:latin typeface="楷体" panose="02010609060101010101" pitchFamily="49" charset="-122"/>
              <a:ea typeface="楷体" panose="02010609060101010101" pitchFamily="49" charset="-122"/>
            </a:endParaRPr>
          </a:p>
        </p:txBody>
      </p:sp>
      <p:grpSp>
        <p:nvGrpSpPr>
          <p:cNvPr id="59395" name="Group 4"/>
          <p:cNvGrpSpPr/>
          <p:nvPr/>
        </p:nvGrpSpPr>
        <p:grpSpPr bwMode="auto">
          <a:xfrm>
            <a:off x="736600" y="1730375"/>
            <a:ext cx="7539038" cy="4092575"/>
            <a:chOff x="795" y="878"/>
            <a:chExt cx="4126" cy="1736"/>
          </a:xfrm>
        </p:grpSpPr>
        <p:grpSp>
          <p:nvGrpSpPr>
            <p:cNvPr id="59396" name="Group 5"/>
            <p:cNvGrpSpPr/>
            <p:nvPr/>
          </p:nvGrpSpPr>
          <p:grpSpPr bwMode="auto">
            <a:xfrm>
              <a:off x="795" y="878"/>
              <a:ext cx="1469" cy="1367"/>
              <a:chOff x="2295" y="7254"/>
              <a:chExt cx="2131" cy="1899"/>
            </a:xfrm>
          </p:grpSpPr>
          <p:sp>
            <p:nvSpPr>
              <p:cNvPr id="59400" name="Text Box 6"/>
              <p:cNvSpPr txBox="1">
                <a:spLocks noChangeArrowheads="1"/>
              </p:cNvSpPr>
              <p:nvPr/>
            </p:nvSpPr>
            <p:spPr bwMode="auto">
              <a:xfrm>
                <a:off x="3055" y="863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2</a:t>
                </a:r>
                <a:endParaRPr lang="en-US" altLang="zh-CN" sz="2400" b="1">
                  <a:solidFill>
                    <a:srgbClr val="000066"/>
                  </a:solidFill>
                  <a:latin typeface="Times New Roman" panose="02020603050405020304" pitchFamily="18" charset="0"/>
                </a:endParaRPr>
              </a:p>
            </p:txBody>
          </p:sp>
          <p:sp>
            <p:nvSpPr>
              <p:cNvPr id="59401" name="Text Box 7"/>
              <p:cNvSpPr txBox="1">
                <a:spLocks noChangeArrowheads="1"/>
              </p:cNvSpPr>
              <p:nvPr/>
            </p:nvSpPr>
            <p:spPr bwMode="auto">
              <a:xfrm>
                <a:off x="3835" y="788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7</a:t>
                </a:r>
                <a:endParaRPr lang="en-US" altLang="zh-CN" sz="2400" b="1">
                  <a:solidFill>
                    <a:srgbClr val="000066"/>
                  </a:solidFill>
                  <a:latin typeface="Times New Roman" panose="02020603050405020304" pitchFamily="18" charset="0"/>
                </a:endParaRPr>
              </a:p>
            </p:txBody>
          </p:sp>
          <p:sp>
            <p:nvSpPr>
              <p:cNvPr id="59402" name="Text Box 8"/>
              <p:cNvSpPr txBox="1">
                <a:spLocks noChangeArrowheads="1"/>
              </p:cNvSpPr>
              <p:nvPr/>
            </p:nvSpPr>
            <p:spPr bwMode="auto">
              <a:xfrm>
                <a:off x="2775" y="788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1</a:t>
                </a:r>
                <a:endParaRPr lang="en-US" altLang="zh-CN" sz="2400" b="1">
                  <a:solidFill>
                    <a:srgbClr val="000066"/>
                  </a:solidFill>
                  <a:latin typeface="Times New Roman" panose="02020603050405020304" pitchFamily="18" charset="0"/>
                </a:endParaRPr>
              </a:p>
            </p:txBody>
          </p:sp>
          <p:sp>
            <p:nvSpPr>
              <p:cNvPr id="59403" name="Text Box 9"/>
              <p:cNvSpPr txBox="1">
                <a:spLocks noChangeArrowheads="1"/>
              </p:cNvSpPr>
              <p:nvPr/>
            </p:nvSpPr>
            <p:spPr bwMode="auto">
              <a:xfrm>
                <a:off x="3114" y="759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5</a:t>
                </a:r>
                <a:endParaRPr lang="en-US" altLang="zh-CN" sz="2400" b="1">
                  <a:solidFill>
                    <a:srgbClr val="000066"/>
                  </a:solidFill>
                  <a:latin typeface="Times New Roman" panose="02020603050405020304" pitchFamily="18" charset="0"/>
                </a:endParaRPr>
              </a:p>
            </p:txBody>
          </p:sp>
          <p:sp>
            <p:nvSpPr>
              <p:cNvPr id="59404" name="Text Box 10"/>
              <p:cNvSpPr txBox="1">
                <a:spLocks noChangeArrowheads="1"/>
              </p:cNvSpPr>
              <p:nvPr/>
            </p:nvSpPr>
            <p:spPr bwMode="auto">
              <a:xfrm>
                <a:off x="3515" y="7611"/>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6</a:t>
                </a:r>
                <a:endParaRPr lang="en-US" altLang="zh-CN" sz="2400" b="1">
                  <a:solidFill>
                    <a:srgbClr val="000066"/>
                  </a:solidFill>
                  <a:latin typeface="Times New Roman" panose="02020603050405020304" pitchFamily="18" charset="0"/>
                </a:endParaRPr>
              </a:p>
            </p:txBody>
          </p:sp>
          <p:sp>
            <p:nvSpPr>
              <p:cNvPr id="59405" name="Text Box 11"/>
              <p:cNvSpPr txBox="1">
                <a:spLocks noChangeArrowheads="1"/>
              </p:cNvSpPr>
              <p:nvPr/>
            </p:nvSpPr>
            <p:spPr bwMode="auto">
              <a:xfrm>
                <a:off x="3585" y="8643"/>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59406" name="Oval 12"/>
              <p:cNvSpPr>
                <a:spLocks noChangeArrowheads="1"/>
              </p:cNvSpPr>
              <p:nvPr/>
            </p:nvSpPr>
            <p:spPr bwMode="auto">
              <a:xfrm>
                <a:off x="2610" y="734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1</a:t>
                </a:r>
                <a:endParaRPr lang="en-US" altLang="zh-CN" sz="2400" b="1">
                  <a:solidFill>
                    <a:srgbClr val="000066"/>
                  </a:solidFill>
                  <a:latin typeface="Times New Roman" panose="02020603050405020304" pitchFamily="18" charset="0"/>
                </a:endParaRPr>
              </a:p>
            </p:txBody>
          </p:sp>
          <p:sp>
            <p:nvSpPr>
              <p:cNvPr id="59407" name="Oval 13"/>
              <p:cNvSpPr>
                <a:spLocks noChangeArrowheads="1"/>
              </p:cNvSpPr>
              <p:nvPr/>
            </p:nvSpPr>
            <p:spPr bwMode="auto">
              <a:xfrm>
                <a:off x="2610" y="835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59408" name="Oval 14"/>
              <p:cNvSpPr>
                <a:spLocks noChangeArrowheads="1"/>
              </p:cNvSpPr>
              <p:nvPr/>
            </p:nvSpPr>
            <p:spPr bwMode="auto">
              <a:xfrm>
                <a:off x="3821" y="8355"/>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4</a:t>
                </a:r>
                <a:endParaRPr lang="en-US" altLang="zh-CN" sz="2400" b="1">
                  <a:solidFill>
                    <a:srgbClr val="000066"/>
                  </a:solidFill>
                  <a:latin typeface="Times New Roman" panose="02020603050405020304" pitchFamily="18" charset="0"/>
                </a:endParaRPr>
              </a:p>
            </p:txBody>
          </p:sp>
          <p:sp>
            <p:nvSpPr>
              <p:cNvPr id="59409" name="Oval 15"/>
              <p:cNvSpPr>
                <a:spLocks noChangeArrowheads="1"/>
              </p:cNvSpPr>
              <p:nvPr/>
            </p:nvSpPr>
            <p:spPr bwMode="auto">
              <a:xfrm>
                <a:off x="3810" y="734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2</a:t>
                </a:r>
                <a:endParaRPr lang="en-US" altLang="zh-CN" sz="2400" b="1">
                  <a:solidFill>
                    <a:srgbClr val="000066"/>
                  </a:solidFill>
                  <a:latin typeface="Times New Roman" panose="02020603050405020304" pitchFamily="18" charset="0"/>
                </a:endParaRPr>
              </a:p>
            </p:txBody>
          </p:sp>
          <p:sp>
            <p:nvSpPr>
              <p:cNvPr id="59410" name="Oval 16"/>
              <p:cNvSpPr>
                <a:spLocks noChangeArrowheads="1"/>
              </p:cNvSpPr>
              <p:nvPr/>
            </p:nvSpPr>
            <p:spPr bwMode="auto">
              <a:xfrm>
                <a:off x="3241" y="8859"/>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5</a:t>
                </a:r>
                <a:endParaRPr lang="en-US" altLang="zh-CN" sz="2400" b="1">
                  <a:solidFill>
                    <a:srgbClr val="000066"/>
                  </a:solidFill>
                  <a:latin typeface="Times New Roman" panose="02020603050405020304" pitchFamily="18" charset="0"/>
                </a:endParaRPr>
              </a:p>
            </p:txBody>
          </p:sp>
          <p:sp>
            <p:nvSpPr>
              <p:cNvPr id="59411" name="Freeform 17"/>
              <p:cNvSpPr/>
              <p:nvPr/>
            </p:nvSpPr>
            <p:spPr bwMode="auto">
              <a:xfrm>
                <a:off x="2916" y="7482"/>
                <a:ext cx="894" cy="1"/>
              </a:xfrm>
              <a:custGeom>
                <a:avLst/>
                <a:gdLst>
                  <a:gd name="T0" fmla="*/ 0 w 894"/>
                  <a:gd name="T1" fmla="*/ 0 h 6"/>
                  <a:gd name="T2" fmla="*/ 894 w 894"/>
                  <a:gd name="T3" fmla="*/ 0 h 6"/>
                  <a:gd name="T4" fmla="*/ 0 60000 65536"/>
                  <a:gd name="T5" fmla="*/ 0 60000 65536"/>
                  <a:gd name="T6" fmla="*/ 0 w 894"/>
                  <a:gd name="T7" fmla="*/ 0 h 6"/>
                  <a:gd name="T8" fmla="*/ 894 w 894"/>
                  <a:gd name="T9" fmla="*/ 6 h 6"/>
                </a:gdLst>
                <a:ahLst/>
                <a:cxnLst>
                  <a:cxn ang="T4">
                    <a:pos x="T0" y="T1"/>
                  </a:cxn>
                  <a:cxn ang="T5">
                    <a:pos x="T2" y="T3"/>
                  </a:cxn>
                </a:cxnLst>
                <a:rect l="T6" t="T7" r="T8" b="T9"/>
                <a:pathLst>
                  <a:path w="894" h="6">
                    <a:moveTo>
                      <a:pt x="0" y="0"/>
                    </a:moveTo>
                    <a:lnTo>
                      <a:pt x="894" y="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2" name="Freeform 18"/>
              <p:cNvSpPr/>
              <p:nvPr/>
            </p:nvSpPr>
            <p:spPr bwMode="auto">
              <a:xfrm>
                <a:off x="2756" y="7632"/>
                <a:ext cx="4" cy="716"/>
              </a:xfrm>
              <a:custGeom>
                <a:avLst/>
                <a:gdLst>
                  <a:gd name="T0" fmla="*/ 0 w 4"/>
                  <a:gd name="T1" fmla="*/ 0 h 716"/>
                  <a:gd name="T2" fmla="*/ 4 w 4"/>
                  <a:gd name="T3" fmla="*/ 716 h 716"/>
                  <a:gd name="T4" fmla="*/ 0 60000 65536"/>
                  <a:gd name="T5" fmla="*/ 0 60000 65536"/>
                  <a:gd name="T6" fmla="*/ 0 w 4"/>
                  <a:gd name="T7" fmla="*/ 0 h 716"/>
                  <a:gd name="T8" fmla="*/ 4 w 4"/>
                  <a:gd name="T9" fmla="*/ 716 h 716"/>
                </a:gdLst>
                <a:ahLst/>
                <a:cxnLst>
                  <a:cxn ang="T4">
                    <a:pos x="T0" y="T1"/>
                  </a:cxn>
                  <a:cxn ang="T5">
                    <a:pos x="T2" y="T3"/>
                  </a:cxn>
                </a:cxnLst>
                <a:rect l="T6" t="T7" r="T8" b="T9"/>
                <a:pathLst>
                  <a:path w="4" h="716">
                    <a:moveTo>
                      <a:pt x="0" y="0"/>
                    </a:moveTo>
                    <a:lnTo>
                      <a:pt x="4" y="71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3" name="Freeform 19"/>
              <p:cNvSpPr/>
              <p:nvPr/>
            </p:nvSpPr>
            <p:spPr bwMode="auto">
              <a:xfrm>
                <a:off x="2876" y="7584"/>
                <a:ext cx="984" cy="834"/>
              </a:xfrm>
              <a:custGeom>
                <a:avLst/>
                <a:gdLst>
                  <a:gd name="T0" fmla="*/ 0 w 984"/>
                  <a:gd name="T1" fmla="*/ 0 h 834"/>
                  <a:gd name="T2" fmla="*/ 984 w 984"/>
                  <a:gd name="T3" fmla="*/ 834 h 834"/>
                  <a:gd name="T4" fmla="*/ 0 60000 65536"/>
                  <a:gd name="T5" fmla="*/ 0 60000 65536"/>
                  <a:gd name="T6" fmla="*/ 0 w 984"/>
                  <a:gd name="T7" fmla="*/ 0 h 834"/>
                  <a:gd name="T8" fmla="*/ 984 w 984"/>
                  <a:gd name="T9" fmla="*/ 834 h 834"/>
                </a:gdLst>
                <a:ahLst/>
                <a:cxnLst>
                  <a:cxn ang="T4">
                    <a:pos x="T0" y="T1"/>
                  </a:cxn>
                  <a:cxn ang="T5">
                    <a:pos x="T2" y="T3"/>
                  </a:cxn>
                </a:cxnLst>
                <a:rect l="T6" t="T7" r="T8" b="T9"/>
                <a:pathLst>
                  <a:path w="984" h="834">
                    <a:moveTo>
                      <a:pt x="0" y="0"/>
                    </a:moveTo>
                    <a:lnTo>
                      <a:pt x="984" y="834"/>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4" name="Freeform 20"/>
              <p:cNvSpPr/>
              <p:nvPr/>
            </p:nvSpPr>
            <p:spPr bwMode="auto">
              <a:xfrm>
                <a:off x="3976" y="7632"/>
                <a:ext cx="5" cy="726"/>
              </a:xfrm>
              <a:custGeom>
                <a:avLst/>
                <a:gdLst>
                  <a:gd name="T0" fmla="*/ 0 w 4"/>
                  <a:gd name="T1" fmla="*/ 0 h 756"/>
                  <a:gd name="T2" fmla="*/ 12967 w 4"/>
                  <a:gd name="T3" fmla="*/ 169 h 756"/>
                  <a:gd name="T4" fmla="*/ 0 60000 65536"/>
                  <a:gd name="T5" fmla="*/ 0 60000 65536"/>
                  <a:gd name="T6" fmla="*/ 0 w 4"/>
                  <a:gd name="T7" fmla="*/ 0 h 756"/>
                  <a:gd name="T8" fmla="*/ 4 w 4"/>
                  <a:gd name="T9" fmla="*/ 756 h 756"/>
                </a:gdLst>
                <a:ahLst/>
                <a:cxnLst>
                  <a:cxn ang="T4">
                    <a:pos x="T0" y="T1"/>
                  </a:cxn>
                  <a:cxn ang="T5">
                    <a:pos x="T2" y="T3"/>
                  </a:cxn>
                </a:cxnLst>
                <a:rect l="T6" t="T7" r="T8" b="T9"/>
                <a:pathLst>
                  <a:path w="4" h="756">
                    <a:moveTo>
                      <a:pt x="0" y="0"/>
                    </a:moveTo>
                    <a:lnTo>
                      <a:pt x="4" y="75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5" name="Freeform 21"/>
              <p:cNvSpPr/>
              <p:nvPr/>
            </p:nvSpPr>
            <p:spPr bwMode="auto">
              <a:xfrm>
                <a:off x="2880" y="7608"/>
                <a:ext cx="980" cy="780"/>
              </a:xfrm>
              <a:custGeom>
                <a:avLst/>
                <a:gdLst>
                  <a:gd name="T0" fmla="*/ 0 w 980"/>
                  <a:gd name="T1" fmla="*/ 780 h 780"/>
                  <a:gd name="T2" fmla="*/ 980 w 980"/>
                  <a:gd name="T3" fmla="*/ 0 h 780"/>
                  <a:gd name="T4" fmla="*/ 0 60000 65536"/>
                  <a:gd name="T5" fmla="*/ 0 60000 65536"/>
                  <a:gd name="T6" fmla="*/ 0 w 980"/>
                  <a:gd name="T7" fmla="*/ 0 h 780"/>
                  <a:gd name="T8" fmla="*/ 980 w 980"/>
                  <a:gd name="T9" fmla="*/ 780 h 780"/>
                </a:gdLst>
                <a:ahLst/>
                <a:cxnLst>
                  <a:cxn ang="T4">
                    <a:pos x="T0" y="T1"/>
                  </a:cxn>
                  <a:cxn ang="T5">
                    <a:pos x="T2" y="T3"/>
                  </a:cxn>
                </a:cxnLst>
                <a:rect l="T6" t="T7" r="T8" b="T9"/>
                <a:pathLst>
                  <a:path w="980" h="780">
                    <a:moveTo>
                      <a:pt x="0" y="780"/>
                    </a:moveTo>
                    <a:lnTo>
                      <a:pt x="98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6" name="Freeform 22"/>
              <p:cNvSpPr/>
              <p:nvPr/>
            </p:nvSpPr>
            <p:spPr bwMode="auto">
              <a:xfrm>
                <a:off x="2906" y="8518"/>
                <a:ext cx="915" cy="2"/>
              </a:xfrm>
              <a:custGeom>
                <a:avLst/>
                <a:gdLst>
                  <a:gd name="T0" fmla="*/ 0 w 894"/>
                  <a:gd name="T1" fmla="*/ 1 h 4"/>
                  <a:gd name="T2" fmla="*/ 2108 w 894"/>
                  <a:gd name="T3" fmla="*/ 0 h 4"/>
                  <a:gd name="T4" fmla="*/ 0 60000 65536"/>
                  <a:gd name="T5" fmla="*/ 0 60000 65536"/>
                  <a:gd name="T6" fmla="*/ 0 w 894"/>
                  <a:gd name="T7" fmla="*/ 0 h 4"/>
                  <a:gd name="T8" fmla="*/ 894 w 894"/>
                  <a:gd name="T9" fmla="*/ 4 h 4"/>
                </a:gdLst>
                <a:ahLst/>
                <a:cxnLst>
                  <a:cxn ang="T4">
                    <a:pos x="T0" y="T1"/>
                  </a:cxn>
                  <a:cxn ang="T5">
                    <a:pos x="T2" y="T3"/>
                  </a:cxn>
                </a:cxnLst>
                <a:rect l="T6" t="T7" r="T8" b="T9"/>
                <a:pathLst>
                  <a:path w="894" h="4">
                    <a:moveTo>
                      <a:pt x="0" y="4"/>
                    </a:moveTo>
                    <a:lnTo>
                      <a:pt x="894"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7" name="Freeform 23"/>
              <p:cNvSpPr/>
              <p:nvPr/>
            </p:nvSpPr>
            <p:spPr bwMode="auto">
              <a:xfrm>
                <a:off x="2820" y="8628"/>
                <a:ext cx="431" cy="327"/>
              </a:xfrm>
              <a:custGeom>
                <a:avLst/>
                <a:gdLst>
                  <a:gd name="T0" fmla="*/ 0 w 420"/>
                  <a:gd name="T1" fmla="*/ 0 h 380"/>
                  <a:gd name="T2" fmla="*/ 1095 w 420"/>
                  <a:gd name="T3" fmla="*/ 3 h 380"/>
                  <a:gd name="T4" fmla="*/ 0 60000 65536"/>
                  <a:gd name="T5" fmla="*/ 0 60000 65536"/>
                  <a:gd name="T6" fmla="*/ 0 w 420"/>
                  <a:gd name="T7" fmla="*/ 0 h 380"/>
                  <a:gd name="T8" fmla="*/ 420 w 420"/>
                  <a:gd name="T9" fmla="*/ 380 h 380"/>
                </a:gdLst>
                <a:ahLst/>
                <a:cxnLst>
                  <a:cxn ang="T4">
                    <a:pos x="T0" y="T1"/>
                  </a:cxn>
                  <a:cxn ang="T5">
                    <a:pos x="T2" y="T3"/>
                  </a:cxn>
                </a:cxnLst>
                <a:rect l="T6" t="T7" r="T8" b="T9"/>
                <a:pathLst>
                  <a:path w="420" h="380">
                    <a:moveTo>
                      <a:pt x="0" y="0"/>
                    </a:moveTo>
                    <a:lnTo>
                      <a:pt x="420" y="38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8" name="Freeform 24"/>
              <p:cNvSpPr/>
              <p:nvPr/>
            </p:nvSpPr>
            <p:spPr bwMode="auto">
              <a:xfrm>
                <a:off x="3521" y="8628"/>
                <a:ext cx="390" cy="318"/>
              </a:xfrm>
              <a:custGeom>
                <a:avLst/>
                <a:gdLst>
                  <a:gd name="T0" fmla="*/ 0 w 450"/>
                  <a:gd name="T1" fmla="*/ 2 h 410"/>
                  <a:gd name="T2" fmla="*/ 3 w 450"/>
                  <a:gd name="T3" fmla="*/ 0 h 410"/>
                  <a:gd name="T4" fmla="*/ 0 60000 65536"/>
                  <a:gd name="T5" fmla="*/ 0 60000 65536"/>
                  <a:gd name="T6" fmla="*/ 0 w 450"/>
                  <a:gd name="T7" fmla="*/ 0 h 410"/>
                  <a:gd name="T8" fmla="*/ 450 w 450"/>
                  <a:gd name="T9" fmla="*/ 410 h 410"/>
                </a:gdLst>
                <a:ahLst/>
                <a:cxnLst>
                  <a:cxn ang="T4">
                    <a:pos x="T0" y="T1"/>
                  </a:cxn>
                  <a:cxn ang="T5">
                    <a:pos x="T2" y="T3"/>
                  </a:cxn>
                </a:cxnLst>
                <a:rect l="T6" t="T7" r="T8" b="T9"/>
                <a:pathLst>
                  <a:path w="450" h="410">
                    <a:moveTo>
                      <a:pt x="0" y="410"/>
                    </a:moveTo>
                    <a:lnTo>
                      <a:pt x="45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9" name="Freeform 25"/>
              <p:cNvSpPr/>
              <p:nvPr/>
            </p:nvSpPr>
            <p:spPr bwMode="auto">
              <a:xfrm>
                <a:off x="2404" y="7618"/>
                <a:ext cx="827" cy="1370"/>
              </a:xfrm>
              <a:custGeom>
                <a:avLst/>
                <a:gdLst>
                  <a:gd name="T0" fmla="*/ 250 w 827"/>
                  <a:gd name="T1" fmla="*/ 0 h 1370"/>
                  <a:gd name="T2" fmla="*/ 96 w 827"/>
                  <a:gd name="T3" fmla="*/ 852 h 1370"/>
                  <a:gd name="T4" fmla="*/ 827 w 827"/>
                  <a:gd name="T5" fmla="*/ 1370 h 1370"/>
                  <a:gd name="T6" fmla="*/ 0 60000 65536"/>
                  <a:gd name="T7" fmla="*/ 0 60000 65536"/>
                  <a:gd name="T8" fmla="*/ 0 60000 65536"/>
                  <a:gd name="T9" fmla="*/ 0 w 827"/>
                  <a:gd name="T10" fmla="*/ 0 h 1370"/>
                  <a:gd name="T11" fmla="*/ 827 w 827"/>
                  <a:gd name="T12" fmla="*/ 1370 h 1370"/>
                </a:gdLst>
                <a:ahLst/>
                <a:cxnLst>
                  <a:cxn ang="T6">
                    <a:pos x="T0" y="T1"/>
                  </a:cxn>
                  <a:cxn ang="T7">
                    <a:pos x="T2" y="T3"/>
                  </a:cxn>
                  <a:cxn ang="T8">
                    <a:pos x="T4" y="T5"/>
                  </a:cxn>
                </a:cxnLst>
                <a:rect l="T9" t="T10" r="T11" b="T12"/>
                <a:pathLst>
                  <a:path w="827" h="1370">
                    <a:moveTo>
                      <a:pt x="250" y="0"/>
                    </a:moveTo>
                    <a:cubicBezTo>
                      <a:pt x="224" y="142"/>
                      <a:pt x="0" y="623"/>
                      <a:pt x="96" y="852"/>
                    </a:cubicBezTo>
                    <a:cubicBezTo>
                      <a:pt x="194" y="1168"/>
                      <a:pt x="675" y="1262"/>
                      <a:pt x="827" y="137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20" name="Freeform 26"/>
              <p:cNvSpPr/>
              <p:nvPr/>
            </p:nvSpPr>
            <p:spPr bwMode="auto">
              <a:xfrm>
                <a:off x="3551" y="7618"/>
                <a:ext cx="756" cy="1358"/>
              </a:xfrm>
              <a:custGeom>
                <a:avLst/>
                <a:gdLst>
                  <a:gd name="T0" fmla="*/ 320 w 766"/>
                  <a:gd name="T1" fmla="*/ 0 h 1397"/>
                  <a:gd name="T2" fmla="*/ 416 w 766"/>
                  <a:gd name="T3" fmla="*/ 317 h 1397"/>
                  <a:gd name="T4" fmla="*/ 0 w 766"/>
                  <a:gd name="T5" fmla="*/ 490 h 1397"/>
                  <a:gd name="T6" fmla="*/ 0 60000 65536"/>
                  <a:gd name="T7" fmla="*/ 0 60000 65536"/>
                  <a:gd name="T8" fmla="*/ 0 60000 65536"/>
                  <a:gd name="T9" fmla="*/ 0 w 766"/>
                  <a:gd name="T10" fmla="*/ 0 h 1397"/>
                  <a:gd name="T11" fmla="*/ 766 w 766"/>
                  <a:gd name="T12" fmla="*/ 1397 h 1397"/>
                </a:gdLst>
                <a:ahLst/>
                <a:cxnLst>
                  <a:cxn ang="T6">
                    <a:pos x="T0" y="T1"/>
                  </a:cxn>
                  <a:cxn ang="T7">
                    <a:pos x="T2" y="T3"/>
                  </a:cxn>
                  <a:cxn ang="T8">
                    <a:pos x="T4" y="T5"/>
                  </a:cxn>
                </a:cxnLst>
                <a:rect l="T9" t="T10" r="T11" b="T12"/>
                <a:pathLst>
                  <a:path w="766" h="1397">
                    <a:moveTo>
                      <a:pt x="519" y="0"/>
                    </a:moveTo>
                    <a:cubicBezTo>
                      <a:pt x="546" y="150"/>
                      <a:pt x="766" y="669"/>
                      <a:pt x="679" y="902"/>
                    </a:cubicBezTo>
                    <a:cubicBezTo>
                      <a:pt x="592" y="1135"/>
                      <a:pt x="141" y="1294"/>
                      <a:pt x="0" y="1397"/>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21" name="Text Box 27"/>
              <p:cNvSpPr txBox="1">
                <a:spLocks noChangeArrowheads="1"/>
              </p:cNvSpPr>
              <p:nvPr/>
            </p:nvSpPr>
            <p:spPr bwMode="auto">
              <a:xfrm>
                <a:off x="3315" y="725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59422" name="Text Box 28"/>
              <p:cNvSpPr txBox="1">
                <a:spLocks noChangeArrowheads="1"/>
              </p:cNvSpPr>
              <p:nvPr/>
            </p:nvSpPr>
            <p:spPr bwMode="auto">
              <a:xfrm>
                <a:off x="4265" y="7833"/>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9</a:t>
                </a:r>
                <a:endParaRPr lang="en-US" altLang="zh-CN" sz="2400" b="1">
                  <a:solidFill>
                    <a:srgbClr val="000066"/>
                  </a:solidFill>
                  <a:latin typeface="Times New Roman" panose="02020603050405020304" pitchFamily="18" charset="0"/>
                </a:endParaRPr>
              </a:p>
            </p:txBody>
          </p:sp>
          <p:sp>
            <p:nvSpPr>
              <p:cNvPr id="59423" name="Text Box 29"/>
              <p:cNvSpPr txBox="1">
                <a:spLocks noChangeArrowheads="1"/>
              </p:cNvSpPr>
              <p:nvPr/>
            </p:nvSpPr>
            <p:spPr bwMode="auto">
              <a:xfrm>
                <a:off x="2295" y="785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8</a:t>
                </a:r>
                <a:endParaRPr lang="en-US" altLang="zh-CN" sz="2400" b="1">
                  <a:solidFill>
                    <a:srgbClr val="000066"/>
                  </a:solidFill>
                  <a:latin typeface="Times New Roman" panose="02020603050405020304" pitchFamily="18" charset="0"/>
                </a:endParaRPr>
              </a:p>
            </p:txBody>
          </p:sp>
          <p:sp>
            <p:nvSpPr>
              <p:cNvPr id="59424" name="Text Box 30"/>
              <p:cNvSpPr txBox="1">
                <a:spLocks noChangeArrowheads="1"/>
              </p:cNvSpPr>
              <p:nvPr/>
            </p:nvSpPr>
            <p:spPr bwMode="auto">
              <a:xfrm>
                <a:off x="3285" y="8298"/>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4</a:t>
                </a:r>
                <a:endParaRPr lang="en-US" altLang="zh-CN" sz="2400" b="1">
                  <a:solidFill>
                    <a:srgbClr val="000066"/>
                  </a:solidFill>
                  <a:latin typeface="Times New Roman" panose="02020603050405020304" pitchFamily="18" charset="0"/>
                </a:endParaRPr>
              </a:p>
            </p:txBody>
          </p:sp>
        </p:grpSp>
        <p:sp>
          <p:nvSpPr>
            <p:cNvPr id="59397" name="Text Box 31"/>
            <p:cNvSpPr txBox="1">
              <a:spLocks noChangeArrowheads="1"/>
            </p:cNvSpPr>
            <p:nvPr/>
          </p:nvSpPr>
          <p:spPr bwMode="auto">
            <a:xfrm>
              <a:off x="3003" y="934"/>
              <a:ext cx="1918" cy="1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04000"/>
                </a:lnSpc>
              </a:pPr>
              <a:endParaRPr lang="zh-CN" altLang="en-US" sz="2400" b="1">
                <a:solidFill>
                  <a:srgbClr val="000066"/>
                </a:solidFill>
                <a:latin typeface="Times New Roman" panose="02020603050405020304" pitchFamily="18" charset="0"/>
              </a:endParaRPr>
            </a:p>
            <a:p>
              <a:pPr algn="just" eaLnBrk="1" hangingPunct="1">
                <a:lnSpc>
                  <a:spcPct val="104000"/>
                </a:lnSpc>
              </a:pPr>
              <a:endParaRPr lang="zh-CN" altLang="en-US" sz="2400" b="1">
                <a:solidFill>
                  <a:srgbClr val="000066"/>
                </a:solidFill>
                <a:latin typeface="Times New Roman" panose="02020603050405020304" pitchFamily="18" charset="0"/>
              </a:endParaRPr>
            </a:p>
            <a:p>
              <a:pPr algn="just" eaLnBrk="1" hangingPunct="1">
                <a:lnSpc>
                  <a:spcPct val="104000"/>
                </a:lnSpc>
              </a:pPr>
              <a:endParaRPr lang="zh-CN" altLang="en-US" sz="2400" b="1" i="1">
                <a:solidFill>
                  <a:srgbClr val="000066"/>
                </a:solidFill>
                <a:latin typeface="Times New Roman" panose="02020603050405020304" pitchFamily="18" charset="0"/>
              </a:endParaRPr>
            </a:p>
            <a:p>
              <a:pPr algn="just" eaLnBrk="1" hangingPunct="1"/>
              <a:r>
                <a:rPr lang="en-US" altLang="zh-CN" sz="2400" b="1" i="1">
                  <a:solidFill>
                    <a:srgbClr val="000066"/>
                  </a:solidFill>
                  <a:latin typeface="Times New Roman" panose="02020603050405020304" pitchFamily="18" charset="0"/>
                </a:rPr>
                <a:t>C</a:t>
              </a:r>
              <a:r>
                <a:rPr lang="en-US" altLang="zh-CN" sz="2400" b="1">
                  <a:solidFill>
                    <a:srgbClr val="000066"/>
                  </a:solidFill>
                  <a:latin typeface="Times New Roman" panose="02020603050405020304" pitchFamily="18" charset="0"/>
                </a:rPr>
                <a:t>=</a:t>
              </a:r>
              <a:endParaRPr lang="en-US" altLang="zh-CN" sz="2400" b="1">
                <a:solidFill>
                  <a:srgbClr val="000066"/>
                </a:solidFill>
                <a:latin typeface="Times New Roman" panose="02020603050405020304" pitchFamily="18" charset="0"/>
              </a:endParaRPr>
            </a:p>
          </p:txBody>
        </p:sp>
        <p:sp>
          <p:nvSpPr>
            <p:cNvPr id="59398" name="AutoShape 32"/>
            <p:cNvSpPr>
              <a:spLocks noChangeArrowheads="1"/>
            </p:cNvSpPr>
            <p:nvPr/>
          </p:nvSpPr>
          <p:spPr bwMode="auto">
            <a:xfrm>
              <a:off x="3302" y="990"/>
              <a:ext cx="1481" cy="1030"/>
            </a:xfrm>
            <a:prstGeom prst="bracketPair">
              <a:avLst>
                <a:gd name="adj" fmla="val 4875"/>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54000" tIns="10800" rIns="18000" bIns="108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pPr>
              <a:r>
                <a:rPr lang="zh-CN" altLang="en-US" sz="2400" b="1">
                  <a:solidFill>
                    <a:srgbClr val="000066"/>
                  </a:solidFill>
                  <a:latin typeface="Times New Roman" panose="02020603050405020304" pitchFamily="18" charset="0"/>
                </a:rPr>
                <a:t>∞    </a:t>
              </a:r>
              <a:r>
                <a:rPr lang="en-US" altLang="zh-CN" sz="2400" b="1">
                  <a:solidFill>
                    <a:srgbClr val="000066"/>
                  </a:solidFill>
                  <a:latin typeface="Times New Roman" panose="02020603050405020304" pitchFamily="18" charset="0"/>
                </a:rPr>
                <a:t>3     1     5     8</a:t>
              </a:r>
              <a:endParaRPr lang="en-US" altLang="zh-CN" sz="2400" b="1">
                <a:solidFill>
                  <a:srgbClr val="000066"/>
                </a:solidFill>
                <a:latin typeface="Times New Roman" panose="02020603050405020304" pitchFamily="18" charset="0"/>
              </a:endParaRPr>
            </a:p>
            <a:p>
              <a:pPr algn="just" eaLnBrk="1" hangingPunct="1">
                <a:lnSpc>
                  <a:spcPct val="120000"/>
                </a:lnSpc>
              </a:pPr>
              <a:r>
                <a:rPr lang="en-US" altLang="zh-CN" sz="2400" b="1">
                  <a:solidFill>
                    <a:srgbClr val="000066"/>
                  </a:solidFill>
                  <a:latin typeface="Times New Roman" panose="02020603050405020304" pitchFamily="18" charset="0"/>
                </a:rPr>
                <a:t> 3    ∞    6     7     9</a:t>
              </a:r>
              <a:endParaRPr lang="en-US" altLang="zh-CN" sz="2400" b="1">
                <a:solidFill>
                  <a:srgbClr val="000066"/>
                </a:solidFill>
                <a:latin typeface="Times New Roman" panose="02020603050405020304" pitchFamily="18" charset="0"/>
              </a:endParaRPr>
            </a:p>
            <a:p>
              <a:pPr algn="just" eaLnBrk="1" hangingPunct="1">
                <a:lnSpc>
                  <a:spcPct val="120000"/>
                </a:lnSpc>
              </a:pPr>
              <a:r>
                <a:rPr lang="en-US" altLang="zh-CN" sz="2400" b="1">
                  <a:solidFill>
                    <a:srgbClr val="000066"/>
                  </a:solidFill>
                  <a:latin typeface="Times New Roman" panose="02020603050405020304" pitchFamily="18" charset="0"/>
                </a:rPr>
                <a:t> 1     6    ∞    4     2</a:t>
              </a:r>
              <a:endParaRPr lang="en-US" altLang="zh-CN" sz="2400" b="1">
                <a:solidFill>
                  <a:srgbClr val="000066"/>
                </a:solidFill>
                <a:latin typeface="Times New Roman" panose="02020603050405020304" pitchFamily="18" charset="0"/>
              </a:endParaRPr>
            </a:p>
            <a:p>
              <a:pPr algn="just" eaLnBrk="1" hangingPunct="1">
                <a:lnSpc>
                  <a:spcPct val="120000"/>
                </a:lnSpc>
              </a:pPr>
              <a:r>
                <a:rPr lang="en-US" altLang="zh-CN" sz="2400" b="1">
                  <a:solidFill>
                    <a:srgbClr val="000066"/>
                  </a:solidFill>
                  <a:latin typeface="Times New Roman" panose="02020603050405020304" pitchFamily="18" charset="0"/>
                </a:rPr>
                <a:t> 5     7     4    ∞    3</a:t>
              </a:r>
              <a:endParaRPr lang="en-US" altLang="zh-CN" sz="2400" b="1">
                <a:solidFill>
                  <a:srgbClr val="000066"/>
                </a:solidFill>
                <a:latin typeface="Times New Roman" panose="02020603050405020304" pitchFamily="18" charset="0"/>
              </a:endParaRPr>
            </a:p>
            <a:p>
              <a:pPr algn="just" eaLnBrk="1" hangingPunct="1">
                <a:lnSpc>
                  <a:spcPct val="120000"/>
                </a:lnSpc>
              </a:pPr>
              <a:r>
                <a:rPr lang="en-US" altLang="zh-CN" sz="2400" b="1">
                  <a:solidFill>
                    <a:srgbClr val="000066"/>
                  </a:solidFill>
                  <a:latin typeface="Times New Roman" panose="02020603050405020304" pitchFamily="18" charset="0"/>
                </a:rPr>
                <a:t> 8     9     2     3    ∞</a:t>
              </a:r>
              <a:endParaRPr lang="en-US" altLang="zh-CN" sz="2400" b="1">
                <a:solidFill>
                  <a:srgbClr val="000066"/>
                </a:solidFill>
                <a:latin typeface="Times New Roman" panose="02020603050405020304" pitchFamily="18" charset="0"/>
              </a:endParaRPr>
            </a:p>
          </p:txBody>
        </p:sp>
        <p:sp>
          <p:nvSpPr>
            <p:cNvPr id="59399" name="Text Box 33"/>
            <p:cNvSpPr txBox="1">
              <a:spLocks noChangeArrowheads="1"/>
            </p:cNvSpPr>
            <p:nvPr/>
          </p:nvSpPr>
          <p:spPr bwMode="auto">
            <a:xfrm>
              <a:off x="1068" y="2307"/>
              <a:ext cx="3707"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a:solidFill>
                    <a:srgbClr val="000066"/>
                  </a:solidFill>
                  <a:latin typeface="Times New Roman" panose="02020603050405020304" pitchFamily="18" charset="0"/>
                </a:rPr>
                <a:t>(a) </a:t>
              </a:r>
              <a:r>
                <a:rPr lang="zh-CN" altLang="en-US" sz="2400" b="1">
                  <a:solidFill>
                    <a:srgbClr val="000066"/>
                  </a:solidFill>
                  <a:latin typeface="Times New Roman" panose="02020603050405020304" pitchFamily="18" charset="0"/>
                </a:rPr>
                <a:t>一个无向图                        </a:t>
              </a:r>
              <a:r>
                <a:rPr lang="en-US" altLang="zh-CN" sz="2400" b="1">
                  <a:solidFill>
                    <a:srgbClr val="000066"/>
                  </a:solidFill>
                  <a:latin typeface="Times New Roman" panose="02020603050405020304" pitchFamily="18" charset="0"/>
                </a:rPr>
                <a:t>(b) </a:t>
              </a:r>
              <a:r>
                <a:rPr lang="zh-CN" altLang="en-US" sz="2400" b="1">
                  <a:solidFill>
                    <a:srgbClr val="000066"/>
                  </a:solidFill>
                  <a:latin typeface="Times New Roman" panose="02020603050405020304" pitchFamily="18" charset="0"/>
                </a:rPr>
                <a:t>无向图的代价矩阵</a:t>
              </a:r>
              <a:endParaRPr lang="zh-CN" altLang="en-US" sz="2400" b="1">
                <a:solidFill>
                  <a:srgbClr val="000066"/>
                </a:solidFill>
                <a:latin typeface="Times New Roman" panose="02020603050405020304" pitchFamily="18" charset="0"/>
              </a:endParaRPr>
            </a:p>
          </p:txBody>
        </p:sp>
      </p:grpSp>
    </p:spTree>
    <p:custDataLst>
      <p:tags r:id="rId1"/>
    </p:custData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矩形 2"/>
          <p:cNvSpPr>
            <a:spLocks noChangeArrowheads="1"/>
          </p:cNvSpPr>
          <p:nvPr/>
        </p:nvSpPr>
        <p:spPr bwMode="auto">
          <a:xfrm>
            <a:off x="292100" y="376238"/>
            <a:ext cx="45132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货郎担问题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5" name="内容占位符 2"/>
          <p:cNvSpPr>
            <a:spLocks noGrp="1"/>
          </p:cNvSpPr>
          <p:nvPr>
            <p:ph idx="1"/>
          </p:nvPr>
        </p:nvSpPr>
        <p:spPr>
          <a:xfrm>
            <a:off x="388938" y="1108075"/>
            <a:ext cx="8178800" cy="4457700"/>
          </a:xfrm>
        </p:spPr>
        <p:txBody>
          <a:bodyPr/>
          <a:lstStyle/>
          <a:p>
            <a:pPr marL="0" indent="0" defTabSz="914400" eaLnBrk="1" fontAlgn="auto" hangingPunct="1">
              <a:lnSpc>
                <a:spcPct val="100000"/>
              </a:lnSpc>
              <a:spcBef>
                <a:spcPts val="0"/>
              </a:spcBef>
              <a:spcAft>
                <a:spcPts val="0"/>
              </a:spcAft>
              <a:buClrTx/>
              <a:buSzTx/>
              <a:buFontTx/>
              <a:buNone/>
              <a:defRPr/>
            </a:pPr>
            <a:r>
              <a:rPr lang="zh-CN" altLang="en-US" sz="3200" b="1" kern="0" dirty="0" smtClean="0">
                <a:solidFill>
                  <a:srgbClr val="FF0000"/>
                </a:solidFill>
                <a:latin typeface="华文楷体" panose="02010600040101010101" pitchFamily="2" charset="-122"/>
                <a:ea typeface="华文楷体" panose="02010600040101010101" pitchFamily="2" charset="-122"/>
              </a:rPr>
              <a:t>关于界的思考</a:t>
            </a:r>
            <a:endParaRPr lang="zh-CN" altLang="en-US" sz="3200" b="1" kern="0" dirty="0" smtClean="0">
              <a:solidFill>
                <a:srgbClr val="FF0000"/>
              </a:solidFill>
              <a:latin typeface="华文楷体" panose="02010600040101010101" pitchFamily="2" charset="-122"/>
              <a:ea typeface="华文楷体" panose="02010600040101010101" pitchFamily="2" charset="-122"/>
            </a:endParaRPr>
          </a:p>
        </p:txBody>
      </p:sp>
      <p:sp>
        <p:nvSpPr>
          <p:cNvPr id="60420" name="Text Box 5"/>
          <p:cNvSpPr txBox="1">
            <a:spLocks noChangeArrowheads="1"/>
          </p:cNvSpPr>
          <p:nvPr/>
        </p:nvSpPr>
        <p:spPr bwMode="auto">
          <a:xfrm>
            <a:off x="528638" y="1692275"/>
            <a:ext cx="8099425" cy="739775"/>
          </a:xfrm>
          <a:prstGeom prst="rect">
            <a:avLst/>
          </a:prstGeom>
          <a:solidFill>
            <a:srgbClr val="CCFFFF"/>
          </a:solidFill>
          <a:ln w="25400">
            <a:solidFill>
              <a:srgbClr val="FF66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Ø"/>
            </a:pPr>
            <a:r>
              <a:rPr lang="zh-CN" altLang="en-US" sz="2400" b="1">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问题上界：</a:t>
            </a:r>
            <a:endParaRPr lang="zh-CN" altLang="en-US" sz="2400" b="1">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矩形 6"/>
          <p:cNvSpPr/>
          <p:nvPr/>
        </p:nvSpPr>
        <p:spPr>
          <a:xfrm>
            <a:off x="515938" y="2478088"/>
            <a:ext cx="8121650" cy="1200150"/>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eaLnBrk="1" hangingPunct="1">
              <a:lnSpc>
                <a:spcPct val="150000"/>
              </a:lnSpc>
              <a:defRPr/>
            </a:pP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贪心法可求得问题近似解</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1→3 → 5 → 4 → 2 → 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，其路径长度为</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1+2+3+7+3=16</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，作为问题上界</a:t>
            </a:r>
            <a:r>
              <a:rPr lang="en-US" altLang="zh-CN" sz="2400" b="1" dirty="0" err="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ub</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2" name="Group 4"/>
          <p:cNvGrpSpPr/>
          <p:nvPr/>
        </p:nvGrpSpPr>
        <p:grpSpPr bwMode="auto">
          <a:xfrm>
            <a:off x="519113" y="3856038"/>
            <a:ext cx="8089900" cy="2806700"/>
            <a:chOff x="799" y="876"/>
            <a:chExt cx="4122" cy="1367"/>
          </a:xfrm>
        </p:grpSpPr>
        <p:grpSp>
          <p:nvGrpSpPr>
            <p:cNvPr id="60423" name="Group 5"/>
            <p:cNvGrpSpPr/>
            <p:nvPr/>
          </p:nvGrpSpPr>
          <p:grpSpPr bwMode="auto">
            <a:xfrm>
              <a:off x="799" y="876"/>
              <a:ext cx="1469" cy="1367"/>
              <a:chOff x="2295" y="7254"/>
              <a:chExt cx="2131" cy="1899"/>
            </a:xfrm>
          </p:grpSpPr>
          <p:sp>
            <p:nvSpPr>
              <p:cNvPr id="60426" name="Text Box 6"/>
              <p:cNvSpPr txBox="1">
                <a:spLocks noChangeArrowheads="1"/>
              </p:cNvSpPr>
              <p:nvPr/>
            </p:nvSpPr>
            <p:spPr bwMode="auto">
              <a:xfrm>
                <a:off x="3055" y="863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2</a:t>
                </a:r>
                <a:endParaRPr lang="en-US" altLang="zh-CN" sz="2400" b="1">
                  <a:solidFill>
                    <a:srgbClr val="000066"/>
                  </a:solidFill>
                  <a:latin typeface="Times New Roman" panose="02020603050405020304" pitchFamily="18" charset="0"/>
                </a:endParaRPr>
              </a:p>
            </p:txBody>
          </p:sp>
          <p:sp>
            <p:nvSpPr>
              <p:cNvPr id="60427" name="Text Box 7"/>
              <p:cNvSpPr txBox="1">
                <a:spLocks noChangeArrowheads="1"/>
              </p:cNvSpPr>
              <p:nvPr/>
            </p:nvSpPr>
            <p:spPr bwMode="auto">
              <a:xfrm>
                <a:off x="3835" y="788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7</a:t>
                </a:r>
                <a:endParaRPr lang="en-US" altLang="zh-CN" sz="2400" b="1">
                  <a:solidFill>
                    <a:srgbClr val="000066"/>
                  </a:solidFill>
                  <a:latin typeface="Times New Roman" panose="02020603050405020304" pitchFamily="18" charset="0"/>
                </a:endParaRPr>
              </a:p>
            </p:txBody>
          </p:sp>
          <p:sp>
            <p:nvSpPr>
              <p:cNvPr id="60428" name="Text Box 8"/>
              <p:cNvSpPr txBox="1">
                <a:spLocks noChangeArrowheads="1"/>
              </p:cNvSpPr>
              <p:nvPr/>
            </p:nvSpPr>
            <p:spPr bwMode="auto">
              <a:xfrm>
                <a:off x="2775" y="788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1</a:t>
                </a:r>
                <a:endParaRPr lang="en-US" altLang="zh-CN" sz="2400" b="1">
                  <a:solidFill>
                    <a:srgbClr val="000066"/>
                  </a:solidFill>
                  <a:latin typeface="Times New Roman" panose="02020603050405020304" pitchFamily="18" charset="0"/>
                </a:endParaRPr>
              </a:p>
            </p:txBody>
          </p:sp>
          <p:sp>
            <p:nvSpPr>
              <p:cNvPr id="60429" name="Text Box 9"/>
              <p:cNvSpPr txBox="1">
                <a:spLocks noChangeArrowheads="1"/>
              </p:cNvSpPr>
              <p:nvPr/>
            </p:nvSpPr>
            <p:spPr bwMode="auto">
              <a:xfrm>
                <a:off x="3114" y="759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5</a:t>
                </a:r>
                <a:endParaRPr lang="en-US" altLang="zh-CN" sz="2400" b="1">
                  <a:solidFill>
                    <a:srgbClr val="000066"/>
                  </a:solidFill>
                  <a:latin typeface="Times New Roman" panose="02020603050405020304" pitchFamily="18" charset="0"/>
                </a:endParaRPr>
              </a:p>
            </p:txBody>
          </p:sp>
          <p:sp>
            <p:nvSpPr>
              <p:cNvPr id="60430" name="Text Box 10"/>
              <p:cNvSpPr txBox="1">
                <a:spLocks noChangeArrowheads="1"/>
              </p:cNvSpPr>
              <p:nvPr/>
            </p:nvSpPr>
            <p:spPr bwMode="auto">
              <a:xfrm>
                <a:off x="3515" y="7611"/>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6</a:t>
                </a:r>
                <a:endParaRPr lang="en-US" altLang="zh-CN" sz="2400" b="1">
                  <a:solidFill>
                    <a:srgbClr val="000066"/>
                  </a:solidFill>
                  <a:latin typeface="Times New Roman" panose="02020603050405020304" pitchFamily="18" charset="0"/>
                </a:endParaRPr>
              </a:p>
            </p:txBody>
          </p:sp>
          <p:sp>
            <p:nvSpPr>
              <p:cNvPr id="60431" name="Text Box 11"/>
              <p:cNvSpPr txBox="1">
                <a:spLocks noChangeArrowheads="1"/>
              </p:cNvSpPr>
              <p:nvPr/>
            </p:nvSpPr>
            <p:spPr bwMode="auto">
              <a:xfrm>
                <a:off x="3585" y="8643"/>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60432" name="Oval 12"/>
              <p:cNvSpPr>
                <a:spLocks noChangeArrowheads="1"/>
              </p:cNvSpPr>
              <p:nvPr/>
            </p:nvSpPr>
            <p:spPr bwMode="auto">
              <a:xfrm>
                <a:off x="2610" y="734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1</a:t>
                </a:r>
                <a:endParaRPr lang="en-US" altLang="zh-CN" sz="2400" b="1">
                  <a:solidFill>
                    <a:srgbClr val="000066"/>
                  </a:solidFill>
                  <a:latin typeface="Times New Roman" panose="02020603050405020304" pitchFamily="18" charset="0"/>
                </a:endParaRPr>
              </a:p>
            </p:txBody>
          </p:sp>
          <p:sp>
            <p:nvSpPr>
              <p:cNvPr id="60433" name="Oval 13"/>
              <p:cNvSpPr>
                <a:spLocks noChangeArrowheads="1"/>
              </p:cNvSpPr>
              <p:nvPr/>
            </p:nvSpPr>
            <p:spPr bwMode="auto">
              <a:xfrm>
                <a:off x="2610" y="835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60434" name="Oval 14"/>
              <p:cNvSpPr>
                <a:spLocks noChangeArrowheads="1"/>
              </p:cNvSpPr>
              <p:nvPr/>
            </p:nvSpPr>
            <p:spPr bwMode="auto">
              <a:xfrm>
                <a:off x="3821" y="8355"/>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4</a:t>
                </a:r>
                <a:endParaRPr lang="en-US" altLang="zh-CN" sz="2400" b="1">
                  <a:solidFill>
                    <a:srgbClr val="000066"/>
                  </a:solidFill>
                  <a:latin typeface="Times New Roman" panose="02020603050405020304" pitchFamily="18" charset="0"/>
                </a:endParaRPr>
              </a:p>
            </p:txBody>
          </p:sp>
          <p:sp>
            <p:nvSpPr>
              <p:cNvPr id="60435" name="Oval 15"/>
              <p:cNvSpPr>
                <a:spLocks noChangeArrowheads="1"/>
              </p:cNvSpPr>
              <p:nvPr/>
            </p:nvSpPr>
            <p:spPr bwMode="auto">
              <a:xfrm>
                <a:off x="3810" y="734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2</a:t>
                </a:r>
                <a:endParaRPr lang="en-US" altLang="zh-CN" sz="2400" b="1">
                  <a:solidFill>
                    <a:srgbClr val="000066"/>
                  </a:solidFill>
                  <a:latin typeface="Times New Roman" panose="02020603050405020304" pitchFamily="18" charset="0"/>
                </a:endParaRPr>
              </a:p>
            </p:txBody>
          </p:sp>
          <p:sp>
            <p:nvSpPr>
              <p:cNvPr id="60436" name="Oval 16"/>
              <p:cNvSpPr>
                <a:spLocks noChangeArrowheads="1"/>
              </p:cNvSpPr>
              <p:nvPr/>
            </p:nvSpPr>
            <p:spPr bwMode="auto">
              <a:xfrm>
                <a:off x="3241" y="8859"/>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5</a:t>
                </a:r>
                <a:endParaRPr lang="en-US" altLang="zh-CN" sz="2400" b="1">
                  <a:solidFill>
                    <a:srgbClr val="000066"/>
                  </a:solidFill>
                  <a:latin typeface="Times New Roman" panose="02020603050405020304" pitchFamily="18" charset="0"/>
                </a:endParaRPr>
              </a:p>
            </p:txBody>
          </p:sp>
          <p:sp>
            <p:nvSpPr>
              <p:cNvPr id="60437" name="Freeform 17"/>
              <p:cNvSpPr/>
              <p:nvPr/>
            </p:nvSpPr>
            <p:spPr bwMode="auto">
              <a:xfrm>
                <a:off x="2916" y="7482"/>
                <a:ext cx="894" cy="1"/>
              </a:xfrm>
              <a:custGeom>
                <a:avLst/>
                <a:gdLst>
                  <a:gd name="T0" fmla="*/ 0 w 894"/>
                  <a:gd name="T1" fmla="*/ 0 h 6"/>
                  <a:gd name="T2" fmla="*/ 894 w 894"/>
                  <a:gd name="T3" fmla="*/ 0 h 6"/>
                  <a:gd name="T4" fmla="*/ 0 60000 65536"/>
                  <a:gd name="T5" fmla="*/ 0 60000 65536"/>
                  <a:gd name="T6" fmla="*/ 0 w 894"/>
                  <a:gd name="T7" fmla="*/ 0 h 6"/>
                  <a:gd name="T8" fmla="*/ 894 w 894"/>
                  <a:gd name="T9" fmla="*/ 6 h 6"/>
                </a:gdLst>
                <a:ahLst/>
                <a:cxnLst>
                  <a:cxn ang="T4">
                    <a:pos x="T0" y="T1"/>
                  </a:cxn>
                  <a:cxn ang="T5">
                    <a:pos x="T2" y="T3"/>
                  </a:cxn>
                </a:cxnLst>
                <a:rect l="T6" t="T7" r="T8" b="T9"/>
                <a:pathLst>
                  <a:path w="894" h="6">
                    <a:moveTo>
                      <a:pt x="0" y="0"/>
                    </a:moveTo>
                    <a:lnTo>
                      <a:pt x="894" y="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8" name="Freeform 18"/>
              <p:cNvSpPr/>
              <p:nvPr/>
            </p:nvSpPr>
            <p:spPr bwMode="auto">
              <a:xfrm>
                <a:off x="2756" y="7632"/>
                <a:ext cx="4" cy="716"/>
              </a:xfrm>
              <a:custGeom>
                <a:avLst/>
                <a:gdLst>
                  <a:gd name="T0" fmla="*/ 0 w 4"/>
                  <a:gd name="T1" fmla="*/ 0 h 716"/>
                  <a:gd name="T2" fmla="*/ 4 w 4"/>
                  <a:gd name="T3" fmla="*/ 716 h 716"/>
                  <a:gd name="T4" fmla="*/ 0 60000 65536"/>
                  <a:gd name="T5" fmla="*/ 0 60000 65536"/>
                  <a:gd name="T6" fmla="*/ 0 w 4"/>
                  <a:gd name="T7" fmla="*/ 0 h 716"/>
                  <a:gd name="T8" fmla="*/ 4 w 4"/>
                  <a:gd name="T9" fmla="*/ 716 h 716"/>
                </a:gdLst>
                <a:ahLst/>
                <a:cxnLst>
                  <a:cxn ang="T4">
                    <a:pos x="T0" y="T1"/>
                  </a:cxn>
                  <a:cxn ang="T5">
                    <a:pos x="T2" y="T3"/>
                  </a:cxn>
                </a:cxnLst>
                <a:rect l="T6" t="T7" r="T8" b="T9"/>
                <a:pathLst>
                  <a:path w="4" h="716">
                    <a:moveTo>
                      <a:pt x="0" y="0"/>
                    </a:moveTo>
                    <a:lnTo>
                      <a:pt x="4" y="71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9" name="Freeform 19"/>
              <p:cNvSpPr/>
              <p:nvPr/>
            </p:nvSpPr>
            <p:spPr bwMode="auto">
              <a:xfrm>
                <a:off x="2876" y="7584"/>
                <a:ext cx="984" cy="834"/>
              </a:xfrm>
              <a:custGeom>
                <a:avLst/>
                <a:gdLst>
                  <a:gd name="T0" fmla="*/ 0 w 984"/>
                  <a:gd name="T1" fmla="*/ 0 h 834"/>
                  <a:gd name="T2" fmla="*/ 984 w 984"/>
                  <a:gd name="T3" fmla="*/ 834 h 834"/>
                  <a:gd name="T4" fmla="*/ 0 60000 65536"/>
                  <a:gd name="T5" fmla="*/ 0 60000 65536"/>
                  <a:gd name="T6" fmla="*/ 0 w 984"/>
                  <a:gd name="T7" fmla="*/ 0 h 834"/>
                  <a:gd name="T8" fmla="*/ 984 w 984"/>
                  <a:gd name="T9" fmla="*/ 834 h 834"/>
                </a:gdLst>
                <a:ahLst/>
                <a:cxnLst>
                  <a:cxn ang="T4">
                    <a:pos x="T0" y="T1"/>
                  </a:cxn>
                  <a:cxn ang="T5">
                    <a:pos x="T2" y="T3"/>
                  </a:cxn>
                </a:cxnLst>
                <a:rect l="T6" t="T7" r="T8" b="T9"/>
                <a:pathLst>
                  <a:path w="984" h="834">
                    <a:moveTo>
                      <a:pt x="0" y="0"/>
                    </a:moveTo>
                    <a:lnTo>
                      <a:pt x="984" y="834"/>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0" name="Freeform 20"/>
              <p:cNvSpPr/>
              <p:nvPr/>
            </p:nvSpPr>
            <p:spPr bwMode="auto">
              <a:xfrm>
                <a:off x="3976" y="7632"/>
                <a:ext cx="5" cy="726"/>
              </a:xfrm>
              <a:custGeom>
                <a:avLst/>
                <a:gdLst>
                  <a:gd name="T0" fmla="*/ 0 w 4"/>
                  <a:gd name="T1" fmla="*/ 0 h 756"/>
                  <a:gd name="T2" fmla="*/ 12967 w 4"/>
                  <a:gd name="T3" fmla="*/ 169 h 756"/>
                  <a:gd name="T4" fmla="*/ 0 60000 65536"/>
                  <a:gd name="T5" fmla="*/ 0 60000 65536"/>
                  <a:gd name="T6" fmla="*/ 0 w 4"/>
                  <a:gd name="T7" fmla="*/ 0 h 756"/>
                  <a:gd name="T8" fmla="*/ 4 w 4"/>
                  <a:gd name="T9" fmla="*/ 756 h 756"/>
                </a:gdLst>
                <a:ahLst/>
                <a:cxnLst>
                  <a:cxn ang="T4">
                    <a:pos x="T0" y="T1"/>
                  </a:cxn>
                  <a:cxn ang="T5">
                    <a:pos x="T2" y="T3"/>
                  </a:cxn>
                </a:cxnLst>
                <a:rect l="T6" t="T7" r="T8" b="T9"/>
                <a:pathLst>
                  <a:path w="4" h="756">
                    <a:moveTo>
                      <a:pt x="0" y="0"/>
                    </a:moveTo>
                    <a:lnTo>
                      <a:pt x="4" y="75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1" name="Freeform 21"/>
              <p:cNvSpPr/>
              <p:nvPr/>
            </p:nvSpPr>
            <p:spPr bwMode="auto">
              <a:xfrm>
                <a:off x="2880" y="7608"/>
                <a:ext cx="980" cy="780"/>
              </a:xfrm>
              <a:custGeom>
                <a:avLst/>
                <a:gdLst>
                  <a:gd name="T0" fmla="*/ 0 w 980"/>
                  <a:gd name="T1" fmla="*/ 780 h 780"/>
                  <a:gd name="T2" fmla="*/ 980 w 980"/>
                  <a:gd name="T3" fmla="*/ 0 h 780"/>
                  <a:gd name="T4" fmla="*/ 0 60000 65536"/>
                  <a:gd name="T5" fmla="*/ 0 60000 65536"/>
                  <a:gd name="T6" fmla="*/ 0 w 980"/>
                  <a:gd name="T7" fmla="*/ 0 h 780"/>
                  <a:gd name="T8" fmla="*/ 980 w 980"/>
                  <a:gd name="T9" fmla="*/ 780 h 780"/>
                </a:gdLst>
                <a:ahLst/>
                <a:cxnLst>
                  <a:cxn ang="T4">
                    <a:pos x="T0" y="T1"/>
                  </a:cxn>
                  <a:cxn ang="T5">
                    <a:pos x="T2" y="T3"/>
                  </a:cxn>
                </a:cxnLst>
                <a:rect l="T6" t="T7" r="T8" b="T9"/>
                <a:pathLst>
                  <a:path w="980" h="780">
                    <a:moveTo>
                      <a:pt x="0" y="780"/>
                    </a:moveTo>
                    <a:lnTo>
                      <a:pt x="98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2" name="Freeform 22"/>
              <p:cNvSpPr/>
              <p:nvPr/>
            </p:nvSpPr>
            <p:spPr bwMode="auto">
              <a:xfrm>
                <a:off x="2906" y="8518"/>
                <a:ext cx="915" cy="2"/>
              </a:xfrm>
              <a:custGeom>
                <a:avLst/>
                <a:gdLst>
                  <a:gd name="T0" fmla="*/ 0 w 894"/>
                  <a:gd name="T1" fmla="*/ 1 h 4"/>
                  <a:gd name="T2" fmla="*/ 2108 w 894"/>
                  <a:gd name="T3" fmla="*/ 0 h 4"/>
                  <a:gd name="T4" fmla="*/ 0 60000 65536"/>
                  <a:gd name="T5" fmla="*/ 0 60000 65536"/>
                  <a:gd name="T6" fmla="*/ 0 w 894"/>
                  <a:gd name="T7" fmla="*/ 0 h 4"/>
                  <a:gd name="T8" fmla="*/ 894 w 894"/>
                  <a:gd name="T9" fmla="*/ 4 h 4"/>
                </a:gdLst>
                <a:ahLst/>
                <a:cxnLst>
                  <a:cxn ang="T4">
                    <a:pos x="T0" y="T1"/>
                  </a:cxn>
                  <a:cxn ang="T5">
                    <a:pos x="T2" y="T3"/>
                  </a:cxn>
                </a:cxnLst>
                <a:rect l="T6" t="T7" r="T8" b="T9"/>
                <a:pathLst>
                  <a:path w="894" h="4">
                    <a:moveTo>
                      <a:pt x="0" y="4"/>
                    </a:moveTo>
                    <a:lnTo>
                      <a:pt x="894"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3" name="Freeform 23"/>
              <p:cNvSpPr/>
              <p:nvPr/>
            </p:nvSpPr>
            <p:spPr bwMode="auto">
              <a:xfrm>
                <a:off x="2820" y="8628"/>
                <a:ext cx="431" cy="327"/>
              </a:xfrm>
              <a:custGeom>
                <a:avLst/>
                <a:gdLst>
                  <a:gd name="T0" fmla="*/ 0 w 420"/>
                  <a:gd name="T1" fmla="*/ 0 h 380"/>
                  <a:gd name="T2" fmla="*/ 1095 w 420"/>
                  <a:gd name="T3" fmla="*/ 3 h 380"/>
                  <a:gd name="T4" fmla="*/ 0 60000 65536"/>
                  <a:gd name="T5" fmla="*/ 0 60000 65536"/>
                  <a:gd name="T6" fmla="*/ 0 w 420"/>
                  <a:gd name="T7" fmla="*/ 0 h 380"/>
                  <a:gd name="T8" fmla="*/ 420 w 420"/>
                  <a:gd name="T9" fmla="*/ 380 h 380"/>
                </a:gdLst>
                <a:ahLst/>
                <a:cxnLst>
                  <a:cxn ang="T4">
                    <a:pos x="T0" y="T1"/>
                  </a:cxn>
                  <a:cxn ang="T5">
                    <a:pos x="T2" y="T3"/>
                  </a:cxn>
                </a:cxnLst>
                <a:rect l="T6" t="T7" r="T8" b="T9"/>
                <a:pathLst>
                  <a:path w="420" h="380">
                    <a:moveTo>
                      <a:pt x="0" y="0"/>
                    </a:moveTo>
                    <a:lnTo>
                      <a:pt x="420" y="38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4" name="Freeform 24"/>
              <p:cNvSpPr/>
              <p:nvPr/>
            </p:nvSpPr>
            <p:spPr bwMode="auto">
              <a:xfrm>
                <a:off x="3521" y="8628"/>
                <a:ext cx="390" cy="318"/>
              </a:xfrm>
              <a:custGeom>
                <a:avLst/>
                <a:gdLst>
                  <a:gd name="T0" fmla="*/ 0 w 450"/>
                  <a:gd name="T1" fmla="*/ 2 h 410"/>
                  <a:gd name="T2" fmla="*/ 3 w 450"/>
                  <a:gd name="T3" fmla="*/ 0 h 410"/>
                  <a:gd name="T4" fmla="*/ 0 60000 65536"/>
                  <a:gd name="T5" fmla="*/ 0 60000 65536"/>
                  <a:gd name="T6" fmla="*/ 0 w 450"/>
                  <a:gd name="T7" fmla="*/ 0 h 410"/>
                  <a:gd name="T8" fmla="*/ 450 w 450"/>
                  <a:gd name="T9" fmla="*/ 410 h 410"/>
                </a:gdLst>
                <a:ahLst/>
                <a:cxnLst>
                  <a:cxn ang="T4">
                    <a:pos x="T0" y="T1"/>
                  </a:cxn>
                  <a:cxn ang="T5">
                    <a:pos x="T2" y="T3"/>
                  </a:cxn>
                </a:cxnLst>
                <a:rect l="T6" t="T7" r="T8" b="T9"/>
                <a:pathLst>
                  <a:path w="450" h="410">
                    <a:moveTo>
                      <a:pt x="0" y="410"/>
                    </a:moveTo>
                    <a:lnTo>
                      <a:pt x="45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5" name="Freeform 25"/>
              <p:cNvSpPr/>
              <p:nvPr/>
            </p:nvSpPr>
            <p:spPr bwMode="auto">
              <a:xfrm>
                <a:off x="2404" y="7618"/>
                <a:ext cx="827" cy="1370"/>
              </a:xfrm>
              <a:custGeom>
                <a:avLst/>
                <a:gdLst>
                  <a:gd name="T0" fmla="*/ 250 w 827"/>
                  <a:gd name="T1" fmla="*/ 0 h 1370"/>
                  <a:gd name="T2" fmla="*/ 96 w 827"/>
                  <a:gd name="T3" fmla="*/ 852 h 1370"/>
                  <a:gd name="T4" fmla="*/ 827 w 827"/>
                  <a:gd name="T5" fmla="*/ 1370 h 1370"/>
                  <a:gd name="T6" fmla="*/ 0 60000 65536"/>
                  <a:gd name="T7" fmla="*/ 0 60000 65536"/>
                  <a:gd name="T8" fmla="*/ 0 60000 65536"/>
                  <a:gd name="T9" fmla="*/ 0 w 827"/>
                  <a:gd name="T10" fmla="*/ 0 h 1370"/>
                  <a:gd name="T11" fmla="*/ 827 w 827"/>
                  <a:gd name="T12" fmla="*/ 1370 h 1370"/>
                </a:gdLst>
                <a:ahLst/>
                <a:cxnLst>
                  <a:cxn ang="T6">
                    <a:pos x="T0" y="T1"/>
                  </a:cxn>
                  <a:cxn ang="T7">
                    <a:pos x="T2" y="T3"/>
                  </a:cxn>
                  <a:cxn ang="T8">
                    <a:pos x="T4" y="T5"/>
                  </a:cxn>
                </a:cxnLst>
                <a:rect l="T9" t="T10" r="T11" b="T12"/>
                <a:pathLst>
                  <a:path w="827" h="1370">
                    <a:moveTo>
                      <a:pt x="250" y="0"/>
                    </a:moveTo>
                    <a:cubicBezTo>
                      <a:pt x="224" y="142"/>
                      <a:pt x="0" y="623"/>
                      <a:pt x="96" y="852"/>
                    </a:cubicBezTo>
                    <a:cubicBezTo>
                      <a:pt x="194" y="1168"/>
                      <a:pt x="675" y="1262"/>
                      <a:pt x="827" y="137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6" name="Freeform 26"/>
              <p:cNvSpPr/>
              <p:nvPr/>
            </p:nvSpPr>
            <p:spPr bwMode="auto">
              <a:xfrm>
                <a:off x="3551" y="7618"/>
                <a:ext cx="756" cy="1358"/>
              </a:xfrm>
              <a:custGeom>
                <a:avLst/>
                <a:gdLst>
                  <a:gd name="T0" fmla="*/ 320 w 766"/>
                  <a:gd name="T1" fmla="*/ 0 h 1397"/>
                  <a:gd name="T2" fmla="*/ 416 w 766"/>
                  <a:gd name="T3" fmla="*/ 317 h 1397"/>
                  <a:gd name="T4" fmla="*/ 0 w 766"/>
                  <a:gd name="T5" fmla="*/ 490 h 1397"/>
                  <a:gd name="T6" fmla="*/ 0 60000 65536"/>
                  <a:gd name="T7" fmla="*/ 0 60000 65536"/>
                  <a:gd name="T8" fmla="*/ 0 60000 65536"/>
                  <a:gd name="T9" fmla="*/ 0 w 766"/>
                  <a:gd name="T10" fmla="*/ 0 h 1397"/>
                  <a:gd name="T11" fmla="*/ 766 w 766"/>
                  <a:gd name="T12" fmla="*/ 1397 h 1397"/>
                </a:gdLst>
                <a:ahLst/>
                <a:cxnLst>
                  <a:cxn ang="T6">
                    <a:pos x="T0" y="T1"/>
                  </a:cxn>
                  <a:cxn ang="T7">
                    <a:pos x="T2" y="T3"/>
                  </a:cxn>
                  <a:cxn ang="T8">
                    <a:pos x="T4" y="T5"/>
                  </a:cxn>
                </a:cxnLst>
                <a:rect l="T9" t="T10" r="T11" b="T12"/>
                <a:pathLst>
                  <a:path w="766" h="1397">
                    <a:moveTo>
                      <a:pt x="519" y="0"/>
                    </a:moveTo>
                    <a:cubicBezTo>
                      <a:pt x="546" y="150"/>
                      <a:pt x="766" y="669"/>
                      <a:pt x="679" y="902"/>
                    </a:cubicBezTo>
                    <a:cubicBezTo>
                      <a:pt x="592" y="1135"/>
                      <a:pt x="141" y="1294"/>
                      <a:pt x="0" y="1397"/>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7" name="Text Box 27"/>
              <p:cNvSpPr txBox="1">
                <a:spLocks noChangeArrowheads="1"/>
              </p:cNvSpPr>
              <p:nvPr/>
            </p:nvSpPr>
            <p:spPr bwMode="auto">
              <a:xfrm>
                <a:off x="3315" y="725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60448" name="Text Box 28"/>
              <p:cNvSpPr txBox="1">
                <a:spLocks noChangeArrowheads="1"/>
              </p:cNvSpPr>
              <p:nvPr/>
            </p:nvSpPr>
            <p:spPr bwMode="auto">
              <a:xfrm>
                <a:off x="4265" y="7833"/>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9</a:t>
                </a:r>
                <a:endParaRPr lang="en-US" altLang="zh-CN" sz="2400" b="1">
                  <a:solidFill>
                    <a:srgbClr val="000066"/>
                  </a:solidFill>
                  <a:latin typeface="Times New Roman" panose="02020603050405020304" pitchFamily="18" charset="0"/>
                </a:endParaRPr>
              </a:p>
            </p:txBody>
          </p:sp>
          <p:sp>
            <p:nvSpPr>
              <p:cNvPr id="60449" name="Text Box 29"/>
              <p:cNvSpPr txBox="1">
                <a:spLocks noChangeArrowheads="1"/>
              </p:cNvSpPr>
              <p:nvPr/>
            </p:nvSpPr>
            <p:spPr bwMode="auto">
              <a:xfrm>
                <a:off x="2295" y="785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8</a:t>
                </a:r>
                <a:endParaRPr lang="en-US" altLang="zh-CN" sz="2400" b="1">
                  <a:solidFill>
                    <a:srgbClr val="000066"/>
                  </a:solidFill>
                  <a:latin typeface="Times New Roman" panose="02020603050405020304" pitchFamily="18" charset="0"/>
                </a:endParaRPr>
              </a:p>
            </p:txBody>
          </p:sp>
          <p:sp>
            <p:nvSpPr>
              <p:cNvPr id="60450" name="Text Box 30"/>
              <p:cNvSpPr txBox="1">
                <a:spLocks noChangeArrowheads="1"/>
              </p:cNvSpPr>
              <p:nvPr/>
            </p:nvSpPr>
            <p:spPr bwMode="auto">
              <a:xfrm>
                <a:off x="3285" y="8298"/>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4</a:t>
                </a:r>
                <a:endParaRPr lang="en-US" altLang="zh-CN" sz="2400" b="1">
                  <a:solidFill>
                    <a:srgbClr val="000066"/>
                  </a:solidFill>
                  <a:latin typeface="Times New Roman" panose="02020603050405020304" pitchFamily="18" charset="0"/>
                </a:endParaRPr>
              </a:p>
            </p:txBody>
          </p:sp>
        </p:grpSp>
        <p:sp>
          <p:nvSpPr>
            <p:cNvPr id="60424" name="Text Box 31"/>
            <p:cNvSpPr txBox="1">
              <a:spLocks noChangeArrowheads="1"/>
            </p:cNvSpPr>
            <p:nvPr/>
          </p:nvSpPr>
          <p:spPr bwMode="auto">
            <a:xfrm>
              <a:off x="3003" y="934"/>
              <a:ext cx="1918" cy="1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04000"/>
                </a:lnSpc>
              </a:pPr>
              <a:endParaRPr lang="zh-CN" altLang="en-US" sz="2400" b="1">
                <a:solidFill>
                  <a:srgbClr val="000066"/>
                </a:solidFill>
                <a:latin typeface="Times New Roman" panose="02020603050405020304" pitchFamily="18" charset="0"/>
              </a:endParaRPr>
            </a:p>
            <a:p>
              <a:pPr algn="just" eaLnBrk="1" hangingPunct="1">
                <a:lnSpc>
                  <a:spcPct val="104000"/>
                </a:lnSpc>
              </a:pPr>
              <a:endParaRPr lang="zh-CN" altLang="en-US" sz="2400" b="1">
                <a:solidFill>
                  <a:srgbClr val="000066"/>
                </a:solidFill>
                <a:latin typeface="Times New Roman" panose="02020603050405020304" pitchFamily="18" charset="0"/>
              </a:endParaRPr>
            </a:p>
            <a:p>
              <a:pPr algn="just" eaLnBrk="1" hangingPunct="1">
                <a:lnSpc>
                  <a:spcPct val="104000"/>
                </a:lnSpc>
              </a:pPr>
              <a:endParaRPr lang="zh-CN" altLang="en-US" sz="2400" b="1" i="1">
                <a:solidFill>
                  <a:srgbClr val="000066"/>
                </a:solidFill>
                <a:latin typeface="Times New Roman" panose="02020603050405020304" pitchFamily="18" charset="0"/>
              </a:endParaRPr>
            </a:p>
            <a:p>
              <a:pPr algn="just" eaLnBrk="1" hangingPunct="1"/>
              <a:r>
                <a:rPr lang="en-US" altLang="zh-CN" sz="2400" b="1" i="1">
                  <a:solidFill>
                    <a:srgbClr val="000066"/>
                  </a:solidFill>
                  <a:latin typeface="Times New Roman" panose="02020603050405020304" pitchFamily="18" charset="0"/>
                </a:rPr>
                <a:t>C</a:t>
              </a:r>
              <a:r>
                <a:rPr lang="en-US" altLang="zh-CN" sz="2400" b="1">
                  <a:solidFill>
                    <a:srgbClr val="000066"/>
                  </a:solidFill>
                  <a:latin typeface="Times New Roman" panose="02020603050405020304" pitchFamily="18" charset="0"/>
                </a:rPr>
                <a:t>=</a:t>
              </a:r>
              <a:endParaRPr lang="en-US" altLang="zh-CN" sz="2400" b="1">
                <a:solidFill>
                  <a:srgbClr val="000066"/>
                </a:solidFill>
                <a:latin typeface="Times New Roman" panose="02020603050405020304" pitchFamily="18" charset="0"/>
              </a:endParaRPr>
            </a:p>
          </p:txBody>
        </p:sp>
        <p:sp>
          <p:nvSpPr>
            <p:cNvPr id="60425" name="AutoShape 32"/>
            <p:cNvSpPr>
              <a:spLocks noChangeArrowheads="1"/>
            </p:cNvSpPr>
            <p:nvPr/>
          </p:nvSpPr>
          <p:spPr bwMode="auto">
            <a:xfrm>
              <a:off x="3302" y="990"/>
              <a:ext cx="1481" cy="1030"/>
            </a:xfrm>
            <a:prstGeom prst="bracketPair">
              <a:avLst>
                <a:gd name="adj" fmla="val 4875"/>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54000" tIns="10800" rIns="18000" bIns="108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pPr>
              <a:r>
                <a:rPr lang="zh-CN" altLang="en-US" sz="2400" b="1">
                  <a:solidFill>
                    <a:srgbClr val="000066"/>
                  </a:solidFill>
                  <a:latin typeface="Times New Roman" panose="02020603050405020304" pitchFamily="18" charset="0"/>
                </a:rPr>
                <a:t>∞    </a:t>
              </a:r>
              <a:r>
                <a:rPr lang="en-US" altLang="zh-CN" sz="2400" b="1">
                  <a:solidFill>
                    <a:srgbClr val="000066"/>
                  </a:solidFill>
                  <a:latin typeface="Times New Roman" panose="02020603050405020304" pitchFamily="18" charset="0"/>
                </a:rPr>
                <a:t>3     1     5     8</a:t>
              </a:r>
              <a:endParaRPr lang="en-US" altLang="zh-CN" sz="2400" b="1">
                <a:solidFill>
                  <a:srgbClr val="000066"/>
                </a:solidFill>
                <a:latin typeface="Times New Roman" panose="02020603050405020304" pitchFamily="18" charset="0"/>
              </a:endParaRPr>
            </a:p>
            <a:p>
              <a:pPr algn="just" eaLnBrk="1" hangingPunct="1">
                <a:lnSpc>
                  <a:spcPct val="120000"/>
                </a:lnSpc>
              </a:pPr>
              <a:r>
                <a:rPr lang="en-US" altLang="zh-CN" sz="2400" b="1">
                  <a:solidFill>
                    <a:srgbClr val="000066"/>
                  </a:solidFill>
                  <a:latin typeface="Times New Roman" panose="02020603050405020304" pitchFamily="18" charset="0"/>
                </a:rPr>
                <a:t> 3    ∞    6     7     9</a:t>
              </a:r>
              <a:endParaRPr lang="en-US" altLang="zh-CN" sz="2400" b="1">
                <a:solidFill>
                  <a:srgbClr val="000066"/>
                </a:solidFill>
                <a:latin typeface="Times New Roman" panose="02020603050405020304" pitchFamily="18" charset="0"/>
              </a:endParaRPr>
            </a:p>
            <a:p>
              <a:pPr algn="just" eaLnBrk="1" hangingPunct="1">
                <a:lnSpc>
                  <a:spcPct val="120000"/>
                </a:lnSpc>
              </a:pPr>
              <a:r>
                <a:rPr lang="en-US" altLang="zh-CN" sz="2400" b="1">
                  <a:solidFill>
                    <a:srgbClr val="000066"/>
                  </a:solidFill>
                  <a:latin typeface="Times New Roman" panose="02020603050405020304" pitchFamily="18" charset="0"/>
                </a:rPr>
                <a:t> 1     6    ∞    4     2</a:t>
              </a:r>
              <a:endParaRPr lang="en-US" altLang="zh-CN" sz="2400" b="1">
                <a:solidFill>
                  <a:srgbClr val="000066"/>
                </a:solidFill>
                <a:latin typeface="Times New Roman" panose="02020603050405020304" pitchFamily="18" charset="0"/>
              </a:endParaRPr>
            </a:p>
            <a:p>
              <a:pPr algn="just" eaLnBrk="1" hangingPunct="1">
                <a:lnSpc>
                  <a:spcPct val="120000"/>
                </a:lnSpc>
              </a:pPr>
              <a:r>
                <a:rPr lang="en-US" altLang="zh-CN" sz="2400" b="1">
                  <a:solidFill>
                    <a:srgbClr val="000066"/>
                  </a:solidFill>
                  <a:latin typeface="Times New Roman" panose="02020603050405020304" pitchFamily="18" charset="0"/>
                </a:rPr>
                <a:t> 5     7     4    ∞    3</a:t>
              </a:r>
              <a:endParaRPr lang="en-US" altLang="zh-CN" sz="2400" b="1">
                <a:solidFill>
                  <a:srgbClr val="000066"/>
                </a:solidFill>
                <a:latin typeface="Times New Roman" panose="02020603050405020304" pitchFamily="18" charset="0"/>
              </a:endParaRPr>
            </a:p>
            <a:p>
              <a:pPr algn="just" eaLnBrk="1" hangingPunct="1">
                <a:lnSpc>
                  <a:spcPct val="120000"/>
                </a:lnSpc>
              </a:pPr>
              <a:r>
                <a:rPr lang="en-US" altLang="zh-CN" sz="2400" b="1">
                  <a:solidFill>
                    <a:srgbClr val="000066"/>
                  </a:solidFill>
                  <a:latin typeface="Times New Roman" panose="02020603050405020304" pitchFamily="18" charset="0"/>
                </a:rPr>
                <a:t> 8     9     2     3    ∞</a:t>
              </a:r>
              <a:endParaRPr lang="en-US" altLang="zh-CN" sz="2400" b="1">
                <a:solidFill>
                  <a:srgbClr val="000066"/>
                </a:solidFill>
                <a:latin typeface="Times New Roman" panose="02020603050405020304" pitchFamily="18" charset="0"/>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2"/>
          <p:cNvSpPr>
            <a:spLocks noChangeArrowheads="1"/>
          </p:cNvSpPr>
          <p:nvPr/>
        </p:nvSpPr>
        <p:spPr bwMode="auto">
          <a:xfrm>
            <a:off x="292100" y="376238"/>
            <a:ext cx="45132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货郎担问题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5" name="内容占位符 2"/>
          <p:cNvSpPr>
            <a:spLocks noGrp="1"/>
          </p:cNvSpPr>
          <p:nvPr>
            <p:ph idx="1"/>
          </p:nvPr>
        </p:nvSpPr>
        <p:spPr>
          <a:xfrm>
            <a:off x="388938" y="1108075"/>
            <a:ext cx="8178800" cy="4457700"/>
          </a:xfrm>
        </p:spPr>
        <p:txBody>
          <a:bodyPr/>
          <a:lstStyle/>
          <a:p>
            <a:pPr marL="0" indent="0" defTabSz="914400" eaLnBrk="1" fontAlgn="auto" hangingPunct="1">
              <a:lnSpc>
                <a:spcPct val="100000"/>
              </a:lnSpc>
              <a:spcBef>
                <a:spcPts val="0"/>
              </a:spcBef>
              <a:spcAft>
                <a:spcPts val="0"/>
              </a:spcAft>
              <a:buClrTx/>
              <a:buSzTx/>
              <a:buFontTx/>
              <a:buNone/>
              <a:defRPr/>
            </a:pPr>
            <a:r>
              <a:rPr lang="zh-CN" altLang="en-US" sz="3200" b="1" kern="0" dirty="0" smtClean="0">
                <a:solidFill>
                  <a:srgbClr val="FF0000"/>
                </a:solidFill>
                <a:latin typeface="华文楷体" panose="02010600040101010101" pitchFamily="2" charset="-122"/>
                <a:ea typeface="华文楷体" panose="02010600040101010101" pitchFamily="2" charset="-122"/>
              </a:rPr>
              <a:t>关于界的思考</a:t>
            </a:r>
            <a:endParaRPr lang="zh-CN" altLang="en-US" sz="3200" b="1" kern="0" dirty="0" smtClean="0">
              <a:solidFill>
                <a:srgbClr val="FF0000"/>
              </a:solidFill>
              <a:latin typeface="华文楷体" panose="02010600040101010101" pitchFamily="2" charset="-122"/>
              <a:ea typeface="华文楷体" panose="02010600040101010101" pitchFamily="2" charset="-122"/>
            </a:endParaRPr>
          </a:p>
        </p:txBody>
      </p:sp>
      <p:sp>
        <p:nvSpPr>
          <p:cNvPr id="10" name="矩形 9"/>
          <p:cNvSpPr/>
          <p:nvPr/>
        </p:nvSpPr>
        <p:spPr>
          <a:xfrm>
            <a:off x="496888" y="2355850"/>
            <a:ext cx="8131175" cy="2308324"/>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just" eaLnBrk="1" hangingPunct="1">
              <a:lnSpc>
                <a:spcPct val="150000"/>
              </a:lnSpc>
              <a:defRPr/>
            </a:pP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图邻接矩阵</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每行最小元素</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相加，</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lb=1+3+1+3+2=10</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defRPr/>
            </a:pP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每个顶点应该</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有出入两</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条不同的边</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，将邻接矩阵中每行最小两个元素相加在除以</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，并向上取整，可得到</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更好下界</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50000"/>
              </a:lnSpc>
              <a:defRPr/>
            </a:pP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lb=((1+3)+(3+6)+(1+2)+(3+4)+(2+3))/2=14</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1445" name="Text Box 5"/>
          <p:cNvSpPr txBox="1">
            <a:spLocks noChangeArrowheads="1"/>
          </p:cNvSpPr>
          <p:nvPr/>
        </p:nvSpPr>
        <p:spPr bwMode="auto">
          <a:xfrm>
            <a:off x="496888" y="1669940"/>
            <a:ext cx="8129587" cy="738188"/>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Ø"/>
            </a:pPr>
            <a:r>
              <a:rPr lang="zh-CN" altLang="en-US" sz="2400" b="1">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问题下界：</a:t>
            </a:r>
            <a:endParaRPr lang="zh-CN" altLang="en-US" sz="2400" b="1">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2" name="Group 4"/>
          <p:cNvGrpSpPr/>
          <p:nvPr/>
        </p:nvGrpSpPr>
        <p:grpSpPr bwMode="auto">
          <a:xfrm>
            <a:off x="1169988" y="4722813"/>
            <a:ext cx="7083425" cy="2016125"/>
            <a:chOff x="803" y="874"/>
            <a:chExt cx="4118" cy="1369"/>
          </a:xfrm>
        </p:grpSpPr>
        <p:grpSp>
          <p:nvGrpSpPr>
            <p:cNvPr id="61447" name="Group 5"/>
            <p:cNvGrpSpPr/>
            <p:nvPr/>
          </p:nvGrpSpPr>
          <p:grpSpPr bwMode="auto">
            <a:xfrm>
              <a:off x="803" y="874"/>
              <a:ext cx="1469" cy="1367"/>
              <a:chOff x="2295" y="7254"/>
              <a:chExt cx="2131" cy="1899"/>
            </a:xfrm>
          </p:grpSpPr>
          <p:sp>
            <p:nvSpPr>
              <p:cNvPr id="61450" name="Text Box 6"/>
              <p:cNvSpPr txBox="1">
                <a:spLocks noChangeArrowheads="1"/>
              </p:cNvSpPr>
              <p:nvPr/>
            </p:nvSpPr>
            <p:spPr bwMode="auto">
              <a:xfrm>
                <a:off x="3055" y="863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2</a:t>
                </a:r>
                <a:endParaRPr lang="en-US" altLang="zh-CN" sz="2400" b="1">
                  <a:solidFill>
                    <a:srgbClr val="000066"/>
                  </a:solidFill>
                  <a:latin typeface="Times New Roman" panose="02020603050405020304" pitchFamily="18" charset="0"/>
                </a:endParaRPr>
              </a:p>
            </p:txBody>
          </p:sp>
          <p:sp>
            <p:nvSpPr>
              <p:cNvPr id="61451" name="Text Box 7"/>
              <p:cNvSpPr txBox="1">
                <a:spLocks noChangeArrowheads="1"/>
              </p:cNvSpPr>
              <p:nvPr/>
            </p:nvSpPr>
            <p:spPr bwMode="auto">
              <a:xfrm>
                <a:off x="3835" y="788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7</a:t>
                </a:r>
                <a:endParaRPr lang="en-US" altLang="zh-CN" sz="2400" b="1">
                  <a:solidFill>
                    <a:srgbClr val="000066"/>
                  </a:solidFill>
                  <a:latin typeface="Times New Roman" panose="02020603050405020304" pitchFamily="18" charset="0"/>
                </a:endParaRPr>
              </a:p>
            </p:txBody>
          </p:sp>
          <p:sp>
            <p:nvSpPr>
              <p:cNvPr id="61452" name="Text Box 8"/>
              <p:cNvSpPr txBox="1">
                <a:spLocks noChangeArrowheads="1"/>
              </p:cNvSpPr>
              <p:nvPr/>
            </p:nvSpPr>
            <p:spPr bwMode="auto">
              <a:xfrm>
                <a:off x="2775" y="788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1</a:t>
                </a:r>
                <a:endParaRPr lang="en-US" altLang="zh-CN" sz="2400" b="1">
                  <a:solidFill>
                    <a:srgbClr val="000066"/>
                  </a:solidFill>
                  <a:latin typeface="Times New Roman" panose="02020603050405020304" pitchFamily="18" charset="0"/>
                </a:endParaRPr>
              </a:p>
            </p:txBody>
          </p:sp>
          <p:sp>
            <p:nvSpPr>
              <p:cNvPr id="61453" name="Text Box 9"/>
              <p:cNvSpPr txBox="1">
                <a:spLocks noChangeArrowheads="1"/>
              </p:cNvSpPr>
              <p:nvPr/>
            </p:nvSpPr>
            <p:spPr bwMode="auto">
              <a:xfrm>
                <a:off x="3114" y="759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5</a:t>
                </a:r>
                <a:endParaRPr lang="en-US" altLang="zh-CN" sz="2400" b="1">
                  <a:solidFill>
                    <a:srgbClr val="000066"/>
                  </a:solidFill>
                  <a:latin typeface="Times New Roman" panose="02020603050405020304" pitchFamily="18" charset="0"/>
                </a:endParaRPr>
              </a:p>
            </p:txBody>
          </p:sp>
          <p:sp>
            <p:nvSpPr>
              <p:cNvPr id="61454" name="Text Box 10"/>
              <p:cNvSpPr txBox="1">
                <a:spLocks noChangeArrowheads="1"/>
              </p:cNvSpPr>
              <p:nvPr/>
            </p:nvSpPr>
            <p:spPr bwMode="auto">
              <a:xfrm>
                <a:off x="3515" y="7611"/>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6</a:t>
                </a:r>
                <a:endParaRPr lang="en-US" altLang="zh-CN" sz="2400" b="1">
                  <a:solidFill>
                    <a:srgbClr val="000066"/>
                  </a:solidFill>
                  <a:latin typeface="Times New Roman" panose="02020603050405020304" pitchFamily="18" charset="0"/>
                </a:endParaRPr>
              </a:p>
            </p:txBody>
          </p:sp>
          <p:sp>
            <p:nvSpPr>
              <p:cNvPr id="61455" name="Text Box 11"/>
              <p:cNvSpPr txBox="1">
                <a:spLocks noChangeArrowheads="1"/>
              </p:cNvSpPr>
              <p:nvPr/>
            </p:nvSpPr>
            <p:spPr bwMode="auto">
              <a:xfrm>
                <a:off x="3585" y="8643"/>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61456" name="Oval 12"/>
              <p:cNvSpPr>
                <a:spLocks noChangeArrowheads="1"/>
              </p:cNvSpPr>
              <p:nvPr/>
            </p:nvSpPr>
            <p:spPr bwMode="auto">
              <a:xfrm>
                <a:off x="2610" y="734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1</a:t>
                </a:r>
                <a:endParaRPr lang="en-US" altLang="zh-CN" sz="2400" b="1">
                  <a:solidFill>
                    <a:srgbClr val="000066"/>
                  </a:solidFill>
                  <a:latin typeface="Times New Roman" panose="02020603050405020304" pitchFamily="18" charset="0"/>
                </a:endParaRPr>
              </a:p>
            </p:txBody>
          </p:sp>
          <p:sp>
            <p:nvSpPr>
              <p:cNvPr id="61457" name="Oval 13"/>
              <p:cNvSpPr>
                <a:spLocks noChangeArrowheads="1"/>
              </p:cNvSpPr>
              <p:nvPr/>
            </p:nvSpPr>
            <p:spPr bwMode="auto">
              <a:xfrm>
                <a:off x="2610" y="835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61458" name="Oval 14"/>
              <p:cNvSpPr>
                <a:spLocks noChangeArrowheads="1"/>
              </p:cNvSpPr>
              <p:nvPr/>
            </p:nvSpPr>
            <p:spPr bwMode="auto">
              <a:xfrm>
                <a:off x="3821" y="8355"/>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4</a:t>
                </a:r>
                <a:endParaRPr lang="en-US" altLang="zh-CN" sz="2400" b="1">
                  <a:solidFill>
                    <a:srgbClr val="000066"/>
                  </a:solidFill>
                  <a:latin typeface="Times New Roman" panose="02020603050405020304" pitchFamily="18" charset="0"/>
                </a:endParaRPr>
              </a:p>
            </p:txBody>
          </p:sp>
          <p:sp>
            <p:nvSpPr>
              <p:cNvPr id="61459" name="Oval 15"/>
              <p:cNvSpPr>
                <a:spLocks noChangeArrowheads="1"/>
              </p:cNvSpPr>
              <p:nvPr/>
            </p:nvSpPr>
            <p:spPr bwMode="auto">
              <a:xfrm>
                <a:off x="3810" y="734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2</a:t>
                </a:r>
                <a:endParaRPr lang="en-US" altLang="zh-CN" sz="2400" b="1">
                  <a:solidFill>
                    <a:srgbClr val="000066"/>
                  </a:solidFill>
                  <a:latin typeface="Times New Roman" panose="02020603050405020304" pitchFamily="18" charset="0"/>
                </a:endParaRPr>
              </a:p>
            </p:txBody>
          </p:sp>
          <p:sp>
            <p:nvSpPr>
              <p:cNvPr id="61460" name="Oval 16"/>
              <p:cNvSpPr>
                <a:spLocks noChangeArrowheads="1"/>
              </p:cNvSpPr>
              <p:nvPr/>
            </p:nvSpPr>
            <p:spPr bwMode="auto">
              <a:xfrm>
                <a:off x="3241" y="8859"/>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5</a:t>
                </a:r>
                <a:endParaRPr lang="en-US" altLang="zh-CN" sz="2400" b="1">
                  <a:solidFill>
                    <a:srgbClr val="000066"/>
                  </a:solidFill>
                  <a:latin typeface="Times New Roman" panose="02020603050405020304" pitchFamily="18" charset="0"/>
                </a:endParaRPr>
              </a:p>
            </p:txBody>
          </p:sp>
          <p:sp>
            <p:nvSpPr>
              <p:cNvPr id="61461" name="Freeform 17"/>
              <p:cNvSpPr/>
              <p:nvPr/>
            </p:nvSpPr>
            <p:spPr bwMode="auto">
              <a:xfrm>
                <a:off x="2916" y="7482"/>
                <a:ext cx="894" cy="1"/>
              </a:xfrm>
              <a:custGeom>
                <a:avLst/>
                <a:gdLst>
                  <a:gd name="T0" fmla="*/ 0 w 894"/>
                  <a:gd name="T1" fmla="*/ 0 h 6"/>
                  <a:gd name="T2" fmla="*/ 894 w 894"/>
                  <a:gd name="T3" fmla="*/ 0 h 6"/>
                  <a:gd name="T4" fmla="*/ 0 60000 65536"/>
                  <a:gd name="T5" fmla="*/ 0 60000 65536"/>
                  <a:gd name="T6" fmla="*/ 0 w 894"/>
                  <a:gd name="T7" fmla="*/ 0 h 6"/>
                  <a:gd name="T8" fmla="*/ 894 w 894"/>
                  <a:gd name="T9" fmla="*/ 6 h 6"/>
                </a:gdLst>
                <a:ahLst/>
                <a:cxnLst>
                  <a:cxn ang="T4">
                    <a:pos x="T0" y="T1"/>
                  </a:cxn>
                  <a:cxn ang="T5">
                    <a:pos x="T2" y="T3"/>
                  </a:cxn>
                </a:cxnLst>
                <a:rect l="T6" t="T7" r="T8" b="T9"/>
                <a:pathLst>
                  <a:path w="894" h="6">
                    <a:moveTo>
                      <a:pt x="0" y="0"/>
                    </a:moveTo>
                    <a:lnTo>
                      <a:pt x="894" y="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2" name="Freeform 18"/>
              <p:cNvSpPr/>
              <p:nvPr/>
            </p:nvSpPr>
            <p:spPr bwMode="auto">
              <a:xfrm>
                <a:off x="2756" y="7632"/>
                <a:ext cx="4" cy="716"/>
              </a:xfrm>
              <a:custGeom>
                <a:avLst/>
                <a:gdLst>
                  <a:gd name="T0" fmla="*/ 0 w 4"/>
                  <a:gd name="T1" fmla="*/ 0 h 716"/>
                  <a:gd name="T2" fmla="*/ 4 w 4"/>
                  <a:gd name="T3" fmla="*/ 716 h 716"/>
                  <a:gd name="T4" fmla="*/ 0 60000 65536"/>
                  <a:gd name="T5" fmla="*/ 0 60000 65536"/>
                  <a:gd name="T6" fmla="*/ 0 w 4"/>
                  <a:gd name="T7" fmla="*/ 0 h 716"/>
                  <a:gd name="T8" fmla="*/ 4 w 4"/>
                  <a:gd name="T9" fmla="*/ 716 h 716"/>
                </a:gdLst>
                <a:ahLst/>
                <a:cxnLst>
                  <a:cxn ang="T4">
                    <a:pos x="T0" y="T1"/>
                  </a:cxn>
                  <a:cxn ang="T5">
                    <a:pos x="T2" y="T3"/>
                  </a:cxn>
                </a:cxnLst>
                <a:rect l="T6" t="T7" r="T8" b="T9"/>
                <a:pathLst>
                  <a:path w="4" h="716">
                    <a:moveTo>
                      <a:pt x="0" y="0"/>
                    </a:moveTo>
                    <a:lnTo>
                      <a:pt x="4" y="71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3" name="Freeform 19"/>
              <p:cNvSpPr/>
              <p:nvPr/>
            </p:nvSpPr>
            <p:spPr bwMode="auto">
              <a:xfrm>
                <a:off x="2876" y="7584"/>
                <a:ext cx="984" cy="834"/>
              </a:xfrm>
              <a:custGeom>
                <a:avLst/>
                <a:gdLst>
                  <a:gd name="T0" fmla="*/ 0 w 984"/>
                  <a:gd name="T1" fmla="*/ 0 h 834"/>
                  <a:gd name="T2" fmla="*/ 984 w 984"/>
                  <a:gd name="T3" fmla="*/ 834 h 834"/>
                  <a:gd name="T4" fmla="*/ 0 60000 65536"/>
                  <a:gd name="T5" fmla="*/ 0 60000 65536"/>
                  <a:gd name="T6" fmla="*/ 0 w 984"/>
                  <a:gd name="T7" fmla="*/ 0 h 834"/>
                  <a:gd name="T8" fmla="*/ 984 w 984"/>
                  <a:gd name="T9" fmla="*/ 834 h 834"/>
                </a:gdLst>
                <a:ahLst/>
                <a:cxnLst>
                  <a:cxn ang="T4">
                    <a:pos x="T0" y="T1"/>
                  </a:cxn>
                  <a:cxn ang="T5">
                    <a:pos x="T2" y="T3"/>
                  </a:cxn>
                </a:cxnLst>
                <a:rect l="T6" t="T7" r="T8" b="T9"/>
                <a:pathLst>
                  <a:path w="984" h="834">
                    <a:moveTo>
                      <a:pt x="0" y="0"/>
                    </a:moveTo>
                    <a:lnTo>
                      <a:pt x="984" y="834"/>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4" name="Freeform 20"/>
              <p:cNvSpPr/>
              <p:nvPr/>
            </p:nvSpPr>
            <p:spPr bwMode="auto">
              <a:xfrm>
                <a:off x="3976" y="7632"/>
                <a:ext cx="5" cy="726"/>
              </a:xfrm>
              <a:custGeom>
                <a:avLst/>
                <a:gdLst>
                  <a:gd name="T0" fmla="*/ 0 w 4"/>
                  <a:gd name="T1" fmla="*/ 0 h 756"/>
                  <a:gd name="T2" fmla="*/ 12967 w 4"/>
                  <a:gd name="T3" fmla="*/ 169 h 756"/>
                  <a:gd name="T4" fmla="*/ 0 60000 65536"/>
                  <a:gd name="T5" fmla="*/ 0 60000 65536"/>
                  <a:gd name="T6" fmla="*/ 0 w 4"/>
                  <a:gd name="T7" fmla="*/ 0 h 756"/>
                  <a:gd name="T8" fmla="*/ 4 w 4"/>
                  <a:gd name="T9" fmla="*/ 756 h 756"/>
                </a:gdLst>
                <a:ahLst/>
                <a:cxnLst>
                  <a:cxn ang="T4">
                    <a:pos x="T0" y="T1"/>
                  </a:cxn>
                  <a:cxn ang="T5">
                    <a:pos x="T2" y="T3"/>
                  </a:cxn>
                </a:cxnLst>
                <a:rect l="T6" t="T7" r="T8" b="T9"/>
                <a:pathLst>
                  <a:path w="4" h="756">
                    <a:moveTo>
                      <a:pt x="0" y="0"/>
                    </a:moveTo>
                    <a:lnTo>
                      <a:pt x="4" y="75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5" name="Freeform 21"/>
              <p:cNvSpPr/>
              <p:nvPr/>
            </p:nvSpPr>
            <p:spPr bwMode="auto">
              <a:xfrm>
                <a:off x="2880" y="7608"/>
                <a:ext cx="980" cy="780"/>
              </a:xfrm>
              <a:custGeom>
                <a:avLst/>
                <a:gdLst>
                  <a:gd name="T0" fmla="*/ 0 w 980"/>
                  <a:gd name="T1" fmla="*/ 780 h 780"/>
                  <a:gd name="T2" fmla="*/ 980 w 980"/>
                  <a:gd name="T3" fmla="*/ 0 h 780"/>
                  <a:gd name="T4" fmla="*/ 0 60000 65536"/>
                  <a:gd name="T5" fmla="*/ 0 60000 65536"/>
                  <a:gd name="T6" fmla="*/ 0 w 980"/>
                  <a:gd name="T7" fmla="*/ 0 h 780"/>
                  <a:gd name="T8" fmla="*/ 980 w 980"/>
                  <a:gd name="T9" fmla="*/ 780 h 780"/>
                </a:gdLst>
                <a:ahLst/>
                <a:cxnLst>
                  <a:cxn ang="T4">
                    <a:pos x="T0" y="T1"/>
                  </a:cxn>
                  <a:cxn ang="T5">
                    <a:pos x="T2" y="T3"/>
                  </a:cxn>
                </a:cxnLst>
                <a:rect l="T6" t="T7" r="T8" b="T9"/>
                <a:pathLst>
                  <a:path w="980" h="780">
                    <a:moveTo>
                      <a:pt x="0" y="780"/>
                    </a:moveTo>
                    <a:lnTo>
                      <a:pt x="98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6" name="Freeform 22"/>
              <p:cNvSpPr/>
              <p:nvPr/>
            </p:nvSpPr>
            <p:spPr bwMode="auto">
              <a:xfrm>
                <a:off x="2906" y="8518"/>
                <a:ext cx="915" cy="2"/>
              </a:xfrm>
              <a:custGeom>
                <a:avLst/>
                <a:gdLst>
                  <a:gd name="T0" fmla="*/ 0 w 894"/>
                  <a:gd name="T1" fmla="*/ 1 h 4"/>
                  <a:gd name="T2" fmla="*/ 2108 w 894"/>
                  <a:gd name="T3" fmla="*/ 0 h 4"/>
                  <a:gd name="T4" fmla="*/ 0 60000 65536"/>
                  <a:gd name="T5" fmla="*/ 0 60000 65536"/>
                  <a:gd name="T6" fmla="*/ 0 w 894"/>
                  <a:gd name="T7" fmla="*/ 0 h 4"/>
                  <a:gd name="T8" fmla="*/ 894 w 894"/>
                  <a:gd name="T9" fmla="*/ 4 h 4"/>
                </a:gdLst>
                <a:ahLst/>
                <a:cxnLst>
                  <a:cxn ang="T4">
                    <a:pos x="T0" y="T1"/>
                  </a:cxn>
                  <a:cxn ang="T5">
                    <a:pos x="T2" y="T3"/>
                  </a:cxn>
                </a:cxnLst>
                <a:rect l="T6" t="T7" r="T8" b="T9"/>
                <a:pathLst>
                  <a:path w="894" h="4">
                    <a:moveTo>
                      <a:pt x="0" y="4"/>
                    </a:moveTo>
                    <a:lnTo>
                      <a:pt x="894"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7" name="Freeform 23"/>
              <p:cNvSpPr/>
              <p:nvPr/>
            </p:nvSpPr>
            <p:spPr bwMode="auto">
              <a:xfrm>
                <a:off x="2820" y="8628"/>
                <a:ext cx="431" cy="327"/>
              </a:xfrm>
              <a:custGeom>
                <a:avLst/>
                <a:gdLst>
                  <a:gd name="T0" fmla="*/ 0 w 420"/>
                  <a:gd name="T1" fmla="*/ 0 h 380"/>
                  <a:gd name="T2" fmla="*/ 1095 w 420"/>
                  <a:gd name="T3" fmla="*/ 3 h 380"/>
                  <a:gd name="T4" fmla="*/ 0 60000 65536"/>
                  <a:gd name="T5" fmla="*/ 0 60000 65536"/>
                  <a:gd name="T6" fmla="*/ 0 w 420"/>
                  <a:gd name="T7" fmla="*/ 0 h 380"/>
                  <a:gd name="T8" fmla="*/ 420 w 420"/>
                  <a:gd name="T9" fmla="*/ 380 h 380"/>
                </a:gdLst>
                <a:ahLst/>
                <a:cxnLst>
                  <a:cxn ang="T4">
                    <a:pos x="T0" y="T1"/>
                  </a:cxn>
                  <a:cxn ang="T5">
                    <a:pos x="T2" y="T3"/>
                  </a:cxn>
                </a:cxnLst>
                <a:rect l="T6" t="T7" r="T8" b="T9"/>
                <a:pathLst>
                  <a:path w="420" h="380">
                    <a:moveTo>
                      <a:pt x="0" y="0"/>
                    </a:moveTo>
                    <a:lnTo>
                      <a:pt x="420" y="38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8" name="Freeform 24"/>
              <p:cNvSpPr/>
              <p:nvPr/>
            </p:nvSpPr>
            <p:spPr bwMode="auto">
              <a:xfrm>
                <a:off x="3521" y="8628"/>
                <a:ext cx="390" cy="318"/>
              </a:xfrm>
              <a:custGeom>
                <a:avLst/>
                <a:gdLst>
                  <a:gd name="T0" fmla="*/ 0 w 450"/>
                  <a:gd name="T1" fmla="*/ 2 h 410"/>
                  <a:gd name="T2" fmla="*/ 3 w 450"/>
                  <a:gd name="T3" fmla="*/ 0 h 410"/>
                  <a:gd name="T4" fmla="*/ 0 60000 65536"/>
                  <a:gd name="T5" fmla="*/ 0 60000 65536"/>
                  <a:gd name="T6" fmla="*/ 0 w 450"/>
                  <a:gd name="T7" fmla="*/ 0 h 410"/>
                  <a:gd name="T8" fmla="*/ 450 w 450"/>
                  <a:gd name="T9" fmla="*/ 410 h 410"/>
                </a:gdLst>
                <a:ahLst/>
                <a:cxnLst>
                  <a:cxn ang="T4">
                    <a:pos x="T0" y="T1"/>
                  </a:cxn>
                  <a:cxn ang="T5">
                    <a:pos x="T2" y="T3"/>
                  </a:cxn>
                </a:cxnLst>
                <a:rect l="T6" t="T7" r="T8" b="T9"/>
                <a:pathLst>
                  <a:path w="450" h="410">
                    <a:moveTo>
                      <a:pt x="0" y="410"/>
                    </a:moveTo>
                    <a:lnTo>
                      <a:pt x="45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9" name="Freeform 25"/>
              <p:cNvSpPr/>
              <p:nvPr/>
            </p:nvSpPr>
            <p:spPr bwMode="auto">
              <a:xfrm>
                <a:off x="2404" y="7618"/>
                <a:ext cx="827" cy="1370"/>
              </a:xfrm>
              <a:custGeom>
                <a:avLst/>
                <a:gdLst>
                  <a:gd name="T0" fmla="*/ 250 w 827"/>
                  <a:gd name="T1" fmla="*/ 0 h 1370"/>
                  <a:gd name="T2" fmla="*/ 96 w 827"/>
                  <a:gd name="T3" fmla="*/ 852 h 1370"/>
                  <a:gd name="T4" fmla="*/ 827 w 827"/>
                  <a:gd name="T5" fmla="*/ 1370 h 1370"/>
                  <a:gd name="T6" fmla="*/ 0 60000 65536"/>
                  <a:gd name="T7" fmla="*/ 0 60000 65536"/>
                  <a:gd name="T8" fmla="*/ 0 60000 65536"/>
                  <a:gd name="T9" fmla="*/ 0 w 827"/>
                  <a:gd name="T10" fmla="*/ 0 h 1370"/>
                  <a:gd name="T11" fmla="*/ 827 w 827"/>
                  <a:gd name="T12" fmla="*/ 1370 h 1370"/>
                </a:gdLst>
                <a:ahLst/>
                <a:cxnLst>
                  <a:cxn ang="T6">
                    <a:pos x="T0" y="T1"/>
                  </a:cxn>
                  <a:cxn ang="T7">
                    <a:pos x="T2" y="T3"/>
                  </a:cxn>
                  <a:cxn ang="T8">
                    <a:pos x="T4" y="T5"/>
                  </a:cxn>
                </a:cxnLst>
                <a:rect l="T9" t="T10" r="T11" b="T12"/>
                <a:pathLst>
                  <a:path w="827" h="1370">
                    <a:moveTo>
                      <a:pt x="250" y="0"/>
                    </a:moveTo>
                    <a:cubicBezTo>
                      <a:pt x="224" y="142"/>
                      <a:pt x="0" y="623"/>
                      <a:pt x="96" y="852"/>
                    </a:cubicBezTo>
                    <a:cubicBezTo>
                      <a:pt x="194" y="1168"/>
                      <a:pt x="675" y="1262"/>
                      <a:pt x="827" y="137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70" name="Freeform 26"/>
              <p:cNvSpPr/>
              <p:nvPr/>
            </p:nvSpPr>
            <p:spPr bwMode="auto">
              <a:xfrm>
                <a:off x="3551" y="7618"/>
                <a:ext cx="756" cy="1358"/>
              </a:xfrm>
              <a:custGeom>
                <a:avLst/>
                <a:gdLst>
                  <a:gd name="T0" fmla="*/ 320 w 766"/>
                  <a:gd name="T1" fmla="*/ 0 h 1397"/>
                  <a:gd name="T2" fmla="*/ 416 w 766"/>
                  <a:gd name="T3" fmla="*/ 317 h 1397"/>
                  <a:gd name="T4" fmla="*/ 0 w 766"/>
                  <a:gd name="T5" fmla="*/ 490 h 1397"/>
                  <a:gd name="T6" fmla="*/ 0 60000 65536"/>
                  <a:gd name="T7" fmla="*/ 0 60000 65536"/>
                  <a:gd name="T8" fmla="*/ 0 60000 65536"/>
                  <a:gd name="T9" fmla="*/ 0 w 766"/>
                  <a:gd name="T10" fmla="*/ 0 h 1397"/>
                  <a:gd name="T11" fmla="*/ 766 w 766"/>
                  <a:gd name="T12" fmla="*/ 1397 h 1397"/>
                </a:gdLst>
                <a:ahLst/>
                <a:cxnLst>
                  <a:cxn ang="T6">
                    <a:pos x="T0" y="T1"/>
                  </a:cxn>
                  <a:cxn ang="T7">
                    <a:pos x="T2" y="T3"/>
                  </a:cxn>
                  <a:cxn ang="T8">
                    <a:pos x="T4" y="T5"/>
                  </a:cxn>
                </a:cxnLst>
                <a:rect l="T9" t="T10" r="T11" b="T12"/>
                <a:pathLst>
                  <a:path w="766" h="1397">
                    <a:moveTo>
                      <a:pt x="519" y="0"/>
                    </a:moveTo>
                    <a:cubicBezTo>
                      <a:pt x="546" y="150"/>
                      <a:pt x="766" y="669"/>
                      <a:pt x="679" y="902"/>
                    </a:cubicBezTo>
                    <a:cubicBezTo>
                      <a:pt x="592" y="1135"/>
                      <a:pt x="141" y="1294"/>
                      <a:pt x="0" y="1397"/>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71" name="Text Box 27"/>
              <p:cNvSpPr txBox="1">
                <a:spLocks noChangeArrowheads="1"/>
              </p:cNvSpPr>
              <p:nvPr/>
            </p:nvSpPr>
            <p:spPr bwMode="auto">
              <a:xfrm>
                <a:off x="3315" y="725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61472" name="Text Box 28"/>
              <p:cNvSpPr txBox="1">
                <a:spLocks noChangeArrowheads="1"/>
              </p:cNvSpPr>
              <p:nvPr/>
            </p:nvSpPr>
            <p:spPr bwMode="auto">
              <a:xfrm>
                <a:off x="4265" y="7833"/>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9</a:t>
                </a:r>
                <a:endParaRPr lang="en-US" altLang="zh-CN" sz="2400" b="1">
                  <a:solidFill>
                    <a:srgbClr val="000066"/>
                  </a:solidFill>
                  <a:latin typeface="Times New Roman" panose="02020603050405020304" pitchFamily="18" charset="0"/>
                </a:endParaRPr>
              </a:p>
            </p:txBody>
          </p:sp>
          <p:sp>
            <p:nvSpPr>
              <p:cNvPr id="61473" name="Text Box 29"/>
              <p:cNvSpPr txBox="1">
                <a:spLocks noChangeArrowheads="1"/>
              </p:cNvSpPr>
              <p:nvPr/>
            </p:nvSpPr>
            <p:spPr bwMode="auto">
              <a:xfrm>
                <a:off x="2295" y="785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8</a:t>
                </a:r>
                <a:endParaRPr lang="en-US" altLang="zh-CN" sz="2400" b="1">
                  <a:solidFill>
                    <a:srgbClr val="000066"/>
                  </a:solidFill>
                  <a:latin typeface="Times New Roman" panose="02020603050405020304" pitchFamily="18" charset="0"/>
                </a:endParaRPr>
              </a:p>
            </p:txBody>
          </p:sp>
          <p:sp>
            <p:nvSpPr>
              <p:cNvPr id="61474" name="Text Box 30"/>
              <p:cNvSpPr txBox="1">
                <a:spLocks noChangeArrowheads="1"/>
              </p:cNvSpPr>
              <p:nvPr/>
            </p:nvSpPr>
            <p:spPr bwMode="auto">
              <a:xfrm>
                <a:off x="3285" y="8298"/>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4</a:t>
                </a:r>
                <a:endParaRPr lang="en-US" altLang="zh-CN" sz="2400" b="1">
                  <a:solidFill>
                    <a:srgbClr val="000066"/>
                  </a:solidFill>
                  <a:latin typeface="Times New Roman" panose="02020603050405020304" pitchFamily="18" charset="0"/>
                </a:endParaRPr>
              </a:p>
            </p:txBody>
          </p:sp>
        </p:grpSp>
        <p:sp>
          <p:nvSpPr>
            <p:cNvPr id="61448" name="Text Box 31"/>
            <p:cNvSpPr txBox="1">
              <a:spLocks noChangeArrowheads="1"/>
            </p:cNvSpPr>
            <p:nvPr/>
          </p:nvSpPr>
          <p:spPr bwMode="auto">
            <a:xfrm>
              <a:off x="3003" y="934"/>
              <a:ext cx="1918" cy="1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04000"/>
                </a:lnSpc>
              </a:pPr>
              <a:endParaRPr lang="zh-CN" altLang="en-US" sz="2400" b="1">
                <a:solidFill>
                  <a:srgbClr val="000066"/>
                </a:solidFill>
                <a:latin typeface="Times New Roman" panose="02020603050405020304" pitchFamily="18" charset="0"/>
              </a:endParaRPr>
            </a:p>
            <a:p>
              <a:pPr algn="just" eaLnBrk="1" hangingPunct="1">
                <a:lnSpc>
                  <a:spcPct val="104000"/>
                </a:lnSpc>
              </a:pPr>
              <a:endParaRPr lang="zh-CN" altLang="en-US" sz="2400" b="1">
                <a:solidFill>
                  <a:srgbClr val="000066"/>
                </a:solidFill>
                <a:latin typeface="Times New Roman" panose="02020603050405020304" pitchFamily="18" charset="0"/>
              </a:endParaRPr>
            </a:p>
            <a:p>
              <a:pPr algn="just" eaLnBrk="1" hangingPunct="1">
                <a:lnSpc>
                  <a:spcPct val="104000"/>
                </a:lnSpc>
              </a:pPr>
              <a:endParaRPr lang="zh-CN" altLang="en-US" sz="2400" b="1" i="1">
                <a:solidFill>
                  <a:srgbClr val="000066"/>
                </a:solidFill>
                <a:latin typeface="Times New Roman" panose="02020603050405020304" pitchFamily="18" charset="0"/>
              </a:endParaRPr>
            </a:p>
            <a:p>
              <a:pPr algn="just" eaLnBrk="1" hangingPunct="1"/>
              <a:r>
                <a:rPr lang="en-US" altLang="zh-CN" sz="2400" b="1" i="1">
                  <a:solidFill>
                    <a:srgbClr val="000066"/>
                  </a:solidFill>
                  <a:latin typeface="Times New Roman" panose="02020603050405020304" pitchFamily="18" charset="0"/>
                </a:rPr>
                <a:t>C</a:t>
              </a:r>
              <a:r>
                <a:rPr lang="en-US" altLang="zh-CN" sz="2400" b="1">
                  <a:solidFill>
                    <a:srgbClr val="000066"/>
                  </a:solidFill>
                  <a:latin typeface="Times New Roman" panose="02020603050405020304" pitchFamily="18" charset="0"/>
                </a:rPr>
                <a:t>=</a:t>
              </a:r>
              <a:endParaRPr lang="en-US" altLang="zh-CN" sz="2400" b="1">
                <a:solidFill>
                  <a:srgbClr val="000066"/>
                </a:solidFill>
                <a:latin typeface="Times New Roman" panose="02020603050405020304" pitchFamily="18" charset="0"/>
              </a:endParaRPr>
            </a:p>
          </p:txBody>
        </p:sp>
        <p:sp>
          <p:nvSpPr>
            <p:cNvPr id="61449" name="AutoShape 32"/>
            <p:cNvSpPr>
              <a:spLocks noChangeArrowheads="1"/>
            </p:cNvSpPr>
            <p:nvPr/>
          </p:nvSpPr>
          <p:spPr bwMode="auto">
            <a:xfrm>
              <a:off x="3302" y="990"/>
              <a:ext cx="1301" cy="1253"/>
            </a:xfrm>
            <a:prstGeom prst="bracketPair">
              <a:avLst>
                <a:gd name="adj" fmla="val 4875"/>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54000" tIns="10800" rIns="18000" bIns="108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pPr>
              <a:r>
                <a:rPr lang="zh-CN" altLang="en-US" sz="2000" b="1">
                  <a:solidFill>
                    <a:srgbClr val="000066"/>
                  </a:solidFill>
                  <a:latin typeface="Times New Roman" panose="02020603050405020304" pitchFamily="18" charset="0"/>
                </a:rPr>
                <a:t>∞    </a:t>
              </a:r>
              <a:r>
                <a:rPr lang="en-US" altLang="zh-CN" sz="2000" b="1">
                  <a:solidFill>
                    <a:srgbClr val="000066"/>
                  </a:solidFill>
                  <a:latin typeface="Times New Roman" panose="02020603050405020304" pitchFamily="18" charset="0"/>
                </a:rPr>
                <a:t>3     1     5     8</a:t>
              </a:r>
              <a:endParaRPr lang="en-US" altLang="zh-CN" sz="2000" b="1">
                <a:solidFill>
                  <a:srgbClr val="000066"/>
                </a:solidFill>
                <a:latin typeface="Times New Roman" panose="02020603050405020304" pitchFamily="18" charset="0"/>
              </a:endParaRPr>
            </a:p>
            <a:p>
              <a:pPr algn="just" eaLnBrk="1" hangingPunct="1">
                <a:lnSpc>
                  <a:spcPct val="120000"/>
                </a:lnSpc>
              </a:pPr>
              <a:r>
                <a:rPr lang="en-US" altLang="zh-CN" sz="2000" b="1">
                  <a:solidFill>
                    <a:srgbClr val="000066"/>
                  </a:solidFill>
                  <a:latin typeface="Times New Roman" panose="02020603050405020304" pitchFamily="18" charset="0"/>
                </a:rPr>
                <a:t> 3    ∞    6     7     9</a:t>
              </a:r>
              <a:endParaRPr lang="en-US" altLang="zh-CN" sz="2000" b="1">
                <a:solidFill>
                  <a:srgbClr val="000066"/>
                </a:solidFill>
                <a:latin typeface="Times New Roman" panose="02020603050405020304" pitchFamily="18" charset="0"/>
              </a:endParaRPr>
            </a:p>
            <a:p>
              <a:pPr algn="just" eaLnBrk="1" hangingPunct="1">
                <a:lnSpc>
                  <a:spcPct val="120000"/>
                </a:lnSpc>
              </a:pPr>
              <a:r>
                <a:rPr lang="en-US" altLang="zh-CN" sz="2000" b="1">
                  <a:solidFill>
                    <a:srgbClr val="000066"/>
                  </a:solidFill>
                  <a:latin typeface="Times New Roman" panose="02020603050405020304" pitchFamily="18" charset="0"/>
                </a:rPr>
                <a:t> 1     6    ∞    4     2</a:t>
              </a:r>
              <a:endParaRPr lang="en-US" altLang="zh-CN" sz="2000" b="1">
                <a:solidFill>
                  <a:srgbClr val="000066"/>
                </a:solidFill>
                <a:latin typeface="Times New Roman" panose="02020603050405020304" pitchFamily="18" charset="0"/>
              </a:endParaRPr>
            </a:p>
            <a:p>
              <a:pPr algn="just" eaLnBrk="1" hangingPunct="1">
                <a:lnSpc>
                  <a:spcPct val="120000"/>
                </a:lnSpc>
              </a:pPr>
              <a:r>
                <a:rPr lang="en-US" altLang="zh-CN" sz="2000" b="1">
                  <a:solidFill>
                    <a:srgbClr val="000066"/>
                  </a:solidFill>
                  <a:latin typeface="Times New Roman" panose="02020603050405020304" pitchFamily="18" charset="0"/>
                </a:rPr>
                <a:t> 5     7     4    ∞    3</a:t>
              </a:r>
              <a:endParaRPr lang="en-US" altLang="zh-CN" sz="2000" b="1">
                <a:solidFill>
                  <a:srgbClr val="000066"/>
                </a:solidFill>
                <a:latin typeface="Times New Roman" panose="02020603050405020304" pitchFamily="18" charset="0"/>
              </a:endParaRPr>
            </a:p>
            <a:p>
              <a:pPr algn="just" eaLnBrk="1" hangingPunct="1">
                <a:lnSpc>
                  <a:spcPct val="120000"/>
                </a:lnSpc>
              </a:pPr>
              <a:r>
                <a:rPr lang="en-US" altLang="zh-CN" sz="2000" b="1">
                  <a:solidFill>
                    <a:srgbClr val="000066"/>
                  </a:solidFill>
                  <a:latin typeface="Times New Roman" panose="02020603050405020304" pitchFamily="18" charset="0"/>
                </a:rPr>
                <a:t> 8     9     2     3    ∞</a:t>
              </a:r>
              <a:endParaRPr lang="en-US" altLang="zh-CN" sz="2000" b="1">
                <a:solidFill>
                  <a:srgbClr val="000066"/>
                </a:solidFill>
                <a:latin typeface="Times New Roman" panose="02020603050405020304" pitchFamily="18" charset="0"/>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矩形 2"/>
          <p:cNvSpPr>
            <a:spLocks noChangeArrowheads="1"/>
          </p:cNvSpPr>
          <p:nvPr/>
        </p:nvSpPr>
        <p:spPr bwMode="auto">
          <a:xfrm>
            <a:off x="292100" y="376238"/>
            <a:ext cx="41671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货郎担问题</a:t>
            </a:r>
            <a:endParaRPr lang="zh-CN" altLang="en-US" sz="3200">
              <a:solidFill>
                <a:schemeClr val="bg1"/>
              </a:solidFill>
              <a:latin typeface="楷体" panose="02010609060101010101" pitchFamily="49" charset="-122"/>
              <a:ea typeface="楷体" panose="02010609060101010101" pitchFamily="49" charset="-122"/>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4100" name="内容占位符 2"/>
          <p:cNvSpPr>
            <a:spLocks noGrp="1"/>
          </p:cNvSpPr>
          <p:nvPr>
            <p:ph idx="1"/>
          </p:nvPr>
        </p:nvSpPr>
        <p:spPr>
          <a:xfrm>
            <a:off x="433388" y="1244600"/>
            <a:ext cx="8178800" cy="4457700"/>
          </a:xfrm>
        </p:spPr>
        <p:txBody>
          <a:bodyPr/>
          <a:lstStyle/>
          <a:p>
            <a:pPr marL="0" indent="0" defTabSz="914400" eaLnBrk="1" hangingPunct="1">
              <a:lnSpc>
                <a:spcPct val="100000"/>
              </a:lnSpc>
              <a:spcBef>
                <a:spcPct val="0"/>
              </a:spcBef>
              <a:buClrTx/>
              <a:buSzTx/>
              <a:buFont typeface="Wingdings" panose="05000000000000000000" pitchFamily="2" charset="2"/>
              <a:buChar char="Ø"/>
              <a:defRPr/>
            </a:pPr>
            <a:r>
              <a:rPr lang="zh-CN" altLang="en-US" sz="2400" b="1"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部分解的下界：</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表示已选结点的集合，假设</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中有</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k</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个元素</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&lt;r</a:t>
            </a:r>
            <a:r>
              <a:rPr lang="en-US" altLang="zh-CN" sz="2400" b="1" baseline="-2500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k</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&gt;</a:t>
            </a:r>
            <a:endPar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33" name="Object 4"/>
          <p:cNvGraphicFramePr>
            <a:graphicFrameLocks noChangeAspect="1"/>
          </p:cNvGraphicFramePr>
          <p:nvPr/>
        </p:nvGraphicFramePr>
        <p:xfrm>
          <a:off x="671513" y="2081213"/>
          <a:ext cx="7659687" cy="2100262"/>
        </p:xfrm>
        <a:graphic>
          <a:graphicData uri="http://schemas.openxmlformats.org/presentationml/2006/ole">
            <mc:AlternateContent xmlns:mc="http://schemas.openxmlformats.org/markup-compatibility/2006">
              <mc:Choice xmlns:v="urn:schemas-microsoft-com:vml" Requires="v">
                <p:oleObj spid="_x0000_s4226" name="Equation" r:id="rId1" imgW="3289300" imgH="901700" progId="Equation.DSMT4">
                  <p:embed/>
                </p:oleObj>
              </mc:Choice>
              <mc:Fallback>
                <p:oleObj name="Equation" r:id="rId1" imgW="3289300" imgH="9017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513" y="2081213"/>
                        <a:ext cx="7659687"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1" name="Text Box 7"/>
          <p:cNvSpPr txBox="1">
            <a:spLocks noChangeArrowheads="1"/>
          </p:cNvSpPr>
          <p:nvPr/>
        </p:nvSpPr>
        <p:spPr bwMode="auto">
          <a:xfrm>
            <a:off x="285750" y="4356100"/>
            <a:ext cx="8691563" cy="2259013"/>
          </a:xfrm>
          <a:prstGeom prst="rect">
            <a:avLst/>
          </a:prstGeom>
        </p:spPr>
        <p:style>
          <a:lnRef idx="2">
            <a:schemeClr val="dk1"/>
          </a:lnRef>
          <a:fillRef idx="1">
            <a:schemeClr val="lt1"/>
          </a:fillRef>
          <a:effectRef idx="0">
            <a:schemeClr val="dk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假设</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中只有</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smtClean="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个结点，</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，那么</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第一项相当于</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2c[r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2c[r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（共</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项，即</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条边）</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第二项相当于</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行非</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的最小值</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行非</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的最小值；</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（共</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项，即</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条边）</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前两项相一共</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6</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条边，相当于是对</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中</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的结点，</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取最小的两个元素，只是把最小的元素中的一部分换成了已选的路径</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2"/>
          <p:cNvSpPr>
            <a:spLocks noChangeArrowheads="1"/>
          </p:cNvSpPr>
          <p:nvPr/>
        </p:nvSpPr>
        <p:spPr bwMode="auto">
          <a:xfrm>
            <a:off x="292100" y="376238"/>
            <a:ext cx="41671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货郎担问题</a:t>
            </a:r>
            <a:endParaRPr lang="zh-CN" altLang="en-US" sz="3200">
              <a:solidFill>
                <a:schemeClr val="bg1"/>
              </a:solidFill>
              <a:latin typeface="楷体" panose="02010609060101010101" pitchFamily="49" charset="-122"/>
              <a:ea typeface="楷体" panose="02010609060101010101" pitchFamily="49" charset="-122"/>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4100" name="内容占位符 2"/>
          <p:cNvSpPr>
            <a:spLocks noGrp="1"/>
          </p:cNvSpPr>
          <p:nvPr>
            <p:ph idx="1"/>
          </p:nvPr>
        </p:nvSpPr>
        <p:spPr>
          <a:xfrm>
            <a:off x="309563" y="1282700"/>
            <a:ext cx="8178800" cy="4457700"/>
          </a:xfrm>
        </p:spPr>
        <p:txBody>
          <a:bodyPr/>
          <a:lstStyle/>
          <a:p>
            <a:pPr marL="0" indent="0" defTabSz="914400" eaLnBrk="1" hangingPunct="1">
              <a:lnSpc>
                <a:spcPct val="100000"/>
              </a:lnSpc>
              <a:spcBef>
                <a:spcPct val="0"/>
              </a:spcBef>
              <a:buClrTx/>
              <a:buSzTx/>
              <a:buFont typeface="Wingdings" panose="05000000000000000000" pitchFamily="2" charset="2"/>
              <a:buChar char="Ø"/>
              <a:defRPr/>
            </a:pPr>
            <a:r>
              <a:rPr lang="zh-CN" altLang="en-US" sz="2400" b="1" dirty="0" smtClean="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部分解的下界：</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表示已选结点的结合，假设</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中有</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k</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个元素</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&lt;r</a:t>
            </a:r>
            <a:r>
              <a:rPr lang="en-US" altLang="zh-CN" sz="2400" b="1" baseline="-2500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baseline="-25000"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k</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&gt;</a:t>
            </a:r>
            <a:endPar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2468" name="Text Box 7"/>
          <p:cNvSpPr txBox="1">
            <a:spLocks noChangeArrowheads="1"/>
          </p:cNvSpPr>
          <p:nvPr/>
        </p:nvSpPr>
        <p:spPr bwMode="auto">
          <a:xfrm>
            <a:off x="573088" y="4451350"/>
            <a:ext cx="8099425" cy="2051050"/>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例如：设部分解为</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(1,4)</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，则该部分解的下界为：</a:t>
            </a:r>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lb=(2</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5 + </a:t>
            </a:r>
            <a:endPar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 + 3+</a:t>
            </a:r>
            <a:endPar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(3+6)+(1+2)+(2+3))/2=</a:t>
            </a:r>
            <a:endPar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5</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)+(3+6)+(1+2)+(3+</a:t>
            </a:r>
            <a:r>
              <a:rPr lang="en-US" altLang="zh-CN" sz="24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5</a:t>
            </a:r>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)+(2+3))/2=16</a:t>
            </a:r>
            <a:endPar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62469" name="Group 9"/>
          <p:cNvGrpSpPr/>
          <p:nvPr/>
        </p:nvGrpSpPr>
        <p:grpSpPr bwMode="auto">
          <a:xfrm>
            <a:off x="2743200" y="1857375"/>
            <a:ext cx="4114800" cy="2314575"/>
            <a:chOff x="2295" y="7254"/>
            <a:chExt cx="2131" cy="1899"/>
          </a:xfrm>
        </p:grpSpPr>
        <p:sp>
          <p:nvSpPr>
            <p:cNvPr id="62470" name="Text Box 10"/>
            <p:cNvSpPr txBox="1">
              <a:spLocks noChangeArrowheads="1"/>
            </p:cNvSpPr>
            <p:nvPr/>
          </p:nvSpPr>
          <p:spPr bwMode="auto">
            <a:xfrm>
              <a:off x="3055" y="863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2</a:t>
              </a:r>
              <a:endParaRPr lang="en-US" altLang="zh-CN" sz="2400" b="1">
                <a:solidFill>
                  <a:srgbClr val="000066"/>
                </a:solidFill>
                <a:latin typeface="Times New Roman" panose="02020603050405020304" pitchFamily="18" charset="0"/>
              </a:endParaRPr>
            </a:p>
          </p:txBody>
        </p:sp>
        <p:sp>
          <p:nvSpPr>
            <p:cNvPr id="62471" name="Text Box 11"/>
            <p:cNvSpPr txBox="1">
              <a:spLocks noChangeArrowheads="1"/>
            </p:cNvSpPr>
            <p:nvPr/>
          </p:nvSpPr>
          <p:spPr bwMode="auto">
            <a:xfrm>
              <a:off x="3835" y="788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7</a:t>
              </a:r>
              <a:endParaRPr lang="en-US" altLang="zh-CN" sz="2400" b="1">
                <a:solidFill>
                  <a:srgbClr val="000066"/>
                </a:solidFill>
                <a:latin typeface="Times New Roman" panose="02020603050405020304" pitchFamily="18" charset="0"/>
              </a:endParaRPr>
            </a:p>
          </p:txBody>
        </p:sp>
        <p:sp>
          <p:nvSpPr>
            <p:cNvPr id="62472" name="Text Box 12"/>
            <p:cNvSpPr txBox="1">
              <a:spLocks noChangeArrowheads="1"/>
            </p:cNvSpPr>
            <p:nvPr/>
          </p:nvSpPr>
          <p:spPr bwMode="auto">
            <a:xfrm>
              <a:off x="2775" y="788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1</a:t>
              </a:r>
              <a:endParaRPr lang="en-US" altLang="zh-CN" sz="2400" b="1">
                <a:solidFill>
                  <a:srgbClr val="000066"/>
                </a:solidFill>
                <a:latin typeface="Times New Roman" panose="02020603050405020304" pitchFamily="18" charset="0"/>
              </a:endParaRPr>
            </a:p>
          </p:txBody>
        </p:sp>
        <p:sp>
          <p:nvSpPr>
            <p:cNvPr id="62473" name="Text Box 13"/>
            <p:cNvSpPr txBox="1">
              <a:spLocks noChangeArrowheads="1"/>
            </p:cNvSpPr>
            <p:nvPr/>
          </p:nvSpPr>
          <p:spPr bwMode="auto">
            <a:xfrm>
              <a:off x="3114" y="759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5</a:t>
              </a:r>
              <a:endParaRPr lang="en-US" altLang="zh-CN" sz="2400" b="1">
                <a:solidFill>
                  <a:srgbClr val="000066"/>
                </a:solidFill>
                <a:latin typeface="Times New Roman" panose="02020603050405020304" pitchFamily="18" charset="0"/>
              </a:endParaRPr>
            </a:p>
          </p:txBody>
        </p:sp>
        <p:sp>
          <p:nvSpPr>
            <p:cNvPr id="62474" name="Text Box 14"/>
            <p:cNvSpPr txBox="1">
              <a:spLocks noChangeArrowheads="1"/>
            </p:cNvSpPr>
            <p:nvPr/>
          </p:nvSpPr>
          <p:spPr bwMode="auto">
            <a:xfrm>
              <a:off x="3515" y="7611"/>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6</a:t>
              </a:r>
              <a:endParaRPr lang="en-US" altLang="zh-CN" sz="2400" b="1">
                <a:solidFill>
                  <a:srgbClr val="000066"/>
                </a:solidFill>
                <a:latin typeface="Times New Roman" panose="02020603050405020304" pitchFamily="18" charset="0"/>
              </a:endParaRPr>
            </a:p>
          </p:txBody>
        </p:sp>
        <p:sp>
          <p:nvSpPr>
            <p:cNvPr id="62475" name="Text Box 15"/>
            <p:cNvSpPr txBox="1">
              <a:spLocks noChangeArrowheads="1"/>
            </p:cNvSpPr>
            <p:nvPr/>
          </p:nvSpPr>
          <p:spPr bwMode="auto">
            <a:xfrm>
              <a:off x="3585" y="8643"/>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62476" name="Oval 16"/>
            <p:cNvSpPr>
              <a:spLocks noChangeArrowheads="1"/>
            </p:cNvSpPr>
            <p:nvPr/>
          </p:nvSpPr>
          <p:spPr bwMode="auto">
            <a:xfrm>
              <a:off x="2610" y="734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1</a:t>
              </a:r>
              <a:endParaRPr lang="en-US" altLang="zh-CN" sz="2400" b="1">
                <a:solidFill>
                  <a:srgbClr val="000066"/>
                </a:solidFill>
                <a:latin typeface="Times New Roman" panose="02020603050405020304" pitchFamily="18" charset="0"/>
              </a:endParaRPr>
            </a:p>
          </p:txBody>
        </p:sp>
        <p:sp>
          <p:nvSpPr>
            <p:cNvPr id="62477" name="Oval 17"/>
            <p:cNvSpPr>
              <a:spLocks noChangeArrowheads="1"/>
            </p:cNvSpPr>
            <p:nvPr/>
          </p:nvSpPr>
          <p:spPr bwMode="auto">
            <a:xfrm>
              <a:off x="2610" y="835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62478" name="Oval 18"/>
            <p:cNvSpPr>
              <a:spLocks noChangeArrowheads="1"/>
            </p:cNvSpPr>
            <p:nvPr/>
          </p:nvSpPr>
          <p:spPr bwMode="auto">
            <a:xfrm>
              <a:off x="3821" y="8355"/>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4</a:t>
              </a:r>
              <a:endParaRPr lang="en-US" altLang="zh-CN" sz="2400" b="1">
                <a:solidFill>
                  <a:srgbClr val="000066"/>
                </a:solidFill>
                <a:latin typeface="Times New Roman" panose="02020603050405020304" pitchFamily="18" charset="0"/>
              </a:endParaRPr>
            </a:p>
          </p:txBody>
        </p:sp>
        <p:sp>
          <p:nvSpPr>
            <p:cNvPr id="62479" name="Oval 19"/>
            <p:cNvSpPr>
              <a:spLocks noChangeArrowheads="1"/>
            </p:cNvSpPr>
            <p:nvPr/>
          </p:nvSpPr>
          <p:spPr bwMode="auto">
            <a:xfrm>
              <a:off x="3810" y="734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2</a:t>
              </a:r>
              <a:endParaRPr lang="en-US" altLang="zh-CN" sz="2400" b="1">
                <a:solidFill>
                  <a:srgbClr val="000066"/>
                </a:solidFill>
                <a:latin typeface="Times New Roman" panose="02020603050405020304" pitchFamily="18" charset="0"/>
              </a:endParaRPr>
            </a:p>
          </p:txBody>
        </p:sp>
        <p:sp>
          <p:nvSpPr>
            <p:cNvPr id="62480" name="Oval 20"/>
            <p:cNvSpPr>
              <a:spLocks noChangeArrowheads="1"/>
            </p:cNvSpPr>
            <p:nvPr/>
          </p:nvSpPr>
          <p:spPr bwMode="auto">
            <a:xfrm>
              <a:off x="3241" y="8859"/>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5</a:t>
              </a:r>
              <a:endParaRPr lang="en-US" altLang="zh-CN" sz="2400" b="1">
                <a:solidFill>
                  <a:srgbClr val="000066"/>
                </a:solidFill>
                <a:latin typeface="Times New Roman" panose="02020603050405020304" pitchFamily="18" charset="0"/>
              </a:endParaRPr>
            </a:p>
          </p:txBody>
        </p:sp>
        <p:sp>
          <p:nvSpPr>
            <p:cNvPr id="62481" name="Freeform 21"/>
            <p:cNvSpPr/>
            <p:nvPr/>
          </p:nvSpPr>
          <p:spPr bwMode="auto">
            <a:xfrm>
              <a:off x="2916" y="7482"/>
              <a:ext cx="894" cy="1"/>
            </a:xfrm>
            <a:custGeom>
              <a:avLst/>
              <a:gdLst>
                <a:gd name="T0" fmla="*/ 0 w 894"/>
                <a:gd name="T1" fmla="*/ 0 h 6"/>
                <a:gd name="T2" fmla="*/ 894 w 894"/>
                <a:gd name="T3" fmla="*/ 0 h 6"/>
                <a:gd name="T4" fmla="*/ 0 60000 65536"/>
                <a:gd name="T5" fmla="*/ 0 60000 65536"/>
                <a:gd name="T6" fmla="*/ 0 w 894"/>
                <a:gd name="T7" fmla="*/ 0 h 6"/>
                <a:gd name="T8" fmla="*/ 894 w 894"/>
                <a:gd name="T9" fmla="*/ 6 h 6"/>
              </a:gdLst>
              <a:ahLst/>
              <a:cxnLst>
                <a:cxn ang="T4">
                  <a:pos x="T0" y="T1"/>
                </a:cxn>
                <a:cxn ang="T5">
                  <a:pos x="T2" y="T3"/>
                </a:cxn>
              </a:cxnLst>
              <a:rect l="T6" t="T7" r="T8" b="T9"/>
              <a:pathLst>
                <a:path w="894" h="6">
                  <a:moveTo>
                    <a:pt x="0" y="0"/>
                  </a:moveTo>
                  <a:lnTo>
                    <a:pt x="894" y="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82" name="Freeform 22"/>
            <p:cNvSpPr/>
            <p:nvPr/>
          </p:nvSpPr>
          <p:spPr bwMode="auto">
            <a:xfrm>
              <a:off x="2756" y="7632"/>
              <a:ext cx="4" cy="716"/>
            </a:xfrm>
            <a:custGeom>
              <a:avLst/>
              <a:gdLst>
                <a:gd name="T0" fmla="*/ 0 w 4"/>
                <a:gd name="T1" fmla="*/ 0 h 716"/>
                <a:gd name="T2" fmla="*/ 4 w 4"/>
                <a:gd name="T3" fmla="*/ 716 h 716"/>
                <a:gd name="T4" fmla="*/ 0 60000 65536"/>
                <a:gd name="T5" fmla="*/ 0 60000 65536"/>
                <a:gd name="T6" fmla="*/ 0 w 4"/>
                <a:gd name="T7" fmla="*/ 0 h 716"/>
                <a:gd name="T8" fmla="*/ 4 w 4"/>
                <a:gd name="T9" fmla="*/ 716 h 716"/>
              </a:gdLst>
              <a:ahLst/>
              <a:cxnLst>
                <a:cxn ang="T4">
                  <a:pos x="T0" y="T1"/>
                </a:cxn>
                <a:cxn ang="T5">
                  <a:pos x="T2" y="T3"/>
                </a:cxn>
              </a:cxnLst>
              <a:rect l="T6" t="T7" r="T8" b="T9"/>
              <a:pathLst>
                <a:path w="4" h="716">
                  <a:moveTo>
                    <a:pt x="0" y="0"/>
                  </a:moveTo>
                  <a:lnTo>
                    <a:pt x="4" y="71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83" name="Freeform 23"/>
            <p:cNvSpPr/>
            <p:nvPr/>
          </p:nvSpPr>
          <p:spPr bwMode="auto">
            <a:xfrm>
              <a:off x="2876" y="7584"/>
              <a:ext cx="984" cy="834"/>
            </a:xfrm>
            <a:custGeom>
              <a:avLst/>
              <a:gdLst>
                <a:gd name="T0" fmla="*/ 0 w 984"/>
                <a:gd name="T1" fmla="*/ 0 h 834"/>
                <a:gd name="T2" fmla="*/ 984 w 984"/>
                <a:gd name="T3" fmla="*/ 834 h 834"/>
                <a:gd name="T4" fmla="*/ 0 60000 65536"/>
                <a:gd name="T5" fmla="*/ 0 60000 65536"/>
                <a:gd name="T6" fmla="*/ 0 w 984"/>
                <a:gd name="T7" fmla="*/ 0 h 834"/>
                <a:gd name="T8" fmla="*/ 984 w 984"/>
                <a:gd name="T9" fmla="*/ 834 h 834"/>
              </a:gdLst>
              <a:ahLst/>
              <a:cxnLst>
                <a:cxn ang="T4">
                  <a:pos x="T0" y="T1"/>
                </a:cxn>
                <a:cxn ang="T5">
                  <a:pos x="T2" y="T3"/>
                </a:cxn>
              </a:cxnLst>
              <a:rect l="T6" t="T7" r="T8" b="T9"/>
              <a:pathLst>
                <a:path w="984" h="834">
                  <a:moveTo>
                    <a:pt x="0" y="0"/>
                  </a:moveTo>
                  <a:lnTo>
                    <a:pt x="984" y="834"/>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84" name="Freeform 24"/>
            <p:cNvSpPr/>
            <p:nvPr/>
          </p:nvSpPr>
          <p:spPr bwMode="auto">
            <a:xfrm>
              <a:off x="3976" y="7632"/>
              <a:ext cx="5" cy="726"/>
            </a:xfrm>
            <a:custGeom>
              <a:avLst/>
              <a:gdLst>
                <a:gd name="T0" fmla="*/ 0 w 4"/>
                <a:gd name="T1" fmla="*/ 0 h 756"/>
                <a:gd name="T2" fmla="*/ 12967 w 4"/>
                <a:gd name="T3" fmla="*/ 169 h 756"/>
                <a:gd name="T4" fmla="*/ 0 60000 65536"/>
                <a:gd name="T5" fmla="*/ 0 60000 65536"/>
                <a:gd name="T6" fmla="*/ 0 w 4"/>
                <a:gd name="T7" fmla="*/ 0 h 756"/>
                <a:gd name="T8" fmla="*/ 4 w 4"/>
                <a:gd name="T9" fmla="*/ 756 h 756"/>
              </a:gdLst>
              <a:ahLst/>
              <a:cxnLst>
                <a:cxn ang="T4">
                  <a:pos x="T0" y="T1"/>
                </a:cxn>
                <a:cxn ang="T5">
                  <a:pos x="T2" y="T3"/>
                </a:cxn>
              </a:cxnLst>
              <a:rect l="T6" t="T7" r="T8" b="T9"/>
              <a:pathLst>
                <a:path w="4" h="756">
                  <a:moveTo>
                    <a:pt x="0" y="0"/>
                  </a:moveTo>
                  <a:lnTo>
                    <a:pt x="4" y="75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85" name="Freeform 25"/>
            <p:cNvSpPr/>
            <p:nvPr/>
          </p:nvSpPr>
          <p:spPr bwMode="auto">
            <a:xfrm>
              <a:off x="2880" y="7608"/>
              <a:ext cx="980" cy="780"/>
            </a:xfrm>
            <a:custGeom>
              <a:avLst/>
              <a:gdLst>
                <a:gd name="T0" fmla="*/ 0 w 980"/>
                <a:gd name="T1" fmla="*/ 780 h 780"/>
                <a:gd name="T2" fmla="*/ 980 w 980"/>
                <a:gd name="T3" fmla="*/ 0 h 780"/>
                <a:gd name="T4" fmla="*/ 0 60000 65536"/>
                <a:gd name="T5" fmla="*/ 0 60000 65536"/>
                <a:gd name="T6" fmla="*/ 0 w 980"/>
                <a:gd name="T7" fmla="*/ 0 h 780"/>
                <a:gd name="T8" fmla="*/ 980 w 980"/>
                <a:gd name="T9" fmla="*/ 780 h 780"/>
              </a:gdLst>
              <a:ahLst/>
              <a:cxnLst>
                <a:cxn ang="T4">
                  <a:pos x="T0" y="T1"/>
                </a:cxn>
                <a:cxn ang="T5">
                  <a:pos x="T2" y="T3"/>
                </a:cxn>
              </a:cxnLst>
              <a:rect l="T6" t="T7" r="T8" b="T9"/>
              <a:pathLst>
                <a:path w="980" h="780">
                  <a:moveTo>
                    <a:pt x="0" y="780"/>
                  </a:moveTo>
                  <a:lnTo>
                    <a:pt x="98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86" name="Freeform 26"/>
            <p:cNvSpPr/>
            <p:nvPr/>
          </p:nvSpPr>
          <p:spPr bwMode="auto">
            <a:xfrm>
              <a:off x="2906" y="8518"/>
              <a:ext cx="915" cy="2"/>
            </a:xfrm>
            <a:custGeom>
              <a:avLst/>
              <a:gdLst>
                <a:gd name="T0" fmla="*/ 0 w 894"/>
                <a:gd name="T1" fmla="*/ 1 h 4"/>
                <a:gd name="T2" fmla="*/ 2108 w 894"/>
                <a:gd name="T3" fmla="*/ 0 h 4"/>
                <a:gd name="T4" fmla="*/ 0 60000 65536"/>
                <a:gd name="T5" fmla="*/ 0 60000 65536"/>
                <a:gd name="T6" fmla="*/ 0 w 894"/>
                <a:gd name="T7" fmla="*/ 0 h 4"/>
                <a:gd name="T8" fmla="*/ 894 w 894"/>
                <a:gd name="T9" fmla="*/ 4 h 4"/>
              </a:gdLst>
              <a:ahLst/>
              <a:cxnLst>
                <a:cxn ang="T4">
                  <a:pos x="T0" y="T1"/>
                </a:cxn>
                <a:cxn ang="T5">
                  <a:pos x="T2" y="T3"/>
                </a:cxn>
              </a:cxnLst>
              <a:rect l="T6" t="T7" r="T8" b="T9"/>
              <a:pathLst>
                <a:path w="894" h="4">
                  <a:moveTo>
                    <a:pt x="0" y="4"/>
                  </a:moveTo>
                  <a:lnTo>
                    <a:pt x="894"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87" name="Freeform 27"/>
            <p:cNvSpPr/>
            <p:nvPr/>
          </p:nvSpPr>
          <p:spPr bwMode="auto">
            <a:xfrm>
              <a:off x="2820" y="8628"/>
              <a:ext cx="431" cy="327"/>
            </a:xfrm>
            <a:custGeom>
              <a:avLst/>
              <a:gdLst>
                <a:gd name="T0" fmla="*/ 0 w 420"/>
                <a:gd name="T1" fmla="*/ 0 h 380"/>
                <a:gd name="T2" fmla="*/ 1095 w 420"/>
                <a:gd name="T3" fmla="*/ 3 h 380"/>
                <a:gd name="T4" fmla="*/ 0 60000 65536"/>
                <a:gd name="T5" fmla="*/ 0 60000 65536"/>
                <a:gd name="T6" fmla="*/ 0 w 420"/>
                <a:gd name="T7" fmla="*/ 0 h 380"/>
                <a:gd name="T8" fmla="*/ 420 w 420"/>
                <a:gd name="T9" fmla="*/ 380 h 380"/>
              </a:gdLst>
              <a:ahLst/>
              <a:cxnLst>
                <a:cxn ang="T4">
                  <a:pos x="T0" y="T1"/>
                </a:cxn>
                <a:cxn ang="T5">
                  <a:pos x="T2" y="T3"/>
                </a:cxn>
              </a:cxnLst>
              <a:rect l="T6" t="T7" r="T8" b="T9"/>
              <a:pathLst>
                <a:path w="420" h="380">
                  <a:moveTo>
                    <a:pt x="0" y="0"/>
                  </a:moveTo>
                  <a:lnTo>
                    <a:pt x="420" y="38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88" name="Freeform 28"/>
            <p:cNvSpPr/>
            <p:nvPr/>
          </p:nvSpPr>
          <p:spPr bwMode="auto">
            <a:xfrm>
              <a:off x="3521" y="8628"/>
              <a:ext cx="390" cy="318"/>
            </a:xfrm>
            <a:custGeom>
              <a:avLst/>
              <a:gdLst>
                <a:gd name="T0" fmla="*/ 0 w 450"/>
                <a:gd name="T1" fmla="*/ 2 h 410"/>
                <a:gd name="T2" fmla="*/ 3 w 450"/>
                <a:gd name="T3" fmla="*/ 0 h 410"/>
                <a:gd name="T4" fmla="*/ 0 60000 65536"/>
                <a:gd name="T5" fmla="*/ 0 60000 65536"/>
                <a:gd name="T6" fmla="*/ 0 w 450"/>
                <a:gd name="T7" fmla="*/ 0 h 410"/>
                <a:gd name="T8" fmla="*/ 450 w 450"/>
                <a:gd name="T9" fmla="*/ 410 h 410"/>
              </a:gdLst>
              <a:ahLst/>
              <a:cxnLst>
                <a:cxn ang="T4">
                  <a:pos x="T0" y="T1"/>
                </a:cxn>
                <a:cxn ang="T5">
                  <a:pos x="T2" y="T3"/>
                </a:cxn>
              </a:cxnLst>
              <a:rect l="T6" t="T7" r="T8" b="T9"/>
              <a:pathLst>
                <a:path w="450" h="410">
                  <a:moveTo>
                    <a:pt x="0" y="410"/>
                  </a:moveTo>
                  <a:lnTo>
                    <a:pt x="45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89" name="Freeform 29"/>
            <p:cNvSpPr/>
            <p:nvPr/>
          </p:nvSpPr>
          <p:spPr bwMode="auto">
            <a:xfrm>
              <a:off x="2404" y="7618"/>
              <a:ext cx="827" cy="1370"/>
            </a:xfrm>
            <a:custGeom>
              <a:avLst/>
              <a:gdLst>
                <a:gd name="T0" fmla="*/ 250 w 827"/>
                <a:gd name="T1" fmla="*/ 0 h 1370"/>
                <a:gd name="T2" fmla="*/ 96 w 827"/>
                <a:gd name="T3" fmla="*/ 852 h 1370"/>
                <a:gd name="T4" fmla="*/ 827 w 827"/>
                <a:gd name="T5" fmla="*/ 1370 h 1370"/>
                <a:gd name="T6" fmla="*/ 0 60000 65536"/>
                <a:gd name="T7" fmla="*/ 0 60000 65536"/>
                <a:gd name="T8" fmla="*/ 0 60000 65536"/>
                <a:gd name="T9" fmla="*/ 0 w 827"/>
                <a:gd name="T10" fmla="*/ 0 h 1370"/>
                <a:gd name="T11" fmla="*/ 827 w 827"/>
                <a:gd name="T12" fmla="*/ 1370 h 1370"/>
              </a:gdLst>
              <a:ahLst/>
              <a:cxnLst>
                <a:cxn ang="T6">
                  <a:pos x="T0" y="T1"/>
                </a:cxn>
                <a:cxn ang="T7">
                  <a:pos x="T2" y="T3"/>
                </a:cxn>
                <a:cxn ang="T8">
                  <a:pos x="T4" y="T5"/>
                </a:cxn>
              </a:cxnLst>
              <a:rect l="T9" t="T10" r="T11" b="T12"/>
              <a:pathLst>
                <a:path w="827" h="1370">
                  <a:moveTo>
                    <a:pt x="250" y="0"/>
                  </a:moveTo>
                  <a:cubicBezTo>
                    <a:pt x="224" y="142"/>
                    <a:pt x="0" y="623"/>
                    <a:pt x="96" y="852"/>
                  </a:cubicBezTo>
                  <a:cubicBezTo>
                    <a:pt x="194" y="1168"/>
                    <a:pt x="675" y="1262"/>
                    <a:pt x="827" y="137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90" name="Freeform 30"/>
            <p:cNvSpPr/>
            <p:nvPr/>
          </p:nvSpPr>
          <p:spPr bwMode="auto">
            <a:xfrm>
              <a:off x="3551" y="7618"/>
              <a:ext cx="756" cy="1358"/>
            </a:xfrm>
            <a:custGeom>
              <a:avLst/>
              <a:gdLst>
                <a:gd name="T0" fmla="*/ 320 w 766"/>
                <a:gd name="T1" fmla="*/ 0 h 1397"/>
                <a:gd name="T2" fmla="*/ 416 w 766"/>
                <a:gd name="T3" fmla="*/ 317 h 1397"/>
                <a:gd name="T4" fmla="*/ 0 w 766"/>
                <a:gd name="T5" fmla="*/ 490 h 1397"/>
                <a:gd name="T6" fmla="*/ 0 60000 65536"/>
                <a:gd name="T7" fmla="*/ 0 60000 65536"/>
                <a:gd name="T8" fmla="*/ 0 60000 65536"/>
                <a:gd name="T9" fmla="*/ 0 w 766"/>
                <a:gd name="T10" fmla="*/ 0 h 1397"/>
                <a:gd name="T11" fmla="*/ 766 w 766"/>
                <a:gd name="T12" fmla="*/ 1397 h 1397"/>
              </a:gdLst>
              <a:ahLst/>
              <a:cxnLst>
                <a:cxn ang="T6">
                  <a:pos x="T0" y="T1"/>
                </a:cxn>
                <a:cxn ang="T7">
                  <a:pos x="T2" y="T3"/>
                </a:cxn>
                <a:cxn ang="T8">
                  <a:pos x="T4" y="T5"/>
                </a:cxn>
              </a:cxnLst>
              <a:rect l="T9" t="T10" r="T11" b="T12"/>
              <a:pathLst>
                <a:path w="766" h="1397">
                  <a:moveTo>
                    <a:pt x="519" y="0"/>
                  </a:moveTo>
                  <a:cubicBezTo>
                    <a:pt x="546" y="150"/>
                    <a:pt x="766" y="669"/>
                    <a:pt x="679" y="902"/>
                  </a:cubicBezTo>
                  <a:cubicBezTo>
                    <a:pt x="592" y="1135"/>
                    <a:pt x="141" y="1294"/>
                    <a:pt x="0" y="1397"/>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91" name="Text Box 31"/>
            <p:cNvSpPr txBox="1">
              <a:spLocks noChangeArrowheads="1"/>
            </p:cNvSpPr>
            <p:nvPr/>
          </p:nvSpPr>
          <p:spPr bwMode="auto">
            <a:xfrm>
              <a:off x="3315" y="725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3</a:t>
              </a:r>
              <a:endParaRPr lang="en-US" altLang="zh-CN" sz="2400" b="1">
                <a:solidFill>
                  <a:srgbClr val="000066"/>
                </a:solidFill>
                <a:latin typeface="Times New Roman" panose="02020603050405020304" pitchFamily="18" charset="0"/>
              </a:endParaRPr>
            </a:p>
          </p:txBody>
        </p:sp>
        <p:sp>
          <p:nvSpPr>
            <p:cNvPr id="62492" name="Text Box 32"/>
            <p:cNvSpPr txBox="1">
              <a:spLocks noChangeArrowheads="1"/>
            </p:cNvSpPr>
            <p:nvPr/>
          </p:nvSpPr>
          <p:spPr bwMode="auto">
            <a:xfrm>
              <a:off x="4265" y="7833"/>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9</a:t>
              </a:r>
              <a:endParaRPr lang="en-US" altLang="zh-CN" sz="2400" b="1">
                <a:solidFill>
                  <a:srgbClr val="000066"/>
                </a:solidFill>
                <a:latin typeface="Times New Roman" panose="02020603050405020304" pitchFamily="18" charset="0"/>
              </a:endParaRPr>
            </a:p>
          </p:txBody>
        </p:sp>
        <p:sp>
          <p:nvSpPr>
            <p:cNvPr id="62493" name="Text Box 33"/>
            <p:cNvSpPr txBox="1">
              <a:spLocks noChangeArrowheads="1"/>
            </p:cNvSpPr>
            <p:nvPr/>
          </p:nvSpPr>
          <p:spPr bwMode="auto">
            <a:xfrm>
              <a:off x="2295" y="785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8</a:t>
              </a:r>
              <a:endParaRPr lang="en-US" altLang="zh-CN" sz="2400" b="1">
                <a:solidFill>
                  <a:srgbClr val="000066"/>
                </a:solidFill>
                <a:latin typeface="Times New Roman" panose="02020603050405020304" pitchFamily="18" charset="0"/>
              </a:endParaRPr>
            </a:p>
          </p:txBody>
        </p:sp>
        <p:sp>
          <p:nvSpPr>
            <p:cNvPr id="62494" name="Text Box 34"/>
            <p:cNvSpPr txBox="1">
              <a:spLocks noChangeArrowheads="1"/>
            </p:cNvSpPr>
            <p:nvPr/>
          </p:nvSpPr>
          <p:spPr bwMode="auto">
            <a:xfrm>
              <a:off x="3285" y="8298"/>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sz="2400" b="1">
                  <a:solidFill>
                    <a:srgbClr val="000066"/>
                  </a:solidFill>
                  <a:latin typeface="Times New Roman" panose="02020603050405020304" pitchFamily="18" charset="0"/>
                </a:rPr>
                <a:t>4</a:t>
              </a:r>
              <a:endParaRPr lang="en-US" altLang="zh-CN" sz="2400" b="1">
                <a:solidFill>
                  <a:srgbClr val="000066"/>
                </a:solidFill>
                <a:latin typeface="Times New Roman" panose="02020603050405020304" pitchFamily="18" charset="0"/>
              </a:endParaRPr>
            </a:p>
          </p:txBody>
        </p:sp>
      </p:grpSp>
    </p:spTree>
    <p:custDataLst>
      <p:tags r:id="rId1"/>
    </p:custData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货郎担问题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99" name="内容占位符 2"/>
          <p:cNvSpPr>
            <a:spLocks noGrp="1"/>
          </p:cNvSpPr>
          <p:nvPr>
            <p:ph idx="1"/>
          </p:nvPr>
        </p:nvSpPr>
        <p:spPr>
          <a:xfrm>
            <a:off x="419100" y="1470025"/>
            <a:ext cx="8178800" cy="4457700"/>
          </a:xfrm>
        </p:spPr>
        <p:txBody>
          <a:bodyPr/>
          <a:lstStyle/>
          <a:p>
            <a:pPr marL="0" indent="0" defTabSz="914400" eaLnBrk="1" fontAlgn="auto" hangingPunct="1">
              <a:lnSpc>
                <a:spcPct val="100000"/>
              </a:lnSpc>
              <a:spcBef>
                <a:spcPts val="0"/>
              </a:spcBef>
              <a:spcAft>
                <a:spcPts val="0"/>
              </a:spcAft>
              <a:buClrTx/>
              <a:buSzTx/>
              <a:buFontTx/>
              <a:buNone/>
              <a:defRPr/>
            </a:pPr>
            <a:endParaRPr lang="zh-CN" altLang="en-US" kern="0" dirty="0" smtClean="0">
              <a:solidFill>
                <a:sysClr val="windowText" lastClr="000000"/>
              </a:solidFill>
            </a:endParaRPr>
          </a:p>
        </p:txBody>
      </p:sp>
      <p:sp>
        <p:nvSpPr>
          <p:cNvPr id="63492" name="灯片编号占位符 3"/>
          <p:cNvSpPr>
            <a:spLocks noGrp="1"/>
          </p:cNvSpPr>
          <p:nvPr>
            <p:ph type="sldNum" sz="quarter" idx="12"/>
          </p:nvPr>
        </p:nvSpPr>
        <p:spPr bwMode="auto">
          <a:xfrm>
            <a:off x="6692900" y="6099175"/>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spcBef>
                <a:spcPct val="50000"/>
              </a:spcBef>
            </a:pPr>
            <a:fld id="{99A1CE0C-A977-4CF5-B2B9-79EE69B3AEB5}" type="slidenum">
              <a:rPr lang="en-US" altLang="zh-CN" sz="1000" smtClean="0">
                <a:solidFill>
                  <a:srgbClr val="969696"/>
                </a:solidFill>
              </a:rPr>
            </a:fld>
            <a:endParaRPr lang="en-US" altLang="zh-CN" sz="1000" smtClean="0">
              <a:solidFill>
                <a:srgbClr val="969696"/>
              </a:solidFill>
            </a:endParaRPr>
          </a:p>
        </p:txBody>
      </p:sp>
      <p:sp>
        <p:nvSpPr>
          <p:cNvPr id="63493" name="Text Box 4"/>
          <p:cNvSpPr txBox="1">
            <a:spLocks noChangeArrowheads="1"/>
          </p:cNvSpPr>
          <p:nvPr/>
        </p:nvSpPr>
        <p:spPr bwMode="auto">
          <a:xfrm>
            <a:off x="5922963" y="1104900"/>
            <a:ext cx="27765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0066"/>
                </a:solidFill>
                <a:latin typeface="Times New Roman" panose="02020603050405020304" pitchFamily="18" charset="0"/>
              </a:rPr>
              <a:t>目标函数范围：</a:t>
            </a:r>
            <a:r>
              <a:rPr lang="en-US" altLang="zh-CN" sz="2000" b="1">
                <a:solidFill>
                  <a:srgbClr val="000066"/>
                </a:solidFill>
                <a:latin typeface="Times New Roman" panose="02020603050405020304" pitchFamily="18" charset="0"/>
              </a:rPr>
              <a:t>[14, </a:t>
            </a:r>
            <a:r>
              <a:rPr lang="en-US" altLang="zh-CN" sz="2000" b="1">
                <a:solidFill>
                  <a:srgbClr val="FF0000"/>
                </a:solidFill>
                <a:latin typeface="Times New Roman" panose="02020603050405020304" pitchFamily="18" charset="0"/>
              </a:rPr>
              <a:t>16</a:t>
            </a:r>
            <a:r>
              <a:rPr lang="en-US" altLang="zh-CN" sz="2000" b="1">
                <a:solidFill>
                  <a:srgbClr val="000066"/>
                </a:solidFill>
                <a:latin typeface="Times New Roman" panose="02020603050405020304" pitchFamily="18" charset="0"/>
              </a:rPr>
              <a:t>]</a:t>
            </a:r>
            <a:endParaRPr lang="en-US" altLang="zh-CN" sz="2000" b="1">
              <a:solidFill>
                <a:srgbClr val="000066"/>
              </a:solidFill>
              <a:latin typeface="Times New Roman" panose="02020603050405020304" pitchFamily="18" charset="0"/>
            </a:endParaRPr>
          </a:p>
        </p:txBody>
      </p:sp>
      <p:sp>
        <p:nvSpPr>
          <p:cNvPr id="102" name="Text Box 5"/>
          <p:cNvSpPr txBox="1">
            <a:spLocks noChangeArrowheads="1"/>
          </p:cNvSpPr>
          <p:nvPr/>
        </p:nvSpPr>
        <p:spPr bwMode="auto">
          <a:xfrm>
            <a:off x="6826250" y="2216150"/>
            <a:ext cx="2413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4</a:t>
            </a:r>
            <a:endParaRPr lang="en-US" altLang="zh-CN" sz="2000" b="1">
              <a:solidFill>
                <a:srgbClr val="000066"/>
              </a:solidFill>
              <a:latin typeface="Times New Roman" panose="02020603050405020304" pitchFamily="18" charset="0"/>
            </a:endParaRPr>
          </a:p>
        </p:txBody>
      </p:sp>
      <p:sp>
        <p:nvSpPr>
          <p:cNvPr id="103" name="Text Box 6"/>
          <p:cNvSpPr txBox="1">
            <a:spLocks noChangeArrowheads="1"/>
          </p:cNvSpPr>
          <p:nvPr/>
        </p:nvSpPr>
        <p:spPr bwMode="auto">
          <a:xfrm>
            <a:off x="1450975" y="2465388"/>
            <a:ext cx="912813" cy="558800"/>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1→2</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=14</a:t>
            </a:r>
            <a:endParaRPr lang="en-US" altLang="zh-CN" sz="2000" b="1">
              <a:solidFill>
                <a:srgbClr val="000066"/>
              </a:solidFill>
              <a:latin typeface="Times New Roman" panose="02020603050405020304" pitchFamily="18" charset="0"/>
            </a:endParaRPr>
          </a:p>
        </p:txBody>
      </p:sp>
      <p:sp>
        <p:nvSpPr>
          <p:cNvPr id="104" name="Line 7"/>
          <p:cNvSpPr>
            <a:spLocks noChangeShapeType="1"/>
          </p:cNvSpPr>
          <p:nvPr/>
        </p:nvSpPr>
        <p:spPr bwMode="auto">
          <a:xfrm flipV="1">
            <a:off x="1450975" y="2752725"/>
            <a:ext cx="90328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05" name="Line 8"/>
          <p:cNvSpPr>
            <a:spLocks noChangeShapeType="1"/>
          </p:cNvSpPr>
          <p:nvPr/>
        </p:nvSpPr>
        <p:spPr bwMode="auto">
          <a:xfrm flipH="1">
            <a:off x="2266950" y="1944688"/>
            <a:ext cx="2584450" cy="5111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06" name="Line 9"/>
          <p:cNvSpPr>
            <a:spLocks noChangeShapeType="1"/>
          </p:cNvSpPr>
          <p:nvPr/>
        </p:nvSpPr>
        <p:spPr bwMode="auto">
          <a:xfrm flipH="1">
            <a:off x="5091113" y="1874838"/>
            <a:ext cx="3175" cy="5937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07" name="Line 10"/>
          <p:cNvSpPr>
            <a:spLocks noChangeShapeType="1"/>
          </p:cNvSpPr>
          <p:nvPr/>
        </p:nvSpPr>
        <p:spPr bwMode="auto">
          <a:xfrm>
            <a:off x="5399088" y="1935163"/>
            <a:ext cx="1387475" cy="5254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08" name="Line 11"/>
          <p:cNvSpPr>
            <a:spLocks noChangeShapeType="1"/>
          </p:cNvSpPr>
          <p:nvPr/>
        </p:nvSpPr>
        <p:spPr bwMode="auto">
          <a:xfrm>
            <a:off x="5573713" y="1930400"/>
            <a:ext cx="2308225" cy="5318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09" name="Line 12"/>
          <p:cNvSpPr>
            <a:spLocks noChangeShapeType="1"/>
          </p:cNvSpPr>
          <p:nvPr/>
        </p:nvSpPr>
        <p:spPr bwMode="auto">
          <a:xfrm flipH="1">
            <a:off x="1082675" y="3038475"/>
            <a:ext cx="444500" cy="4603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10" name="Text Box 13"/>
          <p:cNvSpPr txBox="1">
            <a:spLocks noChangeArrowheads="1"/>
          </p:cNvSpPr>
          <p:nvPr/>
        </p:nvSpPr>
        <p:spPr bwMode="auto">
          <a:xfrm>
            <a:off x="1508125" y="2205038"/>
            <a:ext cx="2413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2</a:t>
            </a:r>
            <a:endParaRPr lang="en-US" altLang="zh-CN" sz="2000" b="1">
              <a:solidFill>
                <a:srgbClr val="000066"/>
              </a:solidFill>
              <a:latin typeface="Times New Roman" panose="02020603050405020304" pitchFamily="18" charset="0"/>
            </a:endParaRPr>
          </a:p>
        </p:txBody>
      </p:sp>
      <p:sp>
        <p:nvSpPr>
          <p:cNvPr id="111" name="Text Box 14"/>
          <p:cNvSpPr txBox="1">
            <a:spLocks noChangeArrowheads="1"/>
          </p:cNvSpPr>
          <p:nvPr/>
        </p:nvSpPr>
        <p:spPr bwMode="auto">
          <a:xfrm>
            <a:off x="4829175" y="2216150"/>
            <a:ext cx="2413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3</a:t>
            </a:r>
            <a:endParaRPr lang="en-US" altLang="zh-CN" sz="2000" b="1">
              <a:solidFill>
                <a:srgbClr val="000066"/>
              </a:solidFill>
              <a:latin typeface="Times New Roman" panose="02020603050405020304" pitchFamily="18" charset="0"/>
            </a:endParaRPr>
          </a:p>
        </p:txBody>
      </p:sp>
      <p:sp>
        <p:nvSpPr>
          <p:cNvPr id="112" name="Text Box 15"/>
          <p:cNvSpPr txBox="1">
            <a:spLocks noChangeArrowheads="1"/>
          </p:cNvSpPr>
          <p:nvPr/>
        </p:nvSpPr>
        <p:spPr bwMode="auto">
          <a:xfrm>
            <a:off x="7947025" y="2227263"/>
            <a:ext cx="2413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5</a:t>
            </a:r>
            <a:endParaRPr lang="en-US" altLang="zh-CN" sz="2000" b="1">
              <a:solidFill>
                <a:srgbClr val="000066"/>
              </a:solidFill>
              <a:latin typeface="Times New Roman" panose="02020603050405020304" pitchFamily="18" charset="0"/>
            </a:endParaRPr>
          </a:p>
        </p:txBody>
      </p:sp>
      <p:sp>
        <p:nvSpPr>
          <p:cNvPr id="113" name="Text Box 16"/>
          <p:cNvSpPr txBox="1">
            <a:spLocks noChangeArrowheads="1"/>
          </p:cNvSpPr>
          <p:nvPr/>
        </p:nvSpPr>
        <p:spPr bwMode="auto">
          <a:xfrm>
            <a:off x="425450" y="3267075"/>
            <a:ext cx="2413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6</a:t>
            </a:r>
            <a:endParaRPr lang="en-US" altLang="zh-CN" sz="2000" b="1">
              <a:solidFill>
                <a:srgbClr val="000066"/>
              </a:solidFill>
              <a:latin typeface="Times New Roman" panose="02020603050405020304" pitchFamily="18" charset="0"/>
            </a:endParaRPr>
          </a:p>
        </p:txBody>
      </p:sp>
      <p:sp>
        <p:nvSpPr>
          <p:cNvPr id="114" name="Text Box 17"/>
          <p:cNvSpPr txBox="1">
            <a:spLocks noChangeArrowheads="1"/>
          </p:cNvSpPr>
          <p:nvPr/>
        </p:nvSpPr>
        <p:spPr bwMode="auto">
          <a:xfrm>
            <a:off x="1493838" y="3248025"/>
            <a:ext cx="2444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7</a:t>
            </a:r>
            <a:endParaRPr lang="en-US" altLang="zh-CN" sz="2000" b="1">
              <a:solidFill>
                <a:srgbClr val="000066"/>
              </a:solidFill>
              <a:latin typeface="Times New Roman" panose="02020603050405020304" pitchFamily="18" charset="0"/>
            </a:endParaRPr>
          </a:p>
        </p:txBody>
      </p:sp>
      <p:sp>
        <p:nvSpPr>
          <p:cNvPr id="115" name="Text Box 18"/>
          <p:cNvSpPr txBox="1">
            <a:spLocks noChangeArrowheads="1"/>
          </p:cNvSpPr>
          <p:nvPr/>
        </p:nvSpPr>
        <p:spPr bwMode="auto">
          <a:xfrm>
            <a:off x="2754313" y="3271838"/>
            <a:ext cx="2428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8</a:t>
            </a:r>
            <a:endParaRPr lang="en-US" altLang="zh-CN" sz="2000" b="1">
              <a:solidFill>
                <a:srgbClr val="000066"/>
              </a:solidFill>
              <a:latin typeface="Times New Roman" panose="02020603050405020304" pitchFamily="18" charset="0"/>
            </a:endParaRPr>
          </a:p>
        </p:txBody>
      </p:sp>
      <p:sp>
        <p:nvSpPr>
          <p:cNvPr id="116" name="Text Box 20"/>
          <p:cNvSpPr txBox="1">
            <a:spLocks noChangeArrowheads="1"/>
          </p:cNvSpPr>
          <p:nvPr/>
        </p:nvSpPr>
        <p:spPr bwMode="auto">
          <a:xfrm>
            <a:off x="8367713" y="2236788"/>
            <a:ext cx="268287"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CC0066"/>
                </a:solidFill>
                <a:latin typeface="Times New Roman" panose="02020603050405020304" pitchFamily="18" charset="0"/>
              </a:rPr>
              <a:t>×</a:t>
            </a:r>
            <a:endParaRPr lang="en-US" altLang="zh-CN" sz="2000" b="1">
              <a:solidFill>
                <a:srgbClr val="CC0066"/>
              </a:solidFill>
              <a:latin typeface="Times New Roman" panose="02020603050405020304" pitchFamily="18" charset="0"/>
            </a:endParaRPr>
          </a:p>
        </p:txBody>
      </p:sp>
      <p:sp>
        <p:nvSpPr>
          <p:cNvPr id="63509" name="Text Box 21"/>
          <p:cNvSpPr txBox="1">
            <a:spLocks noChangeArrowheads="1"/>
          </p:cNvSpPr>
          <p:nvPr/>
        </p:nvSpPr>
        <p:spPr bwMode="auto">
          <a:xfrm>
            <a:off x="4760913" y="1381125"/>
            <a:ext cx="912812" cy="557213"/>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i="1">
                <a:solidFill>
                  <a:srgbClr val="000066"/>
                </a:solidFill>
                <a:latin typeface="Times New Roman" panose="02020603050405020304" pitchFamily="18" charset="0"/>
              </a:rPr>
              <a:t>start</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=14</a:t>
            </a:r>
            <a:endParaRPr lang="en-US" altLang="zh-CN" sz="2000" b="1">
              <a:solidFill>
                <a:srgbClr val="000066"/>
              </a:solidFill>
              <a:latin typeface="Times New Roman" panose="02020603050405020304" pitchFamily="18" charset="0"/>
            </a:endParaRPr>
          </a:p>
        </p:txBody>
      </p:sp>
      <p:sp>
        <p:nvSpPr>
          <p:cNvPr id="63510" name="Line 22"/>
          <p:cNvSpPr>
            <a:spLocks noChangeShapeType="1"/>
          </p:cNvSpPr>
          <p:nvPr/>
        </p:nvSpPr>
        <p:spPr bwMode="auto">
          <a:xfrm flipV="1">
            <a:off x="4760913" y="1668463"/>
            <a:ext cx="9001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19" name="Text Box 23"/>
          <p:cNvSpPr txBox="1">
            <a:spLocks noChangeArrowheads="1"/>
          </p:cNvSpPr>
          <p:nvPr/>
        </p:nvSpPr>
        <p:spPr bwMode="auto">
          <a:xfrm>
            <a:off x="4772025" y="2474913"/>
            <a:ext cx="912813" cy="557212"/>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1→3</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=14</a:t>
            </a:r>
            <a:endParaRPr lang="en-US" altLang="zh-CN" sz="2000" b="1">
              <a:solidFill>
                <a:srgbClr val="000066"/>
              </a:solidFill>
              <a:latin typeface="Times New Roman" panose="02020603050405020304" pitchFamily="18" charset="0"/>
            </a:endParaRPr>
          </a:p>
        </p:txBody>
      </p:sp>
      <p:sp>
        <p:nvSpPr>
          <p:cNvPr id="120" name="Line 24"/>
          <p:cNvSpPr>
            <a:spLocks noChangeShapeType="1"/>
          </p:cNvSpPr>
          <p:nvPr/>
        </p:nvSpPr>
        <p:spPr bwMode="auto">
          <a:xfrm flipV="1">
            <a:off x="4772025" y="2760663"/>
            <a:ext cx="903288"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21" name="Text Box 25"/>
          <p:cNvSpPr txBox="1">
            <a:spLocks noChangeArrowheads="1"/>
          </p:cNvSpPr>
          <p:nvPr/>
        </p:nvSpPr>
        <p:spPr bwMode="auto">
          <a:xfrm>
            <a:off x="6477000" y="2474913"/>
            <a:ext cx="912813" cy="558800"/>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1→4</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=16</a:t>
            </a:r>
            <a:endParaRPr lang="en-US" altLang="zh-CN" sz="2000" b="1">
              <a:solidFill>
                <a:srgbClr val="000066"/>
              </a:solidFill>
              <a:latin typeface="Times New Roman" panose="02020603050405020304" pitchFamily="18" charset="0"/>
            </a:endParaRPr>
          </a:p>
        </p:txBody>
      </p:sp>
      <p:sp>
        <p:nvSpPr>
          <p:cNvPr id="122" name="Line 26"/>
          <p:cNvSpPr>
            <a:spLocks noChangeShapeType="1"/>
          </p:cNvSpPr>
          <p:nvPr/>
        </p:nvSpPr>
        <p:spPr bwMode="auto">
          <a:xfrm flipV="1">
            <a:off x="6477000" y="2762250"/>
            <a:ext cx="90328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23" name="Text Box 27"/>
          <p:cNvSpPr txBox="1">
            <a:spLocks noChangeArrowheads="1"/>
          </p:cNvSpPr>
          <p:nvPr/>
        </p:nvSpPr>
        <p:spPr bwMode="auto">
          <a:xfrm>
            <a:off x="7724775" y="2474913"/>
            <a:ext cx="912813" cy="558800"/>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1→5</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=19</a:t>
            </a:r>
            <a:endParaRPr lang="en-US" altLang="zh-CN" sz="2000" b="1">
              <a:solidFill>
                <a:srgbClr val="000066"/>
              </a:solidFill>
              <a:latin typeface="Times New Roman" panose="02020603050405020304" pitchFamily="18" charset="0"/>
            </a:endParaRPr>
          </a:p>
        </p:txBody>
      </p:sp>
      <p:sp>
        <p:nvSpPr>
          <p:cNvPr id="124" name="Line 28"/>
          <p:cNvSpPr>
            <a:spLocks noChangeShapeType="1"/>
          </p:cNvSpPr>
          <p:nvPr/>
        </p:nvSpPr>
        <p:spPr bwMode="auto">
          <a:xfrm flipV="1">
            <a:off x="7724775" y="2762250"/>
            <a:ext cx="90328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25" name="Text Box 29"/>
          <p:cNvSpPr txBox="1">
            <a:spLocks noChangeArrowheads="1"/>
          </p:cNvSpPr>
          <p:nvPr/>
        </p:nvSpPr>
        <p:spPr bwMode="auto">
          <a:xfrm>
            <a:off x="357188" y="3511550"/>
            <a:ext cx="912812" cy="557213"/>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2→3</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=16</a:t>
            </a:r>
            <a:endParaRPr lang="en-US" altLang="zh-CN" sz="2000" b="1">
              <a:solidFill>
                <a:srgbClr val="000066"/>
              </a:solidFill>
              <a:latin typeface="Times New Roman" panose="02020603050405020304" pitchFamily="18" charset="0"/>
            </a:endParaRPr>
          </a:p>
        </p:txBody>
      </p:sp>
      <p:sp>
        <p:nvSpPr>
          <p:cNvPr id="126" name="Line 30"/>
          <p:cNvSpPr>
            <a:spLocks noChangeShapeType="1"/>
          </p:cNvSpPr>
          <p:nvPr/>
        </p:nvSpPr>
        <p:spPr bwMode="auto">
          <a:xfrm flipV="1">
            <a:off x="357188" y="3798888"/>
            <a:ext cx="903287"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27" name="Text Box 31"/>
          <p:cNvSpPr txBox="1">
            <a:spLocks noChangeArrowheads="1"/>
          </p:cNvSpPr>
          <p:nvPr/>
        </p:nvSpPr>
        <p:spPr bwMode="auto">
          <a:xfrm>
            <a:off x="1439863" y="3511550"/>
            <a:ext cx="912812" cy="557213"/>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2→4</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=16</a:t>
            </a:r>
            <a:endParaRPr lang="en-US" altLang="zh-CN" sz="2000" b="1">
              <a:solidFill>
                <a:srgbClr val="000066"/>
              </a:solidFill>
              <a:latin typeface="Times New Roman" panose="02020603050405020304" pitchFamily="18" charset="0"/>
            </a:endParaRPr>
          </a:p>
        </p:txBody>
      </p:sp>
      <p:sp>
        <p:nvSpPr>
          <p:cNvPr id="128" name="Line 32"/>
          <p:cNvSpPr>
            <a:spLocks noChangeShapeType="1"/>
          </p:cNvSpPr>
          <p:nvPr/>
        </p:nvSpPr>
        <p:spPr bwMode="auto">
          <a:xfrm flipV="1">
            <a:off x="1439863" y="3798888"/>
            <a:ext cx="9001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29" name="Text Box 33"/>
          <p:cNvSpPr txBox="1">
            <a:spLocks noChangeArrowheads="1"/>
          </p:cNvSpPr>
          <p:nvPr/>
        </p:nvSpPr>
        <p:spPr bwMode="auto">
          <a:xfrm>
            <a:off x="2533650" y="3521075"/>
            <a:ext cx="912813" cy="557213"/>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2→5</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=19</a:t>
            </a:r>
            <a:endParaRPr lang="en-US" altLang="zh-CN" sz="2000" b="1">
              <a:solidFill>
                <a:srgbClr val="000066"/>
              </a:solidFill>
              <a:latin typeface="Times New Roman" panose="02020603050405020304" pitchFamily="18" charset="0"/>
            </a:endParaRPr>
          </a:p>
        </p:txBody>
      </p:sp>
      <p:sp>
        <p:nvSpPr>
          <p:cNvPr id="130" name="Line 34"/>
          <p:cNvSpPr>
            <a:spLocks noChangeShapeType="1"/>
          </p:cNvSpPr>
          <p:nvPr/>
        </p:nvSpPr>
        <p:spPr bwMode="auto">
          <a:xfrm flipV="1">
            <a:off x="2533650" y="3808413"/>
            <a:ext cx="9017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31" name="Text Box 35"/>
          <p:cNvSpPr txBox="1">
            <a:spLocks noChangeArrowheads="1"/>
          </p:cNvSpPr>
          <p:nvPr/>
        </p:nvSpPr>
        <p:spPr bwMode="auto">
          <a:xfrm>
            <a:off x="3716338" y="3532188"/>
            <a:ext cx="912812" cy="558800"/>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3→2</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=16</a:t>
            </a:r>
            <a:endParaRPr lang="en-US" altLang="zh-CN" sz="2000" b="1">
              <a:solidFill>
                <a:srgbClr val="000066"/>
              </a:solidFill>
              <a:latin typeface="Times New Roman" panose="02020603050405020304" pitchFamily="18" charset="0"/>
            </a:endParaRPr>
          </a:p>
        </p:txBody>
      </p:sp>
      <p:sp>
        <p:nvSpPr>
          <p:cNvPr id="132" name="Line 36"/>
          <p:cNvSpPr>
            <a:spLocks noChangeShapeType="1"/>
          </p:cNvSpPr>
          <p:nvPr/>
        </p:nvSpPr>
        <p:spPr bwMode="auto">
          <a:xfrm flipV="1">
            <a:off x="3716338" y="3819525"/>
            <a:ext cx="903287"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33" name="Text Box 37"/>
          <p:cNvSpPr txBox="1">
            <a:spLocks noChangeArrowheads="1"/>
          </p:cNvSpPr>
          <p:nvPr/>
        </p:nvSpPr>
        <p:spPr bwMode="auto">
          <a:xfrm>
            <a:off x="4784725" y="3532188"/>
            <a:ext cx="912813" cy="558800"/>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3→4</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=15</a:t>
            </a:r>
            <a:endParaRPr lang="en-US" altLang="zh-CN" sz="2000" b="1">
              <a:solidFill>
                <a:srgbClr val="000066"/>
              </a:solidFill>
              <a:latin typeface="Times New Roman" panose="02020603050405020304" pitchFamily="18" charset="0"/>
            </a:endParaRPr>
          </a:p>
        </p:txBody>
      </p:sp>
      <p:sp>
        <p:nvSpPr>
          <p:cNvPr id="134" name="Line 38"/>
          <p:cNvSpPr>
            <a:spLocks noChangeShapeType="1"/>
          </p:cNvSpPr>
          <p:nvPr/>
        </p:nvSpPr>
        <p:spPr bwMode="auto">
          <a:xfrm flipV="1">
            <a:off x="4784725" y="3819525"/>
            <a:ext cx="903288"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35" name="Text Box 39"/>
          <p:cNvSpPr txBox="1">
            <a:spLocks noChangeArrowheads="1"/>
          </p:cNvSpPr>
          <p:nvPr/>
        </p:nvSpPr>
        <p:spPr bwMode="auto">
          <a:xfrm>
            <a:off x="5854700" y="3532188"/>
            <a:ext cx="912813" cy="55562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3→5</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=14</a:t>
            </a:r>
            <a:endParaRPr lang="en-US" altLang="zh-CN" sz="2000" b="1">
              <a:solidFill>
                <a:srgbClr val="000066"/>
              </a:solidFill>
              <a:latin typeface="Times New Roman" panose="02020603050405020304" pitchFamily="18" charset="0"/>
            </a:endParaRPr>
          </a:p>
        </p:txBody>
      </p:sp>
      <p:sp>
        <p:nvSpPr>
          <p:cNvPr id="136" name="Line 40"/>
          <p:cNvSpPr>
            <a:spLocks noChangeShapeType="1"/>
          </p:cNvSpPr>
          <p:nvPr/>
        </p:nvSpPr>
        <p:spPr bwMode="auto">
          <a:xfrm flipV="1">
            <a:off x="5854700" y="3817938"/>
            <a:ext cx="90170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37" name="Line 41"/>
          <p:cNvSpPr>
            <a:spLocks noChangeShapeType="1"/>
          </p:cNvSpPr>
          <p:nvPr/>
        </p:nvSpPr>
        <p:spPr bwMode="auto">
          <a:xfrm flipH="1">
            <a:off x="1895475" y="3025775"/>
            <a:ext cx="0" cy="4762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38" name="Line 42"/>
          <p:cNvSpPr>
            <a:spLocks noChangeShapeType="1"/>
          </p:cNvSpPr>
          <p:nvPr/>
        </p:nvSpPr>
        <p:spPr bwMode="auto">
          <a:xfrm>
            <a:off x="2266950" y="3024188"/>
            <a:ext cx="433388" cy="4873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39" name="Line 43"/>
          <p:cNvSpPr>
            <a:spLocks noChangeShapeType="1"/>
          </p:cNvSpPr>
          <p:nvPr/>
        </p:nvSpPr>
        <p:spPr bwMode="auto">
          <a:xfrm flipH="1">
            <a:off x="4365625" y="3051175"/>
            <a:ext cx="482600" cy="4699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40" name="Line 44"/>
          <p:cNvSpPr>
            <a:spLocks noChangeShapeType="1"/>
          </p:cNvSpPr>
          <p:nvPr/>
        </p:nvSpPr>
        <p:spPr bwMode="auto">
          <a:xfrm flipH="1">
            <a:off x="5216525" y="3036888"/>
            <a:ext cx="0" cy="4841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41" name="Line 45"/>
          <p:cNvSpPr>
            <a:spLocks noChangeShapeType="1"/>
          </p:cNvSpPr>
          <p:nvPr/>
        </p:nvSpPr>
        <p:spPr bwMode="auto">
          <a:xfrm>
            <a:off x="5588000" y="3033713"/>
            <a:ext cx="433388" cy="48736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42" name="Text Box 46"/>
          <p:cNvSpPr txBox="1">
            <a:spLocks noChangeArrowheads="1"/>
          </p:cNvSpPr>
          <p:nvPr/>
        </p:nvSpPr>
        <p:spPr bwMode="auto">
          <a:xfrm>
            <a:off x="3151188" y="3273425"/>
            <a:ext cx="2667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CC0066"/>
                </a:solidFill>
                <a:latin typeface="Times New Roman" panose="02020603050405020304" pitchFamily="18" charset="0"/>
              </a:rPr>
              <a:t>×</a:t>
            </a:r>
            <a:endParaRPr lang="en-US" altLang="zh-CN" sz="2000" b="1">
              <a:solidFill>
                <a:srgbClr val="CC0066"/>
              </a:solidFill>
              <a:latin typeface="Times New Roman" panose="02020603050405020304" pitchFamily="18" charset="0"/>
            </a:endParaRPr>
          </a:p>
        </p:txBody>
      </p:sp>
      <p:sp>
        <p:nvSpPr>
          <p:cNvPr id="143" name="Text Box 47"/>
          <p:cNvSpPr txBox="1">
            <a:spLocks noChangeArrowheads="1"/>
          </p:cNvSpPr>
          <p:nvPr/>
        </p:nvSpPr>
        <p:spPr bwMode="auto">
          <a:xfrm>
            <a:off x="3784600" y="3279775"/>
            <a:ext cx="24288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9</a:t>
            </a:r>
            <a:endParaRPr lang="en-US" altLang="zh-CN" sz="2000" b="1">
              <a:solidFill>
                <a:srgbClr val="000066"/>
              </a:solidFill>
              <a:latin typeface="Times New Roman" panose="02020603050405020304" pitchFamily="18" charset="0"/>
            </a:endParaRPr>
          </a:p>
        </p:txBody>
      </p:sp>
      <p:sp>
        <p:nvSpPr>
          <p:cNvPr id="144" name="Text Box 48"/>
          <p:cNvSpPr txBox="1">
            <a:spLocks noChangeArrowheads="1"/>
          </p:cNvSpPr>
          <p:nvPr/>
        </p:nvSpPr>
        <p:spPr bwMode="auto">
          <a:xfrm>
            <a:off x="4814888" y="3225800"/>
            <a:ext cx="3667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10</a:t>
            </a:r>
            <a:endParaRPr lang="en-US" altLang="zh-CN" sz="2000" b="1">
              <a:solidFill>
                <a:srgbClr val="000066"/>
              </a:solidFill>
              <a:latin typeface="Times New Roman" panose="02020603050405020304" pitchFamily="18" charset="0"/>
            </a:endParaRPr>
          </a:p>
        </p:txBody>
      </p:sp>
      <p:sp>
        <p:nvSpPr>
          <p:cNvPr id="145" name="Text Box 49"/>
          <p:cNvSpPr txBox="1">
            <a:spLocks noChangeArrowheads="1"/>
          </p:cNvSpPr>
          <p:nvPr/>
        </p:nvSpPr>
        <p:spPr bwMode="auto">
          <a:xfrm>
            <a:off x="6037263" y="3225800"/>
            <a:ext cx="368300"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11</a:t>
            </a:r>
            <a:endParaRPr lang="en-US" altLang="zh-CN" sz="2000" b="1">
              <a:solidFill>
                <a:srgbClr val="000066"/>
              </a:solidFill>
              <a:latin typeface="Times New Roman" panose="02020603050405020304" pitchFamily="18" charset="0"/>
            </a:endParaRPr>
          </a:p>
        </p:txBody>
      </p:sp>
      <p:sp>
        <p:nvSpPr>
          <p:cNvPr id="146" name="Text Box 50"/>
          <p:cNvSpPr txBox="1">
            <a:spLocks noChangeArrowheads="1"/>
          </p:cNvSpPr>
          <p:nvPr/>
        </p:nvSpPr>
        <p:spPr bwMode="auto">
          <a:xfrm>
            <a:off x="5854700" y="4630738"/>
            <a:ext cx="912813" cy="557212"/>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5→2</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=19</a:t>
            </a:r>
            <a:endParaRPr lang="en-US" altLang="zh-CN" sz="2000" b="1">
              <a:solidFill>
                <a:srgbClr val="000066"/>
              </a:solidFill>
              <a:latin typeface="Times New Roman" panose="02020603050405020304" pitchFamily="18" charset="0"/>
            </a:endParaRPr>
          </a:p>
        </p:txBody>
      </p:sp>
      <p:sp>
        <p:nvSpPr>
          <p:cNvPr id="147" name="Line 51"/>
          <p:cNvSpPr>
            <a:spLocks noChangeShapeType="1"/>
          </p:cNvSpPr>
          <p:nvPr/>
        </p:nvSpPr>
        <p:spPr bwMode="auto">
          <a:xfrm flipV="1">
            <a:off x="5854700" y="4916488"/>
            <a:ext cx="90170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48" name="Text Box 52"/>
          <p:cNvSpPr txBox="1">
            <a:spLocks noChangeArrowheads="1"/>
          </p:cNvSpPr>
          <p:nvPr/>
        </p:nvSpPr>
        <p:spPr bwMode="auto">
          <a:xfrm>
            <a:off x="6910388" y="4630738"/>
            <a:ext cx="911225" cy="557212"/>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5→4</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=14</a:t>
            </a:r>
            <a:endParaRPr lang="en-US" altLang="zh-CN" sz="2000" b="1">
              <a:solidFill>
                <a:srgbClr val="000066"/>
              </a:solidFill>
              <a:latin typeface="Times New Roman" panose="02020603050405020304" pitchFamily="18" charset="0"/>
            </a:endParaRPr>
          </a:p>
        </p:txBody>
      </p:sp>
      <p:sp>
        <p:nvSpPr>
          <p:cNvPr id="149" name="Line 53"/>
          <p:cNvSpPr>
            <a:spLocks noChangeShapeType="1"/>
          </p:cNvSpPr>
          <p:nvPr/>
        </p:nvSpPr>
        <p:spPr bwMode="auto">
          <a:xfrm flipV="1">
            <a:off x="6910388" y="4916488"/>
            <a:ext cx="901700"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50" name="Line 54"/>
          <p:cNvSpPr>
            <a:spLocks noChangeShapeType="1"/>
          </p:cNvSpPr>
          <p:nvPr/>
        </p:nvSpPr>
        <p:spPr bwMode="auto">
          <a:xfrm>
            <a:off x="6337300" y="4100513"/>
            <a:ext cx="0" cy="5286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51" name="Line 55"/>
          <p:cNvSpPr>
            <a:spLocks noChangeShapeType="1"/>
          </p:cNvSpPr>
          <p:nvPr/>
        </p:nvSpPr>
        <p:spPr bwMode="auto">
          <a:xfrm>
            <a:off x="6592888" y="4097338"/>
            <a:ext cx="420687" cy="5222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52" name="Text Box 56"/>
          <p:cNvSpPr txBox="1">
            <a:spLocks noChangeArrowheads="1"/>
          </p:cNvSpPr>
          <p:nvPr/>
        </p:nvSpPr>
        <p:spPr bwMode="auto">
          <a:xfrm>
            <a:off x="5872163" y="4391025"/>
            <a:ext cx="390525"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12</a:t>
            </a:r>
            <a:endParaRPr lang="en-US" altLang="zh-CN" sz="2000" b="1">
              <a:solidFill>
                <a:srgbClr val="000066"/>
              </a:solidFill>
              <a:latin typeface="Times New Roman" panose="02020603050405020304" pitchFamily="18" charset="0"/>
            </a:endParaRPr>
          </a:p>
        </p:txBody>
      </p:sp>
      <p:sp>
        <p:nvSpPr>
          <p:cNvPr id="153" name="Text Box 57"/>
          <p:cNvSpPr txBox="1">
            <a:spLocks noChangeArrowheads="1"/>
          </p:cNvSpPr>
          <p:nvPr/>
        </p:nvSpPr>
        <p:spPr bwMode="auto">
          <a:xfrm>
            <a:off x="7132638" y="4391025"/>
            <a:ext cx="42545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13</a:t>
            </a:r>
            <a:endParaRPr lang="en-US" altLang="zh-CN" sz="2000" b="1">
              <a:solidFill>
                <a:srgbClr val="000066"/>
              </a:solidFill>
              <a:latin typeface="Times New Roman" panose="02020603050405020304" pitchFamily="18" charset="0"/>
            </a:endParaRPr>
          </a:p>
        </p:txBody>
      </p:sp>
      <p:sp>
        <p:nvSpPr>
          <p:cNvPr id="154" name="Text Box 58"/>
          <p:cNvSpPr txBox="1">
            <a:spLocks noChangeArrowheads="1"/>
          </p:cNvSpPr>
          <p:nvPr/>
        </p:nvSpPr>
        <p:spPr bwMode="auto">
          <a:xfrm>
            <a:off x="6486525" y="4406900"/>
            <a:ext cx="2667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CC0066"/>
                </a:solidFill>
                <a:latin typeface="Times New Roman" panose="02020603050405020304" pitchFamily="18" charset="0"/>
              </a:rPr>
              <a:t>×</a:t>
            </a:r>
            <a:endParaRPr lang="en-US" altLang="zh-CN" sz="2000" b="1">
              <a:solidFill>
                <a:srgbClr val="CC0066"/>
              </a:solidFill>
              <a:latin typeface="Times New Roman" panose="02020603050405020304" pitchFamily="18" charset="0"/>
            </a:endParaRPr>
          </a:p>
        </p:txBody>
      </p:sp>
      <p:sp>
        <p:nvSpPr>
          <p:cNvPr id="155" name="Text Box 59"/>
          <p:cNvSpPr txBox="1">
            <a:spLocks noChangeArrowheads="1"/>
          </p:cNvSpPr>
          <p:nvPr/>
        </p:nvSpPr>
        <p:spPr bwMode="auto">
          <a:xfrm>
            <a:off x="6950075" y="5692775"/>
            <a:ext cx="912813" cy="557213"/>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4→2</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=16</a:t>
            </a:r>
            <a:endParaRPr lang="en-US" altLang="zh-CN" sz="2000" b="1">
              <a:solidFill>
                <a:srgbClr val="000066"/>
              </a:solidFill>
              <a:latin typeface="Times New Roman" panose="02020603050405020304" pitchFamily="18" charset="0"/>
            </a:endParaRPr>
          </a:p>
        </p:txBody>
      </p:sp>
      <p:sp>
        <p:nvSpPr>
          <p:cNvPr id="156" name="Line 60"/>
          <p:cNvSpPr>
            <a:spLocks noChangeShapeType="1"/>
          </p:cNvSpPr>
          <p:nvPr/>
        </p:nvSpPr>
        <p:spPr bwMode="auto">
          <a:xfrm flipV="1">
            <a:off x="6950075" y="5980113"/>
            <a:ext cx="900113"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57" name="Text Box 61"/>
          <p:cNvSpPr txBox="1">
            <a:spLocks noChangeArrowheads="1"/>
          </p:cNvSpPr>
          <p:nvPr/>
        </p:nvSpPr>
        <p:spPr bwMode="auto">
          <a:xfrm>
            <a:off x="7018338" y="5454650"/>
            <a:ext cx="395287"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14</a:t>
            </a:r>
            <a:endParaRPr lang="en-US" altLang="zh-CN" sz="2000" b="1">
              <a:solidFill>
                <a:srgbClr val="000066"/>
              </a:solidFill>
              <a:latin typeface="Times New Roman" panose="02020603050405020304" pitchFamily="18" charset="0"/>
            </a:endParaRPr>
          </a:p>
        </p:txBody>
      </p:sp>
      <p:sp>
        <p:nvSpPr>
          <p:cNvPr id="158" name="Line 62"/>
          <p:cNvSpPr>
            <a:spLocks noChangeShapeType="1"/>
          </p:cNvSpPr>
          <p:nvPr/>
        </p:nvSpPr>
        <p:spPr bwMode="auto">
          <a:xfrm flipH="1">
            <a:off x="7381875" y="5199063"/>
            <a:ext cx="0" cy="4968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59" name="Line 63"/>
          <p:cNvSpPr>
            <a:spLocks noChangeShapeType="1"/>
          </p:cNvSpPr>
          <p:nvPr/>
        </p:nvSpPr>
        <p:spPr bwMode="auto">
          <a:xfrm flipH="1">
            <a:off x="4479925" y="4095750"/>
            <a:ext cx="509588" cy="5318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60" name="Line 64"/>
          <p:cNvSpPr>
            <a:spLocks noChangeShapeType="1"/>
          </p:cNvSpPr>
          <p:nvPr/>
        </p:nvSpPr>
        <p:spPr bwMode="auto">
          <a:xfrm>
            <a:off x="5216525" y="4095750"/>
            <a:ext cx="0" cy="5302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61" name="Text Box 65"/>
          <p:cNvSpPr txBox="1">
            <a:spLocks noChangeArrowheads="1"/>
          </p:cNvSpPr>
          <p:nvPr/>
        </p:nvSpPr>
        <p:spPr bwMode="auto">
          <a:xfrm>
            <a:off x="3703638" y="4627563"/>
            <a:ext cx="912812" cy="557212"/>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4→2</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=18</a:t>
            </a:r>
            <a:endParaRPr lang="en-US" altLang="zh-CN" sz="2000" b="1">
              <a:solidFill>
                <a:srgbClr val="000066"/>
              </a:solidFill>
              <a:latin typeface="Times New Roman" panose="02020603050405020304" pitchFamily="18" charset="0"/>
            </a:endParaRPr>
          </a:p>
        </p:txBody>
      </p:sp>
      <p:sp>
        <p:nvSpPr>
          <p:cNvPr id="162" name="Line 66"/>
          <p:cNvSpPr>
            <a:spLocks noChangeShapeType="1"/>
          </p:cNvSpPr>
          <p:nvPr/>
        </p:nvSpPr>
        <p:spPr bwMode="auto">
          <a:xfrm flipV="1">
            <a:off x="3703638" y="4914900"/>
            <a:ext cx="903287"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63" name="Text Box 67"/>
          <p:cNvSpPr txBox="1">
            <a:spLocks noChangeArrowheads="1"/>
          </p:cNvSpPr>
          <p:nvPr/>
        </p:nvSpPr>
        <p:spPr bwMode="auto">
          <a:xfrm>
            <a:off x="4760913" y="4627563"/>
            <a:ext cx="912812" cy="557212"/>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4→5</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=15</a:t>
            </a:r>
            <a:endParaRPr lang="en-US" altLang="zh-CN" sz="2000" b="1">
              <a:solidFill>
                <a:srgbClr val="000066"/>
              </a:solidFill>
              <a:latin typeface="Times New Roman" panose="02020603050405020304" pitchFamily="18" charset="0"/>
            </a:endParaRPr>
          </a:p>
        </p:txBody>
      </p:sp>
      <p:sp>
        <p:nvSpPr>
          <p:cNvPr id="164" name="Line 68"/>
          <p:cNvSpPr>
            <a:spLocks noChangeShapeType="1"/>
          </p:cNvSpPr>
          <p:nvPr/>
        </p:nvSpPr>
        <p:spPr bwMode="auto">
          <a:xfrm flipV="1">
            <a:off x="4760913" y="4914900"/>
            <a:ext cx="900112" cy="1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65" name="Text Box 69"/>
          <p:cNvSpPr txBox="1">
            <a:spLocks noChangeArrowheads="1"/>
          </p:cNvSpPr>
          <p:nvPr/>
        </p:nvSpPr>
        <p:spPr bwMode="auto">
          <a:xfrm>
            <a:off x="3746500" y="4359275"/>
            <a:ext cx="3556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15</a:t>
            </a:r>
            <a:endParaRPr lang="en-US" altLang="zh-CN" sz="2000" b="1">
              <a:solidFill>
                <a:srgbClr val="000066"/>
              </a:solidFill>
              <a:latin typeface="Times New Roman" panose="02020603050405020304" pitchFamily="18" charset="0"/>
            </a:endParaRPr>
          </a:p>
        </p:txBody>
      </p:sp>
      <p:sp>
        <p:nvSpPr>
          <p:cNvPr id="166" name="Text Box 70"/>
          <p:cNvSpPr txBox="1">
            <a:spLocks noChangeArrowheads="1"/>
          </p:cNvSpPr>
          <p:nvPr/>
        </p:nvSpPr>
        <p:spPr bwMode="auto">
          <a:xfrm>
            <a:off x="4791075" y="4379913"/>
            <a:ext cx="3905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16</a:t>
            </a:r>
            <a:endParaRPr lang="en-US" altLang="zh-CN" sz="2000" b="1">
              <a:solidFill>
                <a:srgbClr val="000066"/>
              </a:solidFill>
              <a:latin typeface="Times New Roman" panose="02020603050405020304" pitchFamily="18" charset="0"/>
            </a:endParaRPr>
          </a:p>
        </p:txBody>
      </p:sp>
      <p:sp>
        <p:nvSpPr>
          <p:cNvPr id="167" name="Text Box 71"/>
          <p:cNvSpPr txBox="1">
            <a:spLocks noChangeArrowheads="1"/>
          </p:cNvSpPr>
          <p:nvPr/>
        </p:nvSpPr>
        <p:spPr bwMode="auto">
          <a:xfrm>
            <a:off x="4233863" y="4391025"/>
            <a:ext cx="2667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CC0066"/>
                </a:solidFill>
                <a:latin typeface="Times New Roman" panose="02020603050405020304" pitchFamily="18" charset="0"/>
              </a:rPr>
              <a:t>×</a:t>
            </a:r>
            <a:endParaRPr lang="en-US" altLang="zh-CN" sz="2000" b="1">
              <a:solidFill>
                <a:srgbClr val="CC0066"/>
              </a:solidFill>
              <a:latin typeface="Times New Roman" panose="02020603050405020304" pitchFamily="18" charset="0"/>
            </a:endParaRPr>
          </a:p>
        </p:txBody>
      </p:sp>
      <p:sp>
        <p:nvSpPr>
          <p:cNvPr id="168" name="Text Box 72"/>
          <p:cNvSpPr txBox="1">
            <a:spLocks noChangeArrowheads="1"/>
          </p:cNvSpPr>
          <p:nvPr/>
        </p:nvSpPr>
        <p:spPr bwMode="auto">
          <a:xfrm>
            <a:off x="4799013" y="5692775"/>
            <a:ext cx="912812" cy="557213"/>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lIns="72000" tIns="108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5→2</a:t>
            </a:r>
            <a:endParaRPr lang="en-US" altLang="zh-CN" sz="2000" b="1">
              <a:solidFill>
                <a:srgbClr val="000066"/>
              </a:solidFill>
              <a:latin typeface="Times New Roman" panose="02020603050405020304" pitchFamily="18" charset="0"/>
            </a:endParaRPr>
          </a:p>
          <a:p>
            <a:pPr algn="just" eaLnBrk="1" hangingPunct="1">
              <a:lnSpc>
                <a:spcPct val="96000"/>
              </a:lnSpc>
            </a:pPr>
            <a:r>
              <a:rPr lang="en-US" altLang="zh-CN" sz="2000" b="1" i="1">
                <a:solidFill>
                  <a:srgbClr val="000066"/>
                </a:solidFill>
                <a:latin typeface="Times New Roman" panose="02020603050405020304" pitchFamily="18" charset="0"/>
              </a:rPr>
              <a:t>lb</a:t>
            </a:r>
            <a:r>
              <a:rPr lang="en-US" altLang="zh-CN" sz="2000" b="1">
                <a:solidFill>
                  <a:srgbClr val="000066"/>
                </a:solidFill>
                <a:latin typeface="Times New Roman" panose="02020603050405020304" pitchFamily="18" charset="0"/>
              </a:rPr>
              <a:t>=20</a:t>
            </a:r>
            <a:endParaRPr lang="en-US" altLang="zh-CN" sz="2000" b="1">
              <a:solidFill>
                <a:srgbClr val="000066"/>
              </a:solidFill>
              <a:latin typeface="Times New Roman" panose="02020603050405020304" pitchFamily="18" charset="0"/>
            </a:endParaRPr>
          </a:p>
          <a:p>
            <a:pPr algn="just" eaLnBrk="1" hangingPunct="1">
              <a:lnSpc>
                <a:spcPct val="96000"/>
              </a:lnSpc>
            </a:pPr>
            <a:endParaRPr lang="zh-CN" altLang="en-US" sz="2000" b="1">
              <a:solidFill>
                <a:srgbClr val="000066"/>
              </a:solidFill>
              <a:latin typeface="Times New Roman" panose="02020603050405020304" pitchFamily="18" charset="0"/>
            </a:endParaRPr>
          </a:p>
        </p:txBody>
      </p:sp>
      <p:sp>
        <p:nvSpPr>
          <p:cNvPr id="169" name="Line 73"/>
          <p:cNvSpPr>
            <a:spLocks noChangeShapeType="1"/>
          </p:cNvSpPr>
          <p:nvPr/>
        </p:nvSpPr>
        <p:spPr bwMode="auto">
          <a:xfrm flipV="1">
            <a:off x="4799013" y="5980113"/>
            <a:ext cx="903287"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70" name="Text Box 74"/>
          <p:cNvSpPr txBox="1">
            <a:spLocks noChangeArrowheads="1"/>
          </p:cNvSpPr>
          <p:nvPr/>
        </p:nvSpPr>
        <p:spPr bwMode="auto">
          <a:xfrm>
            <a:off x="4867275" y="5454650"/>
            <a:ext cx="38735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000066"/>
                </a:solidFill>
                <a:latin typeface="Times New Roman" panose="02020603050405020304" pitchFamily="18" charset="0"/>
              </a:rPr>
              <a:t>17</a:t>
            </a:r>
            <a:endParaRPr lang="en-US" altLang="zh-CN" sz="2000" b="1">
              <a:solidFill>
                <a:srgbClr val="000066"/>
              </a:solidFill>
              <a:latin typeface="Times New Roman" panose="02020603050405020304" pitchFamily="18" charset="0"/>
            </a:endParaRPr>
          </a:p>
        </p:txBody>
      </p:sp>
      <p:sp>
        <p:nvSpPr>
          <p:cNvPr id="171" name="Line 75"/>
          <p:cNvSpPr>
            <a:spLocks noChangeShapeType="1"/>
          </p:cNvSpPr>
          <p:nvPr/>
        </p:nvSpPr>
        <p:spPr bwMode="auto">
          <a:xfrm flipH="1">
            <a:off x="5230813" y="5187950"/>
            <a:ext cx="0" cy="4968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lIns="72000"/>
          <a:lstStyle/>
          <a:p>
            <a:endParaRPr lang="zh-CN" altLang="en-US"/>
          </a:p>
        </p:txBody>
      </p:sp>
      <p:sp>
        <p:nvSpPr>
          <p:cNvPr id="172" name="Text Box 76"/>
          <p:cNvSpPr txBox="1">
            <a:spLocks noChangeArrowheads="1"/>
          </p:cNvSpPr>
          <p:nvPr/>
        </p:nvSpPr>
        <p:spPr bwMode="auto">
          <a:xfrm>
            <a:off x="5392738" y="5445125"/>
            <a:ext cx="2667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CC0066"/>
                </a:solidFill>
                <a:latin typeface="Times New Roman" panose="02020603050405020304" pitchFamily="18" charset="0"/>
              </a:rPr>
              <a:t>×</a:t>
            </a:r>
            <a:endParaRPr lang="en-US" altLang="zh-CN" sz="2000" b="1">
              <a:solidFill>
                <a:srgbClr val="CC0066"/>
              </a:solidFill>
              <a:latin typeface="Times New Roman" panose="02020603050405020304" pitchFamily="18" charset="0"/>
            </a:endParaRPr>
          </a:p>
        </p:txBody>
      </p:sp>
      <p:sp>
        <p:nvSpPr>
          <p:cNvPr id="173" name="Text Box 77"/>
          <p:cNvSpPr txBox="1">
            <a:spLocks noChangeArrowheads="1"/>
          </p:cNvSpPr>
          <p:nvPr/>
        </p:nvSpPr>
        <p:spPr bwMode="auto">
          <a:xfrm>
            <a:off x="7715250" y="2720975"/>
            <a:ext cx="785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solidFill>
                  <a:srgbClr val="CC0066"/>
                </a:solidFill>
                <a:latin typeface="Times New Roman" panose="02020603050405020304" pitchFamily="18" charset="0"/>
              </a:rPr>
              <a:t>lb</a:t>
            </a:r>
            <a:r>
              <a:rPr lang="en-US" altLang="zh-CN" sz="2000" b="1">
                <a:solidFill>
                  <a:srgbClr val="CC0066"/>
                </a:solidFill>
                <a:latin typeface="Times New Roman" panose="02020603050405020304" pitchFamily="18" charset="0"/>
              </a:rPr>
              <a:t>=19</a:t>
            </a:r>
            <a:endParaRPr lang="en-US" altLang="zh-CN" sz="2000" b="1">
              <a:solidFill>
                <a:srgbClr val="CC0066"/>
              </a:solidFill>
              <a:latin typeface="Times New Roman" panose="02020603050405020304" pitchFamily="18" charset="0"/>
            </a:endParaRPr>
          </a:p>
        </p:txBody>
      </p:sp>
      <p:sp>
        <p:nvSpPr>
          <p:cNvPr id="174" name="Text Box 78"/>
          <p:cNvSpPr txBox="1">
            <a:spLocks noChangeArrowheads="1"/>
          </p:cNvSpPr>
          <p:nvPr/>
        </p:nvSpPr>
        <p:spPr bwMode="auto">
          <a:xfrm>
            <a:off x="-3175" y="2540000"/>
            <a:ext cx="1246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PT={2, 3}</a:t>
            </a:r>
            <a:endParaRPr lang="en-US" altLang="zh-CN" sz="2000" b="1">
              <a:solidFill>
                <a:srgbClr val="0000FF"/>
              </a:solidFill>
              <a:latin typeface="Times New Roman" panose="02020603050405020304" pitchFamily="18" charset="0"/>
            </a:endParaRPr>
          </a:p>
        </p:txBody>
      </p:sp>
      <p:sp>
        <p:nvSpPr>
          <p:cNvPr id="175" name="Rectangle 79"/>
          <p:cNvSpPr>
            <a:spLocks noChangeArrowheads="1"/>
          </p:cNvSpPr>
          <p:nvPr/>
        </p:nvSpPr>
        <p:spPr bwMode="auto">
          <a:xfrm>
            <a:off x="1438275" y="2468563"/>
            <a:ext cx="931863" cy="568325"/>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76" name="Rectangle 80"/>
          <p:cNvSpPr>
            <a:spLocks noChangeArrowheads="1"/>
          </p:cNvSpPr>
          <p:nvPr/>
        </p:nvSpPr>
        <p:spPr bwMode="auto">
          <a:xfrm>
            <a:off x="4762500" y="2452688"/>
            <a:ext cx="931863" cy="568325"/>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77" name="Text Box 81"/>
          <p:cNvSpPr txBox="1">
            <a:spLocks noChangeArrowheads="1"/>
          </p:cNvSpPr>
          <p:nvPr/>
        </p:nvSpPr>
        <p:spPr bwMode="auto">
          <a:xfrm>
            <a:off x="2517775" y="3765550"/>
            <a:ext cx="785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solidFill>
                  <a:srgbClr val="CC0066"/>
                </a:solidFill>
                <a:latin typeface="Times New Roman" panose="02020603050405020304" pitchFamily="18" charset="0"/>
              </a:rPr>
              <a:t>lb</a:t>
            </a:r>
            <a:r>
              <a:rPr lang="en-US" altLang="zh-CN" sz="2000" b="1">
                <a:solidFill>
                  <a:srgbClr val="CC0066"/>
                </a:solidFill>
                <a:latin typeface="Times New Roman" panose="02020603050405020304" pitchFamily="18" charset="0"/>
              </a:rPr>
              <a:t>=19</a:t>
            </a:r>
            <a:endParaRPr lang="en-US" altLang="zh-CN" sz="2000" b="1">
              <a:solidFill>
                <a:srgbClr val="CC0066"/>
              </a:solidFill>
              <a:latin typeface="Times New Roman" panose="02020603050405020304" pitchFamily="18" charset="0"/>
            </a:endParaRPr>
          </a:p>
        </p:txBody>
      </p:sp>
      <p:sp>
        <p:nvSpPr>
          <p:cNvPr id="178" name="Text Box 82"/>
          <p:cNvSpPr txBox="1">
            <a:spLocks noChangeArrowheads="1"/>
          </p:cNvSpPr>
          <p:nvPr/>
        </p:nvSpPr>
        <p:spPr bwMode="auto">
          <a:xfrm>
            <a:off x="6765925" y="3441700"/>
            <a:ext cx="1552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PT={10,  11}</a:t>
            </a:r>
            <a:endParaRPr lang="en-US" altLang="zh-CN" sz="2000" b="1">
              <a:solidFill>
                <a:srgbClr val="0000FF"/>
              </a:solidFill>
              <a:latin typeface="Times New Roman" panose="02020603050405020304" pitchFamily="18" charset="0"/>
            </a:endParaRPr>
          </a:p>
        </p:txBody>
      </p:sp>
      <p:sp>
        <p:nvSpPr>
          <p:cNvPr id="179" name="Rectangle 83"/>
          <p:cNvSpPr>
            <a:spLocks noChangeArrowheads="1"/>
          </p:cNvSpPr>
          <p:nvPr/>
        </p:nvSpPr>
        <p:spPr bwMode="auto">
          <a:xfrm>
            <a:off x="4772025" y="3513138"/>
            <a:ext cx="931863" cy="568325"/>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80" name="Rectangle 84"/>
          <p:cNvSpPr>
            <a:spLocks noChangeArrowheads="1"/>
          </p:cNvSpPr>
          <p:nvPr/>
        </p:nvSpPr>
        <p:spPr bwMode="auto">
          <a:xfrm>
            <a:off x="5834063" y="3521075"/>
            <a:ext cx="931862" cy="568325"/>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81" name="Text Box 85"/>
          <p:cNvSpPr txBox="1">
            <a:spLocks noChangeArrowheads="1"/>
          </p:cNvSpPr>
          <p:nvPr/>
        </p:nvSpPr>
        <p:spPr bwMode="auto">
          <a:xfrm>
            <a:off x="3683000" y="4881563"/>
            <a:ext cx="785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solidFill>
                  <a:srgbClr val="CC0066"/>
                </a:solidFill>
                <a:latin typeface="Times New Roman" panose="02020603050405020304" pitchFamily="18" charset="0"/>
              </a:rPr>
              <a:t>lb</a:t>
            </a:r>
            <a:r>
              <a:rPr lang="en-US" altLang="zh-CN" sz="2000" b="1">
                <a:solidFill>
                  <a:srgbClr val="CC0066"/>
                </a:solidFill>
                <a:latin typeface="Times New Roman" panose="02020603050405020304" pitchFamily="18" charset="0"/>
              </a:rPr>
              <a:t>=18</a:t>
            </a:r>
            <a:endParaRPr lang="en-US" altLang="zh-CN" sz="2000" b="1">
              <a:solidFill>
                <a:srgbClr val="CC0066"/>
              </a:solidFill>
              <a:latin typeface="Times New Roman" panose="02020603050405020304" pitchFamily="18" charset="0"/>
            </a:endParaRPr>
          </a:p>
        </p:txBody>
      </p:sp>
      <p:sp>
        <p:nvSpPr>
          <p:cNvPr id="182" name="Text Box 86"/>
          <p:cNvSpPr txBox="1">
            <a:spLocks noChangeArrowheads="1"/>
          </p:cNvSpPr>
          <p:nvPr/>
        </p:nvSpPr>
        <p:spPr bwMode="auto">
          <a:xfrm>
            <a:off x="5829300" y="4881563"/>
            <a:ext cx="785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solidFill>
                  <a:srgbClr val="CC0066"/>
                </a:solidFill>
                <a:latin typeface="Times New Roman" panose="02020603050405020304" pitchFamily="18" charset="0"/>
              </a:rPr>
              <a:t>lb</a:t>
            </a:r>
            <a:r>
              <a:rPr lang="en-US" altLang="zh-CN" sz="2000" b="1">
                <a:solidFill>
                  <a:srgbClr val="CC0066"/>
                </a:solidFill>
                <a:latin typeface="Times New Roman" panose="02020603050405020304" pitchFamily="18" charset="0"/>
              </a:rPr>
              <a:t>=19</a:t>
            </a:r>
            <a:endParaRPr lang="en-US" altLang="zh-CN" sz="2000" b="1">
              <a:solidFill>
                <a:srgbClr val="CC0066"/>
              </a:solidFill>
              <a:latin typeface="Times New Roman" panose="02020603050405020304" pitchFamily="18" charset="0"/>
            </a:endParaRPr>
          </a:p>
        </p:txBody>
      </p:sp>
      <p:sp>
        <p:nvSpPr>
          <p:cNvPr id="183" name="Text Box 87"/>
          <p:cNvSpPr txBox="1">
            <a:spLocks noChangeArrowheads="1"/>
          </p:cNvSpPr>
          <p:nvPr/>
        </p:nvSpPr>
        <p:spPr bwMode="auto">
          <a:xfrm>
            <a:off x="2206625" y="4711700"/>
            <a:ext cx="11176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PT={16}</a:t>
            </a:r>
            <a:endParaRPr lang="en-US" altLang="zh-CN" sz="2000" b="1">
              <a:solidFill>
                <a:srgbClr val="0000FF"/>
              </a:solidFill>
              <a:latin typeface="Times New Roman" panose="02020603050405020304" pitchFamily="18" charset="0"/>
            </a:endParaRPr>
          </a:p>
        </p:txBody>
      </p:sp>
      <p:sp>
        <p:nvSpPr>
          <p:cNvPr id="184" name="Rectangle 88"/>
          <p:cNvSpPr>
            <a:spLocks noChangeArrowheads="1"/>
          </p:cNvSpPr>
          <p:nvPr/>
        </p:nvSpPr>
        <p:spPr bwMode="auto">
          <a:xfrm>
            <a:off x="4749800" y="4605338"/>
            <a:ext cx="931863" cy="568325"/>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85" name="Rectangle 89"/>
          <p:cNvSpPr>
            <a:spLocks noChangeArrowheads="1"/>
          </p:cNvSpPr>
          <p:nvPr/>
        </p:nvSpPr>
        <p:spPr bwMode="auto">
          <a:xfrm>
            <a:off x="6899275" y="4613275"/>
            <a:ext cx="931863" cy="568325"/>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86" name="Text Box 90"/>
          <p:cNvSpPr txBox="1">
            <a:spLocks noChangeArrowheads="1"/>
          </p:cNvSpPr>
          <p:nvPr/>
        </p:nvSpPr>
        <p:spPr bwMode="auto">
          <a:xfrm>
            <a:off x="4783138" y="5924550"/>
            <a:ext cx="785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solidFill>
                  <a:srgbClr val="CC0066"/>
                </a:solidFill>
                <a:latin typeface="Times New Roman" panose="02020603050405020304" pitchFamily="18" charset="0"/>
              </a:rPr>
              <a:t>lb</a:t>
            </a:r>
            <a:r>
              <a:rPr lang="en-US" altLang="zh-CN" sz="2000" b="1">
                <a:solidFill>
                  <a:srgbClr val="CC0066"/>
                </a:solidFill>
                <a:latin typeface="Times New Roman" panose="02020603050405020304" pitchFamily="18" charset="0"/>
              </a:rPr>
              <a:t>=20</a:t>
            </a:r>
            <a:endParaRPr lang="en-US" altLang="zh-CN" sz="2000" b="1">
              <a:solidFill>
                <a:srgbClr val="CC0066"/>
              </a:solidFill>
              <a:latin typeface="Times New Roman" panose="02020603050405020304" pitchFamily="18" charset="0"/>
            </a:endParaRPr>
          </a:p>
        </p:txBody>
      </p:sp>
      <p:sp>
        <p:nvSpPr>
          <p:cNvPr id="187" name="Text Box 91"/>
          <p:cNvSpPr txBox="1">
            <a:spLocks noChangeArrowheads="1"/>
          </p:cNvSpPr>
          <p:nvPr/>
        </p:nvSpPr>
        <p:spPr bwMode="auto">
          <a:xfrm>
            <a:off x="3241675" y="5781675"/>
            <a:ext cx="862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a:t>
            </a:r>
            <a:endParaRPr lang="en-US" altLang="zh-CN" sz="2000" b="1">
              <a:solidFill>
                <a:srgbClr val="0000FF"/>
              </a:solidFill>
              <a:latin typeface="Times New Roman" panose="02020603050405020304" pitchFamily="18" charset="0"/>
            </a:endParaRPr>
          </a:p>
        </p:txBody>
      </p:sp>
      <p:sp>
        <p:nvSpPr>
          <p:cNvPr id="188" name="Text Box 92"/>
          <p:cNvSpPr txBox="1">
            <a:spLocks noChangeArrowheads="1"/>
          </p:cNvSpPr>
          <p:nvPr/>
        </p:nvSpPr>
        <p:spPr bwMode="auto">
          <a:xfrm>
            <a:off x="7358063" y="4233863"/>
            <a:ext cx="1501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PT={10, 13}</a:t>
            </a:r>
            <a:endParaRPr lang="en-US" altLang="zh-CN" sz="2000" b="1">
              <a:solidFill>
                <a:srgbClr val="0000FF"/>
              </a:solidFill>
              <a:latin typeface="Times New Roman" panose="02020603050405020304" pitchFamily="18" charset="0"/>
            </a:endParaRPr>
          </a:p>
        </p:txBody>
      </p:sp>
      <p:sp>
        <p:nvSpPr>
          <p:cNvPr id="189" name="Text Box 93"/>
          <p:cNvSpPr txBox="1">
            <a:spLocks noChangeArrowheads="1"/>
          </p:cNvSpPr>
          <p:nvPr/>
        </p:nvSpPr>
        <p:spPr bwMode="auto">
          <a:xfrm>
            <a:off x="2324100" y="2936875"/>
            <a:ext cx="989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PT={3}</a:t>
            </a:r>
            <a:endParaRPr lang="en-US" altLang="zh-CN" sz="2000" b="1">
              <a:solidFill>
                <a:srgbClr val="0000FF"/>
              </a:solidFill>
              <a:latin typeface="Times New Roman" panose="02020603050405020304" pitchFamily="18" charset="0"/>
            </a:endParaRPr>
          </a:p>
        </p:txBody>
      </p:sp>
      <p:sp>
        <p:nvSpPr>
          <p:cNvPr id="190" name="Rectangle 94"/>
          <p:cNvSpPr>
            <a:spLocks noChangeArrowheads="1"/>
          </p:cNvSpPr>
          <p:nvPr/>
        </p:nvSpPr>
        <p:spPr bwMode="auto">
          <a:xfrm>
            <a:off x="6943725" y="5673725"/>
            <a:ext cx="912813" cy="573088"/>
          </a:xfrm>
          <a:prstGeom prst="rect">
            <a:avLst/>
          </a:prstGeom>
          <a:solidFill>
            <a:srgbClr val="FFCC00">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solidFill>
                <a:srgbClr val="000066"/>
              </a:solidFill>
              <a:latin typeface="Times New Roman" panose="02020603050405020304" pitchFamily="18" charset="0"/>
            </a:endParaRPr>
          </a:p>
        </p:txBody>
      </p:sp>
      <p:sp>
        <p:nvSpPr>
          <p:cNvPr id="191" name="Text Box 95"/>
          <p:cNvSpPr txBox="1">
            <a:spLocks noChangeArrowheads="1"/>
          </p:cNvSpPr>
          <p:nvPr/>
        </p:nvSpPr>
        <p:spPr bwMode="auto">
          <a:xfrm>
            <a:off x="7829550" y="5297488"/>
            <a:ext cx="1117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FF"/>
                </a:solidFill>
                <a:latin typeface="Times New Roman" panose="02020603050405020304" pitchFamily="18" charset="0"/>
              </a:rPr>
              <a:t>PT={10}</a:t>
            </a:r>
            <a:endParaRPr lang="en-US" altLang="zh-CN" sz="2000" b="1">
              <a:solidFill>
                <a:srgbClr val="0000FF"/>
              </a:solidFill>
              <a:latin typeface="Times New Roman" panose="02020603050405020304" pitchFamily="18" charset="0"/>
            </a:endParaRPr>
          </a:p>
        </p:txBody>
      </p:sp>
      <p:sp>
        <p:nvSpPr>
          <p:cNvPr id="192" name="Text Box 96"/>
          <p:cNvSpPr txBox="1">
            <a:spLocks noChangeArrowheads="1"/>
          </p:cNvSpPr>
          <p:nvPr/>
        </p:nvSpPr>
        <p:spPr bwMode="auto">
          <a:xfrm>
            <a:off x="141288" y="5883275"/>
            <a:ext cx="2498725" cy="76200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i="1">
                <a:solidFill>
                  <a:srgbClr val="000066"/>
                </a:solidFill>
                <a:latin typeface="Times New Roman" panose="02020603050405020304" pitchFamily="18" charset="0"/>
              </a:rPr>
              <a:t>d</a:t>
            </a:r>
            <a:r>
              <a:rPr lang="en-US" altLang="zh-CN" sz="2200" b="1">
                <a:solidFill>
                  <a:srgbClr val="000066"/>
                </a:solidFill>
                <a:latin typeface="Times New Roman" panose="02020603050405020304" pitchFamily="18" charset="0"/>
              </a:rPr>
              <a:t>=16</a:t>
            </a:r>
            <a:endParaRPr lang="en-US" altLang="zh-CN" sz="2200" b="1">
              <a:solidFill>
                <a:srgbClr val="000066"/>
              </a:solidFill>
              <a:latin typeface="Times New Roman" panose="02020603050405020304" pitchFamily="18" charset="0"/>
            </a:endParaRPr>
          </a:p>
          <a:p>
            <a:pPr eaLnBrk="1" hangingPunct="1"/>
            <a:r>
              <a:rPr lang="en-US" altLang="zh-CN" sz="2200" b="1">
                <a:solidFill>
                  <a:srgbClr val="000066"/>
                </a:solidFill>
                <a:latin typeface="Times New Roman" panose="02020603050405020304" pitchFamily="18" charset="0"/>
              </a:rPr>
              <a:t>1→3→5→4→2→1</a:t>
            </a:r>
            <a:endParaRPr lang="en-US" altLang="zh-CN" sz="2200" b="1">
              <a:solidFill>
                <a:srgbClr val="000066"/>
              </a:solidFill>
              <a:latin typeface="Times New Roman" panose="02020603050405020304" pitchFamily="18" charset="0"/>
            </a:endParaRPr>
          </a:p>
        </p:txBody>
      </p:sp>
      <p:grpSp>
        <p:nvGrpSpPr>
          <p:cNvPr id="63585" name="Group 9"/>
          <p:cNvGrpSpPr/>
          <p:nvPr/>
        </p:nvGrpSpPr>
        <p:grpSpPr bwMode="auto">
          <a:xfrm>
            <a:off x="2325688" y="1274763"/>
            <a:ext cx="1936750" cy="1662112"/>
            <a:chOff x="2295" y="7254"/>
            <a:chExt cx="2131" cy="1899"/>
          </a:xfrm>
        </p:grpSpPr>
        <p:sp>
          <p:nvSpPr>
            <p:cNvPr id="63591" name="Text Box 10"/>
            <p:cNvSpPr txBox="1">
              <a:spLocks noChangeArrowheads="1"/>
            </p:cNvSpPr>
            <p:nvPr/>
          </p:nvSpPr>
          <p:spPr bwMode="auto">
            <a:xfrm>
              <a:off x="3055" y="863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2</a:t>
              </a:r>
              <a:endParaRPr lang="en-US" altLang="zh-CN" b="1">
                <a:solidFill>
                  <a:srgbClr val="000066"/>
                </a:solidFill>
                <a:latin typeface="Times New Roman" panose="02020603050405020304" pitchFamily="18" charset="0"/>
              </a:endParaRPr>
            </a:p>
          </p:txBody>
        </p:sp>
        <p:sp>
          <p:nvSpPr>
            <p:cNvPr id="63592" name="Text Box 11"/>
            <p:cNvSpPr txBox="1">
              <a:spLocks noChangeArrowheads="1"/>
            </p:cNvSpPr>
            <p:nvPr/>
          </p:nvSpPr>
          <p:spPr bwMode="auto">
            <a:xfrm>
              <a:off x="3835" y="788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7</a:t>
              </a:r>
              <a:endParaRPr lang="en-US" altLang="zh-CN" b="1">
                <a:solidFill>
                  <a:srgbClr val="000066"/>
                </a:solidFill>
                <a:latin typeface="Times New Roman" panose="02020603050405020304" pitchFamily="18" charset="0"/>
              </a:endParaRPr>
            </a:p>
          </p:txBody>
        </p:sp>
        <p:sp>
          <p:nvSpPr>
            <p:cNvPr id="63593" name="Text Box 12"/>
            <p:cNvSpPr txBox="1">
              <a:spLocks noChangeArrowheads="1"/>
            </p:cNvSpPr>
            <p:nvPr/>
          </p:nvSpPr>
          <p:spPr bwMode="auto">
            <a:xfrm>
              <a:off x="2775" y="788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1</a:t>
              </a:r>
              <a:endParaRPr lang="en-US" altLang="zh-CN" b="1">
                <a:solidFill>
                  <a:srgbClr val="000066"/>
                </a:solidFill>
                <a:latin typeface="Times New Roman" panose="02020603050405020304" pitchFamily="18" charset="0"/>
              </a:endParaRPr>
            </a:p>
          </p:txBody>
        </p:sp>
        <p:sp>
          <p:nvSpPr>
            <p:cNvPr id="63594" name="Text Box 13"/>
            <p:cNvSpPr txBox="1">
              <a:spLocks noChangeArrowheads="1"/>
            </p:cNvSpPr>
            <p:nvPr/>
          </p:nvSpPr>
          <p:spPr bwMode="auto">
            <a:xfrm>
              <a:off x="3114" y="759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5</a:t>
              </a:r>
              <a:endParaRPr lang="en-US" altLang="zh-CN" b="1">
                <a:solidFill>
                  <a:srgbClr val="000066"/>
                </a:solidFill>
                <a:latin typeface="Times New Roman" panose="02020603050405020304" pitchFamily="18" charset="0"/>
              </a:endParaRPr>
            </a:p>
          </p:txBody>
        </p:sp>
        <p:sp>
          <p:nvSpPr>
            <p:cNvPr id="63595" name="Text Box 14"/>
            <p:cNvSpPr txBox="1">
              <a:spLocks noChangeArrowheads="1"/>
            </p:cNvSpPr>
            <p:nvPr/>
          </p:nvSpPr>
          <p:spPr bwMode="auto">
            <a:xfrm>
              <a:off x="3515" y="7611"/>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6</a:t>
              </a:r>
              <a:endParaRPr lang="en-US" altLang="zh-CN" b="1">
                <a:solidFill>
                  <a:srgbClr val="000066"/>
                </a:solidFill>
                <a:latin typeface="Times New Roman" panose="02020603050405020304" pitchFamily="18" charset="0"/>
              </a:endParaRPr>
            </a:p>
          </p:txBody>
        </p:sp>
        <p:sp>
          <p:nvSpPr>
            <p:cNvPr id="63596" name="Text Box 15"/>
            <p:cNvSpPr txBox="1">
              <a:spLocks noChangeArrowheads="1"/>
            </p:cNvSpPr>
            <p:nvPr/>
          </p:nvSpPr>
          <p:spPr bwMode="auto">
            <a:xfrm>
              <a:off x="3585" y="8643"/>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3</a:t>
              </a:r>
              <a:endParaRPr lang="en-US" altLang="zh-CN" b="1">
                <a:solidFill>
                  <a:srgbClr val="000066"/>
                </a:solidFill>
                <a:latin typeface="Times New Roman" panose="02020603050405020304" pitchFamily="18" charset="0"/>
              </a:endParaRPr>
            </a:p>
          </p:txBody>
        </p:sp>
        <p:sp>
          <p:nvSpPr>
            <p:cNvPr id="63597" name="Oval 16"/>
            <p:cNvSpPr>
              <a:spLocks noChangeArrowheads="1"/>
            </p:cNvSpPr>
            <p:nvPr/>
          </p:nvSpPr>
          <p:spPr bwMode="auto">
            <a:xfrm>
              <a:off x="2610" y="734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1</a:t>
              </a:r>
              <a:endParaRPr lang="en-US" altLang="zh-CN" b="1">
                <a:solidFill>
                  <a:srgbClr val="000066"/>
                </a:solidFill>
                <a:latin typeface="Times New Roman" panose="02020603050405020304" pitchFamily="18" charset="0"/>
              </a:endParaRPr>
            </a:p>
          </p:txBody>
        </p:sp>
        <p:sp>
          <p:nvSpPr>
            <p:cNvPr id="63598" name="Oval 17"/>
            <p:cNvSpPr>
              <a:spLocks noChangeArrowheads="1"/>
            </p:cNvSpPr>
            <p:nvPr/>
          </p:nvSpPr>
          <p:spPr bwMode="auto">
            <a:xfrm>
              <a:off x="2610" y="835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3</a:t>
              </a:r>
              <a:endParaRPr lang="en-US" altLang="zh-CN" b="1">
                <a:solidFill>
                  <a:srgbClr val="000066"/>
                </a:solidFill>
                <a:latin typeface="Times New Roman" panose="02020603050405020304" pitchFamily="18" charset="0"/>
              </a:endParaRPr>
            </a:p>
          </p:txBody>
        </p:sp>
        <p:sp>
          <p:nvSpPr>
            <p:cNvPr id="63599" name="Oval 18"/>
            <p:cNvSpPr>
              <a:spLocks noChangeArrowheads="1"/>
            </p:cNvSpPr>
            <p:nvPr/>
          </p:nvSpPr>
          <p:spPr bwMode="auto">
            <a:xfrm>
              <a:off x="3821" y="8355"/>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4</a:t>
              </a:r>
              <a:endParaRPr lang="en-US" altLang="zh-CN" b="1">
                <a:solidFill>
                  <a:srgbClr val="000066"/>
                </a:solidFill>
                <a:latin typeface="Times New Roman" panose="02020603050405020304" pitchFamily="18" charset="0"/>
              </a:endParaRPr>
            </a:p>
          </p:txBody>
        </p:sp>
        <p:sp>
          <p:nvSpPr>
            <p:cNvPr id="63600" name="Oval 19"/>
            <p:cNvSpPr>
              <a:spLocks noChangeArrowheads="1"/>
            </p:cNvSpPr>
            <p:nvPr/>
          </p:nvSpPr>
          <p:spPr bwMode="auto">
            <a:xfrm>
              <a:off x="3810" y="7341"/>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2</a:t>
              </a:r>
              <a:endParaRPr lang="en-US" altLang="zh-CN" b="1">
                <a:solidFill>
                  <a:srgbClr val="000066"/>
                </a:solidFill>
                <a:latin typeface="Times New Roman" panose="02020603050405020304" pitchFamily="18" charset="0"/>
              </a:endParaRPr>
            </a:p>
          </p:txBody>
        </p:sp>
        <p:sp>
          <p:nvSpPr>
            <p:cNvPr id="63601" name="Oval 20"/>
            <p:cNvSpPr>
              <a:spLocks noChangeArrowheads="1"/>
            </p:cNvSpPr>
            <p:nvPr/>
          </p:nvSpPr>
          <p:spPr bwMode="auto">
            <a:xfrm>
              <a:off x="3241" y="8859"/>
              <a:ext cx="303" cy="294"/>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lIns="288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5</a:t>
              </a:r>
              <a:endParaRPr lang="en-US" altLang="zh-CN" b="1">
                <a:solidFill>
                  <a:srgbClr val="000066"/>
                </a:solidFill>
                <a:latin typeface="Times New Roman" panose="02020603050405020304" pitchFamily="18" charset="0"/>
              </a:endParaRPr>
            </a:p>
          </p:txBody>
        </p:sp>
        <p:sp>
          <p:nvSpPr>
            <p:cNvPr id="63602" name="Freeform 21"/>
            <p:cNvSpPr/>
            <p:nvPr/>
          </p:nvSpPr>
          <p:spPr bwMode="auto">
            <a:xfrm>
              <a:off x="2916" y="7482"/>
              <a:ext cx="894" cy="1"/>
            </a:xfrm>
            <a:custGeom>
              <a:avLst/>
              <a:gdLst>
                <a:gd name="T0" fmla="*/ 0 w 894"/>
                <a:gd name="T1" fmla="*/ 0 h 6"/>
                <a:gd name="T2" fmla="*/ 894 w 894"/>
                <a:gd name="T3" fmla="*/ 0 h 6"/>
                <a:gd name="T4" fmla="*/ 0 60000 65536"/>
                <a:gd name="T5" fmla="*/ 0 60000 65536"/>
                <a:gd name="T6" fmla="*/ 0 w 894"/>
                <a:gd name="T7" fmla="*/ 0 h 6"/>
                <a:gd name="T8" fmla="*/ 894 w 894"/>
                <a:gd name="T9" fmla="*/ 6 h 6"/>
              </a:gdLst>
              <a:ahLst/>
              <a:cxnLst>
                <a:cxn ang="T4">
                  <a:pos x="T0" y="T1"/>
                </a:cxn>
                <a:cxn ang="T5">
                  <a:pos x="T2" y="T3"/>
                </a:cxn>
              </a:cxnLst>
              <a:rect l="T6" t="T7" r="T8" b="T9"/>
              <a:pathLst>
                <a:path w="894" h="6">
                  <a:moveTo>
                    <a:pt x="0" y="0"/>
                  </a:moveTo>
                  <a:lnTo>
                    <a:pt x="894" y="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03" name="Freeform 22"/>
            <p:cNvSpPr/>
            <p:nvPr/>
          </p:nvSpPr>
          <p:spPr bwMode="auto">
            <a:xfrm>
              <a:off x="2756" y="7632"/>
              <a:ext cx="4" cy="716"/>
            </a:xfrm>
            <a:custGeom>
              <a:avLst/>
              <a:gdLst>
                <a:gd name="T0" fmla="*/ 0 w 4"/>
                <a:gd name="T1" fmla="*/ 0 h 716"/>
                <a:gd name="T2" fmla="*/ 4 w 4"/>
                <a:gd name="T3" fmla="*/ 716 h 716"/>
                <a:gd name="T4" fmla="*/ 0 60000 65536"/>
                <a:gd name="T5" fmla="*/ 0 60000 65536"/>
                <a:gd name="T6" fmla="*/ 0 w 4"/>
                <a:gd name="T7" fmla="*/ 0 h 716"/>
                <a:gd name="T8" fmla="*/ 4 w 4"/>
                <a:gd name="T9" fmla="*/ 716 h 716"/>
              </a:gdLst>
              <a:ahLst/>
              <a:cxnLst>
                <a:cxn ang="T4">
                  <a:pos x="T0" y="T1"/>
                </a:cxn>
                <a:cxn ang="T5">
                  <a:pos x="T2" y="T3"/>
                </a:cxn>
              </a:cxnLst>
              <a:rect l="T6" t="T7" r="T8" b="T9"/>
              <a:pathLst>
                <a:path w="4" h="716">
                  <a:moveTo>
                    <a:pt x="0" y="0"/>
                  </a:moveTo>
                  <a:lnTo>
                    <a:pt x="4" y="71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04" name="Freeform 23"/>
            <p:cNvSpPr/>
            <p:nvPr/>
          </p:nvSpPr>
          <p:spPr bwMode="auto">
            <a:xfrm>
              <a:off x="2876" y="7584"/>
              <a:ext cx="984" cy="834"/>
            </a:xfrm>
            <a:custGeom>
              <a:avLst/>
              <a:gdLst>
                <a:gd name="T0" fmla="*/ 0 w 984"/>
                <a:gd name="T1" fmla="*/ 0 h 834"/>
                <a:gd name="T2" fmla="*/ 984 w 984"/>
                <a:gd name="T3" fmla="*/ 834 h 834"/>
                <a:gd name="T4" fmla="*/ 0 60000 65536"/>
                <a:gd name="T5" fmla="*/ 0 60000 65536"/>
                <a:gd name="T6" fmla="*/ 0 w 984"/>
                <a:gd name="T7" fmla="*/ 0 h 834"/>
                <a:gd name="T8" fmla="*/ 984 w 984"/>
                <a:gd name="T9" fmla="*/ 834 h 834"/>
              </a:gdLst>
              <a:ahLst/>
              <a:cxnLst>
                <a:cxn ang="T4">
                  <a:pos x="T0" y="T1"/>
                </a:cxn>
                <a:cxn ang="T5">
                  <a:pos x="T2" y="T3"/>
                </a:cxn>
              </a:cxnLst>
              <a:rect l="T6" t="T7" r="T8" b="T9"/>
              <a:pathLst>
                <a:path w="984" h="834">
                  <a:moveTo>
                    <a:pt x="0" y="0"/>
                  </a:moveTo>
                  <a:lnTo>
                    <a:pt x="984" y="834"/>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05" name="Freeform 24"/>
            <p:cNvSpPr/>
            <p:nvPr/>
          </p:nvSpPr>
          <p:spPr bwMode="auto">
            <a:xfrm>
              <a:off x="3976" y="7632"/>
              <a:ext cx="5" cy="726"/>
            </a:xfrm>
            <a:custGeom>
              <a:avLst/>
              <a:gdLst>
                <a:gd name="T0" fmla="*/ 0 w 4"/>
                <a:gd name="T1" fmla="*/ 0 h 756"/>
                <a:gd name="T2" fmla="*/ 12967 w 4"/>
                <a:gd name="T3" fmla="*/ 169 h 756"/>
                <a:gd name="T4" fmla="*/ 0 60000 65536"/>
                <a:gd name="T5" fmla="*/ 0 60000 65536"/>
                <a:gd name="T6" fmla="*/ 0 w 4"/>
                <a:gd name="T7" fmla="*/ 0 h 756"/>
                <a:gd name="T8" fmla="*/ 4 w 4"/>
                <a:gd name="T9" fmla="*/ 756 h 756"/>
              </a:gdLst>
              <a:ahLst/>
              <a:cxnLst>
                <a:cxn ang="T4">
                  <a:pos x="T0" y="T1"/>
                </a:cxn>
                <a:cxn ang="T5">
                  <a:pos x="T2" y="T3"/>
                </a:cxn>
              </a:cxnLst>
              <a:rect l="T6" t="T7" r="T8" b="T9"/>
              <a:pathLst>
                <a:path w="4" h="756">
                  <a:moveTo>
                    <a:pt x="0" y="0"/>
                  </a:moveTo>
                  <a:lnTo>
                    <a:pt x="4" y="756"/>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06" name="Freeform 25"/>
            <p:cNvSpPr/>
            <p:nvPr/>
          </p:nvSpPr>
          <p:spPr bwMode="auto">
            <a:xfrm>
              <a:off x="2880" y="7608"/>
              <a:ext cx="980" cy="780"/>
            </a:xfrm>
            <a:custGeom>
              <a:avLst/>
              <a:gdLst>
                <a:gd name="T0" fmla="*/ 0 w 980"/>
                <a:gd name="T1" fmla="*/ 780 h 780"/>
                <a:gd name="T2" fmla="*/ 980 w 980"/>
                <a:gd name="T3" fmla="*/ 0 h 780"/>
                <a:gd name="T4" fmla="*/ 0 60000 65536"/>
                <a:gd name="T5" fmla="*/ 0 60000 65536"/>
                <a:gd name="T6" fmla="*/ 0 w 980"/>
                <a:gd name="T7" fmla="*/ 0 h 780"/>
                <a:gd name="T8" fmla="*/ 980 w 980"/>
                <a:gd name="T9" fmla="*/ 780 h 780"/>
              </a:gdLst>
              <a:ahLst/>
              <a:cxnLst>
                <a:cxn ang="T4">
                  <a:pos x="T0" y="T1"/>
                </a:cxn>
                <a:cxn ang="T5">
                  <a:pos x="T2" y="T3"/>
                </a:cxn>
              </a:cxnLst>
              <a:rect l="T6" t="T7" r="T8" b="T9"/>
              <a:pathLst>
                <a:path w="980" h="780">
                  <a:moveTo>
                    <a:pt x="0" y="780"/>
                  </a:moveTo>
                  <a:lnTo>
                    <a:pt x="98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07" name="Freeform 26"/>
            <p:cNvSpPr/>
            <p:nvPr/>
          </p:nvSpPr>
          <p:spPr bwMode="auto">
            <a:xfrm>
              <a:off x="2906" y="8518"/>
              <a:ext cx="915" cy="2"/>
            </a:xfrm>
            <a:custGeom>
              <a:avLst/>
              <a:gdLst>
                <a:gd name="T0" fmla="*/ 0 w 894"/>
                <a:gd name="T1" fmla="*/ 1 h 4"/>
                <a:gd name="T2" fmla="*/ 2108 w 894"/>
                <a:gd name="T3" fmla="*/ 0 h 4"/>
                <a:gd name="T4" fmla="*/ 0 60000 65536"/>
                <a:gd name="T5" fmla="*/ 0 60000 65536"/>
                <a:gd name="T6" fmla="*/ 0 w 894"/>
                <a:gd name="T7" fmla="*/ 0 h 4"/>
                <a:gd name="T8" fmla="*/ 894 w 894"/>
                <a:gd name="T9" fmla="*/ 4 h 4"/>
              </a:gdLst>
              <a:ahLst/>
              <a:cxnLst>
                <a:cxn ang="T4">
                  <a:pos x="T0" y="T1"/>
                </a:cxn>
                <a:cxn ang="T5">
                  <a:pos x="T2" y="T3"/>
                </a:cxn>
              </a:cxnLst>
              <a:rect l="T6" t="T7" r="T8" b="T9"/>
              <a:pathLst>
                <a:path w="894" h="4">
                  <a:moveTo>
                    <a:pt x="0" y="4"/>
                  </a:moveTo>
                  <a:lnTo>
                    <a:pt x="894"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08" name="Freeform 27"/>
            <p:cNvSpPr/>
            <p:nvPr/>
          </p:nvSpPr>
          <p:spPr bwMode="auto">
            <a:xfrm>
              <a:off x="2820" y="8628"/>
              <a:ext cx="431" cy="327"/>
            </a:xfrm>
            <a:custGeom>
              <a:avLst/>
              <a:gdLst>
                <a:gd name="T0" fmla="*/ 0 w 420"/>
                <a:gd name="T1" fmla="*/ 0 h 380"/>
                <a:gd name="T2" fmla="*/ 1095 w 420"/>
                <a:gd name="T3" fmla="*/ 3 h 380"/>
                <a:gd name="T4" fmla="*/ 0 60000 65536"/>
                <a:gd name="T5" fmla="*/ 0 60000 65536"/>
                <a:gd name="T6" fmla="*/ 0 w 420"/>
                <a:gd name="T7" fmla="*/ 0 h 380"/>
                <a:gd name="T8" fmla="*/ 420 w 420"/>
                <a:gd name="T9" fmla="*/ 380 h 380"/>
              </a:gdLst>
              <a:ahLst/>
              <a:cxnLst>
                <a:cxn ang="T4">
                  <a:pos x="T0" y="T1"/>
                </a:cxn>
                <a:cxn ang="T5">
                  <a:pos x="T2" y="T3"/>
                </a:cxn>
              </a:cxnLst>
              <a:rect l="T6" t="T7" r="T8" b="T9"/>
              <a:pathLst>
                <a:path w="420" h="380">
                  <a:moveTo>
                    <a:pt x="0" y="0"/>
                  </a:moveTo>
                  <a:lnTo>
                    <a:pt x="420" y="38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09" name="Freeform 28"/>
            <p:cNvSpPr/>
            <p:nvPr/>
          </p:nvSpPr>
          <p:spPr bwMode="auto">
            <a:xfrm>
              <a:off x="3521" y="8628"/>
              <a:ext cx="390" cy="318"/>
            </a:xfrm>
            <a:custGeom>
              <a:avLst/>
              <a:gdLst>
                <a:gd name="T0" fmla="*/ 0 w 450"/>
                <a:gd name="T1" fmla="*/ 2 h 410"/>
                <a:gd name="T2" fmla="*/ 3 w 450"/>
                <a:gd name="T3" fmla="*/ 0 h 410"/>
                <a:gd name="T4" fmla="*/ 0 60000 65536"/>
                <a:gd name="T5" fmla="*/ 0 60000 65536"/>
                <a:gd name="T6" fmla="*/ 0 w 450"/>
                <a:gd name="T7" fmla="*/ 0 h 410"/>
                <a:gd name="T8" fmla="*/ 450 w 450"/>
                <a:gd name="T9" fmla="*/ 410 h 410"/>
              </a:gdLst>
              <a:ahLst/>
              <a:cxnLst>
                <a:cxn ang="T4">
                  <a:pos x="T0" y="T1"/>
                </a:cxn>
                <a:cxn ang="T5">
                  <a:pos x="T2" y="T3"/>
                </a:cxn>
              </a:cxnLst>
              <a:rect l="T6" t="T7" r="T8" b="T9"/>
              <a:pathLst>
                <a:path w="450" h="410">
                  <a:moveTo>
                    <a:pt x="0" y="410"/>
                  </a:moveTo>
                  <a:lnTo>
                    <a:pt x="450" y="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10" name="Freeform 29"/>
            <p:cNvSpPr/>
            <p:nvPr/>
          </p:nvSpPr>
          <p:spPr bwMode="auto">
            <a:xfrm>
              <a:off x="2404" y="7618"/>
              <a:ext cx="827" cy="1370"/>
            </a:xfrm>
            <a:custGeom>
              <a:avLst/>
              <a:gdLst>
                <a:gd name="T0" fmla="*/ 250 w 827"/>
                <a:gd name="T1" fmla="*/ 0 h 1370"/>
                <a:gd name="T2" fmla="*/ 96 w 827"/>
                <a:gd name="T3" fmla="*/ 852 h 1370"/>
                <a:gd name="T4" fmla="*/ 827 w 827"/>
                <a:gd name="T5" fmla="*/ 1370 h 1370"/>
                <a:gd name="T6" fmla="*/ 0 60000 65536"/>
                <a:gd name="T7" fmla="*/ 0 60000 65536"/>
                <a:gd name="T8" fmla="*/ 0 60000 65536"/>
                <a:gd name="T9" fmla="*/ 0 w 827"/>
                <a:gd name="T10" fmla="*/ 0 h 1370"/>
                <a:gd name="T11" fmla="*/ 827 w 827"/>
                <a:gd name="T12" fmla="*/ 1370 h 1370"/>
              </a:gdLst>
              <a:ahLst/>
              <a:cxnLst>
                <a:cxn ang="T6">
                  <a:pos x="T0" y="T1"/>
                </a:cxn>
                <a:cxn ang="T7">
                  <a:pos x="T2" y="T3"/>
                </a:cxn>
                <a:cxn ang="T8">
                  <a:pos x="T4" y="T5"/>
                </a:cxn>
              </a:cxnLst>
              <a:rect l="T9" t="T10" r="T11" b="T12"/>
              <a:pathLst>
                <a:path w="827" h="1370">
                  <a:moveTo>
                    <a:pt x="250" y="0"/>
                  </a:moveTo>
                  <a:cubicBezTo>
                    <a:pt x="224" y="142"/>
                    <a:pt x="0" y="623"/>
                    <a:pt x="96" y="852"/>
                  </a:cubicBezTo>
                  <a:cubicBezTo>
                    <a:pt x="194" y="1168"/>
                    <a:pt x="675" y="1262"/>
                    <a:pt x="827" y="1370"/>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11" name="Freeform 30"/>
            <p:cNvSpPr/>
            <p:nvPr/>
          </p:nvSpPr>
          <p:spPr bwMode="auto">
            <a:xfrm>
              <a:off x="3551" y="7618"/>
              <a:ext cx="756" cy="1358"/>
            </a:xfrm>
            <a:custGeom>
              <a:avLst/>
              <a:gdLst>
                <a:gd name="T0" fmla="*/ 320 w 766"/>
                <a:gd name="T1" fmla="*/ 0 h 1397"/>
                <a:gd name="T2" fmla="*/ 416 w 766"/>
                <a:gd name="T3" fmla="*/ 317 h 1397"/>
                <a:gd name="T4" fmla="*/ 0 w 766"/>
                <a:gd name="T5" fmla="*/ 490 h 1397"/>
                <a:gd name="T6" fmla="*/ 0 60000 65536"/>
                <a:gd name="T7" fmla="*/ 0 60000 65536"/>
                <a:gd name="T8" fmla="*/ 0 60000 65536"/>
                <a:gd name="T9" fmla="*/ 0 w 766"/>
                <a:gd name="T10" fmla="*/ 0 h 1397"/>
                <a:gd name="T11" fmla="*/ 766 w 766"/>
                <a:gd name="T12" fmla="*/ 1397 h 1397"/>
              </a:gdLst>
              <a:ahLst/>
              <a:cxnLst>
                <a:cxn ang="T6">
                  <a:pos x="T0" y="T1"/>
                </a:cxn>
                <a:cxn ang="T7">
                  <a:pos x="T2" y="T3"/>
                </a:cxn>
                <a:cxn ang="T8">
                  <a:pos x="T4" y="T5"/>
                </a:cxn>
              </a:cxnLst>
              <a:rect l="T9" t="T10" r="T11" b="T12"/>
              <a:pathLst>
                <a:path w="766" h="1397">
                  <a:moveTo>
                    <a:pt x="519" y="0"/>
                  </a:moveTo>
                  <a:cubicBezTo>
                    <a:pt x="546" y="150"/>
                    <a:pt x="766" y="669"/>
                    <a:pt x="679" y="902"/>
                  </a:cubicBezTo>
                  <a:cubicBezTo>
                    <a:pt x="592" y="1135"/>
                    <a:pt x="141" y="1294"/>
                    <a:pt x="0" y="1397"/>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612" name="Text Box 31"/>
            <p:cNvSpPr txBox="1">
              <a:spLocks noChangeArrowheads="1"/>
            </p:cNvSpPr>
            <p:nvPr/>
          </p:nvSpPr>
          <p:spPr bwMode="auto">
            <a:xfrm>
              <a:off x="3315" y="7254"/>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3</a:t>
              </a:r>
              <a:endParaRPr lang="en-US" altLang="zh-CN" b="1">
                <a:solidFill>
                  <a:srgbClr val="000066"/>
                </a:solidFill>
                <a:latin typeface="Times New Roman" panose="02020603050405020304" pitchFamily="18" charset="0"/>
              </a:endParaRPr>
            </a:p>
          </p:txBody>
        </p:sp>
        <p:sp>
          <p:nvSpPr>
            <p:cNvPr id="63613" name="Text Box 32"/>
            <p:cNvSpPr txBox="1">
              <a:spLocks noChangeArrowheads="1"/>
            </p:cNvSpPr>
            <p:nvPr/>
          </p:nvSpPr>
          <p:spPr bwMode="auto">
            <a:xfrm>
              <a:off x="4265" y="7833"/>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9</a:t>
              </a:r>
              <a:endParaRPr lang="en-US" altLang="zh-CN" b="1">
                <a:solidFill>
                  <a:srgbClr val="000066"/>
                </a:solidFill>
                <a:latin typeface="Times New Roman" panose="02020603050405020304" pitchFamily="18" charset="0"/>
              </a:endParaRPr>
            </a:p>
          </p:txBody>
        </p:sp>
        <p:sp>
          <p:nvSpPr>
            <p:cNvPr id="63614" name="Text Box 33"/>
            <p:cNvSpPr txBox="1">
              <a:spLocks noChangeArrowheads="1"/>
            </p:cNvSpPr>
            <p:nvPr/>
          </p:nvSpPr>
          <p:spPr bwMode="auto">
            <a:xfrm>
              <a:off x="2295" y="7857"/>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8</a:t>
              </a:r>
              <a:endParaRPr lang="en-US" altLang="zh-CN" b="1">
                <a:solidFill>
                  <a:srgbClr val="000066"/>
                </a:solidFill>
                <a:latin typeface="Times New Roman" panose="02020603050405020304" pitchFamily="18" charset="0"/>
              </a:endParaRPr>
            </a:p>
          </p:txBody>
        </p:sp>
        <p:sp>
          <p:nvSpPr>
            <p:cNvPr id="63615" name="Text Box 34"/>
            <p:cNvSpPr txBox="1">
              <a:spLocks noChangeArrowheads="1"/>
            </p:cNvSpPr>
            <p:nvPr/>
          </p:nvSpPr>
          <p:spPr bwMode="auto">
            <a:xfrm>
              <a:off x="3285" y="8298"/>
              <a:ext cx="161"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80000"/>
                </a:lnSpc>
              </a:pPr>
              <a:r>
                <a:rPr lang="en-US" altLang="zh-CN" b="1">
                  <a:solidFill>
                    <a:srgbClr val="000066"/>
                  </a:solidFill>
                  <a:latin typeface="Times New Roman" panose="02020603050405020304" pitchFamily="18" charset="0"/>
                </a:rPr>
                <a:t>4</a:t>
              </a:r>
              <a:endParaRPr lang="en-US" altLang="zh-CN" b="1">
                <a:solidFill>
                  <a:srgbClr val="000066"/>
                </a:solidFill>
                <a:latin typeface="Times New Roman" panose="02020603050405020304" pitchFamily="18" charset="0"/>
              </a:endParaRPr>
            </a:p>
          </p:txBody>
        </p:sp>
      </p:grpSp>
      <p:sp>
        <p:nvSpPr>
          <p:cNvPr id="194" name="Text Box 20"/>
          <p:cNvSpPr txBox="1">
            <a:spLocks noChangeArrowheads="1"/>
          </p:cNvSpPr>
          <p:nvPr/>
        </p:nvSpPr>
        <p:spPr bwMode="auto">
          <a:xfrm>
            <a:off x="7118350" y="2211388"/>
            <a:ext cx="268288"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CC0066"/>
                </a:solidFill>
                <a:latin typeface="Times New Roman" panose="02020603050405020304" pitchFamily="18" charset="0"/>
              </a:rPr>
              <a:t>×</a:t>
            </a:r>
            <a:endParaRPr lang="en-US" altLang="zh-CN" sz="2000" b="1">
              <a:solidFill>
                <a:srgbClr val="CC0066"/>
              </a:solidFill>
              <a:latin typeface="Times New Roman" panose="02020603050405020304" pitchFamily="18" charset="0"/>
            </a:endParaRPr>
          </a:p>
        </p:txBody>
      </p:sp>
      <p:sp>
        <p:nvSpPr>
          <p:cNvPr id="196" name="Text Box 46"/>
          <p:cNvSpPr txBox="1">
            <a:spLocks noChangeArrowheads="1"/>
          </p:cNvSpPr>
          <p:nvPr/>
        </p:nvSpPr>
        <p:spPr bwMode="auto">
          <a:xfrm>
            <a:off x="774700" y="3259138"/>
            <a:ext cx="2667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CC0066"/>
                </a:solidFill>
                <a:latin typeface="Times New Roman" panose="02020603050405020304" pitchFamily="18" charset="0"/>
              </a:rPr>
              <a:t>×</a:t>
            </a:r>
            <a:endParaRPr lang="en-US" altLang="zh-CN" sz="2000" b="1">
              <a:solidFill>
                <a:srgbClr val="CC0066"/>
              </a:solidFill>
              <a:latin typeface="Times New Roman" panose="02020603050405020304" pitchFamily="18" charset="0"/>
            </a:endParaRPr>
          </a:p>
        </p:txBody>
      </p:sp>
      <p:sp>
        <p:nvSpPr>
          <p:cNvPr id="197" name="Text Box 46"/>
          <p:cNvSpPr txBox="1">
            <a:spLocks noChangeArrowheads="1"/>
          </p:cNvSpPr>
          <p:nvPr/>
        </p:nvSpPr>
        <p:spPr bwMode="auto">
          <a:xfrm>
            <a:off x="2009775" y="3282950"/>
            <a:ext cx="2667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CC0066"/>
                </a:solidFill>
                <a:latin typeface="Times New Roman" panose="02020603050405020304" pitchFamily="18" charset="0"/>
              </a:rPr>
              <a:t>×</a:t>
            </a:r>
            <a:endParaRPr lang="en-US" altLang="zh-CN" sz="2000" b="1">
              <a:solidFill>
                <a:srgbClr val="CC0066"/>
              </a:solidFill>
              <a:latin typeface="Times New Roman" panose="02020603050405020304" pitchFamily="18" charset="0"/>
            </a:endParaRPr>
          </a:p>
        </p:txBody>
      </p:sp>
      <p:sp>
        <p:nvSpPr>
          <p:cNvPr id="198" name="Text Box 46"/>
          <p:cNvSpPr txBox="1">
            <a:spLocks noChangeArrowheads="1"/>
          </p:cNvSpPr>
          <p:nvPr/>
        </p:nvSpPr>
        <p:spPr bwMode="auto">
          <a:xfrm>
            <a:off x="4051300" y="3282950"/>
            <a:ext cx="2667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CC0066"/>
                </a:solidFill>
                <a:latin typeface="Times New Roman" panose="02020603050405020304" pitchFamily="18" charset="0"/>
              </a:rPr>
              <a:t>×</a:t>
            </a:r>
            <a:endParaRPr lang="en-US" altLang="zh-CN" sz="2000" b="1">
              <a:solidFill>
                <a:srgbClr val="CC0066"/>
              </a:solidFill>
              <a:latin typeface="Times New Roman" panose="02020603050405020304" pitchFamily="18" charset="0"/>
            </a:endParaRPr>
          </a:p>
        </p:txBody>
      </p:sp>
      <p:sp>
        <p:nvSpPr>
          <p:cNvPr id="200" name="Text Box 58"/>
          <p:cNvSpPr txBox="1">
            <a:spLocks noChangeArrowheads="1"/>
          </p:cNvSpPr>
          <p:nvPr/>
        </p:nvSpPr>
        <p:spPr bwMode="auto">
          <a:xfrm>
            <a:off x="7481888" y="5426075"/>
            <a:ext cx="2667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96000"/>
              </a:lnSpc>
            </a:pPr>
            <a:r>
              <a:rPr lang="en-US" altLang="zh-CN" sz="2000" b="1">
                <a:solidFill>
                  <a:srgbClr val="CC0066"/>
                </a:solidFill>
                <a:latin typeface="Times New Roman" panose="02020603050405020304" pitchFamily="18" charset="0"/>
              </a:rPr>
              <a:t>×</a:t>
            </a:r>
            <a:endParaRPr lang="en-US" altLang="zh-CN" sz="2000" b="1">
              <a:solidFill>
                <a:srgbClr val="CC0066"/>
              </a:solidFill>
              <a:latin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wipe(up)">
                                      <p:cBhvr>
                                        <p:cTn id="7" dur="500"/>
                                        <p:tgtEl>
                                          <p:spTgt spid="10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6"/>
                                        </p:tgtEl>
                                        <p:attrNameLst>
                                          <p:attrName>style.visibility</p:attrName>
                                        </p:attrNameLst>
                                      </p:cBhvr>
                                      <p:to>
                                        <p:strVal val="visible"/>
                                      </p:to>
                                    </p:set>
                                    <p:animEffect transition="in" filter="wipe(up)">
                                      <p:cBhvr>
                                        <p:cTn id="10" dur="500"/>
                                        <p:tgtEl>
                                          <p:spTgt spid="106"/>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07"/>
                                        </p:tgtEl>
                                        <p:attrNameLst>
                                          <p:attrName>style.visibility</p:attrName>
                                        </p:attrNameLst>
                                      </p:cBhvr>
                                      <p:to>
                                        <p:strVal val="visible"/>
                                      </p:to>
                                    </p:set>
                                    <p:animEffect transition="in" filter="wipe(up)">
                                      <p:cBhvr>
                                        <p:cTn id="13" dur="500"/>
                                        <p:tgtEl>
                                          <p:spTgt spid="107"/>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08"/>
                                        </p:tgtEl>
                                        <p:attrNameLst>
                                          <p:attrName>style.visibility</p:attrName>
                                        </p:attrNameLst>
                                      </p:cBhvr>
                                      <p:to>
                                        <p:strVal val="visible"/>
                                      </p:to>
                                    </p:set>
                                    <p:animEffect transition="in" filter="wipe(up)">
                                      <p:cBhvr>
                                        <p:cTn id="16" dur="500"/>
                                        <p:tgtEl>
                                          <p:spTgt spid="108"/>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10"/>
                                        </p:tgtEl>
                                        <p:attrNameLst>
                                          <p:attrName>style.visibility</p:attrName>
                                        </p:attrNameLst>
                                      </p:cBhvr>
                                      <p:to>
                                        <p:strVal val="visible"/>
                                      </p:to>
                                    </p:set>
                                    <p:animEffect transition="in" filter="wipe(up)">
                                      <p:cBhvr>
                                        <p:cTn id="19" dur="500"/>
                                        <p:tgtEl>
                                          <p:spTgt spid="11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03"/>
                                        </p:tgtEl>
                                        <p:attrNameLst>
                                          <p:attrName>style.visibility</p:attrName>
                                        </p:attrNameLst>
                                      </p:cBhvr>
                                      <p:to>
                                        <p:strVal val="visible"/>
                                      </p:to>
                                    </p:set>
                                    <p:animEffect transition="in" filter="wipe(up)">
                                      <p:cBhvr>
                                        <p:cTn id="22" dur="500"/>
                                        <p:tgtEl>
                                          <p:spTgt spid="103"/>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wipe(up)">
                                      <p:cBhvr>
                                        <p:cTn id="25" dur="500"/>
                                        <p:tgtEl>
                                          <p:spTgt spid="104"/>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111"/>
                                        </p:tgtEl>
                                        <p:attrNameLst>
                                          <p:attrName>style.visibility</p:attrName>
                                        </p:attrNameLst>
                                      </p:cBhvr>
                                      <p:to>
                                        <p:strVal val="visible"/>
                                      </p:to>
                                    </p:set>
                                    <p:animEffect transition="in" filter="wipe(up)">
                                      <p:cBhvr>
                                        <p:cTn id="28" dur="500"/>
                                        <p:tgtEl>
                                          <p:spTgt spid="111"/>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19"/>
                                        </p:tgtEl>
                                        <p:attrNameLst>
                                          <p:attrName>style.visibility</p:attrName>
                                        </p:attrNameLst>
                                      </p:cBhvr>
                                      <p:to>
                                        <p:strVal val="visible"/>
                                      </p:to>
                                    </p:set>
                                    <p:animEffect transition="in" filter="wipe(up)">
                                      <p:cBhvr>
                                        <p:cTn id="31" dur="500"/>
                                        <p:tgtEl>
                                          <p:spTgt spid="119"/>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20"/>
                                        </p:tgtEl>
                                        <p:attrNameLst>
                                          <p:attrName>style.visibility</p:attrName>
                                        </p:attrNameLst>
                                      </p:cBhvr>
                                      <p:to>
                                        <p:strVal val="visible"/>
                                      </p:to>
                                    </p:set>
                                    <p:animEffect transition="in" filter="wipe(up)">
                                      <p:cBhvr>
                                        <p:cTn id="34" dur="500"/>
                                        <p:tgtEl>
                                          <p:spTgt spid="120"/>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02"/>
                                        </p:tgtEl>
                                        <p:attrNameLst>
                                          <p:attrName>style.visibility</p:attrName>
                                        </p:attrNameLst>
                                      </p:cBhvr>
                                      <p:to>
                                        <p:strVal val="visible"/>
                                      </p:to>
                                    </p:set>
                                    <p:animEffect transition="in" filter="wipe(up)">
                                      <p:cBhvr>
                                        <p:cTn id="37" dur="500"/>
                                        <p:tgtEl>
                                          <p:spTgt spid="102"/>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21"/>
                                        </p:tgtEl>
                                        <p:attrNameLst>
                                          <p:attrName>style.visibility</p:attrName>
                                        </p:attrNameLst>
                                      </p:cBhvr>
                                      <p:to>
                                        <p:strVal val="visible"/>
                                      </p:to>
                                    </p:set>
                                    <p:animEffect transition="in" filter="wipe(up)">
                                      <p:cBhvr>
                                        <p:cTn id="40" dur="500"/>
                                        <p:tgtEl>
                                          <p:spTgt spid="121"/>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22"/>
                                        </p:tgtEl>
                                        <p:attrNameLst>
                                          <p:attrName>style.visibility</p:attrName>
                                        </p:attrNameLst>
                                      </p:cBhvr>
                                      <p:to>
                                        <p:strVal val="visible"/>
                                      </p:to>
                                    </p:set>
                                    <p:animEffect transition="in" filter="wipe(up)">
                                      <p:cBhvr>
                                        <p:cTn id="43" dur="500"/>
                                        <p:tgtEl>
                                          <p:spTgt spid="122"/>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112"/>
                                        </p:tgtEl>
                                        <p:attrNameLst>
                                          <p:attrName>style.visibility</p:attrName>
                                        </p:attrNameLst>
                                      </p:cBhvr>
                                      <p:to>
                                        <p:strVal val="visible"/>
                                      </p:to>
                                    </p:set>
                                    <p:animEffect transition="in" filter="wipe(up)">
                                      <p:cBhvr>
                                        <p:cTn id="46" dur="500"/>
                                        <p:tgtEl>
                                          <p:spTgt spid="112"/>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123"/>
                                        </p:tgtEl>
                                        <p:attrNameLst>
                                          <p:attrName>style.visibility</p:attrName>
                                        </p:attrNameLst>
                                      </p:cBhvr>
                                      <p:to>
                                        <p:strVal val="visible"/>
                                      </p:to>
                                    </p:set>
                                    <p:animEffect transition="in" filter="wipe(up)">
                                      <p:cBhvr>
                                        <p:cTn id="49" dur="500"/>
                                        <p:tgtEl>
                                          <p:spTgt spid="123"/>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124"/>
                                        </p:tgtEl>
                                        <p:attrNameLst>
                                          <p:attrName>style.visibility</p:attrName>
                                        </p:attrNameLst>
                                      </p:cBhvr>
                                      <p:to>
                                        <p:strVal val="visible"/>
                                      </p:to>
                                    </p:set>
                                    <p:animEffect transition="in" filter="wipe(up)">
                                      <p:cBhvr>
                                        <p:cTn id="52" dur="500"/>
                                        <p:tgtEl>
                                          <p:spTgt spid="124"/>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74"/>
                                        </p:tgtEl>
                                        <p:attrNameLst>
                                          <p:attrName>style.visibility</p:attrName>
                                        </p:attrNameLst>
                                      </p:cBhvr>
                                      <p:to>
                                        <p:strVal val="visible"/>
                                      </p:to>
                                    </p:set>
                                    <p:anim calcmode="lin" valueType="num">
                                      <p:cBhvr additive="base">
                                        <p:cTn id="67" dur="500" fill="hold"/>
                                        <p:tgtEl>
                                          <p:spTgt spid="174"/>
                                        </p:tgtEl>
                                        <p:attrNameLst>
                                          <p:attrName>ppt_x</p:attrName>
                                        </p:attrNameLst>
                                      </p:cBhvr>
                                      <p:tavLst>
                                        <p:tav tm="0">
                                          <p:val>
                                            <p:strVal val="0-#ppt_w/2"/>
                                          </p:val>
                                        </p:tav>
                                        <p:tav tm="100000">
                                          <p:val>
                                            <p:strVal val="#ppt_x"/>
                                          </p:val>
                                        </p:tav>
                                      </p:tavLst>
                                    </p:anim>
                                    <p:anim calcmode="lin" valueType="num">
                                      <p:cBhvr additive="base">
                                        <p:cTn id="68" dur="500" fill="hold"/>
                                        <p:tgtEl>
                                          <p:spTgt spid="17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8" presetClass="entr" presetSubtype="32" fill="hold" grpId="0" nodeType="clickEffect">
                                  <p:stCondLst>
                                    <p:cond delay="0"/>
                                  </p:stCondLst>
                                  <p:childTnLst>
                                    <p:set>
                                      <p:cBhvr>
                                        <p:cTn id="72" dur="1" fill="hold">
                                          <p:stCondLst>
                                            <p:cond delay="0"/>
                                          </p:stCondLst>
                                        </p:cTn>
                                        <p:tgtEl>
                                          <p:spTgt spid="175"/>
                                        </p:tgtEl>
                                        <p:attrNameLst>
                                          <p:attrName>style.visibility</p:attrName>
                                        </p:attrNameLst>
                                      </p:cBhvr>
                                      <p:to>
                                        <p:strVal val="visible"/>
                                      </p:to>
                                    </p:set>
                                    <p:animEffect transition="in" filter="diamond(out)">
                                      <p:cBhvr>
                                        <p:cTn id="73" dur="500"/>
                                        <p:tgtEl>
                                          <p:spTgt spid="17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109"/>
                                        </p:tgtEl>
                                        <p:attrNameLst>
                                          <p:attrName>style.visibility</p:attrName>
                                        </p:attrNameLst>
                                      </p:cBhvr>
                                      <p:to>
                                        <p:strVal val="visible"/>
                                      </p:to>
                                    </p:set>
                                    <p:animEffect transition="in" filter="wipe(up)">
                                      <p:cBhvr>
                                        <p:cTn id="78" dur="500"/>
                                        <p:tgtEl>
                                          <p:spTgt spid="109"/>
                                        </p:tgtEl>
                                      </p:cBhvr>
                                    </p:animEffect>
                                  </p:childTnLst>
                                </p:cTn>
                              </p:par>
                              <p:par>
                                <p:cTn id="79" presetID="22" presetClass="entr" presetSubtype="1" fill="hold" grpId="0" nodeType="withEffect">
                                  <p:stCondLst>
                                    <p:cond delay="0"/>
                                  </p:stCondLst>
                                  <p:childTnLst>
                                    <p:set>
                                      <p:cBhvr>
                                        <p:cTn id="80" dur="1" fill="hold">
                                          <p:stCondLst>
                                            <p:cond delay="0"/>
                                          </p:stCondLst>
                                        </p:cTn>
                                        <p:tgtEl>
                                          <p:spTgt spid="137"/>
                                        </p:tgtEl>
                                        <p:attrNameLst>
                                          <p:attrName>style.visibility</p:attrName>
                                        </p:attrNameLst>
                                      </p:cBhvr>
                                      <p:to>
                                        <p:strVal val="visible"/>
                                      </p:to>
                                    </p:set>
                                    <p:animEffect transition="in" filter="wipe(up)">
                                      <p:cBhvr>
                                        <p:cTn id="81" dur="500"/>
                                        <p:tgtEl>
                                          <p:spTgt spid="137"/>
                                        </p:tgtEl>
                                      </p:cBhvr>
                                    </p:animEffect>
                                  </p:childTnLst>
                                </p:cTn>
                              </p:par>
                              <p:par>
                                <p:cTn id="82" presetID="22" presetClass="entr" presetSubtype="1" fill="hold" grpId="0" nodeType="withEffect">
                                  <p:stCondLst>
                                    <p:cond delay="0"/>
                                  </p:stCondLst>
                                  <p:childTnLst>
                                    <p:set>
                                      <p:cBhvr>
                                        <p:cTn id="83" dur="1" fill="hold">
                                          <p:stCondLst>
                                            <p:cond delay="0"/>
                                          </p:stCondLst>
                                        </p:cTn>
                                        <p:tgtEl>
                                          <p:spTgt spid="138"/>
                                        </p:tgtEl>
                                        <p:attrNameLst>
                                          <p:attrName>style.visibility</p:attrName>
                                        </p:attrNameLst>
                                      </p:cBhvr>
                                      <p:to>
                                        <p:strVal val="visible"/>
                                      </p:to>
                                    </p:set>
                                    <p:animEffect transition="in" filter="wipe(up)">
                                      <p:cBhvr>
                                        <p:cTn id="84" dur="500"/>
                                        <p:tgtEl>
                                          <p:spTgt spid="138"/>
                                        </p:tgtEl>
                                      </p:cBhvr>
                                    </p:animEffect>
                                  </p:childTnLst>
                                </p:cTn>
                              </p:par>
                              <p:par>
                                <p:cTn id="85" presetID="22" presetClass="entr" presetSubtype="1" fill="hold" grpId="0" nodeType="withEffect">
                                  <p:stCondLst>
                                    <p:cond delay="0"/>
                                  </p:stCondLst>
                                  <p:childTnLst>
                                    <p:set>
                                      <p:cBhvr>
                                        <p:cTn id="86" dur="1" fill="hold">
                                          <p:stCondLst>
                                            <p:cond delay="0"/>
                                          </p:stCondLst>
                                        </p:cTn>
                                        <p:tgtEl>
                                          <p:spTgt spid="113"/>
                                        </p:tgtEl>
                                        <p:attrNameLst>
                                          <p:attrName>style.visibility</p:attrName>
                                        </p:attrNameLst>
                                      </p:cBhvr>
                                      <p:to>
                                        <p:strVal val="visible"/>
                                      </p:to>
                                    </p:set>
                                    <p:animEffect transition="in" filter="wipe(up)">
                                      <p:cBhvr>
                                        <p:cTn id="87" dur="500"/>
                                        <p:tgtEl>
                                          <p:spTgt spid="113"/>
                                        </p:tgtEl>
                                      </p:cBhvr>
                                    </p:animEffect>
                                  </p:childTnLst>
                                </p:cTn>
                              </p:par>
                              <p:par>
                                <p:cTn id="88" presetID="22" presetClass="entr" presetSubtype="1" fill="hold" grpId="0" nodeType="withEffect">
                                  <p:stCondLst>
                                    <p:cond delay="0"/>
                                  </p:stCondLst>
                                  <p:childTnLst>
                                    <p:set>
                                      <p:cBhvr>
                                        <p:cTn id="89" dur="1" fill="hold">
                                          <p:stCondLst>
                                            <p:cond delay="0"/>
                                          </p:stCondLst>
                                        </p:cTn>
                                        <p:tgtEl>
                                          <p:spTgt spid="125"/>
                                        </p:tgtEl>
                                        <p:attrNameLst>
                                          <p:attrName>style.visibility</p:attrName>
                                        </p:attrNameLst>
                                      </p:cBhvr>
                                      <p:to>
                                        <p:strVal val="visible"/>
                                      </p:to>
                                    </p:set>
                                    <p:animEffect transition="in" filter="wipe(up)">
                                      <p:cBhvr>
                                        <p:cTn id="90" dur="500"/>
                                        <p:tgtEl>
                                          <p:spTgt spid="125"/>
                                        </p:tgtEl>
                                      </p:cBhvr>
                                    </p:animEffect>
                                  </p:childTnLst>
                                </p:cTn>
                              </p:par>
                              <p:par>
                                <p:cTn id="91" presetID="22" presetClass="entr" presetSubtype="1" fill="hold" grpId="0" nodeType="withEffect">
                                  <p:stCondLst>
                                    <p:cond delay="0"/>
                                  </p:stCondLst>
                                  <p:childTnLst>
                                    <p:set>
                                      <p:cBhvr>
                                        <p:cTn id="92" dur="1" fill="hold">
                                          <p:stCondLst>
                                            <p:cond delay="0"/>
                                          </p:stCondLst>
                                        </p:cTn>
                                        <p:tgtEl>
                                          <p:spTgt spid="126"/>
                                        </p:tgtEl>
                                        <p:attrNameLst>
                                          <p:attrName>style.visibility</p:attrName>
                                        </p:attrNameLst>
                                      </p:cBhvr>
                                      <p:to>
                                        <p:strVal val="visible"/>
                                      </p:to>
                                    </p:set>
                                    <p:animEffect transition="in" filter="wipe(up)">
                                      <p:cBhvr>
                                        <p:cTn id="93" dur="500"/>
                                        <p:tgtEl>
                                          <p:spTgt spid="126"/>
                                        </p:tgtEl>
                                      </p:cBhvr>
                                    </p:animEffect>
                                  </p:childTnLst>
                                </p:cTn>
                              </p:par>
                              <p:par>
                                <p:cTn id="94" presetID="22" presetClass="entr" presetSubtype="1" fill="hold" grpId="0" nodeType="withEffect">
                                  <p:stCondLst>
                                    <p:cond delay="0"/>
                                  </p:stCondLst>
                                  <p:childTnLst>
                                    <p:set>
                                      <p:cBhvr>
                                        <p:cTn id="95" dur="1" fill="hold">
                                          <p:stCondLst>
                                            <p:cond delay="0"/>
                                          </p:stCondLst>
                                        </p:cTn>
                                        <p:tgtEl>
                                          <p:spTgt spid="114"/>
                                        </p:tgtEl>
                                        <p:attrNameLst>
                                          <p:attrName>style.visibility</p:attrName>
                                        </p:attrNameLst>
                                      </p:cBhvr>
                                      <p:to>
                                        <p:strVal val="visible"/>
                                      </p:to>
                                    </p:set>
                                    <p:animEffect transition="in" filter="wipe(up)">
                                      <p:cBhvr>
                                        <p:cTn id="96" dur="500"/>
                                        <p:tgtEl>
                                          <p:spTgt spid="114"/>
                                        </p:tgtEl>
                                      </p:cBhvr>
                                    </p:animEffect>
                                  </p:childTnLst>
                                </p:cTn>
                              </p:par>
                              <p:par>
                                <p:cTn id="97" presetID="22" presetClass="entr" presetSubtype="1" fill="hold" grpId="0" nodeType="withEffect">
                                  <p:stCondLst>
                                    <p:cond delay="0"/>
                                  </p:stCondLst>
                                  <p:childTnLst>
                                    <p:set>
                                      <p:cBhvr>
                                        <p:cTn id="98" dur="1" fill="hold">
                                          <p:stCondLst>
                                            <p:cond delay="0"/>
                                          </p:stCondLst>
                                        </p:cTn>
                                        <p:tgtEl>
                                          <p:spTgt spid="127"/>
                                        </p:tgtEl>
                                        <p:attrNameLst>
                                          <p:attrName>style.visibility</p:attrName>
                                        </p:attrNameLst>
                                      </p:cBhvr>
                                      <p:to>
                                        <p:strVal val="visible"/>
                                      </p:to>
                                    </p:set>
                                    <p:animEffect transition="in" filter="wipe(up)">
                                      <p:cBhvr>
                                        <p:cTn id="99" dur="500"/>
                                        <p:tgtEl>
                                          <p:spTgt spid="127"/>
                                        </p:tgtEl>
                                      </p:cBhvr>
                                    </p:animEffect>
                                  </p:childTnLst>
                                </p:cTn>
                              </p:par>
                              <p:par>
                                <p:cTn id="100" presetID="22" presetClass="entr" presetSubtype="1" fill="hold" grpId="0" nodeType="withEffect">
                                  <p:stCondLst>
                                    <p:cond delay="0"/>
                                  </p:stCondLst>
                                  <p:childTnLst>
                                    <p:set>
                                      <p:cBhvr>
                                        <p:cTn id="101" dur="1" fill="hold">
                                          <p:stCondLst>
                                            <p:cond delay="0"/>
                                          </p:stCondLst>
                                        </p:cTn>
                                        <p:tgtEl>
                                          <p:spTgt spid="128"/>
                                        </p:tgtEl>
                                        <p:attrNameLst>
                                          <p:attrName>style.visibility</p:attrName>
                                        </p:attrNameLst>
                                      </p:cBhvr>
                                      <p:to>
                                        <p:strVal val="visible"/>
                                      </p:to>
                                    </p:set>
                                    <p:animEffect transition="in" filter="wipe(up)">
                                      <p:cBhvr>
                                        <p:cTn id="102" dur="500"/>
                                        <p:tgtEl>
                                          <p:spTgt spid="128"/>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115"/>
                                        </p:tgtEl>
                                        <p:attrNameLst>
                                          <p:attrName>style.visibility</p:attrName>
                                        </p:attrNameLst>
                                      </p:cBhvr>
                                      <p:to>
                                        <p:strVal val="visible"/>
                                      </p:to>
                                    </p:set>
                                    <p:animEffect transition="in" filter="wipe(up)">
                                      <p:cBhvr>
                                        <p:cTn id="105" dur="500"/>
                                        <p:tgtEl>
                                          <p:spTgt spid="115"/>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129"/>
                                        </p:tgtEl>
                                        <p:attrNameLst>
                                          <p:attrName>style.visibility</p:attrName>
                                        </p:attrNameLst>
                                      </p:cBhvr>
                                      <p:to>
                                        <p:strVal val="visible"/>
                                      </p:to>
                                    </p:set>
                                    <p:animEffect transition="in" filter="wipe(up)">
                                      <p:cBhvr>
                                        <p:cTn id="108" dur="500"/>
                                        <p:tgtEl>
                                          <p:spTgt spid="129"/>
                                        </p:tgtEl>
                                      </p:cBhvr>
                                    </p:animEffect>
                                  </p:childTnLst>
                                </p:cTn>
                              </p:par>
                              <p:par>
                                <p:cTn id="109" presetID="22" presetClass="entr" presetSubtype="1" fill="hold" grpId="0" nodeType="withEffect">
                                  <p:stCondLst>
                                    <p:cond delay="0"/>
                                  </p:stCondLst>
                                  <p:childTnLst>
                                    <p:set>
                                      <p:cBhvr>
                                        <p:cTn id="110" dur="1" fill="hold">
                                          <p:stCondLst>
                                            <p:cond delay="0"/>
                                          </p:stCondLst>
                                        </p:cTn>
                                        <p:tgtEl>
                                          <p:spTgt spid="130"/>
                                        </p:tgtEl>
                                        <p:attrNameLst>
                                          <p:attrName>style.visibility</p:attrName>
                                        </p:attrNameLst>
                                      </p:cBhvr>
                                      <p:to>
                                        <p:strVal val="visible"/>
                                      </p:to>
                                    </p:set>
                                    <p:animEffect transition="in" filter="wipe(up)">
                                      <p:cBhvr>
                                        <p:cTn id="111" dur="500"/>
                                        <p:tgtEl>
                                          <p:spTgt spid="130"/>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196"/>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197"/>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177"/>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142"/>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2" presetClass="entr" presetSubtype="8" fill="hold" grpId="0" nodeType="clickEffect">
                                  <p:stCondLst>
                                    <p:cond delay="0"/>
                                  </p:stCondLst>
                                  <p:childTnLst>
                                    <p:set>
                                      <p:cBhvr>
                                        <p:cTn id="129" dur="1" fill="hold">
                                          <p:stCondLst>
                                            <p:cond delay="0"/>
                                          </p:stCondLst>
                                        </p:cTn>
                                        <p:tgtEl>
                                          <p:spTgt spid="189"/>
                                        </p:tgtEl>
                                        <p:attrNameLst>
                                          <p:attrName>style.visibility</p:attrName>
                                        </p:attrNameLst>
                                      </p:cBhvr>
                                      <p:to>
                                        <p:strVal val="visible"/>
                                      </p:to>
                                    </p:set>
                                    <p:anim calcmode="lin" valueType="num">
                                      <p:cBhvr additive="base">
                                        <p:cTn id="130" dur="500" fill="hold"/>
                                        <p:tgtEl>
                                          <p:spTgt spid="189"/>
                                        </p:tgtEl>
                                        <p:attrNameLst>
                                          <p:attrName>ppt_x</p:attrName>
                                        </p:attrNameLst>
                                      </p:cBhvr>
                                      <p:tavLst>
                                        <p:tav tm="0">
                                          <p:val>
                                            <p:strVal val="0-#ppt_w/2"/>
                                          </p:val>
                                        </p:tav>
                                        <p:tav tm="100000">
                                          <p:val>
                                            <p:strVal val="#ppt_x"/>
                                          </p:val>
                                        </p:tav>
                                      </p:tavLst>
                                    </p:anim>
                                    <p:anim calcmode="lin" valueType="num">
                                      <p:cBhvr additive="base">
                                        <p:cTn id="131" dur="500" fill="hold"/>
                                        <p:tgtEl>
                                          <p:spTgt spid="189"/>
                                        </p:tgtEl>
                                        <p:attrNameLst>
                                          <p:attrName>ppt_y</p:attrName>
                                        </p:attrNameLst>
                                      </p:cBhvr>
                                      <p:tavLst>
                                        <p:tav tm="0">
                                          <p:val>
                                            <p:strVal val="#ppt_y"/>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8" presetClass="entr" presetSubtype="32" fill="hold" grpId="0" nodeType="clickEffect">
                                  <p:stCondLst>
                                    <p:cond delay="0"/>
                                  </p:stCondLst>
                                  <p:childTnLst>
                                    <p:set>
                                      <p:cBhvr>
                                        <p:cTn id="135" dur="1" fill="hold">
                                          <p:stCondLst>
                                            <p:cond delay="0"/>
                                          </p:stCondLst>
                                        </p:cTn>
                                        <p:tgtEl>
                                          <p:spTgt spid="176"/>
                                        </p:tgtEl>
                                        <p:attrNameLst>
                                          <p:attrName>style.visibility</p:attrName>
                                        </p:attrNameLst>
                                      </p:cBhvr>
                                      <p:to>
                                        <p:strVal val="visible"/>
                                      </p:to>
                                    </p:set>
                                    <p:animEffect transition="in" filter="diamond(out)">
                                      <p:cBhvr>
                                        <p:cTn id="136" dur="500"/>
                                        <p:tgtEl>
                                          <p:spTgt spid="176"/>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1" fill="hold" grpId="0" nodeType="clickEffect">
                                  <p:stCondLst>
                                    <p:cond delay="0"/>
                                  </p:stCondLst>
                                  <p:childTnLst>
                                    <p:set>
                                      <p:cBhvr>
                                        <p:cTn id="140" dur="1" fill="hold">
                                          <p:stCondLst>
                                            <p:cond delay="0"/>
                                          </p:stCondLst>
                                        </p:cTn>
                                        <p:tgtEl>
                                          <p:spTgt spid="139"/>
                                        </p:tgtEl>
                                        <p:attrNameLst>
                                          <p:attrName>style.visibility</p:attrName>
                                        </p:attrNameLst>
                                      </p:cBhvr>
                                      <p:to>
                                        <p:strVal val="visible"/>
                                      </p:to>
                                    </p:set>
                                    <p:animEffect transition="in" filter="wipe(up)">
                                      <p:cBhvr>
                                        <p:cTn id="141" dur="500"/>
                                        <p:tgtEl>
                                          <p:spTgt spid="139"/>
                                        </p:tgtEl>
                                      </p:cBhvr>
                                    </p:animEffect>
                                  </p:childTnLst>
                                </p:cTn>
                              </p:par>
                              <p:par>
                                <p:cTn id="142" presetID="22" presetClass="entr" presetSubtype="1" fill="hold" grpId="0" nodeType="withEffect">
                                  <p:stCondLst>
                                    <p:cond delay="0"/>
                                  </p:stCondLst>
                                  <p:childTnLst>
                                    <p:set>
                                      <p:cBhvr>
                                        <p:cTn id="143" dur="1" fill="hold">
                                          <p:stCondLst>
                                            <p:cond delay="0"/>
                                          </p:stCondLst>
                                        </p:cTn>
                                        <p:tgtEl>
                                          <p:spTgt spid="140"/>
                                        </p:tgtEl>
                                        <p:attrNameLst>
                                          <p:attrName>style.visibility</p:attrName>
                                        </p:attrNameLst>
                                      </p:cBhvr>
                                      <p:to>
                                        <p:strVal val="visible"/>
                                      </p:to>
                                    </p:set>
                                    <p:animEffect transition="in" filter="wipe(up)">
                                      <p:cBhvr>
                                        <p:cTn id="144" dur="500"/>
                                        <p:tgtEl>
                                          <p:spTgt spid="140"/>
                                        </p:tgtEl>
                                      </p:cBhvr>
                                    </p:animEffect>
                                  </p:childTnLst>
                                </p:cTn>
                              </p:par>
                              <p:par>
                                <p:cTn id="145" presetID="22" presetClass="entr" presetSubtype="1" fill="hold" grpId="0" nodeType="withEffect">
                                  <p:stCondLst>
                                    <p:cond delay="0"/>
                                  </p:stCondLst>
                                  <p:childTnLst>
                                    <p:set>
                                      <p:cBhvr>
                                        <p:cTn id="146" dur="1" fill="hold">
                                          <p:stCondLst>
                                            <p:cond delay="0"/>
                                          </p:stCondLst>
                                        </p:cTn>
                                        <p:tgtEl>
                                          <p:spTgt spid="141"/>
                                        </p:tgtEl>
                                        <p:attrNameLst>
                                          <p:attrName>style.visibility</p:attrName>
                                        </p:attrNameLst>
                                      </p:cBhvr>
                                      <p:to>
                                        <p:strVal val="visible"/>
                                      </p:to>
                                    </p:set>
                                    <p:animEffect transition="in" filter="wipe(up)">
                                      <p:cBhvr>
                                        <p:cTn id="147" dur="500"/>
                                        <p:tgtEl>
                                          <p:spTgt spid="141"/>
                                        </p:tgtEl>
                                      </p:cBhvr>
                                    </p:animEffect>
                                  </p:childTnLst>
                                </p:cTn>
                              </p:par>
                              <p:par>
                                <p:cTn id="148" presetID="22" presetClass="entr" presetSubtype="1" fill="hold" grpId="0" nodeType="withEffect">
                                  <p:stCondLst>
                                    <p:cond delay="0"/>
                                  </p:stCondLst>
                                  <p:childTnLst>
                                    <p:set>
                                      <p:cBhvr>
                                        <p:cTn id="149" dur="1" fill="hold">
                                          <p:stCondLst>
                                            <p:cond delay="0"/>
                                          </p:stCondLst>
                                        </p:cTn>
                                        <p:tgtEl>
                                          <p:spTgt spid="143"/>
                                        </p:tgtEl>
                                        <p:attrNameLst>
                                          <p:attrName>style.visibility</p:attrName>
                                        </p:attrNameLst>
                                      </p:cBhvr>
                                      <p:to>
                                        <p:strVal val="visible"/>
                                      </p:to>
                                    </p:set>
                                    <p:animEffect transition="in" filter="wipe(up)">
                                      <p:cBhvr>
                                        <p:cTn id="150" dur="500"/>
                                        <p:tgtEl>
                                          <p:spTgt spid="143"/>
                                        </p:tgtEl>
                                      </p:cBhvr>
                                    </p:animEffect>
                                  </p:childTnLst>
                                </p:cTn>
                              </p:par>
                              <p:par>
                                <p:cTn id="151" presetID="22" presetClass="entr" presetSubtype="1" fill="hold" grpId="0" nodeType="withEffect">
                                  <p:stCondLst>
                                    <p:cond delay="0"/>
                                  </p:stCondLst>
                                  <p:childTnLst>
                                    <p:set>
                                      <p:cBhvr>
                                        <p:cTn id="152" dur="1" fill="hold">
                                          <p:stCondLst>
                                            <p:cond delay="0"/>
                                          </p:stCondLst>
                                        </p:cTn>
                                        <p:tgtEl>
                                          <p:spTgt spid="131"/>
                                        </p:tgtEl>
                                        <p:attrNameLst>
                                          <p:attrName>style.visibility</p:attrName>
                                        </p:attrNameLst>
                                      </p:cBhvr>
                                      <p:to>
                                        <p:strVal val="visible"/>
                                      </p:to>
                                    </p:set>
                                    <p:animEffect transition="in" filter="wipe(up)">
                                      <p:cBhvr>
                                        <p:cTn id="153" dur="500"/>
                                        <p:tgtEl>
                                          <p:spTgt spid="131"/>
                                        </p:tgtEl>
                                      </p:cBhvr>
                                    </p:animEffect>
                                  </p:childTnLst>
                                </p:cTn>
                              </p:par>
                              <p:par>
                                <p:cTn id="154" presetID="22" presetClass="entr" presetSubtype="1" fill="hold" grpId="0" nodeType="withEffect">
                                  <p:stCondLst>
                                    <p:cond delay="0"/>
                                  </p:stCondLst>
                                  <p:childTnLst>
                                    <p:set>
                                      <p:cBhvr>
                                        <p:cTn id="155" dur="1" fill="hold">
                                          <p:stCondLst>
                                            <p:cond delay="0"/>
                                          </p:stCondLst>
                                        </p:cTn>
                                        <p:tgtEl>
                                          <p:spTgt spid="132"/>
                                        </p:tgtEl>
                                        <p:attrNameLst>
                                          <p:attrName>style.visibility</p:attrName>
                                        </p:attrNameLst>
                                      </p:cBhvr>
                                      <p:to>
                                        <p:strVal val="visible"/>
                                      </p:to>
                                    </p:set>
                                    <p:animEffect transition="in" filter="wipe(up)">
                                      <p:cBhvr>
                                        <p:cTn id="156" dur="500"/>
                                        <p:tgtEl>
                                          <p:spTgt spid="132"/>
                                        </p:tgtEl>
                                      </p:cBhvr>
                                    </p:animEffect>
                                  </p:childTnLst>
                                </p:cTn>
                              </p:par>
                              <p:par>
                                <p:cTn id="157" presetID="22" presetClass="entr" presetSubtype="1" fill="hold" grpId="0" nodeType="withEffect">
                                  <p:stCondLst>
                                    <p:cond delay="0"/>
                                  </p:stCondLst>
                                  <p:childTnLst>
                                    <p:set>
                                      <p:cBhvr>
                                        <p:cTn id="158" dur="1" fill="hold">
                                          <p:stCondLst>
                                            <p:cond delay="0"/>
                                          </p:stCondLst>
                                        </p:cTn>
                                        <p:tgtEl>
                                          <p:spTgt spid="144"/>
                                        </p:tgtEl>
                                        <p:attrNameLst>
                                          <p:attrName>style.visibility</p:attrName>
                                        </p:attrNameLst>
                                      </p:cBhvr>
                                      <p:to>
                                        <p:strVal val="visible"/>
                                      </p:to>
                                    </p:set>
                                    <p:animEffect transition="in" filter="wipe(up)">
                                      <p:cBhvr>
                                        <p:cTn id="159" dur="500"/>
                                        <p:tgtEl>
                                          <p:spTgt spid="144"/>
                                        </p:tgtEl>
                                      </p:cBhvr>
                                    </p:animEffect>
                                  </p:childTnLst>
                                </p:cTn>
                              </p:par>
                              <p:par>
                                <p:cTn id="160" presetID="22" presetClass="entr" presetSubtype="1" fill="hold" grpId="0" nodeType="withEffect">
                                  <p:stCondLst>
                                    <p:cond delay="0"/>
                                  </p:stCondLst>
                                  <p:childTnLst>
                                    <p:set>
                                      <p:cBhvr>
                                        <p:cTn id="161" dur="1" fill="hold">
                                          <p:stCondLst>
                                            <p:cond delay="0"/>
                                          </p:stCondLst>
                                        </p:cTn>
                                        <p:tgtEl>
                                          <p:spTgt spid="133"/>
                                        </p:tgtEl>
                                        <p:attrNameLst>
                                          <p:attrName>style.visibility</p:attrName>
                                        </p:attrNameLst>
                                      </p:cBhvr>
                                      <p:to>
                                        <p:strVal val="visible"/>
                                      </p:to>
                                    </p:set>
                                    <p:animEffect transition="in" filter="wipe(up)">
                                      <p:cBhvr>
                                        <p:cTn id="162" dur="500"/>
                                        <p:tgtEl>
                                          <p:spTgt spid="133"/>
                                        </p:tgtEl>
                                      </p:cBhvr>
                                    </p:animEffect>
                                  </p:childTnLst>
                                </p:cTn>
                              </p:par>
                              <p:par>
                                <p:cTn id="163" presetID="22" presetClass="entr" presetSubtype="1" fill="hold" grpId="0" nodeType="withEffect">
                                  <p:stCondLst>
                                    <p:cond delay="0"/>
                                  </p:stCondLst>
                                  <p:childTnLst>
                                    <p:set>
                                      <p:cBhvr>
                                        <p:cTn id="164" dur="1" fill="hold">
                                          <p:stCondLst>
                                            <p:cond delay="0"/>
                                          </p:stCondLst>
                                        </p:cTn>
                                        <p:tgtEl>
                                          <p:spTgt spid="134"/>
                                        </p:tgtEl>
                                        <p:attrNameLst>
                                          <p:attrName>style.visibility</p:attrName>
                                        </p:attrNameLst>
                                      </p:cBhvr>
                                      <p:to>
                                        <p:strVal val="visible"/>
                                      </p:to>
                                    </p:set>
                                    <p:animEffect transition="in" filter="wipe(up)">
                                      <p:cBhvr>
                                        <p:cTn id="165" dur="500"/>
                                        <p:tgtEl>
                                          <p:spTgt spid="134"/>
                                        </p:tgtEl>
                                      </p:cBhvr>
                                    </p:animEffect>
                                  </p:childTnLst>
                                </p:cTn>
                              </p:par>
                              <p:par>
                                <p:cTn id="166" presetID="22" presetClass="entr" presetSubtype="1" fill="hold" grpId="0" nodeType="withEffect">
                                  <p:stCondLst>
                                    <p:cond delay="0"/>
                                  </p:stCondLst>
                                  <p:childTnLst>
                                    <p:set>
                                      <p:cBhvr>
                                        <p:cTn id="167" dur="1" fill="hold">
                                          <p:stCondLst>
                                            <p:cond delay="0"/>
                                          </p:stCondLst>
                                        </p:cTn>
                                        <p:tgtEl>
                                          <p:spTgt spid="145"/>
                                        </p:tgtEl>
                                        <p:attrNameLst>
                                          <p:attrName>style.visibility</p:attrName>
                                        </p:attrNameLst>
                                      </p:cBhvr>
                                      <p:to>
                                        <p:strVal val="visible"/>
                                      </p:to>
                                    </p:set>
                                    <p:animEffect transition="in" filter="wipe(up)">
                                      <p:cBhvr>
                                        <p:cTn id="168" dur="500"/>
                                        <p:tgtEl>
                                          <p:spTgt spid="145"/>
                                        </p:tgtEl>
                                      </p:cBhvr>
                                    </p:animEffect>
                                  </p:childTnLst>
                                </p:cTn>
                              </p:par>
                              <p:par>
                                <p:cTn id="169" presetID="22" presetClass="entr" presetSubtype="1" fill="hold" grpId="0" nodeType="withEffect">
                                  <p:stCondLst>
                                    <p:cond delay="0"/>
                                  </p:stCondLst>
                                  <p:childTnLst>
                                    <p:set>
                                      <p:cBhvr>
                                        <p:cTn id="170" dur="1" fill="hold">
                                          <p:stCondLst>
                                            <p:cond delay="0"/>
                                          </p:stCondLst>
                                        </p:cTn>
                                        <p:tgtEl>
                                          <p:spTgt spid="135"/>
                                        </p:tgtEl>
                                        <p:attrNameLst>
                                          <p:attrName>style.visibility</p:attrName>
                                        </p:attrNameLst>
                                      </p:cBhvr>
                                      <p:to>
                                        <p:strVal val="visible"/>
                                      </p:to>
                                    </p:set>
                                    <p:animEffect transition="in" filter="wipe(up)">
                                      <p:cBhvr>
                                        <p:cTn id="171" dur="500"/>
                                        <p:tgtEl>
                                          <p:spTgt spid="135"/>
                                        </p:tgtEl>
                                      </p:cBhvr>
                                    </p:animEffect>
                                  </p:childTnLst>
                                </p:cTn>
                              </p:par>
                              <p:par>
                                <p:cTn id="172" presetID="22" presetClass="entr" presetSubtype="1" fill="hold" grpId="0" nodeType="withEffect">
                                  <p:stCondLst>
                                    <p:cond delay="0"/>
                                  </p:stCondLst>
                                  <p:childTnLst>
                                    <p:set>
                                      <p:cBhvr>
                                        <p:cTn id="173" dur="1" fill="hold">
                                          <p:stCondLst>
                                            <p:cond delay="0"/>
                                          </p:stCondLst>
                                        </p:cTn>
                                        <p:tgtEl>
                                          <p:spTgt spid="136"/>
                                        </p:tgtEl>
                                        <p:attrNameLst>
                                          <p:attrName>style.visibility</p:attrName>
                                        </p:attrNameLst>
                                      </p:cBhvr>
                                      <p:to>
                                        <p:strVal val="visible"/>
                                      </p:to>
                                    </p:set>
                                    <p:animEffect transition="in" filter="wipe(up)">
                                      <p:cBhvr>
                                        <p:cTn id="174" dur="500"/>
                                        <p:tgtEl>
                                          <p:spTgt spid="136"/>
                                        </p:tgtEl>
                                      </p:cBhvr>
                                    </p:animEffec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198"/>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2" presetClass="entr" presetSubtype="2" fill="hold" grpId="0" nodeType="clickEffect">
                                  <p:stCondLst>
                                    <p:cond delay="0"/>
                                  </p:stCondLst>
                                  <p:childTnLst>
                                    <p:set>
                                      <p:cBhvr>
                                        <p:cTn id="182" dur="1" fill="hold">
                                          <p:stCondLst>
                                            <p:cond delay="0"/>
                                          </p:stCondLst>
                                        </p:cTn>
                                        <p:tgtEl>
                                          <p:spTgt spid="178"/>
                                        </p:tgtEl>
                                        <p:attrNameLst>
                                          <p:attrName>style.visibility</p:attrName>
                                        </p:attrNameLst>
                                      </p:cBhvr>
                                      <p:to>
                                        <p:strVal val="visible"/>
                                      </p:to>
                                    </p:set>
                                    <p:anim calcmode="lin" valueType="num">
                                      <p:cBhvr additive="base">
                                        <p:cTn id="183" dur="500" fill="hold"/>
                                        <p:tgtEl>
                                          <p:spTgt spid="178"/>
                                        </p:tgtEl>
                                        <p:attrNameLst>
                                          <p:attrName>ppt_x</p:attrName>
                                        </p:attrNameLst>
                                      </p:cBhvr>
                                      <p:tavLst>
                                        <p:tav tm="0">
                                          <p:val>
                                            <p:strVal val="1+#ppt_w/2"/>
                                          </p:val>
                                        </p:tav>
                                        <p:tav tm="100000">
                                          <p:val>
                                            <p:strVal val="#ppt_x"/>
                                          </p:val>
                                        </p:tav>
                                      </p:tavLst>
                                    </p:anim>
                                    <p:anim calcmode="lin" valueType="num">
                                      <p:cBhvr additive="base">
                                        <p:cTn id="184" dur="500" fill="hold"/>
                                        <p:tgtEl>
                                          <p:spTgt spid="178"/>
                                        </p:tgtEl>
                                        <p:attrNameLst>
                                          <p:attrName>ppt_y</p:attrName>
                                        </p:attrNameLst>
                                      </p:cBhvr>
                                      <p:tavLst>
                                        <p:tav tm="0">
                                          <p:val>
                                            <p:strVal val="#ppt_y"/>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8" presetClass="entr" presetSubtype="32" fill="hold" grpId="0" nodeType="clickEffect">
                                  <p:stCondLst>
                                    <p:cond delay="0"/>
                                  </p:stCondLst>
                                  <p:childTnLst>
                                    <p:set>
                                      <p:cBhvr>
                                        <p:cTn id="188" dur="1" fill="hold">
                                          <p:stCondLst>
                                            <p:cond delay="0"/>
                                          </p:stCondLst>
                                        </p:cTn>
                                        <p:tgtEl>
                                          <p:spTgt spid="180"/>
                                        </p:tgtEl>
                                        <p:attrNameLst>
                                          <p:attrName>style.visibility</p:attrName>
                                        </p:attrNameLst>
                                      </p:cBhvr>
                                      <p:to>
                                        <p:strVal val="visible"/>
                                      </p:to>
                                    </p:set>
                                    <p:animEffect transition="in" filter="diamond(out)">
                                      <p:cBhvr>
                                        <p:cTn id="189" dur="500"/>
                                        <p:tgtEl>
                                          <p:spTgt spid="180"/>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1" fill="hold" grpId="0" nodeType="clickEffect">
                                  <p:stCondLst>
                                    <p:cond delay="0"/>
                                  </p:stCondLst>
                                  <p:childTnLst>
                                    <p:set>
                                      <p:cBhvr>
                                        <p:cTn id="193" dur="1" fill="hold">
                                          <p:stCondLst>
                                            <p:cond delay="0"/>
                                          </p:stCondLst>
                                        </p:cTn>
                                        <p:tgtEl>
                                          <p:spTgt spid="150"/>
                                        </p:tgtEl>
                                        <p:attrNameLst>
                                          <p:attrName>style.visibility</p:attrName>
                                        </p:attrNameLst>
                                      </p:cBhvr>
                                      <p:to>
                                        <p:strVal val="visible"/>
                                      </p:to>
                                    </p:set>
                                    <p:animEffect transition="in" filter="wipe(up)">
                                      <p:cBhvr>
                                        <p:cTn id="194" dur="500"/>
                                        <p:tgtEl>
                                          <p:spTgt spid="150"/>
                                        </p:tgtEl>
                                      </p:cBhvr>
                                    </p:animEffect>
                                  </p:childTnLst>
                                </p:cTn>
                              </p:par>
                              <p:par>
                                <p:cTn id="195" presetID="22" presetClass="entr" presetSubtype="1" fill="hold" grpId="0" nodeType="withEffect">
                                  <p:stCondLst>
                                    <p:cond delay="0"/>
                                  </p:stCondLst>
                                  <p:childTnLst>
                                    <p:set>
                                      <p:cBhvr>
                                        <p:cTn id="196" dur="1" fill="hold">
                                          <p:stCondLst>
                                            <p:cond delay="0"/>
                                          </p:stCondLst>
                                        </p:cTn>
                                        <p:tgtEl>
                                          <p:spTgt spid="151"/>
                                        </p:tgtEl>
                                        <p:attrNameLst>
                                          <p:attrName>style.visibility</p:attrName>
                                        </p:attrNameLst>
                                      </p:cBhvr>
                                      <p:to>
                                        <p:strVal val="visible"/>
                                      </p:to>
                                    </p:set>
                                    <p:animEffect transition="in" filter="wipe(up)">
                                      <p:cBhvr>
                                        <p:cTn id="197" dur="500"/>
                                        <p:tgtEl>
                                          <p:spTgt spid="151"/>
                                        </p:tgtEl>
                                      </p:cBhvr>
                                    </p:animEffect>
                                  </p:childTnLst>
                                </p:cTn>
                              </p:par>
                              <p:par>
                                <p:cTn id="198" presetID="22" presetClass="entr" presetSubtype="1" fill="hold" grpId="0" nodeType="withEffect">
                                  <p:stCondLst>
                                    <p:cond delay="0"/>
                                  </p:stCondLst>
                                  <p:childTnLst>
                                    <p:set>
                                      <p:cBhvr>
                                        <p:cTn id="199" dur="1" fill="hold">
                                          <p:stCondLst>
                                            <p:cond delay="0"/>
                                          </p:stCondLst>
                                        </p:cTn>
                                        <p:tgtEl>
                                          <p:spTgt spid="152"/>
                                        </p:tgtEl>
                                        <p:attrNameLst>
                                          <p:attrName>style.visibility</p:attrName>
                                        </p:attrNameLst>
                                      </p:cBhvr>
                                      <p:to>
                                        <p:strVal val="visible"/>
                                      </p:to>
                                    </p:set>
                                    <p:animEffect transition="in" filter="wipe(up)">
                                      <p:cBhvr>
                                        <p:cTn id="200" dur="500"/>
                                        <p:tgtEl>
                                          <p:spTgt spid="152"/>
                                        </p:tgtEl>
                                      </p:cBhvr>
                                    </p:animEffect>
                                  </p:childTnLst>
                                </p:cTn>
                              </p:par>
                              <p:par>
                                <p:cTn id="201" presetID="22" presetClass="entr" presetSubtype="1" fill="hold" grpId="0" nodeType="withEffect">
                                  <p:stCondLst>
                                    <p:cond delay="0"/>
                                  </p:stCondLst>
                                  <p:childTnLst>
                                    <p:set>
                                      <p:cBhvr>
                                        <p:cTn id="202" dur="1" fill="hold">
                                          <p:stCondLst>
                                            <p:cond delay="0"/>
                                          </p:stCondLst>
                                        </p:cTn>
                                        <p:tgtEl>
                                          <p:spTgt spid="146"/>
                                        </p:tgtEl>
                                        <p:attrNameLst>
                                          <p:attrName>style.visibility</p:attrName>
                                        </p:attrNameLst>
                                      </p:cBhvr>
                                      <p:to>
                                        <p:strVal val="visible"/>
                                      </p:to>
                                    </p:set>
                                    <p:animEffect transition="in" filter="wipe(up)">
                                      <p:cBhvr>
                                        <p:cTn id="203" dur="500"/>
                                        <p:tgtEl>
                                          <p:spTgt spid="146"/>
                                        </p:tgtEl>
                                      </p:cBhvr>
                                    </p:animEffect>
                                  </p:childTnLst>
                                </p:cTn>
                              </p:par>
                              <p:par>
                                <p:cTn id="204" presetID="22" presetClass="entr" presetSubtype="1" fill="hold" grpId="0" nodeType="withEffect">
                                  <p:stCondLst>
                                    <p:cond delay="0"/>
                                  </p:stCondLst>
                                  <p:childTnLst>
                                    <p:set>
                                      <p:cBhvr>
                                        <p:cTn id="205" dur="1" fill="hold">
                                          <p:stCondLst>
                                            <p:cond delay="0"/>
                                          </p:stCondLst>
                                        </p:cTn>
                                        <p:tgtEl>
                                          <p:spTgt spid="147"/>
                                        </p:tgtEl>
                                        <p:attrNameLst>
                                          <p:attrName>style.visibility</p:attrName>
                                        </p:attrNameLst>
                                      </p:cBhvr>
                                      <p:to>
                                        <p:strVal val="visible"/>
                                      </p:to>
                                    </p:set>
                                    <p:animEffect transition="in" filter="wipe(up)">
                                      <p:cBhvr>
                                        <p:cTn id="206" dur="500"/>
                                        <p:tgtEl>
                                          <p:spTgt spid="147"/>
                                        </p:tgtEl>
                                      </p:cBhvr>
                                    </p:animEffect>
                                  </p:childTnLst>
                                </p:cTn>
                              </p:par>
                              <p:par>
                                <p:cTn id="207" presetID="22" presetClass="entr" presetSubtype="1" fill="hold" grpId="0" nodeType="withEffect">
                                  <p:stCondLst>
                                    <p:cond delay="0"/>
                                  </p:stCondLst>
                                  <p:childTnLst>
                                    <p:set>
                                      <p:cBhvr>
                                        <p:cTn id="208" dur="1" fill="hold">
                                          <p:stCondLst>
                                            <p:cond delay="0"/>
                                          </p:stCondLst>
                                        </p:cTn>
                                        <p:tgtEl>
                                          <p:spTgt spid="153"/>
                                        </p:tgtEl>
                                        <p:attrNameLst>
                                          <p:attrName>style.visibility</p:attrName>
                                        </p:attrNameLst>
                                      </p:cBhvr>
                                      <p:to>
                                        <p:strVal val="visible"/>
                                      </p:to>
                                    </p:set>
                                    <p:animEffect transition="in" filter="wipe(up)">
                                      <p:cBhvr>
                                        <p:cTn id="209" dur="500"/>
                                        <p:tgtEl>
                                          <p:spTgt spid="153"/>
                                        </p:tgtEl>
                                      </p:cBhvr>
                                    </p:animEffect>
                                  </p:childTnLst>
                                </p:cTn>
                              </p:par>
                              <p:par>
                                <p:cTn id="210" presetID="22" presetClass="entr" presetSubtype="1" fill="hold" grpId="0" nodeType="withEffect">
                                  <p:stCondLst>
                                    <p:cond delay="0"/>
                                  </p:stCondLst>
                                  <p:childTnLst>
                                    <p:set>
                                      <p:cBhvr>
                                        <p:cTn id="211" dur="1" fill="hold">
                                          <p:stCondLst>
                                            <p:cond delay="0"/>
                                          </p:stCondLst>
                                        </p:cTn>
                                        <p:tgtEl>
                                          <p:spTgt spid="148"/>
                                        </p:tgtEl>
                                        <p:attrNameLst>
                                          <p:attrName>style.visibility</p:attrName>
                                        </p:attrNameLst>
                                      </p:cBhvr>
                                      <p:to>
                                        <p:strVal val="visible"/>
                                      </p:to>
                                    </p:set>
                                    <p:animEffect transition="in" filter="wipe(up)">
                                      <p:cBhvr>
                                        <p:cTn id="212" dur="500"/>
                                        <p:tgtEl>
                                          <p:spTgt spid="148"/>
                                        </p:tgtEl>
                                      </p:cBhvr>
                                    </p:animEffect>
                                  </p:childTnLst>
                                </p:cTn>
                              </p:par>
                              <p:par>
                                <p:cTn id="213" presetID="22" presetClass="entr" presetSubtype="1" fill="hold" grpId="0" nodeType="withEffect">
                                  <p:stCondLst>
                                    <p:cond delay="0"/>
                                  </p:stCondLst>
                                  <p:childTnLst>
                                    <p:set>
                                      <p:cBhvr>
                                        <p:cTn id="214" dur="1" fill="hold">
                                          <p:stCondLst>
                                            <p:cond delay="0"/>
                                          </p:stCondLst>
                                        </p:cTn>
                                        <p:tgtEl>
                                          <p:spTgt spid="149"/>
                                        </p:tgtEl>
                                        <p:attrNameLst>
                                          <p:attrName>style.visibility</p:attrName>
                                        </p:attrNameLst>
                                      </p:cBhvr>
                                      <p:to>
                                        <p:strVal val="visible"/>
                                      </p:to>
                                    </p:set>
                                    <p:animEffect transition="in" filter="wipe(up)">
                                      <p:cBhvr>
                                        <p:cTn id="215" dur="500"/>
                                        <p:tgtEl>
                                          <p:spTgt spid="149"/>
                                        </p:tgtEl>
                                      </p:cBhvr>
                                    </p:animEffect>
                                  </p:childTnLst>
                                </p:cTn>
                              </p:par>
                            </p:childTnLst>
                          </p:cTn>
                        </p:par>
                      </p:childTnLst>
                    </p:cTn>
                  </p:par>
                  <p:par>
                    <p:cTn id="216" fill="hold">
                      <p:stCondLst>
                        <p:cond delay="indefinite"/>
                      </p:stCondLst>
                      <p:childTnLst>
                        <p:par>
                          <p:cTn id="217" fill="hold">
                            <p:stCondLst>
                              <p:cond delay="0"/>
                            </p:stCondLst>
                            <p:childTnLst>
                              <p:par>
                                <p:cTn id="218" presetID="1" presetClass="entr" presetSubtype="0" fill="hold" grpId="0" nodeType="clickEffect">
                                  <p:stCondLst>
                                    <p:cond delay="0"/>
                                  </p:stCondLst>
                                  <p:childTnLst>
                                    <p:set>
                                      <p:cBhvr>
                                        <p:cTn id="219" dur="1" fill="hold">
                                          <p:stCondLst>
                                            <p:cond delay="0"/>
                                          </p:stCondLst>
                                        </p:cTn>
                                        <p:tgtEl>
                                          <p:spTgt spid="154"/>
                                        </p:tgtEl>
                                        <p:attrNameLst>
                                          <p:attrName>style.visibility</p:attrName>
                                        </p:attrNameLst>
                                      </p:cBhvr>
                                      <p:to>
                                        <p:strVal val="visible"/>
                                      </p:to>
                                    </p:set>
                                  </p:childTnLst>
                                </p:cTn>
                              </p:par>
                              <p:par>
                                <p:cTn id="220" presetID="1" presetClass="entr" presetSubtype="0" fill="hold" grpId="0" nodeType="withEffect">
                                  <p:stCondLst>
                                    <p:cond delay="0"/>
                                  </p:stCondLst>
                                  <p:childTnLst>
                                    <p:set>
                                      <p:cBhvr>
                                        <p:cTn id="221" dur="1" fill="hold">
                                          <p:stCondLst>
                                            <p:cond delay="0"/>
                                          </p:stCondLst>
                                        </p:cTn>
                                        <p:tgtEl>
                                          <p:spTgt spid="182"/>
                                        </p:tgtEl>
                                        <p:attrNameLst>
                                          <p:attrName>style.visibility</p:attrName>
                                        </p:attrNameLst>
                                      </p:cBhvr>
                                      <p:to>
                                        <p:strVal val="visible"/>
                                      </p:to>
                                    </p:set>
                                  </p:childTnLst>
                                </p:cTn>
                              </p:par>
                            </p:childTnLst>
                          </p:cTn>
                        </p:par>
                      </p:childTnLst>
                    </p:cTn>
                  </p:par>
                  <p:par>
                    <p:cTn id="222" fill="hold">
                      <p:stCondLst>
                        <p:cond delay="indefinite"/>
                      </p:stCondLst>
                      <p:childTnLst>
                        <p:par>
                          <p:cTn id="223" fill="hold">
                            <p:stCondLst>
                              <p:cond delay="0"/>
                            </p:stCondLst>
                            <p:childTnLst>
                              <p:par>
                                <p:cTn id="224" presetID="2" presetClass="entr" presetSubtype="2" fill="hold" grpId="0" nodeType="clickEffect">
                                  <p:stCondLst>
                                    <p:cond delay="0"/>
                                  </p:stCondLst>
                                  <p:childTnLst>
                                    <p:set>
                                      <p:cBhvr>
                                        <p:cTn id="225" dur="1" fill="hold">
                                          <p:stCondLst>
                                            <p:cond delay="0"/>
                                          </p:stCondLst>
                                        </p:cTn>
                                        <p:tgtEl>
                                          <p:spTgt spid="188"/>
                                        </p:tgtEl>
                                        <p:attrNameLst>
                                          <p:attrName>style.visibility</p:attrName>
                                        </p:attrNameLst>
                                      </p:cBhvr>
                                      <p:to>
                                        <p:strVal val="visible"/>
                                      </p:to>
                                    </p:set>
                                    <p:anim calcmode="lin" valueType="num">
                                      <p:cBhvr additive="base">
                                        <p:cTn id="226" dur="500" fill="hold"/>
                                        <p:tgtEl>
                                          <p:spTgt spid="188"/>
                                        </p:tgtEl>
                                        <p:attrNameLst>
                                          <p:attrName>ppt_x</p:attrName>
                                        </p:attrNameLst>
                                      </p:cBhvr>
                                      <p:tavLst>
                                        <p:tav tm="0">
                                          <p:val>
                                            <p:strVal val="1+#ppt_w/2"/>
                                          </p:val>
                                        </p:tav>
                                        <p:tav tm="100000">
                                          <p:val>
                                            <p:strVal val="#ppt_x"/>
                                          </p:val>
                                        </p:tav>
                                      </p:tavLst>
                                    </p:anim>
                                    <p:anim calcmode="lin" valueType="num">
                                      <p:cBhvr additive="base">
                                        <p:cTn id="227" dur="500" fill="hold"/>
                                        <p:tgtEl>
                                          <p:spTgt spid="188"/>
                                        </p:tgtEl>
                                        <p:attrNameLst>
                                          <p:attrName>ppt_y</p:attrName>
                                        </p:attrNameLst>
                                      </p:cBhvr>
                                      <p:tavLst>
                                        <p:tav tm="0">
                                          <p:val>
                                            <p:strVal val="#ppt_y"/>
                                          </p:val>
                                        </p:tav>
                                        <p:tav tm="100000">
                                          <p:val>
                                            <p:strVal val="#ppt_y"/>
                                          </p:val>
                                        </p:tav>
                                      </p:tavLst>
                                    </p:anim>
                                  </p:childTnLst>
                                </p:cTn>
                              </p:par>
                            </p:childTnLst>
                          </p:cTn>
                        </p:par>
                      </p:childTnLst>
                    </p:cTn>
                  </p:par>
                  <p:par>
                    <p:cTn id="228" fill="hold">
                      <p:stCondLst>
                        <p:cond delay="indefinite"/>
                      </p:stCondLst>
                      <p:childTnLst>
                        <p:par>
                          <p:cTn id="229" fill="hold">
                            <p:stCondLst>
                              <p:cond delay="0"/>
                            </p:stCondLst>
                            <p:childTnLst>
                              <p:par>
                                <p:cTn id="230" presetID="8" presetClass="entr" presetSubtype="32" fill="hold" grpId="0" nodeType="clickEffect">
                                  <p:stCondLst>
                                    <p:cond delay="0"/>
                                  </p:stCondLst>
                                  <p:childTnLst>
                                    <p:set>
                                      <p:cBhvr>
                                        <p:cTn id="231" dur="1" fill="hold">
                                          <p:stCondLst>
                                            <p:cond delay="0"/>
                                          </p:stCondLst>
                                        </p:cTn>
                                        <p:tgtEl>
                                          <p:spTgt spid="185"/>
                                        </p:tgtEl>
                                        <p:attrNameLst>
                                          <p:attrName>style.visibility</p:attrName>
                                        </p:attrNameLst>
                                      </p:cBhvr>
                                      <p:to>
                                        <p:strVal val="visible"/>
                                      </p:to>
                                    </p:set>
                                    <p:animEffect transition="in" filter="diamond(out)">
                                      <p:cBhvr>
                                        <p:cTn id="232" dur="500"/>
                                        <p:tgtEl>
                                          <p:spTgt spid="185"/>
                                        </p:tgtEl>
                                      </p:cBhvr>
                                    </p:animEffect>
                                  </p:childTnLst>
                                </p:cTn>
                              </p:par>
                            </p:childTnLst>
                          </p:cTn>
                        </p:par>
                      </p:childTnLst>
                    </p:cTn>
                  </p:par>
                  <p:par>
                    <p:cTn id="233" fill="hold">
                      <p:stCondLst>
                        <p:cond delay="indefinite"/>
                      </p:stCondLst>
                      <p:childTnLst>
                        <p:par>
                          <p:cTn id="234" fill="hold">
                            <p:stCondLst>
                              <p:cond delay="0"/>
                            </p:stCondLst>
                            <p:childTnLst>
                              <p:par>
                                <p:cTn id="235" presetID="22" presetClass="entr" presetSubtype="1" fill="hold" grpId="0" nodeType="clickEffect">
                                  <p:stCondLst>
                                    <p:cond delay="0"/>
                                  </p:stCondLst>
                                  <p:childTnLst>
                                    <p:set>
                                      <p:cBhvr>
                                        <p:cTn id="236" dur="1" fill="hold">
                                          <p:stCondLst>
                                            <p:cond delay="0"/>
                                          </p:stCondLst>
                                        </p:cTn>
                                        <p:tgtEl>
                                          <p:spTgt spid="158"/>
                                        </p:tgtEl>
                                        <p:attrNameLst>
                                          <p:attrName>style.visibility</p:attrName>
                                        </p:attrNameLst>
                                      </p:cBhvr>
                                      <p:to>
                                        <p:strVal val="visible"/>
                                      </p:to>
                                    </p:set>
                                    <p:animEffect transition="in" filter="wipe(up)">
                                      <p:cBhvr>
                                        <p:cTn id="237" dur="500"/>
                                        <p:tgtEl>
                                          <p:spTgt spid="158"/>
                                        </p:tgtEl>
                                      </p:cBhvr>
                                    </p:animEffect>
                                  </p:childTnLst>
                                </p:cTn>
                              </p:par>
                              <p:par>
                                <p:cTn id="238" presetID="22" presetClass="entr" presetSubtype="1" fill="hold" grpId="0" nodeType="withEffect">
                                  <p:stCondLst>
                                    <p:cond delay="0"/>
                                  </p:stCondLst>
                                  <p:childTnLst>
                                    <p:set>
                                      <p:cBhvr>
                                        <p:cTn id="239" dur="1" fill="hold">
                                          <p:stCondLst>
                                            <p:cond delay="0"/>
                                          </p:stCondLst>
                                        </p:cTn>
                                        <p:tgtEl>
                                          <p:spTgt spid="157"/>
                                        </p:tgtEl>
                                        <p:attrNameLst>
                                          <p:attrName>style.visibility</p:attrName>
                                        </p:attrNameLst>
                                      </p:cBhvr>
                                      <p:to>
                                        <p:strVal val="visible"/>
                                      </p:to>
                                    </p:set>
                                    <p:animEffect transition="in" filter="wipe(up)">
                                      <p:cBhvr>
                                        <p:cTn id="240" dur="500"/>
                                        <p:tgtEl>
                                          <p:spTgt spid="157"/>
                                        </p:tgtEl>
                                      </p:cBhvr>
                                    </p:animEffect>
                                  </p:childTnLst>
                                </p:cTn>
                              </p:par>
                              <p:par>
                                <p:cTn id="241" presetID="22" presetClass="entr" presetSubtype="1" fill="hold" grpId="0" nodeType="withEffect">
                                  <p:stCondLst>
                                    <p:cond delay="0"/>
                                  </p:stCondLst>
                                  <p:childTnLst>
                                    <p:set>
                                      <p:cBhvr>
                                        <p:cTn id="242" dur="1" fill="hold">
                                          <p:stCondLst>
                                            <p:cond delay="0"/>
                                          </p:stCondLst>
                                        </p:cTn>
                                        <p:tgtEl>
                                          <p:spTgt spid="155"/>
                                        </p:tgtEl>
                                        <p:attrNameLst>
                                          <p:attrName>style.visibility</p:attrName>
                                        </p:attrNameLst>
                                      </p:cBhvr>
                                      <p:to>
                                        <p:strVal val="visible"/>
                                      </p:to>
                                    </p:set>
                                    <p:animEffect transition="in" filter="wipe(up)">
                                      <p:cBhvr>
                                        <p:cTn id="243" dur="500"/>
                                        <p:tgtEl>
                                          <p:spTgt spid="155"/>
                                        </p:tgtEl>
                                      </p:cBhvr>
                                    </p:animEffect>
                                  </p:childTnLst>
                                </p:cTn>
                              </p:par>
                              <p:par>
                                <p:cTn id="244" presetID="22" presetClass="entr" presetSubtype="1" fill="hold" grpId="0" nodeType="withEffect">
                                  <p:stCondLst>
                                    <p:cond delay="0"/>
                                  </p:stCondLst>
                                  <p:childTnLst>
                                    <p:set>
                                      <p:cBhvr>
                                        <p:cTn id="245" dur="1" fill="hold">
                                          <p:stCondLst>
                                            <p:cond delay="0"/>
                                          </p:stCondLst>
                                        </p:cTn>
                                        <p:tgtEl>
                                          <p:spTgt spid="156"/>
                                        </p:tgtEl>
                                        <p:attrNameLst>
                                          <p:attrName>style.visibility</p:attrName>
                                        </p:attrNameLst>
                                      </p:cBhvr>
                                      <p:to>
                                        <p:strVal val="visible"/>
                                      </p:to>
                                    </p:set>
                                    <p:animEffect transition="in" filter="wipe(up)">
                                      <p:cBhvr>
                                        <p:cTn id="246" dur="500"/>
                                        <p:tgtEl>
                                          <p:spTgt spid="156"/>
                                        </p:tgtEl>
                                      </p:cBhvr>
                                    </p:animEffect>
                                  </p:childTnLst>
                                </p:cTn>
                              </p:par>
                            </p:childTnLst>
                          </p:cTn>
                        </p:par>
                      </p:childTnLst>
                    </p:cTn>
                  </p:par>
                  <p:par>
                    <p:cTn id="247" fill="hold">
                      <p:stCondLst>
                        <p:cond delay="indefinite"/>
                      </p:stCondLst>
                      <p:childTnLst>
                        <p:par>
                          <p:cTn id="248" fill="hold">
                            <p:stCondLst>
                              <p:cond delay="0"/>
                            </p:stCondLst>
                            <p:childTnLst>
                              <p:par>
                                <p:cTn id="249" presetID="22" presetClass="entr" presetSubtype="8" fill="hold" grpId="0" nodeType="clickEffect">
                                  <p:stCondLst>
                                    <p:cond delay="0"/>
                                  </p:stCondLst>
                                  <p:childTnLst>
                                    <p:set>
                                      <p:cBhvr>
                                        <p:cTn id="250" dur="1" fill="hold">
                                          <p:stCondLst>
                                            <p:cond delay="0"/>
                                          </p:stCondLst>
                                        </p:cTn>
                                        <p:tgtEl>
                                          <p:spTgt spid="190"/>
                                        </p:tgtEl>
                                        <p:attrNameLst>
                                          <p:attrName>style.visibility</p:attrName>
                                        </p:attrNameLst>
                                      </p:cBhvr>
                                      <p:to>
                                        <p:strVal val="visible"/>
                                      </p:to>
                                    </p:set>
                                    <p:animEffect transition="in" filter="wipe(left)">
                                      <p:cBhvr>
                                        <p:cTn id="251" dur="500"/>
                                        <p:tgtEl>
                                          <p:spTgt spid="190"/>
                                        </p:tgtEl>
                                      </p:cBhvr>
                                    </p:animEffect>
                                  </p:childTnLst>
                                </p:cTn>
                              </p:par>
                              <p:par>
                                <p:cTn id="252" presetID="2" presetClass="entr" presetSubtype="2" fill="hold" grpId="0" nodeType="withEffect">
                                  <p:stCondLst>
                                    <p:cond delay="0"/>
                                  </p:stCondLst>
                                  <p:childTnLst>
                                    <p:set>
                                      <p:cBhvr>
                                        <p:cTn id="253" dur="1" fill="hold">
                                          <p:stCondLst>
                                            <p:cond delay="0"/>
                                          </p:stCondLst>
                                        </p:cTn>
                                        <p:tgtEl>
                                          <p:spTgt spid="191"/>
                                        </p:tgtEl>
                                        <p:attrNameLst>
                                          <p:attrName>style.visibility</p:attrName>
                                        </p:attrNameLst>
                                      </p:cBhvr>
                                      <p:to>
                                        <p:strVal val="visible"/>
                                      </p:to>
                                    </p:set>
                                    <p:anim calcmode="lin" valueType="num">
                                      <p:cBhvr additive="base">
                                        <p:cTn id="254" dur="500" fill="hold"/>
                                        <p:tgtEl>
                                          <p:spTgt spid="191"/>
                                        </p:tgtEl>
                                        <p:attrNameLst>
                                          <p:attrName>ppt_x</p:attrName>
                                        </p:attrNameLst>
                                      </p:cBhvr>
                                      <p:tavLst>
                                        <p:tav tm="0">
                                          <p:val>
                                            <p:strVal val="1+#ppt_w/2"/>
                                          </p:val>
                                        </p:tav>
                                        <p:tav tm="100000">
                                          <p:val>
                                            <p:strVal val="#ppt_x"/>
                                          </p:val>
                                        </p:tav>
                                      </p:tavLst>
                                    </p:anim>
                                    <p:anim calcmode="lin" valueType="num">
                                      <p:cBhvr additive="base">
                                        <p:cTn id="255" dur="500" fill="hold"/>
                                        <p:tgtEl>
                                          <p:spTgt spid="191"/>
                                        </p:tgtEl>
                                        <p:attrNameLst>
                                          <p:attrName>ppt_y</p:attrName>
                                        </p:attrNameLst>
                                      </p:cBhvr>
                                      <p:tavLst>
                                        <p:tav tm="0">
                                          <p:val>
                                            <p:strVal val="#ppt_y"/>
                                          </p:val>
                                        </p:tav>
                                        <p:tav tm="100000">
                                          <p:val>
                                            <p:strVal val="#ppt_y"/>
                                          </p:val>
                                        </p:tav>
                                      </p:tavLst>
                                    </p:anim>
                                  </p:childTnLst>
                                </p:cTn>
                              </p:par>
                            </p:childTnLst>
                          </p:cTn>
                        </p:par>
                      </p:childTnLst>
                    </p:cTn>
                  </p:par>
                  <p:par>
                    <p:cTn id="256" fill="hold">
                      <p:stCondLst>
                        <p:cond delay="indefinite"/>
                      </p:stCondLst>
                      <p:childTnLst>
                        <p:par>
                          <p:cTn id="257" fill="hold">
                            <p:stCondLst>
                              <p:cond delay="0"/>
                            </p:stCondLst>
                            <p:childTnLst>
                              <p:par>
                                <p:cTn id="258" presetID="1" presetClass="entr" presetSubtype="0" fill="hold" grpId="0" nodeType="clickEffect">
                                  <p:stCondLst>
                                    <p:cond delay="0"/>
                                  </p:stCondLst>
                                  <p:childTnLst>
                                    <p:set>
                                      <p:cBhvr>
                                        <p:cTn id="259" dur="1" fill="hold">
                                          <p:stCondLst>
                                            <p:cond delay="0"/>
                                          </p:stCondLst>
                                        </p:cTn>
                                        <p:tgtEl>
                                          <p:spTgt spid="200"/>
                                        </p:tgtEl>
                                        <p:attrNameLst>
                                          <p:attrName>style.visibility</p:attrName>
                                        </p:attrNameLst>
                                      </p:cBhvr>
                                      <p:to>
                                        <p:strVal val="visible"/>
                                      </p:to>
                                    </p:set>
                                  </p:childTnLst>
                                </p:cTn>
                              </p:par>
                            </p:childTnLst>
                          </p:cTn>
                        </p:par>
                      </p:childTnLst>
                    </p:cTn>
                  </p:par>
                  <p:par>
                    <p:cTn id="260" fill="hold">
                      <p:stCondLst>
                        <p:cond delay="indefinite"/>
                      </p:stCondLst>
                      <p:childTnLst>
                        <p:par>
                          <p:cTn id="261" fill="hold">
                            <p:stCondLst>
                              <p:cond delay="0"/>
                            </p:stCondLst>
                            <p:childTnLst>
                              <p:par>
                                <p:cTn id="262" presetID="8" presetClass="entr" presetSubtype="32" fill="hold" grpId="0" nodeType="clickEffect">
                                  <p:stCondLst>
                                    <p:cond delay="0"/>
                                  </p:stCondLst>
                                  <p:childTnLst>
                                    <p:set>
                                      <p:cBhvr>
                                        <p:cTn id="263" dur="1" fill="hold">
                                          <p:stCondLst>
                                            <p:cond delay="0"/>
                                          </p:stCondLst>
                                        </p:cTn>
                                        <p:tgtEl>
                                          <p:spTgt spid="179"/>
                                        </p:tgtEl>
                                        <p:attrNameLst>
                                          <p:attrName>style.visibility</p:attrName>
                                        </p:attrNameLst>
                                      </p:cBhvr>
                                      <p:to>
                                        <p:strVal val="visible"/>
                                      </p:to>
                                    </p:set>
                                    <p:animEffect transition="in" filter="diamond(out)">
                                      <p:cBhvr>
                                        <p:cTn id="264" dur="500"/>
                                        <p:tgtEl>
                                          <p:spTgt spid="179"/>
                                        </p:tgtEl>
                                      </p:cBhvr>
                                    </p:animEffect>
                                  </p:childTnLst>
                                </p:cTn>
                              </p:par>
                            </p:childTnLst>
                          </p:cTn>
                        </p:par>
                      </p:childTnLst>
                    </p:cTn>
                  </p:par>
                  <p:par>
                    <p:cTn id="265" fill="hold">
                      <p:stCondLst>
                        <p:cond delay="indefinite"/>
                      </p:stCondLst>
                      <p:childTnLst>
                        <p:par>
                          <p:cTn id="266" fill="hold">
                            <p:stCondLst>
                              <p:cond delay="0"/>
                            </p:stCondLst>
                            <p:childTnLst>
                              <p:par>
                                <p:cTn id="267" presetID="22" presetClass="entr" presetSubtype="1" fill="hold" grpId="0" nodeType="clickEffect">
                                  <p:stCondLst>
                                    <p:cond delay="0"/>
                                  </p:stCondLst>
                                  <p:childTnLst>
                                    <p:set>
                                      <p:cBhvr>
                                        <p:cTn id="268" dur="1" fill="hold">
                                          <p:stCondLst>
                                            <p:cond delay="0"/>
                                          </p:stCondLst>
                                        </p:cTn>
                                        <p:tgtEl>
                                          <p:spTgt spid="159"/>
                                        </p:tgtEl>
                                        <p:attrNameLst>
                                          <p:attrName>style.visibility</p:attrName>
                                        </p:attrNameLst>
                                      </p:cBhvr>
                                      <p:to>
                                        <p:strVal val="visible"/>
                                      </p:to>
                                    </p:set>
                                    <p:animEffect transition="in" filter="wipe(up)">
                                      <p:cBhvr>
                                        <p:cTn id="269" dur="500"/>
                                        <p:tgtEl>
                                          <p:spTgt spid="159"/>
                                        </p:tgtEl>
                                      </p:cBhvr>
                                    </p:animEffect>
                                  </p:childTnLst>
                                </p:cTn>
                              </p:par>
                              <p:par>
                                <p:cTn id="270" presetID="22" presetClass="entr" presetSubtype="1" fill="hold" grpId="0" nodeType="withEffect">
                                  <p:stCondLst>
                                    <p:cond delay="0"/>
                                  </p:stCondLst>
                                  <p:childTnLst>
                                    <p:set>
                                      <p:cBhvr>
                                        <p:cTn id="271" dur="1" fill="hold">
                                          <p:stCondLst>
                                            <p:cond delay="0"/>
                                          </p:stCondLst>
                                        </p:cTn>
                                        <p:tgtEl>
                                          <p:spTgt spid="160"/>
                                        </p:tgtEl>
                                        <p:attrNameLst>
                                          <p:attrName>style.visibility</p:attrName>
                                        </p:attrNameLst>
                                      </p:cBhvr>
                                      <p:to>
                                        <p:strVal val="visible"/>
                                      </p:to>
                                    </p:set>
                                    <p:animEffect transition="in" filter="wipe(up)">
                                      <p:cBhvr>
                                        <p:cTn id="272" dur="500"/>
                                        <p:tgtEl>
                                          <p:spTgt spid="160"/>
                                        </p:tgtEl>
                                      </p:cBhvr>
                                    </p:animEffect>
                                  </p:childTnLst>
                                </p:cTn>
                              </p:par>
                              <p:par>
                                <p:cTn id="273" presetID="22" presetClass="entr" presetSubtype="1" fill="hold" grpId="0" nodeType="withEffect">
                                  <p:stCondLst>
                                    <p:cond delay="0"/>
                                  </p:stCondLst>
                                  <p:childTnLst>
                                    <p:set>
                                      <p:cBhvr>
                                        <p:cTn id="274" dur="1" fill="hold">
                                          <p:stCondLst>
                                            <p:cond delay="0"/>
                                          </p:stCondLst>
                                        </p:cTn>
                                        <p:tgtEl>
                                          <p:spTgt spid="165"/>
                                        </p:tgtEl>
                                        <p:attrNameLst>
                                          <p:attrName>style.visibility</p:attrName>
                                        </p:attrNameLst>
                                      </p:cBhvr>
                                      <p:to>
                                        <p:strVal val="visible"/>
                                      </p:to>
                                    </p:set>
                                    <p:animEffect transition="in" filter="wipe(up)">
                                      <p:cBhvr>
                                        <p:cTn id="275" dur="500"/>
                                        <p:tgtEl>
                                          <p:spTgt spid="165"/>
                                        </p:tgtEl>
                                      </p:cBhvr>
                                    </p:animEffect>
                                  </p:childTnLst>
                                </p:cTn>
                              </p:par>
                              <p:par>
                                <p:cTn id="276" presetID="22" presetClass="entr" presetSubtype="1" fill="hold" grpId="0" nodeType="withEffect">
                                  <p:stCondLst>
                                    <p:cond delay="0"/>
                                  </p:stCondLst>
                                  <p:childTnLst>
                                    <p:set>
                                      <p:cBhvr>
                                        <p:cTn id="277" dur="1" fill="hold">
                                          <p:stCondLst>
                                            <p:cond delay="0"/>
                                          </p:stCondLst>
                                        </p:cTn>
                                        <p:tgtEl>
                                          <p:spTgt spid="161"/>
                                        </p:tgtEl>
                                        <p:attrNameLst>
                                          <p:attrName>style.visibility</p:attrName>
                                        </p:attrNameLst>
                                      </p:cBhvr>
                                      <p:to>
                                        <p:strVal val="visible"/>
                                      </p:to>
                                    </p:set>
                                    <p:animEffect transition="in" filter="wipe(up)">
                                      <p:cBhvr>
                                        <p:cTn id="278" dur="500"/>
                                        <p:tgtEl>
                                          <p:spTgt spid="161"/>
                                        </p:tgtEl>
                                      </p:cBhvr>
                                    </p:animEffect>
                                  </p:childTnLst>
                                </p:cTn>
                              </p:par>
                              <p:par>
                                <p:cTn id="279" presetID="22" presetClass="entr" presetSubtype="1" fill="hold" grpId="0" nodeType="withEffect">
                                  <p:stCondLst>
                                    <p:cond delay="0"/>
                                  </p:stCondLst>
                                  <p:childTnLst>
                                    <p:set>
                                      <p:cBhvr>
                                        <p:cTn id="280" dur="1" fill="hold">
                                          <p:stCondLst>
                                            <p:cond delay="0"/>
                                          </p:stCondLst>
                                        </p:cTn>
                                        <p:tgtEl>
                                          <p:spTgt spid="162"/>
                                        </p:tgtEl>
                                        <p:attrNameLst>
                                          <p:attrName>style.visibility</p:attrName>
                                        </p:attrNameLst>
                                      </p:cBhvr>
                                      <p:to>
                                        <p:strVal val="visible"/>
                                      </p:to>
                                    </p:set>
                                    <p:animEffect transition="in" filter="wipe(up)">
                                      <p:cBhvr>
                                        <p:cTn id="281" dur="500"/>
                                        <p:tgtEl>
                                          <p:spTgt spid="162"/>
                                        </p:tgtEl>
                                      </p:cBhvr>
                                    </p:animEffect>
                                  </p:childTnLst>
                                </p:cTn>
                              </p:par>
                              <p:par>
                                <p:cTn id="282" presetID="22" presetClass="entr" presetSubtype="1" fill="hold" grpId="0" nodeType="withEffect">
                                  <p:stCondLst>
                                    <p:cond delay="0"/>
                                  </p:stCondLst>
                                  <p:childTnLst>
                                    <p:set>
                                      <p:cBhvr>
                                        <p:cTn id="283" dur="1" fill="hold">
                                          <p:stCondLst>
                                            <p:cond delay="0"/>
                                          </p:stCondLst>
                                        </p:cTn>
                                        <p:tgtEl>
                                          <p:spTgt spid="166"/>
                                        </p:tgtEl>
                                        <p:attrNameLst>
                                          <p:attrName>style.visibility</p:attrName>
                                        </p:attrNameLst>
                                      </p:cBhvr>
                                      <p:to>
                                        <p:strVal val="visible"/>
                                      </p:to>
                                    </p:set>
                                    <p:animEffect transition="in" filter="wipe(up)">
                                      <p:cBhvr>
                                        <p:cTn id="284" dur="500"/>
                                        <p:tgtEl>
                                          <p:spTgt spid="166"/>
                                        </p:tgtEl>
                                      </p:cBhvr>
                                    </p:animEffect>
                                  </p:childTnLst>
                                </p:cTn>
                              </p:par>
                              <p:par>
                                <p:cTn id="285" presetID="22" presetClass="entr" presetSubtype="1" fill="hold" grpId="0" nodeType="withEffect">
                                  <p:stCondLst>
                                    <p:cond delay="0"/>
                                  </p:stCondLst>
                                  <p:childTnLst>
                                    <p:set>
                                      <p:cBhvr>
                                        <p:cTn id="286" dur="1" fill="hold">
                                          <p:stCondLst>
                                            <p:cond delay="0"/>
                                          </p:stCondLst>
                                        </p:cTn>
                                        <p:tgtEl>
                                          <p:spTgt spid="163"/>
                                        </p:tgtEl>
                                        <p:attrNameLst>
                                          <p:attrName>style.visibility</p:attrName>
                                        </p:attrNameLst>
                                      </p:cBhvr>
                                      <p:to>
                                        <p:strVal val="visible"/>
                                      </p:to>
                                    </p:set>
                                    <p:animEffect transition="in" filter="wipe(up)">
                                      <p:cBhvr>
                                        <p:cTn id="287" dur="500"/>
                                        <p:tgtEl>
                                          <p:spTgt spid="163"/>
                                        </p:tgtEl>
                                      </p:cBhvr>
                                    </p:animEffect>
                                  </p:childTnLst>
                                </p:cTn>
                              </p:par>
                              <p:par>
                                <p:cTn id="288" presetID="22" presetClass="entr" presetSubtype="1" fill="hold" grpId="0" nodeType="withEffect">
                                  <p:stCondLst>
                                    <p:cond delay="0"/>
                                  </p:stCondLst>
                                  <p:childTnLst>
                                    <p:set>
                                      <p:cBhvr>
                                        <p:cTn id="289" dur="1" fill="hold">
                                          <p:stCondLst>
                                            <p:cond delay="0"/>
                                          </p:stCondLst>
                                        </p:cTn>
                                        <p:tgtEl>
                                          <p:spTgt spid="164"/>
                                        </p:tgtEl>
                                        <p:attrNameLst>
                                          <p:attrName>style.visibility</p:attrName>
                                        </p:attrNameLst>
                                      </p:cBhvr>
                                      <p:to>
                                        <p:strVal val="visible"/>
                                      </p:to>
                                    </p:set>
                                    <p:animEffect transition="in" filter="wipe(up)">
                                      <p:cBhvr>
                                        <p:cTn id="290" dur="500"/>
                                        <p:tgtEl>
                                          <p:spTgt spid="164"/>
                                        </p:tgtEl>
                                      </p:cBhvr>
                                    </p:animEffec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grpId="0" nodeType="clickEffect">
                                  <p:stCondLst>
                                    <p:cond delay="0"/>
                                  </p:stCondLst>
                                  <p:childTnLst>
                                    <p:set>
                                      <p:cBhvr>
                                        <p:cTn id="294" dur="1" fill="hold">
                                          <p:stCondLst>
                                            <p:cond delay="0"/>
                                          </p:stCondLst>
                                        </p:cTn>
                                        <p:tgtEl>
                                          <p:spTgt spid="167"/>
                                        </p:tgtEl>
                                        <p:attrNameLst>
                                          <p:attrName>style.visibility</p:attrName>
                                        </p:attrNameLst>
                                      </p:cBhvr>
                                      <p:to>
                                        <p:strVal val="visible"/>
                                      </p:to>
                                    </p:set>
                                  </p:childTnLst>
                                </p:cTn>
                              </p:par>
                              <p:par>
                                <p:cTn id="295" presetID="1" presetClass="entr" presetSubtype="0" fill="hold" grpId="0" nodeType="withEffect">
                                  <p:stCondLst>
                                    <p:cond delay="0"/>
                                  </p:stCondLst>
                                  <p:childTnLst>
                                    <p:set>
                                      <p:cBhvr>
                                        <p:cTn id="296" dur="1" fill="hold">
                                          <p:stCondLst>
                                            <p:cond delay="0"/>
                                          </p:stCondLst>
                                        </p:cTn>
                                        <p:tgtEl>
                                          <p:spTgt spid="181"/>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presetID="2" presetClass="entr" presetSubtype="8" fill="hold" grpId="0" nodeType="clickEffect">
                                  <p:stCondLst>
                                    <p:cond delay="0"/>
                                  </p:stCondLst>
                                  <p:childTnLst>
                                    <p:set>
                                      <p:cBhvr>
                                        <p:cTn id="300" dur="1" fill="hold">
                                          <p:stCondLst>
                                            <p:cond delay="0"/>
                                          </p:stCondLst>
                                        </p:cTn>
                                        <p:tgtEl>
                                          <p:spTgt spid="183"/>
                                        </p:tgtEl>
                                        <p:attrNameLst>
                                          <p:attrName>style.visibility</p:attrName>
                                        </p:attrNameLst>
                                      </p:cBhvr>
                                      <p:to>
                                        <p:strVal val="visible"/>
                                      </p:to>
                                    </p:set>
                                    <p:anim calcmode="lin" valueType="num">
                                      <p:cBhvr additive="base">
                                        <p:cTn id="301" dur="500" fill="hold"/>
                                        <p:tgtEl>
                                          <p:spTgt spid="183"/>
                                        </p:tgtEl>
                                        <p:attrNameLst>
                                          <p:attrName>ppt_x</p:attrName>
                                        </p:attrNameLst>
                                      </p:cBhvr>
                                      <p:tavLst>
                                        <p:tav tm="0">
                                          <p:val>
                                            <p:strVal val="0-#ppt_w/2"/>
                                          </p:val>
                                        </p:tav>
                                        <p:tav tm="100000">
                                          <p:val>
                                            <p:strVal val="#ppt_x"/>
                                          </p:val>
                                        </p:tav>
                                      </p:tavLst>
                                    </p:anim>
                                    <p:anim calcmode="lin" valueType="num">
                                      <p:cBhvr additive="base">
                                        <p:cTn id="302" dur="500" fill="hold"/>
                                        <p:tgtEl>
                                          <p:spTgt spid="183"/>
                                        </p:tgtEl>
                                        <p:attrNameLst>
                                          <p:attrName>ppt_y</p:attrName>
                                        </p:attrNameLst>
                                      </p:cBhvr>
                                      <p:tavLst>
                                        <p:tav tm="0">
                                          <p:val>
                                            <p:strVal val="#ppt_y"/>
                                          </p:val>
                                        </p:tav>
                                        <p:tav tm="100000">
                                          <p:val>
                                            <p:strVal val="#ppt_y"/>
                                          </p:val>
                                        </p:tav>
                                      </p:tavLst>
                                    </p:anim>
                                  </p:childTnLst>
                                </p:cTn>
                              </p:par>
                            </p:childTnLst>
                          </p:cTn>
                        </p:par>
                      </p:childTnLst>
                    </p:cTn>
                  </p:par>
                  <p:par>
                    <p:cTn id="303" fill="hold">
                      <p:stCondLst>
                        <p:cond delay="indefinite"/>
                      </p:stCondLst>
                      <p:childTnLst>
                        <p:par>
                          <p:cTn id="304" fill="hold">
                            <p:stCondLst>
                              <p:cond delay="0"/>
                            </p:stCondLst>
                            <p:childTnLst>
                              <p:par>
                                <p:cTn id="305" presetID="8" presetClass="entr" presetSubtype="32" fill="hold" grpId="0" nodeType="clickEffect">
                                  <p:stCondLst>
                                    <p:cond delay="0"/>
                                  </p:stCondLst>
                                  <p:childTnLst>
                                    <p:set>
                                      <p:cBhvr>
                                        <p:cTn id="306" dur="1" fill="hold">
                                          <p:stCondLst>
                                            <p:cond delay="0"/>
                                          </p:stCondLst>
                                        </p:cTn>
                                        <p:tgtEl>
                                          <p:spTgt spid="184"/>
                                        </p:tgtEl>
                                        <p:attrNameLst>
                                          <p:attrName>style.visibility</p:attrName>
                                        </p:attrNameLst>
                                      </p:cBhvr>
                                      <p:to>
                                        <p:strVal val="visible"/>
                                      </p:to>
                                    </p:set>
                                    <p:animEffect transition="in" filter="diamond(out)">
                                      <p:cBhvr>
                                        <p:cTn id="307" dur="500"/>
                                        <p:tgtEl>
                                          <p:spTgt spid="184"/>
                                        </p:tgtEl>
                                      </p:cBhvr>
                                    </p:animEffect>
                                  </p:childTnLst>
                                </p:cTn>
                              </p:par>
                            </p:childTnLst>
                          </p:cTn>
                        </p:par>
                      </p:childTnLst>
                    </p:cTn>
                  </p:par>
                  <p:par>
                    <p:cTn id="308" fill="hold">
                      <p:stCondLst>
                        <p:cond delay="indefinite"/>
                      </p:stCondLst>
                      <p:childTnLst>
                        <p:par>
                          <p:cTn id="309" fill="hold">
                            <p:stCondLst>
                              <p:cond delay="0"/>
                            </p:stCondLst>
                            <p:childTnLst>
                              <p:par>
                                <p:cTn id="310" presetID="22" presetClass="entr" presetSubtype="1" fill="hold" grpId="0" nodeType="clickEffect">
                                  <p:stCondLst>
                                    <p:cond delay="0"/>
                                  </p:stCondLst>
                                  <p:childTnLst>
                                    <p:set>
                                      <p:cBhvr>
                                        <p:cTn id="311" dur="1" fill="hold">
                                          <p:stCondLst>
                                            <p:cond delay="0"/>
                                          </p:stCondLst>
                                        </p:cTn>
                                        <p:tgtEl>
                                          <p:spTgt spid="171"/>
                                        </p:tgtEl>
                                        <p:attrNameLst>
                                          <p:attrName>style.visibility</p:attrName>
                                        </p:attrNameLst>
                                      </p:cBhvr>
                                      <p:to>
                                        <p:strVal val="visible"/>
                                      </p:to>
                                    </p:set>
                                    <p:animEffect transition="in" filter="wipe(up)">
                                      <p:cBhvr>
                                        <p:cTn id="312" dur="500"/>
                                        <p:tgtEl>
                                          <p:spTgt spid="171"/>
                                        </p:tgtEl>
                                      </p:cBhvr>
                                    </p:animEffect>
                                  </p:childTnLst>
                                </p:cTn>
                              </p:par>
                              <p:par>
                                <p:cTn id="313" presetID="22" presetClass="entr" presetSubtype="1" fill="hold" grpId="0" nodeType="withEffect">
                                  <p:stCondLst>
                                    <p:cond delay="0"/>
                                  </p:stCondLst>
                                  <p:childTnLst>
                                    <p:set>
                                      <p:cBhvr>
                                        <p:cTn id="314" dur="1" fill="hold">
                                          <p:stCondLst>
                                            <p:cond delay="0"/>
                                          </p:stCondLst>
                                        </p:cTn>
                                        <p:tgtEl>
                                          <p:spTgt spid="170"/>
                                        </p:tgtEl>
                                        <p:attrNameLst>
                                          <p:attrName>style.visibility</p:attrName>
                                        </p:attrNameLst>
                                      </p:cBhvr>
                                      <p:to>
                                        <p:strVal val="visible"/>
                                      </p:to>
                                    </p:set>
                                    <p:animEffect transition="in" filter="wipe(up)">
                                      <p:cBhvr>
                                        <p:cTn id="315" dur="500"/>
                                        <p:tgtEl>
                                          <p:spTgt spid="170"/>
                                        </p:tgtEl>
                                      </p:cBhvr>
                                    </p:animEffect>
                                  </p:childTnLst>
                                </p:cTn>
                              </p:par>
                              <p:par>
                                <p:cTn id="316" presetID="22" presetClass="entr" presetSubtype="1" fill="hold" grpId="0" nodeType="withEffect">
                                  <p:stCondLst>
                                    <p:cond delay="0"/>
                                  </p:stCondLst>
                                  <p:childTnLst>
                                    <p:set>
                                      <p:cBhvr>
                                        <p:cTn id="317" dur="1" fill="hold">
                                          <p:stCondLst>
                                            <p:cond delay="0"/>
                                          </p:stCondLst>
                                        </p:cTn>
                                        <p:tgtEl>
                                          <p:spTgt spid="168"/>
                                        </p:tgtEl>
                                        <p:attrNameLst>
                                          <p:attrName>style.visibility</p:attrName>
                                        </p:attrNameLst>
                                      </p:cBhvr>
                                      <p:to>
                                        <p:strVal val="visible"/>
                                      </p:to>
                                    </p:set>
                                    <p:animEffect transition="in" filter="wipe(up)">
                                      <p:cBhvr>
                                        <p:cTn id="318" dur="500"/>
                                        <p:tgtEl>
                                          <p:spTgt spid="168"/>
                                        </p:tgtEl>
                                      </p:cBhvr>
                                    </p:animEffect>
                                  </p:childTnLst>
                                </p:cTn>
                              </p:par>
                              <p:par>
                                <p:cTn id="319" presetID="22" presetClass="entr" presetSubtype="1" fill="hold" grpId="0" nodeType="withEffect">
                                  <p:stCondLst>
                                    <p:cond delay="0"/>
                                  </p:stCondLst>
                                  <p:childTnLst>
                                    <p:set>
                                      <p:cBhvr>
                                        <p:cTn id="320" dur="1" fill="hold">
                                          <p:stCondLst>
                                            <p:cond delay="0"/>
                                          </p:stCondLst>
                                        </p:cTn>
                                        <p:tgtEl>
                                          <p:spTgt spid="169"/>
                                        </p:tgtEl>
                                        <p:attrNameLst>
                                          <p:attrName>style.visibility</p:attrName>
                                        </p:attrNameLst>
                                      </p:cBhvr>
                                      <p:to>
                                        <p:strVal val="visible"/>
                                      </p:to>
                                    </p:set>
                                    <p:animEffect transition="in" filter="wipe(up)">
                                      <p:cBhvr>
                                        <p:cTn id="321" dur="500"/>
                                        <p:tgtEl>
                                          <p:spTgt spid="169"/>
                                        </p:tgtEl>
                                      </p:cBhvr>
                                    </p:animEffect>
                                  </p:childTnLst>
                                </p:cTn>
                              </p:par>
                            </p:childTnLst>
                          </p:cTn>
                        </p:par>
                      </p:childTnLst>
                    </p:cTn>
                  </p:par>
                  <p:par>
                    <p:cTn id="322" fill="hold">
                      <p:stCondLst>
                        <p:cond delay="indefinite"/>
                      </p:stCondLst>
                      <p:childTnLst>
                        <p:par>
                          <p:cTn id="323" fill="hold">
                            <p:stCondLst>
                              <p:cond delay="0"/>
                            </p:stCondLst>
                            <p:childTnLst>
                              <p:par>
                                <p:cTn id="324" presetID="1" presetClass="entr" presetSubtype="0" fill="hold" grpId="0" nodeType="clickEffect">
                                  <p:stCondLst>
                                    <p:cond delay="0"/>
                                  </p:stCondLst>
                                  <p:childTnLst>
                                    <p:set>
                                      <p:cBhvr>
                                        <p:cTn id="325" dur="1" fill="hold">
                                          <p:stCondLst>
                                            <p:cond delay="0"/>
                                          </p:stCondLst>
                                        </p:cTn>
                                        <p:tgtEl>
                                          <p:spTgt spid="186"/>
                                        </p:tgtEl>
                                        <p:attrNameLst>
                                          <p:attrName>style.visibility</p:attrName>
                                        </p:attrNameLst>
                                      </p:cBhvr>
                                      <p:to>
                                        <p:strVal val="visible"/>
                                      </p:to>
                                    </p:set>
                                  </p:childTnLst>
                                </p:cTn>
                              </p:par>
                              <p:par>
                                <p:cTn id="326" presetID="1" presetClass="entr" presetSubtype="0" fill="hold" grpId="0" nodeType="withEffect">
                                  <p:stCondLst>
                                    <p:cond delay="0"/>
                                  </p:stCondLst>
                                  <p:childTnLst>
                                    <p:set>
                                      <p:cBhvr>
                                        <p:cTn id="327" dur="1" fill="hold">
                                          <p:stCondLst>
                                            <p:cond delay="0"/>
                                          </p:stCondLst>
                                        </p:cTn>
                                        <p:tgtEl>
                                          <p:spTgt spid="172"/>
                                        </p:tgtEl>
                                        <p:attrNameLst>
                                          <p:attrName>style.visibility</p:attrName>
                                        </p:attrNameLst>
                                      </p:cBhvr>
                                      <p:to>
                                        <p:strVal val="visible"/>
                                      </p:to>
                                    </p:set>
                                  </p:childTnLst>
                                </p:cTn>
                              </p:par>
                            </p:childTnLst>
                          </p:cTn>
                        </p:par>
                      </p:childTnLst>
                    </p:cTn>
                  </p:par>
                  <p:par>
                    <p:cTn id="328" fill="hold">
                      <p:stCondLst>
                        <p:cond delay="indefinite"/>
                      </p:stCondLst>
                      <p:childTnLst>
                        <p:par>
                          <p:cTn id="329" fill="hold">
                            <p:stCondLst>
                              <p:cond delay="0"/>
                            </p:stCondLst>
                            <p:childTnLst>
                              <p:par>
                                <p:cTn id="330" presetID="2" presetClass="entr" presetSubtype="8" fill="hold" grpId="0" nodeType="clickEffect">
                                  <p:stCondLst>
                                    <p:cond delay="0"/>
                                  </p:stCondLst>
                                  <p:childTnLst>
                                    <p:set>
                                      <p:cBhvr>
                                        <p:cTn id="331" dur="1" fill="hold">
                                          <p:stCondLst>
                                            <p:cond delay="0"/>
                                          </p:stCondLst>
                                        </p:cTn>
                                        <p:tgtEl>
                                          <p:spTgt spid="187"/>
                                        </p:tgtEl>
                                        <p:attrNameLst>
                                          <p:attrName>style.visibility</p:attrName>
                                        </p:attrNameLst>
                                      </p:cBhvr>
                                      <p:to>
                                        <p:strVal val="visible"/>
                                      </p:to>
                                    </p:set>
                                    <p:anim calcmode="lin" valueType="num">
                                      <p:cBhvr additive="base">
                                        <p:cTn id="332" dur="500" fill="hold"/>
                                        <p:tgtEl>
                                          <p:spTgt spid="187"/>
                                        </p:tgtEl>
                                        <p:attrNameLst>
                                          <p:attrName>ppt_x</p:attrName>
                                        </p:attrNameLst>
                                      </p:cBhvr>
                                      <p:tavLst>
                                        <p:tav tm="0">
                                          <p:val>
                                            <p:strVal val="0-#ppt_w/2"/>
                                          </p:val>
                                        </p:tav>
                                        <p:tav tm="100000">
                                          <p:val>
                                            <p:strVal val="#ppt_x"/>
                                          </p:val>
                                        </p:tav>
                                      </p:tavLst>
                                    </p:anim>
                                    <p:anim calcmode="lin" valueType="num">
                                      <p:cBhvr additive="base">
                                        <p:cTn id="333" dur="500" fill="hold"/>
                                        <p:tgtEl>
                                          <p:spTgt spid="187"/>
                                        </p:tgtEl>
                                        <p:attrNameLst>
                                          <p:attrName>ppt_y</p:attrName>
                                        </p:attrNameLst>
                                      </p:cBhvr>
                                      <p:tavLst>
                                        <p:tav tm="0">
                                          <p:val>
                                            <p:strVal val="#ppt_y"/>
                                          </p:val>
                                        </p:tav>
                                        <p:tav tm="100000">
                                          <p:val>
                                            <p:strVal val="#ppt_y"/>
                                          </p:val>
                                        </p:tav>
                                      </p:tavLst>
                                    </p:anim>
                                  </p:childTnLst>
                                </p:cTn>
                              </p:par>
                            </p:childTnLst>
                          </p:cTn>
                        </p:par>
                      </p:childTnLst>
                    </p:cTn>
                  </p:par>
                  <p:par>
                    <p:cTn id="334" fill="hold">
                      <p:stCondLst>
                        <p:cond delay="indefinite"/>
                      </p:stCondLst>
                      <p:childTnLst>
                        <p:par>
                          <p:cTn id="335" fill="hold">
                            <p:stCondLst>
                              <p:cond delay="0"/>
                            </p:stCondLst>
                            <p:childTnLst>
                              <p:par>
                                <p:cTn id="336" presetID="22" presetClass="entr" presetSubtype="4" fill="hold" grpId="0" nodeType="clickEffect">
                                  <p:stCondLst>
                                    <p:cond delay="0"/>
                                  </p:stCondLst>
                                  <p:childTnLst>
                                    <p:set>
                                      <p:cBhvr>
                                        <p:cTn id="337" dur="1" fill="hold">
                                          <p:stCondLst>
                                            <p:cond delay="0"/>
                                          </p:stCondLst>
                                        </p:cTn>
                                        <p:tgtEl>
                                          <p:spTgt spid="192"/>
                                        </p:tgtEl>
                                        <p:attrNameLst>
                                          <p:attrName>style.visibility</p:attrName>
                                        </p:attrNameLst>
                                      </p:cBhvr>
                                      <p:to>
                                        <p:strVal val="visible"/>
                                      </p:to>
                                    </p:set>
                                    <p:animEffect transition="in" filter="wipe(down)">
                                      <p:cBhvr>
                                        <p:cTn id="338" dur="5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3" grpId="0" animBg="1"/>
      <p:bldP spid="104" grpId="0" animBg="1"/>
      <p:bldP spid="105" grpId="0" animBg="1"/>
      <p:bldP spid="106" grpId="0" animBg="1"/>
      <p:bldP spid="107" grpId="0" animBg="1"/>
      <p:bldP spid="108" grpId="0" animBg="1"/>
      <p:bldP spid="109" grpId="0" animBg="1"/>
      <p:bldP spid="110" grpId="0"/>
      <p:bldP spid="111" grpId="0"/>
      <p:bldP spid="112" grpId="0"/>
      <p:bldP spid="113" grpId="0"/>
      <p:bldP spid="114" grpId="0"/>
      <p:bldP spid="115" grpId="0"/>
      <p:bldP spid="116" grpId="0"/>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p:bldP spid="143" grpId="0"/>
      <p:bldP spid="144" grpId="0"/>
      <p:bldP spid="145" grpId="0"/>
      <p:bldP spid="146" grpId="0" animBg="1"/>
      <p:bldP spid="147" grpId="0" animBg="1"/>
      <p:bldP spid="148" grpId="0" animBg="1"/>
      <p:bldP spid="149" grpId="0" animBg="1"/>
      <p:bldP spid="150" grpId="0" animBg="1"/>
      <p:bldP spid="151" grpId="0" animBg="1"/>
      <p:bldP spid="152" grpId="0"/>
      <p:bldP spid="153" grpId="0"/>
      <p:bldP spid="154" grpId="0"/>
      <p:bldP spid="155" grpId="0" animBg="1"/>
      <p:bldP spid="156" grpId="0" animBg="1"/>
      <p:bldP spid="157" grpId="0"/>
      <p:bldP spid="158" grpId="0" animBg="1"/>
      <p:bldP spid="159" grpId="0" animBg="1"/>
      <p:bldP spid="160" grpId="0" animBg="1"/>
      <p:bldP spid="161" grpId="0" animBg="1"/>
      <p:bldP spid="162" grpId="0" animBg="1"/>
      <p:bldP spid="163" grpId="0" animBg="1"/>
      <p:bldP spid="164" grpId="0" animBg="1"/>
      <p:bldP spid="165" grpId="0"/>
      <p:bldP spid="166" grpId="0"/>
      <p:bldP spid="167" grpId="0"/>
      <p:bldP spid="168" grpId="0" animBg="1"/>
      <p:bldP spid="169" grpId="0" animBg="1"/>
      <p:bldP spid="170" grpId="0"/>
      <p:bldP spid="171" grpId="0" animBg="1"/>
      <p:bldP spid="172" grpId="0"/>
      <p:bldP spid="173" grpId="0"/>
      <p:bldP spid="174" grpId="0"/>
      <p:bldP spid="175" grpId="0" animBg="1"/>
      <p:bldP spid="176" grpId="0" animBg="1"/>
      <p:bldP spid="177" grpId="0"/>
      <p:bldP spid="178" grpId="0"/>
      <p:bldP spid="179" grpId="0" animBg="1"/>
      <p:bldP spid="180" grpId="0" animBg="1"/>
      <p:bldP spid="181" grpId="0"/>
      <p:bldP spid="182" grpId="0"/>
      <p:bldP spid="183" grpId="0"/>
      <p:bldP spid="184" grpId="0" animBg="1"/>
      <p:bldP spid="185" grpId="0" animBg="1"/>
      <p:bldP spid="186" grpId="0"/>
      <p:bldP spid="187" grpId="0"/>
      <p:bldP spid="188" grpId="0"/>
      <p:bldP spid="189" grpId="0"/>
      <p:bldP spid="190" grpId="0" animBg="1"/>
      <p:bldP spid="191" grpId="0"/>
      <p:bldP spid="192" grpId="0" animBg="1"/>
      <p:bldP spid="194" grpId="0"/>
      <p:bldP spid="196" grpId="0"/>
      <p:bldP spid="197" grpId="0"/>
      <p:bldP spid="198" grpId="0"/>
      <p:bldP spid="20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布线问题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4515" name="Text Box 4"/>
          <p:cNvSpPr txBox="1">
            <a:spLocks noChangeArrowheads="1"/>
          </p:cNvSpPr>
          <p:nvPr/>
        </p:nvSpPr>
        <p:spPr bwMode="auto">
          <a:xfrm>
            <a:off x="269875" y="1166813"/>
            <a:ext cx="8753475" cy="2406650"/>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印刷电路板将布线区域划分成</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n×m</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个方格如图</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所示。精确的电路布线问题要求确定连接方格</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的中点到方格</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的中点的最短布线方案。在布线时，电路只能</a:t>
            </a:r>
            <a:r>
              <a:rPr lang="zh-CN" altLang="en-US" sz="28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沿直线或直角布线</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，如图</a:t>
            </a:r>
            <a:r>
              <a:rPr lang="en-US" altLang="zh-CN"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所示。为了避免线路相交，已布了线的方格做了</a:t>
            </a:r>
            <a:r>
              <a:rPr lang="zh-CN" altLang="en-US" sz="28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封锁标记</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，其它线路</a:t>
            </a:r>
            <a:r>
              <a:rPr lang="zh-CN" altLang="en-US" sz="28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不允穿过被封锁的方格</a:t>
            </a:r>
            <a:r>
              <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146434" name="Picture 2"/>
          <p:cNvPicPr>
            <a:picLocks noChangeAspect="1" noChangeArrowheads="1"/>
          </p:cNvPicPr>
          <p:nvPr/>
        </p:nvPicPr>
        <p:blipFill>
          <a:blip r:embed="rId1"/>
          <a:srcRect/>
          <a:stretch>
            <a:fillRect/>
          </a:stretch>
        </p:blipFill>
        <p:spPr bwMode="auto">
          <a:xfrm>
            <a:off x="1866900" y="4051300"/>
            <a:ext cx="1917700" cy="2171700"/>
          </a:xfrm>
          <a:prstGeom prst="rect">
            <a:avLst/>
          </a:prstGeom>
        </p:spPr>
        <p:style>
          <a:lnRef idx="2">
            <a:schemeClr val="accent6">
              <a:shade val="50000"/>
            </a:schemeClr>
          </a:lnRef>
          <a:fillRef idx="1">
            <a:schemeClr val="accent6"/>
          </a:fillRef>
          <a:effectRef idx="0">
            <a:schemeClr val="accent6"/>
          </a:effectRef>
          <a:fontRef idx="minor">
            <a:schemeClr val="lt1"/>
          </a:fontRef>
        </p:style>
      </p:pic>
      <p:pic>
        <p:nvPicPr>
          <p:cNvPr id="146435" name="Picture 3"/>
          <p:cNvPicPr>
            <a:picLocks noChangeAspect="1" noChangeArrowheads="1"/>
          </p:cNvPicPr>
          <p:nvPr/>
        </p:nvPicPr>
        <p:blipFill>
          <a:blip r:embed="rId2"/>
          <a:srcRect/>
          <a:stretch>
            <a:fillRect/>
          </a:stretch>
        </p:blipFill>
        <p:spPr bwMode="auto">
          <a:xfrm>
            <a:off x="4935538" y="4068763"/>
            <a:ext cx="2012950" cy="2227262"/>
          </a:xfrm>
          <a:prstGeom prst="rect">
            <a:avLst/>
          </a:prstGeom>
        </p:spPr>
        <p:style>
          <a:lnRef idx="1">
            <a:schemeClr val="accent6"/>
          </a:lnRef>
          <a:fillRef idx="2">
            <a:schemeClr val="accent6"/>
          </a:fillRef>
          <a:effectRef idx="1">
            <a:schemeClr val="accent6"/>
          </a:effectRef>
          <a:fontRef idx="minor">
            <a:schemeClr val="dk1"/>
          </a:fontRef>
        </p:style>
      </p:pic>
    </p:spTree>
    <p:custDataLst>
      <p:tags r:id="rId3"/>
    </p:custData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布线问题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Text Box 4"/>
          <p:cNvSpPr txBox="1">
            <a:spLocks noChangeArrowheads="1"/>
          </p:cNvSpPr>
          <p:nvPr/>
        </p:nvSpPr>
        <p:spPr bwMode="auto">
          <a:xfrm>
            <a:off x="214313" y="1157288"/>
            <a:ext cx="8751887" cy="3236912"/>
          </a:xfrm>
          <a:prstGeom prst="rect">
            <a:avLst/>
          </a:prstGeom>
        </p:spPr>
        <p:style>
          <a:lnRef idx="2">
            <a:schemeClr val="accent1"/>
          </a:lnRef>
          <a:fillRef idx="1">
            <a:schemeClr val="lt1"/>
          </a:fillRef>
          <a:effectRef idx="0">
            <a:schemeClr val="accent1"/>
          </a:effectRef>
          <a:fontRef idx="minor">
            <a:schemeClr val="dk1"/>
          </a:fontRef>
        </p:style>
        <p:txBody>
          <a:bodyPr/>
          <a:lstStyle/>
          <a:p>
            <a:pPr indent="-609600" algn="just" eaLnBrk="1" hangingPunct="1">
              <a:spcBef>
                <a:spcPct val="50000"/>
              </a:spcBef>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算法思想：</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楷体_GB2312" panose="02010609030101010101" pitchFamily="49" charset="-122"/>
              </a:rPr>
              <a:t>队列式分支限界法从起始位置</a:t>
            </a:r>
            <a:r>
              <a:rPr lang="en-US" altLang="zh-CN" sz="2400" b="1" dirty="0">
                <a:solidFill>
                  <a:schemeClr val="tx1">
                    <a:lumMod val="50000"/>
                  </a:schemeClr>
                </a:solidFill>
                <a:latin typeface="华文楷体" panose="02010600040101010101" pitchFamily="2" charset="-122"/>
                <a:ea typeface="华文楷体" panose="02010600040101010101" pitchFamily="2" charset="-122"/>
                <a:cs typeface="楷体_GB2312" panose="02010609030101010101" pitchFamily="49" charset="-122"/>
              </a:rPr>
              <a:t>a</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楷体_GB2312" panose="02010609030101010101" pitchFamily="49" charset="-122"/>
              </a:rPr>
              <a:t>开始将它作为第一个扩展结点。与该扩展结点相邻并且可达的方格成为可行结点被加入到活结点队列中，并且将这些方格标记为1，即</a:t>
            </a:r>
            <a:r>
              <a:rPr lang="zh-CN" altLang="en-US" sz="2400" b="1" dirty="0">
                <a:solidFill>
                  <a:srgbClr val="FF0000"/>
                </a:solidFill>
                <a:latin typeface="华文楷体" panose="02010600040101010101" pitchFamily="2" charset="-122"/>
                <a:ea typeface="华文楷体" panose="02010600040101010101" pitchFamily="2" charset="-122"/>
                <a:cs typeface="楷体_GB2312" panose="02010609030101010101" pitchFamily="49" charset="-122"/>
              </a:rPr>
              <a:t>从起始方格</a:t>
            </a:r>
            <a:r>
              <a:rPr lang="en-US" altLang="zh-CN" sz="2400" b="1" dirty="0">
                <a:solidFill>
                  <a:srgbClr val="FF0000"/>
                </a:solidFill>
                <a:latin typeface="华文楷体" panose="02010600040101010101" pitchFamily="2" charset="-122"/>
                <a:ea typeface="华文楷体" panose="02010600040101010101" pitchFamily="2" charset="-122"/>
                <a:cs typeface="楷体_GB2312" panose="02010609030101010101" pitchFamily="49" charset="-122"/>
              </a:rPr>
              <a:t>a</a:t>
            </a:r>
            <a:r>
              <a:rPr lang="zh-CN" altLang="en-US" sz="2400" b="1" dirty="0">
                <a:solidFill>
                  <a:srgbClr val="FF0000"/>
                </a:solidFill>
                <a:latin typeface="华文楷体" panose="02010600040101010101" pitchFamily="2" charset="-122"/>
                <a:ea typeface="华文楷体" panose="02010600040101010101" pitchFamily="2" charset="-122"/>
                <a:cs typeface="楷体_GB2312" panose="02010609030101010101" pitchFamily="49" charset="-122"/>
              </a:rPr>
              <a:t>到这些方格的距离为1</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楷体_GB2312" panose="02010609030101010101" pitchFamily="49" charset="-122"/>
              </a:rPr>
              <a:t>。</a:t>
            </a:r>
            <a:endParaRPr lang="zh-CN" altLang="en-US" sz="2400" b="1" dirty="0">
              <a:solidFill>
                <a:schemeClr val="tx1">
                  <a:lumMod val="50000"/>
                </a:schemeClr>
              </a:solidFill>
              <a:latin typeface="华文楷体" panose="02010600040101010101" pitchFamily="2" charset="-122"/>
              <a:ea typeface="华文楷体" panose="02010600040101010101" pitchFamily="2" charset="-122"/>
              <a:cs typeface="楷体_GB2312" panose="02010609030101010101" pitchFamily="49" charset="-122"/>
            </a:endParaRPr>
          </a:p>
          <a:p>
            <a:pPr indent="-609600" algn="just" eaLnBrk="1" hangingPunct="1">
              <a:spcBef>
                <a:spcPct val="50000"/>
              </a:spcBef>
              <a:defRPr/>
            </a:pP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楷体_GB2312" panose="02010609030101010101" pitchFamily="49" charset="-122"/>
              </a:rPr>
              <a:t>接着，算法从活结点队列中取出队首结点作为下一个扩展结点，并将与当前扩展结点</a:t>
            </a:r>
            <a:r>
              <a:rPr lang="zh-CN" altLang="en-US" sz="2400" b="1" dirty="0">
                <a:solidFill>
                  <a:srgbClr val="FF0000"/>
                </a:solidFill>
                <a:latin typeface="华文楷体" panose="02010600040101010101" pitchFamily="2" charset="-122"/>
                <a:ea typeface="华文楷体" panose="02010600040101010101" pitchFamily="2" charset="-122"/>
                <a:cs typeface="楷体_GB2312" panose="02010609030101010101" pitchFamily="49" charset="-122"/>
              </a:rPr>
              <a:t>相邻且未标记过的方格标记为2</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楷体_GB2312" panose="02010609030101010101" pitchFamily="49" charset="-122"/>
              </a:rPr>
              <a:t>，并存入活结点队列。这个过程</a:t>
            </a:r>
            <a:r>
              <a:rPr lang="zh-CN" altLang="en-US" sz="2400" b="1" dirty="0">
                <a:solidFill>
                  <a:srgbClr val="FF0000"/>
                </a:solidFill>
                <a:latin typeface="华文楷体" panose="02010600040101010101" pitchFamily="2" charset="-122"/>
                <a:ea typeface="华文楷体" panose="02010600040101010101" pitchFamily="2" charset="-122"/>
                <a:cs typeface="楷体_GB2312" panose="02010609030101010101" pitchFamily="49" charset="-122"/>
              </a:rPr>
              <a:t>一直继续到算法搜索到目标方格</a:t>
            </a:r>
            <a:r>
              <a:rPr lang="en-US" altLang="zh-CN" sz="2400" b="1" dirty="0">
                <a:solidFill>
                  <a:srgbClr val="FF0000"/>
                </a:solidFill>
                <a:latin typeface="华文楷体" panose="02010600040101010101" pitchFamily="2" charset="-122"/>
                <a:ea typeface="华文楷体" panose="02010600040101010101" pitchFamily="2" charset="-122"/>
                <a:cs typeface="楷体_GB2312" panose="02010609030101010101" pitchFamily="49" charset="-122"/>
              </a:rPr>
              <a:t>b</a:t>
            </a:r>
            <a:r>
              <a:rPr lang="zh-CN" altLang="en-US" sz="2400" b="1" dirty="0">
                <a:solidFill>
                  <a:srgbClr val="FF0000"/>
                </a:solidFill>
                <a:latin typeface="华文楷体" panose="02010600040101010101" pitchFamily="2" charset="-122"/>
                <a:ea typeface="华文楷体" panose="02010600040101010101" pitchFamily="2" charset="-122"/>
                <a:cs typeface="楷体_GB2312" panose="02010609030101010101" pitchFamily="49" charset="-122"/>
              </a:rPr>
              <a:t>或活结点队列为空时为止</a:t>
            </a:r>
            <a:r>
              <a:rPr lang="zh-CN" altLang="en-US" sz="2400" b="1" dirty="0">
                <a:solidFill>
                  <a:schemeClr val="tx1">
                    <a:lumMod val="50000"/>
                  </a:schemeClr>
                </a:solidFill>
                <a:latin typeface="华文楷体" panose="02010600040101010101" pitchFamily="2" charset="-122"/>
                <a:ea typeface="华文楷体" panose="02010600040101010101" pitchFamily="2" charset="-122"/>
                <a:cs typeface="楷体_GB2312" panose="02010609030101010101" pitchFamily="49" charset="-122"/>
              </a:rPr>
              <a:t>。即加入剪枝的广度优先搜索。</a:t>
            </a:r>
            <a:endParaRPr lang="zh-CN" altLang="en-US" sz="2400" b="1" dirty="0">
              <a:solidFill>
                <a:schemeClr val="tx1">
                  <a:lumMod val="50000"/>
                </a:schemeClr>
              </a:solidFill>
              <a:latin typeface="华文楷体" panose="02010600040101010101" pitchFamily="2" charset="-122"/>
              <a:ea typeface="华文楷体" panose="02010600040101010101" pitchFamily="2" charset="-122"/>
            </a:endParaRPr>
          </a:p>
          <a:p>
            <a:pPr eaLnBrk="1" hangingPunct="1">
              <a:defRPr/>
            </a:pPr>
            <a:endParaRPr lang="zh-CN" altLang="en-US" sz="28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7348"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76388" y="4572000"/>
            <a:ext cx="1893887"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9075" y="4548188"/>
            <a:ext cx="1927225" cy="218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布线问题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6563" name="Text Box 3"/>
          <p:cNvSpPr txBox="1">
            <a:spLocks noChangeArrowheads="1"/>
          </p:cNvSpPr>
          <p:nvPr/>
        </p:nvSpPr>
        <p:spPr bwMode="auto">
          <a:xfrm>
            <a:off x="762000" y="1717675"/>
            <a:ext cx="55340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Position [] offset = new Position [4];</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offset[0] = new Position(0, 1);      </a:t>
            </a:r>
            <a:r>
              <a:rPr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右</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行不变，列</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offset[1] = new Position(1, 0);      </a:t>
            </a:r>
            <a:r>
              <a:rPr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下</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行</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，列不变</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offset[2] = new Position(0, -1);     </a:t>
            </a:r>
            <a:r>
              <a:rPr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左</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行不变，列</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offset[3] = new Position(-1, 0);     </a:t>
            </a:r>
            <a:r>
              <a:rPr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行</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，列不变</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AutoShape 4"/>
          <p:cNvSpPr>
            <a:spLocks noChangeArrowheads="1"/>
          </p:cNvSpPr>
          <p:nvPr/>
        </p:nvSpPr>
        <p:spPr bwMode="auto">
          <a:xfrm>
            <a:off x="6829425" y="1793875"/>
            <a:ext cx="2286000" cy="914400"/>
          </a:xfrm>
          <a:prstGeom prst="wedgeRoundRectCallout">
            <a:avLst>
              <a:gd name="adj1" fmla="val -95486"/>
              <a:gd name="adj2" fmla="val 30731"/>
              <a:gd name="adj3" fmla="val 16667"/>
            </a:avLst>
          </a:prstGeom>
          <a:solidFill>
            <a:srgbClr val="CCCCFF"/>
          </a:solidFill>
          <a:ln w="6350">
            <a:solidFill>
              <a:srgbClr val="CCCCFF"/>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zh-CN" altLang="en-US" sz="2000" b="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定义移动方向的相对位移</a:t>
            </a:r>
            <a:endParaRPr lang="en-US" altLang="zh-CN" sz="2000" b="1">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Text Box 5"/>
          <p:cNvSpPr txBox="1">
            <a:spLocks noChangeArrowheads="1"/>
          </p:cNvSpPr>
          <p:nvPr/>
        </p:nvSpPr>
        <p:spPr bwMode="auto">
          <a:xfrm>
            <a:off x="762000" y="3899595"/>
            <a:ext cx="5562600" cy="2446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0;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&lt;= size + 1;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grid[0][</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grid[size + 1][</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1;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顶部和底部</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zh-CN" altLang="en-US"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grid[</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][0] = grid[</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][size + 1] = 1;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左翼和右翼</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zh-CN" altLang="en-US"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here = new Position(</a:t>
            </a:r>
            <a:r>
              <a:rPr lang="en-US" altLang="zh-CN" b="1" dirty="0" err="1"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start.row</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start.col</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AutoShape 6"/>
          <p:cNvSpPr>
            <a:spLocks noChangeArrowheads="1"/>
          </p:cNvSpPr>
          <p:nvPr/>
        </p:nvSpPr>
        <p:spPr bwMode="auto">
          <a:xfrm>
            <a:off x="5715000" y="3775075"/>
            <a:ext cx="2209800" cy="914400"/>
          </a:xfrm>
          <a:prstGeom prst="wedgeRoundRectCallout">
            <a:avLst>
              <a:gd name="adj1" fmla="val -111065"/>
              <a:gd name="adj2" fmla="val 51042"/>
              <a:gd name="adj3" fmla="val 16667"/>
            </a:avLst>
          </a:prstGeom>
          <a:solidFill>
            <a:srgbClr val="CCCCFF"/>
          </a:solidFill>
          <a:ln w="6350">
            <a:solidFill>
              <a:srgbClr val="CCCCFF"/>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zh-CN" altLang="en-US" sz="2000" b="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设置边界的围墙</a:t>
            </a:r>
            <a:endParaRPr lang="en-US" altLang="zh-CN" sz="2000" b="1">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9" grpId="0" autoUpdateAnimBg="0"/>
      <p:bldP spid="10"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布线问题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7587" name="Text Box 3"/>
          <p:cNvSpPr txBox="1">
            <a:spLocks noChangeArrowheads="1"/>
          </p:cNvSpPr>
          <p:nvPr/>
        </p:nvSpPr>
        <p:spPr bwMode="auto">
          <a:xfrm>
            <a:off x="273050" y="1392238"/>
            <a:ext cx="887095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while(true) {</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0;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&lt;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numOfNbrs</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numOfNbrs</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=4,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相邻的结点数量</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nbr.row</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here.row</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offset[</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].row;</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移动</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nbr.col</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here.col</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offset[</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].col;</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if (grid[</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nbr.row</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nbr.col</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0) {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该方格未标记，标记了就不能继续移动了</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zh-CN" altLang="en-US"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grid[</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nbr.row</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nbr.col</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grid[</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here.row</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here.col</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+ 1</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当前标记</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if ((</a:t>
            </a:r>
            <a:r>
              <a:rPr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nbr.row</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finish.row</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&amp;&amp; (</a:t>
            </a:r>
            <a:r>
              <a:rPr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nbr.col</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finish.col</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break; </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zh-CN" altLang="en-US"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Q.put</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(new Position(</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nbr.row</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nbr.col</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加入活结点</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latinLnBrk="1" hangingPunct="1"/>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是否到达目标位置</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finish？</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latinLnBrk="1" hangingPunct="1"/>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if((</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nbr.row</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finish.row</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&amp;&amp;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nbr.col</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finish.col</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break;</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完成布线</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latinLnBrk="1" hangingPunct="1"/>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if(</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Q.IsEmpty</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return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false</a:t>
            </a:r>
            <a:r>
              <a:rPr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活结点队列是否非空？无解</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latinLnBrk="1" hangingPunct="1"/>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here = </a:t>
            </a:r>
            <a:r>
              <a:rPr lang="en-US" altLang="zh-CN"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Q.Poll</a:t>
            </a: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取下一个扩展结点</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布线问题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8611" name="Text Box 3"/>
          <p:cNvSpPr txBox="1">
            <a:spLocks noChangeArrowheads="1"/>
          </p:cNvSpPr>
          <p:nvPr/>
        </p:nvSpPr>
        <p:spPr bwMode="auto">
          <a:xfrm>
            <a:off x="463550" y="1139825"/>
            <a:ext cx="80772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8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如何构造最优解呢？</a:t>
            </a:r>
            <a:endParaRPr lang="zh-CN" altLang="en-US" sz="28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Text Box 5"/>
          <p:cNvSpPr txBox="1">
            <a:spLocks noChangeArrowheads="1"/>
          </p:cNvSpPr>
          <p:nvPr/>
        </p:nvSpPr>
        <p:spPr bwMode="auto">
          <a:xfrm>
            <a:off x="558800" y="1881188"/>
            <a:ext cx="8069263" cy="954087"/>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eaLnBrk="1" hangingPunct="1">
              <a:spcBef>
                <a:spcPct val="50000"/>
              </a:spcBef>
              <a:defRPr/>
            </a:pPr>
            <a:r>
              <a:rPr lang="zh-CN" altLang="en-US"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找到目标位置后，每次向标记位置标记值减</a:t>
            </a:r>
            <a:r>
              <a:rPr lang="en-US" altLang="zh-CN"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的方向回溯，直到找到初始结点即找到最短路径。</a:t>
            </a:r>
            <a:endParaRPr lang="zh-CN" altLang="en-US"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5125" y="3502025"/>
            <a:ext cx="1893888"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7813" y="3478213"/>
            <a:ext cx="1927225" cy="218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布线问题</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应用</a:t>
            </a:r>
            <a:endParaRPr lang="zh-CN" altLang="en-US" sz="3200">
              <a:solidFill>
                <a:schemeClr val="bg1"/>
              </a:solidFill>
              <a:latin typeface="楷体" panose="02010609060101010101" pitchFamily="49" charset="-122"/>
              <a:ea typeface="楷体" panose="02010609060101010101" pitchFamily="49" charset="-122"/>
            </a:endParaRPr>
          </a:p>
        </p:txBody>
      </p:sp>
      <p:pic>
        <p:nvPicPr>
          <p:cNvPr id="147458" name="Picture 2"/>
          <p:cNvPicPr>
            <a:picLocks noChangeAspect="1" noChangeArrowheads="1"/>
          </p:cNvPicPr>
          <p:nvPr/>
        </p:nvPicPr>
        <p:blipFill>
          <a:blip r:embed="rId1"/>
          <a:srcRect/>
          <a:stretch>
            <a:fillRect/>
          </a:stretch>
        </p:blipFill>
        <p:spPr bwMode="auto">
          <a:xfrm>
            <a:off x="1157288" y="1331913"/>
            <a:ext cx="4395787" cy="4894262"/>
          </a:xfrm>
          <a:prstGeom prst="rect">
            <a:avLst/>
          </a:prstGeom>
        </p:spPr>
        <p:style>
          <a:lnRef idx="3">
            <a:schemeClr val="lt1"/>
          </a:lnRef>
          <a:fillRef idx="1">
            <a:schemeClr val="accent6"/>
          </a:fillRef>
          <a:effectRef idx="1">
            <a:schemeClr val="accent6"/>
          </a:effectRef>
          <a:fontRef idx="minor">
            <a:schemeClr val="lt1"/>
          </a:fontRef>
        </p:style>
      </p:pic>
      <p:sp>
        <p:nvSpPr>
          <p:cNvPr id="4" name="矩形 3"/>
          <p:cNvSpPr/>
          <p:nvPr/>
        </p:nvSpPr>
        <p:spPr>
          <a:xfrm>
            <a:off x="5840413" y="3013075"/>
            <a:ext cx="2921000" cy="1493838"/>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r>
              <a:rPr lang="zh-CN" altLang="en-US" sz="2400" b="1" dirty="0">
                <a:solidFill>
                  <a:schemeClr val="tx1">
                    <a:lumMod val="50000"/>
                  </a:schemeClr>
                </a:solidFill>
                <a:latin typeface="华文楷体" panose="02010600040101010101" pitchFamily="2" charset="-122"/>
                <a:ea typeface="华文楷体" panose="02010600040101010101" pitchFamily="2" charset="-122"/>
              </a:rPr>
              <a:t>布线问题还可以应用于对战，寻找最短路径</a:t>
            </a:r>
            <a:endParaRPr lang="zh-CN" altLang="en-US" sz="2400" b="1" dirty="0">
              <a:solidFill>
                <a:schemeClr val="tx1">
                  <a:lumMod val="50000"/>
                </a:schemeClr>
              </a:solidFill>
              <a:latin typeface="华文楷体" panose="02010600040101010101" pitchFamily="2" charset="-122"/>
              <a:ea typeface="华文楷体" panose="02010600040101010101"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solidFill>
                  <a:schemeClr val="bg1"/>
                </a:solidFill>
                <a:latin typeface="楷体" panose="02010609060101010101" pitchFamily="49" charset="-122"/>
                <a:ea typeface="楷体" panose="02010609060101010101" pitchFamily="49" charset="-122"/>
              </a:rPr>
              <a:t>布线问题</a:t>
            </a:r>
            <a:r>
              <a:rPr lang="en-US" altLang="zh-CN" sz="3200" dirty="0" smtClean="0">
                <a:solidFill>
                  <a:schemeClr val="bg1"/>
                </a:solidFill>
                <a:latin typeface="楷体" panose="02010609060101010101" pitchFamily="49" charset="-122"/>
                <a:ea typeface="楷体" panose="02010609060101010101" pitchFamily="49" charset="-122"/>
              </a:rPr>
              <a:t>—</a:t>
            </a:r>
            <a:r>
              <a:rPr lang="zh-CN" altLang="en-US" sz="3200" dirty="0" smtClean="0">
                <a:solidFill>
                  <a:schemeClr val="bg1"/>
                </a:solidFill>
                <a:latin typeface="楷体" panose="02010609060101010101" pitchFamily="49" charset="-122"/>
                <a:ea typeface="楷体" panose="02010609060101010101" pitchFamily="49" charset="-122"/>
              </a:rPr>
              <a:t>拓展</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4" name="矩形 3"/>
          <p:cNvSpPr/>
          <p:nvPr/>
        </p:nvSpPr>
        <p:spPr>
          <a:xfrm>
            <a:off x="5657533" y="1754427"/>
            <a:ext cx="2921000" cy="3936367"/>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r>
              <a:rPr lang="zh-CN" altLang="en-US" sz="2400" b="1" dirty="0" smtClean="0">
                <a:solidFill>
                  <a:schemeClr val="tx1">
                    <a:lumMod val="50000"/>
                  </a:schemeClr>
                </a:solidFill>
                <a:latin typeface="华文楷体" panose="02010600040101010101" pitchFamily="2" charset="-122"/>
                <a:ea typeface="华文楷体" panose="02010600040101010101" pitchFamily="2" charset="-122"/>
              </a:rPr>
              <a:t>如果给两个</a:t>
            </a:r>
            <a:r>
              <a:rPr lang="en-US" altLang="zh-CN" sz="2400" b="1" dirty="0" smtClean="0">
                <a:solidFill>
                  <a:schemeClr val="tx1">
                    <a:lumMod val="50000"/>
                  </a:schemeClr>
                </a:solidFill>
                <a:latin typeface="华文楷体" panose="02010600040101010101" pitchFamily="2" charset="-122"/>
                <a:ea typeface="华文楷体" panose="02010600040101010101" pitchFamily="2" charset="-122"/>
              </a:rPr>
              <a:t>AGV</a:t>
            </a:r>
            <a:r>
              <a:rPr lang="zh-CN" altLang="en-US" sz="2400" b="1" dirty="0" smtClean="0">
                <a:solidFill>
                  <a:schemeClr val="tx1">
                    <a:lumMod val="50000"/>
                  </a:schemeClr>
                </a:solidFill>
                <a:latin typeface="华文楷体" panose="02010600040101010101" pitchFamily="2" charset="-122"/>
                <a:ea typeface="华文楷体" panose="02010600040101010101" pitchFamily="2" charset="-122"/>
              </a:rPr>
              <a:t>规划好了路径，路径有交叉。假设算法可以实时获取</a:t>
            </a:r>
            <a:r>
              <a:rPr lang="en-US" altLang="zh-CN" sz="2400" b="1" dirty="0" smtClean="0">
                <a:solidFill>
                  <a:schemeClr val="tx1">
                    <a:lumMod val="50000"/>
                  </a:schemeClr>
                </a:solidFill>
                <a:latin typeface="华文楷体" panose="02010600040101010101" pitchFamily="2" charset="-122"/>
                <a:ea typeface="华文楷体" panose="02010600040101010101" pitchFamily="2" charset="-122"/>
              </a:rPr>
              <a:t>AGV</a:t>
            </a:r>
            <a:r>
              <a:rPr lang="zh-CN" altLang="en-US" sz="2400" b="1" dirty="0" smtClean="0">
                <a:solidFill>
                  <a:schemeClr val="tx1">
                    <a:lumMod val="50000"/>
                  </a:schemeClr>
                </a:solidFill>
                <a:latin typeface="华文楷体" panose="02010600040101010101" pitchFamily="2" charset="-122"/>
                <a:ea typeface="华文楷体" panose="02010600040101010101" pitchFamily="2" charset="-122"/>
              </a:rPr>
              <a:t>的位置，且能够实时控制</a:t>
            </a:r>
            <a:r>
              <a:rPr lang="en-US" altLang="zh-CN" sz="2400" b="1" dirty="0" smtClean="0">
                <a:solidFill>
                  <a:schemeClr val="tx1">
                    <a:lumMod val="50000"/>
                  </a:schemeClr>
                </a:solidFill>
                <a:latin typeface="华文楷体" panose="02010600040101010101" pitchFamily="2" charset="-122"/>
                <a:ea typeface="华文楷体" panose="02010600040101010101" pitchFamily="2" charset="-122"/>
              </a:rPr>
              <a:t>AGV</a:t>
            </a:r>
            <a:r>
              <a:rPr lang="zh-CN" altLang="en-US" sz="2400" b="1" dirty="0" smtClean="0">
                <a:solidFill>
                  <a:schemeClr val="tx1">
                    <a:lumMod val="50000"/>
                  </a:schemeClr>
                </a:solidFill>
                <a:latin typeface="华文楷体" panose="02010600040101010101" pitchFamily="2" charset="-122"/>
                <a:ea typeface="华文楷体" panose="02010600040101010101" pitchFamily="2" charset="-122"/>
              </a:rPr>
              <a:t>运动和停止。如何确保</a:t>
            </a:r>
            <a:r>
              <a:rPr lang="en-US" altLang="zh-CN" sz="2400" b="1" dirty="0" smtClean="0">
                <a:solidFill>
                  <a:schemeClr val="tx1">
                    <a:lumMod val="50000"/>
                  </a:schemeClr>
                </a:solidFill>
                <a:latin typeface="华文楷体" panose="02010600040101010101" pitchFamily="2" charset="-122"/>
                <a:ea typeface="华文楷体" panose="02010600040101010101" pitchFamily="2" charset="-122"/>
              </a:rPr>
              <a:t>AGV</a:t>
            </a:r>
            <a:r>
              <a:rPr lang="zh-CN" altLang="en-US" sz="2400" b="1" dirty="0" smtClean="0">
                <a:solidFill>
                  <a:schemeClr val="tx1">
                    <a:lumMod val="50000"/>
                  </a:schemeClr>
                </a:solidFill>
                <a:latin typeface="华文楷体" panose="02010600040101010101" pitchFamily="2" charset="-122"/>
                <a:ea typeface="华文楷体" panose="02010600040101010101" pitchFamily="2" charset="-122"/>
              </a:rPr>
              <a:t>走的过程中不会碰撞？怎么制定无碰撞策略？</a:t>
            </a:r>
            <a:endParaRPr lang="zh-CN" altLang="en-US" sz="2400" b="1" dirty="0">
              <a:solidFill>
                <a:schemeClr val="tx1">
                  <a:lumMod val="50000"/>
                </a:schemeClr>
              </a:solidFill>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tretch>
            <a:fillRect/>
          </a:stretch>
        </p:blipFill>
        <p:spPr>
          <a:xfrm>
            <a:off x="213622" y="2027161"/>
            <a:ext cx="5274310" cy="3390900"/>
          </a:xfrm>
          <a:prstGeom prst="rect">
            <a:avLst/>
          </a:prstGeom>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最大团问题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5" name="Rectangle 3"/>
          <p:cNvSpPr txBox="1">
            <a:spLocks noChangeArrowheads="1"/>
          </p:cNvSpPr>
          <p:nvPr/>
        </p:nvSpPr>
        <p:spPr bwMode="auto">
          <a:xfrm>
            <a:off x="379413" y="1489075"/>
            <a:ext cx="8539162" cy="4673600"/>
          </a:xfrm>
          <a:prstGeom prst="rect">
            <a:avLst/>
          </a:prstGeom>
        </p:spPr>
        <p:style>
          <a:lnRef idx="2">
            <a:schemeClr val="dk1"/>
          </a:lnRef>
          <a:fillRef idx="1">
            <a:schemeClr val="lt1"/>
          </a:fillRef>
          <a:effectRef idx="0">
            <a:schemeClr val="dk1"/>
          </a:effectRef>
          <a:fontRef idx="minor">
            <a:schemeClr val="dk1"/>
          </a:fontRef>
        </p:style>
        <p:txBody>
          <a:bodyPr/>
          <a:lstStyle/>
          <a:p>
            <a:pPr marL="609600" indent="-609600" algn="just" defTabSz="914400" eaLnBrk="1" hangingPunct="1">
              <a:spcBef>
                <a:spcPct val="50000"/>
              </a:spcBef>
              <a:buFontTx/>
              <a:buAutoNum type="arabicPeriod"/>
              <a:defRPr/>
            </a:pPr>
            <a:r>
              <a:rPr kumimoji="1" lang="zh-CN" altLang="en-US" sz="3200" b="1" kern="0"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问题描述</a:t>
            </a:r>
            <a:endParaRPr kumimoji="1" lang="zh-CN" altLang="en-US" sz="3200" b="1" kern="0"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marL="144145" algn="just" defTabSz="914400" eaLnBrk="1" hangingPunct="1">
              <a:lnSpc>
                <a:spcPct val="150000"/>
              </a:lnSpc>
              <a:spcBef>
                <a:spcPct val="50000"/>
              </a:spcBef>
              <a:defRPr/>
            </a:pP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给定无向图</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G=(V，E)。</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如果</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V，</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且对任意</a:t>
            </a:r>
            <a:r>
              <a:rPr lang="en-US" altLang="zh-CN" sz="3200" b="1" kern="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3200" b="1" kern="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1" kern="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有(</a:t>
            </a:r>
            <a:r>
              <a:rPr lang="en-US" altLang="zh-CN" sz="3200" b="1" kern="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E，</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则称</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完全子图</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的完全子图</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的团当且仅当</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U</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不包含在</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的更大的完全子图中。</a:t>
            </a:r>
            <a:r>
              <a:rPr lang="en-US" altLang="zh-CN"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的最大团是指</a:t>
            </a:r>
            <a:r>
              <a:rPr lang="en-US" altLang="zh-CN"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中所含顶点数最多的团。</a:t>
            </a:r>
            <a:endParaRPr lang="zh-CN" altLang="en-US"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marL="609600" indent="-609600" algn="just" defTabSz="914400" eaLnBrk="1" hangingPunct="1">
              <a:spcBef>
                <a:spcPct val="20000"/>
              </a:spcBef>
              <a:defRPr/>
            </a:pPr>
            <a:endParaRPr kumimoji="1" lang="zh-CN" altLang="en-US" sz="3200" kern="0" dirty="0">
              <a:solidFill>
                <a:srgbClr val="000000"/>
              </a:solidFill>
              <a:latin typeface="Times New Roman" panose="02020603050405020304"/>
              <a:ea typeface="宋体" panose="02010600030101010101" pitchFamily="2" charset="-122"/>
            </a:endParaRPr>
          </a:p>
        </p:txBody>
      </p:sp>
    </p:spTree>
    <p:custDataLst>
      <p:tags r:id="rId1"/>
    </p:custData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最大团问题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5" name="Rectangle 3"/>
          <p:cNvSpPr txBox="1">
            <a:spLocks noChangeArrowheads="1"/>
          </p:cNvSpPr>
          <p:nvPr/>
        </p:nvSpPr>
        <p:spPr bwMode="auto">
          <a:xfrm>
            <a:off x="647700" y="1489075"/>
            <a:ext cx="7772400" cy="4114800"/>
          </a:xfrm>
          <a:prstGeom prst="rect">
            <a:avLst/>
          </a:prstGeom>
        </p:spPr>
        <p:style>
          <a:lnRef idx="2">
            <a:schemeClr val="accent1"/>
          </a:lnRef>
          <a:fillRef idx="1">
            <a:schemeClr val="lt1"/>
          </a:fillRef>
          <a:effectRef idx="0">
            <a:schemeClr val="accent1"/>
          </a:effectRef>
          <a:fontRef idx="minor">
            <a:schemeClr val="dk1"/>
          </a:fontRef>
        </p:style>
        <p:txBody>
          <a:bodyPr/>
          <a:lstStyle/>
          <a:p>
            <a:pPr marL="609600" indent="-609600" algn="just" defTabSz="914400" eaLnBrk="1" hangingPunct="1">
              <a:spcBef>
                <a:spcPct val="50000"/>
              </a:spcBef>
              <a:buFontTx/>
              <a:buAutoNum type="arabicPeriod"/>
              <a:defRPr/>
            </a:pPr>
            <a:r>
              <a:rPr kumimoji="1" lang="zh-CN" altLang="en-US" sz="3200" b="1" kern="0"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问题描述</a:t>
            </a:r>
            <a:endParaRPr kumimoji="1" lang="zh-CN" altLang="en-US" sz="3200" b="1" kern="0"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defTabSz="914400" eaLnBrk="1" hangingPunct="1">
              <a:spcBef>
                <a:spcPct val="50000"/>
              </a:spcBef>
              <a:defRPr/>
            </a:pP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下图</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中，子集</a:t>
            </a:r>
            <a:r>
              <a:rPr lang="zh-CN" altLang="en-US"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{1，2}</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的大小为2的完全子图。这个</a:t>
            </a:r>
            <a:r>
              <a:rPr lang="zh-CN" altLang="en-US"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完全子图不是团</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，因为它被</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的更大的完全子图</a:t>
            </a:r>
            <a:r>
              <a:rPr lang="zh-CN" altLang="en-US" sz="3200" b="1" kern="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{1，2，5}</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包含。{1，2，5}是</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的最大团。{1，4，5}和{2，3，5}也是</a:t>
            </a:r>
            <a:r>
              <a:rPr lang="en-US" altLang="zh-CN"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的最大团。 </a:t>
            </a:r>
            <a:endParaRPr lang="zh-CN" altLang="en-US" sz="3200" b="1" kern="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609600" indent="-609600" algn="just" defTabSz="914400" eaLnBrk="1" hangingPunct="1">
              <a:spcBef>
                <a:spcPct val="50000"/>
              </a:spcBef>
              <a:buFontTx/>
              <a:buAutoNum type="arabicPeriod"/>
              <a:defRPr/>
            </a:pPr>
            <a:endParaRPr lang="en-US" altLang="zh-CN" kern="0" dirty="0">
              <a:solidFill>
                <a:srgbClr val="3333CC"/>
              </a:solidFill>
              <a:ea typeface="华文行楷" panose="02010800040101010101" pitchFamily="2" charset="-122"/>
            </a:endParaRPr>
          </a:p>
          <a:p>
            <a:pPr marL="609600" indent="-609600" algn="just" defTabSz="914400" eaLnBrk="1" hangingPunct="1">
              <a:spcBef>
                <a:spcPct val="20000"/>
              </a:spcBef>
              <a:buFontTx/>
              <a:buChar char="•"/>
              <a:defRPr/>
            </a:pPr>
            <a:endParaRPr kumimoji="1" lang="zh-CN" altLang="en-US" sz="3200" kern="0" dirty="0">
              <a:solidFill>
                <a:srgbClr val="000000"/>
              </a:solidFill>
              <a:latin typeface="Times New Roman" panose="02020603050405020304"/>
              <a:ea typeface="宋体" panose="02010600030101010101" pitchFamily="2" charset="-122"/>
            </a:endParaRPr>
          </a:p>
        </p:txBody>
      </p:sp>
      <p:grpSp>
        <p:nvGrpSpPr>
          <p:cNvPr id="71684" name="Group 4"/>
          <p:cNvGrpSpPr/>
          <p:nvPr/>
        </p:nvGrpSpPr>
        <p:grpSpPr bwMode="auto">
          <a:xfrm>
            <a:off x="3328988" y="4803775"/>
            <a:ext cx="3559175" cy="2039938"/>
            <a:chOff x="869" y="3106"/>
            <a:chExt cx="1680" cy="876"/>
          </a:xfrm>
        </p:grpSpPr>
        <p:sp>
          <p:nvSpPr>
            <p:cNvPr id="71685" name="Oval 5"/>
            <p:cNvSpPr>
              <a:spLocks noChangeArrowheads="1"/>
            </p:cNvSpPr>
            <p:nvPr/>
          </p:nvSpPr>
          <p:spPr bwMode="auto">
            <a:xfrm>
              <a:off x="886" y="3106"/>
              <a:ext cx="199" cy="223"/>
            </a:xfrm>
            <a:prstGeom prst="ellipse">
              <a:avLst/>
            </a:prstGeom>
            <a:solidFill>
              <a:srgbClr val="99CC00"/>
            </a:solidFill>
            <a:ln w="12700" algn="ctr">
              <a:solidFill>
                <a:srgbClr val="000066"/>
              </a:solidFill>
              <a:round/>
            </a:ln>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en-US" altLang="zh-CN" b="1">
                  <a:solidFill>
                    <a:srgbClr val="000066"/>
                  </a:solidFill>
                  <a:latin typeface="Times New Roman" panose="02020603050405020304" pitchFamily="18" charset="0"/>
                  <a:ea typeface="楷体_GB2312" panose="02010609030101010101" pitchFamily="49" charset="-122"/>
                  <a:cs typeface="Times New Roman" panose="02020603050405020304" pitchFamily="18" charset="0"/>
                </a:rPr>
                <a:t>1</a:t>
              </a:r>
              <a:endParaRPr lang="en-US" altLang="zh-CN" b="1">
                <a:solidFill>
                  <a:srgbClr val="000066"/>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71686" name="Oval 6"/>
            <p:cNvSpPr>
              <a:spLocks noChangeArrowheads="1"/>
            </p:cNvSpPr>
            <p:nvPr/>
          </p:nvSpPr>
          <p:spPr bwMode="auto">
            <a:xfrm>
              <a:off x="1699" y="3107"/>
              <a:ext cx="199" cy="223"/>
            </a:xfrm>
            <a:prstGeom prst="ellipse">
              <a:avLst/>
            </a:prstGeom>
            <a:solidFill>
              <a:srgbClr val="99CC00"/>
            </a:solidFill>
            <a:ln w="12700" algn="ctr">
              <a:solidFill>
                <a:srgbClr val="000066"/>
              </a:solidFill>
              <a:round/>
            </a:ln>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en-US" altLang="zh-CN" b="1">
                  <a:solidFill>
                    <a:srgbClr val="000066"/>
                  </a:solidFill>
                  <a:latin typeface="Times New Roman" panose="02020603050405020304" pitchFamily="18" charset="0"/>
                  <a:ea typeface="楷体_GB2312" panose="02010609030101010101" pitchFamily="49" charset="-122"/>
                  <a:cs typeface="Times New Roman" panose="02020603050405020304" pitchFamily="18" charset="0"/>
                </a:rPr>
                <a:t>2</a:t>
              </a:r>
              <a:endParaRPr lang="en-US" altLang="zh-CN" b="1">
                <a:solidFill>
                  <a:srgbClr val="000066"/>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71687" name="Oval 7"/>
            <p:cNvSpPr>
              <a:spLocks noChangeArrowheads="1"/>
            </p:cNvSpPr>
            <p:nvPr/>
          </p:nvSpPr>
          <p:spPr bwMode="auto">
            <a:xfrm>
              <a:off x="869" y="3759"/>
              <a:ext cx="199" cy="223"/>
            </a:xfrm>
            <a:prstGeom prst="ellipse">
              <a:avLst/>
            </a:prstGeom>
            <a:solidFill>
              <a:srgbClr val="FFCC00"/>
            </a:solidFill>
            <a:ln w="12700" algn="ctr">
              <a:solidFill>
                <a:srgbClr val="000066"/>
              </a:solidFill>
              <a:round/>
            </a:ln>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en-US" altLang="zh-CN" b="1">
                  <a:solidFill>
                    <a:srgbClr val="000066"/>
                  </a:solidFill>
                  <a:latin typeface="Times New Roman" panose="02020603050405020304" pitchFamily="18" charset="0"/>
                  <a:ea typeface="楷体_GB2312" panose="02010609030101010101" pitchFamily="49" charset="-122"/>
                  <a:cs typeface="Times New Roman" panose="02020603050405020304" pitchFamily="18" charset="0"/>
                </a:rPr>
                <a:t>4</a:t>
              </a:r>
              <a:endParaRPr lang="en-US" altLang="zh-CN" b="1">
                <a:solidFill>
                  <a:srgbClr val="000066"/>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71688" name="Oval 8"/>
            <p:cNvSpPr>
              <a:spLocks noChangeArrowheads="1"/>
            </p:cNvSpPr>
            <p:nvPr/>
          </p:nvSpPr>
          <p:spPr bwMode="auto">
            <a:xfrm>
              <a:off x="1699" y="3759"/>
              <a:ext cx="199" cy="223"/>
            </a:xfrm>
            <a:prstGeom prst="ellipse">
              <a:avLst/>
            </a:prstGeom>
            <a:solidFill>
              <a:srgbClr val="99CC00"/>
            </a:solidFill>
            <a:ln w="12700" algn="ctr">
              <a:solidFill>
                <a:srgbClr val="000066"/>
              </a:solidFill>
              <a:round/>
            </a:ln>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en-US" altLang="zh-CN" b="1">
                  <a:solidFill>
                    <a:srgbClr val="000066"/>
                  </a:solidFill>
                  <a:latin typeface="Times New Roman" panose="02020603050405020304" pitchFamily="18" charset="0"/>
                  <a:ea typeface="楷体_GB2312" panose="02010609030101010101" pitchFamily="49" charset="-122"/>
                  <a:cs typeface="Times New Roman" panose="02020603050405020304" pitchFamily="18" charset="0"/>
                </a:rPr>
                <a:t>5</a:t>
              </a:r>
              <a:endParaRPr lang="en-US" altLang="zh-CN" b="1">
                <a:solidFill>
                  <a:srgbClr val="000066"/>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71689" name="Oval 9"/>
            <p:cNvSpPr>
              <a:spLocks noChangeArrowheads="1"/>
            </p:cNvSpPr>
            <p:nvPr/>
          </p:nvSpPr>
          <p:spPr bwMode="auto">
            <a:xfrm>
              <a:off x="2350" y="3404"/>
              <a:ext cx="199" cy="223"/>
            </a:xfrm>
            <a:prstGeom prst="ellipse">
              <a:avLst/>
            </a:prstGeom>
            <a:solidFill>
              <a:srgbClr val="FFCC00"/>
            </a:solidFill>
            <a:ln w="12700" algn="ctr">
              <a:solidFill>
                <a:srgbClr val="000066"/>
              </a:solidFill>
              <a:round/>
            </a:ln>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en-US" altLang="zh-CN" b="1">
                  <a:solidFill>
                    <a:srgbClr val="000066"/>
                  </a:solidFill>
                  <a:latin typeface="Times New Roman" panose="02020603050405020304" pitchFamily="18" charset="0"/>
                  <a:ea typeface="楷体_GB2312" panose="02010609030101010101" pitchFamily="49" charset="-122"/>
                  <a:cs typeface="Times New Roman" panose="02020603050405020304" pitchFamily="18" charset="0"/>
                </a:rPr>
                <a:t>3</a:t>
              </a:r>
              <a:endParaRPr lang="en-US" altLang="zh-CN" b="1">
                <a:solidFill>
                  <a:srgbClr val="000066"/>
                </a:solidFill>
                <a:latin typeface="Times New Roman" panose="02020603050405020304" pitchFamily="18" charset="0"/>
                <a:ea typeface="楷体_GB2312" panose="02010609030101010101" pitchFamily="49" charset="-122"/>
                <a:cs typeface="Times New Roman" panose="02020603050405020304" pitchFamily="18" charset="0"/>
              </a:endParaRPr>
            </a:p>
          </p:txBody>
        </p:sp>
        <p:cxnSp>
          <p:nvCxnSpPr>
            <p:cNvPr id="71690" name="AutoShape 10"/>
            <p:cNvCxnSpPr>
              <a:cxnSpLocks noChangeShapeType="1"/>
              <a:stCxn id="71685" idx="6"/>
              <a:endCxn id="71686" idx="2"/>
            </p:cNvCxnSpPr>
            <p:nvPr/>
          </p:nvCxnSpPr>
          <p:spPr bwMode="auto">
            <a:xfrm>
              <a:off x="1085" y="3217"/>
              <a:ext cx="614" cy="1"/>
            </a:xfrm>
            <a:prstGeom prst="straightConnector1">
              <a:avLst/>
            </a:prstGeom>
            <a:noFill/>
            <a:ln w="50800">
              <a:solidFill>
                <a:srgbClr val="FF6600"/>
              </a:solidFill>
              <a:round/>
            </a:ln>
            <a:extLst>
              <a:ext uri="{909E8E84-426E-40DD-AFC4-6F175D3DCCD1}">
                <a14:hiddenFill xmlns:a14="http://schemas.microsoft.com/office/drawing/2010/main">
                  <a:noFill/>
                </a14:hiddenFill>
              </a:ext>
            </a:extLst>
          </p:spPr>
        </p:cxnSp>
        <p:cxnSp>
          <p:nvCxnSpPr>
            <p:cNvPr id="71691" name="AutoShape 11"/>
            <p:cNvCxnSpPr>
              <a:cxnSpLocks noChangeShapeType="1"/>
              <a:stCxn id="71685" idx="4"/>
              <a:endCxn id="71687" idx="0"/>
            </p:cNvCxnSpPr>
            <p:nvPr/>
          </p:nvCxnSpPr>
          <p:spPr bwMode="auto">
            <a:xfrm rot="5400000">
              <a:off x="762" y="3535"/>
              <a:ext cx="430" cy="17"/>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1692" name="AutoShape 12"/>
            <p:cNvCxnSpPr>
              <a:cxnSpLocks noChangeShapeType="1"/>
              <a:stCxn id="71687" idx="6"/>
              <a:endCxn id="71688" idx="2"/>
            </p:cNvCxnSpPr>
            <p:nvPr/>
          </p:nvCxnSpPr>
          <p:spPr bwMode="auto">
            <a:xfrm>
              <a:off x="1068" y="3870"/>
              <a:ext cx="631" cy="1"/>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1693" name="AutoShape 13"/>
            <p:cNvCxnSpPr>
              <a:cxnSpLocks noChangeShapeType="1"/>
              <a:stCxn id="71688" idx="0"/>
              <a:endCxn id="71686" idx="4"/>
            </p:cNvCxnSpPr>
            <p:nvPr/>
          </p:nvCxnSpPr>
          <p:spPr bwMode="auto">
            <a:xfrm rot="5400000" flipH="1" flipV="1">
              <a:off x="1584" y="3544"/>
              <a:ext cx="429" cy="1"/>
            </a:xfrm>
            <a:prstGeom prst="straightConnector1">
              <a:avLst/>
            </a:prstGeom>
            <a:noFill/>
            <a:ln w="50800">
              <a:solidFill>
                <a:srgbClr val="FF6600"/>
              </a:solidFill>
              <a:round/>
            </a:ln>
            <a:extLst>
              <a:ext uri="{909E8E84-426E-40DD-AFC4-6F175D3DCCD1}">
                <a14:hiddenFill xmlns:a14="http://schemas.microsoft.com/office/drawing/2010/main">
                  <a:noFill/>
                </a14:hiddenFill>
              </a:ext>
            </a:extLst>
          </p:spPr>
        </p:cxnSp>
        <p:cxnSp>
          <p:nvCxnSpPr>
            <p:cNvPr id="71694" name="AutoShape 14"/>
            <p:cNvCxnSpPr>
              <a:cxnSpLocks noChangeShapeType="1"/>
              <a:stCxn id="71685" idx="5"/>
              <a:endCxn id="71688" idx="1"/>
            </p:cNvCxnSpPr>
            <p:nvPr/>
          </p:nvCxnSpPr>
          <p:spPr bwMode="auto">
            <a:xfrm rot="16200000" flipH="1">
              <a:off x="1144" y="3208"/>
              <a:ext cx="495" cy="672"/>
            </a:xfrm>
            <a:prstGeom prst="straightConnector1">
              <a:avLst/>
            </a:prstGeom>
            <a:noFill/>
            <a:ln w="50800">
              <a:solidFill>
                <a:srgbClr val="FF6600"/>
              </a:solidFill>
              <a:round/>
            </a:ln>
            <a:extLst>
              <a:ext uri="{909E8E84-426E-40DD-AFC4-6F175D3DCCD1}">
                <a14:hiddenFill xmlns:a14="http://schemas.microsoft.com/office/drawing/2010/main">
                  <a:noFill/>
                </a14:hiddenFill>
              </a:ext>
            </a:extLst>
          </p:spPr>
        </p:cxnSp>
        <p:cxnSp>
          <p:nvCxnSpPr>
            <p:cNvPr id="71695" name="AutoShape 15"/>
            <p:cNvCxnSpPr>
              <a:cxnSpLocks noChangeShapeType="1"/>
              <a:stCxn id="71689" idx="1"/>
              <a:endCxn id="71686" idx="6"/>
            </p:cNvCxnSpPr>
            <p:nvPr/>
          </p:nvCxnSpPr>
          <p:spPr bwMode="auto">
            <a:xfrm rot="16200000" flipV="1">
              <a:off x="2030" y="3087"/>
              <a:ext cx="218" cy="481"/>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cxnSp>
          <p:nvCxnSpPr>
            <p:cNvPr id="71696" name="AutoShape 16"/>
            <p:cNvCxnSpPr>
              <a:cxnSpLocks noChangeShapeType="1"/>
              <a:stCxn id="71688" idx="6"/>
              <a:endCxn id="71689" idx="3"/>
            </p:cNvCxnSpPr>
            <p:nvPr/>
          </p:nvCxnSpPr>
          <p:spPr bwMode="auto">
            <a:xfrm flipV="1">
              <a:off x="1898" y="3594"/>
              <a:ext cx="481" cy="276"/>
            </a:xfrm>
            <a:prstGeom prst="straightConnector1">
              <a:avLst/>
            </a:prstGeom>
            <a:noFill/>
            <a:ln w="12700">
              <a:solidFill>
                <a:srgbClr val="000066"/>
              </a:solidFill>
              <a:round/>
            </a:ln>
            <a:extLst>
              <a:ext uri="{909E8E84-426E-40DD-AFC4-6F175D3DCCD1}">
                <a14:hiddenFill xmlns:a14="http://schemas.microsoft.com/office/drawing/2010/main">
                  <a:noFill/>
                </a14:hiddenFill>
              </a:ext>
            </a:extLst>
          </p:spPr>
        </p:cxnSp>
      </p:grpSp>
    </p:spTree>
    <p:custDataLst>
      <p:tags r:id="rId1"/>
    </p:custData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最大团问题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0419" name="Rectangle 3"/>
          <p:cNvSpPr txBox="1">
            <a:spLocks noChangeArrowheads="1"/>
          </p:cNvSpPr>
          <p:nvPr/>
        </p:nvSpPr>
        <p:spPr bwMode="auto">
          <a:xfrm>
            <a:off x="657225" y="1219200"/>
            <a:ext cx="7964488" cy="5473700"/>
          </a:xfrm>
          <a:prstGeom prst="rect">
            <a:avLst/>
          </a:prstGeom>
        </p:spPr>
        <p:style>
          <a:lnRef idx="2">
            <a:schemeClr val="accent1"/>
          </a:lnRef>
          <a:fillRef idx="1">
            <a:schemeClr val="lt1"/>
          </a:fillRef>
          <a:effectRef idx="0">
            <a:schemeClr val="accent1"/>
          </a:effectRef>
          <a:fontRef idx="minor">
            <a:schemeClr val="dk1"/>
          </a:fontRef>
        </p:style>
        <p:txBody>
          <a:bodyPr/>
          <a:lstStyle/>
          <a:p>
            <a:pPr marL="171450" indent="-171450" algn="just" defTabSz="685800">
              <a:lnSpc>
                <a:spcPct val="90000"/>
              </a:lnSpc>
              <a:spcBef>
                <a:spcPct val="50000"/>
              </a:spcBef>
              <a:buClr>
                <a:schemeClr val="accent1"/>
              </a:buClr>
              <a:buSzPct val="75000"/>
              <a:defRPr/>
            </a:pPr>
            <a:r>
              <a:rPr lang="zh-CN" altLang="en-US" sz="32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2. 上界函数</a:t>
            </a:r>
            <a:endParaRPr lang="en-US" altLang="zh-CN" sz="32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algn="just" defTabSz="685800">
              <a:lnSpc>
                <a:spcPct val="90000"/>
              </a:lnSpc>
              <a:spcBef>
                <a:spcPct val="50000"/>
              </a:spcBef>
              <a:buClr>
                <a:schemeClr val="accent1"/>
              </a:buClr>
              <a:buSzPct val="75000"/>
              <a:defRPr/>
            </a:pPr>
            <a:r>
              <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用变量</a:t>
            </a:r>
            <a:r>
              <a:rPr lang="en-US" altLang="zh-CN" sz="32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cliqueSize</a:t>
            </a:r>
            <a:r>
              <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表示与该结点相应的团的顶点数；</a:t>
            </a:r>
            <a:r>
              <a:rPr lang="en-US" altLang="zh-CN"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level</a:t>
            </a:r>
            <a:r>
              <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表示结点在子集空间树中所处的层次，</a:t>
            </a:r>
            <a:r>
              <a:rPr lang="zh-CN" altLang="en-US" sz="3200" b="1" dirty="0"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根结点</a:t>
            </a:r>
            <a:r>
              <a:rPr lang="en-US" altLang="zh-CN" sz="3200" b="1" dirty="0" smtClean="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level=1</a:t>
            </a:r>
            <a:r>
              <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；用</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cliqueSize+n-level+1</a:t>
            </a:r>
            <a:r>
              <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作为顶点数上界</a:t>
            </a:r>
            <a:r>
              <a:rPr lang="en-US" altLang="zh-CN" sz="32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upperSize</a:t>
            </a:r>
            <a:r>
              <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的值。 </a:t>
            </a:r>
            <a:endPar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algn="just" defTabSz="685800">
              <a:lnSpc>
                <a:spcPct val="90000"/>
              </a:lnSpc>
              <a:spcBef>
                <a:spcPct val="50000"/>
              </a:spcBef>
              <a:buClr>
                <a:schemeClr val="accent1"/>
              </a:buClr>
              <a:buSzPct val="75000"/>
              <a:defRPr/>
            </a:pPr>
            <a:r>
              <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在此优先队列式分支限界法中，</a:t>
            </a:r>
            <a:r>
              <a:rPr lang="en-US" altLang="zh-CN" sz="32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upperSize</a:t>
            </a:r>
            <a:r>
              <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实际上也是优先队列中元素的</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优先级</a:t>
            </a:r>
            <a:r>
              <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。算法总是从活结点优先队列中抽取具有最大</a:t>
            </a:r>
            <a:r>
              <a:rPr lang="en-US" altLang="zh-CN" sz="32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upperSize</a:t>
            </a:r>
            <a:r>
              <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值的元素作为下一个扩展元素。 </a:t>
            </a:r>
            <a:endParaRPr lang="zh-CN" altLang="en-US" sz="32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defTabSz="685800">
              <a:lnSpc>
                <a:spcPct val="90000"/>
              </a:lnSpc>
              <a:spcBef>
                <a:spcPts val="750"/>
              </a:spcBef>
              <a:buClr>
                <a:schemeClr val="accent1"/>
              </a:buClr>
              <a:buSzPct val="75000"/>
              <a:buFont typeface="Wingdings" panose="05000000000000000000" pitchFamily="2" charset="2"/>
              <a:buChar char=""/>
              <a:defRPr/>
            </a:pPr>
            <a:endParaRPr lang="zh-CN" altLang="en-US" dirty="0">
              <a:solidFill>
                <a:schemeClr val="accent1"/>
              </a:solidFill>
              <a:latin typeface="黑体" panose="02010609060101010101" pitchFamily="49"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2"/>
          <p:cNvSpPr>
            <a:spLocks noChangeArrowheads="1"/>
          </p:cNvSpPr>
          <p:nvPr/>
        </p:nvSpPr>
        <p:spPr bwMode="auto">
          <a:xfrm>
            <a:off x="292100" y="376238"/>
            <a:ext cx="72612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a:t>
            </a:r>
            <a:r>
              <a:rPr lang="en-US" altLang="zh-CN" sz="3200">
                <a:solidFill>
                  <a:schemeClr val="bg1"/>
                </a:solidFill>
                <a:latin typeface="楷体" panose="02010609060101010101" pitchFamily="49" charset="-122"/>
                <a:ea typeface="楷体" panose="02010609060101010101" pitchFamily="49" charset="-122"/>
              </a:rPr>
              <a:t>—</a:t>
            </a:r>
            <a:r>
              <a:rPr lang="zh-CN" altLang="en-US" sz="3200">
                <a:solidFill>
                  <a:schemeClr val="bg1"/>
                </a:solidFill>
                <a:latin typeface="楷体" panose="02010609060101010101" pitchFamily="49" charset="-122"/>
                <a:ea typeface="楷体" panose="02010609060101010101" pitchFamily="49" charset="-122"/>
              </a:rPr>
              <a:t>最大团问题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 name="圆角矩形 5"/>
          <p:cNvSpPr/>
          <p:nvPr/>
        </p:nvSpPr>
        <p:spPr>
          <a:xfrm>
            <a:off x="285750" y="1057275"/>
            <a:ext cx="8585200" cy="5105400"/>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eaLnBrk="1" hangingPunct="1">
              <a:lnSpc>
                <a:spcPct val="150000"/>
              </a:lnSpc>
              <a:defRPr/>
            </a:pP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数据结构：</a:t>
            </a:r>
            <a:endPar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Qnode</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upperSize</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最大团结点数上界</a:t>
            </a:r>
            <a:endPar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level; </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所在层</a:t>
            </a:r>
            <a:endPar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Node  parent;</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父结点</a:t>
            </a:r>
            <a:endPar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Boolenan</a:t>
            </a: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leftCh</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是否为左</a:t>
            </a:r>
            <a:endPar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defRPr/>
            </a:pPr>
            <a:r>
              <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2">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a:spLocks noChangeArrowheads="1"/>
          </p:cNvSpPr>
          <p:nvPr/>
        </p:nvSpPr>
        <p:spPr bwMode="auto">
          <a:xfrm>
            <a:off x="2676525" y="5410200"/>
            <a:ext cx="5324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upperSize</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cliqueSize</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n-level+1</a:t>
            </a:r>
            <a:endParaRPr lang="zh-CN" altLang="en-US" sz="2800" dirty="0">
              <a:solidFill>
                <a:srgbClr val="FF0000"/>
              </a:solidFill>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矩形 2"/>
          <p:cNvSpPr>
            <a:spLocks noChangeArrowheads="1"/>
          </p:cNvSpPr>
          <p:nvPr/>
        </p:nvSpPr>
        <p:spPr bwMode="auto">
          <a:xfrm>
            <a:off x="292100" y="376238"/>
            <a:ext cx="51085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最大团问题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61443" name="Rectangle 3"/>
          <p:cNvSpPr txBox="1">
            <a:spLocks noChangeArrowheads="1"/>
          </p:cNvSpPr>
          <p:nvPr/>
        </p:nvSpPr>
        <p:spPr bwMode="auto">
          <a:xfrm>
            <a:off x="153988" y="1135063"/>
            <a:ext cx="8764587" cy="5538787"/>
          </a:xfrm>
          <a:prstGeom prst="rect">
            <a:avLst/>
          </a:prstGeom>
        </p:spPr>
        <p:style>
          <a:lnRef idx="2">
            <a:schemeClr val="accent1"/>
          </a:lnRef>
          <a:fillRef idx="1">
            <a:schemeClr val="lt1"/>
          </a:fillRef>
          <a:effectRef idx="0">
            <a:schemeClr val="accent1"/>
          </a:effectRef>
          <a:fontRef idx="minor">
            <a:schemeClr val="dk1"/>
          </a:fontRef>
        </p:style>
        <p:txBody>
          <a:bodyPr/>
          <a:lstStyle/>
          <a:p>
            <a:pPr marL="171450" indent="-171450" defTabSz="685800">
              <a:lnSpc>
                <a:spcPct val="90000"/>
              </a:lnSpc>
              <a:spcBef>
                <a:spcPct val="50000"/>
              </a:spcBef>
              <a:buClr>
                <a:schemeClr val="accent1"/>
              </a:buClr>
              <a:buSzPct val="75000"/>
              <a:defRPr/>
            </a:pPr>
            <a:r>
              <a:rPr lang="zh-CN" altLang="en-US" sz="32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3. 算法思想</a:t>
            </a:r>
            <a:endParaRPr lang="en-US" altLang="zh-CN" sz="32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defTabSz="685800">
              <a:lnSpc>
                <a:spcPct val="125000"/>
              </a:lnSpc>
              <a:spcBef>
                <a:spcPct val="50000"/>
              </a:spcBef>
              <a:buClr>
                <a:schemeClr val="accent1"/>
              </a:buClr>
              <a:buSzPct val="75000"/>
              <a:defRPr/>
            </a:pP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       子集树的</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根结点是初始扩展结点</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，对于这个特殊的扩展结点，其</a:t>
            </a:r>
            <a:r>
              <a:rPr lang="en-US" altLang="zh-CN" sz="2800" b="1" dirty="0" err="1">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cliqueSize</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的值为0。 </a:t>
            </a:r>
            <a:endPar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algn="just" defTabSz="685800">
              <a:lnSpc>
                <a:spcPct val="125000"/>
              </a:lnSpc>
              <a:spcBef>
                <a:spcPts val="600"/>
              </a:spcBef>
              <a:buClr>
                <a:schemeClr val="accent1"/>
              </a:buClr>
              <a:buSzPct val="75000"/>
              <a:defRPr/>
            </a:pP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       算法在扩展内部结点时，</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首先考察其左儿子结点</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。在左儿子结点处，将顶点</a:t>
            </a:r>
            <a:r>
              <a:rPr lang="en-US" altLang="zh-CN" sz="2800" b="1" dirty="0" err="1">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加入到当前团中，</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并检查该顶点与当前团中其他顶点之间是否有边相连</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。当顶点</a:t>
            </a:r>
            <a:r>
              <a:rPr lang="en-US" altLang="zh-CN" sz="2800" b="1" dirty="0" err="1">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与当前团中所有顶点之间都有边相连，则相应的左儿子结点是可行结点，将它加入到子集树中并插入活结点优先队列，</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并判断是否可以更新最优解</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，否则就不是可行结点。</a:t>
            </a:r>
            <a:endPar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defTabSz="685800">
              <a:lnSpc>
                <a:spcPct val="90000"/>
              </a:lnSpc>
              <a:spcBef>
                <a:spcPts val="750"/>
              </a:spcBef>
              <a:buClr>
                <a:schemeClr val="accent1"/>
              </a:buClr>
              <a:buSzPct val="75000"/>
              <a:defRPr/>
            </a:pPr>
            <a:endParaRPr lang="zh-CN" altLang="en-US" dirty="0">
              <a:solidFill>
                <a:schemeClr val="accent1"/>
              </a:solidFill>
              <a:latin typeface="黑体" panose="02010609060101010101" pitchFamily="49"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2"/>
          <p:cNvSpPr>
            <a:spLocks noChangeArrowheads="1"/>
          </p:cNvSpPr>
          <p:nvPr/>
        </p:nvSpPr>
        <p:spPr bwMode="auto">
          <a:xfrm>
            <a:off x="292100" y="376238"/>
            <a:ext cx="56134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最大团问题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61443" name="Rectangle 3"/>
          <p:cNvSpPr txBox="1">
            <a:spLocks noChangeArrowheads="1"/>
          </p:cNvSpPr>
          <p:nvPr/>
        </p:nvSpPr>
        <p:spPr bwMode="auto">
          <a:xfrm>
            <a:off x="354013" y="1135063"/>
            <a:ext cx="8323262" cy="5368925"/>
          </a:xfrm>
          <a:prstGeom prst="rect">
            <a:avLst/>
          </a:prstGeom>
        </p:spPr>
        <p:style>
          <a:lnRef idx="2">
            <a:schemeClr val="accent1"/>
          </a:lnRef>
          <a:fillRef idx="1">
            <a:schemeClr val="lt1"/>
          </a:fillRef>
          <a:effectRef idx="0">
            <a:schemeClr val="accent1"/>
          </a:effectRef>
          <a:fontRef idx="minor">
            <a:schemeClr val="dk1"/>
          </a:fontRef>
        </p:style>
        <p:txBody>
          <a:bodyPr/>
          <a:lstStyle/>
          <a:p>
            <a:pPr marL="171450" indent="-171450" defTabSz="685800">
              <a:lnSpc>
                <a:spcPct val="90000"/>
              </a:lnSpc>
              <a:spcBef>
                <a:spcPct val="50000"/>
              </a:spcBef>
              <a:buClr>
                <a:schemeClr val="accent1"/>
              </a:buClr>
              <a:buSzPct val="75000"/>
              <a:defRPr/>
            </a:pPr>
            <a:r>
              <a:rPr lang="zh-CN" altLang="en-US" sz="32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3. 算法思想</a:t>
            </a:r>
            <a:endParaRPr lang="en-US" altLang="zh-CN" sz="32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algn="just" defTabSz="685800">
              <a:lnSpc>
                <a:spcPct val="150000"/>
              </a:lnSpc>
              <a:spcBef>
                <a:spcPct val="50000"/>
              </a:spcBef>
              <a:buClr>
                <a:schemeClr val="accent1"/>
              </a:buClr>
              <a:buSzPct val="75000"/>
              <a:defRPr/>
            </a:pP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接着继续考察当前扩展结点的右儿子结点</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2800" b="1" dirty="0" err="1">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upperSize</a:t>
            </a:r>
            <a:r>
              <a:rPr lang="en-US" altLang="zh-CN"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 &gt; </a:t>
            </a:r>
            <a:r>
              <a:rPr lang="en-US" altLang="zh-CN" sz="2800" b="1" dirty="0" err="1">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bestn</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时，右子树中可能含有最优解，此时将右儿子结点加入到子集树中并插入到活结点优先队列中</a:t>
            </a:r>
            <a:r>
              <a:rPr lang="zh-CN" altLang="en-US" sz="2800" b="1" dirty="0">
                <a:solidFill>
                  <a:srgbClr val="303030"/>
                </a:solidFill>
                <a:latin typeface="楷体_GB2312" panose="02010609030101010101" pitchFamily="49" charset="-122"/>
                <a:ea typeface="华文楷体" panose="02010600040101010101" pitchFamily="2" charset="-122"/>
                <a:cs typeface="Times New Roman" panose="02020603050405020304" pitchFamily="18" charset="0"/>
              </a:rPr>
              <a:t>。</a:t>
            </a:r>
            <a:endParaRPr lang="en-US" altLang="zh-CN" sz="2800" b="1" dirty="0">
              <a:solidFill>
                <a:srgbClr val="303030"/>
              </a:solidFill>
              <a:latin typeface="楷体_GB2312" panose="02010609030101010101" pitchFamily="49" charset="-122"/>
              <a:ea typeface="华文楷体" panose="02010600040101010101" pitchFamily="2" charset="-122"/>
              <a:cs typeface="Times New Roman" panose="02020603050405020304" pitchFamily="18" charset="0"/>
            </a:endParaRPr>
          </a:p>
          <a:p>
            <a:pPr marL="171450" indent="-171450" algn="just" defTabSz="685800">
              <a:lnSpc>
                <a:spcPct val="150000"/>
              </a:lnSpc>
              <a:spcBef>
                <a:spcPct val="50000"/>
              </a:spcBef>
              <a:buClr>
                <a:schemeClr val="accent1"/>
              </a:buClr>
              <a:buSzPct val="75000"/>
              <a:defRPr/>
            </a:pPr>
            <a:r>
              <a:rPr lang="en-US" altLang="zh-CN"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不断从优先队列中选取</a:t>
            </a:r>
            <a:r>
              <a:rPr lang="zh-CN" altLang="en-US" sz="2800" b="1" dirty="0" smtClean="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活结点，</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并按照上面的方式（先左子树，后右子树）</a:t>
            </a:r>
            <a:r>
              <a:rPr lang="zh-CN" altLang="en-US" sz="2800" b="1" dirty="0" smtClean="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扩展结点，</a:t>
            </a:r>
            <a:r>
              <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rPr>
              <a:t>直到满足终止条件。</a:t>
            </a:r>
            <a:endParaRPr lang="zh-CN" altLang="en-US" sz="2800" b="1" dirty="0">
              <a:solidFill>
                <a:srgbClr val="303030"/>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defTabSz="685800">
              <a:lnSpc>
                <a:spcPct val="90000"/>
              </a:lnSpc>
              <a:spcBef>
                <a:spcPts val="750"/>
              </a:spcBef>
              <a:buClr>
                <a:schemeClr val="accent1"/>
              </a:buClr>
              <a:buSzPct val="75000"/>
              <a:buFont typeface="Wingdings" panose="05000000000000000000" pitchFamily="2" charset="2"/>
              <a:buChar char=""/>
              <a:defRPr/>
            </a:pPr>
            <a:endParaRPr lang="zh-CN" altLang="en-US" b="1" dirty="0">
              <a:solidFill>
                <a:schemeClr val="accent1"/>
              </a:solidFill>
              <a:latin typeface="黑体" panose="02010609060101010101" pitchFamily="49"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矩形 2"/>
          <p:cNvSpPr>
            <a:spLocks noChangeArrowheads="1"/>
          </p:cNvSpPr>
          <p:nvPr/>
        </p:nvSpPr>
        <p:spPr bwMode="auto">
          <a:xfrm>
            <a:off x="292100" y="376238"/>
            <a:ext cx="55086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最大团问题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4" name="Rectangle 3"/>
          <p:cNvSpPr txBox="1">
            <a:spLocks noChangeArrowheads="1"/>
          </p:cNvSpPr>
          <p:nvPr/>
        </p:nvSpPr>
        <p:spPr bwMode="auto">
          <a:xfrm>
            <a:off x="412750" y="1835150"/>
            <a:ext cx="8339138" cy="4354513"/>
          </a:xfrm>
          <a:prstGeom prst="rect">
            <a:avLst/>
          </a:prstGeom>
        </p:spPr>
        <p:style>
          <a:lnRef idx="2">
            <a:schemeClr val="accent1"/>
          </a:lnRef>
          <a:fillRef idx="1">
            <a:schemeClr val="lt1"/>
          </a:fillRef>
          <a:effectRef idx="0">
            <a:schemeClr val="accent1"/>
          </a:effectRef>
          <a:fontRef idx="minor">
            <a:schemeClr val="dk1"/>
          </a:fontRef>
        </p:style>
        <p:txBody>
          <a:bodyPr/>
          <a:lstStyle/>
          <a:p>
            <a:pPr marL="342900" indent="-342900" algn="just" defTabSz="914400" eaLnBrk="1" hangingPunct="1">
              <a:spcBef>
                <a:spcPct val="50000"/>
              </a:spcBef>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算法的</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while</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循环的</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终止条件</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是遇到子集树中的一个</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叶结点(即</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n+1</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层结点)成为当前扩展结点。</a:t>
            </a:r>
            <a:endPar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defTabSz="914400" eaLnBrk="1" hangingPunct="1">
              <a:spcBef>
                <a:spcPct val="50000"/>
              </a:spcBef>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对于子集树中的叶结点，有</a:t>
            </a:r>
            <a:r>
              <a:rPr lang="en-US" altLang="zh-CN" sz="32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upperSize＝cliqueSize</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此时活结点优先队列中剩余结点的</a:t>
            </a:r>
            <a:r>
              <a:rPr lang="en-US" altLang="zh-CN" sz="32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upperSize</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值均不超过当前扩展结点的</a:t>
            </a:r>
            <a:r>
              <a:rPr lang="en-US" altLang="zh-CN" sz="32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upperSize</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值，从而进一步搜索不可能得到更大的团，此时算法已找到一个最优解。 </a:t>
            </a:r>
            <a:endPar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defTabSz="914400" eaLnBrk="1" hangingPunct="1">
              <a:spcBef>
                <a:spcPct val="20000"/>
              </a:spcBef>
              <a:buFontTx/>
              <a:buChar char="•"/>
              <a:defRPr/>
            </a:pPr>
            <a:endParaRPr kumimoji="1" lang="zh-CN" altLang="en-US" sz="3200" kern="0" dirty="0">
              <a:solidFill>
                <a:srgbClr val="000000"/>
              </a:solidFill>
              <a:latin typeface="Times New Roman" panose="02020603050405020304"/>
              <a:ea typeface="宋体" panose="02010600030101010101" pitchFamily="2" charset="-122"/>
            </a:endParaRPr>
          </a:p>
        </p:txBody>
      </p:sp>
      <p:sp>
        <p:nvSpPr>
          <p:cNvPr id="76804" name="矩形 4"/>
          <p:cNvSpPr>
            <a:spLocks noChangeArrowheads="1"/>
          </p:cNvSpPr>
          <p:nvPr/>
        </p:nvSpPr>
        <p:spPr bwMode="auto">
          <a:xfrm>
            <a:off x="409575" y="1176338"/>
            <a:ext cx="2236788"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defTabSz="685800">
              <a:defRPr>
                <a:solidFill>
                  <a:schemeClr val="tx1"/>
                </a:solidFill>
                <a:latin typeface="Arial" panose="020B0604020202020204" pitchFamily="34" charset="0"/>
                <a:ea typeface="宋体" panose="02010600030101010101" pitchFamily="2" charset="-122"/>
              </a:defRPr>
            </a:lvl1pPr>
            <a:lvl2pPr marL="742950" indent="-285750" defTabSz="685800">
              <a:defRPr>
                <a:solidFill>
                  <a:schemeClr val="tx1"/>
                </a:solidFill>
                <a:latin typeface="Arial" panose="020B0604020202020204" pitchFamily="34" charset="0"/>
                <a:ea typeface="宋体" panose="02010600030101010101" pitchFamily="2" charset="-122"/>
              </a:defRPr>
            </a:lvl2pPr>
            <a:lvl3pPr marL="1143000" indent="-228600" defTabSz="685800">
              <a:defRPr>
                <a:solidFill>
                  <a:schemeClr val="tx1"/>
                </a:solidFill>
                <a:latin typeface="Arial" panose="020B0604020202020204" pitchFamily="34" charset="0"/>
                <a:ea typeface="宋体" panose="02010600030101010101" pitchFamily="2" charset="-122"/>
              </a:defRPr>
            </a:lvl3pPr>
            <a:lvl4pPr marL="1600200" indent="-228600" defTabSz="685800">
              <a:defRPr>
                <a:solidFill>
                  <a:schemeClr val="tx1"/>
                </a:solidFill>
                <a:latin typeface="Arial" panose="020B0604020202020204" pitchFamily="34" charset="0"/>
                <a:ea typeface="宋体" panose="02010600030101010101" pitchFamily="2" charset="-122"/>
              </a:defRPr>
            </a:lvl4pPr>
            <a:lvl5pPr marL="2057400" indent="-228600" defTabSz="685800">
              <a:defRPr>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spcBef>
                <a:spcPct val="50000"/>
              </a:spcBef>
              <a:buClr>
                <a:schemeClr val="accent1"/>
              </a:buClr>
              <a:buSzPct val="75000"/>
            </a:pPr>
            <a:r>
              <a:rPr lang="en-US" altLang="zh-CN" sz="3200" b="1">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3200" b="1">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终止条件</a:t>
            </a:r>
            <a:endParaRPr lang="en-US" altLang="zh-CN" sz="3200" b="1">
              <a:solidFill>
                <a:srgbClr val="00B05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2"/>
          <p:cNvSpPr>
            <a:spLocks noChangeArrowheads="1"/>
          </p:cNvSpPr>
          <p:nvPr/>
        </p:nvSpPr>
        <p:spPr bwMode="auto">
          <a:xfrm>
            <a:off x="292100" y="376238"/>
            <a:ext cx="540385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最大团问题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Text Box 5"/>
          <p:cNvSpPr txBox="1">
            <a:spLocks noChangeArrowheads="1"/>
          </p:cNvSpPr>
          <p:nvPr/>
        </p:nvSpPr>
        <p:spPr bwMode="auto">
          <a:xfrm>
            <a:off x="0" y="1219200"/>
            <a:ext cx="9144000" cy="5354638"/>
          </a:xfrm>
          <a:prstGeom prst="rect">
            <a:avLst/>
          </a:prstGeom>
        </p:spPr>
        <p:style>
          <a:lnRef idx="2">
            <a:schemeClr val="accent1"/>
          </a:lnRef>
          <a:fillRef idx="1">
            <a:schemeClr val="lt1"/>
          </a:fillRef>
          <a:effectRef idx="0">
            <a:schemeClr val="accent1"/>
          </a:effectRef>
          <a:fontRef idx="minor">
            <a:schemeClr val="dk1"/>
          </a:fontRef>
        </p:style>
        <p:txBody>
          <a:bodyPr/>
          <a:lstStyle/>
          <a:p>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a:t>
            </a:r>
            <a:r>
              <a:rPr lang="en-US" altLang="zh-CN"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0;</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Vector&lt;Boolean&gt;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bestH</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new Vector&lt;Boolean&gt;(); // </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记录最优解</a:t>
            </a:r>
            <a:endPar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Node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a:t>
            </a:r>
            <a:r>
              <a:rPr lang="en-US" altLang="zh-CN"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public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MaxCline</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n) {</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Qnode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null; //</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当前扩展结点</a:t>
            </a:r>
            <a:endPar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1; //</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结点的层         </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0; //</a:t>
            </a:r>
            <a:r>
              <a:rPr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当前结点数</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while(</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n</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+ 1) //</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如果搜索到</a:t>
            </a:r>
            <a:r>
              <a:rPr lang="zh-CN" altLang="en-US"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叶子结点层</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，且</a:t>
            </a:r>
            <a:r>
              <a:rPr lang="zh-CN" altLang="en-US"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该结点的</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上界还是</a:t>
            </a:r>
            <a:r>
              <a:rPr lang="zh-CN" altLang="en-US"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所有结点的</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上界中是最大的，那么从</a:t>
            </a:r>
            <a:r>
              <a:rPr lang="zh-CN" altLang="en-US"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其它结点出发</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到达的</a:t>
            </a:r>
            <a:r>
              <a:rPr lang="zh-CN" altLang="en-US"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叶子结点的</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最大装载量都不可能比这个值大</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5</a:t>
            </a:r>
            <a:r>
              <a:rPr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if(check(</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6</a:t>
            </a:r>
            <a:r>
              <a:rPr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pl-PL"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if(</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a:t>
            </a:r>
            <a:r>
              <a:rPr lang="pl-PL"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pl-PL"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&gt; best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a:t>
            </a:r>
            <a:r>
              <a:rPr lang="pl-PL"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pl-PL"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更新</a:t>
            </a:r>
            <a:r>
              <a:rPr lang="pl-PL" altLang="zh-CN" sz="2000" b="1"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a:t>
            </a:r>
            <a:r>
              <a:rPr lang="en-US" altLang="zh-CN" sz="2000" b="1"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 </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7</a:t>
            </a:r>
            <a:r>
              <a:rPr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bestn</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+ 1;</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8</a:t>
            </a:r>
            <a:r>
              <a:rPr lang="zh-CN" altLang="en-US"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u="sng"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todo</a:t>
            </a:r>
            <a:r>
              <a:rPr lang="en-US" altLang="zh-CN" sz="2000" b="1" u="sng"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u="sng"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一旦更新</a:t>
            </a:r>
            <a:r>
              <a:rPr lang="en-US" altLang="zh-CN" sz="2000" b="1" u="sng"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a:t>
            </a:r>
            <a:r>
              <a:rPr lang="zh-CN" altLang="en-US" sz="2000" b="1" u="sng"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记得</a:t>
            </a:r>
            <a:r>
              <a:rPr lang="zh-CN" altLang="en-US" sz="2000" b="1" u="sng"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清理</a:t>
            </a:r>
            <a:r>
              <a:rPr lang="en-US" altLang="zh-CN" sz="2000" b="1" u="sng"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heap</a:t>
            </a:r>
            <a:r>
              <a:rPr lang="zh-CN" altLang="en-US" sz="2000" b="1" u="sng"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中上界小于</a:t>
            </a:r>
            <a:r>
              <a:rPr lang="en-US" altLang="zh-CN" sz="2000" b="1" u="sng"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a:t>
            </a:r>
            <a:r>
              <a:rPr lang="zh-CN" altLang="en-US" sz="2000" b="1" u="sng"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000" b="1" u="sng"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结点</a:t>
            </a:r>
            <a:endParaRPr lang="zh-CN" altLang="en-US" sz="2000" b="1" u="sng"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9</a:t>
            </a:r>
            <a:r>
              <a:rPr lang="zh-CN" altLang="en-US"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a:t>
            </a:r>
            <a:r>
              <a:rPr lang="en-US" altLang="zh-CN" sz="20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new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Qnode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cn+n-i+1</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i+1</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true}</a:t>
            </a:r>
            <a:endPar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10</a:t>
            </a:r>
            <a:r>
              <a:rPr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AddLiveNode</a:t>
            </a:r>
            <a:r>
              <a:rPr lang="en-US" altLang="zh-CN"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cn+n-i+1</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i+1</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true); }</a:t>
            </a:r>
            <a:endPar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endParaRPr kumimoji="1" lang="en-US" altLang="zh-CN" sz="1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矩形 4"/>
          <p:cNvSpPr>
            <a:spLocks noChangeArrowheads="1"/>
          </p:cNvSpPr>
          <p:nvPr/>
        </p:nvSpPr>
        <p:spPr bwMode="auto">
          <a:xfrm>
            <a:off x="4432300" y="4094162"/>
            <a:ext cx="4584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err="1">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Ub</a:t>
            </a:r>
            <a:r>
              <a:rPr lang="en-US" altLang="zh-CN" sz="28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b="1" dirty="0" err="1">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cliqueSize</a:t>
            </a:r>
            <a:r>
              <a:rPr lang="en-US" altLang="zh-CN" sz="28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n-level+1</a:t>
            </a:r>
            <a:endParaRPr lang="zh-CN" altLang="en-US" sz="2800" dirty="0">
              <a:solidFill>
                <a:srgbClr val="00B050"/>
              </a:solidFill>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2"/>
          <p:cNvSpPr>
            <a:spLocks noChangeArrowheads="1"/>
          </p:cNvSpPr>
          <p:nvPr/>
        </p:nvSpPr>
        <p:spPr bwMode="auto">
          <a:xfrm>
            <a:off x="292100" y="376238"/>
            <a:ext cx="540385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最大团问题</a:t>
            </a:r>
            <a:r>
              <a:rPr lang="en-US" altLang="zh-CN" sz="3200">
                <a:solidFill>
                  <a:schemeClr val="bg1"/>
                </a:solidFill>
                <a:latin typeface="Times New Roman" panose="02020603050405020304" pitchFamily="18" charset="0"/>
                <a:ea typeface="楷体" panose="02010609060101010101" pitchFamily="49" charset="-122"/>
                <a:cs typeface="Times New Roman" panose="02020603050405020304" pitchFamily="18" charset="0"/>
              </a:rPr>
              <a:t>(PriorQueue)</a:t>
            </a:r>
            <a:endParaRPr lang="zh-CN" altLang="en-US" sz="3200">
              <a:solidFill>
                <a:schemeClr val="bg1"/>
              </a:solidFill>
              <a:latin typeface="楷体" panose="02010609060101010101" pitchFamily="49" charset="-122"/>
              <a:ea typeface="楷体" panose="02010609060101010101" pitchFamily="49" charset="-122"/>
            </a:endParaRPr>
          </a:p>
          <a:p>
            <a:pPr eaLnBrk="1" hangingPunct="1"/>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Text Box 5"/>
          <p:cNvSpPr txBox="1">
            <a:spLocks noChangeArrowheads="1"/>
          </p:cNvSpPr>
          <p:nvPr/>
        </p:nvSpPr>
        <p:spPr bwMode="auto">
          <a:xfrm>
            <a:off x="328613" y="1270000"/>
            <a:ext cx="8582025" cy="5354638"/>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defRPr/>
            </a:pP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11</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if(</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cn+n-i</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&gt; </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bestn</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利用上界进行剪枝</a:t>
            </a:r>
            <a:endPar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12</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AddLiveNode</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cn+n-i</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i+1</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false</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13</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if(</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heap.size</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0) break; //</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取下一个结点</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14</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heap.poll</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15</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cNode.level</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16</a:t>
            </a:r>
            <a:r>
              <a:rPr lang="zh-CN" altLang="en-US"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cNode.upperSize</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n + </a:t>
            </a:r>
            <a:r>
              <a:rPr lang="en-US" altLang="zh-CN" sz="2400"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- 1</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17</a:t>
            </a:r>
            <a:r>
              <a:rPr lang="zh-CN" altLang="en-US" sz="24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while(</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null) { //</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保留最优解</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bestH.add</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bestNode.leftChild</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bestNode.parent</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矩形 3"/>
          <p:cNvSpPr>
            <a:spLocks noChangeArrowheads="1"/>
          </p:cNvSpPr>
          <p:nvPr/>
        </p:nvSpPr>
        <p:spPr bwMode="auto">
          <a:xfrm>
            <a:off x="3175000" y="5702300"/>
            <a:ext cx="4584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err="1">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Ub</a:t>
            </a:r>
            <a:r>
              <a:rPr lang="en-US" altLang="zh-CN" sz="28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b="1" dirty="0" err="1">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cliqueSize</a:t>
            </a:r>
            <a:r>
              <a:rPr lang="en-US" altLang="zh-CN" sz="28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err="1">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n-level+1</a:t>
            </a:r>
            <a:endParaRPr lang="zh-CN" altLang="en-US" sz="2800" dirty="0">
              <a:solidFill>
                <a:srgbClr val="00B050"/>
              </a:solidFill>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批作业调度问题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 name="Rectangle 3"/>
          <p:cNvSpPr txBox="1">
            <a:spLocks noChangeArrowheads="1"/>
          </p:cNvSpPr>
          <p:nvPr/>
        </p:nvSpPr>
        <p:spPr bwMode="auto">
          <a:xfrm>
            <a:off x="639763" y="1138238"/>
            <a:ext cx="7467600" cy="752475"/>
          </a:xfrm>
          <a:prstGeom prst="rect">
            <a:avLst/>
          </a:prstGeom>
          <a:noFill/>
          <a:ln w="9525">
            <a:noFill/>
            <a:miter lim="800000"/>
          </a:ln>
          <a:effectLst/>
        </p:spPr>
        <p:txBody>
          <a:bodyPr/>
          <a:lstStyle/>
          <a:p>
            <a:pPr marL="342900" indent="-342900" defTabSz="914400" eaLnBrk="1" hangingPunct="1">
              <a:lnSpc>
                <a:spcPct val="90000"/>
              </a:lnSpc>
              <a:spcBef>
                <a:spcPct val="50000"/>
              </a:spcBef>
              <a:defRPr/>
            </a:pPr>
            <a:r>
              <a:rPr kumimoji="1" lang="zh-CN" altLang="en-US" sz="3200" b="1" kern="0"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1. </a:t>
            </a:r>
            <a:r>
              <a:rPr lang="zh-CN" altLang="en-US" sz="3200" b="1" kern="0"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问题的描述</a:t>
            </a:r>
            <a:endParaRPr lang="zh-CN" altLang="en-US" sz="3200" b="1" kern="0"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defTabSz="914400" eaLnBrk="1" hangingPunct="1">
              <a:lnSpc>
                <a:spcPct val="90000"/>
              </a:lnSpc>
              <a:spcBef>
                <a:spcPct val="50000"/>
              </a:spcBef>
              <a:defRPr/>
            </a:pPr>
            <a:r>
              <a:rPr lang="zh-CN" altLang="en-US" sz="3200" kern="0" dirty="0">
                <a:solidFill>
                  <a:srgbClr val="000000"/>
                </a:solidFill>
                <a:latin typeface="楷体_GB2312" panose="02010609030101010101" pitchFamily="49" charset="-122"/>
                <a:ea typeface="楷体_GB2312" panose="02010609030101010101" pitchFamily="49" charset="-122"/>
                <a:cs typeface="楷体_GB2312" panose="02010609030101010101" pitchFamily="49" charset="-122"/>
              </a:rPr>
              <a:t>       </a:t>
            </a:r>
            <a:endParaRPr kumimoji="1" lang="zh-CN" altLang="en-US" sz="3200" kern="0" dirty="0">
              <a:solidFill>
                <a:srgbClr val="000000"/>
              </a:solidFill>
              <a:latin typeface="Times New Roman" panose="02020603050405020304"/>
              <a:ea typeface="宋体" panose="02010600030101010101" pitchFamily="2" charset="-122"/>
            </a:endParaRPr>
          </a:p>
        </p:txBody>
      </p:sp>
      <p:sp>
        <p:nvSpPr>
          <p:cNvPr id="7" name="Text Box 4"/>
          <p:cNvSpPr txBox="1">
            <a:spLocks noChangeArrowheads="1"/>
          </p:cNvSpPr>
          <p:nvPr/>
        </p:nvSpPr>
        <p:spPr bwMode="auto">
          <a:xfrm>
            <a:off x="371475" y="1747838"/>
            <a:ext cx="8305800" cy="4832350"/>
          </a:xfrm>
          <a:prstGeom prst="rect">
            <a:avLst/>
          </a:prstGeom>
          <a:ln w="0">
            <a:noFill/>
          </a:ln>
        </p:spPr>
        <p:style>
          <a:lnRef idx="2">
            <a:schemeClr val="accent1"/>
          </a:lnRef>
          <a:fillRef idx="1">
            <a:schemeClr val="lt1"/>
          </a:fillRef>
          <a:effectRef idx="0">
            <a:schemeClr val="accent1"/>
          </a:effectRef>
          <a:fontRef idx="minor">
            <a:schemeClr val="dk1"/>
          </a:fontRef>
        </p:style>
        <p:txBody>
          <a:bodyPr>
            <a:spAutoFit/>
          </a:bodyPr>
          <a:lstStyle/>
          <a:p>
            <a:pPr eaLnBrk="1" hangingPunct="1">
              <a:lnSpc>
                <a:spcPct val="150000"/>
              </a:lnSpc>
              <a:spcBef>
                <a:spcPct val="50000"/>
              </a:spcBef>
              <a:defRPr/>
            </a:pP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给定</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个作业的集合</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J={J</a:t>
            </a:r>
            <a:r>
              <a:rPr lang="en-US" altLang="zh-CN" sz="2800" b="1" baseline="-25000"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b="1" baseline="-25000"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b="1" baseline="-25000"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每一个作业</a:t>
            </a:r>
            <a:r>
              <a:rPr lang="en-US" altLang="zh-CN" sz="2800" b="1"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b="1" baseline="-25000"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都有2项任务要分别在2台机器上完成。每一个作业必须先由机器1处理，然后再由机器2处理。作业</a:t>
            </a:r>
            <a:r>
              <a:rPr lang="en-US" altLang="zh-CN" sz="2800" b="1"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b="1" baseline="-25000"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需要机器</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j</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的处理时间为</a:t>
            </a:r>
            <a:r>
              <a:rPr lang="en-US" altLang="zh-CN" sz="2800" b="1"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t</a:t>
            </a:r>
            <a:r>
              <a:rPr lang="en-US" altLang="zh-CN" sz="2800" b="1" baseline="-25000"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ji</a:t>
            </a:r>
            <a:r>
              <a:rPr lang="en-US" altLang="zh-CN" sz="2800" b="1"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 = 1, 2, …, </a:t>
            </a:r>
            <a:r>
              <a:rPr lang="en-US" altLang="zh-CN" sz="2800" b="1"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n；j</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 = 1, 2。</a:t>
            </a:r>
            <a:endPar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spcBef>
                <a:spcPct val="50000"/>
              </a:spcBef>
              <a:defRPr/>
            </a:pP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对于一个确定的作业调度，设是</a:t>
            </a:r>
            <a:r>
              <a:rPr lang="en-US" altLang="zh-CN" sz="2800" b="1"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2800" b="1" baseline="-25000"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ji</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是作业</a:t>
            </a:r>
            <a:r>
              <a:rPr lang="en-US" altLang="zh-CN" sz="2800" b="1" dirty="0" err="1">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在机器</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j</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上完成处理的时间，则所有作业在机器2上完成处理的时间和为                       。求</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f</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的最小值 ？</a:t>
            </a:r>
            <a:endPar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48482" name="Object 2"/>
          <p:cNvGraphicFramePr>
            <a:graphicFrameLocks noChangeAspect="1"/>
          </p:cNvGraphicFramePr>
          <p:nvPr/>
        </p:nvGraphicFramePr>
        <p:xfrm>
          <a:off x="2257425" y="5600700"/>
          <a:ext cx="2152650" cy="1076325"/>
        </p:xfrm>
        <a:graphic>
          <a:graphicData uri="http://schemas.openxmlformats.org/presentationml/2006/ole">
            <mc:AlternateContent xmlns:mc="http://schemas.openxmlformats.org/markup-compatibility/2006">
              <mc:Choice xmlns:v="urn:schemas-microsoft-com:vml" Requires="v">
                <p:oleObj spid="_x0000_s5250" name="Microsoft 公式 3.0" r:id="rId1" imgW="685800" imgH="431800" progId="Equation.3">
                  <p:embed/>
                </p:oleObj>
              </mc:Choice>
              <mc:Fallback>
                <p:oleObj name="Microsoft 公式 3.0" r:id="rId1" imgW="685800" imgH="431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7425" y="5600700"/>
                        <a:ext cx="215265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8482"/>
                                        </p:tgtEl>
                                        <p:attrNameLst>
                                          <p:attrName>style.visibility</p:attrName>
                                        </p:attrNameLst>
                                      </p:cBhvr>
                                      <p:to>
                                        <p:strVal val="visible"/>
                                      </p:to>
                                    </p:set>
                                    <p:animEffect transition="in" filter="dissolve">
                                      <p:cBhvr>
                                        <p:cTn id="12" dur="500"/>
                                        <p:tgtEl>
                                          <p:spTgt spid="148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批作业调度问题</a:t>
            </a:r>
            <a:endParaRPr lang="zh-CN" altLang="en-US" sz="3200">
              <a:solidFill>
                <a:schemeClr val="bg1"/>
              </a:solidFill>
              <a:latin typeface="楷体" panose="02010609060101010101" pitchFamily="49" charset="-122"/>
              <a:ea typeface="楷体" panose="02010609060101010101" pitchFamily="49" charset="-122"/>
            </a:endParaRPr>
          </a:p>
        </p:txBody>
      </p:sp>
      <p:grpSp>
        <p:nvGrpSpPr>
          <p:cNvPr id="2" name="Group 182"/>
          <p:cNvGrpSpPr/>
          <p:nvPr/>
        </p:nvGrpSpPr>
        <p:grpSpPr bwMode="auto">
          <a:xfrm>
            <a:off x="523875" y="3200400"/>
            <a:ext cx="8032750" cy="3419475"/>
            <a:chOff x="259" y="1837"/>
            <a:chExt cx="5131" cy="2333"/>
          </a:xfrm>
        </p:grpSpPr>
        <p:sp>
          <p:nvSpPr>
            <p:cNvPr id="81943" name="Text Box 106"/>
            <p:cNvSpPr txBox="1">
              <a:spLocks noChangeArrowheads="1"/>
            </p:cNvSpPr>
            <p:nvPr/>
          </p:nvSpPr>
          <p:spPr bwMode="auto">
            <a:xfrm>
              <a:off x="264" y="2207"/>
              <a:ext cx="3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cs typeface="Times New Roman" panose="02020603050405020304" pitchFamily="18" charset="0"/>
                </a:rPr>
                <a:t>J</a:t>
              </a:r>
              <a:r>
                <a:rPr lang="en-US" altLang="zh-CN" sz="2000" b="1" baseline="-25000">
                  <a:solidFill>
                    <a:srgbClr val="FF0000"/>
                  </a:solidFill>
                  <a:latin typeface="Times New Roman" panose="02020603050405020304" pitchFamily="18" charset="0"/>
                  <a:cs typeface="Times New Roman" panose="02020603050405020304" pitchFamily="18" charset="0"/>
                </a:rPr>
                <a:t>1</a:t>
              </a:r>
              <a:endParaRPr lang="en-US" altLang="zh-CN" sz="2000" b="1" baseline="-25000">
                <a:solidFill>
                  <a:srgbClr val="FF0000"/>
                </a:solidFill>
                <a:latin typeface="Times New Roman" panose="02020603050405020304" pitchFamily="18" charset="0"/>
                <a:cs typeface="Times New Roman" panose="02020603050405020304" pitchFamily="18" charset="0"/>
              </a:endParaRPr>
            </a:p>
          </p:txBody>
        </p:sp>
        <p:sp>
          <p:nvSpPr>
            <p:cNvPr id="81944" name="Text Box 107"/>
            <p:cNvSpPr txBox="1">
              <a:spLocks noChangeArrowheads="1"/>
            </p:cNvSpPr>
            <p:nvPr/>
          </p:nvSpPr>
          <p:spPr bwMode="auto">
            <a:xfrm>
              <a:off x="262" y="2452"/>
              <a:ext cx="3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cs typeface="Times New Roman" panose="02020603050405020304" pitchFamily="18" charset="0"/>
                </a:rPr>
                <a:t>J</a:t>
              </a:r>
              <a:r>
                <a:rPr lang="en-US" altLang="zh-CN" sz="2000" b="1" baseline="-25000">
                  <a:solidFill>
                    <a:srgbClr val="FF0000"/>
                  </a:solidFill>
                  <a:latin typeface="Times New Roman" panose="02020603050405020304" pitchFamily="18" charset="0"/>
                  <a:cs typeface="Times New Roman" panose="02020603050405020304" pitchFamily="18" charset="0"/>
                </a:rPr>
                <a:t>2</a:t>
              </a:r>
              <a:endParaRPr lang="en-US" altLang="zh-CN" sz="2000" b="1" baseline="-25000">
                <a:solidFill>
                  <a:srgbClr val="FF0000"/>
                </a:solidFill>
                <a:latin typeface="Times New Roman" panose="02020603050405020304" pitchFamily="18" charset="0"/>
                <a:cs typeface="Times New Roman" panose="02020603050405020304" pitchFamily="18" charset="0"/>
              </a:endParaRPr>
            </a:p>
          </p:txBody>
        </p:sp>
        <p:sp>
          <p:nvSpPr>
            <p:cNvPr id="81945" name="Text Box 108"/>
            <p:cNvSpPr txBox="1">
              <a:spLocks noChangeArrowheads="1"/>
            </p:cNvSpPr>
            <p:nvPr/>
          </p:nvSpPr>
          <p:spPr bwMode="auto">
            <a:xfrm>
              <a:off x="262" y="2711"/>
              <a:ext cx="3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cs typeface="Times New Roman" panose="02020603050405020304" pitchFamily="18" charset="0"/>
                </a:rPr>
                <a:t>J</a:t>
              </a:r>
              <a:r>
                <a:rPr lang="en-US" altLang="zh-CN" sz="2000" b="1" baseline="-25000">
                  <a:solidFill>
                    <a:srgbClr val="FF0000"/>
                  </a:solidFill>
                  <a:latin typeface="Times New Roman" panose="02020603050405020304" pitchFamily="18" charset="0"/>
                  <a:cs typeface="Times New Roman" panose="02020603050405020304" pitchFamily="18" charset="0"/>
                </a:rPr>
                <a:t>3</a:t>
              </a:r>
              <a:endParaRPr lang="en-US" altLang="zh-CN" sz="2000" b="1" baseline="-25000">
                <a:solidFill>
                  <a:srgbClr val="FF0000"/>
                </a:solidFill>
                <a:latin typeface="Times New Roman" panose="02020603050405020304" pitchFamily="18" charset="0"/>
                <a:cs typeface="Times New Roman" panose="02020603050405020304" pitchFamily="18" charset="0"/>
              </a:endParaRPr>
            </a:p>
          </p:txBody>
        </p:sp>
        <p:grpSp>
          <p:nvGrpSpPr>
            <p:cNvPr id="81946" name="Group 155"/>
            <p:cNvGrpSpPr/>
            <p:nvPr/>
          </p:nvGrpSpPr>
          <p:grpSpPr bwMode="auto">
            <a:xfrm>
              <a:off x="615" y="2182"/>
              <a:ext cx="1408" cy="215"/>
              <a:chOff x="625" y="2182"/>
              <a:chExt cx="1408" cy="215"/>
            </a:xfrm>
          </p:grpSpPr>
          <p:grpSp>
            <p:nvGrpSpPr>
              <p:cNvPr id="81986" name="Group 109"/>
              <p:cNvGrpSpPr/>
              <p:nvPr/>
            </p:nvGrpSpPr>
            <p:grpSpPr bwMode="auto">
              <a:xfrm>
                <a:off x="625" y="2185"/>
                <a:ext cx="941" cy="212"/>
                <a:chOff x="725" y="2635"/>
                <a:chExt cx="941" cy="212"/>
              </a:xfrm>
            </p:grpSpPr>
            <p:sp>
              <p:nvSpPr>
                <p:cNvPr id="81990" name="Rectangle 92"/>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91" name="Text Box 93"/>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2</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nvGrpSpPr>
              <p:cNvPr id="81987" name="Group 110"/>
              <p:cNvGrpSpPr/>
              <p:nvPr/>
            </p:nvGrpSpPr>
            <p:grpSpPr bwMode="auto">
              <a:xfrm>
                <a:off x="1563" y="2182"/>
                <a:ext cx="470" cy="212"/>
                <a:chOff x="725" y="2635"/>
                <a:chExt cx="941" cy="212"/>
              </a:xfrm>
            </p:grpSpPr>
            <p:sp>
              <p:nvSpPr>
                <p:cNvPr id="81988" name="Rectangle 111"/>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89" name="Text Box 112"/>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1</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grpSp>
          <p:nvGrpSpPr>
            <p:cNvPr id="81947" name="Group 156"/>
            <p:cNvGrpSpPr/>
            <p:nvPr/>
          </p:nvGrpSpPr>
          <p:grpSpPr bwMode="auto">
            <a:xfrm>
              <a:off x="1553" y="2394"/>
              <a:ext cx="1898" cy="219"/>
              <a:chOff x="1563" y="2394"/>
              <a:chExt cx="1898" cy="219"/>
            </a:xfrm>
          </p:grpSpPr>
          <p:grpSp>
            <p:nvGrpSpPr>
              <p:cNvPr id="81980" name="Group 113"/>
              <p:cNvGrpSpPr/>
              <p:nvPr/>
            </p:nvGrpSpPr>
            <p:grpSpPr bwMode="auto">
              <a:xfrm>
                <a:off x="1563" y="2394"/>
                <a:ext cx="1430" cy="212"/>
                <a:chOff x="725" y="2635"/>
                <a:chExt cx="941" cy="212"/>
              </a:xfrm>
            </p:grpSpPr>
            <p:sp>
              <p:nvSpPr>
                <p:cNvPr id="81984" name="Rectangle 114"/>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85" name="Text Box 115"/>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3</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nvGrpSpPr>
              <p:cNvPr id="81981" name="Group 122"/>
              <p:cNvGrpSpPr/>
              <p:nvPr/>
            </p:nvGrpSpPr>
            <p:grpSpPr bwMode="auto">
              <a:xfrm>
                <a:off x="2991" y="2401"/>
                <a:ext cx="470" cy="212"/>
                <a:chOff x="725" y="2635"/>
                <a:chExt cx="941" cy="212"/>
              </a:xfrm>
            </p:grpSpPr>
            <p:sp>
              <p:nvSpPr>
                <p:cNvPr id="81982" name="Rectangle 123"/>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83" name="Text Box 124"/>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1</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grpSp>
          <p:nvGrpSpPr>
            <p:cNvPr id="81948" name="Group 157"/>
            <p:cNvGrpSpPr/>
            <p:nvPr/>
          </p:nvGrpSpPr>
          <p:grpSpPr bwMode="auto">
            <a:xfrm>
              <a:off x="2981" y="2612"/>
              <a:ext cx="2409" cy="213"/>
              <a:chOff x="2991" y="2612"/>
              <a:chExt cx="2409" cy="213"/>
            </a:xfrm>
          </p:grpSpPr>
          <p:grpSp>
            <p:nvGrpSpPr>
              <p:cNvPr id="81974" name="Group 125"/>
              <p:cNvGrpSpPr/>
              <p:nvPr/>
            </p:nvGrpSpPr>
            <p:grpSpPr bwMode="auto">
              <a:xfrm>
                <a:off x="2991" y="2612"/>
                <a:ext cx="978" cy="212"/>
                <a:chOff x="725" y="2635"/>
                <a:chExt cx="941" cy="212"/>
              </a:xfrm>
            </p:grpSpPr>
            <p:sp>
              <p:nvSpPr>
                <p:cNvPr id="81978" name="Rectangle 126"/>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79" name="Text Box 127"/>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2</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nvGrpSpPr>
              <p:cNvPr id="81975" name="Group 131"/>
              <p:cNvGrpSpPr/>
              <p:nvPr/>
            </p:nvGrpSpPr>
            <p:grpSpPr bwMode="auto">
              <a:xfrm>
                <a:off x="3970" y="2613"/>
                <a:ext cx="1430" cy="212"/>
                <a:chOff x="725" y="2635"/>
                <a:chExt cx="941" cy="212"/>
              </a:xfrm>
            </p:grpSpPr>
            <p:sp>
              <p:nvSpPr>
                <p:cNvPr id="81976" name="Rectangle 132"/>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77" name="Text Box 133"/>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3</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sp>
          <p:nvSpPr>
            <p:cNvPr id="81949" name="Text Box 137"/>
            <p:cNvSpPr txBox="1">
              <a:spLocks noChangeArrowheads="1"/>
            </p:cNvSpPr>
            <p:nvPr/>
          </p:nvSpPr>
          <p:spPr bwMode="auto">
            <a:xfrm>
              <a:off x="261" y="2973"/>
              <a:ext cx="3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B050"/>
                  </a:solidFill>
                  <a:latin typeface="Times New Roman" panose="02020603050405020304" pitchFamily="18" charset="0"/>
                  <a:cs typeface="Times New Roman" panose="02020603050405020304" pitchFamily="18" charset="0"/>
                </a:rPr>
                <a:t>J</a:t>
              </a:r>
              <a:r>
                <a:rPr lang="en-US" altLang="zh-CN" sz="2000" b="1" baseline="-25000">
                  <a:solidFill>
                    <a:srgbClr val="00B050"/>
                  </a:solidFill>
                  <a:latin typeface="Times New Roman" panose="02020603050405020304" pitchFamily="18" charset="0"/>
                  <a:cs typeface="Times New Roman" panose="02020603050405020304" pitchFamily="18" charset="0"/>
                </a:rPr>
                <a:t>1</a:t>
              </a:r>
              <a:endParaRPr lang="en-US" altLang="zh-CN" sz="2000" b="1" baseline="-25000">
                <a:solidFill>
                  <a:srgbClr val="00B050"/>
                </a:solidFill>
                <a:latin typeface="Times New Roman" panose="02020603050405020304" pitchFamily="18" charset="0"/>
                <a:cs typeface="Times New Roman" panose="02020603050405020304" pitchFamily="18" charset="0"/>
              </a:endParaRPr>
            </a:p>
          </p:txBody>
        </p:sp>
        <p:sp>
          <p:nvSpPr>
            <p:cNvPr id="81950" name="Text Box 138"/>
            <p:cNvSpPr txBox="1">
              <a:spLocks noChangeArrowheads="1"/>
            </p:cNvSpPr>
            <p:nvPr/>
          </p:nvSpPr>
          <p:spPr bwMode="auto">
            <a:xfrm>
              <a:off x="259" y="3218"/>
              <a:ext cx="3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B050"/>
                  </a:solidFill>
                  <a:latin typeface="Times New Roman" panose="02020603050405020304" pitchFamily="18" charset="0"/>
                  <a:cs typeface="Times New Roman" panose="02020603050405020304" pitchFamily="18" charset="0"/>
                </a:rPr>
                <a:t>J</a:t>
              </a:r>
              <a:r>
                <a:rPr lang="en-US" altLang="zh-CN" sz="2000" b="1" baseline="-25000">
                  <a:solidFill>
                    <a:srgbClr val="00B050"/>
                  </a:solidFill>
                  <a:latin typeface="Times New Roman" panose="02020603050405020304" pitchFamily="18" charset="0"/>
                  <a:cs typeface="Times New Roman" panose="02020603050405020304" pitchFamily="18" charset="0"/>
                </a:rPr>
                <a:t>3</a:t>
              </a:r>
              <a:endParaRPr lang="en-US" altLang="zh-CN" sz="2000" b="1" baseline="-25000">
                <a:solidFill>
                  <a:srgbClr val="00B050"/>
                </a:solidFill>
                <a:latin typeface="Times New Roman" panose="02020603050405020304" pitchFamily="18" charset="0"/>
                <a:cs typeface="Times New Roman" panose="02020603050405020304" pitchFamily="18" charset="0"/>
              </a:endParaRPr>
            </a:p>
          </p:txBody>
        </p:sp>
        <p:sp>
          <p:nvSpPr>
            <p:cNvPr id="81951" name="Text Box 139"/>
            <p:cNvSpPr txBox="1">
              <a:spLocks noChangeArrowheads="1"/>
            </p:cNvSpPr>
            <p:nvPr/>
          </p:nvSpPr>
          <p:spPr bwMode="auto">
            <a:xfrm>
              <a:off x="259" y="3477"/>
              <a:ext cx="32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B050"/>
                  </a:solidFill>
                  <a:latin typeface="Times New Roman" panose="02020603050405020304" pitchFamily="18" charset="0"/>
                  <a:cs typeface="Times New Roman" panose="02020603050405020304" pitchFamily="18" charset="0"/>
                </a:rPr>
                <a:t>J</a:t>
              </a:r>
              <a:r>
                <a:rPr lang="en-US" altLang="zh-CN" sz="2000" b="1" baseline="-25000">
                  <a:solidFill>
                    <a:srgbClr val="00B050"/>
                  </a:solidFill>
                  <a:latin typeface="Times New Roman" panose="02020603050405020304" pitchFamily="18" charset="0"/>
                  <a:cs typeface="Times New Roman" panose="02020603050405020304" pitchFamily="18" charset="0"/>
                </a:rPr>
                <a:t>2</a:t>
              </a:r>
              <a:endParaRPr lang="en-US" altLang="zh-CN" sz="2000" b="1" baseline="-25000">
                <a:solidFill>
                  <a:srgbClr val="00B050"/>
                </a:solidFill>
                <a:latin typeface="Times New Roman" panose="02020603050405020304" pitchFamily="18" charset="0"/>
                <a:cs typeface="Times New Roman" panose="02020603050405020304" pitchFamily="18" charset="0"/>
              </a:endParaRPr>
            </a:p>
          </p:txBody>
        </p:sp>
        <p:grpSp>
          <p:nvGrpSpPr>
            <p:cNvPr id="81952" name="Group 158"/>
            <p:cNvGrpSpPr/>
            <p:nvPr/>
          </p:nvGrpSpPr>
          <p:grpSpPr bwMode="auto">
            <a:xfrm>
              <a:off x="623" y="2986"/>
              <a:ext cx="1408" cy="215"/>
              <a:chOff x="625" y="2182"/>
              <a:chExt cx="1408" cy="215"/>
            </a:xfrm>
          </p:grpSpPr>
          <p:grpSp>
            <p:nvGrpSpPr>
              <p:cNvPr id="81968" name="Group 159"/>
              <p:cNvGrpSpPr/>
              <p:nvPr/>
            </p:nvGrpSpPr>
            <p:grpSpPr bwMode="auto">
              <a:xfrm>
                <a:off x="625" y="2185"/>
                <a:ext cx="941" cy="212"/>
                <a:chOff x="725" y="2635"/>
                <a:chExt cx="941" cy="212"/>
              </a:xfrm>
            </p:grpSpPr>
            <p:sp>
              <p:nvSpPr>
                <p:cNvPr id="81972" name="Rectangle 160"/>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73" name="Text Box 161"/>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2</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nvGrpSpPr>
              <p:cNvPr id="81969" name="Group 162"/>
              <p:cNvGrpSpPr/>
              <p:nvPr/>
            </p:nvGrpSpPr>
            <p:grpSpPr bwMode="auto">
              <a:xfrm>
                <a:off x="1563" y="2182"/>
                <a:ext cx="470" cy="212"/>
                <a:chOff x="725" y="2635"/>
                <a:chExt cx="941" cy="212"/>
              </a:xfrm>
            </p:grpSpPr>
            <p:sp>
              <p:nvSpPr>
                <p:cNvPr id="81970" name="Rectangle 163"/>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71" name="Text Box 164"/>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1</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grpSp>
          <p:nvGrpSpPr>
            <p:cNvPr id="81953" name="Group 165"/>
            <p:cNvGrpSpPr/>
            <p:nvPr/>
          </p:nvGrpSpPr>
          <p:grpSpPr bwMode="auto">
            <a:xfrm>
              <a:off x="2541" y="3418"/>
              <a:ext cx="1898" cy="219"/>
              <a:chOff x="1563" y="2394"/>
              <a:chExt cx="1898" cy="219"/>
            </a:xfrm>
          </p:grpSpPr>
          <p:grpSp>
            <p:nvGrpSpPr>
              <p:cNvPr id="81962" name="Group 166"/>
              <p:cNvGrpSpPr/>
              <p:nvPr/>
            </p:nvGrpSpPr>
            <p:grpSpPr bwMode="auto">
              <a:xfrm>
                <a:off x="1563" y="2394"/>
                <a:ext cx="1430" cy="212"/>
                <a:chOff x="725" y="2635"/>
                <a:chExt cx="941" cy="212"/>
              </a:xfrm>
            </p:grpSpPr>
            <p:sp>
              <p:nvSpPr>
                <p:cNvPr id="81966" name="Rectangle 167"/>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67" name="Text Box 168"/>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3</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nvGrpSpPr>
              <p:cNvPr id="81963" name="Group 169"/>
              <p:cNvGrpSpPr/>
              <p:nvPr/>
            </p:nvGrpSpPr>
            <p:grpSpPr bwMode="auto">
              <a:xfrm>
                <a:off x="2991" y="2401"/>
                <a:ext cx="470" cy="212"/>
                <a:chOff x="725" y="2635"/>
                <a:chExt cx="941" cy="212"/>
              </a:xfrm>
            </p:grpSpPr>
            <p:sp>
              <p:nvSpPr>
                <p:cNvPr id="81964" name="Rectangle 170"/>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65" name="Text Box 171"/>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1</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grpSp>
          <p:nvGrpSpPr>
            <p:cNvPr id="81954" name="Group 172"/>
            <p:cNvGrpSpPr/>
            <p:nvPr/>
          </p:nvGrpSpPr>
          <p:grpSpPr bwMode="auto">
            <a:xfrm>
              <a:off x="1558" y="3205"/>
              <a:ext cx="2409" cy="213"/>
              <a:chOff x="2991" y="2612"/>
              <a:chExt cx="2409" cy="213"/>
            </a:xfrm>
          </p:grpSpPr>
          <p:grpSp>
            <p:nvGrpSpPr>
              <p:cNvPr id="81956" name="Group 173"/>
              <p:cNvGrpSpPr/>
              <p:nvPr/>
            </p:nvGrpSpPr>
            <p:grpSpPr bwMode="auto">
              <a:xfrm>
                <a:off x="2991" y="2612"/>
                <a:ext cx="978" cy="212"/>
                <a:chOff x="725" y="2635"/>
                <a:chExt cx="941" cy="212"/>
              </a:xfrm>
            </p:grpSpPr>
            <p:sp>
              <p:nvSpPr>
                <p:cNvPr id="81960" name="Rectangle 174"/>
                <p:cNvSpPr>
                  <a:spLocks noChangeArrowheads="1"/>
                </p:cNvSpPr>
                <p:nvPr/>
              </p:nvSpPr>
              <p:spPr bwMode="auto">
                <a:xfrm>
                  <a:off x="725" y="2635"/>
                  <a:ext cx="941" cy="212"/>
                </a:xfrm>
                <a:prstGeom prst="rect">
                  <a:avLst/>
                </a:prstGeom>
                <a:solidFill>
                  <a:srgbClr val="CC99FF"/>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61" name="Text Box 175"/>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2</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nvGrpSpPr>
              <p:cNvPr id="81957" name="Group 176"/>
              <p:cNvGrpSpPr/>
              <p:nvPr/>
            </p:nvGrpSpPr>
            <p:grpSpPr bwMode="auto">
              <a:xfrm>
                <a:off x="3970" y="2613"/>
                <a:ext cx="1430" cy="212"/>
                <a:chOff x="725" y="2635"/>
                <a:chExt cx="941" cy="212"/>
              </a:xfrm>
            </p:grpSpPr>
            <p:sp>
              <p:nvSpPr>
                <p:cNvPr id="81958" name="Rectangle 177"/>
                <p:cNvSpPr>
                  <a:spLocks noChangeArrowheads="1"/>
                </p:cNvSpPr>
                <p:nvPr/>
              </p:nvSpPr>
              <p:spPr bwMode="auto">
                <a:xfrm>
                  <a:off x="725" y="2635"/>
                  <a:ext cx="941" cy="212"/>
                </a:xfrm>
                <a:prstGeom prst="rect">
                  <a:avLst/>
                </a:prstGeom>
                <a:solidFill>
                  <a:srgbClr val="FFFF99"/>
                </a:solidFill>
                <a:ln w="9525">
                  <a:solidFill>
                    <a:srgbClr val="000066"/>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a:solidFill>
                      <a:srgbClr val="000066"/>
                    </a:solidFill>
                    <a:latin typeface="Times New Roman" panose="02020603050405020304" pitchFamily="18" charset="0"/>
                    <a:cs typeface="Times New Roman" panose="02020603050405020304" pitchFamily="18" charset="0"/>
                  </a:endParaRPr>
                </a:p>
              </p:txBody>
            </p:sp>
            <p:sp>
              <p:nvSpPr>
                <p:cNvPr id="81959" name="Text Box 178"/>
                <p:cNvSpPr txBox="1">
                  <a:spLocks noChangeArrowheads="1"/>
                </p:cNvSpPr>
                <p:nvPr/>
              </p:nvSpPr>
              <p:spPr bwMode="auto">
                <a:xfrm>
                  <a:off x="967" y="2649"/>
                  <a:ext cx="4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a:solidFill>
                        <a:srgbClr val="000066"/>
                      </a:solidFill>
                      <a:latin typeface="Times New Roman" panose="02020603050405020304" pitchFamily="18" charset="0"/>
                      <a:cs typeface="Times New Roman" panose="02020603050405020304" pitchFamily="18" charset="0"/>
                    </a:rPr>
                    <a:t>3</a:t>
                  </a:r>
                  <a:endParaRPr lang="en-US" altLang="zh-CN">
                    <a:solidFill>
                      <a:srgbClr val="000066"/>
                    </a:solidFill>
                    <a:latin typeface="Times New Roman" panose="02020603050405020304" pitchFamily="18" charset="0"/>
                    <a:cs typeface="Times New Roman" panose="02020603050405020304" pitchFamily="18" charset="0"/>
                  </a:endParaRPr>
                </a:p>
              </p:txBody>
            </p:sp>
          </p:grpSp>
        </p:grpSp>
        <p:sp>
          <p:nvSpPr>
            <p:cNvPr id="81955" name="Line 180"/>
            <p:cNvSpPr>
              <a:spLocks noChangeShapeType="1"/>
            </p:cNvSpPr>
            <p:nvPr/>
          </p:nvSpPr>
          <p:spPr bwMode="auto">
            <a:xfrm>
              <a:off x="617" y="1837"/>
              <a:ext cx="0" cy="233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34" name="Group 33"/>
          <p:cNvGraphicFramePr>
            <a:graphicFrameLocks noGrp="1"/>
          </p:cNvGraphicFramePr>
          <p:nvPr/>
        </p:nvGraphicFramePr>
        <p:xfrm>
          <a:off x="190500" y="1395413"/>
          <a:ext cx="4867275" cy="1466852"/>
        </p:xfrm>
        <a:graphic>
          <a:graphicData uri="http://schemas.openxmlformats.org/drawingml/2006/table">
            <a:tbl>
              <a:tblPr/>
              <a:tblGrid>
                <a:gridCol w="1382713"/>
                <a:gridCol w="1743075"/>
                <a:gridCol w="1741487"/>
              </a:tblGrid>
              <a:tr h="366713">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2000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t</a:t>
                      </a:r>
                      <a:r>
                        <a:rPr kumimoji="1" lang="en-US" altLang="zh-CN" sz="1800" b="1" i="0" u="none" strike="noStrike" cap="none" normalizeH="0" baseline="-2500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ji</a:t>
                      </a:r>
                      <a:endParaRPr kumimoji="1" lang="en-US" altLang="zh-CN" sz="1800" b="1" i="0" u="none" strike="noStrike" cap="none" normalizeH="0" baseline="-2500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机器</a:t>
                      </a: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机器</a:t>
                      </a: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2</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6713">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作业</a:t>
                      </a: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2</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r>
              <a:tr h="366713">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作业</a:t>
                      </a: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2</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3</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r>
              <a:tr h="366713">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zh-CN" altLang="en-US"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作业</a:t>
                      </a: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3</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2</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Clr>
                          <a:schemeClr val="accent1"/>
                        </a:buClr>
                        <a:buSzPct val="75000"/>
                        <a:buFont typeface="Wingdings" panose="05000000000000000000" pitchFamily="2" charset="2"/>
                        <a:defRPr sz="1600">
                          <a:solidFill>
                            <a:schemeClr val="accent1"/>
                          </a:solidFill>
                          <a:latin typeface="黑体" panose="02010609060101010101" pitchFamily="49" charset="-122"/>
                          <a:ea typeface="黑体" panose="02010609060101010101" pitchFamily="49" charset="-122"/>
                        </a:defRPr>
                      </a:lvl1pPr>
                      <a:lvl2pPr marL="742950" indent="-285750">
                        <a:lnSpc>
                          <a:spcPct val="90000"/>
                        </a:lnSpc>
                        <a:spcBef>
                          <a:spcPts val="375"/>
                        </a:spcBef>
                        <a:buFont typeface="Arial" panose="020B0604020202020204" pitchFamily="34" charset="0"/>
                        <a:defRPr sz="1300">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ts val="375"/>
                        </a:spcBef>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0" fontAlgn="base" latinLnBrk="0" hangingPunct="0">
                        <a:lnSpc>
                          <a:spcPct val="100000"/>
                        </a:lnSpc>
                        <a:spcBef>
                          <a:spcPct val="0"/>
                        </a:spcBef>
                        <a:spcAft>
                          <a:spcPct val="0"/>
                        </a:spcAft>
                        <a:buClr>
                          <a:srgbClr val="800000"/>
                        </a:buClr>
                        <a:buSzTx/>
                        <a:buFont typeface="Wingdings" panose="05000000000000000000" pitchFamily="2" charset="2"/>
                        <a:buNone/>
                      </a:pPr>
                      <a:r>
                        <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rPr>
                        <a:t>3</a:t>
                      </a:r>
                      <a:endParaRPr kumimoji="1" lang="en-US" altLang="zh-CN" sz="1800" b="1" i="0" u="none" strike="noStrike" cap="none" normalizeH="0" baseline="0" smtClean="0">
                        <a:ln>
                          <a:noFill/>
                        </a:ln>
                        <a:solidFill>
                          <a:srgbClr val="303030"/>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35" name="矩形 134"/>
          <p:cNvSpPr/>
          <p:nvPr/>
        </p:nvSpPr>
        <p:spPr>
          <a:xfrm>
            <a:off x="5133975" y="1276350"/>
            <a:ext cx="3810000" cy="2047875"/>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algn="just" eaLnBrk="1" hangingPunct="1">
              <a:defRPr/>
            </a:pP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第</a:t>
            </a:r>
            <a:r>
              <a:rPr lang="en-US" altLang="zh-CN" sz="2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个工件在机器</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上的开始时间为</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其在机器</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上的完成时间</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与</a:t>
            </a:r>
            <a:r>
              <a:rPr lang="zh-CN" altLang="en-US" sz="24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机器</a:t>
            </a:r>
            <a:r>
              <a:rPr lang="en-US" altLang="zh-CN" sz="24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上的第</a:t>
            </a:r>
            <a:r>
              <a:rPr lang="en-US" altLang="zh-CN" sz="24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(i-1)</a:t>
            </a:r>
            <a:r>
              <a:rPr lang="zh-CN" altLang="en-US" sz="24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个工件的完成时间</a:t>
            </a:r>
            <a:r>
              <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取大即，</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max(</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2400" b="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1(i-1)</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a:t>
            </a:r>
            <a:r>
              <a:rPr lang="en-US" altLang="zh-CN" sz="2400" b="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1i</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2400" b="1" baseline="-25000"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2(i-1)</a:t>
            </a:r>
            <a:r>
              <a:rPr lang="en-US" altLang="zh-CN"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矩形 2"/>
          <p:cNvSpPr>
            <a:spLocks noChangeArrowheads="1"/>
          </p:cNvSpPr>
          <p:nvPr/>
        </p:nvSpPr>
        <p:spPr bwMode="auto">
          <a:xfrm>
            <a:off x="292100" y="376238"/>
            <a:ext cx="4879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批作业调度问题：下界</a:t>
            </a:r>
            <a:endParaRPr lang="zh-CN" altLang="en-US" sz="3200">
              <a:solidFill>
                <a:schemeClr val="bg1"/>
              </a:solidFill>
              <a:latin typeface="楷体" panose="02010609060101010101" pitchFamily="49" charset="-122"/>
              <a:ea typeface="楷体" panose="02010609060101010101" pitchFamily="49" charset="-122"/>
            </a:endParaRPr>
          </a:p>
        </p:txBody>
      </p:sp>
      <p:graphicFrame>
        <p:nvGraphicFramePr>
          <p:cNvPr id="7170" name="Object 2"/>
          <p:cNvGraphicFramePr>
            <a:graphicFrameLocks noChangeAspect="1"/>
          </p:cNvGraphicFramePr>
          <p:nvPr/>
        </p:nvGraphicFramePr>
        <p:xfrm>
          <a:off x="266700" y="2682875"/>
          <a:ext cx="7037388" cy="3748088"/>
        </p:xfrm>
        <a:graphic>
          <a:graphicData uri="http://schemas.openxmlformats.org/presentationml/2006/ole">
            <mc:AlternateContent xmlns:mc="http://schemas.openxmlformats.org/markup-compatibility/2006">
              <mc:Choice xmlns:v="urn:schemas-microsoft-com:vml" Requires="v">
                <p:oleObj spid="_x0000_s6290" name="Equation" r:id="rId1" imgW="2743200" imgH="1460500" progId="Equation.DSMT4">
                  <p:embed/>
                </p:oleObj>
              </mc:Choice>
              <mc:Fallback>
                <p:oleObj name="Equation" r:id="rId1" imgW="2743200" imgH="14605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2682875"/>
                        <a:ext cx="7037388" cy="3748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圆角矩形 3"/>
          <p:cNvSpPr/>
          <p:nvPr/>
        </p:nvSpPr>
        <p:spPr>
          <a:xfrm>
            <a:off x="138113" y="1133475"/>
            <a:ext cx="8786812" cy="1295400"/>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lgn="just" eaLnBrk="1" hangingPunct="1">
              <a:defRPr/>
            </a:pP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如果</a:t>
            </a:r>
            <a:r>
              <a:rPr lang="zh-CN" altLang="en-US" sz="2800" b="1" dirty="0" smtClean="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从结点</a:t>
            </a:r>
            <a:r>
              <a:rPr lang="en-US" altLang="zh-CN" sz="2800" b="1" dirty="0" smtClean="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E</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开始到</a:t>
            </a:r>
            <a:r>
              <a:rPr lang="zh-CN" altLang="en-US" sz="2800" b="1" dirty="0" smtClean="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叶结点的</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路上，</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机器</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上没有空闲时间且工件在机器</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上完成后立马能在机器</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上加工</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，则剩余工件总完成时间为</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2800" b="1" baseline="-25000"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sz="2800" b="1" baseline="-25000"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矩形 7"/>
          <p:cNvSpPr/>
          <p:nvPr/>
        </p:nvSpPr>
        <p:spPr>
          <a:xfrm>
            <a:off x="1181100" y="2724150"/>
            <a:ext cx="1524000"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圆角矩形标注 6"/>
          <p:cNvSpPr/>
          <p:nvPr/>
        </p:nvSpPr>
        <p:spPr>
          <a:xfrm>
            <a:off x="4902200" y="2527300"/>
            <a:ext cx="4137025" cy="981075"/>
          </a:xfrm>
          <a:prstGeom prst="wedgeRoundRectCallout">
            <a:avLst/>
          </a:prstGeom>
        </p:spPr>
        <p:style>
          <a:lnRef idx="2">
            <a:schemeClr val="accent2"/>
          </a:lnRef>
          <a:fillRef idx="1">
            <a:schemeClr val="lt1"/>
          </a:fillRef>
          <a:effectRef idx="0">
            <a:schemeClr val="accent2"/>
          </a:effectRef>
          <a:fontRef idx="minor">
            <a:schemeClr val="dk1"/>
          </a:fontRef>
        </p:style>
        <p:txBody>
          <a:bodyPr anchor="ctr"/>
          <a:lstStyle/>
          <a:p>
            <a:pPr eaLnBrk="1" hangingPunct="1">
              <a:defRPr/>
            </a:pPr>
            <a:r>
              <a:rPr lang="en-US" altLang="zh-CN" sz="2400" b="1" i="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p</a:t>
            </a:r>
            <a:r>
              <a:rPr lang="en-US" altLang="zh-CN" sz="2400" b="1" i="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2400" b="1" dirty="0">
                <a:solidFill>
                  <a:schemeClr val="accent5">
                    <a:lumMod val="50000"/>
                  </a:schemeClr>
                </a:solidFill>
                <a:latin typeface="华文楷体" panose="02010600040101010101" pitchFamily="2" charset="-122"/>
                <a:ea typeface="华文楷体" panose="02010600040101010101" pitchFamily="2" charset="-122"/>
              </a:rPr>
              <a:t>：已安排的最后一个工件</a:t>
            </a:r>
            <a:endParaRPr lang="en-US" altLang="zh-CN" sz="2400" b="1" dirty="0">
              <a:solidFill>
                <a:schemeClr val="accent5">
                  <a:lumMod val="50000"/>
                </a:schemeClr>
              </a:solidFill>
              <a:latin typeface="华文楷体" panose="02010600040101010101" pitchFamily="2" charset="-122"/>
              <a:ea typeface="华文楷体" panose="02010600040101010101" pitchFamily="2" charset="-122"/>
            </a:endParaRPr>
          </a:p>
          <a:p>
            <a:pPr eaLnBrk="1" hangingPunct="1">
              <a:defRPr/>
            </a:pPr>
            <a:r>
              <a:rPr lang="en-US" altLang="zh-CN" sz="2400" b="1" i="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2400" b="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i="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pr</a:t>
            </a:r>
            <a:r>
              <a:rPr lang="zh-CN" altLang="en-US" sz="2400" b="1" dirty="0">
                <a:solidFill>
                  <a:schemeClr val="accent5">
                    <a:lumMod val="50000"/>
                  </a:schemeClr>
                </a:solidFill>
                <a:latin typeface="华文楷体" panose="02010600040101010101" pitchFamily="2" charset="-122"/>
                <a:ea typeface="华文楷体" panose="02010600040101010101" pitchFamily="2" charset="-122"/>
              </a:rPr>
              <a:t>：</a:t>
            </a:r>
            <a:r>
              <a:rPr lang="en-US" altLang="zh-CN" sz="2400" b="1" i="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p</a:t>
            </a:r>
            <a:r>
              <a:rPr lang="en-US" altLang="zh-CN" sz="2400" b="1" i="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2400" b="1" dirty="0">
                <a:solidFill>
                  <a:schemeClr val="accent5">
                    <a:lumMod val="50000"/>
                  </a:schemeClr>
                </a:solidFill>
                <a:latin typeface="华文楷体" panose="02010600040101010101" pitchFamily="2" charset="-122"/>
                <a:ea typeface="华文楷体" panose="02010600040101010101" pitchFamily="2" charset="-122"/>
              </a:rPr>
              <a:t>在</a:t>
            </a:r>
            <a:r>
              <a:rPr lang="en-US" altLang="zh-CN" sz="2400" b="1" dirty="0">
                <a:solidFill>
                  <a:schemeClr val="accent5">
                    <a:lumMod val="50000"/>
                  </a:schemeClr>
                </a:solidFill>
                <a:latin typeface="华文楷体" panose="02010600040101010101" pitchFamily="2" charset="-122"/>
                <a:ea typeface="华文楷体" panose="02010600040101010101" pitchFamily="2" charset="-122"/>
              </a:rPr>
              <a:t>M1</a:t>
            </a:r>
            <a:r>
              <a:rPr lang="zh-CN" altLang="en-US" sz="2400" b="1" dirty="0">
                <a:solidFill>
                  <a:schemeClr val="accent5">
                    <a:lumMod val="50000"/>
                  </a:schemeClr>
                </a:solidFill>
                <a:latin typeface="华文楷体" panose="02010600040101010101" pitchFamily="2" charset="-122"/>
                <a:ea typeface="华文楷体" panose="02010600040101010101" pitchFamily="2" charset="-122"/>
              </a:rPr>
              <a:t>上的完成时间</a:t>
            </a:r>
            <a:endParaRPr lang="zh-CN" altLang="en-US" sz="2400" b="1" dirty="0">
              <a:solidFill>
                <a:schemeClr val="accent5">
                  <a:lumMod val="50000"/>
                </a:schemeClr>
              </a:solidFill>
              <a:latin typeface="华文楷体" panose="02010600040101010101" pitchFamily="2" charset="-122"/>
              <a:ea typeface="华文楷体" panose="02010600040101010101" pitchFamily="2" charset="-122"/>
            </a:endParaRPr>
          </a:p>
        </p:txBody>
      </p:sp>
      <p:sp>
        <p:nvSpPr>
          <p:cNvPr id="9" name="矩形 8"/>
          <p:cNvSpPr/>
          <p:nvPr/>
        </p:nvSpPr>
        <p:spPr>
          <a:xfrm>
            <a:off x="1149350" y="2705100"/>
            <a:ext cx="2546350" cy="5619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 name="矩形 9"/>
          <p:cNvSpPr/>
          <p:nvPr/>
        </p:nvSpPr>
        <p:spPr>
          <a:xfrm>
            <a:off x="1200150" y="3362325"/>
            <a:ext cx="2533650"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矩形 10"/>
          <p:cNvSpPr/>
          <p:nvPr/>
        </p:nvSpPr>
        <p:spPr>
          <a:xfrm>
            <a:off x="1200150" y="3371850"/>
            <a:ext cx="3619500" cy="5619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2" name="矩形 11"/>
          <p:cNvSpPr/>
          <p:nvPr/>
        </p:nvSpPr>
        <p:spPr>
          <a:xfrm>
            <a:off x="1209675" y="4029075"/>
            <a:ext cx="3609975"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3" name="矩形 12"/>
          <p:cNvSpPr/>
          <p:nvPr/>
        </p:nvSpPr>
        <p:spPr>
          <a:xfrm>
            <a:off x="1209675" y="4038600"/>
            <a:ext cx="4591050" cy="5619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矩形 13"/>
          <p:cNvSpPr/>
          <p:nvPr/>
        </p:nvSpPr>
        <p:spPr>
          <a:xfrm>
            <a:off x="1209675" y="4657725"/>
            <a:ext cx="5010150"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矩形 14"/>
          <p:cNvSpPr/>
          <p:nvPr/>
        </p:nvSpPr>
        <p:spPr>
          <a:xfrm>
            <a:off x="1209675" y="4667250"/>
            <a:ext cx="5895975" cy="5619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7" name="矩形 16"/>
          <p:cNvSpPr/>
          <p:nvPr/>
        </p:nvSpPr>
        <p:spPr>
          <a:xfrm>
            <a:off x="4886325" y="5610225"/>
            <a:ext cx="581025"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8" name="矩形 17"/>
          <p:cNvSpPr/>
          <p:nvPr/>
        </p:nvSpPr>
        <p:spPr>
          <a:xfrm>
            <a:off x="1162050" y="2647950"/>
            <a:ext cx="685800" cy="26479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9" name="矩形 18"/>
          <p:cNvSpPr/>
          <p:nvPr/>
        </p:nvSpPr>
        <p:spPr>
          <a:xfrm>
            <a:off x="1600200" y="5610225"/>
            <a:ext cx="752475"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0" name="矩形 19"/>
          <p:cNvSpPr/>
          <p:nvPr/>
        </p:nvSpPr>
        <p:spPr>
          <a:xfrm>
            <a:off x="2047875" y="2676525"/>
            <a:ext cx="685800" cy="26479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1" name="矩形 20"/>
          <p:cNvSpPr/>
          <p:nvPr/>
        </p:nvSpPr>
        <p:spPr>
          <a:xfrm>
            <a:off x="2581275" y="5619750"/>
            <a:ext cx="2047875"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2" name="矩形 21"/>
          <p:cNvSpPr/>
          <p:nvPr/>
        </p:nvSpPr>
        <p:spPr>
          <a:xfrm>
            <a:off x="3105150" y="3400425"/>
            <a:ext cx="714375" cy="19335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3" name="矩形 22"/>
          <p:cNvSpPr/>
          <p:nvPr/>
        </p:nvSpPr>
        <p:spPr>
          <a:xfrm>
            <a:off x="4086225" y="4086225"/>
            <a:ext cx="714375" cy="12477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4" name="矩形 23"/>
          <p:cNvSpPr/>
          <p:nvPr/>
        </p:nvSpPr>
        <p:spPr>
          <a:xfrm>
            <a:off x="2530475" y="5573712"/>
            <a:ext cx="1546225" cy="65722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5" name="线形标注 1 24"/>
          <p:cNvSpPr/>
          <p:nvPr/>
        </p:nvSpPr>
        <p:spPr>
          <a:xfrm>
            <a:off x="4724400" y="4973637"/>
            <a:ext cx="2381250" cy="609600"/>
          </a:xfrm>
          <a:prstGeom prst="borderCallout1">
            <a:avLst>
              <a:gd name="adj1" fmla="val 48438"/>
              <a:gd name="adj2" fmla="val -1533"/>
              <a:gd name="adj3" fmla="val 112500"/>
              <a:gd name="adj4" fmla="val -38333"/>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defRPr/>
            </a:pPr>
            <a:r>
              <a:rPr lang="en-US" altLang="zh-CN" sz="2000" b="1" dirty="0"/>
              <a:t>K</a:t>
            </a:r>
            <a:r>
              <a:rPr lang="zh-CN" altLang="en-US" sz="2000" b="1" dirty="0"/>
              <a:t>越小，前面的系数越大</a:t>
            </a:r>
            <a:endParaRPr lang="zh-CN" altLang="en-US" sz="2000" b="1" dirty="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1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13"/>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15"/>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18"/>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20"/>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22"/>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23"/>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9" grpId="0" animBg="1"/>
      <p:bldP spid="9" grpId="1" animBg="1"/>
      <p:bldP spid="10" grpId="0" animBg="1"/>
      <p:bldP spid="11" grpId="0" animBg="1"/>
      <p:bldP spid="11" grpId="1" animBg="1"/>
      <p:bldP spid="12" grpId="0" animBg="1"/>
      <p:bldP spid="13" grpId="0" animBg="1"/>
      <p:bldP spid="13" grpId="1" animBg="1"/>
      <p:bldP spid="14" grpId="0" animBg="1"/>
      <p:bldP spid="15" grpId="0" animBg="1"/>
      <p:bldP spid="15" grpId="1" animBg="1"/>
      <p:bldP spid="17" grpId="0" animBg="1"/>
      <p:bldP spid="18" grpId="0" animBg="1"/>
      <p:bldP spid="18" grpId="1" animBg="1"/>
      <p:bldP spid="19" grpId="0" animBg="1"/>
      <p:bldP spid="20" grpId="0" animBg="1"/>
      <p:bldP spid="20" grpId="1" animBg="1"/>
      <p:bldP spid="21" grpId="0" animBg="1"/>
      <p:bldP spid="22" grpId="0" animBg="1"/>
      <p:bldP spid="22" grpId="1" animBg="1"/>
      <p:bldP spid="23" grpId="0" animBg="1"/>
      <p:bldP spid="23" grpId="1" animBg="1"/>
      <p:bldP spid="24" grpId="0" animBg="1"/>
      <p:bldP spid="2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矩形 2"/>
          <p:cNvSpPr>
            <a:spLocks noChangeArrowheads="1"/>
          </p:cNvSpPr>
          <p:nvPr/>
        </p:nvSpPr>
        <p:spPr bwMode="auto">
          <a:xfrm>
            <a:off x="292100" y="376238"/>
            <a:ext cx="49942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批作业调度问题：下界</a:t>
            </a:r>
            <a:endParaRPr lang="zh-CN" altLang="en-US" sz="3200">
              <a:solidFill>
                <a:schemeClr val="bg1"/>
              </a:solidFill>
              <a:latin typeface="楷体" panose="02010609060101010101" pitchFamily="49" charset="-122"/>
              <a:ea typeface="楷体" panose="02010609060101010101" pitchFamily="49" charset="-122"/>
            </a:endParaRPr>
          </a:p>
        </p:txBody>
      </p:sp>
      <p:sp>
        <p:nvSpPr>
          <p:cNvPr id="4" name="圆角矩形 3"/>
          <p:cNvSpPr/>
          <p:nvPr/>
        </p:nvSpPr>
        <p:spPr>
          <a:xfrm>
            <a:off x="195263" y="1123950"/>
            <a:ext cx="8786812" cy="12954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just" eaLnBrk="1" hangingPunct="1">
              <a:defRPr/>
            </a:pP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如果</a:t>
            </a:r>
            <a:r>
              <a:rPr lang="zh-CN" altLang="en-US" sz="2800" b="1" dirty="0" smtClean="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从结点</a:t>
            </a:r>
            <a:r>
              <a:rPr lang="en-US" altLang="zh-CN" sz="2800" b="1" dirty="0" smtClean="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E</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开始到</a:t>
            </a:r>
            <a:r>
              <a:rPr lang="zh-CN" altLang="en-US" sz="2800" b="1" dirty="0" smtClean="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叶结点的</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路上，</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机器</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上没有空闲时间（前一个工件完成后立马能开始下一个工件）</a:t>
            </a:r>
            <a:r>
              <a:rPr lang="zh-CN" altLang="en-US"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，则剩余工件总完成时间为</a:t>
            </a:r>
            <a:r>
              <a:rPr lang="en-US" altLang="zh-CN" sz="2800" b="1"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2800" b="1" baseline="-25000"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rPr>
              <a:t>2</a:t>
            </a:r>
            <a:endParaRPr lang="zh-CN" altLang="en-US" sz="2800" b="1" baseline="-25000" dirty="0">
              <a:solidFill>
                <a:schemeClr val="accent5">
                  <a:lumMod val="75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7170" name="Object 3"/>
          <p:cNvGraphicFramePr>
            <a:graphicFrameLocks noChangeAspect="1"/>
          </p:cNvGraphicFramePr>
          <p:nvPr/>
        </p:nvGraphicFramePr>
        <p:xfrm>
          <a:off x="266700" y="2740025"/>
          <a:ext cx="7677150" cy="3984625"/>
        </p:xfrm>
        <a:graphic>
          <a:graphicData uri="http://schemas.openxmlformats.org/presentationml/2006/ole">
            <mc:AlternateContent xmlns:mc="http://schemas.openxmlformats.org/markup-compatibility/2006">
              <mc:Choice xmlns:v="urn:schemas-microsoft-com:vml" Requires="v">
                <p:oleObj spid="_x0000_s7315" name="Equation" r:id="rId1" imgW="88087200" imgH="45720000" progId="Equation.DSMT4">
                  <p:embed/>
                </p:oleObj>
              </mc:Choice>
              <mc:Fallback>
                <p:oleObj name="Equation" r:id="rId1" imgW="88087200" imgH="45720000" progId="Equation.DSMT4">
                  <p:embed/>
                  <p:pic>
                    <p:nvPicPr>
                      <p:cNvPr id="0" name="Object 3"/>
                      <p:cNvPicPr>
                        <a:picLocks noChangeAspect="1" noChangeArrowheads="1"/>
                      </p:cNvPicPr>
                      <p:nvPr/>
                    </p:nvPicPr>
                    <p:blipFill>
                      <a:blip r:embed="rId2"/>
                      <a:srcRect/>
                      <a:stretch>
                        <a:fillRect/>
                      </a:stretch>
                    </p:blipFill>
                    <p:spPr bwMode="auto">
                      <a:xfrm>
                        <a:off x="266700" y="2740025"/>
                        <a:ext cx="7677150" cy="398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矩形 23"/>
          <p:cNvSpPr/>
          <p:nvPr/>
        </p:nvSpPr>
        <p:spPr>
          <a:xfrm>
            <a:off x="1076325" y="2886075"/>
            <a:ext cx="2952750"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5" name="矩形 24"/>
          <p:cNvSpPr/>
          <p:nvPr/>
        </p:nvSpPr>
        <p:spPr>
          <a:xfrm>
            <a:off x="1044575" y="2867025"/>
            <a:ext cx="3794125" cy="5619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圆角矩形标注 6"/>
          <p:cNvSpPr/>
          <p:nvPr/>
        </p:nvSpPr>
        <p:spPr>
          <a:xfrm>
            <a:off x="5781675" y="2628900"/>
            <a:ext cx="3362325" cy="1181100"/>
          </a:xfrm>
          <a:prstGeom prst="wedgeRoundRectCallout">
            <a:avLst/>
          </a:prstGeom>
        </p:spPr>
        <p:style>
          <a:lnRef idx="2">
            <a:schemeClr val="accent1"/>
          </a:lnRef>
          <a:fillRef idx="1">
            <a:schemeClr val="lt1"/>
          </a:fillRef>
          <a:effectRef idx="0">
            <a:schemeClr val="accent1"/>
          </a:effectRef>
          <a:fontRef idx="minor">
            <a:schemeClr val="dk1"/>
          </a:fontRef>
        </p:style>
        <p:txBody>
          <a:bodyPr anchor="ctr"/>
          <a:lstStyle/>
          <a:p>
            <a:pPr eaLnBrk="1" hangingPunct="1">
              <a:defRPr/>
            </a:pPr>
            <a:r>
              <a:rPr lang="en-US" altLang="zh-CN" sz="2000" b="1" i="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000" b="1" i="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为已经安排的工件集合</a:t>
            </a:r>
            <a:r>
              <a:rPr lang="en-US" altLang="zh-CN" sz="2000" b="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000" b="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defRPr/>
            </a:pPr>
            <a:r>
              <a:rPr lang="en-US" altLang="zh-CN" sz="2000" b="1" i="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p</a:t>
            </a:r>
            <a:r>
              <a:rPr lang="en-US" altLang="zh-CN" sz="2000" b="1" i="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2000" b="1" dirty="0">
                <a:solidFill>
                  <a:schemeClr val="accent5">
                    <a:lumMod val="50000"/>
                  </a:schemeClr>
                </a:solidFill>
                <a:latin typeface="华文楷体" panose="02010600040101010101" pitchFamily="2" charset="-122"/>
                <a:ea typeface="华文楷体" panose="02010600040101010101" pitchFamily="2" charset="-122"/>
              </a:rPr>
              <a:t>：已安排的最后一个工件</a:t>
            </a:r>
            <a:endParaRPr lang="en-US" altLang="zh-CN" sz="2000" b="1" dirty="0">
              <a:solidFill>
                <a:schemeClr val="accent5">
                  <a:lumMod val="50000"/>
                </a:schemeClr>
              </a:solidFill>
              <a:latin typeface="华文楷体" panose="02010600040101010101" pitchFamily="2" charset="-122"/>
              <a:ea typeface="华文楷体" panose="02010600040101010101" pitchFamily="2" charset="-122"/>
            </a:endParaRPr>
          </a:p>
          <a:p>
            <a:pPr eaLnBrk="1" hangingPunct="1">
              <a:defRPr/>
            </a:pPr>
            <a:r>
              <a:rPr lang="en-US" altLang="zh-CN" sz="2000" b="1" i="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2000" b="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000" b="1" i="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pr</a:t>
            </a:r>
            <a:r>
              <a:rPr lang="zh-CN" altLang="en-US" sz="2000" b="1" dirty="0">
                <a:solidFill>
                  <a:schemeClr val="accent5">
                    <a:lumMod val="50000"/>
                  </a:schemeClr>
                </a:solidFill>
                <a:latin typeface="华文楷体" panose="02010600040101010101" pitchFamily="2" charset="-122"/>
                <a:ea typeface="华文楷体" panose="02010600040101010101" pitchFamily="2" charset="-122"/>
              </a:rPr>
              <a:t>：</a:t>
            </a:r>
            <a:r>
              <a:rPr lang="en-US" altLang="zh-CN" sz="2000" b="1" i="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p</a:t>
            </a:r>
            <a:r>
              <a:rPr lang="en-US" altLang="zh-CN" sz="2000" b="1" i="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2000" b="1" dirty="0">
                <a:solidFill>
                  <a:schemeClr val="accent5">
                    <a:lumMod val="50000"/>
                  </a:schemeClr>
                </a:solidFill>
                <a:latin typeface="华文楷体" panose="02010600040101010101" pitchFamily="2" charset="-122"/>
                <a:ea typeface="华文楷体" panose="02010600040101010101" pitchFamily="2" charset="-122"/>
              </a:rPr>
              <a:t>在</a:t>
            </a:r>
            <a:r>
              <a:rPr lang="en-US" altLang="zh-CN" sz="2000" b="1" dirty="0">
                <a:solidFill>
                  <a:schemeClr val="accent5">
                    <a:lumMod val="50000"/>
                  </a:schemeClr>
                </a:solidFill>
                <a:latin typeface="华文楷体" panose="02010600040101010101" pitchFamily="2" charset="-122"/>
                <a:ea typeface="华文楷体" panose="02010600040101010101" pitchFamily="2" charset="-122"/>
              </a:rPr>
              <a:t>M1</a:t>
            </a:r>
            <a:r>
              <a:rPr lang="zh-CN" altLang="en-US" sz="2000" b="1" dirty="0">
                <a:solidFill>
                  <a:schemeClr val="accent5">
                    <a:lumMod val="50000"/>
                  </a:schemeClr>
                </a:solidFill>
                <a:latin typeface="华文楷体" panose="02010600040101010101" pitchFamily="2" charset="-122"/>
                <a:ea typeface="华文楷体" panose="02010600040101010101" pitchFamily="2" charset="-122"/>
              </a:rPr>
              <a:t>上的完成时间</a:t>
            </a:r>
            <a:endParaRPr lang="en-US" altLang="zh-CN" sz="2000" b="1" dirty="0">
              <a:solidFill>
                <a:schemeClr val="accent5">
                  <a:lumMod val="50000"/>
                </a:schemeClr>
              </a:solidFill>
              <a:latin typeface="华文楷体" panose="02010600040101010101" pitchFamily="2" charset="-122"/>
              <a:ea typeface="华文楷体" panose="02010600040101010101" pitchFamily="2" charset="-122"/>
            </a:endParaRPr>
          </a:p>
          <a:p>
            <a:pPr eaLnBrk="1" hangingPunct="1">
              <a:defRPr/>
            </a:pPr>
            <a:r>
              <a:rPr lang="en-US" altLang="zh-CN" sz="2000" b="1" i="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2000" b="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000" b="1" i="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pr</a:t>
            </a:r>
            <a:r>
              <a:rPr lang="zh-CN" altLang="en-US" sz="2000" b="1" dirty="0">
                <a:solidFill>
                  <a:schemeClr val="accent5">
                    <a:lumMod val="50000"/>
                  </a:schemeClr>
                </a:solidFill>
                <a:latin typeface="华文楷体" panose="02010600040101010101" pitchFamily="2" charset="-122"/>
                <a:ea typeface="华文楷体" panose="02010600040101010101" pitchFamily="2" charset="-122"/>
              </a:rPr>
              <a:t>：</a:t>
            </a:r>
            <a:r>
              <a:rPr lang="en-US" altLang="zh-CN" sz="2000" b="1" i="1"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p</a:t>
            </a:r>
            <a:r>
              <a:rPr lang="en-US" altLang="zh-CN" sz="2000" b="1" i="1" baseline="-25000" dirty="0">
                <a:solidFill>
                  <a:schemeClr val="accent5">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2000" b="1" dirty="0">
                <a:solidFill>
                  <a:schemeClr val="accent5">
                    <a:lumMod val="50000"/>
                  </a:schemeClr>
                </a:solidFill>
                <a:latin typeface="华文楷体" panose="02010600040101010101" pitchFamily="2" charset="-122"/>
                <a:ea typeface="华文楷体" panose="02010600040101010101" pitchFamily="2" charset="-122"/>
              </a:rPr>
              <a:t>在</a:t>
            </a:r>
            <a:r>
              <a:rPr lang="en-US" altLang="zh-CN" sz="2000" b="1" dirty="0">
                <a:solidFill>
                  <a:schemeClr val="accent5">
                    <a:lumMod val="50000"/>
                  </a:schemeClr>
                </a:solidFill>
                <a:latin typeface="华文楷体" panose="02010600040101010101" pitchFamily="2" charset="-122"/>
                <a:ea typeface="华文楷体" panose="02010600040101010101" pitchFamily="2" charset="-122"/>
              </a:rPr>
              <a:t>M2</a:t>
            </a:r>
            <a:r>
              <a:rPr lang="zh-CN" altLang="en-US" sz="2000" b="1" dirty="0">
                <a:solidFill>
                  <a:schemeClr val="accent5">
                    <a:lumMod val="50000"/>
                  </a:schemeClr>
                </a:solidFill>
                <a:latin typeface="华文楷体" panose="02010600040101010101" pitchFamily="2" charset="-122"/>
                <a:ea typeface="华文楷体" panose="02010600040101010101" pitchFamily="2" charset="-122"/>
              </a:rPr>
              <a:t>上的完成时间</a:t>
            </a:r>
            <a:endParaRPr lang="zh-CN" altLang="en-US" sz="2000" b="1" dirty="0">
              <a:solidFill>
                <a:schemeClr val="accent5">
                  <a:lumMod val="50000"/>
                </a:schemeClr>
              </a:solidFill>
              <a:latin typeface="华文楷体" panose="02010600040101010101" pitchFamily="2" charset="-122"/>
              <a:ea typeface="华文楷体" panose="02010600040101010101" pitchFamily="2" charset="-122"/>
            </a:endParaRPr>
          </a:p>
        </p:txBody>
      </p:sp>
      <p:sp>
        <p:nvSpPr>
          <p:cNvPr id="26" name="矩形 25"/>
          <p:cNvSpPr/>
          <p:nvPr/>
        </p:nvSpPr>
        <p:spPr>
          <a:xfrm>
            <a:off x="1047750" y="3638550"/>
            <a:ext cx="3848100"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7" name="矩形 26"/>
          <p:cNvSpPr/>
          <p:nvPr/>
        </p:nvSpPr>
        <p:spPr>
          <a:xfrm>
            <a:off x="1016000" y="3619500"/>
            <a:ext cx="4679950" cy="5619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8" name="矩形 27"/>
          <p:cNvSpPr/>
          <p:nvPr/>
        </p:nvSpPr>
        <p:spPr>
          <a:xfrm>
            <a:off x="1066800" y="4410075"/>
            <a:ext cx="4629150"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9" name="矩形 28"/>
          <p:cNvSpPr/>
          <p:nvPr/>
        </p:nvSpPr>
        <p:spPr>
          <a:xfrm>
            <a:off x="1035050" y="4391025"/>
            <a:ext cx="5508625" cy="5619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0" name="矩形 29"/>
          <p:cNvSpPr/>
          <p:nvPr/>
        </p:nvSpPr>
        <p:spPr>
          <a:xfrm>
            <a:off x="1066800" y="5181600"/>
            <a:ext cx="5467350"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1" name="矩形 30"/>
          <p:cNvSpPr/>
          <p:nvPr/>
        </p:nvSpPr>
        <p:spPr>
          <a:xfrm>
            <a:off x="1035050" y="5162550"/>
            <a:ext cx="6746875" cy="5619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2" name="矩形 31"/>
          <p:cNvSpPr/>
          <p:nvPr/>
        </p:nvSpPr>
        <p:spPr>
          <a:xfrm>
            <a:off x="2352675" y="2857500"/>
            <a:ext cx="1666875" cy="561975"/>
          </a:xfrm>
          <a:prstGeom prst="rect">
            <a:avLst/>
          </a:prstGeom>
          <a:noFill/>
          <a:ln w="254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3" name="矩形 32"/>
          <p:cNvSpPr/>
          <p:nvPr/>
        </p:nvSpPr>
        <p:spPr>
          <a:xfrm>
            <a:off x="1044575" y="2809875"/>
            <a:ext cx="3013075" cy="29908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4" name="矩形 33"/>
          <p:cNvSpPr/>
          <p:nvPr/>
        </p:nvSpPr>
        <p:spPr>
          <a:xfrm>
            <a:off x="1549400" y="5991225"/>
            <a:ext cx="3013075" cy="5619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5" name="矩形 34"/>
          <p:cNvSpPr/>
          <p:nvPr/>
        </p:nvSpPr>
        <p:spPr>
          <a:xfrm>
            <a:off x="4225925" y="2809875"/>
            <a:ext cx="622300" cy="29908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6" name="矩形 35"/>
          <p:cNvSpPr/>
          <p:nvPr/>
        </p:nvSpPr>
        <p:spPr>
          <a:xfrm>
            <a:off x="4768850" y="6010275"/>
            <a:ext cx="1641475" cy="56197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7" name="矩形 36"/>
          <p:cNvSpPr/>
          <p:nvPr/>
        </p:nvSpPr>
        <p:spPr>
          <a:xfrm>
            <a:off x="5054600" y="3543300"/>
            <a:ext cx="622300" cy="22669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8" name="矩形 37"/>
          <p:cNvSpPr/>
          <p:nvPr/>
        </p:nvSpPr>
        <p:spPr>
          <a:xfrm>
            <a:off x="5949950" y="4295775"/>
            <a:ext cx="622300" cy="152400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9" name="矩形 38"/>
          <p:cNvSpPr>
            <a:spLocks noChangeArrowheads="1"/>
          </p:cNvSpPr>
          <p:nvPr/>
        </p:nvSpPr>
        <p:spPr bwMode="auto">
          <a:xfrm>
            <a:off x="990600" y="2320925"/>
            <a:ext cx="36004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max(F</a:t>
            </a:r>
            <a:r>
              <a:rPr lang="en-US" altLang="zh-CN" sz="2800"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2(i-1)</a:t>
            </a:r>
            <a:r>
              <a:rPr lang="en-US" altLang="zh-CN" sz="28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F</a:t>
            </a:r>
            <a:r>
              <a:rPr lang="en-US" altLang="zh-CN" sz="2800"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1(i-1)</a:t>
            </a:r>
            <a:r>
              <a:rPr lang="en-US" altLang="zh-CN" sz="28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a:t>
            </a:r>
            <a:r>
              <a:rPr lang="en-US" altLang="zh-CN" sz="2800"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1i</a:t>
            </a:r>
            <a:r>
              <a:rPr lang="en-US" altLang="zh-CN" sz="28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a:solidFill>
                <a:srgbClr val="FF0000"/>
              </a:solidFill>
              <a:ea typeface="华文楷体" panose="02010600040101010101" pitchFamily="2" charset="-122"/>
              <a:cs typeface="Times New Roman" panose="02020603050405020304" pitchFamily="18" charset="0"/>
            </a:endParaRPr>
          </a:p>
        </p:txBody>
      </p:sp>
      <p:sp>
        <p:nvSpPr>
          <p:cNvPr id="22" name="线形标注 1 21"/>
          <p:cNvSpPr/>
          <p:nvPr/>
        </p:nvSpPr>
        <p:spPr>
          <a:xfrm>
            <a:off x="6169025" y="5400675"/>
            <a:ext cx="1657350" cy="609600"/>
          </a:xfrm>
          <a:prstGeom prst="borderCallout1">
            <a:avLst>
              <a:gd name="adj1" fmla="val 48438"/>
              <a:gd name="adj2" fmla="val -1533"/>
              <a:gd name="adj3" fmla="val 112500"/>
              <a:gd name="adj4" fmla="val -38333"/>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defRPr/>
            </a:pPr>
            <a:r>
              <a:rPr lang="en-US" altLang="zh-CN" sz="2000" b="1" dirty="0"/>
              <a:t>K</a:t>
            </a:r>
            <a:r>
              <a:rPr lang="zh-CN" altLang="en-US" sz="2000" b="1" dirty="0"/>
              <a:t>越小，前面的系数越大</a:t>
            </a:r>
            <a:endParaRPr lang="zh-CN" altLang="en-US" sz="2000" b="1" dirty="0"/>
          </a:p>
        </p:txBody>
      </p:sp>
      <p:sp>
        <p:nvSpPr>
          <p:cNvPr id="23" name="矩形 22"/>
          <p:cNvSpPr/>
          <p:nvPr/>
        </p:nvSpPr>
        <p:spPr>
          <a:xfrm>
            <a:off x="4784725" y="5962650"/>
            <a:ext cx="1603375" cy="65722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3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3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7" grpId="0" animBg="1"/>
      <p:bldP spid="26" grpId="0" animBg="1"/>
      <p:bldP spid="27" grpId="0" animBg="1"/>
      <p:bldP spid="28" grpId="0" animBg="1"/>
      <p:bldP spid="29" grpId="0" animBg="1"/>
      <p:bldP spid="30" grpId="0" animBg="1"/>
      <p:bldP spid="31" grpId="0" animBg="1"/>
      <p:bldP spid="32" grpId="0" animBg="1"/>
      <p:bldP spid="32" grpId="1" animBg="1"/>
      <p:bldP spid="33" grpId="0" animBg="1"/>
      <p:bldP spid="34" grpId="0" animBg="1"/>
      <p:bldP spid="35" grpId="0" animBg="1"/>
      <p:bldP spid="36" grpId="0" animBg="1"/>
      <p:bldP spid="37" grpId="0" animBg="1"/>
      <p:bldP spid="38" grpId="0" animBg="1"/>
      <p:bldP spid="39" grpId="0"/>
      <p:bldP spid="39" grpId="1"/>
      <p:bldP spid="22" grpId="0" animBg="1"/>
      <p:bldP spid="2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批作业调度问题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8197" name="Rectangle 3"/>
          <p:cNvSpPr txBox="1">
            <a:spLocks noChangeArrowheads="1"/>
          </p:cNvSpPr>
          <p:nvPr/>
        </p:nvSpPr>
        <p:spPr bwMode="auto">
          <a:xfrm>
            <a:off x="647700" y="1206500"/>
            <a:ext cx="6096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defTabSz="685800">
              <a:defRPr>
                <a:solidFill>
                  <a:schemeClr val="tx1"/>
                </a:solidFill>
                <a:latin typeface="Arial" panose="020B0604020202020204" pitchFamily="34" charset="0"/>
                <a:ea typeface="宋体" panose="02010600030101010101" pitchFamily="2" charset="-122"/>
              </a:defRPr>
            </a:lvl1pPr>
            <a:lvl2pPr marL="742950" indent="-285750" defTabSz="685800">
              <a:defRPr>
                <a:solidFill>
                  <a:schemeClr val="tx1"/>
                </a:solidFill>
                <a:latin typeface="Arial" panose="020B0604020202020204" pitchFamily="34" charset="0"/>
                <a:ea typeface="宋体" panose="02010600030101010101" pitchFamily="2" charset="-122"/>
              </a:defRPr>
            </a:lvl2pPr>
            <a:lvl3pPr marL="1143000" indent="-228600" defTabSz="685800">
              <a:defRPr>
                <a:solidFill>
                  <a:schemeClr val="tx1"/>
                </a:solidFill>
                <a:latin typeface="Arial" panose="020B0604020202020204" pitchFamily="34" charset="0"/>
                <a:ea typeface="宋体" panose="02010600030101010101" pitchFamily="2" charset="-122"/>
              </a:defRPr>
            </a:lvl3pPr>
            <a:lvl4pPr marL="1600200" indent="-228600" defTabSz="685800">
              <a:defRPr>
                <a:solidFill>
                  <a:schemeClr val="tx1"/>
                </a:solidFill>
                <a:latin typeface="Arial" panose="020B0604020202020204" pitchFamily="34" charset="0"/>
                <a:ea typeface="宋体" panose="02010600030101010101" pitchFamily="2" charset="-122"/>
              </a:defRPr>
            </a:lvl4pPr>
            <a:lvl5pPr marL="2057400" indent="-228600" defTabSz="685800">
              <a:defRPr>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spcBef>
                <a:spcPts val="750"/>
              </a:spcBef>
              <a:buClr>
                <a:schemeClr val="accent1"/>
              </a:buClr>
              <a:buSzPct val="75000"/>
            </a:pPr>
            <a:r>
              <a:rPr lang="zh-CN" altLang="en-US" sz="3200" b="1">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2. 下界函数</a:t>
            </a:r>
            <a:endParaRPr lang="zh-CN" altLang="en-US" sz="3200" b="1">
              <a:solidFill>
                <a:srgbClr val="0070C0"/>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5" name="Object 2"/>
          <p:cNvGraphicFramePr>
            <a:graphicFrameLocks noChangeAspect="1"/>
          </p:cNvGraphicFramePr>
          <p:nvPr/>
        </p:nvGraphicFramePr>
        <p:xfrm>
          <a:off x="1474977" y="2178050"/>
          <a:ext cx="5584825" cy="2308225"/>
        </p:xfrm>
        <a:graphic>
          <a:graphicData uri="http://schemas.openxmlformats.org/presentationml/2006/ole">
            <mc:AlternateContent xmlns:mc="http://schemas.openxmlformats.org/markup-compatibility/2006">
              <mc:Choice xmlns:v="urn:schemas-microsoft-com:vml" Requires="v">
                <p:oleObj spid="_x0000_s8458" name="Equation" r:id="rId1" imgW="66751200" imgH="29565600" progId="Equation.DSMT4">
                  <p:embed/>
                </p:oleObj>
              </mc:Choice>
              <mc:Fallback>
                <p:oleObj name="Equation" r:id="rId1" imgW="66751200" imgH="29565600" progId="Equation.DSMT4">
                  <p:embed/>
                  <p:pic>
                    <p:nvPicPr>
                      <p:cNvPr id="0" name="Object 2"/>
                      <p:cNvPicPr>
                        <a:picLocks noChangeAspect="1" noChangeArrowheads="1"/>
                      </p:cNvPicPr>
                      <p:nvPr/>
                    </p:nvPicPr>
                    <p:blipFill>
                      <a:blip r:embed="rId2"/>
                      <a:srcRect/>
                      <a:stretch>
                        <a:fillRect/>
                      </a:stretch>
                    </p:blipFill>
                    <p:spPr bwMode="auto">
                      <a:xfrm>
                        <a:off x="1474977" y="2178050"/>
                        <a:ext cx="55848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6"/>
          <p:cNvSpPr txBox="1">
            <a:spLocks noChangeArrowheads="1"/>
          </p:cNvSpPr>
          <p:nvPr/>
        </p:nvSpPr>
        <p:spPr bwMode="auto">
          <a:xfrm>
            <a:off x="858838" y="4441825"/>
            <a:ext cx="7467600" cy="830263"/>
          </a:xfrm>
          <a:prstGeom prst="rect">
            <a:avLst/>
          </a:prstGeom>
          <a:noFill/>
          <a:ln w="6350">
            <a:noFill/>
            <a:miter lim="800000"/>
          </a:ln>
          <a:effectLst/>
        </p:spPr>
        <p:txBody>
          <a:bodyPr>
            <a:spAutoFit/>
          </a:bodyPr>
          <a:lstStyle/>
          <a:p>
            <a:pPr eaLnBrk="1" hangingPunct="1">
              <a:spcBef>
                <a:spcPct val="50000"/>
              </a:spcBef>
              <a:defRPr/>
            </a:pP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注意到如果选择</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k</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使</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a:t>
            </a:r>
            <a:r>
              <a:rPr lang="en-US" altLang="zh-CN" sz="1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1pk</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在</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k&gt;=</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时依非减序排列</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S1</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则取得极小值</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同理如果选择</a:t>
            </a:r>
            <a:r>
              <a:rPr lang="en-US" altLang="zh-CN" sz="20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4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k</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使</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a:t>
            </a:r>
            <a:r>
              <a:rPr lang="en-US" altLang="zh-CN" sz="1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2pk</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依非减序排列</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，则</a:t>
            </a:r>
            <a:r>
              <a:rPr lang="en-US" altLang="zh-CN"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S2</a:t>
            </a:r>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取得极小值。 </a:t>
            </a:r>
            <a:endPar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7" name="Object 3"/>
          <p:cNvGraphicFramePr>
            <a:graphicFrameLocks noChangeAspect="1"/>
          </p:cNvGraphicFramePr>
          <p:nvPr/>
        </p:nvGraphicFramePr>
        <p:xfrm>
          <a:off x="2411413" y="5346700"/>
          <a:ext cx="3886200" cy="685800"/>
        </p:xfrm>
        <a:graphic>
          <a:graphicData uri="http://schemas.openxmlformats.org/presentationml/2006/ole">
            <mc:AlternateContent xmlns:mc="http://schemas.openxmlformats.org/markup-compatibility/2006">
              <mc:Choice xmlns:v="urn:schemas-microsoft-com:vml" Requires="v">
                <p:oleObj spid="_x0000_s8459" name="Equation" r:id="rId3" imgW="1600200" imgH="355600" progId="Equation.DSMT4">
                  <p:embed/>
                </p:oleObj>
              </mc:Choice>
              <mc:Fallback>
                <p:oleObj name="Equation" r:id="rId3" imgW="1600200" imgH="355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5346700"/>
                        <a:ext cx="3886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8"/>
          <p:cNvSpPr txBox="1">
            <a:spLocks noChangeArrowheads="1"/>
          </p:cNvSpPr>
          <p:nvPr/>
        </p:nvSpPr>
        <p:spPr bwMode="auto">
          <a:xfrm>
            <a:off x="915988" y="6127750"/>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这可以作为优先队列式分支限界法中的下界函数。 </a:t>
            </a:r>
            <a:endPar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矩形 8"/>
          <p:cNvSpPr/>
          <p:nvPr/>
        </p:nvSpPr>
        <p:spPr>
          <a:xfrm>
            <a:off x="2025650" y="2133600"/>
            <a:ext cx="774700" cy="73342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 name="矩形 9"/>
          <p:cNvSpPr/>
          <p:nvPr/>
        </p:nvSpPr>
        <p:spPr>
          <a:xfrm>
            <a:off x="3035300" y="2143125"/>
            <a:ext cx="1441450" cy="73342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矩形 10"/>
          <p:cNvSpPr/>
          <p:nvPr/>
        </p:nvSpPr>
        <p:spPr>
          <a:xfrm>
            <a:off x="3472745" y="2943225"/>
            <a:ext cx="1546225" cy="65722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2" name="线形标注 1 11"/>
          <p:cNvSpPr/>
          <p:nvPr/>
        </p:nvSpPr>
        <p:spPr>
          <a:xfrm>
            <a:off x="6039201" y="2343150"/>
            <a:ext cx="2381250" cy="609600"/>
          </a:xfrm>
          <a:prstGeom prst="borderCallout1">
            <a:avLst>
              <a:gd name="adj1" fmla="val 48438"/>
              <a:gd name="adj2" fmla="val -1533"/>
              <a:gd name="adj3" fmla="val 112500"/>
              <a:gd name="adj4" fmla="val -38333"/>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defRPr/>
            </a:pPr>
            <a:r>
              <a:rPr lang="en-US" altLang="zh-CN" sz="2000" b="1" dirty="0"/>
              <a:t>K</a:t>
            </a:r>
            <a:r>
              <a:rPr lang="zh-CN" altLang="en-US" sz="2000" b="1" dirty="0"/>
              <a:t>越小，前面的系数越大</a:t>
            </a:r>
            <a:endParaRPr lang="zh-CN" altLang="en-US" sz="2000" b="1" dirty="0"/>
          </a:p>
        </p:txBody>
      </p:sp>
      <p:sp>
        <p:nvSpPr>
          <p:cNvPr id="13" name="线形标注 1 12"/>
          <p:cNvSpPr/>
          <p:nvPr/>
        </p:nvSpPr>
        <p:spPr>
          <a:xfrm>
            <a:off x="7086600" y="3238500"/>
            <a:ext cx="1657350" cy="609600"/>
          </a:xfrm>
          <a:prstGeom prst="borderCallout1">
            <a:avLst>
              <a:gd name="adj1" fmla="val 48438"/>
              <a:gd name="adj2" fmla="val -1533"/>
              <a:gd name="adj3" fmla="val 112500"/>
              <a:gd name="adj4" fmla="val -38333"/>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defRPr/>
            </a:pPr>
            <a:r>
              <a:rPr lang="en-US" altLang="zh-CN" sz="2000" b="1" dirty="0"/>
              <a:t>K</a:t>
            </a:r>
            <a:r>
              <a:rPr lang="zh-CN" altLang="en-US" sz="2000" b="1" dirty="0"/>
              <a:t>越小，前面的系数越大</a:t>
            </a:r>
            <a:endParaRPr lang="zh-CN" altLang="en-US" sz="2000" b="1" dirty="0"/>
          </a:p>
        </p:txBody>
      </p:sp>
      <p:sp>
        <p:nvSpPr>
          <p:cNvPr id="14" name="矩形 13"/>
          <p:cNvSpPr/>
          <p:nvPr/>
        </p:nvSpPr>
        <p:spPr>
          <a:xfrm>
            <a:off x="5183008" y="3800475"/>
            <a:ext cx="1603375" cy="65722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矩形 14"/>
          <p:cNvSpPr/>
          <p:nvPr/>
        </p:nvSpPr>
        <p:spPr>
          <a:xfrm>
            <a:off x="3044825" y="5343525"/>
            <a:ext cx="3270250" cy="657225"/>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矩形 2"/>
          <p:cNvSpPr/>
          <p:nvPr/>
        </p:nvSpPr>
        <p:spPr>
          <a:xfrm>
            <a:off x="647700" y="1728839"/>
            <a:ext cx="6979796" cy="400110"/>
          </a:xfrm>
          <a:prstGeom prst="rect">
            <a:avLst/>
          </a:prstGeom>
        </p:spPr>
        <p:txBody>
          <a:bodyPr wrap="none">
            <a:spAutoFit/>
          </a:bodyPr>
          <a:lstStyle/>
          <a:p>
            <a:r>
              <a:rPr lang="zh-CN" altLang="en-US" sz="2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给定任意一个一个未加工工件的排序，其完成时间和大于</a:t>
            </a:r>
            <a:r>
              <a:rPr lang="en-US" altLang="zh-CN" sz="2000" b="1" i="1" dirty="0" smtClean="0">
                <a:solidFill>
                  <a:schemeClr val="tx1">
                    <a:lumMod val="50000"/>
                  </a:schemeClr>
                </a:solidFill>
                <a:latin typeface="Times New Roman" panose="02020603050405020304" pitchFamily="18" charset="0"/>
                <a:cs typeface="Times New Roman" panose="02020603050405020304" pitchFamily="18" charset="0"/>
              </a:rPr>
              <a:t>f</a:t>
            </a:r>
            <a:r>
              <a:rPr lang="zh-CN" altLang="en-US" sz="2000" b="1" dirty="0" smtClean="0">
                <a:solidFill>
                  <a:schemeClr val="tx1">
                    <a:lumMod val="50000"/>
                  </a:schemeClr>
                </a:solidFill>
              </a:rPr>
              <a:t>：</a:t>
            </a:r>
            <a:endParaRPr lang="zh-CN" altLang="en-US" sz="2000" b="1" dirty="0">
              <a:solidFill>
                <a:schemeClr val="tx1">
                  <a:lumMod val="50000"/>
                </a:schemeClr>
              </a:solidFill>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0-#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0-#ppt_w/2"/>
                                          </p:val>
                                        </p:tav>
                                        <p:tav tm="100000">
                                          <p:val>
                                            <p:strVal val="#ppt_x"/>
                                          </p:val>
                                        </p:tav>
                                      </p:tavLst>
                                    </p:anim>
                                    <p:anim calcmode="lin" valueType="num">
                                      <p:cBhvr additive="base">
                                        <p:cTn id="4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ppt_x"/>
                                          </p:val>
                                        </p:tav>
                                        <p:tav tm="100000">
                                          <p:val>
                                            <p:strVal val="#ppt_x"/>
                                          </p:val>
                                        </p:tav>
                                      </p:tavLst>
                                    </p:anim>
                                    <p:anim calcmode="lin" valueType="num">
                                      <p:cBhvr additive="base">
                                        <p:cTn id="46" dur="500" fill="hold"/>
                                        <p:tgtEl>
                                          <p:spTgt spid="8"/>
                                        </p:tgtEl>
                                        <p:attrNameLst>
                                          <p:attrName>ppt_y</p:attrName>
                                        </p:attrNameLst>
                                      </p:cBhvr>
                                      <p:tavLst>
                                        <p:tav tm="0">
                                          <p:val>
                                            <p:strVal val="1+#ppt_h/2"/>
                                          </p:val>
                                        </p:tav>
                                        <p:tav tm="100000">
                                          <p:val>
                                            <p:strVal val="#ppt_y"/>
                                          </p:val>
                                        </p:tav>
                                      </p:tavLst>
                                    </p:anim>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autoUpdateAnimBg="0"/>
      <p:bldP spid="9" grpId="0" animBg="1"/>
      <p:bldP spid="10" grpId="0" animBg="1"/>
      <p:bldP spid="11" grpId="0" animBg="1"/>
      <p:bldP spid="12" grpId="0" animBg="1"/>
      <p:bldP spid="13" grpId="0" animBg="1"/>
      <p:bldP spid="14" grpId="0" animBg="1"/>
      <p:bldP spid="1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矩形 2"/>
          <p:cNvSpPr>
            <a:spLocks noChangeArrowheads="1"/>
          </p:cNvSpPr>
          <p:nvPr/>
        </p:nvSpPr>
        <p:spPr bwMode="auto">
          <a:xfrm>
            <a:off x="292100" y="376238"/>
            <a:ext cx="70707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solidFill>
                  <a:schemeClr val="bg1"/>
                </a:solidFill>
                <a:latin typeface="楷体" panose="02010609060101010101" pitchFamily="49" charset="-122"/>
                <a:ea typeface="楷体" panose="02010609060101010101" pitchFamily="49" charset="-122"/>
              </a:rPr>
              <a:t>批作业调度</a:t>
            </a:r>
            <a:r>
              <a:rPr lang="zh-CN" altLang="en-US" sz="3200" dirty="0" smtClean="0">
                <a:solidFill>
                  <a:schemeClr val="bg1"/>
                </a:solidFill>
                <a:latin typeface="楷体" panose="02010609060101010101" pitchFamily="49" charset="-122"/>
                <a:ea typeface="楷体" panose="02010609060101010101" pitchFamily="49" charset="-122"/>
              </a:rPr>
              <a:t>问题结点设计</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4" name="Text Box 4"/>
          <p:cNvSpPr txBox="1">
            <a:spLocks noChangeArrowheads="1"/>
          </p:cNvSpPr>
          <p:nvPr/>
        </p:nvSpPr>
        <p:spPr bwMode="auto">
          <a:xfrm>
            <a:off x="171450" y="1306512"/>
            <a:ext cx="8734425" cy="5259387"/>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buClr>
                <a:schemeClr val="accent2"/>
              </a:buClr>
              <a:defRPr/>
            </a:pP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选择和扩展结点需要信息</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rgbClr val="00B050"/>
              </a:buClr>
              <a:buFont typeface="Wingdings" panose="05000000000000000000" pitchFamily="2" charset="2"/>
              <a:buChar char="Ø"/>
              <a:defRPr/>
            </a:pPr>
            <a:r>
              <a:rPr lang="zh-CN" altLang="en-US" sz="2800" b="1" dirty="0"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优先级信息（</a:t>
            </a:r>
            <a:r>
              <a:rPr lang="en-US" altLang="zh-CN" sz="2800" b="1" dirty="0" err="1"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lb</a:t>
            </a:r>
            <a:r>
              <a:rPr lang="zh-CN" altLang="en-US" sz="2800" b="1" dirty="0"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，根据优先级信息确定每次扩展需要选取哪个活结点；</a:t>
            </a:r>
            <a:endParaRPr lang="en-US" altLang="zh-CN"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rgbClr val="00B050"/>
              </a:buClr>
              <a:buFont typeface="Wingdings" panose="05000000000000000000" pitchFamily="2" charset="2"/>
              <a:buChar char="Ø"/>
              <a:defRPr/>
            </a:pPr>
            <a:endParaRPr lang="en-US" altLang="zh-CN" sz="2800" b="1" dirty="0"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矩形 1"/>
          <p:cNvSpPr/>
          <p:nvPr/>
        </p:nvSpPr>
        <p:spPr>
          <a:xfrm>
            <a:off x="171449" y="2995710"/>
            <a:ext cx="8734425" cy="1384995"/>
          </a:xfrm>
          <a:prstGeom prst="rect">
            <a:avLst/>
          </a:prstGeom>
        </p:spPr>
        <p:txBody>
          <a:bodyPr wrap="square">
            <a:spAutoFit/>
          </a:bodyPr>
          <a:lstStyle/>
          <a:p>
            <a:pPr eaLnBrk="1" hangingPunct="1">
              <a:lnSpc>
                <a:spcPct val="150000"/>
              </a:lnSpc>
              <a:buClr>
                <a:srgbClr val="00B050"/>
              </a:buClr>
              <a:buFont typeface="Wingdings" panose="05000000000000000000" pitchFamily="2" charset="2"/>
              <a:buChar char="Ø"/>
              <a:defRPr/>
            </a:pPr>
            <a:r>
              <a:rPr lang="zh-CN" altLang="en-US" sz="28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深度或者层数信息</a:t>
            </a:r>
            <a:r>
              <a:rPr lang="en-US" altLang="zh-CN" sz="28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level</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，只有知道了层的信息才知道要确定第几</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个</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作业</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矩形 2"/>
          <p:cNvSpPr/>
          <p:nvPr/>
        </p:nvSpPr>
        <p:spPr>
          <a:xfrm>
            <a:off x="203200" y="4457511"/>
            <a:ext cx="8734425" cy="2031325"/>
          </a:xfrm>
          <a:prstGeom prst="rect">
            <a:avLst/>
          </a:prstGeom>
        </p:spPr>
        <p:txBody>
          <a:bodyPr wrap="square">
            <a:spAutoFit/>
          </a:bodyPr>
          <a:lstStyle/>
          <a:p>
            <a:pPr eaLnBrk="1" hangingPunct="1">
              <a:lnSpc>
                <a:spcPct val="150000"/>
              </a:lnSpc>
              <a:buClr>
                <a:srgbClr val="00B050"/>
              </a:buClr>
              <a:buFont typeface="Wingdings" panose="05000000000000000000" pitchFamily="2" charset="2"/>
              <a:buChar char="Ø"/>
              <a:defRPr/>
            </a:pPr>
            <a:r>
              <a:rPr lang="zh-CN" altLang="en-US" sz="28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当前作业调度</a:t>
            </a:r>
            <a:r>
              <a:rPr lang="en-US" altLang="zh-CN" sz="28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初值存储所有</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的作业编号</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，深度为</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level</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时，将</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x[level</a:t>
            </a:r>
            <a:r>
              <a:rPr lang="en-US" altLang="zh-CN"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]~x[n</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的值依次交换到</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x[level]</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，否则需要花费</a:t>
            </a:r>
            <a:r>
              <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O(n)</a:t>
            </a:r>
            <a:r>
              <a:rPr lang="zh-CN" altLang="en-US"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时间计算</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可选作业；</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171450" y="1306513"/>
            <a:ext cx="8734425" cy="2503487"/>
          </a:xfrm>
          <a:prstGeom prst="rect">
            <a:avLst/>
          </a:prstGeom>
        </p:spPr>
        <p:style>
          <a:lnRef idx="2">
            <a:schemeClr val="accent1"/>
          </a:lnRef>
          <a:fillRef idx="1">
            <a:schemeClr val="lt1"/>
          </a:fillRef>
          <a:effectRef idx="0">
            <a:schemeClr val="accent1"/>
          </a:effectRef>
          <a:fontRef idx="minor">
            <a:schemeClr val="dk1"/>
          </a:fontRef>
        </p:style>
        <p:txBody>
          <a:bodyPr/>
          <a:lstStyle/>
          <a:p>
            <a:pPr eaLnBrk="1" hangingPunct="1">
              <a:buClr>
                <a:schemeClr val="accent2"/>
              </a:buClr>
              <a:defRPr/>
            </a:pPr>
            <a:r>
              <a:rPr lang="zh-CN" altLang="en-US" sz="28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算约束和界需要信息</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lnSpc>
                <a:spcPct val="150000"/>
              </a:lnSpc>
              <a:buClr>
                <a:srgbClr val="00B050"/>
              </a:buClr>
              <a:buFont typeface="Wingdings" panose="05000000000000000000" pitchFamily="2" charset="2"/>
              <a:buChar char="Ø"/>
              <a:defRPr/>
            </a:pPr>
            <a:r>
              <a:rPr lang="zh-CN" altLang="en-US" sz="2800" b="1" dirty="0"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当前</a:t>
            </a:r>
            <a:r>
              <a:rPr lang="zh-CN" altLang="en-US" sz="28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调度的完成时间和</a:t>
            </a:r>
            <a:r>
              <a:rPr lang="en-US" altLang="zh-CN" sz="2800" b="1" dirty="0" err="1"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sf2</a:t>
            </a:r>
            <a:r>
              <a:rPr lang="zh-CN" altLang="en-US" sz="2800" b="1" dirty="0"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（界函数中的</a:t>
            </a:r>
            <a:r>
              <a:rPr lang="en-US" altLang="zh-CN" sz="2800" b="1" i="1" dirty="0" err="1"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2800" b="1" baseline="-25000" dirty="0" err="1"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800" b="1" i="1" baseline="-25000" dirty="0" err="1"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b="1" dirty="0" smtClean="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求和）、</a:t>
            </a:r>
            <a:r>
              <a:rPr lang="zh-CN" altLang="en-US" sz="28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以及两个机器当前的完成时间</a:t>
            </a:r>
            <a:r>
              <a:rPr lang="en-US" altLang="zh-CN" sz="28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f </a:t>
            </a:r>
            <a:r>
              <a:rPr lang="zh-CN" altLang="en-US"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，算界需要，不然需要递归到根结点，重复计算；</a:t>
            </a:r>
            <a:endParaRPr lang="en-US" altLang="zh-CN" sz="28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2" name="对象 1"/>
          <p:cNvGraphicFramePr>
            <a:graphicFrameLocks noChangeAspect="1"/>
          </p:cNvGraphicFramePr>
          <p:nvPr/>
        </p:nvGraphicFramePr>
        <p:xfrm>
          <a:off x="2070100" y="4013775"/>
          <a:ext cx="5461000" cy="2257048"/>
        </p:xfrm>
        <a:graphic>
          <a:graphicData uri="http://schemas.openxmlformats.org/presentationml/2006/ole">
            <mc:AlternateContent xmlns:mc="http://schemas.openxmlformats.org/markup-compatibility/2006">
              <mc:Choice xmlns:v="urn:schemas-microsoft-com:vml" Requires="v">
                <p:oleObj spid="_x0000_s11362" name="Equation" r:id="rId1" imgW="66751200" imgH="29565600" progId="Equation.DSMT4">
                  <p:embed/>
                </p:oleObj>
              </mc:Choice>
              <mc:Fallback>
                <p:oleObj name="Equation" r:id="rId1" imgW="66751200" imgH="29565600" progId="Equation.DSMT4">
                  <p:embed/>
                  <p:pic>
                    <p:nvPicPr>
                      <p:cNvPr id="0" name="图片 11361"/>
                      <p:cNvPicPr>
                        <a:picLocks noChangeAspect="1" noChangeArrowheads="1"/>
                      </p:cNvPicPr>
                      <p:nvPr/>
                    </p:nvPicPr>
                    <p:blipFill>
                      <a:blip r:embed="rId2"/>
                      <a:srcRect/>
                      <a:stretch>
                        <a:fillRect/>
                      </a:stretch>
                    </p:blipFill>
                    <p:spPr bwMode="auto">
                      <a:xfrm>
                        <a:off x="2070100" y="4013775"/>
                        <a:ext cx="5461000" cy="2257048"/>
                      </a:xfrm>
                      <a:prstGeom prst="rect">
                        <a:avLst/>
                      </a:prstGeom>
                      <a:noFill/>
                      <a:ln>
                        <a:noFill/>
                      </a:ln>
                    </p:spPr>
                  </p:pic>
                </p:oleObj>
              </mc:Fallback>
            </mc:AlternateContent>
          </a:graphicData>
        </a:graphic>
      </p:graphicFrame>
      <p:cxnSp>
        <p:nvCxnSpPr>
          <p:cNvPr id="5" name="曲线连接符 4"/>
          <p:cNvCxnSpPr/>
          <p:nvPr/>
        </p:nvCxnSpPr>
        <p:spPr>
          <a:xfrm rot="16200000" flipV="1">
            <a:off x="3798491" y="2917429"/>
            <a:ext cx="1645443" cy="647700"/>
          </a:xfrm>
          <a:prstGeom prst="curvedConnector3">
            <a:avLst>
              <a:gd name="adj1" fmla="val 43825"/>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曲线连接符 7"/>
          <p:cNvCxnSpPr/>
          <p:nvPr/>
        </p:nvCxnSpPr>
        <p:spPr>
          <a:xfrm rot="5400000" flipH="1" flipV="1">
            <a:off x="2971801" y="3784600"/>
            <a:ext cx="2692401" cy="1168403"/>
          </a:xfrm>
          <a:prstGeom prst="curvedConnector3">
            <a:avLst>
              <a:gd name="adj1" fmla="val 50000"/>
            </a:avLst>
          </a:prstGeom>
          <a:ln w="381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3" name="矩形 2"/>
          <p:cNvSpPr>
            <a:spLocks noChangeArrowheads="1"/>
          </p:cNvSpPr>
          <p:nvPr/>
        </p:nvSpPr>
        <p:spPr bwMode="auto">
          <a:xfrm>
            <a:off x="292100" y="376238"/>
            <a:ext cx="70707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solidFill>
                  <a:schemeClr val="bg1"/>
                </a:solidFill>
                <a:latin typeface="楷体" panose="02010609060101010101" pitchFamily="49" charset="-122"/>
                <a:ea typeface="楷体" panose="02010609060101010101" pitchFamily="49" charset="-122"/>
              </a:rPr>
              <a:t>批作业调度</a:t>
            </a:r>
            <a:r>
              <a:rPr lang="zh-CN" altLang="en-US" sz="3200" dirty="0" smtClean="0">
                <a:solidFill>
                  <a:schemeClr val="bg1"/>
                </a:solidFill>
                <a:latin typeface="楷体" panose="02010609060101010101" pitchFamily="49" charset="-122"/>
                <a:ea typeface="楷体" panose="02010609060101010101" pitchFamily="49" charset="-122"/>
              </a:rPr>
              <a:t>问题结点设计</a:t>
            </a:r>
            <a:endParaRPr lang="zh-CN" altLang="en-US" sz="3200" dirty="0">
              <a:solidFill>
                <a:schemeClr val="bg1"/>
              </a:solidFill>
              <a:latin typeface="楷体" panose="02010609060101010101" pitchFamily="49" charset="-122"/>
              <a:ea typeface="楷体" panose="02010609060101010101" pitchFamily="49" charset="-122"/>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批作业调度问题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Rectangle 3"/>
          <p:cNvSpPr txBox="1">
            <a:spLocks noChangeArrowheads="1"/>
          </p:cNvSpPr>
          <p:nvPr/>
        </p:nvSpPr>
        <p:spPr bwMode="auto">
          <a:xfrm>
            <a:off x="563563" y="1155700"/>
            <a:ext cx="6477000" cy="685800"/>
          </a:xfrm>
          <a:prstGeom prst="rect">
            <a:avLst/>
          </a:prstGeom>
          <a:noFill/>
          <a:ln w="9525">
            <a:noFill/>
            <a:miter lim="800000"/>
          </a:ln>
        </p:spPr>
        <p:txBody>
          <a:bodyPr/>
          <a:lstStyle/>
          <a:p>
            <a:pPr marL="171450" indent="-171450" defTabSz="685800">
              <a:lnSpc>
                <a:spcPct val="90000"/>
              </a:lnSpc>
              <a:spcBef>
                <a:spcPct val="50000"/>
              </a:spcBef>
              <a:buClr>
                <a:schemeClr val="accent1"/>
              </a:buClr>
              <a:buSzPct val="75000"/>
              <a:defRPr/>
            </a:pPr>
            <a:r>
              <a:rPr lang="zh-CN" altLang="en-US" sz="4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3. 算法描述</a:t>
            </a:r>
            <a:endParaRPr lang="en-US" altLang="zh-CN" sz="4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defTabSz="685800">
              <a:lnSpc>
                <a:spcPct val="90000"/>
              </a:lnSpc>
              <a:spcBef>
                <a:spcPts val="750"/>
              </a:spcBef>
              <a:buClr>
                <a:schemeClr val="accent1"/>
              </a:buClr>
              <a:buSzPct val="75000"/>
              <a:buFont typeface="Wingdings" panose="05000000000000000000" pitchFamily="2" charset="2"/>
              <a:buChar char=""/>
              <a:defRPr/>
            </a:pPr>
            <a:endParaRPr lang="zh-CN" altLang="en-US" sz="4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Text Box 5"/>
          <p:cNvSpPr txBox="1">
            <a:spLocks noChangeArrowheads="1"/>
          </p:cNvSpPr>
          <p:nvPr/>
        </p:nvSpPr>
        <p:spPr bwMode="auto">
          <a:xfrm>
            <a:off x="522288" y="2063750"/>
            <a:ext cx="8075612" cy="367982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eaLnBrk="1" hangingPunct="1">
              <a:lnSpc>
                <a:spcPct val="125000"/>
              </a:lnSpc>
              <a:spcBef>
                <a:spcPct val="50000"/>
              </a:spcBef>
              <a:defRPr/>
            </a:pP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算法的</a:t>
            </a:r>
            <a:r>
              <a:rPr lang="en-US" altLang="zh-CN"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while</a:t>
            </a: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循环完成对排列树内部结点的有序扩展。在</a:t>
            </a:r>
            <a:r>
              <a:rPr lang="en-US" altLang="zh-CN"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while</a:t>
            </a: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循环体内算法依次从活结点</a:t>
            </a:r>
            <a:r>
              <a:rPr lang="zh-CN" altLang="en-US" sz="3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优先队列</a:t>
            </a: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中取出具有</a:t>
            </a:r>
            <a:r>
              <a:rPr lang="zh-CN" altLang="en-US" sz="3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最小</a:t>
            </a:r>
            <a:r>
              <a:rPr lang="en-US" altLang="zh-CN" sz="3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lb</a:t>
            </a:r>
            <a:r>
              <a:rPr lang="zh-CN" altLang="en-US" sz="3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值</a:t>
            </a: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（完成时间和的下界）的结点作为当前扩展结点</a:t>
            </a:r>
            <a:r>
              <a:rPr lang="en-US" altLang="zh-CN" sz="36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a:t>
            </a:r>
            <a:r>
              <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，并加以扩展。 </a:t>
            </a:r>
            <a:endParaRPr lang="zh-CN" altLang="en-US" sz="36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批作业调度问题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Rectangle 3"/>
          <p:cNvSpPr txBox="1">
            <a:spLocks noChangeArrowheads="1"/>
          </p:cNvSpPr>
          <p:nvPr/>
        </p:nvSpPr>
        <p:spPr bwMode="auto">
          <a:xfrm>
            <a:off x="611188" y="1212850"/>
            <a:ext cx="6477000" cy="685800"/>
          </a:xfrm>
          <a:prstGeom prst="rect">
            <a:avLst/>
          </a:prstGeom>
          <a:noFill/>
          <a:ln w="9525">
            <a:noFill/>
            <a:miter lim="800000"/>
          </a:ln>
        </p:spPr>
        <p:txBody>
          <a:bodyPr/>
          <a:lstStyle/>
          <a:p>
            <a:pPr marL="171450" indent="-171450" defTabSz="685800">
              <a:lnSpc>
                <a:spcPct val="90000"/>
              </a:lnSpc>
              <a:spcBef>
                <a:spcPct val="50000"/>
              </a:spcBef>
              <a:buClr>
                <a:schemeClr val="accent1"/>
              </a:buClr>
              <a:buSzPct val="75000"/>
              <a:defRPr/>
            </a:pPr>
            <a:r>
              <a:rPr lang="zh-CN" altLang="en-US" sz="4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3. 算法描述</a:t>
            </a:r>
            <a:endParaRPr lang="en-US" altLang="zh-CN" sz="40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defTabSz="685800">
              <a:lnSpc>
                <a:spcPct val="90000"/>
              </a:lnSpc>
              <a:spcBef>
                <a:spcPts val="750"/>
              </a:spcBef>
              <a:buClr>
                <a:schemeClr val="accent1"/>
              </a:buClr>
              <a:buSzPct val="75000"/>
              <a:buFont typeface="Wingdings" panose="05000000000000000000" pitchFamily="2" charset="2"/>
              <a:buChar char=""/>
              <a:defRPr/>
            </a:pPr>
            <a:endParaRPr lang="zh-CN" altLang="en-US" sz="40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Text Box 6"/>
          <p:cNvSpPr txBox="1">
            <a:spLocks noChangeArrowheads="1"/>
          </p:cNvSpPr>
          <p:nvPr/>
        </p:nvSpPr>
        <p:spPr bwMode="auto">
          <a:xfrm>
            <a:off x="687388" y="2282825"/>
            <a:ext cx="7772400" cy="304698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just" eaLnBrk="1" hangingPunct="1">
              <a:lnSpc>
                <a:spcPct val="150000"/>
              </a:lnSpc>
              <a:spcBef>
                <a:spcPct val="50000"/>
              </a:spcBef>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首先考虑</a:t>
            </a:r>
            <a:r>
              <a:rPr lang="en-US" altLang="zh-CN" sz="32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cNode.level</a:t>
            </a:r>
            <a:r>
              <a:rPr lang="en-US" altLang="zh-CN"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的情形，当前扩展结点</a:t>
            </a:r>
            <a:r>
              <a:rPr lang="en-US" altLang="zh-CN" sz="3200" b="1" dirty="0" err="1">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是排列树中的</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叶结点</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cNode.sf2</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是相应于该叶结点的完成时间和</a:t>
            </a:r>
            <a:r>
              <a:rPr lang="zh-CN" altLang="en-US"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输出</a:t>
            </a:r>
            <a:r>
              <a:rPr lang="en-US" altLang="zh-CN" sz="32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cNode.x</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对应的解</a:t>
            </a:r>
            <a:r>
              <a:rPr lang="zh-CN" altLang="en-US" sz="3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结束搜索过程。</a:t>
            </a:r>
            <a:endPar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批作业调度问题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3" name="Rectangle 3"/>
          <p:cNvSpPr txBox="1">
            <a:spLocks noChangeArrowheads="1"/>
          </p:cNvSpPr>
          <p:nvPr/>
        </p:nvSpPr>
        <p:spPr bwMode="auto">
          <a:xfrm>
            <a:off x="611188" y="1346200"/>
            <a:ext cx="6477000" cy="685800"/>
          </a:xfrm>
          <a:prstGeom prst="rect">
            <a:avLst/>
          </a:prstGeom>
          <a:noFill/>
          <a:ln w="9525">
            <a:noFill/>
            <a:miter lim="800000"/>
          </a:ln>
        </p:spPr>
        <p:txBody>
          <a:bodyPr/>
          <a:lstStyle/>
          <a:p>
            <a:pPr marL="171450" indent="-171450" defTabSz="685800">
              <a:lnSpc>
                <a:spcPct val="90000"/>
              </a:lnSpc>
              <a:spcBef>
                <a:spcPct val="50000"/>
              </a:spcBef>
              <a:buClr>
                <a:schemeClr val="accent1"/>
              </a:buClr>
              <a:buSzPct val="75000"/>
              <a:defRPr/>
            </a:pPr>
            <a:r>
              <a:rPr lang="zh-CN" altLang="en-US" sz="32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3. 算法描述</a:t>
            </a:r>
            <a:endParaRPr lang="en-US" altLang="zh-CN" sz="32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endParaRPr>
          </a:p>
          <a:p>
            <a:pPr marL="171450" indent="-171450" defTabSz="685800">
              <a:lnSpc>
                <a:spcPct val="90000"/>
              </a:lnSpc>
              <a:spcBef>
                <a:spcPts val="750"/>
              </a:spcBef>
              <a:buClr>
                <a:schemeClr val="accent1"/>
              </a:buClr>
              <a:buSzPct val="75000"/>
              <a:buFont typeface="Wingdings" panose="05000000000000000000" pitchFamily="2" charset="2"/>
              <a:buChar char=""/>
              <a:defRPr/>
            </a:pPr>
            <a:endParaRPr lang="zh-CN" altLang="en-US"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Text Box 7"/>
          <p:cNvSpPr txBox="1">
            <a:spLocks noChangeArrowheads="1"/>
          </p:cNvSpPr>
          <p:nvPr/>
        </p:nvSpPr>
        <p:spPr bwMode="auto">
          <a:xfrm>
            <a:off x="735013" y="1978025"/>
            <a:ext cx="7696200" cy="460375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just" eaLnBrk="1" hangingPunct="1">
              <a:lnSpc>
                <a:spcPct val="125000"/>
              </a:lnSpc>
              <a:spcBef>
                <a:spcPct val="50000"/>
              </a:spcBef>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当</a:t>
            </a:r>
            <a:r>
              <a:rPr lang="en-US" altLang="zh-CN" sz="3200" b="1" dirty="0" err="1"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cNode.level</a:t>
            </a:r>
            <a:r>
              <a:rPr lang="en-US" altLang="zh-CN" sz="3200" b="1" dirty="0" smtClean="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&lt;n</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时，</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算法依次产生当前扩展结点</a:t>
            </a:r>
            <a:r>
              <a:rPr lang="en-US" altLang="zh-CN" sz="32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cNode</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的所有儿子结点</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lnSpc>
                <a:spcPct val="125000"/>
              </a:lnSpc>
              <a:spcBef>
                <a:spcPct val="50000"/>
              </a:spcBef>
              <a:defRPr/>
            </a:pP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对于当前扩展结点的每一个儿子结点</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node，</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计算出其相应的完成时间和的下界</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lb。</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lb &lt; </a:t>
            </a:r>
            <a:r>
              <a:rPr lang="en-US" altLang="zh-CN" sz="32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bestc</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时，将该儿子结点插入到活结点优先队列中。而当</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lb </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bestc</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时，可将结点</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node</a:t>
            </a:r>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舍去。 </a:t>
            </a:r>
            <a:endPar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批作业调度问题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 name="Text Box 3"/>
          <p:cNvSpPr txBox="1">
            <a:spLocks noChangeArrowheads="1"/>
          </p:cNvSpPr>
          <p:nvPr/>
        </p:nvSpPr>
        <p:spPr bwMode="auto">
          <a:xfrm>
            <a:off x="415925" y="2632075"/>
            <a:ext cx="611505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cNode.level</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&lt;= n)</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cNode.level</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n ) {</a:t>
            </a:r>
            <a:r>
              <a:rPr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叶结点，下界 最小</a:t>
            </a:r>
            <a:endParaRPr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zh-CN" altLang="en-US"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cNode.sf2</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&lt;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bestc</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bestc</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cNode.sf2</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 0;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&lt; n;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bestx</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cNode.x</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break;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王老师的书上没有</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break</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，我觉得得加上</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  </a:t>
            </a:r>
            <a:endParaRPr lang="zh-CN" altLang="en-US"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6020" name="Text Box 4"/>
          <p:cNvSpPr txBox="1">
            <a:spLocks noChangeArrowheads="1"/>
          </p:cNvSpPr>
          <p:nvPr/>
        </p:nvSpPr>
        <p:spPr bwMode="auto">
          <a:xfrm>
            <a:off x="444500" y="1651000"/>
            <a:ext cx="5943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3200" b="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3. 算法描述</a:t>
            </a:r>
            <a:endParaRPr lang="en-US" altLang="zh-CN" b="1">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AutoShape 5"/>
          <p:cNvSpPr>
            <a:spLocks noChangeArrowheads="1"/>
          </p:cNvSpPr>
          <p:nvPr/>
        </p:nvSpPr>
        <p:spPr bwMode="auto">
          <a:xfrm>
            <a:off x="5511800" y="3175000"/>
            <a:ext cx="3048000" cy="1066800"/>
          </a:xfrm>
          <a:prstGeom prst="wedgeRoundRectCallout">
            <a:avLst>
              <a:gd name="adj1" fmla="val -99431"/>
              <a:gd name="adj2" fmla="val 82764"/>
              <a:gd name="adj3" fmla="val 16667"/>
            </a:avLst>
          </a:prstGeom>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有问题，应该直接更新</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当前最优值</a:t>
            </a:r>
            <a:r>
              <a:rPr lang="en-US" altLang="zh-CN" sz="2000"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bestc</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和相应的最优解</a:t>
            </a:r>
            <a:r>
              <a:rPr lang="en-US" altLang="zh-CN" sz="2000"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bestx</a:t>
            </a:r>
            <a:endPar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AutoShape 5"/>
          <p:cNvSpPr>
            <a:spLocks noChangeArrowheads="1"/>
          </p:cNvSpPr>
          <p:nvPr/>
        </p:nvSpPr>
        <p:spPr bwMode="auto">
          <a:xfrm>
            <a:off x="3429000" y="1203325"/>
            <a:ext cx="5505450" cy="1066800"/>
          </a:xfrm>
          <a:prstGeom prst="wedgeRoundRectCallout">
            <a:avLst>
              <a:gd name="adj1" fmla="val -76060"/>
              <a:gd name="adj2" fmla="val 93995"/>
              <a:gd name="adj3" fmla="val 16667"/>
            </a:avLst>
          </a:prstGeom>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en-US" altLang="zh-CN" sz="2000" b="1" dirty="0" err="1"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cNode</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为当前搜索结点，每个结点为结构体，包含</a:t>
            </a:r>
            <a:r>
              <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当前作业调度</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，完成时间和</a:t>
            </a:r>
            <a:r>
              <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sf2</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，两个机器的完成时间</a:t>
            </a:r>
            <a:r>
              <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f[], </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下界</a:t>
            </a:r>
            <a:r>
              <a:rPr lang="en-US" altLang="zh-CN" sz="2000"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lb</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，和安排工件</a:t>
            </a:r>
            <a:r>
              <a:rPr lang="zh-CN" altLang="en-US" sz="2000" b="1" dirty="0"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数</a:t>
            </a:r>
            <a:r>
              <a:rPr lang="en-US" altLang="zh-CN" sz="2000" b="1" dirty="0"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level</a:t>
            </a:r>
            <a:endPar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3"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3"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1+#ppt_w/2"/>
                                          </p:val>
                                        </p:tav>
                                        <p:tav tm="100000">
                                          <p:val>
                                            <p:strVal val="#ppt_x"/>
                                          </p:val>
                                        </p:tav>
                                      </p:tavLst>
                                    </p:anim>
                                    <p:anim calcmode="lin" valueType="num">
                                      <p:cBhvr additive="base">
                                        <p:cTn id="19"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animBg="1" autoUpdateAnimBg="0"/>
      <p:bldP spid="9"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批作业调度问题</a:t>
            </a:r>
            <a:endParaRPr lang="zh-CN" altLang="en-US" sz="3200">
              <a:solidFill>
                <a:schemeClr val="bg1"/>
              </a:solidFill>
              <a:latin typeface="楷体" panose="02010609060101010101" pitchFamily="49" charset="-122"/>
              <a:ea typeface="楷体" panose="02010609060101010101" pitchFamily="49" charset="-122"/>
            </a:endParaRPr>
          </a:p>
        </p:txBody>
      </p:sp>
      <p:sp>
        <p:nvSpPr>
          <p:cNvPr id="6" name="Text Box 3"/>
          <p:cNvSpPr txBox="1">
            <a:spLocks noChangeArrowheads="1"/>
          </p:cNvSpPr>
          <p:nvPr/>
        </p:nvSpPr>
        <p:spPr bwMode="auto">
          <a:xfrm>
            <a:off x="320675" y="1268413"/>
            <a:ext cx="5943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3200" b="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3. 算法描述</a:t>
            </a:r>
            <a:endParaRPr lang="en-US" altLang="zh-CN" b="1">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Text Box 4"/>
          <p:cNvSpPr txBox="1">
            <a:spLocks noChangeArrowheads="1"/>
          </p:cNvSpPr>
          <p:nvPr/>
        </p:nvSpPr>
        <p:spPr bwMode="auto">
          <a:xfrm>
            <a:off x="1" y="1917700"/>
            <a:ext cx="9144000" cy="4939814"/>
          </a:xfrm>
          <a:prstGeom prst="rect">
            <a:avLst/>
          </a:prstGeom>
          <a:noFill/>
          <a:ln w="6350">
            <a:noFill/>
            <a:miter lim="800000"/>
          </a:ln>
        </p:spPr>
        <p:txBody>
          <a:bodyPr wrap="square">
            <a:spAutoFit/>
          </a:bodyPr>
          <a:lstStyle/>
          <a:p>
            <a:pPr algn="just" eaLnBrk="1" hangingPunct="1">
              <a:spcBef>
                <a:spcPct val="50000"/>
              </a:spcBef>
              <a:defRPr/>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else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产生当前扩展结点的儿子结点</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zh-CN" altLang="en-US"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cNode.level</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a:rPr>
              <a:t></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n;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从所在的层</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开始搜索</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MyMath.</a:t>
            </a:r>
            <a:r>
              <a:rPr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swap</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cNode.x</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cNode.level</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交换</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a:t>
            </a:r>
            <a:r>
              <a:rPr lang="zh-CN" altLang="en-US"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level,i</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位置</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 f= new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[3];//</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为两个机器的完成时间</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lb</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=bound(</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f);</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计算界值</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更新</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if (lb &lt;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bestc</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用界值剪枝</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HeapNode</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node=new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HeapNode</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f,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lb</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新建结点会更新</a:t>
            </a:r>
            <a:r>
              <a:rPr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sf2</a:t>
            </a:r>
            <a:r>
              <a:rPr lang="en-US" altLang="zh-CN"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x, level</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heap.put</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(node);    }</a:t>
            </a:r>
            <a:endParaRPr lang="en-US" altLang="zh-CN"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MyMath.</a:t>
            </a:r>
            <a:r>
              <a:rPr lang="en-US" altLang="zh-CN" b="1" dirty="0" err="1"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swap</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cNode.x</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cNode.level</a:t>
            </a:r>
            <a:r>
              <a:rPr lang="en-US" altLang="zh-CN" b="1" dirty="0" smtClean="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err="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为下一次交换准备</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完成结点扩展</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取下一个结点</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algn="just" eaLnBrk="1" hangingPunct="1">
              <a:spcBef>
                <a:spcPct val="50000"/>
              </a:spcBef>
              <a:defRPr/>
            </a:pPr>
            <a:r>
              <a:rPr lang="en-US" altLang="zh-CN"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//end while</a:t>
            </a:r>
            <a:endPar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AutoShape 5"/>
          <p:cNvSpPr>
            <a:spLocks noChangeArrowheads="1"/>
          </p:cNvSpPr>
          <p:nvPr/>
        </p:nvSpPr>
        <p:spPr bwMode="auto">
          <a:xfrm>
            <a:off x="6324600" y="2757488"/>
            <a:ext cx="2819400" cy="1066800"/>
          </a:xfrm>
          <a:prstGeom prst="wedgeRoundRectCallout">
            <a:avLst>
              <a:gd name="adj1" fmla="val -109847"/>
              <a:gd name="adj2" fmla="val 87722"/>
              <a:gd name="adj3" fmla="val 16667"/>
            </a:avLst>
          </a:prstGeom>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2000"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lb</a:t>
            </a:r>
            <a:r>
              <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000"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bestc</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时，将儿子结点插入到活结点优先队列中</a:t>
            </a:r>
            <a:endPar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 name="AutoShape 5"/>
          <p:cNvSpPr>
            <a:spLocks noChangeArrowheads="1"/>
          </p:cNvSpPr>
          <p:nvPr/>
        </p:nvSpPr>
        <p:spPr bwMode="auto">
          <a:xfrm>
            <a:off x="3640409" y="1083218"/>
            <a:ext cx="5505450" cy="1066800"/>
          </a:xfrm>
          <a:prstGeom prst="wedgeRoundRectCallout">
            <a:avLst>
              <a:gd name="adj1" fmla="val -22790"/>
              <a:gd name="adj2" fmla="val 50092"/>
              <a:gd name="adj3" fmla="val 16667"/>
            </a:avLst>
          </a:prstGeom>
        </p:spPr>
        <p:style>
          <a:lnRef idx="2">
            <a:schemeClr val="accent1"/>
          </a:lnRef>
          <a:fillRef idx="1">
            <a:schemeClr val="lt1"/>
          </a:fillRef>
          <a:effectRef idx="0">
            <a:schemeClr val="accent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r>
              <a:rPr lang="en-US" altLang="zh-CN" sz="2000" b="1" dirty="0" err="1"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cNode</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为当前搜索结点，每个结点为结构体，包含</a:t>
            </a:r>
            <a:r>
              <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当前作业调度</a:t>
            </a:r>
            <a:r>
              <a:rPr lang="en-US" altLang="zh-CN" sz="20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，完成时间和</a:t>
            </a:r>
            <a:r>
              <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sf2</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，两个机器的完成时间</a:t>
            </a:r>
            <a:r>
              <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f[], </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下界</a:t>
            </a:r>
            <a:r>
              <a:rPr lang="en-US" altLang="zh-CN" sz="2000" b="1" dirty="0" err="1">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lb</a:t>
            </a:r>
            <a:r>
              <a:rPr lang="zh-CN" altLang="en-US"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，和安排工件</a:t>
            </a:r>
            <a:r>
              <a:rPr lang="zh-CN" altLang="en-US" sz="2000" b="1" dirty="0"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数</a:t>
            </a:r>
            <a:r>
              <a:rPr lang="en-US" altLang="zh-CN" sz="2000" b="1" dirty="0" smtClean="0">
                <a:solidFill>
                  <a:srgbClr val="3333CC"/>
                </a:solidFill>
                <a:latin typeface="Times New Roman" panose="02020603050405020304" pitchFamily="18" charset="0"/>
                <a:ea typeface="华文楷体" panose="02010600040101010101" pitchFamily="2" charset="-122"/>
                <a:cs typeface="Times New Roman" panose="02020603050405020304" pitchFamily="18" charset="0"/>
              </a:rPr>
              <a:t>level</a:t>
            </a:r>
            <a:endParaRPr lang="en-US" altLang="zh-CN" sz="2000" b="1" dirty="0">
              <a:solidFill>
                <a:srgbClr val="3333CC"/>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3"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1+#ppt_w/2"/>
                                          </p:val>
                                        </p:tav>
                                        <p:tav tm="100000">
                                          <p:val>
                                            <p:strVal val="#ppt_x"/>
                                          </p:val>
                                        </p:tav>
                                      </p:tavLst>
                                    </p:anim>
                                    <p:anim calcmode="lin" valueType="num">
                                      <p:cBhvr additive="base">
                                        <p:cTn id="25"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utoUpdateAnimBg="0"/>
      <p:bldP spid="8" grpId="0" animBg="1" autoUpdateAnimBg="0"/>
      <p:bldP spid="9"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问题思考</a:t>
            </a:r>
            <a:endParaRPr lang="zh-CN" altLang="en-US" sz="3200">
              <a:solidFill>
                <a:schemeClr val="bg1"/>
              </a:solidFill>
              <a:latin typeface="楷体" panose="02010609060101010101" pitchFamily="49" charset="-122"/>
              <a:ea typeface="楷体" panose="02010609060101010101" pitchFamily="49" charset="-122"/>
            </a:endParaRPr>
          </a:p>
        </p:txBody>
      </p:sp>
      <p:sp>
        <p:nvSpPr>
          <p:cNvPr id="4" name="圆角矩形 3"/>
          <p:cNvSpPr/>
          <p:nvPr/>
        </p:nvSpPr>
        <p:spPr>
          <a:xfrm>
            <a:off x="736600" y="1631950"/>
            <a:ext cx="7726363" cy="1157288"/>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r>
              <a:rPr lang="zh-CN" altLang="en-US" sz="3200" b="1" dirty="0">
                <a:solidFill>
                  <a:schemeClr val="tx1">
                    <a:lumMod val="50000"/>
                  </a:schemeClr>
                </a:solidFill>
                <a:latin typeface="华文楷体" panose="02010600040101010101" pitchFamily="2" charset="-122"/>
                <a:ea typeface="华文楷体" panose="02010600040101010101" pitchFamily="2" charset="-122"/>
              </a:rPr>
              <a:t>对于极大化问题，如何给出一个好的上界？</a:t>
            </a:r>
            <a:endParaRPr lang="zh-CN" altLang="en-US" sz="3200" b="1" dirty="0">
              <a:solidFill>
                <a:schemeClr val="tx1">
                  <a:lumMod val="50000"/>
                </a:schemeClr>
              </a:solidFill>
              <a:latin typeface="华文楷体" panose="02010600040101010101" pitchFamily="2" charset="-122"/>
              <a:ea typeface="华文楷体" panose="02010600040101010101" pitchFamily="2" charset="-122"/>
            </a:endParaRPr>
          </a:p>
        </p:txBody>
      </p:sp>
      <p:sp>
        <p:nvSpPr>
          <p:cNvPr id="5" name="圆角矩形 4"/>
          <p:cNvSpPr/>
          <p:nvPr/>
        </p:nvSpPr>
        <p:spPr>
          <a:xfrm>
            <a:off x="428625" y="3457575"/>
            <a:ext cx="8315325" cy="1616075"/>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考虑所有未装的工件以及自身的容量；</a:t>
            </a:r>
            <a:endPar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问题思考</a:t>
            </a:r>
            <a:endParaRPr lang="zh-CN" altLang="en-US" sz="3200">
              <a:solidFill>
                <a:schemeClr val="bg1"/>
              </a:solidFill>
              <a:latin typeface="楷体" panose="02010609060101010101" pitchFamily="49" charset="-122"/>
              <a:ea typeface="楷体" panose="02010609060101010101" pitchFamily="49" charset="-122"/>
            </a:endParaRPr>
          </a:p>
        </p:txBody>
      </p:sp>
      <p:sp>
        <p:nvSpPr>
          <p:cNvPr id="4" name="圆角矩形 3"/>
          <p:cNvSpPr/>
          <p:nvPr/>
        </p:nvSpPr>
        <p:spPr>
          <a:xfrm>
            <a:off x="628650" y="1631950"/>
            <a:ext cx="7834313" cy="1157288"/>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zh-CN" altLang="en-US" sz="3200" b="1" dirty="0">
                <a:solidFill>
                  <a:schemeClr val="tx1">
                    <a:lumMod val="50000"/>
                  </a:schemeClr>
                </a:solidFill>
                <a:latin typeface="华文楷体" panose="02010600040101010101" pitchFamily="2" charset="-122"/>
                <a:ea typeface="华文楷体" panose="02010600040101010101" pitchFamily="2" charset="-122"/>
              </a:rPr>
              <a:t>对于极小化问题，如何给出一个好的下界？</a:t>
            </a:r>
            <a:endParaRPr lang="zh-CN" altLang="en-US" sz="3200" b="1" dirty="0">
              <a:solidFill>
                <a:schemeClr val="tx1">
                  <a:lumMod val="50000"/>
                </a:schemeClr>
              </a:solidFill>
              <a:latin typeface="华文楷体" panose="02010600040101010101" pitchFamily="2" charset="-122"/>
              <a:ea typeface="华文楷体" panose="02010600040101010101" pitchFamily="2" charset="-122"/>
            </a:endParaRPr>
          </a:p>
        </p:txBody>
      </p:sp>
      <p:sp>
        <p:nvSpPr>
          <p:cNvPr id="5" name="圆角矩形 4"/>
          <p:cNvSpPr/>
          <p:nvPr/>
        </p:nvSpPr>
        <p:spPr>
          <a:xfrm>
            <a:off x="485775" y="3314700"/>
            <a:ext cx="8315325" cy="188277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考虑所有余下的边，每一行取两个小；</a:t>
            </a:r>
            <a:endPar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a:p>
            <a:pPr algn="ctr" eaLnBrk="1" hangingPunct="1">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考虑所有剩余的工件，理想化的安排方案；</a:t>
            </a:r>
            <a:endPar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问题思考</a:t>
            </a:r>
            <a:endParaRPr lang="zh-CN" altLang="en-US" sz="3200">
              <a:solidFill>
                <a:schemeClr val="bg1"/>
              </a:solidFill>
              <a:latin typeface="楷体" panose="02010609060101010101" pitchFamily="49" charset="-122"/>
              <a:ea typeface="楷体" panose="02010609060101010101" pitchFamily="49" charset="-122"/>
            </a:endParaRPr>
          </a:p>
        </p:txBody>
      </p:sp>
      <p:sp>
        <p:nvSpPr>
          <p:cNvPr id="4" name="圆角矩形 3"/>
          <p:cNvSpPr/>
          <p:nvPr/>
        </p:nvSpPr>
        <p:spPr>
          <a:xfrm>
            <a:off x="746125" y="1289050"/>
            <a:ext cx="7726363" cy="1157288"/>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r>
              <a:rPr lang="zh-CN" altLang="en-US" sz="3200" b="1" dirty="0">
                <a:solidFill>
                  <a:schemeClr val="tx1">
                    <a:lumMod val="50000"/>
                  </a:schemeClr>
                </a:solidFill>
                <a:latin typeface="华文楷体" panose="02010600040101010101" pitchFamily="2" charset="-122"/>
                <a:ea typeface="华文楷体" panose="02010600040101010101" pitchFamily="2" charset="-122"/>
              </a:rPr>
              <a:t>如何判断界值设计的好坏？</a:t>
            </a:r>
            <a:endParaRPr lang="zh-CN" altLang="en-US" sz="3200" b="1" dirty="0">
              <a:solidFill>
                <a:schemeClr val="tx1">
                  <a:lumMod val="50000"/>
                </a:schemeClr>
              </a:solidFill>
              <a:latin typeface="华文楷体" panose="02010600040101010101" pitchFamily="2" charset="-122"/>
              <a:ea typeface="华文楷体" panose="02010600040101010101" pitchFamily="2" charset="-122"/>
            </a:endParaRPr>
          </a:p>
        </p:txBody>
      </p:sp>
      <p:sp>
        <p:nvSpPr>
          <p:cNvPr id="5" name="圆角矩形 4"/>
          <p:cNvSpPr/>
          <p:nvPr/>
        </p:nvSpPr>
        <p:spPr>
          <a:xfrm>
            <a:off x="806450" y="2647950"/>
            <a:ext cx="7726363" cy="1114425"/>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随机产生案例，统计算法运行时间。</a:t>
            </a:r>
            <a:endPar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 name="圆角矩形 5"/>
          <p:cNvSpPr/>
          <p:nvPr/>
        </p:nvSpPr>
        <p:spPr>
          <a:xfrm>
            <a:off x="831850" y="3946525"/>
            <a:ext cx="7726363" cy="1157288"/>
          </a:xfrm>
          <a:prstGeom prst="roundRect">
            <a:avLst/>
          </a:prstGeom>
        </p:spPr>
        <p:style>
          <a:lnRef idx="2">
            <a:schemeClr val="accent3"/>
          </a:lnRef>
          <a:fillRef idx="1">
            <a:schemeClr val="lt1"/>
          </a:fillRef>
          <a:effectRef idx="0">
            <a:schemeClr val="accent3"/>
          </a:effectRef>
          <a:fontRef idx="minor">
            <a:schemeClr val="dk1"/>
          </a:fontRef>
        </p:style>
        <p:txBody>
          <a:bodyPr anchor="ctr"/>
          <a:lstStyle/>
          <a:p>
            <a:pPr algn="ctr" eaLnBrk="1" hangingPunct="1">
              <a:defRPr/>
            </a:pPr>
            <a:r>
              <a:rPr lang="zh-CN" altLang="en-US" sz="3200" b="1" dirty="0">
                <a:solidFill>
                  <a:schemeClr val="tx1">
                    <a:lumMod val="50000"/>
                  </a:schemeClr>
                </a:solidFill>
                <a:latin typeface="华文楷体" panose="02010600040101010101" pitchFamily="2" charset="-122"/>
                <a:ea typeface="华文楷体" panose="02010600040101010101" pitchFamily="2" charset="-122"/>
              </a:rPr>
              <a:t>如何有多个上界或者下界，该怎么用？</a:t>
            </a:r>
            <a:endParaRPr lang="zh-CN" altLang="en-US" sz="3200" b="1" dirty="0">
              <a:solidFill>
                <a:schemeClr val="tx1">
                  <a:lumMod val="50000"/>
                </a:schemeClr>
              </a:solidFill>
              <a:latin typeface="华文楷体" panose="02010600040101010101" pitchFamily="2" charset="-122"/>
              <a:ea typeface="华文楷体" panose="02010600040101010101" pitchFamily="2" charset="-122"/>
            </a:endParaRPr>
          </a:p>
        </p:txBody>
      </p:sp>
      <p:sp>
        <p:nvSpPr>
          <p:cNvPr id="7" name="圆角矩形 6"/>
          <p:cNvSpPr/>
          <p:nvPr/>
        </p:nvSpPr>
        <p:spPr>
          <a:xfrm>
            <a:off x="873125" y="5305425"/>
            <a:ext cx="7726363" cy="1343025"/>
          </a:xfrm>
          <a:prstGeom prst="roundRect">
            <a:avLst/>
          </a:prstGeom>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可以用上界取</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min</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作为上界，用下界取</a:t>
            </a:r>
            <a:r>
              <a:rPr lang="en-US" altLang="zh-CN"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max</a:t>
            </a: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作为下界。</a:t>
            </a:r>
            <a:endPar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问题思考</a:t>
            </a:r>
            <a:endParaRPr lang="zh-CN" altLang="en-US" sz="3200">
              <a:solidFill>
                <a:schemeClr val="bg1"/>
              </a:solidFill>
              <a:latin typeface="楷体" panose="02010609060101010101" pitchFamily="49" charset="-122"/>
              <a:ea typeface="楷体" panose="02010609060101010101" pitchFamily="49" charset="-122"/>
            </a:endParaRPr>
          </a:p>
        </p:txBody>
      </p:sp>
      <p:sp>
        <p:nvSpPr>
          <p:cNvPr id="4" name="圆角矩形 3"/>
          <p:cNvSpPr/>
          <p:nvPr/>
        </p:nvSpPr>
        <p:spPr>
          <a:xfrm>
            <a:off x="765175" y="1670050"/>
            <a:ext cx="7726363" cy="15684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zh-CN" altLang="en-US" sz="3200" b="1" dirty="0">
                <a:solidFill>
                  <a:schemeClr val="tx1">
                    <a:lumMod val="50000"/>
                  </a:schemeClr>
                </a:solidFill>
                <a:latin typeface="华文楷体" panose="02010600040101010101" pitchFamily="2" charset="-122"/>
                <a:ea typeface="华文楷体" panose="02010600040101010101" pitchFamily="2" charset="-122"/>
              </a:rPr>
              <a:t>回溯法不用太考虑界的设计，分支定界需要认真考虑界，是这样吗？</a:t>
            </a:r>
            <a:endParaRPr lang="zh-CN" altLang="en-US" sz="3200" b="1" dirty="0">
              <a:solidFill>
                <a:schemeClr val="tx1">
                  <a:lumMod val="50000"/>
                </a:schemeClr>
              </a:solidFill>
              <a:latin typeface="华文楷体" panose="02010600040101010101" pitchFamily="2" charset="-122"/>
              <a:ea typeface="华文楷体" panose="02010600040101010101" pitchFamily="2" charset="-122"/>
            </a:endParaRPr>
          </a:p>
        </p:txBody>
      </p:sp>
      <p:sp>
        <p:nvSpPr>
          <p:cNvPr id="5" name="圆角矩形 4"/>
          <p:cNvSpPr/>
          <p:nvPr/>
        </p:nvSpPr>
        <p:spPr>
          <a:xfrm>
            <a:off x="768350" y="3990975"/>
            <a:ext cx="7726363" cy="1482725"/>
          </a:xfrm>
          <a:prstGeom prst="roundRect">
            <a:avLst/>
          </a:prstGeom>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r>
              <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rPr>
              <a:t>回溯法和分支定界法分别什么时候用呢？</a:t>
            </a:r>
            <a:endParaRPr lang="zh-CN" altLang="en-US" sz="3200" b="1" dirty="0">
              <a:solidFill>
                <a:schemeClr val="tx1">
                  <a:lumMod val="50000"/>
                </a:schemeClr>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总结</a:t>
            </a:r>
            <a:endParaRPr lang="zh-CN" altLang="en-US" sz="3200">
              <a:solidFill>
                <a:schemeClr val="bg1"/>
              </a:solidFill>
              <a:latin typeface="楷体" panose="02010609060101010101" pitchFamily="49" charset="-122"/>
              <a:ea typeface="楷体" panose="02010609060101010101" pitchFamily="49" charset="-122"/>
            </a:endParaRPr>
          </a:p>
        </p:txBody>
      </p:sp>
      <p:sp>
        <p:nvSpPr>
          <p:cNvPr id="92163" name="Rectangle 6"/>
          <p:cNvSpPr>
            <a:spLocks noChangeArrowheads="1"/>
          </p:cNvSpPr>
          <p:nvPr/>
        </p:nvSpPr>
        <p:spPr bwMode="auto">
          <a:xfrm>
            <a:off x="352425" y="1276350"/>
            <a:ext cx="8445500" cy="536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Clr>
                <a:srgbClr val="800000"/>
              </a:buClr>
              <a:buFont typeface="Wingdings" panose="05000000000000000000" pitchFamily="2" charset="2"/>
              <a:buChar char="§"/>
            </a:pPr>
            <a:r>
              <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适应于求解组合搜索问题（含组合优化问题）</a:t>
            </a:r>
            <a:endPar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lnSpc>
                <a:spcPct val="150000"/>
              </a:lnSpc>
              <a:spcBef>
                <a:spcPct val="20000"/>
              </a:spcBef>
              <a:buClr>
                <a:srgbClr val="800000"/>
              </a:buClr>
              <a:buFont typeface="Wingdings" panose="05000000000000000000" pitchFamily="2" charset="2"/>
              <a:buChar char="§"/>
            </a:pPr>
            <a:r>
              <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求解条件：满足多米诺性质</a:t>
            </a:r>
            <a:endPar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lnSpc>
                <a:spcPct val="150000"/>
              </a:lnSpc>
              <a:spcBef>
                <a:spcPct val="20000"/>
              </a:spcBef>
              <a:buClr>
                <a:srgbClr val="800000"/>
              </a:buClr>
              <a:buFont typeface="Wingdings" panose="05000000000000000000" pitchFamily="2" charset="2"/>
              <a:buChar char="§"/>
            </a:pPr>
            <a:r>
              <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解的表示：子集树或者排列树</a:t>
            </a:r>
            <a:endPar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lnSpc>
                <a:spcPct val="150000"/>
              </a:lnSpc>
              <a:spcBef>
                <a:spcPct val="20000"/>
              </a:spcBef>
              <a:buClr>
                <a:srgbClr val="800000"/>
              </a:buClr>
              <a:buFont typeface="Wingdings" panose="05000000000000000000" pitchFamily="2" charset="2"/>
              <a:buChar char="§"/>
            </a:pPr>
            <a:r>
              <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分支条件：约束条件或者界条件</a:t>
            </a:r>
            <a:endParaRPr kumimoji="1" lang="en-US" altLang="zh-CN"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lnSpc>
                <a:spcPct val="150000"/>
              </a:lnSpc>
              <a:spcBef>
                <a:spcPct val="20000"/>
              </a:spcBef>
              <a:buClr>
                <a:srgbClr val="800000"/>
              </a:buClr>
              <a:buFont typeface="Wingdings" panose="05000000000000000000" pitchFamily="2" charset="2"/>
              <a:buChar char="§"/>
            </a:pPr>
            <a:r>
              <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分支策略：</a:t>
            </a:r>
            <a:r>
              <a:rPr kumimoji="1" lang="en-US" altLang="zh-CN"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FIFO</a:t>
            </a:r>
            <a:r>
              <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a:t>
            </a:r>
            <a:r>
              <a:rPr kumimoji="1" lang="en-US" altLang="zh-CN"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PriorQueue</a:t>
            </a:r>
            <a:endParaRPr kumimoji="1" lang="en-US" altLang="zh-CN"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lnSpc>
                <a:spcPct val="150000"/>
              </a:lnSpc>
              <a:spcBef>
                <a:spcPct val="20000"/>
              </a:spcBef>
              <a:buClr>
                <a:srgbClr val="800000"/>
              </a:buClr>
              <a:buFont typeface="Wingdings" panose="05000000000000000000" pitchFamily="2" charset="2"/>
              <a:buChar char="§"/>
            </a:pPr>
            <a:r>
              <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降低时间复杂性的主要途径：利用界函数对搜索树进行剪枝。</a:t>
            </a:r>
            <a:r>
              <a:rPr kumimoji="1" lang="zh-CN" altLang="en-US" sz="2800" b="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难点在于界的设计</a:t>
            </a:r>
            <a:r>
              <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2800" b="1">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dirty="0" smtClean="0">
                <a:solidFill>
                  <a:schemeClr val="bg1"/>
                </a:solidFill>
                <a:latin typeface="楷体" panose="02010609060101010101" pitchFamily="49" charset="-122"/>
                <a:ea typeface="楷体" panose="02010609060101010101" pitchFamily="49" charset="-122"/>
              </a:rPr>
              <a:t>讨论</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84995" name="Rectangle 6"/>
          <p:cNvSpPr>
            <a:spLocks noChangeArrowheads="1"/>
          </p:cNvSpPr>
          <p:nvPr/>
        </p:nvSpPr>
        <p:spPr bwMode="auto">
          <a:xfrm>
            <a:off x="342900" y="1295400"/>
            <a:ext cx="8445500" cy="492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just" eaLnBrk="1" hangingPunct="1">
              <a:lnSpc>
                <a:spcPct val="150000"/>
              </a:lnSpc>
              <a:spcBef>
                <a:spcPct val="20000"/>
              </a:spcBef>
              <a:buClr>
                <a:srgbClr val="800000"/>
              </a:buClr>
              <a:buSzTx/>
              <a:buFont typeface="Wingdings" panose="05000000000000000000" pitchFamily="2" charset="2"/>
              <a:buChar char="§"/>
            </a:pP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问题一：分支限界法采用的宽度优先或函数优先的搜索方式，如果解空间太大，那么无论怎么剪枝都不能到达叶结点，这会导致什么问题？</a:t>
            </a:r>
            <a:endParaRPr kumimoji="1" lang="en-US" altLang="zh-CN"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algn="just" eaLnBrk="1" hangingPunct="1">
              <a:lnSpc>
                <a:spcPct val="150000"/>
              </a:lnSpc>
              <a:spcBef>
                <a:spcPct val="20000"/>
              </a:spcBef>
              <a:buClr>
                <a:srgbClr val="800000"/>
              </a:buClr>
              <a:buSzTx/>
              <a:buFont typeface="Wingdings" panose="05000000000000000000" pitchFamily="2" charset="2"/>
              <a:buChar char="§"/>
            </a:pP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答：解空间太大时导致</a:t>
            </a: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的</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问题：很难搜索到叶子结点，导致很难找到问题的</a:t>
            </a: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解。</a:t>
            </a:r>
            <a:endParaRPr kumimoji="1" lang="en-US" altLang="zh-CN"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SzTx/>
              <a:buFontTx/>
              <a:buNone/>
            </a:pPr>
            <a:r>
              <a:rPr lang="zh-CN" altLang="en-US" sz="3200" dirty="0" smtClean="0">
                <a:solidFill>
                  <a:schemeClr val="bg1"/>
                </a:solidFill>
                <a:latin typeface="楷体" panose="02010609060101010101" pitchFamily="49" charset="-122"/>
                <a:ea typeface="楷体" panose="02010609060101010101" pitchFamily="49" charset="-122"/>
              </a:rPr>
              <a:t>讨论</a:t>
            </a:r>
            <a:endParaRPr lang="zh-CN" altLang="en-US" sz="3200" dirty="0">
              <a:solidFill>
                <a:schemeClr val="bg1"/>
              </a:solidFill>
              <a:latin typeface="楷体" panose="02010609060101010101" pitchFamily="49" charset="-122"/>
              <a:ea typeface="楷体" panose="02010609060101010101" pitchFamily="49" charset="-122"/>
            </a:endParaRPr>
          </a:p>
        </p:txBody>
      </p:sp>
      <p:sp>
        <p:nvSpPr>
          <p:cNvPr id="84995" name="Rectangle 6"/>
          <p:cNvSpPr>
            <a:spLocks noChangeArrowheads="1"/>
          </p:cNvSpPr>
          <p:nvPr/>
        </p:nvSpPr>
        <p:spPr bwMode="auto">
          <a:xfrm>
            <a:off x="342900" y="1295400"/>
            <a:ext cx="8445500" cy="492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lnSpc>
                <a:spcPct val="90000"/>
              </a:lnSpc>
              <a:spcBef>
                <a:spcPts val="750"/>
              </a:spcBef>
              <a:buClr>
                <a:schemeClr val="accent1"/>
              </a:buClr>
              <a:buSzPct val="75000"/>
              <a:buFont typeface="Wingdings" panose="05000000000000000000" pitchFamily="2" charset="2"/>
              <a:buChar char=""/>
              <a:defRPr>
                <a:solidFill>
                  <a:schemeClr val="accent1"/>
                </a:solidFill>
                <a:latin typeface="黑体" panose="02010609060101010101" pitchFamily="49" charset="-122"/>
                <a:ea typeface="黑体" panose="02010609060101010101" pitchFamily="49" charset="-122"/>
              </a:defRPr>
            </a:lvl1pPr>
            <a:lvl2pPr marL="742950" indent="-285750" eaLnBrk="0" hangingPunct="0">
              <a:lnSpc>
                <a:spcPct val="90000"/>
              </a:lnSpc>
              <a:spcBef>
                <a:spcPts val="375"/>
              </a:spcBef>
              <a:buFont typeface="Arial" panose="020B0604020202020204" pitchFamily="34" charset="0"/>
              <a:buChar char="•"/>
              <a:defRPr sz="1500">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ts val="375"/>
              </a:spcBef>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5pPr>
            <a:lvl6pPr marL="25146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6pPr>
            <a:lvl7pPr marL="29718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7pPr>
            <a:lvl8pPr marL="34290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8pPr>
            <a:lvl9pPr marL="3886200" indent="-228600" defTabSz="4572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黑体" panose="02010609060101010101" pitchFamily="49" charset="-122"/>
                <a:ea typeface="黑体" panose="02010609060101010101" pitchFamily="49" charset="-122"/>
              </a:defRPr>
            </a:lvl9pPr>
          </a:lstStyle>
          <a:p>
            <a:pPr algn="just" eaLnBrk="1" hangingPunct="1">
              <a:lnSpc>
                <a:spcPct val="150000"/>
              </a:lnSpc>
              <a:spcBef>
                <a:spcPct val="20000"/>
              </a:spcBef>
              <a:buClr>
                <a:srgbClr val="800000"/>
              </a:buClr>
              <a:buSzTx/>
              <a:buFont typeface="Wingdings" panose="05000000000000000000" pitchFamily="2" charset="2"/>
              <a:buChar char="§"/>
            </a:pP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问题二：如何能够避免该问题？</a:t>
            </a:r>
            <a:endParaRPr kumimoji="1" lang="en-US" altLang="zh-CN"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lnSpc>
                <a:spcPct val="150000"/>
              </a:lnSpc>
              <a:spcBef>
                <a:spcPct val="0"/>
              </a:spcBef>
            </a:pPr>
            <a:r>
              <a:rPr kumimoji="1" lang="zh-CN" altLang="en-US"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答：可以</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采用启发式函数非</a:t>
            </a:r>
            <a:r>
              <a:rPr kumimoji="1" lang="en-US" altLang="zh-CN"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admissible</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的</a:t>
            </a:r>
            <a:r>
              <a:rPr kumimoji="1" lang="en-US" altLang="zh-CN"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A</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*的搜索方式；</a:t>
            </a:r>
            <a:r>
              <a:rPr kumimoji="1" lang="en-US" altLang="zh-CN"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 A</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a:t>
            </a:r>
            <a:r>
              <a:rPr kumimoji="1" lang="en-US" altLang="zh-CN"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a:t>
            </a:r>
            <a:r>
              <a:rPr kumimoji="1" lang="zh-CN" altLang="en-US"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rPr>
              <a:t>搜索过程加搜索窗口的方式，限制每层结点数量，确保能找到解的同时尽量确保解的质量；函数和深度优先结合的方式，在保证搜索结点的质量的同时，加快搜索进度；或者循环深度优先的方式，不断从根结点重新尝试新的搜索路径。</a:t>
            </a:r>
            <a:endParaRPr kumimoji="1" lang="en-US" altLang="zh-CN" sz="2800" b="1" dirty="0">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spcBef>
                <a:spcPct val="0"/>
              </a:spcBef>
            </a:pPr>
            <a:endParaRPr lang="zh-CN" altLang="en-US" sz="2800" dirty="0"/>
          </a:p>
          <a:p>
            <a:pPr algn="just" eaLnBrk="1" hangingPunct="1">
              <a:lnSpc>
                <a:spcPct val="150000"/>
              </a:lnSpc>
              <a:spcBef>
                <a:spcPct val="20000"/>
              </a:spcBef>
              <a:buClr>
                <a:srgbClr val="800000"/>
              </a:buClr>
              <a:buSzTx/>
              <a:buFont typeface="Wingdings" panose="05000000000000000000" pitchFamily="2" charset="2"/>
              <a:buChar char="§"/>
            </a:pPr>
            <a:endParaRPr kumimoji="1" lang="en-US" altLang="zh-CN" sz="2800" b="1" dirty="0" smtClean="0">
              <a:solidFill>
                <a:srgbClr val="003366"/>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endParaRPr lang="zh-CN" altLang="en-US" sz="3200">
              <a:solidFill>
                <a:schemeClr val="bg1"/>
              </a:solidFill>
              <a:latin typeface="楷体" panose="02010609060101010101" pitchFamily="49" charset="-122"/>
              <a:ea typeface="楷体" panose="02010609060101010101" pitchFamily="49" charset="-122"/>
            </a:endParaRPr>
          </a:p>
        </p:txBody>
      </p:sp>
      <p:sp>
        <p:nvSpPr>
          <p:cNvPr id="90" name="内容占位符 2"/>
          <p:cNvSpPr>
            <a:spLocks noGrp="1"/>
          </p:cNvSpPr>
          <p:nvPr>
            <p:ph idx="1"/>
          </p:nvPr>
        </p:nvSpPr>
        <p:spPr>
          <a:xfrm>
            <a:off x="550863" y="1422400"/>
            <a:ext cx="8178800" cy="4457700"/>
          </a:xfrm>
        </p:spPr>
        <p:txBody>
          <a:bodyPr/>
          <a:lstStyle/>
          <a:p>
            <a:pPr marL="0" indent="0" defTabSz="914400" eaLnBrk="1" fontAlgn="auto" hangingPunct="1">
              <a:lnSpc>
                <a:spcPct val="100000"/>
              </a:lnSpc>
              <a:spcBef>
                <a:spcPts val="0"/>
              </a:spcBef>
              <a:spcAft>
                <a:spcPts val="0"/>
              </a:spcAft>
              <a:buClrTx/>
              <a:buSzTx/>
              <a:buFontTx/>
              <a:buNone/>
              <a:defRPr/>
            </a:pPr>
            <a:endParaRPr lang="zh-CN" altLang="en-US" b="1" kern="0" dirty="0" smtClean="0">
              <a:solidFill>
                <a:sysClr val="windowText" lastClr="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188" name="Text Box 4"/>
          <p:cNvSpPr txBox="1">
            <a:spLocks noChangeArrowheads="1"/>
          </p:cNvSpPr>
          <p:nvPr/>
        </p:nvSpPr>
        <p:spPr bwMode="auto">
          <a:xfrm>
            <a:off x="631825" y="1300163"/>
            <a:ext cx="8099425" cy="898525"/>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0-1</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背包问题</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zh-CN" altLang="en-US"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分析队列式与价值优先队列式过程</a:t>
            </a:r>
            <a:r>
              <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endPar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en-US" altLang="zh-CN"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n=3, C=30, w={16, 15, 15}, v={45, 25, 25}</a:t>
            </a:r>
            <a:endParaRPr lang="zh-CN" altLang="en-US" sz="2400"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93189" name="Group 57"/>
          <p:cNvGrpSpPr/>
          <p:nvPr/>
        </p:nvGrpSpPr>
        <p:grpSpPr bwMode="auto">
          <a:xfrm>
            <a:off x="3948113" y="2581275"/>
            <a:ext cx="395287" cy="395288"/>
            <a:chOff x="4531" y="2063"/>
            <a:chExt cx="249" cy="249"/>
          </a:xfrm>
        </p:grpSpPr>
        <p:sp>
          <p:nvSpPr>
            <p:cNvPr id="93271" name="Oval 58"/>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72" name="Text Box 5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190" name="Group 60"/>
          <p:cNvGrpSpPr/>
          <p:nvPr/>
        </p:nvGrpSpPr>
        <p:grpSpPr bwMode="auto">
          <a:xfrm>
            <a:off x="2403475" y="3141663"/>
            <a:ext cx="395288" cy="395287"/>
            <a:chOff x="4531" y="2063"/>
            <a:chExt cx="249" cy="249"/>
          </a:xfrm>
        </p:grpSpPr>
        <p:sp>
          <p:nvSpPr>
            <p:cNvPr id="93269" name="Oval 61"/>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70" name="Text Box 6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191" name="Group 63"/>
          <p:cNvGrpSpPr/>
          <p:nvPr/>
        </p:nvGrpSpPr>
        <p:grpSpPr bwMode="auto">
          <a:xfrm>
            <a:off x="5583238" y="3136900"/>
            <a:ext cx="395287" cy="395288"/>
            <a:chOff x="4531" y="2063"/>
            <a:chExt cx="249" cy="249"/>
          </a:xfrm>
        </p:grpSpPr>
        <p:sp>
          <p:nvSpPr>
            <p:cNvPr id="93267" name="Oval 64"/>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68" name="Text Box 65"/>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192" name="Group 66"/>
          <p:cNvGrpSpPr/>
          <p:nvPr/>
        </p:nvGrpSpPr>
        <p:grpSpPr bwMode="auto">
          <a:xfrm>
            <a:off x="1652588" y="3884613"/>
            <a:ext cx="395287" cy="395287"/>
            <a:chOff x="4531" y="2063"/>
            <a:chExt cx="249" cy="249"/>
          </a:xfrm>
        </p:grpSpPr>
        <p:sp>
          <p:nvSpPr>
            <p:cNvPr id="93265" name="Oval 67"/>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66" name="Text Box 6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D</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193" name="Group 69"/>
          <p:cNvGrpSpPr/>
          <p:nvPr/>
        </p:nvGrpSpPr>
        <p:grpSpPr bwMode="auto">
          <a:xfrm>
            <a:off x="3109913" y="3884613"/>
            <a:ext cx="395287" cy="395287"/>
            <a:chOff x="4531" y="2063"/>
            <a:chExt cx="249" cy="249"/>
          </a:xfrm>
        </p:grpSpPr>
        <p:sp>
          <p:nvSpPr>
            <p:cNvPr id="93263" name="Oval 70"/>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64" name="Text Box 7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194" name="Group 78"/>
          <p:cNvGrpSpPr/>
          <p:nvPr/>
        </p:nvGrpSpPr>
        <p:grpSpPr bwMode="auto">
          <a:xfrm>
            <a:off x="1217613" y="4768850"/>
            <a:ext cx="395287" cy="395288"/>
            <a:chOff x="4531" y="2063"/>
            <a:chExt cx="249" cy="249"/>
          </a:xfrm>
        </p:grpSpPr>
        <p:sp>
          <p:nvSpPr>
            <p:cNvPr id="93261" name="Oval 79"/>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62" name="Text Box 80"/>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H</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195" name="Group 81"/>
          <p:cNvGrpSpPr/>
          <p:nvPr/>
        </p:nvGrpSpPr>
        <p:grpSpPr bwMode="auto">
          <a:xfrm>
            <a:off x="2019300" y="4764088"/>
            <a:ext cx="395288" cy="395287"/>
            <a:chOff x="4531" y="2063"/>
            <a:chExt cx="249" cy="249"/>
          </a:xfrm>
        </p:grpSpPr>
        <p:sp>
          <p:nvSpPr>
            <p:cNvPr id="93259" name="Oval 82"/>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60" name="Text Box 8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93196" name="Line 110"/>
          <p:cNvSpPr>
            <a:spLocks noChangeShapeType="1"/>
          </p:cNvSpPr>
          <p:nvPr/>
        </p:nvSpPr>
        <p:spPr bwMode="auto">
          <a:xfrm flipH="1">
            <a:off x="2776538" y="2867025"/>
            <a:ext cx="1189037" cy="38100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197" name="Line 111"/>
          <p:cNvSpPr>
            <a:spLocks noChangeShapeType="1"/>
          </p:cNvSpPr>
          <p:nvPr/>
        </p:nvSpPr>
        <p:spPr bwMode="auto">
          <a:xfrm>
            <a:off x="4346575" y="2851150"/>
            <a:ext cx="1250950" cy="4254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198" name="Line 112"/>
          <p:cNvSpPr>
            <a:spLocks noChangeShapeType="1"/>
          </p:cNvSpPr>
          <p:nvPr/>
        </p:nvSpPr>
        <p:spPr bwMode="auto">
          <a:xfrm flipH="1">
            <a:off x="1968500" y="3462338"/>
            <a:ext cx="474663" cy="455612"/>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3199" name="Line 113"/>
          <p:cNvSpPr>
            <a:spLocks noChangeShapeType="1"/>
          </p:cNvSpPr>
          <p:nvPr/>
        </p:nvSpPr>
        <p:spPr bwMode="auto">
          <a:xfrm>
            <a:off x="2744788" y="3492500"/>
            <a:ext cx="425450" cy="42386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200" name="Line 120"/>
          <p:cNvSpPr>
            <a:spLocks noChangeShapeType="1"/>
          </p:cNvSpPr>
          <p:nvPr/>
        </p:nvSpPr>
        <p:spPr bwMode="auto">
          <a:xfrm flipH="1">
            <a:off x="5241925" y="3487738"/>
            <a:ext cx="411163" cy="427037"/>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201" name="Line 121"/>
          <p:cNvSpPr>
            <a:spLocks noChangeShapeType="1"/>
          </p:cNvSpPr>
          <p:nvPr/>
        </p:nvSpPr>
        <p:spPr bwMode="auto">
          <a:xfrm>
            <a:off x="5895975" y="3487738"/>
            <a:ext cx="515938" cy="457200"/>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3202" name="Text Box 127"/>
          <p:cNvSpPr txBox="1">
            <a:spLocks noChangeArrowheads="1"/>
          </p:cNvSpPr>
          <p:nvPr/>
        </p:nvSpPr>
        <p:spPr bwMode="auto">
          <a:xfrm>
            <a:off x="4394200" y="2476500"/>
            <a:ext cx="1524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Cr=C=30,V=0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93203" name="Group 141"/>
          <p:cNvGrpSpPr/>
          <p:nvPr/>
        </p:nvGrpSpPr>
        <p:grpSpPr bwMode="auto">
          <a:xfrm>
            <a:off x="4903788" y="3881438"/>
            <a:ext cx="395287" cy="395287"/>
            <a:chOff x="4531" y="2063"/>
            <a:chExt cx="249" cy="249"/>
          </a:xfrm>
        </p:grpSpPr>
        <p:sp>
          <p:nvSpPr>
            <p:cNvPr id="93257" name="Oval 142"/>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58" name="Text Box 143"/>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F</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204" name="Group 144"/>
          <p:cNvGrpSpPr/>
          <p:nvPr/>
        </p:nvGrpSpPr>
        <p:grpSpPr bwMode="auto">
          <a:xfrm>
            <a:off x="6329363" y="3881438"/>
            <a:ext cx="395287" cy="395287"/>
            <a:chOff x="4531" y="2063"/>
            <a:chExt cx="249" cy="249"/>
          </a:xfrm>
        </p:grpSpPr>
        <p:sp>
          <p:nvSpPr>
            <p:cNvPr id="93255" name="Oval 145"/>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56" name="Text Box 146"/>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205" name="Group 147"/>
          <p:cNvGrpSpPr/>
          <p:nvPr/>
        </p:nvGrpSpPr>
        <p:grpSpPr bwMode="auto">
          <a:xfrm>
            <a:off x="2786063" y="4751388"/>
            <a:ext cx="395287" cy="395287"/>
            <a:chOff x="4531" y="2063"/>
            <a:chExt cx="249" cy="249"/>
          </a:xfrm>
        </p:grpSpPr>
        <p:sp>
          <p:nvSpPr>
            <p:cNvPr id="93253" name="Oval 148"/>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54" name="Text Box 149"/>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J</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206" name="Group 150"/>
          <p:cNvGrpSpPr/>
          <p:nvPr/>
        </p:nvGrpSpPr>
        <p:grpSpPr bwMode="auto">
          <a:xfrm>
            <a:off x="3587750" y="4746625"/>
            <a:ext cx="395288" cy="395288"/>
            <a:chOff x="4531" y="2063"/>
            <a:chExt cx="249" cy="249"/>
          </a:xfrm>
        </p:grpSpPr>
        <p:sp>
          <p:nvSpPr>
            <p:cNvPr id="93251" name="Oval 151"/>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52" name="Text Box 152"/>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K</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207" name="Group 153"/>
          <p:cNvGrpSpPr/>
          <p:nvPr/>
        </p:nvGrpSpPr>
        <p:grpSpPr bwMode="auto">
          <a:xfrm>
            <a:off x="4491038" y="4765675"/>
            <a:ext cx="395287" cy="395288"/>
            <a:chOff x="4531" y="2063"/>
            <a:chExt cx="249" cy="249"/>
          </a:xfrm>
        </p:grpSpPr>
        <p:sp>
          <p:nvSpPr>
            <p:cNvPr id="93249" name="Oval 154"/>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50" name="Text Box 155"/>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208" name="Group 156"/>
          <p:cNvGrpSpPr/>
          <p:nvPr/>
        </p:nvGrpSpPr>
        <p:grpSpPr bwMode="auto">
          <a:xfrm>
            <a:off x="5292725" y="4760913"/>
            <a:ext cx="395288" cy="395287"/>
            <a:chOff x="4531" y="2063"/>
            <a:chExt cx="249" cy="249"/>
          </a:xfrm>
        </p:grpSpPr>
        <p:sp>
          <p:nvSpPr>
            <p:cNvPr id="93247" name="Oval 157"/>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48" name="Text Box 158"/>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209" name="Group 159"/>
          <p:cNvGrpSpPr/>
          <p:nvPr/>
        </p:nvGrpSpPr>
        <p:grpSpPr bwMode="auto">
          <a:xfrm>
            <a:off x="6059488" y="4748213"/>
            <a:ext cx="395287" cy="395287"/>
            <a:chOff x="4531" y="2063"/>
            <a:chExt cx="249" cy="249"/>
          </a:xfrm>
        </p:grpSpPr>
        <p:sp>
          <p:nvSpPr>
            <p:cNvPr id="93245" name="Oval 160"/>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46" name="Text Box 161"/>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3210" name="Group 162"/>
          <p:cNvGrpSpPr/>
          <p:nvPr/>
        </p:nvGrpSpPr>
        <p:grpSpPr bwMode="auto">
          <a:xfrm>
            <a:off x="6861175" y="4743450"/>
            <a:ext cx="395288" cy="395288"/>
            <a:chOff x="4531" y="2063"/>
            <a:chExt cx="249" cy="249"/>
          </a:xfrm>
        </p:grpSpPr>
        <p:sp>
          <p:nvSpPr>
            <p:cNvPr id="93243" name="Oval 163"/>
            <p:cNvSpPr>
              <a:spLocks noChangeArrowheads="1"/>
            </p:cNvSpPr>
            <p:nvPr/>
          </p:nvSpPr>
          <p:spPr bwMode="auto">
            <a:xfrm>
              <a:off x="4531" y="2063"/>
              <a:ext cx="249" cy="249"/>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44" name="Text Box 164"/>
            <p:cNvSpPr txBox="1">
              <a:spLocks noChangeArrowheads="1"/>
            </p:cNvSpPr>
            <p:nvPr/>
          </p:nvSpPr>
          <p:spPr bwMode="auto">
            <a:xfrm>
              <a:off x="4582" y="2106"/>
              <a:ext cx="14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O</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93211" name="Line 165"/>
          <p:cNvSpPr>
            <a:spLocks noChangeShapeType="1"/>
          </p:cNvSpPr>
          <p:nvPr/>
        </p:nvSpPr>
        <p:spPr bwMode="auto">
          <a:xfrm flipH="1">
            <a:off x="1493838" y="4251325"/>
            <a:ext cx="246062" cy="533400"/>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3212" name="Line 166"/>
          <p:cNvSpPr>
            <a:spLocks noChangeShapeType="1"/>
          </p:cNvSpPr>
          <p:nvPr/>
        </p:nvSpPr>
        <p:spPr bwMode="auto">
          <a:xfrm>
            <a:off x="1933575" y="4267200"/>
            <a:ext cx="228600" cy="515938"/>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3213" name="Line 167"/>
          <p:cNvSpPr>
            <a:spLocks noChangeShapeType="1"/>
          </p:cNvSpPr>
          <p:nvPr/>
        </p:nvSpPr>
        <p:spPr bwMode="auto">
          <a:xfrm flipH="1">
            <a:off x="3028950" y="4264025"/>
            <a:ext cx="200025" cy="503238"/>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3214" name="Line 168"/>
          <p:cNvSpPr>
            <a:spLocks noChangeShapeType="1"/>
          </p:cNvSpPr>
          <p:nvPr/>
        </p:nvSpPr>
        <p:spPr bwMode="auto">
          <a:xfrm>
            <a:off x="3424238" y="4265613"/>
            <a:ext cx="242887" cy="515937"/>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215" name="Line 169"/>
          <p:cNvSpPr>
            <a:spLocks noChangeShapeType="1"/>
          </p:cNvSpPr>
          <p:nvPr/>
        </p:nvSpPr>
        <p:spPr bwMode="auto">
          <a:xfrm flipH="1">
            <a:off x="4737100" y="4246563"/>
            <a:ext cx="246063" cy="53340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216" name="Line 170"/>
          <p:cNvSpPr>
            <a:spLocks noChangeShapeType="1"/>
          </p:cNvSpPr>
          <p:nvPr/>
        </p:nvSpPr>
        <p:spPr bwMode="auto">
          <a:xfrm>
            <a:off x="5176838" y="4262438"/>
            <a:ext cx="228600" cy="515937"/>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3217" name="Line 171"/>
          <p:cNvSpPr>
            <a:spLocks noChangeShapeType="1"/>
          </p:cNvSpPr>
          <p:nvPr/>
        </p:nvSpPr>
        <p:spPr bwMode="auto">
          <a:xfrm flipH="1">
            <a:off x="6318250" y="4244975"/>
            <a:ext cx="138113" cy="519113"/>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3218" name="Line 172"/>
          <p:cNvSpPr>
            <a:spLocks noChangeShapeType="1"/>
          </p:cNvSpPr>
          <p:nvPr/>
        </p:nvSpPr>
        <p:spPr bwMode="auto">
          <a:xfrm>
            <a:off x="6651625" y="4246563"/>
            <a:ext cx="303213" cy="515937"/>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3219" name="Text Box 173"/>
          <p:cNvSpPr txBox="1">
            <a:spLocks noChangeArrowheads="1"/>
          </p:cNvSpPr>
          <p:nvPr/>
        </p:nvSpPr>
        <p:spPr bwMode="auto">
          <a:xfrm>
            <a:off x="793750" y="3143250"/>
            <a:ext cx="14176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Cr=14,V=45</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20" name="Text Box 174"/>
          <p:cNvSpPr txBox="1">
            <a:spLocks noChangeArrowheads="1"/>
          </p:cNvSpPr>
          <p:nvPr/>
        </p:nvSpPr>
        <p:spPr bwMode="auto">
          <a:xfrm>
            <a:off x="6094413" y="3154363"/>
            <a:ext cx="1417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Cr=30,V=0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21" name="Text Box 175"/>
          <p:cNvSpPr txBox="1">
            <a:spLocks noChangeArrowheads="1"/>
          </p:cNvSpPr>
          <p:nvPr/>
        </p:nvSpPr>
        <p:spPr bwMode="auto">
          <a:xfrm>
            <a:off x="173038" y="3932238"/>
            <a:ext cx="1417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Cr&lt;w</a:t>
            </a:r>
            <a:r>
              <a:rPr kumimoji="1" lang="en-US" altLang="zh-CN" b="1" baseline="-2500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不可行</a:t>
            </a:r>
            <a:endPar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22" name="Text Box 176"/>
          <p:cNvSpPr txBox="1">
            <a:spLocks noChangeArrowheads="1"/>
          </p:cNvSpPr>
          <p:nvPr/>
        </p:nvSpPr>
        <p:spPr bwMode="auto">
          <a:xfrm>
            <a:off x="2330450" y="3827463"/>
            <a:ext cx="762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Cr=14,V=45</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23" name="Text Box 177"/>
          <p:cNvSpPr txBox="1">
            <a:spLocks noChangeArrowheads="1"/>
          </p:cNvSpPr>
          <p:nvPr/>
        </p:nvSpPr>
        <p:spPr bwMode="auto">
          <a:xfrm>
            <a:off x="6746875" y="3943350"/>
            <a:ext cx="14176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Cr=30,V=0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24" name="Text Box 178"/>
          <p:cNvSpPr txBox="1">
            <a:spLocks noChangeArrowheads="1"/>
          </p:cNvSpPr>
          <p:nvPr/>
        </p:nvSpPr>
        <p:spPr bwMode="auto">
          <a:xfrm>
            <a:off x="4079875" y="3792538"/>
            <a:ext cx="762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Cr=15,V=25</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25" name="Text Box 179"/>
          <p:cNvSpPr txBox="1">
            <a:spLocks noChangeArrowheads="1"/>
          </p:cNvSpPr>
          <p:nvPr/>
        </p:nvSpPr>
        <p:spPr bwMode="auto">
          <a:xfrm>
            <a:off x="2471738" y="5224463"/>
            <a:ext cx="7318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Cr&lt;w</a:t>
            </a:r>
            <a:r>
              <a:rPr kumimoji="1" lang="en-US" altLang="zh-CN" b="1" baseline="-2500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不可行</a:t>
            </a:r>
            <a:endParaRPr kumimoji="1" lang="zh-CN" altLang="en-US"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26" name="Text Box 180"/>
          <p:cNvSpPr txBox="1">
            <a:spLocks noChangeArrowheads="1"/>
          </p:cNvSpPr>
          <p:nvPr/>
        </p:nvSpPr>
        <p:spPr bwMode="auto">
          <a:xfrm>
            <a:off x="3378200" y="5241925"/>
            <a:ext cx="762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Cr=14,</a:t>
            </a:r>
            <a:r>
              <a:rPr kumimoji="1" lang="en-US" altLang="zh-CN" b="1">
                <a:solidFill>
                  <a:srgbClr val="CC0000"/>
                </a:solidFill>
                <a:latin typeface="Times New Roman" panose="02020603050405020304" pitchFamily="18" charset="0"/>
                <a:ea typeface="华文楷体" panose="02010600040101010101" pitchFamily="2" charset="-122"/>
                <a:cs typeface="Times New Roman" panose="02020603050405020304" pitchFamily="18" charset="0"/>
              </a:rPr>
              <a:t>V=45</a:t>
            </a:r>
            <a:endParaRPr kumimoji="1" lang="en-US" altLang="zh-CN" b="1">
              <a:solidFill>
                <a:srgbClr val="CC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27" name="Text Box 181"/>
          <p:cNvSpPr txBox="1">
            <a:spLocks noChangeArrowheads="1"/>
          </p:cNvSpPr>
          <p:nvPr/>
        </p:nvSpPr>
        <p:spPr bwMode="auto">
          <a:xfrm>
            <a:off x="7307263" y="4808538"/>
            <a:ext cx="1417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Cr=30,V=0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228" name="Text Box 182"/>
          <p:cNvSpPr txBox="1">
            <a:spLocks noChangeArrowheads="1"/>
          </p:cNvSpPr>
          <p:nvPr/>
        </p:nvSpPr>
        <p:spPr bwMode="auto">
          <a:xfrm>
            <a:off x="4351338" y="5205413"/>
            <a:ext cx="5937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Cr=0,</a:t>
            </a:r>
            <a:r>
              <a:rPr kumimoji="1" lang="en-US" altLang="zh-CN" b="1">
                <a:solidFill>
                  <a:srgbClr val="CC0000"/>
                </a:solidFill>
                <a:latin typeface="Times New Roman" panose="02020603050405020304" pitchFamily="18" charset="0"/>
                <a:ea typeface="华文楷体" panose="02010600040101010101" pitchFamily="2" charset="-122"/>
                <a:cs typeface="Times New Roman" panose="02020603050405020304" pitchFamily="18" charset="0"/>
              </a:rPr>
              <a:t>V=50</a:t>
            </a:r>
            <a:endParaRPr kumimoji="1" lang="en-US" altLang="zh-CN" b="1">
              <a:solidFill>
                <a:srgbClr val="CC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3" name="Text Box 190"/>
          <p:cNvSpPr txBox="1">
            <a:spLocks noChangeArrowheads="1"/>
          </p:cNvSpPr>
          <p:nvPr/>
        </p:nvSpPr>
        <p:spPr bwMode="auto">
          <a:xfrm>
            <a:off x="374650" y="6038850"/>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4" name="Text Box 191"/>
          <p:cNvSpPr txBox="1">
            <a:spLocks noChangeArrowheads="1"/>
          </p:cNvSpPr>
          <p:nvPr/>
        </p:nvSpPr>
        <p:spPr bwMode="auto">
          <a:xfrm>
            <a:off x="877888" y="6037263"/>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5" name="Text Box 192"/>
          <p:cNvSpPr txBox="1">
            <a:spLocks noChangeArrowheads="1"/>
          </p:cNvSpPr>
          <p:nvPr/>
        </p:nvSpPr>
        <p:spPr bwMode="auto">
          <a:xfrm>
            <a:off x="1376363" y="6037263"/>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6" name="Text Box 193"/>
          <p:cNvSpPr txBox="1">
            <a:spLocks noChangeArrowheads="1"/>
          </p:cNvSpPr>
          <p:nvPr/>
        </p:nvSpPr>
        <p:spPr bwMode="auto">
          <a:xfrm>
            <a:off x="1879600" y="6035675"/>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7" name="Text Box 194"/>
          <p:cNvSpPr txBox="1">
            <a:spLocks noChangeArrowheads="1"/>
          </p:cNvSpPr>
          <p:nvPr/>
        </p:nvSpPr>
        <p:spPr bwMode="auto">
          <a:xfrm>
            <a:off x="2382838" y="6035675"/>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F</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8" name="Text Box 195"/>
          <p:cNvSpPr txBox="1">
            <a:spLocks noChangeArrowheads="1"/>
          </p:cNvSpPr>
          <p:nvPr/>
        </p:nvSpPr>
        <p:spPr bwMode="auto">
          <a:xfrm>
            <a:off x="2886075" y="6034088"/>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K</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9" name="Text Box 196"/>
          <p:cNvSpPr txBox="1">
            <a:spLocks noChangeArrowheads="1"/>
          </p:cNvSpPr>
          <p:nvPr/>
        </p:nvSpPr>
        <p:spPr bwMode="auto">
          <a:xfrm>
            <a:off x="3384550" y="6034088"/>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a:t>
            </a:r>
            <a:endParaRPr lang="en-US" altLang="zh-CN" sz="20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0" name="Text Box 198"/>
          <p:cNvSpPr txBox="1">
            <a:spLocks noChangeArrowheads="1"/>
          </p:cNvSpPr>
          <p:nvPr/>
        </p:nvSpPr>
        <p:spPr bwMode="auto">
          <a:xfrm>
            <a:off x="4881563" y="6035675"/>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1" name="Text Box 199"/>
          <p:cNvSpPr txBox="1">
            <a:spLocks noChangeArrowheads="1"/>
          </p:cNvSpPr>
          <p:nvPr/>
        </p:nvSpPr>
        <p:spPr bwMode="auto">
          <a:xfrm>
            <a:off x="5384800" y="6034088"/>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 name="Text Box 200"/>
          <p:cNvSpPr txBox="1">
            <a:spLocks noChangeArrowheads="1"/>
          </p:cNvSpPr>
          <p:nvPr/>
        </p:nvSpPr>
        <p:spPr bwMode="auto">
          <a:xfrm>
            <a:off x="5883275" y="6034088"/>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3" name="Text Box 201"/>
          <p:cNvSpPr txBox="1">
            <a:spLocks noChangeArrowheads="1"/>
          </p:cNvSpPr>
          <p:nvPr/>
        </p:nvSpPr>
        <p:spPr bwMode="auto">
          <a:xfrm>
            <a:off x="6386513" y="6032500"/>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 name="Text Box 202"/>
          <p:cNvSpPr txBox="1">
            <a:spLocks noChangeArrowheads="1"/>
          </p:cNvSpPr>
          <p:nvPr/>
        </p:nvSpPr>
        <p:spPr bwMode="auto">
          <a:xfrm>
            <a:off x="6889750" y="6032500"/>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K</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5" name="Text Box 203"/>
          <p:cNvSpPr txBox="1">
            <a:spLocks noChangeArrowheads="1"/>
          </p:cNvSpPr>
          <p:nvPr/>
        </p:nvSpPr>
        <p:spPr bwMode="auto">
          <a:xfrm>
            <a:off x="7392988" y="6030913"/>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6" name="Text Box 204"/>
          <p:cNvSpPr txBox="1">
            <a:spLocks noChangeArrowheads="1"/>
          </p:cNvSpPr>
          <p:nvPr/>
        </p:nvSpPr>
        <p:spPr bwMode="auto">
          <a:xfrm>
            <a:off x="7891463" y="6030913"/>
            <a:ext cx="501650" cy="406400"/>
          </a:xfrm>
          <a:prstGeom prst="rect">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wipe(right)">
                                      <p:cBhvr>
                                        <p:cTn id="7" dur="1000"/>
                                        <p:tgtEl>
                                          <p:spTgt spid="1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64"/>
                                        </p:tgtEl>
                                        <p:attrNameLst>
                                          <p:attrName>style.visibility</p:attrName>
                                        </p:attrNameLst>
                                      </p:cBhvr>
                                      <p:to>
                                        <p:strVal val="visible"/>
                                      </p:to>
                                    </p:set>
                                    <p:animEffect transition="in" filter="wipe(right)">
                                      <p:cBhvr>
                                        <p:cTn id="12" dur="1000"/>
                                        <p:tgtEl>
                                          <p:spTgt spid="164"/>
                                        </p:tgtEl>
                                      </p:cBhvr>
                                    </p:animEffect>
                                  </p:childTnLst>
                                </p:cTn>
                              </p:par>
                            </p:childTnLst>
                          </p:cTn>
                        </p:par>
                        <p:par>
                          <p:cTn id="13" fill="hold">
                            <p:stCondLst>
                              <p:cond delay="1000"/>
                            </p:stCondLst>
                            <p:childTnLst>
                              <p:par>
                                <p:cTn id="14" presetID="22" presetClass="entr" presetSubtype="2" fill="hold" grpId="0" nodeType="afterEffect">
                                  <p:stCondLst>
                                    <p:cond delay="0"/>
                                  </p:stCondLst>
                                  <p:childTnLst>
                                    <p:set>
                                      <p:cBhvr>
                                        <p:cTn id="15" dur="1" fill="hold">
                                          <p:stCondLst>
                                            <p:cond delay="0"/>
                                          </p:stCondLst>
                                        </p:cTn>
                                        <p:tgtEl>
                                          <p:spTgt spid="165"/>
                                        </p:tgtEl>
                                        <p:attrNameLst>
                                          <p:attrName>style.visibility</p:attrName>
                                        </p:attrNameLst>
                                      </p:cBhvr>
                                      <p:to>
                                        <p:strVal val="visible"/>
                                      </p:to>
                                    </p:set>
                                    <p:animEffect transition="in" filter="wipe(right)">
                                      <p:cBhvr>
                                        <p:cTn id="16" dur="1000"/>
                                        <p:tgtEl>
                                          <p:spTgt spid="16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mph" presetSubtype="2" fill="hold" nodeType="clickEffect">
                                  <p:stCondLst>
                                    <p:cond delay="0"/>
                                  </p:stCondLst>
                                  <p:childTnLst>
                                    <p:animClr clrSpc="rgb" dir="cw">
                                      <p:cBhvr>
                                        <p:cTn id="20" dur="500" fill="hold"/>
                                        <p:tgtEl>
                                          <p:spTgt spid="163"/>
                                        </p:tgtEl>
                                        <p:attrNameLst>
                                          <p:attrName>fillcolor</p:attrName>
                                        </p:attrNameLst>
                                      </p:cBhvr>
                                      <p:to>
                                        <a:srgbClr val="CC0000"/>
                                      </p:to>
                                    </p:animClr>
                                    <p:set>
                                      <p:cBhvr>
                                        <p:cTn id="21" dur="500" fill="hold"/>
                                        <p:tgtEl>
                                          <p:spTgt spid="163"/>
                                        </p:tgtEl>
                                        <p:attrNameLst>
                                          <p:attrName>fill.type</p:attrName>
                                        </p:attrNameLst>
                                      </p:cBhvr>
                                      <p:to>
                                        <p:strVal val="solid"/>
                                      </p:to>
                                    </p:set>
                                    <p:set>
                                      <p:cBhvr>
                                        <p:cTn id="22" dur="500" fill="hold"/>
                                        <p:tgtEl>
                                          <p:spTgt spid="163"/>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animEffect transition="in" filter="wipe(right)">
                                      <p:cBhvr>
                                        <p:cTn id="27" dur="1000"/>
                                        <p:tgtEl>
                                          <p:spTgt spid="16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mph" presetSubtype="2" fill="hold" nodeType="clickEffect">
                                  <p:stCondLst>
                                    <p:cond delay="0"/>
                                  </p:stCondLst>
                                  <p:childTnLst>
                                    <p:animClr clrSpc="rgb" dir="cw">
                                      <p:cBhvr>
                                        <p:cTn id="31" dur="500" fill="hold"/>
                                        <p:tgtEl>
                                          <p:spTgt spid="164"/>
                                        </p:tgtEl>
                                        <p:attrNameLst>
                                          <p:attrName>fillcolor</p:attrName>
                                        </p:attrNameLst>
                                      </p:cBhvr>
                                      <p:to>
                                        <a:srgbClr val="CC0000"/>
                                      </p:to>
                                    </p:animClr>
                                    <p:set>
                                      <p:cBhvr>
                                        <p:cTn id="32" dur="500" fill="hold"/>
                                        <p:tgtEl>
                                          <p:spTgt spid="164"/>
                                        </p:tgtEl>
                                        <p:attrNameLst>
                                          <p:attrName>fill.type</p:attrName>
                                        </p:attrNameLst>
                                      </p:cBhvr>
                                      <p:to>
                                        <p:strVal val="solid"/>
                                      </p:to>
                                    </p:set>
                                    <p:set>
                                      <p:cBhvr>
                                        <p:cTn id="33" dur="500" fill="hold"/>
                                        <p:tgtEl>
                                          <p:spTgt spid="164"/>
                                        </p:tgtEl>
                                        <p:attrNameLst>
                                          <p:attrName>fill.on</p:attrName>
                                        </p:attrNameLst>
                                      </p:cBhvr>
                                      <p:to>
                                        <p:strVal val="tru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grpId="0" nodeType="clickEffect">
                                  <p:stCondLst>
                                    <p:cond delay="0"/>
                                  </p:stCondLst>
                                  <p:childTnLst>
                                    <p:set>
                                      <p:cBhvr>
                                        <p:cTn id="37" dur="1" fill="hold">
                                          <p:stCondLst>
                                            <p:cond delay="0"/>
                                          </p:stCondLst>
                                        </p:cTn>
                                        <p:tgtEl>
                                          <p:spTgt spid="167"/>
                                        </p:tgtEl>
                                        <p:attrNameLst>
                                          <p:attrName>style.visibility</p:attrName>
                                        </p:attrNameLst>
                                      </p:cBhvr>
                                      <p:to>
                                        <p:strVal val="visible"/>
                                      </p:to>
                                    </p:set>
                                    <p:animEffect transition="in" filter="wipe(right)">
                                      <p:cBhvr>
                                        <p:cTn id="38" dur="1000"/>
                                        <p:tgtEl>
                                          <p:spTgt spid="16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mph" presetSubtype="2" fill="hold" nodeType="clickEffect">
                                  <p:stCondLst>
                                    <p:cond delay="0"/>
                                  </p:stCondLst>
                                  <p:childTnLst>
                                    <p:animClr clrSpc="rgb" dir="cw">
                                      <p:cBhvr>
                                        <p:cTn id="42" dur="500" fill="hold"/>
                                        <p:tgtEl>
                                          <p:spTgt spid="165"/>
                                        </p:tgtEl>
                                        <p:attrNameLst>
                                          <p:attrName>fillcolor</p:attrName>
                                        </p:attrNameLst>
                                      </p:cBhvr>
                                      <p:to>
                                        <a:srgbClr val="CC0000"/>
                                      </p:to>
                                    </p:animClr>
                                    <p:set>
                                      <p:cBhvr>
                                        <p:cTn id="43" dur="500" fill="hold"/>
                                        <p:tgtEl>
                                          <p:spTgt spid="165"/>
                                        </p:tgtEl>
                                        <p:attrNameLst>
                                          <p:attrName>fill.type</p:attrName>
                                        </p:attrNameLst>
                                      </p:cBhvr>
                                      <p:to>
                                        <p:strVal val="solid"/>
                                      </p:to>
                                    </p:set>
                                    <p:set>
                                      <p:cBhvr>
                                        <p:cTn id="44" dur="500" fill="hold"/>
                                        <p:tgtEl>
                                          <p:spTgt spid="165"/>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168"/>
                                        </p:tgtEl>
                                        <p:attrNameLst>
                                          <p:attrName>style.visibility</p:attrName>
                                        </p:attrNameLst>
                                      </p:cBhvr>
                                      <p:to>
                                        <p:strVal val="visible"/>
                                      </p:to>
                                    </p:set>
                                    <p:animEffect transition="in" filter="wipe(right)">
                                      <p:cBhvr>
                                        <p:cTn id="49" dur="1000"/>
                                        <p:tgtEl>
                                          <p:spTgt spid="16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mph" presetSubtype="2" fill="hold" nodeType="clickEffect">
                                  <p:stCondLst>
                                    <p:cond delay="0"/>
                                  </p:stCondLst>
                                  <p:childTnLst>
                                    <p:animClr clrSpc="rgb" dir="cw">
                                      <p:cBhvr>
                                        <p:cTn id="53" dur="500" fill="hold"/>
                                        <p:tgtEl>
                                          <p:spTgt spid="166"/>
                                        </p:tgtEl>
                                        <p:attrNameLst>
                                          <p:attrName>fillcolor</p:attrName>
                                        </p:attrNameLst>
                                      </p:cBhvr>
                                      <p:to>
                                        <a:srgbClr val="CC0000"/>
                                      </p:to>
                                    </p:animClr>
                                    <p:set>
                                      <p:cBhvr>
                                        <p:cTn id="54" dur="500" fill="hold"/>
                                        <p:tgtEl>
                                          <p:spTgt spid="166"/>
                                        </p:tgtEl>
                                        <p:attrNameLst>
                                          <p:attrName>fill.type</p:attrName>
                                        </p:attrNameLst>
                                      </p:cBhvr>
                                      <p:to>
                                        <p:strVal val="solid"/>
                                      </p:to>
                                    </p:set>
                                    <p:set>
                                      <p:cBhvr>
                                        <p:cTn id="55" dur="500" fill="hold"/>
                                        <p:tgtEl>
                                          <p:spTgt spid="166"/>
                                        </p:tgtEl>
                                        <p:attrNameLst>
                                          <p:attrName>fill.on</p:attrName>
                                        </p:attrNameLst>
                                      </p:cBhvr>
                                      <p:to>
                                        <p:strVal val="tru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grpId="0" nodeType="clickEffect">
                                  <p:stCondLst>
                                    <p:cond delay="0"/>
                                  </p:stCondLst>
                                  <p:childTnLst>
                                    <p:set>
                                      <p:cBhvr>
                                        <p:cTn id="59" dur="1" fill="hold">
                                          <p:stCondLst>
                                            <p:cond delay="0"/>
                                          </p:stCondLst>
                                        </p:cTn>
                                        <p:tgtEl>
                                          <p:spTgt spid="169"/>
                                        </p:tgtEl>
                                        <p:attrNameLst>
                                          <p:attrName>style.visibility</p:attrName>
                                        </p:attrNameLst>
                                      </p:cBhvr>
                                      <p:to>
                                        <p:strVal val="visible"/>
                                      </p:to>
                                    </p:set>
                                    <p:animEffect transition="in" filter="wipe(right)">
                                      <p:cBhvr>
                                        <p:cTn id="60" dur="1000"/>
                                        <p:tgtEl>
                                          <p:spTgt spid="169"/>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mph" presetSubtype="2" fill="hold" nodeType="clickEffect">
                                  <p:stCondLst>
                                    <p:cond delay="0"/>
                                  </p:stCondLst>
                                  <p:childTnLst>
                                    <p:animClr clrSpc="rgb" dir="cw">
                                      <p:cBhvr>
                                        <p:cTn id="64" dur="500" fill="hold"/>
                                        <p:tgtEl>
                                          <p:spTgt spid="167"/>
                                        </p:tgtEl>
                                        <p:attrNameLst>
                                          <p:attrName>fillcolor</p:attrName>
                                        </p:attrNameLst>
                                      </p:cBhvr>
                                      <p:to>
                                        <a:srgbClr val="CC0000"/>
                                      </p:to>
                                    </p:animClr>
                                    <p:set>
                                      <p:cBhvr>
                                        <p:cTn id="65" dur="500" fill="hold"/>
                                        <p:tgtEl>
                                          <p:spTgt spid="167"/>
                                        </p:tgtEl>
                                        <p:attrNameLst>
                                          <p:attrName>fill.type</p:attrName>
                                        </p:attrNameLst>
                                      </p:cBhvr>
                                      <p:to>
                                        <p:strVal val="solid"/>
                                      </p:to>
                                    </p:set>
                                    <p:set>
                                      <p:cBhvr>
                                        <p:cTn id="66" dur="500" fill="hold"/>
                                        <p:tgtEl>
                                          <p:spTgt spid="167"/>
                                        </p:tgtEl>
                                        <p:attrNameLst>
                                          <p:attrName>fill.on</p:attrName>
                                        </p:attrNameLst>
                                      </p:cBhvr>
                                      <p:to>
                                        <p:strVal val="true"/>
                                      </p:to>
                                    </p:set>
                                  </p:childTnLst>
                                </p:cTn>
                              </p:par>
                            </p:childTnLst>
                          </p:cTn>
                        </p:par>
                      </p:childTnLst>
                    </p:cTn>
                  </p:par>
                  <p:par>
                    <p:cTn id="67" fill="hold">
                      <p:stCondLst>
                        <p:cond delay="indefinite"/>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168"/>
                                        </p:tgtEl>
                                        <p:attrNameLst>
                                          <p:attrName>fillcolor</p:attrName>
                                        </p:attrNameLst>
                                      </p:cBhvr>
                                      <p:to>
                                        <a:srgbClr val="CC0000"/>
                                      </p:to>
                                    </p:animClr>
                                    <p:set>
                                      <p:cBhvr>
                                        <p:cTn id="71" dur="500" fill="hold"/>
                                        <p:tgtEl>
                                          <p:spTgt spid="168"/>
                                        </p:tgtEl>
                                        <p:attrNameLst>
                                          <p:attrName>fill.type</p:attrName>
                                        </p:attrNameLst>
                                      </p:cBhvr>
                                      <p:to>
                                        <p:strVal val="solid"/>
                                      </p:to>
                                    </p:set>
                                    <p:set>
                                      <p:cBhvr>
                                        <p:cTn id="72" dur="500" fill="hold"/>
                                        <p:tgtEl>
                                          <p:spTgt spid="168"/>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mph" presetSubtype="2" fill="hold" nodeType="clickEffect">
                                  <p:stCondLst>
                                    <p:cond delay="0"/>
                                  </p:stCondLst>
                                  <p:childTnLst>
                                    <p:animClr clrSpc="rgb" dir="cw">
                                      <p:cBhvr>
                                        <p:cTn id="76" dur="500" fill="hold"/>
                                        <p:tgtEl>
                                          <p:spTgt spid="169"/>
                                        </p:tgtEl>
                                        <p:attrNameLst>
                                          <p:attrName>fillcolor</p:attrName>
                                        </p:attrNameLst>
                                      </p:cBhvr>
                                      <p:to>
                                        <a:srgbClr val="CC0000"/>
                                      </p:to>
                                    </p:animClr>
                                    <p:set>
                                      <p:cBhvr>
                                        <p:cTn id="77" dur="500" fill="hold"/>
                                        <p:tgtEl>
                                          <p:spTgt spid="169"/>
                                        </p:tgtEl>
                                        <p:attrNameLst>
                                          <p:attrName>fill.type</p:attrName>
                                        </p:attrNameLst>
                                      </p:cBhvr>
                                      <p:to>
                                        <p:strVal val="solid"/>
                                      </p:to>
                                    </p:set>
                                    <p:set>
                                      <p:cBhvr>
                                        <p:cTn id="78" dur="500" fill="hold"/>
                                        <p:tgtEl>
                                          <p:spTgt spid="169"/>
                                        </p:tgtEl>
                                        <p:attrNameLst>
                                          <p:attrName>fill.on</p:attrName>
                                        </p:attrNameLst>
                                      </p:cBhvr>
                                      <p:to>
                                        <p:strVal val="tru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2" fill="hold" grpId="0" nodeType="clickEffect">
                                  <p:stCondLst>
                                    <p:cond delay="0"/>
                                  </p:stCondLst>
                                  <p:childTnLst>
                                    <p:set>
                                      <p:cBhvr>
                                        <p:cTn id="82" dur="1" fill="hold">
                                          <p:stCondLst>
                                            <p:cond delay="0"/>
                                          </p:stCondLst>
                                        </p:cTn>
                                        <p:tgtEl>
                                          <p:spTgt spid="170"/>
                                        </p:tgtEl>
                                        <p:attrNameLst>
                                          <p:attrName>style.visibility</p:attrName>
                                        </p:attrNameLst>
                                      </p:cBhvr>
                                      <p:to>
                                        <p:strVal val="visible"/>
                                      </p:to>
                                    </p:set>
                                    <p:animEffect transition="in" filter="wipe(right)">
                                      <p:cBhvr>
                                        <p:cTn id="83" dur="1000"/>
                                        <p:tgtEl>
                                          <p:spTgt spid="170"/>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2" fill="hold" grpId="0" nodeType="clickEffect">
                                  <p:stCondLst>
                                    <p:cond delay="0"/>
                                  </p:stCondLst>
                                  <p:childTnLst>
                                    <p:set>
                                      <p:cBhvr>
                                        <p:cTn id="87" dur="1" fill="hold">
                                          <p:stCondLst>
                                            <p:cond delay="0"/>
                                          </p:stCondLst>
                                        </p:cTn>
                                        <p:tgtEl>
                                          <p:spTgt spid="171"/>
                                        </p:tgtEl>
                                        <p:attrNameLst>
                                          <p:attrName>style.visibility</p:attrName>
                                        </p:attrNameLst>
                                      </p:cBhvr>
                                      <p:to>
                                        <p:strVal val="visible"/>
                                      </p:to>
                                    </p:set>
                                    <p:animEffect transition="in" filter="wipe(right)">
                                      <p:cBhvr>
                                        <p:cTn id="88" dur="1000"/>
                                        <p:tgtEl>
                                          <p:spTgt spid="171"/>
                                        </p:tgtEl>
                                      </p:cBhvr>
                                    </p:animEffect>
                                  </p:childTnLst>
                                </p:cTn>
                              </p:par>
                            </p:childTnLst>
                          </p:cTn>
                        </p:par>
                        <p:par>
                          <p:cTn id="89" fill="hold">
                            <p:stCondLst>
                              <p:cond delay="1000"/>
                            </p:stCondLst>
                            <p:childTnLst>
                              <p:par>
                                <p:cTn id="90" presetID="22" presetClass="entr" presetSubtype="2" fill="hold" grpId="0" nodeType="afterEffect">
                                  <p:stCondLst>
                                    <p:cond delay="0"/>
                                  </p:stCondLst>
                                  <p:childTnLst>
                                    <p:set>
                                      <p:cBhvr>
                                        <p:cTn id="91" dur="1" fill="hold">
                                          <p:stCondLst>
                                            <p:cond delay="0"/>
                                          </p:stCondLst>
                                        </p:cTn>
                                        <p:tgtEl>
                                          <p:spTgt spid="172"/>
                                        </p:tgtEl>
                                        <p:attrNameLst>
                                          <p:attrName>style.visibility</p:attrName>
                                        </p:attrNameLst>
                                      </p:cBhvr>
                                      <p:to>
                                        <p:strVal val="visible"/>
                                      </p:to>
                                    </p:set>
                                    <p:animEffect transition="in" filter="wipe(right)">
                                      <p:cBhvr>
                                        <p:cTn id="92" dur="1000"/>
                                        <p:tgtEl>
                                          <p:spTgt spid="172"/>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mph" presetSubtype="2" fill="hold" nodeType="clickEffect">
                                  <p:stCondLst>
                                    <p:cond delay="0"/>
                                  </p:stCondLst>
                                  <p:childTnLst>
                                    <p:animClr clrSpc="rgb" dir="cw">
                                      <p:cBhvr>
                                        <p:cTn id="96" dur="500" fill="hold"/>
                                        <p:tgtEl>
                                          <p:spTgt spid="170"/>
                                        </p:tgtEl>
                                        <p:attrNameLst>
                                          <p:attrName>fillcolor</p:attrName>
                                        </p:attrNameLst>
                                      </p:cBhvr>
                                      <p:to>
                                        <a:srgbClr val="CC0000"/>
                                      </p:to>
                                    </p:animClr>
                                    <p:set>
                                      <p:cBhvr>
                                        <p:cTn id="97" dur="500" fill="hold"/>
                                        <p:tgtEl>
                                          <p:spTgt spid="170"/>
                                        </p:tgtEl>
                                        <p:attrNameLst>
                                          <p:attrName>fill.type</p:attrName>
                                        </p:attrNameLst>
                                      </p:cBhvr>
                                      <p:to>
                                        <p:strVal val="solid"/>
                                      </p:to>
                                    </p:set>
                                    <p:set>
                                      <p:cBhvr>
                                        <p:cTn id="98" dur="500" fill="hold"/>
                                        <p:tgtEl>
                                          <p:spTgt spid="170"/>
                                        </p:tgtEl>
                                        <p:attrNameLst>
                                          <p:attrName>fill.on</p:attrName>
                                        </p:attrNameLst>
                                      </p:cBhvr>
                                      <p:to>
                                        <p:strVal val="tru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2" fill="hold" grpId="0" nodeType="clickEffect">
                                  <p:stCondLst>
                                    <p:cond delay="0"/>
                                  </p:stCondLst>
                                  <p:childTnLst>
                                    <p:set>
                                      <p:cBhvr>
                                        <p:cTn id="102" dur="1" fill="hold">
                                          <p:stCondLst>
                                            <p:cond delay="0"/>
                                          </p:stCondLst>
                                        </p:cTn>
                                        <p:tgtEl>
                                          <p:spTgt spid="173"/>
                                        </p:tgtEl>
                                        <p:attrNameLst>
                                          <p:attrName>style.visibility</p:attrName>
                                        </p:attrNameLst>
                                      </p:cBhvr>
                                      <p:to>
                                        <p:strVal val="visible"/>
                                      </p:to>
                                    </p:set>
                                    <p:animEffect transition="in" filter="wipe(right)">
                                      <p:cBhvr>
                                        <p:cTn id="103" dur="1000"/>
                                        <p:tgtEl>
                                          <p:spTgt spid="173"/>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mph" presetSubtype="2" fill="hold" nodeType="clickEffect">
                                  <p:stCondLst>
                                    <p:cond delay="0"/>
                                  </p:stCondLst>
                                  <p:childTnLst>
                                    <p:animClr clrSpc="rgb" dir="cw">
                                      <p:cBhvr>
                                        <p:cTn id="107" dur="500" fill="hold"/>
                                        <p:tgtEl>
                                          <p:spTgt spid="171"/>
                                        </p:tgtEl>
                                        <p:attrNameLst>
                                          <p:attrName>fillcolor</p:attrName>
                                        </p:attrNameLst>
                                      </p:cBhvr>
                                      <p:to>
                                        <a:srgbClr val="CC0000"/>
                                      </p:to>
                                    </p:animClr>
                                    <p:set>
                                      <p:cBhvr>
                                        <p:cTn id="108" dur="500" fill="hold"/>
                                        <p:tgtEl>
                                          <p:spTgt spid="171"/>
                                        </p:tgtEl>
                                        <p:attrNameLst>
                                          <p:attrName>fill.type</p:attrName>
                                        </p:attrNameLst>
                                      </p:cBhvr>
                                      <p:to>
                                        <p:strVal val="solid"/>
                                      </p:to>
                                    </p:set>
                                    <p:set>
                                      <p:cBhvr>
                                        <p:cTn id="109" dur="500" fill="hold"/>
                                        <p:tgtEl>
                                          <p:spTgt spid="171"/>
                                        </p:tgtEl>
                                        <p:attrNameLst>
                                          <p:attrName>fill.on</p:attrName>
                                        </p:attrNameLst>
                                      </p:cBhvr>
                                      <p:to>
                                        <p:strVal val="true"/>
                                      </p:to>
                                    </p:set>
                                  </p:childTnLst>
                                </p:cTn>
                              </p:par>
                            </p:childTnLst>
                          </p:cTn>
                        </p:par>
                      </p:childTnLst>
                    </p:cTn>
                  </p:par>
                  <p:par>
                    <p:cTn id="110" fill="hold">
                      <p:stCondLst>
                        <p:cond delay="indefinite"/>
                      </p:stCondLst>
                      <p:childTnLst>
                        <p:par>
                          <p:cTn id="111" fill="hold">
                            <p:stCondLst>
                              <p:cond delay="0"/>
                            </p:stCondLst>
                            <p:childTnLst>
                              <p:par>
                                <p:cTn id="112" presetID="22" presetClass="entr" presetSubtype="2" fill="hold" grpId="0" nodeType="clickEffect">
                                  <p:stCondLst>
                                    <p:cond delay="0"/>
                                  </p:stCondLst>
                                  <p:childTnLst>
                                    <p:set>
                                      <p:cBhvr>
                                        <p:cTn id="113" dur="1" fill="hold">
                                          <p:stCondLst>
                                            <p:cond delay="0"/>
                                          </p:stCondLst>
                                        </p:cTn>
                                        <p:tgtEl>
                                          <p:spTgt spid="174"/>
                                        </p:tgtEl>
                                        <p:attrNameLst>
                                          <p:attrName>style.visibility</p:attrName>
                                        </p:attrNameLst>
                                      </p:cBhvr>
                                      <p:to>
                                        <p:strVal val="visible"/>
                                      </p:to>
                                    </p:set>
                                    <p:animEffect transition="in" filter="wipe(right)">
                                      <p:cBhvr>
                                        <p:cTn id="114" dur="1000"/>
                                        <p:tgtEl>
                                          <p:spTgt spid="174"/>
                                        </p:tgtEl>
                                      </p:cBhvr>
                                    </p:animEffect>
                                  </p:childTnLst>
                                </p:cTn>
                              </p:par>
                            </p:childTnLst>
                          </p:cTn>
                        </p:par>
                      </p:childTnLst>
                    </p:cTn>
                  </p:par>
                  <p:par>
                    <p:cTn id="115" fill="hold">
                      <p:stCondLst>
                        <p:cond delay="indefinite"/>
                      </p:stCondLst>
                      <p:childTnLst>
                        <p:par>
                          <p:cTn id="116" fill="hold">
                            <p:stCondLst>
                              <p:cond delay="0"/>
                            </p:stCondLst>
                            <p:childTnLst>
                              <p:par>
                                <p:cTn id="117" presetID="1" presetClass="emph" presetSubtype="2" fill="hold" nodeType="clickEffect">
                                  <p:stCondLst>
                                    <p:cond delay="0"/>
                                  </p:stCondLst>
                                  <p:childTnLst>
                                    <p:animClr clrSpc="rgb" dir="cw">
                                      <p:cBhvr>
                                        <p:cTn id="118" dur="500" fill="hold"/>
                                        <p:tgtEl>
                                          <p:spTgt spid="173"/>
                                        </p:tgtEl>
                                        <p:attrNameLst>
                                          <p:attrName>fillcolor</p:attrName>
                                        </p:attrNameLst>
                                      </p:cBhvr>
                                      <p:to>
                                        <a:srgbClr val="CC0000"/>
                                      </p:to>
                                    </p:animClr>
                                    <p:set>
                                      <p:cBhvr>
                                        <p:cTn id="119" dur="500" fill="hold"/>
                                        <p:tgtEl>
                                          <p:spTgt spid="173"/>
                                        </p:tgtEl>
                                        <p:attrNameLst>
                                          <p:attrName>fill.type</p:attrName>
                                        </p:attrNameLst>
                                      </p:cBhvr>
                                      <p:to>
                                        <p:strVal val="solid"/>
                                      </p:to>
                                    </p:set>
                                    <p:set>
                                      <p:cBhvr>
                                        <p:cTn id="120" dur="500" fill="hold"/>
                                        <p:tgtEl>
                                          <p:spTgt spid="173"/>
                                        </p:tgtEl>
                                        <p:attrNameLst>
                                          <p:attrName>fill.on</p:attrName>
                                        </p:attrNameLst>
                                      </p:cBhvr>
                                      <p:to>
                                        <p:strVal val="true"/>
                                      </p:to>
                                    </p:set>
                                  </p:childTnLst>
                                </p:cTn>
                              </p:par>
                            </p:childTnLst>
                          </p:cTn>
                        </p:par>
                      </p:childTnLst>
                    </p:cTn>
                  </p:par>
                  <p:par>
                    <p:cTn id="121" fill="hold">
                      <p:stCondLst>
                        <p:cond delay="indefinite"/>
                      </p:stCondLst>
                      <p:childTnLst>
                        <p:par>
                          <p:cTn id="122" fill="hold">
                            <p:stCondLst>
                              <p:cond delay="0"/>
                            </p:stCondLst>
                            <p:childTnLst>
                              <p:par>
                                <p:cTn id="123" presetID="1" presetClass="emph" presetSubtype="2" fill="hold" nodeType="clickEffect">
                                  <p:stCondLst>
                                    <p:cond delay="0"/>
                                  </p:stCondLst>
                                  <p:childTnLst>
                                    <p:animClr clrSpc="rgb" dir="cw">
                                      <p:cBhvr>
                                        <p:cTn id="124" dur="500" fill="hold"/>
                                        <p:tgtEl>
                                          <p:spTgt spid="174"/>
                                        </p:tgtEl>
                                        <p:attrNameLst>
                                          <p:attrName>fillcolor</p:attrName>
                                        </p:attrNameLst>
                                      </p:cBhvr>
                                      <p:to>
                                        <a:srgbClr val="CC0000"/>
                                      </p:to>
                                    </p:animClr>
                                    <p:set>
                                      <p:cBhvr>
                                        <p:cTn id="125" dur="500" fill="hold"/>
                                        <p:tgtEl>
                                          <p:spTgt spid="174"/>
                                        </p:tgtEl>
                                        <p:attrNameLst>
                                          <p:attrName>fill.type</p:attrName>
                                        </p:attrNameLst>
                                      </p:cBhvr>
                                      <p:to>
                                        <p:strVal val="solid"/>
                                      </p:to>
                                    </p:set>
                                    <p:set>
                                      <p:cBhvr>
                                        <p:cTn id="126" dur="500" fill="hold"/>
                                        <p:tgtEl>
                                          <p:spTgt spid="174"/>
                                        </p:tgtEl>
                                        <p:attrNameLst>
                                          <p:attrName>fill.on</p:attrName>
                                        </p:attrNameLst>
                                      </p:cBhvr>
                                      <p:to>
                                        <p:strVal val="true"/>
                                      </p:to>
                                    </p:set>
                                  </p:childTnLst>
                                </p:cTn>
                              </p:par>
                            </p:childTnLst>
                          </p:cTn>
                        </p:par>
                      </p:childTnLst>
                    </p:cTn>
                  </p:par>
                  <p:par>
                    <p:cTn id="127" fill="hold">
                      <p:stCondLst>
                        <p:cond delay="indefinite"/>
                      </p:stCondLst>
                      <p:childTnLst>
                        <p:par>
                          <p:cTn id="128" fill="hold">
                            <p:stCondLst>
                              <p:cond delay="0"/>
                            </p:stCondLst>
                            <p:childTnLst>
                              <p:par>
                                <p:cTn id="129" presetID="22" presetClass="entr" presetSubtype="2" fill="hold" grpId="0" nodeType="clickEffect">
                                  <p:stCondLst>
                                    <p:cond delay="0"/>
                                  </p:stCondLst>
                                  <p:childTnLst>
                                    <p:set>
                                      <p:cBhvr>
                                        <p:cTn id="130" dur="1" fill="hold">
                                          <p:stCondLst>
                                            <p:cond delay="0"/>
                                          </p:stCondLst>
                                        </p:cTn>
                                        <p:tgtEl>
                                          <p:spTgt spid="175"/>
                                        </p:tgtEl>
                                        <p:attrNameLst>
                                          <p:attrName>style.visibility</p:attrName>
                                        </p:attrNameLst>
                                      </p:cBhvr>
                                      <p:to>
                                        <p:strVal val="visible"/>
                                      </p:to>
                                    </p:set>
                                    <p:animEffect transition="in" filter="wipe(right)">
                                      <p:cBhvr>
                                        <p:cTn id="131" dur="1000"/>
                                        <p:tgtEl>
                                          <p:spTgt spid="175"/>
                                        </p:tgtEl>
                                      </p:cBhvr>
                                    </p:animEffect>
                                  </p:childTnLst>
                                </p:cTn>
                              </p:par>
                            </p:childTnLst>
                          </p:cTn>
                        </p:par>
                      </p:childTnLst>
                    </p:cTn>
                  </p:par>
                  <p:par>
                    <p:cTn id="132" fill="hold">
                      <p:stCondLst>
                        <p:cond delay="indefinite"/>
                      </p:stCondLst>
                      <p:childTnLst>
                        <p:par>
                          <p:cTn id="133" fill="hold">
                            <p:stCondLst>
                              <p:cond delay="0"/>
                            </p:stCondLst>
                            <p:childTnLst>
                              <p:par>
                                <p:cTn id="134" presetID="1" presetClass="emph" presetSubtype="2" fill="hold" nodeType="clickEffect">
                                  <p:stCondLst>
                                    <p:cond delay="0"/>
                                  </p:stCondLst>
                                  <p:childTnLst>
                                    <p:animClr clrSpc="rgb" dir="cw">
                                      <p:cBhvr>
                                        <p:cTn id="135" dur="500" fill="hold"/>
                                        <p:tgtEl>
                                          <p:spTgt spid="172"/>
                                        </p:tgtEl>
                                        <p:attrNameLst>
                                          <p:attrName>fillcolor</p:attrName>
                                        </p:attrNameLst>
                                      </p:cBhvr>
                                      <p:to>
                                        <a:srgbClr val="CC0000"/>
                                      </p:to>
                                    </p:animClr>
                                    <p:set>
                                      <p:cBhvr>
                                        <p:cTn id="136" dur="500" fill="hold"/>
                                        <p:tgtEl>
                                          <p:spTgt spid="172"/>
                                        </p:tgtEl>
                                        <p:attrNameLst>
                                          <p:attrName>fill.type</p:attrName>
                                        </p:attrNameLst>
                                      </p:cBhvr>
                                      <p:to>
                                        <p:strVal val="solid"/>
                                      </p:to>
                                    </p:set>
                                    <p:set>
                                      <p:cBhvr>
                                        <p:cTn id="137" dur="500" fill="hold"/>
                                        <p:tgtEl>
                                          <p:spTgt spid="172"/>
                                        </p:tgtEl>
                                        <p:attrNameLst>
                                          <p:attrName>fill.on</p:attrName>
                                        </p:attrNameLst>
                                      </p:cBhvr>
                                      <p:to>
                                        <p:strVal val="true"/>
                                      </p:to>
                                    </p:set>
                                  </p:childTnLst>
                                </p:cTn>
                              </p:par>
                            </p:childTnLst>
                          </p:cTn>
                        </p:par>
                      </p:childTnLst>
                    </p:cTn>
                  </p:par>
                  <p:par>
                    <p:cTn id="138" fill="hold">
                      <p:stCondLst>
                        <p:cond delay="indefinite"/>
                      </p:stCondLst>
                      <p:childTnLst>
                        <p:par>
                          <p:cTn id="139" fill="hold">
                            <p:stCondLst>
                              <p:cond delay="0"/>
                            </p:stCondLst>
                            <p:childTnLst>
                              <p:par>
                                <p:cTn id="140" presetID="22" presetClass="entr" presetSubtype="2" fill="hold" grpId="0" nodeType="clickEffect">
                                  <p:stCondLst>
                                    <p:cond delay="0"/>
                                  </p:stCondLst>
                                  <p:childTnLst>
                                    <p:set>
                                      <p:cBhvr>
                                        <p:cTn id="141" dur="1" fill="hold">
                                          <p:stCondLst>
                                            <p:cond delay="0"/>
                                          </p:stCondLst>
                                        </p:cTn>
                                        <p:tgtEl>
                                          <p:spTgt spid="176"/>
                                        </p:tgtEl>
                                        <p:attrNameLst>
                                          <p:attrName>style.visibility</p:attrName>
                                        </p:attrNameLst>
                                      </p:cBhvr>
                                      <p:to>
                                        <p:strVal val="visible"/>
                                      </p:to>
                                    </p:set>
                                    <p:animEffect transition="in" filter="wipe(right)">
                                      <p:cBhvr>
                                        <p:cTn id="142" dur="1000"/>
                                        <p:tgtEl>
                                          <p:spTgt spid="176"/>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mph" presetSubtype="2" fill="hold" nodeType="clickEffect">
                                  <p:stCondLst>
                                    <p:cond delay="0"/>
                                  </p:stCondLst>
                                  <p:childTnLst>
                                    <p:animClr clrSpc="rgb" dir="cw">
                                      <p:cBhvr>
                                        <p:cTn id="146" dur="500" fill="hold"/>
                                        <p:tgtEl>
                                          <p:spTgt spid="175"/>
                                        </p:tgtEl>
                                        <p:attrNameLst>
                                          <p:attrName>fillcolor</p:attrName>
                                        </p:attrNameLst>
                                      </p:cBhvr>
                                      <p:to>
                                        <a:srgbClr val="CC0000"/>
                                      </p:to>
                                    </p:animClr>
                                    <p:set>
                                      <p:cBhvr>
                                        <p:cTn id="147" dur="500" fill="hold"/>
                                        <p:tgtEl>
                                          <p:spTgt spid="175"/>
                                        </p:tgtEl>
                                        <p:attrNameLst>
                                          <p:attrName>fill.type</p:attrName>
                                        </p:attrNameLst>
                                      </p:cBhvr>
                                      <p:to>
                                        <p:strVal val="solid"/>
                                      </p:to>
                                    </p:set>
                                    <p:set>
                                      <p:cBhvr>
                                        <p:cTn id="148" dur="500" fill="hold"/>
                                        <p:tgtEl>
                                          <p:spTgt spid="175"/>
                                        </p:tgtEl>
                                        <p:attrNameLst>
                                          <p:attrName>fill.on</p:attrName>
                                        </p:attrNameLst>
                                      </p:cBhvr>
                                      <p:to>
                                        <p:strVal val="true"/>
                                      </p:to>
                                    </p:set>
                                  </p:childTnLst>
                                </p:cTn>
                              </p:par>
                            </p:childTnLst>
                          </p:cTn>
                        </p:par>
                      </p:childTnLst>
                    </p:cTn>
                  </p:par>
                  <p:par>
                    <p:cTn id="149" fill="hold">
                      <p:stCondLst>
                        <p:cond delay="indefinite"/>
                      </p:stCondLst>
                      <p:childTnLst>
                        <p:par>
                          <p:cTn id="150" fill="hold">
                            <p:stCondLst>
                              <p:cond delay="0"/>
                            </p:stCondLst>
                            <p:childTnLst>
                              <p:par>
                                <p:cTn id="151" presetID="1" presetClass="emph" presetSubtype="2" fill="hold" nodeType="clickEffect">
                                  <p:stCondLst>
                                    <p:cond delay="0"/>
                                  </p:stCondLst>
                                  <p:childTnLst>
                                    <p:animClr clrSpc="rgb" dir="cw">
                                      <p:cBhvr>
                                        <p:cTn id="152" dur="500" fill="hold"/>
                                        <p:tgtEl>
                                          <p:spTgt spid="176"/>
                                        </p:tgtEl>
                                        <p:attrNameLst>
                                          <p:attrName>fillcolor</p:attrName>
                                        </p:attrNameLst>
                                      </p:cBhvr>
                                      <p:to>
                                        <a:srgbClr val="CC0000"/>
                                      </p:to>
                                    </p:animClr>
                                    <p:set>
                                      <p:cBhvr>
                                        <p:cTn id="153" dur="500" fill="hold"/>
                                        <p:tgtEl>
                                          <p:spTgt spid="176"/>
                                        </p:tgtEl>
                                        <p:attrNameLst>
                                          <p:attrName>fill.type</p:attrName>
                                        </p:attrNameLst>
                                      </p:cBhvr>
                                      <p:to>
                                        <p:strVal val="solid"/>
                                      </p:to>
                                    </p:set>
                                    <p:set>
                                      <p:cBhvr>
                                        <p:cTn id="154" dur="500" fill="hold"/>
                                        <p:tgtEl>
                                          <p:spTgt spid="17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矩形 2"/>
          <p:cNvSpPr>
            <a:spLocks noChangeArrowheads="1"/>
          </p:cNvSpPr>
          <p:nvPr/>
        </p:nvSpPr>
        <p:spPr bwMode="auto">
          <a:xfrm>
            <a:off x="292100" y="376238"/>
            <a:ext cx="4167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chemeClr val="bg1"/>
                </a:solidFill>
                <a:latin typeface="楷体" panose="02010609060101010101" pitchFamily="49" charset="-122"/>
                <a:ea typeface="楷体" panose="02010609060101010101" pitchFamily="49" charset="-122"/>
              </a:rPr>
              <a:t>分支限界法基本思想</a:t>
            </a:r>
            <a:endParaRPr lang="zh-CN" altLang="en-US" sz="3200">
              <a:solidFill>
                <a:schemeClr val="bg1"/>
              </a:solidFill>
              <a:latin typeface="楷体" panose="02010609060101010101" pitchFamily="49" charset="-122"/>
              <a:ea typeface="楷体" panose="02010609060101010101" pitchFamily="49" charset="-122"/>
            </a:endParaRPr>
          </a:p>
        </p:txBody>
      </p:sp>
      <p:sp>
        <p:nvSpPr>
          <p:cNvPr id="94211" name="Text Box 4"/>
          <p:cNvSpPr txBox="1">
            <a:spLocks noChangeArrowheads="1"/>
          </p:cNvSpPr>
          <p:nvPr/>
        </p:nvSpPr>
        <p:spPr bwMode="auto">
          <a:xfrm>
            <a:off x="631825" y="1300163"/>
            <a:ext cx="8099425" cy="898525"/>
          </a:xfrm>
          <a:prstGeom prst="rect">
            <a:avLst/>
          </a:prstGeom>
        </p:spPr>
        <p:style>
          <a:lnRef idx="2">
            <a:schemeClr val="accent1"/>
          </a:lnRef>
          <a:fillRef idx="1">
            <a:schemeClr val="lt1"/>
          </a:fillRef>
          <a:effectRef idx="0">
            <a:schemeClr val="accent1"/>
          </a:effectRef>
          <a:fontRef idx="minor">
            <a:schemeClr val="dk1"/>
          </a:fontRef>
        </p:style>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0-1</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背包问题</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 （</a:t>
            </a:r>
            <a:r>
              <a:rPr lang="zh-CN" altLang="en-US" sz="24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分析队列式与价值优先队列式过程</a:t>
            </a:r>
            <a:r>
              <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a:t>
            </a:r>
            <a:endPar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a:p>
            <a:pPr eaLnBrk="1" hangingPunct="1"/>
            <a:r>
              <a:rPr lang="en-US" altLang="zh-CN"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n=3, C=30, w={16, 15, 15}, v={45, 25, 25}</a:t>
            </a:r>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12" name="Oval 58"/>
          <p:cNvSpPr>
            <a:spLocks noChangeArrowheads="1"/>
          </p:cNvSpPr>
          <p:nvPr/>
        </p:nvSpPr>
        <p:spPr bwMode="auto">
          <a:xfrm>
            <a:off x="3948113" y="2581275"/>
            <a:ext cx="395287" cy="395288"/>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13" name="Text Box 59"/>
          <p:cNvSpPr txBox="1">
            <a:spLocks noChangeArrowheads="1"/>
          </p:cNvSpPr>
          <p:nvPr/>
        </p:nvSpPr>
        <p:spPr bwMode="auto">
          <a:xfrm>
            <a:off x="4029075" y="2649538"/>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A</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14" name="Oval 61"/>
          <p:cNvSpPr>
            <a:spLocks noChangeArrowheads="1"/>
          </p:cNvSpPr>
          <p:nvPr/>
        </p:nvSpPr>
        <p:spPr bwMode="auto">
          <a:xfrm>
            <a:off x="2403475" y="3141663"/>
            <a:ext cx="395288" cy="395287"/>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15" name="Text Box 62"/>
          <p:cNvSpPr txBox="1">
            <a:spLocks noChangeArrowheads="1"/>
          </p:cNvSpPr>
          <p:nvPr/>
        </p:nvSpPr>
        <p:spPr bwMode="auto">
          <a:xfrm>
            <a:off x="2484438" y="3209925"/>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B</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16" name="Oval 64"/>
          <p:cNvSpPr>
            <a:spLocks noChangeArrowheads="1"/>
          </p:cNvSpPr>
          <p:nvPr/>
        </p:nvSpPr>
        <p:spPr bwMode="auto">
          <a:xfrm>
            <a:off x="5583238" y="3136900"/>
            <a:ext cx="395287" cy="395288"/>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17" name="Text Box 65"/>
          <p:cNvSpPr txBox="1">
            <a:spLocks noChangeArrowheads="1"/>
          </p:cNvSpPr>
          <p:nvPr/>
        </p:nvSpPr>
        <p:spPr bwMode="auto">
          <a:xfrm>
            <a:off x="5664200" y="3205163"/>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C</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18" name="Oval 67"/>
          <p:cNvSpPr>
            <a:spLocks noChangeArrowheads="1"/>
          </p:cNvSpPr>
          <p:nvPr/>
        </p:nvSpPr>
        <p:spPr bwMode="auto">
          <a:xfrm>
            <a:off x="1652588" y="3884613"/>
            <a:ext cx="395287" cy="395287"/>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19" name="Text Box 68"/>
          <p:cNvSpPr txBox="1">
            <a:spLocks noChangeArrowheads="1"/>
          </p:cNvSpPr>
          <p:nvPr/>
        </p:nvSpPr>
        <p:spPr bwMode="auto">
          <a:xfrm>
            <a:off x="1733550" y="3952875"/>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D</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20" name="Oval 70"/>
          <p:cNvSpPr>
            <a:spLocks noChangeArrowheads="1"/>
          </p:cNvSpPr>
          <p:nvPr/>
        </p:nvSpPr>
        <p:spPr bwMode="auto">
          <a:xfrm>
            <a:off x="3109913" y="3884613"/>
            <a:ext cx="395287" cy="395287"/>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21" name="Text Box 71"/>
          <p:cNvSpPr txBox="1">
            <a:spLocks noChangeArrowheads="1"/>
          </p:cNvSpPr>
          <p:nvPr/>
        </p:nvSpPr>
        <p:spPr bwMode="auto">
          <a:xfrm>
            <a:off x="3190875" y="3952875"/>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E</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22" name="Oval 79"/>
          <p:cNvSpPr>
            <a:spLocks noChangeArrowheads="1"/>
          </p:cNvSpPr>
          <p:nvPr/>
        </p:nvSpPr>
        <p:spPr bwMode="auto">
          <a:xfrm>
            <a:off x="1217613" y="4768850"/>
            <a:ext cx="395287" cy="395288"/>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23" name="Text Box 80"/>
          <p:cNvSpPr txBox="1">
            <a:spLocks noChangeArrowheads="1"/>
          </p:cNvSpPr>
          <p:nvPr/>
        </p:nvSpPr>
        <p:spPr bwMode="auto">
          <a:xfrm>
            <a:off x="1298575" y="4837113"/>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H</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24" name="Oval 82"/>
          <p:cNvSpPr>
            <a:spLocks noChangeArrowheads="1"/>
          </p:cNvSpPr>
          <p:nvPr/>
        </p:nvSpPr>
        <p:spPr bwMode="auto">
          <a:xfrm>
            <a:off x="2019300" y="4764088"/>
            <a:ext cx="395288" cy="395287"/>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25" name="Text Box 83"/>
          <p:cNvSpPr txBox="1">
            <a:spLocks noChangeArrowheads="1"/>
          </p:cNvSpPr>
          <p:nvPr/>
        </p:nvSpPr>
        <p:spPr bwMode="auto">
          <a:xfrm>
            <a:off x="2100263" y="4832350"/>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I</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26" name="Line 110"/>
          <p:cNvSpPr>
            <a:spLocks noChangeShapeType="1"/>
          </p:cNvSpPr>
          <p:nvPr/>
        </p:nvSpPr>
        <p:spPr bwMode="auto">
          <a:xfrm flipH="1">
            <a:off x="2776538" y="2867025"/>
            <a:ext cx="1189037" cy="38100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7" name="Line 111"/>
          <p:cNvSpPr>
            <a:spLocks noChangeShapeType="1"/>
          </p:cNvSpPr>
          <p:nvPr/>
        </p:nvSpPr>
        <p:spPr bwMode="auto">
          <a:xfrm>
            <a:off x="4346575" y="2851150"/>
            <a:ext cx="1250950" cy="42545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8" name="Line 112"/>
          <p:cNvSpPr>
            <a:spLocks noChangeShapeType="1"/>
          </p:cNvSpPr>
          <p:nvPr/>
        </p:nvSpPr>
        <p:spPr bwMode="auto">
          <a:xfrm flipH="1">
            <a:off x="1968500" y="3462338"/>
            <a:ext cx="474663" cy="455612"/>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4229" name="Line 113"/>
          <p:cNvSpPr>
            <a:spLocks noChangeShapeType="1"/>
          </p:cNvSpPr>
          <p:nvPr/>
        </p:nvSpPr>
        <p:spPr bwMode="auto">
          <a:xfrm>
            <a:off x="2744788" y="3492500"/>
            <a:ext cx="425450" cy="423863"/>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30" name="Line 120"/>
          <p:cNvSpPr>
            <a:spLocks noChangeShapeType="1"/>
          </p:cNvSpPr>
          <p:nvPr/>
        </p:nvSpPr>
        <p:spPr bwMode="auto">
          <a:xfrm flipH="1">
            <a:off x="5241925" y="3487738"/>
            <a:ext cx="411163" cy="427037"/>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31" name="Line 121"/>
          <p:cNvSpPr>
            <a:spLocks noChangeShapeType="1"/>
          </p:cNvSpPr>
          <p:nvPr/>
        </p:nvSpPr>
        <p:spPr bwMode="auto">
          <a:xfrm>
            <a:off x="5895975" y="3487738"/>
            <a:ext cx="515938" cy="457200"/>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4232" name="Oval 142"/>
          <p:cNvSpPr>
            <a:spLocks noChangeArrowheads="1"/>
          </p:cNvSpPr>
          <p:nvPr/>
        </p:nvSpPr>
        <p:spPr bwMode="auto">
          <a:xfrm>
            <a:off x="4903788" y="3881438"/>
            <a:ext cx="395287" cy="395287"/>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33" name="Text Box 143"/>
          <p:cNvSpPr txBox="1">
            <a:spLocks noChangeArrowheads="1"/>
          </p:cNvSpPr>
          <p:nvPr/>
        </p:nvSpPr>
        <p:spPr bwMode="auto">
          <a:xfrm>
            <a:off x="4984750" y="3949700"/>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F</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34" name="Oval 145"/>
          <p:cNvSpPr>
            <a:spLocks noChangeArrowheads="1"/>
          </p:cNvSpPr>
          <p:nvPr/>
        </p:nvSpPr>
        <p:spPr bwMode="auto">
          <a:xfrm>
            <a:off x="6329363" y="3881438"/>
            <a:ext cx="395287" cy="395287"/>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35" name="Text Box 146"/>
          <p:cNvSpPr txBox="1">
            <a:spLocks noChangeArrowheads="1"/>
          </p:cNvSpPr>
          <p:nvPr/>
        </p:nvSpPr>
        <p:spPr bwMode="auto">
          <a:xfrm>
            <a:off x="6410325" y="3949700"/>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G</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36" name="Oval 148"/>
          <p:cNvSpPr>
            <a:spLocks noChangeArrowheads="1"/>
          </p:cNvSpPr>
          <p:nvPr/>
        </p:nvSpPr>
        <p:spPr bwMode="auto">
          <a:xfrm>
            <a:off x="2786063" y="4751388"/>
            <a:ext cx="395287" cy="395287"/>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37" name="Text Box 149"/>
          <p:cNvSpPr txBox="1">
            <a:spLocks noChangeArrowheads="1"/>
          </p:cNvSpPr>
          <p:nvPr/>
        </p:nvSpPr>
        <p:spPr bwMode="auto">
          <a:xfrm>
            <a:off x="2867025" y="4819650"/>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J</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38" name="Oval 151"/>
          <p:cNvSpPr>
            <a:spLocks noChangeArrowheads="1"/>
          </p:cNvSpPr>
          <p:nvPr/>
        </p:nvSpPr>
        <p:spPr bwMode="auto">
          <a:xfrm>
            <a:off x="3587750" y="4746625"/>
            <a:ext cx="395288" cy="395288"/>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39" name="Text Box 152"/>
          <p:cNvSpPr txBox="1">
            <a:spLocks noChangeArrowheads="1"/>
          </p:cNvSpPr>
          <p:nvPr/>
        </p:nvSpPr>
        <p:spPr bwMode="auto">
          <a:xfrm>
            <a:off x="3668713" y="4814888"/>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K</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40" name="Oval 154"/>
          <p:cNvSpPr>
            <a:spLocks noChangeArrowheads="1"/>
          </p:cNvSpPr>
          <p:nvPr/>
        </p:nvSpPr>
        <p:spPr bwMode="auto">
          <a:xfrm>
            <a:off x="4491038" y="4765675"/>
            <a:ext cx="395287" cy="395288"/>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41" name="Text Box 155"/>
          <p:cNvSpPr txBox="1">
            <a:spLocks noChangeArrowheads="1"/>
          </p:cNvSpPr>
          <p:nvPr/>
        </p:nvSpPr>
        <p:spPr bwMode="auto">
          <a:xfrm>
            <a:off x="4572000" y="4833938"/>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L</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42" name="Oval 157"/>
          <p:cNvSpPr>
            <a:spLocks noChangeArrowheads="1"/>
          </p:cNvSpPr>
          <p:nvPr/>
        </p:nvSpPr>
        <p:spPr bwMode="auto">
          <a:xfrm>
            <a:off x="5292725" y="4760913"/>
            <a:ext cx="395288" cy="395287"/>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43" name="Text Box 158"/>
          <p:cNvSpPr txBox="1">
            <a:spLocks noChangeArrowheads="1"/>
          </p:cNvSpPr>
          <p:nvPr/>
        </p:nvSpPr>
        <p:spPr bwMode="auto">
          <a:xfrm>
            <a:off x="5373688" y="4829175"/>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M</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44" name="Oval 160"/>
          <p:cNvSpPr>
            <a:spLocks noChangeArrowheads="1"/>
          </p:cNvSpPr>
          <p:nvPr/>
        </p:nvSpPr>
        <p:spPr bwMode="auto">
          <a:xfrm>
            <a:off x="6059488" y="4748213"/>
            <a:ext cx="395287" cy="395287"/>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45" name="Text Box 161"/>
          <p:cNvSpPr txBox="1">
            <a:spLocks noChangeArrowheads="1"/>
          </p:cNvSpPr>
          <p:nvPr/>
        </p:nvSpPr>
        <p:spPr bwMode="auto">
          <a:xfrm>
            <a:off x="6140450" y="4816475"/>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N</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46" name="Oval 163"/>
          <p:cNvSpPr>
            <a:spLocks noChangeArrowheads="1"/>
          </p:cNvSpPr>
          <p:nvPr/>
        </p:nvSpPr>
        <p:spPr bwMode="auto">
          <a:xfrm>
            <a:off x="6861175" y="4743450"/>
            <a:ext cx="395288" cy="395288"/>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hangingPunct="1"/>
            <a:endParaRPr lang="zh-CN" altLang="en-US" sz="24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47" name="Text Box 164"/>
          <p:cNvSpPr txBox="1">
            <a:spLocks noChangeArrowheads="1"/>
          </p:cNvSpPr>
          <p:nvPr/>
        </p:nvSpPr>
        <p:spPr bwMode="auto">
          <a:xfrm>
            <a:off x="6942138" y="4811713"/>
            <a:ext cx="2317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914400" eaLnBrk="1" hangingPunct="1">
              <a:spcBef>
                <a:spcPct val="50000"/>
              </a:spcBef>
            </a:pPr>
            <a:r>
              <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O</a:t>
            </a:r>
            <a:endParaRPr lang="en-US" altLang="zh-CN" sz="1600"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48" name="Line 165"/>
          <p:cNvSpPr>
            <a:spLocks noChangeShapeType="1"/>
          </p:cNvSpPr>
          <p:nvPr/>
        </p:nvSpPr>
        <p:spPr bwMode="auto">
          <a:xfrm flipH="1">
            <a:off x="1493838" y="4251325"/>
            <a:ext cx="246062" cy="533400"/>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4249" name="Line 166"/>
          <p:cNvSpPr>
            <a:spLocks noChangeShapeType="1"/>
          </p:cNvSpPr>
          <p:nvPr/>
        </p:nvSpPr>
        <p:spPr bwMode="auto">
          <a:xfrm>
            <a:off x="1933575" y="4267200"/>
            <a:ext cx="228600" cy="515938"/>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4250" name="Line 167"/>
          <p:cNvSpPr>
            <a:spLocks noChangeShapeType="1"/>
          </p:cNvSpPr>
          <p:nvPr/>
        </p:nvSpPr>
        <p:spPr bwMode="auto">
          <a:xfrm flipH="1">
            <a:off x="3028950" y="4264025"/>
            <a:ext cx="200025" cy="503238"/>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4251" name="Line 168"/>
          <p:cNvSpPr>
            <a:spLocks noChangeShapeType="1"/>
          </p:cNvSpPr>
          <p:nvPr/>
        </p:nvSpPr>
        <p:spPr bwMode="auto">
          <a:xfrm>
            <a:off x="3424238" y="4265613"/>
            <a:ext cx="242887" cy="515937"/>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52" name="Line 169"/>
          <p:cNvSpPr>
            <a:spLocks noChangeShapeType="1"/>
          </p:cNvSpPr>
          <p:nvPr/>
        </p:nvSpPr>
        <p:spPr bwMode="auto">
          <a:xfrm flipH="1">
            <a:off x="4737100" y="4246563"/>
            <a:ext cx="246063" cy="533400"/>
          </a:xfrm>
          <a:prstGeom prst="line">
            <a:avLst/>
          </a:prstGeom>
          <a:noFill/>
          <a:ln w="9525">
            <a:solidFill>
              <a:srgbClr val="00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53" name="Line 170"/>
          <p:cNvSpPr>
            <a:spLocks noChangeShapeType="1"/>
          </p:cNvSpPr>
          <p:nvPr/>
        </p:nvSpPr>
        <p:spPr bwMode="auto">
          <a:xfrm>
            <a:off x="5176838" y="4262438"/>
            <a:ext cx="228600" cy="515937"/>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4254" name="Line 171"/>
          <p:cNvSpPr>
            <a:spLocks noChangeShapeType="1"/>
          </p:cNvSpPr>
          <p:nvPr/>
        </p:nvSpPr>
        <p:spPr bwMode="auto">
          <a:xfrm flipH="1">
            <a:off x="6318250" y="4244975"/>
            <a:ext cx="138113" cy="519113"/>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4255" name="Line 172"/>
          <p:cNvSpPr>
            <a:spLocks noChangeShapeType="1"/>
          </p:cNvSpPr>
          <p:nvPr/>
        </p:nvSpPr>
        <p:spPr bwMode="auto">
          <a:xfrm>
            <a:off x="6651625" y="4246563"/>
            <a:ext cx="303213" cy="515937"/>
          </a:xfrm>
          <a:prstGeom prst="line">
            <a:avLst/>
          </a:prstGeom>
          <a:noFill/>
          <a:ln w="9525">
            <a:solidFill>
              <a:srgbClr val="000066"/>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4256" name="Text Box 173"/>
          <p:cNvSpPr txBox="1">
            <a:spLocks noChangeArrowheads="1"/>
          </p:cNvSpPr>
          <p:nvPr/>
        </p:nvSpPr>
        <p:spPr bwMode="auto">
          <a:xfrm>
            <a:off x="2159000" y="2751138"/>
            <a:ext cx="14176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X[1] = 1</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57" name="Text Box 175"/>
          <p:cNvSpPr txBox="1">
            <a:spLocks noChangeArrowheads="1"/>
          </p:cNvSpPr>
          <p:nvPr/>
        </p:nvSpPr>
        <p:spPr bwMode="auto">
          <a:xfrm>
            <a:off x="755650" y="3481388"/>
            <a:ext cx="14176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X[2] = 1</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58" name="Text Box 176"/>
          <p:cNvSpPr txBox="1">
            <a:spLocks noChangeArrowheads="1"/>
          </p:cNvSpPr>
          <p:nvPr/>
        </p:nvSpPr>
        <p:spPr bwMode="auto">
          <a:xfrm>
            <a:off x="2852738" y="3495675"/>
            <a:ext cx="1019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X[2] = 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59" name="Text Box 177"/>
          <p:cNvSpPr txBox="1">
            <a:spLocks noChangeArrowheads="1"/>
          </p:cNvSpPr>
          <p:nvPr/>
        </p:nvSpPr>
        <p:spPr bwMode="auto">
          <a:xfrm>
            <a:off x="6070600" y="3467100"/>
            <a:ext cx="8763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X[2] = 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60" name="Text Box 178"/>
          <p:cNvSpPr txBox="1">
            <a:spLocks noChangeArrowheads="1"/>
          </p:cNvSpPr>
          <p:nvPr/>
        </p:nvSpPr>
        <p:spPr bwMode="auto">
          <a:xfrm>
            <a:off x="4097338" y="3460750"/>
            <a:ext cx="13620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X[2] = 1</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61" name="Text Box 173"/>
          <p:cNvSpPr txBox="1">
            <a:spLocks noChangeArrowheads="1"/>
          </p:cNvSpPr>
          <p:nvPr/>
        </p:nvSpPr>
        <p:spPr bwMode="auto">
          <a:xfrm>
            <a:off x="4449763" y="2736850"/>
            <a:ext cx="14176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X[1] = 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62" name="Text Box 175"/>
          <p:cNvSpPr txBox="1">
            <a:spLocks noChangeArrowheads="1"/>
          </p:cNvSpPr>
          <p:nvPr/>
        </p:nvSpPr>
        <p:spPr bwMode="auto">
          <a:xfrm>
            <a:off x="444500" y="4298950"/>
            <a:ext cx="10874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X[3] = 1</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63" name="Text Box 176"/>
          <p:cNvSpPr txBox="1">
            <a:spLocks noChangeArrowheads="1"/>
          </p:cNvSpPr>
          <p:nvPr/>
        </p:nvSpPr>
        <p:spPr bwMode="auto">
          <a:xfrm>
            <a:off x="1936750" y="4275138"/>
            <a:ext cx="889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X[3] = 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64" name="Text Box 177"/>
          <p:cNvSpPr txBox="1">
            <a:spLocks noChangeArrowheads="1"/>
          </p:cNvSpPr>
          <p:nvPr/>
        </p:nvSpPr>
        <p:spPr bwMode="auto">
          <a:xfrm>
            <a:off x="6684963" y="4356100"/>
            <a:ext cx="8778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X[3] = 0</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4265" name="Text Box 178"/>
          <p:cNvSpPr txBox="1">
            <a:spLocks noChangeArrowheads="1"/>
          </p:cNvSpPr>
          <p:nvPr/>
        </p:nvSpPr>
        <p:spPr bwMode="auto">
          <a:xfrm>
            <a:off x="5721350" y="4370388"/>
            <a:ext cx="8334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X[3] = 1</a:t>
            </a:r>
            <a:endParaRPr kumimoji="1" lang="en-US" altLang="zh-CN" b="1">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103" name="直接箭头连接符 102"/>
          <p:cNvCxnSpPr/>
          <p:nvPr/>
        </p:nvCxnSpPr>
        <p:spPr>
          <a:xfrm flipV="1">
            <a:off x="2422525" y="3051175"/>
            <a:ext cx="4606925" cy="127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09" name="Text Box 173"/>
          <p:cNvSpPr txBox="1">
            <a:spLocks noChangeArrowheads="1"/>
          </p:cNvSpPr>
          <p:nvPr/>
        </p:nvSpPr>
        <p:spPr bwMode="auto">
          <a:xfrm>
            <a:off x="7561263" y="2689225"/>
            <a:ext cx="1463675" cy="554038"/>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spAutoFit/>
          </a:bodyPr>
          <a:lstStyle/>
          <a:p>
            <a:pPr algn="r" eaLnBrk="1" hangingPunct="1">
              <a:spcBef>
                <a:spcPct val="50000"/>
              </a:spcBef>
              <a:defRPr/>
            </a:pP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第</a:t>
            </a:r>
            <a:r>
              <a:rPr kumimoji="1"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一</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层，判断第</a:t>
            </a:r>
            <a:r>
              <a:rPr kumimoji="1"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一</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个物品</a:t>
            </a:r>
            <a:endPar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110" name="直接箭头连接符 109"/>
          <p:cNvCxnSpPr/>
          <p:nvPr/>
        </p:nvCxnSpPr>
        <p:spPr>
          <a:xfrm flipV="1">
            <a:off x="1698625" y="3740150"/>
            <a:ext cx="5426075" cy="2381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1" name="Text Box 173"/>
          <p:cNvSpPr txBox="1">
            <a:spLocks noChangeArrowheads="1"/>
          </p:cNvSpPr>
          <p:nvPr/>
        </p:nvSpPr>
        <p:spPr bwMode="auto">
          <a:xfrm>
            <a:off x="7596188" y="3400425"/>
            <a:ext cx="1465262" cy="554038"/>
          </a:xfrm>
          <a:prstGeom prst="rect">
            <a:avLst/>
          </a:prstGeom>
        </p:spPr>
        <p:style>
          <a:lnRef idx="2">
            <a:schemeClr val="accent1"/>
          </a:lnRef>
          <a:fillRef idx="1">
            <a:schemeClr val="lt1"/>
          </a:fillRef>
          <a:effectRef idx="0">
            <a:schemeClr val="accent1"/>
          </a:effectRef>
          <a:fontRef idx="minor">
            <a:schemeClr val="dk1"/>
          </a:fontRef>
        </p:style>
        <p:txBody>
          <a:bodyPr lIns="0" tIns="0" rIns="0" bIns="0">
            <a:spAutoFit/>
          </a:bodyPr>
          <a:lstStyle/>
          <a:p>
            <a:pPr algn="r" eaLnBrk="1" hangingPunct="1">
              <a:spcBef>
                <a:spcPct val="50000"/>
              </a:spcBef>
              <a:defRPr/>
            </a:pP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第</a:t>
            </a:r>
            <a:r>
              <a:rPr kumimoji="1"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二</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层，判断第</a:t>
            </a:r>
            <a:r>
              <a:rPr kumimoji="1"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二</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个物品</a:t>
            </a:r>
            <a:endPar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114" name="直接箭头连接符 113"/>
          <p:cNvCxnSpPr/>
          <p:nvPr/>
        </p:nvCxnSpPr>
        <p:spPr>
          <a:xfrm flipV="1">
            <a:off x="1328738" y="4630738"/>
            <a:ext cx="6342062" cy="2222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15" name="Text Box 173"/>
          <p:cNvSpPr txBox="1">
            <a:spLocks noChangeArrowheads="1"/>
          </p:cNvSpPr>
          <p:nvPr/>
        </p:nvSpPr>
        <p:spPr bwMode="auto">
          <a:xfrm>
            <a:off x="7608888" y="4241800"/>
            <a:ext cx="1463675" cy="554038"/>
          </a:xfrm>
          <a:prstGeom prst="rect">
            <a:avLst/>
          </a:prstGeom>
        </p:spPr>
        <p:style>
          <a:lnRef idx="2">
            <a:schemeClr val="accent2"/>
          </a:lnRef>
          <a:fillRef idx="1">
            <a:schemeClr val="lt1"/>
          </a:fillRef>
          <a:effectRef idx="0">
            <a:schemeClr val="accent2"/>
          </a:effectRef>
          <a:fontRef idx="minor">
            <a:schemeClr val="dk1"/>
          </a:fontRef>
        </p:style>
        <p:txBody>
          <a:bodyPr lIns="0" tIns="0" rIns="0" bIns="0">
            <a:spAutoFit/>
          </a:bodyPr>
          <a:lstStyle/>
          <a:p>
            <a:pPr algn="r" eaLnBrk="1" hangingPunct="1">
              <a:spcBef>
                <a:spcPct val="50000"/>
              </a:spcBef>
              <a:defRPr/>
            </a:pP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第</a:t>
            </a:r>
            <a:r>
              <a:rPr kumimoji="1"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三</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层，判断第</a:t>
            </a:r>
            <a:r>
              <a:rPr kumimoji="1"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三</a:t>
            </a:r>
            <a:r>
              <a:rPr kumimoji="1" lang="zh-CN" altLang="en-US"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rPr>
              <a:t>个物品</a:t>
            </a:r>
            <a:endParaRPr kumimoji="1" lang="en-US" altLang="zh-CN" b="1" dirty="0">
              <a:solidFill>
                <a:srgbClr val="000066"/>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7" name="动作按钮: 后退或前一项 116">
            <a:hlinkClick r:id="rId1" action="ppaction://hlinksldjump" highlightClick="1"/>
          </p:cNvPr>
          <p:cNvSpPr/>
          <p:nvPr/>
        </p:nvSpPr>
        <p:spPr>
          <a:xfrm>
            <a:off x="4275138" y="5521325"/>
            <a:ext cx="1293812" cy="677863"/>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11" grpId="0" animBg="1"/>
      <p:bldP spid="115" grpId="0" animBg="1"/>
    </p:bldLst>
  </p:timing>
</p:sld>
</file>

<file path=ppt/tags/tag1.xml><?xml version="1.0" encoding="utf-8"?>
<p:tagLst xmlns:p="http://schemas.openxmlformats.org/presentationml/2006/main">
  <p:tag name="KSO_WM_TAG_VERSION" val="1.0"/>
  <p:tag name="KSO_WM_TEMPLATE_CATEGORY" val="custom"/>
  <p:tag name="KSO_WM_TEMPLATE_INDEX" val="160431"/>
</p:tagLst>
</file>

<file path=ppt/tags/tag2.xml><?xml version="1.0" encoding="utf-8"?>
<p:tagLst xmlns:p="http://schemas.openxmlformats.org/presentationml/2006/main">
  <p:tag name="KSO_WM_TAG_VERSION" val="1.0"/>
  <p:tag name="KSO_WM_TEMPLATE_CATEGORY" val="custom"/>
  <p:tag name="KSO_WM_TEMPLATE_INDEX" val="160431"/>
</p:tagLst>
</file>

<file path=ppt/tags/tag3.xml><?xml version="1.0" encoding="utf-8"?>
<p:tagLst xmlns:p="http://schemas.openxmlformats.org/presentationml/2006/main">
  <p:tag name="KSO_WM_TEMPLATE_THUMBS_INDEX" val="1、8、11、14、15、16、20、25、29"/>
  <p:tag name="KSO_WM_TEMPLATE_CATEGORY" val="custom"/>
  <p:tag name="KSO_WM_TEMPLATE_INDEX" val="160431"/>
  <p:tag name="KSO_WM_TAG_VERSION" val="1.0"/>
  <p:tag name="KSO_WM_BEAUTIFY_FLAG" val="#wm#"/>
</p:tagLst>
</file>

<file path=ppt/tags/tag4.xml><?xml version="1.0" encoding="utf-8"?>
<p:tagLst xmlns:p="http://schemas.openxmlformats.org/presentationml/2006/main">
  <p:tag name="KSO_WM_TAG_VERSION" val="1.0"/>
  <p:tag name="KSO_WM_BEAUTIFY_FLAG" val="#wm#"/>
  <p:tag name="KSO_WM_TEMPLATE_CATEGORY" val="custom"/>
  <p:tag name="KSO_WM_TEMPLATE_INDEX" val="160431"/>
  <p:tag name="KSO_WM_UNIT_TYPE" val="b"/>
  <p:tag name="KSO_WM_UNIT_INDEX" val="1"/>
  <p:tag name="KSO_WM_UNIT_ID" val="custom160431_1*b*1"/>
  <p:tag name="KSO_WM_UNIT_CLEAR" val="1"/>
  <p:tag name="KSO_WM_UNIT_LAYERLEVEL" val="1"/>
  <p:tag name="KSO_WM_UNIT_VALUE" val="35"/>
  <p:tag name="KSO_WM_UNIT_ISCONTENTSTITLE" val="0"/>
  <p:tag name="KSO_WM_UNIT_HIGHLIGHT" val="0"/>
  <p:tag name="KSO_WM_UNIT_COMPATIBLE" val="0"/>
  <p:tag name="KSO_WM_UNIT_PRESET_TEXT_INDEX" val="3"/>
  <p:tag name="KSO_WM_UNIT_PRESET_TEXT_LEN" val="17"/>
</p:tagLst>
</file>

<file path=ppt/tags/tag5.xml><?xml version="1.0" encoding="utf-8"?>
<p:tagLst xmlns:p="http://schemas.openxmlformats.org/presentationml/2006/main">
  <p:tag name="KSO_WM_TAG_VERSION" val="1.0"/>
  <p:tag name="KSO_WM_BEAUTIFY_FLAG" val="#wm#"/>
  <p:tag name="KSO_WM_TEMPLATE_CATEGORY" val="custom"/>
  <p:tag name="KSO_WM_TEMPLATE_INDEX" val="160431"/>
  <p:tag name="KSO_WM_UNIT_TYPE" val="a"/>
  <p:tag name="KSO_WM_UNIT_INDEX" val="1"/>
  <p:tag name="KSO_WM_UNIT_ID" val="custom160431_1*a*1"/>
  <p:tag name="KSO_WM_UNIT_CLEAR" val="1"/>
  <p:tag name="KSO_WM_UNIT_LAYERLEVEL" val="1"/>
  <p:tag name="KSO_WM_UNIT_VALUE" val="44"/>
  <p:tag name="KSO_WM_UNIT_ISCONTENTSTITLE" val="0"/>
  <p:tag name="KSO_WM_UNIT_HIGHLIGHT" val="0"/>
  <p:tag name="KSO_WM_UNIT_COMPATIBLE" val="0"/>
  <p:tag name="KSO_WM_UNIT_PRESET_TEXT_INDEX" val="3"/>
  <p:tag name="KSO_WM_UNIT_PRESET_TEXT_LEN" val="17"/>
</p:tagLst>
</file>

<file path=ppt/tags/tag6.xml><?xml version="1.0" encoding="utf-8"?>
<p:tagLst xmlns:p="http://schemas.openxmlformats.org/presentationml/2006/main">
  <p:tag name="KSO_WM_TAG_VERSION" val="1.0"/>
  <p:tag name="KSO_WM_BEAUTIFY_FLAG" val="#wm#"/>
  <p:tag name="KSO_WM_TEMPLATE_CATEGORY" val="custom"/>
  <p:tag name="KSO_WM_TEMPLATE_INDEX" val="160431"/>
  <p:tag name="KSO_WM_UNIT_TYPE" val="a"/>
  <p:tag name="KSO_WM_UNIT_INDEX" val="1"/>
  <p:tag name="KSO_WM_UNIT_ID" val="custom160431_1*a*1"/>
  <p:tag name="KSO_WM_UNIT_CLEAR" val="1"/>
  <p:tag name="KSO_WM_UNIT_LAYERLEVEL" val="1"/>
  <p:tag name="KSO_WM_UNIT_VALUE" val="44"/>
  <p:tag name="KSO_WM_UNIT_ISCONTENTSTITLE" val="0"/>
  <p:tag name="KSO_WM_UNIT_HIGHLIGHT" val="0"/>
  <p:tag name="KSO_WM_UNIT_COMPATIBLE" val="0"/>
  <p:tag name="KSO_WM_UNIT_PRESET_TEXT_INDEX" val="3"/>
  <p:tag name="KSO_WM_UNIT_PRESET_TEXT_LEN" val="17"/>
</p:tagLst>
</file>

<file path=ppt/tags/tag7.xml><?xml version="1.0" encoding="utf-8"?>
<p:tagLst xmlns:p="http://schemas.openxmlformats.org/presentationml/2006/main">
  <p:tag name="KSO_WM_TEMPLATE_THUMBS_INDEX" val="1、8、11、14、15、16、20、25、29"/>
  <p:tag name="KSO_WM_TEMPLATE_CATEGORY" val="custom"/>
  <p:tag name="KSO_WM_TEMPLATE_INDEX" val="160431"/>
  <p:tag name="KSO_WM_TAG_VERSION" val="1.0"/>
  <p:tag name="KSO_WM_SLIDE_ID" val="custom160431_1"/>
  <p:tag name="KSO_WM_SLIDE_INDEX" val="1"/>
  <p:tag name="KSO_WM_SLIDE_ITEM_CNT" val="2"/>
  <p:tag name="KSO_WM_SLIDE_LAYOUT" val="a_b"/>
  <p:tag name="KSO_WM_SLIDE_LAYOUT_CNT" val="1_1"/>
  <p:tag name="KSO_WM_SLIDE_TYPE" val="title"/>
  <p:tag name="KSO_WM_BEAUTIFY_FLAG" val="#wm#"/>
</p:tagLst>
</file>

<file path=ppt/tags/tag8.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9.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0.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1.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2.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3.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4.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5.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6.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7.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8.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19.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0.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1.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2.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3.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24.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5.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6.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27.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8.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29.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0.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1.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2.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3.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4.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5.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6.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7.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8.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39.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0.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1.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2.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3.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4.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5.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6.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47.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8.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49.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0.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1.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2.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3.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4.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5.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6.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7.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8.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59.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0.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1.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2.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3.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4.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5.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6.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7.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8.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69.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0.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1.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2.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3.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4.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5.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6.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7.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8.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79.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0.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1.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2.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3.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4.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5.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6.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7.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8.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89.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90.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91.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92.xml><?xml version="1.0" encoding="utf-8"?>
<p:tagLst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0"/>
</p:tagLst>
</file>

<file path=ppt/tags/tag93.xml><?xml version="1.0" encoding="utf-8"?>
<p:tagLst xmlns:p="http://schemas.openxmlformats.org/presentationml/2006/main">
  <p:tag name="commondata" val="eyJoZGlkIjoiYzBjNTgyMTM5ZjZlMGFhM2Q0ZmY4OTQzMjkxYjEwMjYifQ=="/>
</p:tagLst>
</file>

<file path=ppt/theme/_rels/theme1.xml.rels><?xml version="1.0" encoding="UTF-8" standalone="yes"?>
<Relationships xmlns="http://schemas.openxmlformats.org/package/2006/relationships"><Relationship Id="rId1" Type="http://schemas.openxmlformats.org/officeDocument/2006/relationships/image" Target="../media/image3.png"/></Relationships>
</file>

<file path=ppt/theme/theme1.xml><?xml version="1.0" encoding="utf-8"?>
<a:theme xmlns:a="http://schemas.openxmlformats.org/drawingml/2006/main" name="A000120141119A01PPBG">
  <a:themeElements>
    <a:clrScheme name="146">
      <a:dk1>
        <a:srgbClr val="5F5F5F"/>
      </a:dk1>
      <a:lt1>
        <a:srgbClr val="FFFFFF"/>
      </a:lt1>
      <a:dk2>
        <a:srgbClr val="4D4D4D"/>
      </a:dk2>
      <a:lt2>
        <a:srgbClr val="FFFFFF"/>
      </a:lt2>
      <a:accent1>
        <a:srgbClr val="C15011"/>
      </a:accent1>
      <a:accent2>
        <a:srgbClr val="92944E"/>
      </a:accent2>
      <a:accent3>
        <a:srgbClr val="CDAF31"/>
      </a:accent3>
      <a:accent4>
        <a:srgbClr val="618499"/>
      </a:accent4>
      <a:accent5>
        <a:srgbClr val="047BCC"/>
      </a:accent5>
      <a:accent6>
        <a:srgbClr val="7EC234"/>
      </a:accent6>
      <a:hlink>
        <a:srgbClr val="800000"/>
      </a:hlink>
      <a:folHlink>
        <a:srgbClr val="D3A219"/>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lipFill rotWithShape="0">
          <a:blip xmlns:r="http://schemas.openxmlformats.org/officeDocument/2006/relationships" r:embed="rId1" cstate="print"/>
          <a:stretch>
            <a:fillRect/>
          </a:stretch>
        </a:blipFill>
      </a:spPr>
      <a:bodyPr/>
      <a:lstStyle>
        <a:defPPr fontAlgn="auto">
          <a:spcBef>
            <a:spcPts val="0"/>
          </a:spcBef>
          <a:spcAft>
            <a:spcPts val="0"/>
          </a:spcAft>
          <a:defRPr>
            <a:no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17072</Words>
  <Application>WPS 演示</Application>
  <PresentationFormat>全屏显示(4:3)</PresentationFormat>
  <Paragraphs>1665</Paragraphs>
  <Slides>86</Slides>
  <Notes>86</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10</vt:i4>
      </vt:variant>
      <vt:variant>
        <vt:lpstr>幻灯片标题</vt:lpstr>
      </vt:variant>
      <vt:variant>
        <vt:i4>86</vt:i4>
      </vt:variant>
    </vt:vector>
  </HeadingPairs>
  <TitlesOfParts>
    <vt:vector size="119" baseType="lpstr">
      <vt:lpstr>Arial</vt:lpstr>
      <vt:lpstr>宋体</vt:lpstr>
      <vt:lpstr>Wingdings</vt:lpstr>
      <vt:lpstr>黑体</vt:lpstr>
      <vt:lpstr>Gungsuh</vt:lpstr>
      <vt:lpstr>Calibri</vt:lpstr>
      <vt:lpstr>PMingLiU</vt:lpstr>
      <vt:lpstr>MingLiU-ExtB</vt:lpstr>
      <vt:lpstr>楷体</vt:lpstr>
      <vt:lpstr>Times New Roman</vt:lpstr>
      <vt:lpstr>华文楷体</vt:lpstr>
      <vt:lpstr>Symbol</vt:lpstr>
      <vt:lpstr>楷体_GB2312</vt:lpstr>
      <vt:lpstr>微软雅黑</vt:lpstr>
      <vt:lpstr>Arial Unicode MS</vt:lpstr>
      <vt:lpstr>等线</vt:lpstr>
      <vt:lpstr>Symbol</vt:lpstr>
      <vt:lpstr>Times New Roman</vt:lpstr>
      <vt:lpstr>华文行楷</vt:lpstr>
      <vt:lpstr>Malgun Gothic</vt:lpstr>
      <vt:lpstr>PMingLiU</vt:lpstr>
      <vt:lpstr>AMGDT</vt:lpstr>
      <vt:lpstr>A000120141119A01PPBG</vt:lpstr>
      <vt:lpstr>Equation.3</vt:lpstr>
      <vt:lpstr>Equation.DSMT4</vt:lpstr>
      <vt:lpstr>Equation.3</vt:lpstr>
      <vt:lpstr>Equation.3</vt:lpstr>
      <vt:lpstr>Equation.DSMT4</vt:lpstr>
      <vt:lpstr>Equation.3</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Hung-yi Lee</dc:creator>
  <cp:lastModifiedBy>罗建超</cp:lastModifiedBy>
  <cp:revision>1718</cp:revision>
  <dcterms:created xsi:type="dcterms:W3CDTF">2016-10-09T14:12:00Z</dcterms:created>
  <dcterms:modified xsi:type="dcterms:W3CDTF">2024-12-02T02:15:08Z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82FDEC63E2344937BD2AF7D4C3346E5D_12</vt:lpwstr>
  </property>
  <property fmtid="{D5CDD505-2E9C-101B-9397-08002B2CF9AE}" pid="3" name="KSOProductBuildVer">
    <vt:lpwstr>2052-12.1.0.18276</vt:lpwstr>
  </property>
</Properties>
</file>