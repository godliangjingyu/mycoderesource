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5.xml" ContentType="application/vnd.openxmlformats-officedocument.presentationml.tags+xml"/>
  <Override PartName="/ppt/notesSlides/notesSlide19.xml" ContentType="application/vnd.openxmlformats-officedocument.presentationml.notesSlide+xml"/>
  <Override PartName="/ppt/tags/tag26.xml" ContentType="application/vnd.openxmlformats-officedocument.presentationml.tags+xml"/>
  <Override PartName="/ppt/notesSlides/notesSlide20.xml" ContentType="application/vnd.openxmlformats-officedocument.presentationml.notesSlide+xml"/>
  <Override PartName="/ppt/tags/tag27.xml" ContentType="application/vnd.openxmlformats-officedocument.presentationml.tags+xml"/>
  <Override PartName="/ppt/notesSlides/notesSlide21.xml" ContentType="application/vnd.openxmlformats-officedocument.presentationml.notesSlide+xml"/>
  <Override PartName="/ppt/tags/tag28.xml" ContentType="application/vnd.openxmlformats-officedocument.presentationml.tags+xml"/>
  <Override PartName="/ppt/notesSlides/notesSlide22.xml" ContentType="application/vnd.openxmlformats-officedocument.presentationml.notesSlide+xml"/>
  <Override PartName="/ppt/tags/tag29.xml" ContentType="application/vnd.openxmlformats-officedocument.presentationml.tags+xml"/>
  <Override PartName="/ppt/notesSlides/notesSlide23.xml" ContentType="application/vnd.openxmlformats-officedocument.presentationml.notesSlide+xml"/>
  <Override PartName="/ppt/tags/tag30.xml" ContentType="application/vnd.openxmlformats-officedocument.presentationml.tags+xml"/>
  <Override PartName="/ppt/notesSlides/notesSlide24.xml" ContentType="application/vnd.openxmlformats-officedocument.presentationml.notesSlide+xml"/>
  <Override PartName="/ppt/tags/tag31.xml" ContentType="application/vnd.openxmlformats-officedocument.presentationml.tags+xml"/>
  <Override PartName="/ppt/notesSlides/notesSlide25.xml" ContentType="application/vnd.openxmlformats-officedocument.presentationml.notesSlide+xml"/>
  <Override PartName="/ppt/tags/tag32.xml" ContentType="application/vnd.openxmlformats-officedocument.presentationml.tags+xml"/>
  <Override PartName="/ppt/notesSlides/notesSlide26.xml" ContentType="application/vnd.openxmlformats-officedocument.presentationml.notesSlide+xml"/>
  <Override PartName="/ppt/tags/tag33.xml" ContentType="application/vnd.openxmlformats-officedocument.presentationml.tags+xml"/>
  <Override PartName="/ppt/notesSlides/notesSlide27.xml" ContentType="application/vnd.openxmlformats-officedocument.presentationml.notesSlide+xml"/>
  <Override PartName="/ppt/tags/tag34.xml" ContentType="application/vnd.openxmlformats-officedocument.presentationml.tags+xml"/>
  <Override PartName="/ppt/notesSlides/notesSlide28.xml" ContentType="application/vnd.openxmlformats-officedocument.presentationml.notesSlide+xml"/>
  <Override PartName="/ppt/tags/tag35.xml" ContentType="application/vnd.openxmlformats-officedocument.presentationml.tags+xml"/>
  <Override PartName="/ppt/notesSlides/notesSlide29.xml" ContentType="application/vnd.openxmlformats-officedocument.presentationml.notesSlide+xml"/>
  <Override PartName="/ppt/tags/tag36.xml" ContentType="application/vnd.openxmlformats-officedocument.presentationml.tags+xml"/>
  <Override PartName="/ppt/notesSlides/notesSlide30.xml" ContentType="application/vnd.openxmlformats-officedocument.presentationml.notesSlide+xml"/>
  <Override PartName="/ppt/tags/tag37.xml" ContentType="application/vnd.openxmlformats-officedocument.presentationml.tags+xml"/>
  <Override PartName="/ppt/notesSlides/notesSlide3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38.xml" ContentType="application/vnd.openxmlformats-officedocument.presentationml.tags+xml"/>
  <Override PartName="/ppt/notesSlides/notesSlide32.xml" ContentType="application/vnd.openxmlformats-officedocument.presentationml.notesSlide+xml"/>
  <Override PartName="/ppt/tags/tag39.xml" ContentType="application/vnd.openxmlformats-officedocument.presentationml.tags+xml"/>
  <Override PartName="/ppt/notesSlides/notesSlide33.xml" ContentType="application/vnd.openxmlformats-officedocument.presentationml.notesSlide+xml"/>
  <Override PartName="/ppt/tags/tag40.xml" ContentType="application/vnd.openxmlformats-officedocument.presentationml.tags+xml"/>
  <Override PartName="/ppt/notesSlides/notesSlide34.xml" ContentType="application/vnd.openxmlformats-officedocument.presentationml.notesSlide+xml"/>
  <Override PartName="/ppt/tags/tag41.xml" ContentType="application/vnd.openxmlformats-officedocument.presentationml.tags+xml"/>
  <Override PartName="/ppt/notesSlides/notesSlide35.xml" ContentType="application/vnd.openxmlformats-officedocument.presentationml.notesSlide+xml"/>
  <Override PartName="/ppt/tags/tag42.xml" ContentType="application/vnd.openxmlformats-officedocument.presentationml.tags+xml"/>
  <Override PartName="/ppt/notesSlides/notesSlide36.xml" ContentType="application/vnd.openxmlformats-officedocument.presentationml.notesSlide+xml"/>
  <Override PartName="/ppt/tags/tag43.xml" ContentType="application/vnd.openxmlformats-officedocument.presentationml.tags+xml"/>
  <Override PartName="/ppt/notesSlides/notesSlide37.xml" ContentType="application/vnd.openxmlformats-officedocument.presentationml.notesSlide+xml"/>
  <Override PartName="/ppt/tags/tag44.xml" ContentType="application/vnd.openxmlformats-officedocument.presentationml.tags+xml"/>
  <Override PartName="/ppt/notesSlides/notesSlide38.xml" ContentType="application/vnd.openxmlformats-officedocument.presentationml.notesSlide+xml"/>
  <Override PartName="/ppt/tags/tag45.xml" ContentType="application/vnd.openxmlformats-officedocument.presentationml.tags+xml"/>
  <Override PartName="/ppt/notesSlides/notesSlide39.xml" ContentType="application/vnd.openxmlformats-officedocument.presentationml.notesSlide+xml"/>
  <Override PartName="/ppt/tags/tag46.xml" ContentType="application/vnd.openxmlformats-officedocument.presentationml.tags+xml"/>
  <Override PartName="/ppt/notesSlides/notesSlide40.xml" ContentType="application/vnd.openxmlformats-officedocument.presentationml.notesSlide+xml"/>
  <Override PartName="/ppt/tags/tag47.xml" ContentType="application/vnd.openxmlformats-officedocument.presentationml.tags+xml"/>
  <Override PartName="/ppt/notesSlides/notesSlide41.xml" ContentType="application/vnd.openxmlformats-officedocument.presentationml.notesSlide+xml"/>
  <Override PartName="/ppt/tags/tag48.xml" ContentType="application/vnd.openxmlformats-officedocument.presentationml.tags+xml"/>
  <Override PartName="/ppt/notesSlides/notesSlide42.xml" ContentType="application/vnd.openxmlformats-officedocument.presentationml.notesSlide+xml"/>
  <Override PartName="/ppt/tags/tag49.xml" ContentType="application/vnd.openxmlformats-officedocument.presentationml.tags+xml"/>
  <Override PartName="/ppt/notesSlides/notesSlide4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50.xml" ContentType="application/vnd.openxmlformats-officedocument.presentationml.tags+xml"/>
  <Override PartName="/ppt/notesSlides/notesSlide44.xml" ContentType="application/vnd.openxmlformats-officedocument.presentationml.notesSlide+xml"/>
  <Override PartName="/ppt/tags/tag51.xml" ContentType="application/vnd.openxmlformats-officedocument.presentationml.tags+xml"/>
  <Override PartName="/ppt/notesSlides/notesSlide45.xml" ContentType="application/vnd.openxmlformats-officedocument.presentationml.notesSlide+xml"/>
  <Override PartName="/ppt/tags/tag52.xml" ContentType="application/vnd.openxmlformats-officedocument.presentationml.tags+xml"/>
  <Override PartName="/ppt/notesSlides/notesSlide46.xml" ContentType="application/vnd.openxmlformats-officedocument.presentationml.notesSlide+xml"/>
  <Override PartName="/ppt/tags/tag53.xml" ContentType="application/vnd.openxmlformats-officedocument.presentationml.tags+xml"/>
  <Override PartName="/ppt/notesSlides/notesSlide47.xml" ContentType="application/vnd.openxmlformats-officedocument.presentationml.notesSlide+xml"/>
  <Override PartName="/ppt/tags/tag54.xml" ContentType="application/vnd.openxmlformats-officedocument.presentationml.tags+xml"/>
  <Override PartName="/ppt/notesSlides/notesSlide48.xml" ContentType="application/vnd.openxmlformats-officedocument.presentationml.notesSlide+xml"/>
  <Override PartName="/ppt/tags/tag55.xml" ContentType="application/vnd.openxmlformats-officedocument.presentationml.tags+xml"/>
  <Override PartName="/ppt/notesSlides/notesSlide49.xml" ContentType="application/vnd.openxmlformats-officedocument.presentationml.notesSlide+xml"/>
  <Override PartName="/ppt/tags/tag56.xml" ContentType="application/vnd.openxmlformats-officedocument.presentationml.tags+xml"/>
  <Override PartName="/ppt/notesSlides/notesSlide50.xml" ContentType="application/vnd.openxmlformats-officedocument.presentationml.notesSlide+xml"/>
  <Override PartName="/ppt/tags/tag57.xml" ContentType="application/vnd.openxmlformats-officedocument.presentationml.tags+xml"/>
  <Override PartName="/ppt/notesSlides/notesSlide51.xml" ContentType="application/vnd.openxmlformats-officedocument.presentationml.notesSlide+xml"/>
  <Override PartName="/ppt/tags/tag58.xml" ContentType="application/vnd.openxmlformats-officedocument.presentationml.tags+xml"/>
  <Override PartName="/ppt/notesSlides/notesSlide52.xml" ContentType="application/vnd.openxmlformats-officedocument.presentationml.notesSlide+xml"/>
  <Override PartName="/ppt/tags/tag59.xml" ContentType="application/vnd.openxmlformats-officedocument.presentationml.tags+xml"/>
  <Override PartName="/ppt/notesSlides/notesSlide53.xml" ContentType="application/vnd.openxmlformats-officedocument.presentationml.notesSlide+xml"/>
  <Override PartName="/ppt/tags/tag60.xml" ContentType="application/vnd.openxmlformats-officedocument.presentationml.tags+xml"/>
  <Override PartName="/ppt/notesSlides/notesSlide54.xml" ContentType="application/vnd.openxmlformats-officedocument.presentationml.notesSlide+xml"/>
  <Override PartName="/ppt/tags/tag61.xml" ContentType="application/vnd.openxmlformats-officedocument.presentationml.tags+xml"/>
  <Override PartName="/ppt/notesSlides/notesSlide55.xml" ContentType="application/vnd.openxmlformats-officedocument.presentationml.notesSlide+xml"/>
  <Override PartName="/ppt/tags/tag62.xml" ContentType="application/vnd.openxmlformats-officedocument.presentationml.tags+xml"/>
  <Override PartName="/ppt/notesSlides/notesSlide56.xml" ContentType="application/vnd.openxmlformats-officedocument.presentationml.notesSlide+xml"/>
  <Override PartName="/ppt/tags/tag63.xml" ContentType="application/vnd.openxmlformats-officedocument.presentationml.tags+xml"/>
  <Override PartName="/ppt/notesSlides/notesSlide57.xml" ContentType="application/vnd.openxmlformats-officedocument.presentationml.notesSlide+xml"/>
  <Override PartName="/ppt/tags/tag64.xml" ContentType="application/vnd.openxmlformats-officedocument.presentationml.tags+xml"/>
  <Override PartName="/ppt/notesSlides/notesSlide58.xml" ContentType="application/vnd.openxmlformats-officedocument.presentationml.notesSlide+xml"/>
  <Override PartName="/ppt/tags/tag65.xml" ContentType="application/vnd.openxmlformats-officedocument.presentationml.tags+xml"/>
  <Override PartName="/ppt/notesSlides/notesSlide59.xml" ContentType="application/vnd.openxmlformats-officedocument.presentationml.notesSlide+xml"/>
  <Override PartName="/ppt/tags/tag66.xml" ContentType="application/vnd.openxmlformats-officedocument.presentationml.tags+xml"/>
  <Override PartName="/ppt/notesSlides/notesSlide60.xml" ContentType="application/vnd.openxmlformats-officedocument.presentationml.notesSlide+xml"/>
  <Override PartName="/ppt/tags/tag67.xml" ContentType="application/vnd.openxmlformats-officedocument.presentationml.tags+xml"/>
  <Override PartName="/ppt/notesSlides/notesSlide61.xml" ContentType="application/vnd.openxmlformats-officedocument.presentationml.notesSlide+xml"/>
  <Override PartName="/ppt/tags/tag68.xml" ContentType="application/vnd.openxmlformats-officedocument.presentationml.tags+xml"/>
  <Override PartName="/ppt/notesSlides/notesSlide62.xml" ContentType="application/vnd.openxmlformats-officedocument.presentationml.notesSlide+xml"/>
  <Override PartName="/ppt/tags/tag69.xml" ContentType="application/vnd.openxmlformats-officedocument.presentationml.tags+xml"/>
  <Override PartName="/ppt/notesSlides/notesSlide63.xml" ContentType="application/vnd.openxmlformats-officedocument.presentationml.notesSlide+xml"/>
  <Override PartName="/ppt/tags/tag70.xml" ContentType="application/vnd.openxmlformats-officedocument.presentationml.tags+xml"/>
  <Override PartName="/ppt/notesSlides/notesSlide64.xml" ContentType="application/vnd.openxmlformats-officedocument.presentationml.notesSlide+xml"/>
  <Override PartName="/ppt/tags/tag71.xml" ContentType="application/vnd.openxmlformats-officedocument.presentationml.tags+xml"/>
  <Override PartName="/ppt/notesSlides/notesSlide65.xml" ContentType="application/vnd.openxmlformats-officedocument.presentationml.notesSlide+xml"/>
  <Override PartName="/ppt/tags/tag72.xml" ContentType="application/vnd.openxmlformats-officedocument.presentationml.tags+xml"/>
  <Override PartName="/ppt/notesSlides/notesSlide66.xml" ContentType="application/vnd.openxmlformats-officedocument.presentationml.notesSlide+xml"/>
  <Override PartName="/ppt/tags/tag73.xml" ContentType="application/vnd.openxmlformats-officedocument.presentationml.tags+xml"/>
  <Override PartName="/ppt/notesSlides/notesSlide67.xml" ContentType="application/vnd.openxmlformats-officedocument.presentationml.notesSlide+xml"/>
  <Override PartName="/ppt/tags/tag74.xml" ContentType="application/vnd.openxmlformats-officedocument.presentationml.tags+xml"/>
  <Override PartName="/ppt/notesSlides/notesSlide68.xml" ContentType="application/vnd.openxmlformats-officedocument.presentationml.notesSlide+xml"/>
  <Override PartName="/ppt/tags/tag75.xml" ContentType="application/vnd.openxmlformats-officedocument.presentationml.tags+xml"/>
  <Override PartName="/ppt/notesSlides/notesSlide69.xml" ContentType="application/vnd.openxmlformats-officedocument.presentationml.notesSlide+xml"/>
  <Override PartName="/ppt/tags/tag76.xml" ContentType="application/vnd.openxmlformats-officedocument.presentationml.tags+xml"/>
  <Override PartName="/ppt/notesSlides/notesSlide70.xml" ContentType="application/vnd.openxmlformats-officedocument.presentationml.notesSlide+xml"/>
  <Override PartName="/ppt/tags/tag77.xml" ContentType="application/vnd.openxmlformats-officedocument.presentationml.tags+xml"/>
  <Override PartName="/ppt/notesSlides/notesSlide71.xml" ContentType="application/vnd.openxmlformats-officedocument.presentationml.notesSlide+xml"/>
  <Override PartName="/ppt/tags/tag78.xml" ContentType="application/vnd.openxmlformats-officedocument.presentationml.tags+xml"/>
  <Override PartName="/ppt/notesSlides/notesSlide72.xml" ContentType="application/vnd.openxmlformats-officedocument.presentationml.notesSlide+xml"/>
  <Override PartName="/ppt/tags/tag79.xml" ContentType="application/vnd.openxmlformats-officedocument.presentationml.tags+xml"/>
  <Override PartName="/ppt/notesSlides/notesSlide73.xml" ContentType="application/vnd.openxmlformats-officedocument.presentationml.notesSlide+xml"/>
  <Override PartName="/ppt/tags/tag80.xml" ContentType="application/vnd.openxmlformats-officedocument.presentationml.tags+xml"/>
  <Override PartName="/ppt/notesSlides/notesSlide74.xml" ContentType="application/vnd.openxmlformats-officedocument.presentationml.notesSlide+xml"/>
  <Override PartName="/ppt/tags/tag81.xml" ContentType="application/vnd.openxmlformats-officedocument.presentationml.tags+xml"/>
  <Override PartName="/ppt/notesSlides/notesSlide75.xml" ContentType="application/vnd.openxmlformats-officedocument.presentationml.notesSlide+xml"/>
  <Override PartName="/ppt/tags/tag82.xml" ContentType="application/vnd.openxmlformats-officedocument.presentationml.tags+xml"/>
  <Override PartName="/ppt/notesSlides/notesSlide76.xml" ContentType="application/vnd.openxmlformats-officedocument.presentationml.notesSlide+xml"/>
  <Override PartName="/ppt/tags/tag83.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tags/tag84.xml" ContentType="application/vnd.openxmlformats-officedocument.presentationml.tags+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589" r:id="rId2"/>
    <p:sldId id="331" r:id="rId3"/>
    <p:sldId id="332" r:id="rId4"/>
    <p:sldId id="507" r:id="rId5"/>
    <p:sldId id="570" r:id="rId6"/>
    <p:sldId id="571" r:id="rId7"/>
    <p:sldId id="572" r:id="rId8"/>
    <p:sldId id="573" r:id="rId9"/>
    <p:sldId id="509" r:id="rId10"/>
    <p:sldId id="511" r:id="rId11"/>
    <p:sldId id="512" r:id="rId12"/>
    <p:sldId id="513" r:id="rId13"/>
    <p:sldId id="514" r:id="rId14"/>
    <p:sldId id="515" r:id="rId15"/>
    <p:sldId id="510" r:id="rId16"/>
    <p:sldId id="516" r:id="rId17"/>
    <p:sldId id="517" r:id="rId18"/>
    <p:sldId id="518" r:id="rId19"/>
    <p:sldId id="456" r:id="rId20"/>
    <p:sldId id="519" r:id="rId21"/>
    <p:sldId id="524" r:id="rId22"/>
    <p:sldId id="522" r:id="rId23"/>
    <p:sldId id="525" r:id="rId24"/>
    <p:sldId id="523" r:id="rId25"/>
    <p:sldId id="526" r:id="rId26"/>
    <p:sldId id="576" r:id="rId27"/>
    <p:sldId id="577" r:id="rId28"/>
    <p:sldId id="579" r:id="rId29"/>
    <p:sldId id="575" r:id="rId30"/>
    <p:sldId id="527" r:id="rId31"/>
    <p:sldId id="530" r:id="rId32"/>
    <p:sldId id="521" r:id="rId33"/>
    <p:sldId id="531" r:id="rId34"/>
    <p:sldId id="580" r:id="rId35"/>
    <p:sldId id="593" r:id="rId36"/>
    <p:sldId id="581" r:id="rId37"/>
    <p:sldId id="586" r:id="rId38"/>
    <p:sldId id="590" r:id="rId39"/>
    <p:sldId id="582" r:id="rId40"/>
    <p:sldId id="528" r:id="rId41"/>
    <p:sldId id="533" r:id="rId42"/>
    <p:sldId id="532" r:id="rId43"/>
    <p:sldId id="534" r:id="rId44"/>
    <p:sldId id="529" r:id="rId45"/>
    <p:sldId id="460" r:id="rId46"/>
    <p:sldId id="553" r:id="rId47"/>
    <p:sldId id="583" r:id="rId48"/>
    <p:sldId id="584" r:id="rId49"/>
    <p:sldId id="539" r:id="rId50"/>
    <p:sldId id="541" r:id="rId51"/>
    <p:sldId id="537" r:id="rId52"/>
    <p:sldId id="591" r:id="rId53"/>
    <p:sldId id="538" r:id="rId54"/>
    <p:sldId id="552" r:id="rId55"/>
    <p:sldId id="549" r:id="rId56"/>
    <p:sldId id="550" r:id="rId57"/>
    <p:sldId id="551" r:id="rId58"/>
    <p:sldId id="544" r:id="rId59"/>
    <p:sldId id="587" r:id="rId60"/>
    <p:sldId id="545" r:id="rId61"/>
    <p:sldId id="546" r:id="rId62"/>
    <p:sldId id="548" r:id="rId63"/>
    <p:sldId id="547" r:id="rId64"/>
    <p:sldId id="535" r:id="rId65"/>
    <p:sldId id="559" r:id="rId66"/>
    <p:sldId id="558" r:id="rId67"/>
    <p:sldId id="588" r:id="rId68"/>
    <p:sldId id="592" r:id="rId69"/>
    <p:sldId id="556" r:id="rId70"/>
    <p:sldId id="557" r:id="rId71"/>
    <p:sldId id="560" r:id="rId72"/>
    <p:sldId id="562" r:id="rId73"/>
    <p:sldId id="564" r:id="rId74"/>
    <p:sldId id="566" r:id="rId75"/>
    <p:sldId id="594" r:id="rId76"/>
    <p:sldId id="565" r:id="rId77"/>
    <p:sldId id="596" r:id="rId78"/>
    <p:sldId id="574" r:id="rId79"/>
    <p:sldId id="597" r:id="rId80"/>
    <p:sldId id="595" r:id="rId8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71" autoAdjust="0"/>
    <p:restoredTop sz="73868" autoAdjust="0"/>
  </p:normalViewPr>
  <p:slideViewPr>
    <p:cSldViewPr snapToGrid="0">
      <p:cViewPr varScale="1">
        <p:scale>
          <a:sx n="69" d="100"/>
          <a:sy n="69" d="100"/>
        </p:scale>
        <p:origin x="1464" y="3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D330F28-D18C-485B-AD2B-7DF346A53225}" type="doc">
      <dgm:prSet loTypeId="urn:microsoft.com/office/officeart/2005/8/layout/chevron2" loCatId="list" qsTypeId="urn:microsoft.com/office/officeart/2005/8/quickstyle/simple1#1" qsCatId="simple" csTypeId="urn:microsoft.com/office/officeart/2005/8/colors/accent1_2#1" csCatId="accent1" phldr="1"/>
      <dgm:spPr/>
      <dgm:t>
        <a:bodyPr/>
        <a:lstStyle/>
        <a:p>
          <a:endParaRPr lang="zh-CN" altLang="en-US"/>
        </a:p>
      </dgm:t>
    </dgm:pt>
    <dgm:pt modelId="{7AA4BCE5-838A-452C-BA06-A869C07EAE33}">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D703FA97-3964-407D-BCB3-03578955312E}" type="parTrans" cxnId="{E87C870E-8802-4DE6-99E1-34561ECF1851}">
      <dgm:prSet/>
      <dgm:spPr/>
      <dgm:t>
        <a:bodyPr/>
        <a:lstStyle/>
        <a:p>
          <a:endParaRPr lang="zh-CN" altLang="en-US"/>
        </a:p>
      </dgm:t>
    </dgm:pt>
    <dgm:pt modelId="{3FEA1EA7-43E1-472F-A09C-BB829D763F53}" type="sibTrans" cxnId="{E87C870E-8802-4DE6-99E1-34561ECF1851}">
      <dgm:prSet/>
      <dgm:spPr/>
      <dgm:t>
        <a:bodyPr/>
        <a:lstStyle/>
        <a:p>
          <a:endParaRPr lang="zh-CN" altLang="en-US"/>
        </a:p>
      </dgm:t>
    </dgm:pt>
    <dgm:pt modelId="{033AB355-DEBE-4BC0-81F7-79E198B90F3F}">
      <dgm:prSet phldrT="[文本]" custT="1"/>
      <dgm:spPr/>
      <dgm:t>
        <a:bodyPr/>
        <a:lstStyle/>
        <a:p>
          <a:r>
            <a:rPr lang="zh-CN" altLang="en-US" sz="3600" dirty="0" smtClean="0">
              <a:solidFill>
                <a:srgbClr val="FF0000"/>
              </a:solidFill>
              <a:latin typeface="楷体" panose="02010609060101010101" pitchFamily="49" charset="-122"/>
              <a:ea typeface="楷体" panose="02010609060101010101" pitchFamily="49" charset="-122"/>
            </a:rPr>
            <a:t>回溯法及其基本思想</a:t>
          </a:r>
          <a:endParaRPr lang="zh-CN" altLang="en-US" sz="3600" dirty="0">
            <a:solidFill>
              <a:srgbClr val="FF0000"/>
            </a:solidFill>
            <a:latin typeface="楷体" panose="02010609060101010101" pitchFamily="49" charset="-122"/>
            <a:ea typeface="楷体" panose="02010609060101010101" pitchFamily="49" charset="-122"/>
          </a:endParaRPr>
        </a:p>
      </dgm:t>
    </dgm:pt>
    <dgm:pt modelId="{4CE9AD92-BF00-42FB-A676-BF6DF5ADD430}" type="parTrans" cxnId="{6FB2A94C-20CC-4D6B-8B2C-F31843D57B69}">
      <dgm:prSet/>
      <dgm:spPr/>
      <dgm:t>
        <a:bodyPr/>
        <a:lstStyle/>
        <a:p>
          <a:endParaRPr lang="zh-CN" altLang="en-US"/>
        </a:p>
      </dgm:t>
    </dgm:pt>
    <dgm:pt modelId="{282FCBF8-1A05-4DF3-828E-5CB36D65DE37}" type="sibTrans" cxnId="{6FB2A94C-20CC-4D6B-8B2C-F31843D57B69}">
      <dgm:prSet/>
      <dgm:spPr/>
      <dgm:t>
        <a:bodyPr/>
        <a:lstStyle/>
        <a:p>
          <a:endParaRPr lang="zh-CN" altLang="en-US"/>
        </a:p>
      </dgm:t>
    </dgm:pt>
    <dgm:pt modelId="{DCD3E76B-702D-4C61-B669-1C5B8C18468D}">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AB387FFD-666C-48A1-896A-BAEF52BE5A6E}" type="parTrans" cxnId="{CB726045-462E-4FDE-8B42-EE95C172ECAF}">
      <dgm:prSet/>
      <dgm:spPr/>
      <dgm:t>
        <a:bodyPr/>
        <a:lstStyle/>
        <a:p>
          <a:endParaRPr lang="zh-CN" altLang="en-US"/>
        </a:p>
      </dgm:t>
    </dgm:pt>
    <dgm:pt modelId="{0E4810F8-85E9-41C1-ADE8-0C77C3935B5F}" type="sibTrans" cxnId="{CB726045-462E-4FDE-8B42-EE95C172ECAF}">
      <dgm:prSet/>
      <dgm:spPr/>
      <dgm:t>
        <a:bodyPr/>
        <a:lstStyle/>
        <a:p>
          <a:endParaRPr lang="zh-CN" altLang="en-US"/>
        </a:p>
      </dgm:t>
    </dgm:pt>
    <dgm:pt modelId="{76520E71-2C00-4FE2-BBE9-F4662F157057}">
      <dgm:prSet phldrT="[文本]"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回溯法解题算法框架</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4FF0A9FB-5BB3-409B-8007-2EEEE07EC7C9}" type="parTrans" cxnId="{B3686629-5945-4591-B831-FAF50E99AECD}">
      <dgm:prSet/>
      <dgm:spPr/>
      <dgm:t>
        <a:bodyPr/>
        <a:lstStyle/>
        <a:p>
          <a:endParaRPr lang="zh-CN" altLang="en-US"/>
        </a:p>
      </dgm:t>
    </dgm:pt>
    <dgm:pt modelId="{1F6250BF-B0F8-4F10-88E0-D5C1BB08367A}" type="sibTrans" cxnId="{B3686629-5945-4591-B831-FAF50E99AECD}">
      <dgm:prSet/>
      <dgm:spPr/>
      <dgm:t>
        <a:bodyPr/>
        <a:lstStyle/>
        <a:p>
          <a:endParaRPr lang="zh-CN" altLang="en-US"/>
        </a:p>
      </dgm:t>
    </dgm:pt>
    <dgm:pt modelId="{8C52E961-8DC7-4BA8-9EFE-B5D4E7BFCB2C}">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06C084B8-CA07-4300-9514-C36F01B77F84}" type="parTrans" cxnId="{8A157C6C-0F81-4767-850C-8243FF679803}">
      <dgm:prSet/>
      <dgm:spPr/>
      <dgm:t>
        <a:bodyPr/>
        <a:lstStyle/>
        <a:p>
          <a:endParaRPr lang="zh-CN" altLang="en-US"/>
        </a:p>
      </dgm:t>
    </dgm:pt>
    <dgm:pt modelId="{AED74C2A-4C95-4A64-AE41-935EC9214B07}" type="sibTrans" cxnId="{8A157C6C-0F81-4767-850C-8243FF679803}">
      <dgm:prSet/>
      <dgm:spPr/>
      <dgm:t>
        <a:bodyPr/>
        <a:lstStyle/>
        <a:p>
          <a:endParaRPr lang="zh-CN" altLang="en-US"/>
        </a:p>
      </dgm:t>
    </dgm:pt>
    <dgm:pt modelId="{0C14CBCD-34EC-43F9-88B3-B5B73566B37B}">
      <dgm:prSet custT="1"/>
      <dgm:spPr/>
      <dgm:t>
        <a:bodyPr/>
        <a:lstStyle/>
        <a:p>
          <a:r>
            <a:rPr lang="zh-CN" altLang="en-US" sz="36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dirty="0" smtClean="0">
              <a:solidFill>
                <a:schemeClr val="tx2">
                  <a:lumMod val="50000"/>
                </a:schemeClr>
              </a:solidFill>
              <a:latin typeface="楷体" panose="02010609060101010101" pitchFamily="49" charset="-122"/>
              <a:ea typeface="楷体" panose="02010609060101010101" pitchFamily="49" charset="-122"/>
            </a:rPr>
            <a:t>皇后问题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90801A33-C96F-4A81-B93A-0852A9956992}" type="parTrans" cxnId="{126D26C8-D6CF-48ED-B10B-256EDA69A0E3}">
      <dgm:prSet/>
      <dgm:spPr/>
      <dgm:t>
        <a:bodyPr/>
        <a:lstStyle/>
        <a:p>
          <a:endParaRPr lang="zh-CN" altLang="en-US"/>
        </a:p>
      </dgm:t>
    </dgm:pt>
    <dgm:pt modelId="{1B669E59-2BD4-468F-B2F8-A293D31DB965}" type="sibTrans" cxnId="{126D26C8-D6CF-48ED-B10B-256EDA69A0E3}">
      <dgm:prSet/>
      <dgm:spPr/>
      <dgm:t>
        <a:bodyPr/>
        <a:lstStyle/>
        <a:p>
          <a:endParaRPr lang="zh-CN" altLang="en-US"/>
        </a:p>
      </dgm:t>
    </dgm:pt>
    <dgm:pt modelId="{62F14362-0BA0-43B6-9C2F-9CE9057D4DF0}">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CDF3E7AF-3551-41F1-9ECA-68622446D3EB}" type="parTrans" cxnId="{07B7A958-7CEF-45E9-AC1B-1F1A55A45858}">
      <dgm:prSet/>
      <dgm:spPr/>
      <dgm:t>
        <a:bodyPr/>
        <a:lstStyle/>
        <a:p>
          <a:endParaRPr lang="zh-CN" altLang="en-US"/>
        </a:p>
      </dgm:t>
    </dgm:pt>
    <dgm:pt modelId="{A32A4E3C-B771-4D7B-AAFB-AD232D6DC34D}" type="sibTrans" cxnId="{07B7A958-7CEF-45E9-AC1B-1F1A55A45858}">
      <dgm:prSet/>
      <dgm:spPr/>
      <dgm:t>
        <a:bodyPr/>
        <a:lstStyle/>
        <a:p>
          <a:endParaRPr lang="zh-CN" altLang="en-US"/>
        </a:p>
      </dgm:t>
    </dgm:pt>
    <dgm:pt modelId="{DE6243F6-0982-4749-BDA9-3D7D8184C26A}">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案例分析：货郎担问题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4E43DCB8-FD68-424F-8D7A-EA8B37717DFA}" type="parTrans" cxnId="{FB086BEE-81B2-4ED3-8935-6D4ECF6A1B51}">
      <dgm:prSet/>
      <dgm:spPr/>
      <dgm:t>
        <a:bodyPr/>
        <a:lstStyle/>
        <a:p>
          <a:endParaRPr lang="zh-CN" altLang="en-US"/>
        </a:p>
      </dgm:t>
    </dgm:pt>
    <dgm:pt modelId="{AE990C81-80DD-4734-A92A-C91E19EF55BD}" type="sibTrans" cxnId="{FB086BEE-81B2-4ED3-8935-6D4ECF6A1B51}">
      <dgm:prSet/>
      <dgm:spPr/>
      <dgm:t>
        <a:bodyPr/>
        <a:lstStyle/>
        <a:p>
          <a:endParaRPr lang="zh-CN" altLang="en-US"/>
        </a:p>
      </dgm:t>
    </dgm:pt>
    <dgm:pt modelId="{9D86A73C-E86D-4AAF-B0E8-6A97AC00E5A7}">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351CB61-64A9-487C-873B-AB30EE6EB332}" type="parTrans" cxnId="{498A534E-6488-45E3-9C79-2ABB07DC381A}">
      <dgm:prSet/>
      <dgm:spPr/>
      <dgm:t>
        <a:bodyPr/>
        <a:lstStyle/>
        <a:p>
          <a:endParaRPr lang="zh-CN" altLang="en-US"/>
        </a:p>
      </dgm:t>
    </dgm:pt>
    <dgm:pt modelId="{FED2A96A-EBDD-4A03-A3BD-37056BFE36D4}" type="sibTrans" cxnId="{498A534E-6488-45E3-9C79-2ABB07DC381A}">
      <dgm:prSet/>
      <dgm:spPr/>
      <dgm:t>
        <a:bodyPr/>
        <a:lstStyle/>
        <a:p>
          <a:endParaRPr lang="zh-CN" altLang="en-US"/>
        </a:p>
      </dgm:t>
    </dgm:pt>
    <dgm:pt modelId="{0DAAF06F-B1D9-4FF4-9699-13EFE5C37F21}">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72D9623A-45B7-47AC-905E-F602609A5D17}" type="parTrans" cxnId="{1BC291E5-951D-4A13-A57D-DA1C18B66788}">
      <dgm:prSet/>
      <dgm:spPr/>
      <dgm:t>
        <a:bodyPr/>
        <a:lstStyle/>
        <a:p>
          <a:endParaRPr lang="zh-CN" altLang="en-US"/>
        </a:p>
      </dgm:t>
    </dgm:pt>
    <dgm:pt modelId="{67D094FD-53C8-407C-A51C-3A10DAC12FD7}" type="sibTrans" cxnId="{1BC291E5-951D-4A13-A57D-DA1C18B66788}">
      <dgm:prSet/>
      <dgm:spPr/>
      <dgm:t>
        <a:bodyPr/>
        <a:lstStyle/>
        <a:p>
          <a:endParaRPr lang="zh-CN" altLang="en-US"/>
        </a:p>
      </dgm:t>
    </dgm:pt>
    <dgm:pt modelId="{82317BD2-FB94-48E1-BC4C-A946E0BA34B6}" type="pres">
      <dgm:prSet presAssocID="{5D330F28-D18C-485B-AD2B-7DF346A53225}" presName="linearFlow" presStyleCnt="0">
        <dgm:presLayoutVars>
          <dgm:dir/>
          <dgm:animLvl val="lvl"/>
          <dgm:resizeHandles val="exact"/>
        </dgm:presLayoutVars>
      </dgm:prSet>
      <dgm:spPr/>
      <dgm:t>
        <a:bodyPr/>
        <a:lstStyle/>
        <a:p>
          <a:endParaRPr lang="zh-CN" altLang="en-US"/>
        </a:p>
      </dgm:t>
    </dgm:pt>
    <dgm:pt modelId="{6C1D086C-E1C9-4393-9235-13A5556BA65D}" type="pres">
      <dgm:prSet presAssocID="{7AA4BCE5-838A-452C-BA06-A869C07EAE33}" presName="composite" presStyleCnt="0"/>
      <dgm:spPr/>
    </dgm:pt>
    <dgm:pt modelId="{EEC96708-49E3-4A42-ACE1-C2020844E9DB}" type="pres">
      <dgm:prSet presAssocID="{7AA4BCE5-838A-452C-BA06-A869C07EAE33}" presName="parentText" presStyleLbl="alignNode1" presStyleIdx="0" presStyleCnt="5">
        <dgm:presLayoutVars>
          <dgm:chMax val="1"/>
          <dgm:bulletEnabled val="1"/>
        </dgm:presLayoutVars>
      </dgm:prSet>
      <dgm:spPr/>
      <dgm:t>
        <a:bodyPr/>
        <a:lstStyle/>
        <a:p>
          <a:endParaRPr lang="zh-CN" altLang="en-US"/>
        </a:p>
      </dgm:t>
    </dgm:pt>
    <dgm:pt modelId="{B0D5B842-CFD7-4F5C-8567-ABE9C6F65A41}" type="pres">
      <dgm:prSet presAssocID="{7AA4BCE5-838A-452C-BA06-A869C07EAE33}" presName="descendantText" presStyleLbl="alignAcc1" presStyleIdx="0" presStyleCnt="5">
        <dgm:presLayoutVars>
          <dgm:bulletEnabled val="1"/>
        </dgm:presLayoutVars>
      </dgm:prSet>
      <dgm:spPr/>
      <dgm:t>
        <a:bodyPr/>
        <a:lstStyle/>
        <a:p>
          <a:endParaRPr lang="zh-CN" altLang="en-US"/>
        </a:p>
      </dgm:t>
    </dgm:pt>
    <dgm:pt modelId="{95C2C221-9BB3-4F27-ABEA-3C9C634746D8}" type="pres">
      <dgm:prSet presAssocID="{3FEA1EA7-43E1-472F-A09C-BB829D763F53}" presName="sp" presStyleCnt="0"/>
      <dgm:spPr/>
    </dgm:pt>
    <dgm:pt modelId="{21726A0F-803D-4B8C-85CE-0115BBC93A2F}" type="pres">
      <dgm:prSet presAssocID="{DCD3E76B-702D-4C61-B669-1C5B8C18468D}" presName="composite" presStyleCnt="0"/>
      <dgm:spPr/>
    </dgm:pt>
    <dgm:pt modelId="{1F8198BB-C190-4AF2-8BC4-0432E8F05966}" type="pres">
      <dgm:prSet presAssocID="{DCD3E76B-702D-4C61-B669-1C5B8C18468D}" presName="parentText" presStyleLbl="alignNode1" presStyleIdx="1" presStyleCnt="5">
        <dgm:presLayoutVars>
          <dgm:chMax val="1"/>
          <dgm:bulletEnabled val="1"/>
        </dgm:presLayoutVars>
      </dgm:prSet>
      <dgm:spPr/>
      <dgm:t>
        <a:bodyPr/>
        <a:lstStyle/>
        <a:p>
          <a:endParaRPr lang="zh-CN" altLang="en-US"/>
        </a:p>
      </dgm:t>
    </dgm:pt>
    <dgm:pt modelId="{C7B00ED2-F288-4724-9951-5B0C1CECD248}" type="pres">
      <dgm:prSet presAssocID="{DCD3E76B-702D-4C61-B669-1C5B8C18468D}" presName="descendantText" presStyleLbl="alignAcc1" presStyleIdx="1" presStyleCnt="5">
        <dgm:presLayoutVars>
          <dgm:bulletEnabled val="1"/>
        </dgm:presLayoutVars>
      </dgm:prSet>
      <dgm:spPr/>
      <dgm:t>
        <a:bodyPr/>
        <a:lstStyle/>
        <a:p>
          <a:endParaRPr lang="zh-CN" altLang="en-US"/>
        </a:p>
      </dgm:t>
    </dgm:pt>
    <dgm:pt modelId="{16DE5933-3BD5-4364-AD06-4BA5E29A5E70}" type="pres">
      <dgm:prSet presAssocID="{0E4810F8-85E9-41C1-ADE8-0C77C3935B5F}" presName="sp" presStyleCnt="0"/>
      <dgm:spPr/>
    </dgm:pt>
    <dgm:pt modelId="{5D56E540-3580-486B-8A26-E6493EE00583}" type="pres">
      <dgm:prSet presAssocID="{8C52E961-8DC7-4BA8-9EFE-B5D4E7BFCB2C}" presName="composite" presStyleCnt="0"/>
      <dgm:spPr/>
    </dgm:pt>
    <dgm:pt modelId="{75BB0E8A-43DB-48C7-A63A-6F886446931F}" type="pres">
      <dgm:prSet presAssocID="{8C52E961-8DC7-4BA8-9EFE-B5D4E7BFCB2C}" presName="parentText" presStyleLbl="alignNode1" presStyleIdx="2" presStyleCnt="5">
        <dgm:presLayoutVars>
          <dgm:chMax val="1"/>
          <dgm:bulletEnabled val="1"/>
        </dgm:presLayoutVars>
      </dgm:prSet>
      <dgm:spPr/>
      <dgm:t>
        <a:bodyPr/>
        <a:lstStyle/>
        <a:p>
          <a:endParaRPr lang="zh-CN" altLang="en-US"/>
        </a:p>
      </dgm:t>
    </dgm:pt>
    <dgm:pt modelId="{23879B60-AA3C-4F85-B34A-EACE2437749A}" type="pres">
      <dgm:prSet presAssocID="{8C52E961-8DC7-4BA8-9EFE-B5D4E7BFCB2C}" presName="descendantText" presStyleLbl="alignAcc1" presStyleIdx="2" presStyleCnt="5">
        <dgm:presLayoutVars>
          <dgm:bulletEnabled val="1"/>
        </dgm:presLayoutVars>
      </dgm:prSet>
      <dgm:spPr/>
      <dgm:t>
        <a:bodyPr/>
        <a:lstStyle/>
        <a:p>
          <a:endParaRPr lang="zh-CN" altLang="en-US"/>
        </a:p>
      </dgm:t>
    </dgm:pt>
    <dgm:pt modelId="{5C8F247B-6C82-443F-8937-DB94A5EF8871}" type="pres">
      <dgm:prSet presAssocID="{AED74C2A-4C95-4A64-AE41-935EC9214B07}" presName="sp" presStyleCnt="0"/>
      <dgm:spPr/>
    </dgm:pt>
    <dgm:pt modelId="{6B14C85C-A315-423E-86AF-D0DB467E8042}" type="pres">
      <dgm:prSet presAssocID="{62F14362-0BA0-43B6-9C2F-9CE9057D4DF0}" presName="composite" presStyleCnt="0"/>
      <dgm:spPr/>
    </dgm:pt>
    <dgm:pt modelId="{A045862D-78AC-44F9-BFD7-D9799FC417C9}" type="pres">
      <dgm:prSet presAssocID="{62F14362-0BA0-43B6-9C2F-9CE9057D4DF0}" presName="parentText" presStyleLbl="alignNode1" presStyleIdx="3" presStyleCnt="5">
        <dgm:presLayoutVars>
          <dgm:chMax val="1"/>
          <dgm:bulletEnabled val="1"/>
        </dgm:presLayoutVars>
      </dgm:prSet>
      <dgm:spPr/>
      <dgm:t>
        <a:bodyPr/>
        <a:lstStyle/>
        <a:p>
          <a:endParaRPr lang="zh-CN" altLang="en-US"/>
        </a:p>
      </dgm:t>
    </dgm:pt>
    <dgm:pt modelId="{150E90A1-794C-4F0B-9934-A8E58ABC48E6}" type="pres">
      <dgm:prSet presAssocID="{62F14362-0BA0-43B6-9C2F-9CE9057D4DF0}" presName="descendantText" presStyleLbl="alignAcc1" presStyleIdx="3" presStyleCnt="5">
        <dgm:presLayoutVars>
          <dgm:bulletEnabled val="1"/>
        </dgm:presLayoutVars>
      </dgm:prSet>
      <dgm:spPr/>
      <dgm:t>
        <a:bodyPr/>
        <a:lstStyle/>
        <a:p>
          <a:endParaRPr lang="zh-CN" altLang="en-US"/>
        </a:p>
      </dgm:t>
    </dgm:pt>
    <dgm:pt modelId="{E39FE392-81EE-405C-AFA2-A7A9E94329F7}" type="pres">
      <dgm:prSet presAssocID="{A32A4E3C-B771-4D7B-AAFB-AD232D6DC34D}" presName="sp" presStyleCnt="0"/>
      <dgm:spPr/>
    </dgm:pt>
    <dgm:pt modelId="{9F8822EB-FA47-4DF0-9226-122A445F4A28}" type="pres">
      <dgm:prSet presAssocID="{9D86A73C-E86D-4AAF-B0E8-6A97AC00E5A7}" presName="composite" presStyleCnt="0"/>
      <dgm:spPr/>
    </dgm:pt>
    <dgm:pt modelId="{0130137D-86A9-4CA1-B654-96683AA3D24E}" type="pres">
      <dgm:prSet presAssocID="{9D86A73C-E86D-4AAF-B0E8-6A97AC00E5A7}" presName="parentText" presStyleLbl="alignNode1" presStyleIdx="4" presStyleCnt="5">
        <dgm:presLayoutVars>
          <dgm:chMax val="1"/>
          <dgm:bulletEnabled val="1"/>
        </dgm:presLayoutVars>
      </dgm:prSet>
      <dgm:spPr/>
      <dgm:t>
        <a:bodyPr/>
        <a:lstStyle/>
        <a:p>
          <a:endParaRPr lang="zh-CN" altLang="en-US"/>
        </a:p>
      </dgm:t>
    </dgm:pt>
    <dgm:pt modelId="{CBD335E0-8D6A-469E-B81C-6247BD0A19E2}" type="pres">
      <dgm:prSet presAssocID="{9D86A73C-E86D-4AAF-B0E8-6A97AC00E5A7}" presName="descendantText" presStyleLbl="alignAcc1" presStyleIdx="4" presStyleCnt="5">
        <dgm:presLayoutVars>
          <dgm:bulletEnabled val="1"/>
        </dgm:presLayoutVars>
      </dgm:prSet>
      <dgm:spPr/>
      <dgm:t>
        <a:bodyPr/>
        <a:lstStyle/>
        <a:p>
          <a:endParaRPr lang="zh-CN" altLang="en-US"/>
        </a:p>
      </dgm:t>
    </dgm:pt>
  </dgm:ptLst>
  <dgm:cxnLst>
    <dgm:cxn modelId="{217B15EE-ED5A-4FD8-AA52-E8789F058FE0}" type="presOf" srcId="{9D86A73C-E86D-4AAF-B0E8-6A97AC00E5A7}" destId="{0130137D-86A9-4CA1-B654-96683AA3D24E}" srcOrd="0" destOrd="0" presId="urn:microsoft.com/office/officeart/2005/8/layout/chevron2"/>
    <dgm:cxn modelId="{6FB2A94C-20CC-4D6B-8B2C-F31843D57B69}" srcId="{7AA4BCE5-838A-452C-BA06-A869C07EAE33}" destId="{033AB355-DEBE-4BC0-81F7-79E198B90F3F}" srcOrd="0" destOrd="0" parTransId="{4CE9AD92-BF00-42FB-A676-BF6DF5ADD430}" sibTransId="{282FCBF8-1A05-4DF3-828E-5CB36D65DE37}"/>
    <dgm:cxn modelId="{CB726045-462E-4FDE-8B42-EE95C172ECAF}" srcId="{5D330F28-D18C-485B-AD2B-7DF346A53225}" destId="{DCD3E76B-702D-4C61-B669-1C5B8C18468D}" srcOrd="1" destOrd="0" parTransId="{AB387FFD-666C-48A1-896A-BAEF52BE5A6E}" sibTransId="{0E4810F8-85E9-41C1-ADE8-0C77C3935B5F}"/>
    <dgm:cxn modelId="{8E38E6C3-611D-454A-808F-4328026B734F}" type="presOf" srcId="{0C14CBCD-34EC-43F9-88B3-B5B73566B37B}" destId="{23879B60-AA3C-4F85-B34A-EACE2437749A}" srcOrd="0" destOrd="0" presId="urn:microsoft.com/office/officeart/2005/8/layout/chevron2"/>
    <dgm:cxn modelId="{27976D76-433E-40A2-83B6-709D4A69ABB6}" type="presOf" srcId="{033AB355-DEBE-4BC0-81F7-79E198B90F3F}" destId="{B0D5B842-CFD7-4F5C-8567-ABE9C6F65A41}" srcOrd="0" destOrd="0" presId="urn:microsoft.com/office/officeart/2005/8/layout/chevron2"/>
    <dgm:cxn modelId="{FB086BEE-81B2-4ED3-8935-6D4ECF6A1B51}" srcId="{62F14362-0BA0-43B6-9C2F-9CE9057D4DF0}" destId="{DE6243F6-0982-4749-BDA9-3D7D8184C26A}" srcOrd="0" destOrd="0" parTransId="{4E43DCB8-FD68-424F-8D7A-EA8B37717DFA}" sibTransId="{AE990C81-80DD-4734-A92A-C91E19EF55BD}"/>
    <dgm:cxn modelId="{6D9B6D03-5E0A-411A-AF27-FB160C9F21C7}" type="presOf" srcId="{7AA4BCE5-838A-452C-BA06-A869C07EAE33}" destId="{EEC96708-49E3-4A42-ACE1-C2020844E9DB}" srcOrd="0" destOrd="0" presId="urn:microsoft.com/office/officeart/2005/8/layout/chevron2"/>
    <dgm:cxn modelId="{498A534E-6488-45E3-9C79-2ABB07DC381A}" srcId="{5D330F28-D18C-485B-AD2B-7DF346A53225}" destId="{9D86A73C-E86D-4AAF-B0E8-6A97AC00E5A7}" srcOrd="4" destOrd="0" parTransId="{8351CB61-64A9-487C-873B-AB30EE6EB332}" sibTransId="{FED2A96A-EBDD-4A03-A3BD-37056BFE36D4}"/>
    <dgm:cxn modelId="{DAC17EDE-A220-40BB-ADAC-1F054CCA3C05}" type="presOf" srcId="{0DAAF06F-B1D9-4FF4-9699-13EFE5C37F21}" destId="{CBD335E0-8D6A-469E-B81C-6247BD0A19E2}" srcOrd="0" destOrd="0" presId="urn:microsoft.com/office/officeart/2005/8/layout/chevron2"/>
    <dgm:cxn modelId="{CCA3DE2D-FD87-435B-9153-72C560918A42}" type="presOf" srcId="{62F14362-0BA0-43B6-9C2F-9CE9057D4DF0}" destId="{A045862D-78AC-44F9-BFD7-D9799FC417C9}" srcOrd="0" destOrd="0" presId="urn:microsoft.com/office/officeart/2005/8/layout/chevron2"/>
    <dgm:cxn modelId="{B3686629-5945-4591-B831-FAF50E99AECD}" srcId="{DCD3E76B-702D-4C61-B669-1C5B8C18468D}" destId="{76520E71-2C00-4FE2-BBE9-F4662F157057}" srcOrd="0" destOrd="0" parTransId="{4FF0A9FB-5BB3-409B-8007-2EEEE07EC7C9}" sibTransId="{1F6250BF-B0F8-4F10-88E0-D5C1BB08367A}"/>
    <dgm:cxn modelId="{667B792E-8B0F-4DAB-B592-4E435304E175}" type="presOf" srcId="{DE6243F6-0982-4749-BDA9-3D7D8184C26A}" destId="{150E90A1-794C-4F0B-9934-A8E58ABC48E6}" srcOrd="0" destOrd="0" presId="urn:microsoft.com/office/officeart/2005/8/layout/chevron2"/>
    <dgm:cxn modelId="{126D26C8-D6CF-48ED-B10B-256EDA69A0E3}" srcId="{8C52E961-8DC7-4BA8-9EFE-B5D4E7BFCB2C}" destId="{0C14CBCD-34EC-43F9-88B3-B5B73566B37B}" srcOrd="0" destOrd="0" parTransId="{90801A33-C96F-4A81-B93A-0852A9956992}" sibTransId="{1B669E59-2BD4-468F-B2F8-A293D31DB965}"/>
    <dgm:cxn modelId="{07B7A958-7CEF-45E9-AC1B-1F1A55A45858}" srcId="{5D330F28-D18C-485B-AD2B-7DF346A53225}" destId="{62F14362-0BA0-43B6-9C2F-9CE9057D4DF0}" srcOrd="3" destOrd="0" parTransId="{CDF3E7AF-3551-41F1-9ECA-68622446D3EB}" sibTransId="{A32A4E3C-B771-4D7B-AAFB-AD232D6DC34D}"/>
    <dgm:cxn modelId="{A2FF9CED-1DD7-4C7A-917F-8BE3B2BB7AB5}" type="presOf" srcId="{76520E71-2C00-4FE2-BBE9-F4662F157057}" destId="{C7B00ED2-F288-4724-9951-5B0C1CECD248}" srcOrd="0" destOrd="0" presId="urn:microsoft.com/office/officeart/2005/8/layout/chevron2"/>
    <dgm:cxn modelId="{62A26323-28F0-4752-BA21-3D10BD84D17F}" type="presOf" srcId="{5D330F28-D18C-485B-AD2B-7DF346A53225}" destId="{82317BD2-FB94-48E1-BC4C-A946E0BA34B6}" srcOrd="0" destOrd="0" presId="urn:microsoft.com/office/officeart/2005/8/layout/chevron2"/>
    <dgm:cxn modelId="{30F47630-5392-451A-AA54-B57DFEF37484}" type="presOf" srcId="{DCD3E76B-702D-4C61-B669-1C5B8C18468D}" destId="{1F8198BB-C190-4AF2-8BC4-0432E8F05966}" srcOrd="0" destOrd="0" presId="urn:microsoft.com/office/officeart/2005/8/layout/chevron2"/>
    <dgm:cxn modelId="{707AF860-53F4-4206-9582-9C3989E8361F}" type="presOf" srcId="{8C52E961-8DC7-4BA8-9EFE-B5D4E7BFCB2C}" destId="{75BB0E8A-43DB-48C7-A63A-6F886446931F}" srcOrd="0" destOrd="0" presId="urn:microsoft.com/office/officeart/2005/8/layout/chevron2"/>
    <dgm:cxn modelId="{E87C870E-8802-4DE6-99E1-34561ECF1851}" srcId="{5D330F28-D18C-485B-AD2B-7DF346A53225}" destId="{7AA4BCE5-838A-452C-BA06-A869C07EAE33}" srcOrd="0" destOrd="0" parTransId="{D703FA97-3964-407D-BCB3-03578955312E}" sibTransId="{3FEA1EA7-43E1-472F-A09C-BB829D763F53}"/>
    <dgm:cxn modelId="{1BC291E5-951D-4A13-A57D-DA1C18B66788}" srcId="{9D86A73C-E86D-4AAF-B0E8-6A97AC00E5A7}" destId="{0DAAF06F-B1D9-4FF4-9699-13EFE5C37F21}" srcOrd="0" destOrd="0" parTransId="{72D9623A-45B7-47AC-905E-F602609A5D17}" sibTransId="{67D094FD-53C8-407C-A51C-3A10DAC12FD7}"/>
    <dgm:cxn modelId="{8A157C6C-0F81-4767-850C-8243FF679803}" srcId="{5D330F28-D18C-485B-AD2B-7DF346A53225}" destId="{8C52E961-8DC7-4BA8-9EFE-B5D4E7BFCB2C}" srcOrd="2" destOrd="0" parTransId="{06C084B8-CA07-4300-9514-C36F01B77F84}" sibTransId="{AED74C2A-4C95-4A64-AE41-935EC9214B07}"/>
    <dgm:cxn modelId="{1F91A1DF-3116-4C11-8E06-B0932F7FE4B1}" type="presParOf" srcId="{82317BD2-FB94-48E1-BC4C-A946E0BA34B6}" destId="{6C1D086C-E1C9-4393-9235-13A5556BA65D}" srcOrd="0" destOrd="0" presId="urn:microsoft.com/office/officeart/2005/8/layout/chevron2"/>
    <dgm:cxn modelId="{4A5D7E8B-1F39-4096-960A-F1C2D4F2A422}" type="presParOf" srcId="{6C1D086C-E1C9-4393-9235-13A5556BA65D}" destId="{EEC96708-49E3-4A42-ACE1-C2020844E9DB}" srcOrd="0" destOrd="0" presId="urn:microsoft.com/office/officeart/2005/8/layout/chevron2"/>
    <dgm:cxn modelId="{3E2654FE-5F29-4E6D-B0C8-9A03E9466263}" type="presParOf" srcId="{6C1D086C-E1C9-4393-9235-13A5556BA65D}" destId="{B0D5B842-CFD7-4F5C-8567-ABE9C6F65A41}" srcOrd="1" destOrd="0" presId="urn:microsoft.com/office/officeart/2005/8/layout/chevron2"/>
    <dgm:cxn modelId="{F058DF2A-BF9A-4F4E-83E7-BF4E760E1B87}" type="presParOf" srcId="{82317BD2-FB94-48E1-BC4C-A946E0BA34B6}" destId="{95C2C221-9BB3-4F27-ABEA-3C9C634746D8}" srcOrd="1" destOrd="0" presId="urn:microsoft.com/office/officeart/2005/8/layout/chevron2"/>
    <dgm:cxn modelId="{4D5A3BB3-108A-437A-A284-3DB3E2D6FE47}" type="presParOf" srcId="{82317BD2-FB94-48E1-BC4C-A946E0BA34B6}" destId="{21726A0F-803D-4B8C-85CE-0115BBC93A2F}" srcOrd="2" destOrd="0" presId="urn:microsoft.com/office/officeart/2005/8/layout/chevron2"/>
    <dgm:cxn modelId="{B5DF6161-CF75-4FC7-985D-25387350C550}" type="presParOf" srcId="{21726A0F-803D-4B8C-85CE-0115BBC93A2F}" destId="{1F8198BB-C190-4AF2-8BC4-0432E8F05966}" srcOrd="0" destOrd="0" presId="urn:microsoft.com/office/officeart/2005/8/layout/chevron2"/>
    <dgm:cxn modelId="{DDD83E3B-ED58-4B79-A5F4-5033B901BBEE}" type="presParOf" srcId="{21726A0F-803D-4B8C-85CE-0115BBC93A2F}" destId="{C7B00ED2-F288-4724-9951-5B0C1CECD248}" srcOrd="1" destOrd="0" presId="urn:microsoft.com/office/officeart/2005/8/layout/chevron2"/>
    <dgm:cxn modelId="{93CD0D01-FBAA-41C2-9453-CAE606636509}" type="presParOf" srcId="{82317BD2-FB94-48E1-BC4C-A946E0BA34B6}" destId="{16DE5933-3BD5-4364-AD06-4BA5E29A5E70}" srcOrd="3" destOrd="0" presId="urn:microsoft.com/office/officeart/2005/8/layout/chevron2"/>
    <dgm:cxn modelId="{01EF7BFB-DFF5-4D36-B3EB-755E7AD469D0}" type="presParOf" srcId="{82317BD2-FB94-48E1-BC4C-A946E0BA34B6}" destId="{5D56E540-3580-486B-8A26-E6493EE00583}" srcOrd="4" destOrd="0" presId="urn:microsoft.com/office/officeart/2005/8/layout/chevron2"/>
    <dgm:cxn modelId="{6E4A4832-94D3-446E-B102-0F15055773FF}" type="presParOf" srcId="{5D56E540-3580-486B-8A26-E6493EE00583}" destId="{75BB0E8A-43DB-48C7-A63A-6F886446931F}" srcOrd="0" destOrd="0" presId="urn:microsoft.com/office/officeart/2005/8/layout/chevron2"/>
    <dgm:cxn modelId="{2DA1A8D2-138A-4522-AA2F-7C31514763F1}" type="presParOf" srcId="{5D56E540-3580-486B-8A26-E6493EE00583}" destId="{23879B60-AA3C-4F85-B34A-EACE2437749A}" srcOrd="1" destOrd="0" presId="urn:microsoft.com/office/officeart/2005/8/layout/chevron2"/>
    <dgm:cxn modelId="{89E7ADC7-EB0F-4602-91DA-F1EEA2006743}" type="presParOf" srcId="{82317BD2-FB94-48E1-BC4C-A946E0BA34B6}" destId="{5C8F247B-6C82-443F-8937-DB94A5EF8871}" srcOrd="5" destOrd="0" presId="urn:microsoft.com/office/officeart/2005/8/layout/chevron2"/>
    <dgm:cxn modelId="{EDA20739-8D07-4374-A708-69C97DA5187C}" type="presParOf" srcId="{82317BD2-FB94-48E1-BC4C-A946E0BA34B6}" destId="{6B14C85C-A315-423E-86AF-D0DB467E8042}" srcOrd="6" destOrd="0" presId="urn:microsoft.com/office/officeart/2005/8/layout/chevron2"/>
    <dgm:cxn modelId="{F4721E4E-329D-4CA3-9962-4F799D2BB562}" type="presParOf" srcId="{6B14C85C-A315-423E-86AF-D0DB467E8042}" destId="{A045862D-78AC-44F9-BFD7-D9799FC417C9}" srcOrd="0" destOrd="0" presId="urn:microsoft.com/office/officeart/2005/8/layout/chevron2"/>
    <dgm:cxn modelId="{62AE072E-E4C5-4767-9495-773048A78A4E}" type="presParOf" srcId="{6B14C85C-A315-423E-86AF-D0DB467E8042}" destId="{150E90A1-794C-4F0B-9934-A8E58ABC48E6}" srcOrd="1" destOrd="0" presId="urn:microsoft.com/office/officeart/2005/8/layout/chevron2"/>
    <dgm:cxn modelId="{857EBFD0-E0F0-441D-BD2E-63F066EE8C1A}" type="presParOf" srcId="{82317BD2-FB94-48E1-BC4C-A946E0BA34B6}" destId="{E39FE392-81EE-405C-AFA2-A7A9E94329F7}" srcOrd="7" destOrd="0" presId="urn:microsoft.com/office/officeart/2005/8/layout/chevron2"/>
    <dgm:cxn modelId="{B73F7094-1855-4280-BC39-3190D2538030}" type="presParOf" srcId="{82317BD2-FB94-48E1-BC4C-A946E0BA34B6}" destId="{9F8822EB-FA47-4DF0-9226-122A445F4A28}" srcOrd="8" destOrd="0" presId="urn:microsoft.com/office/officeart/2005/8/layout/chevron2"/>
    <dgm:cxn modelId="{61D6F580-7F35-40D5-ACB1-7A1E295F3035}" type="presParOf" srcId="{9F8822EB-FA47-4DF0-9226-122A445F4A28}" destId="{0130137D-86A9-4CA1-B654-96683AA3D24E}" srcOrd="0" destOrd="0" presId="urn:microsoft.com/office/officeart/2005/8/layout/chevron2"/>
    <dgm:cxn modelId="{33242A2F-377D-4F01-B75C-263054F96240}" type="presParOf" srcId="{9F8822EB-FA47-4DF0-9226-122A445F4A28}" destId="{CBD335E0-8D6A-469E-B81C-6247BD0A19E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330F28-D18C-485B-AD2B-7DF346A53225}" type="doc">
      <dgm:prSet loTypeId="urn:microsoft.com/office/officeart/2005/8/layout/chevron2" loCatId="list" qsTypeId="urn:microsoft.com/office/officeart/2005/8/quickstyle/simple1#2" qsCatId="simple" csTypeId="urn:microsoft.com/office/officeart/2005/8/colors/accent1_2#2" csCatId="accent1" phldr="1"/>
      <dgm:spPr/>
      <dgm:t>
        <a:bodyPr/>
        <a:lstStyle/>
        <a:p>
          <a:endParaRPr lang="zh-CN" altLang="en-US"/>
        </a:p>
      </dgm:t>
    </dgm:pt>
    <dgm:pt modelId="{7AA4BCE5-838A-452C-BA06-A869C07EAE33}">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D703FA97-3964-407D-BCB3-03578955312E}" type="parTrans" cxnId="{E87C870E-8802-4DE6-99E1-34561ECF1851}">
      <dgm:prSet/>
      <dgm:spPr/>
      <dgm:t>
        <a:bodyPr/>
        <a:lstStyle/>
        <a:p>
          <a:endParaRPr lang="zh-CN" altLang="en-US"/>
        </a:p>
      </dgm:t>
    </dgm:pt>
    <dgm:pt modelId="{3FEA1EA7-43E1-472F-A09C-BB829D763F53}" type="sibTrans" cxnId="{E87C870E-8802-4DE6-99E1-34561ECF1851}">
      <dgm:prSet/>
      <dgm:spPr/>
      <dgm:t>
        <a:bodyPr/>
        <a:lstStyle/>
        <a:p>
          <a:endParaRPr lang="zh-CN" altLang="en-US"/>
        </a:p>
      </dgm:t>
    </dgm:pt>
    <dgm:pt modelId="{033AB355-DEBE-4BC0-81F7-79E198B90F3F}">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回溯法及其基本思想</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CE9AD92-BF00-42FB-A676-BF6DF5ADD430}" type="parTrans" cxnId="{6FB2A94C-20CC-4D6B-8B2C-F31843D57B69}">
      <dgm:prSet/>
      <dgm:spPr/>
      <dgm:t>
        <a:bodyPr/>
        <a:lstStyle/>
        <a:p>
          <a:endParaRPr lang="zh-CN" altLang="en-US"/>
        </a:p>
      </dgm:t>
    </dgm:pt>
    <dgm:pt modelId="{282FCBF8-1A05-4DF3-828E-5CB36D65DE37}" type="sibTrans" cxnId="{6FB2A94C-20CC-4D6B-8B2C-F31843D57B69}">
      <dgm:prSet/>
      <dgm:spPr/>
      <dgm:t>
        <a:bodyPr/>
        <a:lstStyle/>
        <a:p>
          <a:endParaRPr lang="zh-CN" altLang="en-US"/>
        </a:p>
      </dgm:t>
    </dgm:pt>
    <dgm:pt modelId="{DCD3E76B-702D-4C61-B669-1C5B8C18468D}">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AB387FFD-666C-48A1-896A-BAEF52BE5A6E}" type="parTrans" cxnId="{CB726045-462E-4FDE-8B42-EE95C172ECAF}">
      <dgm:prSet/>
      <dgm:spPr/>
      <dgm:t>
        <a:bodyPr/>
        <a:lstStyle/>
        <a:p>
          <a:endParaRPr lang="zh-CN" altLang="en-US"/>
        </a:p>
      </dgm:t>
    </dgm:pt>
    <dgm:pt modelId="{0E4810F8-85E9-41C1-ADE8-0C77C3935B5F}" type="sibTrans" cxnId="{CB726045-462E-4FDE-8B42-EE95C172ECAF}">
      <dgm:prSet/>
      <dgm:spPr/>
      <dgm:t>
        <a:bodyPr/>
        <a:lstStyle/>
        <a:p>
          <a:endParaRPr lang="zh-CN" altLang="en-US"/>
        </a:p>
      </dgm:t>
    </dgm:pt>
    <dgm:pt modelId="{76520E71-2C00-4FE2-BBE9-F4662F157057}">
      <dgm:prSet phldrT="[文本]" custT="1"/>
      <dgm:spPr/>
      <dgm:t>
        <a:bodyPr/>
        <a:lstStyle/>
        <a:p>
          <a:r>
            <a:rPr lang="zh-CN" altLang="en-US" sz="3600" dirty="0" smtClean="0">
              <a:solidFill>
                <a:srgbClr val="FF0000"/>
              </a:solidFill>
              <a:latin typeface="楷体" panose="02010609060101010101" pitchFamily="49" charset="-122"/>
              <a:ea typeface="楷体" panose="02010609060101010101" pitchFamily="49" charset="-122"/>
            </a:rPr>
            <a:t>回溯法解题算法框架</a:t>
          </a:r>
          <a:endParaRPr lang="zh-CN" altLang="en-US" sz="3600" dirty="0">
            <a:solidFill>
              <a:srgbClr val="FF0000"/>
            </a:solidFill>
            <a:latin typeface="楷体" panose="02010609060101010101" pitchFamily="49" charset="-122"/>
            <a:ea typeface="楷体" panose="02010609060101010101" pitchFamily="49" charset="-122"/>
          </a:endParaRPr>
        </a:p>
      </dgm:t>
    </dgm:pt>
    <dgm:pt modelId="{4FF0A9FB-5BB3-409B-8007-2EEEE07EC7C9}" type="parTrans" cxnId="{B3686629-5945-4591-B831-FAF50E99AECD}">
      <dgm:prSet/>
      <dgm:spPr/>
      <dgm:t>
        <a:bodyPr/>
        <a:lstStyle/>
        <a:p>
          <a:endParaRPr lang="zh-CN" altLang="en-US"/>
        </a:p>
      </dgm:t>
    </dgm:pt>
    <dgm:pt modelId="{1F6250BF-B0F8-4F10-88E0-D5C1BB08367A}" type="sibTrans" cxnId="{B3686629-5945-4591-B831-FAF50E99AECD}">
      <dgm:prSet/>
      <dgm:spPr/>
      <dgm:t>
        <a:bodyPr/>
        <a:lstStyle/>
        <a:p>
          <a:endParaRPr lang="zh-CN" altLang="en-US"/>
        </a:p>
      </dgm:t>
    </dgm:pt>
    <dgm:pt modelId="{8C52E961-8DC7-4BA8-9EFE-B5D4E7BFCB2C}">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06C084B8-CA07-4300-9514-C36F01B77F84}" type="parTrans" cxnId="{8A157C6C-0F81-4767-850C-8243FF679803}">
      <dgm:prSet/>
      <dgm:spPr/>
      <dgm:t>
        <a:bodyPr/>
        <a:lstStyle/>
        <a:p>
          <a:endParaRPr lang="zh-CN" altLang="en-US"/>
        </a:p>
      </dgm:t>
    </dgm:pt>
    <dgm:pt modelId="{AED74C2A-4C95-4A64-AE41-935EC9214B07}" type="sibTrans" cxnId="{8A157C6C-0F81-4767-850C-8243FF679803}">
      <dgm:prSet/>
      <dgm:spPr/>
      <dgm:t>
        <a:bodyPr/>
        <a:lstStyle/>
        <a:p>
          <a:endParaRPr lang="zh-CN" altLang="en-US"/>
        </a:p>
      </dgm:t>
    </dgm:pt>
    <dgm:pt modelId="{0C14CBCD-34EC-43F9-88B3-B5B73566B37B}">
      <dgm:prSet custT="1"/>
      <dgm:spPr/>
      <dgm:t>
        <a:bodyPr/>
        <a:lstStyle/>
        <a:p>
          <a:r>
            <a:rPr lang="zh-CN" altLang="en-US" sz="36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dirty="0" smtClean="0">
              <a:solidFill>
                <a:schemeClr val="tx2">
                  <a:lumMod val="50000"/>
                </a:schemeClr>
              </a:solidFill>
              <a:latin typeface="楷体" panose="02010609060101010101" pitchFamily="49" charset="-122"/>
              <a:ea typeface="楷体" panose="02010609060101010101" pitchFamily="49" charset="-122"/>
            </a:rPr>
            <a:t>皇后问题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90801A33-C96F-4A81-B93A-0852A9956992}" type="parTrans" cxnId="{126D26C8-D6CF-48ED-B10B-256EDA69A0E3}">
      <dgm:prSet/>
      <dgm:spPr/>
      <dgm:t>
        <a:bodyPr/>
        <a:lstStyle/>
        <a:p>
          <a:endParaRPr lang="zh-CN" altLang="en-US"/>
        </a:p>
      </dgm:t>
    </dgm:pt>
    <dgm:pt modelId="{1B669E59-2BD4-468F-B2F8-A293D31DB965}" type="sibTrans" cxnId="{126D26C8-D6CF-48ED-B10B-256EDA69A0E3}">
      <dgm:prSet/>
      <dgm:spPr/>
      <dgm:t>
        <a:bodyPr/>
        <a:lstStyle/>
        <a:p>
          <a:endParaRPr lang="zh-CN" altLang="en-US"/>
        </a:p>
      </dgm:t>
    </dgm:pt>
    <dgm:pt modelId="{62F14362-0BA0-43B6-9C2F-9CE9057D4DF0}">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CDF3E7AF-3551-41F1-9ECA-68622446D3EB}" type="parTrans" cxnId="{07B7A958-7CEF-45E9-AC1B-1F1A55A45858}">
      <dgm:prSet/>
      <dgm:spPr/>
      <dgm:t>
        <a:bodyPr/>
        <a:lstStyle/>
        <a:p>
          <a:endParaRPr lang="zh-CN" altLang="en-US"/>
        </a:p>
      </dgm:t>
    </dgm:pt>
    <dgm:pt modelId="{A32A4E3C-B771-4D7B-AAFB-AD232D6DC34D}" type="sibTrans" cxnId="{07B7A958-7CEF-45E9-AC1B-1F1A55A45858}">
      <dgm:prSet/>
      <dgm:spPr/>
      <dgm:t>
        <a:bodyPr/>
        <a:lstStyle/>
        <a:p>
          <a:endParaRPr lang="zh-CN" altLang="en-US"/>
        </a:p>
      </dgm:t>
    </dgm:pt>
    <dgm:pt modelId="{DE6243F6-0982-4749-BDA9-3D7D8184C26A}">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案例分析：货郎担问题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4E43DCB8-FD68-424F-8D7A-EA8B37717DFA}" type="parTrans" cxnId="{FB086BEE-81B2-4ED3-8935-6D4ECF6A1B51}">
      <dgm:prSet/>
      <dgm:spPr/>
      <dgm:t>
        <a:bodyPr/>
        <a:lstStyle/>
        <a:p>
          <a:endParaRPr lang="zh-CN" altLang="en-US"/>
        </a:p>
      </dgm:t>
    </dgm:pt>
    <dgm:pt modelId="{AE990C81-80DD-4734-A92A-C91E19EF55BD}" type="sibTrans" cxnId="{FB086BEE-81B2-4ED3-8935-6D4ECF6A1B51}">
      <dgm:prSet/>
      <dgm:spPr/>
      <dgm:t>
        <a:bodyPr/>
        <a:lstStyle/>
        <a:p>
          <a:endParaRPr lang="zh-CN" altLang="en-US"/>
        </a:p>
      </dgm:t>
    </dgm:pt>
    <dgm:pt modelId="{9D86A73C-E86D-4AAF-B0E8-6A97AC00E5A7}">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351CB61-64A9-487C-873B-AB30EE6EB332}" type="parTrans" cxnId="{498A534E-6488-45E3-9C79-2ABB07DC381A}">
      <dgm:prSet/>
      <dgm:spPr/>
      <dgm:t>
        <a:bodyPr/>
        <a:lstStyle/>
        <a:p>
          <a:endParaRPr lang="zh-CN" altLang="en-US"/>
        </a:p>
      </dgm:t>
    </dgm:pt>
    <dgm:pt modelId="{FED2A96A-EBDD-4A03-A3BD-37056BFE36D4}" type="sibTrans" cxnId="{498A534E-6488-45E3-9C79-2ABB07DC381A}">
      <dgm:prSet/>
      <dgm:spPr/>
      <dgm:t>
        <a:bodyPr/>
        <a:lstStyle/>
        <a:p>
          <a:endParaRPr lang="zh-CN" altLang="en-US"/>
        </a:p>
      </dgm:t>
    </dgm:pt>
    <dgm:pt modelId="{0DAAF06F-B1D9-4FF4-9699-13EFE5C37F21}">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72D9623A-45B7-47AC-905E-F602609A5D17}" type="parTrans" cxnId="{1BC291E5-951D-4A13-A57D-DA1C18B66788}">
      <dgm:prSet/>
      <dgm:spPr/>
      <dgm:t>
        <a:bodyPr/>
        <a:lstStyle/>
        <a:p>
          <a:endParaRPr lang="zh-CN" altLang="en-US"/>
        </a:p>
      </dgm:t>
    </dgm:pt>
    <dgm:pt modelId="{67D094FD-53C8-407C-A51C-3A10DAC12FD7}" type="sibTrans" cxnId="{1BC291E5-951D-4A13-A57D-DA1C18B66788}">
      <dgm:prSet/>
      <dgm:spPr/>
      <dgm:t>
        <a:bodyPr/>
        <a:lstStyle/>
        <a:p>
          <a:endParaRPr lang="zh-CN" altLang="en-US"/>
        </a:p>
      </dgm:t>
    </dgm:pt>
    <dgm:pt modelId="{82317BD2-FB94-48E1-BC4C-A946E0BA34B6}" type="pres">
      <dgm:prSet presAssocID="{5D330F28-D18C-485B-AD2B-7DF346A53225}" presName="linearFlow" presStyleCnt="0">
        <dgm:presLayoutVars>
          <dgm:dir/>
          <dgm:animLvl val="lvl"/>
          <dgm:resizeHandles val="exact"/>
        </dgm:presLayoutVars>
      </dgm:prSet>
      <dgm:spPr/>
      <dgm:t>
        <a:bodyPr/>
        <a:lstStyle/>
        <a:p>
          <a:endParaRPr lang="zh-CN" altLang="en-US"/>
        </a:p>
      </dgm:t>
    </dgm:pt>
    <dgm:pt modelId="{6C1D086C-E1C9-4393-9235-13A5556BA65D}" type="pres">
      <dgm:prSet presAssocID="{7AA4BCE5-838A-452C-BA06-A869C07EAE33}" presName="composite" presStyleCnt="0"/>
      <dgm:spPr/>
    </dgm:pt>
    <dgm:pt modelId="{EEC96708-49E3-4A42-ACE1-C2020844E9DB}" type="pres">
      <dgm:prSet presAssocID="{7AA4BCE5-838A-452C-BA06-A869C07EAE33}" presName="parentText" presStyleLbl="alignNode1" presStyleIdx="0" presStyleCnt="5">
        <dgm:presLayoutVars>
          <dgm:chMax val="1"/>
          <dgm:bulletEnabled val="1"/>
        </dgm:presLayoutVars>
      </dgm:prSet>
      <dgm:spPr/>
      <dgm:t>
        <a:bodyPr/>
        <a:lstStyle/>
        <a:p>
          <a:endParaRPr lang="zh-CN" altLang="en-US"/>
        </a:p>
      </dgm:t>
    </dgm:pt>
    <dgm:pt modelId="{B0D5B842-CFD7-4F5C-8567-ABE9C6F65A41}" type="pres">
      <dgm:prSet presAssocID="{7AA4BCE5-838A-452C-BA06-A869C07EAE33}" presName="descendantText" presStyleLbl="alignAcc1" presStyleIdx="0" presStyleCnt="5">
        <dgm:presLayoutVars>
          <dgm:bulletEnabled val="1"/>
        </dgm:presLayoutVars>
      </dgm:prSet>
      <dgm:spPr/>
      <dgm:t>
        <a:bodyPr/>
        <a:lstStyle/>
        <a:p>
          <a:endParaRPr lang="zh-CN" altLang="en-US"/>
        </a:p>
      </dgm:t>
    </dgm:pt>
    <dgm:pt modelId="{95C2C221-9BB3-4F27-ABEA-3C9C634746D8}" type="pres">
      <dgm:prSet presAssocID="{3FEA1EA7-43E1-472F-A09C-BB829D763F53}" presName="sp" presStyleCnt="0"/>
      <dgm:spPr/>
    </dgm:pt>
    <dgm:pt modelId="{21726A0F-803D-4B8C-85CE-0115BBC93A2F}" type="pres">
      <dgm:prSet presAssocID="{DCD3E76B-702D-4C61-B669-1C5B8C18468D}" presName="composite" presStyleCnt="0"/>
      <dgm:spPr/>
    </dgm:pt>
    <dgm:pt modelId="{1F8198BB-C190-4AF2-8BC4-0432E8F05966}" type="pres">
      <dgm:prSet presAssocID="{DCD3E76B-702D-4C61-B669-1C5B8C18468D}" presName="parentText" presStyleLbl="alignNode1" presStyleIdx="1" presStyleCnt="5">
        <dgm:presLayoutVars>
          <dgm:chMax val="1"/>
          <dgm:bulletEnabled val="1"/>
        </dgm:presLayoutVars>
      </dgm:prSet>
      <dgm:spPr/>
      <dgm:t>
        <a:bodyPr/>
        <a:lstStyle/>
        <a:p>
          <a:endParaRPr lang="zh-CN" altLang="en-US"/>
        </a:p>
      </dgm:t>
    </dgm:pt>
    <dgm:pt modelId="{C7B00ED2-F288-4724-9951-5B0C1CECD248}" type="pres">
      <dgm:prSet presAssocID="{DCD3E76B-702D-4C61-B669-1C5B8C18468D}" presName="descendantText" presStyleLbl="alignAcc1" presStyleIdx="1" presStyleCnt="5">
        <dgm:presLayoutVars>
          <dgm:bulletEnabled val="1"/>
        </dgm:presLayoutVars>
      </dgm:prSet>
      <dgm:spPr/>
      <dgm:t>
        <a:bodyPr/>
        <a:lstStyle/>
        <a:p>
          <a:endParaRPr lang="zh-CN" altLang="en-US"/>
        </a:p>
      </dgm:t>
    </dgm:pt>
    <dgm:pt modelId="{16DE5933-3BD5-4364-AD06-4BA5E29A5E70}" type="pres">
      <dgm:prSet presAssocID="{0E4810F8-85E9-41C1-ADE8-0C77C3935B5F}" presName="sp" presStyleCnt="0"/>
      <dgm:spPr/>
    </dgm:pt>
    <dgm:pt modelId="{5D56E540-3580-486B-8A26-E6493EE00583}" type="pres">
      <dgm:prSet presAssocID="{8C52E961-8DC7-4BA8-9EFE-B5D4E7BFCB2C}" presName="composite" presStyleCnt="0"/>
      <dgm:spPr/>
    </dgm:pt>
    <dgm:pt modelId="{75BB0E8A-43DB-48C7-A63A-6F886446931F}" type="pres">
      <dgm:prSet presAssocID="{8C52E961-8DC7-4BA8-9EFE-B5D4E7BFCB2C}" presName="parentText" presStyleLbl="alignNode1" presStyleIdx="2" presStyleCnt="5">
        <dgm:presLayoutVars>
          <dgm:chMax val="1"/>
          <dgm:bulletEnabled val="1"/>
        </dgm:presLayoutVars>
      </dgm:prSet>
      <dgm:spPr/>
      <dgm:t>
        <a:bodyPr/>
        <a:lstStyle/>
        <a:p>
          <a:endParaRPr lang="zh-CN" altLang="en-US"/>
        </a:p>
      </dgm:t>
    </dgm:pt>
    <dgm:pt modelId="{23879B60-AA3C-4F85-B34A-EACE2437749A}" type="pres">
      <dgm:prSet presAssocID="{8C52E961-8DC7-4BA8-9EFE-B5D4E7BFCB2C}" presName="descendantText" presStyleLbl="alignAcc1" presStyleIdx="2" presStyleCnt="5">
        <dgm:presLayoutVars>
          <dgm:bulletEnabled val="1"/>
        </dgm:presLayoutVars>
      </dgm:prSet>
      <dgm:spPr/>
      <dgm:t>
        <a:bodyPr/>
        <a:lstStyle/>
        <a:p>
          <a:endParaRPr lang="zh-CN" altLang="en-US"/>
        </a:p>
      </dgm:t>
    </dgm:pt>
    <dgm:pt modelId="{5C8F247B-6C82-443F-8937-DB94A5EF8871}" type="pres">
      <dgm:prSet presAssocID="{AED74C2A-4C95-4A64-AE41-935EC9214B07}" presName="sp" presStyleCnt="0"/>
      <dgm:spPr/>
    </dgm:pt>
    <dgm:pt modelId="{6B14C85C-A315-423E-86AF-D0DB467E8042}" type="pres">
      <dgm:prSet presAssocID="{62F14362-0BA0-43B6-9C2F-9CE9057D4DF0}" presName="composite" presStyleCnt="0"/>
      <dgm:spPr/>
    </dgm:pt>
    <dgm:pt modelId="{A045862D-78AC-44F9-BFD7-D9799FC417C9}" type="pres">
      <dgm:prSet presAssocID="{62F14362-0BA0-43B6-9C2F-9CE9057D4DF0}" presName="parentText" presStyleLbl="alignNode1" presStyleIdx="3" presStyleCnt="5">
        <dgm:presLayoutVars>
          <dgm:chMax val="1"/>
          <dgm:bulletEnabled val="1"/>
        </dgm:presLayoutVars>
      </dgm:prSet>
      <dgm:spPr/>
      <dgm:t>
        <a:bodyPr/>
        <a:lstStyle/>
        <a:p>
          <a:endParaRPr lang="zh-CN" altLang="en-US"/>
        </a:p>
      </dgm:t>
    </dgm:pt>
    <dgm:pt modelId="{150E90A1-794C-4F0B-9934-A8E58ABC48E6}" type="pres">
      <dgm:prSet presAssocID="{62F14362-0BA0-43B6-9C2F-9CE9057D4DF0}" presName="descendantText" presStyleLbl="alignAcc1" presStyleIdx="3" presStyleCnt="5">
        <dgm:presLayoutVars>
          <dgm:bulletEnabled val="1"/>
        </dgm:presLayoutVars>
      </dgm:prSet>
      <dgm:spPr/>
      <dgm:t>
        <a:bodyPr/>
        <a:lstStyle/>
        <a:p>
          <a:endParaRPr lang="zh-CN" altLang="en-US"/>
        </a:p>
      </dgm:t>
    </dgm:pt>
    <dgm:pt modelId="{E39FE392-81EE-405C-AFA2-A7A9E94329F7}" type="pres">
      <dgm:prSet presAssocID="{A32A4E3C-B771-4D7B-AAFB-AD232D6DC34D}" presName="sp" presStyleCnt="0"/>
      <dgm:spPr/>
    </dgm:pt>
    <dgm:pt modelId="{9F8822EB-FA47-4DF0-9226-122A445F4A28}" type="pres">
      <dgm:prSet presAssocID="{9D86A73C-E86D-4AAF-B0E8-6A97AC00E5A7}" presName="composite" presStyleCnt="0"/>
      <dgm:spPr/>
    </dgm:pt>
    <dgm:pt modelId="{0130137D-86A9-4CA1-B654-96683AA3D24E}" type="pres">
      <dgm:prSet presAssocID="{9D86A73C-E86D-4AAF-B0E8-6A97AC00E5A7}" presName="parentText" presStyleLbl="alignNode1" presStyleIdx="4" presStyleCnt="5">
        <dgm:presLayoutVars>
          <dgm:chMax val="1"/>
          <dgm:bulletEnabled val="1"/>
        </dgm:presLayoutVars>
      </dgm:prSet>
      <dgm:spPr/>
      <dgm:t>
        <a:bodyPr/>
        <a:lstStyle/>
        <a:p>
          <a:endParaRPr lang="zh-CN" altLang="en-US"/>
        </a:p>
      </dgm:t>
    </dgm:pt>
    <dgm:pt modelId="{CBD335E0-8D6A-469E-B81C-6247BD0A19E2}" type="pres">
      <dgm:prSet presAssocID="{9D86A73C-E86D-4AAF-B0E8-6A97AC00E5A7}" presName="descendantText" presStyleLbl="alignAcc1" presStyleIdx="4" presStyleCnt="5">
        <dgm:presLayoutVars>
          <dgm:bulletEnabled val="1"/>
        </dgm:presLayoutVars>
      </dgm:prSet>
      <dgm:spPr/>
      <dgm:t>
        <a:bodyPr/>
        <a:lstStyle/>
        <a:p>
          <a:endParaRPr lang="zh-CN" altLang="en-US"/>
        </a:p>
      </dgm:t>
    </dgm:pt>
  </dgm:ptLst>
  <dgm:cxnLst>
    <dgm:cxn modelId="{07B7A958-7CEF-45E9-AC1B-1F1A55A45858}" srcId="{5D330F28-D18C-485B-AD2B-7DF346A53225}" destId="{62F14362-0BA0-43B6-9C2F-9CE9057D4DF0}" srcOrd="3" destOrd="0" parTransId="{CDF3E7AF-3551-41F1-9ECA-68622446D3EB}" sibTransId="{A32A4E3C-B771-4D7B-AAFB-AD232D6DC34D}"/>
    <dgm:cxn modelId="{AD988272-3283-4F5F-92A8-A9A28BE1626E}" type="presOf" srcId="{0C14CBCD-34EC-43F9-88B3-B5B73566B37B}" destId="{23879B60-AA3C-4F85-B34A-EACE2437749A}" srcOrd="0" destOrd="0" presId="urn:microsoft.com/office/officeart/2005/8/layout/chevron2"/>
    <dgm:cxn modelId="{126D26C8-D6CF-48ED-B10B-256EDA69A0E3}" srcId="{8C52E961-8DC7-4BA8-9EFE-B5D4E7BFCB2C}" destId="{0C14CBCD-34EC-43F9-88B3-B5B73566B37B}" srcOrd="0" destOrd="0" parTransId="{90801A33-C96F-4A81-B93A-0852A9956992}" sibTransId="{1B669E59-2BD4-468F-B2F8-A293D31DB965}"/>
    <dgm:cxn modelId="{8A157C6C-0F81-4767-850C-8243FF679803}" srcId="{5D330F28-D18C-485B-AD2B-7DF346A53225}" destId="{8C52E961-8DC7-4BA8-9EFE-B5D4E7BFCB2C}" srcOrd="2" destOrd="0" parTransId="{06C084B8-CA07-4300-9514-C36F01B77F84}" sibTransId="{AED74C2A-4C95-4A64-AE41-935EC9214B07}"/>
    <dgm:cxn modelId="{43A2F24F-BAA2-42D7-8559-6E80EBFDB406}" type="presOf" srcId="{9D86A73C-E86D-4AAF-B0E8-6A97AC00E5A7}" destId="{0130137D-86A9-4CA1-B654-96683AA3D24E}" srcOrd="0" destOrd="0" presId="urn:microsoft.com/office/officeart/2005/8/layout/chevron2"/>
    <dgm:cxn modelId="{A2A0526B-977F-4F0E-84EF-E06EEE162186}" type="presOf" srcId="{0DAAF06F-B1D9-4FF4-9699-13EFE5C37F21}" destId="{CBD335E0-8D6A-469E-B81C-6247BD0A19E2}" srcOrd="0" destOrd="0" presId="urn:microsoft.com/office/officeart/2005/8/layout/chevron2"/>
    <dgm:cxn modelId="{B7651E60-1C8C-4CA7-B37B-B7BC7FC595DF}" type="presOf" srcId="{62F14362-0BA0-43B6-9C2F-9CE9057D4DF0}" destId="{A045862D-78AC-44F9-BFD7-D9799FC417C9}" srcOrd="0" destOrd="0" presId="urn:microsoft.com/office/officeart/2005/8/layout/chevron2"/>
    <dgm:cxn modelId="{1BC291E5-951D-4A13-A57D-DA1C18B66788}" srcId="{9D86A73C-E86D-4AAF-B0E8-6A97AC00E5A7}" destId="{0DAAF06F-B1D9-4FF4-9699-13EFE5C37F21}" srcOrd="0" destOrd="0" parTransId="{72D9623A-45B7-47AC-905E-F602609A5D17}" sibTransId="{67D094FD-53C8-407C-A51C-3A10DAC12FD7}"/>
    <dgm:cxn modelId="{8E0643FA-E8F5-4EB8-9F08-2BC36B6D076A}" type="presOf" srcId="{DCD3E76B-702D-4C61-B669-1C5B8C18468D}" destId="{1F8198BB-C190-4AF2-8BC4-0432E8F05966}" srcOrd="0" destOrd="0" presId="urn:microsoft.com/office/officeart/2005/8/layout/chevron2"/>
    <dgm:cxn modelId="{43C4261C-8CCD-4426-9A57-8BA6B6DD46CC}" type="presOf" srcId="{033AB355-DEBE-4BC0-81F7-79E198B90F3F}" destId="{B0D5B842-CFD7-4F5C-8567-ABE9C6F65A41}" srcOrd="0" destOrd="0" presId="urn:microsoft.com/office/officeart/2005/8/layout/chevron2"/>
    <dgm:cxn modelId="{2F4BDFCD-6850-4B5F-80B2-B0E4FCA78D07}" type="presOf" srcId="{8C52E961-8DC7-4BA8-9EFE-B5D4E7BFCB2C}" destId="{75BB0E8A-43DB-48C7-A63A-6F886446931F}" srcOrd="0" destOrd="0" presId="urn:microsoft.com/office/officeart/2005/8/layout/chevron2"/>
    <dgm:cxn modelId="{FB086BEE-81B2-4ED3-8935-6D4ECF6A1B51}" srcId="{62F14362-0BA0-43B6-9C2F-9CE9057D4DF0}" destId="{DE6243F6-0982-4749-BDA9-3D7D8184C26A}" srcOrd="0" destOrd="0" parTransId="{4E43DCB8-FD68-424F-8D7A-EA8B37717DFA}" sibTransId="{AE990C81-80DD-4734-A92A-C91E19EF55BD}"/>
    <dgm:cxn modelId="{E5AF10F2-ED9B-4211-8E60-D966FCFE3530}" type="presOf" srcId="{DE6243F6-0982-4749-BDA9-3D7D8184C26A}" destId="{150E90A1-794C-4F0B-9934-A8E58ABC48E6}" srcOrd="0" destOrd="0" presId="urn:microsoft.com/office/officeart/2005/8/layout/chevron2"/>
    <dgm:cxn modelId="{6FB2A94C-20CC-4D6B-8B2C-F31843D57B69}" srcId="{7AA4BCE5-838A-452C-BA06-A869C07EAE33}" destId="{033AB355-DEBE-4BC0-81F7-79E198B90F3F}" srcOrd="0" destOrd="0" parTransId="{4CE9AD92-BF00-42FB-A676-BF6DF5ADD430}" sibTransId="{282FCBF8-1A05-4DF3-828E-5CB36D65DE37}"/>
    <dgm:cxn modelId="{572D9906-952D-4F37-AAB5-C77F073ACFC7}" type="presOf" srcId="{76520E71-2C00-4FE2-BBE9-F4662F157057}" destId="{C7B00ED2-F288-4724-9951-5B0C1CECD248}" srcOrd="0" destOrd="0" presId="urn:microsoft.com/office/officeart/2005/8/layout/chevron2"/>
    <dgm:cxn modelId="{E87C870E-8802-4DE6-99E1-34561ECF1851}" srcId="{5D330F28-D18C-485B-AD2B-7DF346A53225}" destId="{7AA4BCE5-838A-452C-BA06-A869C07EAE33}" srcOrd="0" destOrd="0" parTransId="{D703FA97-3964-407D-BCB3-03578955312E}" sibTransId="{3FEA1EA7-43E1-472F-A09C-BB829D763F53}"/>
    <dgm:cxn modelId="{0CE25B5B-883C-4E1F-A8E9-C6A9D76F8C83}" type="presOf" srcId="{7AA4BCE5-838A-452C-BA06-A869C07EAE33}" destId="{EEC96708-49E3-4A42-ACE1-C2020844E9DB}" srcOrd="0" destOrd="0" presId="urn:microsoft.com/office/officeart/2005/8/layout/chevron2"/>
    <dgm:cxn modelId="{CB726045-462E-4FDE-8B42-EE95C172ECAF}" srcId="{5D330F28-D18C-485B-AD2B-7DF346A53225}" destId="{DCD3E76B-702D-4C61-B669-1C5B8C18468D}" srcOrd="1" destOrd="0" parTransId="{AB387FFD-666C-48A1-896A-BAEF52BE5A6E}" sibTransId="{0E4810F8-85E9-41C1-ADE8-0C77C3935B5F}"/>
    <dgm:cxn modelId="{498A534E-6488-45E3-9C79-2ABB07DC381A}" srcId="{5D330F28-D18C-485B-AD2B-7DF346A53225}" destId="{9D86A73C-E86D-4AAF-B0E8-6A97AC00E5A7}" srcOrd="4" destOrd="0" parTransId="{8351CB61-64A9-487C-873B-AB30EE6EB332}" sibTransId="{FED2A96A-EBDD-4A03-A3BD-37056BFE36D4}"/>
    <dgm:cxn modelId="{DD0E6193-26B8-42AE-8C90-33869B9E5056}" type="presOf" srcId="{5D330F28-D18C-485B-AD2B-7DF346A53225}" destId="{82317BD2-FB94-48E1-BC4C-A946E0BA34B6}" srcOrd="0" destOrd="0" presId="urn:microsoft.com/office/officeart/2005/8/layout/chevron2"/>
    <dgm:cxn modelId="{B3686629-5945-4591-B831-FAF50E99AECD}" srcId="{DCD3E76B-702D-4C61-B669-1C5B8C18468D}" destId="{76520E71-2C00-4FE2-BBE9-F4662F157057}" srcOrd="0" destOrd="0" parTransId="{4FF0A9FB-5BB3-409B-8007-2EEEE07EC7C9}" sibTransId="{1F6250BF-B0F8-4F10-88E0-D5C1BB08367A}"/>
    <dgm:cxn modelId="{5A60FA69-A162-484A-A054-E003274E74F0}" type="presParOf" srcId="{82317BD2-FB94-48E1-BC4C-A946E0BA34B6}" destId="{6C1D086C-E1C9-4393-9235-13A5556BA65D}" srcOrd="0" destOrd="0" presId="urn:microsoft.com/office/officeart/2005/8/layout/chevron2"/>
    <dgm:cxn modelId="{E3D23B81-BBFC-48C5-A341-CC0B1CD11A8A}" type="presParOf" srcId="{6C1D086C-E1C9-4393-9235-13A5556BA65D}" destId="{EEC96708-49E3-4A42-ACE1-C2020844E9DB}" srcOrd="0" destOrd="0" presId="urn:microsoft.com/office/officeart/2005/8/layout/chevron2"/>
    <dgm:cxn modelId="{0092D95D-6F7F-4484-AAFF-E2CFB7210FAF}" type="presParOf" srcId="{6C1D086C-E1C9-4393-9235-13A5556BA65D}" destId="{B0D5B842-CFD7-4F5C-8567-ABE9C6F65A41}" srcOrd="1" destOrd="0" presId="urn:microsoft.com/office/officeart/2005/8/layout/chevron2"/>
    <dgm:cxn modelId="{816CFE88-0B7E-4132-A59B-6D42BB8A758A}" type="presParOf" srcId="{82317BD2-FB94-48E1-BC4C-A946E0BA34B6}" destId="{95C2C221-9BB3-4F27-ABEA-3C9C634746D8}" srcOrd="1" destOrd="0" presId="urn:microsoft.com/office/officeart/2005/8/layout/chevron2"/>
    <dgm:cxn modelId="{2A1F1BBA-D2FE-4FE1-A490-31E1580C5D71}" type="presParOf" srcId="{82317BD2-FB94-48E1-BC4C-A946E0BA34B6}" destId="{21726A0F-803D-4B8C-85CE-0115BBC93A2F}" srcOrd="2" destOrd="0" presId="urn:microsoft.com/office/officeart/2005/8/layout/chevron2"/>
    <dgm:cxn modelId="{995D23B0-AE8C-4341-9E6F-A8139D1B18CF}" type="presParOf" srcId="{21726A0F-803D-4B8C-85CE-0115BBC93A2F}" destId="{1F8198BB-C190-4AF2-8BC4-0432E8F05966}" srcOrd="0" destOrd="0" presId="urn:microsoft.com/office/officeart/2005/8/layout/chevron2"/>
    <dgm:cxn modelId="{8C119894-7FAE-4BD7-AEEF-5BDFF9EF806F}" type="presParOf" srcId="{21726A0F-803D-4B8C-85CE-0115BBC93A2F}" destId="{C7B00ED2-F288-4724-9951-5B0C1CECD248}" srcOrd="1" destOrd="0" presId="urn:microsoft.com/office/officeart/2005/8/layout/chevron2"/>
    <dgm:cxn modelId="{B5F3A1C7-A9AD-4601-9EB5-BCE5DCC091FF}" type="presParOf" srcId="{82317BD2-FB94-48E1-BC4C-A946E0BA34B6}" destId="{16DE5933-3BD5-4364-AD06-4BA5E29A5E70}" srcOrd="3" destOrd="0" presId="urn:microsoft.com/office/officeart/2005/8/layout/chevron2"/>
    <dgm:cxn modelId="{5672E2EE-F22A-4051-B780-4D4464354A71}" type="presParOf" srcId="{82317BD2-FB94-48E1-BC4C-A946E0BA34B6}" destId="{5D56E540-3580-486B-8A26-E6493EE00583}" srcOrd="4" destOrd="0" presId="urn:microsoft.com/office/officeart/2005/8/layout/chevron2"/>
    <dgm:cxn modelId="{94F414C4-BC2F-4650-B4E9-8CC8D014EEDF}" type="presParOf" srcId="{5D56E540-3580-486B-8A26-E6493EE00583}" destId="{75BB0E8A-43DB-48C7-A63A-6F886446931F}" srcOrd="0" destOrd="0" presId="urn:microsoft.com/office/officeart/2005/8/layout/chevron2"/>
    <dgm:cxn modelId="{8FF60E64-6E72-42E9-8E17-1CCC4362A7C4}" type="presParOf" srcId="{5D56E540-3580-486B-8A26-E6493EE00583}" destId="{23879B60-AA3C-4F85-B34A-EACE2437749A}" srcOrd="1" destOrd="0" presId="urn:microsoft.com/office/officeart/2005/8/layout/chevron2"/>
    <dgm:cxn modelId="{48A1B426-28E8-4146-911E-8DF7E09CD653}" type="presParOf" srcId="{82317BD2-FB94-48E1-BC4C-A946E0BA34B6}" destId="{5C8F247B-6C82-443F-8937-DB94A5EF8871}" srcOrd="5" destOrd="0" presId="urn:microsoft.com/office/officeart/2005/8/layout/chevron2"/>
    <dgm:cxn modelId="{7E26485D-41E4-45A8-A6C9-206D9901A898}" type="presParOf" srcId="{82317BD2-FB94-48E1-BC4C-A946E0BA34B6}" destId="{6B14C85C-A315-423E-86AF-D0DB467E8042}" srcOrd="6" destOrd="0" presId="urn:microsoft.com/office/officeart/2005/8/layout/chevron2"/>
    <dgm:cxn modelId="{3B3F8685-951D-43D8-9320-128306560796}" type="presParOf" srcId="{6B14C85C-A315-423E-86AF-D0DB467E8042}" destId="{A045862D-78AC-44F9-BFD7-D9799FC417C9}" srcOrd="0" destOrd="0" presId="urn:microsoft.com/office/officeart/2005/8/layout/chevron2"/>
    <dgm:cxn modelId="{99D3D162-D6F2-4219-9559-9FE409DF7F80}" type="presParOf" srcId="{6B14C85C-A315-423E-86AF-D0DB467E8042}" destId="{150E90A1-794C-4F0B-9934-A8E58ABC48E6}" srcOrd="1" destOrd="0" presId="urn:microsoft.com/office/officeart/2005/8/layout/chevron2"/>
    <dgm:cxn modelId="{7D63DD68-D96B-4BDD-9BBC-FA44D697A12C}" type="presParOf" srcId="{82317BD2-FB94-48E1-BC4C-A946E0BA34B6}" destId="{E39FE392-81EE-405C-AFA2-A7A9E94329F7}" srcOrd="7" destOrd="0" presId="urn:microsoft.com/office/officeart/2005/8/layout/chevron2"/>
    <dgm:cxn modelId="{C1B5E31D-A175-4563-97F1-BFC67C261E4E}" type="presParOf" srcId="{82317BD2-FB94-48E1-BC4C-A946E0BA34B6}" destId="{9F8822EB-FA47-4DF0-9226-122A445F4A28}" srcOrd="8" destOrd="0" presId="urn:microsoft.com/office/officeart/2005/8/layout/chevron2"/>
    <dgm:cxn modelId="{895F1F1D-01F2-4F83-9E1A-681DCFAEED73}" type="presParOf" srcId="{9F8822EB-FA47-4DF0-9226-122A445F4A28}" destId="{0130137D-86A9-4CA1-B654-96683AA3D24E}" srcOrd="0" destOrd="0" presId="urn:microsoft.com/office/officeart/2005/8/layout/chevron2"/>
    <dgm:cxn modelId="{AA6FFF21-849E-43B7-B651-D1479E5F2AFE}" type="presParOf" srcId="{9F8822EB-FA47-4DF0-9226-122A445F4A28}" destId="{CBD335E0-8D6A-469E-B81C-6247BD0A19E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330F28-D18C-485B-AD2B-7DF346A53225}" type="doc">
      <dgm:prSet loTypeId="urn:microsoft.com/office/officeart/2005/8/layout/chevron2" loCatId="list" qsTypeId="urn:microsoft.com/office/officeart/2005/8/quickstyle/simple1#3" qsCatId="simple" csTypeId="urn:microsoft.com/office/officeart/2005/8/colors/accent1_2#3" csCatId="accent1" phldr="1"/>
      <dgm:spPr/>
      <dgm:t>
        <a:bodyPr/>
        <a:lstStyle/>
        <a:p>
          <a:endParaRPr lang="zh-CN" altLang="en-US"/>
        </a:p>
      </dgm:t>
    </dgm:pt>
    <dgm:pt modelId="{7AA4BCE5-838A-452C-BA06-A869C07EAE33}">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D703FA97-3964-407D-BCB3-03578955312E}" type="parTrans" cxnId="{E87C870E-8802-4DE6-99E1-34561ECF1851}">
      <dgm:prSet/>
      <dgm:spPr/>
      <dgm:t>
        <a:bodyPr/>
        <a:lstStyle/>
        <a:p>
          <a:endParaRPr lang="zh-CN" altLang="en-US"/>
        </a:p>
      </dgm:t>
    </dgm:pt>
    <dgm:pt modelId="{3FEA1EA7-43E1-472F-A09C-BB829D763F53}" type="sibTrans" cxnId="{E87C870E-8802-4DE6-99E1-34561ECF1851}">
      <dgm:prSet/>
      <dgm:spPr/>
      <dgm:t>
        <a:bodyPr/>
        <a:lstStyle/>
        <a:p>
          <a:endParaRPr lang="zh-CN" altLang="en-US"/>
        </a:p>
      </dgm:t>
    </dgm:pt>
    <dgm:pt modelId="{033AB355-DEBE-4BC0-81F7-79E198B90F3F}">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回溯法及其基本思想</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CE9AD92-BF00-42FB-A676-BF6DF5ADD430}" type="parTrans" cxnId="{6FB2A94C-20CC-4D6B-8B2C-F31843D57B69}">
      <dgm:prSet/>
      <dgm:spPr/>
      <dgm:t>
        <a:bodyPr/>
        <a:lstStyle/>
        <a:p>
          <a:endParaRPr lang="zh-CN" altLang="en-US"/>
        </a:p>
      </dgm:t>
    </dgm:pt>
    <dgm:pt modelId="{282FCBF8-1A05-4DF3-828E-5CB36D65DE37}" type="sibTrans" cxnId="{6FB2A94C-20CC-4D6B-8B2C-F31843D57B69}">
      <dgm:prSet/>
      <dgm:spPr/>
      <dgm:t>
        <a:bodyPr/>
        <a:lstStyle/>
        <a:p>
          <a:endParaRPr lang="zh-CN" altLang="en-US"/>
        </a:p>
      </dgm:t>
    </dgm:pt>
    <dgm:pt modelId="{DCD3E76B-702D-4C61-B669-1C5B8C18468D}">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AB387FFD-666C-48A1-896A-BAEF52BE5A6E}" type="parTrans" cxnId="{CB726045-462E-4FDE-8B42-EE95C172ECAF}">
      <dgm:prSet/>
      <dgm:spPr/>
      <dgm:t>
        <a:bodyPr/>
        <a:lstStyle/>
        <a:p>
          <a:endParaRPr lang="zh-CN" altLang="en-US"/>
        </a:p>
      </dgm:t>
    </dgm:pt>
    <dgm:pt modelId="{0E4810F8-85E9-41C1-ADE8-0C77C3935B5F}" type="sibTrans" cxnId="{CB726045-462E-4FDE-8B42-EE95C172ECAF}">
      <dgm:prSet/>
      <dgm:spPr/>
      <dgm:t>
        <a:bodyPr/>
        <a:lstStyle/>
        <a:p>
          <a:endParaRPr lang="zh-CN" altLang="en-US"/>
        </a:p>
      </dgm:t>
    </dgm:pt>
    <dgm:pt modelId="{76520E71-2C00-4FE2-BBE9-F4662F157057}">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回溯法解题算法框架</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FF0A9FB-5BB3-409B-8007-2EEEE07EC7C9}" type="parTrans" cxnId="{B3686629-5945-4591-B831-FAF50E99AECD}">
      <dgm:prSet/>
      <dgm:spPr/>
      <dgm:t>
        <a:bodyPr/>
        <a:lstStyle/>
        <a:p>
          <a:endParaRPr lang="zh-CN" altLang="en-US"/>
        </a:p>
      </dgm:t>
    </dgm:pt>
    <dgm:pt modelId="{1F6250BF-B0F8-4F10-88E0-D5C1BB08367A}" type="sibTrans" cxnId="{B3686629-5945-4591-B831-FAF50E99AECD}">
      <dgm:prSet/>
      <dgm:spPr/>
      <dgm:t>
        <a:bodyPr/>
        <a:lstStyle/>
        <a:p>
          <a:endParaRPr lang="zh-CN" altLang="en-US"/>
        </a:p>
      </dgm:t>
    </dgm:pt>
    <dgm:pt modelId="{8C52E961-8DC7-4BA8-9EFE-B5D4E7BFCB2C}">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06C084B8-CA07-4300-9514-C36F01B77F84}" type="parTrans" cxnId="{8A157C6C-0F81-4767-850C-8243FF679803}">
      <dgm:prSet/>
      <dgm:spPr/>
      <dgm:t>
        <a:bodyPr/>
        <a:lstStyle/>
        <a:p>
          <a:endParaRPr lang="zh-CN" altLang="en-US"/>
        </a:p>
      </dgm:t>
    </dgm:pt>
    <dgm:pt modelId="{AED74C2A-4C95-4A64-AE41-935EC9214B07}" type="sibTrans" cxnId="{8A157C6C-0F81-4767-850C-8243FF679803}">
      <dgm:prSet/>
      <dgm:spPr/>
      <dgm:t>
        <a:bodyPr/>
        <a:lstStyle/>
        <a:p>
          <a:endParaRPr lang="zh-CN" altLang="en-US"/>
        </a:p>
      </dgm:t>
    </dgm:pt>
    <dgm:pt modelId="{0C14CBCD-34EC-43F9-88B3-B5B73566B37B}">
      <dgm:prSet custT="1"/>
      <dgm:spPr/>
      <dgm:t>
        <a:bodyPr/>
        <a:lstStyle/>
        <a:p>
          <a:r>
            <a:rPr lang="zh-CN" altLang="en-US" sz="3600"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dirty="0" smtClean="0">
              <a:solidFill>
                <a:srgbClr val="FF0000"/>
              </a:solidFill>
              <a:latin typeface="楷体" panose="02010609060101010101" pitchFamily="49" charset="-122"/>
              <a:ea typeface="楷体" panose="02010609060101010101" pitchFamily="49" charset="-122"/>
            </a:rPr>
            <a:t>皇后问题</a:t>
          </a:r>
          <a:endParaRPr lang="zh-CN" altLang="en-US" sz="3600" dirty="0">
            <a:solidFill>
              <a:srgbClr val="FF0000"/>
            </a:solidFill>
            <a:latin typeface="楷体" panose="02010609060101010101" pitchFamily="49" charset="-122"/>
            <a:ea typeface="楷体" panose="02010609060101010101" pitchFamily="49" charset="-122"/>
          </a:endParaRPr>
        </a:p>
      </dgm:t>
    </dgm:pt>
    <dgm:pt modelId="{90801A33-C96F-4A81-B93A-0852A9956992}" type="parTrans" cxnId="{126D26C8-D6CF-48ED-B10B-256EDA69A0E3}">
      <dgm:prSet/>
      <dgm:spPr/>
      <dgm:t>
        <a:bodyPr/>
        <a:lstStyle/>
        <a:p>
          <a:endParaRPr lang="zh-CN" altLang="en-US"/>
        </a:p>
      </dgm:t>
    </dgm:pt>
    <dgm:pt modelId="{1B669E59-2BD4-468F-B2F8-A293D31DB965}" type="sibTrans" cxnId="{126D26C8-D6CF-48ED-B10B-256EDA69A0E3}">
      <dgm:prSet/>
      <dgm:spPr/>
      <dgm:t>
        <a:bodyPr/>
        <a:lstStyle/>
        <a:p>
          <a:endParaRPr lang="zh-CN" altLang="en-US"/>
        </a:p>
      </dgm:t>
    </dgm:pt>
    <dgm:pt modelId="{62F14362-0BA0-43B6-9C2F-9CE9057D4DF0}">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CDF3E7AF-3551-41F1-9ECA-68622446D3EB}" type="parTrans" cxnId="{07B7A958-7CEF-45E9-AC1B-1F1A55A45858}">
      <dgm:prSet/>
      <dgm:spPr/>
      <dgm:t>
        <a:bodyPr/>
        <a:lstStyle/>
        <a:p>
          <a:endParaRPr lang="zh-CN" altLang="en-US"/>
        </a:p>
      </dgm:t>
    </dgm:pt>
    <dgm:pt modelId="{A32A4E3C-B771-4D7B-AAFB-AD232D6DC34D}" type="sibTrans" cxnId="{07B7A958-7CEF-45E9-AC1B-1F1A55A45858}">
      <dgm:prSet/>
      <dgm:spPr/>
      <dgm:t>
        <a:bodyPr/>
        <a:lstStyle/>
        <a:p>
          <a:endParaRPr lang="zh-CN" altLang="en-US"/>
        </a:p>
      </dgm:t>
    </dgm:pt>
    <dgm:pt modelId="{DE6243F6-0982-4749-BDA9-3D7D8184C26A}">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案例分析：货郎担问题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4E43DCB8-FD68-424F-8D7A-EA8B37717DFA}" type="parTrans" cxnId="{FB086BEE-81B2-4ED3-8935-6D4ECF6A1B51}">
      <dgm:prSet/>
      <dgm:spPr/>
      <dgm:t>
        <a:bodyPr/>
        <a:lstStyle/>
        <a:p>
          <a:endParaRPr lang="zh-CN" altLang="en-US"/>
        </a:p>
      </dgm:t>
    </dgm:pt>
    <dgm:pt modelId="{AE990C81-80DD-4734-A92A-C91E19EF55BD}" type="sibTrans" cxnId="{FB086BEE-81B2-4ED3-8935-6D4ECF6A1B51}">
      <dgm:prSet/>
      <dgm:spPr/>
      <dgm:t>
        <a:bodyPr/>
        <a:lstStyle/>
        <a:p>
          <a:endParaRPr lang="zh-CN" altLang="en-US"/>
        </a:p>
      </dgm:t>
    </dgm:pt>
    <dgm:pt modelId="{9D86A73C-E86D-4AAF-B0E8-6A97AC00E5A7}">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351CB61-64A9-487C-873B-AB30EE6EB332}" type="parTrans" cxnId="{498A534E-6488-45E3-9C79-2ABB07DC381A}">
      <dgm:prSet/>
      <dgm:spPr/>
      <dgm:t>
        <a:bodyPr/>
        <a:lstStyle/>
        <a:p>
          <a:endParaRPr lang="zh-CN" altLang="en-US"/>
        </a:p>
      </dgm:t>
    </dgm:pt>
    <dgm:pt modelId="{FED2A96A-EBDD-4A03-A3BD-37056BFE36D4}" type="sibTrans" cxnId="{498A534E-6488-45E3-9C79-2ABB07DC381A}">
      <dgm:prSet/>
      <dgm:spPr/>
      <dgm:t>
        <a:bodyPr/>
        <a:lstStyle/>
        <a:p>
          <a:endParaRPr lang="zh-CN" altLang="en-US"/>
        </a:p>
      </dgm:t>
    </dgm:pt>
    <dgm:pt modelId="{0DAAF06F-B1D9-4FF4-9699-13EFE5C37F21}">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72D9623A-45B7-47AC-905E-F602609A5D17}" type="parTrans" cxnId="{1BC291E5-951D-4A13-A57D-DA1C18B66788}">
      <dgm:prSet/>
      <dgm:spPr/>
      <dgm:t>
        <a:bodyPr/>
        <a:lstStyle/>
        <a:p>
          <a:endParaRPr lang="zh-CN" altLang="en-US"/>
        </a:p>
      </dgm:t>
    </dgm:pt>
    <dgm:pt modelId="{67D094FD-53C8-407C-A51C-3A10DAC12FD7}" type="sibTrans" cxnId="{1BC291E5-951D-4A13-A57D-DA1C18B66788}">
      <dgm:prSet/>
      <dgm:spPr/>
      <dgm:t>
        <a:bodyPr/>
        <a:lstStyle/>
        <a:p>
          <a:endParaRPr lang="zh-CN" altLang="en-US"/>
        </a:p>
      </dgm:t>
    </dgm:pt>
    <dgm:pt modelId="{82317BD2-FB94-48E1-BC4C-A946E0BA34B6}" type="pres">
      <dgm:prSet presAssocID="{5D330F28-D18C-485B-AD2B-7DF346A53225}" presName="linearFlow" presStyleCnt="0">
        <dgm:presLayoutVars>
          <dgm:dir/>
          <dgm:animLvl val="lvl"/>
          <dgm:resizeHandles val="exact"/>
        </dgm:presLayoutVars>
      </dgm:prSet>
      <dgm:spPr/>
      <dgm:t>
        <a:bodyPr/>
        <a:lstStyle/>
        <a:p>
          <a:endParaRPr lang="zh-CN" altLang="en-US"/>
        </a:p>
      </dgm:t>
    </dgm:pt>
    <dgm:pt modelId="{6C1D086C-E1C9-4393-9235-13A5556BA65D}" type="pres">
      <dgm:prSet presAssocID="{7AA4BCE5-838A-452C-BA06-A869C07EAE33}" presName="composite" presStyleCnt="0"/>
      <dgm:spPr/>
    </dgm:pt>
    <dgm:pt modelId="{EEC96708-49E3-4A42-ACE1-C2020844E9DB}" type="pres">
      <dgm:prSet presAssocID="{7AA4BCE5-838A-452C-BA06-A869C07EAE33}" presName="parentText" presStyleLbl="alignNode1" presStyleIdx="0" presStyleCnt="5">
        <dgm:presLayoutVars>
          <dgm:chMax val="1"/>
          <dgm:bulletEnabled val="1"/>
        </dgm:presLayoutVars>
      </dgm:prSet>
      <dgm:spPr/>
      <dgm:t>
        <a:bodyPr/>
        <a:lstStyle/>
        <a:p>
          <a:endParaRPr lang="zh-CN" altLang="en-US"/>
        </a:p>
      </dgm:t>
    </dgm:pt>
    <dgm:pt modelId="{B0D5B842-CFD7-4F5C-8567-ABE9C6F65A41}" type="pres">
      <dgm:prSet presAssocID="{7AA4BCE5-838A-452C-BA06-A869C07EAE33}" presName="descendantText" presStyleLbl="alignAcc1" presStyleIdx="0" presStyleCnt="5">
        <dgm:presLayoutVars>
          <dgm:bulletEnabled val="1"/>
        </dgm:presLayoutVars>
      </dgm:prSet>
      <dgm:spPr/>
      <dgm:t>
        <a:bodyPr/>
        <a:lstStyle/>
        <a:p>
          <a:endParaRPr lang="zh-CN" altLang="en-US"/>
        </a:p>
      </dgm:t>
    </dgm:pt>
    <dgm:pt modelId="{95C2C221-9BB3-4F27-ABEA-3C9C634746D8}" type="pres">
      <dgm:prSet presAssocID="{3FEA1EA7-43E1-472F-A09C-BB829D763F53}" presName="sp" presStyleCnt="0"/>
      <dgm:spPr/>
    </dgm:pt>
    <dgm:pt modelId="{21726A0F-803D-4B8C-85CE-0115BBC93A2F}" type="pres">
      <dgm:prSet presAssocID="{DCD3E76B-702D-4C61-B669-1C5B8C18468D}" presName="composite" presStyleCnt="0"/>
      <dgm:spPr/>
    </dgm:pt>
    <dgm:pt modelId="{1F8198BB-C190-4AF2-8BC4-0432E8F05966}" type="pres">
      <dgm:prSet presAssocID="{DCD3E76B-702D-4C61-B669-1C5B8C18468D}" presName="parentText" presStyleLbl="alignNode1" presStyleIdx="1" presStyleCnt="5">
        <dgm:presLayoutVars>
          <dgm:chMax val="1"/>
          <dgm:bulletEnabled val="1"/>
        </dgm:presLayoutVars>
      </dgm:prSet>
      <dgm:spPr/>
      <dgm:t>
        <a:bodyPr/>
        <a:lstStyle/>
        <a:p>
          <a:endParaRPr lang="zh-CN" altLang="en-US"/>
        </a:p>
      </dgm:t>
    </dgm:pt>
    <dgm:pt modelId="{C7B00ED2-F288-4724-9951-5B0C1CECD248}" type="pres">
      <dgm:prSet presAssocID="{DCD3E76B-702D-4C61-B669-1C5B8C18468D}" presName="descendantText" presStyleLbl="alignAcc1" presStyleIdx="1" presStyleCnt="5">
        <dgm:presLayoutVars>
          <dgm:bulletEnabled val="1"/>
        </dgm:presLayoutVars>
      </dgm:prSet>
      <dgm:spPr/>
      <dgm:t>
        <a:bodyPr/>
        <a:lstStyle/>
        <a:p>
          <a:endParaRPr lang="zh-CN" altLang="en-US"/>
        </a:p>
      </dgm:t>
    </dgm:pt>
    <dgm:pt modelId="{16DE5933-3BD5-4364-AD06-4BA5E29A5E70}" type="pres">
      <dgm:prSet presAssocID="{0E4810F8-85E9-41C1-ADE8-0C77C3935B5F}" presName="sp" presStyleCnt="0"/>
      <dgm:spPr/>
    </dgm:pt>
    <dgm:pt modelId="{5D56E540-3580-486B-8A26-E6493EE00583}" type="pres">
      <dgm:prSet presAssocID="{8C52E961-8DC7-4BA8-9EFE-B5D4E7BFCB2C}" presName="composite" presStyleCnt="0"/>
      <dgm:spPr/>
    </dgm:pt>
    <dgm:pt modelId="{75BB0E8A-43DB-48C7-A63A-6F886446931F}" type="pres">
      <dgm:prSet presAssocID="{8C52E961-8DC7-4BA8-9EFE-B5D4E7BFCB2C}" presName="parentText" presStyleLbl="alignNode1" presStyleIdx="2" presStyleCnt="5">
        <dgm:presLayoutVars>
          <dgm:chMax val="1"/>
          <dgm:bulletEnabled val="1"/>
        </dgm:presLayoutVars>
      </dgm:prSet>
      <dgm:spPr/>
      <dgm:t>
        <a:bodyPr/>
        <a:lstStyle/>
        <a:p>
          <a:endParaRPr lang="zh-CN" altLang="en-US"/>
        </a:p>
      </dgm:t>
    </dgm:pt>
    <dgm:pt modelId="{23879B60-AA3C-4F85-B34A-EACE2437749A}" type="pres">
      <dgm:prSet presAssocID="{8C52E961-8DC7-4BA8-9EFE-B5D4E7BFCB2C}" presName="descendantText" presStyleLbl="alignAcc1" presStyleIdx="2" presStyleCnt="5">
        <dgm:presLayoutVars>
          <dgm:bulletEnabled val="1"/>
        </dgm:presLayoutVars>
      </dgm:prSet>
      <dgm:spPr/>
      <dgm:t>
        <a:bodyPr/>
        <a:lstStyle/>
        <a:p>
          <a:endParaRPr lang="zh-CN" altLang="en-US"/>
        </a:p>
      </dgm:t>
    </dgm:pt>
    <dgm:pt modelId="{5C8F247B-6C82-443F-8937-DB94A5EF8871}" type="pres">
      <dgm:prSet presAssocID="{AED74C2A-4C95-4A64-AE41-935EC9214B07}" presName="sp" presStyleCnt="0"/>
      <dgm:spPr/>
    </dgm:pt>
    <dgm:pt modelId="{6B14C85C-A315-423E-86AF-D0DB467E8042}" type="pres">
      <dgm:prSet presAssocID="{62F14362-0BA0-43B6-9C2F-9CE9057D4DF0}" presName="composite" presStyleCnt="0"/>
      <dgm:spPr/>
    </dgm:pt>
    <dgm:pt modelId="{A045862D-78AC-44F9-BFD7-D9799FC417C9}" type="pres">
      <dgm:prSet presAssocID="{62F14362-0BA0-43B6-9C2F-9CE9057D4DF0}" presName="parentText" presStyleLbl="alignNode1" presStyleIdx="3" presStyleCnt="5">
        <dgm:presLayoutVars>
          <dgm:chMax val="1"/>
          <dgm:bulletEnabled val="1"/>
        </dgm:presLayoutVars>
      </dgm:prSet>
      <dgm:spPr/>
      <dgm:t>
        <a:bodyPr/>
        <a:lstStyle/>
        <a:p>
          <a:endParaRPr lang="zh-CN" altLang="en-US"/>
        </a:p>
      </dgm:t>
    </dgm:pt>
    <dgm:pt modelId="{150E90A1-794C-4F0B-9934-A8E58ABC48E6}" type="pres">
      <dgm:prSet presAssocID="{62F14362-0BA0-43B6-9C2F-9CE9057D4DF0}" presName="descendantText" presStyleLbl="alignAcc1" presStyleIdx="3" presStyleCnt="5">
        <dgm:presLayoutVars>
          <dgm:bulletEnabled val="1"/>
        </dgm:presLayoutVars>
      </dgm:prSet>
      <dgm:spPr/>
      <dgm:t>
        <a:bodyPr/>
        <a:lstStyle/>
        <a:p>
          <a:endParaRPr lang="zh-CN" altLang="en-US"/>
        </a:p>
      </dgm:t>
    </dgm:pt>
    <dgm:pt modelId="{E39FE392-81EE-405C-AFA2-A7A9E94329F7}" type="pres">
      <dgm:prSet presAssocID="{A32A4E3C-B771-4D7B-AAFB-AD232D6DC34D}" presName="sp" presStyleCnt="0"/>
      <dgm:spPr/>
    </dgm:pt>
    <dgm:pt modelId="{9F8822EB-FA47-4DF0-9226-122A445F4A28}" type="pres">
      <dgm:prSet presAssocID="{9D86A73C-E86D-4AAF-B0E8-6A97AC00E5A7}" presName="composite" presStyleCnt="0"/>
      <dgm:spPr/>
    </dgm:pt>
    <dgm:pt modelId="{0130137D-86A9-4CA1-B654-96683AA3D24E}" type="pres">
      <dgm:prSet presAssocID="{9D86A73C-E86D-4AAF-B0E8-6A97AC00E5A7}" presName="parentText" presStyleLbl="alignNode1" presStyleIdx="4" presStyleCnt="5">
        <dgm:presLayoutVars>
          <dgm:chMax val="1"/>
          <dgm:bulletEnabled val="1"/>
        </dgm:presLayoutVars>
      </dgm:prSet>
      <dgm:spPr/>
      <dgm:t>
        <a:bodyPr/>
        <a:lstStyle/>
        <a:p>
          <a:endParaRPr lang="zh-CN" altLang="en-US"/>
        </a:p>
      </dgm:t>
    </dgm:pt>
    <dgm:pt modelId="{CBD335E0-8D6A-469E-B81C-6247BD0A19E2}" type="pres">
      <dgm:prSet presAssocID="{9D86A73C-E86D-4AAF-B0E8-6A97AC00E5A7}" presName="descendantText" presStyleLbl="alignAcc1" presStyleIdx="4" presStyleCnt="5">
        <dgm:presLayoutVars>
          <dgm:bulletEnabled val="1"/>
        </dgm:presLayoutVars>
      </dgm:prSet>
      <dgm:spPr/>
      <dgm:t>
        <a:bodyPr/>
        <a:lstStyle/>
        <a:p>
          <a:endParaRPr lang="zh-CN" altLang="en-US"/>
        </a:p>
      </dgm:t>
    </dgm:pt>
  </dgm:ptLst>
  <dgm:cxnLst>
    <dgm:cxn modelId="{867137AB-3F6F-40D7-83E9-141A14AFD91F}" type="presOf" srcId="{9D86A73C-E86D-4AAF-B0E8-6A97AC00E5A7}" destId="{0130137D-86A9-4CA1-B654-96683AA3D24E}" srcOrd="0" destOrd="0" presId="urn:microsoft.com/office/officeart/2005/8/layout/chevron2"/>
    <dgm:cxn modelId="{8A157C6C-0F81-4767-850C-8243FF679803}" srcId="{5D330F28-D18C-485B-AD2B-7DF346A53225}" destId="{8C52E961-8DC7-4BA8-9EFE-B5D4E7BFCB2C}" srcOrd="2" destOrd="0" parTransId="{06C084B8-CA07-4300-9514-C36F01B77F84}" sibTransId="{AED74C2A-4C95-4A64-AE41-935EC9214B07}"/>
    <dgm:cxn modelId="{EF823DB7-DF94-436D-8DE5-C87B73AC9A6D}" type="presOf" srcId="{DE6243F6-0982-4749-BDA9-3D7D8184C26A}" destId="{150E90A1-794C-4F0B-9934-A8E58ABC48E6}" srcOrd="0" destOrd="0" presId="urn:microsoft.com/office/officeart/2005/8/layout/chevron2"/>
    <dgm:cxn modelId="{6BEA89CA-004B-446D-82BB-8E08E26B836D}" type="presOf" srcId="{76520E71-2C00-4FE2-BBE9-F4662F157057}" destId="{C7B00ED2-F288-4724-9951-5B0C1CECD248}" srcOrd="0" destOrd="0" presId="urn:microsoft.com/office/officeart/2005/8/layout/chevron2"/>
    <dgm:cxn modelId="{498A534E-6488-45E3-9C79-2ABB07DC381A}" srcId="{5D330F28-D18C-485B-AD2B-7DF346A53225}" destId="{9D86A73C-E86D-4AAF-B0E8-6A97AC00E5A7}" srcOrd="4" destOrd="0" parTransId="{8351CB61-64A9-487C-873B-AB30EE6EB332}" sibTransId="{FED2A96A-EBDD-4A03-A3BD-37056BFE36D4}"/>
    <dgm:cxn modelId="{8AD897A7-0F9C-4D4E-BD46-EF14683F6FEC}" type="presOf" srcId="{DCD3E76B-702D-4C61-B669-1C5B8C18468D}" destId="{1F8198BB-C190-4AF2-8BC4-0432E8F05966}" srcOrd="0" destOrd="0" presId="urn:microsoft.com/office/officeart/2005/8/layout/chevron2"/>
    <dgm:cxn modelId="{B4653FB9-46F7-445B-83E3-4F2D84872224}" type="presOf" srcId="{0DAAF06F-B1D9-4FF4-9699-13EFE5C37F21}" destId="{CBD335E0-8D6A-469E-B81C-6247BD0A19E2}" srcOrd="0" destOrd="0" presId="urn:microsoft.com/office/officeart/2005/8/layout/chevron2"/>
    <dgm:cxn modelId="{E87C870E-8802-4DE6-99E1-34561ECF1851}" srcId="{5D330F28-D18C-485B-AD2B-7DF346A53225}" destId="{7AA4BCE5-838A-452C-BA06-A869C07EAE33}" srcOrd="0" destOrd="0" parTransId="{D703FA97-3964-407D-BCB3-03578955312E}" sibTransId="{3FEA1EA7-43E1-472F-A09C-BB829D763F53}"/>
    <dgm:cxn modelId="{1F4B26AC-2E70-4645-ADCF-C17747C5AD22}" type="presOf" srcId="{033AB355-DEBE-4BC0-81F7-79E198B90F3F}" destId="{B0D5B842-CFD7-4F5C-8567-ABE9C6F65A41}" srcOrd="0" destOrd="0" presId="urn:microsoft.com/office/officeart/2005/8/layout/chevron2"/>
    <dgm:cxn modelId="{AA3C9871-AE38-489B-AF56-AD65F148413B}" type="presOf" srcId="{62F14362-0BA0-43B6-9C2F-9CE9057D4DF0}" destId="{A045862D-78AC-44F9-BFD7-D9799FC417C9}" srcOrd="0" destOrd="0" presId="urn:microsoft.com/office/officeart/2005/8/layout/chevron2"/>
    <dgm:cxn modelId="{B3686629-5945-4591-B831-FAF50E99AECD}" srcId="{DCD3E76B-702D-4C61-B669-1C5B8C18468D}" destId="{76520E71-2C00-4FE2-BBE9-F4662F157057}" srcOrd="0" destOrd="0" parTransId="{4FF0A9FB-5BB3-409B-8007-2EEEE07EC7C9}" sibTransId="{1F6250BF-B0F8-4F10-88E0-D5C1BB08367A}"/>
    <dgm:cxn modelId="{C6585911-1796-4B3C-BB7F-E2E421E9C577}" type="presOf" srcId="{7AA4BCE5-838A-452C-BA06-A869C07EAE33}" destId="{EEC96708-49E3-4A42-ACE1-C2020844E9DB}" srcOrd="0" destOrd="0" presId="urn:microsoft.com/office/officeart/2005/8/layout/chevron2"/>
    <dgm:cxn modelId="{FB086BEE-81B2-4ED3-8935-6D4ECF6A1B51}" srcId="{62F14362-0BA0-43B6-9C2F-9CE9057D4DF0}" destId="{DE6243F6-0982-4749-BDA9-3D7D8184C26A}" srcOrd="0" destOrd="0" parTransId="{4E43DCB8-FD68-424F-8D7A-EA8B37717DFA}" sibTransId="{AE990C81-80DD-4734-A92A-C91E19EF55BD}"/>
    <dgm:cxn modelId="{1BC291E5-951D-4A13-A57D-DA1C18B66788}" srcId="{9D86A73C-E86D-4AAF-B0E8-6A97AC00E5A7}" destId="{0DAAF06F-B1D9-4FF4-9699-13EFE5C37F21}" srcOrd="0" destOrd="0" parTransId="{72D9623A-45B7-47AC-905E-F602609A5D17}" sibTransId="{67D094FD-53C8-407C-A51C-3A10DAC12FD7}"/>
    <dgm:cxn modelId="{126D26C8-D6CF-48ED-B10B-256EDA69A0E3}" srcId="{8C52E961-8DC7-4BA8-9EFE-B5D4E7BFCB2C}" destId="{0C14CBCD-34EC-43F9-88B3-B5B73566B37B}" srcOrd="0" destOrd="0" parTransId="{90801A33-C96F-4A81-B93A-0852A9956992}" sibTransId="{1B669E59-2BD4-468F-B2F8-A293D31DB965}"/>
    <dgm:cxn modelId="{6FB2A94C-20CC-4D6B-8B2C-F31843D57B69}" srcId="{7AA4BCE5-838A-452C-BA06-A869C07EAE33}" destId="{033AB355-DEBE-4BC0-81F7-79E198B90F3F}" srcOrd="0" destOrd="0" parTransId="{4CE9AD92-BF00-42FB-A676-BF6DF5ADD430}" sibTransId="{282FCBF8-1A05-4DF3-828E-5CB36D65DE37}"/>
    <dgm:cxn modelId="{07B7A958-7CEF-45E9-AC1B-1F1A55A45858}" srcId="{5D330F28-D18C-485B-AD2B-7DF346A53225}" destId="{62F14362-0BA0-43B6-9C2F-9CE9057D4DF0}" srcOrd="3" destOrd="0" parTransId="{CDF3E7AF-3551-41F1-9ECA-68622446D3EB}" sibTransId="{A32A4E3C-B771-4D7B-AAFB-AD232D6DC34D}"/>
    <dgm:cxn modelId="{1F56BBBD-3297-4008-82EB-7A8E25619815}" type="presOf" srcId="{8C52E961-8DC7-4BA8-9EFE-B5D4E7BFCB2C}" destId="{75BB0E8A-43DB-48C7-A63A-6F886446931F}" srcOrd="0" destOrd="0" presId="urn:microsoft.com/office/officeart/2005/8/layout/chevron2"/>
    <dgm:cxn modelId="{32011C14-2238-426E-928D-3CC13ABF4189}" type="presOf" srcId="{0C14CBCD-34EC-43F9-88B3-B5B73566B37B}" destId="{23879B60-AA3C-4F85-B34A-EACE2437749A}" srcOrd="0" destOrd="0" presId="urn:microsoft.com/office/officeart/2005/8/layout/chevron2"/>
    <dgm:cxn modelId="{89F57153-3CC9-4159-8243-9ABB2FA40F65}" type="presOf" srcId="{5D330F28-D18C-485B-AD2B-7DF346A53225}" destId="{82317BD2-FB94-48E1-BC4C-A946E0BA34B6}" srcOrd="0" destOrd="0" presId="urn:microsoft.com/office/officeart/2005/8/layout/chevron2"/>
    <dgm:cxn modelId="{CB726045-462E-4FDE-8B42-EE95C172ECAF}" srcId="{5D330F28-D18C-485B-AD2B-7DF346A53225}" destId="{DCD3E76B-702D-4C61-B669-1C5B8C18468D}" srcOrd="1" destOrd="0" parTransId="{AB387FFD-666C-48A1-896A-BAEF52BE5A6E}" sibTransId="{0E4810F8-85E9-41C1-ADE8-0C77C3935B5F}"/>
    <dgm:cxn modelId="{FCCB9663-10D6-4977-849F-416BD36CC50A}" type="presParOf" srcId="{82317BD2-FB94-48E1-BC4C-A946E0BA34B6}" destId="{6C1D086C-E1C9-4393-9235-13A5556BA65D}" srcOrd="0" destOrd="0" presId="urn:microsoft.com/office/officeart/2005/8/layout/chevron2"/>
    <dgm:cxn modelId="{FD5CBB93-4F62-4BFD-AA38-4C8CF2E3EAD2}" type="presParOf" srcId="{6C1D086C-E1C9-4393-9235-13A5556BA65D}" destId="{EEC96708-49E3-4A42-ACE1-C2020844E9DB}" srcOrd="0" destOrd="0" presId="urn:microsoft.com/office/officeart/2005/8/layout/chevron2"/>
    <dgm:cxn modelId="{20B4D0D4-C06F-40A4-A7D2-F65CFFB942F3}" type="presParOf" srcId="{6C1D086C-E1C9-4393-9235-13A5556BA65D}" destId="{B0D5B842-CFD7-4F5C-8567-ABE9C6F65A41}" srcOrd="1" destOrd="0" presId="urn:microsoft.com/office/officeart/2005/8/layout/chevron2"/>
    <dgm:cxn modelId="{42A736F4-AC46-4092-BDBE-B5511A3A0F03}" type="presParOf" srcId="{82317BD2-FB94-48E1-BC4C-A946E0BA34B6}" destId="{95C2C221-9BB3-4F27-ABEA-3C9C634746D8}" srcOrd="1" destOrd="0" presId="urn:microsoft.com/office/officeart/2005/8/layout/chevron2"/>
    <dgm:cxn modelId="{AB838FBD-BE13-4790-8ECE-DAC8135A449B}" type="presParOf" srcId="{82317BD2-FB94-48E1-BC4C-A946E0BA34B6}" destId="{21726A0F-803D-4B8C-85CE-0115BBC93A2F}" srcOrd="2" destOrd="0" presId="urn:microsoft.com/office/officeart/2005/8/layout/chevron2"/>
    <dgm:cxn modelId="{343AD35E-C777-4245-B23D-6AD7554287E3}" type="presParOf" srcId="{21726A0F-803D-4B8C-85CE-0115BBC93A2F}" destId="{1F8198BB-C190-4AF2-8BC4-0432E8F05966}" srcOrd="0" destOrd="0" presId="urn:microsoft.com/office/officeart/2005/8/layout/chevron2"/>
    <dgm:cxn modelId="{3169FD9A-E496-461B-A4C0-6439F21F6CC8}" type="presParOf" srcId="{21726A0F-803D-4B8C-85CE-0115BBC93A2F}" destId="{C7B00ED2-F288-4724-9951-5B0C1CECD248}" srcOrd="1" destOrd="0" presId="urn:microsoft.com/office/officeart/2005/8/layout/chevron2"/>
    <dgm:cxn modelId="{A2C2A23D-009E-4C6A-89F7-8CC0635DA792}" type="presParOf" srcId="{82317BD2-FB94-48E1-BC4C-A946E0BA34B6}" destId="{16DE5933-3BD5-4364-AD06-4BA5E29A5E70}" srcOrd="3" destOrd="0" presId="urn:microsoft.com/office/officeart/2005/8/layout/chevron2"/>
    <dgm:cxn modelId="{FFED8D88-1E17-475D-8C19-56ACF9DF19CD}" type="presParOf" srcId="{82317BD2-FB94-48E1-BC4C-A946E0BA34B6}" destId="{5D56E540-3580-486B-8A26-E6493EE00583}" srcOrd="4" destOrd="0" presId="urn:microsoft.com/office/officeart/2005/8/layout/chevron2"/>
    <dgm:cxn modelId="{54A57D01-13F8-4EC3-9724-33E82D63EF8F}" type="presParOf" srcId="{5D56E540-3580-486B-8A26-E6493EE00583}" destId="{75BB0E8A-43DB-48C7-A63A-6F886446931F}" srcOrd="0" destOrd="0" presId="urn:microsoft.com/office/officeart/2005/8/layout/chevron2"/>
    <dgm:cxn modelId="{B51C6D49-4172-4E62-B32D-898F5816DB21}" type="presParOf" srcId="{5D56E540-3580-486B-8A26-E6493EE00583}" destId="{23879B60-AA3C-4F85-B34A-EACE2437749A}" srcOrd="1" destOrd="0" presId="urn:microsoft.com/office/officeart/2005/8/layout/chevron2"/>
    <dgm:cxn modelId="{A518160D-441C-40BB-9940-9E1BF58122F3}" type="presParOf" srcId="{82317BD2-FB94-48E1-BC4C-A946E0BA34B6}" destId="{5C8F247B-6C82-443F-8937-DB94A5EF8871}" srcOrd="5" destOrd="0" presId="urn:microsoft.com/office/officeart/2005/8/layout/chevron2"/>
    <dgm:cxn modelId="{17FAD860-47BB-416E-AF80-569BD27FD9BC}" type="presParOf" srcId="{82317BD2-FB94-48E1-BC4C-A946E0BA34B6}" destId="{6B14C85C-A315-423E-86AF-D0DB467E8042}" srcOrd="6" destOrd="0" presId="urn:microsoft.com/office/officeart/2005/8/layout/chevron2"/>
    <dgm:cxn modelId="{8DA984BA-3F9D-48FB-A528-B6AB27DB46CA}" type="presParOf" srcId="{6B14C85C-A315-423E-86AF-D0DB467E8042}" destId="{A045862D-78AC-44F9-BFD7-D9799FC417C9}" srcOrd="0" destOrd="0" presId="urn:microsoft.com/office/officeart/2005/8/layout/chevron2"/>
    <dgm:cxn modelId="{FAC7D31C-3688-4DF7-8FBF-68FD16C390FD}" type="presParOf" srcId="{6B14C85C-A315-423E-86AF-D0DB467E8042}" destId="{150E90A1-794C-4F0B-9934-A8E58ABC48E6}" srcOrd="1" destOrd="0" presId="urn:microsoft.com/office/officeart/2005/8/layout/chevron2"/>
    <dgm:cxn modelId="{8E7CDCC5-1D21-4F3E-B43F-BC89B4EC5892}" type="presParOf" srcId="{82317BD2-FB94-48E1-BC4C-A946E0BA34B6}" destId="{E39FE392-81EE-405C-AFA2-A7A9E94329F7}" srcOrd="7" destOrd="0" presId="urn:microsoft.com/office/officeart/2005/8/layout/chevron2"/>
    <dgm:cxn modelId="{D99A6EEB-6D1E-4366-8EC5-5EA72D79D20C}" type="presParOf" srcId="{82317BD2-FB94-48E1-BC4C-A946E0BA34B6}" destId="{9F8822EB-FA47-4DF0-9226-122A445F4A28}" srcOrd="8" destOrd="0" presId="urn:microsoft.com/office/officeart/2005/8/layout/chevron2"/>
    <dgm:cxn modelId="{EE8858BB-0F1B-4BE6-BE8D-11419F3D19C3}" type="presParOf" srcId="{9F8822EB-FA47-4DF0-9226-122A445F4A28}" destId="{0130137D-86A9-4CA1-B654-96683AA3D24E}" srcOrd="0" destOrd="0" presId="urn:microsoft.com/office/officeart/2005/8/layout/chevron2"/>
    <dgm:cxn modelId="{233B84B5-F04A-4EE6-8749-76CF8B44A1E9}" type="presParOf" srcId="{9F8822EB-FA47-4DF0-9226-122A445F4A28}" destId="{CBD335E0-8D6A-469E-B81C-6247BD0A19E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D330F28-D18C-485B-AD2B-7DF346A53225}" type="doc">
      <dgm:prSet loTypeId="urn:microsoft.com/office/officeart/2005/8/layout/chevron2" loCatId="list" qsTypeId="urn:microsoft.com/office/officeart/2005/8/quickstyle/simple1#4" qsCatId="simple" csTypeId="urn:microsoft.com/office/officeart/2005/8/colors/accent1_2#4" csCatId="accent1" phldr="1"/>
      <dgm:spPr/>
      <dgm:t>
        <a:bodyPr/>
        <a:lstStyle/>
        <a:p>
          <a:endParaRPr lang="zh-CN" altLang="en-US"/>
        </a:p>
      </dgm:t>
    </dgm:pt>
    <dgm:pt modelId="{7AA4BCE5-838A-452C-BA06-A869C07EAE33}">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D703FA97-3964-407D-BCB3-03578955312E}" type="parTrans" cxnId="{E87C870E-8802-4DE6-99E1-34561ECF1851}">
      <dgm:prSet/>
      <dgm:spPr/>
      <dgm:t>
        <a:bodyPr/>
        <a:lstStyle/>
        <a:p>
          <a:endParaRPr lang="zh-CN" altLang="en-US"/>
        </a:p>
      </dgm:t>
    </dgm:pt>
    <dgm:pt modelId="{3FEA1EA7-43E1-472F-A09C-BB829D763F53}" type="sibTrans" cxnId="{E87C870E-8802-4DE6-99E1-34561ECF1851}">
      <dgm:prSet/>
      <dgm:spPr/>
      <dgm:t>
        <a:bodyPr/>
        <a:lstStyle/>
        <a:p>
          <a:endParaRPr lang="zh-CN" altLang="en-US"/>
        </a:p>
      </dgm:t>
    </dgm:pt>
    <dgm:pt modelId="{033AB355-DEBE-4BC0-81F7-79E198B90F3F}">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回溯法及其基本思想</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CE9AD92-BF00-42FB-A676-BF6DF5ADD430}" type="parTrans" cxnId="{6FB2A94C-20CC-4D6B-8B2C-F31843D57B69}">
      <dgm:prSet/>
      <dgm:spPr/>
      <dgm:t>
        <a:bodyPr/>
        <a:lstStyle/>
        <a:p>
          <a:endParaRPr lang="zh-CN" altLang="en-US"/>
        </a:p>
      </dgm:t>
    </dgm:pt>
    <dgm:pt modelId="{282FCBF8-1A05-4DF3-828E-5CB36D65DE37}" type="sibTrans" cxnId="{6FB2A94C-20CC-4D6B-8B2C-F31843D57B69}">
      <dgm:prSet/>
      <dgm:spPr/>
      <dgm:t>
        <a:bodyPr/>
        <a:lstStyle/>
        <a:p>
          <a:endParaRPr lang="zh-CN" altLang="en-US"/>
        </a:p>
      </dgm:t>
    </dgm:pt>
    <dgm:pt modelId="{DCD3E76B-702D-4C61-B669-1C5B8C18468D}">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AB387FFD-666C-48A1-896A-BAEF52BE5A6E}" type="parTrans" cxnId="{CB726045-462E-4FDE-8B42-EE95C172ECAF}">
      <dgm:prSet/>
      <dgm:spPr/>
      <dgm:t>
        <a:bodyPr/>
        <a:lstStyle/>
        <a:p>
          <a:endParaRPr lang="zh-CN" altLang="en-US"/>
        </a:p>
      </dgm:t>
    </dgm:pt>
    <dgm:pt modelId="{0E4810F8-85E9-41C1-ADE8-0C77C3935B5F}" type="sibTrans" cxnId="{CB726045-462E-4FDE-8B42-EE95C172ECAF}">
      <dgm:prSet/>
      <dgm:spPr/>
      <dgm:t>
        <a:bodyPr/>
        <a:lstStyle/>
        <a:p>
          <a:endParaRPr lang="zh-CN" altLang="en-US"/>
        </a:p>
      </dgm:t>
    </dgm:pt>
    <dgm:pt modelId="{76520E71-2C00-4FE2-BBE9-F4662F157057}">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回溯法解题算法框架</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FF0A9FB-5BB3-409B-8007-2EEEE07EC7C9}" type="parTrans" cxnId="{B3686629-5945-4591-B831-FAF50E99AECD}">
      <dgm:prSet/>
      <dgm:spPr/>
      <dgm:t>
        <a:bodyPr/>
        <a:lstStyle/>
        <a:p>
          <a:endParaRPr lang="zh-CN" altLang="en-US"/>
        </a:p>
      </dgm:t>
    </dgm:pt>
    <dgm:pt modelId="{1F6250BF-B0F8-4F10-88E0-D5C1BB08367A}" type="sibTrans" cxnId="{B3686629-5945-4591-B831-FAF50E99AECD}">
      <dgm:prSet/>
      <dgm:spPr/>
      <dgm:t>
        <a:bodyPr/>
        <a:lstStyle/>
        <a:p>
          <a:endParaRPr lang="zh-CN" altLang="en-US"/>
        </a:p>
      </dgm:t>
    </dgm:pt>
    <dgm:pt modelId="{8C52E961-8DC7-4BA8-9EFE-B5D4E7BFCB2C}">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06C084B8-CA07-4300-9514-C36F01B77F84}" type="parTrans" cxnId="{8A157C6C-0F81-4767-850C-8243FF679803}">
      <dgm:prSet/>
      <dgm:spPr/>
      <dgm:t>
        <a:bodyPr/>
        <a:lstStyle/>
        <a:p>
          <a:endParaRPr lang="zh-CN" altLang="en-US"/>
        </a:p>
      </dgm:t>
    </dgm:pt>
    <dgm:pt modelId="{AED74C2A-4C95-4A64-AE41-935EC9214B07}" type="sibTrans" cxnId="{8A157C6C-0F81-4767-850C-8243FF679803}">
      <dgm:prSet/>
      <dgm:spPr/>
      <dgm:t>
        <a:bodyPr/>
        <a:lstStyle/>
        <a:p>
          <a:endParaRPr lang="zh-CN" altLang="en-US"/>
        </a:p>
      </dgm:t>
    </dgm:pt>
    <dgm:pt modelId="{0C14CBCD-34EC-43F9-88B3-B5B73566B37B}">
      <dgm:prSet custT="1"/>
      <dgm:spPr/>
      <dgm:t>
        <a:bodyPr/>
        <a:lstStyle/>
        <a:p>
          <a:r>
            <a:rPr lang="zh-CN" altLang="en-US" sz="36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dirty="0" smtClean="0">
              <a:solidFill>
                <a:schemeClr val="tx2">
                  <a:lumMod val="50000"/>
                </a:schemeClr>
              </a:solidFill>
              <a:latin typeface="楷体" panose="02010609060101010101" pitchFamily="49" charset="-122"/>
              <a:ea typeface="楷体" panose="02010609060101010101" pitchFamily="49" charset="-122"/>
            </a:rPr>
            <a:t>皇后问题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90801A33-C96F-4A81-B93A-0852A9956992}" type="parTrans" cxnId="{126D26C8-D6CF-48ED-B10B-256EDA69A0E3}">
      <dgm:prSet/>
      <dgm:spPr/>
      <dgm:t>
        <a:bodyPr/>
        <a:lstStyle/>
        <a:p>
          <a:endParaRPr lang="zh-CN" altLang="en-US"/>
        </a:p>
      </dgm:t>
    </dgm:pt>
    <dgm:pt modelId="{1B669E59-2BD4-468F-B2F8-A293D31DB965}" type="sibTrans" cxnId="{126D26C8-D6CF-48ED-B10B-256EDA69A0E3}">
      <dgm:prSet/>
      <dgm:spPr/>
      <dgm:t>
        <a:bodyPr/>
        <a:lstStyle/>
        <a:p>
          <a:endParaRPr lang="zh-CN" altLang="en-US"/>
        </a:p>
      </dgm:t>
    </dgm:pt>
    <dgm:pt modelId="{62F14362-0BA0-43B6-9C2F-9CE9057D4DF0}">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CDF3E7AF-3551-41F1-9ECA-68622446D3EB}" type="parTrans" cxnId="{07B7A958-7CEF-45E9-AC1B-1F1A55A45858}">
      <dgm:prSet/>
      <dgm:spPr/>
      <dgm:t>
        <a:bodyPr/>
        <a:lstStyle/>
        <a:p>
          <a:endParaRPr lang="zh-CN" altLang="en-US"/>
        </a:p>
      </dgm:t>
    </dgm:pt>
    <dgm:pt modelId="{A32A4E3C-B771-4D7B-AAFB-AD232D6DC34D}" type="sibTrans" cxnId="{07B7A958-7CEF-45E9-AC1B-1F1A55A45858}">
      <dgm:prSet/>
      <dgm:spPr/>
      <dgm:t>
        <a:bodyPr/>
        <a:lstStyle/>
        <a:p>
          <a:endParaRPr lang="zh-CN" altLang="en-US"/>
        </a:p>
      </dgm:t>
    </dgm:pt>
    <dgm:pt modelId="{DE6243F6-0982-4749-BDA9-3D7D8184C26A}">
      <dgm:prSet custT="1"/>
      <dgm:spPr/>
      <dgm:t>
        <a:bodyPr/>
        <a:lstStyle/>
        <a:p>
          <a:r>
            <a:rPr lang="zh-CN" altLang="en-US" sz="3600" dirty="0" smtClean="0">
              <a:solidFill>
                <a:srgbClr val="FF0000"/>
              </a:solidFill>
              <a:latin typeface="楷体" panose="02010609060101010101" pitchFamily="49" charset="-122"/>
              <a:ea typeface="楷体" panose="02010609060101010101" pitchFamily="49" charset="-122"/>
            </a:rPr>
            <a:t>案例分析：货郎担问题</a:t>
          </a:r>
          <a:endParaRPr lang="zh-CN" altLang="en-US" sz="3600" dirty="0">
            <a:solidFill>
              <a:srgbClr val="FF0000"/>
            </a:solidFill>
            <a:latin typeface="楷体" panose="02010609060101010101" pitchFamily="49" charset="-122"/>
            <a:ea typeface="楷体" panose="02010609060101010101" pitchFamily="49" charset="-122"/>
          </a:endParaRPr>
        </a:p>
      </dgm:t>
    </dgm:pt>
    <dgm:pt modelId="{4E43DCB8-FD68-424F-8D7A-EA8B37717DFA}" type="parTrans" cxnId="{FB086BEE-81B2-4ED3-8935-6D4ECF6A1B51}">
      <dgm:prSet/>
      <dgm:spPr/>
      <dgm:t>
        <a:bodyPr/>
        <a:lstStyle/>
        <a:p>
          <a:endParaRPr lang="zh-CN" altLang="en-US"/>
        </a:p>
      </dgm:t>
    </dgm:pt>
    <dgm:pt modelId="{AE990C81-80DD-4734-A92A-C91E19EF55BD}" type="sibTrans" cxnId="{FB086BEE-81B2-4ED3-8935-6D4ECF6A1B51}">
      <dgm:prSet/>
      <dgm:spPr/>
      <dgm:t>
        <a:bodyPr/>
        <a:lstStyle/>
        <a:p>
          <a:endParaRPr lang="zh-CN" altLang="en-US"/>
        </a:p>
      </dgm:t>
    </dgm:pt>
    <dgm:pt modelId="{9D86A73C-E86D-4AAF-B0E8-6A97AC00E5A7}">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351CB61-64A9-487C-873B-AB30EE6EB332}" type="parTrans" cxnId="{498A534E-6488-45E3-9C79-2ABB07DC381A}">
      <dgm:prSet/>
      <dgm:spPr/>
      <dgm:t>
        <a:bodyPr/>
        <a:lstStyle/>
        <a:p>
          <a:endParaRPr lang="zh-CN" altLang="en-US"/>
        </a:p>
      </dgm:t>
    </dgm:pt>
    <dgm:pt modelId="{FED2A96A-EBDD-4A03-A3BD-37056BFE36D4}" type="sibTrans" cxnId="{498A534E-6488-45E3-9C79-2ABB07DC381A}">
      <dgm:prSet/>
      <dgm:spPr/>
      <dgm:t>
        <a:bodyPr/>
        <a:lstStyle/>
        <a:p>
          <a:endParaRPr lang="zh-CN" altLang="en-US"/>
        </a:p>
      </dgm:t>
    </dgm:pt>
    <dgm:pt modelId="{0DAAF06F-B1D9-4FF4-9699-13EFE5C37F21}">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72D9623A-45B7-47AC-905E-F602609A5D17}" type="parTrans" cxnId="{1BC291E5-951D-4A13-A57D-DA1C18B66788}">
      <dgm:prSet/>
      <dgm:spPr/>
      <dgm:t>
        <a:bodyPr/>
        <a:lstStyle/>
        <a:p>
          <a:endParaRPr lang="zh-CN" altLang="en-US"/>
        </a:p>
      </dgm:t>
    </dgm:pt>
    <dgm:pt modelId="{67D094FD-53C8-407C-A51C-3A10DAC12FD7}" type="sibTrans" cxnId="{1BC291E5-951D-4A13-A57D-DA1C18B66788}">
      <dgm:prSet/>
      <dgm:spPr/>
      <dgm:t>
        <a:bodyPr/>
        <a:lstStyle/>
        <a:p>
          <a:endParaRPr lang="zh-CN" altLang="en-US"/>
        </a:p>
      </dgm:t>
    </dgm:pt>
    <dgm:pt modelId="{82317BD2-FB94-48E1-BC4C-A946E0BA34B6}" type="pres">
      <dgm:prSet presAssocID="{5D330F28-D18C-485B-AD2B-7DF346A53225}" presName="linearFlow" presStyleCnt="0">
        <dgm:presLayoutVars>
          <dgm:dir/>
          <dgm:animLvl val="lvl"/>
          <dgm:resizeHandles val="exact"/>
        </dgm:presLayoutVars>
      </dgm:prSet>
      <dgm:spPr/>
      <dgm:t>
        <a:bodyPr/>
        <a:lstStyle/>
        <a:p>
          <a:endParaRPr lang="zh-CN" altLang="en-US"/>
        </a:p>
      </dgm:t>
    </dgm:pt>
    <dgm:pt modelId="{6C1D086C-E1C9-4393-9235-13A5556BA65D}" type="pres">
      <dgm:prSet presAssocID="{7AA4BCE5-838A-452C-BA06-A869C07EAE33}" presName="composite" presStyleCnt="0"/>
      <dgm:spPr/>
    </dgm:pt>
    <dgm:pt modelId="{EEC96708-49E3-4A42-ACE1-C2020844E9DB}" type="pres">
      <dgm:prSet presAssocID="{7AA4BCE5-838A-452C-BA06-A869C07EAE33}" presName="parentText" presStyleLbl="alignNode1" presStyleIdx="0" presStyleCnt="5">
        <dgm:presLayoutVars>
          <dgm:chMax val="1"/>
          <dgm:bulletEnabled val="1"/>
        </dgm:presLayoutVars>
      </dgm:prSet>
      <dgm:spPr/>
      <dgm:t>
        <a:bodyPr/>
        <a:lstStyle/>
        <a:p>
          <a:endParaRPr lang="zh-CN" altLang="en-US"/>
        </a:p>
      </dgm:t>
    </dgm:pt>
    <dgm:pt modelId="{B0D5B842-CFD7-4F5C-8567-ABE9C6F65A41}" type="pres">
      <dgm:prSet presAssocID="{7AA4BCE5-838A-452C-BA06-A869C07EAE33}" presName="descendantText" presStyleLbl="alignAcc1" presStyleIdx="0" presStyleCnt="5">
        <dgm:presLayoutVars>
          <dgm:bulletEnabled val="1"/>
        </dgm:presLayoutVars>
      </dgm:prSet>
      <dgm:spPr/>
      <dgm:t>
        <a:bodyPr/>
        <a:lstStyle/>
        <a:p>
          <a:endParaRPr lang="zh-CN" altLang="en-US"/>
        </a:p>
      </dgm:t>
    </dgm:pt>
    <dgm:pt modelId="{95C2C221-9BB3-4F27-ABEA-3C9C634746D8}" type="pres">
      <dgm:prSet presAssocID="{3FEA1EA7-43E1-472F-A09C-BB829D763F53}" presName="sp" presStyleCnt="0"/>
      <dgm:spPr/>
    </dgm:pt>
    <dgm:pt modelId="{21726A0F-803D-4B8C-85CE-0115BBC93A2F}" type="pres">
      <dgm:prSet presAssocID="{DCD3E76B-702D-4C61-B669-1C5B8C18468D}" presName="composite" presStyleCnt="0"/>
      <dgm:spPr/>
    </dgm:pt>
    <dgm:pt modelId="{1F8198BB-C190-4AF2-8BC4-0432E8F05966}" type="pres">
      <dgm:prSet presAssocID="{DCD3E76B-702D-4C61-B669-1C5B8C18468D}" presName="parentText" presStyleLbl="alignNode1" presStyleIdx="1" presStyleCnt="5">
        <dgm:presLayoutVars>
          <dgm:chMax val="1"/>
          <dgm:bulletEnabled val="1"/>
        </dgm:presLayoutVars>
      </dgm:prSet>
      <dgm:spPr/>
      <dgm:t>
        <a:bodyPr/>
        <a:lstStyle/>
        <a:p>
          <a:endParaRPr lang="zh-CN" altLang="en-US"/>
        </a:p>
      </dgm:t>
    </dgm:pt>
    <dgm:pt modelId="{C7B00ED2-F288-4724-9951-5B0C1CECD248}" type="pres">
      <dgm:prSet presAssocID="{DCD3E76B-702D-4C61-B669-1C5B8C18468D}" presName="descendantText" presStyleLbl="alignAcc1" presStyleIdx="1" presStyleCnt="5">
        <dgm:presLayoutVars>
          <dgm:bulletEnabled val="1"/>
        </dgm:presLayoutVars>
      </dgm:prSet>
      <dgm:spPr/>
      <dgm:t>
        <a:bodyPr/>
        <a:lstStyle/>
        <a:p>
          <a:endParaRPr lang="zh-CN" altLang="en-US"/>
        </a:p>
      </dgm:t>
    </dgm:pt>
    <dgm:pt modelId="{16DE5933-3BD5-4364-AD06-4BA5E29A5E70}" type="pres">
      <dgm:prSet presAssocID="{0E4810F8-85E9-41C1-ADE8-0C77C3935B5F}" presName="sp" presStyleCnt="0"/>
      <dgm:spPr/>
    </dgm:pt>
    <dgm:pt modelId="{5D56E540-3580-486B-8A26-E6493EE00583}" type="pres">
      <dgm:prSet presAssocID="{8C52E961-8DC7-4BA8-9EFE-B5D4E7BFCB2C}" presName="composite" presStyleCnt="0"/>
      <dgm:spPr/>
    </dgm:pt>
    <dgm:pt modelId="{75BB0E8A-43DB-48C7-A63A-6F886446931F}" type="pres">
      <dgm:prSet presAssocID="{8C52E961-8DC7-4BA8-9EFE-B5D4E7BFCB2C}" presName="parentText" presStyleLbl="alignNode1" presStyleIdx="2" presStyleCnt="5">
        <dgm:presLayoutVars>
          <dgm:chMax val="1"/>
          <dgm:bulletEnabled val="1"/>
        </dgm:presLayoutVars>
      </dgm:prSet>
      <dgm:spPr/>
      <dgm:t>
        <a:bodyPr/>
        <a:lstStyle/>
        <a:p>
          <a:endParaRPr lang="zh-CN" altLang="en-US"/>
        </a:p>
      </dgm:t>
    </dgm:pt>
    <dgm:pt modelId="{23879B60-AA3C-4F85-B34A-EACE2437749A}" type="pres">
      <dgm:prSet presAssocID="{8C52E961-8DC7-4BA8-9EFE-B5D4E7BFCB2C}" presName="descendantText" presStyleLbl="alignAcc1" presStyleIdx="2" presStyleCnt="5">
        <dgm:presLayoutVars>
          <dgm:bulletEnabled val="1"/>
        </dgm:presLayoutVars>
      </dgm:prSet>
      <dgm:spPr/>
      <dgm:t>
        <a:bodyPr/>
        <a:lstStyle/>
        <a:p>
          <a:endParaRPr lang="zh-CN" altLang="en-US"/>
        </a:p>
      </dgm:t>
    </dgm:pt>
    <dgm:pt modelId="{5C8F247B-6C82-443F-8937-DB94A5EF8871}" type="pres">
      <dgm:prSet presAssocID="{AED74C2A-4C95-4A64-AE41-935EC9214B07}" presName="sp" presStyleCnt="0"/>
      <dgm:spPr/>
    </dgm:pt>
    <dgm:pt modelId="{6B14C85C-A315-423E-86AF-D0DB467E8042}" type="pres">
      <dgm:prSet presAssocID="{62F14362-0BA0-43B6-9C2F-9CE9057D4DF0}" presName="composite" presStyleCnt="0"/>
      <dgm:spPr/>
    </dgm:pt>
    <dgm:pt modelId="{A045862D-78AC-44F9-BFD7-D9799FC417C9}" type="pres">
      <dgm:prSet presAssocID="{62F14362-0BA0-43B6-9C2F-9CE9057D4DF0}" presName="parentText" presStyleLbl="alignNode1" presStyleIdx="3" presStyleCnt="5">
        <dgm:presLayoutVars>
          <dgm:chMax val="1"/>
          <dgm:bulletEnabled val="1"/>
        </dgm:presLayoutVars>
      </dgm:prSet>
      <dgm:spPr/>
      <dgm:t>
        <a:bodyPr/>
        <a:lstStyle/>
        <a:p>
          <a:endParaRPr lang="zh-CN" altLang="en-US"/>
        </a:p>
      </dgm:t>
    </dgm:pt>
    <dgm:pt modelId="{150E90A1-794C-4F0B-9934-A8E58ABC48E6}" type="pres">
      <dgm:prSet presAssocID="{62F14362-0BA0-43B6-9C2F-9CE9057D4DF0}" presName="descendantText" presStyleLbl="alignAcc1" presStyleIdx="3" presStyleCnt="5">
        <dgm:presLayoutVars>
          <dgm:bulletEnabled val="1"/>
        </dgm:presLayoutVars>
      </dgm:prSet>
      <dgm:spPr/>
      <dgm:t>
        <a:bodyPr/>
        <a:lstStyle/>
        <a:p>
          <a:endParaRPr lang="zh-CN" altLang="en-US"/>
        </a:p>
      </dgm:t>
    </dgm:pt>
    <dgm:pt modelId="{E39FE392-81EE-405C-AFA2-A7A9E94329F7}" type="pres">
      <dgm:prSet presAssocID="{A32A4E3C-B771-4D7B-AAFB-AD232D6DC34D}" presName="sp" presStyleCnt="0"/>
      <dgm:spPr/>
    </dgm:pt>
    <dgm:pt modelId="{9F8822EB-FA47-4DF0-9226-122A445F4A28}" type="pres">
      <dgm:prSet presAssocID="{9D86A73C-E86D-4AAF-B0E8-6A97AC00E5A7}" presName="composite" presStyleCnt="0"/>
      <dgm:spPr/>
    </dgm:pt>
    <dgm:pt modelId="{0130137D-86A9-4CA1-B654-96683AA3D24E}" type="pres">
      <dgm:prSet presAssocID="{9D86A73C-E86D-4AAF-B0E8-6A97AC00E5A7}" presName="parentText" presStyleLbl="alignNode1" presStyleIdx="4" presStyleCnt="5">
        <dgm:presLayoutVars>
          <dgm:chMax val="1"/>
          <dgm:bulletEnabled val="1"/>
        </dgm:presLayoutVars>
      </dgm:prSet>
      <dgm:spPr/>
      <dgm:t>
        <a:bodyPr/>
        <a:lstStyle/>
        <a:p>
          <a:endParaRPr lang="zh-CN" altLang="en-US"/>
        </a:p>
      </dgm:t>
    </dgm:pt>
    <dgm:pt modelId="{CBD335E0-8D6A-469E-B81C-6247BD0A19E2}" type="pres">
      <dgm:prSet presAssocID="{9D86A73C-E86D-4AAF-B0E8-6A97AC00E5A7}" presName="descendantText" presStyleLbl="alignAcc1" presStyleIdx="4" presStyleCnt="5">
        <dgm:presLayoutVars>
          <dgm:bulletEnabled val="1"/>
        </dgm:presLayoutVars>
      </dgm:prSet>
      <dgm:spPr/>
      <dgm:t>
        <a:bodyPr/>
        <a:lstStyle/>
        <a:p>
          <a:endParaRPr lang="zh-CN" altLang="en-US"/>
        </a:p>
      </dgm:t>
    </dgm:pt>
  </dgm:ptLst>
  <dgm:cxnLst>
    <dgm:cxn modelId="{94962B45-F495-4113-ACCD-4973E55A889C}" type="presOf" srcId="{9D86A73C-E86D-4AAF-B0E8-6A97AC00E5A7}" destId="{0130137D-86A9-4CA1-B654-96683AA3D24E}" srcOrd="0" destOrd="0" presId="urn:microsoft.com/office/officeart/2005/8/layout/chevron2"/>
    <dgm:cxn modelId="{8A157C6C-0F81-4767-850C-8243FF679803}" srcId="{5D330F28-D18C-485B-AD2B-7DF346A53225}" destId="{8C52E961-8DC7-4BA8-9EFE-B5D4E7BFCB2C}" srcOrd="2" destOrd="0" parTransId="{06C084B8-CA07-4300-9514-C36F01B77F84}" sibTransId="{AED74C2A-4C95-4A64-AE41-935EC9214B07}"/>
    <dgm:cxn modelId="{7B1B6CC2-6D24-4801-929A-653203699463}" type="presOf" srcId="{5D330F28-D18C-485B-AD2B-7DF346A53225}" destId="{82317BD2-FB94-48E1-BC4C-A946E0BA34B6}" srcOrd="0" destOrd="0" presId="urn:microsoft.com/office/officeart/2005/8/layout/chevron2"/>
    <dgm:cxn modelId="{5F628276-99BD-47E9-B1F7-F3AA4148CB62}" type="presOf" srcId="{76520E71-2C00-4FE2-BBE9-F4662F157057}" destId="{C7B00ED2-F288-4724-9951-5B0C1CECD248}" srcOrd="0" destOrd="0" presId="urn:microsoft.com/office/officeart/2005/8/layout/chevron2"/>
    <dgm:cxn modelId="{498A534E-6488-45E3-9C79-2ABB07DC381A}" srcId="{5D330F28-D18C-485B-AD2B-7DF346A53225}" destId="{9D86A73C-E86D-4AAF-B0E8-6A97AC00E5A7}" srcOrd="4" destOrd="0" parTransId="{8351CB61-64A9-487C-873B-AB30EE6EB332}" sibTransId="{FED2A96A-EBDD-4A03-A3BD-37056BFE36D4}"/>
    <dgm:cxn modelId="{8075EB30-C3DB-42AE-92BB-1E491BFB306C}" type="presOf" srcId="{0C14CBCD-34EC-43F9-88B3-B5B73566B37B}" destId="{23879B60-AA3C-4F85-B34A-EACE2437749A}" srcOrd="0" destOrd="0" presId="urn:microsoft.com/office/officeart/2005/8/layout/chevron2"/>
    <dgm:cxn modelId="{E7E6F9ED-165F-46F8-A78A-93D40F9EE64F}" type="presOf" srcId="{DCD3E76B-702D-4C61-B669-1C5B8C18468D}" destId="{1F8198BB-C190-4AF2-8BC4-0432E8F05966}" srcOrd="0" destOrd="0" presId="urn:microsoft.com/office/officeart/2005/8/layout/chevron2"/>
    <dgm:cxn modelId="{5D91D32C-E925-4AD2-A7C2-7E48A6847F34}" type="presOf" srcId="{033AB355-DEBE-4BC0-81F7-79E198B90F3F}" destId="{B0D5B842-CFD7-4F5C-8567-ABE9C6F65A41}" srcOrd="0" destOrd="0" presId="urn:microsoft.com/office/officeart/2005/8/layout/chevron2"/>
    <dgm:cxn modelId="{E87C870E-8802-4DE6-99E1-34561ECF1851}" srcId="{5D330F28-D18C-485B-AD2B-7DF346A53225}" destId="{7AA4BCE5-838A-452C-BA06-A869C07EAE33}" srcOrd="0" destOrd="0" parTransId="{D703FA97-3964-407D-BCB3-03578955312E}" sibTransId="{3FEA1EA7-43E1-472F-A09C-BB829D763F53}"/>
    <dgm:cxn modelId="{A9E90A73-CA83-4D7C-A65A-8D7A0FA7FAFF}" type="presOf" srcId="{7AA4BCE5-838A-452C-BA06-A869C07EAE33}" destId="{EEC96708-49E3-4A42-ACE1-C2020844E9DB}" srcOrd="0" destOrd="0" presId="urn:microsoft.com/office/officeart/2005/8/layout/chevron2"/>
    <dgm:cxn modelId="{B3686629-5945-4591-B831-FAF50E99AECD}" srcId="{DCD3E76B-702D-4C61-B669-1C5B8C18468D}" destId="{76520E71-2C00-4FE2-BBE9-F4662F157057}" srcOrd="0" destOrd="0" parTransId="{4FF0A9FB-5BB3-409B-8007-2EEEE07EC7C9}" sibTransId="{1F6250BF-B0F8-4F10-88E0-D5C1BB08367A}"/>
    <dgm:cxn modelId="{1BC291E5-951D-4A13-A57D-DA1C18B66788}" srcId="{9D86A73C-E86D-4AAF-B0E8-6A97AC00E5A7}" destId="{0DAAF06F-B1D9-4FF4-9699-13EFE5C37F21}" srcOrd="0" destOrd="0" parTransId="{72D9623A-45B7-47AC-905E-F602609A5D17}" sibTransId="{67D094FD-53C8-407C-A51C-3A10DAC12FD7}"/>
    <dgm:cxn modelId="{FB086BEE-81B2-4ED3-8935-6D4ECF6A1B51}" srcId="{62F14362-0BA0-43B6-9C2F-9CE9057D4DF0}" destId="{DE6243F6-0982-4749-BDA9-3D7D8184C26A}" srcOrd="0" destOrd="0" parTransId="{4E43DCB8-FD68-424F-8D7A-EA8B37717DFA}" sibTransId="{AE990C81-80DD-4734-A92A-C91E19EF55BD}"/>
    <dgm:cxn modelId="{0F256D58-E664-4669-8726-CABC68BB5EA3}" type="presOf" srcId="{62F14362-0BA0-43B6-9C2F-9CE9057D4DF0}" destId="{A045862D-78AC-44F9-BFD7-D9799FC417C9}" srcOrd="0" destOrd="0" presId="urn:microsoft.com/office/officeart/2005/8/layout/chevron2"/>
    <dgm:cxn modelId="{126D26C8-D6CF-48ED-B10B-256EDA69A0E3}" srcId="{8C52E961-8DC7-4BA8-9EFE-B5D4E7BFCB2C}" destId="{0C14CBCD-34EC-43F9-88B3-B5B73566B37B}" srcOrd="0" destOrd="0" parTransId="{90801A33-C96F-4A81-B93A-0852A9956992}" sibTransId="{1B669E59-2BD4-468F-B2F8-A293D31DB965}"/>
    <dgm:cxn modelId="{EF964BA2-A8D5-4B26-B04B-085C838795EE}" type="presOf" srcId="{DE6243F6-0982-4749-BDA9-3D7D8184C26A}" destId="{150E90A1-794C-4F0B-9934-A8E58ABC48E6}" srcOrd="0" destOrd="0" presId="urn:microsoft.com/office/officeart/2005/8/layout/chevron2"/>
    <dgm:cxn modelId="{6FB2A94C-20CC-4D6B-8B2C-F31843D57B69}" srcId="{7AA4BCE5-838A-452C-BA06-A869C07EAE33}" destId="{033AB355-DEBE-4BC0-81F7-79E198B90F3F}" srcOrd="0" destOrd="0" parTransId="{4CE9AD92-BF00-42FB-A676-BF6DF5ADD430}" sibTransId="{282FCBF8-1A05-4DF3-828E-5CB36D65DE37}"/>
    <dgm:cxn modelId="{7B894FF3-C82A-4376-8DCC-51534F1DCA57}" type="presOf" srcId="{0DAAF06F-B1D9-4FF4-9699-13EFE5C37F21}" destId="{CBD335E0-8D6A-469E-B81C-6247BD0A19E2}" srcOrd="0" destOrd="0" presId="urn:microsoft.com/office/officeart/2005/8/layout/chevron2"/>
    <dgm:cxn modelId="{07B7A958-7CEF-45E9-AC1B-1F1A55A45858}" srcId="{5D330F28-D18C-485B-AD2B-7DF346A53225}" destId="{62F14362-0BA0-43B6-9C2F-9CE9057D4DF0}" srcOrd="3" destOrd="0" parTransId="{CDF3E7AF-3551-41F1-9ECA-68622446D3EB}" sibTransId="{A32A4E3C-B771-4D7B-AAFB-AD232D6DC34D}"/>
    <dgm:cxn modelId="{AA0A7AE5-4616-4B56-A0CE-CA2E11F8E476}" type="presOf" srcId="{8C52E961-8DC7-4BA8-9EFE-B5D4E7BFCB2C}" destId="{75BB0E8A-43DB-48C7-A63A-6F886446931F}" srcOrd="0" destOrd="0" presId="urn:microsoft.com/office/officeart/2005/8/layout/chevron2"/>
    <dgm:cxn modelId="{CB726045-462E-4FDE-8B42-EE95C172ECAF}" srcId="{5D330F28-D18C-485B-AD2B-7DF346A53225}" destId="{DCD3E76B-702D-4C61-B669-1C5B8C18468D}" srcOrd="1" destOrd="0" parTransId="{AB387FFD-666C-48A1-896A-BAEF52BE5A6E}" sibTransId="{0E4810F8-85E9-41C1-ADE8-0C77C3935B5F}"/>
    <dgm:cxn modelId="{20FB3FDB-F121-4D9F-8059-87F6E1ADECFB}" type="presParOf" srcId="{82317BD2-FB94-48E1-BC4C-A946E0BA34B6}" destId="{6C1D086C-E1C9-4393-9235-13A5556BA65D}" srcOrd="0" destOrd="0" presId="urn:microsoft.com/office/officeart/2005/8/layout/chevron2"/>
    <dgm:cxn modelId="{738F8DB0-0ABB-4A7B-B668-5EE068F28CD5}" type="presParOf" srcId="{6C1D086C-E1C9-4393-9235-13A5556BA65D}" destId="{EEC96708-49E3-4A42-ACE1-C2020844E9DB}" srcOrd="0" destOrd="0" presId="urn:microsoft.com/office/officeart/2005/8/layout/chevron2"/>
    <dgm:cxn modelId="{3FBB9DBB-2EC3-48C3-8357-BAD40D59445C}" type="presParOf" srcId="{6C1D086C-E1C9-4393-9235-13A5556BA65D}" destId="{B0D5B842-CFD7-4F5C-8567-ABE9C6F65A41}" srcOrd="1" destOrd="0" presId="urn:microsoft.com/office/officeart/2005/8/layout/chevron2"/>
    <dgm:cxn modelId="{621F10E0-B0D1-4AC8-9390-7E87116182D4}" type="presParOf" srcId="{82317BD2-FB94-48E1-BC4C-A946E0BA34B6}" destId="{95C2C221-9BB3-4F27-ABEA-3C9C634746D8}" srcOrd="1" destOrd="0" presId="urn:microsoft.com/office/officeart/2005/8/layout/chevron2"/>
    <dgm:cxn modelId="{5FFEF461-829E-47C9-AD8F-A79B245AE663}" type="presParOf" srcId="{82317BD2-FB94-48E1-BC4C-A946E0BA34B6}" destId="{21726A0F-803D-4B8C-85CE-0115BBC93A2F}" srcOrd="2" destOrd="0" presId="urn:microsoft.com/office/officeart/2005/8/layout/chevron2"/>
    <dgm:cxn modelId="{59044B76-C3B9-4AB9-BA90-C26D94F3EC36}" type="presParOf" srcId="{21726A0F-803D-4B8C-85CE-0115BBC93A2F}" destId="{1F8198BB-C190-4AF2-8BC4-0432E8F05966}" srcOrd="0" destOrd="0" presId="urn:microsoft.com/office/officeart/2005/8/layout/chevron2"/>
    <dgm:cxn modelId="{F8EAFC90-2E6D-4C57-9606-1743BD20F051}" type="presParOf" srcId="{21726A0F-803D-4B8C-85CE-0115BBC93A2F}" destId="{C7B00ED2-F288-4724-9951-5B0C1CECD248}" srcOrd="1" destOrd="0" presId="urn:microsoft.com/office/officeart/2005/8/layout/chevron2"/>
    <dgm:cxn modelId="{6E7C6424-95DF-492F-80E8-670AE76B6466}" type="presParOf" srcId="{82317BD2-FB94-48E1-BC4C-A946E0BA34B6}" destId="{16DE5933-3BD5-4364-AD06-4BA5E29A5E70}" srcOrd="3" destOrd="0" presId="urn:microsoft.com/office/officeart/2005/8/layout/chevron2"/>
    <dgm:cxn modelId="{E94FBF55-9273-41BF-8F8C-8ECA3FB931AF}" type="presParOf" srcId="{82317BD2-FB94-48E1-BC4C-A946E0BA34B6}" destId="{5D56E540-3580-486B-8A26-E6493EE00583}" srcOrd="4" destOrd="0" presId="urn:microsoft.com/office/officeart/2005/8/layout/chevron2"/>
    <dgm:cxn modelId="{24C83AE3-C711-4028-8185-9A690058F2EB}" type="presParOf" srcId="{5D56E540-3580-486B-8A26-E6493EE00583}" destId="{75BB0E8A-43DB-48C7-A63A-6F886446931F}" srcOrd="0" destOrd="0" presId="urn:microsoft.com/office/officeart/2005/8/layout/chevron2"/>
    <dgm:cxn modelId="{B8661C3E-8F11-4502-AF3F-DAAE573D52E4}" type="presParOf" srcId="{5D56E540-3580-486B-8A26-E6493EE00583}" destId="{23879B60-AA3C-4F85-B34A-EACE2437749A}" srcOrd="1" destOrd="0" presId="urn:microsoft.com/office/officeart/2005/8/layout/chevron2"/>
    <dgm:cxn modelId="{1C15672F-D4F7-4FC1-8CA8-9B28F754B443}" type="presParOf" srcId="{82317BD2-FB94-48E1-BC4C-A946E0BA34B6}" destId="{5C8F247B-6C82-443F-8937-DB94A5EF8871}" srcOrd="5" destOrd="0" presId="urn:microsoft.com/office/officeart/2005/8/layout/chevron2"/>
    <dgm:cxn modelId="{6BE1E23D-0A73-469D-9F81-1C736DEC2E3E}" type="presParOf" srcId="{82317BD2-FB94-48E1-BC4C-A946E0BA34B6}" destId="{6B14C85C-A315-423E-86AF-D0DB467E8042}" srcOrd="6" destOrd="0" presId="urn:microsoft.com/office/officeart/2005/8/layout/chevron2"/>
    <dgm:cxn modelId="{0866E29F-FF34-4FBD-B6EF-C701FEF4D476}" type="presParOf" srcId="{6B14C85C-A315-423E-86AF-D0DB467E8042}" destId="{A045862D-78AC-44F9-BFD7-D9799FC417C9}" srcOrd="0" destOrd="0" presId="urn:microsoft.com/office/officeart/2005/8/layout/chevron2"/>
    <dgm:cxn modelId="{D2856DB8-AF00-44E2-9F02-9DF04A942211}" type="presParOf" srcId="{6B14C85C-A315-423E-86AF-D0DB467E8042}" destId="{150E90A1-794C-4F0B-9934-A8E58ABC48E6}" srcOrd="1" destOrd="0" presId="urn:microsoft.com/office/officeart/2005/8/layout/chevron2"/>
    <dgm:cxn modelId="{1EDBC092-6388-4B10-888F-B96E6490E328}" type="presParOf" srcId="{82317BD2-FB94-48E1-BC4C-A946E0BA34B6}" destId="{E39FE392-81EE-405C-AFA2-A7A9E94329F7}" srcOrd="7" destOrd="0" presId="urn:microsoft.com/office/officeart/2005/8/layout/chevron2"/>
    <dgm:cxn modelId="{003E3D32-2540-4633-8ED2-17CB51620E32}" type="presParOf" srcId="{82317BD2-FB94-48E1-BC4C-A946E0BA34B6}" destId="{9F8822EB-FA47-4DF0-9226-122A445F4A28}" srcOrd="8" destOrd="0" presId="urn:microsoft.com/office/officeart/2005/8/layout/chevron2"/>
    <dgm:cxn modelId="{1DCF3728-BEC7-4E50-8B6C-909AD2F281B8}" type="presParOf" srcId="{9F8822EB-FA47-4DF0-9226-122A445F4A28}" destId="{0130137D-86A9-4CA1-B654-96683AA3D24E}" srcOrd="0" destOrd="0" presId="urn:microsoft.com/office/officeart/2005/8/layout/chevron2"/>
    <dgm:cxn modelId="{DDF5991D-E4A6-4488-8455-188115CCE83B}" type="presParOf" srcId="{9F8822EB-FA47-4DF0-9226-122A445F4A28}" destId="{CBD335E0-8D6A-469E-B81C-6247BD0A19E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330F28-D18C-485B-AD2B-7DF346A53225}" type="doc">
      <dgm:prSet loTypeId="urn:microsoft.com/office/officeart/2005/8/layout/chevron2" loCatId="list" qsTypeId="urn:microsoft.com/office/officeart/2005/8/quickstyle/simple1#5" qsCatId="simple" csTypeId="urn:microsoft.com/office/officeart/2005/8/colors/accent1_2#5" csCatId="accent1" phldr="1"/>
      <dgm:spPr/>
      <dgm:t>
        <a:bodyPr/>
        <a:lstStyle/>
        <a:p>
          <a:endParaRPr lang="zh-CN" altLang="en-US"/>
        </a:p>
      </dgm:t>
    </dgm:pt>
    <dgm:pt modelId="{7AA4BCE5-838A-452C-BA06-A869C07EAE33}">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D703FA97-3964-407D-BCB3-03578955312E}" type="parTrans" cxnId="{E87C870E-8802-4DE6-99E1-34561ECF1851}">
      <dgm:prSet/>
      <dgm:spPr/>
      <dgm:t>
        <a:bodyPr/>
        <a:lstStyle/>
        <a:p>
          <a:endParaRPr lang="zh-CN" altLang="en-US"/>
        </a:p>
      </dgm:t>
    </dgm:pt>
    <dgm:pt modelId="{3FEA1EA7-43E1-472F-A09C-BB829D763F53}" type="sibTrans" cxnId="{E87C870E-8802-4DE6-99E1-34561ECF1851}">
      <dgm:prSet/>
      <dgm:spPr/>
      <dgm:t>
        <a:bodyPr/>
        <a:lstStyle/>
        <a:p>
          <a:endParaRPr lang="zh-CN" altLang="en-US"/>
        </a:p>
      </dgm:t>
    </dgm:pt>
    <dgm:pt modelId="{033AB355-DEBE-4BC0-81F7-79E198B90F3F}">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回溯法及其基本思想</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CE9AD92-BF00-42FB-A676-BF6DF5ADD430}" type="parTrans" cxnId="{6FB2A94C-20CC-4D6B-8B2C-F31843D57B69}">
      <dgm:prSet/>
      <dgm:spPr/>
      <dgm:t>
        <a:bodyPr/>
        <a:lstStyle/>
        <a:p>
          <a:endParaRPr lang="zh-CN" altLang="en-US"/>
        </a:p>
      </dgm:t>
    </dgm:pt>
    <dgm:pt modelId="{282FCBF8-1A05-4DF3-828E-5CB36D65DE37}" type="sibTrans" cxnId="{6FB2A94C-20CC-4D6B-8B2C-F31843D57B69}">
      <dgm:prSet/>
      <dgm:spPr/>
      <dgm:t>
        <a:bodyPr/>
        <a:lstStyle/>
        <a:p>
          <a:endParaRPr lang="zh-CN" altLang="en-US"/>
        </a:p>
      </dgm:t>
    </dgm:pt>
    <dgm:pt modelId="{DCD3E76B-702D-4C61-B669-1C5B8C18468D}">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AB387FFD-666C-48A1-896A-BAEF52BE5A6E}" type="parTrans" cxnId="{CB726045-462E-4FDE-8B42-EE95C172ECAF}">
      <dgm:prSet/>
      <dgm:spPr/>
      <dgm:t>
        <a:bodyPr/>
        <a:lstStyle/>
        <a:p>
          <a:endParaRPr lang="zh-CN" altLang="en-US"/>
        </a:p>
      </dgm:t>
    </dgm:pt>
    <dgm:pt modelId="{0E4810F8-85E9-41C1-ADE8-0C77C3935B5F}" type="sibTrans" cxnId="{CB726045-462E-4FDE-8B42-EE95C172ECAF}">
      <dgm:prSet/>
      <dgm:spPr/>
      <dgm:t>
        <a:bodyPr/>
        <a:lstStyle/>
        <a:p>
          <a:endParaRPr lang="zh-CN" altLang="en-US"/>
        </a:p>
      </dgm:t>
    </dgm:pt>
    <dgm:pt modelId="{76520E71-2C00-4FE2-BBE9-F4662F157057}">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回溯法解题算法框架</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FF0A9FB-5BB3-409B-8007-2EEEE07EC7C9}" type="parTrans" cxnId="{B3686629-5945-4591-B831-FAF50E99AECD}">
      <dgm:prSet/>
      <dgm:spPr/>
      <dgm:t>
        <a:bodyPr/>
        <a:lstStyle/>
        <a:p>
          <a:endParaRPr lang="zh-CN" altLang="en-US"/>
        </a:p>
      </dgm:t>
    </dgm:pt>
    <dgm:pt modelId="{1F6250BF-B0F8-4F10-88E0-D5C1BB08367A}" type="sibTrans" cxnId="{B3686629-5945-4591-B831-FAF50E99AECD}">
      <dgm:prSet/>
      <dgm:spPr/>
      <dgm:t>
        <a:bodyPr/>
        <a:lstStyle/>
        <a:p>
          <a:endParaRPr lang="zh-CN" altLang="en-US"/>
        </a:p>
      </dgm:t>
    </dgm:pt>
    <dgm:pt modelId="{8C52E961-8DC7-4BA8-9EFE-B5D4E7BFCB2C}">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06C084B8-CA07-4300-9514-C36F01B77F84}" type="parTrans" cxnId="{8A157C6C-0F81-4767-850C-8243FF679803}">
      <dgm:prSet/>
      <dgm:spPr/>
      <dgm:t>
        <a:bodyPr/>
        <a:lstStyle/>
        <a:p>
          <a:endParaRPr lang="zh-CN" altLang="en-US"/>
        </a:p>
      </dgm:t>
    </dgm:pt>
    <dgm:pt modelId="{AED74C2A-4C95-4A64-AE41-935EC9214B07}" type="sibTrans" cxnId="{8A157C6C-0F81-4767-850C-8243FF679803}">
      <dgm:prSet/>
      <dgm:spPr/>
      <dgm:t>
        <a:bodyPr/>
        <a:lstStyle/>
        <a:p>
          <a:endParaRPr lang="zh-CN" altLang="en-US"/>
        </a:p>
      </dgm:t>
    </dgm:pt>
    <dgm:pt modelId="{0C14CBCD-34EC-43F9-88B3-B5B73566B37B}">
      <dgm:prSet custT="1"/>
      <dgm:spPr/>
      <dgm:t>
        <a:bodyPr/>
        <a:lstStyle/>
        <a:p>
          <a:r>
            <a:rPr lang="zh-CN" altLang="en-US" sz="36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dirty="0" smtClean="0">
              <a:solidFill>
                <a:schemeClr val="tx2">
                  <a:lumMod val="50000"/>
                </a:schemeClr>
              </a:solidFill>
              <a:latin typeface="楷体" panose="02010609060101010101" pitchFamily="49" charset="-122"/>
              <a:ea typeface="楷体" panose="02010609060101010101" pitchFamily="49" charset="-122"/>
            </a:rPr>
            <a:t>皇后问题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90801A33-C96F-4A81-B93A-0852A9956992}" type="parTrans" cxnId="{126D26C8-D6CF-48ED-B10B-256EDA69A0E3}">
      <dgm:prSet/>
      <dgm:spPr/>
      <dgm:t>
        <a:bodyPr/>
        <a:lstStyle/>
        <a:p>
          <a:endParaRPr lang="zh-CN" altLang="en-US"/>
        </a:p>
      </dgm:t>
    </dgm:pt>
    <dgm:pt modelId="{1B669E59-2BD4-468F-B2F8-A293D31DB965}" type="sibTrans" cxnId="{126D26C8-D6CF-48ED-B10B-256EDA69A0E3}">
      <dgm:prSet/>
      <dgm:spPr/>
      <dgm:t>
        <a:bodyPr/>
        <a:lstStyle/>
        <a:p>
          <a:endParaRPr lang="zh-CN" altLang="en-US"/>
        </a:p>
      </dgm:t>
    </dgm:pt>
    <dgm:pt modelId="{62F14362-0BA0-43B6-9C2F-9CE9057D4DF0}">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CDF3E7AF-3551-41F1-9ECA-68622446D3EB}" type="parTrans" cxnId="{07B7A958-7CEF-45E9-AC1B-1F1A55A45858}">
      <dgm:prSet/>
      <dgm:spPr/>
      <dgm:t>
        <a:bodyPr/>
        <a:lstStyle/>
        <a:p>
          <a:endParaRPr lang="zh-CN" altLang="en-US"/>
        </a:p>
      </dgm:t>
    </dgm:pt>
    <dgm:pt modelId="{A32A4E3C-B771-4D7B-AAFB-AD232D6DC34D}" type="sibTrans" cxnId="{07B7A958-7CEF-45E9-AC1B-1F1A55A45858}">
      <dgm:prSet/>
      <dgm:spPr/>
      <dgm:t>
        <a:bodyPr/>
        <a:lstStyle/>
        <a:p>
          <a:endParaRPr lang="zh-CN" altLang="en-US"/>
        </a:p>
      </dgm:t>
    </dgm:pt>
    <dgm:pt modelId="{DE6243F6-0982-4749-BDA9-3D7D8184C26A}">
      <dgm:prSet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案例分析：货郎担问题</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E43DCB8-FD68-424F-8D7A-EA8B37717DFA}" type="parTrans" cxnId="{FB086BEE-81B2-4ED3-8935-6D4ECF6A1B51}">
      <dgm:prSet/>
      <dgm:spPr/>
      <dgm:t>
        <a:bodyPr/>
        <a:lstStyle/>
        <a:p>
          <a:endParaRPr lang="zh-CN" altLang="en-US"/>
        </a:p>
      </dgm:t>
    </dgm:pt>
    <dgm:pt modelId="{AE990C81-80DD-4734-A92A-C91E19EF55BD}" type="sibTrans" cxnId="{FB086BEE-81B2-4ED3-8935-6D4ECF6A1B51}">
      <dgm:prSet/>
      <dgm:spPr/>
      <dgm:t>
        <a:bodyPr/>
        <a:lstStyle/>
        <a:p>
          <a:endParaRPr lang="zh-CN" altLang="en-US"/>
        </a:p>
      </dgm:t>
    </dgm:pt>
    <dgm:pt modelId="{9D86A73C-E86D-4AAF-B0E8-6A97AC00E5A7}">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351CB61-64A9-487C-873B-AB30EE6EB332}" type="parTrans" cxnId="{498A534E-6488-45E3-9C79-2ABB07DC381A}">
      <dgm:prSet/>
      <dgm:spPr/>
      <dgm:t>
        <a:bodyPr/>
        <a:lstStyle/>
        <a:p>
          <a:endParaRPr lang="zh-CN" altLang="en-US"/>
        </a:p>
      </dgm:t>
    </dgm:pt>
    <dgm:pt modelId="{FED2A96A-EBDD-4A03-A3BD-37056BFE36D4}" type="sibTrans" cxnId="{498A534E-6488-45E3-9C79-2ABB07DC381A}">
      <dgm:prSet/>
      <dgm:spPr/>
      <dgm:t>
        <a:bodyPr/>
        <a:lstStyle/>
        <a:p>
          <a:endParaRPr lang="zh-CN" altLang="en-US"/>
        </a:p>
      </dgm:t>
    </dgm:pt>
    <dgm:pt modelId="{0DAAF06F-B1D9-4FF4-9699-13EFE5C37F21}">
      <dgm:prSet custT="1"/>
      <dgm:spPr/>
      <dgm:t>
        <a:bodyPr/>
        <a:lstStyle/>
        <a:p>
          <a:r>
            <a:rPr lang="zh-CN" altLang="en-US" sz="3600" dirty="0" smtClean="0">
              <a:solidFill>
                <a:srgbClr val="FF0000"/>
              </a:solidFill>
              <a:latin typeface="楷体" panose="02010609060101010101" pitchFamily="49" charset="-122"/>
              <a:ea typeface="楷体" panose="02010609060101010101" pitchFamily="49" charset="-122"/>
            </a:rPr>
            <a:t>其它案例分析</a:t>
          </a:r>
          <a:endParaRPr lang="zh-CN" altLang="en-US" sz="3600" dirty="0">
            <a:solidFill>
              <a:srgbClr val="FF0000"/>
            </a:solidFill>
            <a:latin typeface="楷体" panose="02010609060101010101" pitchFamily="49" charset="-122"/>
            <a:ea typeface="楷体" panose="02010609060101010101" pitchFamily="49" charset="-122"/>
          </a:endParaRPr>
        </a:p>
      </dgm:t>
    </dgm:pt>
    <dgm:pt modelId="{72D9623A-45B7-47AC-905E-F602609A5D17}" type="parTrans" cxnId="{1BC291E5-951D-4A13-A57D-DA1C18B66788}">
      <dgm:prSet/>
      <dgm:spPr/>
      <dgm:t>
        <a:bodyPr/>
        <a:lstStyle/>
        <a:p>
          <a:endParaRPr lang="zh-CN" altLang="en-US"/>
        </a:p>
      </dgm:t>
    </dgm:pt>
    <dgm:pt modelId="{67D094FD-53C8-407C-A51C-3A10DAC12FD7}" type="sibTrans" cxnId="{1BC291E5-951D-4A13-A57D-DA1C18B66788}">
      <dgm:prSet/>
      <dgm:spPr/>
      <dgm:t>
        <a:bodyPr/>
        <a:lstStyle/>
        <a:p>
          <a:endParaRPr lang="zh-CN" altLang="en-US"/>
        </a:p>
      </dgm:t>
    </dgm:pt>
    <dgm:pt modelId="{82317BD2-FB94-48E1-BC4C-A946E0BA34B6}" type="pres">
      <dgm:prSet presAssocID="{5D330F28-D18C-485B-AD2B-7DF346A53225}" presName="linearFlow" presStyleCnt="0">
        <dgm:presLayoutVars>
          <dgm:dir/>
          <dgm:animLvl val="lvl"/>
          <dgm:resizeHandles val="exact"/>
        </dgm:presLayoutVars>
      </dgm:prSet>
      <dgm:spPr/>
      <dgm:t>
        <a:bodyPr/>
        <a:lstStyle/>
        <a:p>
          <a:endParaRPr lang="zh-CN" altLang="en-US"/>
        </a:p>
      </dgm:t>
    </dgm:pt>
    <dgm:pt modelId="{6C1D086C-E1C9-4393-9235-13A5556BA65D}" type="pres">
      <dgm:prSet presAssocID="{7AA4BCE5-838A-452C-BA06-A869C07EAE33}" presName="composite" presStyleCnt="0"/>
      <dgm:spPr/>
    </dgm:pt>
    <dgm:pt modelId="{EEC96708-49E3-4A42-ACE1-C2020844E9DB}" type="pres">
      <dgm:prSet presAssocID="{7AA4BCE5-838A-452C-BA06-A869C07EAE33}" presName="parentText" presStyleLbl="alignNode1" presStyleIdx="0" presStyleCnt="5">
        <dgm:presLayoutVars>
          <dgm:chMax val="1"/>
          <dgm:bulletEnabled val="1"/>
        </dgm:presLayoutVars>
      </dgm:prSet>
      <dgm:spPr/>
      <dgm:t>
        <a:bodyPr/>
        <a:lstStyle/>
        <a:p>
          <a:endParaRPr lang="zh-CN" altLang="en-US"/>
        </a:p>
      </dgm:t>
    </dgm:pt>
    <dgm:pt modelId="{B0D5B842-CFD7-4F5C-8567-ABE9C6F65A41}" type="pres">
      <dgm:prSet presAssocID="{7AA4BCE5-838A-452C-BA06-A869C07EAE33}" presName="descendantText" presStyleLbl="alignAcc1" presStyleIdx="0" presStyleCnt="5">
        <dgm:presLayoutVars>
          <dgm:bulletEnabled val="1"/>
        </dgm:presLayoutVars>
      </dgm:prSet>
      <dgm:spPr/>
      <dgm:t>
        <a:bodyPr/>
        <a:lstStyle/>
        <a:p>
          <a:endParaRPr lang="zh-CN" altLang="en-US"/>
        </a:p>
      </dgm:t>
    </dgm:pt>
    <dgm:pt modelId="{95C2C221-9BB3-4F27-ABEA-3C9C634746D8}" type="pres">
      <dgm:prSet presAssocID="{3FEA1EA7-43E1-472F-A09C-BB829D763F53}" presName="sp" presStyleCnt="0"/>
      <dgm:spPr/>
    </dgm:pt>
    <dgm:pt modelId="{21726A0F-803D-4B8C-85CE-0115BBC93A2F}" type="pres">
      <dgm:prSet presAssocID="{DCD3E76B-702D-4C61-B669-1C5B8C18468D}" presName="composite" presStyleCnt="0"/>
      <dgm:spPr/>
    </dgm:pt>
    <dgm:pt modelId="{1F8198BB-C190-4AF2-8BC4-0432E8F05966}" type="pres">
      <dgm:prSet presAssocID="{DCD3E76B-702D-4C61-B669-1C5B8C18468D}" presName="parentText" presStyleLbl="alignNode1" presStyleIdx="1" presStyleCnt="5">
        <dgm:presLayoutVars>
          <dgm:chMax val="1"/>
          <dgm:bulletEnabled val="1"/>
        </dgm:presLayoutVars>
      </dgm:prSet>
      <dgm:spPr/>
      <dgm:t>
        <a:bodyPr/>
        <a:lstStyle/>
        <a:p>
          <a:endParaRPr lang="zh-CN" altLang="en-US"/>
        </a:p>
      </dgm:t>
    </dgm:pt>
    <dgm:pt modelId="{C7B00ED2-F288-4724-9951-5B0C1CECD248}" type="pres">
      <dgm:prSet presAssocID="{DCD3E76B-702D-4C61-B669-1C5B8C18468D}" presName="descendantText" presStyleLbl="alignAcc1" presStyleIdx="1" presStyleCnt="5">
        <dgm:presLayoutVars>
          <dgm:bulletEnabled val="1"/>
        </dgm:presLayoutVars>
      </dgm:prSet>
      <dgm:spPr/>
      <dgm:t>
        <a:bodyPr/>
        <a:lstStyle/>
        <a:p>
          <a:endParaRPr lang="zh-CN" altLang="en-US"/>
        </a:p>
      </dgm:t>
    </dgm:pt>
    <dgm:pt modelId="{16DE5933-3BD5-4364-AD06-4BA5E29A5E70}" type="pres">
      <dgm:prSet presAssocID="{0E4810F8-85E9-41C1-ADE8-0C77C3935B5F}" presName="sp" presStyleCnt="0"/>
      <dgm:spPr/>
    </dgm:pt>
    <dgm:pt modelId="{5D56E540-3580-486B-8A26-E6493EE00583}" type="pres">
      <dgm:prSet presAssocID="{8C52E961-8DC7-4BA8-9EFE-B5D4E7BFCB2C}" presName="composite" presStyleCnt="0"/>
      <dgm:spPr/>
    </dgm:pt>
    <dgm:pt modelId="{75BB0E8A-43DB-48C7-A63A-6F886446931F}" type="pres">
      <dgm:prSet presAssocID="{8C52E961-8DC7-4BA8-9EFE-B5D4E7BFCB2C}" presName="parentText" presStyleLbl="alignNode1" presStyleIdx="2" presStyleCnt="5">
        <dgm:presLayoutVars>
          <dgm:chMax val="1"/>
          <dgm:bulletEnabled val="1"/>
        </dgm:presLayoutVars>
      </dgm:prSet>
      <dgm:spPr/>
      <dgm:t>
        <a:bodyPr/>
        <a:lstStyle/>
        <a:p>
          <a:endParaRPr lang="zh-CN" altLang="en-US"/>
        </a:p>
      </dgm:t>
    </dgm:pt>
    <dgm:pt modelId="{23879B60-AA3C-4F85-B34A-EACE2437749A}" type="pres">
      <dgm:prSet presAssocID="{8C52E961-8DC7-4BA8-9EFE-B5D4E7BFCB2C}" presName="descendantText" presStyleLbl="alignAcc1" presStyleIdx="2" presStyleCnt="5">
        <dgm:presLayoutVars>
          <dgm:bulletEnabled val="1"/>
        </dgm:presLayoutVars>
      </dgm:prSet>
      <dgm:spPr/>
      <dgm:t>
        <a:bodyPr/>
        <a:lstStyle/>
        <a:p>
          <a:endParaRPr lang="zh-CN" altLang="en-US"/>
        </a:p>
      </dgm:t>
    </dgm:pt>
    <dgm:pt modelId="{5C8F247B-6C82-443F-8937-DB94A5EF8871}" type="pres">
      <dgm:prSet presAssocID="{AED74C2A-4C95-4A64-AE41-935EC9214B07}" presName="sp" presStyleCnt="0"/>
      <dgm:spPr/>
    </dgm:pt>
    <dgm:pt modelId="{6B14C85C-A315-423E-86AF-D0DB467E8042}" type="pres">
      <dgm:prSet presAssocID="{62F14362-0BA0-43B6-9C2F-9CE9057D4DF0}" presName="composite" presStyleCnt="0"/>
      <dgm:spPr/>
    </dgm:pt>
    <dgm:pt modelId="{A045862D-78AC-44F9-BFD7-D9799FC417C9}" type="pres">
      <dgm:prSet presAssocID="{62F14362-0BA0-43B6-9C2F-9CE9057D4DF0}" presName="parentText" presStyleLbl="alignNode1" presStyleIdx="3" presStyleCnt="5">
        <dgm:presLayoutVars>
          <dgm:chMax val="1"/>
          <dgm:bulletEnabled val="1"/>
        </dgm:presLayoutVars>
      </dgm:prSet>
      <dgm:spPr/>
      <dgm:t>
        <a:bodyPr/>
        <a:lstStyle/>
        <a:p>
          <a:endParaRPr lang="zh-CN" altLang="en-US"/>
        </a:p>
      </dgm:t>
    </dgm:pt>
    <dgm:pt modelId="{150E90A1-794C-4F0B-9934-A8E58ABC48E6}" type="pres">
      <dgm:prSet presAssocID="{62F14362-0BA0-43B6-9C2F-9CE9057D4DF0}" presName="descendantText" presStyleLbl="alignAcc1" presStyleIdx="3" presStyleCnt="5">
        <dgm:presLayoutVars>
          <dgm:bulletEnabled val="1"/>
        </dgm:presLayoutVars>
      </dgm:prSet>
      <dgm:spPr/>
      <dgm:t>
        <a:bodyPr/>
        <a:lstStyle/>
        <a:p>
          <a:endParaRPr lang="zh-CN" altLang="en-US"/>
        </a:p>
      </dgm:t>
    </dgm:pt>
    <dgm:pt modelId="{E39FE392-81EE-405C-AFA2-A7A9E94329F7}" type="pres">
      <dgm:prSet presAssocID="{A32A4E3C-B771-4D7B-AAFB-AD232D6DC34D}" presName="sp" presStyleCnt="0"/>
      <dgm:spPr/>
    </dgm:pt>
    <dgm:pt modelId="{9F8822EB-FA47-4DF0-9226-122A445F4A28}" type="pres">
      <dgm:prSet presAssocID="{9D86A73C-E86D-4AAF-B0E8-6A97AC00E5A7}" presName="composite" presStyleCnt="0"/>
      <dgm:spPr/>
    </dgm:pt>
    <dgm:pt modelId="{0130137D-86A9-4CA1-B654-96683AA3D24E}" type="pres">
      <dgm:prSet presAssocID="{9D86A73C-E86D-4AAF-B0E8-6A97AC00E5A7}" presName="parentText" presStyleLbl="alignNode1" presStyleIdx="4" presStyleCnt="5">
        <dgm:presLayoutVars>
          <dgm:chMax val="1"/>
          <dgm:bulletEnabled val="1"/>
        </dgm:presLayoutVars>
      </dgm:prSet>
      <dgm:spPr/>
      <dgm:t>
        <a:bodyPr/>
        <a:lstStyle/>
        <a:p>
          <a:endParaRPr lang="zh-CN" altLang="en-US"/>
        </a:p>
      </dgm:t>
    </dgm:pt>
    <dgm:pt modelId="{CBD335E0-8D6A-469E-B81C-6247BD0A19E2}" type="pres">
      <dgm:prSet presAssocID="{9D86A73C-E86D-4AAF-B0E8-6A97AC00E5A7}" presName="descendantText" presStyleLbl="alignAcc1" presStyleIdx="4" presStyleCnt="5">
        <dgm:presLayoutVars>
          <dgm:bulletEnabled val="1"/>
        </dgm:presLayoutVars>
      </dgm:prSet>
      <dgm:spPr/>
      <dgm:t>
        <a:bodyPr/>
        <a:lstStyle/>
        <a:p>
          <a:endParaRPr lang="zh-CN" altLang="en-US"/>
        </a:p>
      </dgm:t>
    </dgm:pt>
  </dgm:ptLst>
  <dgm:cxnLst>
    <dgm:cxn modelId="{6FB2A94C-20CC-4D6B-8B2C-F31843D57B69}" srcId="{7AA4BCE5-838A-452C-BA06-A869C07EAE33}" destId="{033AB355-DEBE-4BC0-81F7-79E198B90F3F}" srcOrd="0" destOrd="0" parTransId="{4CE9AD92-BF00-42FB-A676-BF6DF5ADD430}" sibTransId="{282FCBF8-1A05-4DF3-828E-5CB36D65DE37}"/>
    <dgm:cxn modelId="{CB726045-462E-4FDE-8B42-EE95C172ECAF}" srcId="{5D330F28-D18C-485B-AD2B-7DF346A53225}" destId="{DCD3E76B-702D-4C61-B669-1C5B8C18468D}" srcOrd="1" destOrd="0" parTransId="{AB387FFD-666C-48A1-896A-BAEF52BE5A6E}" sibTransId="{0E4810F8-85E9-41C1-ADE8-0C77C3935B5F}"/>
    <dgm:cxn modelId="{2AEC33FA-7C12-476C-9902-8AD57891ED83}" type="presOf" srcId="{76520E71-2C00-4FE2-BBE9-F4662F157057}" destId="{C7B00ED2-F288-4724-9951-5B0C1CECD248}" srcOrd="0" destOrd="0" presId="urn:microsoft.com/office/officeart/2005/8/layout/chevron2"/>
    <dgm:cxn modelId="{5C8B6D88-B48A-418D-B9B7-6CD3ACDDB450}" type="presOf" srcId="{7AA4BCE5-838A-452C-BA06-A869C07EAE33}" destId="{EEC96708-49E3-4A42-ACE1-C2020844E9DB}" srcOrd="0" destOrd="0" presId="urn:microsoft.com/office/officeart/2005/8/layout/chevron2"/>
    <dgm:cxn modelId="{A0C48000-0398-49AE-BD9D-933EA967E807}" type="presOf" srcId="{0DAAF06F-B1D9-4FF4-9699-13EFE5C37F21}" destId="{CBD335E0-8D6A-469E-B81C-6247BD0A19E2}" srcOrd="0" destOrd="0" presId="urn:microsoft.com/office/officeart/2005/8/layout/chevron2"/>
    <dgm:cxn modelId="{FB086BEE-81B2-4ED3-8935-6D4ECF6A1B51}" srcId="{62F14362-0BA0-43B6-9C2F-9CE9057D4DF0}" destId="{DE6243F6-0982-4749-BDA9-3D7D8184C26A}" srcOrd="0" destOrd="0" parTransId="{4E43DCB8-FD68-424F-8D7A-EA8B37717DFA}" sibTransId="{AE990C81-80DD-4734-A92A-C91E19EF55BD}"/>
    <dgm:cxn modelId="{5622DD56-ABED-4B66-9866-A5F677E6CDCF}" type="presOf" srcId="{DE6243F6-0982-4749-BDA9-3D7D8184C26A}" destId="{150E90A1-794C-4F0B-9934-A8E58ABC48E6}" srcOrd="0" destOrd="0" presId="urn:microsoft.com/office/officeart/2005/8/layout/chevron2"/>
    <dgm:cxn modelId="{498A534E-6488-45E3-9C79-2ABB07DC381A}" srcId="{5D330F28-D18C-485B-AD2B-7DF346A53225}" destId="{9D86A73C-E86D-4AAF-B0E8-6A97AC00E5A7}" srcOrd="4" destOrd="0" parTransId="{8351CB61-64A9-487C-873B-AB30EE6EB332}" sibTransId="{FED2A96A-EBDD-4A03-A3BD-37056BFE36D4}"/>
    <dgm:cxn modelId="{C3DA3DF7-67C2-45E9-99E2-2E0EF0B6AA85}" type="presOf" srcId="{8C52E961-8DC7-4BA8-9EFE-B5D4E7BFCB2C}" destId="{75BB0E8A-43DB-48C7-A63A-6F886446931F}" srcOrd="0" destOrd="0" presId="urn:microsoft.com/office/officeart/2005/8/layout/chevron2"/>
    <dgm:cxn modelId="{B3686629-5945-4591-B831-FAF50E99AECD}" srcId="{DCD3E76B-702D-4C61-B669-1C5B8C18468D}" destId="{76520E71-2C00-4FE2-BBE9-F4662F157057}" srcOrd="0" destOrd="0" parTransId="{4FF0A9FB-5BB3-409B-8007-2EEEE07EC7C9}" sibTransId="{1F6250BF-B0F8-4F10-88E0-D5C1BB08367A}"/>
    <dgm:cxn modelId="{A68138D2-620C-47A9-BD88-1255A854BD1B}" type="presOf" srcId="{62F14362-0BA0-43B6-9C2F-9CE9057D4DF0}" destId="{A045862D-78AC-44F9-BFD7-D9799FC417C9}" srcOrd="0" destOrd="0" presId="urn:microsoft.com/office/officeart/2005/8/layout/chevron2"/>
    <dgm:cxn modelId="{126D26C8-D6CF-48ED-B10B-256EDA69A0E3}" srcId="{8C52E961-8DC7-4BA8-9EFE-B5D4E7BFCB2C}" destId="{0C14CBCD-34EC-43F9-88B3-B5B73566B37B}" srcOrd="0" destOrd="0" parTransId="{90801A33-C96F-4A81-B93A-0852A9956992}" sibTransId="{1B669E59-2BD4-468F-B2F8-A293D31DB965}"/>
    <dgm:cxn modelId="{07B7A958-7CEF-45E9-AC1B-1F1A55A45858}" srcId="{5D330F28-D18C-485B-AD2B-7DF346A53225}" destId="{62F14362-0BA0-43B6-9C2F-9CE9057D4DF0}" srcOrd="3" destOrd="0" parTransId="{CDF3E7AF-3551-41F1-9ECA-68622446D3EB}" sibTransId="{A32A4E3C-B771-4D7B-AAFB-AD232D6DC34D}"/>
    <dgm:cxn modelId="{F870039E-2B98-42C5-A7D7-3FFB8DA7FD3F}" type="presOf" srcId="{5D330F28-D18C-485B-AD2B-7DF346A53225}" destId="{82317BD2-FB94-48E1-BC4C-A946E0BA34B6}" srcOrd="0" destOrd="0" presId="urn:microsoft.com/office/officeart/2005/8/layout/chevron2"/>
    <dgm:cxn modelId="{5D275E06-4BED-47A4-AC73-90C910F57DB6}" type="presOf" srcId="{0C14CBCD-34EC-43F9-88B3-B5B73566B37B}" destId="{23879B60-AA3C-4F85-B34A-EACE2437749A}" srcOrd="0" destOrd="0" presId="urn:microsoft.com/office/officeart/2005/8/layout/chevron2"/>
    <dgm:cxn modelId="{9DF922E3-D5A7-450C-9678-DEAB434656A3}" type="presOf" srcId="{9D86A73C-E86D-4AAF-B0E8-6A97AC00E5A7}" destId="{0130137D-86A9-4CA1-B654-96683AA3D24E}" srcOrd="0" destOrd="0" presId="urn:microsoft.com/office/officeart/2005/8/layout/chevron2"/>
    <dgm:cxn modelId="{112C304A-983A-4526-AD51-34390F4BF35E}" type="presOf" srcId="{DCD3E76B-702D-4C61-B669-1C5B8C18468D}" destId="{1F8198BB-C190-4AF2-8BC4-0432E8F05966}" srcOrd="0" destOrd="0" presId="urn:microsoft.com/office/officeart/2005/8/layout/chevron2"/>
    <dgm:cxn modelId="{E87C870E-8802-4DE6-99E1-34561ECF1851}" srcId="{5D330F28-D18C-485B-AD2B-7DF346A53225}" destId="{7AA4BCE5-838A-452C-BA06-A869C07EAE33}" srcOrd="0" destOrd="0" parTransId="{D703FA97-3964-407D-BCB3-03578955312E}" sibTransId="{3FEA1EA7-43E1-472F-A09C-BB829D763F53}"/>
    <dgm:cxn modelId="{1BC291E5-951D-4A13-A57D-DA1C18B66788}" srcId="{9D86A73C-E86D-4AAF-B0E8-6A97AC00E5A7}" destId="{0DAAF06F-B1D9-4FF4-9699-13EFE5C37F21}" srcOrd="0" destOrd="0" parTransId="{72D9623A-45B7-47AC-905E-F602609A5D17}" sibTransId="{67D094FD-53C8-407C-A51C-3A10DAC12FD7}"/>
    <dgm:cxn modelId="{A4B184BB-36D9-423E-A85A-EE3022AC5A62}" type="presOf" srcId="{033AB355-DEBE-4BC0-81F7-79E198B90F3F}" destId="{B0D5B842-CFD7-4F5C-8567-ABE9C6F65A41}" srcOrd="0" destOrd="0" presId="urn:microsoft.com/office/officeart/2005/8/layout/chevron2"/>
    <dgm:cxn modelId="{8A157C6C-0F81-4767-850C-8243FF679803}" srcId="{5D330F28-D18C-485B-AD2B-7DF346A53225}" destId="{8C52E961-8DC7-4BA8-9EFE-B5D4E7BFCB2C}" srcOrd="2" destOrd="0" parTransId="{06C084B8-CA07-4300-9514-C36F01B77F84}" sibTransId="{AED74C2A-4C95-4A64-AE41-935EC9214B07}"/>
    <dgm:cxn modelId="{8A89BBF8-B95F-4E63-9A8E-BA73169004B3}" type="presParOf" srcId="{82317BD2-FB94-48E1-BC4C-A946E0BA34B6}" destId="{6C1D086C-E1C9-4393-9235-13A5556BA65D}" srcOrd="0" destOrd="0" presId="urn:microsoft.com/office/officeart/2005/8/layout/chevron2"/>
    <dgm:cxn modelId="{0840DB77-8A51-4319-8250-69CC86A1E02E}" type="presParOf" srcId="{6C1D086C-E1C9-4393-9235-13A5556BA65D}" destId="{EEC96708-49E3-4A42-ACE1-C2020844E9DB}" srcOrd="0" destOrd="0" presId="urn:microsoft.com/office/officeart/2005/8/layout/chevron2"/>
    <dgm:cxn modelId="{6ABA4FC2-972C-4EB0-AD2B-7C268E7AB9F8}" type="presParOf" srcId="{6C1D086C-E1C9-4393-9235-13A5556BA65D}" destId="{B0D5B842-CFD7-4F5C-8567-ABE9C6F65A41}" srcOrd="1" destOrd="0" presId="urn:microsoft.com/office/officeart/2005/8/layout/chevron2"/>
    <dgm:cxn modelId="{76A44690-8C72-4FAE-8761-3D8F53B911EA}" type="presParOf" srcId="{82317BD2-FB94-48E1-BC4C-A946E0BA34B6}" destId="{95C2C221-9BB3-4F27-ABEA-3C9C634746D8}" srcOrd="1" destOrd="0" presId="urn:microsoft.com/office/officeart/2005/8/layout/chevron2"/>
    <dgm:cxn modelId="{D5BEAE39-111A-4828-BFBD-7C0BB7AECA80}" type="presParOf" srcId="{82317BD2-FB94-48E1-BC4C-A946E0BA34B6}" destId="{21726A0F-803D-4B8C-85CE-0115BBC93A2F}" srcOrd="2" destOrd="0" presId="urn:microsoft.com/office/officeart/2005/8/layout/chevron2"/>
    <dgm:cxn modelId="{E5A0B5FA-E843-4F24-A708-B9F60C831018}" type="presParOf" srcId="{21726A0F-803D-4B8C-85CE-0115BBC93A2F}" destId="{1F8198BB-C190-4AF2-8BC4-0432E8F05966}" srcOrd="0" destOrd="0" presId="urn:microsoft.com/office/officeart/2005/8/layout/chevron2"/>
    <dgm:cxn modelId="{E466020F-8D20-46B4-A409-274FE1641742}" type="presParOf" srcId="{21726A0F-803D-4B8C-85CE-0115BBC93A2F}" destId="{C7B00ED2-F288-4724-9951-5B0C1CECD248}" srcOrd="1" destOrd="0" presId="urn:microsoft.com/office/officeart/2005/8/layout/chevron2"/>
    <dgm:cxn modelId="{F9FD7B52-0FBF-430D-B2E1-3DD42FECF92D}" type="presParOf" srcId="{82317BD2-FB94-48E1-BC4C-A946E0BA34B6}" destId="{16DE5933-3BD5-4364-AD06-4BA5E29A5E70}" srcOrd="3" destOrd="0" presId="urn:microsoft.com/office/officeart/2005/8/layout/chevron2"/>
    <dgm:cxn modelId="{802A0A4E-7A70-4968-8EC7-D23A817D2E6F}" type="presParOf" srcId="{82317BD2-FB94-48E1-BC4C-A946E0BA34B6}" destId="{5D56E540-3580-486B-8A26-E6493EE00583}" srcOrd="4" destOrd="0" presId="urn:microsoft.com/office/officeart/2005/8/layout/chevron2"/>
    <dgm:cxn modelId="{9EDD118D-10A7-4AAA-949C-92002A54968D}" type="presParOf" srcId="{5D56E540-3580-486B-8A26-E6493EE00583}" destId="{75BB0E8A-43DB-48C7-A63A-6F886446931F}" srcOrd="0" destOrd="0" presId="urn:microsoft.com/office/officeart/2005/8/layout/chevron2"/>
    <dgm:cxn modelId="{CFF60F0D-484F-4254-B9B4-BD86CACBC8A3}" type="presParOf" srcId="{5D56E540-3580-486B-8A26-E6493EE00583}" destId="{23879B60-AA3C-4F85-B34A-EACE2437749A}" srcOrd="1" destOrd="0" presId="urn:microsoft.com/office/officeart/2005/8/layout/chevron2"/>
    <dgm:cxn modelId="{3DC6CBAC-08AE-40A0-804F-5F533E6215D6}" type="presParOf" srcId="{82317BD2-FB94-48E1-BC4C-A946E0BA34B6}" destId="{5C8F247B-6C82-443F-8937-DB94A5EF8871}" srcOrd="5" destOrd="0" presId="urn:microsoft.com/office/officeart/2005/8/layout/chevron2"/>
    <dgm:cxn modelId="{E0966BE7-5080-4B1F-9EAF-7712A1634CD5}" type="presParOf" srcId="{82317BD2-FB94-48E1-BC4C-A946E0BA34B6}" destId="{6B14C85C-A315-423E-86AF-D0DB467E8042}" srcOrd="6" destOrd="0" presId="urn:microsoft.com/office/officeart/2005/8/layout/chevron2"/>
    <dgm:cxn modelId="{3F2BE269-8CEA-4D70-A57E-FC8F20447ACB}" type="presParOf" srcId="{6B14C85C-A315-423E-86AF-D0DB467E8042}" destId="{A045862D-78AC-44F9-BFD7-D9799FC417C9}" srcOrd="0" destOrd="0" presId="urn:microsoft.com/office/officeart/2005/8/layout/chevron2"/>
    <dgm:cxn modelId="{48C70CC5-54F5-43BF-883F-D45D983282A2}" type="presParOf" srcId="{6B14C85C-A315-423E-86AF-D0DB467E8042}" destId="{150E90A1-794C-4F0B-9934-A8E58ABC48E6}" srcOrd="1" destOrd="0" presId="urn:microsoft.com/office/officeart/2005/8/layout/chevron2"/>
    <dgm:cxn modelId="{2C9074F1-0EE6-46C5-B933-708D03C51927}" type="presParOf" srcId="{82317BD2-FB94-48E1-BC4C-A946E0BA34B6}" destId="{E39FE392-81EE-405C-AFA2-A7A9E94329F7}" srcOrd="7" destOrd="0" presId="urn:microsoft.com/office/officeart/2005/8/layout/chevron2"/>
    <dgm:cxn modelId="{45EDA63F-722E-4A58-9C42-2FD5222EE12D}" type="presParOf" srcId="{82317BD2-FB94-48E1-BC4C-A946E0BA34B6}" destId="{9F8822EB-FA47-4DF0-9226-122A445F4A28}" srcOrd="8" destOrd="0" presId="urn:microsoft.com/office/officeart/2005/8/layout/chevron2"/>
    <dgm:cxn modelId="{90383ED7-E214-42F4-BDA2-AF9265DD9A8E}" type="presParOf" srcId="{9F8822EB-FA47-4DF0-9226-122A445F4A28}" destId="{0130137D-86A9-4CA1-B654-96683AA3D24E}" srcOrd="0" destOrd="0" presId="urn:microsoft.com/office/officeart/2005/8/layout/chevron2"/>
    <dgm:cxn modelId="{B358A6EA-434A-4C58-A648-A4CB7E861603}" type="presParOf" srcId="{9F8822EB-FA47-4DF0-9226-122A445F4A28}" destId="{CBD335E0-8D6A-469E-B81C-6247BD0A19E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96708-49E3-4A42-ACE1-C2020844E9DB}">
      <dsp:nvSpPr>
        <dsp:cNvPr id="0" name=""/>
        <dsp:cNvSpPr/>
      </dsp:nvSpPr>
      <dsp:spPr>
        <a:xfrm rot="5400000">
          <a:off x="-153809" y="156465"/>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61544"/>
        <a:ext cx="717777" cy="307620"/>
      </dsp:txXfrm>
    </dsp:sp>
    <dsp:sp modelId="{B0D5B842-CFD7-4F5C-8567-ABE9C6F65A41}">
      <dsp:nvSpPr>
        <dsp:cNvPr id="0" name=""/>
        <dsp:cNvSpPr/>
      </dsp:nvSpPr>
      <dsp:spPr>
        <a:xfrm rot="5400000">
          <a:off x="3073459" y="-2353025"/>
          <a:ext cx="66685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rgbClr val="FF0000"/>
              </a:solidFill>
              <a:latin typeface="楷体" panose="02010609060101010101" pitchFamily="49" charset="-122"/>
              <a:ea typeface="楷体" panose="02010609060101010101" pitchFamily="49" charset="-122"/>
            </a:rPr>
            <a:t>回溯法及其基本思想</a:t>
          </a:r>
          <a:endParaRPr lang="zh-CN" altLang="en-US" sz="3600" kern="1200" dirty="0">
            <a:solidFill>
              <a:srgbClr val="FF0000"/>
            </a:solidFill>
            <a:latin typeface="楷体" panose="02010609060101010101" pitchFamily="49" charset="-122"/>
            <a:ea typeface="楷体" panose="02010609060101010101" pitchFamily="49" charset="-122"/>
          </a:endParaRPr>
        </a:p>
      </dsp:txBody>
      <dsp:txXfrm rot="-5400000">
        <a:off x="717778" y="35209"/>
        <a:ext cx="5345669" cy="601752"/>
      </dsp:txXfrm>
    </dsp:sp>
    <dsp:sp modelId="{1F8198BB-C190-4AF2-8BC4-0432E8F05966}">
      <dsp:nvSpPr>
        <dsp:cNvPr id="0" name=""/>
        <dsp:cNvSpPr/>
      </dsp:nvSpPr>
      <dsp:spPr>
        <a:xfrm rot="5400000">
          <a:off x="-153809" y="1064013"/>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1269092"/>
        <a:ext cx="717777" cy="307620"/>
      </dsp:txXfrm>
    </dsp:sp>
    <dsp:sp modelId="{C7B00ED2-F288-4724-9951-5B0C1CECD248}">
      <dsp:nvSpPr>
        <dsp:cNvPr id="0" name=""/>
        <dsp:cNvSpPr/>
      </dsp:nvSpPr>
      <dsp:spPr>
        <a:xfrm rot="5400000">
          <a:off x="3073634" y="-1445653"/>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回溯法解题算法框架</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942740"/>
        <a:ext cx="5345686" cy="601436"/>
      </dsp:txXfrm>
    </dsp:sp>
    <dsp:sp modelId="{75BB0E8A-43DB-48C7-A63A-6F886446931F}">
      <dsp:nvSpPr>
        <dsp:cNvPr id="0" name=""/>
        <dsp:cNvSpPr/>
      </dsp:nvSpPr>
      <dsp:spPr>
        <a:xfrm rot="5400000">
          <a:off x="-153809" y="1971561"/>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2176640"/>
        <a:ext cx="717777" cy="307620"/>
      </dsp:txXfrm>
    </dsp:sp>
    <dsp:sp modelId="{23879B60-AA3C-4F85-B34A-EACE2437749A}">
      <dsp:nvSpPr>
        <dsp:cNvPr id="0" name=""/>
        <dsp:cNvSpPr/>
      </dsp:nvSpPr>
      <dsp:spPr>
        <a:xfrm rot="5400000">
          <a:off x="3073634" y="-538105"/>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kern="12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皇后问题</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1850288"/>
        <a:ext cx="5345686" cy="601436"/>
      </dsp:txXfrm>
    </dsp:sp>
    <dsp:sp modelId="{A045862D-78AC-44F9-BFD7-D9799FC417C9}">
      <dsp:nvSpPr>
        <dsp:cNvPr id="0" name=""/>
        <dsp:cNvSpPr/>
      </dsp:nvSpPr>
      <dsp:spPr>
        <a:xfrm rot="5400000">
          <a:off x="-153809" y="2879108"/>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084187"/>
        <a:ext cx="717777" cy="307620"/>
      </dsp:txXfrm>
    </dsp:sp>
    <dsp:sp modelId="{150E90A1-794C-4F0B-9934-A8E58ABC48E6}">
      <dsp:nvSpPr>
        <dsp:cNvPr id="0" name=""/>
        <dsp:cNvSpPr/>
      </dsp:nvSpPr>
      <dsp:spPr>
        <a:xfrm rot="5400000">
          <a:off x="3073634" y="369442"/>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案例分析：货郎担问题</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2757835"/>
        <a:ext cx="5345686" cy="601436"/>
      </dsp:txXfrm>
    </dsp:sp>
    <dsp:sp modelId="{0130137D-86A9-4CA1-B654-96683AA3D24E}">
      <dsp:nvSpPr>
        <dsp:cNvPr id="0" name=""/>
        <dsp:cNvSpPr/>
      </dsp:nvSpPr>
      <dsp:spPr>
        <a:xfrm rot="5400000">
          <a:off x="-153809" y="3786656"/>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991735"/>
        <a:ext cx="717777" cy="307620"/>
      </dsp:txXfrm>
    </dsp:sp>
    <dsp:sp modelId="{CBD335E0-8D6A-469E-B81C-6247BD0A19E2}">
      <dsp:nvSpPr>
        <dsp:cNvPr id="0" name=""/>
        <dsp:cNvSpPr/>
      </dsp:nvSpPr>
      <dsp:spPr>
        <a:xfrm rot="5400000">
          <a:off x="3073634" y="1276989"/>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3665382"/>
        <a:ext cx="5345686" cy="6014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96708-49E3-4A42-ACE1-C2020844E9DB}">
      <dsp:nvSpPr>
        <dsp:cNvPr id="0" name=""/>
        <dsp:cNvSpPr/>
      </dsp:nvSpPr>
      <dsp:spPr>
        <a:xfrm rot="5400000">
          <a:off x="-153809" y="156465"/>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61544"/>
        <a:ext cx="717777" cy="307620"/>
      </dsp:txXfrm>
    </dsp:sp>
    <dsp:sp modelId="{B0D5B842-CFD7-4F5C-8567-ABE9C6F65A41}">
      <dsp:nvSpPr>
        <dsp:cNvPr id="0" name=""/>
        <dsp:cNvSpPr/>
      </dsp:nvSpPr>
      <dsp:spPr>
        <a:xfrm rot="5400000">
          <a:off x="3073459" y="-2353025"/>
          <a:ext cx="66685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anose="02010609060101010101" pitchFamily="49" charset="-122"/>
              <a:ea typeface="楷体" panose="02010609060101010101" pitchFamily="49" charset="-122"/>
            </a:rPr>
            <a:t>回溯法及其基本思想</a:t>
          </a:r>
          <a:endParaRPr lang="zh-CN" altLang="en-US" sz="3600" kern="1200" dirty="0">
            <a:solidFill>
              <a:schemeClr val="tx1">
                <a:lumMod val="50000"/>
              </a:schemeClr>
            </a:solidFill>
            <a:latin typeface="楷体" panose="02010609060101010101" pitchFamily="49" charset="-122"/>
            <a:ea typeface="楷体" panose="02010609060101010101" pitchFamily="49" charset="-122"/>
          </a:endParaRPr>
        </a:p>
      </dsp:txBody>
      <dsp:txXfrm rot="-5400000">
        <a:off x="717778" y="35209"/>
        <a:ext cx="5345669" cy="601752"/>
      </dsp:txXfrm>
    </dsp:sp>
    <dsp:sp modelId="{1F8198BB-C190-4AF2-8BC4-0432E8F05966}">
      <dsp:nvSpPr>
        <dsp:cNvPr id="0" name=""/>
        <dsp:cNvSpPr/>
      </dsp:nvSpPr>
      <dsp:spPr>
        <a:xfrm rot="5400000">
          <a:off x="-153809" y="1064013"/>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1269092"/>
        <a:ext cx="717777" cy="307620"/>
      </dsp:txXfrm>
    </dsp:sp>
    <dsp:sp modelId="{C7B00ED2-F288-4724-9951-5B0C1CECD248}">
      <dsp:nvSpPr>
        <dsp:cNvPr id="0" name=""/>
        <dsp:cNvSpPr/>
      </dsp:nvSpPr>
      <dsp:spPr>
        <a:xfrm rot="5400000">
          <a:off x="3073634" y="-1445653"/>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rgbClr val="FF0000"/>
              </a:solidFill>
              <a:latin typeface="楷体" panose="02010609060101010101" pitchFamily="49" charset="-122"/>
              <a:ea typeface="楷体" panose="02010609060101010101" pitchFamily="49" charset="-122"/>
            </a:rPr>
            <a:t>回溯法解题算法框架</a:t>
          </a:r>
          <a:endParaRPr lang="zh-CN" altLang="en-US" sz="3600" kern="1200" dirty="0">
            <a:solidFill>
              <a:srgbClr val="FF0000"/>
            </a:solidFill>
            <a:latin typeface="楷体" panose="02010609060101010101" pitchFamily="49" charset="-122"/>
            <a:ea typeface="楷体" panose="02010609060101010101" pitchFamily="49" charset="-122"/>
          </a:endParaRPr>
        </a:p>
      </dsp:txBody>
      <dsp:txXfrm rot="-5400000">
        <a:off x="717777" y="942740"/>
        <a:ext cx="5345686" cy="601436"/>
      </dsp:txXfrm>
    </dsp:sp>
    <dsp:sp modelId="{75BB0E8A-43DB-48C7-A63A-6F886446931F}">
      <dsp:nvSpPr>
        <dsp:cNvPr id="0" name=""/>
        <dsp:cNvSpPr/>
      </dsp:nvSpPr>
      <dsp:spPr>
        <a:xfrm rot="5400000">
          <a:off x="-153809" y="1971561"/>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2176640"/>
        <a:ext cx="717777" cy="307620"/>
      </dsp:txXfrm>
    </dsp:sp>
    <dsp:sp modelId="{23879B60-AA3C-4F85-B34A-EACE2437749A}">
      <dsp:nvSpPr>
        <dsp:cNvPr id="0" name=""/>
        <dsp:cNvSpPr/>
      </dsp:nvSpPr>
      <dsp:spPr>
        <a:xfrm rot="5400000">
          <a:off x="3073634" y="-538105"/>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kern="12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皇后问题</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1850288"/>
        <a:ext cx="5345686" cy="601436"/>
      </dsp:txXfrm>
    </dsp:sp>
    <dsp:sp modelId="{A045862D-78AC-44F9-BFD7-D9799FC417C9}">
      <dsp:nvSpPr>
        <dsp:cNvPr id="0" name=""/>
        <dsp:cNvSpPr/>
      </dsp:nvSpPr>
      <dsp:spPr>
        <a:xfrm rot="5400000">
          <a:off x="-153809" y="2879108"/>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084187"/>
        <a:ext cx="717777" cy="307620"/>
      </dsp:txXfrm>
    </dsp:sp>
    <dsp:sp modelId="{150E90A1-794C-4F0B-9934-A8E58ABC48E6}">
      <dsp:nvSpPr>
        <dsp:cNvPr id="0" name=""/>
        <dsp:cNvSpPr/>
      </dsp:nvSpPr>
      <dsp:spPr>
        <a:xfrm rot="5400000">
          <a:off x="3073634" y="369442"/>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案例分析：货郎担问题</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2757835"/>
        <a:ext cx="5345686" cy="601436"/>
      </dsp:txXfrm>
    </dsp:sp>
    <dsp:sp modelId="{0130137D-86A9-4CA1-B654-96683AA3D24E}">
      <dsp:nvSpPr>
        <dsp:cNvPr id="0" name=""/>
        <dsp:cNvSpPr/>
      </dsp:nvSpPr>
      <dsp:spPr>
        <a:xfrm rot="5400000">
          <a:off x="-153809" y="3786656"/>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991735"/>
        <a:ext cx="717777" cy="307620"/>
      </dsp:txXfrm>
    </dsp:sp>
    <dsp:sp modelId="{CBD335E0-8D6A-469E-B81C-6247BD0A19E2}">
      <dsp:nvSpPr>
        <dsp:cNvPr id="0" name=""/>
        <dsp:cNvSpPr/>
      </dsp:nvSpPr>
      <dsp:spPr>
        <a:xfrm rot="5400000">
          <a:off x="3073634" y="1276989"/>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3665382"/>
        <a:ext cx="5345686" cy="6014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96708-49E3-4A42-ACE1-C2020844E9DB}">
      <dsp:nvSpPr>
        <dsp:cNvPr id="0" name=""/>
        <dsp:cNvSpPr/>
      </dsp:nvSpPr>
      <dsp:spPr>
        <a:xfrm rot="5400000">
          <a:off x="-153809" y="156465"/>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61544"/>
        <a:ext cx="717777" cy="307620"/>
      </dsp:txXfrm>
    </dsp:sp>
    <dsp:sp modelId="{B0D5B842-CFD7-4F5C-8567-ABE9C6F65A41}">
      <dsp:nvSpPr>
        <dsp:cNvPr id="0" name=""/>
        <dsp:cNvSpPr/>
      </dsp:nvSpPr>
      <dsp:spPr>
        <a:xfrm rot="5400000">
          <a:off x="3073459" y="-2353025"/>
          <a:ext cx="66685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anose="02010609060101010101" pitchFamily="49" charset="-122"/>
              <a:ea typeface="楷体" panose="02010609060101010101" pitchFamily="49" charset="-122"/>
            </a:rPr>
            <a:t>回溯法及其基本思想</a:t>
          </a:r>
          <a:endParaRPr lang="zh-CN" altLang="en-US" sz="3600" kern="1200" dirty="0">
            <a:solidFill>
              <a:schemeClr val="tx1">
                <a:lumMod val="50000"/>
              </a:schemeClr>
            </a:solidFill>
            <a:latin typeface="楷体" panose="02010609060101010101" pitchFamily="49" charset="-122"/>
            <a:ea typeface="楷体" panose="02010609060101010101" pitchFamily="49" charset="-122"/>
          </a:endParaRPr>
        </a:p>
      </dsp:txBody>
      <dsp:txXfrm rot="-5400000">
        <a:off x="717778" y="35209"/>
        <a:ext cx="5345669" cy="601752"/>
      </dsp:txXfrm>
    </dsp:sp>
    <dsp:sp modelId="{1F8198BB-C190-4AF2-8BC4-0432E8F05966}">
      <dsp:nvSpPr>
        <dsp:cNvPr id="0" name=""/>
        <dsp:cNvSpPr/>
      </dsp:nvSpPr>
      <dsp:spPr>
        <a:xfrm rot="5400000">
          <a:off x="-153809" y="1064013"/>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1269092"/>
        <a:ext cx="717777" cy="307620"/>
      </dsp:txXfrm>
    </dsp:sp>
    <dsp:sp modelId="{C7B00ED2-F288-4724-9951-5B0C1CECD248}">
      <dsp:nvSpPr>
        <dsp:cNvPr id="0" name=""/>
        <dsp:cNvSpPr/>
      </dsp:nvSpPr>
      <dsp:spPr>
        <a:xfrm rot="5400000">
          <a:off x="3073634" y="-1445653"/>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anose="02010609060101010101" pitchFamily="49" charset="-122"/>
              <a:ea typeface="楷体" panose="02010609060101010101" pitchFamily="49" charset="-122"/>
            </a:rPr>
            <a:t>回溯法解题算法框架</a:t>
          </a:r>
          <a:endParaRPr lang="zh-CN" altLang="en-US" sz="3600" kern="1200" dirty="0">
            <a:solidFill>
              <a:schemeClr val="tx1">
                <a:lumMod val="50000"/>
              </a:schemeClr>
            </a:solidFill>
            <a:latin typeface="楷体" panose="02010609060101010101" pitchFamily="49" charset="-122"/>
            <a:ea typeface="楷体" panose="02010609060101010101" pitchFamily="49" charset="-122"/>
          </a:endParaRPr>
        </a:p>
      </dsp:txBody>
      <dsp:txXfrm rot="-5400000">
        <a:off x="717777" y="942740"/>
        <a:ext cx="5345686" cy="601436"/>
      </dsp:txXfrm>
    </dsp:sp>
    <dsp:sp modelId="{75BB0E8A-43DB-48C7-A63A-6F886446931F}">
      <dsp:nvSpPr>
        <dsp:cNvPr id="0" name=""/>
        <dsp:cNvSpPr/>
      </dsp:nvSpPr>
      <dsp:spPr>
        <a:xfrm rot="5400000">
          <a:off x="-153809" y="1971561"/>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2176640"/>
        <a:ext cx="717777" cy="307620"/>
      </dsp:txXfrm>
    </dsp:sp>
    <dsp:sp modelId="{23879B60-AA3C-4F85-B34A-EACE2437749A}">
      <dsp:nvSpPr>
        <dsp:cNvPr id="0" name=""/>
        <dsp:cNvSpPr/>
      </dsp:nvSpPr>
      <dsp:spPr>
        <a:xfrm rot="5400000">
          <a:off x="3073634" y="-538105"/>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kern="1200"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kern="1200" dirty="0" smtClean="0">
              <a:solidFill>
                <a:srgbClr val="FF0000"/>
              </a:solidFill>
              <a:latin typeface="楷体" panose="02010609060101010101" pitchFamily="49" charset="-122"/>
              <a:ea typeface="楷体" panose="02010609060101010101" pitchFamily="49" charset="-122"/>
            </a:rPr>
            <a:t>皇后问题</a:t>
          </a:r>
          <a:endParaRPr lang="zh-CN" altLang="en-US" sz="3600" kern="1200" dirty="0">
            <a:solidFill>
              <a:srgbClr val="FF0000"/>
            </a:solidFill>
            <a:latin typeface="楷体" panose="02010609060101010101" pitchFamily="49" charset="-122"/>
            <a:ea typeface="楷体" panose="02010609060101010101" pitchFamily="49" charset="-122"/>
          </a:endParaRPr>
        </a:p>
      </dsp:txBody>
      <dsp:txXfrm rot="-5400000">
        <a:off x="717777" y="1850288"/>
        <a:ext cx="5345686" cy="601436"/>
      </dsp:txXfrm>
    </dsp:sp>
    <dsp:sp modelId="{A045862D-78AC-44F9-BFD7-D9799FC417C9}">
      <dsp:nvSpPr>
        <dsp:cNvPr id="0" name=""/>
        <dsp:cNvSpPr/>
      </dsp:nvSpPr>
      <dsp:spPr>
        <a:xfrm rot="5400000">
          <a:off x="-153809" y="2879108"/>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084187"/>
        <a:ext cx="717777" cy="307620"/>
      </dsp:txXfrm>
    </dsp:sp>
    <dsp:sp modelId="{150E90A1-794C-4F0B-9934-A8E58ABC48E6}">
      <dsp:nvSpPr>
        <dsp:cNvPr id="0" name=""/>
        <dsp:cNvSpPr/>
      </dsp:nvSpPr>
      <dsp:spPr>
        <a:xfrm rot="5400000">
          <a:off x="3073634" y="369442"/>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案例分析：货郎担问题</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2757835"/>
        <a:ext cx="5345686" cy="601436"/>
      </dsp:txXfrm>
    </dsp:sp>
    <dsp:sp modelId="{0130137D-86A9-4CA1-B654-96683AA3D24E}">
      <dsp:nvSpPr>
        <dsp:cNvPr id="0" name=""/>
        <dsp:cNvSpPr/>
      </dsp:nvSpPr>
      <dsp:spPr>
        <a:xfrm rot="5400000">
          <a:off x="-153809" y="3786656"/>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991735"/>
        <a:ext cx="717777" cy="307620"/>
      </dsp:txXfrm>
    </dsp:sp>
    <dsp:sp modelId="{CBD335E0-8D6A-469E-B81C-6247BD0A19E2}">
      <dsp:nvSpPr>
        <dsp:cNvPr id="0" name=""/>
        <dsp:cNvSpPr/>
      </dsp:nvSpPr>
      <dsp:spPr>
        <a:xfrm rot="5400000">
          <a:off x="3073634" y="1276989"/>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3665382"/>
        <a:ext cx="5345686" cy="6014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96708-49E3-4A42-ACE1-C2020844E9DB}">
      <dsp:nvSpPr>
        <dsp:cNvPr id="0" name=""/>
        <dsp:cNvSpPr/>
      </dsp:nvSpPr>
      <dsp:spPr>
        <a:xfrm rot="5400000">
          <a:off x="-153809" y="156465"/>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61544"/>
        <a:ext cx="717777" cy="307620"/>
      </dsp:txXfrm>
    </dsp:sp>
    <dsp:sp modelId="{B0D5B842-CFD7-4F5C-8567-ABE9C6F65A41}">
      <dsp:nvSpPr>
        <dsp:cNvPr id="0" name=""/>
        <dsp:cNvSpPr/>
      </dsp:nvSpPr>
      <dsp:spPr>
        <a:xfrm rot="5400000">
          <a:off x="3073459" y="-2353025"/>
          <a:ext cx="66685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anose="02010609060101010101" pitchFamily="49" charset="-122"/>
              <a:ea typeface="楷体" panose="02010609060101010101" pitchFamily="49" charset="-122"/>
            </a:rPr>
            <a:t>回溯法及其基本思想</a:t>
          </a:r>
          <a:endParaRPr lang="zh-CN" altLang="en-US" sz="3600" kern="1200" dirty="0">
            <a:solidFill>
              <a:schemeClr val="tx1">
                <a:lumMod val="50000"/>
              </a:schemeClr>
            </a:solidFill>
            <a:latin typeface="楷体" panose="02010609060101010101" pitchFamily="49" charset="-122"/>
            <a:ea typeface="楷体" panose="02010609060101010101" pitchFamily="49" charset="-122"/>
          </a:endParaRPr>
        </a:p>
      </dsp:txBody>
      <dsp:txXfrm rot="-5400000">
        <a:off x="717778" y="35209"/>
        <a:ext cx="5345669" cy="601752"/>
      </dsp:txXfrm>
    </dsp:sp>
    <dsp:sp modelId="{1F8198BB-C190-4AF2-8BC4-0432E8F05966}">
      <dsp:nvSpPr>
        <dsp:cNvPr id="0" name=""/>
        <dsp:cNvSpPr/>
      </dsp:nvSpPr>
      <dsp:spPr>
        <a:xfrm rot="5400000">
          <a:off x="-153809" y="1064013"/>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1269092"/>
        <a:ext cx="717777" cy="307620"/>
      </dsp:txXfrm>
    </dsp:sp>
    <dsp:sp modelId="{C7B00ED2-F288-4724-9951-5B0C1CECD248}">
      <dsp:nvSpPr>
        <dsp:cNvPr id="0" name=""/>
        <dsp:cNvSpPr/>
      </dsp:nvSpPr>
      <dsp:spPr>
        <a:xfrm rot="5400000">
          <a:off x="3073634" y="-1445653"/>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anose="02010609060101010101" pitchFamily="49" charset="-122"/>
              <a:ea typeface="楷体" panose="02010609060101010101" pitchFamily="49" charset="-122"/>
            </a:rPr>
            <a:t>回溯法解题算法框架</a:t>
          </a:r>
          <a:endParaRPr lang="zh-CN" altLang="en-US" sz="3600" kern="1200" dirty="0">
            <a:solidFill>
              <a:schemeClr val="tx1">
                <a:lumMod val="50000"/>
              </a:schemeClr>
            </a:solidFill>
            <a:latin typeface="楷体" panose="02010609060101010101" pitchFamily="49" charset="-122"/>
            <a:ea typeface="楷体" panose="02010609060101010101" pitchFamily="49" charset="-122"/>
          </a:endParaRPr>
        </a:p>
      </dsp:txBody>
      <dsp:txXfrm rot="-5400000">
        <a:off x="717777" y="942740"/>
        <a:ext cx="5345686" cy="601436"/>
      </dsp:txXfrm>
    </dsp:sp>
    <dsp:sp modelId="{75BB0E8A-43DB-48C7-A63A-6F886446931F}">
      <dsp:nvSpPr>
        <dsp:cNvPr id="0" name=""/>
        <dsp:cNvSpPr/>
      </dsp:nvSpPr>
      <dsp:spPr>
        <a:xfrm rot="5400000">
          <a:off x="-153809" y="1971561"/>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2176640"/>
        <a:ext cx="717777" cy="307620"/>
      </dsp:txXfrm>
    </dsp:sp>
    <dsp:sp modelId="{23879B60-AA3C-4F85-B34A-EACE2437749A}">
      <dsp:nvSpPr>
        <dsp:cNvPr id="0" name=""/>
        <dsp:cNvSpPr/>
      </dsp:nvSpPr>
      <dsp:spPr>
        <a:xfrm rot="5400000">
          <a:off x="3073634" y="-538105"/>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kern="12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皇后问题</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1850288"/>
        <a:ext cx="5345686" cy="601436"/>
      </dsp:txXfrm>
    </dsp:sp>
    <dsp:sp modelId="{A045862D-78AC-44F9-BFD7-D9799FC417C9}">
      <dsp:nvSpPr>
        <dsp:cNvPr id="0" name=""/>
        <dsp:cNvSpPr/>
      </dsp:nvSpPr>
      <dsp:spPr>
        <a:xfrm rot="5400000">
          <a:off x="-153809" y="2879108"/>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084187"/>
        <a:ext cx="717777" cy="307620"/>
      </dsp:txXfrm>
    </dsp:sp>
    <dsp:sp modelId="{150E90A1-794C-4F0B-9934-A8E58ABC48E6}">
      <dsp:nvSpPr>
        <dsp:cNvPr id="0" name=""/>
        <dsp:cNvSpPr/>
      </dsp:nvSpPr>
      <dsp:spPr>
        <a:xfrm rot="5400000">
          <a:off x="3073634" y="369442"/>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rgbClr val="FF0000"/>
              </a:solidFill>
              <a:latin typeface="楷体" panose="02010609060101010101" pitchFamily="49" charset="-122"/>
              <a:ea typeface="楷体" panose="02010609060101010101" pitchFamily="49" charset="-122"/>
            </a:rPr>
            <a:t>案例分析：货郎担问题</a:t>
          </a:r>
          <a:endParaRPr lang="zh-CN" altLang="en-US" sz="3600" kern="1200" dirty="0">
            <a:solidFill>
              <a:srgbClr val="FF0000"/>
            </a:solidFill>
            <a:latin typeface="楷体" panose="02010609060101010101" pitchFamily="49" charset="-122"/>
            <a:ea typeface="楷体" panose="02010609060101010101" pitchFamily="49" charset="-122"/>
          </a:endParaRPr>
        </a:p>
      </dsp:txBody>
      <dsp:txXfrm rot="-5400000">
        <a:off x="717777" y="2757835"/>
        <a:ext cx="5345686" cy="601436"/>
      </dsp:txXfrm>
    </dsp:sp>
    <dsp:sp modelId="{0130137D-86A9-4CA1-B654-96683AA3D24E}">
      <dsp:nvSpPr>
        <dsp:cNvPr id="0" name=""/>
        <dsp:cNvSpPr/>
      </dsp:nvSpPr>
      <dsp:spPr>
        <a:xfrm rot="5400000">
          <a:off x="-153809" y="3786656"/>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991735"/>
        <a:ext cx="717777" cy="307620"/>
      </dsp:txXfrm>
    </dsp:sp>
    <dsp:sp modelId="{CBD335E0-8D6A-469E-B81C-6247BD0A19E2}">
      <dsp:nvSpPr>
        <dsp:cNvPr id="0" name=""/>
        <dsp:cNvSpPr/>
      </dsp:nvSpPr>
      <dsp:spPr>
        <a:xfrm rot="5400000">
          <a:off x="3073634" y="1276989"/>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3665382"/>
        <a:ext cx="5345686" cy="6014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96708-49E3-4A42-ACE1-C2020844E9DB}">
      <dsp:nvSpPr>
        <dsp:cNvPr id="0" name=""/>
        <dsp:cNvSpPr/>
      </dsp:nvSpPr>
      <dsp:spPr>
        <a:xfrm rot="5400000">
          <a:off x="-153809" y="156465"/>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61544"/>
        <a:ext cx="717777" cy="307620"/>
      </dsp:txXfrm>
    </dsp:sp>
    <dsp:sp modelId="{B0D5B842-CFD7-4F5C-8567-ABE9C6F65A41}">
      <dsp:nvSpPr>
        <dsp:cNvPr id="0" name=""/>
        <dsp:cNvSpPr/>
      </dsp:nvSpPr>
      <dsp:spPr>
        <a:xfrm rot="5400000">
          <a:off x="3073459" y="-2353025"/>
          <a:ext cx="66685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anose="02010609060101010101" pitchFamily="49" charset="-122"/>
              <a:ea typeface="楷体" panose="02010609060101010101" pitchFamily="49" charset="-122"/>
            </a:rPr>
            <a:t>回溯法及其基本思想</a:t>
          </a:r>
          <a:endParaRPr lang="zh-CN" altLang="en-US" sz="3600" kern="1200" dirty="0">
            <a:solidFill>
              <a:schemeClr val="tx1">
                <a:lumMod val="50000"/>
              </a:schemeClr>
            </a:solidFill>
            <a:latin typeface="楷体" panose="02010609060101010101" pitchFamily="49" charset="-122"/>
            <a:ea typeface="楷体" panose="02010609060101010101" pitchFamily="49" charset="-122"/>
          </a:endParaRPr>
        </a:p>
      </dsp:txBody>
      <dsp:txXfrm rot="-5400000">
        <a:off x="717778" y="35209"/>
        <a:ext cx="5345669" cy="601752"/>
      </dsp:txXfrm>
    </dsp:sp>
    <dsp:sp modelId="{1F8198BB-C190-4AF2-8BC4-0432E8F05966}">
      <dsp:nvSpPr>
        <dsp:cNvPr id="0" name=""/>
        <dsp:cNvSpPr/>
      </dsp:nvSpPr>
      <dsp:spPr>
        <a:xfrm rot="5400000">
          <a:off x="-153809" y="1064013"/>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1269092"/>
        <a:ext cx="717777" cy="307620"/>
      </dsp:txXfrm>
    </dsp:sp>
    <dsp:sp modelId="{C7B00ED2-F288-4724-9951-5B0C1CECD248}">
      <dsp:nvSpPr>
        <dsp:cNvPr id="0" name=""/>
        <dsp:cNvSpPr/>
      </dsp:nvSpPr>
      <dsp:spPr>
        <a:xfrm rot="5400000">
          <a:off x="3073634" y="-1445653"/>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anose="02010609060101010101" pitchFamily="49" charset="-122"/>
              <a:ea typeface="楷体" panose="02010609060101010101" pitchFamily="49" charset="-122"/>
            </a:rPr>
            <a:t>回溯法解题算法框架</a:t>
          </a:r>
          <a:endParaRPr lang="zh-CN" altLang="en-US" sz="3600" kern="1200" dirty="0">
            <a:solidFill>
              <a:schemeClr val="tx1">
                <a:lumMod val="50000"/>
              </a:schemeClr>
            </a:solidFill>
            <a:latin typeface="楷体" panose="02010609060101010101" pitchFamily="49" charset="-122"/>
            <a:ea typeface="楷体" panose="02010609060101010101" pitchFamily="49" charset="-122"/>
          </a:endParaRPr>
        </a:p>
      </dsp:txBody>
      <dsp:txXfrm rot="-5400000">
        <a:off x="717777" y="942740"/>
        <a:ext cx="5345686" cy="601436"/>
      </dsp:txXfrm>
    </dsp:sp>
    <dsp:sp modelId="{75BB0E8A-43DB-48C7-A63A-6F886446931F}">
      <dsp:nvSpPr>
        <dsp:cNvPr id="0" name=""/>
        <dsp:cNvSpPr/>
      </dsp:nvSpPr>
      <dsp:spPr>
        <a:xfrm rot="5400000">
          <a:off x="-153809" y="1971561"/>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2176640"/>
        <a:ext cx="717777" cy="307620"/>
      </dsp:txXfrm>
    </dsp:sp>
    <dsp:sp modelId="{23879B60-AA3C-4F85-B34A-EACE2437749A}">
      <dsp:nvSpPr>
        <dsp:cNvPr id="0" name=""/>
        <dsp:cNvSpPr/>
      </dsp:nvSpPr>
      <dsp:spPr>
        <a:xfrm rot="5400000">
          <a:off x="3073634" y="-538105"/>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案例分析：</a:t>
          </a:r>
          <a:r>
            <a:rPr lang="en-US" altLang="zh-CN" sz="3600" kern="1200" dirty="0" smtClean="0">
              <a:solidFill>
                <a:schemeClr val="tx2">
                  <a:lumMod val="50000"/>
                </a:schemeClr>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600" kern="1200" dirty="0" smtClean="0">
              <a:solidFill>
                <a:schemeClr val="tx2">
                  <a:lumMod val="50000"/>
                </a:schemeClr>
              </a:solidFill>
              <a:latin typeface="楷体" panose="02010609060101010101" pitchFamily="49" charset="-122"/>
              <a:ea typeface="楷体" panose="02010609060101010101" pitchFamily="49" charset="-122"/>
            </a:rPr>
            <a:t>皇后问题</a:t>
          </a:r>
          <a:endParaRPr lang="zh-CN" altLang="en-US" sz="3600" kern="1200" dirty="0">
            <a:solidFill>
              <a:schemeClr val="tx2">
                <a:lumMod val="50000"/>
              </a:schemeClr>
            </a:solidFill>
            <a:latin typeface="楷体" panose="02010609060101010101" pitchFamily="49" charset="-122"/>
            <a:ea typeface="楷体" panose="02010609060101010101" pitchFamily="49" charset="-122"/>
          </a:endParaRPr>
        </a:p>
      </dsp:txBody>
      <dsp:txXfrm rot="-5400000">
        <a:off x="717777" y="1850288"/>
        <a:ext cx="5345686" cy="601436"/>
      </dsp:txXfrm>
    </dsp:sp>
    <dsp:sp modelId="{A045862D-78AC-44F9-BFD7-D9799FC417C9}">
      <dsp:nvSpPr>
        <dsp:cNvPr id="0" name=""/>
        <dsp:cNvSpPr/>
      </dsp:nvSpPr>
      <dsp:spPr>
        <a:xfrm rot="5400000">
          <a:off x="-153809" y="2879108"/>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084187"/>
        <a:ext cx="717777" cy="307620"/>
      </dsp:txXfrm>
    </dsp:sp>
    <dsp:sp modelId="{150E90A1-794C-4F0B-9934-A8E58ABC48E6}">
      <dsp:nvSpPr>
        <dsp:cNvPr id="0" name=""/>
        <dsp:cNvSpPr/>
      </dsp:nvSpPr>
      <dsp:spPr>
        <a:xfrm rot="5400000">
          <a:off x="3073634" y="369442"/>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anose="02010609060101010101" pitchFamily="49" charset="-122"/>
              <a:ea typeface="楷体" panose="02010609060101010101" pitchFamily="49" charset="-122"/>
            </a:rPr>
            <a:t>案例分析：货郎担问题</a:t>
          </a:r>
          <a:endParaRPr lang="zh-CN" altLang="en-US" sz="3600" kern="1200" dirty="0">
            <a:solidFill>
              <a:schemeClr val="tx1">
                <a:lumMod val="50000"/>
              </a:schemeClr>
            </a:solidFill>
            <a:latin typeface="楷体" panose="02010609060101010101" pitchFamily="49" charset="-122"/>
            <a:ea typeface="楷体" panose="02010609060101010101" pitchFamily="49" charset="-122"/>
          </a:endParaRPr>
        </a:p>
      </dsp:txBody>
      <dsp:txXfrm rot="-5400000">
        <a:off x="717777" y="2757835"/>
        <a:ext cx="5345686" cy="601436"/>
      </dsp:txXfrm>
    </dsp:sp>
    <dsp:sp modelId="{0130137D-86A9-4CA1-B654-96683AA3D24E}">
      <dsp:nvSpPr>
        <dsp:cNvPr id="0" name=""/>
        <dsp:cNvSpPr/>
      </dsp:nvSpPr>
      <dsp:spPr>
        <a:xfrm rot="5400000">
          <a:off x="-153809" y="3786656"/>
          <a:ext cx="1025397" cy="71777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anose="02020603050405020304" pitchFamily="18" charset="0"/>
              <a:ea typeface="楷体" panose="02010609060101010101" pitchFamily="49" charset="-122"/>
              <a:cs typeface="Times New Roman" panose="02020603050405020304" pitchFamily="18" charset="0"/>
            </a:rPr>
            <a:t>5</a:t>
          </a:r>
          <a:endParaRPr lang="zh-CN" altLang="en-US" sz="2800" kern="12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2" y="3991735"/>
        <a:ext cx="717777" cy="307620"/>
      </dsp:txXfrm>
    </dsp:sp>
    <dsp:sp modelId="{CBD335E0-8D6A-469E-B81C-6247BD0A19E2}">
      <dsp:nvSpPr>
        <dsp:cNvPr id="0" name=""/>
        <dsp:cNvSpPr/>
      </dsp:nvSpPr>
      <dsp:spPr>
        <a:xfrm rot="5400000">
          <a:off x="3073634" y="1276989"/>
          <a:ext cx="666508" cy="537822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rgbClr val="FF0000"/>
              </a:solidFill>
              <a:latin typeface="楷体" panose="02010609060101010101" pitchFamily="49" charset="-122"/>
              <a:ea typeface="楷体" panose="02010609060101010101" pitchFamily="49" charset="-122"/>
            </a:rPr>
            <a:t>其它案例分析</a:t>
          </a:r>
          <a:endParaRPr lang="zh-CN" altLang="en-US" sz="3600" kern="1200" dirty="0">
            <a:solidFill>
              <a:srgbClr val="FF0000"/>
            </a:solidFill>
            <a:latin typeface="楷体" panose="02010609060101010101" pitchFamily="49" charset="-122"/>
            <a:ea typeface="楷体" panose="02010609060101010101" pitchFamily="49" charset="-122"/>
          </a:endParaRPr>
        </a:p>
      </dsp:txBody>
      <dsp:txXfrm rot="-5400000">
        <a:off x="717777" y="3665382"/>
        <a:ext cx="5345686" cy="60143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lstStyle>
            <a:lvl1pPr>
              <a:defRPr sz="1200">
                <a:latin typeface="Calibri" panose="020F0502020204030204" pitchFamily="34" charset="0"/>
                <a:ea typeface="PMingLiU" panose="02020500000000000000" pitchFamily="18" charset="-120"/>
              </a:defRPr>
            </a:lvl1pPr>
          </a:lstStyle>
          <a:p>
            <a:pPr>
              <a:defRPr/>
            </a:pPr>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lstStyle>
            <a:lvl1pPr algn="r">
              <a:defRPr sz="1200">
                <a:latin typeface="Calibri" panose="020F0502020204030204" pitchFamily="34" charset="0"/>
                <a:ea typeface="PMingLiU" panose="02020500000000000000" pitchFamily="18" charset="-120"/>
              </a:defRPr>
            </a:lvl1pPr>
          </a:lstStyle>
          <a:p>
            <a:pPr>
              <a:defRPr/>
            </a:pPr>
            <a:fld id="{3E092113-03B1-49DD-ADEA-58BC565CCF4A}" type="datetimeFigureOut">
              <a:rPr lang="zh-TW" altLang="en-US"/>
              <a:t>2025/10/10</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lstStyle>
            <a:lvl1pPr>
              <a:defRPr sz="1200">
                <a:latin typeface="Calibri" panose="020F0502020204030204" pitchFamily="34" charset="0"/>
                <a:ea typeface="PMingLiU" panose="02020500000000000000" pitchFamily="18" charset="-120"/>
              </a:defRPr>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atin typeface="Calibri" panose="020F0502020204030204" pitchFamily="34" charset="0"/>
                <a:ea typeface="PMingLiU" panose="02020500000000000000" pitchFamily="18" charset="-120"/>
              </a:defRPr>
            </a:lvl1pPr>
          </a:lstStyle>
          <a:p>
            <a:pPr>
              <a:defRPr/>
            </a:pPr>
            <a:fld id="{E14A2719-7B71-409D-B999-7321776CC70F}" type="slidenum">
              <a:rPr lang="zh-TW" altLang="en-US"/>
              <a:t>‹#›</a:t>
            </a:fld>
            <a:endParaRPr lang="zh-TW"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baike.baidu.com/item/%E8%AE%A1%E7%AE%97%E6%9C%BA%E8%A7%86%E8%A7%89/2803351"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baike.baidu.com/item/%E4%BC%8A%E5%88%A9%E8%AF%BA%E6%96%AF%E5%A4%A7%E5%AD%A6"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90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上次课，我们学习了贪心法，那贪心法的思想是什么呢？每走一步都希望利益最大化。</a:t>
            </a:r>
            <a:endParaRPr lang="en-US" altLang="zh-CN" dirty="0" smtClean="0"/>
          </a:p>
        </p:txBody>
      </p:sp>
      <p:sp>
        <p:nvSpPr>
          <p:cNvPr id="890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475C7FE6-FF92-4DC7-8CB5-0674923E1DAA}" type="slidenum">
              <a:rPr lang="zh-CN" altLang="en-US" smtClean="0">
                <a:solidFill>
                  <a:srgbClr val="000000"/>
                </a:solidFill>
                <a:ea typeface="宋体" panose="02010600030101010101" pitchFamily="2" charset="-122"/>
              </a:rPr>
              <a:t>1</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01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901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5220B815-9460-4DF4-8682-67D32F357721}" type="slidenum">
              <a:rPr lang="zh-CN" altLang="en-US" smtClean="0">
                <a:solidFill>
                  <a:srgbClr val="000000"/>
                </a:solidFill>
                <a:ea typeface="宋体" panose="02010600030101010101" pitchFamily="2" charset="-122"/>
              </a:rPr>
              <a:t>2</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11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再介绍回溯法前我们先来回顾一下两个经典问题，一个是</a:t>
            </a:r>
            <a:r>
              <a:rPr lang="en-US" altLang="zh-CN" dirty="0" smtClean="0"/>
              <a:t>N</a:t>
            </a:r>
            <a:r>
              <a:rPr lang="zh-CN" altLang="en-US" dirty="0" smtClean="0"/>
              <a:t>皇后问题，一个是旅行商售货问题。</a:t>
            </a:r>
            <a:r>
              <a:rPr lang="en-US" altLang="zh-CN" dirty="0" smtClean="0"/>
              <a:t>4</a:t>
            </a:r>
            <a:r>
              <a:rPr lang="zh-CN" altLang="en-US" dirty="0" smtClean="0"/>
              <a:t>皇后问题的解空间可以表示为</a:t>
            </a:r>
            <a:r>
              <a:rPr lang="en-US" altLang="zh-CN" dirty="0" smtClean="0"/>
              <a:t>5</a:t>
            </a:r>
            <a:r>
              <a:rPr lang="zh-CN" altLang="en-US" dirty="0" smtClean="0"/>
              <a:t>层的树，每个结点都有</a:t>
            </a:r>
            <a:r>
              <a:rPr lang="en-US" altLang="zh-CN" dirty="0" smtClean="0"/>
              <a:t>0</a:t>
            </a:r>
            <a:r>
              <a:rPr lang="zh-CN" altLang="en-US" dirty="0" smtClean="0"/>
              <a:t>或者</a:t>
            </a:r>
            <a:r>
              <a:rPr lang="en-US" altLang="zh-CN" dirty="0" smtClean="0"/>
              <a:t>4</a:t>
            </a:r>
            <a:r>
              <a:rPr lang="zh-CN" altLang="en-US" dirty="0" smtClean="0"/>
              <a:t>个子结点，</a:t>
            </a:r>
            <a:r>
              <a:rPr lang="en-US" altLang="zh-CN" dirty="0" smtClean="0"/>
              <a:t>N</a:t>
            </a:r>
            <a:r>
              <a:rPr lang="zh-CN" altLang="en-US" dirty="0" smtClean="0"/>
              <a:t>皇后问题的一个解可以表示为树中的一条路径，从而可以将</a:t>
            </a:r>
            <a:r>
              <a:rPr lang="en-US" altLang="zh-CN" dirty="0" smtClean="0"/>
              <a:t>N</a:t>
            </a:r>
            <a:r>
              <a:rPr lang="zh-CN" altLang="en-US" dirty="0" smtClean="0"/>
              <a:t>皇后问题转换为树的搜索问题。</a:t>
            </a:r>
            <a:r>
              <a:rPr lang="en-US" altLang="zh-CN" dirty="0" smtClean="0"/>
              <a:t>N</a:t>
            </a:r>
            <a:r>
              <a:rPr lang="zh-CN" altLang="en-US" dirty="0" smtClean="0"/>
              <a:t>皇后问题，每一行都有</a:t>
            </a:r>
            <a:r>
              <a:rPr lang="en-US" altLang="zh-CN" dirty="0" smtClean="0"/>
              <a:t>N</a:t>
            </a:r>
            <a:r>
              <a:rPr lang="zh-CN" altLang="en-US" dirty="0" smtClean="0"/>
              <a:t>个可选的位置，所以问题的规模是</a:t>
            </a:r>
            <a:r>
              <a:rPr lang="en-US" altLang="zh-CN" dirty="0" err="1" smtClean="0"/>
              <a:t>n^n</a:t>
            </a:r>
            <a:r>
              <a:rPr lang="en-US" altLang="zh-CN" dirty="0" smtClean="0"/>
              <a:t>.</a:t>
            </a:r>
            <a:endParaRPr lang="zh-CN" altLang="en-US" dirty="0" smtClean="0"/>
          </a:p>
        </p:txBody>
      </p:sp>
      <p:sp>
        <p:nvSpPr>
          <p:cNvPr id="911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C7DEB246-2C40-4F51-9C1D-93EDDA7BB26E}" type="slidenum">
              <a:rPr lang="zh-CN" altLang="en-US" smtClean="0">
                <a:solidFill>
                  <a:srgbClr val="000000"/>
                </a:solidFill>
                <a:ea typeface="宋体" panose="02010600030101010101" pitchFamily="2" charset="-122"/>
              </a:rPr>
              <a:t>3</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smtClean="0"/>
              <a:t>TSP</a:t>
            </a:r>
            <a:r>
              <a:rPr lang="zh-CN" altLang="en-US" dirty="0" smtClean="0"/>
              <a:t>问题的解空间可以表示为</a:t>
            </a:r>
            <a:r>
              <a:rPr lang="en-US" altLang="zh-CN" dirty="0" smtClean="0"/>
              <a:t>N</a:t>
            </a:r>
            <a:r>
              <a:rPr lang="zh-CN" altLang="en-US" dirty="0" smtClean="0"/>
              <a:t>层的树，每个结点最多有</a:t>
            </a:r>
            <a:r>
              <a:rPr lang="en-US" altLang="zh-CN" dirty="0" smtClean="0"/>
              <a:t>N-1</a:t>
            </a:r>
            <a:r>
              <a:rPr lang="zh-CN" altLang="en-US" dirty="0" smtClean="0"/>
              <a:t>个子结点，</a:t>
            </a:r>
            <a:r>
              <a:rPr lang="en-US" altLang="zh-CN" dirty="0" smtClean="0"/>
              <a:t>TSP</a:t>
            </a:r>
            <a:r>
              <a:rPr lang="zh-CN" altLang="en-US" dirty="0" smtClean="0"/>
              <a:t>问题的一个解可以表示为树中的一条长度为</a:t>
            </a:r>
            <a:r>
              <a:rPr lang="en-US" altLang="zh-CN" dirty="0" err="1" smtClean="0"/>
              <a:t>N+1</a:t>
            </a:r>
            <a:r>
              <a:rPr lang="zh-CN" altLang="en-US" dirty="0" smtClean="0"/>
              <a:t>的路径，从而可以将</a:t>
            </a:r>
            <a:r>
              <a:rPr lang="en-US" altLang="zh-CN" dirty="0" smtClean="0"/>
              <a:t>TSP</a:t>
            </a:r>
            <a:r>
              <a:rPr lang="zh-CN" altLang="en-US" dirty="0" smtClean="0"/>
              <a:t>问题转换为树的搜索问题。通过这两个问题的回顾，我们可以知道，大部分问题的解空间，都可以将其表示为树状结构，从而将优化问题，转化为搜索问题，即可以用回溯法来解决。因此回溯法也被称为问题的通解。</a:t>
            </a:r>
          </a:p>
        </p:txBody>
      </p:sp>
      <p:sp>
        <p:nvSpPr>
          <p:cNvPr id="921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47AE2011-6612-46C4-9816-D543EA33BAC0}" type="slidenum">
              <a:rPr lang="zh-CN" altLang="en-US" smtClean="0">
                <a:solidFill>
                  <a:srgbClr val="000000"/>
                </a:solidFill>
                <a:ea typeface="宋体" panose="02010600030101010101" pitchFamily="2" charset="-122"/>
              </a:rPr>
              <a:t>4</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42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smtClean="0"/>
              <a:t>N</a:t>
            </a:r>
            <a:r>
              <a:rPr lang="zh-CN" altLang="en-US" dirty="0" smtClean="0"/>
              <a:t>后问题和</a:t>
            </a:r>
            <a:r>
              <a:rPr lang="en-US" altLang="zh-CN" dirty="0" smtClean="0"/>
              <a:t>TSP</a:t>
            </a:r>
            <a:r>
              <a:rPr lang="zh-CN" altLang="en-US" dirty="0" smtClean="0"/>
              <a:t>问题都可以用树表示其解空间，从而可以转换为一棵树的搜索问题，这种用搜索的方式解决问题的思路就是回溯法的思想。算法思想源于生活，我们回溯法也不例外。我们生活中有哪些例子用的是回溯法呢？比如走迷宫，数独问题，有些位置的可能解有多个，我们试探一个，然后假设我们试探的解为正确解，然后再重复前面的步骤。一条路走不通了，就掉头，回到上一次做选择的位置，重复这样的步骤，直到得到所有的路径都试探过。问大家一个问题，我们刚刚这种搜索的思想是什么搜索的思想？</a:t>
            </a:r>
            <a:endParaRPr lang="en-US" altLang="zh-CN" dirty="0" smtClean="0"/>
          </a:p>
          <a:p>
            <a:pPr eaLnBrk="1" hangingPunct="1">
              <a:spcBef>
                <a:spcPct val="0"/>
              </a:spcBef>
            </a:pPr>
            <a:endParaRPr lang="zh-CN" altLang="en-US" dirty="0" smtClean="0"/>
          </a:p>
        </p:txBody>
      </p:sp>
      <p:sp>
        <p:nvSpPr>
          <p:cNvPr id="942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7FC80294-C1D0-4422-BE8C-D7B285E76602}" type="slidenum">
              <a:rPr lang="zh-CN" altLang="en-US" smtClean="0">
                <a:solidFill>
                  <a:srgbClr val="000000"/>
                </a:solidFill>
                <a:ea typeface="宋体" panose="02010600030101010101" pitchFamily="2" charset="-122"/>
              </a:rPr>
              <a:t>5</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52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讲解回溯法得到的解的好坏，是由一步一步下探累加的结果决定的。如果将每一步下探比作个人的所作所为，那么最终的结果即为所有人所作所为得到的结果。由此可知，每个人的所作所为可能是渺小的，但所有的重大的变革和发展都最终是众多个体努力的结果，教导学生应该具备螺丝钉的实干精神</a:t>
            </a:r>
            <a:r>
              <a:rPr lang="zh-CN" altLang="en-US" dirty="0" smtClean="0"/>
              <a:t>。</a:t>
            </a:r>
            <a:endParaRPr lang="zh-CN" altLang="en-US" dirty="0" smtClean="0"/>
          </a:p>
          <a:p>
            <a:pPr eaLnBrk="1" hangingPunct="1">
              <a:spcBef>
                <a:spcPct val="0"/>
              </a:spcBef>
            </a:pPr>
            <a:endParaRPr lang="zh-CN" altLang="en-US" dirty="0" smtClean="0"/>
          </a:p>
        </p:txBody>
      </p:sp>
      <p:sp>
        <p:nvSpPr>
          <p:cNvPr id="952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376E82E7-2255-4068-B122-7D670EB2C0F5}" type="slidenum">
              <a:rPr lang="zh-CN" altLang="en-US" smtClean="0">
                <a:solidFill>
                  <a:srgbClr val="000000"/>
                </a:solidFill>
                <a:ea typeface="宋体" panose="02010600030101010101" pitchFamily="2" charset="-122"/>
              </a:rPr>
              <a:t>6</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62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回溯法相对于蛮力法的好处，就是能避免很多不必要的搜索。</a:t>
            </a:r>
          </a:p>
        </p:txBody>
      </p:sp>
      <p:sp>
        <p:nvSpPr>
          <p:cNvPr id="962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217D1903-BEF8-417C-8746-B6BD26D7AE01}" type="slidenum">
              <a:rPr lang="zh-CN" altLang="en-US" smtClean="0">
                <a:solidFill>
                  <a:srgbClr val="000000"/>
                </a:solidFill>
                <a:ea typeface="宋体" panose="02010600030101010101" pitchFamily="2" charset="-122"/>
              </a:rPr>
              <a:t>7</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72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回溯法需要找的是问题的解空间，所以我们首先需要表示出问题的解空间，怎么表示解空间呢，我们首先需要表示解，约束条件。下面我们通过例子说明，怎么样表示解空间，怎么样用约束限制搜索。</a:t>
            </a:r>
          </a:p>
        </p:txBody>
      </p:sp>
      <p:sp>
        <p:nvSpPr>
          <p:cNvPr id="972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784C5B84-AD43-4CA7-A215-59F304C69F40}" type="slidenum">
              <a:rPr lang="zh-CN" altLang="en-US" smtClean="0">
                <a:solidFill>
                  <a:srgbClr val="000000"/>
                </a:solidFill>
                <a:ea typeface="宋体" panose="02010600030101010101" pitchFamily="2" charset="-122"/>
              </a:rPr>
              <a:t>8</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83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给结点涂颜色，没图，就是白，图一些就是灰，完全图完就是黑，搜索树中的结点有不同的状态，结点状态的专业术语如下。</a:t>
            </a:r>
          </a:p>
        </p:txBody>
      </p:sp>
      <p:sp>
        <p:nvSpPr>
          <p:cNvPr id="983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FA96A459-C3D2-4F97-8441-3579065C9751}" type="slidenum">
              <a:rPr lang="zh-CN" altLang="en-US" smtClean="0">
                <a:solidFill>
                  <a:srgbClr val="000000"/>
                </a:solidFill>
                <a:ea typeface="宋体" panose="02010600030101010101" pitchFamily="2" charset="-122"/>
              </a:rPr>
              <a:t>9</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3187" name="备注占位符 2"/>
          <p:cNvSpPr>
            <a:spLocks noGrp="1"/>
          </p:cNvSpPr>
          <p:nvPr>
            <p:ph type="body" idx="1"/>
          </p:nvPr>
        </p:nvSpPr>
        <p:spPr bwMode="auto"/>
        <p:txBody>
          <a:bodyPr wrap="square" numCol="1" anchor="t" anchorCtr="0" compatLnSpc="1"/>
          <a:lstStyle/>
          <a:p>
            <a:pPr eaLnBrk="1" hangingPunct="1">
              <a:spcBef>
                <a:spcPct val="0"/>
              </a:spcBef>
              <a:defRPr/>
            </a:pPr>
            <a:r>
              <a:rPr lang="zh-CN" altLang="en-US" dirty="0" smtClean="0"/>
              <a:t>这里的某种性质，可以当做是问题的约束条件。回溯法通常将问题的解表示为</a:t>
            </a:r>
            <a:r>
              <a:rPr lang="en-US" altLang="zh-CN"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b="1" i="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，如果不满足</a:t>
            </a:r>
            <a:r>
              <a:rPr lang="zh-CN" altLang="en-US" dirty="0" smtClean="0"/>
              <a:t>多米诺性质的本质是避免错误的剪枝，有些解不可达。</a:t>
            </a:r>
          </a:p>
        </p:txBody>
      </p:sp>
      <p:sp>
        <p:nvSpPr>
          <p:cNvPr id="993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E4390806-0508-4C68-835F-B6771EC6A8C5}" type="slidenum">
              <a:rPr lang="zh-CN" altLang="en-US" smtClean="0">
                <a:solidFill>
                  <a:srgbClr val="000000"/>
                </a:solidFill>
                <a:ea typeface="宋体" panose="02010600030101010101" pitchFamily="2" charset="-122"/>
              </a:rPr>
              <a:t>10</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03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既然回溯法是问题的通解，怎么还会有不能求解的问题呢</a:t>
            </a:r>
            <a:r>
              <a:rPr lang="en-US" altLang="zh-CN" smtClean="0"/>
              <a:t>? </a:t>
            </a:r>
            <a:r>
              <a:rPr lang="zh-CN" altLang="en-US" smtClean="0"/>
              <a:t>怎么样才能让他满足多米若条件呢？或者变量替换。替换为</a:t>
            </a:r>
            <a:r>
              <a:rPr lang="en-US" altLang="zh-CN" smtClean="0"/>
              <a:t>5x1+4x2+(x4-4)&lt;=10,x4={1,2,3}</a:t>
            </a:r>
          </a:p>
          <a:p>
            <a:pPr eaLnBrk="1" hangingPunct="1">
              <a:spcBef>
                <a:spcPct val="0"/>
              </a:spcBef>
            </a:pPr>
            <a:r>
              <a:rPr lang="en-US" altLang="zh-CN" smtClean="0"/>
              <a:t>5x1+4x2+x4 &lt;=14;x3=4-x4;</a:t>
            </a:r>
            <a:endParaRPr lang="zh-CN" altLang="en-US" smtClean="0"/>
          </a:p>
        </p:txBody>
      </p:sp>
      <p:sp>
        <p:nvSpPr>
          <p:cNvPr id="1003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E347C717-5A63-46F7-906E-98C11A16D7C2}" type="slidenum">
              <a:rPr lang="zh-CN" altLang="en-US" smtClean="0">
                <a:solidFill>
                  <a:srgbClr val="000000"/>
                </a:solidFill>
                <a:ea typeface="宋体" panose="02010600030101010101" pitchFamily="2" charset="-122"/>
              </a:rPr>
              <a:t>11</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13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怎么缩减空间，需要剪枝函数。</a:t>
            </a:r>
            <a:endParaRPr lang="en-US" altLang="zh-CN" smtClean="0"/>
          </a:p>
          <a:p>
            <a:pPr eaLnBrk="1" hangingPunct="1">
              <a:spcBef>
                <a:spcPct val="0"/>
              </a:spcBef>
            </a:pPr>
            <a:r>
              <a:rPr lang="zh-CN" altLang="en-US" smtClean="0"/>
              <a:t>怎么样确定最优解呢？需要存储搜索路径。</a:t>
            </a:r>
          </a:p>
        </p:txBody>
      </p:sp>
      <p:sp>
        <p:nvSpPr>
          <p:cNvPr id="1013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7A291554-3698-42CD-85E3-FCDB1FE2EFBA}" type="slidenum">
              <a:rPr lang="zh-CN" altLang="en-US" smtClean="0">
                <a:solidFill>
                  <a:srgbClr val="000000"/>
                </a:solidFill>
                <a:ea typeface="宋体" panose="02010600030101010101" pitchFamily="2" charset="-122"/>
              </a:rPr>
              <a:t>12</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回溯法求解的问题可以根据其解空间树的类型分成两类。一种是子集树，</a:t>
            </a:r>
            <a:r>
              <a:rPr lang="en-US" altLang="zh-CN" smtClean="0"/>
              <a:t>0,1</a:t>
            </a:r>
            <a:r>
              <a:rPr lang="zh-CN" altLang="en-US" smtClean="0"/>
              <a:t>背包问题，每一个位置都有</a:t>
            </a:r>
            <a:r>
              <a:rPr lang="en-US" altLang="zh-CN" smtClean="0"/>
              <a:t>0</a:t>
            </a:r>
            <a:r>
              <a:rPr lang="zh-CN" altLang="en-US" smtClean="0"/>
              <a:t>或</a:t>
            </a:r>
            <a:r>
              <a:rPr lang="en-US" altLang="zh-CN" smtClean="0"/>
              <a:t>1</a:t>
            </a:r>
            <a:r>
              <a:rPr lang="zh-CN" altLang="en-US" smtClean="0"/>
              <a:t>两个可选项，故解空间为</a:t>
            </a:r>
            <a:r>
              <a:rPr lang="en-US" altLang="zh-CN" smtClean="0"/>
              <a:t>2^n. </a:t>
            </a:r>
            <a:r>
              <a:rPr lang="zh-CN" altLang="en-US" smtClean="0"/>
              <a:t>另一种为排列树，货郎担相当于</a:t>
            </a:r>
            <a:r>
              <a:rPr lang="en-US" altLang="zh-CN" smtClean="0"/>
              <a:t>n</a:t>
            </a:r>
            <a:r>
              <a:rPr lang="zh-CN" altLang="en-US" smtClean="0"/>
              <a:t>个城市的一个排列。还有调度问题，也是排列树，</a:t>
            </a:r>
            <a:r>
              <a:rPr lang="en-US" altLang="zh-CN" smtClean="0"/>
              <a:t>n</a:t>
            </a:r>
            <a:r>
              <a:rPr lang="zh-CN" altLang="en-US" smtClean="0"/>
              <a:t>个任务的一个排列。</a:t>
            </a:r>
          </a:p>
        </p:txBody>
      </p:sp>
      <p:sp>
        <p:nvSpPr>
          <p:cNvPr id="1024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7FD22261-CCC6-4B69-ACDF-5BF4289990B3}" type="slidenum">
              <a:rPr lang="zh-CN" altLang="en-US" smtClean="0">
                <a:solidFill>
                  <a:srgbClr val="000000"/>
                </a:solidFill>
                <a:ea typeface="宋体" panose="02010600030101010101" pitchFamily="2" charset="-122"/>
              </a:rPr>
              <a:t>13</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34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034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0508FA66-E3EA-4FFE-AA03-DBFA4CB73076}" type="slidenum">
              <a:rPr lang="zh-CN" altLang="en-US" smtClean="0">
                <a:solidFill>
                  <a:srgbClr val="000000"/>
                </a:solidFill>
                <a:ea typeface="宋体" panose="02010600030101010101" pitchFamily="2" charset="-122"/>
              </a:rPr>
              <a:t>14</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44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smtClean="0"/>
              <a:t>x</a:t>
            </a:r>
            <a:r>
              <a:rPr lang="zh-CN" altLang="en-US" dirty="0" smtClean="0"/>
              <a:t>为解向量，我们的目标是确定解向量中的每一个维度的分量值。深度为</a:t>
            </a:r>
            <a:r>
              <a:rPr lang="en-US" altLang="zh-CN" dirty="0" smtClean="0"/>
              <a:t>t</a:t>
            </a:r>
            <a:r>
              <a:rPr lang="zh-CN" altLang="en-US" dirty="0" smtClean="0"/>
              <a:t>时需要确定</a:t>
            </a:r>
            <a:r>
              <a:rPr lang="en-US" altLang="zh-CN" dirty="0" smtClean="0"/>
              <a:t>x[t]</a:t>
            </a:r>
            <a:r>
              <a:rPr lang="zh-CN" altLang="en-US" dirty="0" smtClean="0"/>
              <a:t>的值。</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典型的深度优先搜索程序，无非加了约束和界；</a:t>
            </a:r>
          </a:p>
        </p:txBody>
      </p:sp>
      <p:sp>
        <p:nvSpPr>
          <p:cNvPr id="1044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10AA264C-2CA2-4C82-99D6-577D334B9194}" type="slidenum">
              <a:rPr lang="zh-CN" altLang="en-US" smtClean="0">
                <a:solidFill>
                  <a:srgbClr val="000000"/>
                </a:solidFill>
                <a:ea typeface="宋体" panose="02010600030101010101" pitchFamily="2" charset="-122"/>
              </a:rPr>
              <a:t>15</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54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先做符号说明，再说明与递归的关联性，深度为</a:t>
            </a:r>
            <a:r>
              <a:rPr lang="en-US" altLang="zh-CN" dirty="0" smtClean="0"/>
              <a:t>t</a:t>
            </a:r>
            <a:r>
              <a:rPr lang="zh-CN" altLang="en-US" dirty="0" smtClean="0"/>
              <a:t>时需要确定</a:t>
            </a:r>
            <a:r>
              <a:rPr lang="en-US" altLang="zh-CN" dirty="0" smtClean="0"/>
              <a:t>x[t]</a:t>
            </a:r>
            <a:r>
              <a:rPr lang="zh-CN" altLang="en-US" dirty="0" smtClean="0"/>
              <a:t>的值，当满足约束的时候做</a:t>
            </a:r>
            <a:r>
              <a:rPr lang="en-US" altLang="zh-CN" dirty="0" smtClean="0"/>
              <a:t>t++</a:t>
            </a:r>
            <a:r>
              <a:rPr lang="zh-CN" altLang="en-US" dirty="0" smtClean="0"/>
              <a:t>，等价于</a:t>
            </a:r>
            <a:r>
              <a:rPr lang="en-US" altLang="zh-CN" dirty="0" smtClean="0"/>
              <a:t>backtrack(</a:t>
            </a:r>
            <a:r>
              <a:rPr lang="en-US" altLang="zh-CN" dirty="0" err="1" smtClean="0"/>
              <a:t>t+1</a:t>
            </a:r>
            <a:r>
              <a:rPr lang="en-US" altLang="zh-CN" dirty="0" smtClean="0"/>
              <a:t>)</a:t>
            </a:r>
            <a:r>
              <a:rPr lang="zh-CN" altLang="en-US" dirty="0" smtClean="0"/>
              <a:t>，找不到结点后，做</a:t>
            </a:r>
            <a:r>
              <a:rPr lang="en-US" altLang="zh-CN" dirty="0" smtClean="0"/>
              <a:t>t--</a:t>
            </a:r>
            <a:endParaRPr lang="zh-CN" altLang="en-US" dirty="0" smtClean="0"/>
          </a:p>
          <a:p>
            <a:pPr eaLnBrk="1" hangingPunct="1">
              <a:spcBef>
                <a:spcPct val="0"/>
              </a:spcBef>
            </a:pPr>
            <a:r>
              <a:rPr lang="zh-CN" altLang="en-US" dirty="0" smtClean="0"/>
              <a:t>用</a:t>
            </a:r>
            <a:r>
              <a:rPr lang="en-US" altLang="zh-CN" dirty="0" smtClean="0"/>
              <a:t>while</a:t>
            </a:r>
            <a:r>
              <a:rPr lang="zh-CN" altLang="en-US" dirty="0" smtClean="0"/>
              <a:t>循环替代了递归过程，在</a:t>
            </a:r>
            <a:r>
              <a:rPr lang="en-US" altLang="zh-CN" dirty="0" smtClean="0"/>
              <a:t>while</a:t>
            </a:r>
            <a:r>
              <a:rPr lang="zh-CN" altLang="en-US" dirty="0" smtClean="0"/>
              <a:t>循环中先做</a:t>
            </a:r>
            <a:r>
              <a:rPr lang="en-US" altLang="zh-CN" dirty="0" smtClean="0"/>
              <a:t>t++</a:t>
            </a:r>
            <a:r>
              <a:rPr lang="zh-CN" altLang="en-US" dirty="0" smtClean="0"/>
              <a:t>，找不到结点后做</a:t>
            </a:r>
            <a:r>
              <a:rPr lang="en-US" altLang="zh-CN" dirty="0" smtClean="0"/>
              <a:t>t--</a:t>
            </a:r>
            <a:r>
              <a:rPr lang="zh-CN" altLang="en-US" dirty="0" smtClean="0"/>
              <a:t>。</a:t>
            </a:r>
          </a:p>
        </p:txBody>
      </p:sp>
      <p:sp>
        <p:nvSpPr>
          <p:cNvPr id="1054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20954FA9-F0AE-465B-8E7C-FC21CA41540E}" type="slidenum">
              <a:rPr lang="zh-CN" altLang="en-US" smtClean="0">
                <a:solidFill>
                  <a:srgbClr val="000000"/>
                </a:solidFill>
                <a:ea typeface="宋体" panose="02010600030101010101" pitchFamily="2" charset="-122"/>
              </a:rPr>
              <a:t>16</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smtClean="0"/>
          </a:p>
        </p:txBody>
      </p:sp>
      <p:sp>
        <p:nvSpPr>
          <p:cNvPr id="1065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053A1662-999A-4B43-B879-3BE4D37AD7C9}" type="slidenum">
              <a:rPr lang="zh-CN" altLang="en-US" smtClean="0">
                <a:solidFill>
                  <a:srgbClr val="000000"/>
                </a:solidFill>
                <a:ea typeface="宋体" panose="02010600030101010101" pitchFamily="2" charset="-122"/>
              </a:rPr>
              <a:t>17</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75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075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947F1B0D-5205-4BDB-9A2A-3EB92FE7359D}" type="slidenum">
              <a:rPr lang="zh-CN" altLang="en-US" smtClean="0">
                <a:solidFill>
                  <a:srgbClr val="000000"/>
                </a:solidFill>
                <a:ea typeface="宋体" panose="02010600030101010101" pitchFamily="2" charset="-122"/>
              </a:rPr>
              <a:t>18</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85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085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C42C1C27-91DB-4790-AA82-A0BBF06BA82A}" type="slidenum">
              <a:rPr lang="zh-CN" altLang="en-US" smtClean="0">
                <a:solidFill>
                  <a:srgbClr val="000000"/>
                </a:solidFill>
                <a:ea typeface="宋体" panose="02010600030101010101" pitchFamily="2" charset="-122"/>
              </a:rPr>
              <a:t>19</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95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怎么样搜索解空间树呢？</a:t>
            </a:r>
          </a:p>
        </p:txBody>
      </p:sp>
      <p:sp>
        <p:nvSpPr>
          <p:cNvPr id="1095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8AF07CA4-D967-4572-A100-C97A8D4D2575}" type="slidenum">
              <a:rPr lang="zh-CN" altLang="en-US" smtClean="0">
                <a:solidFill>
                  <a:srgbClr val="000000"/>
                </a:solidFill>
                <a:ea typeface="宋体" panose="02010600030101010101" pitchFamily="2" charset="-122"/>
              </a:rPr>
              <a:t>20</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1139" name="备注占位符 2"/>
          <p:cNvSpPr>
            <a:spLocks noGrp="1"/>
          </p:cNvSpPr>
          <p:nvPr>
            <p:ph type="body" idx="1"/>
          </p:nvPr>
        </p:nvSpPr>
        <p:spPr bwMode="auto"/>
        <p:txBody>
          <a:bodyPr wrap="square" numCol="1" anchor="t" anchorCtr="0" compatLnSpc="1"/>
          <a:lstStyle/>
          <a:p>
            <a:pPr eaLnBrk="1" hangingPunct="1">
              <a:spcBef>
                <a:spcPct val="0"/>
              </a:spcBef>
              <a:defRPr/>
            </a:pPr>
            <a:r>
              <a:rPr kumimoji="1" lang="zh-CN" altLang="en-US" b="1" kern="0" dirty="0" smtClean="0">
                <a:solidFill>
                  <a:schemeClr val="tx1">
                    <a:lumMod val="50000"/>
                  </a:schemeClr>
                </a:solidFill>
                <a:latin typeface="Times New Roman" panose="02020603050405020304"/>
                <a:ea typeface="宋体" panose="02010600030101010101" pitchFamily="2" charset="-122"/>
              </a:rPr>
              <a:t>比如</a:t>
            </a:r>
            <a:r>
              <a:rPr kumimoji="1" lang="en-US" altLang="zh-CN" b="1" kern="0" dirty="0" smtClean="0">
                <a:solidFill>
                  <a:schemeClr val="tx1">
                    <a:lumMod val="50000"/>
                  </a:schemeClr>
                </a:solidFill>
                <a:latin typeface="Times New Roman" panose="02020603050405020304"/>
                <a:ea typeface="宋体" panose="02010600030101010101" pitchFamily="2" charset="-122"/>
              </a:rPr>
              <a:t>8</a:t>
            </a:r>
            <a:r>
              <a:rPr kumimoji="1" lang="zh-CN" altLang="en-US" b="1" kern="0" dirty="0" smtClean="0">
                <a:solidFill>
                  <a:schemeClr val="tx1">
                    <a:lumMod val="50000"/>
                  </a:schemeClr>
                </a:solidFill>
                <a:latin typeface="Times New Roman" panose="02020603050405020304"/>
                <a:ea typeface="宋体" panose="02010600030101010101" pitchFamily="2" charset="-122"/>
              </a:rPr>
              <a:t>皇后问题，最简单的算法就是通过</a:t>
            </a:r>
            <a:r>
              <a:rPr kumimoji="1" lang="en-US" altLang="zh-CN" b="1" kern="0" dirty="0" smtClean="0">
                <a:solidFill>
                  <a:schemeClr val="tx1">
                    <a:lumMod val="50000"/>
                  </a:schemeClr>
                </a:solidFill>
                <a:latin typeface="Times New Roman" panose="02020603050405020304"/>
                <a:ea typeface="宋体" panose="02010600030101010101" pitchFamily="2" charset="-122"/>
              </a:rPr>
              <a:t>8</a:t>
            </a:r>
            <a:r>
              <a:rPr kumimoji="1" lang="zh-CN" altLang="en-US" b="1" kern="0" dirty="0" smtClean="0">
                <a:solidFill>
                  <a:schemeClr val="tx1">
                    <a:lumMod val="50000"/>
                  </a:schemeClr>
                </a:solidFill>
                <a:latin typeface="Times New Roman" panose="02020603050405020304"/>
                <a:ea typeface="宋体" panose="02010600030101010101" pitchFamily="2" charset="-122"/>
              </a:rPr>
              <a:t>重循环模拟搜索空间中的</a:t>
            </a:r>
            <a:r>
              <a:rPr kumimoji="1" lang="en-US" altLang="zh-CN" b="1" kern="0" dirty="0" smtClean="0">
                <a:solidFill>
                  <a:schemeClr val="tx1">
                    <a:lumMod val="50000"/>
                  </a:schemeClr>
                </a:solidFill>
                <a:latin typeface="Times New Roman" panose="02020603050405020304"/>
                <a:ea typeface="宋体" panose="02010600030101010101" pitchFamily="2" charset="-122"/>
              </a:rPr>
              <a:t>8^8</a:t>
            </a:r>
            <a:r>
              <a:rPr kumimoji="1" lang="zh-CN" altLang="en-US" b="1" kern="0" dirty="0" smtClean="0">
                <a:solidFill>
                  <a:schemeClr val="tx1">
                    <a:lumMod val="50000"/>
                  </a:schemeClr>
                </a:solidFill>
                <a:latin typeface="Times New Roman" panose="02020603050405020304"/>
                <a:ea typeface="宋体" panose="02010600030101010101" pitchFamily="2" charset="-122"/>
              </a:rPr>
              <a:t>个状态，按深度优先思想，从第一个皇后开始搜素，确定一个位置后，再搜素第二个皇后位置，每前进一步检查是否满足约束条件，不满足则</a:t>
            </a:r>
            <a:r>
              <a:rPr kumimoji="1" lang="en-US" altLang="zh-CN" b="1" kern="0" dirty="0" smtClean="0">
                <a:solidFill>
                  <a:schemeClr val="tx1">
                    <a:lumMod val="50000"/>
                  </a:schemeClr>
                </a:solidFill>
                <a:latin typeface="Times New Roman" panose="02020603050405020304"/>
                <a:ea typeface="宋体" panose="02010600030101010101" pitchFamily="2" charset="-122"/>
              </a:rPr>
              <a:t>continue</a:t>
            </a:r>
            <a:r>
              <a:rPr kumimoji="1" lang="zh-CN" altLang="en-US" b="1" kern="0" dirty="0" smtClean="0">
                <a:solidFill>
                  <a:schemeClr val="tx1">
                    <a:lumMod val="50000"/>
                  </a:schemeClr>
                </a:solidFill>
                <a:latin typeface="Times New Roman" panose="02020603050405020304"/>
                <a:ea typeface="宋体" panose="02010600030101010101" pitchFamily="2" charset="-122"/>
              </a:rPr>
              <a:t>语句，继续下一次尝试下一个位置，满足时开始搜索下一个皇后位置，直到找到问题的解。问题是当</a:t>
            </a:r>
            <a:r>
              <a:rPr kumimoji="1" lang="en-US" altLang="zh-CN" b="1" kern="0" dirty="0" smtClean="0">
                <a:solidFill>
                  <a:schemeClr val="tx1">
                    <a:lumMod val="50000"/>
                  </a:schemeClr>
                </a:solidFill>
                <a:latin typeface="Times New Roman" panose="02020603050405020304"/>
                <a:ea typeface="宋体" panose="02010600030101010101" pitchFamily="2" charset="-122"/>
              </a:rPr>
              <a:t>N</a:t>
            </a:r>
            <a:r>
              <a:rPr kumimoji="1" lang="zh-CN" altLang="en-US" b="1" kern="0" dirty="0" smtClean="0">
                <a:solidFill>
                  <a:schemeClr val="tx1">
                    <a:lumMod val="50000"/>
                  </a:schemeClr>
                </a:solidFill>
                <a:latin typeface="Times New Roman" panose="02020603050405020304"/>
                <a:ea typeface="宋体" panose="02010600030101010101" pitchFamily="2" charset="-122"/>
              </a:rPr>
              <a:t>不确定的时候不好写，这个时候就需要借用</a:t>
            </a:r>
            <a:r>
              <a:rPr kumimoji="1" lang="en-US" altLang="zh-CN" b="1" kern="0" dirty="0" smtClean="0">
                <a:solidFill>
                  <a:schemeClr val="tx1">
                    <a:lumMod val="50000"/>
                  </a:schemeClr>
                </a:solidFill>
                <a:latin typeface="Times New Roman" panose="02020603050405020304"/>
                <a:ea typeface="宋体" panose="02010600030101010101" pitchFamily="2" charset="-122"/>
              </a:rPr>
              <a:t>while</a:t>
            </a:r>
            <a:r>
              <a:rPr kumimoji="1" lang="zh-CN" altLang="en-US" b="1" kern="0" dirty="0" smtClean="0">
                <a:solidFill>
                  <a:schemeClr val="tx1">
                    <a:lumMod val="50000"/>
                  </a:schemeClr>
                </a:solidFill>
                <a:latin typeface="Times New Roman" panose="02020603050405020304"/>
                <a:ea typeface="宋体" panose="02010600030101010101" pitchFamily="2" charset="-122"/>
              </a:rPr>
              <a:t>循环了。</a:t>
            </a:r>
            <a:endParaRPr kumimoji="1" lang="en-US" altLang="zh-CN" b="1" kern="0" dirty="0" smtClean="0">
              <a:solidFill>
                <a:schemeClr val="tx1">
                  <a:lumMod val="50000"/>
                </a:schemeClr>
              </a:solidFill>
              <a:latin typeface="Times New Roman" panose="02020603050405020304"/>
              <a:ea typeface="宋体" panose="02010600030101010101" pitchFamily="2" charset="-122"/>
            </a:endParaRPr>
          </a:p>
          <a:p>
            <a:pPr eaLnBrk="1" hangingPunct="1">
              <a:spcBef>
                <a:spcPct val="0"/>
              </a:spcBef>
              <a:defRPr/>
            </a:pPr>
            <a:endParaRPr lang="zh-CN" altLang="en-US" dirty="0" smtClean="0"/>
          </a:p>
        </p:txBody>
      </p:sp>
      <p:sp>
        <p:nvSpPr>
          <p:cNvPr id="1105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C434BBC2-696C-4CE4-83B3-B029221EA64E}" type="slidenum">
              <a:rPr lang="zh-CN" altLang="en-US" smtClean="0">
                <a:solidFill>
                  <a:srgbClr val="000000"/>
                </a:solidFill>
                <a:ea typeface="宋体" panose="02010600030101010101" pitchFamily="2" charset="-122"/>
              </a:rPr>
              <a:t>21</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16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smtClean="0"/>
              <a:t>8^8</a:t>
            </a:r>
            <a:r>
              <a:rPr lang="zh-CN" altLang="en-US" smtClean="0"/>
              <a:t>是空间，每一个位置解需要判断</a:t>
            </a:r>
            <a:r>
              <a:rPr lang="en-US" altLang="zh-CN" smtClean="0"/>
              <a:t>3</a:t>
            </a:r>
            <a:r>
              <a:rPr lang="zh-CN" altLang="en-US" smtClean="0"/>
              <a:t>*</a:t>
            </a:r>
            <a:r>
              <a:rPr lang="en-US" altLang="zh-CN" smtClean="0"/>
              <a:t>8</a:t>
            </a:r>
            <a:r>
              <a:rPr lang="zh-CN" altLang="en-US" smtClean="0"/>
              <a:t>次，正、反、行故为</a:t>
            </a:r>
            <a:r>
              <a:rPr lang="en-US" altLang="zh-CN" smtClean="0"/>
              <a:t>8^9.</a:t>
            </a:r>
            <a:endParaRPr lang="zh-CN" altLang="en-US" smtClean="0"/>
          </a:p>
        </p:txBody>
      </p:sp>
      <p:sp>
        <p:nvSpPr>
          <p:cNvPr id="1116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33AA528F-470E-4629-AC3D-99A8DC67A182}" type="slidenum">
              <a:rPr lang="zh-CN" altLang="en-US" smtClean="0">
                <a:solidFill>
                  <a:srgbClr val="000000"/>
                </a:solidFill>
                <a:ea typeface="宋体" panose="02010600030101010101" pitchFamily="2" charset="-122"/>
              </a:rPr>
              <a:t>22</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p:txBody>
          <a:bodyPr wrap="square" numCol="1" anchor="t" anchorCtr="0" compatLnSpc="1"/>
          <a:lstStyle/>
          <a:p>
            <a:pPr eaLnBrk="1" hangingPunct="1">
              <a:spcBef>
                <a:spcPct val="0"/>
              </a:spcBef>
              <a:defRPr/>
            </a:pPr>
            <a:r>
              <a:rPr lang="zh-CN" altLang="en-US" dirty="0" smtClean="0"/>
              <a:t>我们先回顾一下递归框架，这里有哪些是未知的？</a:t>
            </a:r>
            <a:r>
              <a:rPr lang="en-US" altLang="zh-CN" b="1" i="1" dirty="0" smtClean="0">
                <a:solidFill>
                  <a:schemeClr val="tx1">
                    <a:lumMod val="50000"/>
                  </a:schemeClr>
                </a:solidFill>
                <a:latin typeface="Times New Roman" panose="02020603050405020304" pitchFamily="18" charset="0"/>
                <a:cs typeface="Times New Roman" panose="02020603050405020304" pitchFamily="18" charset="0"/>
              </a:rPr>
              <a:t>f</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a:t>
            </a:r>
            <a:r>
              <a:rPr lang="en-US" altLang="zh-CN" b="1" i="1" dirty="0" smtClean="0">
                <a:solidFill>
                  <a:schemeClr val="tx1">
                    <a:lumMod val="50000"/>
                  </a:schemeClr>
                </a:solidFill>
                <a:latin typeface="Times New Roman" panose="02020603050405020304" pitchFamily="18" charset="0"/>
                <a:cs typeface="Times New Roman" panose="02020603050405020304" pitchFamily="18" charset="0"/>
              </a:rPr>
              <a:t>n</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smtClean="0">
                <a:solidFill>
                  <a:schemeClr val="tx1">
                    <a:lumMod val="50000"/>
                  </a:schemeClr>
                </a:solidFill>
                <a:latin typeface="Times New Roman" panose="02020603050405020304" pitchFamily="18" charset="0"/>
                <a:cs typeface="Times New Roman" panose="02020603050405020304" pitchFamily="18" charset="0"/>
              </a:rPr>
              <a:t>t </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smtClean="0">
                <a:solidFill>
                  <a:schemeClr val="tx1">
                    <a:lumMod val="50000"/>
                  </a:schemeClr>
                </a:solidFill>
                <a:latin typeface="Times New Roman" panose="02020603050405020304" pitchFamily="18" charset="0"/>
                <a:cs typeface="Times New Roman" panose="02020603050405020304" pitchFamily="18" charset="0"/>
              </a:rPr>
              <a:t>g</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a:t>
            </a:r>
            <a:r>
              <a:rPr lang="en-US" altLang="zh-CN" b="1" i="1" dirty="0" smtClean="0">
                <a:solidFill>
                  <a:schemeClr val="tx1">
                    <a:lumMod val="50000"/>
                  </a:schemeClr>
                </a:solidFill>
                <a:latin typeface="Times New Roman" panose="02020603050405020304" pitchFamily="18" charset="0"/>
                <a:cs typeface="Times New Roman" panose="02020603050405020304" pitchFamily="18" charset="0"/>
              </a:rPr>
              <a:t>n</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smtClean="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smtClean="0">
                <a:solidFill>
                  <a:schemeClr val="tx1">
                    <a:lumMod val="50000"/>
                  </a:schemeClr>
                </a:solidFill>
                <a:latin typeface="Times New Roman" panose="02020603050405020304" pitchFamily="18" charset="0"/>
                <a:cs typeface="Times New Roman" panose="02020603050405020304" pitchFamily="18" charset="0"/>
              </a:rPr>
              <a:t>h</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a:t>
            </a:r>
            <a:r>
              <a:rPr lang="en-US" altLang="zh-CN" b="1" i="1" dirty="0" err="1" smtClean="0">
                <a:solidFill>
                  <a:schemeClr val="tx1">
                    <a:lumMod val="50000"/>
                  </a:schemeClr>
                </a:solidFill>
                <a:latin typeface="Times New Roman" panose="02020603050405020304" pitchFamily="18" charset="0"/>
                <a:cs typeface="Times New Roman" panose="02020603050405020304" pitchFamily="18" charset="0"/>
              </a:rPr>
              <a:t>i</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 constraint(</a:t>
            </a:r>
            <a:r>
              <a:rPr lang="en-US" altLang="zh-CN" b="1" i="1" dirty="0" smtClean="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),bound(</a:t>
            </a:r>
            <a:r>
              <a:rPr lang="en-US" altLang="zh-CN" b="1" i="1" dirty="0" smtClean="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smtClean="0">
                <a:solidFill>
                  <a:schemeClr val="tx1">
                    <a:lumMod val="50000"/>
                  </a:schemeClr>
                </a:solidFill>
                <a:latin typeface="Times New Roman" panose="02020603050405020304" pitchFamily="18" charset="0"/>
                <a:cs typeface="Times New Roman" panose="02020603050405020304" pitchFamily="18" charset="0"/>
              </a:rPr>
              <a:t>)</a:t>
            </a:r>
            <a:r>
              <a:rPr lang="zh-CN" altLang="en-US" b="1" dirty="0" smtClean="0">
                <a:solidFill>
                  <a:schemeClr val="tx1">
                    <a:lumMod val="50000"/>
                  </a:schemeClr>
                </a:solidFill>
                <a:latin typeface="Times New Roman" panose="02020603050405020304" pitchFamily="18" charset="0"/>
                <a:cs typeface="Times New Roman" panose="02020603050405020304" pitchFamily="18" charset="0"/>
              </a:rPr>
              <a:t>均是未知的，</a:t>
            </a:r>
            <a:r>
              <a:rPr lang="zh-CN" altLang="en-US" dirty="0" smtClean="0"/>
              <a:t>递归算法，递归算法只需要确定界函数和显示约束或者隐含约束即可套用递归框架。</a:t>
            </a:r>
          </a:p>
        </p:txBody>
      </p:sp>
      <p:sp>
        <p:nvSpPr>
          <p:cNvPr id="1126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F1555FC2-86AC-4F68-86C0-FA8C630FED31}" type="slidenum">
              <a:rPr lang="zh-CN" altLang="en-US" smtClean="0">
                <a:solidFill>
                  <a:srgbClr val="000000"/>
                </a:solidFill>
                <a:ea typeface="宋体" panose="02010600030101010101" pitchFamily="2" charset="-122"/>
              </a:rPr>
              <a:t>23</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36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我们来对比一下框架和我们的伪代码，几乎是完全一样的，也就是说只要我们只需要记住了基本框架，凡是可以用回溯法解决的问题就都迎刃而解了。</a:t>
            </a:r>
          </a:p>
        </p:txBody>
      </p:sp>
      <p:sp>
        <p:nvSpPr>
          <p:cNvPr id="1136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77DC387E-0819-4ACB-9D84-92FBEC5F20A6}" type="slidenum">
              <a:rPr lang="zh-CN" altLang="en-US" smtClean="0">
                <a:solidFill>
                  <a:srgbClr val="000000"/>
                </a:solidFill>
                <a:ea typeface="宋体" panose="02010600030101010101" pitchFamily="2" charset="-122"/>
              </a:rPr>
              <a:t>24</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46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迭代算法也是按照迭代框架求解，需要确定的是每次求解的</a:t>
            </a:r>
            <a:r>
              <a:rPr lang="en-US" altLang="zh-CN" smtClean="0"/>
              <a:t>f(n,t)</a:t>
            </a:r>
            <a:r>
              <a:rPr lang="zh-CN" altLang="en-US" smtClean="0"/>
              <a:t>与</a:t>
            </a:r>
            <a:r>
              <a:rPr lang="en-US" altLang="zh-CN" smtClean="0"/>
              <a:t>g(n,t)</a:t>
            </a:r>
            <a:r>
              <a:rPr lang="zh-CN" altLang="en-US" smtClean="0"/>
              <a:t>。由于不像回溯法每次能够保持现场，知道</a:t>
            </a:r>
            <a:r>
              <a:rPr lang="en-US" altLang="zh-CN" smtClean="0"/>
              <a:t>f[t]</a:t>
            </a:r>
            <a:r>
              <a:rPr lang="zh-CN" altLang="en-US" smtClean="0"/>
              <a:t>值到哪里了，</a:t>
            </a:r>
            <a:r>
              <a:rPr lang="en-US" altLang="zh-CN" smtClean="0"/>
              <a:t>while</a:t>
            </a:r>
            <a:r>
              <a:rPr lang="zh-CN" altLang="en-US" smtClean="0"/>
              <a:t>需要用</a:t>
            </a:r>
            <a:r>
              <a:rPr lang="en-US" altLang="zh-CN" smtClean="0"/>
              <a:t>f[t]</a:t>
            </a:r>
            <a:r>
              <a:rPr lang="zh-CN" altLang="en-US" smtClean="0"/>
              <a:t>来记录初值，这样写代码对不对？</a:t>
            </a:r>
          </a:p>
        </p:txBody>
      </p:sp>
      <p:sp>
        <p:nvSpPr>
          <p:cNvPr id="1146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4672C117-6511-48C1-B7D4-529EC49B0798}" type="slidenum">
              <a:rPr lang="zh-CN" altLang="en-US" smtClean="0">
                <a:solidFill>
                  <a:srgbClr val="000000"/>
                </a:solidFill>
                <a:ea typeface="宋体" panose="02010600030101010101" pitchFamily="2" charset="-122"/>
              </a:rPr>
              <a:t>25</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57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我们用一个小的例子来看看我们写的代码有什么问题，这是一个</a:t>
            </a:r>
            <a:r>
              <a:rPr lang="en-US" altLang="zh-CN" smtClean="0"/>
              <a:t>4</a:t>
            </a:r>
            <a:r>
              <a:rPr lang="zh-CN" altLang="en-US" smtClean="0"/>
              <a:t>皇后的问题，开始</a:t>
            </a:r>
            <a:r>
              <a:rPr lang="en-US" altLang="zh-CN" smtClean="0"/>
              <a:t>t=1,</a:t>
            </a:r>
            <a:r>
              <a:rPr lang="zh-CN" altLang="en-US" smtClean="0"/>
              <a:t>接着</a:t>
            </a:r>
            <a:r>
              <a:rPr lang="en-US" altLang="zh-CN" smtClean="0"/>
              <a:t>t=2</a:t>
            </a:r>
            <a:r>
              <a:rPr lang="zh-CN" altLang="en-US" smtClean="0"/>
              <a:t>，问题在于每一次回溯后，我们希望回溯的行从它的下一个位子开始，因此需要做</a:t>
            </a:r>
            <a:r>
              <a:rPr lang="en-US" altLang="zh-CN" smtClean="0"/>
              <a:t>f[t]++</a:t>
            </a:r>
            <a:r>
              <a:rPr lang="zh-CN" altLang="en-US" smtClean="0"/>
              <a:t>。</a:t>
            </a:r>
          </a:p>
        </p:txBody>
      </p:sp>
      <p:sp>
        <p:nvSpPr>
          <p:cNvPr id="1157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1083BBC9-3F55-46E4-A3DA-A3795EB8198F}" type="slidenum">
              <a:rPr lang="zh-CN" altLang="en-US" smtClean="0">
                <a:solidFill>
                  <a:srgbClr val="000000"/>
                </a:solidFill>
                <a:ea typeface="宋体" panose="02010600030101010101" pitchFamily="2" charset="-122"/>
              </a:rPr>
              <a:t>26</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67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修改</a:t>
            </a:r>
            <a:r>
              <a:rPr lang="en-US" altLang="zh-CN" dirty="0" smtClean="0"/>
              <a:t>f[t]++</a:t>
            </a:r>
            <a:r>
              <a:rPr lang="zh-CN" altLang="en-US" dirty="0" smtClean="0"/>
              <a:t>后我们继续验证这个过程，这个时候我们发现</a:t>
            </a:r>
            <a:r>
              <a:rPr lang="en-US" altLang="zh-CN" dirty="0" smtClean="0"/>
              <a:t>t++</a:t>
            </a:r>
            <a:r>
              <a:rPr lang="zh-CN" altLang="en-US" dirty="0" smtClean="0"/>
              <a:t>后，</a:t>
            </a:r>
            <a:r>
              <a:rPr lang="en-US" altLang="zh-CN" dirty="0" smtClean="0"/>
              <a:t>f[t]=5,</a:t>
            </a:r>
            <a:r>
              <a:rPr lang="zh-CN" altLang="en-US" dirty="0" smtClean="0"/>
              <a:t>很显然又做</a:t>
            </a:r>
            <a:r>
              <a:rPr lang="en-US" altLang="zh-CN" dirty="0" smtClean="0"/>
              <a:t>t--</a:t>
            </a:r>
            <a:r>
              <a:rPr lang="zh-CN" altLang="en-US" dirty="0" smtClean="0"/>
              <a:t>，这不是我们想要的。当</a:t>
            </a:r>
            <a:r>
              <a:rPr lang="en-US" altLang="zh-CN" dirty="0" smtClean="0"/>
              <a:t>t++</a:t>
            </a:r>
            <a:r>
              <a:rPr lang="zh-CN" altLang="en-US" dirty="0" smtClean="0"/>
              <a:t>后，相当于父结点变化了，我们下一层的未搜索结点应该从初始开始，故需要进一步修改</a:t>
            </a:r>
          </a:p>
        </p:txBody>
      </p:sp>
      <p:sp>
        <p:nvSpPr>
          <p:cNvPr id="1167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5966688A-D7B9-41BF-814C-47B263FC1473}" type="slidenum">
              <a:rPr lang="zh-CN" altLang="en-US" smtClean="0">
                <a:solidFill>
                  <a:srgbClr val="000000"/>
                </a:solidFill>
                <a:ea typeface="宋体" panose="02010600030101010101" pitchFamily="2" charset="-122"/>
              </a:rPr>
              <a:t>27</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77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两种办法，一种每一次</a:t>
            </a:r>
            <a:r>
              <a:rPr lang="en-US" altLang="zh-CN" dirty="0" smtClean="0"/>
              <a:t>t++</a:t>
            </a:r>
            <a:r>
              <a:rPr lang="zh-CN" altLang="en-US" dirty="0" smtClean="0"/>
              <a:t>时，</a:t>
            </a:r>
            <a:r>
              <a:rPr lang="en-US" altLang="zh-CN" dirty="0" smtClean="0"/>
              <a:t>f[t] = 0; </a:t>
            </a:r>
            <a:r>
              <a:rPr lang="zh-CN" altLang="en-US" dirty="0" smtClean="0"/>
              <a:t>父结点变了，走下一层的时候先置为初始位置；</a:t>
            </a:r>
            <a:r>
              <a:rPr lang="en-US" altLang="zh-CN" dirty="0" smtClean="0"/>
              <a:t>t++</a:t>
            </a:r>
            <a:r>
              <a:rPr lang="zh-CN" altLang="en-US" dirty="0" smtClean="0"/>
              <a:t>后会做</a:t>
            </a:r>
            <a:r>
              <a:rPr lang="en-US" altLang="zh-CN" dirty="0" smtClean="0"/>
              <a:t>f[t]++</a:t>
            </a:r>
            <a:r>
              <a:rPr lang="zh-CN" altLang="en-US" dirty="0" smtClean="0"/>
              <a:t>，因此</a:t>
            </a:r>
            <a:r>
              <a:rPr lang="en-US" altLang="zh-CN" dirty="0" smtClean="0"/>
              <a:t>f[t]=0;</a:t>
            </a:r>
          </a:p>
          <a:p>
            <a:pPr eaLnBrk="1" hangingPunct="1">
              <a:spcBef>
                <a:spcPct val="0"/>
              </a:spcBef>
            </a:pPr>
            <a:r>
              <a:rPr lang="zh-CN" altLang="en-US" dirty="0" smtClean="0"/>
              <a:t>第二种，每一次</a:t>
            </a:r>
            <a:r>
              <a:rPr lang="en-US" altLang="zh-CN" dirty="0" smtClean="0"/>
              <a:t>t—</a:t>
            </a:r>
            <a:r>
              <a:rPr lang="zh-CN" altLang="en-US" dirty="0" smtClean="0"/>
              <a:t>之前，把</a:t>
            </a:r>
            <a:r>
              <a:rPr lang="en-US" altLang="zh-CN" dirty="0" smtClean="0"/>
              <a:t>f[t] = 0;</a:t>
            </a:r>
            <a:r>
              <a:rPr lang="zh-CN" altLang="en-US" dirty="0" smtClean="0"/>
              <a:t>返回前一层前把当前层的位置清理掉，为下一次试探做好准备。</a:t>
            </a:r>
            <a:endParaRPr lang="en-US" altLang="zh-CN" dirty="0" smtClean="0"/>
          </a:p>
          <a:p>
            <a:pPr eaLnBrk="1" hangingPunct="1">
              <a:spcBef>
                <a:spcPct val="0"/>
              </a:spcBef>
            </a:pPr>
            <a:r>
              <a:rPr lang="zh-CN" altLang="en-US" dirty="0" smtClean="0"/>
              <a:t>当</a:t>
            </a:r>
            <a:r>
              <a:rPr lang="en-US" altLang="zh-CN" dirty="0" smtClean="0"/>
              <a:t>t++</a:t>
            </a:r>
            <a:r>
              <a:rPr lang="zh-CN" altLang="en-US" dirty="0" smtClean="0"/>
              <a:t>后，相当于父结点变化了，初始值为</a:t>
            </a:r>
            <a:r>
              <a:rPr lang="en-US" altLang="zh-CN" dirty="0" smtClean="0"/>
              <a:t>1</a:t>
            </a:r>
            <a:r>
              <a:rPr lang="zh-CN" altLang="en-US" dirty="0" smtClean="0"/>
              <a:t>对吗？</a:t>
            </a:r>
            <a:r>
              <a:rPr lang="en-US" altLang="zh-CN" dirty="0" smtClean="0"/>
              <a:t>T++</a:t>
            </a:r>
            <a:r>
              <a:rPr lang="zh-CN" altLang="en-US" dirty="0" smtClean="0"/>
              <a:t>后做了</a:t>
            </a:r>
            <a:r>
              <a:rPr lang="en-US" altLang="zh-CN" dirty="0" smtClean="0"/>
              <a:t>f[t]++,f[t] = 1</a:t>
            </a:r>
            <a:r>
              <a:rPr lang="zh-CN" altLang="en-US" dirty="0" smtClean="0"/>
              <a:t>相当于从</a:t>
            </a:r>
            <a:r>
              <a:rPr lang="en-US" altLang="zh-CN" dirty="0" smtClean="0"/>
              <a:t>2</a:t>
            </a:r>
            <a:r>
              <a:rPr lang="zh-CN" altLang="en-US" dirty="0" smtClean="0"/>
              <a:t>开始，因此不对，</a:t>
            </a:r>
            <a:r>
              <a:rPr lang="en-US" altLang="zh-CN" dirty="0" smtClean="0"/>
              <a:t>f[t] = 0,</a:t>
            </a:r>
            <a:r>
              <a:rPr lang="zh-CN" altLang="en-US" dirty="0" smtClean="0"/>
              <a:t>即从</a:t>
            </a:r>
            <a:r>
              <a:rPr lang="en-US" altLang="zh-CN" dirty="0" smtClean="0"/>
              <a:t>1</a:t>
            </a:r>
            <a:r>
              <a:rPr lang="zh-CN" altLang="en-US" dirty="0" smtClean="0"/>
              <a:t>开始。</a:t>
            </a:r>
            <a:endParaRPr lang="en-US" altLang="zh-CN" dirty="0" smtClean="0"/>
          </a:p>
          <a:p>
            <a:pPr eaLnBrk="1" hangingPunct="1">
              <a:spcBef>
                <a:spcPct val="0"/>
              </a:spcBef>
            </a:pPr>
            <a:r>
              <a:rPr lang="en-US" altLang="zh-CN" dirty="0" smtClean="0"/>
              <a:t>Else</a:t>
            </a:r>
            <a:r>
              <a:rPr lang="zh-CN" altLang="en-US" dirty="0" smtClean="0"/>
              <a:t>里面</a:t>
            </a:r>
            <a:r>
              <a:rPr lang="en-US" altLang="zh-CN" dirty="0" smtClean="0"/>
              <a:t>f[t] = 1</a:t>
            </a:r>
            <a:r>
              <a:rPr lang="zh-CN" altLang="en-US" dirty="0" smtClean="0"/>
              <a:t>对吗？也不对，因为每一次访问下一层的时候，先做</a:t>
            </a:r>
            <a:r>
              <a:rPr lang="en-US" altLang="zh-CN" dirty="0" smtClean="0"/>
              <a:t>t++</a:t>
            </a:r>
            <a:r>
              <a:rPr lang="zh-CN" altLang="en-US" dirty="0" smtClean="0"/>
              <a:t>，再做</a:t>
            </a:r>
            <a:r>
              <a:rPr lang="en-US" altLang="zh-CN" dirty="0" smtClean="0"/>
              <a:t>f[t]++</a:t>
            </a:r>
            <a:r>
              <a:rPr lang="zh-CN" altLang="en-US" dirty="0" smtClean="0"/>
              <a:t>，因此初始值为</a:t>
            </a:r>
            <a:r>
              <a:rPr lang="en-US" altLang="zh-CN" dirty="0" smtClean="0"/>
              <a:t>1</a:t>
            </a:r>
            <a:r>
              <a:rPr lang="zh-CN" altLang="en-US" dirty="0" smtClean="0"/>
              <a:t>不对，</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很多同学跟我反应，说老师，这个代码我都能理解了，但是就是不会写代码？一个我们的慕课视频有，叫你们写代码的部分。第二个，我建议你们把这个代码敲到你们的</a:t>
            </a:r>
            <a:r>
              <a:rPr lang="en-US" altLang="zh-CN" dirty="0" smtClean="0"/>
              <a:t>visual</a:t>
            </a:r>
            <a:r>
              <a:rPr lang="zh-CN" altLang="en-US" dirty="0" smtClean="0"/>
              <a:t>里面看看，单步执行看看这个过程，怎么回退的，怎么下探的，回退回来是什么样子，你们就能理解我这个例子的全部过程，以及回溯法的全流程了。</a:t>
            </a:r>
          </a:p>
        </p:txBody>
      </p:sp>
      <p:sp>
        <p:nvSpPr>
          <p:cNvPr id="1177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524B27D5-79E9-4B2F-BCDD-36F7110A7620}" type="slidenum">
              <a:rPr lang="zh-CN" altLang="en-US" smtClean="0">
                <a:solidFill>
                  <a:srgbClr val="000000"/>
                </a:solidFill>
                <a:ea typeface="宋体" panose="02010600030101010101" pitchFamily="2" charset="-122"/>
              </a:rPr>
              <a:t>28</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87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很多书上给的代码都是用</a:t>
            </a:r>
            <a:r>
              <a:rPr lang="en-US" altLang="zh-CN" smtClean="0"/>
              <a:t>while</a:t>
            </a:r>
            <a:r>
              <a:rPr lang="zh-CN" altLang="en-US" smtClean="0"/>
              <a:t>循环进行控制的，本质和</a:t>
            </a:r>
            <a:r>
              <a:rPr lang="en-US" altLang="zh-CN" smtClean="0"/>
              <a:t>for</a:t>
            </a:r>
            <a:r>
              <a:rPr lang="zh-CN" altLang="en-US" smtClean="0"/>
              <a:t>循环一样，也是需要在</a:t>
            </a:r>
            <a:r>
              <a:rPr lang="en-US" altLang="zh-CN" smtClean="0"/>
              <a:t>t++</a:t>
            </a:r>
            <a:r>
              <a:rPr lang="zh-CN" altLang="en-US" smtClean="0"/>
              <a:t>或者</a:t>
            </a:r>
            <a:r>
              <a:rPr lang="en-US" altLang="zh-CN" smtClean="0"/>
              <a:t>t—</a:t>
            </a:r>
            <a:r>
              <a:rPr lang="zh-CN" altLang="en-US" smtClean="0"/>
              <a:t>的时候确定</a:t>
            </a:r>
            <a:r>
              <a:rPr lang="en-US" altLang="zh-CN" smtClean="0"/>
              <a:t>a[t]</a:t>
            </a:r>
            <a:r>
              <a:rPr lang="zh-CN" altLang="en-US" smtClean="0"/>
              <a:t>值的更新</a:t>
            </a:r>
          </a:p>
        </p:txBody>
      </p:sp>
      <p:sp>
        <p:nvSpPr>
          <p:cNvPr id="1187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32765A85-EC01-41E1-B2CB-E0A56D2E5E5A}" type="slidenum">
              <a:rPr lang="zh-CN" altLang="en-US" smtClean="0">
                <a:solidFill>
                  <a:srgbClr val="000000"/>
                </a:solidFill>
                <a:ea typeface="宋体" panose="02010600030101010101" pitchFamily="2" charset="-122"/>
              </a:rPr>
              <a:t>29</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98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我们来对比一下框架和我们的伪代码，机乎是完全一样的，也就是说只要我们只需要记住了基本框架，凡是可以用回溯法解决的问题就都迎刃而解了。</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通过这样一个例子，我们就知道了回溯法的执行流程，以及子集树问题的基本的代码写法，后续我们遇到子集树问题就可以套用这个代码了。</a:t>
            </a:r>
          </a:p>
          <a:p>
            <a:pPr eaLnBrk="1" hangingPunct="1">
              <a:spcBef>
                <a:spcPct val="0"/>
              </a:spcBef>
            </a:pPr>
            <a:endParaRPr lang="zh-CN" altLang="en-US" dirty="0" smtClean="0"/>
          </a:p>
          <a:p>
            <a:pPr eaLnBrk="1" hangingPunct="1">
              <a:spcBef>
                <a:spcPct val="0"/>
              </a:spcBef>
            </a:pPr>
            <a:r>
              <a:rPr lang="zh-CN" altLang="en-US" dirty="0" smtClean="0"/>
              <a:t>这里有上课没听课后面自学的同学反馈，老师这个框架有问题呀，没错确实需要修改，我们这个例子就说明了该如何更改。</a:t>
            </a:r>
          </a:p>
        </p:txBody>
      </p:sp>
      <p:sp>
        <p:nvSpPr>
          <p:cNvPr id="1198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42696AD8-E23A-4810-AE71-5F75B3033266}" type="slidenum">
              <a:rPr lang="zh-CN" altLang="en-US" smtClean="0">
                <a:solidFill>
                  <a:srgbClr val="000000"/>
                </a:solidFill>
                <a:ea typeface="宋体" panose="02010600030101010101" pitchFamily="2" charset="-122"/>
              </a:rPr>
              <a:t>30</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F5E90173-CF9A-481A-9D7A-85F396A58308}" type="slidenum">
              <a:rPr lang="zh-CN" altLang="en-US" smtClean="0">
                <a:solidFill>
                  <a:srgbClr val="000000"/>
                </a:solidFill>
                <a:ea typeface="宋体" panose="02010600030101010101" pitchFamily="2" charset="-122"/>
              </a:rPr>
              <a:t>31</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18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18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65C368FB-AF3C-4DB2-BE2B-56C82104FC7D}" type="slidenum">
              <a:rPr lang="zh-CN" altLang="en-US" smtClean="0">
                <a:solidFill>
                  <a:srgbClr val="000000"/>
                </a:solidFill>
                <a:ea typeface="宋体" panose="02010600030101010101" pitchFamily="2" charset="-122"/>
              </a:rPr>
              <a:t>32</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8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怎么表示解空间</a:t>
            </a:r>
          </a:p>
        </p:txBody>
      </p:sp>
      <p:sp>
        <p:nvSpPr>
          <p:cNvPr id="1228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052C14EC-3B11-4B35-BCA7-99508F4160D2}" type="slidenum">
              <a:rPr lang="zh-CN" altLang="en-US" smtClean="0">
                <a:solidFill>
                  <a:srgbClr val="000000"/>
                </a:solidFill>
                <a:ea typeface="宋体" panose="02010600030101010101" pitchFamily="2" charset="-122"/>
              </a:rPr>
              <a:t>33</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39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这样写代码的复杂度为</a:t>
            </a:r>
            <a:r>
              <a:rPr lang="en-US" altLang="zh-CN" smtClean="0"/>
              <a:t>,</a:t>
            </a:r>
            <a:r>
              <a:rPr lang="zh-CN" altLang="en-US" smtClean="0"/>
              <a:t>而</a:t>
            </a:r>
            <a:r>
              <a:rPr lang="en-US" altLang="zh-CN" smtClean="0"/>
              <a:t>TSP</a:t>
            </a:r>
            <a:r>
              <a:rPr lang="zh-CN" altLang="en-US" smtClean="0"/>
              <a:t>问题的复杂度为</a:t>
            </a:r>
            <a:r>
              <a:rPr lang="en-US" altLang="zh-CN" smtClean="0"/>
              <a:t>n!,</a:t>
            </a:r>
            <a:r>
              <a:rPr lang="zh-CN" altLang="en-US" smtClean="0"/>
              <a:t>显然这不是一个好代码，该如何改呢？不好的根本原因在于，我们在深度</a:t>
            </a:r>
            <a:r>
              <a:rPr lang="en-US" altLang="zh-CN" smtClean="0"/>
              <a:t>t</a:t>
            </a:r>
            <a:r>
              <a:rPr lang="zh-CN" altLang="en-US" smtClean="0"/>
              <a:t>的时候，我的可选项仅仅为</a:t>
            </a:r>
            <a:r>
              <a:rPr lang="en-US" altLang="zh-CN" smtClean="0"/>
              <a:t>x[t]</a:t>
            </a:r>
            <a:r>
              <a:rPr lang="zh-CN" altLang="en-US" smtClean="0"/>
              <a:t>以及以后的城市了，而该代码却考虑了</a:t>
            </a:r>
            <a:r>
              <a:rPr lang="en-US" altLang="zh-CN" smtClean="0"/>
              <a:t>n</a:t>
            </a:r>
            <a:r>
              <a:rPr lang="zh-CN" altLang="en-US" smtClean="0"/>
              <a:t>种可能。</a:t>
            </a:r>
            <a:endParaRPr lang="en-US" altLang="zh-CN" smtClean="0"/>
          </a:p>
          <a:p>
            <a:pPr eaLnBrk="1" hangingPunct="1">
              <a:spcBef>
                <a:spcPct val="0"/>
              </a:spcBef>
            </a:pPr>
            <a:r>
              <a:rPr lang="zh-CN" altLang="en-US" smtClean="0"/>
              <a:t>可以用存储所有的编号，然后到</a:t>
            </a:r>
            <a:r>
              <a:rPr lang="en-US" altLang="zh-CN" smtClean="0"/>
              <a:t>t</a:t>
            </a:r>
            <a:r>
              <a:rPr lang="zh-CN" altLang="en-US" smtClean="0"/>
              <a:t>的时候，采取交换的</a:t>
            </a:r>
            <a:r>
              <a:rPr lang="en-US" altLang="zh-CN" smtClean="0"/>
              <a:t>x[t]…x[n]</a:t>
            </a:r>
            <a:r>
              <a:rPr lang="zh-CN" altLang="en-US" smtClean="0"/>
              <a:t>方式来更新</a:t>
            </a:r>
            <a:r>
              <a:rPr lang="en-US" altLang="zh-CN" smtClean="0"/>
              <a:t>x[t]</a:t>
            </a:r>
            <a:r>
              <a:rPr lang="zh-CN" altLang="en-US" smtClean="0"/>
              <a:t>的值，从而得到</a:t>
            </a:r>
            <a:r>
              <a:rPr lang="en-US" altLang="zh-CN" smtClean="0"/>
              <a:t>n!</a:t>
            </a:r>
            <a:r>
              <a:rPr lang="zh-CN" altLang="en-US" smtClean="0"/>
              <a:t>复杂度算法。</a:t>
            </a:r>
            <a:endParaRPr lang="en-US" altLang="zh-CN" smtClean="0"/>
          </a:p>
        </p:txBody>
      </p:sp>
      <p:sp>
        <p:nvSpPr>
          <p:cNvPr id="1239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6E5E40A3-27AD-4103-8867-0EC163C34B77}" type="slidenum">
              <a:rPr lang="zh-CN" altLang="en-US" smtClean="0">
                <a:solidFill>
                  <a:srgbClr val="000000"/>
                </a:solidFill>
                <a:ea typeface="宋体" panose="02010600030101010101" pitchFamily="2" charset="-122"/>
              </a:rPr>
              <a:t>34</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49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可以用存储所有的编号，然后到</a:t>
            </a:r>
            <a:r>
              <a:rPr lang="en-US" altLang="zh-CN" smtClean="0"/>
              <a:t>t</a:t>
            </a:r>
            <a:r>
              <a:rPr lang="zh-CN" altLang="en-US" smtClean="0"/>
              <a:t>的时候，采取交换的</a:t>
            </a:r>
            <a:r>
              <a:rPr lang="en-US" altLang="zh-CN" smtClean="0"/>
              <a:t>x[t]…x[n]</a:t>
            </a:r>
            <a:r>
              <a:rPr lang="zh-CN" altLang="en-US" smtClean="0"/>
              <a:t>方式来更新</a:t>
            </a:r>
            <a:r>
              <a:rPr lang="en-US" altLang="zh-CN" smtClean="0"/>
              <a:t>x[t]</a:t>
            </a:r>
            <a:r>
              <a:rPr lang="zh-CN" altLang="en-US" smtClean="0"/>
              <a:t>的值，从而得到</a:t>
            </a:r>
            <a:r>
              <a:rPr lang="en-US" altLang="zh-CN" smtClean="0"/>
              <a:t>n!</a:t>
            </a:r>
            <a:r>
              <a:rPr lang="zh-CN" altLang="en-US" smtClean="0"/>
              <a:t>复杂度算法。</a:t>
            </a:r>
            <a:endParaRPr lang="en-US" altLang="zh-CN" smtClean="0"/>
          </a:p>
        </p:txBody>
      </p:sp>
      <p:sp>
        <p:nvSpPr>
          <p:cNvPr id="1249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0C45883C-9184-4C7F-BB37-A92CC069F4EB}" type="slidenum">
              <a:rPr lang="zh-CN" altLang="en-US" smtClean="0">
                <a:solidFill>
                  <a:srgbClr val="000000"/>
                </a:solidFill>
                <a:ea typeface="宋体" panose="02010600030101010101" pitchFamily="2" charset="-122"/>
              </a:rPr>
              <a:t>35</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59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除去第一个城市还有</a:t>
            </a:r>
            <a:r>
              <a:rPr lang="en-US" altLang="zh-CN" smtClean="0"/>
              <a:t>n-1</a:t>
            </a:r>
            <a:r>
              <a:rPr lang="zh-CN" altLang="en-US" smtClean="0"/>
              <a:t>个城市，</a:t>
            </a:r>
            <a:r>
              <a:rPr lang="en-US" altLang="zh-CN" smtClean="0"/>
              <a:t>n-1</a:t>
            </a:r>
            <a:r>
              <a:rPr lang="zh-CN" altLang="en-US" smtClean="0"/>
              <a:t>个城市最多有</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(n-1)!</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种</a:t>
            </a:r>
            <a:r>
              <a:rPr lang="zh-CN" altLang="en-US" smtClean="0"/>
              <a:t>可能的排列</a:t>
            </a:r>
            <a:r>
              <a:rPr lang="en-US" altLang="zh-CN" smtClean="0"/>
              <a:t>, </a:t>
            </a:r>
            <a:r>
              <a:rPr lang="zh-CN" altLang="en-US" smtClean="0"/>
              <a:t>更新最优解复杂度为</a:t>
            </a:r>
            <a:r>
              <a:rPr lang="en-US" altLang="zh-CN" smtClean="0"/>
              <a:t>O</a:t>
            </a:r>
            <a:r>
              <a:rPr lang="zh-CN" altLang="en-US" smtClean="0"/>
              <a:t>（</a:t>
            </a:r>
            <a:r>
              <a:rPr lang="en-US" altLang="zh-CN" smtClean="0"/>
              <a:t>n</a:t>
            </a:r>
            <a:r>
              <a:rPr lang="zh-CN" altLang="en-US" smtClean="0"/>
              <a:t>）</a:t>
            </a:r>
            <a:r>
              <a:rPr lang="en-US" altLang="zh-CN" smtClean="0"/>
              <a:t>,</a:t>
            </a:r>
            <a:r>
              <a:rPr lang="zh-CN" altLang="en-US" smtClean="0"/>
              <a:t>故总复杂度为</a:t>
            </a:r>
            <a:r>
              <a:rPr lang="en-US" altLang="zh-CN" smtClean="0"/>
              <a:t>n!</a:t>
            </a:r>
            <a:r>
              <a:rPr lang="zh-CN" altLang="en-US" smtClean="0"/>
              <a:t> 。</a:t>
            </a:r>
            <a:endParaRPr lang="en-US" altLang="zh-CN" smtClean="0"/>
          </a:p>
        </p:txBody>
      </p:sp>
      <p:sp>
        <p:nvSpPr>
          <p:cNvPr id="1259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8964F077-01EB-4F5A-8A81-757188075CD3}" type="slidenum">
              <a:rPr lang="zh-CN" altLang="en-US" smtClean="0">
                <a:solidFill>
                  <a:srgbClr val="000000"/>
                </a:solidFill>
                <a:ea typeface="宋体" panose="02010600030101010101" pitchFamily="2" charset="-122"/>
              </a:rPr>
              <a:t>36</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69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除去第一个城市还有</a:t>
            </a:r>
            <a:r>
              <a:rPr lang="en-US" altLang="zh-CN" smtClean="0"/>
              <a:t>n-1</a:t>
            </a:r>
            <a:r>
              <a:rPr lang="zh-CN" altLang="en-US" smtClean="0"/>
              <a:t>个城市，</a:t>
            </a:r>
            <a:r>
              <a:rPr lang="en-US" altLang="zh-CN" smtClean="0"/>
              <a:t>n-1</a:t>
            </a:r>
            <a:r>
              <a:rPr lang="zh-CN" altLang="en-US" smtClean="0"/>
              <a:t>个城市最多有</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(n-1)!</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种</a:t>
            </a:r>
            <a:r>
              <a:rPr lang="zh-CN" altLang="en-US" smtClean="0"/>
              <a:t>可能的排列</a:t>
            </a:r>
            <a:r>
              <a:rPr lang="en-US" altLang="zh-CN" smtClean="0"/>
              <a:t>, </a:t>
            </a:r>
            <a:r>
              <a:rPr lang="zh-CN" altLang="en-US" smtClean="0"/>
              <a:t>更新最优解复杂度为</a:t>
            </a:r>
            <a:r>
              <a:rPr lang="en-US" altLang="zh-CN" smtClean="0"/>
              <a:t>O</a:t>
            </a:r>
            <a:r>
              <a:rPr lang="zh-CN" altLang="en-US" smtClean="0"/>
              <a:t>（</a:t>
            </a:r>
            <a:r>
              <a:rPr lang="en-US" altLang="zh-CN" smtClean="0"/>
              <a:t>n</a:t>
            </a:r>
            <a:r>
              <a:rPr lang="zh-CN" altLang="en-US" smtClean="0"/>
              <a:t>）</a:t>
            </a:r>
            <a:r>
              <a:rPr lang="en-US" altLang="zh-CN" smtClean="0"/>
              <a:t>,</a:t>
            </a:r>
            <a:r>
              <a:rPr lang="zh-CN" altLang="en-US" smtClean="0"/>
              <a:t>故总复杂度为</a:t>
            </a:r>
            <a:r>
              <a:rPr lang="en-US" altLang="zh-CN" smtClean="0"/>
              <a:t>n!</a:t>
            </a:r>
            <a:r>
              <a:rPr lang="zh-CN" altLang="en-US" smtClean="0"/>
              <a:t> 。这个代码这样写基本合格了，我们一直还没用到界值约束，怎么用起来呢？深度优先可以很快找到一个解，如果我当前的代价大于最优解，我是否还有必要继续搜索该子树？</a:t>
            </a:r>
            <a:endParaRPr lang="en-US" altLang="zh-CN" smtClean="0"/>
          </a:p>
        </p:txBody>
      </p:sp>
      <p:sp>
        <p:nvSpPr>
          <p:cNvPr id="1269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3B7528C9-FB71-4A2C-A0F1-5DD6E0D102D0}" type="slidenum">
              <a:rPr lang="zh-CN" altLang="en-US" smtClean="0">
                <a:solidFill>
                  <a:srgbClr val="000000"/>
                </a:solidFill>
                <a:ea typeface="宋体" panose="02010600030101010101" pitchFamily="2" charset="-122"/>
              </a:rPr>
              <a:t>37</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80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smtClean="0"/>
              <a:t>如果当前代价大于找到的最好代价，说明该结点出发所能找到的叶结点的代价都要大于最好代价，因此没有必要收拾它的叶结点。</a:t>
            </a:r>
          </a:p>
        </p:txBody>
      </p:sp>
      <p:sp>
        <p:nvSpPr>
          <p:cNvPr id="1280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54E768ED-6169-4B68-85C7-F4CA270195BF}" type="slidenum">
              <a:rPr lang="zh-CN" altLang="en-US" smtClean="0"/>
              <a:t>38</a:t>
            </a:fld>
            <a:endParaRPr lang="zh-CN" alt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90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当</a:t>
            </a:r>
            <a:r>
              <a:rPr lang="en-US" altLang="zh-CN" smtClean="0"/>
              <a:t>check</a:t>
            </a:r>
            <a:r>
              <a:rPr lang="zh-CN" altLang="en-US" smtClean="0"/>
              <a:t>通过后我们加入</a:t>
            </a:r>
            <a:r>
              <a:rPr lang="en-US" altLang="zh-CN" smtClean="0"/>
              <a:t>bound</a:t>
            </a:r>
            <a:r>
              <a:rPr lang="zh-CN" altLang="en-US" smtClean="0"/>
              <a:t>，由于</a:t>
            </a:r>
            <a:r>
              <a:rPr lang="en-US" altLang="zh-CN" smtClean="0"/>
              <a:t>t=n</a:t>
            </a:r>
            <a:r>
              <a:rPr lang="zh-CN" altLang="en-US" smtClean="0"/>
              <a:t>和</a:t>
            </a:r>
            <a:r>
              <a:rPr lang="en-US" altLang="zh-CN" smtClean="0"/>
              <a:t>t&lt;n</a:t>
            </a:r>
            <a:r>
              <a:rPr lang="zh-CN" altLang="en-US" smtClean="0"/>
              <a:t>的时候我们计算代价的方式是不一样的，所以需要分开讨论；别忘记了需要恢复现场！！</a:t>
            </a:r>
            <a:endParaRPr lang="en-US" altLang="zh-CN" smtClean="0"/>
          </a:p>
          <a:p>
            <a:pPr eaLnBrk="1" hangingPunct="1">
              <a:spcBef>
                <a:spcPct val="0"/>
              </a:spcBef>
            </a:pPr>
            <a:r>
              <a:rPr lang="zh-CN" altLang="en-US" smtClean="0"/>
              <a:t>这样当</a:t>
            </a:r>
            <a:r>
              <a:rPr lang="en-US" altLang="zh-CN" smtClean="0"/>
              <a:t>cc &gt;= bestc</a:t>
            </a:r>
            <a:r>
              <a:rPr lang="zh-CN" altLang="en-US" smtClean="0"/>
              <a:t>的时候就不会再</a:t>
            </a:r>
            <a:r>
              <a:rPr lang="en-US" altLang="zh-CN" smtClean="0"/>
              <a:t>backTrack</a:t>
            </a:r>
            <a:r>
              <a:rPr lang="zh-CN" altLang="en-US" smtClean="0"/>
              <a:t>了，从而避免了不必要的搜索。虽然算法的复杂度还是</a:t>
            </a:r>
            <a:r>
              <a:rPr lang="en-US" altLang="zh-CN" smtClean="0"/>
              <a:t>n!</a:t>
            </a:r>
            <a:r>
              <a:rPr lang="zh-CN" altLang="en-US" smtClean="0"/>
              <a:t>但是，在很多情况下可以减少搜索空间。</a:t>
            </a:r>
            <a:endParaRPr lang="en-US" altLang="zh-CN" smtClean="0"/>
          </a:p>
          <a:p>
            <a:pPr eaLnBrk="1" hangingPunct="1">
              <a:spcBef>
                <a:spcPct val="0"/>
              </a:spcBef>
            </a:pPr>
            <a:r>
              <a:rPr lang="zh-CN" altLang="en-US" smtClean="0"/>
              <a:t>通过这样的一个例子，我们就介绍了排列树问题的回溯算法设计，后面我们遇到的排列树问题，都可以在这个代码上做简单的修改即可；</a:t>
            </a:r>
            <a:endParaRPr lang="en-US" altLang="zh-CN" smtClean="0"/>
          </a:p>
        </p:txBody>
      </p:sp>
      <p:sp>
        <p:nvSpPr>
          <p:cNvPr id="1290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73A55D76-6DC0-45C2-B8CB-29B749EAC8FF}" type="slidenum">
              <a:rPr lang="zh-CN" altLang="en-US" smtClean="0">
                <a:solidFill>
                  <a:srgbClr val="000000"/>
                </a:solidFill>
                <a:ea typeface="宋体" panose="02010600030101010101" pitchFamily="2" charset="-122"/>
              </a:rPr>
              <a:t>39</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00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这是很多书上给的代码，本质上和我们写的代码是一样的，只是把</a:t>
            </a:r>
            <a:r>
              <a:rPr lang="en-US" altLang="zh-CN" dirty="0" smtClean="0"/>
              <a:t>t==n</a:t>
            </a:r>
            <a:r>
              <a:rPr lang="zh-CN" altLang="en-US" dirty="0" smtClean="0"/>
              <a:t>和</a:t>
            </a:r>
            <a:r>
              <a:rPr lang="en-US" altLang="zh-CN" dirty="0" smtClean="0"/>
              <a:t>t&lt;n</a:t>
            </a:r>
            <a:r>
              <a:rPr lang="zh-CN" altLang="en-US" dirty="0" smtClean="0"/>
              <a:t>分开了，我们是按</a:t>
            </a:r>
            <a:r>
              <a:rPr lang="en-US" altLang="zh-CN" dirty="0" smtClean="0"/>
              <a:t>t&gt;n</a:t>
            </a:r>
            <a:r>
              <a:rPr lang="zh-CN" altLang="en-US" dirty="0" smtClean="0"/>
              <a:t>和</a:t>
            </a:r>
            <a:r>
              <a:rPr lang="en-US" altLang="zh-CN" dirty="0" smtClean="0"/>
              <a:t>t&lt;=n</a:t>
            </a:r>
            <a:r>
              <a:rPr lang="zh-CN" altLang="en-US" dirty="0" smtClean="0"/>
              <a:t>来算的，个人喜好，除去第一个城市还有</a:t>
            </a:r>
            <a:r>
              <a:rPr lang="en-US" altLang="zh-CN" dirty="0" smtClean="0"/>
              <a:t>n-1</a:t>
            </a:r>
            <a:r>
              <a:rPr lang="zh-CN" altLang="en-US" dirty="0" smtClean="0"/>
              <a:t>个城市，</a:t>
            </a:r>
            <a:r>
              <a:rPr lang="en-US" altLang="zh-CN" dirty="0" smtClean="0"/>
              <a:t>n-1</a:t>
            </a:r>
            <a:r>
              <a:rPr lang="zh-CN" altLang="en-US" dirty="0" smtClean="0"/>
              <a:t>个城市最多有</a:t>
            </a:r>
            <a:r>
              <a:rPr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(n-1)!</a:t>
            </a:r>
            <a:r>
              <a:rPr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种</a:t>
            </a:r>
            <a:r>
              <a:rPr lang="zh-CN" altLang="en-US" dirty="0" smtClean="0"/>
              <a:t>可能的排列。虽然计算复杂度为</a:t>
            </a:r>
            <a:r>
              <a:rPr lang="en-US" altLang="zh-CN" dirty="0" smtClean="0"/>
              <a:t>n!</a:t>
            </a:r>
            <a:r>
              <a:rPr lang="zh-CN" altLang="en-US" dirty="0" smtClean="0"/>
              <a:t>但是实际操作过程中计算复杂度远小于</a:t>
            </a:r>
            <a:r>
              <a:rPr lang="en-US" altLang="zh-CN" dirty="0" smtClean="0"/>
              <a:t>n!.</a:t>
            </a:r>
            <a:endParaRPr lang="zh-CN" altLang="en-US" dirty="0" smtClean="0"/>
          </a:p>
        </p:txBody>
      </p:sp>
      <p:sp>
        <p:nvSpPr>
          <p:cNvPr id="1300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58689CB6-0500-449B-B215-6E22B0CDA0B6}" type="slidenum">
              <a:rPr lang="zh-CN" altLang="en-US" smtClean="0">
                <a:solidFill>
                  <a:srgbClr val="000000"/>
                </a:solidFill>
                <a:ea typeface="宋体" panose="02010600030101010101" pitchFamily="2" charset="-122"/>
              </a:rPr>
              <a:t>40</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10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除去第一个城市还有</a:t>
            </a:r>
            <a:r>
              <a:rPr lang="en-US" altLang="zh-CN" smtClean="0"/>
              <a:t>n-1</a:t>
            </a:r>
            <a:r>
              <a:rPr lang="zh-CN" altLang="en-US" smtClean="0"/>
              <a:t>个城市，</a:t>
            </a:r>
            <a:r>
              <a:rPr lang="en-US" altLang="zh-CN" smtClean="0"/>
              <a:t>n-1</a:t>
            </a:r>
            <a:r>
              <a:rPr lang="zh-CN" altLang="en-US" smtClean="0"/>
              <a:t>个城市最多有</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(n-1)!</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种</a:t>
            </a:r>
            <a:r>
              <a:rPr lang="zh-CN" altLang="en-US" smtClean="0"/>
              <a:t>可能的排列。</a:t>
            </a:r>
            <a:endParaRPr lang="en-US" altLang="zh-CN" smtClean="0"/>
          </a:p>
          <a:p>
            <a:pPr eaLnBrk="1" hangingPunct="1">
              <a:spcBef>
                <a:spcPct val="0"/>
              </a:spcBef>
            </a:pPr>
            <a:endParaRPr lang="en-US" altLang="zh-CN" smtClean="0"/>
          </a:p>
          <a:p>
            <a:pPr eaLnBrk="1" hangingPunct="1">
              <a:spcBef>
                <a:spcPct val="0"/>
              </a:spcBef>
            </a:pPr>
            <a:r>
              <a:rPr lang="zh-CN" altLang="en-US" smtClean="0"/>
              <a:t>能走到</a:t>
            </a:r>
            <a:r>
              <a:rPr lang="en-US" altLang="zh-CN" smtClean="0"/>
              <a:t>t&gt;n</a:t>
            </a:r>
            <a:r>
              <a:rPr lang="zh-CN" altLang="en-US" smtClean="0"/>
              <a:t>说明到达第</a:t>
            </a:r>
            <a:r>
              <a:rPr lang="en-US" altLang="zh-CN" smtClean="0"/>
              <a:t>n</a:t>
            </a:r>
            <a:r>
              <a:rPr lang="zh-CN" altLang="en-US" smtClean="0"/>
              <a:t>个城市的代价</a:t>
            </a:r>
            <a:r>
              <a:rPr lang="en-US" altLang="zh-CN" smtClean="0"/>
              <a:t>cc &lt; bestc</a:t>
            </a:r>
            <a:r>
              <a:rPr lang="zh-CN" altLang="en-US" smtClean="0"/>
              <a:t>，因此不需要再判断</a:t>
            </a:r>
            <a:r>
              <a:rPr lang="en-US" altLang="zh-CN" smtClean="0"/>
              <a:t>cc</a:t>
            </a:r>
            <a:r>
              <a:rPr lang="zh-CN" altLang="en-US" smtClean="0"/>
              <a:t>与</a:t>
            </a:r>
            <a:r>
              <a:rPr lang="en-US" altLang="zh-CN" smtClean="0"/>
              <a:t>bestc</a:t>
            </a:r>
            <a:r>
              <a:rPr lang="zh-CN" altLang="en-US" smtClean="0"/>
              <a:t>的大小了。</a:t>
            </a:r>
          </a:p>
        </p:txBody>
      </p:sp>
      <p:sp>
        <p:nvSpPr>
          <p:cNvPr id="1310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47DAC90B-DA40-4410-8B5E-5EA7E1E45409}" type="slidenum">
              <a:rPr lang="zh-CN" altLang="en-US" smtClean="0">
                <a:solidFill>
                  <a:srgbClr val="000000"/>
                </a:solidFill>
                <a:ea typeface="宋体" panose="02010600030101010101" pitchFamily="2" charset="-122"/>
              </a:rPr>
              <a:t>41</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2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按照迭代法求解框架，将</a:t>
            </a:r>
            <a:r>
              <a:rPr lang="en-US" altLang="zh-CN" smtClean="0"/>
              <a:t>backtrack</a:t>
            </a:r>
            <a:r>
              <a:rPr lang="zh-CN" altLang="en-US" smtClean="0"/>
              <a:t>改成用</a:t>
            </a:r>
            <a:r>
              <a:rPr lang="en-US" altLang="zh-CN" smtClean="0"/>
              <a:t>while</a:t>
            </a:r>
            <a:r>
              <a:rPr lang="zh-CN" altLang="en-US" smtClean="0"/>
              <a:t>循环即可，当</a:t>
            </a:r>
            <a:r>
              <a:rPr lang="en-US" altLang="zh-CN" smtClean="0"/>
              <a:t>t&lt;0</a:t>
            </a:r>
            <a:r>
              <a:rPr lang="zh-CN" altLang="en-US" smtClean="0"/>
              <a:t>时结束；满足条件</a:t>
            </a:r>
            <a:r>
              <a:rPr lang="en-US" altLang="zh-CN" smtClean="0"/>
              <a:t>t++,</a:t>
            </a:r>
            <a:r>
              <a:rPr lang="zh-CN" altLang="en-US" smtClean="0"/>
              <a:t>不满足</a:t>
            </a:r>
            <a:r>
              <a:rPr lang="en-US" altLang="zh-CN" smtClean="0"/>
              <a:t>t--</a:t>
            </a:r>
            <a:r>
              <a:rPr lang="zh-CN" altLang="en-US" smtClean="0"/>
              <a:t>；</a:t>
            </a:r>
          </a:p>
        </p:txBody>
      </p:sp>
      <p:sp>
        <p:nvSpPr>
          <p:cNvPr id="132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C4954FCC-BC4B-4501-81ED-E5B37840F47A}" type="slidenum">
              <a:rPr lang="zh-CN" altLang="en-US" smtClean="0">
                <a:solidFill>
                  <a:srgbClr val="000000"/>
                </a:solidFill>
                <a:ea typeface="宋体" panose="02010600030101010101" pitchFamily="2" charset="-122"/>
              </a:rPr>
              <a:t>42</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31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331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E412D3A7-2A4F-4DFA-9FB5-92FEBE20F838}" type="slidenum">
              <a:rPr lang="zh-CN" altLang="en-US" smtClean="0">
                <a:solidFill>
                  <a:srgbClr val="000000"/>
                </a:solidFill>
                <a:ea typeface="宋体" panose="02010600030101010101" pitchFamily="2" charset="-122"/>
              </a:rPr>
              <a:t>43</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4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每种货物要么装</a:t>
            </a:r>
            <a:r>
              <a:rPr lang="en-US" altLang="zh-CN" smtClean="0"/>
              <a:t>A</a:t>
            </a:r>
            <a:r>
              <a:rPr lang="zh-CN" altLang="en-US" smtClean="0"/>
              <a:t>要么装</a:t>
            </a:r>
            <a:r>
              <a:rPr lang="en-US" altLang="zh-CN" smtClean="0"/>
              <a:t>B</a:t>
            </a:r>
            <a:r>
              <a:rPr lang="zh-CN" altLang="en-US" smtClean="0"/>
              <a:t>船，故问题复杂度为</a:t>
            </a:r>
            <a:r>
              <a:rPr lang="en-US" altLang="zh-CN" smtClean="0"/>
              <a:t>2^n, </a:t>
            </a:r>
            <a:r>
              <a:rPr lang="zh-CN" altLang="en-US" smtClean="0"/>
              <a:t>这个问题该怎么装呢？我们之前讲过</a:t>
            </a:r>
            <a:r>
              <a:rPr lang="en-US" altLang="zh-CN" smtClean="0"/>
              <a:t>0,1</a:t>
            </a:r>
            <a:r>
              <a:rPr lang="zh-CN" altLang="en-US" smtClean="0"/>
              <a:t>背包问题，这个问题和</a:t>
            </a:r>
            <a:r>
              <a:rPr lang="en-US" altLang="zh-CN" smtClean="0"/>
              <a:t>0,1</a:t>
            </a:r>
            <a:r>
              <a:rPr lang="zh-CN" altLang="en-US" smtClean="0"/>
              <a:t>背包问题有什么联系没有呢？</a:t>
            </a:r>
          </a:p>
        </p:txBody>
      </p:sp>
      <p:sp>
        <p:nvSpPr>
          <p:cNvPr id="134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6FAF0F34-38C0-498C-94FE-08536338CAC1}" type="slidenum">
              <a:rPr lang="zh-CN" altLang="en-US" smtClean="0">
                <a:solidFill>
                  <a:srgbClr val="000000"/>
                </a:solidFill>
                <a:ea typeface="宋体" panose="02010600030101010101" pitchFamily="2" charset="-122"/>
              </a:rPr>
              <a:t>44</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51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主要原因是有剪枝约束，可以避免不必要的搜索。</a:t>
            </a:r>
          </a:p>
        </p:txBody>
      </p:sp>
      <p:sp>
        <p:nvSpPr>
          <p:cNvPr id="1351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6850B0AA-C45B-4278-B4AC-2B52E7741F57}" type="slidenum">
              <a:rPr lang="zh-CN" altLang="en-US" smtClean="0">
                <a:solidFill>
                  <a:srgbClr val="000000"/>
                </a:solidFill>
                <a:ea typeface="宋体" panose="02010600030101010101" pitchFamily="2" charset="-122"/>
              </a:rPr>
              <a:t>45</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61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361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A31BA77D-4D47-4C0A-A66E-324016786735}" type="slidenum">
              <a:rPr lang="zh-CN" altLang="en-US" smtClean="0">
                <a:solidFill>
                  <a:srgbClr val="000000"/>
                </a:solidFill>
                <a:ea typeface="宋体" panose="02010600030101010101" pitchFamily="2" charset="-122"/>
              </a:rPr>
              <a:t>46</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72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先不考虑上界，我们可以按照回溯的框架，写出代码</a:t>
            </a:r>
          </a:p>
        </p:txBody>
      </p:sp>
      <p:sp>
        <p:nvSpPr>
          <p:cNvPr id="1372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E77D0324-74E0-4386-AAD2-D86ADAB776D5}" type="slidenum">
              <a:rPr lang="zh-CN" altLang="en-US" smtClean="0">
                <a:solidFill>
                  <a:srgbClr val="000000"/>
                </a:solidFill>
                <a:ea typeface="宋体" panose="02010600030101010101" pitchFamily="2" charset="-122"/>
              </a:rPr>
              <a:t>47</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82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再考虑界函数，</a:t>
            </a:r>
            <a:endParaRPr lang="en-US" altLang="zh-CN" smtClean="0"/>
          </a:p>
          <a:p>
            <a:pPr eaLnBrk="1" hangingPunct="1">
              <a:spcBef>
                <a:spcPct val="0"/>
              </a:spcBef>
            </a:pPr>
            <a:r>
              <a:rPr lang="zh-CN" altLang="en-US" smtClean="0"/>
              <a:t>第</a:t>
            </a:r>
            <a:r>
              <a:rPr lang="en-US" altLang="zh-CN" smtClean="0"/>
              <a:t>t</a:t>
            </a:r>
            <a:r>
              <a:rPr lang="zh-CN" altLang="en-US" smtClean="0"/>
              <a:t>层的物品可能选或者不选，剩余材料的重量都不包含</a:t>
            </a:r>
            <a:r>
              <a:rPr lang="en-US" altLang="zh-CN" smtClean="0"/>
              <a:t>w[t]</a:t>
            </a:r>
            <a:r>
              <a:rPr lang="zh-CN" altLang="en-US" smtClean="0"/>
              <a:t>，所以先减掉</a:t>
            </a:r>
            <a:r>
              <a:rPr lang="en-US" altLang="zh-CN" smtClean="0"/>
              <a:t>w[t]</a:t>
            </a:r>
            <a:r>
              <a:rPr lang="zh-CN" altLang="en-US" smtClean="0"/>
              <a:t>；</a:t>
            </a:r>
            <a:endParaRPr lang="en-US" altLang="zh-CN" smtClean="0"/>
          </a:p>
          <a:p>
            <a:pPr eaLnBrk="1" hangingPunct="1">
              <a:spcBef>
                <a:spcPct val="0"/>
              </a:spcBef>
            </a:pPr>
            <a:endParaRPr lang="en-US" altLang="zh-CN" smtClean="0"/>
          </a:p>
          <a:p>
            <a:pPr eaLnBrk="1" hangingPunct="1">
              <a:spcBef>
                <a:spcPct val="0"/>
              </a:spcBef>
            </a:pPr>
            <a:r>
              <a:rPr kumimoji="1" lang="zh-CN" altLang="en-US"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深度为</a:t>
            </a:r>
            <a:r>
              <a:rPr kumimoji="1" lang="en-US" altLang="zh-CN"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zh-CN" altLang="en-US"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时，</a:t>
            </a:r>
            <a:r>
              <a:rPr kumimoji="1" lang="en-US" altLang="zh-CN"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表示</a:t>
            </a:r>
            <a:r>
              <a:rPr kumimoji="1" lang="en-US" altLang="zh-CN"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t+1~n</a:t>
            </a:r>
            <a:r>
              <a:rPr kumimoji="1" lang="zh-CN" altLang="en-US"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个集装箱的重量和；</a:t>
            </a:r>
            <a:endParaRPr lang="en-US" altLang="zh-CN" smtClean="0"/>
          </a:p>
          <a:p>
            <a:pPr eaLnBrk="1" hangingPunct="1">
              <a:spcBef>
                <a:spcPct val="0"/>
              </a:spcBef>
            </a:pPr>
            <a:endParaRPr lang="en-US" altLang="zh-CN" smtClean="0"/>
          </a:p>
          <a:p>
            <a:pPr eaLnBrk="1" hangingPunct="1">
              <a:spcBef>
                <a:spcPct val="0"/>
              </a:spcBef>
            </a:pPr>
            <a:r>
              <a:rPr lang="zh-CN" altLang="en-US" smtClean="0"/>
              <a:t>也可以用矩阵</a:t>
            </a:r>
            <a:r>
              <a:rPr lang="en-US" altLang="zh-CN" smtClean="0"/>
              <a:t>r[]</a:t>
            </a:r>
            <a:r>
              <a:rPr lang="zh-CN" altLang="en-US" smtClean="0"/>
              <a:t>，</a:t>
            </a:r>
            <a:r>
              <a:rPr lang="en-US" altLang="zh-CN" smtClean="0"/>
              <a:t>r[t]</a:t>
            </a:r>
            <a:r>
              <a:rPr lang="zh-CN" altLang="en-US" smtClean="0"/>
              <a:t>表示</a:t>
            </a:r>
            <a:r>
              <a:rPr kumimoji="1" lang="en-US" altLang="zh-CN" b="1" smtClean="0">
                <a:solidFill>
                  <a:srgbClr val="FF0000"/>
                </a:solidFill>
                <a:latin typeface="Times New Roman" panose="02020603050405020304" pitchFamily="18" charset="0"/>
                <a:ea typeface="华文楷体" panose="02010600040101010101" pitchFamily="2" charset="-122"/>
              </a:rPr>
              <a:t>t+1~n</a:t>
            </a:r>
            <a:r>
              <a:rPr kumimoji="1" lang="zh-CN" altLang="en-US" b="1" smtClean="0">
                <a:solidFill>
                  <a:srgbClr val="FF0000"/>
                </a:solidFill>
                <a:latin typeface="Times New Roman" panose="02020603050405020304" pitchFamily="18" charset="0"/>
                <a:ea typeface="华文楷体" panose="02010600040101010101" pitchFamily="2" charset="-122"/>
              </a:rPr>
              <a:t>个集装箱的重量和，</a:t>
            </a:r>
            <a:r>
              <a:rPr lang="zh-CN" altLang="en-US" smtClean="0"/>
              <a:t>用的时候查就好了，可以避免一直计算，但耗费空间。</a:t>
            </a:r>
          </a:p>
        </p:txBody>
      </p:sp>
      <p:sp>
        <p:nvSpPr>
          <p:cNvPr id="1382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6F97591C-B2C1-4A88-A97A-C415FB843348}" type="slidenum">
              <a:rPr lang="zh-CN" altLang="en-US" smtClean="0">
                <a:solidFill>
                  <a:srgbClr val="000000"/>
                </a:solidFill>
                <a:ea typeface="宋体" panose="02010600030101010101" pitchFamily="2" charset="-122"/>
              </a:rPr>
              <a:t>48</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9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很多书上也是按这种方式给的代码，搜索左子树的时候，只考虑约束，不考虑界（进左子树，可能会不满足约束，而能进左子树一定会满足界，因为进之前满足界，进来之后依然会满足），搜右子树的时候，只考虑界，不考虑约束（进右子树前满足约束，进来后没有增加容量，故依然满足约束，而进右子树可能使得余下容量减少，从而导致不满足界约束）；将</a:t>
            </a:r>
            <a:r>
              <a:rPr lang="en-US" altLang="zh-CN" smtClean="0"/>
              <a:t>for</a:t>
            </a:r>
            <a:r>
              <a:rPr lang="zh-CN" altLang="en-US" smtClean="0"/>
              <a:t>循环拆开成两个部分了做的，本质是一样的，但是需要做的判断更加少了。</a:t>
            </a:r>
          </a:p>
        </p:txBody>
      </p:sp>
      <p:sp>
        <p:nvSpPr>
          <p:cNvPr id="139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E2C7E341-A0A4-4B1F-87E5-ACAD2B1D1868}" type="slidenum">
              <a:rPr lang="zh-CN" altLang="en-US" smtClean="0">
                <a:solidFill>
                  <a:srgbClr val="000000"/>
                </a:solidFill>
                <a:ea typeface="宋体" panose="02010600030101010101" pitchFamily="2" charset="-122"/>
              </a:rPr>
              <a:t>49</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0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下面我们用例子来说明回溯的过程，当找到满载的方案后是否还需要考虑，很显然不需要了。</a:t>
            </a:r>
          </a:p>
        </p:txBody>
      </p:sp>
      <p:sp>
        <p:nvSpPr>
          <p:cNvPr id="140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1272C43C-8DE7-4358-9DC5-62D91DC557FA}" type="slidenum">
              <a:rPr lang="zh-CN" altLang="en-US" smtClean="0">
                <a:solidFill>
                  <a:srgbClr val="000000"/>
                </a:solidFill>
                <a:ea typeface="宋体" panose="02010600030101010101" pitchFamily="2" charset="-122"/>
              </a:rPr>
              <a:t>50</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1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找出所有的调度方案，计算它们的完工时间，找一种最小的，即可。</a:t>
            </a:r>
          </a:p>
        </p:txBody>
      </p:sp>
      <p:sp>
        <p:nvSpPr>
          <p:cNvPr id="141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AC8F43A1-F2B3-4A90-A85B-B2CD1CCBD01E}" type="slidenum">
              <a:rPr lang="zh-CN" altLang="en-US" smtClean="0">
                <a:solidFill>
                  <a:srgbClr val="000000"/>
                </a:solidFill>
                <a:ea typeface="宋体" panose="02010600030101010101" pitchFamily="2" charset="-122"/>
              </a:rPr>
              <a:t>51</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23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找出所有的调度方案，计算它们的完工时间，找一种最小的，即可。比较困难的是怎么计算完成时间之和呢？我们通过一个例子来看一下。</a:t>
            </a:r>
          </a:p>
        </p:txBody>
      </p:sp>
      <p:sp>
        <p:nvSpPr>
          <p:cNvPr id="1423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0F5C113A-B3B4-471A-9847-F14C9D1E7885}" type="slidenum">
              <a:rPr lang="zh-CN" altLang="en-US" smtClean="0">
                <a:solidFill>
                  <a:srgbClr val="000000"/>
                </a:solidFill>
                <a:ea typeface="宋体" panose="02010600030101010101" pitchFamily="2" charset="-122"/>
              </a:rPr>
              <a:t>52</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33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这里</a:t>
            </a:r>
            <a:r>
              <a:rPr lang="en-US" altLang="zh-CN" dirty="0" smtClean="0"/>
              <a:t>3</a:t>
            </a:r>
            <a:r>
              <a:rPr lang="zh-CN" altLang="en-US" dirty="0" smtClean="0"/>
              <a:t>个工件的一个作业调度问题，下图是计算时间的过程，比如第一种排列，是</a:t>
            </a:r>
            <a:r>
              <a:rPr lang="en-US" altLang="zh-CN" dirty="0" smtClean="0"/>
              <a:t>1,2,3</a:t>
            </a:r>
            <a:r>
              <a:rPr lang="zh-CN" altLang="en-US" dirty="0" smtClean="0"/>
              <a:t>，其完工时间为第一个工件的完工时间为</a:t>
            </a:r>
            <a:r>
              <a:rPr lang="en-US" altLang="zh-CN" dirty="0" smtClean="0"/>
              <a:t>3+6+10=19</a:t>
            </a:r>
          </a:p>
          <a:p>
            <a:pPr eaLnBrk="1" hangingPunct="1">
              <a:spcBef>
                <a:spcPct val="0"/>
              </a:spcBef>
            </a:pPr>
            <a:r>
              <a:rPr lang="en-US" altLang="zh-CN" dirty="0" smtClean="0"/>
              <a:t>1,3,2,3+7+8=18</a:t>
            </a:r>
            <a:endParaRPr lang="zh-CN" altLang="en-US" dirty="0" smtClean="0"/>
          </a:p>
        </p:txBody>
      </p:sp>
      <p:sp>
        <p:nvSpPr>
          <p:cNvPr id="1433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A5B21E74-240D-46C2-AC7F-C5E1BAC3008B}" type="slidenum">
              <a:rPr lang="zh-CN" altLang="en-US" smtClean="0">
                <a:solidFill>
                  <a:srgbClr val="000000"/>
                </a:solidFill>
                <a:ea typeface="宋体" panose="02010600030101010101" pitchFamily="2" charset="-122"/>
              </a:rPr>
              <a:t>53</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43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解空间树属于什么类型？排列树。</a:t>
            </a:r>
          </a:p>
        </p:txBody>
      </p:sp>
      <p:sp>
        <p:nvSpPr>
          <p:cNvPr id="1443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3C9ACE36-F45F-4F06-BF33-772E8BF1E850}" type="slidenum">
              <a:rPr lang="zh-CN" altLang="en-US" smtClean="0">
                <a:solidFill>
                  <a:srgbClr val="000000"/>
                </a:solidFill>
                <a:ea typeface="宋体" panose="02010600030101010101" pitchFamily="2" charset="-122"/>
              </a:rPr>
              <a:t>54</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54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454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817CC05D-3F68-4278-A809-8211CD9E7667}" type="slidenum">
              <a:rPr lang="zh-CN" altLang="en-US" smtClean="0">
                <a:solidFill>
                  <a:srgbClr val="000000"/>
                </a:solidFill>
                <a:ea typeface="宋体" panose="02010600030101010101" pitchFamily="2" charset="-122"/>
              </a:rPr>
              <a:t>55</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64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批作业调度的代码可以由</a:t>
            </a:r>
            <a:r>
              <a:rPr lang="en-US" altLang="zh-CN" smtClean="0"/>
              <a:t>TSP</a:t>
            </a:r>
            <a:r>
              <a:rPr lang="zh-CN" altLang="en-US" smtClean="0"/>
              <a:t>问题简单修改即可，怎么修改呢？</a:t>
            </a:r>
            <a:endParaRPr lang="en-US" altLang="zh-CN" smtClean="0"/>
          </a:p>
          <a:p>
            <a:pPr eaLnBrk="1" hangingPunct="1">
              <a:spcBef>
                <a:spcPct val="0"/>
              </a:spcBef>
            </a:pP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b="1" baseline="-2500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 1</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M</a:t>
            </a:r>
            <a:r>
              <a:rPr lang="en-US" altLang="zh-CN" b="1" baseline="-2500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(i-1)1</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F</a:t>
            </a:r>
            <a:r>
              <a:rPr lang="en-US" altLang="zh-CN" b="1" baseline="-2500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1xi</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M</a:t>
            </a:r>
            <a:r>
              <a:rPr lang="en-US" altLang="zh-CN" b="1" baseline="-2500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i2</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max{M</a:t>
            </a:r>
            <a:r>
              <a:rPr lang="en-US" altLang="zh-CN" b="1" baseline="-2500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(i-1)2</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M</a:t>
            </a:r>
            <a:r>
              <a:rPr lang="en-US" altLang="zh-CN" b="1" baseline="-2500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 1</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F</a:t>
            </a:r>
            <a:r>
              <a:rPr lang="en-US" altLang="zh-CN" b="1" baseline="-2500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2xi</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机器</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上的完工时间的修改比较简单，只需要考虑前一个工件在机器</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上的的完成时间；</a:t>
            </a:r>
            <a:endPar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0"/>
              </a:spcBef>
            </a:pP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机器</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上的完工时间的修改还需要考虑机器</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的完工时间，为了方便回溯，这里机器</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直接用矩阵来存储机器</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的完工时间；</a:t>
            </a:r>
            <a:endPar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0"/>
              </a:spcBef>
            </a:pPr>
            <a:endPar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0"/>
              </a:spcBef>
            </a:pP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的时候为啥</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M2</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不恢复现场呢？</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计算</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M2</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用不到</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M2[t++]</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，因此不恢复不会影响。此外，</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计算</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M2</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也用不到</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M2[t],</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因此</a:t>
            </a: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M2[t]</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的值恢复与不恢复不影响什么。</a:t>
            </a:r>
            <a:endPar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0"/>
              </a:spcBef>
            </a:pPr>
            <a:r>
              <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M1</a:t>
            </a:r>
            <a:r>
              <a:rPr lang="zh-CN" altLang="en-US"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也用矩阵存储可以吗？可以，而且可以不需要恢复现场，但会多耗费空间。</a:t>
            </a:r>
            <a:endParaRPr lang="en-US" altLang="zh-CN"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64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BED5987C-0AEA-4D44-A537-F746F4657E27}" type="slidenum">
              <a:rPr lang="zh-CN" altLang="en-US" smtClean="0">
                <a:solidFill>
                  <a:srgbClr val="000000"/>
                </a:solidFill>
                <a:ea typeface="宋体" panose="02010600030101010101" pitchFamily="2" charset="-122"/>
              </a:rPr>
              <a:t>56</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74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err="1" smtClean="0"/>
              <a:t>O,1</a:t>
            </a:r>
            <a:r>
              <a:rPr lang="zh-CN" altLang="en-US" dirty="0" smtClean="0"/>
              <a:t>背包和装载问题都属于子集树搜索，装载问题会写，</a:t>
            </a:r>
            <a:r>
              <a:rPr lang="en-US" altLang="zh-CN" dirty="0" smtClean="0"/>
              <a:t>0,1</a:t>
            </a:r>
            <a:r>
              <a:rPr lang="zh-CN" altLang="en-US" dirty="0" smtClean="0"/>
              <a:t>背包问题和装载问题几乎一样，故可以按照装载问题的代码来做</a:t>
            </a:r>
            <a:r>
              <a:rPr lang="en-US" altLang="zh-CN" dirty="0" smtClean="0"/>
              <a:t>0,1</a:t>
            </a:r>
            <a:r>
              <a:rPr lang="zh-CN" altLang="en-US" dirty="0" smtClean="0"/>
              <a:t>背包，唯一的差别就是界函数的不同，装载要的是最大载重，</a:t>
            </a:r>
            <a:r>
              <a:rPr lang="en-US" altLang="zh-CN" dirty="0" smtClean="0"/>
              <a:t>0</a:t>
            </a:r>
            <a:r>
              <a:rPr lang="zh-CN" altLang="en-US" dirty="0" smtClean="0"/>
              <a:t>，</a:t>
            </a:r>
            <a:r>
              <a:rPr lang="en-US" altLang="zh-CN" dirty="0" smtClean="0"/>
              <a:t>1</a:t>
            </a:r>
            <a:r>
              <a:rPr lang="zh-CN" altLang="en-US" dirty="0" smtClean="0"/>
              <a:t>背包要的是最大价值，故其界值可以进一步修改，怎么样修改成以价值为</a:t>
            </a:r>
            <a:r>
              <a:rPr lang="en-US" altLang="zh-CN" dirty="0" smtClean="0"/>
              <a:t>bound</a:t>
            </a:r>
            <a:r>
              <a:rPr lang="zh-CN" altLang="en-US" dirty="0" smtClean="0"/>
              <a:t>的界值呢？</a:t>
            </a:r>
          </a:p>
        </p:txBody>
      </p:sp>
      <p:sp>
        <p:nvSpPr>
          <p:cNvPr id="1474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5062ADFB-1035-45DE-8DD8-FC9E7AF1D643}" type="slidenum">
              <a:rPr lang="zh-CN" altLang="en-US" smtClean="0">
                <a:solidFill>
                  <a:srgbClr val="000000"/>
                </a:solidFill>
                <a:ea typeface="宋体" panose="02010600030101010101" pitchFamily="2" charset="-122"/>
              </a:rPr>
              <a:t>57</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84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仔细分析界值的作用，界值可以去掉</a:t>
            </a:r>
            <a:r>
              <a:rPr lang="en-US" altLang="zh-CN" smtClean="0"/>
              <a:t>K</a:t>
            </a:r>
            <a:r>
              <a:rPr lang="zh-CN" altLang="en-US" smtClean="0"/>
              <a:t>，</a:t>
            </a:r>
            <a:r>
              <a:rPr lang="en-US" altLang="zh-CN" smtClean="0"/>
              <a:t>M,N</a:t>
            </a:r>
            <a:r>
              <a:rPr lang="zh-CN" altLang="en-US" smtClean="0"/>
              <a:t>，</a:t>
            </a:r>
            <a:r>
              <a:rPr lang="en-US" altLang="zh-CN" smtClean="0"/>
              <a:t>O</a:t>
            </a:r>
            <a:r>
              <a:rPr lang="zh-CN" altLang="en-US" smtClean="0"/>
              <a:t>，约束剪掉了 </a:t>
            </a:r>
            <a:r>
              <a:rPr lang="en-US" altLang="zh-CN" smtClean="0"/>
              <a:t>H</a:t>
            </a:r>
            <a:r>
              <a:rPr lang="zh-CN" altLang="en-US" smtClean="0"/>
              <a:t>、</a:t>
            </a:r>
            <a:r>
              <a:rPr lang="en-US" altLang="zh-CN" smtClean="0"/>
              <a:t>J</a:t>
            </a:r>
            <a:r>
              <a:rPr lang="zh-CN" altLang="en-US" smtClean="0"/>
              <a:t>，最后叶子结点只剩下</a:t>
            </a:r>
            <a:r>
              <a:rPr lang="en-US" altLang="zh-CN" smtClean="0"/>
              <a:t>I</a:t>
            </a:r>
            <a:r>
              <a:rPr lang="zh-CN" altLang="en-US" smtClean="0"/>
              <a:t>与</a:t>
            </a:r>
            <a:r>
              <a:rPr lang="en-US" altLang="zh-CN" smtClean="0"/>
              <a:t>L</a:t>
            </a:r>
            <a:r>
              <a:rPr lang="zh-CN" altLang="en-US" smtClean="0"/>
              <a:t>。</a:t>
            </a:r>
          </a:p>
        </p:txBody>
      </p:sp>
      <p:sp>
        <p:nvSpPr>
          <p:cNvPr id="1484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174F739C-2DDB-4464-81B6-43128797FD40}" type="slidenum">
              <a:rPr lang="zh-CN" altLang="en-US" smtClean="0">
                <a:solidFill>
                  <a:srgbClr val="000000"/>
                </a:solidFill>
                <a:ea typeface="宋体" panose="02010600030101010101" pitchFamily="2" charset="-122"/>
              </a:rPr>
              <a:t>58</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95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不用剪枝函数有</a:t>
            </a:r>
            <a:r>
              <a:rPr lang="en-US" altLang="zh-CN" smtClean="0"/>
              <a:t>15</a:t>
            </a:r>
            <a:r>
              <a:rPr lang="zh-CN" altLang="en-US" smtClean="0"/>
              <a:t>个点，按照价值比重排序后，用剪枝函数直接减掉了一多半。很显然，排序后的效率更高。</a:t>
            </a:r>
          </a:p>
        </p:txBody>
      </p:sp>
      <p:sp>
        <p:nvSpPr>
          <p:cNvPr id="1495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2DE4F93A-5619-4C9E-9465-1634A420BB12}" type="slidenum">
              <a:rPr lang="zh-CN" altLang="en-US" smtClean="0">
                <a:solidFill>
                  <a:srgbClr val="000000"/>
                </a:solidFill>
                <a:ea typeface="宋体" panose="02010600030101010101" pitchFamily="2" charset="-122"/>
              </a:rPr>
              <a:t>59</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05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团和独立集是两个对立的概念，团是边都在图上，独立集是边都不图中。我们用一个例子来看一下这些概念。</a:t>
            </a:r>
            <a:endParaRPr lang="en-US" altLang="zh-CN" dirty="0" smtClean="0"/>
          </a:p>
          <a:p>
            <a:pPr eaLnBrk="1" hangingPunct="1">
              <a:spcBef>
                <a:spcPct val="0"/>
              </a:spcBef>
            </a:pPr>
            <a:endParaRPr lang="en-US" altLang="zh-CN" dirty="0" smtClean="0"/>
          </a:p>
          <a:p>
            <a:pPr eaLnBrk="1" hangingPunct="1">
              <a:spcBef>
                <a:spcPct val="0"/>
              </a:spcBef>
            </a:pPr>
            <a:r>
              <a:rPr lang="en-US" altLang="zh-CN" sz="1200" b="0" i="0" kern="1200" dirty="0" err="1" smtClean="0">
                <a:solidFill>
                  <a:schemeClr val="tx1"/>
                </a:solidFill>
                <a:effectLst/>
                <a:latin typeface="+mn-lt"/>
                <a:ea typeface="+mn-ea"/>
                <a:cs typeface="+mn-cs"/>
              </a:rPr>
              <a:t>MCP</a:t>
            </a:r>
            <a:r>
              <a:rPr lang="zh-CN" altLang="en-US" sz="1200" b="0" i="0" kern="1200" smtClean="0">
                <a:solidFill>
                  <a:schemeClr val="tx1"/>
                </a:solidFill>
                <a:effectLst/>
                <a:latin typeface="+mn-lt"/>
                <a:ea typeface="+mn-ea"/>
                <a:cs typeface="+mn-cs"/>
              </a:rPr>
              <a:t>问题是现实世界中一类真实问题，在社会网络分析、市场分析、方案选择、信号传输、</a:t>
            </a:r>
            <a:r>
              <a:rPr lang="zh-CN" altLang="en-US" sz="1200" b="0" i="0" u="none" strike="noStrike" kern="1200" smtClean="0">
                <a:solidFill>
                  <a:schemeClr val="tx1"/>
                </a:solidFill>
                <a:effectLst/>
                <a:latin typeface="+mn-lt"/>
                <a:ea typeface="+mn-ea"/>
                <a:cs typeface="+mn-cs"/>
                <a:hlinkClick r:id="rId3"/>
              </a:rPr>
              <a:t>计算机视觉</a:t>
            </a:r>
            <a:r>
              <a:rPr lang="zh-CN" altLang="en-US" sz="1200" b="0" i="0" kern="1200" smtClean="0">
                <a:solidFill>
                  <a:schemeClr val="tx1"/>
                </a:solidFill>
                <a:effectLst/>
                <a:latin typeface="+mn-lt"/>
                <a:ea typeface="+mn-ea"/>
                <a:cs typeface="+mn-cs"/>
              </a:rPr>
              <a:t>、故障诊断等领域具有非常广泛的应用。</a:t>
            </a:r>
            <a:endParaRPr lang="zh-CN" altLang="en-US" smtClean="0"/>
          </a:p>
        </p:txBody>
      </p:sp>
      <p:sp>
        <p:nvSpPr>
          <p:cNvPr id="1505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5E81BDE6-21B4-4E00-AE5D-8C350CA64230}" type="slidenum">
              <a:rPr lang="zh-CN" altLang="en-US" smtClean="0">
                <a:solidFill>
                  <a:srgbClr val="000000"/>
                </a:solidFill>
                <a:ea typeface="宋体" panose="02010600030101010101" pitchFamily="2" charset="-122"/>
              </a:rPr>
              <a:t>60</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15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smtClean="0"/>
              <a:t>1,2</a:t>
            </a:r>
            <a:r>
              <a:rPr lang="zh-CN" altLang="en-US" smtClean="0"/>
              <a:t>是完全子图，但不是团，因为</a:t>
            </a:r>
            <a:r>
              <a:rPr lang="en-US" altLang="zh-CN" smtClean="0"/>
              <a:t>1,2</a:t>
            </a:r>
            <a:r>
              <a:rPr lang="zh-CN" altLang="en-US" smtClean="0"/>
              <a:t>被</a:t>
            </a:r>
            <a:r>
              <a:rPr lang="en-US" altLang="zh-CN" smtClean="0"/>
              <a:t>1,2,5</a:t>
            </a:r>
            <a:r>
              <a:rPr lang="zh-CN" altLang="en-US" smtClean="0"/>
              <a:t>子图包含，</a:t>
            </a:r>
            <a:r>
              <a:rPr lang="en-US" altLang="zh-CN" smtClean="0"/>
              <a:t>1,2,5</a:t>
            </a:r>
            <a:r>
              <a:rPr lang="zh-CN" altLang="en-US" smtClean="0"/>
              <a:t>最大团。求原图的最大独立集等价于求补图的最大团。</a:t>
            </a:r>
            <a:r>
              <a:rPr lang="zh-CN" altLang="en-US" smtClean="0">
                <a:solidFill>
                  <a:srgbClr val="000066"/>
                </a:solidFill>
                <a:latin typeface="Times New Roman" panose="02020603050405020304" pitchFamily="18" charset="0"/>
                <a:ea typeface="楷体_GB2312" pitchFamily="49" charset="-122"/>
              </a:rPr>
              <a:t>无向图</a:t>
            </a:r>
            <a:r>
              <a:rPr lang="en-US" altLang="zh-CN" smtClean="0">
                <a:solidFill>
                  <a:srgbClr val="000066"/>
                </a:solidFill>
                <a:latin typeface="Times New Roman" panose="02020603050405020304" pitchFamily="18" charset="0"/>
                <a:ea typeface="楷体_GB2312" pitchFamily="49" charset="-122"/>
              </a:rPr>
              <a:t>G</a:t>
            </a:r>
            <a:r>
              <a:rPr lang="zh-CN" altLang="en-US" smtClean="0">
                <a:solidFill>
                  <a:srgbClr val="000066"/>
                </a:solidFill>
                <a:latin typeface="Times New Roman" panose="02020603050405020304" pitchFamily="18" charset="0"/>
                <a:ea typeface="楷体_GB2312" pitchFamily="49" charset="-122"/>
              </a:rPr>
              <a:t>的最大团和最大独立集问题可以看作是图</a:t>
            </a:r>
            <a:r>
              <a:rPr lang="en-US" altLang="zh-CN" smtClean="0">
                <a:solidFill>
                  <a:srgbClr val="000066"/>
                </a:solidFill>
                <a:latin typeface="Times New Roman" panose="02020603050405020304" pitchFamily="18" charset="0"/>
                <a:ea typeface="楷体_GB2312" pitchFamily="49" charset="-122"/>
              </a:rPr>
              <a:t>G</a:t>
            </a:r>
            <a:r>
              <a:rPr lang="zh-CN" altLang="en-US" smtClean="0">
                <a:solidFill>
                  <a:srgbClr val="000066"/>
                </a:solidFill>
                <a:latin typeface="Times New Roman" panose="02020603050405020304" pitchFamily="18" charset="0"/>
                <a:ea typeface="楷体_GB2312" pitchFamily="49" charset="-122"/>
              </a:rPr>
              <a:t>的顶点集</a:t>
            </a:r>
            <a:r>
              <a:rPr lang="en-US" altLang="zh-CN" smtClean="0">
                <a:solidFill>
                  <a:srgbClr val="000066"/>
                </a:solidFill>
                <a:latin typeface="Times New Roman" panose="02020603050405020304" pitchFamily="18" charset="0"/>
                <a:ea typeface="楷体_GB2312" pitchFamily="49" charset="-122"/>
              </a:rPr>
              <a:t>V</a:t>
            </a:r>
            <a:r>
              <a:rPr lang="zh-CN" altLang="en-US" smtClean="0">
                <a:solidFill>
                  <a:srgbClr val="000066"/>
                </a:solidFill>
                <a:latin typeface="Times New Roman" panose="02020603050405020304" pitchFamily="18" charset="0"/>
                <a:ea typeface="楷体_GB2312" pitchFamily="49" charset="-122"/>
              </a:rPr>
              <a:t>的子集选取问题。</a:t>
            </a:r>
            <a:r>
              <a:rPr lang="zh-CN" altLang="en-US" smtClean="0"/>
              <a:t>如同装载问题。</a:t>
            </a:r>
            <a:endParaRPr lang="zh-CN" altLang="en-US" smtClean="0">
              <a:solidFill>
                <a:srgbClr val="000066"/>
              </a:solidFill>
              <a:latin typeface="Times New Roman" panose="02020603050405020304" pitchFamily="18" charset="0"/>
              <a:ea typeface="楷体_GB2312" pitchFamily="49" charset="-122"/>
            </a:endParaRPr>
          </a:p>
        </p:txBody>
      </p:sp>
      <p:sp>
        <p:nvSpPr>
          <p:cNvPr id="1515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3DC22650-4BED-448B-8EB3-C92099259150}" type="slidenum">
              <a:rPr lang="zh-CN" altLang="en-US" smtClean="0">
                <a:solidFill>
                  <a:srgbClr val="000000"/>
                </a:solidFill>
                <a:ea typeface="宋体" panose="02010600030101010101" pitchFamily="2" charset="-122"/>
              </a:rPr>
              <a:t>61</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2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最大团问题同装载问题，每个点选或者不选。左子树考虑约束，右子树考虑界，因此是右子树中有找到更大团的可能。</a:t>
            </a:r>
          </a:p>
        </p:txBody>
      </p:sp>
      <p:sp>
        <p:nvSpPr>
          <p:cNvPr id="152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0632EDA1-91A5-4BBB-9AE3-77A35268790D}" type="slidenum">
              <a:rPr lang="zh-CN" altLang="en-US" smtClean="0">
                <a:solidFill>
                  <a:srgbClr val="000000"/>
                </a:solidFill>
                <a:ea typeface="宋体" panose="02010600030101010101" pitchFamily="2" charset="-122"/>
              </a:rPr>
              <a:t>62</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结点数最多的完全子图就是最大团</a:t>
            </a:r>
            <a:endParaRPr lang="en-US" altLang="zh-CN" dirty="0" smtClean="0"/>
          </a:p>
          <a:p>
            <a:pPr eaLnBrk="1" hangingPunct="1">
              <a:spcBef>
                <a:spcPct val="0"/>
              </a:spcBef>
            </a:pP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每个结点选或者不选</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第</a:t>
            </a:r>
            <a:r>
              <a:rPr lang="en-US" altLang="zh-CN" dirty="0" err="1" smtClean="0"/>
              <a:t>i</a:t>
            </a:r>
            <a:r>
              <a:rPr lang="zh-CN" altLang="en-US" dirty="0" smtClean="0"/>
              <a:t>个结点不选，还剩下</a:t>
            </a:r>
            <a:r>
              <a:rPr lang="en-US" altLang="zh-CN" dirty="0" err="1" smtClean="0"/>
              <a:t>i+1</a:t>
            </a:r>
            <a:r>
              <a:rPr lang="zh-CN" altLang="en-US" dirty="0" smtClean="0"/>
              <a:t>到</a:t>
            </a:r>
            <a:r>
              <a:rPr lang="en-US" altLang="zh-CN" dirty="0" smtClean="0"/>
              <a:t>n</a:t>
            </a:r>
            <a:r>
              <a:rPr lang="zh-CN" altLang="en-US" dirty="0" smtClean="0"/>
              <a:t>个结点，即</a:t>
            </a:r>
            <a:r>
              <a:rPr lang="en-US" altLang="zh-CN" dirty="0" smtClean="0"/>
              <a:t>n-</a:t>
            </a:r>
            <a:r>
              <a:rPr lang="en-US" altLang="zh-CN" dirty="0" err="1" smtClean="0"/>
              <a:t>i</a:t>
            </a:r>
            <a:r>
              <a:rPr lang="zh-CN" altLang="en-US" dirty="0" smtClean="0"/>
              <a:t>个结点。</a:t>
            </a:r>
          </a:p>
        </p:txBody>
      </p:sp>
      <p:sp>
        <p:nvSpPr>
          <p:cNvPr id="1536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062813DD-79B3-496E-9D29-25CDDBFBDD01}" type="slidenum">
              <a:rPr lang="zh-CN" altLang="en-US" smtClean="0">
                <a:solidFill>
                  <a:srgbClr val="000000"/>
                </a:solidFill>
                <a:ea typeface="宋体" panose="02010600030101010101" pitchFamily="2" charset="-122"/>
              </a:rPr>
              <a:t>63</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46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smtClean="0"/>
              <a:t>2^n</a:t>
            </a:r>
            <a:r>
              <a:rPr lang="zh-CN" altLang="en-US" smtClean="0"/>
              <a:t>种可能，每一次判断是否有边，复杂度为</a:t>
            </a:r>
            <a:r>
              <a:rPr lang="en-US" altLang="zh-CN" smtClean="0"/>
              <a:t>n,</a:t>
            </a:r>
            <a:r>
              <a:rPr lang="zh-CN" altLang="en-US" smtClean="0"/>
              <a:t>虽然复杂度还是</a:t>
            </a:r>
            <a:r>
              <a:rPr lang="en-US" altLang="zh-CN" smtClean="0"/>
              <a:t>n2^n</a:t>
            </a:r>
            <a:r>
              <a:rPr lang="zh-CN" altLang="en-US" smtClean="0"/>
              <a:t>，但实际上大部分都被剪枝了，远小于。</a:t>
            </a:r>
          </a:p>
        </p:txBody>
      </p:sp>
      <p:sp>
        <p:nvSpPr>
          <p:cNvPr id="1546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0C770796-5244-472D-A6E9-997FE78666B1}" type="slidenum">
              <a:rPr lang="zh-CN" altLang="en-US" smtClean="0">
                <a:solidFill>
                  <a:srgbClr val="000000"/>
                </a:solidFill>
                <a:ea typeface="宋体" panose="02010600030101010101" pitchFamily="2" charset="-122"/>
              </a:rPr>
              <a:t>64</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5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平面四色猜想：</a:t>
            </a:r>
            <a:r>
              <a:rPr lang="zh-CN" altLang="en-US" sz="1200" b="0" i="0" kern="1200" dirty="0" smtClean="0">
                <a:solidFill>
                  <a:schemeClr val="tx1"/>
                </a:solidFill>
                <a:effectLst/>
                <a:latin typeface="+mn-lt"/>
                <a:ea typeface="+mn-ea"/>
                <a:cs typeface="+mn-cs"/>
              </a:rPr>
              <a:t>四色定理（世界近代三大数学难题之一）</a:t>
            </a:r>
            <a:r>
              <a:rPr lang="zh-CN" altLang="en-US" dirty="0" smtClean="0"/>
              <a:t>在一个平面或球面上的任何地图，最多只需要用四种颜色，使得任何两个相邻国家在地图上着不同的颜色。</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平面四色猜想是图的</a:t>
            </a:r>
            <a:r>
              <a:rPr lang="en-US" altLang="zh-CN" dirty="0" smtClean="0"/>
              <a:t>m</a:t>
            </a:r>
            <a:r>
              <a:rPr lang="zh-CN" altLang="en-US" dirty="0" smtClean="0"/>
              <a:t>可着色性判定问题的特殊情形。如图所示，我们把平面图的着色问题转换为了连通图的顶点着色问题。每个国家用一个点表示，相邻的国家，用一条线连接起来，就将平面图转换为了连通图。</a:t>
            </a:r>
            <a:endParaRPr lang="en-US" altLang="zh-CN" dirty="0" smtClean="0"/>
          </a:p>
          <a:p>
            <a:pPr eaLnBrk="1" hangingPunct="1">
              <a:spcBef>
                <a:spcPct val="0"/>
              </a:spcBef>
            </a:pPr>
            <a:endParaRPr lang="en-US" altLang="zh-CN" dirty="0" smtClean="0"/>
          </a:p>
          <a:p>
            <a:pPr eaLnBrk="1" hangingPunct="1">
              <a:spcBef>
                <a:spcPct val="0"/>
              </a:spcBef>
            </a:pPr>
            <a:r>
              <a:rPr lang="zh-CN" altLang="en-US" sz="1200" b="0" i="0" kern="1200" dirty="0" smtClean="0">
                <a:solidFill>
                  <a:schemeClr val="tx1"/>
                </a:solidFill>
                <a:effectLst/>
                <a:latin typeface="+mn-lt"/>
                <a:ea typeface="+mn-ea"/>
                <a:cs typeface="+mn-cs"/>
              </a:rPr>
              <a:t>在美国</a:t>
            </a:r>
            <a:r>
              <a:rPr lang="zh-CN" altLang="en-US" sz="1200" b="0" i="0" u="none" strike="noStrike" kern="1200" dirty="0" smtClean="0">
                <a:solidFill>
                  <a:schemeClr val="tx1"/>
                </a:solidFill>
                <a:effectLst/>
                <a:latin typeface="+mn-lt"/>
                <a:ea typeface="+mn-ea"/>
                <a:cs typeface="+mn-cs"/>
                <a:hlinkClick r:id="rId3"/>
              </a:rPr>
              <a:t>伊利诺斯大学</a:t>
            </a:r>
            <a:r>
              <a:rPr lang="zh-CN" altLang="en-US" sz="1200" b="0" i="0" kern="1200" dirty="0" smtClean="0">
                <a:solidFill>
                  <a:schemeClr val="tx1"/>
                </a:solidFill>
                <a:effectLst/>
                <a:latin typeface="+mn-lt"/>
                <a:ea typeface="+mn-ea"/>
                <a:cs typeface="+mn-cs"/>
              </a:rPr>
              <a:t>的两台不同的电子计算机上，用了</a:t>
            </a:r>
            <a:r>
              <a:rPr lang="en-US" altLang="zh-CN" sz="1200" b="0" i="0" kern="1200" dirty="0" smtClean="0">
                <a:solidFill>
                  <a:schemeClr val="tx1"/>
                </a:solidFill>
                <a:effectLst/>
                <a:latin typeface="+mn-lt"/>
                <a:ea typeface="+mn-ea"/>
                <a:cs typeface="+mn-cs"/>
              </a:rPr>
              <a:t>1200</a:t>
            </a:r>
            <a:r>
              <a:rPr lang="zh-CN" altLang="en-US" sz="1200" b="0" i="0" kern="1200" dirty="0" smtClean="0">
                <a:solidFill>
                  <a:schemeClr val="tx1"/>
                </a:solidFill>
                <a:effectLst/>
                <a:latin typeface="+mn-lt"/>
                <a:ea typeface="+mn-ea"/>
                <a:cs typeface="+mn-cs"/>
              </a:rPr>
              <a:t>个小时，作了</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亿个判断，结果没有一张地图是需要五色的，最终证明了四色定理。理论上还没有证明。</a:t>
            </a:r>
            <a:endParaRPr lang="zh-CN" altLang="en-US" dirty="0" smtClean="0"/>
          </a:p>
        </p:txBody>
      </p:sp>
      <p:sp>
        <p:nvSpPr>
          <p:cNvPr id="155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677AB911-AD4E-4A37-A4FC-4896876A291C}" type="slidenum">
              <a:rPr lang="zh-CN" altLang="en-US" smtClean="0">
                <a:solidFill>
                  <a:srgbClr val="000000"/>
                </a:solidFill>
                <a:ea typeface="宋体" panose="02010600030101010101" pitchFamily="2" charset="-122"/>
              </a:rPr>
              <a:t>65</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66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每个顶点都有</a:t>
            </a:r>
            <a:r>
              <a:rPr lang="en-US" altLang="zh-CN" smtClean="0"/>
              <a:t>m</a:t>
            </a:r>
            <a:r>
              <a:rPr lang="zh-CN" altLang="en-US" smtClean="0"/>
              <a:t>种颜色可选，典型的子集问题，可以用</a:t>
            </a:r>
            <a:r>
              <a:rPr lang="en-US" altLang="zh-CN" smtClean="0"/>
              <a:t>N</a:t>
            </a:r>
            <a:r>
              <a:rPr lang="zh-CN" altLang="en-US" smtClean="0"/>
              <a:t>皇后的代码套用。</a:t>
            </a:r>
          </a:p>
        </p:txBody>
      </p:sp>
      <p:sp>
        <p:nvSpPr>
          <p:cNvPr id="1566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3225382A-36B1-4D3E-85C2-9C863898EE9F}" type="slidenum">
              <a:rPr lang="zh-CN" altLang="en-US" smtClean="0">
                <a:solidFill>
                  <a:srgbClr val="000000"/>
                </a:solidFill>
                <a:ea typeface="宋体" panose="02010600030101010101" pitchFamily="2" charset="-122"/>
              </a:rPr>
              <a:t>66</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76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smtClean="0"/>
              <a:t>OK</a:t>
            </a:r>
            <a:r>
              <a:rPr lang="zh-CN" altLang="en-US" dirty="0" smtClean="0"/>
              <a:t>中是否需要到</a:t>
            </a:r>
            <a:r>
              <a:rPr lang="en-US" altLang="zh-CN" dirty="0" smtClean="0"/>
              <a:t>n</a:t>
            </a:r>
            <a:r>
              <a:rPr lang="zh-CN" altLang="en-US" dirty="0" smtClean="0"/>
              <a:t>，不需要，对于当前位置的结点来说，</a:t>
            </a:r>
            <a:r>
              <a:rPr lang="en-US" altLang="zh-CN" dirty="0" smtClean="0"/>
              <a:t>t</a:t>
            </a:r>
            <a:r>
              <a:rPr lang="zh-CN" altLang="en-US" dirty="0" smtClean="0"/>
              <a:t>之后都没有着色，因此检测</a:t>
            </a:r>
            <a:r>
              <a:rPr lang="en-US" altLang="zh-CN" dirty="0" smtClean="0"/>
              <a:t>t-n</a:t>
            </a:r>
            <a:r>
              <a:rPr lang="zh-CN" altLang="en-US" dirty="0" smtClean="0"/>
              <a:t>是没有用的，只需要到</a:t>
            </a:r>
            <a:r>
              <a:rPr lang="en-US" altLang="zh-CN" dirty="0" smtClean="0"/>
              <a:t>t-1</a:t>
            </a:r>
            <a:r>
              <a:rPr lang="zh-CN" altLang="en-US" dirty="0" smtClean="0"/>
              <a:t>即可；</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回退，</a:t>
            </a:r>
            <a:r>
              <a:rPr lang="en-US" altLang="zh-CN" dirty="0" smtClean="0"/>
              <a:t>t</a:t>
            </a:r>
            <a:r>
              <a:rPr lang="zh-CN" altLang="en-US" dirty="0" smtClean="0"/>
              <a:t>放的值不影响</a:t>
            </a:r>
            <a:r>
              <a:rPr lang="en-US" altLang="zh-CN" dirty="0" smtClean="0"/>
              <a:t>t-1</a:t>
            </a:r>
            <a:r>
              <a:rPr lang="zh-CN" altLang="en-US" dirty="0" smtClean="0"/>
              <a:t>怎么放，因为</a:t>
            </a:r>
            <a:r>
              <a:rPr lang="en-US" altLang="zh-CN" dirty="0" smtClean="0"/>
              <a:t>OK</a:t>
            </a:r>
            <a:r>
              <a:rPr lang="zh-CN" altLang="en-US" dirty="0" smtClean="0"/>
              <a:t>不考虑</a:t>
            </a:r>
            <a:r>
              <a:rPr lang="en-US" altLang="zh-CN" dirty="0" smtClean="0"/>
              <a:t>t-1</a:t>
            </a:r>
            <a:r>
              <a:rPr lang="zh-CN" altLang="en-US" dirty="0" smtClean="0"/>
              <a:t>后面的值；</a:t>
            </a:r>
            <a:endParaRPr lang="en-US" altLang="zh-CN" dirty="0" smtClean="0"/>
          </a:p>
          <a:p>
            <a:pPr eaLnBrk="1" hangingPunct="1">
              <a:spcBef>
                <a:spcPct val="0"/>
              </a:spcBef>
            </a:pPr>
            <a:r>
              <a:rPr lang="zh-CN" altLang="en-US" dirty="0" smtClean="0"/>
              <a:t>前进，</a:t>
            </a:r>
            <a:r>
              <a:rPr lang="en-US" altLang="zh-CN" dirty="0" smtClean="0"/>
              <a:t>t</a:t>
            </a:r>
            <a:r>
              <a:rPr lang="zh-CN" altLang="en-US" dirty="0" smtClean="0"/>
              <a:t>之前放的什么不影响，因为每次都从</a:t>
            </a:r>
            <a:r>
              <a:rPr lang="en-US" altLang="zh-CN" dirty="0" smtClean="0"/>
              <a:t>1</a:t>
            </a:r>
            <a:r>
              <a:rPr lang="zh-CN" altLang="en-US" dirty="0" smtClean="0"/>
              <a:t>到</a:t>
            </a:r>
            <a:r>
              <a:rPr lang="en-US" altLang="zh-CN" dirty="0" smtClean="0"/>
              <a:t>m</a:t>
            </a:r>
            <a:r>
              <a:rPr lang="zh-CN" altLang="en-US" dirty="0" smtClean="0"/>
              <a:t>挨个放的；</a:t>
            </a:r>
            <a:endParaRPr lang="en-US" altLang="zh-CN" dirty="0" smtClean="0"/>
          </a:p>
          <a:p>
            <a:pPr eaLnBrk="1" hangingPunct="1">
              <a:spcBef>
                <a:spcPct val="0"/>
              </a:spcBef>
            </a:pPr>
            <a:r>
              <a:rPr lang="zh-CN" altLang="en-US" dirty="0" smtClean="0"/>
              <a:t>因此</a:t>
            </a:r>
            <a:r>
              <a:rPr lang="en-US" altLang="zh-CN" dirty="0" smtClean="0"/>
              <a:t>x[t]=0</a:t>
            </a:r>
            <a:r>
              <a:rPr lang="zh-CN" altLang="en-US" dirty="0" smtClean="0"/>
              <a:t>不需要</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左边是书上关于着色问题的代码，右侧是</a:t>
            </a:r>
            <a:r>
              <a:rPr lang="en-US" altLang="zh-CN" dirty="0" err="1" smtClean="0"/>
              <a:t>Nqueen</a:t>
            </a:r>
            <a:r>
              <a:rPr lang="zh-CN" altLang="en-US" dirty="0" smtClean="0"/>
              <a:t>问题的代码。可以看到两者几乎一样。</a:t>
            </a:r>
            <a:endParaRPr lang="en-US" altLang="zh-CN" dirty="0" smtClean="0"/>
          </a:p>
          <a:p>
            <a:pPr eaLnBrk="1" hangingPunct="1">
              <a:spcBef>
                <a:spcPct val="0"/>
              </a:spcBef>
            </a:pPr>
            <a:endParaRPr lang="zh-CN" altLang="en-US" dirty="0" smtClean="0"/>
          </a:p>
        </p:txBody>
      </p:sp>
      <p:sp>
        <p:nvSpPr>
          <p:cNvPr id="1577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4E20612A-9210-46C9-B2F0-70E8130555EE}" type="slidenum">
              <a:rPr lang="zh-CN" altLang="en-US" smtClean="0">
                <a:solidFill>
                  <a:srgbClr val="000000"/>
                </a:solidFill>
                <a:ea typeface="宋体" panose="02010600030101010101" pitchFamily="2" charset="-122"/>
              </a:rPr>
              <a:t>67</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87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smtClean="0"/>
              <a:t>n</a:t>
            </a:r>
            <a:r>
              <a:rPr lang="zh-CN" altLang="en-US" dirty="0" smtClean="0"/>
              <a:t>不会有问题，只是效率低；</a:t>
            </a:r>
            <a:endParaRPr lang="en-US" altLang="zh-CN" dirty="0" smtClean="0"/>
          </a:p>
          <a:p>
            <a:pPr eaLnBrk="1" hangingPunct="1">
              <a:spcBef>
                <a:spcPct val="0"/>
              </a:spcBef>
            </a:pPr>
            <a:r>
              <a:rPr lang="en-US" altLang="zh-CN" dirty="0" smtClean="0"/>
              <a:t>x[t] = 0,</a:t>
            </a:r>
            <a:r>
              <a:rPr lang="zh-CN" altLang="en-US" dirty="0" smtClean="0"/>
              <a:t>也不会有问题，只是效率低？</a:t>
            </a:r>
          </a:p>
        </p:txBody>
      </p:sp>
      <p:sp>
        <p:nvSpPr>
          <p:cNvPr id="1587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3E88C1AF-80A7-48CF-B71C-4DEDB3007EB7}" type="slidenum">
              <a:rPr lang="zh-CN" altLang="en-US" smtClean="0">
                <a:solidFill>
                  <a:srgbClr val="000000"/>
                </a:solidFill>
                <a:ea typeface="宋体" panose="02010600030101010101" pitchFamily="2" charset="-122"/>
              </a:rPr>
              <a:t>68</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97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597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FB693465-D00A-4F26-8619-5E0DAE15A906}" type="slidenum">
              <a:rPr lang="zh-CN" altLang="en-US" smtClean="0">
                <a:solidFill>
                  <a:srgbClr val="000000"/>
                </a:solidFill>
                <a:ea typeface="宋体" panose="02010600030101010101" pitchFamily="2" charset="-122"/>
              </a:rPr>
              <a:t>69</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07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共</a:t>
            </a:r>
            <a:r>
              <a:rPr lang="en-US" altLang="zh-CN" smtClean="0"/>
              <a:t>18</a:t>
            </a:r>
            <a:r>
              <a:rPr lang="zh-CN" altLang="en-US" smtClean="0"/>
              <a:t>种方案</a:t>
            </a:r>
          </a:p>
        </p:txBody>
      </p:sp>
      <p:sp>
        <p:nvSpPr>
          <p:cNvPr id="1607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1D9EB991-A345-41B4-8B8D-00B132C130E3}" type="slidenum">
              <a:rPr lang="zh-CN" altLang="en-US" smtClean="0">
                <a:solidFill>
                  <a:srgbClr val="000000"/>
                </a:solidFill>
                <a:ea typeface="宋体" panose="02010600030101010101" pitchFamily="2" charset="-122"/>
              </a:rPr>
              <a:t>70</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17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err="1" smtClean="0"/>
              <a:t>deepSeek</a:t>
            </a:r>
            <a:r>
              <a:rPr lang="zh-CN" altLang="en-US" smtClean="0"/>
              <a:t>回答错误</a:t>
            </a:r>
          </a:p>
        </p:txBody>
      </p:sp>
      <p:sp>
        <p:nvSpPr>
          <p:cNvPr id="1617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21416733-8272-4B70-84FB-A10BA2375544}" type="slidenum">
              <a:rPr lang="zh-CN" altLang="en-US" smtClean="0">
                <a:solidFill>
                  <a:srgbClr val="000000"/>
                </a:solidFill>
                <a:ea typeface="宋体" panose="02010600030101010101" pitchFamily="2" charset="-122"/>
              </a:rPr>
              <a:t>71</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28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首先这是一个子集树问题，每个位上都有</a:t>
            </a:r>
            <a:r>
              <a:rPr lang="en-US" altLang="zh-CN" dirty="0" smtClean="0"/>
              <a:t>0-9</a:t>
            </a:r>
            <a:r>
              <a:rPr lang="zh-CN" altLang="en-US" dirty="0" smtClean="0"/>
              <a:t>最多</a:t>
            </a:r>
            <a:r>
              <a:rPr lang="en-US" altLang="zh-CN" dirty="0" smtClean="0"/>
              <a:t>10</a:t>
            </a:r>
            <a:r>
              <a:rPr lang="zh-CN" altLang="en-US" dirty="0" smtClean="0"/>
              <a:t>种选择；另外不知道这个数的位数，因此没找到一个值需要判断和之前的值哪个大，存储哪个？</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关于</a:t>
            </a:r>
            <a:r>
              <a:rPr lang="en-US" altLang="zh-CN" dirty="0" smtClean="0"/>
              <a:t>check</a:t>
            </a:r>
            <a:r>
              <a:rPr lang="zh-CN" altLang="en-US" dirty="0" smtClean="0"/>
              <a:t>，这里需要注意</a:t>
            </a:r>
            <a:r>
              <a:rPr lang="en-US" altLang="zh-CN" dirty="0" smtClean="0"/>
              <a:t>check</a:t>
            </a:r>
            <a:r>
              <a:rPr lang="zh-CN" altLang="en-US" dirty="0" smtClean="0"/>
              <a:t>的时候数太大，存储溢出的问题，故用了取余，举</a:t>
            </a:r>
            <a:r>
              <a:rPr lang="en-US" altLang="zh-CN" dirty="0" smtClean="0"/>
              <a:t>52%2</a:t>
            </a:r>
            <a:r>
              <a:rPr lang="zh-CN" altLang="en-US" dirty="0" smtClean="0"/>
              <a:t>的例子，取余后</a:t>
            </a:r>
            <a:r>
              <a:rPr lang="en-US" altLang="zh-CN" dirty="0" smtClean="0"/>
              <a:t>12%2</a:t>
            </a:r>
            <a:r>
              <a:rPr lang="zh-CN" altLang="en-US" dirty="0" smtClean="0"/>
              <a:t>，</a:t>
            </a:r>
            <a:r>
              <a:rPr lang="en-US" altLang="zh-CN" dirty="0" smtClean="0"/>
              <a:t> </a:t>
            </a:r>
            <a:r>
              <a:rPr lang="zh-CN" altLang="en-US" dirty="0" smtClean="0"/>
              <a:t>取余前</a:t>
            </a:r>
            <a:r>
              <a:rPr lang="en-US" altLang="zh-CN" dirty="0" smtClean="0"/>
              <a:t>(12+20*2)%2 =12%2</a:t>
            </a:r>
            <a:r>
              <a:rPr lang="zh-CN" altLang="en-US" dirty="0" smtClean="0"/>
              <a:t>，实际上</a:t>
            </a:r>
            <a:r>
              <a:rPr lang="en-US" altLang="zh-CN" dirty="0" smtClean="0"/>
              <a:t>20</a:t>
            </a:r>
            <a:r>
              <a:rPr lang="zh-CN" altLang="en-US" dirty="0" smtClean="0"/>
              <a:t>*</a:t>
            </a:r>
            <a:r>
              <a:rPr lang="en-US" altLang="zh-CN" dirty="0" smtClean="0"/>
              <a:t>2</a:t>
            </a:r>
            <a:r>
              <a:rPr lang="zh-CN" altLang="en-US" dirty="0" smtClean="0"/>
              <a:t>是</a:t>
            </a:r>
            <a:r>
              <a:rPr lang="en-US" altLang="zh-CN" dirty="0" smtClean="0"/>
              <a:t>2</a:t>
            </a:r>
            <a:r>
              <a:rPr lang="zh-CN" altLang="en-US" dirty="0" smtClean="0"/>
              <a:t>的倍数，加进去并不影响取余的结果，去掉可以使得数减小。</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加取余：</a:t>
            </a:r>
            <a:r>
              <a:rPr lang="en-US" altLang="zh-CN" dirty="0" smtClean="0"/>
              <a:t>5%2 =1 1</a:t>
            </a:r>
            <a:r>
              <a:rPr lang="zh-CN" altLang="en-US" dirty="0" smtClean="0"/>
              <a:t>*</a:t>
            </a:r>
            <a:r>
              <a:rPr lang="en-US" altLang="zh-CN" dirty="0" smtClean="0"/>
              <a:t>10 + 2 = 12</a:t>
            </a:r>
            <a:r>
              <a:rPr lang="zh-CN" altLang="en-US" dirty="0" smtClean="0"/>
              <a:t>；</a:t>
            </a:r>
            <a:endParaRPr lang="en-US" altLang="zh-CN" dirty="0" smtClean="0"/>
          </a:p>
          <a:p>
            <a:pPr eaLnBrk="1" hangingPunct="1">
              <a:spcBef>
                <a:spcPct val="0"/>
              </a:spcBef>
            </a:pPr>
            <a:r>
              <a:rPr lang="zh-CN" altLang="en-US" dirty="0" smtClean="0"/>
              <a:t>不加</a:t>
            </a:r>
            <a:r>
              <a:rPr lang="zh-CN" altLang="en-US" dirty="0" smtClean="0">
                <a:sym typeface="Wingdings" panose="05000000000000000000" pitchFamily="2" charset="2"/>
              </a:rPr>
              <a:t>：（</a:t>
            </a:r>
            <a:r>
              <a:rPr lang="en-US" altLang="zh-CN" dirty="0" smtClean="0">
                <a:sym typeface="Wingdings" panose="05000000000000000000" pitchFamily="2" charset="2"/>
              </a:rPr>
              <a:t>2</a:t>
            </a:r>
            <a:r>
              <a:rPr lang="zh-CN" altLang="en-US" dirty="0" smtClean="0">
                <a:sym typeface="Wingdings" panose="05000000000000000000" pitchFamily="2" charset="2"/>
              </a:rPr>
              <a:t>*</a:t>
            </a:r>
            <a:r>
              <a:rPr lang="en-US" altLang="zh-CN" dirty="0" smtClean="0">
                <a:sym typeface="Wingdings" panose="05000000000000000000" pitchFamily="2" charset="2"/>
              </a:rPr>
              <a:t>2 + 1</a:t>
            </a:r>
            <a:r>
              <a:rPr lang="zh-CN" altLang="en-US" dirty="0" smtClean="0">
                <a:sym typeface="Wingdings" panose="05000000000000000000" pitchFamily="2" charset="2"/>
              </a:rPr>
              <a:t>）*</a:t>
            </a:r>
            <a:r>
              <a:rPr lang="en-US" altLang="zh-CN" dirty="0" smtClean="0">
                <a:sym typeface="Wingdings" panose="05000000000000000000" pitchFamily="2" charset="2"/>
              </a:rPr>
              <a:t>10 + 2 = 20</a:t>
            </a:r>
            <a:r>
              <a:rPr lang="zh-CN" altLang="en-US" dirty="0" smtClean="0">
                <a:sym typeface="Wingdings" panose="05000000000000000000" pitchFamily="2" charset="2"/>
              </a:rPr>
              <a:t>*</a:t>
            </a:r>
            <a:r>
              <a:rPr lang="en-US" altLang="zh-CN" dirty="0" smtClean="0">
                <a:sym typeface="Wingdings" panose="05000000000000000000" pitchFamily="2" charset="2"/>
              </a:rPr>
              <a:t>2 + 12 = </a:t>
            </a:r>
            <a:r>
              <a:rPr lang="en-US" altLang="zh-CN" dirty="0" err="1" smtClean="0">
                <a:sym typeface="Wingdings" panose="05000000000000000000" pitchFamily="2" charset="2"/>
              </a:rPr>
              <a:t>2x</a:t>
            </a:r>
            <a:r>
              <a:rPr lang="en-US" altLang="zh-CN" dirty="0" smtClean="0">
                <a:sym typeface="Wingdings" panose="05000000000000000000" pitchFamily="2" charset="2"/>
              </a:rPr>
              <a:t> + 12,</a:t>
            </a:r>
            <a:r>
              <a:rPr lang="zh-CN" altLang="en-US" dirty="0" smtClean="0">
                <a:sym typeface="Wingdings" panose="05000000000000000000" pitchFamily="2" charset="2"/>
              </a:rPr>
              <a:t>多出的部分是</a:t>
            </a:r>
            <a:r>
              <a:rPr lang="en-US" altLang="zh-CN" dirty="0" smtClean="0">
                <a:sym typeface="Wingdings" panose="05000000000000000000" pitchFamily="2" charset="2"/>
              </a:rPr>
              <a:t>2</a:t>
            </a:r>
            <a:r>
              <a:rPr lang="zh-CN" altLang="en-US" dirty="0" smtClean="0">
                <a:sym typeface="Wingdings" panose="05000000000000000000" pitchFamily="2" charset="2"/>
              </a:rPr>
              <a:t>的倍数，对取余不影响；</a:t>
            </a:r>
            <a:endParaRPr lang="zh-CN" altLang="en-US" dirty="0" smtClean="0"/>
          </a:p>
        </p:txBody>
      </p:sp>
      <p:sp>
        <p:nvSpPr>
          <p:cNvPr id="1628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1F8FF782-A3B9-47F0-9D01-99502E0C43C8}" type="slidenum">
              <a:rPr lang="zh-CN" altLang="en-US" smtClean="0">
                <a:solidFill>
                  <a:srgbClr val="000000"/>
                </a:solidFill>
                <a:ea typeface="宋体" panose="02010600030101010101" pitchFamily="2" charset="-122"/>
              </a:rPr>
              <a:t>72</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1075" name="备注占位符 2"/>
          <p:cNvSpPr>
            <a:spLocks noGrp="1"/>
          </p:cNvSpPr>
          <p:nvPr>
            <p:ph type="body" idx="1"/>
          </p:nvPr>
        </p:nvSpPr>
        <p:spPr bwMode="auto"/>
        <p:txBody>
          <a:bodyPr wrap="square" numCol="1" anchor="t" anchorCtr="0" compatLnSpc="1"/>
          <a:lstStyle/>
          <a:p>
            <a:pPr eaLnBrk="1" hangingPunct="1">
              <a:spcBef>
                <a:spcPct val="0"/>
              </a:spcBef>
              <a:defRPr/>
            </a:pPr>
            <a:r>
              <a:rPr lang="zh-CN" altLang="en-US" kern="0"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好的约束函数能显著地减少所生成的结点数。但这样的约束函数往往计算量较大。因此，在选择约束函数时通常存在生成结点数与约束函数计算量之间的折衷。</a:t>
            </a:r>
          </a:p>
          <a:p>
            <a:pPr eaLnBrk="1" hangingPunct="1">
              <a:spcBef>
                <a:spcPct val="0"/>
              </a:spcBef>
              <a:defRPr/>
            </a:pPr>
            <a:endParaRPr lang="zh-CN" altLang="en-US" dirty="0" smtClean="0"/>
          </a:p>
        </p:txBody>
      </p:sp>
      <p:sp>
        <p:nvSpPr>
          <p:cNvPr id="163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ACCE5C1B-CFB2-4C55-B5B4-215CAB2D156A}" type="slidenum">
              <a:rPr lang="zh-CN" altLang="en-US" smtClean="0">
                <a:solidFill>
                  <a:srgbClr val="000000"/>
                </a:solidFill>
                <a:ea typeface="宋体" panose="02010600030101010101" pitchFamily="2" charset="-122"/>
              </a:rPr>
              <a:t>73</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1075" name="备注占位符 2"/>
          <p:cNvSpPr>
            <a:spLocks noGrp="1"/>
          </p:cNvSpPr>
          <p:nvPr>
            <p:ph type="body" idx="1"/>
          </p:nvPr>
        </p:nvSpPr>
        <p:spPr bwMode="auto"/>
        <p:txBody>
          <a:bodyPr wrap="square" numCol="1" anchor="t" anchorCtr="0" compatLnSpc="1"/>
          <a:lstStyle/>
          <a:p>
            <a:pPr eaLnBrk="1" hangingPunct="1">
              <a:spcBef>
                <a:spcPct val="0"/>
              </a:spcBef>
              <a:defRPr/>
            </a:pPr>
            <a:r>
              <a:rPr lang="zh-CN" altLang="en-US" kern="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好的约束函数能显著地减少所生成的结点数。但这样的约束函数往往计算量较大。因此，在选择约束函数时通常存在生成结点数与约束函数计算量之间的折衷。</a:t>
            </a:r>
          </a:p>
          <a:p>
            <a:pPr eaLnBrk="1" hangingPunct="1">
              <a:spcBef>
                <a:spcPct val="0"/>
              </a:spcBef>
              <a:defRPr/>
            </a:pPr>
            <a:endParaRPr lang="zh-CN" altLang="en-US" smtClean="0"/>
          </a:p>
        </p:txBody>
      </p:sp>
      <p:sp>
        <p:nvSpPr>
          <p:cNvPr id="1648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AB25CB2B-B6BE-4F5E-A2E2-C99C188C4A4E}" type="slidenum">
              <a:rPr lang="zh-CN" altLang="en-US" smtClean="0">
                <a:solidFill>
                  <a:srgbClr val="000000"/>
                </a:solidFill>
                <a:ea typeface="宋体" panose="02010600030101010101" pitchFamily="2" charset="-122"/>
              </a:rPr>
              <a:t>74</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52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讲解回溯法得到的解的好坏，是由一步一步下探累加的结果决定的。如果将每一步下探比作个人的所作所为，那么最终的结果即为所有人所作所为得到的结果。由此可知，每个人的所作所为可能是渺小的，但所有的重大的变革和发展都最终是众多个体努力的结果，教导学生应该具备螺丝钉的实干精神。</a:t>
            </a:r>
            <a:endParaRPr lang="en-US" altLang="zh-CN" dirty="0" smtClean="0"/>
          </a:p>
        </p:txBody>
      </p:sp>
      <p:sp>
        <p:nvSpPr>
          <p:cNvPr id="952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376E82E7-2255-4068-B122-7D670EB2C0F5}" type="slidenum">
              <a:rPr lang="zh-CN" altLang="en-US" smtClean="0">
                <a:solidFill>
                  <a:srgbClr val="000000"/>
                </a:solidFill>
                <a:ea typeface="宋体" panose="02010600030101010101" pitchFamily="2" charset="-122"/>
              </a:rPr>
              <a:t>75</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5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65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CB6E2950-ED7F-42ED-8E03-DAB0A1C1A837}" type="slidenum">
              <a:rPr lang="zh-CN" altLang="en-US" smtClean="0">
                <a:solidFill>
                  <a:srgbClr val="000000"/>
                </a:solidFill>
                <a:ea typeface="宋体" panose="02010600030101010101" pitchFamily="2" charset="-122"/>
              </a:rPr>
              <a:t>76</a:t>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5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导致的问题，很难回到根结点，探索前面的步骤的其它走法；如果前面走得不好，那么再怎么搜索都不会得到好的解。</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可以采用函数优先的选点搜索方式，函数和深度优先结合的方式，或者循环深度优先的方式</a:t>
            </a:r>
            <a:endParaRPr lang="en-US" altLang="zh-CN" dirty="0" smtClean="0"/>
          </a:p>
          <a:p>
            <a:pPr eaLnBrk="1" hangingPunct="1">
              <a:spcBef>
                <a:spcPct val="0"/>
              </a:spcBef>
            </a:pPr>
            <a:endParaRPr lang="zh-CN" altLang="en-US" dirty="0" smtClean="0"/>
          </a:p>
        </p:txBody>
      </p:sp>
      <p:sp>
        <p:nvSpPr>
          <p:cNvPr id="165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CB6E2950-ED7F-42ED-8E03-DAB0A1C1A837}" type="slidenum">
              <a:rPr lang="zh-CN" altLang="en-US" smtClean="0">
                <a:solidFill>
                  <a:srgbClr val="000000"/>
                </a:solidFill>
                <a:ea typeface="宋体" panose="02010600030101010101" pitchFamily="2" charset="-122"/>
              </a:rPr>
              <a:t>77</a:t>
            </a:fld>
            <a:endParaRPr lang="zh-CN" altLang="en-US" smtClean="0">
              <a:solidFill>
                <a:srgbClr val="000000"/>
              </a:solidFill>
              <a:ea typeface="宋体" panose="02010600030101010101" pitchFamily="2" charset="-122"/>
            </a:endParaRPr>
          </a:p>
        </p:txBody>
      </p:sp>
    </p:spTree>
    <p:extLst>
      <p:ext uri="{BB962C8B-B14F-4D97-AF65-F5344CB8AC3E}">
        <p14:creationId xmlns:p14="http://schemas.microsoft.com/office/powerpoint/2010/main" val="16440828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69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
        <p:nvSpPr>
          <p:cNvPr id="1669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EAC13897-924B-48E1-BDF5-6C085F13D18D}" type="slidenum">
              <a:rPr lang="zh-CN" altLang="en-US" smtClean="0"/>
              <a:t>78</a:t>
            </a:fld>
            <a:endParaRPr lang="zh-CN" altLang="en-US"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5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导致的问题，很难回到根结点，探索前面的步骤的其它走法；如果前面走得不好，那么再怎么搜索都不会得到好的解。</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可以采用函数优先的选点搜索方式，函数和深度优先结合的方式，或者循环深度优先的方式</a:t>
            </a:r>
            <a:endParaRPr lang="en-US" altLang="zh-CN" dirty="0" smtClean="0"/>
          </a:p>
          <a:p>
            <a:pPr eaLnBrk="1" hangingPunct="1">
              <a:spcBef>
                <a:spcPct val="0"/>
              </a:spcBef>
            </a:pPr>
            <a:endParaRPr lang="zh-CN" altLang="en-US" dirty="0" smtClean="0"/>
          </a:p>
        </p:txBody>
      </p:sp>
      <p:sp>
        <p:nvSpPr>
          <p:cNvPr id="165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CB6E2950-ED7F-42ED-8E03-DAB0A1C1A837}" type="slidenum">
              <a:rPr lang="zh-CN" altLang="en-US" smtClean="0">
                <a:solidFill>
                  <a:srgbClr val="000000"/>
                </a:solidFill>
                <a:ea typeface="宋体" panose="02010600030101010101" pitchFamily="2" charset="-122"/>
              </a:rPr>
              <a:t>79</a:t>
            </a:fld>
            <a:endParaRPr lang="zh-CN" altLang="en-US" smtClean="0">
              <a:solidFill>
                <a:srgbClr val="000000"/>
              </a:solidFill>
              <a:ea typeface="宋体" panose="02010600030101010101" pitchFamily="2" charset="-122"/>
            </a:endParaRPr>
          </a:p>
        </p:txBody>
      </p:sp>
    </p:spTree>
    <p:extLst>
      <p:ext uri="{BB962C8B-B14F-4D97-AF65-F5344CB8AC3E}">
        <p14:creationId xmlns:p14="http://schemas.microsoft.com/office/powerpoint/2010/main" val="111245829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69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
        <p:nvSpPr>
          <p:cNvPr id="1669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EAC13897-924B-48E1-BDF5-6C085F13D18D}" type="slidenum">
              <a:rPr lang="zh-CN" altLang="en-US" smtClean="0"/>
              <a:t>80</a:t>
            </a:fld>
            <a:endParaRPr lang="zh-CN" altLang="en-US" smtClean="0"/>
          </a:p>
        </p:txBody>
      </p:sp>
    </p:spTree>
    <p:extLst>
      <p:ext uri="{BB962C8B-B14F-4D97-AF65-F5344CB8AC3E}">
        <p14:creationId xmlns:p14="http://schemas.microsoft.com/office/powerpoint/2010/main" val="38682724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组合 8"/>
          <p:cNvGrpSpPr/>
          <p:nvPr/>
        </p:nvGrpSpPr>
        <p:grpSpPr bwMode="auto">
          <a:xfrm>
            <a:off x="0" y="706438"/>
            <a:ext cx="9144000" cy="4875212"/>
            <a:chOff x="0" y="1395055"/>
            <a:chExt cx="9144000" cy="3762130"/>
          </a:xfrm>
        </p:grpSpPr>
        <p:pic>
          <p:nvPicPr>
            <p:cNvPr id="5" name="Picture 2" descr="D:\SLIDEtoME\TP模板\新建文件夹 (9)\bg2.jpg"/>
            <p:cNvPicPr>
              <a:picLocks noChangeAspect="1" noChangeArrowheads="1"/>
            </p:cNvPicPr>
            <p:nvPr/>
          </p:nvPicPr>
          <p:blipFill>
            <a:blip r:embed="rId2">
              <a:extLst>
                <a:ext uri="{28A0092B-C50C-407E-A947-70E740481C1C}">
                  <a14:useLocalDpi xmlns:a14="http://schemas.microsoft.com/office/drawing/2010/main" val="0"/>
                </a:ext>
              </a:extLst>
            </a:blip>
            <a:srcRect t="18394" b="35513"/>
            <a:stretch>
              <a:fillRect/>
            </a:stretch>
          </p:blipFill>
          <p:spPr bwMode="auto">
            <a:xfrm>
              <a:off x="0" y="1694062"/>
              <a:ext cx="9144000" cy="316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0" y="1395055"/>
              <a:ext cx="9144000" cy="614975"/>
            </a:xfrm>
            <a:prstGeom prst="rect">
              <a:avLst/>
            </a:prstGeom>
            <a:solidFill>
              <a:schemeClr val="bg1">
                <a:alpha val="6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200" dirty="0"/>
            </a:p>
          </p:txBody>
        </p:sp>
        <p:sp>
          <p:nvSpPr>
            <p:cNvPr id="7" name="矩形 6"/>
            <p:cNvSpPr/>
            <p:nvPr/>
          </p:nvSpPr>
          <p:spPr>
            <a:xfrm>
              <a:off x="0" y="4542210"/>
              <a:ext cx="9144000" cy="614975"/>
            </a:xfrm>
            <a:prstGeom prst="rect">
              <a:avLst/>
            </a:prstGeom>
            <a:solidFill>
              <a:schemeClr val="bg1">
                <a:alpha val="6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200" dirty="0"/>
            </a:p>
          </p:txBody>
        </p:sp>
      </p:grpSp>
      <p:sp>
        <p:nvSpPr>
          <p:cNvPr id="2" name="Title 1"/>
          <p:cNvSpPr>
            <a:spLocks noGrp="1"/>
          </p:cNvSpPr>
          <p:nvPr>
            <p:ph type="ctrTitle"/>
          </p:nvPr>
        </p:nvSpPr>
        <p:spPr>
          <a:xfrm>
            <a:off x="2686050" y="2057401"/>
            <a:ext cx="6243638" cy="1247775"/>
          </a:xfrm>
        </p:spPr>
        <p:txBody>
          <a:bodyPr anchor="b">
            <a:normAutofit/>
          </a:bodyPr>
          <a:lstStyle>
            <a:lvl1pPr algn="ctr">
              <a:defRPr sz="2325" b="1">
                <a:solidFill>
                  <a:schemeClr val="bg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2686050" y="3459162"/>
            <a:ext cx="6243638" cy="437499"/>
          </a:xfrm>
        </p:spPr>
        <p:txBody>
          <a:bodyPr/>
          <a:lstStyle>
            <a:lvl1pPr marL="0" indent="0" algn="ctr">
              <a:buNone/>
              <a:defRPr sz="135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en-US" dirty="0"/>
          </a:p>
        </p:txBody>
      </p:sp>
      <p:sp>
        <p:nvSpPr>
          <p:cNvPr id="8" name="Date Placeholder 3"/>
          <p:cNvSpPr>
            <a:spLocks noGrp="1"/>
          </p:cNvSpPr>
          <p:nvPr>
            <p:ph type="dt" sz="half" idx="10"/>
          </p:nvPr>
        </p:nvSpPr>
        <p:spPr/>
        <p:txBody>
          <a:bodyPr/>
          <a:lstStyle>
            <a:lvl1pPr>
              <a:defRPr/>
            </a:lvl1pPr>
          </a:lstStyle>
          <a:p>
            <a:pPr>
              <a:defRPr/>
            </a:pPr>
            <a:fld id="{8297525C-8A52-494C-B2E0-9071D8466AE4}" type="datetime1">
              <a:rPr lang="zh-CN" altLang="en-US"/>
              <a:t>2025/10/10</a:t>
            </a:fld>
            <a:endParaRPr lang="zh-CN" altLang="en-US"/>
          </a:p>
        </p:txBody>
      </p:sp>
      <p:sp>
        <p:nvSpPr>
          <p:cNvPr id="9" name="Footer Placeholder 4"/>
          <p:cNvSpPr>
            <a:spLocks noGrp="1"/>
          </p:cNvSpPr>
          <p:nvPr>
            <p:ph type="ftr" sz="quarter" idx="11"/>
          </p:nvPr>
        </p:nvSpPr>
        <p:spPr/>
        <p:txBody>
          <a:bodyPr/>
          <a:lstStyle>
            <a:lvl1pPr>
              <a:defRPr/>
            </a:lvl1pPr>
          </a:lstStyle>
          <a:p>
            <a:pPr>
              <a:defRPr/>
            </a:pPr>
            <a:endParaRPr lang="zh-CN" altLang="en-US"/>
          </a:p>
        </p:txBody>
      </p:sp>
      <p:sp>
        <p:nvSpPr>
          <p:cNvPr id="10" name="Slide Number Placeholder 5"/>
          <p:cNvSpPr>
            <a:spLocks noGrp="1"/>
          </p:cNvSpPr>
          <p:nvPr>
            <p:ph type="sldNum" sz="quarter" idx="12"/>
          </p:nvPr>
        </p:nvSpPr>
        <p:spPr/>
        <p:txBody>
          <a:bodyPr/>
          <a:lstStyle>
            <a:lvl1pPr>
              <a:defRPr/>
            </a:lvl1pPr>
          </a:lstStyle>
          <a:p>
            <a:pPr>
              <a:defRPr/>
            </a:pPr>
            <a:fld id="{DE5023B7-A14E-4E17-91A4-64F4AA2A259F}"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B935DB15-79E2-4E1D-AB83-D7FB22AEB0F5}" type="datetime1">
              <a:rPr lang="zh-CN" altLang="en-US"/>
              <a:t>2025/10/10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54C8209B-24C0-4FE1-AA29-23219C978557}"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cxnSp>
        <p:nvCxnSpPr>
          <p:cNvPr id="4" name="直接连接符 3"/>
          <p:cNvCxnSpPr/>
          <p:nvPr/>
        </p:nvCxnSpPr>
        <p:spPr>
          <a:xfrm>
            <a:off x="495300" y="0"/>
            <a:ext cx="0" cy="6858000"/>
          </a:xfrm>
          <a:prstGeom prst="line">
            <a:avLst/>
          </a:prstGeom>
          <a:ln w="63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3848100"/>
            <a:ext cx="9144000" cy="0"/>
          </a:xfrm>
          <a:prstGeom prst="line">
            <a:avLst/>
          </a:prstGeom>
          <a:ln w="63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2711450"/>
            <a:ext cx="1628775" cy="1536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zh-CN" altLang="en-US" sz="4500" dirty="0">
              <a:solidFill>
                <a:srgbClr val="FCFCFC"/>
              </a:solidFill>
              <a:latin typeface="Gungsuh" panose="02030600000101010101" pitchFamily="18" charset="-127"/>
            </a:endParaRPr>
          </a:p>
        </p:txBody>
      </p:sp>
      <p:sp>
        <p:nvSpPr>
          <p:cNvPr id="2" name="Title 1"/>
          <p:cNvSpPr>
            <a:spLocks noGrp="1"/>
          </p:cNvSpPr>
          <p:nvPr>
            <p:ph type="title"/>
          </p:nvPr>
        </p:nvSpPr>
        <p:spPr>
          <a:xfrm>
            <a:off x="1752600" y="2914650"/>
            <a:ext cx="7171134" cy="933450"/>
          </a:xfrm>
        </p:spPr>
        <p:txBody>
          <a:bodyPr>
            <a:normAutofit/>
          </a:bodyPr>
          <a:lstStyle>
            <a:lvl1pPr algn="ctr">
              <a:defRPr sz="2400">
                <a:solidFill>
                  <a:schemeClr val="accent1">
                    <a:lumMod val="75000"/>
                  </a:schemeClr>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1752600" y="3857626"/>
            <a:ext cx="7171134" cy="381000"/>
          </a:xfrm>
        </p:spPr>
        <p:txBody>
          <a:bodyPr anchor="ctr"/>
          <a:lstStyle>
            <a:lvl1pPr marL="0" indent="0" algn="ctr">
              <a:buNone/>
              <a:defRPr sz="1350">
                <a:solidFill>
                  <a:schemeClr val="accent1">
                    <a:lumMod val="60000"/>
                    <a:lumOff val="4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7" name="Date Placeholder 3"/>
          <p:cNvSpPr>
            <a:spLocks noGrp="1"/>
          </p:cNvSpPr>
          <p:nvPr>
            <p:ph type="dt" sz="half" idx="10"/>
          </p:nvPr>
        </p:nvSpPr>
        <p:spPr/>
        <p:txBody>
          <a:bodyPr/>
          <a:lstStyle>
            <a:lvl1pPr>
              <a:defRPr/>
            </a:lvl1pPr>
          </a:lstStyle>
          <a:p>
            <a:pPr>
              <a:defRPr/>
            </a:pPr>
            <a:fld id="{CD2B8DE9-716C-4F7D-9F7F-C81687CE4728}" type="datetime1">
              <a:rPr lang="zh-CN" altLang="en-US"/>
              <a:t>2025/10/10</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F9331D0C-7113-4C96-A3E8-04C0692414D4}"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33500"/>
            <a:ext cx="3886200" cy="476726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333500"/>
            <a:ext cx="3886200" cy="476726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78C60472-F3C8-4DE7-AFC1-1BB6192983E0}" type="datetime1">
              <a:rPr lang="zh-CN" altLang="en-US"/>
              <a:t>2025/10/10</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F899CA3F-26CD-4F2C-A803-035BF2A8426B}"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8650" y="188914"/>
            <a:ext cx="7886700" cy="72548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300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2266951"/>
            <a:ext cx="3868340" cy="392271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 Placeholder 4"/>
          <p:cNvSpPr>
            <a:spLocks noGrp="1"/>
          </p:cNvSpPr>
          <p:nvPr>
            <p:ph type="body" sz="quarter" idx="3"/>
          </p:nvPr>
        </p:nvSpPr>
        <p:spPr>
          <a:xfrm>
            <a:off x="4629150" y="1300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266951"/>
            <a:ext cx="3887391" cy="39227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F618AA77-FF0B-4B2D-84D2-2CAB1B662FF8}" type="datetime1">
              <a:rPr lang="zh-CN" altLang="en-US"/>
              <a:t>2025/10/10</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4E838132-3E4C-4122-B9B0-4402CED34C4F}"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空心弧 2"/>
          <p:cNvSpPr/>
          <p:nvPr/>
        </p:nvSpPr>
        <p:spPr bwMode="auto">
          <a:xfrm rot="7086271">
            <a:off x="5123656" y="3105944"/>
            <a:ext cx="1482725" cy="1112838"/>
          </a:xfrm>
          <a:prstGeom prst="blockArc">
            <a:avLst>
              <a:gd name="adj1" fmla="val 5502533"/>
              <a:gd name="adj2" fmla="val 1980318"/>
              <a:gd name="adj3" fmla="val 1053"/>
            </a:avLst>
          </a:prstGeom>
          <a:solidFill>
            <a:schemeClr val="accent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solidFill>
                <a:schemeClr val="tx1"/>
              </a:solidFill>
            </a:endParaRPr>
          </a:p>
        </p:txBody>
      </p:sp>
      <p:sp>
        <p:nvSpPr>
          <p:cNvPr id="2" name="Title 1"/>
          <p:cNvSpPr>
            <a:spLocks noGrp="1"/>
          </p:cNvSpPr>
          <p:nvPr>
            <p:ph type="title"/>
          </p:nvPr>
        </p:nvSpPr>
        <p:spPr>
          <a:xfrm>
            <a:off x="3500438" y="3271819"/>
            <a:ext cx="2657475" cy="781378"/>
          </a:xfrm>
        </p:spPr>
        <p:txBody>
          <a:bodyPr>
            <a:noAutofit/>
          </a:bodyPr>
          <a:lstStyle>
            <a:lvl1pPr algn="ctr">
              <a:defRPr sz="4500">
                <a:solidFill>
                  <a:schemeClr val="accent1"/>
                </a:solidFill>
              </a:defRPr>
            </a:lvl1pPr>
          </a:lstStyle>
          <a:p>
            <a:r>
              <a:rPr lang="zh-CN" altLang="en-US" smtClean="0"/>
              <a:t>单击此处编辑母版标题样式</a:t>
            </a:r>
            <a:endParaRPr lang="en-US" dirty="0"/>
          </a:p>
        </p:txBody>
      </p:sp>
      <p:sp>
        <p:nvSpPr>
          <p:cNvPr id="4" name="Date Placeholder 2"/>
          <p:cNvSpPr>
            <a:spLocks noGrp="1"/>
          </p:cNvSpPr>
          <p:nvPr>
            <p:ph type="dt" sz="half" idx="10"/>
          </p:nvPr>
        </p:nvSpPr>
        <p:spPr/>
        <p:txBody>
          <a:bodyPr/>
          <a:lstStyle>
            <a:lvl1pPr>
              <a:defRPr/>
            </a:lvl1pPr>
          </a:lstStyle>
          <a:p>
            <a:pPr>
              <a:defRPr/>
            </a:pPr>
            <a:fld id="{80C2B998-E002-4C4F-B0F5-4511909B9DDA}" type="datetime1">
              <a:rPr lang="zh-CN" altLang="en-US"/>
              <a:t>2025/10/10</a:t>
            </a:fld>
            <a:endParaRPr lang="zh-CN" altLang="en-US"/>
          </a:p>
        </p:txBody>
      </p:sp>
      <p:sp>
        <p:nvSpPr>
          <p:cNvPr id="5" name="Footer Placeholder 3"/>
          <p:cNvSpPr>
            <a:spLocks noGrp="1"/>
          </p:cNvSpPr>
          <p:nvPr>
            <p:ph type="ftr" sz="quarter" idx="11"/>
          </p:nvPr>
        </p:nvSpPr>
        <p:spPr/>
        <p:txBody>
          <a:bodyPr/>
          <a:lstStyle>
            <a:lvl1pPr>
              <a:defRPr/>
            </a:lvl1pPr>
          </a:lstStyle>
          <a:p>
            <a:pPr>
              <a:defRPr/>
            </a:pPr>
            <a:endParaRPr lang="zh-CN" altLang="en-US"/>
          </a:p>
        </p:txBody>
      </p:sp>
      <p:sp>
        <p:nvSpPr>
          <p:cNvPr id="6" name="Slide Number Placeholder 4"/>
          <p:cNvSpPr>
            <a:spLocks noGrp="1"/>
          </p:cNvSpPr>
          <p:nvPr>
            <p:ph type="sldNum" sz="quarter" idx="12"/>
          </p:nvPr>
        </p:nvSpPr>
        <p:spPr/>
        <p:txBody>
          <a:bodyPr/>
          <a:lstStyle>
            <a:lvl1pPr>
              <a:defRPr/>
            </a:lvl1pPr>
          </a:lstStyle>
          <a:p>
            <a:pPr>
              <a:defRPr/>
            </a:pPr>
            <a:fld id="{E76E5A45-2800-4ECC-A9B2-732FBFD656FD}"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7AC90D71-64AE-4812-8D95-1687904DAE39}" type="datetime1">
              <a:rPr lang="zh-CN" altLang="en-US"/>
              <a:t>2025/10/10</a:t>
            </a:fld>
            <a:endParaRPr lang="zh-CN" altLang="en-US"/>
          </a:p>
        </p:txBody>
      </p:sp>
      <p:sp>
        <p:nvSpPr>
          <p:cNvPr id="3" name="Footer Placeholder 2"/>
          <p:cNvSpPr>
            <a:spLocks noGrp="1"/>
          </p:cNvSpPr>
          <p:nvPr>
            <p:ph type="ftr" sz="quarter" idx="11"/>
          </p:nvPr>
        </p:nvSpPr>
        <p:spPr/>
        <p:txBody>
          <a:bodyPr/>
          <a:lstStyle>
            <a:lvl1pPr>
              <a:defRPr/>
            </a:lvl1pPr>
          </a:lstStyle>
          <a:p>
            <a:pPr>
              <a:defRPr/>
            </a:pPr>
            <a:endParaRPr lang="zh-CN" altLang="en-US"/>
          </a:p>
        </p:txBody>
      </p:sp>
      <p:sp>
        <p:nvSpPr>
          <p:cNvPr id="4" name="Slide Number Placeholder 3"/>
          <p:cNvSpPr>
            <a:spLocks noGrp="1"/>
          </p:cNvSpPr>
          <p:nvPr>
            <p:ph type="sldNum" sz="quarter" idx="12"/>
          </p:nvPr>
        </p:nvSpPr>
        <p:spPr/>
        <p:txBody>
          <a:bodyPr/>
          <a:lstStyle>
            <a:lvl1pPr>
              <a:defRPr/>
            </a:lvl1pPr>
          </a:lstStyle>
          <a:p>
            <a:pPr>
              <a:defRPr/>
            </a:pPr>
            <a:fld id="{1B5936AE-6684-47EC-949B-B5C5F3DAA282}"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043583" y="1143000"/>
            <a:ext cx="7056834" cy="685800"/>
          </a:xfrm>
        </p:spPr>
        <p:txBody>
          <a:bodyPr>
            <a:normAutofit/>
          </a:bodyPr>
          <a:lstStyle>
            <a:lvl1pPr algn="ctr">
              <a:defRPr sz="2100" b="1">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74634" y="1954211"/>
            <a:ext cx="3182257" cy="4276725"/>
          </a:xfrm>
          <a:solidFill>
            <a:srgbClr val="EEEEEE"/>
          </a:solidFill>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4704241" y="1954212"/>
            <a:ext cx="3227189" cy="4276725"/>
          </a:xfrm>
        </p:spPr>
        <p:txBody>
          <a:bodyPr/>
          <a:lstStyle>
            <a:lvl1pPr marL="0" indent="0">
              <a:buNone/>
              <a:defRPr sz="1350">
                <a:latin typeface="黑体" panose="02010609060101010101" pitchFamily="49" charset="-122"/>
                <a:ea typeface="黑体" panose="02010609060101010101" pitchFamily="49" charset="-122"/>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F3277AAD-4918-4D5E-B5E9-345B3F621B7C}" type="datetime1">
              <a:rPr lang="zh-CN" altLang="en-US"/>
              <a:t>2025/10/10</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2D84D26D-9F07-4FB4-81E1-D7B1D1B3875F}"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15237" y="365125"/>
            <a:ext cx="900113" cy="5811838"/>
          </a:xfrm>
        </p:spPr>
        <p:txBody>
          <a:bodyPr vert="eaVert"/>
          <a:lstStyle>
            <a:lvl1pPr>
              <a:defRPr>
                <a:solidFill>
                  <a:schemeClr val="accent1"/>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6872288"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544EFEE5-8BE2-47D1-9FC9-591A32C2AE12}" type="datetime1">
              <a:rPr lang="zh-CN" altLang="en-US"/>
              <a:t>2025/10/10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7FA7753-0110-4AD7-8BAC-95A0B8186C18}"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内容">
    <p:spTree>
      <p:nvGrpSpPr>
        <p:cNvPr id="1" name=""/>
        <p:cNvGrpSpPr/>
        <p:nvPr/>
      </p:nvGrpSpPr>
      <p:grpSpPr>
        <a:xfrm>
          <a:off x="0" y="0"/>
          <a:ext cx="0" cy="0"/>
          <a:chOff x="0" y="0"/>
          <a:chExt cx="0" cy="0"/>
        </a:xfrm>
      </p:grpSpPr>
      <p:sp>
        <p:nvSpPr>
          <p:cNvPr id="9" name="内容占位符 7"/>
          <p:cNvSpPr>
            <a:spLocks noGrp="1"/>
          </p:cNvSpPr>
          <p:nvPr>
            <p:ph sz="quarter" idx="13"/>
          </p:nvPr>
        </p:nvSpPr>
        <p:spPr>
          <a:xfrm>
            <a:off x="628651" y="381001"/>
            <a:ext cx="7886701" cy="5783266"/>
          </a:xfrm>
        </p:spPr>
        <p:txBody>
          <a:bodyPr/>
          <a:lstStyle>
            <a:lvl1pPr>
              <a:defRPr sz="1800"/>
            </a:lvl1pPr>
            <a:lvl2pPr>
              <a:defRPr sz="1500"/>
            </a:lvl2pPr>
            <a:lvl3pPr>
              <a:defRPr sz="1350"/>
            </a:lvl3pPr>
            <a:lvl4pPr>
              <a:defRPr sz="1350"/>
            </a:lvl4pPr>
            <a:lvl5pPr>
              <a:defRPr sz="135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4"/>
          </p:nvPr>
        </p:nvSpPr>
        <p:spPr/>
        <p:txBody>
          <a:bodyPr/>
          <a:lstStyle>
            <a:lvl1pPr>
              <a:defRPr/>
            </a:lvl1pPr>
          </a:lstStyle>
          <a:p>
            <a:pPr>
              <a:defRPr/>
            </a:pPr>
            <a:fld id="{95CD308F-307F-447E-A411-7F7B709F2F23}" type="datetime1">
              <a:rPr lang="zh-CN" altLang="en-US"/>
              <a:t>2025/10/10</a:t>
            </a:fld>
            <a:endParaRPr lang="zh-CN" altLang="en-US"/>
          </a:p>
        </p:txBody>
      </p:sp>
      <p:sp>
        <p:nvSpPr>
          <p:cNvPr id="4" name="页脚占位符 3"/>
          <p:cNvSpPr>
            <a:spLocks noGrp="1"/>
          </p:cNvSpPr>
          <p:nvPr>
            <p:ph type="ftr" sz="quarter" idx="15"/>
          </p:nvPr>
        </p:nvSpPr>
        <p:spPr/>
        <p:txBody>
          <a:bodyPr/>
          <a:lstStyle>
            <a:lvl1pPr>
              <a:defRPr/>
            </a:lvl1pPr>
          </a:lstStyle>
          <a:p>
            <a:pPr>
              <a:defRPr/>
            </a:pPr>
            <a:endParaRPr lang="zh-CN" altLang="en-US"/>
          </a:p>
        </p:txBody>
      </p:sp>
      <p:sp>
        <p:nvSpPr>
          <p:cNvPr id="5" name="灯片编号占位符 4"/>
          <p:cNvSpPr>
            <a:spLocks noGrp="1"/>
          </p:cNvSpPr>
          <p:nvPr>
            <p:ph type="sldNum" sz="quarter" idx="16"/>
          </p:nvPr>
        </p:nvSpPr>
        <p:spPr/>
        <p:txBody>
          <a:bodyPr/>
          <a:lstStyle>
            <a:lvl1pPr>
              <a:defRPr/>
            </a:lvl1pPr>
          </a:lstStyle>
          <a:p>
            <a:pPr>
              <a:defRPr/>
            </a:pPr>
            <a:fld id="{8DC409DA-2A31-4156-AAC1-16A6FD420FC7}"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descr="D:\SLIDEtoME\TP模板\新建文件夹 (9)\bg3.jpg"/>
          <p:cNvPicPr>
            <a:picLocks noChangeAspect="1" noChangeArrowheads="1"/>
          </p:cNvPicPr>
          <p:nvPr/>
        </p:nvPicPr>
        <p:blipFill>
          <a:blip r:embed="rId15">
            <a:extLst>
              <a:ext uri="{28A0092B-C50C-407E-A947-70E740481C1C}">
                <a14:useLocalDpi xmlns:a14="http://schemas.microsoft.com/office/drawing/2010/main" val="0"/>
              </a:ext>
            </a:extLst>
          </a:blip>
          <a:srcRect t="2" b="4099"/>
          <a:stretch>
            <a:fillRect/>
          </a:stretch>
        </p:blipFill>
        <p:spPr bwMode="auto">
          <a:xfrm>
            <a:off x="0" y="0"/>
            <a:ext cx="914400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custDataLst>
              <p:tags r:id="rId12"/>
            </p:custDataLst>
          </p:nvPr>
        </p:nvSpPr>
        <p:spPr bwMode="auto">
          <a:xfrm>
            <a:off x="628650" y="149225"/>
            <a:ext cx="78867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p>
        </p:txBody>
      </p:sp>
      <p:sp>
        <p:nvSpPr>
          <p:cNvPr id="1028" name="Text Placeholder 2"/>
          <p:cNvSpPr>
            <a:spLocks noGrp="1"/>
          </p:cNvSpPr>
          <p:nvPr>
            <p:ph type="body" idx="1"/>
            <p:custDataLst>
              <p:tags r:id="rId13"/>
            </p:custDataLst>
          </p:nvPr>
        </p:nvSpPr>
        <p:spPr bwMode="auto">
          <a:xfrm>
            <a:off x="628650" y="1195388"/>
            <a:ext cx="78867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defRPr sz="900">
                <a:solidFill>
                  <a:schemeClr val="tx1">
                    <a:tint val="75000"/>
                  </a:schemeClr>
                </a:solidFill>
                <a:latin typeface="+mn-lt"/>
                <a:ea typeface="+mn-ea"/>
              </a:defRPr>
            </a:lvl1pPr>
          </a:lstStyle>
          <a:p>
            <a:pPr>
              <a:defRPr/>
            </a:pPr>
            <a:fld id="{CF16AE61-BAAF-4501-B38C-6EF54AE28585}" type="datetime1">
              <a:rPr lang="zh-CN" altLang="en-US"/>
              <a:t>2025/10/10</a:t>
            </a:fld>
            <a:endParaRPr lang="zh-CN"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defRPr sz="900">
                <a:solidFill>
                  <a:schemeClr val="tx1">
                    <a:tint val="75000"/>
                  </a:schemeClr>
                </a:solidFill>
                <a:latin typeface="+mn-lt"/>
                <a:ea typeface="+mn-ea"/>
              </a:defRPr>
            </a:lvl1pPr>
          </a:lstStyle>
          <a:p>
            <a:pPr>
              <a:defRPr/>
            </a:pPr>
            <a:endParaRPr lang="zh-CN" alt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fontAlgn="auto">
              <a:spcBef>
                <a:spcPts val="0"/>
              </a:spcBef>
              <a:spcAft>
                <a:spcPts val="0"/>
              </a:spcAft>
              <a:defRPr sz="900">
                <a:solidFill>
                  <a:schemeClr val="tx1">
                    <a:tint val="75000"/>
                  </a:schemeClr>
                </a:solidFill>
                <a:latin typeface="+mn-lt"/>
                <a:ea typeface="+mn-ea"/>
              </a:defRPr>
            </a:lvl1pPr>
          </a:lstStyle>
          <a:p>
            <a:pPr>
              <a:defRPr/>
            </a:pPr>
            <a:fld id="{D39CD51F-F258-467D-8D6A-4FF993D79C5E}" type="slidenum">
              <a:rPr lang="zh-CN" altLang="en-US"/>
              <a:t>‹#›</a:t>
            </a:fld>
            <a:endParaRPr lang="zh-CN" altLang="en-US"/>
          </a:p>
        </p:txBody>
      </p:sp>
      <p:sp>
        <p:nvSpPr>
          <p:cNvPr id="8"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685800" rtl="0" eaLnBrk="0" fontAlgn="base" hangingPunct="0">
        <a:lnSpc>
          <a:spcPct val="90000"/>
        </a:lnSpc>
        <a:spcBef>
          <a:spcPct val="0"/>
        </a:spcBef>
        <a:spcAft>
          <a:spcPct val="0"/>
        </a:spcAft>
        <a:defRPr sz="2100" kern="1200">
          <a:solidFill>
            <a:schemeClr val="bg1"/>
          </a:solidFill>
          <a:latin typeface="黑体" panose="02010609060101010101" pitchFamily="49" charset="-122"/>
          <a:ea typeface="黑体" panose="02010609060101010101" pitchFamily="49" charset="-122"/>
          <a:cs typeface="+mj-cs"/>
        </a:defRPr>
      </a:lvl1pPr>
      <a:lvl2pPr algn="l" defTabSz="685800" rtl="0" eaLnBrk="0" fontAlgn="base" hangingPunct="0">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2pPr>
      <a:lvl3pPr algn="l" defTabSz="685800" rtl="0" eaLnBrk="0" fontAlgn="base" hangingPunct="0">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3pPr>
      <a:lvl4pPr algn="l" defTabSz="685800" rtl="0" eaLnBrk="0" fontAlgn="base" hangingPunct="0">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4pPr>
      <a:lvl5pPr algn="l" defTabSz="685800" rtl="0" eaLnBrk="0" fontAlgn="base" hangingPunct="0">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5pPr>
      <a:lvl6pPr marL="457200" algn="l" defTabSz="685800" rtl="0" fontAlgn="base">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6pPr>
      <a:lvl7pPr marL="914400" algn="l" defTabSz="685800" rtl="0" fontAlgn="base">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7pPr>
      <a:lvl8pPr marL="1371600" algn="l" defTabSz="685800" rtl="0" fontAlgn="base">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8pPr>
      <a:lvl9pPr marL="1828800" algn="l" defTabSz="685800" rtl="0" fontAlgn="base">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9pPr>
    </p:titleStyle>
    <p:bodyStyle>
      <a:lvl1pPr marL="171450" indent="-171450" algn="l" defTabSz="685800" rtl="0" eaLnBrk="0" fontAlgn="base" hangingPunct="0">
        <a:lnSpc>
          <a:spcPct val="90000"/>
        </a:lnSpc>
        <a:spcBef>
          <a:spcPts val="750"/>
        </a:spcBef>
        <a:spcAft>
          <a:spcPct val="0"/>
        </a:spcAft>
        <a:buClr>
          <a:schemeClr val="accent1"/>
        </a:buClr>
        <a:buSzPct val="75000"/>
        <a:buFont typeface="Wingdings" panose="05000000000000000000" pitchFamily="2" charset="2"/>
        <a:buChar char=""/>
        <a:defRPr kern="1200">
          <a:solidFill>
            <a:schemeClr val="accent1"/>
          </a:solidFill>
          <a:latin typeface="黑体" panose="02010609060101010101" pitchFamily="49" charset="-122"/>
          <a:ea typeface="黑体" panose="02010609060101010101" pitchFamily="49" charset="-122"/>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黑体" panose="02010609060101010101" pitchFamily="49" charset="-122"/>
          <a:ea typeface="黑体" panose="02010609060101010101" pitchFamily="49" charset="-122"/>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黑体" panose="02010609060101010101" pitchFamily="49" charset="-122"/>
          <a:ea typeface="黑体" panose="02010609060101010101" pitchFamily="49" charset="-122"/>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黑体" panose="02010609060101010101" pitchFamily="49" charset="-122"/>
          <a:ea typeface="黑体" panose="02010609060101010101" pitchFamily="49" charset="-122"/>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黑体" panose="02010609060101010101" pitchFamily="49" charset="-122"/>
          <a:ea typeface="黑体" panose="02010609060101010101" pitchFamily="49"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slide" Target="slide7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4.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18.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1.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31.xml"/><Relationship Id="rId7"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37.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42.xml"/><Relationship Id="rId4" Type="http://schemas.openxmlformats.org/officeDocument/2006/relationships/slide" Target="slide8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5.jpeg"/></Relationships>
</file>

<file path=ppt/slides/_rels/slide43.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43.xml"/><Relationship Id="rId7" Type="http://schemas.openxmlformats.org/officeDocument/2006/relationships/diagramColors" Target="../diagrams/colors5.xml"/><Relationship Id="rId2" Type="http://schemas.openxmlformats.org/officeDocument/2006/relationships/slideLayout" Target="../slideLayouts/slideLayout2.xml"/><Relationship Id="rId1" Type="http://schemas.openxmlformats.org/officeDocument/2006/relationships/tags" Target="../tags/tag49.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1.bin"/><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71.xml"/><Relationship Id="rId4" Type="http://schemas.openxmlformats.org/officeDocument/2006/relationships/image" Target="../media/image9.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72.xml"/><Relationship Id="rId4" Type="http://schemas.openxmlformats.org/officeDocument/2006/relationships/image" Target="../media/image10.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80.xml"/><Relationship Id="rId5" Type="http://schemas.openxmlformats.org/officeDocument/2006/relationships/image" Target="../media/image12.png"/><Relationship Id="rId4" Type="http://schemas.openxmlformats.org/officeDocument/2006/relationships/image" Target="../media/image11.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7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80.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custDataLst>
              <p:tags r:id="rId2"/>
            </p:custDataLst>
          </p:nvPr>
        </p:nvSpPr>
        <p:spPr>
          <a:xfrm>
            <a:off x="1571625" y="3706813"/>
            <a:ext cx="6861175" cy="893762"/>
          </a:xfrm>
        </p:spPr>
        <p:txBody>
          <a:bodyPr rtlCol="0">
            <a:noAutofit/>
          </a:bodyPr>
          <a:lstStyle/>
          <a:p>
            <a:pPr eaLnBrk="1" fontAlgn="auto" hangingPunct="1">
              <a:spcAft>
                <a:spcPts val="0"/>
              </a:spcAft>
              <a:defRPr/>
            </a:pPr>
            <a:r>
              <a:rPr lang="en-US" altLang="zh-CN" sz="2400" b="1" dirty="0">
                <a:latin typeface="+mn-lt"/>
                <a:ea typeface="+mn-ea"/>
              </a:rPr>
              <a:t>                     </a:t>
            </a:r>
            <a:r>
              <a:rPr lang="zh-CN" altLang="en-US" sz="2400" b="1" dirty="0" smtClean="0">
                <a:latin typeface="楷体" panose="02010609060101010101" pitchFamily="49" charset="-122"/>
                <a:ea typeface="楷体" panose="02010609060101010101" pitchFamily="49" charset="-122"/>
              </a:rPr>
              <a:t>授课</a:t>
            </a:r>
            <a:r>
              <a:rPr lang="zh-CN" altLang="en-US" sz="2400" b="1" dirty="0" smtClean="0">
                <a:latin typeface="楷体" panose="02010609060101010101" pitchFamily="49" charset="-122"/>
                <a:ea typeface="楷体" panose="02010609060101010101" pitchFamily="49" charset="-122"/>
              </a:rPr>
              <a:t>人：罗建</a:t>
            </a:r>
            <a:r>
              <a:rPr lang="zh-CN" altLang="en-US" sz="2400" b="1" dirty="0" smtClean="0">
                <a:latin typeface="楷体" panose="02010609060101010101" pitchFamily="49" charset="-122"/>
                <a:ea typeface="楷体" panose="02010609060101010101" pitchFamily="49" charset="-122"/>
              </a:rPr>
              <a:t>超、长</a:t>
            </a:r>
            <a:r>
              <a:rPr lang="zh-CN" altLang="en-US" sz="2400" b="1" dirty="0">
                <a:latin typeface="楷体" panose="02010609060101010101" pitchFamily="49" charset="-122"/>
                <a:ea typeface="楷体" panose="02010609060101010101" pitchFamily="49" charset="-122"/>
              </a:rPr>
              <a:t>聘副教授、博导</a:t>
            </a:r>
            <a:endParaRPr lang="en-US" altLang="zh-CN" sz="2400" b="1" dirty="0" smtClean="0">
              <a:latin typeface="楷体" panose="02010609060101010101" pitchFamily="49" charset="-122"/>
              <a:ea typeface="楷体" panose="02010609060101010101" pitchFamily="49" charset="-122"/>
            </a:endParaRPr>
          </a:p>
          <a:p>
            <a:pPr eaLnBrk="1" fontAlgn="auto" hangingPunct="1">
              <a:spcAft>
                <a:spcPts val="0"/>
              </a:spcAft>
              <a:defRPr/>
            </a:pPr>
            <a:r>
              <a:rPr lang="zh-CN" altLang="en-US" sz="2400" b="1" dirty="0" smtClean="0">
                <a:latin typeface="楷体" panose="02010609060101010101" pitchFamily="49" charset="-122"/>
                <a:ea typeface="楷体" panose="02010609060101010101" pitchFamily="49" charset="-122"/>
              </a:rPr>
              <a:t>  </a:t>
            </a:r>
            <a:r>
              <a:rPr lang="zh-CN" altLang="en-US" sz="2400" b="1" dirty="0" smtClean="0">
                <a:latin typeface="楷体" panose="02010609060101010101" pitchFamily="49" charset="-122"/>
                <a:ea typeface="楷体" panose="02010609060101010101" pitchFamily="49" charset="-122"/>
              </a:rPr>
              <a:t>日</a:t>
            </a:r>
            <a:r>
              <a:rPr lang="zh-CN" altLang="en-US" sz="1200" b="1" dirty="0" smtClean="0">
                <a:latin typeface="楷体" panose="02010609060101010101" pitchFamily="49" charset="-122"/>
                <a:ea typeface="楷体" panose="02010609060101010101" pitchFamily="49" charset="-122"/>
              </a:rPr>
              <a:t>    </a:t>
            </a:r>
            <a:r>
              <a:rPr lang="zh-CN" altLang="en-US" sz="2400" b="1" dirty="0" smtClean="0">
                <a:latin typeface="楷体" panose="02010609060101010101" pitchFamily="49" charset="-122"/>
                <a:ea typeface="楷体" panose="02010609060101010101" pitchFamily="49" charset="-122"/>
              </a:rPr>
              <a:t>期：</a:t>
            </a:r>
            <a:fld id="{D08423A8-BD49-41A9-AA2A-83934CAC10F9}" type="datetime2">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2025年10月10日</a:t>
            </a:fld>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标题 1"/>
          <p:cNvSpPr txBox="1"/>
          <p:nvPr>
            <p:custDataLst>
              <p:tags r:id="rId3"/>
            </p:custDataLst>
          </p:nvPr>
        </p:nvSpPr>
        <p:spPr bwMode="auto">
          <a:xfrm>
            <a:off x="3286125" y="2867025"/>
            <a:ext cx="4962525" cy="495300"/>
          </a:xfrm>
          <a:prstGeom prst="rect">
            <a:avLst/>
          </a:prstGeom>
          <a:noFill/>
          <a:ln w="9525">
            <a:noFill/>
            <a:miter lim="800000"/>
          </a:ln>
        </p:spPr>
        <p:txBody>
          <a:bodyPr anchor="b"/>
          <a:lstStyle/>
          <a:p>
            <a:pPr algn="ctr" defTabSz="685800" fontAlgn="auto">
              <a:lnSpc>
                <a:spcPct val="90000"/>
              </a:lnSpc>
              <a:spcAft>
                <a:spcPts val="0"/>
              </a:spcAft>
              <a:defRPr/>
            </a:pPr>
            <a:r>
              <a:rPr lang="en-US" altLang="zh-CN" sz="4000" b="1" dirty="0">
                <a:solidFill>
                  <a:schemeClr val="bg1"/>
                </a:solidFill>
                <a:latin typeface="楷体" panose="02010609060101010101" pitchFamily="49" charset="-122"/>
                <a:ea typeface="楷体" panose="02010609060101010101" pitchFamily="49" charset="-122"/>
                <a:cs typeface="+mj-cs"/>
              </a:rPr>
              <a:t>《</a:t>
            </a:r>
            <a:r>
              <a:rPr lang="zh-CN" altLang="en-US" sz="4000" b="1" dirty="0">
                <a:solidFill>
                  <a:schemeClr val="bg1"/>
                </a:solidFill>
                <a:latin typeface="楷体" panose="02010609060101010101" pitchFamily="49" charset="-122"/>
                <a:ea typeface="楷体" panose="02010609060101010101" pitchFamily="49" charset="-122"/>
                <a:cs typeface="+mj-cs"/>
              </a:rPr>
              <a:t>算法分析与设计</a:t>
            </a:r>
            <a:r>
              <a:rPr lang="en-US" altLang="zh-CN" sz="4000" b="1" dirty="0">
                <a:solidFill>
                  <a:schemeClr val="bg1"/>
                </a:solidFill>
                <a:latin typeface="楷体" panose="02010609060101010101" pitchFamily="49" charset="-122"/>
                <a:ea typeface="楷体" panose="02010609060101010101" pitchFamily="49" charset="-122"/>
                <a:cs typeface="+mj-cs"/>
              </a:rPr>
              <a:t>》</a:t>
            </a:r>
            <a:endParaRPr lang="zh-CN" altLang="en-US" sz="4000" b="1" dirty="0">
              <a:solidFill>
                <a:schemeClr val="bg1"/>
              </a:solidFill>
              <a:latin typeface="楷体" panose="02010609060101010101" pitchFamily="49" charset="-122"/>
              <a:ea typeface="楷体" panose="02010609060101010101" pitchFamily="49" charset="-122"/>
              <a:cs typeface="+mj-cs"/>
            </a:endParaRPr>
          </a:p>
        </p:txBody>
      </p:sp>
      <p:sp>
        <p:nvSpPr>
          <p:cNvPr id="8" name="标题 1"/>
          <p:cNvSpPr txBox="1"/>
          <p:nvPr>
            <p:custDataLst>
              <p:tags r:id="rId4"/>
            </p:custDataLst>
          </p:nvPr>
        </p:nvSpPr>
        <p:spPr bwMode="auto">
          <a:xfrm>
            <a:off x="3152775" y="2200275"/>
            <a:ext cx="4962525" cy="495300"/>
          </a:xfrm>
          <a:prstGeom prst="rect">
            <a:avLst/>
          </a:prstGeom>
          <a:noFill/>
          <a:ln w="9525">
            <a:noFill/>
            <a:miter lim="800000"/>
          </a:ln>
        </p:spPr>
        <p:txBody>
          <a:bodyPr anchor="b"/>
          <a:lstStyle/>
          <a:p>
            <a:pPr algn="ctr" defTabSz="685800" fontAlgn="auto">
              <a:lnSpc>
                <a:spcPct val="90000"/>
              </a:lnSpc>
              <a:spcAft>
                <a:spcPts val="0"/>
              </a:spcAft>
              <a:defRPr/>
            </a:pPr>
            <a:r>
              <a:rPr lang="zh-CN" altLang="en-US" sz="5400" b="1" dirty="0">
                <a:solidFill>
                  <a:schemeClr val="bg1"/>
                </a:solidFill>
                <a:latin typeface="楷体" panose="02010609060101010101" pitchFamily="49" charset="-122"/>
                <a:ea typeface="楷体" panose="02010609060101010101" pitchFamily="49" charset="-122"/>
                <a:cs typeface="+mj-cs"/>
              </a:rPr>
              <a:t>回溯法</a:t>
            </a:r>
          </a:p>
        </p:txBody>
      </p:sp>
    </p:spTree>
    <p:custDataLst>
      <p:tags r:id="rId1"/>
    </p:custDataLst>
  </p:cSld>
  <p:clrMapOvr>
    <a:masterClrMapping/>
  </p:clrMapOvr>
  <p:transition advTm="21091"/>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2"/>
          <p:cNvSpPr>
            <a:spLocks noChangeArrowheads="1"/>
          </p:cNvSpPr>
          <p:nvPr/>
        </p:nvSpPr>
        <p:spPr bwMode="auto">
          <a:xfrm>
            <a:off x="4044950" y="419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目录</a:t>
            </a:r>
          </a:p>
        </p:txBody>
      </p:sp>
      <p:graphicFrame>
        <p:nvGraphicFramePr>
          <p:cNvPr id="7" name="图示 6"/>
          <p:cNvGraphicFramePr/>
          <p:nvPr/>
        </p:nvGraphicFramePr>
        <p:xfrm>
          <a:off x="1552575" y="1549400"/>
          <a:ext cx="6096000" cy="4660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问题回顾</a:t>
            </a:r>
          </a:p>
        </p:txBody>
      </p:sp>
      <p:sp>
        <p:nvSpPr>
          <p:cNvPr id="10243" name="Text Box 7"/>
          <p:cNvSpPr txBox="1">
            <a:spLocks noChangeArrowheads="1"/>
          </p:cNvSpPr>
          <p:nvPr/>
        </p:nvSpPr>
        <p:spPr bwMode="auto">
          <a:xfrm>
            <a:off x="487363" y="1524000"/>
            <a:ext cx="8099425" cy="1816100"/>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en-US" altLang="zh-CN" sz="2800" b="1" dirty="0" smtClean="0">
                <a:solidFill>
                  <a:srgbClr val="FF0000"/>
                </a:solidFill>
                <a:latin typeface="Times New Roman" panose="02020603050405020304" pitchFamily="18" charset="0"/>
                <a:ea typeface="楷体_GB2312" pitchFamily="49" charset="-122"/>
                <a:cs typeface="Times New Roman" panose="02020603050405020304" pitchFamily="18" charset="0"/>
              </a:rPr>
              <a:t>N</a:t>
            </a:r>
            <a:r>
              <a:rPr lang="zh-CN" altLang="en-US" sz="2800" b="1" dirty="0" smtClean="0">
                <a:solidFill>
                  <a:srgbClr val="FF0000"/>
                </a:solidFill>
                <a:latin typeface="Times New Roman" panose="02020603050405020304" pitchFamily="18" charset="0"/>
                <a:ea typeface="楷体_GB2312" pitchFamily="49" charset="-122"/>
                <a:cs typeface="Times New Roman" panose="02020603050405020304" pitchFamily="18" charset="0"/>
              </a:rPr>
              <a:t>后问题：</a:t>
            </a:r>
          </a:p>
          <a:p>
            <a:pPr eaLnBrk="1" hangingPunct="1">
              <a:lnSpc>
                <a:spcPct val="100000"/>
              </a:lnSpc>
              <a:spcBef>
                <a:spcPct val="0"/>
              </a:spcBef>
              <a:buClrTx/>
              <a:buSzTx/>
              <a:buFontTx/>
              <a:buNone/>
              <a:defRPr/>
            </a:pPr>
            <a:r>
              <a:rPr lang="zh-CN" altLang="en-US" sz="2800" b="1" dirty="0" smtClean="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rPr>
              <a:t>在</a:t>
            </a:r>
            <a:r>
              <a:rPr lang="en-US" altLang="zh-CN" sz="2800" b="1" dirty="0" smtClean="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rPr>
              <a:t>N×N</a:t>
            </a:r>
            <a:r>
              <a:rPr lang="zh-CN" altLang="en-US" sz="2800" b="1" dirty="0" smtClean="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rPr>
              <a:t>的棋盘中放置</a:t>
            </a:r>
            <a:r>
              <a:rPr lang="en-US" altLang="zh-CN" sz="2800" b="1" dirty="0" smtClean="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rPr>
              <a:t>N</a:t>
            </a:r>
            <a:r>
              <a:rPr lang="zh-CN" altLang="en-US" sz="2800" b="1" dirty="0" smtClean="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rPr>
              <a:t>个皇后，使得任何两个皇后之间不能相互攻击（不在同一行，同一列，同一对角线），试给出</a:t>
            </a:r>
            <a:r>
              <a:rPr lang="zh-CN" altLang="en-US" sz="2800" b="1" dirty="0" smtClean="0">
                <a:solidFill>
                  <a:srgbClr val="00B050"/>
                </a:solidFill>
                <a:latin typeface="Times New Roman" panose="02020603050405020304" pitchFamily="18" charset="0"/>
                <a:ea typeface="楷体_GB2312" pitchFamily="49" charset="-122"/>
                <a:cs typeface="Times New Roman" panose="02020603050405020304" pitchFamily="18" charset="0"/>
              </a:rPr>
              <a:t>所有</a:t>
            </a:r>
            <a:r>
              <a:rPr lang="zh-CN" altLang="en-US" sz="2800" b="1" dirty="0" smtClean="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rPr>
              <a:t>的放置方法。</a:t>
            </a:r>
          </a:p>
        </p:txBody>
      </p:sp>
      <p:grpSp>
        <p:nvGrpSpPr>
          <p:cNvPr id="10244" name="组合 4"/>
          <p:cNvGrpSpPr/>
          <p:nvPr/>
        </p:nvGrpSpPr>
        <p:grpSpPr bwMode="auto">
          <a:xfrm>
            <a:off x="1393825" y="4140200"/>
            <a:ext cx="2212975" cy="1954213"/>
            <a:chOff x="493713" y="4370388"/>
            <a:chExt cx="2212975" cy="1954213"/>
          </a:xfrm>
        </p:grpSpPr>
        <p:graphicFrame>
          <p:nvGraphicFramePr>
            <p:cNvPr id="22" name="Group 39"/>
            <p:cNvGraphicFramePr/>
            <p:nvPr/>
          </p:nvGraphicFramePr>
          <p:xfrm>
            <a:off x="493713" y="4370388"/>
            <a:ext cx="2212975" cy="1954213"/>
          </p:xfrm>
          <a:graphic>
            <a:graphicData uri="http://schemas.openxmlformats.org/drawingml/2006/table">
              <a:tbl>
                <a:tblPr/>
                <a:tblGrid>
                  <a:gridCol w="554037">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4038">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77838">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274" name="Oval 40"/>
            <p:cNvSpPr>
              <a:spLocks noChangeArrowheads="1"/>
            </p:cNvSpPr>
            <p:nvPr/>
          </p:nvSpPr>
          <p:spPr bwMode="auto">
            <a:xfrm>
              <a:off x="1230313" y="4495800"/>
              <a:ext cx="198437"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75" name="Oval 41"/>
            <p:cNvSpPr>
              <a:spLocks noChangeArrowheads="1"/>
            </p:cNvSpPr>
            <p:nvPr/>
          </p:nvSpPr>
          <p:spPr bwMode="auto">
            <a:xfrm>
              <a:off x="2327275" y="5010150"/>
              <a:ext cx="198438"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76" name="Oval 42"/>
            <p:cNvSpPr>
              <a:spLocks noChangeArrowheads="1"/>
            </p:cNvSpPr>
            <p:nvPr/>
          </p:nvSpPr>
          <p:spPr bwMode="auto">
            <a:xfrm>
              <a:off x="663575" y="5478463"/>
              <a:ext cx="198438" cy="198437"/>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77" name="Oval 43"/>
            <p:cNvSpPr>
              <a:spLocks noChangeArrowheads="1"/>
            </p:cNvSpPr>
            <p:nvPr/>
          </p:nvSpPr>
          <p:spPr bwMode="auto">
            <a:xfrm>
              <a:off x="1773238" y="6010275"/>
              <a:ext cx="198437"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3" name="Group 72"/>
          <p:cNvGrpSpPr/>
          <p:nvPr/>
        </p:nvGrpSpPr>
        <p:grpSpPr bwMode="auto">
          <a:xfrm>
            <a:off x="4584700" y="3762375"/>
            <a:ext cx="3136900" cy="2170113"/>
            <a:chOff x="2736" y="2693"/>
            <a:chExt cx="1976" cy="1367"/>
          </a:xfrm>
        </p:grpSpPr>
        <p:sp>
          <p:nvSpPr>
            <p:cNvPr id="10246" name="Oval 44"/>
            <p:cNvSpPr>
              <a:spLocks noChangeArrowheads="1"/>
            </p:cNvSpPr>
            <p:nvPr/>
          </p:nvSpPr>
          <p:spPr bwMode="auto">
            <a:xfrm>
              <a:off x="3700" y="2693"/>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47" name="Line 45"/>
            <p:cNvSpPr>
              <a:spLocks noChangeShapeType="1"/>
            </p:cNvSpPr>
            <p:nvPr/>
          </p:nvSpPr>
          <p:spPr bwMode="auto">
            <a:xfrm flipH="1">
              <a:off x="3254" y="2803"/>
              <a:ext cx="471" cy="22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8" name="Line 46"/>
            <p:cNvSpPr>
              <a:spLocks noChangeShapeType="1"/>
            </p:cNvSpPr>
            <p:nvPr/>
          </p:nvSpPr>
          <p:spPr bwMode="auto">
            <a:xfrm>
              <a:off x="3802" y="2794"/>
              <a:ext cx="537" cy="24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9" name="Oval 47"/>
            <p:cNvSpPr>
              <a:spLocks noChangeArrowheads="1"/>
            </p:cNvSpPr>
            <p:nvPr/>
          </p:nvSpPr>
          <p:spPr bwMode="auto">
            <a:xfrm>
              <a:off x="3160" y="3008"/>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50" name="Line 48"/>
            <p:cNvSpPr>
              <a:spLocks noChangeShapeType="1"/>
            </p:cNvSpPr>
            <p:nvPr/>
          </p:nvSpPr>
          <p:spPr bwMode="auto">
            <a:xfrm flipH="1">
              <a:off x="3590" y="2813"/>
              <a:ext cx="164" cy="21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1" name="Line 49"/>
            <p:cNvSpPr>
              <a:spLocks noChangeShapeType="1"/>
            </p:cNvSpPr>
            <p:nvPr/>
          </p:nvSpPr>
          <p:spPr bwMode="auto">
            <a:xfrm>
              <a:off x="3773" y="2822"/>
              <a:ext cx="211" cy="22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2" name="Oval 50"/>
            <p:cNvSpPr>
              <a:spLocks noChangeArrowheads="1"/>
            </p:cNvSpPr>
            <p:nvPr/>
          </p:nvSpPr>
          <p:spPr bwMode="auto">
            <a:xfrm>
              <a:off x="3532" y="3021"/>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53" name="Oval 51"/>
            <p:cNvSpPr>
              <a:spLocks noChangeArrowheads="1"/>
            </p:cNvSpPr>
            <p:nvPr/>
          </p:nvSpPr>
          <p:spPr bwMode="auto">
            <a:xfrm>
              <a:off x="3917" y="3016"/>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54" name="Oval 52"/>
            <p:cNvSpPr>
              <a:spLocks noChangeArrowheads="1"/>
            </p:cNvSpPr>
            <p:nvPr/>
          </p:nvSpPr>
          <p:spPr bwMode="auto">
            <a:xfrm>
              <a:off x="4312" y="3014"/>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55" name="Line 53"/>
            <p:cNvSpPr>
              <a:spLocks noChangeShapeType="1"/>
            </p:cNvSpPr>
            <p:nvPr/>
          </p:nvSpPr>
          <p:spPr bwMode="auto">
            <a:xfrm flipH="1">
              <a:off x="2736" y="3091"/>
              <a:ext cx="422" cy="21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6" name="Line 54"/>
            <p:cNvSpPr>
              <a:spLocks noChangeShapeType="1"/>
            </p:cNvSpPr>
            <p:nvPr/>
          </p:nvSpPr>
          <p:spPr bwMode="auto">
            <a:xfrm>
              <a:off x="3264" y="3101"/>
              <a:ext cx="96" cy="19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7" name="Line 55"/>
            <p:cNvSpPr>
              <a:spLocks noChangeShapeType="1"/>
            </p:cNvSpPr>
            <p:nvPr/>
          </p:nvSpPr>
          <p:spPr bwMode="auto">
            <a:xfrm flipH="1">
              <a:off x="2995" y="3110"/>
              <a:ext cx="192" cy="20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8" name="Line 56"/>
            <p:cNvSpPr>
              <a:spLocks noChangeShapeType="1"/>
            </p:cNvSpPr>
            <p:nvPr/>
          </p:nvSpPr>
          <p:spPr bwMode="auto">
            <a:xfrm>
              <a:off x="3206" y="3130"/>
              <a:ext cx="29" cy="17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9" name="Line 57"/>
            <p:cNvSpPr>
              <a:spLocks noChangeShapeType="1"/>
            </p:cNvSpPr>
            <p:nvPr/>
          </p:nvSpPr>
          <p:spPr bwMode="auto">
            <a:xfrm rot="10800000" flipH="1" flipV="1">
              <a:off x="4442" y="3089"/>
              <a:ext cx="270" cy="204"/>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0" name="Line 58"/>
            <p:cNvSpPr>
              <a:spLocks noChangeShapeType="1"/>
            </p:cNvSpPr>
            <p:nvPr/>
          </p:nvSpPr>
          <p:spPr bwMode="auto">
            <a:xfrm rot="10800000" flipH="1" flipV="1">
              <a:off x="4413" y="3118"/>
              <a:ext cx="96" cy="19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1" name="Line 59"/>
            <p:cNvSpPr>
              <a:spLocks noChangeShapeType="1"/>
            </p:cNvSpPr>
            <p:nvPr/>
          </p:nvSpPr>
          <p:spPr bwMode="auto">
            <a:xfrm rot="10800000" flipV="1">
              <a:off x="4288" y="3137"/>
              <a:ext cx="48" cy="174"/>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2" name="Line 60"/>
            <p:cNvSpPr>
              <a:spLocks noChangeShapeType="1"/>
            </p:cNvSpPr>
            <p:nvPr/>
          </p:nvSpPr>
          <p:spPr bwMode="auto">
            <a:xfrm rot="10800000" flipH="1" flipV="1">
              <a:off x="4374" y="3128"/>
              <a:ext cx="29" cy="17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3" name="Line 61"/>
            <p:cNvSpPr>
              <a:spLocks noChangeShapeType="1"/>
            </p:cNvSpPr>
            <p:nvPr/>
          </p:nvSpPr>
          <p:spPr bwMode="auto">
            <a:xfrm>
              <a:off x="3600" y="3130"/>
              <a:ext cx="163" cy="16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4" name="Oval 62"/>
            <p:cNvSpPr>
              <a:spLocks noChangeArrowheads="1"/>
            </p:cNvSpPr>
            <p:nvPr/>
          </p:nvSpPr>
          <p:spPr bwMode="auto">
            <a:xfrm>
              <a:off x="3723" y="3283"/>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65" name="Line 63"/>
            <p:cNvSpPr>
              <a:spLocks noChangeShapeType="1"/>
            </p:cNvSpPr>
            <p:nvPr/>
          </p:nvSpPr>
          <p:spPr bwMode="auto">
            <a:xfrm flipH="1">
              <a:off x="3590" y="3408"/>
              <a:ext cx="164" cy="20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6" name="Oval 64"/>
            <p:cNvSpPr>
              <a:spLocks noChangeArrowheads="1"/>
            </p:cNvSpPr>
            <p:nvPr/>
          </p:nvSpPr>
          <p:spPr bwMode="auto">
            <a:xfrm>
              <a:off x="3492" y="3609"/>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67" name="Line 65"/>
            <p:cNvSpPr>
              <a:spLocks noChangeShapeType="1"/>
            </p:cNvSpPr>
            <p:nvPr/>
          </p:nvSpPr>
          <p:spPr bwMode="auto">
            <a:xfrm>
              <a:off x="3590" y="3706"/>
              <a:ext cx="135" cy="24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8" name="Oval 66"/>
            <p:cNvSpPr>
              <a:spLocks noChangeArrowheads="1"/>
            </p:cNvSpPr>
            <p:nvPr/>
          </p:nvSpPr>
          <p:spPr bwMode="auto">
            <a:xfrm>
              <a:off x="3685" y="3935"/>
              <a:ext cx="125" cy="125"/>
            </a:xfrm>
            <a:prstGeom prst="ellipse">
              <a:avLst/>
            </a:prstGeom>
            <a:solidFill>
              <a:srgbClr val="99CC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69" name="Text Box 67"/>
            <p:cNvSpPr txBox="1">
              <a:spLocks noChangeArrowheads="1"/>
            </p:cNvSpPr>
            <p:nvPr/>
          </p:nvSpPr>
          <p:spPr bwMode="auto">
            <a:xfrm>
              <a:off x="3669" y="2920"/>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&lt;2&gt;</a:t>
              </a:r>
            </a:p>
          </p:txBody>
        </p:sp>
        <p:sp>
          <p:nvSpPr>
            <p:cNvPr id="10270" name="Text Box 68"/>
            <p:cNvSpPr txBox="1">
              <a:spLocks noChangeArrowheads="1"/>
            </p:cNvSpPr>
            <p:nvPr/>
          </p:nvSpPr>
          <p:spPr bwMode="auto">
            <a:xfrm>
              <a:off x="3396" y="3166"/>
              <a:ext cx="32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&lt;2,4&gt;</a:t>
              </a:r>
            </a:p>
          </p:txBody>
        </p:sp>
        <p:sp>
          <p:nvSpPr>
            <p:cNvPr id="10271" name="Text Box 69"/>
            <p:cNvSpPr txBox="1">
              <a:spLocks noChangeArrowheads="1"/>
            </p:cNvSpPr>
            <p:nvPr/>
          </p:nvSpPr>
          <p:spPr bwMode="auto">
            <a:xfrm>
              <a:off x="3681" y="3472"/>
              <a:ext cx="45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&lt;2,4,1&gt;</a:t>
              </a:r>
            </a:p>
          </p:txBody>
        </p:sp>
        <p:sp>
          <p:nvSpPr>
            <p:cNvPr id="10272" name="Text Box 70"/>
            <p:cNvSpPr txBox="1">
              <a:spLocks noChangeArrowheads="1"/>
            </p:cNvSpPr>
            <p:nvPr/>
          </p:nvSpPr>
          <p:spPr bwMode="auto">
            <a:xfrm>
              <a:off x="3718" y="3728"/>
              <a:ext cx="52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&lt;2,4,1,3&gt;</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问题回顾</a:t>
            </a:r>
          </a:p>
        </p:txBody>
      </p:sp>
      <p:sp>
        <p:nvSpPr>
          <p:cNvPr id="11267" name="Text Box 4"/>
          <p:cNvSpPr txBox="1">
            <a:spLocks noChangeArrowheads="1"/>
          </p:cNvSpPr>
          <p:nvPr/>
        </p:nvSpPr>
        <p:spPr bwMode="auto">
          <a:xfrm>
            <a:off x="560388" y="1076325"/>
            <a:ext cx="8099425" cy="1911350"/>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800" b="1" dirty="0" smtClean="0">
                <a:solidFill>
                  <a:srgbClr val="FF0000"/>
                </a:solidFill>
                <a:latin typeface="Arial" panose="020B0604020202020204" pitchFamily="34" charset="0"/>
                <a:ea typeface="楷体_GB2312" pitchFamily="49" charset="-122"/>
                <a:cs typeface="Times New Roman" panose="02020603050405020304" pitchFamily="18" charset="0"/>
              </a:rPr>
              <a:t>旅行售货员（货郎担）问题：</a:t>
            </a:r>
            <a:r>
              <a:rPr lang="zh-CN" altLang="en-US" sz="2800" b="1" dirty="0" smtClean="0">
                <a:solidFill>
                  <a:schemeClr val="tx1">
                    <a:lumMod val="50000"/>
                  </a:schemeClr>
                </a:solidFill>
                <a:latin typeface="Arial" panose="020B0604020202020204" pitchFamily="34" charset="0"/>
                <a:ea typeface="楷体_GB2312" pitchFamily="49" charset="-122"/>
                <a:cs typeface="Times New Roman" panose="02020603050405020304" pitchFamily="18" charset="0"/>
              </a:rPr>
              <a:t>某售货员要到若干城市去推销商品，已知各城市间的路程耗费（代价），如何选定一条从驻地出发，经过每个城市一遍，最后回到驻地的路线，使得总</a:t>
            </a:r>
            <a:r>
              <a:rPr lang="zh-CN" altLang="en-US" sz="2800" b="1" dirty="0" smtClean="0">
                <a:solidFill>
                  <a:srgbClr val="00B050"/>
                </a:solidFill>
                <a:latin typeface="Arial" panose="020B0604020202020204" pitchFamily="34" charset="0"/>
                <a:ea typeface="楷体_GB2312" pitchFamily="49" charset="-122"/>
                <a:cs typeface="Times New Roman" panose="02020603050405020304" pitchFamily="18" charset="0"/>
              </a:rPr>
              <a:t>路程耗费最小</a:t>
            </a:r>
            <a:r>
              <a:rPr lang="zh-CN" altLang="en-US" sz="2800" b="1" dirty="0" smtClean="0">
                <a:solidFill>
                  <a:schemeClr val="tx1"/>
                </a:solidFill>
                <a:latin typeface="Arial" panose="020B0604020202020204" pitchFamily="34" charset="0"/>
                <a:ea typeface="楷体_GB2312" pitchFamily="49" charset="-122"/>
                <a:cs typeface="Times New Roman" panose="02020603050405020304" pitchFamily="18" charset="0"/>
              </a:rPr>
              <a:t>。</a:t>
            </a:r>
          </a:p>
        </p:txBody>
      </p:sp>
      <p:grpSp>
        <p:nvGrpSpPr>
          <p:cNvPr id="11268" name="Group 133"/>
          <p:cNvGrpSpPr/>
          <p:nvPr/>
        </p:nvGrpSpPr>
        <p:grpSpPr bwMode="auto">
          <a:xfrm>
            <a:off x="811213" y="4095750"/>
            <a:ext cx="2090737" cy="1882775"/>
            <a:chOff x="244" y="2236"/>
            <a:chExt cx="1317" cy="1186"/>
          </a:xfrm>
        </p:grpSpPr>
        <p:grpSp>
          <p:nvGrpSpPr>
            <p:cNvPr id="11353" name="Group 6"/>
            <p:cNvGrpSpPr/>
            <p:nvPr/>
          </p:nvGrpSpPr>
          <p:grpSpPr bwMode="auto">
            <a:xfrm>
              <a:off x="1248" y="2271"/>
              <a:ext cx="249" cy="249"/>
              <a:chOff x="4531" y="2063"/>
              <a:chExt cx="249" cy="249"/>
            </a:xfrm>
          </p:grpSpPr>
          <p:sp>
            <p:nvSpPr>
              <p:cNvPr id="11375" name="Oval 7"/>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6" name="Text Box 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11354" name="Group 9"/>
            <p:cNvGrpSpPr/>
            <p:nvPr/>
          </p:nvGrpSpPr>
          <p:grpSpPr bwMode="auto">
            <a:xfrm>
              <a:off x="323" y="2264"/>
              <a:ext cx="249" cy="249"/>
              <a:chOff x="4531" y="2063"/>
              <a:chExt cx="249" cy="249"/>
            </a:xfrm>
          </p:grpSpPr>
          <p:sp>
            <p:nvSpPr>
              <p:cNvPr id="11373" name="Oval 10"/>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4" name="Text Box 1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nvGrpSpPr>
            <p:cNvPr id="11355" name="Group 15"/>
            <p:cNvGrpSpPr/>
            <p:nvPr/>
          </p:nvGrpSpPr>
          <p:grpSpPr bwMode="auto">
            <a:xfrm>
              <a:off x="315" y="3131"/>
              <a:ext cx="249" cy="249"/>
              <a:chOff x="4531" y="2063"/>
              <a:chExt cx="249" cy="249"/>
            </a:xfrm>
          </p:grpSpPr>
          <p:sp>
            <p:nvSpPr>
              <p:cNvPr id="11371" name="Oval 16"/>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2" name="Text Box 1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sp>
          <p:nvSpPr>
            <p:cNvPr id="11356" name="Text Box 46"/>
            <p:cNvSpPr txBox="1">
              <a:spLocks noChangeArrowheads="1"/>
            </p:cNvSpPr>
            <p:nvPr/>
          </p:nvSpPr>
          <p:spPr bwMode="auto">
            <a:xfrm>
              <a:off x="1389" y="274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11357" name="Text Box 47"/>
            <p:cNvSpPr txBox="1">
              <a:spLocks noChangeArrowheads="1"/>
            </p:cNvSpPr>
            <p:nvPr/>
          </p:nvSpPr>
          <p:spPr bwMode="auto">
            <a:xfrm>
              <a:off x="832" y="2236"/>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grpSp>
          <p:nvGrpSpPr>
            <p:cNvPr id="11358" name="Group 48"/>
            <p:cNvGrpSpPr/>
            <p:nvPr/>
          </p:nvGrpSpPr>
          <p:grpSpPr bwMode="auto">
            <a:xfrm>
              <a:off x="1253" y="3134"/>
              <a:ext cx="249" cy="249"/>
              <a:chOff x="4531" y="2063"/>
              <a:chExt cx="249" cy="249"/>
            </a:xfrm>
          </p:grpSpPr>
          <p:sp>
            <p:nvSpPr>
              <p:cNvPr id="11369" name="Oval 49"/>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70" name="Text Box 5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sp>
          <p:nvSpPr>
            <p:cNvPr id="11359" name="Line 51"/>
            <p:cNvSpPr>
              <a:spLocks noChangeShapeType="1"/>
            </p:cNvSpPr>
            <p:nvPr/>
          </p:nvSpPr>
          <p:spPr bwMode="auto">
            <a:xfrm>
              <a:off x="557" y="2429"/>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60" name="Line 52"/>
            <p:cNvSpPr>
              <a:spLocks noChangeShapeType="1"/>
            </p:cNvSpPr>
            <p:nvPr/>
          </p:nvSpPr>
          <p:spPr bwMode="auto">
            <a:xfrm>
              <a:off x="442" y="2515"/>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61" name="Line 53"/>
            <p:cNvSpPr>
              <a:spLocks noChangeShapeType="1"/>
            </p:cNvSpPr>
            <p:nvPr/>
          </p:nvSpPr>
          <p:spPr bwMode="auto">
            <a:xfrm>
              <a:off x="564" y="3224"/>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62" name="Line 54"/>
            <p:cNvSpPr>
              <a:spLocks noChangeShapeType="1"/>
            </p:cNvSpPr>
            <p:nvPr/>
          </p:nvSpPr>
          <p:spPr bwMode="auto">
            <a:xfrm>
              <a:off x="1371" y="2523"/>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63" name="Line 55"/>
            <p:cNvSpPr>
              <a:spLocks noChangeShapeType="1"/>
            </p:cNvSpPr>
            <p:nvPr/>
          </p:nvSpPr>
          <p:spPr bwMode="auto">
            <a:xfrm>
              <a:off x="509" y="2477"/>
              <a:ext cx="787" cy="69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64" name="Line 56"/>
            <p:cNvSpPr>
              <a:spLocks noChangeShapeType="1"/>
            </p:cNvSpPr>
            <p:nvPr/>
          </p:nvSpPr>
          <p:spPr bwMode="auto">
            <a:xfrm flipV="1">
              <a:off x="509" y="2486"/>
              <a:ext cx="777" cy="67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65" name="Text Box 57"/>
            <p:cNvSpPr txBox="1">
              <a:spLocks noChangeArrowheads="1"/>
            </p:cNvSpPr>
            <p:nvPr/>
          </p:nvSpPr>
          <p:spPr bwMode="auto">
            <a:xfrm>
              <a:off x="244" y="273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11366" name="Text Box 58"/>
            <p:cNvSpPr txBox="1">
              <a:spLocks noChangeArrowheads="1"/>
            </p:cNvSpPr>
            <p:nvPr/>
          </p:nvSpPr>
          <p:spPr bwMode="auto">
            <a:xfrm>
              <a:off x="807" y="324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20</a:t>
              </a:r>
            </a:p>
          </p:txBody>
        </p:sp>
        <p:sp>
          <p:nvSpPr>
            <p:cNvPr id="11367" name="Text Box 59"/>
            <p:cNvSpPr txBox="1">
              <a:spLocks noChangeArrowheads="1"/>
            </p:cNvSpPr>
            <p:nvPr/>
          </p:nvSpPr>
          <p:spPr bwMode="auto">
            <a:xfrm>
              <a:off x="1106" y="262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11368" name="Text Box 60"/>
            <p:cNvSpPr txBox="1">
              <a:spLocks noChangeArrowheads="1"/>
            </p:cNvSpPr>
            <p:nvPr/>
          </p:nvSpPr>
          <p:spPr bwMode="auto">
            <a:xfrm>
              <a:off x="905" y="2962"/>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grpSp>
        <p:nvGrpSpPr>
          <p:cNvPr id="7" name="Group 151"/>
          <p:cNvGrpSpPr/>
          <p:nvPr/>
        </p:nvGrpSpPr>
        <p:grpSpPr bwMode="auto">
          <a:xfrm>
            <a:off x="4038600" y="3106738"/>
            <a:ext cx="4351338" cy="3394075"/>
            <a:chOff x="2604" y="2009"/>
            <a:chExt cx="2741" cy="2138"/>
          </a:xfrm>
        </p:grpSpPr>
        <p:grpSp>
          <p:nvGrpSpPr>
            <p:cNvPr id="11270" name="Group 62"/>
            <p:cNvGrpSpPr/>
            <p:nvPr/>
          </p:nvGrpSpPr>
          <p:grpSpPr bwMode="auto">
            <a:xfrm>
              <a:off x="3886" y="2009"/>
              <a:ext cx="249" cy="249"/>
              <a:chOff x="4531" y="2063"/>
              <a:chExt cx="249" cy="249"/>
            </a:xfrm>
          </p:grpSpPr>
          <p:sp>
            <p:nvSpPr>
              <p:cNvPr id="11351" name="Oval 63"/>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52" name="Text Box 64"/>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a:t>
                </a:r>
              </a:p>
            </p:txBody>
          </p:sp>
        </p:grpSp>
        <p:grpSp>
          <p:nvGrpSpPr>
            <p:cNvPr id="11271" name="Group 65"/>
            <p:cNvGrpSpPr/>
            <p:nvPr/>
          </p:nvGrpSpPr>
          <p:grpSpPr bwMode="auto">
            <a:xfrm>
              <a:off x="3885" y="2477"/>
              <a:ext cx="249" cy="249"/>
              <a:chOff x="4531" y="2063"/>
              <a:chExt cx="249" cy="249"/>
            </a:xfrm>
          </p:grpSpPr>
          <p:sp>
            <p:nvSpPr>
              <p:cNvPr id="11349" name="Oval 66"/>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50" name="Text Box 6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a:t>
                </a:r>
              </a:p>
            </p:txBody>
          </p:sp>
        </p:grpSp>
        <p:grpSp>
          <p:nvGrpSpPr>
            <p:cNvPr id="11272" name="Group 68"/>
            <p:cNvGrpSpPr/>
            <p:nvPr/>
          </p:nvGrpSpPr>
          <p:grpSpPr bwMode="auto">
            <a:xfrm>
              <a:off x="2936" y="2954"/>
              <a:ext cx="249" cy="249"/>
              <a:chOff x="4531" y="2063"/>
              <a:chExt cx="249" cy="249"/>
            </a:xfrm>
          </p:grpSpPr>
          <p:sp>
            <p:nvSpPr>
              <p:cNvPr id="11347" name="Oval 69"/>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48" name="Text Box 7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a:t>
                </a:r>
              </a:p>
            </p:txBody>
          </p:sp>
        </p:grpSp>
        <p:grpSp>
          <p:nvGrpSpPr>
            <p:cNvPr id="11273" name="Group 71"/>
            <p:cNvGrpSpPr/>
            <p:nvPr/>
          </p:nvGrpSpPr>
          <p:grpSpPr bwMode="auto">
            <a:xfrm>
              <a:off x="3898" y="2950"/>
              <a:ext cx="249" cy="249"/>
              <a:chOff x="4531" y="2063"/>
              <a:chExt cx="249" cy="249"/>
            </a:xfrm>
          </p:grpSpPr>
          <p:sp>
            <p:nvSpPr>
              <p:cNvPr id="11345" name="Oval 72"/>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46" name="Text Box 7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D</a:t>
                </a:r>
              </a:p>
            </p:txBody>
          </p:sp>
        </p:grpSp>
        <p:grpSp>
          <p:nvGrpSpPr>
            <p:cNvPr id="11274" name="Group 74"/>
            <p:cNvGrpSpPr/>
            <p:nvPr/>
          </p:nvGrpSpPr>
          <p:grpSpPr bwMode="auto">
            <a:xfrm>
              <a:off x="4813" y="2950"/>
              <a:ext cx="249" cy="249"/>
              <a:chOff x="4531" y="2063"/>
              <a:chExt cx="249" cy="249"/>
            </a:xfrm>
          </p:grpSpPr>
          <p:sp>
            <p:nvSpPr>
              <p:cNvPr id="11343" name="Oval 75"/>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44" name="Text Box 76"/>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E</a:t>
                </a:r>
              </a:p>
            </p:txBody>
          </p:sp>
        </p:grpSp>
        <p:grpSp>
          <p:nvGrpSpPr>
            <p:cNvPr id="11275" name="Group 77"/>
            <p:cNvGrpSpPr/>
            <p:nvPr/>
          </p:nvGrpSpPr>
          <p:grpSpPr bwMode="auto">
            <a:xfrm>
              <a:off x="2677" y="3400"/>
              <a:ext cx="249" cy="249"/>
              <a:chOff x="4531" y="2063"/>
              <a:chExt cx="249" cy="249"/>
            </a:xfrm>
          </p:grpSpPr>
          <p:sp>
            <p:nvSpPr>
              <p:cNvPr id="11341" name="Oval 78"/>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42" name="Text Box 7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F</a:t>
                </a:r>
              </a:p>
            </p:txBody>
          </p:sp>
        </p:grpSp>
        <p:grpSp>
          <p:nvGrpSpPr>
            <p:cNvPr id="11276" name="Group 80"/>
            <p:cNvGrpSpPr/>
            <p:nvPr/>
          </p:nvGrpSpPr>
          <p:grpSpPr bwMode="auto">
            <a:xfrm>
              <a:off x="3182" y="3389"/>
              <a:ext cx="249" cy="249"/>
              <a:chOff x="4531" y="2063"/>
              <a:chExt cx="249" cy="249"/>
            </a:xfrm>
          </p:grpSpPr>
          <p:sp>
            <p:nvSpPr>
              <p:cNvPr id="11339" name="Oval 81"/>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40" name="Text Box 8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G</a:t>
                </a:r>
              </a:p>
            </p:txBody>
          </p:sp>
        </p:grpSp>
        <p:grpSp>
          <p:nvGrpSpPr>
            <p:cNvPr id="11277" name="Group 83"/>
            <p:cNvGrpSpPr/>
            <p:nvPr/>
          </p:nvGrpSpPr>
          <p:grpSpPr bwMode="auto">
            <a:xfrm>
              <a:off x="3682" y="3386"/>
              <a:ext cx="249" cy="249"/>
              <a:chOff x="4531" y="2063"/>
              <a:chExt cx="249" cy="249"/>
            </a:xfrm>
          </p:grpSpPr>
          <p:sp>
            <p:nvSpPr>
              <p:cNvPr id="11337" name="Oval 84"/>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38" name="Text Box 85"/>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H</a:t>
                </a:r>
              </a:p>
            </p:txBody>
          </p:sp>
        </p:grpSp>
        <p:grpSp>
          <p:nvGrpSpPr>
            <p:cNvPr id="11278" name="Group 86"/>
            <p:cNvGrpSpPr/>
            <p:nvPr/>
          </p:nvGrpSpPr>
          <p:grpSpPr bwMode="auto">
            <a:xfrm>
              <a:off x="4167" y="3393"/>
              <a:ext cx="249" cy="249"/>
              <a:chOff x="4531" y="2063"/>
              <a:chExt cx="249" cy="249"/>
            </a:xfrm>
          </p:grpSpPr>
          <p:sp>
            <p:nvSpPr>
              <p:cNvPr id="11335" name="Oval 87"/>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36" name="Text Box 8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I</a:t>
                </a:r>
              </a:p>
            </p:txBody>
          </p:sp>
        </p:grpSp>
        <p:grpSp>
          <p:nvGrpSpPr>
            <p:cNvPr id="11279" name="Group 89"/>
            <p:cNvGrpSpPr/>
            <p:nvPr/>
          </p:nvGrpSpPr>
          <p:grpSpPr bwMode="auto">
            <a:xfrm>
              <a:off x="4614" y="3400"/>
              <a:ext cx="249" cy="249"/>
              <a:chOff x="4531" y="2063"/>
              <a:chExt cx="249" cy="249"/>
            </a:xfrm>
          </p:grpSpPr>
          <p:sp>
            <p:nvSpPr>
              <p:cNvPr id="11333" name="Oval 90"/>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34" name="Text Box 9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J</a:t>
                </a:r>
              </a:p>
            </p:txBody>
          </p:sp>
        </p:grpSp>
        <p:grpSp>
          <p:nvGrpSpPr>
            <p:cNvPr id="11280" name="Group 92"/>
            <p:cNvGrpSpPr/>
            <p:nvPr/>
          </p:nvGrpSpPr>
          <p:grpSpPr bwMode="auto">
            <a:xfrm>
              <a:off x="5077" y="3391"/>
              <a:ext cx="249" cy="249"/>
              <a:chOff x="4531" y="2063"/>
              <a:chExt cx="249" cy="249"/>
            </a:xfrm>
          </p:grpSpPr>
          <p:sp>
            <p:nvSpPr>
              <p:cNvPr id="11331" name="Oval 93"/>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32" name="Text Box 94"/>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K</a:t>
                </a:r>
              </a:p>
            </p:txBody>
          </p:sp>
        </p:grpSp>
        <p:grpSp>
          <p:nvGrpSpPr>
            <p:cNvPr id="11281" name="Group 95"/>
            <p:cNvGrpSpPr/>
            <p:nvPr/>
          </p:nvGrpSpPr>
          <p:grpSpPr bwMode="auto">
            <a:xfrm>
              <a:off x="2683" y="3894"/>
              <a:ext cx="249" cy="249"/>
              <a:chOff x="4531" y="2063"/>
              <a:chExt cx="249" cy="249"/>
            </a:xfrm>
          </p:grpSpPr>
          <p:sp>
            <p:nvSpPr>
              <p:cNvPr id="11329" name="Oval 96"/>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30" name="Text Box 9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a:t>
                </a:r>
              </a:p>
            </p:txBody>
          </p:sp>
        </p:grpSp>
        <p:grpSp>
          <p:nvGrpSpPr>
            <p:cNvPr id="11282" name="Group 98"/>
            <p:cNvGrpSpPr/>
            <p:nvPr/>
          </p:nvGrpSpPr>
          <p:grpSpPr bwMode="auto">
            <a:xfrm>
              <a:off x="3209" y="3894"/>
              <a:ext cx="249" cy="249"/>
              <a:chOff x="4531" y="2063"/>
              <a:chExt cx="249" cy="249"/>
            </a:xfrm>
          </p:grpSpPr>
          <p:sp>
            <p:nvSpPr>
              <p:cNvPr id="11327" name="Oval 99"/>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28" name="Text Box 10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M</a:t>
                </a:r>
              </a:p>
            </p:txBody>
          </p:sp>
        </p:grpSp>
        <p:grpSp>
          <p:nvGrpSpPr>
            <p:cNvPr id="11283" name="Group 101"/>
            <p:cNvGrpSpPr/>
            <p:nvPr/>
          </p:nvGrpSpPr>
          <p:grpSpPr bwMode="auto">
            <a:xfrm>
              <a:off x="4182" y="3881"/>
              <a:ext cx="249" cy="249"/>
              <a:chOff x="4531" y="2063"/>
              <a:chExt cx="249" cy="249"/>
            </a:xfrm>
          </p:grpSpPr>
          <p:sp>
            <p:nvSpPr>
              <p:cNvPr id="11325" name="Oval 102"/>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26" name="Text Box 10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O</a:t>
                </a:r>
              </a:p>
            </p:txBody>
          </p:sp>
        </p:grpSp>
        <p:grpSp>
          <p:nvGrpSpPr>
            <p:cNvPr id="11284" name="Group 104"/>
            <p:cNvGrpSpPr/>
            <p:nvPr/>
          </p:nvGrpSpPr>
          <p:grpSpPr bwMode="auto">
            <a:xfrm>
              <a:off x="3691" y="3889"/>
              <a:ext cx="249" cy="249"/>
              <a:chOff x="4531" y="2063"/>
              <a:chExt cx="249" cy="249"/>
            </a:xfrm>
          </p:grpSpPr>
          <p:sp>
            <p:nvSpPr>
              <p:cNvPr id="11323" name="Oval 105"/>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24" name="Text Box 106"/>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N</a:t>
                </a:r>
              </a:p>
            </p:txBody>
          </p:sp>
        </p:grpSp>
        <p:grpSp>
          <p:nvGrpSpPr>
            <p:cNvPr id="11285" name="Group 107"/>
            <p:cNvGrpSpPr/>
            <p:nvPr/>
          </p:nvGrpSpPr>
          <p:grpSpPr bwMode="auto">
            <a:xfrm>
              <a:off x="5096" y="3889"/>
              <a:ext cx="249" cy="249"/>
              <a:chOff x="4531" y="2063"/>
              <a:chExt cx="249" cy="249"/>
            </a:xfrm>
          </p:grpSpPr>
          <p:sp>
            <p:nvSpPr>
              <p:cNvPr id="11321" name="Oval 108"/>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22" name="Text Box 10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Q</a:t>
                </a:r>
              </a:p>
            </p:txBody>
          </p:sp>
        </p:grpSp>
        <p:grpSp>
          <p:nvGrpSpPr>
            <p:cNvPr id="11286" name="Group 110"/>
            <p:cNvGrpSpPr/>
            <p:nvPr/>
          </p:nvGrpSpPr>
          <p:grpSpPr bwMode="auto">
            <a:xfrm>
              <a:off x="4623" y="3898"/>
              <a:ext cx="249" cy="249"/>
              <a:chOff x="4531" y="2063"/>
              <a:chExt cx="249" cy="249"/>
            </a:xfrm>
          </p:grpSpPr>
          <p:sp>
            <p:nvSpPr>
              <p:cNvPr id="11319" name="Oval 111"/>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20" name="Text Box 11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P</a:t>
                </a:r>
              </a:p>
            </p:txBody>
          </p:sp>
        </p:grpSp>
        <p:sp>
          <p:nvSpPr>
            <p:cNvPr id="11287" name="Line 116"/>
            <p:cNvSpPr>
              <a:spLocks noChangeShapeType="1"/>
            </p:cNvSpPr>
            <p:nvPr/>
          </p:nvSpPr>
          <p:spPr bwMode="auto">
            <a:xfrm>
              <a:off x="4013" y="2256"/>
              <a:ext cx="0" cy="211"/>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8" name="Line 117"/>
            <p:cNvSpPr>
              <a:spLocks noChangeShapeType="1"/>
            </p:cNvSpPr>
            <p:nvPr/>
          </p:nvSpPr>
          <p:spPr bwMode="auto">
            <a:xfrm>
              <a:off x="4021" y="2735"/>
              <a:ext cx="0" cy="211"/>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9" name="Line 118"/>
            <p:cNvSpPr>
              <a:spLocks noChangeShapeType="1"/>
            </p:cNvSpPr>
            <p:nvPr/>
          </p:nvSpPr>
          <p:spPr bwMode="auto">
            <a:xfrm flipH="1">
              <a:off x="3149" y="2698"/>
              <a:ext cx="768" cy="307"/>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0" name="Line 119"/>
            <p:cNvSpPr>
              <a:spLocks noChangeShapeType="1"/>
            </p:cNvSpPr>
            <p:nvPr/>
          </p:nvSpPr>
          <p:spPr bwMode="auto">
            <a:xfrm>
              <a:off x="4099" y="2698"/>
              <a:ext cx="720" cy="34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1" name="Line 120"/>
            <p:cNvSpPr>
              <a:spLocks noChangeShapeType="1"/>
            </p:cNvSpPr>
            <p:nvPr/>
          </p:nvSpPr>
          <p:spPr bwMode="auto">
            <a:xfrm flipH="1">
              <a:off x="2861" y="3178"/>
              <a:ext cx="125" cy="23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2" name="Line 121"/>
            <p:cNvSpPr>
              <a:spLocks noChangeShapeType="1"/>
            </p:cNvSpPr>
            <p:nvPr/>
          </p:nvSpPr>
          <p:spPr bwMode="auto">
            <a:xfrm>
              <a:off x="3110" y="3178"/>
              <a:ext cx="154" cy="21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3" name="Line 122"/>
            <p:cNvSpPr>
              <a:spLocks noChangeShapeType="1"/>
            </p:cNvSpPr>
            <p:nvPr/>
          </p:nvSpPr>
          <p:spPr bwMode="auto">
            <a:xfrm>
              <a:off x="2794" y="3638"/>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4" name="Line 123"/>
            <p:cNvSpPr>
              <a:spLocks noChangeShapeType="1"/>
            </p:cNvSpPr>
            <p:nvPr/>
          </p:nvSpPr>
          <p:spPr bwMode="auto">
            <a:xfrm>
              <a:off x="3312" y="3638"/>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5" name="Line 124"/>
            <p:cNvSpPr>
              <a:spLocks noChangeShapeType="1"/>
            </p:cNvSpPr>
            <p:nvPr/>
          </p:nvSpPr>
          <p:spPr bwMode="auto">
            <a:xfrm flipH="1">
              <a:off x="3857" y="3185"/>
              <a:ext cx="125" cy="230"/>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6" name="Line 125"/>
            <p:cNvSpPr>
              <a:spLocks noChangeShapeType="1"/>
            </p:cNvSpPr>
            <p:nvPr/>
          </p:nvSpPr>
          <p:spPr bwMode="auto">
            <a:xfrm>
              <a:off x="4106" y="3185"/>
              <a:ext cx="154" cy="21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7" name="Line 126"/>
            <p:cNvSpPr>
              <a:spLocks noChangeShapeType="1"/>
            </p:cNvSpPr>
            <p:nvPr/>
          </p:nvSpPr>
          <p:spPr bwMode="auto">
            <a:xfrm>
              <a:off x="3790" y="3645"/>
              <a:ext cx="0" cy="250"/>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8" name="Line 127"/>
            <p:cNvSpPr>
              <a:spLocks noChangeShapeType="1"/>
            </p:cNvSpPr>
            <p:nvPr/>
          </p:nvSpPr>
          <p:spPr bwMode="auto">
            <a:xfrm>
              <a:off x="4308" y="3645"/>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9" name="Line 128"/>
            <p:cNvSpPr>
              <a:spLocks noChangeShapeType="1"/>
            </p:cNvSpPr>
            <p:nvPr/>
          </p:nvSpPr>
          <p:spPr bwMode="auto">
            <a:xfrm flipH="1">
              <a:off x="4778" y="3185"/>
              <a:ext cx="125" cy="23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0" name="Line 129"/>
            <p:cNvSpPr>
              <a:spLocks noChangeShapeType="1"/>
            </p:cNvSpPr>
            <p:nvPr/>
          </p:nvSpPr>
          <p:spPr bwMode="auto">
            <a:xfrm>
              <a:off x="5008" y="3166"/>
              <a:ext cx="154" cy="22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1" name="Line 130"/>
            <p:cNvSpPr>
              <a:spLocks noChangeShapeType="1"/>
            </p:cNvSpPr>
            <p:nvPr/>
          </p:nvSpPr>
          <p:spPr bwMode="auto">
            <a:xfrm>
              <a:off x="4741" y="3645"/>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2" name="Line 131"/>
            <p:cNvSpPr>
              <a:spLocks noChangeShapeType="1"/>
            </p:cNvSpPr>
            <p:nvPr/>
          </p:nvSpPr>
          <p:spPr bwMode="auto">
            <a:xfrm>
              <a:off x="5219" y="3645"/>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3" name="Text Box 132"/>
            <p:cNvSpPr txBox="1">
              <a:spLocks noChangeArrowheads="1"/>
            </p:cNvSpPr>
            <p:nvPr/>
          </p:nvSpPr>
          <p:spPr bwMode="auto">
            <a:xfrm>
              <a:off x="4046" y="2282"/>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1304" name="Text Box 134"/>
            <p:cNvSpPr txBox="1">
              <a:spLocks noChangeArrowheads="1"/>
            </p:cNvSpPr>
            <p:nvPr/>
          </p:nvSpPr>
          <p:spPr bwMode="auto">
            <a:xfrm>
              <a:off x="3439" y="2636"/>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1305" name="Text Box 135"/>
            <p:cNvSpPr txBox="1">
              <a:spLocks noChangeArrowheads="1"/>
            </p:cNvSpPr>
            <p:nvPr/>
          </p:nvSpPr>
          <p:spPr bwMode="auto">
            <a:xfrm>
              <a:off x="2738" y="3134"/>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11306" name="Text Box 136"/>
            <p:cNvSpPr txBox="1">
              <a:spLocks noChangeArrowheads="1"/>
            </p:cNvSpPr>
            <p:nvPr/>
          </p:nvSpPr>
          <p:spPr bwMode="auto">
            <a:xfrm>
              <a:off x="2604" y="370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11307" name="Text Box 137"/>
            <p:cNvSpPr txBox="1">
              <a:spLocks noChangeArrowheads="1"/>
            </p:cNvSpPr>
            <p:nvPr/>
          </p:nvSpPr>
          <p:spPr bwMode="auto">
            <a:xfrm>
              <a:off x="3219" y="3154"/>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11308" name="Text Box 138"/>
            <p:cNvSpPr txBox="1">
              <a:spLocks noChangeArrowheads="1"/>
            </p:cNvSpPr>
            <p:nvPr/>
          </p:nvSpPr>
          <p:spPr bwMode="auto">
            <a:xfrm>
              <a:off x="4034" y="276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11309" name="Text Box 139"/>
            <p:cNvSpPr txBox="1">
              <a:spLocks noChangeArrowheads="1"/>
            </p:cNvSpPr>
            <p:nvPr/>
          </p:nvSpPr>
          <p:spPr bwMode="auto">
            <a:xfrm>
              <a:off x="4418" y="269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11310" name="Text Box 140"/>
            <p:cNvSpPr txBox="1">
              <a:spLocks noChangeArrowheads="1"/>
            </p:cNvSpPr>
            <p:nvPr/>
          </p:nvSpPr>
          <p:spPr bwMode="auto">
            <a:xfrm>
              <a:off x="3716" y="316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1311" name="Text Box 141"/>
            <p:cNvSpPr txBox="1">
              <a:spLocks noChangeArrowheads="1"/>
            </p:cNvSpPr>
            <p:nvPr/>
          </p:nvSpPr>
          <p:spPr bwMode="auto">
            <a:xfrm>
              <a:off x="3612" y="370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11312" name="Text Box 143"/>
            <p:cNvSpPr txBox="1">
              <a:spLocks noChangeArrowheads="1"/>
            </p:cNvSpPr>
            <p:nvPr/>
          </p:nvSpPr>
          <p:spPr bwMode="auto">
            <a:xfrm>
              <a:off x="3119" y="367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11313" name="Text Box 144"/>
            <p:cNvSpPr txBox="1">
              <a:spLocks noChangeArrowheads="1"/>
            </p:cNvSpPr>
            <p:nvPr/>
          </p:nvSpPr>
          <p:spPr bwMode="auto">
            <a:xfrm>
              <a:off x="4186" y="316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11314" name="Text Box 145"/>
            <p:cNvSpPr txBox="1">
              <a:spLocks noChangeArrowheads="1"/>
            </p:cNvSpPr>
            <p:nvPr/>
          </p:nvSpPr>
          <p:spPr bwMode="auto">
            <a:xfrm>
              <a:off x="4119" y="366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1315" name="Text Box 146"/>
            <p:cNvSpPr txBox="1">
              <a:spLocks noChangeArrowheads="1"/>
            </p:cNvSpPr>
            <p:nvPr/>
          </p:nvSpPr>
          <p:spPr bwMode="auto">
            <a:xfrm>
              <a:off x="4659" y="316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1316" name="Text Box 147"/>
            <p:cNvSpPr txBox="1">
              <a:spLocks noChangeArrowheads="1"/>
            </p:cNvSpPr>
            <p:nvPr/>
          </p:nvSpPr>
          <p:spPr bwMode="auto">
            <a:xfrm>
              <a:off x="5004" y="3691"/>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1317" name="Text Box 148"/>
            <p:cNvSpPr txBox="1">
              <a:spLocks noChangeArrowheads="1"/>
            </p:cNvSpPr>
            <p:nvPr/>
          </p:nvSpPr>
          <p:spPr bwMode="auto">
            <a:xfrm>
              <a:off x="4538" y="370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11318" name="Text Box 149"/>
            <p:cNvSpPr txBox="1">
              <a:spLocks noChangeArrowheads="1"/>
            </p:cNvSpPr>
            <p:nvPr/>
          </p:nvSpPr>
          <p:spPr bwMode="auto">
            <a:xfrm>
              <a:off x="5105" y="314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回溯法：基本思想</a:t>
            </a:r>
          </a:p>
        </p:txBody>
      </p:sp>
      <p:sp>
        <p:nvSpPr>
          <p:cNvPr id="4" name="Rectangle 3"/>
          <p:cNvSpPr txBox="1">
            <a:spLocks noChangeArrowheads="1"/>
          </p:cNvSpPr>
          <p:nvPr/>
        </p:nvSpPr>
        <p:spPr bwMode="auto">
          <a:xfrm>
            <a:off x="330200" y="1385888"/>
            <a:ext cx="8610600" cy="806450"/>
          </a:xfrm>
          <a:prstGeom prst="rect">
            <a:avLst/>
          </a:prstGeom>
        </p:spPr>
        <p:style>
          <a:lnRef idx="2">
            <a:schemeClr val="dk1"/>
          </a:lnRef>
          <a:fillRef idx="1">
            <a:schemeClr val="lt1"/>
          </a:fillRef>
          <a:effectRef idx="0">
            <a:schemeClr val="dk1"/>
          </a:effectRef>
          <a:fontRef idx="minor">
            <a:schemeClr val="dk1"/>
          </a:fontRef>
        </p:style>
        <p:txBody>
          <a:bodyPr/>
          <a:lstStyle/>
          <a:p>
            <a:pPr indent="-342900" algn="just" defTabSz="914400">
              <a:lnSpc>
                <a:spcPct val="150000"/>
              </a:lnSpc>
              <a:spcBef>
                <a:spcPct val="20000"/>
              </a:spcBef>
              <a:buClr>
                <a:srgbClr val="00B050"/>
              </a:buClr>
              <a:buFont typeface="Wingdings" panose="05000000000000000000" pitchFamily="2" charset="2"/>
              <a:buChar char="u"/>
              <a:defRPr/>
            </a:pP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回溯法也称</a:t>
            </a:r>
            <a:r>
              <a:rPr kumimoji="1" lang="zh-CN" altLang="en-US" sz="2800" b="1" kern="0" dirty="0">
                <a:solidFill>
                  <a:srgbClr val="FF0000"/>
                </a:solidFill>
                <a:latin typeface="华文楷体" panose="02010600040101010101" pitchFamily="2" charset="-122"/>
                <a:ea typeface="华文楷体" panose="02010600040101010101" pitchFamily="2" charset="-122"/>
              </a:rPr>
              <a:t>试探法</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，其</a:t>
            </a:r>
            <a:r>
              <a:rPr kumimoji="1" lang="zh-CN" altLang="en-US" sz="2800" b="1" kern="0" dirty="0">
                <a:solidFill>
                  <a:srgbClr val="FF0000"/>
                </a:solidFill>
                <a:latin typeface="华文楷体" panose="02010600040101010101" pitchFamily="2" charset="-122"/>
                <a:ea typeface="华文楷体" panose="02010600040101010101" pitchFamily="2" charset="-122"/>
              </a:rPr>
              <a:t>基本思想</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是：</a:t>
            </a:r>
            <a:endParaRPr kumimoji="1" lang="en-US" altLang="zh-CN" sz="2800" b="1" kern="0" dirty="0">
              <a:solidFill>
                <a:schemeClr val="tx1">
                  <a:lumMod val="50000"/>
                </a:schemeClr>
              </a:solidFill>
              <a:latin typeface="华文楷体" panose="02010600040101010101" pitchFamily="2" charset="-122"/>
              <a:ea typeface="华文楷体" panose="02010600040101010101" pitchFamily="2" charset="-122"/>
            </a:endParaRPr>
          </a:p>
        </p:txBody>
      </p:sp>
      <p:sp>
        <p:nvSpPr>
          <p:cNvPr id="5" name="矩形 4"/>
          <p:cNvSpPr/>
          <p:nvPr/>
        </p:nvSpPr>
        <p:spPr>
          <a:xfrm>
            <a:off x="296863" y="5313363"/>
            <a:ext cx="8643937" cy="630237"/>
          </a:xfrm>
          <a:prstGeom prst="rect">
            <a:avLst/>
          </a:prstGeom>
        </p:spPr>
        <p:style>
          <a:lnRef idx="2">
            <a:schemeClr val="accent4"/>
          </a:lnRef>
          <a:fillRef idx="1">
            <a:schemeClr val="lt1"/>
          </a:fillRef>
          <a:effectRef idx="0">
            <a:schemeClr val="accent4"/>
          </a:effectRef>
          <a:fontRef idx="minor">
            <a:schemeClr val="dk1"/>
          </a:fontRef>
        </p:style>
        <p:txBody>
          <a:bodyPr>
            <a:spAutoFit/>
          </a:bodyPr>
          <a:lstStyle/>
          <a:p>
            <a:pPr indent="-342900" algn="just" defTabSz="914400">
              <a:lnSpc>
                <a:spcPct val="125000"/>
              </a:lnSpc>
              <a:spcBef>
                <a:spcPct val="20000"/>
              </a:spcBef>
              <a:buClr>
                <a:srgbClr val="00B050"/>
              </a:buClr>
              <a:buFont typeface="Wingdings" panose="05000000000000000000" pitchFamily="2" charset="2"/>
              <a:buChar char="u"/>
              <a:defRPr/>
            </a:pP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这种不断</a:t>
            </a:r>
            <a:r>
              <a:rPr kumimoji="1" lang="zh-CN" altLang="en-US" sz="2800" b="1" kern="0" dirty="0">
                <a:solidFill>
                  <a:srgbClr val="FF0000"/>
                </a:solidFill>
                <a:latin typeface="华文楷体" panose="02010600040101010101" pitchFamily="2" charset="-122"/>
                <a:ea typeface="华文楷体" panose="02010600040101010101" pitchFamily="2" charset="-122"/>
              </a:rPr>
              <a:t>前进</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 、不断</a:t>
            </a:r>
            <a:r>
              <a:rPr kumimoji="1" lang="zh-CN" altLang="en-US" sz="2800" b="1" kern="0" dirty="0">
                <a:solidFill>
                  <a:srgbClr val="FF0000"/>
                </a:solidFill>
                <a:latin typeface="华文楷体" panose="02010600040101010101" pitchFamily="2" charset="-122"/>
                <a:ea typeface="华文楷体" panose="02010600040101010101" pitchFamily="2" charset="-122"/>
              </a:rPr>
              <a:t>回溯</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寻找解的方法叫</a:t>
            </a:r>
            <a:r>
              <a:rPr kumimoji="1" lang="zh-CN" altLang="en-US" sz="2800" b="1" kern="0" dirty="0">
                <a:solidFill>
                  <a:srgbClr val="FF0000"/>
                </a:solidFill>
                <a:latin typeface="华文楷体" panose="02010600040101010101" pitchFamily="2" charset="-122"/>
                <a:ea typeface="华文楷体" panose="02010600040101010101" pitchFamily="2" charset="-122"/>
              </a:rPr>
              <a:t>回溯法</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a:t>
            </a:r>
          </a:p>
        </p:txBody>
      </p:sp>
      <p:sp>
        <p:nvSpPr>
          <p:cNvPr id="6" name="矩形 5"/>
          <p:cNvSpPr/>
          <p:nvPr/>
        </p:nvSpPr>
        <p:spPr>
          <a:xfrm>
            <a:off x="304800" y="3754438"/>
            <a:ext cx="8636000" cy="116998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indent="-342900" algn="just" defTabSz="914400">
              <a:lnSpc>
                <a:spcPct val="125000"/>
              </a:lnSpc>
              <a:spcBef>
                <a:spcPct val="20000"/>
              </a:spcBef>
              <a:buClr>
                <a:srgbClr val="00B050"/>
              </a:buClr>
              <a:buFont typeface="Wingdings" panose="05000000000000000000" pitchFamily="2" charset="2"/>
              <a:buChar char="u"/>
              <a:defRPr/>
            </a:pP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当一条路走到尽头 ，再</a:t>
            </a:r>
            <a:r>
              <a:rPr kumimoji="1" lang="zh-CN" altLang="en-US" sz="2800" b="1" kern="0" dirty="0">
                <a:solidFill>
                  <a:srgbClr val="FF0000"/>
                </a:solidFill>
                <a:latin typeface="华文楷体" panose="02010600040101010101" pitchFamily="2" charset="-122"/>
                <a:ea typeface="华文楷体" panose="02010600040101010101" pitchFamily="2" charset="-122"/>
              </a:rPr>
              <a:t>后退一步或若干步</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，从另外一种状态出发，继续搜索，直到所有的路径都搜索过。</a:t>
            </a:r>
            <a:endParaRPr kumimoji="1" lang="en-US" altLang="zh-CN" sz="2800" b="1" kern="0" dirty="0">
              <a:solidFill>
                <a:schemeClr val="tx1">
                  <a:lumMod val="50000"/>
                </a:schemeClr>
              </a:solidFill>
              <a:latin typeface="华文楷体" panose="02010600040101010101" pitchFamily="2" charset="-122"/>
              <a:ea typeface="华文楷体" panose="02010600040101010101" pitchFamily="2" charset="-122"/>
            </a:endParaRPr>
          </a:p>
        </p:txBody>
      </p:sp>
      <p:sp>
        <p:nvSpPr>
          <p:cNvPr id="8" name="矩形 7"/>
          <p:cNvSpPr/>
          <p:nvPr/>
        </p:nvSpPr>
        <p:spPr>
          <a:xfrm>
            <a:off x="322263" y="2636838"/>
            <a:ext cx="8601075" cy="63182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indent="-342900" algn="just" defTabSz="914400">
              <a:lnSpc>
                <a:spcPct val="125000"/>
              </a:lnSpc>
              <a:spcBef>
                <a:spcPct val="20000"/>
              </a:spcBef>
              <a:buClr>
                <a:srgbClr val="00B050"/>
              </a:buClr>
              <a:buFont typeface="Wingdings" panose="05000000000000000000" pitchFamily="2" charset="2"/>
              <a:buChar char="u"/>
              <a:defRPr/>
            </a:pP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rPr>
              <a:t>从初始状态出发，搜索其所能到达的所有“状态”；</a:t>
            </a:r>
            <a:endParaRPr kumimoji="1" lang="en-US" altLang="zh-CN" sz="2800" b="1" kern="0" dirty="0">
              <a:solidFill>
                <a:schemeClr val="tx1">
                  <a:lumMod val="50000"/>
                </a:schemeClr>
              </a:solidFill>
              <a:latin typeface="华文楷体" panose="02010600040101010101" pitchFamily="2" charset="-122"/>
              <a:ea typeface="华文楷体"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回溯法：基本思想</a:t>
            </a:r>
          </a:p>
        </p:txBody>
      </p:sp>
      <p:grpSp>
        <p:nvGrpSpPr>
          <p:cNvPr id="14339" name="Group 133"/>
          <p:cNvGrpSpPr/>
          <p:nvPr/>
        </p:nvGrpSpPr>
        <p:grpSpPr bwMode="auto">
          <a:xfrm>
            <a:off x="550863" y="2946400"/>
            <a:ext cx="2581275" cy="2481263"/>
            <a:chOff x="244" y="2236"/>
            <a:chExt cx="1317" cy="1186"/>
          </a:xfrm>
        </p:grpSpPr>
        <p:grpSp>
          <p:nvGrpSpPr>
            <p:cNvPr id="14430" name="Group 6"/>
            <p:cNvGrpSpPr/>
            <p:nvPr/>
          </p:nvGrpSpPr>
          <p:grpSpPr bwMode="auto">
            <a:xfrm>
              <a:off x="1248" y="2271"/>
              <a:ext cx="249" cy="249"/>
              <a:chOff x="4531" y="2063"/>
              <a:chExt cx="249" cy="249"/>
            </a:xfrm>
          </p:grpSpPr>
          <p:sp>
            <p:nvSpPr>
              <p:cNvPr id="28" name="Oval 7"/>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4453" name="Text Box 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14431" name="Group 9"/>
            <p:cNvGrpSpPr/>
            <p:nvPr/>
          </p:nvGrpSpPr>
          <p:grpSpPr bwMode="auto">
            <a:xfrm>
              <a:off x="323" y="2264"/>
              <a:ext cx="249" cy="249"/>
              <a:chOff x="4531" y="2063"/>
              <a:chExt cx="249" cy="249"/>
            </a:xfrm>
          </p:grpSpPr>
          <p:sp>
            <p:nvSpPr>
              <p:cNvPr id="26" name="Oval 10"/>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4451" name="Text Box 1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nvGrpSpPr>
            <p:cNvPr id="14432" name="Group 15"/>
            <p:cNvGrpSpPr/>
            <p:nvPr/>
          </p:nvGrpSpPr>
          <p:grpSpPr bwMode="auto">
            <a:xfrm>
              <a:off x="315" y="3131"/>
              <a:ext cx="249" cy="249"/>
              <a:chOff x="4531" y="2063"/>
              <a:chExt cx="249" cy="249"/>
            </a:xfrm>
          </p:grpSpPr>
          <p:sp>
            <p:nvSpPr>
              <p:cNvPr id="24" name="Oval 16"/>
              <p:cNvSpPr>
                <a:spLocks noChangeArrowheads="1"/>
              </p:cNvSpPr>
              <p:nvPr/>
            </p:nvSpPr>
            <p:spPr bwMode="auto">
              <a:xfrm>
                <a:off x="4531" y="2063"/>
                <a:ext cx="249" cy="250"/>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4449" name="Text Box 1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sp>
          <p:nvSpPr>
            <p:cNvPr id="14433" name="Text Box 46"/>
            <p:cNvSpPr txBox="1">
              <a:spLocks noChangeArrowheads="1"/>
            </p:cNvSpPr>
            <p:nvPr/>
          </p:nvSpPr>
          <p:spPr bwMode="auto">
            <a:xfrm>
              <a:off x="1389" y="274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14434" name="Text Box 47"/>
            <p:cNvSpPr txBox="1">
              <a:spLocks noChangeArrowheads="1"/>
            </p:cNvSpPr>
            <p:nvPr/>
          </p:nvSpPr>
          <p:spPr bwMode="auto">
            <a:xfrm>
              <a:off x="832" y="2236"/>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grpSp>
          <p:nvGrpSpPr>
            <p:cNvPr id="14435" name="Group 48"/>
            <p:cNvGrpSpPr/>
            <p:nvPr/>
          </p:nvGrpSpPr>
          <p:grpSpPr bwMode="auto">
            <a:xfrm>
              <a:off x="1253" y="3134"/>
              <a:ext cx="249" cy="249"/>
              <a:chOff x="4531" y="2063"/>
              <a:chExt cx="249" cy="249"/>
            </a:xfrm>
          </p:grpSpPr>
          <p:sp>
            <p:nvSpPr>
              <p:cNvPr id="22" name="Oval 49"/>
              <p:cNvSpPr>
                <a:spLocks noChangeArrowheads="1"/>
              </p:cNvSpPr>
              <p:nvPr/>
            </p:nvSpPr>
            <p:spPr bwMode="auto">
              <a:xfrm>
                <a:off x="4531" y="2063"/>
                <a:ext cx="249" cy="250"/>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4447" name="Text Box 5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sp>
          <p:nvSpPr>
            <p:cNvPr id="14436" name="Line 51"/>
            <p:cNvSpPr>
              <a:spLocks noChangeShapeType="1"/>
            </p:cNvSpPr>
            <p:nvPr/>
          </p:nvSpPr>
          <p:spPr bwMode="auto">
            <a:xfrm>
              <a:off x="557" y="2429"/>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37" name="Line 52"/>
            <p:cNvSpPr>
              <a:spLocks noChangeShapeType="1"/>
            </p:cNvSpPr>
            <p:nvPr/>
          </p:nvSpPr>
          <p:spPr bwMode="auto">
            <a:xfrm>
              <a:off x="442" y="2515"/>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38" name="Line 53"/>
            <p:cNvSpPr>
              <a:spLocks noChangeShapeType="1"/>
            </p:cNvSpPr>
            <p:nvPr/>
          </p:nvSpPr>
          <p:spPr bwMode="auto">
            <a:xfrm>
              <a:off x="564" y="3224"/>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39" name="Line 54"/>
            <p:cNvSpPr>
              <a:spLocks noChangeShapeType="1"/>
            </p:cNvSpPr>
            <p:nvPr/>
          </p:nvSpPr>
          <p:spPr bwMode="auto">
            <a:xfrm>
              <a:off x="1371" y="2523"/>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40" name="Line 55"/>
            <p:cNvSpPr>
              <a:spLocks noChangeShapeType="1"/>
            </p:cNvSpPr>
            <p:nvPr/>
          </p:nvSpPr>
          <p:spPr bwMode="auto">
            <a:xfrm>
              <a:off x="509" y="2477"/>
              <a:ext cx="787" cy="69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41" name="Line 56"/>
            <p:cNvSpPr>
              <a:spLocks noChangeShapeType="1"/>
            </p:cNvSpPr>
            <p:nvPr/>
          </p:nvSpPr>
          <p:spPr bwMode="auto">
            <a:xfrm flipV="1">
              <a:off x="509" y="2486"/>
              <a:ext cx="777" cy="67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42" name="Text Box 57"/>
            <p:cNvSpPr txBox="1">
              <a:spLocks noChangeArrowheads="1"/>
            </p:cNvSpPr>
            <p:nvPr/>
          </p:nvSpPr>
          <p:spPr bwMode="auto">
            <a:xfrm>
              <a:off x="244" y="273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14443" name="Text Box 58"/>
            <p:cNvSpPr txBox="1">
              <a:spLocks noChangeArrowheads="1"/>
            </p:cNvSpPr>
            <p:nvPr/>
          </p:nvSpPr>
          <p:spPr bwMode="auto">
            <a:xfrm>
              <a:off x="807" y="324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20</a:t>
              </a:r>
            </a:p>
          </p:txBody>
        </p:sp>
        <p:sp>
          <p:nvSpPr>
            <p:cNvPr id="14444" name="Text Box 59"/>
            <p:cNvSpPr txBox="1">
              <a:spLocks noChangeArrowheads="1"/>
            </p:cNvSpPr>
            <p:nvPr/>
          </p:nvSpPr>
          <p:spPr bwMode="auto">
            <a:xfrm>
              <a:off x="1106" y="262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14445" name="Text Box 60"/>
            <p:cNvSpPr txBox="1">
              <a:spLocks noChangeArrowheads="1"/>
            </p:cNvSpPr>
            <p:nvPr/>
          </p:nvSpPr>
          <p:spPr bwMode="auto">
            <a:xfrm>
              <a:off x="905" y="2962"/>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grpSp>
        <p:nvGrpSpPr>
          <p:cNvPr id="7" name="Group 62"/>
          <p:cNvGrpSpPr/>
          <p:nvPr/>
        </p:nvGrpSpPr>
        <p:grpSpPr bwMode="auto">
          <a:xfrm>
            <a:off x="5884863" y="2057400"/>
            <a:ext cx="395287" cy="395288"/>
            <a:chOff x="4531" y="2063"/>
            <a:chExt cx="249" cy="249"/>
          </a:xfrm>
        </p:grpSpPr>
        <p:sp>
          <p:nvSpPr>
            <p:cNvPr id="112" name="Oval 63"/>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13" name="Text Box 64"/>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A</a:t>
              </a:r>
            </a:p>
          </p:txBody>
        </p:sp>
      </p:grpSp>
      <p:grpSp>
        <p:nvGrpSpPr>
          <p:cNvPr id="8" name="Group 65"/>
          <p:cNvGrpSpPr/>
          <p:nvPr/>
        </p:nvGrpSpPr>
        <p:grpSpPr bwMode="auto">
          <a:xfrm>
            <a:off x="5883275" y="2800350"/>
            <a:ext cx="395288" cy="395288"/>
            <a:chOff x="4531" y="2063"/>
            <a:chExt cx="249" cy="249"/>
          </a:xfrm>
        </p:grpSpPr>
        <p:sp>
          <p:nvSpPr>
            <p:cNvPr id="110" name="Oval 66"/>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11" name="Text Box 67"/>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B</a:t>
              </a:r>
            </a:p>
          </p:txBody>
        </p:sp>
      </p:grpSp>
      <p:grpSp>
        <p:nvGrpSpPr>
          <p:cNvPr id="9" name="Group 68"/>
          <p:cNvGrpSpPr/>
          <p:nvPr/>
        </p:nvGrpSpPr>
        <p:grpSpPr bwMode="auto">
          <a:xfrm>
            <a:off x="4376738" y="3557588"/>
            <a:ext cx="395287" cy="395287"/>
            <a:chOff x="4531" y="2063"/>
            <a:chExt cx="249" cy="249"/>
          </a:xfrm>
        </p:grpSpPr>
        <p:sp>
          <p:nvSpPr>
            <p:cNvPr id="108" name="Oval 69"/>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9" name="Text Box 70"/>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C</a:t>
              </a:r>
            </a:p>
          </p:txBody>
        </p:sp>
      </p:grpSp>
      <p:grpSp>
        <p:nvGrpSpPr>
          <p:cNvPr id="10" name="Group 71"/>
          <p:cNvGrpSpPr/>
          <p:nvPr/>
        </p:nvGrpSpPr>
        <p:grpSpPr bwMode="auto">
          <a:xfrm>
            <a:off x="5903913" y="3551238"/>
            <a:ext cx="395287" cy="395287"/>
            <a:chOff x="4531" y="2063"/>
            <a:chExt cx="249" cy="249"/>
          </a:xfrm>
        </p:grpSpPr>
        <p:sp>
          <p:nvSpPr>
            <p:cNvPr id="106" name="Oval 72"/>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7" name="Text Box 73"/>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D</a:t>
              </a:r>
            </a:p>
          </p:txBody>
        </p:sp>
      </p:grpSp>
      <p:grpSp>
        <p:nvGrpSpPr>
          <p:cNvPr id="11" name="Group 74"/>
          <p:cNvGrpSpPr/>
          <p:nvPr/>
        </p:nvGrpSpPr>
        <p:grpSpPr bwMode="auto">
          <a:xfrm>
            <a:off x="7356475" y="3551238"/>
            <a:ext cx="395288" cy="395287"/>
            <a:chOff x="4531" y="2063"/>
            <a:chExt cx="249" cy="249"/>
          </a:xfrm>
        </p:grpSpPr>
        <p:sp>
          <p:nvSpPr>
            <p:cNvPr id="104" name="Oval 75"/>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5" name="Text Box 76"/>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E</a:t>
              </a:r>
            </a:p>
          </p:txBody>
        </p:sp>
      </p:grpSp>
      <p:grpSp>
        <p:nvGrpSpPr>
          <p:cNvPr id="12" name="Group 77"/>
          <p:cNvGrpSpPr/>
          <p:nvPr/>
        </p:nvGrpSpPr>
        <p:grpSpPr bwMode="auto">
          <a:xfrm>
            <a:off x="3965575" y="4265613"/>
            <a:ext cx="395288" cy="395287"/>
            <a:chOff x="4531" y="2063"/>
            <a:chExt cx="249" cy="249"/>
          </a:xfrm>
        </p:grpSpPr>
        <p:sp>
          <p:nvSpPr>
            <p:cNvPr id="102" name="Oval 78"/>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3" name="Text Box 79"/>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F</a:t>
              </a:r>
            </a:p>
          </p:txBody>
        </p:sp>
      </p:grpSp>
      <p:grpSp>
        <p:nvGrpSpPr>
          <p:cNvPr id="13" name="Group 80"/>
          <p:cNvGrpSpPr/>
          <p:nvPr/>
        </p:nvGrpSpPr>
        <p:grpSpPr bwMode="auto">
          <a:xfrm>
            <a:off x="4767263" y="4248150"/>
            <a:ext cx="395287" cy="395288"/>
            <a:chOff x="4531" y="2063"/>
            <a:chExt cx="249" cy="249"/>
          </a:xfrm>
        </p:grpSpPr>
        <p:sp>
          <p:nvSpPr>
            <p:cNvPr id="100" name="Oval 81"/>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1" name="Text Box 82"/>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G</a:t>
              </a:r>
            </a:p>
          </p:txBody>
        </p:sp>
      </p:grpSp>
      <p:grpSp>
        <p:nvGrpSpPr>
          <p:cNvPr id="14" name="Group 83"/>
          <p:cNvGrpSpPr/>
          <p:nvPr/>
        </p:nvGrpSpPr>
        <p:grpSpPr bwMode="auto">
          <a:xfrm>
            <a:off x="5561013" y="4243388"/>
            <a:ext cx="395287" cy="395287"/>
            <a:chOff x="4531" y="2063"/>
            <a:chExt cx="249" cy="249"/>
          </a:xfrm>
        </p:grpSpPr>
        <p:sp>
          <p:nvSpPr>
            <p:cNvPr id="98" name="Oval 84"/>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9" name="Text Box 85"/>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H</a:t>
              </a:r>
            </a:p>
          </p:txBody>
        </p:sp>
      </p:grpSp>
      <p:grpSp>
        <p:nvGrpSpPr>
          <p:cNvPr id="15" name="Group 86"/>
          <p:cNvGrpSpPr/>
          <p:nvPr/>
        </p:nvGrpSpPr>
        <p:grpSpPr bwMode="auto">
          <a:xfrm>
            <a:off x="6330950" y="4254500"/>
            <a:ext cx="395288" cy="395288"/>
            <a:chOff x="4531" y="2063"/>
            <a:chExt cx="249" cy="249"/>
          </a:xfrm>
        </p:grpSpPr>
        <p:sp>
          <p:nvSpPr>
            <p:cNvPr id="96" name="Oval 87"/>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7" name="Text Box 88"/>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I</a:t>
              </a:r>
            </a:p>
          </p:txBody>
        </p:sp>
      </p:grpSp>
      <p:grpSp>
        <p:nvGrpSpPr>
          <p:cNvPr id="16" name="Group 89"/>
          <p:cNvGrpSpPr/>
          <p:nvPr/>
        </p:nvGrpSpPr>
        <p:grpSpPr bwMode="auto">
          <a:xfrm>
            <a:off x="7040563" y="4265613"/>
            <a:ext cx="395287" cy="395287"/>
            <a:chOff x="4531" y="2063"/>
            <a:chExt cx="249" cy="249"/>
          </a:xfrm>
        </p:grpSpPr>
        <p:sp>
          <p:nvSpPr>
            <p:cNvPr id="94" name="Oval 90"/>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5" name="Text Box 91"/>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J</a:t>
              </a:r>
            </a:p>
          </p:txBody>
        </p:sp>
      </p:grpSp>
      <p:grpSp>
        <p:nvGrpSpPr>
          <p:cNvPr id="17" name="Group 92"/>
          <p:cNvGrpSpPr/>
          <p:nvPr/>
        </p:nvGrpSpPr>
        <p:grpSpPr bwMode="auto">
          <a:xfrm>
            <a:off x="7775575" y="4251325"/>
            <a:ext cx="395288" cy="395288"/>
            <a:chOff x="4531" y="2063"/>
            <a:chExt cx="249" cy="249"/>
          </a:xfrm>
        </p:grpSpPr>
        <p:sp>
          <p:nvSpPr>
            <p:cNvPr id="92" name="Oval 93"/>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3" name="Text Box 94"/>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K</a:t>
              </a:r>
            </a:p>
          </p:txBody>
        </p:sp>
      </p:grpSp>
      <p:grpSp>
        <p:nvGrpSpPr>
          <p:cNvPr id="18" name="Group 95"/>
          <p:cNvGrpSpPr/>
          <p:nvPr/>
        </p:nvGrpSpPr>
        <p:grpSpPr bwMode="auto">
          <a:xfrm>
            <a:off x="3975100" y="5049838"/>
            <a:ext cx="395288" cy="395287"/>
            <a:chOff x="4531" y="2063"/>
            <a:chExt cx="249" cy="249"/>
          </a:xfrm>
        </p:grpSpPr>
        <p:sp>
          <p:nvSpPr>
            <p:cNvPr id="90" name="Oval 96"/>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1" name="Text Box 97"/>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L</a:t>
              </a:r>
            </a:p>
          </p:txBody>
        </p:sp>
      </p:grpSp>
      <p:grpSp>
        <p:nvGrpSpPr>
          <p:cNvPr id="19" name="Group 98"/>
          <p:cNvGrpSpPr/>
          <p:nvPr/>
        </p:nvGrpSpPr>
        <p:grpSpPr bwMode="auto">
          <a:xfrm>
            <a:off x="4810125" y="5049838"/>
            <a:ext cx="395288" cy="395287"/>
            <a:chOff x="4531" y="2063"/>
            <a:chExt cx="249" cy="249"/>
          </a:xfrm>
        </p:grpSpPr>
        <p:sp>
          <p:nvSpPr>
            <p:cNvPr id="88" name="Oval 99"/>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9" name="Text Box 100"/>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M</a:t>
              </a:r>
            </a:p>
          </p:txBody>
        </p:sp>
      </p:grpSp>
      <p:grpSp>
        <p:nvGrpSpPr>
          <p:cNvPr id="20" name="Group 101"/>
          <p:cNvGrpSpPr/>
          <p:nvPr/>
        </p:nvGrpSpPr>
        <p:grpSpPr bwMode="auto">
          <a:xfrm>
            <a:off x="6354763" y="5029200"/>
            <a:ext cx="395287" cy="395288"/>
            <a:chOff x="4531" y="2063"/>
            <a:chExt cx="249" cy="249"/>
          </a:xfrm>
        </p:grpSpPr>
        <p:sp>
          <p:nvSpPr>
            <p:cNvPr id="86" name="Oval 102"/>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7" name="Text Box 103"/>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O</a:t>
              </a:r>
            </a:p>
          </p:txBody>
        </p:sp>
      </p:grpSp>
      <p:grpSp>
        <p:nvGrpSpPr>
          <p:cNvPr id="21" name="Group 104"/>
          <p:cNvGrpSpPr/>
          <p:nvPr/>
        </p:nvGrpSpPr>
        <p:grpSpPr bwMode="auto">
          <a:xfrm>
            <a:off x="5575300" y="5041900"/>
            <a:ext cx="395288" cy="395288"/>
            <a:chOff x="4531" y="2063"/>
            <a:chExt cx="249" cy="249"/>
          </a:xfrm>
        </p:grpSpPr>
        <p:sp>
          <p:nvSpPr>
            <p:cNvPr id="84" name="Oval 105"/>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5" name="Text Box 106"/>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N</a:t>
              </a:r>
            </a:p>
          </p:txBody>
        </p:sp>
      </p:grpSp>
      <p:grpSp>
        <p:nvGrpSpPr>
          <p:cNvPr id="23" name="Group 107"/>
          <p:cNvGrpSpPr/>
          <p:nvPr/>
        </p:nvGrpSpPr>
        <p:grpSpPr bwMode="auto">
          <a:xfrm>
            <a:off x="7805738" y="5041900"/>
            <a:ext cx="395287" cy="395288"/>
            <a:chOff x="4531" y="2063"/>
            <a:chExt cx="249" cy="249"/>
          </a:xfrm>
        </p:grpSpPr>
        <p:sp>
          <p:nvSpPr>
            <p:cNvPr id="82" name="Oval 108"/>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3" name="Text Box 109"/>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Q</a:t>
              </a:r>
            </a:p>
          </p:txBody>
        </p:sp>
      </p:grpSp>
      <p:grpSp>
        <p:nvGrpSpPr>
          <p:cNvPr id="25" name="Group 110"/>
          <p:cNvGrpSpPr/>
          <p:nvPr/>
        </p:nvGrpSpPr>
        <p:grpSpPr bwMode="auto">
          <a:xfrm>
            <a:off x="7054850" y="5056188"/>
            <a:ext cx="395288" cy="395287"/>
            <a:chOff x="4531" y="2063"/>
            <a:chExt cx="249" cy="249"/>
          </a:xfrm>
        </p:grpSpPr>
        <p:sp>
          <p:nvSpPr>
            <p:cNvPr id="80" name="Oval 111"/>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1" name="Text Box 112"/>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P</a:t>
              </a:r>
            </a:p>
          </p:txBody>
        </p:sp>
      </p:grpSp>
      <p:sp>
        <p:nvSpPr>
          <p:cNvPr id="48" name="Line 116"/>
          <p:cNvSpPr>
            <a:spLocks noChangeShapeType="1"/>
          </p:cNvSpPr>
          <p:nvPr/>
        </p:nvSpPr>
        <p:spPr bwMode="auto">
          <a:xfrm>
            <a:off x="6086475" y="2449513"/>
            <a:ext cx="0" cy="334962"/>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49" name="Line 117"/>
          <p:cNvSpPr>
            <a:spLocks noChangeShapeType="1"/>
          </p:cNvSpPr>
          <p:nvPr/>
        </p:nvSpPr>
        <p:spPr bwMode="auto">
          <a:xfrm>
            <a:off x="6103938" y="3232150"/>
            <a:ext cx="0" cy="334963"/>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0" name="Line 118"/>
          <p:cNvSpPr>
            <a:spLocks noChangeShapeType="1"/>
          </p:cNvSpPr>
          <p:nvPr/>
        </p:nvSpPr>
        <p:spPr bwMode="auto">
          <a:xfrm flipH="1">
            <a:off x="4714875" y="3151188"/>
            <a:ext cx="1219200" cy="487362"/>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1" name="Line 119"/>
          <p:cNvSpPr>
            <a:spLocks noChangeShapeType="1"/>
          </p:cNvSpPr>
          <p:nvPr/>
        </p:nvSpPr>
        <p:spPr bwMode="auto">
          <a:xfrm>
            <a:off x="6223000" y="3151188"/>
            <a:ext cx="1143000" cy="547687"/>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2" name="Line 120"/>
          <p:cNvSpPr>
            <a:spLocks noChangeShapeType="1"/>
          </p:cNvSpPr>
          <p:nvPr/>
        </p:nvSpPr>
        <p:spPr bwMode="auto">
          <a:xfrm flipH="1">
            <a:off x="4257675" y="3913188"/>
            <a:ext cx="198438" cy="36512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3" name="Line 121"/>
          <p:cNvSpPr>
            <a:spLocks noChangeShapeType="1"/>
          </p:cNvSpPr>
          <p:nvPr/>
        </p:nvSpPr>
        <p:spPr bwMode="auto">
          <a:xfrm>
            <a:off x="4652963" y="3913188"/>
            <a:ext cx="244475" cy="334962"/>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4" name="Line 122"/>
          <p:cNvSpPr>
            <a:spLocks noChangeShapeType="1"/>
          </p:cNvSpPr>
          <p:nvPr/>
        </p:nvSpPr>
        <p:spPr bwMode="auto">
          <a:xfrm>
            <a:off x="4151313" y="4643438"/>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5" name="Line 123"/>
          <p:cNvSpPr>
            <a:spLocks noChangeShapeType="1"/>
          </p:cNvSpPr>
          <p:nvPr/>
        </p:nvSpPr>
        <p:spPr bwMode="auto">
          <a:xfrm>
            <a:off x="4973638" y="4643438"/>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6" name="Line 124"/>
          <p:cNvSpPr>
            <a:spLocks noChangeShapeType="1"/>
          </p:cNvSpPr>
          <p:nvPr/>
        </p:nvSpPr>
        <p:spPr bwMode="auto">
          <a:xfrm flipH="1">
            <a:off x="5838825" y="3924300"/>
            <a:ext cx="198438" cy="36512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7" name="Line 125"/>
          <p:cNvSpPr>
            <a:spLocks noChangeShapeType="1"/>
          </p:cNvSpPr>
          <p:nvPr/>
        </p:nvSpPr>
        <p:spPr bwMode="auto">
          <a:xfrm>
            <a:off x="6234113" y="3924300"/>
            <a:ext cx="244475" cy="334963"/>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8" name="Line 126"/>
          <p:cNvSpPr>
            <a:spLocks noChangeShapeType="1"/>
          </p:cNvSpPr>
          <p:nvPr/>
        </p:nvSpPr>
        <p:spPr bwMode="auto">
          <a:xfrm>
            <a:off x="5732463" y="4654550"/>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9" name="Line 127"/>
          <p:cNvSpPr>
            <a:spLocks noChangeShapeType="1"/>
          </p:cNvSpPr>
          <p:nvPr/>
        </p:nvSpPr>
        <p:spPr bwMode="auto">
          <a:xfrm>
            <a:off x="6554788" y="4654550"/>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0" name="Line 128"/>
          <p:cNvSpPr>
            <a:spLocks noChangeShapeType="1"/>
          </p:cNvSpPr>
          <p:nvPr/>
        </p:nvSpPr>
        <p:spPr bwMode="auto">
          <a:xfrm flipH="1">
            <a:off x="7300913" y="3924300"/>
            <a:ext cx="198437" cy="36512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1" name="Line 129"/>
          <p:cNvSpPr>
            <a:spLocks noChangeShapeType="1"/>
          </p:cNvSpPr>
          <p:nvPr/>
        </p:nvSpPr>
        <p:spPr bwMode="auto">
          <a:xfrm>
            <a:off x="7666038" y="3894138"/>
            <a:ext cx="244475" cy="349250"/>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2" name="Line 130"/>
          <p:cNvSpPr>
            <a:spLocks noChangeShapeType="1"/>
          </p:cNvSpPr>
          <p:nvPr/>
        </p:nvSpPr>
        <p:spPr bwMode="auto">
          <a:xfrm>
            <a:off x="7242175" y="4654550"/>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3" name="Line 131"/>
          <p:cNvSpPr>
            <a:spLocks noChangeShapeType="1"/>
          </p:cNvSpPr>
          <p:nvPr/>
        </p:nvSpPr>
        <p:spPr bwMode="auto">
          <a:xfrm>
            <a:off x="8001000" y="4654550"/>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4" name="Text Box 132"/>
          <p:cNvSpPr txBox="1">
            <a:spLocks noChangeArrowheads="1"/>
          </p:cNvSpPr>
          <p:nvPr/>
        </p:nvSpPr>
        <p:spPr bwMode="auto">
          <a:xfrm>
            <a:off x="6138863" y="2490788"/>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1</a:t>
            </a:r>
          </a:p>
        </p:txBody>
      </p:sp>
      <p:sp>
        <p:nvSpPr>
          <p:cNvPr id="65" name="Text Box 134"/>
          <p:cNvSpPr txBox="1">
            <a:spLocks noChangeArrowheads="1"/>
          </p:cNvSpPr>
          <p:nvPr/>
        </p:nvSpPr>
        <p:spPr bwMode="auto">
          <a:xfrm>
            <a:off x="5175250" y="3052763"/>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66" name="Text Box 135"/>
          <p:cNvSpPr txBox="1">
            <a:spLocks noChangeArrowheads="1"/>
          </p:cNvSpPr>
          <p:nvPr/>
        </p:nvSpPr>
        <p:spPr bwMode="auto">
          <a:xfrm>
            <a:off x="4062413" y="3843338"/>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67" name="Text Box 136"/>
          <p:cNvSpPr txBox="1">
            <a:spLocks noChangeArrowheads="1"/>
          </p:cNvSpPr>
          <p:nvPr/>
        </p:nvSpPr>
        <p:spPr bwMode="auto">
          <a:xfrm>
            <a:off x="3849688" y="4741863"/>
            <a:ext cx="273050" cy="274637"/>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68" name="Text Box 137"/>
          <p:cNvSpPr txBox="1">
            <a:spLocks noChangeArrowheads="1"/>
          </p:cNvSpPr>
          <p:nvPr/>
        </p:nvSpPr>
        <p:spPr bwMode="auto">
          <a:xfrm>
            <a:off x="4826000" y="3875088"/>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69" name="Text Box 138"/>
          <p:cNvSpPr txBox="1">
            <a:spLocks noChangeArrowheads="1"/>
          </p:cNvSpPr>
          <p:nvPr/>
        </p:nvSpPr>
        <p:spPr bwMode="auto">
          <a:xfrm>
            <a:off x="6151563" y="3249613"/>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70" name="Text Box 139"/>
          <p:cNvSpPr txBox="1">
            <a:spLocks noChangeArrowheads="1"/>
          </p:cNvSpPr>
          <p:nvPr/>
        </p:nvSpPr>
        <p:spPr bwMode="auto">
          <a:xfrm>
            <a:off x="6729413" y="3143250"/>
            <a:ext cx="273050" cy="274638"/>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71" name="Text Box 140"/>
          <p:cNvSpPr txBox="1">
            <a:spLocks noChangeArrowheads="1"/>
          </p:cNvSpPr>
          <p:nvPr/>
        </p:nvSpPr>
        <p:spPr bwMode="auto">
          <a:xfrm>
            <a:off x="5614988" y="3889375"/>
            <a:ext cx="273050" cy="274638"/>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72" name="Text Box 141"/>
          <p:cNvSpPr txBox="1">
            <a:spLocks noChangeArrowheads="1"/>
          </p:cNvSpPr>
          <p:nvPr/>
        </p:nvSpPr>
        <p:spPr bwMode="auto">
          <a:xfrm>
            <a:off x="5449888" y="4741863"/>
            <a:ext cx="273050" cy="274637"/>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73" name="Text Box 143"/>
          <p:cNvSpPr txBox="1">
            <a:spLocks noChangeArrowheads="1"/>
          </p:cNvSpPr>
          <p:nvPr/>
        </p:nvSpPr>
        <p:spPr bwMode="auto">
          <a:xfrm>
            <a:off x="4667250" y="4708525"/>
            <a:ext cx="273050" cy="274638"/>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74" name="Text Box 144"/>
          <p:cNvSpPr txBox="1">
            <a:spLocks noChangeArrowheads="1"/>
          </p:cNvSpPr>
          <p:nvPr/>
        </p:nvSpPr>
        <p:spPr bwMode="auto">
          <a:xfrm>
            <a:off x="6361113" y="3884613"/>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75" name="Text Box 145"/>
          <p:cNvSpPr txBox="1">
            <a:spLocks noChangeArrowheads="1"/>
          </p:cNvSpPr>
          <p:nvPr/>
        </p:nvSpPr>
        <p:spPr bwMode="auto">
          <a:xfrm>
            <a:off x="6254750" y="4692650"/>
            <a:ext cx="273050" cy="274638"/>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76" name="Text Box 146"/>
          <p:cNvSpPr txBox="1">
            <a:spLocks noChangeArrowheads="1"/>
          </p:cNvSpPr>
          <p:nvPr/>
        </p:nvSpPr>
        <p:spPr bwMode="auto">
          <a:xfrm>
            <a:off x="7112000" y="3889375"/>
            <a:ext cx="273050" cy="274638"/>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77" name="Text Box 147"/>
          <p:cNvSpPr txBox="1">
            <a:spLocks noChangeArrowheads="1"/>
          </p:cNvSpPr>
          <p:nvPr/>
        </p:nvSpPr>
        <p:spPr bwMode="auto">
          <a:xfrm>
            <a:off x="7659688" y="4727575"/>
            <a:ext cx="273050" cy="274638"/>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78" name="Text Box 148"/>
          <p:cNvSpPr txBox="1">
            <a:spLocks noChangeArrowheads="1"/>
          </p:cNvSpPr>
          <p:nvPr/>
        </p:nvSpPr>
        <p:spPr bwMode="auto">
          <a:xfrm>
            <a:off x="6919913" y="4749800"/>
            <a:ext cx="273050" cy="274638"/>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79" name="Text Box 149"/>
          <p:cNvSpPr txBox="1">
            <a:spLocks noChangeArrowheads="1"/>
          </p:cNvSpPr>
          <p:nvPr/>
        </p:nvSpPr>
        <p:spPr bwMode="auto">
          <a:xfrm>
            <a:off x="7820025" y="3867150"/>
            <a:ext cx="273050" cy="274638"/>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114" name="Text Box 136"/>
          <p:cNvSpPr txBox="1">
            <a:spLocks noChangeArrowheads="1"/>
          </p:cNvSpPr>
          <p:nvPr/>
        </p:nvSpPr>
        <p:spPr bwMode="auto">
          <a:xfrm>
            <a:off x="4052888" y="5513388"/>
            <a:ext cx="273050"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39</a:t>
            </a:r>
          </a:p>
        </p:txBody>
      </p:sp>
      <p:sp>
        <p:nvSpPr>
          <p:cNvPr id="115" name="Text Box 136"/>
          <p:cNvSpPr txBox="1">
            <a:spLocks noChangeArrowheads="1"/>
          </p:cNvSpPr>
          <p:nvPr/>
        </p:nvSpPr>
        <p:spPr bwMode="auto">
          <a:xfrm flipH="1">
            <a:off x="4879975" y="5491163"/>
            <a:ext cx="284163"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46</a:t>
            </a:r>
          </a:p>
        </p:txBody>
      </p:sp>
      <p:sp>
        <p:nvSpPr>
          <p:cNvPr id="116" name="Text Box 136"/>
          <p:cNvSpPr txBox="1">
            <a:spLocks noChangeArrowheads="1"/>
          </p:cNvSpPr>
          <p:nvPr/>
        </p:nvSpPr>
        <p:spPr bwMode="auto">
          <a:xfrm flipH="1">
            <a:off x="5632450" y="5480050"/>
            <a:ext cx="284163" cy="277813"/>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25</a:t>
            </a:r>
          </a:p>
        </p:txBody>
      </p:sp>
      <p:sp>
        <p:nvSpPr>
          <p:cNvPr id="117" name="Text Box 136"/>
          <p:cNvSpPr txBox="1">
            <a:spLocks noChangeArrowheads="1"/>
          </p:cNvSpPr>
          <p:nvPr/>
        </p:nvSpPr>
        <p:spPr bwMode="auto">
          <a:xfrm flipH="1">
            <a:off x="6403975" y="5491163"/>
            <a:ext cx="284163"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46</a:t>
            </a:r>
          </a:p>
        </p:txBody>
      </p:sp>
      <p:sp>
        <p:nvSpPr>
          <p:cNvPr id="118" name="Text Box 136"/>
          <p:cNvSpPr txBox="1">
            <a:spLocks noChangeArrowheads="1"/>
          </p:cNvSpPr>
          <p:nvPr/>
        </p:nvSpPr>
        <p:spPr bwMode="auto">
          <a:xfrm flipH="1">
            <a:off x="7115175" y="5491163"/>
            <a:ext cx="284163"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25</a:t>
            </a:r>
          </a:p>
        </p:txBody>
      </p:sp>
      <p:sp>
        <p:nvSpPr>
          <p:cNvPr id="119" name="Text Box 136"/>
          <p:cNvSpPr txBox="1">
            <a:spLocks noChangeArrowheads="1"/>
          </p:cNvSpPr>
          <p:nvPr/>
        </p:nvSpPr>
        <p:spPr bwMode="auto">
          <a:xfrm>
            <a:off x="7872413" y="5491163"/>
            <a:ext cx="273050"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39</a:t>
            </a:r>
          </a:p>
        </p:txBody>
      </p:sp>
      <p:sp>
        <p:nvSpPr>
          <p:cNvPr id="120" name="Rectangle 3"/>
          <p:cNvSpPr txBox="1">
            <a:spLocks noChangeArrowheads="1"/>
          </p:cNvSpPr>
          <p:nvPr/>
        </p:nvSpPr>
        <p:spPr bwMode="auto">
          <a:xfrm>
            <a:off x="330200" y="1119188"/>
            <a:ext cx="5537200" cy="806450"/>
          </a:xfrm>
          <a:prstGeom prst="rect">
            <a:avLst/>
          </a:prstGeom>
          <a:ln w="0">
            <a:solidFill>
              <a:schemeClr val="bg1"/>
            </a:solidFill>
          </a:ln>
        </p:spPr>
        <p:style>
          <a:lnRef idx="2">
            <a:schemeClr val="dk1"/>
          </a:lnRef>
          <a:fillRef idx="1">
            <a:schemeClr val="lt1"/>
          </a:fillRef>
          <a:effectRef idx="0">
            <a:schemeClr val="dk1"/>
          </a:effectRef>
          <a:fontRef idx="minor">
            <a:schemeClr val="dk1"/>
          </a:fontRef>
        </p:style>
        <p:txBody>
          <a:bodyPr/>
          <a:lstStyle/>
          <a:p>
            <a:pPr indent="-342900" algn="just" defTabSz="914400">
              <a:lnSpc>
                <a:spcPct val="150000"/>
              </a:lnSpc>
              <a:spcBef>
                <a:spcPct val="20000"/>
              </a:spcBef>
              <a:buClr>
                <a:srgbClr val="00B050"/>
              </a:buClr>
              <a:defRPr/>
            </a:pPr>
            <a:r>
              <a:rPr kumimoji="1" lang="zh-CN" altLang="en-US" sz="2800" b="1" kern="0" dirty="0">
                <a:solidFill>
                  <a:srgbClr val="FF0000"/>
                </a:solidFill>
                <a:latin typeface="华文楷体" panose="02010600040101010101" pitchFamily="2" charset="-122"/>
                <a:ea typeface="华文楷体" panose="02010600040101010101" pitchFamily="2" charset="-122"/>
              </a:rPr>
              <a:t>举例分析：</a:t>
            </a:r>
            <a:r>
              <a:rPr kumimoji="1" lang="en-US" altLang="zh-CN" sz="2800" b="1" kern="0" dirty="0">
                <a:solidFill>
                  <a:srgbClr val="FF0000"/>
                </a:solidFill>
                <a:latin typeface="华文楷体" panose="02010600040101010101" pitchFamily="2" charset="-122"/>
                <a:ea typeface="华文楷体" panose="02010600040101010101" pitchFamily="2" charset="-122"/>
              </a:rPr>
              <a:t>TSP</a:t>
            </a:r>
            <a:r>
              <a:rPr kumimoji="1" lang="zh-CN" altLang="en-US" sz="2800" b="1" kern="0" dirty="0">
                <a:solidFill>
                  <a:srgbClr val="FF0000"/>
                </a:solidFill>
                <a:latin typeface="华文楷体" panose="02010600040101010101" pitchFamily="2" charset="-122"/>
                <a:ea typeface="华文楷体" panose="02010600040101010101" pitchFamily="2" charset="-122"/>
              </a:rPr>
              <a:t>问题回溯法求解</a:t>
            </a:r>
            <a:endParaRPr kumimoji="1" lang="en-US" altLang="zh-CN" sz="2800" b="1" kern="0" dirty="0">
              <a:solidFill>
                <a:srgbClr val="FF0000"/>
              </a:solidFill>
              <a:latin typeface="华文楷体" panose="02010600040101010101" pitchFamily="2" charset="-122"/>
              <a:ea typeface="华文楷体" panose="02010600040101010101" pitchFamily="2" charset="-122"/>
            </a:endParaRPr>
          </a:p>
        </p:txBody>
      </p:sp>
      <p:sp>
        <p:nvSpPr>
          <p:cNvPr id="2" name="矩形 1"/>
          <p:cNvSpPr/>
          <p:nvPr/>
        </p:nvSpPr>
        <p:spPr>
          <a:xfrm>
            <a:off x="5341144" y="4136464"/>
            <a:ext cx="1595438" cy="193913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38100">
                <a:solidFill>
                  <a:srgbClr val="FF0000"/>
                </a:solidFill>
              </a:ln>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1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7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1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0"/>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6"/>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60"/>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78"/>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25"/>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1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7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7"/>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2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19"/>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114" grpId="0" animBg="1"/>
      <p:bldP spid="115" grpId="0" animBg="1"/>
      <p:bldP spid="116" grpId="0" animBg="1"/>
      <p:bldP spid="117" grpId="0" animBg="1"/>
      <p:bldP spid="118" grpId="0" animBg="1"/>
      <p:bldP spid="119" grpId="0" animBg="1"/>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回溯法：重点与难点</a:t>
            </a:r>
          </a:p>
        </p:txBody>
      </p:sp>
      <p:sp>
        <p:nvSpPr>
          <p:cNvPr id="4" name="矩形 3"/>
          <p:cNvSpPr/>
          <p:nvPr/>
        </p:nvSpPr>
        <p:spPr>
          <a:xfrm>
            <a:off x="346075" y="1487488"/>
            <a:ext cx="8624888" cy="954087"/>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marL="342900" indent="-342900" defTabSz="914400" eaLnBrk="0" hangingPunct="0">
              <a:spcBef>
                <a:spcPct val="20000"/>
              </a:spcBef>
              <a:buClr>
                <a:srgbClr val="00B050"/>
              </a:buClr>
              <a:buFont typeface="Wingdings" panose="05000000000000000000" pitchFamily="2" charset="2"/>
              <a:buChar char="u"/>
              <a:defRPr/>
            </a:pP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回溯法通常将问题解空间组织成</a:t>
            </a:r>
            <a:r>
              <a:rPr kumimoji="1" lang="zh-CN" altLang="en-US" sz="2800" b="1" kern="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“树”</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结构，采用系统的方法</a:t>
            </a:r>
            <a:r>
              <a:rPr kumimoji="1" lang="zh-CN" altLang="en-US" sz="2800" b="1" kern="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搜索</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解空间树，从而得到问题解。</a:t>
            </a:r>
            <a:endParaRPr kumimoji="1" lang="en-US" altLang="zh-CN"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6" name="矩形 5"/>
          <p:cNvSpPr/>
          <p:nvPr/>
        </p:nvSpPr>
        <p:spPr>
          <a:xfrm>
            <a:off x="346075" y="3171825"/>
            <a:ext cx="8624888" cy="95408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342900" indent="-342900" defTabSz="914400" eaLnBrk="0" hangingPunct="0">
              <a:spcBef>
                <a:spcPct val="20000"/>
              </a:spcBef>
              <a:buClr>
                <a:srgbClr val="00B050"/>
              </a:buClr>
              <a:buFont typeface="Wingdings" panose="05000000000000000000" pitchFamily="2" charset="2"/>
              <a:buChar char="u"/>
              <a:defRPr/>
            </a:pPr>
            <a:r>
              <a:rPr kumimoji="1" lang="zh-CN" altLang="en-US" sz="2800" b="1" kern="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搜索策略</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：深度优先</a:t>
            </a:r>
            <a:r>
              <a:rPr kumimoji="1" lang="zh-CN" altLang="en-US" sz="2800" b="1" kern="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为主</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，也可以采用广度优先、函数优先、广度深度结合等。</a:t>
            </a:r>
            <a:endParaRPr kumimoji="1" lang="en-US" altLang="zh-CN"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7" name="矩形 6"/>
          <p:cNvSpPr/>
          <p:nvPr/>
        </p:nvSpPr>
        <p:spPr>
          <a:xfrm>
            <a:off x="304800" y="4795838"/>
            <a:ext cx="8605838" cy="1262062"/>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marL="342900" indent="-342900" defTabSz="914400" eaLnBrk="0" hangingPunct="0">
              <a:spcBef>
                <a:spcPct val="20000"/>
              </a:spcBef>
              <a:buClr>
                <a:srgbClr val="00B050"/>
              </a:buClr>
              <a:buFont typeface="Wingdings" panose="05000000000000000000" pitchFamily="2" charset="2"/>
              <a:buChar char="u"/>
              <a:defRPr/>
            </a:pPr>
            <a:r>
              <a:rPr kumimoji="1" lang="zh-CN" altLang="en-US" sz="2800" b="1" kern="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避免无效搜索策略</a:t>
            </a: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a:t>
            </a:r>
          </a:p>
          <a:p>
            <a:pPr lvl="1">
              <a:buClr>
                <a:srgbClr val="FF0000"/>
              </a:buClr>
              <a:buFont typeface="Wingdings" panose="05000000000000000000" pitchFamily="2" charset="2"/>
              <a:buChar char="n"/>
              <a:defRPr/>
            </a:pPr>
            <a:r>
              <a:rPr kumimoji="1" lang="zh-CN" altLang="en-US" sz="2400" b="1"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约束函数</a:t>
            </a:r>
            <a:r>
              <a:rPr kumimoji="1" lang="zh-CN" altLang="en-US" sz="24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：在扩展结点处剪去不满足约束条件的子树</a:t>
            </a:r>
            <a:endParaRPr kumimoji="1" lang="en-US" altLang="zh-CN" sz="24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lvl="1">
              <a:buClr>
                <a:srgbClr val="FF0000"/>
              </a:buClr>
              <a:buFont typeface="Wingdings" panose="05000000000000000000" pitchFamily="2" charset="2"/>
              <a:buChar char="n"/>
              <a:defRPr/>
            </a:pPr>
            <a:r>
              <a:rPr kumimoji="1" lang="zh-CN" altLang="en-US" sz="2400" b="1"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界限函数</a:t>
            </a:r>
            <a:r>
              <a:rPr kumimoji="1" lang="zh-CN" altLang="en-US" sz="24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：在扩展结点处剪去得不到最优解的子树</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重点与难点</a:t>
            </a:r>
          </a:p>
        </p:txBody>
      </p:sp>
      <p:sp>
        <p:nvSpPr>
          <p:cNvPr id="7" name="Rectangle 3"/>
          <p:cNvSpPr txBox="1">
            <a:spLocks noChangeArrowheads="1"/>
          </p:cNvSpPr>
          <p:nvPr/>
        </p:nvSpPr>
        <p:spPr bwMode="auto">
          <a:xfrm>
            <a:off x="328613" y="5224463"/>
            <a:ext cx="3702050" cy="1362075"/>
          </a:xfrm>
          <a:prstGeom prst="rect">
            <a:avLst/>
          </a:prstGeom>
          <a:noFill/>
          <a:ln w="9525">
            <a:noFill/>
            <a:miter lim="800000"/>
          </a:ln>
          <a:effectLst/>
        </p:spPr>
        <p:txBody>
          <a:bodyPr/>
          <a:lstStyle/>
          <a:p>
            <a:pPr>
              <a:buClr>
                <a:srgbClr val="00B050"/>
              </a:buClr>
              <a:buFont typeface="Wingdings" panose="05000000000000000000" pitchFamily="2" charset="2"/>
              <a:buChar char="u"/>
              <a:defRPr/>
            </a:pPr>
            <a:r>
              <a:rPr lang="zh-CN" altLang="en-US" sz="2400" b="1" dirty="0">
                <a:solidFill>
                  <a:srgbClr val="FF0000"/>
                </a:solidFill>
                <a:latin typeface="华文楷体" panose="02010600040101010101" pitchFamily="2" charset="-122"/>
                <a:ea typeface="华文楷体" panose="02010600040101010101" pitchFamily="2" charset="-122"/>
              </a:rPr>
              <a:t>解空间</a:t>
            </a:r>
            <a:r>
              <a:rPr lang="zh-CN" altLang="en-US" sz="2400" b="1" dirty="0">
                <a:solidFill>
                  <a:schemeClr val="tx2">
                    <a:lumMod val="50000"/>
                  </a:schemeClr>
                </a:solidFill>
                <a:latin typeface="华文楷体" panose="02010600040101010101" pitchFamily="2" charset="-122"/>
                <a:ea typeface="华文楷体" panose="02010600040101010101" pitchFamily="2" charset="-122"/>
              </a:rPr>
              <a:t>：解向量满足约束条件的所有多元组，构成了问题的一个解空间</a:t>
            </a:r>
          </a:p>
        </p:txBody>
      </p:sp>
      <p:grpSp>
        <p:nvGrpSpPr>
          <p:cNvPr id="2" name="Group 133"/>
          <p:cNvGrpSpPr/>
          <p:nvPr/>
        </p:nvGrpSpPr>
        <p:grpSpPr bwMode="auto">
          <a:xfrm>
            <a:off x="5732463" y="1117600"/>
            <a:ext cx="1565275" cy="1514475"/>
            <a:chOff x="244" y="2236"/>
            <a:chExt cx="1400" cy="1240"/>
          </a:xfrm>
        </p:grpSpPr>
        <p:grpSp>
          <p:nvGrpSpPr>
            <p:cNvPr id="16397" name="Group 6"/>
            <p:cNvGrpSpPr/>
            <p:nvPr/>
          </p:nvGrpSpPr>
          <p:grpSpPr bwMode="auto">
            <a:xfrm>
              <a:off x="1248" y="2271"/>
              <a:ext cx="249" cy="249"/>
              <a:chOff x="4531" y="2063"/>
              <a:chExt cx="249" cy="249"/>
            </a:xfrm>
          </p:grpSpPr>
          <p:sp>
            <p:nvSpPr>
              <p:cNvPr id="18461" name="Oval 7"/>
              <p:cNvSpPr>
                <a:spLocks noChangeArrowheads="1"/>
              </p:cNvSpPr>
              <p:nvPr/>
            </p:nvSpPr>
            <p:spPr bwMode="auto">
              <a:xfrm>
                <a:off x="4531" y="2063"/>
                <a:ext cx="247" cy="246"/>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6420" name="Text Box 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16398" name="Group 9"/>
            <p:cNvGrpSpPr/>
            <p:nvPr/>
          </p:nvGrpSpPr>
          <p:grpSpPr bwMode="auto">
            <a:xfrm>
              <a:off x="323" y="2264"/>
              <a:ext cx="249" cy="249"/>
              <a:chOff x="4531" y="2063"/>
              <a:chExt cx="249" cy="249"/>
            </a:xfrm>
          </p:grpSpPr>
          <p:sp>
            <p:nvSpPr>
              <p:cNvPr id="18459" name="Oval 10"/>
              <p:cNvSpPr>
                <a:spLocks noChangeArrowheads="1"/>
              </p:cNvSpPr>
              <p:nvPr/>
            </p:nvSpPr>
            <p:spPr bwMode="auto">
              <a:xfrm>
                <a:off x="4533" y="2066"/>
                <a:ext cx="247" cy="246"/>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6418" name="Text Box 1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nvGrpSpPr>
            <p:cNvPr id="16399" name="Group 15"/>
            <p:cNvGrpSpPr/>
            <p:nvPr/>
          </p:nvGrpSpPr>
          <p:grpSpPr bwMode="auto">
            <a:xfrm>
              <a:off x="315" y="3131"/>
              <a:ext cx="249" cy="249"/>
              <a:chOff x="4531" y="2063"/>
              <a:chExt cx="249" cy="249"/>
            </a:xfrm>
          </p:grpSpPr>
          <p:sp>
            <p:nvSpPr>
              <p:cNvPr id="18457" name="Oval 16"/>
              <p:cNvSpPr>
                <a:spLocks noChangeArrowheads="1"/>
              </p:cNvSpPr>
              <p:nvPr/>
            </p:nvSpPr>
            <p:spPr bwMode="auto">
              <a:xfrm>
                <a:off x="4531" y="2066"/>
                <a:ext cx="247" cy="246"/>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6416" name="Text Box 1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sp>
          <p:nvSpPr>
            <p:cNvPr id="16400" name="Text Box 46"/>
            <p:cNvSpPr txBox="1">
              <a:spLocks noChangeArrowheads="1"/>
            </p:cNvSpPr>
            <p:nvPr/>
          </p:nvSpPr>
          <p:spPr bwMode="auto">
            <a:xfrm>
              <a:off x="1389" y="2745"/>
              <a:ext cx="255"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16401" name="Text Box 47"/>
            <p:cNvSpPr txBox="1">
              <a:spLocks noChangeArrowheads="1"/>
            </p:cNvSpPr>
            <p:nvPr/>
          </p:nvSpPr>
          <p:spPr bwMode="auto">
            <a:xfrm>
              <a:off x="832" y="2236"/>
              <a:ext cx="290"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grpSp>
          <p:nvGrpSpPr>
            <p:cNvPr id="16402" name="Group 48"/>
            <p:cNvGrpSpPr/>
            <p:nvPr/>
          </p:nvGrpSpPr>
          <p:grpSpPr bwMode="auto">
            <a:xfrm>
              <a:off x="1253" y="3134"/>
              <a:ext cx="249" cy="249"/>
              <a:chOff x="4531" y="2063"/>
              <a:chExt cx="249" cy="249"/>
            </a:xfrm>
          </p:grpSpPr>
          <p:sp>
            <p:nvSpPr>
              <p:cNvPr id="18455" name="Oval 49"/>
              <p:cNvSpPr>
                <a:spLocks noChangeArrowheads="1"/>
              </p:cNvSpPr>
              <p:nvPr/>
            </p:nvSpPr>
            <p:spPr bwMode="auto">
              <a:xfrm>
                <a:off x="4533" y="2063"/>
                <a:ext cx="247" cy="246"/>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6414" name="Text Box 5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sp>
          <p:nvSpPr>
            <p:cNvPr id="16403" name="Line 51"/>
            <p:cNvSpPr>
              <a:spLocks noChangeShapeType="1"/>
            </p:cNvSpPr>
            <p:nvPr/>
          </p:nvSpPr>
          <p:spPr bwMode="auto">
            <a:xfrm>
              <a:off x="557" y="2429"/>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4" name="Line 52"/>
            <p:cNvSpPr>
              <a:spLocks noChangeShapeType="1"/>
            </p:cNvSpPr>
            <p:nvPr/>
          </p:nvSpPr>
          <p:spPr bwMode="auto">
            <a:xfrm>
              <a:off x="442" y="2515"/>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5" name="Line 53"/>
            <p:cNvSpPr>
              <a:spLocks noChangeShapeType="1"/>
            </p:cNvSpPr>
            <p:nvPr/>
          </p:nvSpPr>
          <p:spPr bwMode="auto">
            <a:xfrm>
              <a:off x="564" y="3224"/>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6" name="Line 54"/>
            <p:cNvSpPr>
              <a:spLocks noChangeShapeType="1"/>
            </p:cNvSpPr>
            <p:nvPr/>
          </p:nvSpPr>
          <p:spPr bwMode="auto">
            <a:xfrm>
              <a:off x="1371" y="2523"/>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7" name="Line 55"/>
            <p:cNvSpPr>
              <a:spLocks noChangeShapeType="1"/>
            </p:cNvSpPr>
            <p:nvPr/>
          </p:nvSpPr>
          <p:spPr bwMode="auto">
            <a:xfrm>
              <a:off x="509" y="2477"/>
              <a:ext cx="787" cy="69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8" name="Line 56"/>
            <p:cNvSpPr>
              <a:spLocks noChangeShapeType="1"/>
            </p:cNvSpPr>
            <p:nvPr/>
          </p:nvSpPr>
          <p:spPr bwMode="auto">
            <a:xfrm flipV="1">
              <a:off x="509" y="2486"/>
              <a:ext cx="777" cy="67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9" name="Text Box 57"/>
            <p:cNvSpPr txBox="1">
              <a:spLocks noChangeArrowheads="1"/>
            </p:cNvSpPr>
            <p:nvPr/>
          </p:nvSpPr>
          <p:spPr bwMode="auto">
            <a:xfrm>
              <a:off x="244" y="273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16410" name="Text Box 58"/>
            <p:cNvSpPr txBox="1">
              <a:spLocks noChangeArrowheads="1"/>
            </p:cNvSpPr>
            <p:nvPr/>
          </p:nvSpPr>
          <p:spPr bwMode="auto">
            <a:xfrm>
              <a:off x="807" y="3249"/>
              <a:ext cx="28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20</a:t>
              </a:r>
            </a:p>
          </p:txBody>
        </p:sp>
        <p:sp>
          <p:nvSpPr>
            <p:cNvPr id="16411" name="Text Box 59"/>
            <p:cNvSpPr txBox="1">
              <a:spLocks noChangeArrowheads="1"/>
            </p:cNvSpPr>
            <p:nvPr/>
          </p:nvSpPr>
          <p:spPr bwMode="auto">
            <a:xfrm>
              <a:off x="1106" y="262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16412" name="Text Box 60"/>
            <p:cNvSpPr txBox="1">
              <a:spLocks noChangeArrowheads="1"/>
            </p:cNvSpPr>
            <p:nvPr/>
          </p:nvSpPr>
          <p:spPr bwMode="auto">
            <a:xfrm>
              <a:off x="905" y="2962"/>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sp>
        <p:nvSpPr>
          <p:cNvPr id="56" name="Rectangle 3"/>
          <p:cNvSpPr txBox="1">
            <a:spLocks noChangeArrowheads="1"/>
          </p:cNvSpPr>
          <p:nvPr/>
        </p:nvSpPr>
        <p:spPr bwMode="auto">
          <a:xfrm>
            <a:off x="4343400" y="4991100"/>
            <a:ext cx="4530725" cy="1468438"/>
          </a:xfrm>
          <a:prstGeom prst="rect">
            <a:avLst/>
          </a:prstGeom>
          <a:noFill/>
          <a:ln w="9525">
            <a:noFill/>
            <a:miter lim="800000"/>
          </a:ln>
          <a:effectLst/>
        </p:spPr>
        <p:txBody>
          <a:bodyPr/>
          <a:lstStyle/>
          <a:p>
            <a:pPr>
              <a:buClr>
                <a:srgbClr val="00B050"/>
              </a:buClr>
              <a:buFont typeface="Wingdings" panose="05000000000000000000" pitchFamily="2" charset="2"/>
              <a:buChar char="u"/>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解空间</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：满足</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{1, 2, 3, 4} </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baseline="30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baseline="30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E,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2400" b="1" i="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i</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k</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{1, 2, 3, 4},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i="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且</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en-US" altLang="zh-CN" sz="2400" b="1" i="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baseline="30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baseline="30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E</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的所有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1" name="矩形 30"/>
          <p:cNvSpPr/>
          <p:nvPr/>
        </p:nvSpPr>
        <p:spPr>
          <a:xfrm>
            <a:off x="347663" y="1412875"/>
            <a:ext cx="3673475" cy="1200150"/>
          </a:xfrm>
          <a:prstGeom prst="rect">
            <a:avLst/>
          </a:prstGeom>
        </p:spPr>
        <p:txBody>
          <a:bodyPr>
            <a:spAutoFit/>
          </a:bodyPr>
          <a:lstStyle/>
          <a:p>
            <a:pPr>
              <a:buClr>
                <a:srgbClr val="00B050"/>
              </a:buClr>
              <a:buFont typeface="Wingdings" panose="05000000000000000000" pitchFamily="2" charset="2"/>
              <a:buChar char="u"/>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问题解的表示</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：将问题的解表示成一个</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元式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i="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的形式。</a:t>
            </a:r>
            <a:endPar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 name="矩形 31"/>
          <p:cNvSpPr/>
          <p:nvPr/>
        </p:nvSpPr>
        <p:spPr>
          <a:xfrm>
            <a:off x="4291013" y="2592388"/>
            <a:ext cx="4540250" cy="461962"/>
          </a:xfrm>
          <a:prstGeom prst="rect">
            <a:avLst/>
          </a:prstGeom>
        </p:spPr>
        <p:txBody>
          <a:bodyPr wrap="none">
            <a:spAutoFit/>
          </a:bodyPr>
          <a:lstStyle/>
          <a:p>
            <a:pPr>
              <a:buClr>
                <a:srgbClr val="00B050"/>
              </a:buClr>
              <a:buFont typeface="Wingdings" panose="05000000000000000000" pitchFamily="2" charset="2"/>
              <a:buChar char="u"/>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问题解的表示</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 name="矩形 32"/>
          <p:cNvSpPr/>
          <p:nvPr/>
        </p:nvSpPr>
        <p:spPr>
          <a:xfrm>
            <a:off x="357188" y="2828925"/>
            <a:ext cx="3706812" cy="831850"/>
          </a:xfrm>
          <a:prstGeom prst="rect">
            <a:avLst/>
          </a:prstGeom>
        </p:spPr>
        <p:txBody>
          <a:bodyPr>
            <a:spAutoFit/>
          </a:bodyPr>
          <a:lstStyle/>
          <a:p>
            <a:pPr>
              <a:buClr>
                <a:srgbClr val="00B050"/>
              </a:buClr>
              <a:buFont typeface="Wingdings" panose="05000000000000000000" pitchFamily="2" charset="2"/>
              <a:buChar char="u"/>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显示约束</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：对分量</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的取值限定。</a:t>
            </a:r>
            <a:endPar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4" name="矩形 33"/>
          <p:cNvSpPr/>
          <p:nvPr/>
        </p:nvSpPr>
        <p:spPr>
          <a:xfrm>
            <a:off x="4294188" y="3270250"/>
            <a:ext cx="4240212" cy="460375"/>
          </a:xfrm>
          <a:prstGeom prst="rect">
            <a:avLst/>
          </a:prstGeom>
        </p:spPr>
        <p:txBody>
          <a:bodyPr wrap="none">
            <a:spAutoFit/>
          </a:bodyPr>
          <a:lstStyle/>
          <a:p>
            <a:pPr>
              <a:buClr>
                <a:srgbClr val="00B050"/>
              </a:buClr>
              <a:buFont typeface="Wingdings" panose="05000000000000000000" pitchFamily="2" charset="2"/>
              <a:buChar char="u"/>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显示约束</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{1, 2,  3,  4}</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5" name="矩形 34"/>
          <p:cNvSpPr/>
          <p:nvPr/>
        </p:nvSpPr>
        <p:spPr>
          <a:xfrm>
            <a:off x="347663" y="3884613"/>
            <a:ext cx="3640137" cy="1200150"/>
          </a:xfrm>
          <a:prstGeom prst="rect">
            <a:avLst/>
          </a:prstGeom>
        </p:spPr>
        <p:txBody>
          <a:bodyPr>
            <a:spAutoFit/>
          </a:bodyPr>
          <a:lstStyle/>
          <a:p>
            <a:pPr>
              <a:buClr>
                <a:srgbClr val="00B050"/>
              </a:buClr>
              <a:buFont typeface="Wingdings" panose="05000000000000000000" pitchFamily="2" charset="2"/>
              <a:buChar char="u"/>
              <a:defRPr/>
            </a:pPr>
            <a:r>
              <a:rPr lang="zh-CN" altLang="en-US" sz="2400" b="1" dirty="0">
                <a:solidFill>
                  <a:srgbClr val="FF0000"/>
                </a:solidFill>
                <a:latin typeface="华文楷体" panose="02010600040101010101" pitchFamily="2" charset="-122"/>
                <a:ea typeface="华文楷体" panose="02010600040101010101" pitchFamily="2" charset="-122"/>
              </a:rPr>
              <a:t>隐示约束</a:t>
            </a:r>
            <a:r>
              <a:rPr lang="zh-CN" altLang="en-US" sz="2400" b="1" dirty="0">
                <a:solidFill>
                  <a:schemeClr val="tx2">
                    <a:lumMod val="50000"/>
                  </a:schemeClr>
                </a:solidFill>
                <a:latin typeface="华文楷体" panose="02010600040101010101" pitchFamily="2" charset="-122"/>
                <a:ea typeface="华文楷体" panose="02010600040101010101" pitchFamily="2" charset="-122"/>
              </a:rPr>
              <a:t>：为满足问题的解而对不同分量之间施加的约束。</a:t>
            </a:r>
            <a:endParaRPr lang="en-US" altLang="zh-CN" sz="2400" b="1" dirty="0">
              <a:solidFill>
                <a:schemeClr val="tx2">
                  <a:lumMod val="50000"/>
                </a:schemeClr>
              </a:solidFill>
              <a:latin typeface="华文楷体" panose="02010600040101010101" pitchFamily="2" charset="-122"/>
              <a:ea typeface="华文楷体" panose="02010600040101010101" pitchFamily="2" charset="-122"/>
            </a:endParaRPr>
          </a:p>
        </p:txBody>
      </p:sp>
      <p:sp>
        <p:nvSpPr>
          <p:cNvPr id="36" name="矩形 35"/>
          <p:cNvSpPr/>
          <p:nvPr/>
        </p:nvSpPr>
        <p:spPr>
          <a:xfrm>
            <a:off x="4310063" y="3986213"/>
            <a:ext cx="4572000" cy="830262"/>
          </a:xfrm>
          <a:prstGeom prst="rect">
            <a:avLst/>
          </a:prstGeom>
        </p:spPr>
        <p:txBody>
          <a:bodyPr>
            <a:spAutoFit/>
          </a:bodyPr>
          <a:lstStyle/>
          <a:p>
            <a:pPr>
              <a:buClr>
                <a:srgbClr val="00B050"/>
              </a:buClr>
              <a:buFont typeface="Wingdings" panose="05000000000000000000" pitchFamily="2" charset="2"/>
              <a:buChar char="u"/>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隐示约束</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baseline="30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baseline="30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E</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和</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2400" b="1" i="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i</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k</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{1,2, 3, 4},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i="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2400" b="1" i="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i="1" baseline="-25000"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baseline="30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baseline="30000"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400" b="1" i="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E</a:t>
            </a:r>
            <a:endPar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2" name="动作按钮: 结束 121">
            <a:hlinkClick r:id="rId4" action="ppaction://hlinksldjump" highlightClick="1"/>
          </p:cNvPr>
          <p:cNvSpPr/>
          <p:nvPr/>
        </p:nvSpPr>
        <p:spPr>
          <a:xfrm>
            <a:off x="7577138" y="6342063"/>
            <a:ext cx="965200" cy="381000"/>
          </a:xfrm>
          <a:prstGeom prst="actionButtonE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6" grpId="0"/>
      <p:bldP spid="32" grpId="0"/>
      <p:bldP spid="33" grpId="0"/>
      <p:bldP spid="34" grpId="0"/>
      <p:bldP spid="35" grpId="0"/>
      <p:bldP spid="36" grpId="0"/>
      <p:bldP spid="1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回溯法相关概念</a:t>
            </a:r>
          </a:p>
        </p:txBody>
      </p:sp>
      <p:sp>
        <p:nvSpPr>
          <p:cNvPr id="6" name="内容占位符 2"/>
          <p:cNvSpPr>
            <a:spLocks noGrp="1"/>
          </p:cNvSpPr>
          <p:nvPr>
            <p:ph idx="1"/>
          </p:nvPr>
        </p:nvSpPr>
        <p:spPr>
          <a:xfrm>
            <a:off x="314325" y="1376363"/>
            <a:ext cx="8402638" cy="4457700"/>
          </a:xfrm>
        </p:spPr>
        <p:txBody>
          <a:bodyPr/>
          <a:lstStyle/>
          <a:p>
            <a:pPr marL="0" indent="0" defTabSz="914400" eaLnBrk="1" fontAlgn="auto" hangingPunct="1">
              <a:lnSpc>
                <a:spcPct val="200000"/>
              </a:lnSpc>
              <a:spcBef>
                <a:spcPts val="0"/>
              </a:spcBef>
              <a:spcAft>
                <a:spcPts val="0"/>
              </a:spcAft>
              <a:buClr>
                <a:srgbClr val="00B050"/>
              </a:buClr>
              <a:buSzTx/>
              <a:buFont typeface="Wingdings" panose="05000000000000000000" pitchFamily="2" charset="2"/>
              <a:buChar char="u"/>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结点状态：</a:t>
            </a:r>
          </a:p>
          <a:p>
            <a:pPr marL="467995" lvl="1" indent="0" defTabSz="914400" eaLnBrk="1" fontAlgn="auto" hangingPunct="1">
              <a:lnSpc>
                <a:spcPct val="200000"/>
              </a:lnSpc>
              <a:spcBef>
                <a:spcPts val="0"/>
              </a:spcBef>
              <a:spcAft>
                <a:spcPts val="0"/>
              </a:spcAft>
              <a:buClr>
                <a:srgbClr val="C00000"/>
              </a:buClr>
              <a:buFont typeface="Wingdings" panose="05000000000000000000" pitchFamily="2" charset="2"/>
              <a:buChar char="l"/>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白结点（尚未访问）</a:t>
            </a:r>
            <a:endParaRPr lang="en-US" altLang="zh-CN" sz="2800" b="1" kern="0" dirty="0" smtClean="0">
              <a:solidFill>
                <a:sysClr val="windowText" lastClr="000000"/>
              </a:solidFill>
              <a:latin typeface="华文楷体" panose="02010600040101010101" pitchFamily="2" charset="-122"/>
              <a:ea typeface="华文楷体" panose="02010600040101010101" pitchFamily="2" charset="-122"/>
            </a:endParaRPr>
          </a:p>
          <a:p>
            <a:pPr marL="467995" lvl="1" indent="0" defTabSz="914400" eaLnBrk="1" fontAlgn="auto" hangingPunct="1">
              <a:lnSpc>
                <a:spcPct val="200000"/>
              </a:lnSpc>
              <a:spcBef>
                <a:spcPts val="0"/>
              </a:spcBef>
              <a:spcAft>
                <a:spcPts val="0"/>
              </a:spcAft>
              <a:buClr>
                <a:srgbClr val="C00000"/>
              </a:buClr>
              <a:buFont typeface="Wingdings" panose="05000000000000000000" pitchFamily="2" charset="2"/>
              <a:buChar char="l"/>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灰结点（正在访问以该结点为根的子树）</a:t>
            </a:r>
            <a:endParaRPr lang="en-US" altLang="zh-CN" sz="2800" b="1" kern="0" dirty="0" smtClean="0">
              <a:solidFill>
                <a:sysClr val="windowText" lastClr="000000"/>
              </a:solidFill>
              <a:latin typeface="华文楷体" panose="02010600040101010101" pitchFamily="2" charset="-122"/>
              <a:ea typeface="华文楷体" panose="02010600040101010101" pitchFamily="2" charset="-122"/>
            </a:endParaRPr>
          </a:p>
          <a:p>
            <a:pPr marL="467995" lvl="1" indent="0" defTabSz="914400" eaLnBrk="1" fontAlgn="auto" hangingPunct="1">
              <a:lnSpc>
                <a:spcPct val="200000"/>
              </a:lnSpc>
              <a:spcBef>
                <a:spcPts val="0"/>
              </a:spcBef>
              <a:spcAft>
                <a:spcPts val="0"/>
              </a:spcAft>
              <a:buClr>
                <a:srgbClr val="C00000"/>
              </a:buClr>
              <a:buFont typeface="Wingdings" panose="05000000000000000000" pitchFamily="2" charset="2"/>
              <a:buChar char="l"/>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黑结点（以该结点为根的子树遍历完成）</a:t>
            </a:r>
            <a:endParaRPr lang="en-US" altLang="zh-CN" sz="2800" b="1" kern="0" dirty="0" smtClean="0">
              <a:solidFill>
                <a:sysClr val="windowText" lastClr="000000"/>
              </a:solidFill>
              <a:latin typeface="华文楷体" panose="02010600040101010101" pitchFamily="2" charset="-122"/>
              <a:ea typeface="华文楷体" panose="02010600040101010101" pitchFamily="2" charset="-122"/>
            </a:endParaRPr>
          </a:p>
          <a:p>
            <a:pPr marL="0" indent="0" defTabSz="914400" eaLnBrk="1" fontAlgn="auto" hangingPunct="1">
              <a:lnSpc>
                <a:spcPct val="200000"/>
              </a:lnSpc>
              <a:spcBef>
                <a:spcPts val="0"/>
              </a:spcBef>
              <a:spcAft>
                <a:spcPts val="0"/>
              </a:spcAft>
              <a:buClr>
                <a:srgbClr val="00B050"/>
              </a:buClr>
              <a:buSzTx/>
              <a:buFont typeface="Wingdings" panose="05000000000000000000" pitchFamily="2" charset="2"/>
              <a:buChar char="u"/>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存储：当前路径</a:t>
            </a:r>
          </a:p>
          <a:p>
            <a:pPr marL="0" indent="0" defTabSz="914400" eaLnBrk="1" fontAlgn="auto" hangingPunct="1">
              <a:lnSpc>
                <a:spcPct val="100000"/>
              </a:lnSpc>
              <a:spcBef>
                <a:spcPts val="0"/>
              </a:spcBef>
              <a:spcAft>
                <a:spcPts val="0"/>
              </a:spcAft>
              <a:buClr>
                <a:srgbClr val="00B050"/>
              </a:buClr>
              <a:buSzTx/>
              <a:buFont typeface="Wingdings" panose="05000000000000000000" pitchFamily="2" charset="2"/>
              <a:buNone/>
              <a:defRPr/>
            </a:pPr>
            <a:endParaRPr lang="en-US" altLang="zh-CN" sz="2800" b="1" kern="0" dirty="0" smtClean="0">
              <a:solidFill>
                <a:sysClr val="windowText" lastClr="000000"/>
              </a:solidFill>
              <a:latin typeface="华文楷体" panose="02010600040101010101" pitchFamily="2" charset="-122"/>
              <a:ea typeface="华文楷体" panose="02010600040101010101" pitchFamily="2" charset="-122"/>
            </a:endParaRPr>
          </a:p>
        </p:txBody>
      </p:sp>
      <p:sp>
        <p:nvSpPr>
          <p:cNvPr id="7" name="丁字箭头 6"/>
          <p:cNvSpPr/>
          <p:nvPr/>
        </p:nvSpPr>
        <p:spPr>
          <a:xfrm rot="5400000">
            <a:off x="7031038" y="2620963"/>
            <a:ext cx="720725" cy="803275"/>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矩形 10"/>
          <p:cNvSpPr/>
          <p:nvPr/>
        </p:nvSpPr>
        <p:spPr>
          <a:xfrm>
            <a:off x="7762875" y="2751138"/>
            <a:ext cx="1381125" cy="52228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spAutoFit/>
          </a:bodyPr>
          <a:lstStyle/>
          <a:p>
            <a:pPr defTabSz="914400" fontAlgn="auto">
              <a:spcBef>
                <a:spcPts val="0"/>
              </a:spcBef>
              <a:spcAft>
                <a:spcPts val="0"/>
              </a:spcAft>
              <a:buClr>
                <a:srgbClr val="00B050"/>
              </a:buClr>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活结点</a:t>
            </a:r>
            <a:endParaRPr lang="zh-CN" altLang="en-US" sz="2800" b="1" kern="0" dirty="0">
              <a:solidFill>
                <a:sysClr val="windowText" lastClr="000000"/>
              </a:solidFill>
              <a:latin typeface="华文楷体" panose="02010600040101010101" pitchFamily="2" charset="-122"/>
              <a:ea typeface="华文楷体" panose="02010600040101010101" pitchFamily="2" charset="-122"/>
            </a:endParaRPr>
          </a:p>
        </p:txBody>
      </p:sp>
      <p:sp>
        <p:nvSpPr>
          <p:cNvPr id="12" name="右箭头 11"/>
          <p:cNvSpPr/>
          <p:nvPr/>
        </p:nvSpPr>
        <p:spPr>
          <a:xfrm>
            <a:off x="7375525" y="4318000"/>
            <a:ext cx="468313" cy="33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矩形 12"/>
          <p:cNvSpPr/>
          <p:nvPr/>
        </p:nvSpPr>
        <p:spPr>
          <a:xfrm>
            <a:off x="7823200" y="4203700"/>
            <a:ext cx="1320800" cy="52228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spAutoFit/>
          </a:bodyPr>
          <a:lstStyle/>
          <a:p>
            <a:pPr defTabSz="914400" fontAlgn="auto">
              <a:spcBef>
                <a:spcPts val="0"/>
              </a:spcBef>
              <a:spcAft>
                <a:spcPts val="0"/>
              </a:spcAft>
              <a:buClr>
                <a:srgbClr val="00B050"/>
              </a:buClr>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死结点</a:t>
            </a:r>
            <a:endParaRPr lang="zh-CN" altLang="en-US" sz="2800" b="1" kern="0" dirty="0">
              <a:solidFill>
                <a:sysClr val="windowText" lastClr="000000"/>
              </a:solidFill>
              <a:latin typeface="华文楷体" panose="02010600040101010101" pitchFamily="2" charset="-122"/>
              <a:ea typeface="华文楷体"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回溯法适用条件</a:t>
            </a:r>
          </a:p>
        </p:txBody>
      </p:sp>
      <p:sp>
        <p:nvSpPr>
          <p:cNvPr id="10" name="内容占位符 2"/>
          <p:cNvSpPr>
            <a:spLocks noGrp="1"/>
          </p:cNvSpPr>
          <p:nvPr>
            <p:ph idx="1"/>
          </p:nvPr>
        </p:nvSpPr>
        <p:spPr>
          <a:xfrm>
            <a:off x="142875" y="1316038"/>
            <a:ext cx="8839200" cy="5257800"/>
          </a:xfrm>
        </p:spPr>
        <p:txBody>
          <a:bodyPr/>
          <a:lstStyle/>
          <a:p>
            <a:pPr marL="0" indent="0" defTabSz="914400" eaLnBrk="1" fontAlgn="auto" hangingPunct="1">
              <a:lnSpc>
                <a:spcPct val="150000"/>
              </a:lnSpc>
              <a:spcBef>
                <a:spcPts val="0"/>
              </a:spcBef>
              <a:spcAft>
                <a:spcPts val="0"/>
              </a:spcAft>
              <a:buClrTx/>
              <a:buSzTx/>
              <a:buFontTx/>
              <a:buNone/>
              <a:defRPr/>
            </a:pPr>
            <a:r>
              <a:rPr lang="zh-CN" altLang="en-US"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回溯法适用问题</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：搜索问题和优化问题。</a:t>
            </a:r>
          </a:p>
          <a:p>
            <a:pPr marL="0" indent="0" defTabSz="914400" eaLnBrk="1" fontAlgn="auto" hangingPunct="1">
              <a:lnSpc>
                <a:spcPct val="150000"/>
              </a:lnSpc>
              <a:spcBef>
                <a:spcPts val="0"/>
              </a:spcBef>
              <a:spcAft>
                <a:spcPts val="0"/>
              </a:spcAft>
              <a:buClrTx/>
              <a:buSzTx/>
              <a:buFontTx/>
              <a:buNone/>
              <a:defRPr/>
            </a:pPr>
            <a:r>
              <a:rPr lang="zh-CN" altLang="en-US"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必要条件</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多米诺性质</a:t>
            </a:r>
          </a:p>
          <a:p>
            <a:pPr marL="0" lvl="1" indent="0" defTabSz="914400" eaLnBrk="1" fontAlgn="auto" hangingPunct="1">
              <a:lnSpc>
                <a:spcPct val="150000"/>
              </a:lnSpc>
              <a:spcBef>
                <a:spcPts val="0"/>
              </a:spcBef>
              <a:spcAft>
                <a:spcPts val="0"/>
              </a:spcAft>
              <a:buFontTx/>
              <a:buNone/>
              <a:defRPr/>
            </a:pP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设</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是关于向量</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&gt;</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的某个性质，那么</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200" b="1" i="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kern="0"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kern="0"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真蕴含</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200" b="1" i="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kern="0"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为真，即</a:t>
            </a:r>
          </a:p>
          <a:p>
            <a:pPr marL="0" lvl="1" indent="0" defTabSz="914400" eaLnBrk="1" fontAlgn="auto" hangingPunct="1">
              <a:lnSpc>
                <a:spcPct val="150000"/>
              </a:lnSpc>
              <a:spcBef>
                <a:spcPts val="0"/>
              </a:spcBef>
              <a:spcAft>
                <a:spcPts val="0"/>
              </a:spcAft>
              <a:buFont typeface="Wingdings" panose="05000000000000000000" pitchFamily="2" charset="2"/>
              <a:buNone/>
              <a:defRPr/>
            </a:pP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kern="0" baseline="-2500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kern="0" baseline="-2500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kern="0" baseline="-2500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kern="0" baseline="-2500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(0&lt; </a:t>
            </a:r>
            <a:r>
              <a:rPr lang="en-US" altLang="zh-CN" sz="3200" b="1" i="1" kern="0" dirty="0" err="1"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&lt; </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为向量维数</a:t>
            </a:r>
            <a:r>
              <a:rPr lang="en-US" altLang="zh-CN" sz="3200" b="1" kern="0"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t>
            </a:r>
          </a:p>
          <a:p>
            <a:pPr marL="0" indent="0" defTabSz="914400" eaLnBrk="1" fontAlgn="auto" hangingPunct="1">
              <a:lnSpc>
                <a:spcPct val="100000"/>
              </a:lnSpc>
              <a:spcBef>
                <a:spcPts val="0"/>
              </a:spcBef>
              <a:spcAft>
                <a:spcPts val="0"/>
              </a:spcAft>
              <a:buClrTx/>
              <a:buSzTx/>
              <a:buFontTx/>
              <a:buNone/>
              <a:defRPr/>
            </a:pPr>
            <a:endParaRPr lang="zh-CN" altLang="en-US" kern="0" dirty="0" smtClean="0">
              <a:solidFill>
                <a:sysClr val="windowText" lastClr="000000"/>
              </a:solidFill>
              <a:latin typeface="Times New Roman" panose="02020603050405020304" pitchFamily="18" charset="0"/>
            </a:endParaRPr>
          </a:p>
          <a:p>
            <a:pPr marL="0" indent="0" defTabSz="914400" eaLnBrk="1" fontAlgn="auto" hangingPunct="1">
              <a:lnSpc>
                <a:spcPct val="100000"/>
              </a:lnSpc>
              <a:spcBef>
                <a:spcPts val="0"/>
              </a:spcBef>
              <a:spcAft>
                <a:spcPts val="0"/>
              </a:spcAft>
              <a:buClrTx/>
              <a:buSzTx/>
              <a:buFontTx/>
              <a:buNone/>
              <a:defRPr/>
            </a:pPr>
            <a:endParaRPr lang="zh-CN" altLang="en-US" kern="0" dirty="0" smtClean="0">
              <a:solidFill>
                <a:sysClr val="windowText" lastClr="000000"/>
              </a:solidFill>
            </a:endParaRP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回溯法适用条件</a:t>
            </a:r>
          </a:p>
        </p:txBody>
      </p:sp>
      <p:sp>
        <p:nvSpPr>
          <p:cNvPr id="3" name="Text Box 4"/>
          <p:cNvSpPr txBox="1">
            <a:spLocks noChangeArrowheads="1"/>
          </p:cNvSpPr>
          <p:nvPr/>
        </p:nvSpPr>
        <p:spPr bwMode="auto">
          <a:xfrm>
            <a:off x="60325" y="1316038"/>
            <a:ext cx="9012238" cy="1893887"/>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例如</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：求满足不等式的所有整数解问题</a:t>
            </a:r>
          </a:p>
          <a:p>
            <a:pPr>
              <a:defRPr/>
            </a:pP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5</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+ 4</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10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{1</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2</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3}</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 2, 3</a:t>
            </a:r>
          </a:p>
          <a:p>
            <a:pPr>
              <a:defRPr/>
            </a:pP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不满足多米诺性质</a:t>
            </a:r>
          </a:p>
          <a:p>
            <a:pPr>
              <a:defRPr/>
            </a:pP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&gt; = &lt;1, 2, 3&gt;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为真，但</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为假</a:t>
            </a:r>
            <a:r>
              <a:rPr lang="zh-CN" altLang="en-US" sz="28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5" name="Text Box 4"/>
          <p:cNvSpPr txBox="1">
            <a:spLocks noChangeArrowheads="1"/>
          </p:cNvSpPr>
          <p:nvPr/>
        </p:nvSpPr>
        <p:spPr bwMode="auto">
          <a:xfrm>
            <a:off x="60325" y="3489325"/>
            <a:ext cx="9012238" cy="1214438"/>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导致的问题：</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结点</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&lt;1, 2&gt;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被误剪枝，导致结点</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&lt;1, 2, 3&gt;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不可达，从而不能确保所有的解。</a:t>
            </a:r>
            <a:endParaRPr lang="zh-CN" altLang="en-US" sz="28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Text Box 4"/>
          <p:cNvSpPr txBox="1">
            <a:spLocks noChangeArrowheads="1"/>
          </p:cNvSpPr>
          <p:nvPr/>
        </p:nvSpPr>
        <p:spPr bwMode="auto">
          <a:xfrm>
            <a:off x="60325" y="5084763"/>
            <a:ext cx="9012238" cy="1122362"/>
          </a:xfrm>
          <a:prstGeom prst="rect">
            <a:avLst/>
          </a:prstGeom>
          <a:solidFill>
            <a:srgbClr val="CCFFFF"/>
          </a:solidFill>
          <a:ln w="25400">
            <a:solidFill>
              <a:srgbClr val="FF6600"/>
            </a:solidFill>
            <a:miter lim="800000"/>
          </a:ln>
          <a:effectLst/>
        </p:spPr>
        <p:txBody>
          <a:bodyPr/>
          <a:lstStyle/>
          <a:p>
            <a:pPr>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解决办法</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调整</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8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的顺序为</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这样就满足多米诺性质了。</a:t>
            </a:r>
          </a:p>
        </p:txBody>
      </p:sp>
      <p:pic>
        <p:nvPicPr>
          <p:cNvPr id="22535" name="Picture 7" descr="https://ss0.bdstatic.com/94oJfD_bAAcT8t7mm9GUKT-xh_/timg?image&amp;quality=100&amp;size=b4000_4000&amp;sec=1543836713&amp;di=24dbb2875bd1915816236b8828a3dd40&amp;src=http://www.jituwang.com/uploads/allimg/150205/258887-1502051645143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4400" y="4889500"/>
            <a:ext cx="1752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60324" y="5101432"/>
            <a:ext cx="9012237" cy="1122362"/>
          </a:xfrm>
          <a:prstGeom prst="rect">
            <a:avLst/>
          </a:prstGeom>
        </p:spPr>
        <p:style>
          <a:lnRef idx="2">
            <a:schemeClr val="accent2"/>
          </a:lnRef>
          <a:fillRef idx="1">
            <a:schemeClr val="lt1"/>
          </a:fillRef>
          <a:effectRef idx="0">
            <a:schemeClr val="accent2"/>
          </a:effectRef>
          <a:fontRef idx="minor">
            <a:schemeClr val="dk1"/>
          </a:fontRef>
        </p:style>
        <p:txBody>
          <a:bodyPr/>
          <a:lstStyle/>
          <a:p>
            <a:pPr>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解决办法</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变量替换。替换为</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5</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+ 4</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 ≤ 10,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{1,2,3}</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5</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+ 4</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14; </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28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8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endPar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2253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p:bldP spid="7"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回溯法设计要素</a:t>
            </a:r>
          </a:p>
        </p:txBody>
      </p:sp>
      <p:sp>
        <p:nvSpPr>
          <p:cNvPr id="4" name="内容占位符 2"/>
          <p:cNvSpPr>
            <a:spLocks noGrp="1"/>
          </p:cNvSpPr>
          <p:nvPr>
            <p:ph idx="1"/>
          </p:nvPr>
        </p:nvSpPr>
        <p:spPr>
          <a:xfrm>
            <a:off x="1217613" y="1538288"/>
            <a:ext cx="6837362" cy="4862512"/>
          </a:xfrm>
        </p:spPr>
        <p:txBody>
          <a:bodyPr/>
          <a:lstStyle/>
          <a:p>
            <a:pPr marL="0" indent="0"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针对问题定义解空间：</a:t>
            </a:r>
          </a:p>
          <a:p>
            <a:pPr marL="467995" lvl="1" indent="0" defTabSz="914400" eaLnBrk="1" fontAlgn="auto" hangingPunct="1">
              <a:lnSpc>
                <a:spcPct val="150000"/>
              </a:lnSpc>
              <a:spcBef>
                <a:spcPts val="0"/>
              </a:spcBef>
              <a:spcAft>
                <a:spcPts val="0"/>
              </a:spcAft>
              <a:buClr>
                <a:srgbClr val="FF0000"/>
              </a:buClr>
              <a:buFont typeface="Wingdings" panose="05000000000000000000" pitchFamily="2" charset="2"/>
              <a:buChar char="Ø"/>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问题解向量</a:t>
            </a:r>
          </a:p>
          <a:p>
            <a:pPr marL="467995" lvl="1" indent="0" defTabSz="914400" eaLnBrk="1" fontAlgn="auto" hangingPunct="1">
              <a:lnSpc>
                <a:spcPct val="150000"/>
              </a:lnSpc>
              <a:spcBef>
                <a:spcPts val="0"/>
              </a:spcBef>
              <a:spcAft>
                <a:spcPts val="0"/>
              </a:spcAft>
              <a:buClr>
                <a:srgbClr val="FF0000"/>
              </a:buClr>
              <a:buFont typeface="Wingdings" panose="05000000000000000000" pitchFamily="2" charset="2"/>
              <a:buChar char="Ø"/>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解向量分量取值集合</a:t>
            </a:r>
          </a:p>
          <a:p>
            <a:pPr marL="467995" lvl="1" indent="0" defTabSz="914400" eaLnBrk="1" fontAlgn="auto" hangingPunct="1">
              <a:lnSpc>
                <a:spcPct val="150000"/>
              </a:lnSpc>
              <a:spcBef>
                <a:spcPts val="0"/>
              </a:spcBef>
              <a:spcAft>
                <a:spcPts val="0"/>
              </a:spcAft>
              <a:buClr>
                <a:srgbClr val="FF0000"/>
              </a:buClr>
              <a:buFont typeface="Wingdings" panose="05000000000000000000" pitchFamily="2" charset="2"/>
              <a:buChar char="Ø"/>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构造解空间树</a:t>
            </a:r>
          </a:p>
          <a:p>
            <a:pPr marL="0" indent="0"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判断问题是否满足多米诺性质</a:t>
            </a:r>
          </a:p>
          <a:p>
            <a:pPr marL="0" indent="0"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搜索解空间树，确定剪枝函数</a:t>
            </a:r>
          </a:p>
          <a:p>
            <a:pPr marL="0" indent="0"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确定存储搜索路径的数据结构</a:t>
            </a:r>
          </a:p>
          <a:p>
            <a:pPr marL="0" indent="0" defTabSz="914400" eaLnBrk="1" fontAlgn="auto" hangingPunct="1">
              <a:lnSpc>
                <a:spcPct val="100000"/>
              </a:lnSpc>
              <a:spcBef>
                <a:spcPts val="0"/>
              </a:spcBef>
              <a:spcAft>
                <a:spcPts val="0"/>
              </a:spcAft>
              <a:buClrTx/>
              <a:buSzTx/>
              <a:buFontTx/>
              <a:buNone/>
              <a:defRPr/>
            </a:pPr>
            <a:endParaRPr lang="zh-CN" altLang="en-US" b="1" kern="0" dirty="0" smtClean="0">
              <a:solidFill>
                <a:sysClr val="windowText" lastClr="000000"/>
              </a:solidFill>
            </a:endParaRP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两类典型的解空间树</a:t>
            </a:r>
          </a:p>
        </p:txBody>
      </p:sp>
      <p:sp>
        <p:nvSpPr>
          <p:cNvPr id="5" name="内容占位符 2"/>
          <p:cNvSpPr>
            <a:spLocks noGrp="1"/>
          </p:cNvSpPr>
          <p:nvPr>
            <p:ph idx="1"/>
          </p:nvPr>
        </p:nvSpPr>
        <p:spPr>
          <a:xfrm>
            <a:off x="355600" y="1609725"/>
            <a:ext cx="8178800" cy="2047875"/>
          </a:xfrm>
        </p:spPr>
        <p:txBody>
          <a:bodyPr/>
          <a:lstStyle/>
          <a:p>
            <a:pPr marL="0" lvl="1" indent="0" algn="just" defTabSz="914400" eaLnBrk="1" fontAlgn="auto" hangingPunct="1">
              <a:lnSpc>
                <a:spcPct val="150000"/>
              </a:lnSpc>
              <a:spcBef>
                <a:spcPts val="0"/>
              </a:spcBef>
              <a:spcAft>
                <a:spcPts val="0"/>
              </a:spcAft>
              <a:buClr>
                <a:srgbClr val="00B050"/>
              </a:buClr>
              <a:buFont typeface="Wingdings" panose="05000000000000000000" pitchFamily="2" charset="2"/>
              <a:buChar char="u"/>
              <a:defRPr/>
            </a:pPr>
            <a:r>
              <a:rPr lang="zh-CN" altLang="en-US" sz="28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子集树</a:t>
            </a:r>
            <a:r>
              <a:rPr lang="zh-CN" altLang="en-US" sz="28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：当所给的问题是从</a:t>
            </a:r>
            <a:r>
              <a:rPr lang="en-US" altLang="zh-CN" sz="28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个元素的集合</a:t>
            </a:r>
            <a:r>
              <a:rPr lang="en-US" altLang="zh-CN" sz="2800" b="1" i="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sz="28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中找出满足某种性质的</a:t>
            </a:r>
            <a:r>
              <a:rPr lang="zh-CN" altLang="en-US" sz="28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子集</a:t>
            </a:r>
            <a:r>
              <a:rPr lang="zh-CN" altLang="en-US" sz="28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时，相应的解空间树称为子集树。子集树通常有</a:t>
            </a:r>
            <a:r>
              <a:rPr lang="en-US" altLang="zh-CN" sz="2800" b="1" i="1" kern="0" dirty="0" err="1"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sz="2800" b="1" i="1" kern="0" baseline="30000" dirty="0" err="1"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个叶结点。</a:t>
            </a:r>
            <a:r>
              <a:rPr lang="en-US" altLang="zh-CN" sz="28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01</a:t>
            </a:r>
            <a:r>
              <a:rPr lang="zh-CN" altLang="en-US" sz="28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背包问题</a:t>
            </a:r>
            <a:r>
              <a:rPr lang="en-US" altLang="zh-CN" sz="28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p>
          <a:p>
            <a:pPr marL="0" indent="0" defTabSz="914400" eaLnBrk="1" fontAlgn="auto" hangingPunct="1">
              <a:lnSpc>
                <a:spcPct val="100000"/>
              </a:lnSpc>
              <a:spcBef>
                <a:spcPts val="0"/>
              </a:spcBef>
              <a:spcAft>
                <a:spcPts val="0"/>
              </a:spcAft>
              <a:buClrTx/>
              <a:buSzTx/>
              <a:buFontTx/>
              <a:buNone/>
              <a:defRPr/>
            </a:pPr>
            <a:endParaRPr lang="zh-CN" altLang="en-US" kern="0" dirty="0" smtClean="0">
              <a:solidFill>
                <a:sysClr val="windowText" lastClr="000000"/>
              </a:solidFill>
            </a:endParaRPr>
          </a:p>
        </p:txBody>
      </p:sp>
      <p:sp>
        <p:nvSpPr>
          <p:cNvPr id="4" name="矩形 3"/>
          <p:cNvSpPr/>
          <p:nvPr/>
        </p:nvSpPr>
        <p:spPr>
          <a:xfrm>
            <a:off x="406400" y="3940175"/>
            <a:ext cx="8077200" cy="2032000"/>
          </a:xfrm>
          <a:prstGeom prst="rect">
            <a:avLst/>
          </a:prstGeom>
        </p:spPr>
        <p:txBody>
          <a:bodyPr>
            <a:spAutoFit/>
          </a:bodyPr>
          <a:lstStyle/>
          <a:p>
            <a:pPr marL="0" lvl="1" algn="just" defTabSz="914400" fontAlgn="auto">
              <a:lnSpc>
                <a:spcPct val="150000"/>
              </a:lnSpc>
              <a:spcBef>
                <a:spcPts val="0"/>
              </a:spcBef>
              <a:spcAft>
                <a:spcPts val="0"/>
              </a:spcAft>
              <a:buClr>
                <a:srgbClr val="00B050"/>
              </a:buClr>
              <a:buFont typeface="Wingdings" panose="05000000000000000000" pitchFamily="2" charset="2"/>
              <a:buChar char="u"/>
              <a:defRPr/>
            </a:pPr>
            <a:r>
              <a:rPr lang="zh-CN" altLang="en-US" sz="28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排列树</a:t>
            </a:r>
            <a:r>
              <a:rPr lang="zh-CN" altLang="en-US" sz="28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：当所给的问题是确定</a:t>
            </a:r>
            <a:r>
              <a:rPr lang="en-US" altLang="zh-CN" sz="2800" b="1" i="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个元素满足某种性质的</a:t>
            </a:r>
            <a:r>
              <a:rPr lang="zh-CN" altLang="en-US" sz="28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排列</a:t>
            </a:r>
            <a:r>
              <a:rPr lang="zh-CN" altLang="en-US" sz="28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时，相应的解空间树称为排列树。排列树通常有</a:t>
            </a:r>
            <a:r>
              <a:rPr lang="en-US" altLang="zh-CN" sz="2800" b="1" i="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8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个叶结点。（</a:t>
            </a:r>
            <a:r>
              <a:rPr lang="zh-CN" altLang="en-US" sz="28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货郎担问题</a:t>
            </a:r>
            <a:r>
              <a:rPr lang="zh-CN" altLang="en-US" sz="28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2"/>
          <p:cNvSpPr>
            <a:spLocks noChangeArrowheads="1"/>
          </p:cNvSpPr>
          <p:nvPr/>
        </p:nvSpPr>
        <p:spPr bwMode="auto">
          <a:xfrm>
            <a:off x="4044950" y="419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目录</a:t>
            </a:r>
          </a:p>
        </p:txBody>
      </p:sp>
      <p:graphicFrame>
        <p:nvGraphicFramePr>
          <p:cNvPr id="7" name="图示 6"/>
          <p:cNvGraphicFramePr/>
          <p:nvPr/>
        </p:nvGraphicFramePr>
        <p:xfrm>
          <a:off x="1552575" y="1549400"/>
          <a:ext cx="6096000" cy="4660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两种解题框架</a:t>
            </a:r>
          </a:p>
        </p:txBody>
      </p:sp>
      <p:sp>
        <p:nvSpPr>
          <p:cNvPr id="4" name="矩形 3"/>
          <p:cNvSpPr/>
          <p:nvPr/>
        </p:nvSpPr>
        <p:spPr>
          <a:xfrm>
            <a:off x="385763" y="1192213"/>
            <a:ext cx="7885112" cy="523875"/>
          </a:xfrm>
          <a:prstGeom prst="rect">
            <a:avLst/>
          </a:prstGeom>
        </p:spPr>
        <p:txBody>
          <a:bodyPr>
            <a:spAutoFit/>
          </a:bodyPr>
          <a:lstStyle/>
          <a:p>
            <a:pPr marL="342900" indent="-342900" defTabSz="914400" eaLnBrk="0" hangingPunct="0">
              <a:spcBef>
                <a:spcPct val="20000"/>
              </a:spcBef>
              <a:buClr>
                <a:srgbClr val="00B050"/>
              </a:buClr>
              <a:buFont typeface="Wingdings" panose="05000000000000000000" pitchFamily="2" charset="2"/>
              <a:buChar char="u"/>
              <a:defRPr/>
            </a:pP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递归回溯框架</a:t>
            </a:r>
            <a:endParaRPr kumimoji="1" lang="zh-CN" altLang="en-US" sz="24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5" name="Text Box 4"/>
          <p:cNvSpPr txBox="1">
            <a:spLocks noChangeArrowheads="1"/>
          </p:cNvSpPr>
          <p:nvPr/>
        </p:nvSpPr>
        <p:spPr bwMode="auto">
          <a:xfrm>
            <a:off x="128588" y="1919288"/>
            <a:ext cx="5164137" cy="4532312"/>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void backtrack (</a:t>
            </a:r>
            <a:r>
              <a:rPr lang="en-US" altLang="zh-CN" sz="24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 </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&gt; </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output(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else</a:t>
            </a: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for (</a:t>
            </a:r>
            <a:r>
              <a:rPr lang="en-US" altLang="zh-CN" sz="24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f</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g</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 </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h</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if (constraint(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)&amp;&amp;bound(</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backtrack(</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+1);</a:t>
            </a: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4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7" name="Text Box 4"/>
          <p:cNvSpPr txBox="1">
            <a:spLocks noChangeArrowheads="1"/>
          </p:cNvSpPr>
          <p:nvPr/>
        </p:nvSpPr>
        <p:spPr bwMode="auto">
          <a:xfrm>
            <a:off x="5402263" y="1757363"/>
            <a:ext cx="3619500" cy="4775200"/>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递归深度；</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：最大递归深度；</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x</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 ：解向量</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output(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输出得到的可行解</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x</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i="1" dirty="0">
                <a:solidFill>
                  <a:srgbClr val="00B050"/>
                </a:solidFill>
                <a:latin typeface="Times New Roman" panose="02020603050405020304" pitchFamily="18" charset="0"/>
                <a:cs typeface="Times New Roman" panose="02020603050405020304" pitchFamily="18" charset="0"/>
              </a:rPr>
              <a:t>f</a:t>
            </a:r>
            <a:r>
              <a:rPr lang="en-US" altLang="zh-CN" sz="2400" b="1" dirty="0">
                <a:solidFill>
                  <a:srgbClr val="00B050"/>
                </a:solidFill>
                <a:latin typeface="Times New Roman" panose="02020603050405020304" pitchFamily="18" charset="0"/>
                <a:cs typeface="Times New Roman" panose="02020603050405020304" pitchFamily="18" charset="0"/>
              </a:rPr>
              <a:t>(</a:t>
            </a:r>
            <a:r>
              <a:rPr lang="en-US" altLang="zh-CN" sz="2400" b="1" i="1" dirty="0">
                <a:solidFill>
                  <a:srgbClr val="00B050"/>
                </a:solidFill>
                <a:latin typeface="Times New Roman" panose="02020603050405020304" pitchFamily="18" charset="0"/>
                <a:cs typeface="Times New Roman" panose="02020603050405020304" pitchFamily="18" charset="0"/>
              </a:rPr>
              <a:t>n</a:t>
            </a:r>
            <a:r>
              <a:rPr lang="en-US" altLang="zh-CN" sz="2400" b="1" dirty="0">
                <a:solidFill>
                  <a:srgbClr val="00B050"/>
                </a:solidFill>
                <a:latin typeface="Times New Roman" panose="02020603050405020304" pitchFamily="18" charset="0"/>
                <a:cs typeface="Times New Roman" panose="02020603050405020304" pitchFamily="18" charset="0"/>
              </a:rPr>
              <a:t>, </a:t>
            </a:r>
            <a:r>
              <a:rPr lang="en-US" altLang="zh-CN" sz="2400" b="1" i="1" dirty="0">
                <a:solidFill>
                  <a:srgbClr val="00B050"/>
                </a:solidFill>
                <a:latin typeface="Times New Roman" panose="02020603050405020304" pitchFamily="18" charset="0"/>
                <a:cs typeface="Times New Roman" panose="02020603050405020304" pitchFamily="18" charset="0"/>
              </a:rPr>
              <a:t>t</a:t>
            </a:r>
            <a:r>
              <a:rPr lang="en-US" altLang="zh-CN" sz="2400" b="1" dirty="0">
                <a:solidFill>
                  <a:srgbClr val="00B050"/>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a:solidFill>
                  <a:srgbClr val="FF0000"/>
                </a:solidFill>
                <a:latin typeface="Times New Roman" panose="02020603050405020304" pitchFamily="18" charset="0"/>
                <a:cs typeface="Times New Roman" panose="02020603050405020304" pitchFamily="18" charset="0"/>
              </a:rPr>
              <a:t>g</a:t>
            </a:r>
            <a:r>
              <a:rPr lang="en-US" altLang="zh-CN" sz="2400" b="1" dirty="0">
                <a:solidFill>
                  <a:srgbClr val="FF0000"/>
                </a:solidFill>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n</a:t>
            </a:r>
            <a:r>
              <a:rPr lang="en-US" altLang="zh-CN" sz="2400" b="1" dirty="0">
                <a:solidFill>
                  <a:srgbClr val="FF0000"/>
                </a:solidFill>
                <a:latin typeface="Times New Roman" panose="02020603050405020304" pitchFamily="18" charset="0"/>
                <a:cs typeface="Times New Roman" panose="02020603050405020304" pitchFamily="18" charset="0"/>
              </a:rPr>
              <a:t>, </a:t>
            </a:r>
            <a:r>
              <a:rPr lang="en-US" altLang="zh-CN" sz="2400" b="1" i="1" dirty="0">
                <a:solidFill>
                  <a:srgbClr val="FF0000"/>
                </a:solidFill>
                <a:latin typeface="Times New Roman" panose="02020603050405020304" pitchFamily="18" charset="0"/>
                <a:cs typeface="Times New Roman" panose="02020603050405020304" pitchFamily="18" charset="0"/>
              </a:rPr>
              <a:t>t</a:t>
            </a:r>
            <a:r>
              <a:rPr lang="en-US" altLang="zh-CN" sz="2400" b="1" dirty="0">
                <a:solidFill>
                  <a:srgbClr val="FF0000"/>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当前扩展结点处未搜索的子树的</a:t>
            </a:r>
            <a:r>
              <a:rPr lang="zh-CN" altLang="en-US" sz="2400" b="1" dirty="0">
                <a:solidFill>
                  <a:srgbClr val="00B050"/>
                </a:solidFill>
                <a:latin typeface="华文楷体" panose="02010600040101010101" pitchFamily="2" charset="-122"/>
                <a:ea typeface="华文楷体" panose="02010600040101010101" pitchFamily="2" charset="-122"/>
                <a:cs typeface="Times New Roman" panose="02020603050405020304" pitchFamily="18" charset="0"/>
              </a:rPr>
              <a:t>起始编号</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和</a:t>
            </a:r>
            <a:r>
              <a:rPr lang="zh-CN" altLang="en-US"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终止编号</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h</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当前扩展结点</a:t>
            </a:r>
            <a:r>
              <a:rPr lang="en-US" altLang="zh-CN" sz="24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的第</a:t>
            </a:r>
            <a:r>
              <a:rPr lang="en-US" altLang="zh-CN" sz="24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个可选值；</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dirty="0">
                <a:solidFill>
                  <a:srgbClr val="00B050"/>
                </a:solidFill>
                <a:latin typeface="Times New Roman" panose="02020603050405020304" pitchFamily="18" charset="0"/>
                <a:cs typeface="Times New Roman" panose="02020603050405020304" pitchFamily="18" charset="0"/>
              </a:rPr>
              <a:t>constraint(</a:t>
            </a:r>
            <a:r>
              <a:rPr lang="en-US" altLang="zh-CN" sz="2400" b="1" i="1" dirty="0">
                <a:solidFill>
                  <a:srgbClr val="00B050"/>
                </a:solidFill>
                <a:latin typeface="Times New Roman" panose="02020603050405020304" pitchFamily="18" charset="0"/>
                <a:cs typeface="Times New Roman" panose="02020603050405020304" pitchFamily="18" charset="0"/>
              </a:rPr>
              <a:t>t</a:t>
            </a:r>
            <a:r>
              <a:rPr lang="en-US" altLang="zh-CN" sz="2400" b="1" dirty="0">
                <a:solidFill>
                  <a:srgbClr val="00B050"/>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bound(</a:t>
            </a:r>
            <a:r>
              <a:rPr lang="en-US" altLang="zh-CN" sz="2400" b="1" i="1" dirty="0">
                <a:solidFill>
                  <a:srgbClr val="FF0000"/>
                </a:solidFill>
                <a:latin typeface="Times New Roman" panose="02020603050405020304" pitchFamily="18" charset="0"/>
                <a:cs typeface="Times New Roman" panose="02020603050405020304" pitchFamily="18" charset="0"/>
              </a:rPr>
              <a:t>t</a:t>
            </a:r>
            <a:r>
              <a:rPr lang="en-US" altLang="zh-CN" sz="2400" b="1" dirty="0">
                <a:solidFill>
                  <a:srgbClr val="FF0000"/>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当前扩展结点的</a:t>
            </a:r>
            <a:r>
              <a:rPr lang="zh-CN" altLang="en-US" sz="2400" b="1" dirty="0">
                <a:solidFill>
                  <a:srgbClr val="00B050"/>
                </a:solidFill>
                <a:latin typeface="华文楷体" panose="02010600040101010101" pitchFamily="2" charset="-122"/>
                <a:ea typeface="华文楷体" panose="02010600040101010101" pitchFamily="2" charset="-122"/>
                <a:cs typeface="Times New Roman" panose="02020603050405020304" pitchFamily="18" charset="0"/>
              </a:rPr>
              <a:t>约束函数</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界函数</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两种解题框架</a:t>
            </a:r>
          </a:p>
        </p:txBody>
      </p:sp>
      <p:sp>
        <p:nvSpPr>
          <p:cNvPr id="4" name="矩形 3"/>
          <p:cNvSpPr/>
          <p:nvPr/>
        </p:nvSpPr>
        <p:spPr>
          <a:xfrm>
            <a:off x="385763" y="1192213"/>
            <a:ext cx="7885112" cy="523875"/>
          </a:xfrm>
          <a:prstGeom prst="rect">
            <a:avLst/>
          </a:prstGeom>
        </p:spPr>
        <p:txBody>
          <a:bodyPr>
            <a:spAutoFit/>
          </a:bodyPr>
          <a:lstStyle/>
          <a:p>
            <a:pPr marL="342900" indent="-342900" defTabSz="914400" eaLnBrk="0" hangingPunct="0">
              <a:spcBef>
                <a:spcPct val="20000"/>
              </a:spcBef>
              <a:buClr>
                <a:srgbClr val="00B050"/>
              </a:buClr>
              <a:buFont typeface="Wingdings" panose="05000000000000000000" pitchFamily="2" charset="2"/>
              <a:buChar char="u"/>
              <a:defRPr/>
            </a:pPr>
            <a:r>
              <a:rPr kumimoji="1" lang="zh-CN" altLang="en-US" sz="28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迭代回溯框架</a:t>
            </a:r>
            <a:endParaRPr kumimoji="1" lang="zh-CN" altLang="en-US" sz="2400" b="1" kern="0"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7" name="Text Box 4"/>
          <p:cNvSpPr txBox="1">
            <a:spLocks noChangeArrowheads="1"/>
          </p:cNvSpPr>
          <p:nvPr/>
        </p:nvSpPr>
        <p:spPr bwMode="auto">
          <a:xfrm>
            <a:off x="4978400" y="1412875"/>
            <a:ext cx="4022725" cy="5170488"/>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迭代深度；</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x</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 ：解向量；</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output(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输出得到的可行解</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x</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i="1" dirty="0">
                <a:solidFill>
                  <a:srgbClr val="00B050"/>
                </a:solidFill>
                <a:latin typeface="Times New Roman" panose="02020603050405020304" pitchFamily="18" charset="0"/>
                <a:cs typeface="Times New Roman" panose="02020603050405020304" pitchFamily="18" charset="0"/>
              </a:rPr>
              <a:t>f</a:t>
            </a:r>
            <a:r>
              <a:rPr lang="en-US" altLang="zh-CN" sz="2400" b="1" dirty="0">
                <a:solidFill>
                  <a:srgbClr val="00B050"/>
                </a:solidFill>
                <a:latin typeface="Times New Roman" panose="02020603050405020304" pitchFamily="18" charset="0"/>
                <a:cs typeface="Times New Roman" panose="02020603050405020304" pitchFamily="18" charset="0"/>
              </a:rPr>
              <a:t>(</a:t>
            </a:r>
            <a:r>
              <a:rPr lang="en-US" altLang="zh-CN" sz="2400" b="1" i="1" dirty="0">
                <a:solidFill>
                  <a:srgbClr val="00B050"/>
                </a:solidFill>
                <a:latin typeface="Times New Roman" panose="02020603050405020304" pitchFamily="18" charset="0"/>
                <a:cs typeface="Times New Roman" panose="02020603050405020304" pitchFamily="18" charset="0"/>
              </a:rPr>
              <a:t>n</a:t>
            </a:r>
            <a:r>
              <a:rPr lang="en-US" altLang="zh-CN" sz="2400" b="1" dirty="0">
                <a:solidFill>
                  <a:srgbClr val="00B050"/>
                </a:solidFill>
                <a:latin typeface="Times New Roman" panose="02020603050405020304" pitchFamily="18" charset="0"/>
                <a:cs typeface="Times New Roman" panose="02020603050405020304" pitchFamily="18" charset="0"/>
              </a:rPr>
              <a:t>, </a:t>
            </a:r>
            <a:r>
              <a:rPr lang="en-US" altLang="zh-CN" sz="2400" b="1" i="1" dirty="0">
                <a:solidFill>
                  <a:srgbClr val="00B050"/>
                </a:solidFill>
                <a:latin typeface="Times New Roman" panose="02020603050405020304" pitchFamily="18" charset="0"/>
                <a:cs typeface="Times New Roman" panose="02020603050405020304" pitchFamily="18" charset="0"/>
              </a:rPr>
              <a:t>t</a:t>
            </a:r>
            <a:r>
              <a:rPr lang="en-US" altLang="zh-CN" sz="2400" b="1" dirty="0">
                <a:solidFill>
                  <a:srgbClr val="00B050"/>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i="1" dirty="0">
                <a:solidFill>
                  <a:srgbClr val="FF0000"/>
                </a:solidFill>
                <a:latin typeface="Times New Roman" panose="02020603050405020304" pitchFamily="18" charset="0"/>
                <a:cs typeface="Times New Roman" panose="02020603050405020304" pitchFamily="18" charset="0"/>
              </a:rPr>
              <a:t>g</a:t>
            </a:r>
            <a:r>
              <a:rPr lang="en-US" altLang="zh-CN" sz="2400" b="1" dirty="0">
                <a:solidFill>
                  <a:srgbClr val="FF0000"/>
                </a:solidFill>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n</a:t>
            </a:r>
            <a:r>
              <a:rPr lang="en-US" altLang="zh-CN" sz="2400" b="1" dirty="0">
                <a:solidFill>
                  <a:srgbClr val="FF0000"/>
                </a:solidFill>
                <a:latin typeface="Times New Roman" panose="02020603050405020304" pitchFamily="18" charset="0"/>
                <a:cs typeface="Times New Roman" panose="02020603050405020304" pitchFamily="18" charset="0"/>
              </a:rPr>
              <a:t>, </a:t>
            </a:r>
            <a:r>
              <a:rPr lang="en-US" altLang="zh-CN" sz="2400" b="1" i="1" dirty="0">
                <a:solidFill>
                  <a:srgbClr val="FF0000"/>
                </a:solidFill>
                <a:latin typeface="Times New Roman" panose="02020603050405020304" pitchFamily="18" charset="0"/>
                <a:cs typeface="Times New Roman" panose="02020603050405020304" pitchFamily="18" charset="0"/>
              </a:rPr>
              <a:t>t</a:t>
            </a:r>
            <a:r>
              <a:rPr lang="en-US" altLang="zh-CN" sz="2400" b="1" dirty="0">
                <a:solidFill>
                  <a:srgbClr val="FF0000"/>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当前扩展结点处未搜索的子树的</a:t>
            </a:r>
            <a:r>
              <a:rPr lang="zh-CN" altLang="en-US" sz="2400" b="1" dirty="0">
                <a:solidFill>
                  <a:srgbClr val="00B050"/>
                </a:solidFill>
                <a:latin typeface="华文楷体" panose="02010600040101010101" pitchFamily="2" charset="-122"/>
                <a:ea typeface="华文楷体" panose="02010600040101010101" pitchFamily="2" charset="-122"/>
                <a:cs typeface="Times New Roman" panose="02020603050405020304" pitchFamily="18" charset="0"/>
              </a:rPr>
              <a:t>起始编号</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和</a:t>
            </a:r>
            <a:r>
              <a:rPr lang="zh-CN" altLang="en-US"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终止编号</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i="1" dirty="0">
                <a:solidFill>
                  <a:schemeClr val="tx1">
                    <a:lumMod val="50000"/>
                  </a:schemeClr>
                </a:solidFill>
                <a:latin typeface="Times New Roman" panose="02020603050405020304" pitchFamily="18" charset="0"/>
                <a:cs typeface="Times New Roman" panose="02020603050405020304" pitchFamily="18" charset="0"/>
              </a:rPr>
              <a:t>h</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当前扩展结点</a:t>
            </a:r>
            <a:r>
              <a:rPr lang="en-US" altLang="zh-CN" sz="24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的第</a:t>
            </a:r>
            <a:r>
              <a:rPr lang="en-US" altLang="zh-CN" sz="24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个可选值；</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dirty="0">
                <a:solidFill>
                  <a:srgbClr val="00B050"/>
                </a:solidFill>
                <a:latin typeface="Times New Roman" panose="02020603050405020304" pitchFamily="18" charset="0"/>
                <a:cs typeface="Times New Roman" panose="02020603050405020304" pitchFamily="18" charset="0"/>
              </a:rPr>
              <a:t>constraint(</a:t>
            </a:r>
            <a:r>
              <a:rPr lang="en-US" altLang="zh-CN" sz="2400" b="1" i="1" dirty="0">
                <a:solidFill>
                  <a:srgbClr val="00B050"/>
                </a:solidFill>
                <a:latin typeface="Times New Roman" panose="02020603050405020304" pitchFamily="18" charset="0"/>
                <a:cs typeface="Times New Roman" panose="02020603050405020304" pitchFamily="18" charset="0"/>
              </a:rPr>
              <a:t>t</a:t>
            </a:r>
            <a:r>
              <a:rPr lang="en-US" altLang="zh-CN" sz="2400" b="1" dirty="0">
                <a:solidFill>
                  <a:srgbClr val="00B050"/>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bound(</a:t>
            </a:r>
            <a:r>
              <a:rPr lang="en-US" altLang="zh-CN" sz="2400" b="1" i="1" dirty="0">
                <a:solidFill>
                  <a:srgbClr val="FF0000"/>
                </a:solidFill>
                <a:latin typeface="Times New Roman" panose="02020603050405020304" pitchFamily="18" charset="0"/>
                <a:cs typeface="Times New Roman" panose="02020603050405020304" pitchFamily="18" charset="0"/>
              </a:rPr>
              <a:t>t</a:t>
            </a:r>
            <a:r>
              <a:rPr lang="en-US" altLang="zh-CN" sz="2400" b="1" dirty="0">
                <a:solidFill>
                  <a:srgbClr val="FF0000"/>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当前扩展结点的</a:t>
            </a:r>
            <a:r>
              <a:rPr lang="zh-CN" altLang="en-US" sz="2400" b="1" dirty="0">
                <a:solidFill>
                  <a:srgbClr val="00B050"/>
                </a:solidFill>
                <a:latin typeface="华文楷体" panose="02010600040101010101" pitchFamily="2" charset="-122"/>
                <a:ea typeface="华文楷体" panose="02010600040101010101" pitchFamily="2" charset="-122"/>
                <a:cs typeface="Times New Roman" panose="02020603050405020304" pitchFamily="18" charset="0"/>
              </a:rPr>
              <a:t>约束函数</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界函数</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solution(t): </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判断当前扩展结点处是否得到问题的可行解。</a:t>
            </a:r>
            <a:endParaRPr lang="en-US" altLang="zh-CN" sz="24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6" name="Text Box 4"/>
          <p:cNvSpPr txBox="1">
            <a:spLocks noChangeArrowheads="1"/>
          </p:cNvSpPr>
          <p:nvPr/>
        </p:nvSpPr>
        <p:spPr bwMode="auto">
          <a:xfrm>
            <a:off x="0" y="1828800"/>
            <a:ext cx="4902200" cy="4432300"/>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iterativeBacktrack</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&gt; 0) {</a:t>
            </a:r>
            <a:r>
              <a:rPr lang="en-US" altLang="zh-CN" sz="2000" b="1" dirty="0">
                <a:solidFill>
                  <a:srgbClr val="FF0000"/>
                </a:solidFill>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退到无路可退，结束</a:t>
            </a:r>
            <a:endParaRPr lang="en-US" altLang="zh-CN" sz="2000" b="1" dirty="0">
              <a:solidFill>
                <a:srgbClr val="FF0000"/>
              </a:solidFill>
              <a:latin typeface="Times New Roman" panose="02020603050405020304" pitchFamily="18" charset="0"/>
              <a:cs typeface="Times New Roman" panose="02020603050405020304" pitchFamily="18" charset="0"/>
            </a:endParaRP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f</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g</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f</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g</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h</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(constraint(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)&amp;&amp;bound(</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(solution(</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output(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 //</a:t>
            </a:r>
            <a:r>
              <a:rPr lang="zh-CN" altLang="en-US" sz="2000" b="1" dirty="0">
                <a:solidFill>
                  <a:srgbClr val="FF0000"/>
                </a:solidFill>
                <a:latin typeface="Times New Roman" panose="02020603050405020304" pitchFamily="18" charset="0"/>
                <a:cs typeface="Times New Roman" panose="02020603050405020304" pitchFamily="18" charset="0"/>
              </a:rPr>
              <a:t>等价于</a:t>
            </a:r>
            <a:r>
              <a:rPr lang="en-US" altLang="zh-CN" sz="2000" b="1" dirty="0">
                <a:solidFill>
                  <a:srgbClr val="FF0000"/>
                </a:solidFill>
                <a:latin typeface="Times New Roman" panose="02020603050405020304" pitchFamily="18" charset="0"/>
                <a:cs typeface="Times New Roman" panose="02020603050405020304" pitchFamily="18" charset="0"/>
              </a:rPr>
              <a:t>backtrack(</a:t>
            </a:r>
            <a:r>
              <a:rPr lang="en-US" altLang="zh-CN" sz="2000" b="1" dirty="0" err="1">
                <a:solidFill>
                  <a:srgbClr val="FF0000"/>
                </a:solidFill>
                <a:latin typeface="Times New Roman" panose="02020603050405020304" pitchFamily="18" charset="0"/>
                <a:cs typeface="Times New Roman" panose="02020603050405020304" pitchFamily="18" charset="0"/>
              </a:rPr>
              <a:t>t+1</a:t>
            </a:r>
            <a:r>
              <a:rPr lang="en-US" altLang="zh-CN" sz="2000" b="1" dirty="0">
                <a:solidFill>
                  <a:srgbClr val="FF0000"/>
                </a:solidFill>
                <a:latin typeface="Times New Roman" panose="02020603050405020304" pitchFamily="18" charset="0"/>
                <a:cs typeface="Times New Roman" panose="02020603050405020304" pitchFamily="18" charset="0"/>
              </a:rPr>
              <a:t>)</a:t>
            </a:r>
            <a:endParaRPr lang="en-US" altLang="zh-CN" sz="20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endParaRPr lang="en-US" altLang="zh-CN" sz="2000" b="1" dirty="0">
              <a:solidFill>
                <a:srgbClr val="FF0000"/>
              </a:solidFill>
              <a:latin typeface="Times New Roman" panose="02020603050405020304" pitchFamily="18" charset="0"/>
              <a:cs typeface="Times New Roman" panose="02020603050405020304" pitchFamily="18" charset="0"/>
            </a:endParaRP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t--;</a:t>
            </a:r>
            <a:r>
              <a:rPr lang="en-US" altLang="zh-CN" sz="2000" b="1" dirty="0">
                <a:solidFill>
                  <a:srgbClr val="FF0000"/>
                </a:solidFill>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走不通了后退</a:t>
            </a:r>
            <a:endParaRPr lang="en-US" altLang="zh-CN" sz="2000" b="1" dirty="0">
              <a:solidFill>
                <a:srgbClr val="FF0000"/>
              </a:solidFill>
              <a:latin typeface="Times New Roman" panose="02020603050405020304" pitchFamily="18" charset="0"/>
              <a:cs typeface="Times New Roman" panose="02020603050405020304" pitchFamily="18" charset="0"/>
            </a:endParaRP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回溯法的优点</a:t>
            </a:r>
          </a:p>
        </p:txBody>
      </p:sp>
      <p:sp>
        <p:nvSpPr>
          <p:cNvPr id="8" name="Rectangle 3"/>
          <p:cNvSpPr txBox="1">
            <a:spLocks noChangeArrowheads="1"/>
          </p:cNvSpPr>
          <p:nvPr/>
        </p:nvSpPr>
        <p:spPr bwMode="auto">
          <a:xfrm>
            <a:off x="228600" y="1279525"/>
            <a:ext cx="8712200" cy="5070475"/>
          </a:xfrm>
          <a:prstGeom prst="rect">
            <a:avLst/>
          </a:prstGeom>
        </p:spPr>
        <p:style>
          <a:lnRef idx="2">
            <a:schemeClr val="dk1"/>
          </a:lnRef>
          <a:fillRef idx="1">
            <a:schemeClr val="lt1"/>
          </a:fillRef>
          <a:effectRef idx="0">
            <a:schemeClr val="dk1"/>
          </a:effectRef>
          <a:fontRef idx="minor">
            <a:schemeClr val="dk1"/>
          </a:fontRef>
        </p:style>
        <p:txBody>
          <a:bodyPr/>
          <a:lstStyle/>
          <a:p>
            <a:pPr indent="-342900" defTabSz="914400">
              <a:lnSpc>
                <a:spcPct val="150000"/>
              </a:lnSpc>
              <a:spcBef>
                <a:spcPct val="20000"/>
              </a:spcBef>
              <a:defRPr/>
            </a:pPr>
            <a:r>
              <a:rPr kumimoji="1" lang="zh-CN" altLang="en-US" sz="3200" b="1" kern="0" dirty="0">
                <a:solidFill>
                  <a:schemeClr val="tx1">
                    <a:lumMod val="50000"/>
                  </a:schemeClr>
                </a:solidFill>
                <a:latin typeface="Times New Roman" panose="02020603050405020304"/>
                <a:ea typeface="宋体" panose="02010600030101010101" pitchFamily="2" charset="-122"/>
              </a:rPr>
              <a:t>在搜索过程中动态产生问题的解空间。在任何时刻，算法</a:t>
            </a:r>
            <a:r>
              <a:rPr kumimoji="1" lang="zh-CN" altLang="en-US" sz="3200" b="1" kern="0" dirty="0">
                <a:solidFill>
                  <a:srgbClr val="FF0000"/>
                </a:solidFill>
                <a:latin typeface="Times New Roman" panose="02020603050405020304"/>
                <a:ea typeface="宋体" panose="02010600030101010101" pitchFamily="2" charset="-122"/>
              </a:rPr>
              <a:t>只保存从</a:t>
            </a:r>
            <a:r>
              <a:rPr kumimoji="1" lang="zh-CN" altLang="en-US" sz="3200" b="1" kern="0" dirty="0" smtClean="0">
                <a:solidFill>
                  <a:srgbClr val="FF0000"/>
                </a:solidFill>
                <a:latin typeface="Times New Roman" panose="02020603050405020304"/>
                <a:ea typeface="宋体" panose="02010600030101010101" pitchFamily="2" charset="-122"/>
              </a:rPr>
              <a:t>根结点到</a:t>
            </a:r>
            <a:r>
              <a:rPr kumimoji="1" lang="zh-CN" altLang="en-US" sz="3200" b="1" kern="0" dirty="0">
                <a:solidFill>
                  <a:srgbClr val="FF0000"/>
                </a:solidFill>
                <a:latin typeface="Times New Roman" panose="02020603050405020304"/>
                <a:ea typeface="宋体" panose="02010600030101010101" pitchFamily="2" charset="-122"/>
              </a:rPr>
              <a:t>扩展结点的路径</a:t>
            </a:r>
            <a:r>
              <a:rPr kumimoji="1" lang="zh-CN" altLang="en-US" sz="3200" b="1" kern="0" dirty="0">
                <a:solidFill>
                  <a:schemeClr val="tx1">
                    <a:lumMod val="50000"/>
                  </a:schemeClr>
                </a:solidFill>
                <a:latin typeface="Times New Roman" panose="02020603050405020304"/>
                <a:ea typeface="宋体" panose="02010600030101010101" pitchFamily="2" charset="-122"/>
              </a:rPr>
              <a:t>，如果解空间树中从</a:t>
            </a:r>
            <a:r>
              <a:rPr kumimoji="1" lang="zh-CN" altLang="en-US" sz="3200" b="1" kern="0" dirty="0" smtClean="0">
                <a:solidFill>
                  <a:schemeClr val="tx1">
                    <a:lumMod val="50000"/>
                  </a:schemeClr>
                </a:solidFill>
                <a:latin typeface="Times New Roman" panose="02020603050405020304"/>
                <a:ea typeface="宋体" panose="02010600030101010101" pitchFamily="2" charset="-122"/>
              </a:rPr>
              <a:t>根结点到</a:t>
            </a:r>
            <a:r>
              <a:rPr kumimoji="1" lang="zh-CN" altLang="en-US" sz="3200" b="1" kern="0" dirty="0">
                <a:solidFill>
                  <a:schemeClr val="tx1">
                    <a:lumMod val="50000"/>
                  </a:schemeClr>
                </a:solidFill>
                <a:latin typeface="Times New Roman" panose="02020603050405020304"/>
                <a:ea typeface="宋体" panose="02010600030101010101" pitchFamily="2" charset="-122"/>
              </a:rPr>
              <a:t>叶子结点的最长路径的长度为</a:t>
            </a:r>
            <a:r>
              <a:rPr kumimoji="1" lang="en-US" altLang="zh-CN" sz="3200" b="1" i="1" kern="0" dirty="0">
                <a:solidFill>
                  <a:schemeClr val="tx1">
                    <a:lumMod val="50000"/>
                  </a:schemeClr>
                </a:solidFill>
                <a:latin typeface="Times New Roman" panose="02020603050405020304"/>
                <a:ea typeface="宋体" panose="02010600030101010101" pitchFamily="2" charset="-122"/>
              </a:rPr>
              <a:t>h</a:t>
            </a:r>
            <a:r>
              <a:rPr kumimoji="1" lang="en-US" altLang="zh-CN" sz="3200" b="1" kern="0" dirty="0">
                <a:solidFill>
                  <a:schemeClr val="tx1">
                    <a:lumMod val="50000"/>
                  </a:schemeClr>
                </a:solidFill>
                <a:latin typeface="Times New Roman" panose="02020603050405020304"/>
                <a:ea typeface="宋体" panose="02010600030101010101" pitchFamily="2" charset="-122"/>
              </a:rPr>
              <a:t>(</a:t>
            </a:r>
            <a:r>
              <a:rPr kumimoji="1" lang="en-US" altLang="zh-CN" sz="3200" b="1" i="1" kern="0" dirty="0">
                <a:solidFill>
                  <a:schemeClr val="tx1">
                    <a:lumMod val="50000"/>
                  </a:schemeClr>
                </a:solidFill>
                <a:latin typeface="Times New Roman" panose="02020603050405020304"/>
                <a:ea typeface="宋体" panose="02010600030101010101" pitchFamily="2" charset="-122"/>
              </a:rPr>
              <a:t>n</a:t>
            </a:r>
            <a:r>
              <a:rPr kumimoji="1" lang="en-US" altLang="zh-CN" sz="3200" b="1" kern="0" dirty="0">
                <a:solidFill>
                  <a:schemeClr val="tx1">
                    <a:lumMod val="50000"/>
                  </a:schemeClr>
                </a:solidFill>
                <a:latin typeface="Times New Roman" panose="02020603050405020304"/>
                <a:ea typeface="宋体" panose="02010600030101010101" pitchFamily="2" charset="-122"/>
              </a:rPr>
              <a:t>)</a:t>
            </a:r>
            <a:r>
              <a:rPr kumimoji="1" lang="zh-CN" altLang="en-US" sz="3200" b="1" kern="0" dirty="0">
                <a:solidFill>
                  <a:schemeClr val="tx1">
                    <a:lumMod val="50000"/>
                  </a:schemeClr>
                </a:solidFill>
                <a:latin typeface="Times New Roman" panose="02020603050405020304"/>
                <a:ea typeface="宋体" panose="02010600030101010101" pitchFamily="2" charset="-122"/>
              </a:rPr>
              <a:t>，则</a:t>
            </a:r>
            <a:r>
              <a:rPr kumimoji="1" lang="zh-CN" altLang="en-US" sz="3200" b="1" kern="0" dirty="0">
                <a:solidFill>
                  <a:srgbClr val="FF0000"/>
                </a:solidFill>
                <a:latin typeface="Times New Roman" panose="02020603050405020304"/>
                <a:ea typeface="宋体" panose="02010600030101010101" pitchFamily="2" charset="-122"/>
              </a:rPr>
              <a:t>回溯法的空间复杂度通常为</a:t>
            </a:r>
            <a:r>
              <a:rPr kumimoji="1" lang="en-US" altLang="zh-CN" sz="3200" b="1" kern="0" dirty="0">
                <a:solidFill>
                  <a:srgbClr val="FF0000"/>
                </a:solidFill>
                <a:latin typeface="Times New Roman" panose="02020603050405020304"/>
                <a:ea typeface="宋体" panose="02010600030101010101" pitchFamily="2" charset="-122"/>
              </a:rPr>
              <a:t>O(</a:t>
            </a:r>
            <a:r>
              <a:rPr kumimoji="1" lang="en-US" altLang="zh-CN" sz="3200" b="1" i="1" kern="0" dirty="0">
                <a:solidFill>
                  <a:srgbClr val="FF0000"/>
                </a:solidFill>
                <a:latin typeface="Times New Roman" panose="02020603050405020304"/>
                <a:ea typeface="宋体" panose="02010600030101010101" pitchFamily="2" charset="-122"/>
              </a:rPr>
              <a:t>h</a:t>
            </a:r>
            <a:r>
              <a:rPr kumimoji="1" lang="en-US" altLang="zh-CN" sz="3200" b="1" kern="0" dirty="0">
                <a:solidFill>
                  <a:srgbClr val="FF0000"/>
                </a:solidFill>
                <a:latin typeface="Times New Roman" panose="02020603050405020304"/>
                <a:ea typeface="宋体" panose="02010600030101010101" pitchFamily="2" charset="-122"/>
              </a:rPr>
              <a:t>(</a:t>
            </a:r>
            <a:r>
              <a:rPr kumimoji="1" lang="en-US" altLang="zh-CN" sz="3200" b="1" i="1" kern="0" dirty="0">
                <a:solidFill>
                  <a:srgbClr val="FF0000"/>
                </a:solidFill>
                <a:latin typeface="Times New Roman" panose="02020603050405020304"/>
                <a:ea typeface="宋体" panose="02010600030101010101" pitchFamily="2" charset="-122"/>
              </a:rPr>
              <a:t>n</a:t>
            </a:r>
            <a:r>
              <a:rPr kumimoji="1" lang="en-US" altLang="zh-CN" sz="3200" b="1" kern="0" dirty="0">
                <a:solidFill>
                  <a:srgbClr val="FF0000"/>
                </a:solidFill>
                <a:latin typeface="Times New Roman" panose="02020603050405020304"/>
                <a:ea typeface="宋体" panose="02010600030101010101" pitchFamily="2" charset="-122"/>
              </a:rPr>
              <a:t>))</a:t>
            </a:r>
            <a:r>
              <a:rPr kumimoji="1" lang="en-US" altLang="zh-CN" sz="3200" b="1" kern="0" dirty="0">
                <a:solidFill>
                  <a:schemeClr val="tx1">
                    <a:lumMod val="50000"/>
                  </a:schemeClr>
                </a:solidFill>
                <a:latin typeface="Times New Roman" panose="02020603050405020304"/>
                <a:ea typeface="宋体" panose="02010600030101010101" pitchFamily="2" charset="-122"/>
              </a:rPr>
              <a:t>. </a:t>
            </a:r>
            <a:r>
              <a:rPr kumimoji="1" lang="zh-CN" altLang="en-US" sz="3200" b="1" kern="0" dirty="0">
                <a:solidFill>
                  <a:schemeClr val="tx1">
                    <a:lumMod val="50000"/>
                  </a:schemeClr>
                </a:solidFill>
                <a:latin typeface="Times New Roman" panose="02020603050405020304"/>
                <a:ea typeface="宋体" panose="02010600030101010101" pitchFamily="2" charset="-122"/>
              </a:rPr>
              <a:t>显示存储整个解空间则需要</a:t>
            </a:r>
            <a:r>
              <a:rPr kumimoji="1" lang="en-US" altLang="zh-CN" sz="3200" b="1" kern="0" dirty="0">
                <a:solidFill>
                  <a:srgbClr val="FF0000"/>
                </a:solidFill>
                <a:latin typeface="Times New Roman" panose="02020603050405020304"/>
                <a:ea typeface="宋体" panose="02010600030101010101" pitchFamily="2" charset="-122"/>
              </a:rPr>
              <a:t>O(</a:t>
            </a:r>
            <a:r>
              <a:rPr kumimoji="1" lang="en-US" altLang="zh-CN" sz="3200" b="1" i="1" kern="0" dirty="0" err="1">
                <a:solidFill>
                  <a:srgbClr val="FF0000"/>
                </a:solidFill>
                <a:latin typeface="Times New Roman" panose="02020603050405020304"/>
                <a:ea typeface="宋体" panose="02010600030101010101" pitchFamily="2" charset="-122"/>
              </a:rPr>
              <a:t>m</a:t>
            </a:r>
            <a:r>
              <a:rPr kumimoji="1" lang="en-US" altLang="zh-CN" sz="3200" b="1" i="1" kern="0" baseline="30000" dirty="0" err="1">
                <a:solidFill>
                  <a:srgbClr val="FF0000"/>
                </a:solidFill>
                <a:latin typeface="Times New Roman" panose="02020603050405020304"/>
                <a:ea typeface="宋体" panose="02010600030101010101" pitchFamily="2" charset="-122"/>
              </a:rPr>
              <a:t>h</a:t>
            </a:r>
            <a:r>
              <a:rPr kumimoji="1" lang="en-US" altLang="zh-CN" sz="3200" b="1" kern="0" baseline="30000" dirty="0">
                <a:solidFill>
                  <a:srgbClr val="FF0000"/>
                </a:solidFill>
                <a:latin typeface="Times New Roman" panose="02020603050405020304"/>
                <a:ea typeface="宋体" panose="02010600030101010101" pitchFamily="2" charset="-122"/>
              </a:rPr>
              <a:t>(</a:t>
            </a:r>
            <a:r>
              <a:rPr kumimoji="1" lang="en-US" altLang="zh-CN" sz="3200" b="1" i="1" kern="0" baseline="30000" dirty="0">
                <a:solidFill>
                  <a:srgbClr val="FF0000"/>
                </a:solidFill>
                <a:latin typeface="Times New Roman" panose="02020603050405020304"/>
                <a:ea typeface="宋体" panose="02010600030101010101" pitchFamily="2" charset="-122"/>
              </a:rPr>
              <a:t>n</a:t>
            </a:r>
            <a:r>
              <a:rPr kumimoji="1" lang="en-US" altLang="zh-CN" sz="3200" b="1" kern="0" baseline="30000" dirty="0">
                <a:solidFill>
                  <a:srgbClr val="FF0000"/>
                </a:solidFill>
                <a:latin typeface="Times New Roman" panose="02020603050405020304"/>
                <a:ea typeface="宋体" panose="02010600030101010101" pitchFamily="2" charset="-122"/>
              </a:rPr>
              <a:t>)</a:t>
            </a:r>
            <a:r>
              <a:rPr kumimoji="1" lang="en-US" altLang="zh-CN" sz="3200" b="1" kern="0" dirty="0">
                <a:solidFill>
                  <a:srgbClr val="FF0000"/>
                </a:solidFill>
                <a:latin typeface="Times New Roman" panose="02020603050405020304"/>
                <a:ea typeface="宋体" panose="02010600030101010101" pitchFamily="2" charset="-122"/>
              </a:rPr>
              <a:t>)</a:t>
            </a:r>
            <a:r>
              <a:rPr kumimoji="1" lang="zh-CN" altLang="en-US" sz="3200" b="1" kern="0" dirty="0">
                <a:solidFill>
                  <a:srgbClr val="FF0000"/>
                </a:solidFill>
                <a:latin typeface="Times New Roman" panose="02020603050405020304"/>
                <a:ea typeface="宋体" panose="02010600030101010101" pitchFamily="2" charset="-122"/>
              </a:rPr>
              <a:t>或者</a:t>
            </a:r>
            <a:r>
              <a:rPr kumimoji="1" lang="en-US" altLang="zh-CN" sz="3200" b="1" kern="0" dirty="0">
                <a:solidFill>
                  <a:srgbClr val="FF0000"/>
                </a:solidFill>
                <a:latin typeface="Times New Roman" panose="02020603050405020304"/>
                <a:ea typeface="宋体" panose="02010600030101010101" pitchFamily="2" charset="-122"/>
              </a:rPr>
              <a:t>O(</a:t>
            </a:r>
            <a:r>
              <a:rPr kumimoji="1" lang="en-US" altLang="zh-CN" sz="3200" b="1" i="1" kern="0" dirty="0">
                <a:solidFill>
                  <a:srgbClr val="FF0000"/>
                </a:solidFill>
                <a:latin typeface="Times New Roman" panose="02020603050405020304"/>
                <a:ea typeface="宋体" panose="02010600030101010101" pitchFamily="2" charset="-122"/>
              </a:rPr>
              <a:t>h</a:t>
            </a:r>
            <a:r>
              <a:rPr kumimoji="1" lang="en-US" altLang="zh-CN" sz="3200" b="1" kern="0" dirty="0">
                <a:solidFill>
                  <a:srgbClr val="FF0000"/>
                </a:solidFill>
                <a:latin typeface="Times New Roman" panose="02020603050405020304"/>
                <a:ea typeface="宋体" panose="02010600030101010101" pitchFamily="2" charset="-122"/>
              </a:rPr>
              <a:t>(</a:t>
            </a:r>
            <a:r>
              <a:rPr kumimoji="1" lang="en-US" altLang="zh-CN" sz="3200" b="1" i="1" kern="0" dirty="0">
                <a:solidFill>
                  <a:srgbClr val="FF0000"/>
                </a:solidFill>
                <a:latin typeface="Times New Roman" panose="02020603050405020304"/>
                <a:ea typeface="宋体" panose="02010600030101010101" pitchFamily="2" charset="-122"/>
              </a:rPr>
              <a:t>n</a:t>
            </a:r>
            <a:r>
              <a:rPr kumimoji="1" lang="en-US" altLang="zh-CN" sz="3200" b="1" kern="0" dirty="0">
                <a:solidFill>
                  <a:srgbClr val="FF0000"/>
                </a:solidFill>
                <a:latin typeface="Times New Roman" panose="02020603050405020304"/>
                <a:ea typeface="宋体" panose="02010600030101010101" pitchFamily="2" charset="-122"/>
              </a:rPr>
              <a:t>)</a:t>
            </a:r>
            <a:r>
              <a:rPr kumimoji="1" lang="zh-CN" altLang="en-US" sz="3200" b="1" kern="0" dirty="0">
                <a:solidFill>
                  <a:srgbClr val="FF0000"/>
                </a:solidFill>
                <a:latin typeface="Times New Roman" panose="02020603050405020304"/>
                <a:ea typeface="宋体" panose="02010600030101010101" pitchFamily="2" charset="-122"/>
              </a:rPr>
              <a:t>！</a:t>
            </a:r>
            <a:r>
              <a:rPr kumimoji="1" lang="en-US" altLang="zh-CN" sz="3200" b="1" kern="0" dirty="0">
                <a:solidFill>
                  <a:srgbClr val="FF0000"/>
                </a:solidFill>
                <a:latin typeface="Times New Roman" panose="02020603050405020304"/>
                <a:ea typeface="宋体" panose="02010600030101010101" pitchFamily="2" charset="-122"/>
              </a:rPr>
              <a:t>)</a:t>
            </a:r>
            <a:r>
              <a:rPr kumimoji="1" lang="zh-CN" altLang="en-US" sz="3200" b="1" kern="0" dirty="0">
                <a:solidFill>
                  <a:srgbClr val="FF0000"/>
                </a:solidFill>
                <a:latin typeface="Times New Roman" panose="02020603050405020304"/>
                <a:ea typeface="宋体" panose="02010600030101010101" pitchFamily="2" charset="-122"/>
              </a:rPr>
              <a:t>。</a:t>
            </a:r>
            <a:endParaRPr kumimoji="1" lang="en-US" altLang="zh-CN" sz="3200" b="1" kern="0" dirty="0">
              <a:solidFill>
                <a:schemeClr val="tx1">
                  <a:lumMod val="50000"/>
                </a:schemeClr>
              </a:solidFill>
              <a:latin typeface="Times New Roman" panose="02020603050405020304"/>
              <a:ea typeface="宋体" panose="02010600030101010101" pitchFamily="2" charset="-122"/>
            </a:endParaRPr>
          </a:p>
        </p:txBody>
      </p:sp>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2"/>
          <p:cNvSpPr>
            <a:spLocks noChangeArrowheads="1"/>
          </p:cNvSpPr>
          <p:nvPr/>
        </p:nvSpPr>
        <p:spPr bwMode="auto">
          <a:xfrm>
            <a:off x="4044950" y="419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目录</a:t>
            </a:r>
          </a:p>
        </p:txBody>
      </p:sp>
      <p:graphicFrame>
        <p:nvGraphicFramePr>
          <p:cNvPr id="7" name="图示 6"/>
          <p:cNvGraphicFramePr/>
          <p:nvPr/>
        </p:nvGraphicFramePr>
        <p:xfrm>
          <a:off x="1552575" y="1549400"/>
          <a:ext cx="6096000" cy="4660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皇后问题</a:t>
            </a:r>
          </a:p>
        </p:txBody>
      </p:sp>
      <p:sp>
        <p:nvSpPr>
          <p:cNvPr id="39" name="内容占位符 2"/>
          <p:cNvSpPr>
            <a:spLocks noGrp="1"/>
          </p:cNvSpPr>
          <p:nvPr>
            <p:ph idx="1"/>
          </p:nvPr>
        </p:nvSpPr>
        <p:spPr>
          <a:xfrm>
            <a:off x="538163" y="1295400"/>
            <a:ext cx="8178800" cy="4457700"/>
          </a:xfrm>
        </p:spPr>
        <p:txBody>
          <a:bodyPr/>
          <a:lstStyle/>
          <a:p>
            <a:pPr marL="0" indent="0" defTabSz="914400" eaLnBrk="1" fontAlgn="auto" hangingPunct="1">
              <a:lnSpc>
                <a:spcPct val="100000"/>
              </a:lnSpc>
              <a:spcBef>
                <a:spcPts val="0"/>
              </a:spcBef>
              <a:spcAft>
                <a:spcPts val="0"/>
              </a:spcAft>
              <a:buClrTx/>
              <a:buSzTx/>
              <a:buFontTx/>
              <a:buNone/>
              <a:defRPr/>
            </a:pPr>
            <a:r>
              <a:rPr lang="en-US" altLang="zh-CN" sz="3200" b="1" kern="0" dirty="0" smtClean="0">
                <a:solidFill>
                  <a:sysClr val="windowText" lastClr="000000"/>
                </a:solidFill>
                <a:latin typeface="华文楷体" panose="02010600040101010101" pitchFamily="2" charset="-122"/>
                <a:ea typeface="华文楷体" panose="02010600040101010101" pitchFamily="2" charset="-122"/>
              </a:rPr>
              <a:t>N</a:t>
            </a:r>
            <a:r>
              <a:rPr lang="zh-CN" altLang="en-US" sz="3200" b="1" kern="0" dirty="0" smtClean="0">
                <a:solidFill>
                  <a:sysClr val="windowText" lastClr="000000"/>
                </a:solidFill>
                <a:latin typeface="华文楷体" panose="02010600040101010101" pitchFamily="2" charset="-122"/>
                <a:ea typeface="华文楷体" panose="02010600040101010101" pitchFamily="2" charset="-122"/>
              </a:rPr>
              <a:t>皇后问题</a:t>
            </a:r>
          </a:p>
        </p:txBody>
      </p:sp>
      <p:grpSp>
        <p:nvGrpSpPr>
          <p:cNvPr id="27652" name="Group 5"/>
          <p:cNvGrpSpPr/>
          <p:nvPr/>
        </p:nvGrpSpPr>
        <p:grpSpPr bwMode="auto">
          <a:xfrm>
            <a:off x="1905000" y="3021013"/>
            <a:ext cx="4549775" cy="3859212"/>
            <a:chOff x="1247" y="1570"/>
            <a:chExt cx="2886" cy="2535"/>
          </a:xfrm>
        </p:grpSpPr>
        <p:sp>
          <p:nvSpPr>
            <p:cNvPr id="27654" name="Rectangle 6"/>
            <p:cNvSpPr>
              <a:spLocks noChangeArrowheads="1"/>
            </p:cNvSpPr>
            <p:nvPr/>
          </p:nvSpPr>
          <p:spPr bwMode="auto">
            <a:xfrm>
              <a:off x="1582" y="1574"/>
              <a:ext cx="2544" cy="2208"/>
            </a:xfrm>
            <a:prstGeom prst="rect">
              <a:avLst/>
            </a:prstGeom>
            <a:solidFill>
              <a:srgbClr val="99CCFF"/>
            </a:solidFill>
            <a:ln w="19050">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655" name="Line 7"/>
            <p:cNvSpPr>
              <a:spLocks noChangeShapeType="1"/>
            </p:cNvSpPr>
            <p:nvPr/>
          </p:nvSpPr>
          <p:spPr bwMode="auto">
            <a:xfrm flipV="1">
              <a:off x="1581" y="2710"/>
              <a:ext cx="2544" cy="0"/>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56" name="Line 8"/>
            <p:cNvSpPr>
              <a:spLocks noChangeShapeType="1"/>
            </p:cNvSpPr>
            <p:nvPr/>
          </p:nvSpPr>
          <p:spPr bwMode="auto">
            <a:xfrm>
              <a:off x="2853" y="1578"/>
              <a:ext cx="0" cy="2208"/>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57" name="Line 9"/>
            <p:cNvSpPr>
              <a:spLocks noChangeShapeType="1"/>
            </p:cNvSpPr>
            <p:nvPr/>
          </p:nvSpPr>
          <p:spPr bwMode="auto">
            <a:xfrm flipV="1">
              <a:off x="1586" y="2998"/>
              <a:ext cx="2544" cy="0"/>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58" name="Line 10"/>
            <p:cNvSpPr>
              <a:spLocks noChangeShapeType="1"/>
            </p:cNvSpPr>
            <p:nvPr/>
          </p:nvSpPr>
          <p:spPr bwMode="auto">
            <a:xfrm flipV="1">
              <a:off x="1584" y="3260"/>
              <a:ext cx="2544" cy="0"/>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59" name="Line 11"/>
            <p:cNvSpPr>
              <a:spLocks noChangeShapeType="1"/>
            </p:cNvSpPr>
            <p:nvPr/>
          </p:nvSpPr>
          <p:spPr bwMode="auto">
            <a:xfrm flipV="1">
              <a:off x="1586" y="3523"/>
              <a:ext cx="2544" cy="0"/>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0" name="Line 12"/>
            <p:cNvSpPr>
              <a:spLocks noChangeShapeType="1"/>
            </p:cNvSpPr>
            <p:nvPr/>
          </p:nvSpPr>
          <p:spPr bwMode="auto">
            <a:xfrm flipV="1">
              <a:off x="1585" y="2450"/>
              <a:ext cx="2544" cy="0"/>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1" name="Line 13"/>
            <p:cNvSpPr>
              <a:spLocks noChangeShapeType="1"/>
            </p:cNvSpPr>
            <p:nvPr/>
          </p:nvSpPr>
          <p:spPr bwMode="auto">
            <a:xfrm flipV="1">
              <a:off x="1589" y="1894"/>
              <a:ext cx="2544" cy="0"/>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2" name="Line 14"/>
            <p:cNvSpPr>
              <a:spLocks noChangeShapeType="1"/>
            </p:cNvSpPr>
            <p:nvPr/>
          </p:nvSpPr>
          <p:spPr bwMode="auto">
            <a:xfrm flipV="1">
              <a:off x="1589" y="2182"/>
              <a:ext cx="2544" cy="0"/>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3" name="Line 15"/>
            <p:cNvSpPr>
              <a:spLocks noChangeShapeType="1"/>
            </p:cNvSpPr>
            <p:nvPr/>
          </p:nvSpPr>
          <p:spPr bwMode="auto">
            <a:xfrm>
              <a:off x="1883" y="1570"/>
              <a:ext cx="0" cy="2208"/>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4" name="Line 16"/>
            <p:cNvSpPr>
              <a:spLocks noChangeShapeType="1"/>
            </p:cNvSpPr>
            <p:nvPr/>
          </p:nvSpPr>
          <p:spPr bwMode="auto">
            <a:xfrm>
              <a:off x="2531" y="1573"/>
              <a:ext cx="0" cy="2208"/>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5" name="Line 17"/>
            <p:cNvSpPr>
              <a:spLocks noChangeShapeType="1"/>
            </p:cNvSpPr>
            <p:nvPr/>
          </p:nvSpPr>
          <p:spPr bwMode="auto">
            <a:xfrm>
              <a:off x="2221" y="1573"/>
              <a:ext cx="0" cy="2208"/>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6" name="Line 18"/>
            <p:cNvSpPr>
              <a:spLocks noChangeShapeType="1"/>
            </p:cNvSpPr>
            <p:nvPr/>
          </p:nvSpPr>
          <p:spPr bwMode="auto">
            <a:xfrm>
              <a:off x="3149" y="1576"/>
              <a:ext cx="0" cy="2208"/>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7" name="Line 19"/>
            <p:cNvSpPr>
              <a:spLocks noChangeShapeType="1"/>
            </p:cNvSpPr>
            <p:nvPr/>
          </p:nvSpPr>
          <p:spPr bwMode="auto">
            <a:xfrm>
              <a:off x="3797" y="1575"/>
              <a:ext cx="0" cy="2208"/>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8" name="Line 20"/>
            <p:cNvSpPr>
              <a:spLocks noChangeShapeType="1"/>
            </p:cNvSpPr>
            <p:nvPr/>
          </p:nvSpPr>
          <p:spPr bwMode="auto">
            <a:xfrm>
              <a:off x="3472" y="1575"/>
              <a:ext cx="0" cy="2208"/>
            </a:xfrm>
            <a:prstGeom prst="line">
              <a:avLst/>
            </a:prstGeom>
            <a:noFill/>
            <a:ln w="19050">
              <a:solidFill>
                <a:srgbClr val="000066"/>
              </a:solidFill>
              <a:round/>
            </a:ln>
            <a:extLst>
              <a:ext uri="{909E8E84-426E-40DD-AFC4-6F175D3DCCD1}">
                <a14:hiddenFill xmlns:a14="http://schemas.microsoft.com/office/drawing/2010/main">
                  <a:noFill/>
                </a14:hiddenFill>
              </a:ext>
            </a:extLst>
          </p:spPr>
          <p:txBody>
            <a:bodyPr wrap="none"/>
            <a:lstStyle/>
            <a:p>
              <a:endParaRPr lang="zh-CN" altLang="en-US" b="1"/>
            </a:p>
          </p:txBody>
        </p:sp>
        <p:sp>
          <p:nvSpPr>
            <p:cNvPr id="27669" name="Text Box 21"/>
            <p:cNvSpPr txBox="1">
              <a:spLocks noChangeArrowheads="1"/>
            </p:cNvSpPr>
            <p:nvPr/>
          </p:nvSpPr>
          <p:spPr bwMode="auto">
            <a:xfrm>
              <a:off x="1556" y="3802"/>
              <a:ext cx="2557"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ja-JP" altLang="en-US" sz="2400" b="1">
                  <a:solidFill>
                    <a:srgbClr val="000066"/>
                  </a:solidFill>
                  <a:latin typeface="Times New Roman" panose="02020603050405020304" pitchFamily="18" charset="0"/>
                  <a:cs typeface="Times New Roman" panose="02020603050405020304" pitchFamily="18" charset="0"/>
                </a:rPr>
                <a:t>  1     2     3    4    5     6     7    8</a:t>
              </a:r>
            </a:p>
          </p:txBody>
        </p:sp>
        <p:sp>
          <p:nvSpPr>
            <p:cNvPr id="27670" name="Text Box 22"/>
            <p:cNvSpPr txBox="1">
              <a:spLocks noChangeArrowheads="1"/>
            </p:cNvSpPr>
            <p:nvPr/>
          </p:nvSpPr>
          <p:spPr bwMode="auto">
            <a:xfrm>
              <a:off x="1267" y="1574"/>
              <a:ext cx="21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ja-JP" altLang="en-US" sz="2400" b="1">
                  <a:solidFill>
                    <a:srgbClr val="000066"/>
                  </a:solidFill>
                  <a:latin typeface="Times New Roman" panose="02020603050405020304" pitchFamily="18" charset="0"/>
                  <a:cs typeface="Times New Roman" panose="02020603050405020304" pitchFamily="18" charset="0"/>
                </a:rPr>
                <a:t>1</a:t>
              </a:r>
            </a:p>
          </p:txBody>
        </p:sp>
        <p:sp>
          <p:nvSpPr>
            <p:cNvPr id="27671" name="Text Box 23"/>
            <p:cNvSpPr txBox="1">
              <a:spLocks noChangeArrowheads="1"/>
            </p:cNvSpPr>
            <p:nvPr/>
          </p:nvSpPr>
          <p:spPr bwMode="auto">
            <a:xfrm>
              <a:off x="1267" y="1874"/>
              <a:ext cx="21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ja-JP" altLang="en-US" sz="2400" b="1">
                  <a:solidFill>
                    <a:srgbClr val="000066"/>
                  </a:solidFill>
                  <a:latin typeface="Times New Roman" panose="02020603050405020304" pitchFamily="18" charset="0"/>
                  <a:cs typeface="Times New Roman" panose="02020603050405020304" pitchFamily="18" charset="0"/>
                </a:rPr>
                <a:t>2</a:t>
              </a:r>
            </a:p>
          </p:txBody>
        </p:sp>
        <p:sp>
          <p:nvSpPr>
            <p:cNvPr id="27672" name="Text Box 24"/>
            <p:cNvSpPr txBox="1">
              <a:spLocks noChangeArrowheads="1"/>
            </p:cNvSpPr>
            <p:nvPr/>
          </p:nvSpPr>
          <p:spPr bwMode="auto">
            <a:xfrm>
              <a:off x="1263" y="2158"/>
              <a:ext cx="21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ja-JP" altLang="en-US" sz="2400" b="1">
                  <a:solidFill>
                    <a:srgbClr val="000066"/>
                  </a:solidFill>
                  <a:latin typeface="Times New Roman" panose="02020603050405020304" pitchFamily="18" charset="0"/>
                  <a:cs typeface="Times New Roman" panose="02020603050405020304" pitchFamily="18" charset="0"/>
                </a:rPr>
                <a:t>3</a:t>
              </a:r>
            </a:p>
          </p:txBody>
        </p:sp>
        <p:sp>
          <p:nvSpPr>
            <p:cNvPr id="27673" name="Text Box 25"/>
            <p:cNvSpPr txBox="1">
              <a:spLocks noChangeArrowheads="1"/>
            </p:cNvSpPr>
            <p:nvPr/>
          </p:nvSpPr>
          <p:spPr bwMode="auto">
            <a:xfrm>
              <a:off x="1255" y="2434"/>
              <a:ext cx="21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ja-JP" altLang="en-US" sz="2400" b="1">
                  <a:solidFill>
                    <a:srgbClr val="000066"/>
                  </a:solidFill>
                  <a:latin typeface="Times New Roman" panose="02020603050405020304" pitchFamily="18" charset="0"/>
                  <a:cs typeface="Times New Roman" panose="02020603050405020304" pitchFamily="18" charset="0"/>
                </a:rPr>
                <a:t>4</a:t>
              </a:r>
            </a:p>
          </p:txBody>
        </p:sp>
        <p:sp>
          <p:nvSpPr>
            <p:cNvPr id="27674" name="Text Box 26"/>
            <p:cNvSpPr txBox="1">
              <a:spLocks noChangeArrowheads="1"/>
            </p:cNvSpPr>
            <p:nvPr/>
          </p:nvSpPr>
          <p:spPr bwMode="auto">
            <a:xfrm>
              <a:off x="1251" y="2694"/>
              <a:ext cx="21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ja-JP" altLang="en-US" sz="2400" b="1">
                  <a:solidFill>
                    <a:srgbClr val="000066"/>
                  </a:solidFill>
                  <a:latin typeface="Times New Roman" panose="02020603050405020304" pitchFamily="18" charset="0"/>
                  <a:cs typeface="Times New Roman" panose="02020603050405020304" pitchFamily="18" charset="0"/>
                </a:rPr>
                <a:t>5</a:t>
              </a:r>
            </a:p>
          </p:txBody>
        </p:sp>
        <p:sp>
          <p:nvSpPr>
            <p:cNvPr id="27675" name="Text Box 27"/>
            <p:cNvSpPr txBox="1">
              <a:spLocks noChangeArrowheads="1"/>
            </p:cNvSpPr>
            <p:nvPr/>
          </p:nvSpPr>
          <p:spPr bwMode="auto">
            <a:xfrm>
              <a:off x="1251" y="2998"/>
              <a:ext cx="21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ja-JP" altLang="en-US" sz="2400" b="1">
                  <a:solidFill>
                    <a:srgbClr val="000066"/>
                  </a:solidFill>
                  <a:latin typeface="Times New Roman" panose="02020603050405020304" pitchFamily="18" charset="0"/>
                  <a:cs typeface="Times New Roman" panose="02020603050405020304" pitchFamily="18" charset="0"/>
                </a:rPr>
                <a:t>6</a:t>
              </a:r>
            </a:p>
          </p:txBody>
        </p:sp>
        <p:sp>
          <p:nvSpPr>
            <p:cNvPr id="27676" name="Text Box 28"/>
            <p:cNvSpPr txBox="1">
              <a:spLocks noChangeArrowheads="1"/>
            </p:cNvSpPr>
            <p:nvPr/>
          </p:nvSpPr>
          <p:spPr bwMode="auto">
            <a:xfrm>
              <a:off x="1247" y="3238"/>
              <a:ext cx="21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ja-JP" altLang="en-US" sz="2400" b="1">
                  <a:solidFill>
                    <a:srgbClr val="000066"/>
                  </a:solidFill>
                  <a:latin typeface="Times New Roman" panose="02020603050405020304" pitchFamily="18" charset="0"/>
                  <a:cs typeface="Times New Roman" panose="02020603050405020304" pitchFamily="18" charset="0"/>
                </a:rPr>
                <a:t>7</a:t>
              </a:r>
            </a:p>
          </p:txBody>
        </p:sp>
        <p:sp>
          <p:nvSpPr>
            <p:cNvPr id="27677" name="Text Box 29"/>
            <p:cNvSpPr txBox="1">
              <a:spLocks noChangeArrowheads="1"/>
            </p:cNvSpPr>
            <p:nvPr/>
          </p:nvSpPr>
          <p:spPr bwMode="auto">
            <a:xfrm>
              <a:off x="1247" y="3498"/>
              <a:ext cx="21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ja-JP" altLang="en-US" sz="2400" b="1">
                  <a:solidFill>
                    <a:srgbClr val="000066"/>
                  </a:solidFill>
                  <a:latin typeface="Times New Roman" panose="02020603050405020304" pitchFamily="18" charset="0"/>
                  <a:cs typeface="Times New Roman" panose="02020603050405020304" pitchFamily="18" charset="0"/>
                </a:rPr>
                <a:t>8</a:t>
              </a:r>
            </a:p>
          </p:txBody>
        </p:sp>
        <p:sp>
          <p:nvSpPr>
            <p:cNvPr id="27678" name="Text Box 30"/>
            <p:cNvSpPr txBox="1">
              <a:spLocks noChangeArrowheads="1"/>
            </p:cNvSpPr>
            <p:nvPr/>
          </p:nvSpPr>
          <p:spPr bwMode="auto">
            <a:xfrm>
              <a:off x="3171" y="1894"/>
              <a:ext cx="26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ja-JP" sz="2400" b="1">
                  <a:solidFill>
                    <a:srgbClr val="000066"/>
                  </a:solidFill>
                  <a:latin typeface="Times New Roman" panose="02020603050405020304" pitchFamily="18" charset="0"/>
                  <a:cs typeface="Times New Roman" panose="02020603050405020304" pitchFamily="18" charset="0"/>
                </a:rPr>
                <a:t>Q</a:t>
              </a:r>
            </a:p>
          </p:txBody>
        </p:sp>
        <p:sp>
          <p:nvSpPr>
            <p:cNvPr id="27679" name="Text Box 31"/>
            <p:cNvSpPr txBox="1">
              <a:spLocks noChangeArrowheads="1"/>
            </p:cNvSpPr>
            <p:nvPr/>
          </p:nvSpPr>
          <p:spPr bwMode="auto">
            <a:xfrm>
              <a:off x="3819" y="2174"/>
              <a:ext cx="26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ja-JP" sz="2400" b="1">
                  <a:solidFill>
                    <a:srgbClr val="000066"/>
                  </a:solidFill>
                  <a:latin typeface="Times New Roman" panose="02020603050405020304" pitchFamily="18" charset="0"/>
                  <a:cs typeface="Times New Roman" panose="02020603050405020304" pitchFamily="18" charset="0"/>
                </a:rPr>
                <a:t>Q</a:t>
              </a:r>
            </a:p>
          </p:txBody>
        </p:sp>
        <p:sp>
          <p:nvSpPr>
            <p:cNvPr id="27680" name="Text Box 32"/>
            <p:cNvSpPr txBox="1">
              <a:spLocks noChangeArrowheads="1"/>
            </p:cNvSpPr>
            <p:nvPr/>
          </p:nvSpPr>
          <p:spPr bwMode="auto">
            <a:xfrm>
              <a:off x="1923" y="2434"/>
              <a:ext cx="26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ja-JP" sz="2400" b="1">
                  <a:solidFill>
                    <a:srgbClr val="000066"/>
                  </a:solidFill>
                  <a:latin typeface="Times New Roman" panose="02020603050405020304" pitchFamily="18" charset="0"/>
                  <a:cs typeface="Times New Roman" panose="02020603050405020304" pitchFamily="18" charset="0"/>
                </a:rPr>
                <a:t>Q</a:t>
              </a:r>
            </a:p>
          </p:txBody>
        </p:sp>
        <p:sp>
          <p:nvSpPr>
            <p:cNvPr id="27681" name="Text Box 33"/>
            <p:cNvSpPr txBox="1">
              <a:spLocks noChangeArrowheads="1"/>
            </p:cNvSpPr>
            <p:nvPr/>
          </p:nvSpPr>
          <p:spPr bwMode="auto">
            <a:xfrm>
              <a:off x="3499" y="2714"/>
              <a:ext cx="26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ja-JP" sz="2400" b="1">
                  <a:solidFill>
                    <a:srgbClr val="000066"/>
                  </a:solidFill>
                  <a:latin typeface="Times New Roman" panose="02020603050405020304" pitchFamily="18" charset="0"/>
                  <a:cs typeface="Times New Roman" panose="02020603050405020304" pitchFamily="18" charset="0"/>
                </a:rPr>
                <a:t>Q</a:t>
              </a:r>
            </a:p>
          </p:txBody>
        </p:sp>
        <p:sp>
          <p:nvSpPr>
            <p:cNvPr id="27682" name="Text Box 34"/>
            <p:cNvSpPr txBox="1">
              <a:spLocks noChangeArrowheads="1"/>
            </p:cNvSpPr>
            <p:nvPr/>
          </p:nvSpPr>
          <p:spPr bwMode="auto">
            <a:xfrm>
              <a:off x="2243" y="3242"/>
              <a:ext cx="26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ja-JP" sz="2400" b="1">
                  <a:solidFill>
                    <a:srgbClr val="000066"/>
                  </a:solidFill>
                  <a:latin typeface="Times New Roman" panose="02020603050405020304" pitchFamily="18" charset="0"/>
                  <a:cs typeface="Times New Roman" panose="02020603050405020304" pitchFamily="18" charset="0"/>
                </a:rPr>
                <a:t>Q</a:t>
              </a:r>
            </a:p>
          </p:txBody>
        </p:sp>
        <p:sp>
          <p:nvSpPr>
            <p:cNvPr id="27683" name="Text Box 35"/>
            <p:cNvSpPr txBox="1">
              <a:spLocks noChangeArrowheads="1"/>
            </p:cNvSpPr>
            <p:nvPr/>
          </p:nvSpPr>
          <p:spPr bwMode="auto">
            <a:xfrm>
              <a:off x="1599" y="2982"/>
              <a:ext cx="26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ja-JP" sz="2400" b="1">
                  <a:solidFill>
                    <a:srgbClr val="000066"/>
                  </a:solidFill>
                  <a:latin typeface="Times New Roman" panose="02020603050405020304" pitchFamily="18" charset="0"/>
                  <a:cs typeface="Times New Roman" panose="02020603050405020304" pitchFamily="18" charset="0"/>
                </a:rPr>
                <a:t>Q</a:t>
              </a:r>
            </a:p>
          </p:txBody>
        </p:sp>
        <p:sp>
          <p:nvSpPr>
            <p:cNvPr id="27684" name="Text Box 36"/>
            <p:cNvSpPr txBox="1">
              <a:spLocks noChangeArrowheads="1"/>
            </p:cNvSpPr>
            <p:nvPr/>
          </p:nvSpPr>
          <p:spPr bwMode="auto">
            <a:xfrm>
              <a:off x="2867" y="3510"/>
              <a:ext cx="26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ja-JP" sz="2400" b="1">
                  <a:solidFill>
                    <a:srgbClr val="000066"/>
                  </a:solidFill>
                  <a:latin typeface="Times New Roman" panose="02020603050405020304" pitchFamily="18" charset="0"/>
                  <a:cs typeface="Times New Roman" panose="02020603050405020304" pitchFamily="18" charset="0"/>
                </a:rPr>
                <a:t>Q</a:t>
              </a:r>
            </a:p>
          </p:txBody>
        </p:sp>
        <p:sp>
          <p:nvSpPr>
            <p:cNvPr id="27685" name="Text Box 37"/>
            <p:cNvSpPr txBox="1">
              <a:spLocks noChangeArrowheads="1"/>
            </p:cNvSpPr>
            <p:nvPr/>
          </p:nvSpPr>
          <p:spPr bwMode="auto">
            <a:xfrm>
              <a:off x="2559" y="1598"/>
              <a:ext cx="26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ja-JP" sz="2400" b="1">
                  <a:solidFill>
                    <a:srgbClr val="000066"/>
                  </a:solidFill>
                  <a:latin typeface="Times New Roman" panose="02020603050405020304" pitchFamily="18" charset="0"/>
                  <a:cs typeface="Times New Roman" panose="02020603050405020304" pitchFamily="18" charset="0"/>
                </a:rPr>
                <a:t>Q</a:t>
              </a:r>
            </a:p>
          </p:txBody>
        </p:sp>
      </p:grpSp>
      <p:sp>
        <p:nvSpPr>
          <p:cNvPr id="73" name="Text Box 4"/>
          <p:cNvSpPr txBox="1">
            <a:spLocks noChangeArrowheads="1"/>
          </p:cNvSpPr>
          <p:nvPr/>
        </p:nvSpPr>
        <p:spPr bwMode="auto">
          <a:xfrm>
            <a:off x="579438" y="1924050"/>
            <a:ext cx="8099425" cy="914400"/>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zh-CN" altLang="en-US" sz="28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在</a:t>
            </a:r>
            <a:r>
              <a:rPr lang="en-US" altLang="zh-CN" sz="28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n×n</a:t>
            </a:r>
            <a:r>
              <a:rPr lang="zh-CN" altLang="en-US" sz="28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的棋盘中放置</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个皇后，使得任何两个皇后之间不能相互攻击，试给出</a:t>
            </a:r>
            <a:r>
              <a:rPr lang="zh-CN" altLang="en-US" sz="28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所有</a:t>
            </a:r>
            <a:r>
              <a:rPr lang="zh-CN" altLang="en-US" sz="2800" b="1" dirty="0">
                <a:solidFill>
                  <a:schemeClr val="tx1">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的放置方法。</a:t>
            </a:r>
          </a:p>
        </p:txBody>
      </p:sp>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皇后问题</a:t>
            </a:r>
          </a:p>
        </p:txBody>
      </p:sp>
      <p:sp>
        <p:nvSpPr>
          <p:cNvPr id="40" name="Text Box 4"/>
          <p:cNvSpPr txBox="1">
            <a:spLocks noChangeArrowheads="1"/>
          </p:cNvSpPr>
          <p:nvPr/>
        </p:nvSpPr>
        <p:spPr bwMode="auto">
          <a:xfrm>
            <a:off x="284163" y="1366838"/>
            <a:ext cx="8605837" cy="5227637"/>
          </a:xfrm>
          <a:prstGeom prst="rect">
            <a:avLst/>
          </a:prstGeom>
        </p:spPr>
        <p:style>
          <a:lnRef idx="2">
            <a:schemeClr val="dk1"/>
          </a:lnRef>
          <a:fillRef idx="1">
            <a:schemeClr val="lt1"/>
          </a:fillRef>
          <a:effectRef idx="0">
            <a:schemeClr val="dk1"/>
          </a:effectRef>
          <a:fontRef idx="minor">
            <a:schemeClr val="dk1"/>
          </a:fontRef>
        </p:style>
        <p:txBody>
          <a:bodyPr/>
          <a:lstStyle/>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）每一行有且只有一个皇后，</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设第</a:t>
            </a:r>
            <a:r>
              <a:rPr lang="en-US" altLang="zh-CN" sz="3200" b="1" i="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行的皇后所在的列为</a:t>
            </a:r>
            <a:r>
              <a:rPr lang="en-US" altLang="zh-CN" sz="32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，则问题解向量：</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）显约束：</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 2, … ,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）隐约束：</a:t>
            </a:r>
          </a:p>
          <a:p>
            <a:pPr>
              <a:lnSpc>
                <a:spcPct val="150000"/>
              </a:lnSpc>
              <a:buClr>
                <a:schemeClr val="accent2"/>
              </a:buClr>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）不同列：</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j</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lnSpc>
                <a:spcPct val="150000"/>
              </a:lnSpc>
              <a:buClr>
                <a:schemeClr val="accent2"/>
              </a:buClr>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）不处于同一正（</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i</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j</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j</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）、反对角线（</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i</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j</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j</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合并后得到</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en-US" altLang="zh-CN" sz="3200" b="1" i="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i</a:t>
            </a:r>
            <a:r>
              <a:rPr lang="en-US" altLang="zh-CN" sz="32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j</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en-US" altLang="zh-CN" sz="32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x</a:t>
            </a:r>
            <a:r>
              <a:rPr lang="en-US" altLang="zh-CN" sz="3200" b="1" i="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i </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3200" b="1" i="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x</a:t>
            </a:r>
            <a:r>
              <a:rPr lang="en-US" altLang="zh-CN" sz="3200" b="1" i="1" baseline="-250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j</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endPar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皇后问题</a:t>
            </a:r>
          </a:p>
        </p:txBody>
      </p:sp>
      <p:sp>
        <p:nvSpPr>
          <p:cNvPr id="40" name="Text Box 4"/>
          <p:cNvSpPr txBox="1">
            <a:spLocks noChangeArrowheads="1"/>
          </p:cNvSpPr>
          <p:nvPr/>
        </p:nvSpPr>
        <p:spPr bwMode="auto">
          <a:xfrm>
            <a:off x="314325" y="1076325"/>
            <a:ext cx="8605838" cy="3689350"/>
          </a:xfrm>
          <a:prstGeom prst="rect">
            <a:avLst/>
          </a:prstGeom>
        </p:spPr>
        <p:style>
          <a:lnRef idx="2">
            <a:schemeClr val="dk1"/>
          </a:lnRef>
          <a:fillRef idx="1">
            <a:schemeClr val="lt1"/>
          </a:fillRef>
          <a:effectRef idx="0">
            <a:schemeClr val="dk1"/>
          </a:effectRef>
          <a:fontRef idx="minor">
            <a:schemeClr val="dk1"/>
          </a:fontRef>
        </p:style>
        <p:txBody>
          <a:bodyPr/>
          <a:lstStyle/>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Queen1() {</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x[9];</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 x[1] = 1:8</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 x[2] = 1:8</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if(check(x, 2) = 0) continue;</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 x[3] = 1: 8</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if(check(x, 3) = 0) continue;</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 x[8] = 1: 8</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if(check(x, 8) = 0) continue;</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else print(x);}</a:t>
            </a:r>
            <a:endPar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Text Box 4"/>
          <p:cNvSpPr txBox="1">
            <a:spLocks noChangeArrowheads="1"/>
          </p:cNvSpPr>
          <p:nvPr/>
        </p:nvSpPr>
        <p:spPr bwMode="auto">
          <a:xfrm>
            <a:off x="334963" y="4830763"/>
            <a:ext cx="8605837" cy="1985962"/>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check(</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pos) {</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&lt; pos;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if(abs(x[</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x[pos]</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abs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or x[</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x[pos]</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0;</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1; }</a:t>
            </a:r>
            <a:endPar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圆角矩形标注 5"/>
          <p:cNvSpPr/>
          <p:nvPr/>
        </p:nvSpPr>
        <p:spPr>
          <a:xfrm>
            <a:off x="5562600" y="1257300"/>
            <a:ext cx="3187700" cy="1143000"/>
          </a:xfrm>
          <a:prstGeom prst="wedgeRoundRectCallout">
            <a:avLst>
              <a:gd name="adj1" fmla="val -53502"/>
              <a:gd name="adj2" fmla="val 10138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dirty="0">
                <a:solidFill>
                  <a:schemeClr val="bg1"/>
                </a:solidFill>
                <a:latin typeface="Times New Roman" panose="02020603050405020304" pitchFamily="18" charset="0"/>
                <a:cs typeface="Times New Roman" panose="02020603050405020304" pitchFamily="18" charset="0"/>
              </a:rPr>
              <a:t>缺点：不适用于规模</a:t>
            </a:r>
            <a:r>
              <a:rPr lang="en-US" altLang="zh-CN" sz="2800" dirty="0">
                <a:solidFill>
                  <a:schemeClr val="bg1"/>
                </a:solidFill>
                <a:latin typeface="Times New Roman" panose="02020603050405020304" pitchFamily="18" charset="0"/>
                <a:cs typeface="Times New Roman" panose="02020603050405020304" pitchFamily="18" charset="0"/>
              </a:rPr>
              <a:t>N</a:t>
            </a:r>
            <a:r>
              <a:rPr lang="zh-CN" altLang="en-US" sz="2800" dirty="0">
                <a:solidFill>
                  <a:schemeClr val="bg1"/>
                </a:solidFill>
                <a:latin typeface="Times New Roman" panose="02020603050405020304" pitchFamily="18" charset="0"/>
                <a:cs typeface="Times New Roman" panose="02020603050405020304" pitchFamily="18" charset="0"/>
              </a:rPr>
              <a:t>的问题</a:t>
            </a:r>
          </a:p>
        </p:txBody>
      </p:sp>
      <p:sp>
        <p:nvSpPr>
          <p:cNvPr id="7" name="圆角矩形标注 6"/>
          <p:cNvSpPr/>
          <p:nvPr/>
        </p:nvSpPr>
        <p:spPr>
          <a:xfrm>
            <a:off x="6489700" y="2882900"/>
            <a:ext cx="2654300" cy="2120900"/>
          </a:xfrm>
          <a:prstGeom prst="wedgeRoundRectCallout">
            <a:avLst>
              <a:gd name="adj1" fmla="val -85157"/>
              <a:gd name="adj2" fmla="val 8193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Times New Roman" panose="02020603050405020304" pitchFamily="18" charset="0"/>
                <a:cs typeface="Times New Roman" panose="02020603050405020304" pitchFamily="18" charset="0"/>
              </a:rPr>
              <a:t>只需</a:t>
            </a:r>
            <a:r>
              <a:rPr lang="en-US" altLang="zh-CN" sz="2400" dirty="0">
                <a:solidFill>
                  <a:schemeClr val="bg1"/>
                </a:solidFill>
                <a:latin typeface="Times New Roman" panose="02020603050405020304" pitchFamily="18" charset="0"/>
                <a:cs typeface="Times New Roman" panose="02020603050405020304" pitchFamily="18" charset="0"/>
              </a:rPr>
              <a:t>check</a:t>
            </a:r>
            <a:r>
              <a:rPr lang="zh-CN" altLang="en-US" sz="2400" dirty="0">
                <a:solidFill>
                  <a:schemeClr val="bg1"/>
                </a:solidFill>
                <a:latin typeface="Times New Roman" panose="02020603050405020304" pitchFamily="18" charset="0"/>
                <a:cs typeface="Times New Roman" panose="02020603050405020304" pitchFamily="18" charset="0"/>
              </a:rPr>
              <a:t>新放的皇后和之前的皇后是否冲突，之前的皇后之间不需要判断</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Queen1</a:t>
            </a: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算法分析</a:t>
            </a:r>
            <a:endPar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3" name="Rectangle 3"/>
          <p:cNvSpPr txBox="1">
            <a:spLocks noChangeArrowheads="1"/>
          </p:cNvSpPr>
          <p:nvPr/>
        </p:nvSpPr>
        <p:spPr bwMode="auto">
          <a:xfrm>
            <a:off x="292100" y="1406525"/>
            <a:ext cx="8458200" cy="2306638"/>
          </a:xfrm>
          <a:prstGeom prst="rect">
            <a:avLst/>
          </a:prstGeom>
        </p:spPr>
        <p:style>
          <a:lnRef idx="2">
            <a:schemeClr val="dk1"/>
          </a:lnRef>
          <a:fillRef idx="1">
            <a:schemeClr val="lt1"/>
          </a:fillRef>
          <a:effectRef idx="0">
            <a:schemeClr val="dk1"/>
          </a:effectRef>
          <a:fontRef idx="minor">
            <a:schemeClr val="dk1"/>
          </a:fontRef>
        </p:style>
        <p:txBody>
          <a:bodyPr/>
          <a:lstStyle/>
          <a:p>
            <a:pPr indent="-342900" defTabSz="914400">
              <a:lnSpc>
                <a:spcPct val="150000"/>
              </a:lnSpc>
              <a:spcBef>
                <a:spcPct val="20000"/>
              </a:spcBef>
              <a:defRPr/>
            </a:pPr>
            <a:r>
              <a:rPr kumimoji="1" lang="en-US" altLang="zh-CN"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Queen1</a:t>
            </a:r>
            <a:r>
              <a:rPr kumimoji="1" lang="zh-CN" altLang="en-US"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算法的时间复杂度上界为</a:t>
            </a:r>
            <a:r>
              <a:rPr kumimoji="1" lang="en-US" altLang="zh-CN"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O(8</a:t>
            </a:r>
            <a:r>
              <a:rPr kumimoji="1" lang="en-US" altLang="zh-CN" sz="3200" b="1" kern="0" baseline="30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9</a:t>
            </a:r>
            <a:r>
              <a:rPr kumimoji="1" lang="en-US" altLang="zh-CN"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，其实算法在执行过程中不断地运行到</a:t>
            </a:r>
            <a:r>
              <a:rPr kumimoji="1" lang="en-US" altLang="zh-CN"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continue</a:t>
            </a:r>
            <a:r>
              <a:rPr kumimoji="1" lang="zh-CN" altLang="en-US"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语句，所以算法的</a:t>
            </a:r>
            <a:r>
              <a:rPr kumimoji="1" lang="zh-CN" altLang="en-US"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复杂度远低于</a:t>
            </a:r>
            <a:r>
              <a:rPr kumimoji="1" lang="en-US" altLang="zh-CN"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8</a:t>
            </a:r>
            <a:r>
              <a:rPr kumimoji="1" lang="en-US" altLang="zh-CN" sz="3200" b="1" kern="0" baseline="30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9</a:t>
            </a:r>
            <a:r>
              <a:rPr kumimoji="1" lang="zh-CN" altLang="en-US"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Rectangle 3"/>
          <p:cNvSpPr txBox="1">
            <a:spLocks noChangeArrowheads="1"/>
          </p:cNvSpPr>
          <p:nvPr/>
        </p:nvSpPr>
        <p:spPr bwMode="auto">
          <a:xfrm>
            <a:off x="317500" y="4133850"/>
            <a:ext cx="8458200" cy="2308225"/>
          </a:xfrm>
          <a:prstGeom prst="rect">
            <a:avLst/>
          </a:prstGeom>
        </p:spPr>
        <p:style>
          <a:lnRef idx="2">
            <a:schemeClr val="accent1"/>
          </a:lnRef>
          <a:fillRef idx="1">
            <a:schemeClr val="lt1"/>
          </a:fillRef>
          <a:effectRef idx="0">
            <a:schemeClr val="accent1"/>
          </a:effectRef>
          <a:fontRef idx="minor">
            <a:schemeClr val="dk1"/>
          </a:fontRef>
        </p:style>
        <p:txBody>
          <a:bodyPr/>
          <a:lstStyle/>
          <a:p>
            <a:pPr indent="-342900" defTabSz="914400">
              <a:lnSpc>
                <a:spcPct val="150000"/>
              </a:lnSpc>
              <a:spcBef>
                <a:spcPct val="20000"/>
              </a:spcBef>
              <a:defRPr/>
            </a:pPr>
            <a:r>
              <a:rPr kumimoji="1" lang="zh-CN" altLang="en-US"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把</a:t>
            </a:r>
            <a:r>
              <a:rPr kumimoji="1" lang="en-US" altLang="zh-CN"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continue</a:t>
            </a:r>
            <a:r>
              <a:rPr kumimoji="1" lang="zh-CN" altLang="en-US"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check</a:t>
            </a:r>
            <a:r>
              <a:rPr kumimoji="1" lang="zh-CN" altLang="en-US"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都去掉，只在最后一步判断是否满足约束条件，则问题的复杂度就变为了</a:t>
            </a:r>
            <a:r>
              <a:rPr kumimoji="1" lang="en-US" altLang="zh-CN"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8</a:t>
            </a:r>
            <a:r>
              <a:rPr kumimoji="1" lang="en-US" altLang="zh-CN" sz="3200" b="1" kern="0" baseline="30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9</a:t>
            </a:r>
            <a:r>
              <a:rPr kumimoji="1" lang="zh-CN" altLang="en-US"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3200" b="1" kern="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皇后问题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递归求解</a:t>
            </a:r>
          </a:p>
        </p:txBody>
      </p:sp>
      <p:sp>
        <p:nvSpPr>
          <p:cNvPr id="5" name="Text Box 4"/>
          <p:cNvSpPr txBox="1">
            <a:spLocks noChangeArrowheads="1"/>
          </p:cNvSpPr>
          <p:nvPr/>
        </p:nvSpPr>
        <p:spPr bwMode="auto">
          <a:xfrm>
            <a:off x="344488" y="4765675"/>
            <a:ext cx="8605837" cy="1909763"/>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check(</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&lt;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if(abs(x[</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abs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or x[</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0;</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1; }</a:t>
            </a:r>
            <a:endPar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Text Box 6"/>
          <p:cNvSpPr txBox="1">
            <a:spLocks noChangeArrowheads="1"/>
          </p:cNvSpPr>
          <p:nvPr/>
        </p:nvSpPr>
        <p:spPr bwMode="auto">
          <a:xfrm>
            <a:off x="317500" y="1290638"/>
            <a:ext cx="8559800" cy="3459162"/>
          </a:xfrm>
          <a:prstGeom prst="rect">
            <a:avLst/>
          </a:prstGeom>
        </p:spPr>
        <p:style>
          <a:lnRef idx="2">
            <a:schemeClr val="accent2"/>
          </a:lnRef>
          <a:fillRef idx="1">
            <a:schemeClr val="lt1"/>
          </a:fillRef>
          <a:effectRef idx="0">
            <a:schemeClr val="accent2"/>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backtrack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&gt;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output(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f</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cs typeface="Times New Roman" panose="02020603050405020304" pitchFamily="18" charset="0"/>
              </a:rPr>
              <a:t>n</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t </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g</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cs typeface="Times New Roman" panose="02020603050405020304" pitchFamily="18" charset="0"/>
              </a:rPr>
              <a:t>n</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t</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a:t>
            </a:r>
            <a:r>
              <a:rPr lang="en-US" altLang="zh-CN" sz="2000" b="1" i="1" dirty="0">
                <a:solidFill>
                  <a:srgbClr val="FF0000"/>
                </a:solidFill>
                <a:latin typeface="Times New Roman" panose="02020603050405020304" pitchFamily="18" charset="0"/>
                <a:cs typeface="Times New Roman" panose="02020603050405020304" pitchFamily="18" charset="0"/>
              </a:rPr>
              <a:t>h</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err="1">
                <a:solidFill>
                  <a:srgbClr val="FF0000"/>
                </a:solidFill>
                <a:latin typeface="Times New Roman" panose="02020603050405020304" pitchFamily="18" charset="0"/>
                <a:cs typeface="Times New Roman" panose="02020603050405020304" pitchFamily="18" charset="0"/>
              </a:rPr>
              <a:t>i</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dirty="0">
                <a:solidFill>
                  <a:srgbClr val="FF0000"/>
                </a:solidFill>
                <a:latin typeface="Times New Roman" panose="02020603050405020304" pitchFamily="18" charset="0"/>
                <a:cs typeface="Times New Roman" panose="02020603050405020304" pitchFamily="18" charset="0"/>
              </a:rPr>
              <a:t>constraint(</a:t>
            </a:r>
            <a:r>
              <a:rPr lang="en-US" altLang="zh-CN" sz="2000" b="1" i="1" dirty="0">
                <a:solidFill>
                  <a:srgbClr val="FF0000"/>
                </a:solidFill>
                <a:latin typeface="Times New Roman" panose="02020603050405020304" pitchFamily="18" charset="0"/>
                <a:cs typeface="Times New Roman" panose="02020603050405020304" pitchFamily="18" charset="0"/>
              </a:rPr>
              <a:t>t</a:t>
            </a:r>
            <a:r>
              <a:rPr lang="en-US" altLang="zh-CN" sz="2000" b="1" dirty="0">
                <a:solidFill>
                  <a:srgbClr val="FF0000"/>
                </a:solidFill>
                <a:latin typeface="Times New Roman" panose="02020603050405020304" pitchFamily="18" charset="0"/>
                <a:cs typeface="Times New Roman" panose="02020603050405020304" pitchFamily="18" charset="0"/>
              </a:rPr>
              <a:t>)&amp;&amp;bound(</a:t>
            </a:r>
            <a:r>
              <a:rPr lang="en-US" altLang="zh-CN" sz="2000" b="1" i="1" dirty="0">
                <a:solidFill>
                  <a:srgbClr val="FF0000"/>
                </a:solidFill>
                <a:latin typeface="Times New Roman" panose="02020603050405020304" pitchFamily="18" charset="0"/>
                <a:cs typeface="Times New Roman" panose="02020603050405020304" pitchFamily="18" charset="0"/>
              </a:rPr>
              <a:t>t</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backtrack(</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a:p>
            <a:pPr>
              <a:defRPr/>
            </a:pPr>
            <a:endParaRPr lang="zh-CN" altLang="en-US" dirty="0">
              <a:ea typeface="楷体_GB2312" pitchFamily="49" charset="-122"/>
              <a:cs typeface="Times New Roman" panose="02020603050405020304" pitchFamily="18" charset="0"/>
            </a:endParaRPr>
          </a:p>
        </p:txBody>
      </p:sp>
      <p:sp>
        <p:nvSpPr>
          <p:cNvPr id="6" name="Text Box 6"/>
          <p:cNvSpPr txBox="1">
            <a:spLocks noChangeArrowheads="1"/>
          </p:cNvSpPr>
          <p:nvPr/>
        </p:nvSpPr>
        <p:spPr bwMode="auto">
          <a:xfrm>
            <a:off x="346075" y="1138238"/>
            <a:ext cx="8569325" cy="3403600"/>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kumimoji="1" lang="en-US" altLang="zh-CN" sz="24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n = *; sum = 0; x[n];</a:t>
            </a:r>
          </a:p>
          <a:p>
            <a:pPr>
              <a:defRPr/>
            </a:pP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void Queen::Backtrack(</a:t>
            </a:r>
            <a:r>
              <a:rPr kumimoji="1" lang="en-US" altLang="zh-CN" sz="24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t) {</a:t>
            </a:r>
          </a:p>
          <a:p>
            <a:pPr>
              <a:defRPr/>
            </a:pP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if (t &gt; n) sum++;</a:t>
            </a:r>
          </a:p>
          <a:p>
            <a:pPr>
              <a:defRPr/>
            </a:pP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else</a:t>
            </a:r>
          </a:p>
          <a:p>
            <a:pPr>
              <a:defRPr/>
            </a:pP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24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24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2400" b="1" dirty="0">
                <a:solidFill>
                  <a:srgbClr val="FF0000"/>
                </a:solidFill>
                <a:latin typeface="Times New Roman" panose="02020603050405020304" pitchFamily="18" charset="0"/>
                <a:cs typeface="Times New Roman" panose="02020603050405020304" pitchFamily="18" charset="0"/>
              </a:rPr>
              <a:t>1</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24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2400" b="1" dirty="0">
                <a:solidFill>
                  <a:srgbClr val="FF0000"/>
                </a:solidFill>
                <a:latin typeface="Times New Roman" panose="02020603050405020304" pitchFamily="18" charset="0"/>
                <a:cs typeface="Times New Roman" panose="02020603050405020304" pitchFamily="18" charset="0"/>
              </a:rPr>
              <a:t>n</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24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x[t] = </a:t>
            </a:r>
            <a:r>
              <a:rPr kumimoji="1" lang="en-US" altLang="zh-CN" sz="2400" b="1" dirty="0" err="1">
                <a:solidFill>
                  <a:srgbClr val="FF0000"/>
                </a:solidFill>
                <a:latin typeface="Times New Roman" panose="02020603050405020304" pitchFamily="18" charset="0"/>
                <a:cs typeface="Times New Roman" panose="02020603050405020304" pitchFamily="18" charset="0"/>
              </a:rPr>
              <a:t>i</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if (</a:t>
            </a:r>
            <a:r>
              <a:rPr kumimoji="1" lang="en-US" altLang="zh-CN" sz="2400" b="1" dirty="0">
                <a:solidFill>
                  <a:srgbClr val="FF0000"/>
                </a:solidFill>
                <a:latin typeface="Times New Roman" panose="02020603050405020304" pitchFamily="18" charset="0"/>
                <a:cs typeface="Times New Roman" panose="02020603050405020304" pitchFamily="18" charset="0"/>
              </a:rPr>
              <a:t>check(x, t)</a:t>
            </a: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Backtrack(t+1);</a:t>
            </a:r>
          </a:p>
          <a:p>
            <a:pPr>
              <a:defRPr/>
            </a:pP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p>
          <a:p>
            <a:pPr>
              <a:defRPr/>
            </a:pPr>
            <a:endParaRPr lang="zh-CN" altLang="en-US" dirty="0">
              <a:ea typeface="楷体_GB2312"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7"/>
                                        </p:tgtEl>
                                        <p:attrNameLst>
                                          <p:attrName>style.visibility</p:attrName>
                                        </p:attrNameLst>
                                      </p:cBhvr>
                                      <p:to>
                                        <p:strVal val="hidden"/>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7" grpId="1"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2"/>
          <p:cNvSpPr>
            <a:spLocks noChangeArrowheads="1"/>
          </p:cNvSpPr>
          <p:nvPr/>
        </p:nvSpPr>
        <p:spPr bwMode="auto">
          <a:xfrm>
            <a:off x="292100" y="376238"/>
            <a:ext cx="6078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递归模型与递归解题框架的对比</a:t>
            </a:r>
            <a:endPar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4"/>
          <p:cNvSpPr txBox="1">
            <a:spLocks noChangeArrowheads="1"/>
          </p:cNvSpPr>
          <p:nvPr/>
        </p:nvSpPr>
        <p:spPr bwMode="auto">
          <a:xfrm>
            <a:off x="92075" y="1085850"/>
            <a:ext cx="8920163" cy="3109913"/>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backtrack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&gt;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output(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f</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cs typeface="Times New Roman" panose="02020603050405020304" pitchFamily="18" charset="0"/>
              </a:rPr>
              <a:t>n</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t </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g</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cs typeface="Times New Roman" panose="02020603050405020304" pitchFamily="18" charset="0"/>
              </a:rPr>
              <a:t>n</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t</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a:t>
            </a:r>
            <a:r>
              <a:rPr lang="en-US" altLang="zh-CN" sz="2000" b="1" i="1" dirty="0">
                <a:solidFill>
                  <a:srgbClr val="FF0000"/>
                </a:solidFill>
                <a:latin typeface="Times New Roman" panose="02020603050405020304" pitchFamily="18" charset="0"/>
                <a:cs typeface="Times New Roman" panose="02020603050405020304" pitchFamily="18" charset="0"/>
              </a:rPr>
              <a:t>h</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err="1">
                <a:solidFill>
                  <a:srgbClr val="FF0000"/>
                </a:solidFill>
                <a:latin typeface="Times New Roman" panose="02020603050405020304" pitchFamily="18" charset="0"/>
                <a:cs typeface="Times New Roman" panose="02020603050405020304" pitchFamily="18" charset="0"/>
              </a:rPr>
              <a:t>i</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(constraint(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)&amp;&amp;bound(</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backtrack(</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4" name="Text Box 6"/>
          <p:cNvSpPr txBox="1">
            <a:spLocks noChangeArrowheads="1"/>
          </p:cNvSpPr>
          <p:nvPr/>
        </p:nvSpPr>
        <p:spPr bwMode="auto">
          <a:xfrm>
            <a:off x="92075" y="4287838"/>
            <a:ext cx="8899525" cy="2570162"/>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void Queen::Backtrack(</a:t>
            </a:r>
            <a:r>
              <a:rPr kumimoji="1"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t) {</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if (t &gt; n) sum++;</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else</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20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2000" b="1" dirty="0">
                <a:solidFill>
                  <a:srgbClr val="FF0000"/>
                </a:solidFill>
                <a:latin typeface="Times New Roman" panose="02020603050405020304" pitchFamily="18" charset="0"/>
                <a:cs typeface="Times New Roman" panose="02020603050405020304" pitchFamily="18" charset="0"/>
              </a:rPr>
              <a:t>1</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20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2000" b="1" dirty="0">
                <a:solidFill>
                  <a:srgbClr val="FF0000"/>
                </a:solidFill>
                <a:latin typeface="Times New Roman" panose="02020603050405020304" pitchFamily="18" charset="0"/>
                <a:cs typeface="Times New Roman" panose="02020603050405020304" pitchFamily="18" charset="0"/>
              </a:rPr>
              <a:t>n</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20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x[t] =</a:t>
            </a:r>
            <a:r>
              <a:rPr kumimoji="1" lang="en-US" altLang="zh-CN" sz="2000" b="1" dirty="0">
                <a:solidFill>
                  <a:srgbClr val="FF0000"/>
                </a:solidFill>
                <a:latin typeface="Times New Roman" panose="02020603050405020304" pitchFamily="18" charset="0"/>
                <a:cs typeface="Times New Roman" panose="02020603050405020304" pitchFamily="18" charset="0"/>
              </a:rPr>
              <a:t> </a:t>
            </a:r>
            <a:r>
              <a:rPr kumimoji="1" lang="en-US" altLang="zh-CN" sz="2000" b="1" dirty="0" err="1">
                <a:solidFill>
                  <a:srgbClr val="FF0000"/>
                </a:solidFill>
                <a:latin typeface="Times New Roman" panose="02020603050405020304" pitchFamily="18" charset="0"/>
                <a:cs typeface="Times New Roman" panose="02020603050405020304" pitchFamily="18" charset="0"/>
              </a:rPr>
              <a:t>i</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kumimoji="1" lang="en-US" altLang="zh-CN" sz="2000" b="1" dirty="0">
                <a:solidFill>
                  <a:srgbClr val="FF0000"/>
                </a:solidFill>
                <a:latin typeface="Times New Roman" panose="02020603050405020304" pitchFamily="18" charset="0"/>
                <a:cs typeface="Times New Roman" panose="02020603050405020304" pitchFamily="18" charset="0"/>
              </a:rPr>
              <a:t>check(x, t)</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Backtrack(t+1);</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endParaRPr lang="zh-CN" altLang="en-US" dirty="0">
              <a:ea typeface="楷体_GB2312"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皇后问题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迭代求解</a:t>
            </a:r>
          </a:p>
        </p:txBody>
      </p:sp>
      <p:sp>
        <p:nvSpPr>
          <p:cNvPr id="7" name="Text Box 4"/>
          <p:cNvSpPr txBox="1">
            <a:spLocks noChangeArrowheads="1"/>
          </p:cNvSpPr>
          <p:nvPr/>
        </p:nvSpPr>
        <p:spPr bwMode="auto">
          <a:xfrm>
            <a:off x="4592638" y="1279525"/>
            <a:ext cx="4551362" cy="4938713"/>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iterativeBacktrack</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a:t>
            </a:r>
            <a:r>
              <a:rPr lang="en-US" altLang="zh-CN" sz="2000" b="1" dirty="0">
                <a:solidFill>
                  <a:srgbClr val="FF0000"/>
                </a:solidFill>
                <a:latin typeface="Times New Roman" panose="02020603050405020304" pitchFamily="18" charset="0"/>
                <a:cs typeface="Times New Roman" panose="02020603050405020304" pitchFamily="18" charset="0"/>
              </a:rPr>
              <a:t>// </a:t>
            </a:r>
            <a:r>
              <a:rPr lang="zh-CN" altLang="en-US" sz="2000" b="1" dirty="0">
                <a:solidFill>
                  <a:srgbClr val="FF0000"/>
                </a:solidFill>
                <a:latin typeface="Times New Roman" panose="02020603050405020304" pitchFamily="18" charset="0"/>
                <a:cs typeface="Times New Roman" panose="02020603050405020304" pitchFamily="18" charset="0"/>
              </a:rPr>
              <a:t>记录每一层皇后尝试到哪了</a:t>
            </a:r>
            <a:endParaRPr lang="en-US" altLang="zh-CN" sz="2000" b="1" dirty="0">
              <a:solidFill>
                <a:srgbClr val="FF0000"/>
              </a:solidFill>
              <a:latin typeface="Times New Roman" panose="02020603050405020304" pitchFamily="18" charset="0"/>
              <a:cs typeface="Times New Roman" panose="02020603050405020304" pitchFamily="18" charset="0"/>
            </a:endParaRP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&gt; 0)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if(f[t]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 f[t]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n; 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x[t] = </a:t>
            </a:r>
            <a:r>
              <a:rPr lang="en-US" altLang="zh-CN" sz="2000" b="1" dirty="0">
                <a:solidFill>
                  <a:srgbClr val="FF0000"/>
                </a:solidFill>
                <a:latin typeface="Times New Roman" panose="02020603050405020304" pitchFamily="18" charset="0"/>
                <a:cs typeface="Times New Roman" panose="02020603050405020304" pitchFamily="18" charset="0"/>
              </a:rPr>
              <a:t>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a:t>
            </a:r>
            <a:r>
              <a:rPr lang="en-US" altLang="zh-CN" sz="2000" b="1" dirty="0">
                <a:solidFill>
                  <a:srgbClr val="FF0000"/>
                </a:solidFill>
                <a:latin typeface="Times New Roman" panose="02020603050405020304" pitchFamily="18" charset="0"/>
                <a:cs typeface="Times New Roman" panose="02020603050405020304" pitchFamily="18" charset="0"/>
              </a:rPr>
              <a:t>check(x,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dirty="0">
                <a:solidFill>
                  <a:srgbClr val="FF0000"/>
                </a:solidFill>
                <a:latin typeface="Times New Roman" panose="02020603050405020304" pitchFamily="18" charset="0"/>
                <a:cs typeface="Times New Roman" panose="02020603050405020304" pitchFamily="18" charset="0"/>
              </a:rPr>
              <a:t>t =n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output(x);</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6" name="Text Box 4"/>
          <p:cNvSpPr txBox="1">
            <a:spLocks noChangeArrowheads="1"/>
          </p:cNvSpPr>
          <p:nvPr/>
        </p:nvSpPr>
        <p:spPr bwMode="auto">
          <a:xfrm>
            <a:off x="130175" y="1270000"/>
            <a:ext cx="4381500" cy="4432300"/>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iterativeBacktrack</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&gt; 0)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i="1" dirty="0">
                <a:solidFill>
                  <a:srgbClr val="FF0000"/>
                </a:solidFill>
                <a:latin typeface="Times New Roman" panose="02020603050405020304" pitchFamily="18" charset="0"/>
                <a:cs typeface="Times New Roman" panose="02020603050405020304" pitchFamily="18" charset="0"/>
              </a:rPr>
              <a:t>f</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cs typeface="Times New Roman" panose="02020603050405020304" pitchFamily="18" charset="0"/>
              </a:rPr>
              <a:t>n</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t</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sym typeface="Symbol" panose="05050102010706020507"/>
              </a:rPr>
              <a: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lang="en-US" altLang="zh-CN" sz="2000" b="1" i="1" dirty="0">
                <a:solidFill>
                  <a:srgbClr val="FF0000"/>
                </a:solidFill>
                <a:latin typeface="Times New Roman" panose="02020603050405020304" pitchFamily="18" charset="0"/>
                <a:cs typeface="Times New Roman" panose="02020603050405020304" pitchFamily="18" charset="0"/>
              </a:rPr>
              <a:t>g</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cs typeface="Times New Roman" panose="02020603050405020304" pitchFamily="18" charset="0"/>
              </a:rPr>
              <a:t>n</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t</a:t>
            </a:r>
            <a:r>
              <a:rPr lang="en-US" altLang="zh-CN" sz="2000" b="1" dirty="0">
                <a:solidFill>
                  <a:srgbClr val="FF0000"/>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 (</a:t>
            </a:r>
            <a:r>
              <a:rPr lang="en-US" altLang="zh-CN" sz="20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 f</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g</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a:t>
            </a:r>
            <a:r>
              <a:rPr lang="en-US" altLang="zh-CN" sz="2000" b="1" i="1" dirty="0">
                <a:solidFill>
                  <a:srgbClr val="FF0000"/>
                </a:solidFill>
                <a:latin typeface="Times New Roman" panose="02020603050405020304" pitchFamily="18" charset="0"/>
                <a:cs typeface="Times New Roman" panose="02020603050405020304" pitchFamily="18" charset="0"/>
              </a:rPr>
              <a:t>h</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err="1">
                <a:solidFill>
                  <a:srgbClr val="FF0000"/>
                </a:solidFill>
                <a:latin typeface="Times New Roman" panose="02020603050405020304" pitchFamily="18" charset="0"/>
                <a:cs typeface="Times New Roman" panose="02020603050405020304" pitchFamily="18" charset="0"/>
              </a:rPr>
              <a:t>i</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dirty="0">
                <a:solidFill>
                  <a:srgbClr val="FF0000"/>
                </a:solidFill>
                <a:latin typeface="Times New Roman" panose="02020603050405020304" pitchFamily="18" charset="0"/>
                <a:cs typeface="Times New Roman" panose="02020603050405020304" pitchFamily="18" charset="0"/>
              </a:rPr>
              <a:t>constraint(</a:t>
            </a:r>
            <a:r>
              <a:rPr lang="en-US" altLang="zh-CN" sz="2000" b="1" i="1" dirty="0">
                <a:solidFill>
                  <a:srgbClr val="FF0000"/>
                </a:solidFill>
                <a:latin typeface="Times New Roman" panose="02020603050405020304" pitchFamily="18" charset="0"/>
                <a:cs typeface="Times New Roman" panose="02020603050405020304" pitchFamily="18" charset="0"/>
              </a:rPr>
              <a:t>t</a:t>
            </a:r>
            <a:r>
              <a:rPr lang="en-US" altLang="zh-CN" sz="2000" b="1" dirty="0">
                <a:solidFill>
                  <a:srgbClr val="FF0000"/>
                </a:solidFill>
                <a:latin typeface="Times New Roman" panose="02020603050405020304" pitchFamily="18" charset="0"/>
                <a:cs typeface="Times New Roman" panose="02020603050405020304" pitchFamily="18" charset="0"/>
              </a:rPr>
              <a:t>)&amp;&amp;bound(</a:t>
            </a:r>
            <a:r>
              <a:rPr lang="en-US" altLang="zh-CN" sz="2000" b="1" i="1" dirty="0">
                <a:solidFill>
                  <a:srgbClr val="FF0000"/>
                </a:solidFill>
                <a:latin typeface="Times New Roman" panose="02020603050405020304" pitchFamily="18" charset="0"/>
                <a:cs typeface="Times New Roman" panose="02020603050405020304" pitchFamily="18" charset="0"/>
              </a:rPr>
              <a:t>t</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dirty="0">
                <a:solidFill>
                  <a:srgbClr val="FF0000"/>
                </a:solidFill>
                <a:latin typeface="Times New Roman" panose="02020603050405020304" pitchFamily="18" charset="0"/>
                <a:cs typeface="Times New Roman" panose="02020603050405020304" pitchFamily="18" charset="0"/>
              </a:rPr>
              <a:t>solution(</a:t>
            </a:r>
            <a:r>
              <a:rPr lang="en-US" altLang="zh-CN" sz="2000" b="1" i="1" dirty="0">
                <a:solidFill>
                  <a:srgbClr val="FF0000"/>
                </a:solidFill>
                <a:latin typeface="Times New Roman" panose="02020603050405020304" pitchFamily="18" charset="0"/>
                <a:cs typeface="Times New Roman" panose="02020603050405020304" pitchFamily="18" charset="0"/>
              </a:rPr>
              <a:t>t</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output(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皇后问题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迭代求解</a:t>
            </a:r>
          </a:p>
        </p:txBody>
      </p:sp>
      <p:sp>
        <p:nvSpPr>
          <p:cNvPr id="7" name="Text Box 4"/>
          <p:cNvSpPr txBox="1">
            <a:spLocks noChangeArrowheads="1"/>
          </p:cNvSpPr>
          <p:nvPr/>
        </p:nvSpPr>
        <p:spPr bwMode="auto">
          <a:xfrm>
            <a:off x="203200" y="1198563"/>
            <a:ext cx="3932238" cy="4938712"/>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iterativeBacktrack</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 </a:t>
            </a:r>
            <a:r>
              <a:rPr lang="en-US" altLang="zh-CN" sz="2000" b="1" dirty="0">
                <a:solidFill>
                  <a:srgbClr val="FF0000"/>
                </a:solidFill>
                <a:latin typeface="Times New Roman" panose="02020603050405020304" pitchFamily="18" charset="0"/>
                <a:cs typeface="Times New Roman" panose="02020603050405020304" pitchFamily="18" charset="0"/>
              </a:rPr>
              <a:t>record its initial value</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&gt; 0)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if(f[t]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 f[t]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n; 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x[t] = </a:t>
            </a:r>
            <a:r>
              <a:rPr lang="en-US" altLang="zh-CN" sz="2000" b="1" dirty="0">
                <a:solidFill>
                  <a:srgbClr val="FF0000"/>
                </a:solidFill>
                <a:latin typeface="Times New Roman" panose="02020603050405020304" pitchFamily="18" charset="0"/>
                <a:cs typeface="Times New Roman" panose="02020603050405020304" pitchFamily="18" charset="0"/>
              </a:rPr>
              <a:t>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chemeClr val="tx2"/>
                </a:solidFill>
                <a:latin typeface="Times New Roman" panose="02020603050405020304" pitchFamily="18" charset="0"/>
                <a:cs typeface="Times New Roman" panose="02020603050405020304" pitchFamily="18" charset="0"/>
              </a:rPr>
              <a:t>if</a:t>
            </a:r>
            <a:r>
              <a:rPr lang="en-US" altLang="zh-CN" sz="2000" b="1" dirty="0">
                <a:solidFill>
                  <a:srgbClr val="FF0000"/>
                </a:solidFill>
                <a:latin typeface="Times New Roman" panose="02020603050405020304" pitchFamily="18" charset="0"/>
                <a:cs typeface="Times New Roman" panose="02020603050405020304" pitchFamily="18" charset="0"/>
              </a:rPr>
              <a:t>(check(x, 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dirty="0">
                <a:solidFill>
                  <a:srgbClr val="FF0000"/>
                </a:solidFill>
                <a:latin typeface="Times New Roman" panose="02020603050405020304" pitchFamily="18" charset="0"/>
                <a:cs typeface="Times New Roman" panose="02020603050405020304" pitchFamily="18" charset="0"/>
              </a:rPr>
              <a:t>t =n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output(x);</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8" name="Group 39"/>
          <p:cNvGraphicFramePr/>
          <p:nvPr/>
        </p:nvGraphicFramePr>
        <p:xfrm>
          <a:off x="4451350" y="2047875"/>
          <a:ext cx="2212975" cy="1954213"/>
        </p:xfrm>
        <a:graphic>
          <a:graphicData uri="http://schemas.openxmlformats.org/drawingml/2006/table">
            <a:tbl>
              <a:tblPr/>
              <a:tblGrid>
                <a:gridCol w="554037">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4038">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77838">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Oval 40"/>
          <p:cNvSpPr>
            <a:spLocks noChangeArrowheads="1"/>
          </p:cNvSpPr>
          <p:nvPr/>
        </p:nvSpPr>
        <p:spPr bwMode="auto">
          <a:xfrm>
            <a:off x="4649788" y="2182813"/>
            <a:ext cx="198437" cy="198437"/>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Oval 41"/>
          <p:cNvSpPr>
            <a:spLocks noChangeArrowheads="1"/>
          </p:cNvSpPr>
          <p:nvPr/>
        </p:nvSpPr>
        <p:spPr bwMode="auto">
          <a:xfrm>
            <a:off x="5767388" y="2667000"/>
            <a:ext cx="198437"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6702425" y="2755900"/>
            <a:ext cx="2298700" cy="708025"/>
          </a:xfrm>
          <a:prstGeom prst="rect">
            <a:avLst/>
          </a:prstGeom>
        </p:spPr>
        <p:txBody>
          <a:bodyPr>
            <a:spAutoFit/>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t = 3;</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f[t] = {0, 1, 3, 5, 1};</a:t>
            </a:r>
            <a:endParaRPr lang="zh-CN" altLang="en-US" sz="2000" dirty="0">
              <a:latin typeface="Arial" panose="020B0604020202020204" pitchFamily="34" charset="0"/>
            </a:endParaRPr>
          </a:p>
        </p:txBody>
      </p:sp>
      <p:graphicFrame>
        <p:nvGraphicFramePr>
          <p:cNvPr id="14" name="Group 39"/>
          <p:cNvGraphicFramePr/>
          <p:nvPr/>
        </p:nvGraphicFramePr>
        <p:xfrm>
          <a:off x="4471988" y="4181475"/>
          <a:ext cx="2212975" cy="1954213"/>
        </p:xfrm>
        <a:graphic>
          <a:graphicData uri="http://schemas.openxmlformats.org/drawingml/2006/table">
            <a:tbl>
              <a:tblPr/>
              <a:tblGrid>
                <a:gridCol w="554037">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4038">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77838">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 name="Oval 40"/>
          <p:cNvSpPr>
            <a:spLocks noChangeArrowheads="1"/>
          </p:cNvSpPr>
          <p:nvPr/>
        </p:nvSpPr>
        <p:spPr bwMode="auto">
          <a:xfrm>
            <a:off x="4670425" y="4316413"/>
            <a:ext cx="198438" cy="198437"/>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Oval 41"/>
          <p:cNvSpPr>
            <a:spLocks noChangeArrowheads="1"/>
          </p:cNvSpPr>
          <p:nvPr/>
        </p:nvSpPr>
        <p:spPr bwMode="auto">
          <a:xfrm>
            <a:off x="5788025" y="4800600"/>
            <a:ext cx="198438"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矩形 16"/>
          <p:cNvSpPr/>
          <p:nvPr/>
        </p:nvSpPr>
        <p:spPr>
          <a:xfrm>
            <a:off x="6723063" y="4889500"/>
            <a:ext cx="2298700" cy="708025"/>
          </a:xfrm>
          <a:prstGeom prst="rect">
            <a:avLst/>
          </a:prstGeom>
        </p:spPr>
        <p:txBody>
          <a:bodyPr>
            <a:spAutoFit/>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t = 2;</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f[t] = {0, 1, </a:t>
            </a:r>
            <a:r>
              <a:rPr lang="en-US" altLang="zh-CN" sz="2000" b="1" dirty="0">
                <a:solidFill>
                  <a:srgbClr val="FF0000"/>
                </a:solidFill>
                <a:latin typeface="Times New Roman" panose="02020603050405020304" pitchFamily="18" charset="0"/>
                <a:cs typeface="Times New Roman" panose="02020603050405020304" pitchFamily="18" charset="0"/>
              </a:rPr>
              <a:t>3</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5, 1};</a:t>
            </a:r>
            <a:endParaRPr lang="zh-CN" altLang="en-US" sz="2000" dirty="0">
              <a:latin typeface="Arial" panose="020B0604020202020204" pitchFamily="34" charset="0"/>
            </a:endParaRPr>
          </a:p>
        </p:txBody>
      </p:sp>
      <p:sp>
        <p:nvSpPr>
          <p:cNvPr id="25" name="矩形 24"/>
          <p:cNvSpPr/>
          <p:nvPr/>
        </p:nvSpPr>
        <p:spPr>
          <a:xfrm>
            <a:off x="4397375" y="1120775"/>
            <a:ext cx="2298700" cy="708025"/>
          </a:xfrm>
          <a:prstGeom prst="rect">
            <a:avLst/>
          </a:prstGeom>
        </p:spPr>
        <p:txBody>
          <a:bodyPr>
            <a:spAutoFit/>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f[t] = {0, 1, 1, 1, 1};</a:t>
            </a:r>
            <a:endParaRPr lang="zh-CN" altLang="en-US" sz="2000" dirty="0">
              <a:latin typeface="Arial" panose="020B0604020202020204" pitchFamily="34" charset="0"/>
            </a:endParaRPr>
          </a:p>
        </p:txBody>
      </p:sp>
      <p:sp>
        <p:nvSpPr>
          <p:cNvPr id="26" name="矩形 25"/>
          <p:cNvSpPr/>
          <p:nvPr/>
        </p:nvSpPr>
        <p:spPr>
          <a:xfrm>
            <a:off x="6702425" y="1130300"/>
            <a:ext cx="2298700" cy="708025"/>
          </a:xfrm>
          <a:prstGeom prst="rect">
            <a:avLst/>
          </a:prstGeom>
        </p:spPr>
        <p:txBody>
          <a:bodyPr>
            <a:spAutoFit/>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t = 2;</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f[t] = {0, 1, 3, 1, 1};</a:t>
            </a:r>
            <a:endParaRPr lang="zh-CN" altLang="en-US" sz="2000" dirty="0">
              <a:latin typeface="Arial" panose="020B060402020202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p:bldP spid="15" grpId="0" animBg="1"/>
      <p:bldP spid="16" grpId="0" animBg="1"/>
      <p:bldP spid="17" grpId="0"/>
      <p:bldP spid="25" grpId="0"/>
      <p:bldP spid="2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皇后问题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迭代求解</a:t>
            </a:r>
          </a:p>
        </p:txBody>
      </p:sp>
      <p:sp>
        <p:nvSpPr>
          <p:cNvPr id="7" name="Text Box 4"/>
          <p:cNvSpPr txBox="1">
            <a:spLocks noChangeArrowheads="1"/>
          </p:cNvSpPr>
          <p:nvPr/>
        </p:nvSpPr>
        <p:spPr bwMode="auto">
          <a:xfrm>
            <a:off x="212725" y="1108075"/>
            <a:ext cx="3800475" cy="5526088"/>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iterativeBacktrack</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 record its initial value</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&gt; 0)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if(f[t]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 f[t]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n; 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x[t] = f[t];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if(check(x,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(t=n)output(x);</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18" name="Group 39"/>
          <p:cNvGraphicFramePr/>
          <p:nvPr/>
        </p:nvGraphicFramePr>
        <p:xfrm>
          <a:off x="4259263" y="1133475"/>
          <a:ext cx="2212975" cy="1954213"/>
        </p:xfrm>
        <a:graphic>
          <a:graphicData uri="http://schemas.openxmlformats.org/drawingml/2006/table">
            <a:tbl>
              <a:tblPr/>
              <a:tblGrid>
                <a:gridCol w="554037">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4038">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77838">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 name="Oval 40"/>
          <p:cNvSpPr>
            <a:spLocks noChangeArrowheads="1"/>
          </p:cNvSpPr>
          <p:nvPr/>
        </p:nvSpPr>
        <p:spPr bwMode="auto">
          <a:xfrm>
            <a:off x="4425950" y="1247775"/>
            <a:ext cx="198438"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Oval 41"/>
          <p:cNvSpPr>
            <a:spLocks noChangeArrowheads="1"/>
          </p:cNvSpPr>
          <p:nvPr/>
        </p:nvSpPr>
        <p:spPr bwMode="auto">
          <a:xfrm>
            <a:off x="5564188" y="1803400"/>
            <a:ext cx="198437"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矩形 20"/>
          <p:cNvSpPr/>
          <p:nvPr/>
        </p:nvSpPr>
        <p:spPr>
          <a:xfrm>
            <a:off x="4224338" y="3152775"/>
            <a:ext cx="2298700" cy="708025"/>
          </a:xfrm>
          <a:prstGeom prst="rect">
            <a:avLst/>
          </a:prstGeom>
        </p:spPr>
        <p:txBody>
          <a:bodyPr>
            <a:spAutoFit/>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t = 3;</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f[t] = {0, 1, 3, 5, 1};</a:t>
            </a:r>
            <a:endParaRPr lang="zh-CN" altLang="en-US" sz="2000" dirty="0">
              <a:latin typeface="Arial" panose="020B0604020202020204" pitchFamily="34" charset="0"/>
            </a:endParaRPr>
          </a:p>
        </p:txBody>
      </p:sp>
      <p:graphicFrame>
        <p:nvGraphicFramePr>
          <p:cNvPr id="22" name="Group 39"/>
          <p:cNvGraphicFramePr/>
          <p:nvPr/>
        </p:nvGraphicFramePr>
        <p:xfrm>
          <a:off x="6656388" y="1133475"/>
          <a:ext cx="2212975" cy="1954213"/>
        </p:xfrm>
        <a:graphic>
          <a:graphicData uri="http://schemas.openxmlformats.org/drawingml/2006/table">
            <a:tbl>
              <a:tblPr/>
              <a:tblGrid>
                <a:gridCol w="554037">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4038">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77838">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 name="Oval 40"/>
          <p:cNvSpPr>
            <a:spLocks noChangeArrowheads="1"/>
          </p:cNvSpPr>
          <p:nvPr/>
        </p:nvSpPr>
        <p:spPr bwMode="auto">
          <a:xfrm>
            <a:off x="6854825" y="1268413"/>
            <a:ext cx="198438" cy="198437"/>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Oval 41"/>
          <p:cNvSpPr>
            <a:spLocks noChangeArrowheads="1"/>
          </p:cNvSpPr>
          <p:nvPr/>
        </p:nvSpPr>
        <p:spPr bwMode="auto">
          <a:xfrm>
            <a:off x="7972425" y="1752600"/>
            <a:ext cx="198438"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矩形 24"/>
          <p:cNvSpPr/>
          <p:nvPr/>
        </p:nvSpPr>
        <p:spPr>
          <a:xfrm>
            <a:off x="6662738" y="3143250"/>
            <a:ext cx="2298700" cy="708025"/>
          </a:xfrm>
          <a:prstGeom prst="rect">
            <a:avLst/>
          </a:prstGeom>
        </p:spPr>
        <p:txBody>
          <a:bodyPr>
            <a:spAutoFit/>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t = 2;</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f[t] = {0, 1, 4, 5, 1};</a:t>
            </a:r>
            <a:endParaRPr lang="zh-CN" altLang="en-US" sz="2000" dirty="0">
              <a:latin typeface="Arial" panose="020B0604020202020204" pitchFamily="34" charset="0"/>
            </a:endParaRPr>
          </a:p>
        </p:txBody>
      </p:sp>
      <p:graphicFrame>
        <p:nvGraphicFramePr>
          <p:cNvPr id="26" name="Group 39"/>
          <p:cNvGraphicFramePr/>
          <p:nvPr/>
        </p:nvGraphicFramePr>
        <p:xfrm>
          <a:off x="4238625" y="3946525"/>
          <a:ext cx="2212975" cy="1954213"/>
        </p:xfrm>
        <a:graphic>
          <a:graphicData uri="http://schemas.openxmlformats.org/drawingml/2006/table">
            <a:tbl>
              <a:tblPr/>
              <a:tblGrid>
                <a:gridCol w="554037">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4038">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77838">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7" name="Oval 40"/>
          <p:cNvSpPr>
            <a:spLocks noChangeArrowheads="1"/>
          </p:cNvSpPr>
          <p:nvPr/>
        </p:nvSpPr>
        <p:spPr bwMode="auto">
          <a:xfrm>
            <a:off x="4437063" y="4083050"/>
            <a:ext cx="198437"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Oval 41"/>
          <p:cNvSpPr>
            <a:spLocks noChangeArrowheads="1"/>
          </p:cNvSpPr>
          <p:nvPr/>
        </p:nvSpPr>
        <p:spPr bwMode="auto">
          <a:xfrm>
            <a:off x="6102350" y="4567238"/>
            <a:ext cx="198438" cy="198437"/>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矩形 28"/>
          <p:cNvSpPr/>
          <p:nvPr/>
        </p:nvSpPr>
        <p:spPr>
          <a:xfrm>
            <a:off x="4244975" y="6007100"/>
            <a:ext cx="2298700" cy="708025"/>
          </a:xfrm>
          <a:prstGeom prst="rect">
            <a:avLst/>
          </a:prstGeom>
        </p:spPr>
        <p:txBody>
          <a:bodyPr>
            <a:spAutoFit/>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t = 2;</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f[t] = {0, 1, 4, 5, 1};</a:t>
            </a:r>
            <a:endParaRPr lang="zh-CN" altLang="en-US" sz="2000" dirty="0">
              <a:latin typeface="Arial" panose="020B0604020202020204" pitchFamily="34" charset="0"/>
            </a:endParaRPr>
          </a:p>
        </p:txBody>
      </p:sp>
      <p:graphicFrame>
        <p:nvGraphicFramePr>
          <p:cNvPr id="30" name="Group 39"/>
          <p:cNvGraphicFramePr/>
          <p:nvPr/>
        </p:nvGraphicFramePr>
        <p:xfrm>
          <a:off x="6635750" y="3916363"/>
          <a:ext cx="2212975" cy="1954213"/>
        </p:xfrm>
        <a:graphic>
          <a:graphicData uri="http://schemas.openxmlformats.org/drawingml/2006/table">
            <a:tbl>
              <a:tblPr/>
              <a:tblGrid>
                <a:gridCol w="554037">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4038">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77838">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28575"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125">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28575"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tc>
                  <a:txBody>
                    <a:bodyPr/>
                    <a:lstStyle>
                      <a:defPPr>
                        <a:defRPr lang="en-US"/>
                      </a:defPPr>
                      <a:lvl1pPr marL="0" algn="l" defTabSz="685800" rtl="0" eaLnBrk="1" latinLnBrk="0" hangingPunct="1">
                        <a:defRPr sz="1350" kern="1200">
                          <a:solidFill>
                            <a:schemeClr val="tx1"/>
                          </a:solidFill>
                          <a:latin typeface="Gill Sans MT" panose="020B0502020104020203"/>
                        </a:defRPr>
                      </a:lvl1pPr>
                      <a:lvl2pPr marL="342900" algn="l" defTabSz="685800" rtl="0" eaLnBrk="1" latinLnBrk="0" hangingPunct="1">
                        <a:defRPr sz="1350" kern="1200">
                          <a:solidFill>
                            <a:schemeClr val="tx1"/>
                          </a:solidFill>
                          <a:latin typeface="Gill Sans MT" panose="020B0502020104020203"/>
                        </a:defRPr>
                      </a:lvl2pPr>
                      <a:lvl3pPr marL="685800" algn="l" defTabSz="685800" rtl="0" eaLnBrk="1" latinLnBrk="0" hangingPunct="1">
                        <a:defRPr sz="1350" kern="1200">
                          <a:solidFill>
                            <a:schemeClr val="tx1"/>
                          </a:solidFill>
                          <a:latin typeface="Gill Sans MT" panose="020B0502020104020203"/>
                        </a:defRPr>
                      </a:lvl3pPr>
                      <a:lvl4pPr marL="1028700" algn="l" defTabSz="685800" rtl="0" eaLnBrk="1" latinLnBrk="0" hangingPunct="1">
                        <a:defRPr sz="1350" kern="1200">
                          <a:solidFill>
                            <a:schemeClr val="tx1"/>
                          </a:solidFill>
                          <a:latin typeface="Gill Sans MT" panose="020B0502020104020203"/>
                        </a:defRPr>
                      </a:lvl4pPr>
                      <a:lvl5pPr marL="1371600" algn="l" defTabSz="685800" rtl="0" eaLnBrk="1" latinLnBrk="0" hangingPunct="1">
                        <a:defRPr sz="1350" kern="1200">
                          <a:solidFill>
                            <a:schemeClr val="tx1"/>
                          </a:solidFill>
                          <a:latin typeface="Gill Sans MT" panose="020B0502020104020203"/>
                        </a:defRPr>
                      </a:lvl5pPr>
                      <a:lvl6pPr marL="1714500" algn="l" defTabSz="685800" rtl="0" eaLnBrk="1" latinLnBrk="0" hangingPunct="1">
                        <a:defRPr sz="1350" kern="1200">
                          <a:solidFill>
                            <a:schemeClr val="tx1"/>
                          </a:solidFill>
                          <a:latin typeface="Gill Sans MT" panose="020B0502020104020203"/>
                        </a:defRPr>
                      </a:lvl6pPr>
                      <a:lvl7pPr marL="2057400" algn="l" defTabSz="685800" rtl="0" eaLnBrk="1" latinLnBrk="0" hangingPunct="1">
                        <a:defRPr sz="1350" kern="1200">
                          <a:solidFill>
                            <a:schemeClr val="tx1"/>
                          </a:solidFill>
                          <a:latin typeface="Gill Sans MT" panose="020B0502020104020203"/>
                        </a:defRPr>
                      </a:lvl7pPr>
                      <a:lvl8pPr marL="2400300" algn="l" defTabSz="685800" rtl="0" eaLnBrk="1" latinLnBrk="0" hangingPunct="1">
                        <a:defRPr sz="1350" kern="1200">
                          <a:solidFill>
                            <a:schemeClr val="tx1"/>
                          </a:solidFill>
                          <a:latin typeface="Gill Sans MT" panose="020B0502020104020203"/>
                        </a:defRPr>
                      </a:lvl8pPr>
                      <a:lvl9pPr marL="2743200" algn="l" defTabSz="685800" rtl="0" eaLnBrk="1" latinLnBrk="0" hangingPunct="1">
                        <a:defRPr sz="1350" kern="1200">
                          <a:solidFill>
                            <a:schemeClr val="tx1"/>
                          </a:solidFill>
                          <a:latin typeface="Gill Sans MT" panose="020B0502020104020203"/>
                        </a:defRPr>
                      </a:lvl9pPr>
                    </a:lstStyle>
                    <a:p>
                      <a:pPr marL="0" marR="0" lvl="0" indent="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zh-CN" altLang="en-US" sz="2400" b="0" i="0" u="none" strike="noStrike" cap="none" normalizeH="0" baseline="0" dirty="0" smtClean="0">
                        <a:ln>
                          <a:noFill/>
                        </a:ln>
                        <a:solidFill>
                          <a:srgbClr val="003366"/>
                        </a:solidFill>
                        <a:effectLst/>
                        <a:latin typeface="Times New Roman" panose="02020603050405020304" pitchFamily="18" charset="0"/>
                        <a:ea typeface="华文中宋" panose="02010600040101010101" pitchFamily="2" charset="-122"/>
                      </a:endParaRPr>
                    </a:p>
                  </a:txBody>
                  <a:tcPr horzOverflow="overflow">
                    <a:lnL w="12700" cap="flat" cmpd="sng" algn="ctr">
                      <a:solidFill>
                        <a:srgbClr val="000066"/>
                      </a:solidFill>
                      <a:prstDash val="solid"/>
                      <a:round/>
                      <a:headEnd type="none" w="med" len="med"/>
                      <a:tailEnd type="none" w="med" len="med"/>
                    </a:lnL>
                    <a:lnR w="28575"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28575" cap="flat" cmpd="sng" algn="ctr">
                      <a:solidFill>
                        <a:srgbClr val="0000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1" name="Oval 40"/>
          <p:cNvSpPr>
            <a:spLocks noChangeArrowheads="1"/>
          </p:cNvSpPr>
          <p:nvPr/>
        </p:nvSpPr>
        <p:spPr bwMode="auto">
          <a:xfrm>
            <a:off x="6834188" y="4052888"/>
            <a:ext cx="198437" cy="198437"/>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 name="Oval 41"/>
          <p:cNvSpPr>
            <a:spLocks noChangeArrowheads="1"/>
          </p:cNvSpPr>
          <p:nvPr/>
        </p:nvSpPr>
        <p:spPr bwMode="auto">
          <a:xfrm>
            <a:off x="8501063" y="4535488"/>
            <a:ext cx="198437" cy="198437"/>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矩形 32"/>
          <p:cNvSpPr/>
          <p:nvPr/>
        </p:nvSpPr>
        <p:spPr>
          <a:xfrm>
            <a:off x="6642100" y="5976938"/>
            <a:ext cx="2298700" cy="708025"/>
          </a:xfrm>
          <a:prstGeom prst="rect">
            <a:avLst/>
          </a:prstGeom>
        </p:spPr>
        <p:txBody>
          <a:bodyPr>
            <a:spAutoFit/>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t = 3;</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f[t] = {0, 1, 4, </a:t>
            </a:r>
            <a:r>
              <a:rPr lang="en-US" altLang="zh-CN" sz="2000" b="1" dirty="0">
                <a:solidFill>
                  <a:srgbClr val="FF0000"/>
                </a:solidFill>
                <a:latin typeface="Times New Roman" panose="02020603050405020304" pitchFamily="18" charset="0"/>
                <a:cs typeface="Times New Roman" panose="02020603050405020304" pitchFamily="18" charset="0"/>
              </a:rPr>
              <a:t>5</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1};</a:t>
            </a:r>
            <a:endParaRPr lang="zh-CN" altLang="en-US" sz="2000" dirty="0">
              <a:latin typeface="Arial" panose="020B060402020202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p:bldP spid="23" grpId="0" animBg="1"/>
      <p:bldP spid="24" grpId="0" animBg="1"/>
      <p:bldP spid="25" grpId="0"/>
      <p:bldP spid="27" grpId="0" animBg="1"/>
      <p:bldP spid="28" grpId="0" animBg="1"/>
      <p:bldP spid="29" grpId="0"/>
      <p:bldP spid="31" grpId="0" animBg="1"/>
      <p:bldP spid="32" grpId="0" animBg="1"/>
      <p:bldP spid="3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皇后问题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迭代求解</a:t>
            </a:r>
          </a:p>
        </p:txBody>
      </p:sp>
      <p:sp>
        <p:nvSpPr>
          <p:cNvPr id="7" name="Text Box 4"/>
          <p:cNvSpPr txBox="1">
            <a:spLocks noChangeArrowheads="1"/>
          </p:cNvSpPr>
          <p:nvPr/>
        </p:nvSpPr>
        <p:spPr bwMode="auto">
          <a:xfrm>
            <a:off x="762000" y="1058863"/>
            <a:ext cx="7762875" cy="5761037"/>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iterativeBacktrack</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 record its initial value</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&gt; 0)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if(f[t]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 f[t]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n; 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x[t] = f[t];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if(check(x,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(t=n)output(x);</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t++; </a:t>
            </a:r>
            <a:r>
              <a:rPr lang="en-US" altLang="zh-CN" sz="2000" b="1" dirty="0">
                <a:solidFill>
                  <a:srgbClr val="FF0000"/>
                </a:solidFill>
                <a:latin typeface="Times New Roman" panose="02020603050405020304" pitchFamily="18" charset="0"/>
                <a:cs typeface="Times New Roman" panose="02020603050405020304" pitchFamily="18" charset="0"/>
              </a:rPr>
              <a:t> f[t] = 1;</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 f[t] = 1;</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cxnSp>
        <p:nvCxnSpPr>
          <p:cNvPr id="3" name="曲线连接符 2"/>
          <p:cNvCxnSpPr/>
          <p:nvPr/>
        </p:nvCxnSpPr>
        <p:spPr>
          <a:xfrm rot="16200000" flipH="1">
            <a:off x="3818731" y="3663157"/>
            <a:ext cx="1281113" cy="552450"/>
          </a:xfrm>
          <a:prstGeom prst="curvedConnector3">
            <a:avLst>
              <a:gd name="adj1" fmla="val 50000"/>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皇后问题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迭代求解</a:t>
            </a:r>
          </a:p>
        </p:txBody>
      </p:sp>
      <p:sp>
        <p:nvSpPr>
          <p:cNvPr id="5" name="Text Box 4"/>
          <p:cNvSpPr txBox="1">
            <a:spLocks noChangeArrowheads="1"/>
          </p:cNvSpPr>
          <p:nvPr/>
        </p:nvSpPr>
        <p:spPr bwMode="auto">
          <a:xfrm>
            <a:off x="344488" y="4876800"/>
            <a:ext cx="8596312" cy="1909763"/>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check(</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 {</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&lt; pos;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if(abs(a[</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a[pos]) == abs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pos) or a[</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a[pos])</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0;</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1; }</a:t>
            </a:r>
            <a:endPar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Text Box 4"/>
          <p:cNvSpPr txBox="1">
            <a:spLocks noChangeArrowheads="1"/>
          </p:cNvSpPr>
          <p:nvPr/>
        </p:nvSpPr>
        <p:spPr bwMode="auto">
          <a:xfrm>
            <a:off x="325438" y="1066800"/>
            <a:ext cx="8605837" cy="3749675"/>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iterativeBacktrack</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 (t &gt; 0)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while(a[t] &lt;= n &amp;&amp; !check(t, a))</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&lt;=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n) </a:t>
            </a:r>
            <a:r>
              <a:rPr lang="en-US" altLang="zh-CN" sz="2000" b="1" dirty="0" smtClean="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dirty="0" smtClean="0">
                <a:solidFill>
                  <a:srgbClr val="FF0000"/>
                </a:solidFill>
                <a:latin typeface="Times New Roman" panose="02020603050405020304" pitchFamily="18" charset="0"/>
                <a:cs typeface="Times New Roman" panose="02020603050405020304" pitchFamily="18" charset="0"/>
              </a:rPr>
              <a:t>//</a:t>
            </a:r>
            <a:r>
              <a:rPr lang="zh-CN" altLang="en-US" sz="2000" b="1" dirty="0" smtClean="0">
                <a:solidFill>
                  <a:srgbClr val="FF0000"/>
                </a:solidFill>
                <a:latin typeface="Times New Roman" panose="02020603050405020304" pitchFamily="18" charset="0"/>
                <a:cs typeface="Times New Roman" panose="02020603050405020304" pitchFamily="18" charset="0"/>
              </a:rPr>
              <a:t>找到一个可以放置的位置</a:t>
            </a:r>
            <a:endParaRPr lang="en-US" altLang="zh-CN" sz="2000" b="1" dirty="0">
              <a:solidFill>
                <a:srgbClr val="FF0000"/>
              </a:solidFill>
              <a:latin typeface="Times New Roman" panose="02020603050405020304" pitchFamily="18" charset="0"/>
              <a:cs typeface="Times New Roman" panose="02020603050405020304" pitchFamily="18" charset="0"/>
            </a:endParaRP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(t == n) output(a);</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{t++; </a:t>
            </a:r>
            <a:r>
              <a:rPr lang="en-US" altLang="zh-CN" sz="2000" b="1" dirty="0">
                <a:solidFill>
                  <a:srgbClr val="FF0000"/>
                </a:solidFill>
                <a:latin typeface="Times New Roman" panose="02020603050405020304" pitchFamily="18" charset="0"/>
                <a:cs typeface="Times New Roman" panose="02020603050405020304" pitchFamily="18" charset="0"/>
              </a:rPr>
              <a:t>a[t] = 0</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2"/>
          <p:cNvSpPr>
            <a:spLocks noChangeArrowheads="1"/>
          </p:cNvSpPr>
          <p:nvPr/>
        </p:nvSpPr>
        <p:spPr bwMode="auto">
          <a:xfrm>
            <a:off x="292100" y="376238"/>
            <a:ext cx="64230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迭代模型与迭代解题框架的对比</a:t>
            </a:r>
            <a:endPar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6" name="Text Box 4"/>
          <p:cNvSpPr txBox="1">
            <a:spLocks noChangeArrowheads="1"/>
          </p:cNvSpPr>
          <p:nvPr/>
        </p:nvSpPr>
        <p:spPr bwMode="auto">
          <a:xfrm>
            <a:off x="50800" y="1397000"/>
            <a:ext cx="4625975" cy="4432300"/>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iterativeBacktrack</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&gt; 0)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i="1" dirty="0">
                <a:solidFill>
                  <a:srgbClr val="00B0F0"/>
                </a:solidFill>
                <a:latin typeface="Times New Roman" panose="02020603050405020304" pitchFamily="18" charset="0"/>
                <a:cs typeface="Times New Roman" panose="02020603050405020304" pitchFamily="18" charset="0"/>
              </a:rPr>
              <a:t>f</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i="1" dirty="0">
                <a:solidFill>
                  <a:srgbClr val="00B0F0"/>
                </a:solidFill>
                <a:latin typeface="Times New Roman" panose="02020603050405020304" pitchFamily="18" charset="0"/>
                <a:cs typeface="Times New Roman" panose="02020603050405020304" pitchFamily="18" charset="0"/>
              </a:rPr>
              <a:t>n</a:t>
            </a:r>
            <a:r>
              <a:rPr lang="en-US" altLang="zh-CN" sz="2000" b="1" dirty="0">
                <a:solidFill>
                  <a:srgbClr val="00B0F0"/>
                </a:solidFill>
                <a:latin typeface="Times New Roman" panose="02020603050405020304" pitchFamily="18" charset="0"/>
                <a:cs typeface="Times New Roman" panose="02020603050405020304" pitchFamily="18" charset="0"/>
              </a:rPr>
              <a:t>, </a:t>
            </a:r>
            <a:r>
              <a:rPr lang="en-US" altLang="zh-CN" sz="2000" b="1" i="1" dirty="0">
                <a:solidFill>
                  <a:srgbClr val="00B0F0"/>
                </a:solidFill>
                <a:latin typeface="Times New Roman" panose="02020603050405020304" pitchFamily="18" charset="0"/>
                <a:cs typeface="Times New Roman" panose="02020603050405020304" pitchFamily="18" charset="0"/>
              </a:rPr>
              <a:t>t</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dirty="0">
                <a:solidFill>
                  <a:srgbClr val="00B0F0"/>
                </a:solidFill>
                <a:latin typeface="Times New Roman" panose="02020603050405020304" pitchFamily="18" charset="0"/>
                <a:cs typeface="Times New Roman" panose="02020603050405020304" pitchFamily="18" charset="0"/>
                <a:sym typeface="Symbol" panose="05050102010706020507"/>
              </a:rPr>
              <a:t>  </a:t>
            </a:r>
            <a:r>
              <a:rPr lang="en-US" altLang="zh-CN" sz="2000" b="1" i="1" dirty="0">
                <a:solidFill>
                  <a:srgbClr val="00B0F0"/>
                </a:solidFill>
                <a:latin typeface="Times New Roman" panose="02020603050405020304" pitchFamily="18" charset="0"/>
                <a:cs typeface="Times New Roman" panose="02020603050405020304" pitchFamily="18" charset="0"/>
              </a:rPr>
              <a:t>g</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i="1" dirty="0">
                <a:solidFill>
                  <a:srgbClr val="00B0F0"/>
                </a:solidFill>
                <a:latin typeface="Times New Roman" panose="02020603050405020304" pitchFamily="18" charset="0"/>
                <a:cs typeface="Times New Roman" panose="02020603050405020304" pitchFamily="18" charset="0"/>
              </a:rPr>
              <a:t>n</a:t>
            </a:r>
            <a:r>
              <a:rPr lang="en-US" altLang="zh-CN" sz="2000" b="1" dirty="0">
                <a:solidFill>
                  <a:srgbClr val="00B0F0"/>
                </a:solidFill>
                <a:latin typeface="Times New Roman" panose="02020603050405020304" pitchFamily="18" charset="0"/>
                <a:cs typeface="Times New Roman" panose="02020603050405020304" pitchFamily="18" charset="0"/>
              </a:rPr>
              <a:t>, </a:t>
            </a:r>
            <a:r>
              <a:rPr lang="en-US" altLang="zh-CN" sz="2000" b="1" i="1" dirty="0">
                <a:solidFill>
                  <a:srgbClr val="00B0F0"/>
                </a:solidFill>
                <a:latin typeface="Times New Roman" panose="02020603050405020304" pitchFamily="18" charset="0"/>
                <a:cs typeface="Times New Roman" panose="02020603050405020304" pitchFamily="18" charset="0"/>
              </a:rPr>
              <a:t>t</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 (</a:t>
            </a:r>
            <a:r>
              <a:rPr lang="en-US" altLang="zh-CN" sz="2000" b="1" dirty="0" err="1">
                <a:solidFill>
                  <a:srgbClr val="00B0F0"/>
                </a:solidFill>
                <a:latin typeface="Times New Roman" panose="02020603050405020304" pitchFamily="18" charset="0"/>
                <a:cs typeface="Times New Roman" panose="02020603050405020304" pitchFamily="18" charset="0"/>
              </a:rPr>
              <a:t>int</a:t>
            </a:r>
            <a:r>
              <a:rPr lang="en-US" altLang="zh-CN" sz="2000" b="1" i="1" dirty="0">
                <a:solidFill>
                  <a:srgbClr val="00B0F0"/>
                </a:solidFill>
                <a:latin typeface="Times New Roman" panose="02020603050405020304" pitchFamily="18" charset="0"/>
                <a:cs typeface="Times New Roman" panose="02020603050405020304" pitchFamily="18" charset="0"/>
              </a:rPr>
              <a:t> </a:t>
            </a:r>
            <a:r>
              <a:rPr lang="en-US" altLang="zh-CN" sz="2000" b="1" i="1" dirty="0" err="1">
                <a:solidFill>
                  <a:srgbClr val="00B0F0"/>
                </a:solidFill>
                <a:latin typeface="Times New Roman" panose="02020603050405020304" pitchFamily="18" charset="0"/>
                <a:cs typeface="Times New Roman" panose="02020603050405020304" pitchFamily="18" charset="0"/>
              </a:rPr>
              <a:t>i</a:t>
            </a:r>
            <a:r>
              <a:rPr lang="en-US" altLang="zh-CN" sz="2000" b="1" i="1" dirty="0">
                <a:solidFill>
                  <a:srgbClr val="00B0F0"/>
                </a:solidFill>
                <a:latin typeface="Times New Roman" panose="02020603050405020304" pitchFamily="18" charset="0"/>
                <a:cs typeface="Times New Roman" panose="02020603050405020304" pitchFamily="18" charset="0"/>
              </a:rPr>
              <a:t> </a:t>
            </a:r>
            <a:r>
              <a:rPr lang="en-US" altLang="zh-CN" sz="2000" b="1" dirty="0">
                <a:solidFill>
                  <a:srgbClr val="00B0F0"/>
                </a:solidFill>
                <a:latin typeface="Times New Roman" panose="02020603050405020304" pitchFamily="18" charset="0"/>
                <a:cs typeface="Times New Roman" panose="02020603050405020304" pitchFamily="18" charset="0"/>
              </a:rPr>
              <a:t>= </a:t>
            </a:r>
            <a:r>
              <a:rPr lang="en-US" altLang="zh-CN" sz="2000" b="1" i="1" dirty="0">
                <a:solidFill>
                  <a:srgbClr val="00B0F0"/>
                </a:solidFill>
                <a:latin typeface="Times New Roman" panose="02020603050405020304" pitchFamily="18" charset="0"/>
                <a:cs typeface="Times New Roman" panose="02020603050405020304" pitchFamily="18" charset="0"/>
              </a:rPr>
              <a:t>f</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i="1" dirty="0">
                <a:solidFill>
                  <a:srgbClr val="00B0F0"/>
                </a:solidFill>
                <a:latin typeface="Times New Roman" panose="02020603050405020304" pitchFamily="18" charset="0"/>
                <a:cs typeface="Times New Roman" panose="02020603050405020304" pitchFamily="18" charset="0"/>
              </a:rPr>
              <a:t>n</a:t>
            </a:r>
            <a:r>
              <a:rPr lang="en-US" altLang="zh-CN" sz="2000" b="1" dirty="0">
                <a:solidFill>
                  <a:srgbClr val="00B0F0"/>
                </a:solidFill>
                <a:latin typeface="Times New Roman" panose="02020603050405020304" pitchFamily="18" charset="0"/>
                <a:cs typeface="Times New Roman" panose="02020603050405020304" pitchFamily="18" charset="0"/>
              </a:rPr>
              <a:t>, </a:t>
            </a:r>
            <a:r>
              <a:rPr lang="en-US" altLang="zh-CN" sz="2000" b="1" i="1" dirty="0">
                <a:solidFill>
                  <a:srgbClr val="00B0F0"/>
                </a:solidFill>
                <a:latin typeface="Times New Roman" panose="02020603050405020304" pitchFamily="18" charset="0"/>
                <a:cs typeface="Times New Roman" panose="02020603050405020304" pitchFamily="18" charset="0"/>
              </a:rPr>
              <a:t>t</a:t>
            </a:r>
            <a:r>
              <a:rPr lang="en-US" altLang="zh-CN" sz="2000" b="1" dirty="0">
                <a:solidFill>
                  <a:srgbClr val="00B0F0"/>
                </a:solidFill>
                <a:latin typeface="Times New Roman" panose="02020603050405020304" pitchFamily="18" charset="0"/>
                <a:cs typeface="Times New Roman" panose="02020603050405020304" pitchFamily="18" charset="0"/>
              </a:rPr>
              <a:t>); </a:t>
            </a:r>
            <a:r>
              <a:rPr lang="en-US" altLang="zh-CN" sz="2000" b="1" i="1" dirty="0" err="1">
                <a:solidFill>
                  <a:srgbClr val="00B0F0"/>
                </a:solidFill>
                <a:latin typeface="Times New Roman" panose="02020603050405020304" pitchFamily="18" charset="0"/>
                <a:cs typeface="Times New Roman" panose="02020603050405020304" pitchFamily="18" charset="0"/>
              </a:rPr>
              <a:t>i</a:t>
            </a:r>
            <a:r>
              <a:rPr lang="en-US" altLang="zh-CN" sz="2000" b="1" dirty="0">
                <a:solidFill>
                  <a:srgbClr val="00B0F0"/>
                </a:solidFill>
                <a:latin typeface="Times New Roman" panose="02020603050405020304" pitchFamily="18" charset="0"/>
                <a:cs typeface="Times New Roman" panose="02020603050405020304" pitchFamily="18" charset="0"/>
                <a:sym typeface="Symbol" panose="05050102010706020507"/>
              </a:rPr>
              <a:t>  </a:t>
            </a:r>
            <a:r>
              <a:rPr lang="en-US" altLang="zh-CN" sz="2000" b="1" i="1" dirty="0">
                <a:solidFill>
                  <a:srgbClr val="00B0F0"/>
                </a:solidFill>
                <a:latin typeface="Times New Roman" panose="02020603050405020304" pitchFamily="18" charset="0"/>
                <a:cs typeface="Times New Roman" panose="02020603050405020304" pitchFamily="18" charset="0"/>
              </a:rPr>
              <a:t>g</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i="1" dirty="0">
                <a:solidFill>
                  <a:srgbClr val="00B0F0"/>
                </a:solidFill>
                <a:latin typeface="Times New Roman" panose="02020603050405020304" pitchFamily="18" charset="0"/>
                <a:cs typeface="Times New Roman" panose="02020603050405020304" pitchFamily="18" charset="0"/>
              </a:rPr>
              <a:t>n</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i="1" dirty="0">
                <a:solidFill>
                  <a:srgbClr val="00B0F0"/>
                </a:solidFill>
                <a:latin typeface="Times New Roman" panose="02020603050405020304" pitchFamily="18" charset="0"/>
                <a:cs typeface="Times New Roman" panose="02020603050405020304" pitchFamily="18" charset="0"/>
              </a:rPr>
              <a:t> t)</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i="1" dirty="0">
                <a:solidFill>
                  <a:srgbClr val="00B0F0"/>
                </a:solidFill>
                <a:latin typeface="Times New Roman" panose="02020603050405020304" pitchFamily="18" charset="0"/>
                <a:cs typeface="Times New Roman" panose="02020603050405020304" pitchFamily="18" charset="0"/>
              </a:rPr>
              <a:t> </a:t>
            </a:r>
            <a:r>
              <a:rPr lang="en-US" altLang="zh-CN" sz="2000" b="1" i="1" dirty="0" err="1">
                <a:solidFill>
                  <a:srgbClr val="00B0F0"/>
                </a:solidFill>
                <a:latin typeface="Times New Roman" panose="02020603050405020304" pitchFamily="18" charset="0"/>
                <a:cs typeface="Times New Roman" panose="02020603050405020304" pitchFamily="18" charset="0"/>
              </a:rPr>
              <a:t>i</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h</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20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2000" b="1" dirty="0">
                <a:solidFill>
                  <a:srgbClr val="00B0F0"/>
                </a:solidFill>
                <a:latin typeface="Times New Roman" panose="02020603050405020304" pitchFamily="18" charset="0"/>
                <a:cs typeface="Times New Roman" panose="02020603050405020304" pitchFamily="18" charset="0"/>
              </a:rPr>
              <a:t>constraint(</a:t>
            </a:r>
            <a:r>
              <a:rPr lang="en-US" altLang="zh-CN" sz="2000" b="1" i="1" dirty="0">
                <a:solidFill>
                  <a:srgbClr val="00B0F0"/>
                </a:solidFill>
                <a:latin typeface="Times New Roman" panose="02020603050405020304" pitchFamily="18" charset="0"/>
                <a:cs typeface="Times New Roman" panose="02020603050405020304" pitchFamily="18" charset="0"/>
              </a:rPr>
              <a:t>t</a:t>
            </a:r>
            <a:r>
              <a:rPr lang="en-US" altLang="zh-CN" sz="2000" b="1" dirty="0">
                <a:solidFill>
                  <a:srgbClr val="00B0F0"/>
                </a:solidFill>
                <a:latin typeface="Times New Roman" panose="02020603050405020304" pitchFamily="18" charset="0"/>
                <a:cs typeface="Times New Roman" panose="02020603050405020304" pitchFamily="18" charset="0"/>
              </a:rPr>
              <a:t>)&amp;&amp;bound(</a:t>
            </a:r>
            <a:r>
              <a:rPr lang="en-US" altLang="zh-CN" sz="2000" b="1" i="1" dirty="0">
                <a:solidFill>
                  <a:srgbClr val="00B0F0"/>
                </a:solidFill>
                <a:latin typeface="Times New Roman" panose="02020603050405020304" pitchFamily="18" charset="0"/>
                <a:cs typeface="Times New Roman" panose="02020603050405020304" pitchFamily="18" charset="0"/>
              </a:rPr>
              <a:t>t</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(solution(</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output(</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 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5" name="Text Box 4"/>
          <p:cNvSpPr txBox="1">
            <a:spLocks noChangeArrowheads="1"/>
          </p:cNvSpPr>
          <p:nvPr/>
        </p:nvSpPr>
        <p:spPr bwMode="auto">
          <a:xfrm>
            <a:off x="4914900" y="1096963"/>
            <a:ext cx="4127500" cy="5761037"/>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iterativeBacktrack</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1;</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a:t>
            </a:r>
            <a:r>
              <a:rPr lang="en-US" altLang="zh-CN" sz="2000" b="1" dirty="0">
                <a:solidFill>
                  <a:srgbClr val="FF0000"/>
                </a:solidFill>
                <a:latin typeface="Times New Roman" panose="02020603050405020304" pitchFamily="18" charset="0"/>
                <a:cs typeface="Times New Roman" panose="02020603050405020304" pitchFamily="18" charset="0"/>
              </a:rPr>
              <a:t>// record its initial value</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while (</a:t>
            </a:r>
            <a:r>
              <a:rPr lang="en-US" altLang="zh-CN" sz="20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&gt; 0)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a:t>
            </a:r>
            <a:r>
              <a:rPr lang="en-US" altLang="zh-CN" sz="2000" b="1" dirty="0">
                <a:solidFill>
                  <a:srgbClr val="00B0F0"/>
                </a:solidFill>
                <a:latin typeface="Times New Roman" panose="02020603050405020304" pitchFamily="18" charset="0"/>
                <a:cs typeface="Times New Roman" panose="02020603050405020304" pitchFamily="18" charset="0"/>
              </a:rPr>
              <a:t>f[t] </a:t>
            </a:r>
            <a:r>
              <a:rPr lang="en-US" altLang="zh-CN" sz="2000" b="1" dirty="0">
                <a:solidFill>
                  <a:srgbClr val="00B0F0"/>
                </a:solidFill>
                <a:latin typeface="Times New Roman" panose="02020603050405020304" pitchFamily="18" charset="0"/>
                <a:cs typeface="Times New Roman" panose="02020603050405020304" pitchFamily="18" charset="0"/>
                <a:sym typeface="Symbol" panose="05050102010706020507"/>
              </a:rPr>
              <a:t> n</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for</a:t>
            </a:r>
            <a:r>
              <a:rPr lang="en-US" altLang="zh-CN" sz="2000" b="1" dirty="0">
                <a:solidFill>
                  <a:srgbClr val="00B0F0"/>
                </a:solidFill>
                <a:latin typeface="Times New Roman" panose="02020603050405020304" pitchFamily="18" charset="0"/>
                <a:cs typeface="Times New Roman" panose="02020603050405020304" pitchFamily="18" charset="0"/>
              </a:rPr>
              <a:t>(; f[t] </a:t>
            </a:r>
            <a:r>
              <a:rPr lang="en-US" altLang="zh-CN" sz="2000" b="1" dirty="0">
                <a:solidFill>
                  <a:srgbClr val="00B0F0"/>
                </a:solidFill>
                <a:latin typeface="Times New Roman" panose="02020603050405020304" pitchFamily="18" charset="0"/>
                <a:cs typeface="Times New Roman" panose="02020603050405020304" pitchFamily="18" charset="0"/>
                <a:sym typeface="Symbol" panose="05050102010706020507"/>
              </a:rPr>
              <a:t> n; 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x[t] = f[t];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a:t>
            </a:r>
            <a:r>
              <a:rPr lang="en-US" altLang="zh-CN" sz="2000" b="1" dirty="0">
                <a:solidFill>
                  <a:srgbClr val="00B0F0"/>
                </a:solidFill>
                <a:latin typeface="Times New Roman" panose="02020603050405020304" pitchFamily="18" charset="0"/>
                <a:cs typeface="Times New Roman" panose="02020603050405020304" pitchFamily="18" charset="0"/>
              </a:rPr>
              <a:t>check(x,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if (t=n)output(x);</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t++; </a:t>
            </a:r>
            <a:r>
              <a:rPr lang="en-US" altLang="zh-CN" sz="2000" b="1" dirty="0">
                <a:solidFill>
                  <a:srgbClr val="FF0000"/>
                </a:solidFill>
                <a:latin typeface="Times New Roman" panose="02020603050405020304" pitchFamily="18" charset="0"/>
                <a:cs typeface="Times New Roman" panose="02020603050405020304" pitchFamily="18" charset="0"/>
              </a:rPr>
              <a:t> f[t] = 0;</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else {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f[t]++;</a:t>
            </a: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2"/>
          <p:cNvSpPr>
            <a:spLocks noChangeArrowheads="1"/>
          </p:cNvSpPr>
          <p:nvPr/>
        </p:nvSpPr>
        <p:spPr bwMode="auto">
          <a:xfrm>
            <a:off x="4044950" y="419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目录</a:t>
            </a:r>
          </a:p>
        </p:txBody>
      </p:sp>
      <p:graphicFrame>
        <p:nvGraphicFramePr>
          <p:cNvPr id="7" name="图示 6"/>
          <p:cNvGraphicFramePr/>
          <p:nvPr/>
        </p:nvGraphicFramePr>
        <p:xfrm>
          <a:off x="1552575" y="1549400"/>
          <a:ext cx="6096000" cy="4660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货郎担</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a:t>
            </a:r>
          </a:p>
        </p:txBody>
      </p:sp>
      <p:sp>
        <p:nvSpPr>
          <p:cNvPr id="41987" name="Text Box 4"/>
          <p:cNvSpPr txBox="1">
            <a:spLocks noChangeArrowheads="1"/>
          </p:cNvSpPr>
          <p:nvPr/>
        </p:nvSpPr>
        <p:spPr bwMode="auto">
          <a:xfrm>
            <a:off x="558800" y="1489075"/>
            <a:ext cx="8099425" cy="2290763"/>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8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旅行售货员（货郎担）问题：</a:t>
            </a:r>
          </a:p>
          <a:p>
            <a:pPr eaLnBrk="1" hangingPunct="1">
              <a:lnSpc>
                <a:spcPct val="100000"/>
              </a:lnSpc>
              <a:spcBef>
                <a:spcPct val="0"/>
              </a:spcBef>
              <a:buClrTx/>
              <a:buSzTx/>
              <a:buFontTx/>
              <a:buNone/>
              <a:defRPr/>
            </a:pPr>
            <a:r>
              <a:rPr lang="zh-CN" altLang="en-US" sz="28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某售货员要到若干城市去推销商品，已知各城市间的路程耗费（代价），如何选定一条从驻地出发，经过</a:t>
            </a:r>
            <a:r>
              <a:rPr lang="zh-CN" altLang="en-US" sz="2800" b="1" dirty="0" smtClean="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每个城市一遍</a:t>
            </a:r>
            <a:r>
              <a:rPr lang="zh-CN" altLang="en-US" sz="28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，最后回到驻地的路线，使得</a:t>
            </a:r>
            <a:r>
              <a:rPr lang="zh-CN" altLang="en-US" sz="2800" b="1" dirty="0" smtClean="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总路程耗费</a:t>
            </a:r>
            <a:r>
              <a:rPr lang="zh-CN" altLang="en-US" sz="28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最小。</a:t>
            </a:r>
          </a:p>
        </p:txBody>
      </p:sp>
      <p:grpSp>
        <p:nvGrpSpPr>
          <p:cNvPr id="40964" name="Group 7"/>
          <p:cNvGrpSpPr/>
          <p:nvPr/>
        </p:nvGrpSpPr>
        <p:grpSpPr bwMode="auto">
          <a:xfrm>
            <a:off x="2773363" y="3881438"/>
            <a:ext cx="3281362" cy="2844800"/>
            <a:chOff x="244" y="2236"/>
            <a:chExt cx="1317" cy="1207"/>
          </a:xfrm>
        </p:grpSpPr>
        <p:grpSp>
          <p:nvGrpSpPr>
            <p:cNvPr id="40965" name="Group 8"/>
            <p:cNvGrpSpPr/>
            <p:nvPr/>
          </p:nvGrpSpPr>
          <p:grpSpPr bwMode="auto">
            <a:xfrm>
              <a:off x="1248" y="2271"/>
              <a:ext cx="249" cy="249"/>
              <a:chOff x="4531" y="2063"/>
              <a:chExt cx="249" cy="249"/>
            </a:xfrm>
          </p:grpSpPr>
          <p:sp>
            <p:nvSpPr>
              <p:cNvPr id="40987" name="Oval 9"/>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988" name="Text Box 10"/>
              <p:cNvSpPr txBox="1">
                <a:spLocks noChangeArrowheads="1"/>
              </p:cNvSpPr>
              <p:nvPr/>
            </p:nvSpPr>
            <p:spPr bwMode="auto">
              <a:xfrm>
                <a:off x="4582" y="2106"/>
                <a:ext cx="1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40966" name="Group 11"/>
            <p:cNvGrpSpPr/>
            <p:nvPr/>
          </p:nvGrpSpPr>
          <p:grpSpPr bwMode="auto">
            <a:xfrm>
              <a:off x="323" y="2264"/>
              <a:ext cx="249" cy="249"/>
              <a:chOff x="4531" y="2063"/>
              <a:chExt cx="249" cy="249"/>
            </a:xfrm>
          </p:grpSpPr>
          <p:sp>
            <p:nvSpPr>
              <p:cNvPr id="40985" name="Oval 12"/>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986" name="Text Box 13"/>
              <p:cNvSpPr txBox="1">
                <a:spLocks noChangeArrowheads="1"/>
              </p:cNvSpPr>
              <p:nvPr/>
            </p:nvSpPr>
            <p:spPr bwMode="auto">
              <a:xfrm>
                <a:off x="4582" y="2106"/>
                <a:ext cx="1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nvGrpSpPr>
            <p:cNvPr id="40967" name="Group 14"/>
            <p:cNvGrpSpPr/>
            <p:nvPr/>
          </p:nvGrpSpPr>
          <p:grpSpPr bwMode="auto">
            <a:xfrm>
              <a:off x="315" y="3131"/>
              <a:ext cx="249" cy="249"/>
              <a:chOff x="4531" y="2063"/>
              <a:chExt cx="249" cy="249"/>
            </a:xfrm>
          </p:grpSpPr>
          <p:sp>
            <p:nvSpPr>
              <p:cNvPr id="40983" name="Oval 15"/>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984" name="Text Box 16"/>
              <p:cNvSpPr txBox="1">
                <a:spLocks noChangeArrowheads="1"/>
              </p:cNvSpPr>
              <p:nvPr/>
            </p:nvSpPr>
            <p:spPr bwMode="auto">
              <a:xfrm>
                <a:off x="4582" y="2106"/>
                <a:ext cx="1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sp>
          <p:nvSpPr>
            <p:cNvPr id="40968" name="Text Box 17"/>
            <p:cNvSpPr txBox="1">
              <a:spLocks noChangeArrowheads="1"/>
            </p:cNvSpPr>
            <p:nvPr/>
          </p:nvSpPr>
          <p:spPr bwMode="auto">
            <a:xfrm>
              <a:off x="1389" y="2745"/>
              <a:ext cx="1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40969" name="Text Box 18"/>
            <p:cNvSpPr txBox="1">
              <a:spLocks noChangeArrowheads="1"/>
            </p:cNvSpPr>
            <p:nvPr/>
          </p:nvSpPr>
          <p:spPr bwMode="auto">
            <a:xfrm>
              <a:off x="832" y="2236"/>
              <a:ext cx="1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30</a:t>
              </a:r>
            </a:p>
          </p:txBody>
        </p:sp>
        <p:grpSp>
          <p:nvGrpSpPr>
            <p:cNvPr id="40970" name="Group 19"/>
            <p:cNvGrpSpPr/>
            <p:nvPr/>
          </p:nvGrpSpPr>
          <p:grpSpPr bwMode="auto">
            <a:xfrm>
              <a:off x="1253" y="3134"/>
              <a:ext cx="249" cy="249"/>
              <a:chOff x="4531" y="2063"/>
              <a:chExt cx="249" cy="249"/>
            </a:xfrm>
          </p:grpSpPr>
          <p:sp>
            <p:nvSpPr>
              <p:cNvPr id="40981" name="Oval 20"/>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982" name="Text Box 21"/>
              <p:cNvSpPr txBox="1">
                <a:spLocks noChangeArrowheads="1"/>
              </p:cNvSpPr>
              <p:nvPr/>
            </p:nvSpPr>
            <p:spPr bwMode="auto">
              <a:xfrm>
                <a:off x="4582" y="2106"/>
                <a:ext cx="1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sp>
          <p:nvSpPr>
            <p:cNvPr id="40971" name="Line 22"/>
            <p:cNvSpPr>
              <a:spLocks noChangeShapeType="1"/>
            </p:cNvSpPr>
            <p:nvPr/>
          </p:nvSpPr>
          <p:spPr bwMode="auto">
            <a:xfrm>
              <a:off x="557" y="2429"/>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2" name="Line 23"/>
            <p:cNvSpPr>
              <a:spLocks noChangeShapeType="1"/>
            </p:cNvSpPr>
            <p:nvPr/>
          </p:nvSpPr>
          <p:spPr bwMode="auto">
            <a:xfrm>
              <a:off x="442" y="2515"/>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3" name="Line 24"/>
            <p:cNvSpPr>
              <a:spLocks noChangeShapeType="1"/>
            </p:cNvSpPr>
            <p:nvPr/>
          </p:nvSpPr>
          <p:spPr bwMode="auto">
            <a:xfrm>
              <a:off x="564" y="3224"/>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4" name="Line 25"/>
            <p:cNvSpPr>
              <a:spLocks noChangeShapeType="1"/>
            </p:cNvSpPr>
            <p:nvPr/>
          </p:nvSpPr>
          <p:spPr bwMode="auto">
            <a:xfrm>
              <a:off x="1371" y="2523"/>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5" name="Line 26"/>
            <p:cNvSpPr>
              <a:spLocks noChangeShapeType="1"/>
            </p:cNvSpPr>
            <p:nvPr/>
          </p:nvSpPr>
          <p:spPr bwMode="auto">
            <a:xfrm>
              <a:off x="509" y="2477"/>
              <a:ext cx="787" cy="69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6" name="Line 27"/>
            <p:cNvSpPr>
              <a:spLocks noChangeShapeType="1"/>
            </p:cNvSpPr>
            <p:nvPr/>
          </p:nvSpPr>
          <p:spPr bwMode="auto">
            <a:xfrm flipV="1">
              <a:off x="509" y="2486"/>
              <a:ext cx="777" cy="67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7" name="Text Box 28"/>
            <p:cNvSpPr txBox="1">
              <a:spLocks noChangeArrowheads="1"/>
            </p:cNvSpPr>
            <p:nvPr/>
          </p:nvSpPr>
          <p:spPr bwMode="auto">
            <a:xfrm>
              <a:off x="244" y="2733"/>
              <a:ext cx="1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40978" name="Text Box 29"/>
            <p:cNvSpPr txBox="1">
              <a:spLocks noChangeArrowheads="1"/>
            </p:cNvSpPr>
            <p:nvPr/>
          </p:nvSpPr>
          <p:spPr bwMode="auto">
            <a:xfrm>
              <a:off x="807" y="3249"/>
              <a:ext cx="1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20</a:t>
              </a:r>
            </a:p>
          </p:txBody>
        </p:sp>
        <p:sp>
          <p:nvSpPr>
            <p:cNvPr id="40979" name="Text Box 30"/>
            <p:cNvSpPr txBox="1">
              <a:spLocks noChangeArrowheads="1"/>
            </p:cNvSpPr>
            <p:nvPr/>
          </p:nvSpPr>
          <p:spPr bwMode="auto">
            <a:xfrm>
              <a:off x="1106" y="2625"/>
              <a:ext cx="1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40980" name="Text Box 31"/>
            <p:cNvSpPr txBox="1">
              <a:spLocks noChangeArrowheads="1"/>
            </p:cNvSpPr>
            <p:nvPr/>
          </p:nvSpPr>
          <p:spPr bwMode="auto">
            <a:xfrm>
              <a:off x="905" y="2962"/>
              <a:ext cx="1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spTree>
    <p:custDataLst>
      <p:tags r:id="rId1"/>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2"/>
          <p:cNvSpPr>
            <a:spLocks noChangeArrowheads="1"/>
          </p:cNvSpPr>
          <p:nvPr/>
        </p:nvSpPr>
        <p:spPr bwMode="auto">
          <a:xfrm>
            <a:off x="292100" y="376238"/>
            <a:ext cx="5092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货郎担</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问题：解空间表示</a:t>
            </a:r>
          </a:p>
        </p:txBody>
      </p:sp>
      <p:sp>
        <p:nvSpPr>
          <p:cNvPr id="40" name="Text Box 4"/>
          <p:cNvSpPr txBox="1">
            <a:spLocks noChangeArrowheads="1"/>
          </p:cNvSpPr>
          <p:nvPr/>
        </p:nvSpPr>
        <p:spPr bwMode="auto">
          <a:xfrm>
            <a:off x="284163" y="1366838"/>
            <a:ext cx="8605837" cy="5227637"/>
          </a:xfrm>
          <a:prstGeom prst="rect">
            <a:avLst/>
          </a:prstGeom>
        </p:spPr>
        <p:style>
          <a:lnRef idx="2">
            <a:schemeClr val="accent1"/>
          </a:lnRef>
          <a:fillRef idx="1">
            <a:schemeClr val="lt1"/>
          </a:fillRef>
          <a:effectRef idx="0">
            <a:schemeClr val="accent1"/>
          </a:effectRef>
          <a:fontRef idx="minor">
            <a:schemeClr val="dk1"/>
          </a:fontRef>
        </p:style>
        <p:txBody>
          <a:bodyPr/>
          <a:lstStyle/>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）每个城市只出现有且仅有一次，设第</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个出现的城市为</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，则问题解向量：</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）显约束：</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 2, … ,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）隐约束：</a:t>
            </a:r>
          </a:p>
          <a:p>
            <a:pPr>
              <a:lnSpc>
                <a:spcPct val="150000"/>
              </a:lnSpc>
              <a:buClr>
                <a:schemeClr val="accent2"/>
              </a:buClr>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有从</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的边；</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）有从</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的边；</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能回到出发城市</a:t>
            </a:r>
          </a:p>
          <a:p>
            <a:pPr>
              <a:lnSpc>
                <a:spcPct val="150000"/>
              </a:lnSpc>
              <a:buClr>
                <a:schemeClr val="accent2"/>
              </a:buClr>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城市不能重复</a:t>
            </a:r>
            <a:endPar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2"/>
          <p:cNvSpPr>
            <a:spLocks noChangeArrowheads="1"/>
          </p:cNvSpPr>
          <p:nvPr/>
        </p:nvSpPr>
        <p:spPr bwMode="auto">
          <a:xfrm>
            <a:off x="292100" y="376238"/>
            <a:ext cx="4625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货郎担</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递归求解</a:t>
            </a:r>
          </a:p>
        </p:txBody>
      </p:sp>
      <p:sp>
        <p:nvSpPr>
          <p:cNvPr id="5" name="Text Box 4"/>
          <p:cNvSpPr txBox="1">
            <a:spLocks noChangeArrowheads="1"/>
          </p:cNvSpPr>
          <p:nvPr/>
        </p:nvSpPr>
        <p:spPr bwMode="auto">
          <a:xfrm>
            <a:off x="3138488" y="1120775"/>
            <a:ext cx="6005512" cy="4070350"/>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a[n][n]</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rgbClr val="FF0000"/>
                </a:solidFill>
                <a:latin typeface="Times New Roman" panose="02020603050405020304" pitchFamily="18" charset="0"/>
                <a:cs typeface="Times New Roman" panose="02020603050405020304" pitchFamily="18" charset="0"/>
              </a:rPr>
              <a:t>//</a:t>
            </a:r>
            <a:r>
              <a:rPr kumimoji="1" lang="zh-CN" altLang="en-US" sz="1600" b="1" dirty="0">
                <a:solidFill>
                  <a:srgbClr val="FF0000"/>
                </a:solidFill>
                <a:latin typeface="Times New Roman" panose="02020603050405020304" pitchFamily="18" charset="0"/>
                <a:cs typeface="Times New Roman" panose="02020603050405020304" pitchFamily="18" charset="0"/>
              </a:rPr>
              <a:t>邻接矩阵，存储任意两个城市间的代价；</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a:t>
            </a:r>
            <a:r>
              <a:rPr kumimoji="1" lang="en-US" altLang="zh-CN" sz="1600" b="1" dirty="0">
                <a:solidFill>
                  <a:srgbClr val="FF0000"/>
                </a:solidFill>
                <a:latin typeface="Times New Roman" panose="02020603050405020304" pitchFamily="18" charset="0"/>
                <a:cs typeface="Times New Roman" panose="02020603050405020304" pitchFamily="18" charset="0"/>
              </a:rPr>
              <a:t>//</a:t>
            </a:r>
            <a:r>
              <a:rPr kumimoji="1" lang="zh-CN" altLang="en-US" sz="1600" b="1" dirty="0">
                <a:solidFill>
                  <a:srgbClr val="FF0000"/>
                </a:solidFill>
                <a:latin typeface="Times New Roman" panose="02020603050405020304" pitchFamily="18" charset="0"/>
                <a:cs typeface="Times New Roman" panose="02020603050405020304" pitchFamily="18" charset="0"/>
              </a:rPr>
              <a:t>存储当前最小代价对应的路线；</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MaxInt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rgbClr val="FF0000"/>
                </a:solidFill>
                <a:latin typeface="Times New Roman" panose="02020603050405020304" pitchFamily="18" charset="0"/>
                <a:cs typeface="Times New Roman" panose="02020603050405020304" pitchFamily="18" charset="0"/>
              </a:rPr>
              <a:t>//</a:t>
            </a:r>
            <a:r>
              <a:rPr kumimoji="1" lang="zh-CN" altLang="en-US" sz="1600" b="1" dirty="0">
                <a:solidFill>
                  <a:srgbClr val="FF0000"/>
                </a:solidFill>
                <a:latin typeface="Times New Roman" panose="02020603050405020304" pitchFamily="18" charset="0"/>
                <a:cs typeface="Times New Roman" panose="02020603050405020304" pitchFamily="18" charset="0"/>
              </a:rPr>
              <a:t>存储当前最小代价</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void Traveling&lt;Type&gt;::Backtrack(</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 </a:t>
            </a:r>
            <a:r>
              <a:rPr kumimoji="1" lang="en-US" altLang="zh-CN" sz="1600" b="1" dirty="0">
                <a:solidFill>
                  <a:srgbClr val="FF0000"/>
                </a:solidFill>
                <a:latin typeface="Times New Roman" panose="02020603050405020304" pitchFamily="18" charset="0"/>
                <a:cs typeface="Times New Roman" panose="02020603050405020304" pitchFamily="18" charset="0"/>
              </a:rPr>
              <a:t>//t</a:t>
            </a:r>
            <a:r>
              <a:rPr kumimoji="1" lang="zh-CN" altLang="en-US" sz="1600" b="1" dirty="0">
                <a:solidFill>
                  <a:srgbClr val="FF0000"/>
                </a:solidFill>
                <a:latin typeface="Times New Roman" panose="02020603050405020304" pitchFamily="18" charset="0"/>
                <a:cs typeface="Times New Roman" panose="02020603050405020304" pitchFamily="18" charset="0"/>
              </a:rPr>
              <a:t>的初值为</a:t>
            </a:r>
            <a:r>
              <a:rPr kumimoji="1" lang="en-US" altLang="zh-CN" sz="1600" b="1" dirty="0">
                <a:solidFill>
                  <a:srgbClr val="FF0000"/>
                </a:solidFill>
                <a:latin typeface="Times New Roman" panose="02020603050405020304" pitchFamily="18" charset="0"/>
                <a:cs typeface="Times New Roman" panose="02020603050405020304" pitchFamily="18" charset="0"/>
              </a:rPr>
              <a:t>2</a:t>
            </a:r>
            <a:r>
              <a:rPr kumimoji="1" lang="zh-CN" altLang="en-US" sz="1600" b="1" dirty="0">
                <a:solidFill>
                  <a:srgbClr val="FF0000"/>
                </a:solidFill>
                <a:latin typeface="Times New Roman" panose="02020603050405020304" pitchFamily="18" charset="0"/>
                <a:cs typeface="Times New Roman" panose="02020603050405020304" pitchFamily="18" charset="0"/>
              </a:rPr>
              <a:t>；</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(t &gt; n)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if(cost(x) &lt;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cost(x);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x;</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 = 1; j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x[t] = 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if(check(x, t, a, n))</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backtrack(t + 1);</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p:txBody>
      </p:sp>
      <p:sp>
        <p:nvSpPr>
          <p:cNvPr id="7" name="Text Box 4"/>
          <p:cNvSpPr txBox="1">
            <a:spLocks noChangeArrowheads="1"/>
          </p:cNvSpPr>
          <p:nvPr/>
        </p:nvSpPr>
        <p:spPr bwMode="auto">
          <a:xfrm>
            <a:off x="0" y="1381125"/>
            <a:ext cx="3098800" cy="3587750"/>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void backtrack (</a:t>
            </a:r>
            <a:r>
              <a:rPr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t </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&gt; </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output(</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else</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16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f</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t </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g</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h</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sz="1600"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if(constraint(</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)&amp;bound(</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a:t>
            </a:r>
            <a:r>
              <a:rPr lang="en-US" altLang="zh-CN" sz="1600"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+1);</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1600"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8" name="Text Box 4"/>
          <p:cNvSpPr txBox="1">
            <a:spLocks noChangeArrowheads="1"/>
          </p:cNvSpPr>
          <p:nvPr/>
        </p:nvSpPr>
        <p:spPr bwMode="auto">
          <a:xfrm>
            <a:off x="152400" y="5232400"/>
            <a:ext cx="8829675" cy="1625600"/>
          </a:xfrm>
          <a:prstGeom prst="rect">
            <a:avLst/>
          </a:prstGeom>
        </p:spPr>
        <p:style>
          <a:lnRef idx="2">
            <a:schemeClr val="accent2"/>
          </a:lnRef>
          <a:fillRef idx="1">
            <a:schemeClr val="lt1"/>
          </a:fillRef>
          <a:effectRef idx="0">
            <a:schemeClr val="accent2"/>
          </a:effectRef>
          <a:fontRef idx="minor">
            <a:schemeClr val="dk1"/>
          </a:fontRef>
        </p:style>
        <p:txBody>
          <a:bodyPr/>
          <a:lstStyle/>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check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t,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n) {</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if(t &lt; 2) return 1;</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noRepeated</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 t)) </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重复性检查</a:t>
            </a:r>
            <a:endPar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if(t &lt; n &amp;&amp; a[</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x[t-1]</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1;</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if(t = n &amp;&amp; a[</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x[t-1]</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&amp;&amp; a[</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x[1]</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return 1; }</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else return 0;}</a:t>
            </a:r>
          </a:p>
        </p:txBody>
      </p:sp>
      <p:grpSp>
        <p:nvGrpSpPr>
          <p:cNvPr id="2" name="组合 10"/>
          <p:cNvGrpSpPr/>
          <p:nvPr/>
        </p:nvGrpSpPr>
        <p:grpSpPr bwMode="auto">
          <a:xfrm>
            <a:off x="3382963" y="3292475"/>
            <a:ext cx="2378075" cy="344488"/>
            <a:chOff x="3382963" y="3597275"/>
            <a:chExt cx="2378075" cy="344488"/>
          </a:xfrm>
        </p:grpSpPr>
        <p:cxnSp>
          <p:nvCxnSpPr>
            <p:cNvPr id="13" name="直接连接符 12"/>
            <p:cNvCxnSpPr/>
            <p:nvPr/>
          </p:nvCxnSpPr>
          <p:spPr>
            <a:xfrm flipV="1">
              <a:off x="3403600" y="3597275"/>
              <a:ext cx="2336800" cy="206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394075" y="3627438"/>
              <a:ext cx="0" cy="2936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382963" y="3911600"/>
              <a:ext cx="2378075" cy="206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719763" y="3627438"/>
              <a:ext cx="11112" cy="3143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 name="AutoShape 5"/>
          <p:cNvSpPr>
            <a:spLocks noChangeArrowheads="1"/>
          </p:cNvSpPr>
          <p:nvPr/>
        </p:nvSpPr>
        <p:spPr bwMode="auto">
          <a:xfrm>
            <a:off x="5780088" y="2931502"/>
            <a:ext cx="3357562" cy="2037373"/>
          </a:xfrm>
          <a:prstGeom prst="roundRect">
            <a:avLst>
              <a:gd name="adj" fmla="val 16667"/>
            </a:avLst>
          </a:prstGeom>
          <a:solidFill>
            <a:srgbClr val="FFFFFF"/>
          </a:solidFill>
          <a:ln w="38100">
            <a:solidFill>
              <a:srgbClr val="063DE8"/>
            </a:solidFill>
            <a:round/>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深度为</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时，原本只有</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个城市可选了，却要做</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的循环，且每次循环还需要花</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O(n)</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做重复性检测！</a:t>
            </a:r>
            <a:endPar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2"/>
          <p:cNvSpPr>
            <a:spLocks noChangeArrowheads="1"/>
          </p:cNvSpPr>
          <p:nvPr/>
        </p:nvSpPr>
        <p:spPr bwMode="auto">
          <a:xfrm>
            <a:off x="292100" y="376238"/>
            <a:ext cx="4625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货郎担</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递归求解</a:t>
            </a:r>
          </a:p>
        </p:txBody>
      </p:sp>
      <p:sp>
        <p:nvSpPr>
          <p:cNvPr id="8" name="Text Box 4"/>
          <p:cNvSpPr txBox="1">
            <a:spLocks noChangeArrowheads="1"/>
          </p:cNvSpPr>
          <p:nvPr/>
        </p:nvSpPr>
        <p:spPr bwMode="auto">
          <a:xfrm>
            <a:off x="365125" y="1231900"/>
            <a:ext cx="3673475" cy="660400"/>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 = {*, 1, 2, 3, 4, 5}</a:t>
            </a:r>
          </a:p>
        </p:txBody>
      </p:sp>
      <p:sp>
        <p:nvSpPr>
          <p:cNvPr id="11" name="Text Box 4"/>
          <p:cNvSpPr txBox="1">
            <a:spLocks noChangeArrowheads="1"/>
          </p:cNvSpPr>
          <p:nvPr/>
        </p:nvSpPr>
        <p:spPr bwMode="auto">
          <a:xfrm>
            <a:off x="2308225" y="2286000"/>
            <a:ext cx="6073775" cy="1066800"/>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 = {*, 1, </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2, 3, 4, 5</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x[2]-x[5]</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依次交换到</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x[2]</a:t>
            </a:r>
          </a:p>
        </p:txBody>
      </p:sp>
      <p:sp>
        <p:nvSpPr>
          <p:cNvPr id="12" name="Text Box 4"/>
          <p:cNvSpPr txBox="1">
            <a:spLocks noChangeArrowheads="1"/>
          </p:cNvSpPr>
          <p:nvPr/>
        </p:nvSpPr>
        <p:spPr bwMode="auto">
          <a:xfrm>
            <a:off x="365125" y="2476500"/>
            <a:ext cx="1158875" cy="660400"/>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t = 2</a:t>
            </a:r>
          </a:p>
        </p:txBody>
      </p:sp>
      <p:sp>
        <p:nvSpPr>
          <p:cNvPr id="14" name="Text Box 4"/>
          <p:cNvSpPr txBox="1">
            <a:spLocks noChangeArrowheads="1"/>
          </p:cNvSpPr>
          <p:nvPr/>
        </p:nvSpPr>
        <p:spPr bwMode="auto">
          <a:xfrm>
            <a:off x="352425" y="3708400"/>
            <a:ext cx="8042275" cy="647700"/>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假设</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t = 2</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时，将</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x[3]</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交换到</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x[2], </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且</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check</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通过</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 name="Text Box 4"/>
          <p:cNvSpPr txBox="1">
            <a:spLocks noChangeArrowheads="1"/>
          </p:cNvSpPr>
          <p:nvPr/>
        </p:nvSpPr>
        <p:spPr bwMode="auto">
          <a:xfrm>
            <a:off x="390525" y="4813300"/>
            <a:ext cx="1158875" cy="660400"/>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t = 3</a:t>
            </a:r>
          </a:p>
        </p:txBody>
      </p:sp>
      <p:sp>
        <p:nvSpPr>
          <p:cNvPr id="18" name="Text Box 4"/>
          <p:cNvSpPr txBox="1">
            <a:spLocks noChangeArrowheads="1"/>
          </p:cNvSpPr>
          <p:nvPr/>
        </p:nvSpPr>
        <p:spPr bwMode="auto">
          <a:xfrm>
            <a:off x="2232025" y="4622800"/>
            <a:ext cx="6073775" cy="1066800"/>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 = {*, 1, </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2, 4, 5</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x[3]-x[5]</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依次交换到</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x[3]</a:t>
            </a:r>
          </a:p>
        </p:txBody>
      </p:sp>
      <p:sp>
        <p:nvSpPr>
          <p:cNvPr id="20" name="Text Box 4"/>
          <p:cNvSpPr txBox="1">
            <a:spLocks noChangeArrowheads="1"/>
          </p:cNvSpPr>
          <p:nvPr/>
        </p:nvSpPr>
        <p:spPr bwMode="auto">
          <a:xfrm>
            <a:off x="152400" y="5969000"/>
            <a:ext cx="8813800" cy="647700"/>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依次类推，深度</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的时候，只需要考虑</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x[t]-x[n]</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的城市</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6" grpId="0" animBg="1"/>
      <p:bldP spid="18" grpId="0" animBg="1"/>
      <p:bldP spid="2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2"/>
          <p:cNvSpPr>
            <a:spLocks noChangeArrowheads="1"/>
          </p:cNvSpPr>
          <p:nvPr/>
        </p:nvSpPr>
        <p:spPr bwMode="auto">
          <a:xfrm>
            <a:off x="292100" y="376238"/>
            <a:ext cx="4625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货郎担</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递归求解</a:t>
            </a:r>
          </a:p>
        </p:txBody>
      </p:sp>
      <p:sp>
        <p:nvSpPr>
          <p:cNvPr id="5" name="Text Box 4"/>
          <p:cNvSpPr txBox="1">
            <a:spLocks noChangeArrowheads="1"/>
          </p:cNvSpPr>
          <p:nvPr/>
        </p:nvSpPr>
        <p:spPr bwMode="auto">
          <a:xfrm>
            <a:off x="893763" y="1100138"/>
            <a:ext cx="6005512" cy="4170362"/>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a[n][n]</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邻接矩阵，存储任意两个城市间的代价；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存储当前最小代价对应的路线；</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MaxInt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x[] = {0, 1, 2, 3, …, n}</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void Traveling&lt;Type&gt;::Backtrack(</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 </a:t>
            </a:r>
            <a:r>
              <a:rPr kumimoji="1" lang="en-US" altLang="zh-CN" sz="1600" b="1" dirty="0">
                <a:solidFill>
                  <a:srgbClr val="FF0000"/>
                </a:solidFill>
                <a:latin typeface="Times New Roman" panose="02020603050405020304" pitchFamily="18" charset="0"/>
                <a:cs typeface="Times New Roman" panose="02020603050405020304" pitchFamily="18" charset="0"/>
              </a:rPr>
              <a:t>//t</a:t>
            </a:r>
            <a:r>
              <a:rPr kumimoji="1" lang="zh-CN" altLang="en-US" sz="1600" b="1" dirty="0">
                <a:solidFill>
                  <a:srgbClr val="FF0000"/>
                </a:solidFill>
                <a:latin typeface="Times New Roman" panose="02020603050405020304" pitchFamily="18" charset="0"/>
                <a:cs typeface="Times New Roman" panose="02020603050405020304" pitchFamily="18" charset="0"/>
              </a:rPr>
              <a:t>的初值为</a:t>
            </a:r>
            <a:r>
              <a:rPr kumimoji="1" lang="en-US" altLang="zh-CN" sz="1600" b="1" dirty="0">
                <a:solidFill>
                  <a:srgbClr val="FF0000"/>
                </a:solidFill>
                <a:latin typeface="Times New Roman" panose="02020603050405020304" pitchFamily="18" charset="0"/>
                <a:cs typeface="Times New Roman" panose="02020603050405020304" pitchFamily="18" charset="0"/>
              </a:rPr>
              <a:t>2</a:t>
            </a:r>
            <a:r>
              <a:rPr kumimoji="1" lang="zh-CN" altLang="en-US" sz="1600" b="1" dirty="0">
                <a:solidFill>
                  <a:srgbClr val="FF0000"/>
                </a:solidFill>
                <a:latin typeface="Times New Roman" panose="02020603050405020304" pitchFamily="18" charset="0"/>
                <a:cs typeface="Times New Roman" panose="02020603050405020304" pitchFamily="18" charset="0"/>
              </a:rPr>
              <a:t>；</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(t &gt; n)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if(cost(x) &lt;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cost(x);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x;</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 = </a:t>
            </a:r>
            <a:r>
              <a:rPr kumimoji="1" lang="en-US" altLang="zh-CN" sz="1600" b="1" dirty="0">
                <a:solidFill>
                  <a:srgbClr val="FF0000"/>
                </a:solidFill>
                <a:latin typeface="Times New Roman" panose="02020603050405020304" pitchFamily="18" charset="0"/>
                <a:cs typeface="Times New Roman" panose="02020603050405020304" pitchFamily="18" charset="0"/>
              </a:rPr>
              <a:t>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1600" b="1" dirty="0">
                <a:solidFill>
                  <a:srgbClr val="FF0000"/>
                </a:solidFill>
                <a:latin typeface="Times New Roman" panose="02020603050405020304" pitchFamily="18" charset="0"/>
                <a:cs typeface="Times New Roman" panose="02020603050405020304" pitchFamily="18" charset="0"/>
              </a:rPr>
              <a:t>n</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if(check(x, </a:t>
            </a:r>
            <a:r>
              <a:rPr kumimoji="1" lang="en-US" altLang="zh-CN" sz="1600" b="1" dirty="0">
                <a:solidFill>
                  <a:srgbClr val="FF0000"/>
                </a:solidFill>
                <a:latin typeface="Times New Roman" panose="02020603050405020304" pitchFamily="18" charset="0"/>
                <a:cs typeface="Times New Roman" panose="02020603050405020304" pitchFamily="18" charset="0"/>
              </a:rPr>
              <a:t>j</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 a, n)) </a:t>
            </a:r>
            <a:r>
              <a:rPr kumimoji="1" lang="en-US" altLang="zh-CN" sz="1600" b="1" dirty="0">
                <a:solidFill>
                  <a:srgbClr val="FF0000"/>
                </a:solidFill>
                <a:latin typeface="Times New Roman" panose="02020603050405020304" pitchFamily="18" charset="0"/>
                <a:cs typeface="Times New Roman" panose="02020603050405020304" pitchFamily="18" charset="0"/>
              </a:rPr>
              <a:t>{//x</a:t>
            </a:r>
            <a:r>
              <a:rPr kumimoji="1" lang="zh-CN" altLang="en-US" sz="1600" b="1" dirty="0">
                <a:solidFill>
                  <a:srgbClr val="FF0000"/>
                </a:solidFill>
                <a:latin typeface="Times New Roman" panose="02020603050405020304" pitchFamily="18" charset="0"/>
                <a:cs typeface="Times New Roman" panose="02020603050405020304" pitchFamily="18" charset="0"/>
              </a:rPr>
              <a:t>需要赋初值包含所有城市</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swap(x[t], x[j]);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backtrack(t + 1)</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swap(x[t], x[j</a:t>
            </a:r>
            <a:r>
              <a:rPr kumimoji="1" lang="en-US" altLang="zh-CN" sz="1600" b="1" dirty="0" smtClean="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恢复现场</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p>
        </p:txBody>
      </p:sp>
      <p:sp>
        <p:nvSpPr>
          <p:cNvPr id="8" name="Text Box 4"/>
          <p:cNvSpPr txBox="1">
            <a:spLocks noChangeArrowheads="1"/>
          </p:cNvSpPr>
          <p:nvPr/>
        </p:nvSpPr>
        <p:spPr bwMode="auto">
          <a:xfrm>
            <a:off x="152400" y="5346700"/>
            <a:ext cx="8829675" cy="1482725"/>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check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j,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t,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n) {</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if(t &lt; 2) return 1;</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if(t &lt; n &amp;&amp; a[</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x[t-1]</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x[j]</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1;</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if(t = n &amp;&amp; a[</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x[t-1]</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x[j]</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&amp;&amp; a[</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x[j]</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x[1]</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return 1; } </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0;}</a:t>
            </a:r>
          </a:p>
        </p:txBody>
      </p:sp>
      <p:grpSp>
        <p:nvGrpSpPr>
          <p:cNvPr id="2" name="组合 12"/>
          <p:cNvGrpSpPr/>
          <p:nvPr/>
        </p:nvGrpSpPr>
        <p:grpSpPr bwMode="auto">
          <a:xfrm>
            <a:off x="1108075" y="3817938"/>
            <a:ext cx="2447925" cy="762000"/>
            <a:chOff x="1108075" y="3576638"/>
            <a:chExt cx="2447925" cy="762000"/>
          </a:xfrm>
        </p:grpSpPr>
        <p:cxnSp>
          <p:nvCxnSpPr>
            <p:cNvPr id="12" name="直接连接符 11"/>
            <p:cNvCxnSpPr/>
            <p:nvPr/>
          </p:nvCxnSpPr>
          <p:spPr>
            <a:xfrm>
              <a:off x="1117600" y="3606800"/>
              <a:ext cx="2438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8075" y="3576638"/>
              <a:ext cx="9525" cy="762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138238" y="4318000"/>
              <a:ext cx="2376487" cy="95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flipV="1">
              <a:off x="3546475" y="3586163"/>
              <a:ext cx="9525" cy="74136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6" name="Text Box 4"/>
          <p:cNvSpPr txBox="1">
            <a:spLocks noChangeArrowheads="1"/>
          </p:cNvSpPr>
          <p:nvPr/>
        </p:nvSpPr>
        <p:spPr bwMode="auto">
          <a:xfrm>
            <a:off x="4846638" y="5507038"/>
            <a:ext cx="2071687" cy="427037"/>
          </a:xfrm>
          <a:prstGeom prst="rect">
            <a:avLst/>
          </a:prstGeom>
          <a:solidFill>
            <a:srgbClr val="CCFFFF"/>
          </a:solidFill>
          <a:ln w="25400">
            <a:solidFill>
              <a:srgbClr val="FF6600"/>
            </a:solidFill>
            <a:miter lim="800000"/>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
                <a:schemeClr val="accent2"/>
              </a:buClr>
              <a:buSzTx/>
              <a:buFontTx/>
              <a:buNone/>
            </a:pPr>
            <a:r>
              <a:rPr lang="en-US" altLang="zh-CN" sz="16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Repeated</a:t>
            </a:r>
            <a:r>
              <a:rPr lang="zh-CN" altLang="en-US" sz="16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检查没有了</a:t>
            </a:r>
            <a:endParaRPr lang="en-US" altLang="zh-CN" sz="16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4" name="Text Box 4"/>
          <p:cNvSpPr txBox="1">
            <a:spLocks noChangeArrowheads="1"/>
          </p:cNvSpPr>
          <p:nvPr/>
        </p:nvSpPr>
        <p:spPr bwMode="auto">
          <a:xfrm>
            <a:off x="4156075" y="4440238"/>
            <a:ext cx="2071688" cy="427037"/>
          </a:xfrm>
          <a:prstGeom prst="rect">
            <a:avLst/>
          </a:prstGeom>
          <a:solidFill>
            <a:srgbClr val="CCFFFF"/>
          </a:solidFill>
          <a:ln w="25400">
            <a:solidFill>
              <a:srgbClr val="FF6600"/>
            </a:solidFill>
            <a:miter lim="800000"/>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
                <a:schemeClr val="accent2"/>
              </a:buClr>
              <a:buSzTx/>
              <a:buFontTx/>
              <a:buNone/>
            </a:pPr>
            <a:r>
              <a:rPr lang="zh-CN" altLang="en-US" sz="16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别忘了恢复现场</a:t>
            </a:r>
            <a:endParaRPr lang="en-US" altLang="zh-CN" sz="16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5" name="AutoShape 5"/>
          <p:cNvSpPr>
            <a:spLocks noChangeArrowheads="1"/>
          </p:cNvSpPr>
          <p:nvPr/>
        </p:nvSpPr>
        <p:spPr bwMode="auto">
          <a:xfrm>
            <a:off x="5786438" y="1390650"/>
            <a:ext cx="3357562" cy="3378200"/>
          </a:xfrm>
          <a:prstGeom prst="roundRect">
            <a:avLst>
              <a:gd name="adj" fmla="val 16667"/>
            </a:avLst>
          </a:prstGeom>
          <a:solidFill>
            <a:srgbClr val="FFFFFF"/>
          </a:solidFill>
          <a:ln w="38100">
            <a:solidFill>
              <a:srgbClr val="063DE8"/>
            </a:solidFill>
            <a:round/>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算法时间复杂度：</a:t>
            </a:r>
          </a:p>
          <a:p>
            <a:pPr defTabSz="914400" eaLnBrk="1" hangingPunct="1">
              <a:lnSpc>
                <a:spcPct val="100000"/>
              </a:lnSpc>
              <a:spcBef>
                <a:spcPct val="0"/>
              </a:spcBef>
              <a:buClrTx/>
              <a:buSzTx/>
              <a:buFontTx/>
              <a:buNone/>
            </a:pP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算法</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backtrack</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在最坏情况下可能需要更新当前最优解</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次，每次更新</a:t>
            </a: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bestx</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需计算时间</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，从而整个算法的计算时间复杂性为</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p>
        </p:txBody>
      </p:sp>
      <p:sp>
        <p:nvSpPr>
          <p:cNvPr id="15" name="动作按钮: 结束 14">
            <a:hlinkClick r:id="rId4" action="ppaction://hlinksldjump" highlightClick="1"/>
          </p:cNvPr>
          <p:cNvSpPr/>
          <p:nvPr/>
        </p:nvSpPr>
        <p:spPr>
          <a:xfrm>
            <a:off x="7753784" y="4867275"/>
            <a:ext cx="965200" cy="381000"/>
          </a:xfrm>
          <a:prstGeom prst="actionButtonE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dissolve">
                                      <p:cBhvr>
                                        <p:cTn id="23" dur="1000"/>
                                        <p:tgtEl>
                                          <p:spTgt spid="35"/>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26" grpId="0" animBg="1"/>
      <p:bldP spid="34" grpId="0" animBg="1"/>
      <p:bldP spid="35" grpId="0" animBg="1"/>
      <p:bldP spid="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2"/>
          <p:cNvSpPr>
            <a:spLocks noChangeArrowheads="1"/>
          </p:cNvSpPr>
          <p:nvPr/>
        </p:nvSpPr>
        <p:spPr bwMode="auto">
          <a:xfrm>
            <a:off x="292100" y="376238"/>
            <a:ext cx="4625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货郎担</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递归求解</a:t>
            </a:r>
          </a:p>
        </p:txBody>
      </p:sp>
      <p:sp>
        <p:nvSpPr>
          <p:cNvPr id="5" name="Text Box 4"/>
          <p:cNvSpPr txBox="1">
            <a:spLocks noChangeArrowheads="1"/>
          </p:cNvSpPr>
          <p:nvPr/>
        </p:nvSpPr>
        <p:spPr bwMode="auto">
          <a:xfrm>
            <a:off x="893763" y="1100138"/>
            <a:ext cx="6005512" cy="4195762"/>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a[n][n]</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邻接矩阵，存储任意两个城市间的代价；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存储当前最小代价对应的路线；</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MaxInt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x[] = {0, 1, 2, 3, …, n}</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void Traveling&lt;Type&gt;::Backtrack(</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 </a:t>
            </a:r>
            <a:r>
              <a:rPr kumimoji="1" lang="en-US" altLang="zh-CN" sz="1600" b="1" dirty="0">
                <a:solidFill>
                  <a:srgbClr val="FF0000"/>
                </a:solidFill>
                <a:latin typeface="Times New Roman" panose="02020603050405020304" pitchFamily="18" charset="0"/>
                <a:cs typeface="Times New Roman" panose="02020603050405020304" pitchFamily="18" charset="0"/>
              </a:rPr>
              <a:t>//t</a:t>
            </a:r>
            <a:r>
              <a:rPr kumimoji="1" lang="zh-CN" altLang="en-US" sz="1600" b="1" dirty="0">
                <a:solidFill>
                  <a:srgbClr val="FF0000"/>
                </a:solidFill>
                <a:latin typeface="Times New Roman" panose="02020603050405020304" pitchFamily="18" charset="0"/>
                <a:cs typeface="Times New Roman" panose="02020603050405020304" pitchFamily="18" charset="0"/>
              </a:rPr>
              <a:t>的初值为</a:t>
            </a:r>
            <a:r>
              <a:rPr kumimoji="1" lang="en-US" altLang="zh-CN" sz="1600" b="1" dirty="0">
                <a:solidFill>
                  <a:srgbClr val="FF0000"/>
                </a:solidFill>
                <a:latin typeface="Times New Roman" panose="02020603050405020304" pitchFamily="18" charset="0"/>
                <a:cs typeface="Times New Roman" panose="02020603050405020304" pitchFamily="18" charset="0"/>
              </a:rPr>
              <a:t>2</a:t>
            </a:r>
            <a:r>
              <a:rPr kumimoji="1" lang="zh-CN" altLang="en-US" sz="1600" b="1" dirty="0">
                <a:solidFill>
                  <a:srgbClr val="FF0000"/>
                </a:solidFill>
                <a:latin typeface="Times New Roman" panose="02020603050405020304" pitchFamily="18" charset="0"/>
                <a:cs typeface="Times New Roman" panose="02020603050405020304" pitchFamily="18" charset="0"/>
              </a:rPr>
              <a:t>；</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(t &gt; n)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if(cost(x) &lt;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cost(x);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x;</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 = t; j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swap(x[t], x[j]);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a:t>
            </a:r>
            <a:r>
              <a:rPr kumimoji="1" lang="en-US" altLang="zh-CN" sz="1600" b="1" dirty="0">
                <a:solidFill>
                  <a:srgbClr val="FF0000"/>
                </a:solidFill>
                <a:latin typeface="Times New Roman" panose="02020603050405020304" pitchFamily="18" charset="0"/>
                <a:cs typeface="Times New Roman" panose="02020603050405020304" pitchFamily="18" charset="0"/>
              </a:rPr>
              <a:t>check(x, t, a, n))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backtrack(t + 1)</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swap(x[t], x[j]);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p:txBody>
      </p:sp>
      <p:sp>
        <p:nvSpPr>
          <p:cNvPr id="8" name="Text Box 4"/>
          <p:cNvSpPr txBox="1">
            <a:spLocks noChangeArrowheads="1"/>
          </p:cNvSpPr>
          <p:nvPr/>
        </p:nvSpPr>
        <p:spPr bwMode="auto">
          <a:xfrm>
            <a:off x="152400" y="5338763"/>
            <a:ext cx="8829675" cy="1482725"/>
          </a:xfrm>
          <a:prstGeom prst="rect">
            <a:avLst/>
          </a:prstGeom>
        </p:spPr>
        <p:style>
          <a:lnRef idx="2">
            <a:schemeClr val="accent1"/>
          </a:lnRef>
          <a:fillRef idx="1">
            <a:schemeClr val="lt1"/>
          </a:fillRef>
          <a:effectRef idx="0">
            <a:schemeClr val="accent1"/>
          </a:effectRef>
          <a:fontRef idx="minor">
            <a:schemeClr val="dk1"/>
          </a:fontRef>
        </p:style>
        <p:txBody>
          <a:bodyPr/>
          <a:lstStyle/>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check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t,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n) {</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if(t &lt; 2) return 1;</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if(t &lt; n &amp;&amp; a[x[t-1]][x[t]] !=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1;</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if(t = n &amp;&amp; a[x[t-1]][x[t]] !=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&amp;&amp; a[x[t]][x[1]] != </a:t>
            </a:r>
            <a:r>
              <a:rPr lang="en-US" altLang="zh-CN" sz="1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return 1; </a:t>
            </a:r>
          </a:p>
          <a:p>
            <a:pPr>
              <a:buClr>
                <a:schemeClr val="accent2"/>
              </a:buClr>
              <a:defRPr/>
            </a:pPr>
            <a:r>
              <a:rPr lang="en-US" altLang="zh-CN" sz="1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0;}</a:t>
            </a:r>
          </a:p>
        </p:txBody>
      </p:sp>
      <p:cxnSp>
        <p:nvCxnSpPr>
          <p:cNvPr id="12" name="直接连接符 11"/>
          <p:cNvCxnSpPr/>
          <p:nvPr/>
        </p:nvCxnSpPr>
        <p:spPr>
          <a:xfrm>
            <a:off x="1117600" y="3606800"/>
            <a:ext cx="2438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8075" y="3576638"/>
            <a:ext cx="9525" cy="762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138238" y="4318000"/>
            <a:ext cx="2376487" cy="95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flipV="1">
            <a:off x="3546475" y="3586163"/>
            <a:ext cx="9525" cy="74136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Text Box 4"/>
          <p:cNvSpPr txBox="1">
            <a:spLocks noChangeArrowheads="1"/>
          </p:cNvSpPr>
          <p:nvPr/>
        </p:nvSpPr>
        <p:spPr bwMode="auto">
          <a:xfrm>
            <a:off x="4846638" y="5354638"/>
            <a:ext cx="2071687" cy="427037"/>
          </a:xfrm>
          <a:prstGeom prst="rect">
            <a:avLst/>
          </a:prstGeom>
          <a:solidFill>
            <a:srgbClr val="CCFFFF"/>
          </a:solidFill>
          <a:ln w="25400">
            <a:solidFill>
              <a:srgbClr val="FF6600"/>
            </a:solidFill>
            <a:miter lim="800000"/>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
                <a:schemeClr val="accent2"/>
              </a:buClr>
              <a:buSzTx/>
              <a:buFontTx/>
              <a:buNone/>
            </a:pPr>
            <a:r>
              <a:rPr lang="en-US" altLang="zh-CN" sz="16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Repeated</a:t>
            </a:r>
            <a:r>
              <a:rPr lang="zh-CN" altLang="en-US" sz="16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检查没有了</a:t>
            </a:r>
            <a:endParaRPr lang="en-US" altLang="zh-CN" sz="16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5" name="AutoShape 5"/>
          <p:cNvSpPr>
            <a:spLocks noChangeArrowheads="1"/>
          </p:cNvSpPr>
          <p:nvPr/>
        </p:nvSpPr>
        <p:spPr bwMode="auto">
          <a:xfrm>
            <a:off x="5786438" y="1390650"/>
            <a:ext cx="3357562" cy="3378200"/>
          </a:xfrm>
          <a:prstGeom prst="roundRect">
            <a:avLst>
              <a:gd name="adj" fmla="val 16667"/>
            </a:avLst>
          </a:prstGeom>
          <a:solidFill>
            <a:srgbClr val="FFFFFF"/>
          </a:solidFill>
          <a:ln w="38100">
            <a:solidFill>
              <a:srgbClr val="063DE8"/>
            </a:solidFill>
            <a:round/>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算法时间复杂度：</a:t>
            </a:r>
          </a:p>
          <a:p>
            <a:pPr defTabSz="914400" eaLnBrk="1" hangingPunct="1">
              <a:lnSpc>
                <a:spcPct val="100000"/>
              </a:lnSpc>
              <a:spcBef>
                <a:spcPct val="0"/>
              </a:spcBef>
              <a:buClrTx/>
              <a:buSzTx/>
              <a:buFontTx/>
              <a:buNone/>
            </a:pP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算法</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backtrack</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在最坏情况下可能需要更新当前最优解</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O((n-1)!)</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次，每次更新</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bestx</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需计算时间</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，从而整个算法的计算时间复杂性为</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dissolve">
                                      <p:cBhvr>
                                        <p:cTn id="29"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26" grpId="0" animBg="1"/>
      <p:bldP spid="3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Text Box 3"/>
          <p:cNvSpPr txBox="1">
            <a:spLocks noChangeArrowheads="1"/>
          </p:cNvSpPr>
          <p:nvPr/>
        </p:nvSpPr>
        <p:spPr bwMode="auto">
          <a:xfrm>
            <a:off x="1423988" y="908050"/>
            <a:ext cx="184150" cy="579438"/>
          </a:xfrm>
          <a:prstGeom prst="rect">
            <a:avLst/>
          </a:prstGeom>
          <a:noFill/>
          <a:ln w="9525">
            <a:noFill/>
            <a:miter lim="800000"/>
          </a:ln>
          <a:effectLst/>
        </p:spPr>
        <p:txBody>
          <a:bodyPr wrap="none">
            <a:spAutoFit/>
          </a:bodyPr>
          <a:lstStyle/>
          <a:p>
            <a:pPr algn="ctr">
              <a:defRPr/>
            </a:pPr>
            <a:endParaRPr lang="zh-CN" altLang="en-US" sz="3200" b="1">
              <a:solidFill>
                <a:srgbClr val="000000"/>
              </a:solidFill>
              <a:effectLst>
                <a:outerShdw blurRad="38100" dist="38100" dir="2700000" algn="tl">
                  <a:srgbClr val="C0C0C0"/>
                </a:outerShdw>
              </a:effectLst>
              <a:latin typeface="Arial" panose="020B0604020202020204" pitchFamily="34" charset="0"/>
              <a:ea typeface="黑体" panose="02010609060101010101" pitchFamily="49" charset="-122"/>
            </a:endParaRPr>
          </a:p>
        </p:txBody>
      </p:sp>
      <p:grpSp>
        <p:nvGrpSpPr>
          <p:cNvPr id="47107" name="Group 133"/>
          <p:cNvGrpSpPr/>
          <p:nvPr/>
        </p:nvGrpSpPr>
        <p:grpSpPr bwMode="auto">
          <a:xfrm>
            <a:off x="744538" y="1785938"/>
            <a:ext cx="2454275" cy="2287587"/>
            <a:chOff x="244" y="2236"/>
            <a:chExt cx="1317" cy="1186"/>
          </a:xfrm>
        </p:grpSpPr>
        <p:grpSp>
          <p:nvGrpSpPr>
            <p:cNvPr id="47200" name="Group 6"/>
            <p:cNvGrpSpPr/>
            <p:nvPr/>
          </p:nvGrpSpPr>
          <p:grpSpPr bwMode="auto">
            <a:xfrm>
              <a:off x="1248" y="2271"/>
              <a:ext cx="249" cy="249"/>
              <a:chOff x="4531" y="2063"/>
              <a:chExt cx="249" cy="249"/>
            </a:xfrm>
          </p:grpSpPr>
          <p:sp>
            <p:nvSpPr>
              <p:cNvPr id="112" name="Oval 7"/>
              <p:cNvSpPr>
                <a:spLocks noChangeArrowheads="1"/>
              </p:cNvSpPr>
              <p:nvPr/>
            </p:nvSpPr>
            <p:spPr bwMode="auto">
              <a:xfrm>
                <a:off x="4531" y="2063"/>
                <a:ext cx="249" cy="249"/>
              </a:xfrm>
              <a:prstGeom prst="ellipse">
                <a:avLst/>
              </a:prstGeom>
            </p:spPr>
            <p:style>
              <a:lnRef idx="3">
                <a:schemeClr val="lt1"/>
              </a:lnRef>
              <a:fillRef idx="1">
                <a:schemeClr val="accent1"/>
              </a:fillRef>
              <a:effectRef idx="1">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223" name="Text Box 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47201" name="Group 9"/>
            <p:cNvGrpSpPr/>
            <p:nvPr/>
          </p:nvGrpSpPr>
          <p:grpSpPr bwMode="auto">
            <a:xfrm>
              <a:off x="323" y="2264"/>
              <a:ext cx="249" cy="249"/>
              <a:chOff x="4531" y="2063"/>
              <a:chExt cx="249" cy="249"/>
            </a:xfrm>
          </p:grpSpPr>
          <p:sp>
            <p:nvSpPr>
              <p:cNvPr id="110" name="Oval 10"/>
              <p:cNvSpPr>
                <a:spLocks noChangeArrowheads="1"/>
              </p:cNvSpPr>
              <p:nvPr/>
            </p:nvSpPr>
            <p:spPr bwMode="auto">
              <a:xfrm>
                <a:off x="4531" y="2063"/>
                <a:ext cx="249" cy="249"/>
              </a:xfrm>
              <a:prstGeom prst="ellipse">
                <a:avLst/>
              </a:prstGeom>
            </p:spPr>
            <p:style>
              <a:lnRef idx="3">
                <a:schemeClr val="lt1"/>
              </a:lnRef>
              <a:fillRef idx="1">
                <a:schemeClr val="accent1"/>
              </a:fillRef>
              <a:effectRef idx="1">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221" name="Text Box 1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nvGrpSpPr>
            <p:cNvPr id="47202" name="Group 15"/>
            <p:cNvGrpSpPr/>
            <p:nvPr/>
          </p:nvGrpSpPr>
          <p:grpSpPr bwMode="auto">
            <a:xfrm>
              <a:off x="315" y="3131"/>
              <a:ext cx="249" cy="249"/>
              <a:chOff x="4531" y="2063"/>
              <a:chExt cx="249" cy="249"/>
            </a:xfrm>
          </p:grpSpPr>
          <p:sp>
            <p:nvSpPr>
              <p:cNvPr id="108" name="Oval 16"/>
              <p:cNvSpPr>
                <a:spLocks noChangeArrowheads="1"/>
              </p:cNvSpPr>
              <p:nvPr/>
            </p:nvSpPr>
            <p:spPr bwMode="auto">
              <a:xfrm>
                <a:off x="4531" y="2063"/>
                <a:ext cx="250" cy="249"/>
              </a:xfrm>
              <a:prstGeom prst="ellipse">
                <a:avLst/>
              </a:prstGeom>
            </p:spPr>
            <p:style>
              <a:lnRef idx="3">
                <a:schemeClr val="lt1"/>
              </a:lnRef>
              <a:fillRef idx="1">
                <a:schemeClr val="accent1"/>
              </a:fillRef>
              <a:effectRef idx="1">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219" name="Text Box 1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sp>
          <p:nvSpPr>
            <p:cNvPr id="47203" name="Text Box 46"/>
            <p:cNvSpPr txBox="1">
              <a:spLocks noChangeArrowheads="1"/>
            </p:cNvSpPr>
            <p:nvPr/>
          </p:nvSpPr>
          <p:spPr bwMode="auto">
            <a:xfrm>
              <a:off x="1389" y="274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47204" name="Text Box 47"/>
            <p:cNvSpPr txBox="1">
              <a:spLocks noChangeArrowheads="1"/>
            </p:cNvSpPr>
            <p:nvPr/>
          </p:nvSpPr>
          <p:spPr bwMode="auto">
            <a:xfrm>
              <a:off x="832" y="2236"/>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grpSp>
          <p:nvGrpSpPr>
            <p:cNvPr id="47205" name="Group 48"/>
            <p:cNvGrpSpPr/>
            <p:nvPr/>
          </p:nvGrpSpPr>
          <p:grpSpPr bwMode="auto">
            <a:xfrm>
              <a:off x="1253" y="3134"/>
              <a:ext cx="249" cy="249"/>
              <a:chOff x="4531" y="2063"/>
              <a:chExt cx="249" cy="249"/>
            </a:xfrm>
          </p:grpSpPr>
          <p:sp>
            <p:nvSpPr>
              <p:cNvPr id="106" name="Oval 49"/>
              <p:cNvSpPr>
                <a:spLocks noChangeArrowheads="1"/>
              </p:cNvSpPr>
              <p:nvPr/>
            </p:nvSpPr>
            <p:spPr bwMode="auto">
              <a:xfrm>
                <a:off x="4531" y="2063"/>
                <a:ext cx="250" cy="249"/>
              </a:xfrm>
              <a:prstGeom prst="ellipse">
                <a:avLst/>
              </a:prstGeom>
            </p:spPr>
            <p:style>
              <a:lnRef idx="3">
                <a:schemeClr val="lt1"/>
              </a:lnRef>
              <a:fillRef idx="1">
                <a:schemeClr val="accent1"/>
              </a:fillRef>
              <a:effectRef idx="1">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217" name="Text Box 5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sp>
          <p:nvSpPr>
            <p:cNvPr id="47206" name="Line 51"/>
            <p:cNvSpPr>
              <a:spLocks noChangeShapeType="1"/>
            </p:cNvSpPr>
            <p:nvPr/>
          </p:nvSpPr>
          <p:spPr bwMode="auto">
            <a:xfrm>
              <a:off x="557" y="2429"/>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7" name="Line 52"/>
            <p:cNvSpPr>
              <a:spLocks noChangeShapeType="1"/>
            </p:cNvSpPr>
            <p:nvPr/>
          </p:nvSpPr>
          <p:spPr bwMode="auto">
            <a:xfrm>
              <a:off x="442" y="2515"/>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8" name="Line 53"/>
            <p:cNvSpPr>
              <a:spLocks noChangeShapeType="1"/>
            </p:cNvSpPr>
            <p:nvPr/>
          </p:nvSpPr>
          <p:spPr bwMode="auto">
            <a:xfrm>
              <a:off x="564" y="3224"/>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9" name="Line 54"/>
            <p:cNvSpPr>
              <a:spLocks noChangeShapeType="1"/>
            </p:cNvSpPr>
            <p:nvPr/>
          </p:nvSpPr>
          <p:spPr bwMode="auto">
            <a:xfrm>
              <a:off x="1371" y="2523"/>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0" name="Line 55"/>
            <p:cNvSpPr>
              <a:spLocks noChangeShapeType="1"/>
            </p:cNvSpPr>
            <p:nvPr/>
          </p:nvSpPr>
          <p:spPr bwMode="auto">
            <a:xfrm>
              <a:off x="509" y="2477"/>
              <a:ext cx="787" cy="69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1" name="Line 56"/>
            <p:cNvSpPr>
              <a:spLocks noChangeShapeType="1"/>
            </p:cNvSpPr>
            <p:nvPr/>
          </p:nvSpPr>
          <p:spPr bwMode="auto">
            <a:xfrm flipV="1">
              <a:off x="509" y="2486"/>
              <a:ext cx="777" cy="67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2" name="Text Box 57"/>
            <p:cNvSpPr txBox="1">
              <a:spLocks noChangeArrowheads="1"/>
            </p:cNvSpPr>
            <p:nvPr/>
          </p:nvSpPr>
          <p:spPr bwMode="auto">
            <a:xfrm>
              <a:off x="244" y="273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47213" name="Text Box 58"/>
            <p:cNvSpPr txBox="1">
              <a:spLocks noChangeArrowheads="1"/>
            </p:cNvSpPr>
            <p:nvPr/>
          </p:nvSpPr>
          <p:spPr bwMode="auto">
            <a:xfrm>
              <a:off x="807" y="324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20</a:t>
              </a:r>
            </a:p>
          </p:txBody>
        </p:sp>
        <p:sp>
          <p:nvSpPr>
            <p:cNvPr id="47214" name="Text Box 59"/>
            <p:cNvSpPr txBox="1">
              <a:spLocks noChangeArrowheads="1"/>
            </p:cNvSpPr>
            <p:nvPr/>
          </p:nvSpPr>
          <p:spPr bwMode="auto">
            <a:xfrm>
              <a:off x="1106" y="262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47215" name="Text Box 60"/>
            <p:cNvSpPr txBox="1">
              <a:spLocks noChangeArrowheads="1"/>
            </p:cNvSpPr>
            <p:nvPr/>
          </p:nvSpPr>
          <p:spPr bwMode="auto">
            <a:xfrm>
              <a:off x="905" y="2962"/>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grpSp>
        <p:nvGrpSpPr>
          <p:cNvPr id="47108" name="组合 118"/>
          <p:cNvGrpSpPr/>
          <p:nvPr/>
        </p:nvGrpSpPr>
        <p:grpSpPr bwMode="auto">
          <a:xfrm>
            <a:off x="4122738" y="1354138"/>
            <a:ext cx="4351337" cy="3733800"/>
            <a:chOff x="4038600" y="3106738"/>
            <a:chExt cx="4351338" cy="3733303"/>
          </a:xfrm>
        </p:grpSpPr>
        <p:grpSp>
          <p:nvGrpSpPr>
            <p:cNvPr id="47110" name="Group 151"/>
            <p:cNvGrpSpPr/>
            <p:nvPr/>
          </p:nvGrpSpPr>
          <p:grpSpPr bwMode="auto">
            <a:xfrm>
              <a:off x="4038600" y="3106738"/>
              <a:ext cx="4351338" cy="3394075"/>
              <a:chOff x="2604" y="2009"/>
              <a:chExt cx="2741" cy="2138"/>
            </a:xfrm>
          </p:grpSpPr>
          <p:grpSp>
            <p:nvGrpSpPr>
              <p:cNvPr id="47117" name="Group 62"/>
              <p:cNvGrpSpPr/>
              <p:nvPr/>
            </p:nvGrpSpPr>
            <p:grpSpPr bwMode="auto">
              <a:xfrm>
                <a:off x="3886" y="2009"/>
                <a:ext cx="249" cy="249"/>
                <a:chOff x="4531" y="2063"/>
                <a:chExt cx="249" cy="249"/>
              </a:xfrm>
            </p:grpSpPr>
            <p:sp>
              <p:nvSpPr>
                <p:cNvPr id="203" name="Oval 63"/>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99" name="Text Box 64"/>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a:t>
                  </a:r>
                </a:p>
              </p:txBody>
            </p:sp>
          </p:grpSp>
          <p:grpSp>
            <p:nvGrpSpPr>
              <p:cNvPr id="47118" name="Group 65"/>
              <p:cNvGrpSpPr/>
              <p:nvPr/>
            </p:nvGrpSpPr>
            <p:grpSpPr bwMode="auto">
              <a:xfrm>
                <a:off x="3885" y="2477"/>
                <a:ext cx="249" cy="249"/>
                <a:chOff x="4531" y="2063"/>
                <a:chExt cx="249" cy="249"/>
              </a:xfrm>
            </p:grpSpPr>
            <p:sp>
              <p:nvSpPr>
                <p:cNvPr id="201" name="Oval 66"/>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97" name="Text Box 6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a:t>
                  </a:r>
                </a:p>
              </p:txBody>
            </p:sp>
          </p:grpSp>
          <p:grpSp>
            <p:nvGrpSpPr>
              <p:cNvPr id="47119" name="Group 68"/>
              <p:cNvGrpSpPr/>
              <p:nvPr/>
            </p:nvGrpSpPr>
            <p:grpSpPr bwMode="auto">
              <a:xfrm>
                <a:off x="2936" y="2954"/>
                <a:ext cx="249" cy="249"/>
                <a:chOff x="4531" y="2063"/>
                <a:chExt cx="249" cy="249"/>
              </a:xfrm>
            </p:grpSpPr>
            <p:sp>
              <p:nvSpPr>
                <p:cNvPr id="199" name="Oval 69"/>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95" name="Text Box 7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a:t>
                  </a:r>
                </a:p>
              </p:txBody>
            </p:sp>
          </p:grpSp>
          <p:grpSp>
            <p:nvGrpSpPr>
              <p:cNvPr id="47120" name="Group 71"/>
              <p:cNvGrpSpPr/>
              <p:nvPr/>
            </p:nvGrpSpPr>
            <p:grpSpPr bwMode="auto">
              <a:xfrm>
                <a:off x="3898" y="2950"/>
                <a:ext cx="249" cy="249"/>
                <a:chOff x="4531" y="2063"/>
                <a:chExt cx="249" cy="249"/>
              </a:xfrm>
            </p:grpSpPr>
            <p:sp>
              <p:nvSpPr>
                <p:cNvPr id="197" name="Oval 72"/>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93" name="Text Box 7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D</a:t>
                  </a:r>
                </a:p>
              </p:txBody>
            </p:sp>
          </p:grpSp>
          <p:grpSp>
            <p:nvGrpSpPr>
              <p:cNvPr id="47121" name="Group 74"/>
              <p:cNvGrpSpPr/>
              <p:nvPr/>
            </p:nvGrpSpPr>
            <p:grpSpPr bwMode="auto">
              <a:xfrm>
                <a:off x="4813" y="2950"/>
                <a:ext cx="249" cy="249"/>
                <a:chOff x="4531" y="2063"/>
                <a:chExt cx="249" cy="249"/>
              </a:xfrm>
            </p:grpSpPr>
            <p:sp>
              <p:nvSpPr>
                <p:cNvPr id="195" name="Oval 75"/>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91" name="Text Box 76"/>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E</a:t>
                  </a:r>
                </a:p>
              </p:txBody>
            </p:sp>
          </p:grpSp>
          <p:grpSp>
            <p:nvGrpSpPr>
              <p:cNvPr id="47122" name="Group 77"/>
              <p:cNvGrpSpPr/>
              <p:nvPr/>
            </p:nvGrpSpPr>
            <p:grpSpPr bwMode="auto">
              <a:xfrm>
                <a:off x="2677" y="3400"/>
                <a:ext cx="249" cy="249"/>
                <a:chOff x="4531" y="2063"/>
                <a:chExt cx="249" cy="249"/>
              </a:xfrm>
            </p:grpSpPr>
            <p:sp>
              <p:nvSpPr>
                <p:cNvPr id="193" name="Oval 78"/>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89" name="Text Box 7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F</a:t>
                  </a:r>
                </a:p>
              </p:txBody>
            </p:sp>
          </p:grpSp>
          <p:grpSp>
            <p:nvGrpSpPr>
              <p:cNvPr id="47123" name="Group 80"/>
              <p:cNvGrpSpPr/>
              <p:nvPr/>
            </p:nvGrpSpPr>
            <p:grpSpPr bwMode="auto">
              <a:xfrm>
                <a:off x="3182" y="3389"/>
                <a:ext cx="249" cy="249"/>
                <a:chOff x="4531" y="2063"/>
                <a:chExt cx="249" cy="249"/>
              </a:xfrm>
            </p:grpSpPr>
            <p:sp>
              <p:nvSpPr>
                <p:cNvPr id="191" name="Oval 81"/>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87" name="Text Box 8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G</a:t>
                  </a:r>
                </a:p>
              </p:txBody>
            </p:sp>
          </p:grpSp>
          <p:grpSp>
            <p:nvGrpSpPr>
              <p:cNvPr id="47124" name="Group 83"/>
              <p:cNvGrpSpPr/>
              <p:nvPr/>
            </p:nvGrpSpPr>
            <p:grpSpPr bwMode="auto">
              <a:xfrm>
                <a:off x="3682" y="3386"/>
                <a:ext cx="249" cy="249"/>
                <a:chOff x="4531" y="2063"/>
                <a:chExt cx="249" cy="249"/>
              </a:xfrm>
            </p:grpSpPr>
            <p:sp>
              <p:nvSpPr>
                <p:cNvPr id="189" name="Oval 84"/>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85" name="Text Box 85"/>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H</a:t>
                  </a:r>
                </a:p>
              </p:txBody>
            </p:sp>
          </p:grpSp>
          <p:grpSp>
            <p:nvGrpSpPr>
              <p:cNvPr id="47125" name="Group 86"/>
              <p:cNvGrpSpPr/>
              <p:nvPr/>
            </p:nvGrpSpPr>
            <p:grpSpPr bwMode="auto">
              <a:xfrm>
                <a:off x="4167" y="3393"/>
                <a:ext cx="249" cy="249"/>
                <a:chOff x="4531" y="2063"/>
                <a:chExt cx="249" cy="249"/>
              </a:xfrm>
            </p:grpSpPr>
            <p:sp>
              <p:nvSpPr>
                <p:cNvPr id="187" name="Oval 87"/>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83" name="Text Box 8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I</a:t>
                  </a:r>
                </a:p>
              </p:txBody>
            </p:sp>
          </p:grpSp>
          <p:grpSp>
            <p:nvGrpSpPr>
              <p:cNvPr id="47126" name="Group 89"/>
              <p:cNvGrpSpPr/>
              <p:nvPr/>
            </p:nvGrpSpPr>
            <p:grpSpPr bwMode="auto">
              <a:xfrm>
                <a:off x="4614" y="3400"/>
                <a:ext cx="249" cy="249"/>
                <a:chOff x="4531" y="2063"/>
                <a:chExt cx="249" cy="249"/>
              </a:xfrm>
            </p:grpSpPr>
            <p:sp>
              <p:nvSpPr>
                <p:cNvPr id="185" name="Oval 90"/>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81" name="Text Box 9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J</a:t>
                  </a:r>
                </a:p>
              </p:txBody>
            </p:sp>
          </p:grpSp>
          <p:grpSp>
            <p:nvGrpSpPr>
              <p:cNvPr id="47127" name="Group 92"/>
              <p:cNvGrpSpPr/>
              <p:nvPr/>
            </p:nvGrpSpPr>
            <p:grpSpPr bwMode="auto">
              <a:xfrm>
                <a:off x="5077" y="3391"/>
                <a:ext cx="249" cy="249"/>
                <a:chOff x="4531" y="2063"/>
                <a:chExt cx="249" cy="249"/>
              </a:xfrm>
            </p:grpSpPr>
            <p:sp>
              <p:nvSpPr>
                <p:cNvPr id="183" name="Oval 93"/>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79" name="Text Box 94"/>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K</a:t>
                  </a:r>
                </a:p>
              </p:txBody>
            </p:sp>
          </p:grpSp>
          <p:grpSp>
            <p:nvGrpSpPr>
              <p:cNvPr id="47128" name="Group 95"/>
              <p:cNvGrpSpPr/>
              <p:nvPr/>
            </p:nvGrpSpPr>
            <p:grpSpPr bwMode="auto">
              <a:xfrm>
                <a:off x="2683" y="3894"/>
                <a:ext cx="249" cy="249"/>
                <a:chOff x="4531" y="2063"/>
                <a:chExt cx="249" cy="249"/>
              </a:xfrm>
            </p:grpSpPr>
            <p:sp>
              <p:nvSpPr>
                <p:cNvPr id="181" name="Oval 96"/>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77" name="Text Box 9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a:t>
                  </a:r>
                </a:p>
              </p:txBody>
            </p:sp>
          </p:grpSp>
          <p:grpSp>
            <p:nvGrpSpPr>
              <p:cNvPr id="47129" name="Group 98"/>
              <p:cNvGrpSpPr/>
              <p:nvPr/>
            </p:nvGrpSpPr>
            <p:grpSpPr bwMode="auto">
              <a:xfrm>
                <a:off x="3209" y="3894"/>
                <a:ext cx="249" cy="249"/>
                <a:chOff x="4531" y="2063"/>
                <a:chExt cx="249" cy="249"/>
              </a:xfrm>
            </p:grpSpPr>
            <p:sp>
              <p:nvSpPr>
                <p:cNvPr id="179" name="Oval 99"/>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75" name="Text Box 10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M</a:t>
                  </a:r>
                </a:p>
              </p:txBody>
            </p:sp>
          </p:grpSp>
          <p:grpSp>
            <p:nvGrpSpPr>
              <p:cNvPr id="47130" name="Group 101"/>
              <p:cNvGrpSpPr/>
              <p:nvPr/>
            </p:nvGrpSpPr>
            <p:grpSpPr bwMode="auto">
              <a:xfrm>
                <a:off x="4182" y="3881"/>
                <a:ext cx="249" cy="249"/>
                <a:chOff x="4531" y="2063"/>
                <a:chExt cx="249" cy="249"/>
              </a:xfrm>
            </p:grpSpPr>
            <p:sp>
              <p:nvSpPr>
                <p:cNvPr id="177" name="Oval 102"/>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73" name="Text Box 10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O</a:t>
                  </a:r>
                </a:p>
              </p:txBody>
            </p:sp>
          </p:grpSp>
          <p:grpSp>
            <p:nvGrpSpPr>
              <p:cNvPr id="47131" name="Group 104"/>
              <p:cNvGrpSpPr/>
              <p:nvPr/>
            </p:nvGrpSpPr>
            <p:grpSpPr bwMode="auto">
              <a:xfrm>
                <a:off x="3691" y="3889"/>
                <a:ext cx="249" cy="249"/>
                <a:chOff x="4531" y="2063"/>
                <a:chExt cx="249" cy="249"/>
              </a:xfrm>
            </p:grpSpPr>
            <p:sp>
              <p:nvSpPr>
                <p:cNvPr id="175" name="Oval 105"/>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71" name="Text Box 106"/>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N</a:t>
                  </a:r>
                </a:p>
              </p:txBody>
            </p:sp>
          </p:grpSp>
          <p:grpSp>
            <p:nvGrpSpPr>
              <p:cNvPr id="47132" name="Group 107"/>
              <p:cNvGrpSpPr/>
              <p:nvPr/>
            </p:nvGrpSpPr>
            <p:grpSpPr bwMode="auto">
              <a:xfrm>
                <a:off x="5096" y="3889"/>
                <a:ext cx="249" cy="249"/>
                <a:chOff x="4531" y="2063"/>
                <a:chExt cx="249" cy="249"/>
              </a:xfrm>
            </p:grpSpPr>
            <p:sp>
              <p:nvSpPr>
                <p:cNvPr id="173" name="Oval 108"/>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69" name="Text Box 10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Q</a:t>
                  </a:r>
                </a:p>
              </p:txBody>
            </p:sp>
          </p:grpSp>
          <p:grpSp>
            <p:nvGrpSpPr>
              <p:cNvPr id="47133" name="Group 110"/>
              <p:cNvGrpSpPr/>
              <p:nvPr/>
            </p:nvGrpSpPr>
            <p:grpSpPr bwMode="auto">
              <a:xfrm>
                <a:off x="4623" y="3898"/>
                <a:ext cx="249" cy="249"/>
                <a:chOff x="4531" y="2063"/>
                <a:chExt cx="249" cy="249"/>
              </a:xfrm>
            </p:grpSpPr>
            <p:sp>
              <p:nvSpPr>
                <p:cNvPr id="171" name="Oval 111"/>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47167" name="Text Box 11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P</a:t>
                  </a:r>
                </a:p>
              </p:txBody>
            </p:sp>
          </p:grpSp>
          <p:sp>
            <p:nvSpPr>
              <p:cNvPr id="47134" name="Line 116"/>
              <p:cNvSpPr>
                <a:spLocks noChangeShapeType="1"/>
              </p:cNvSpPr>
              <p:nvPr/>
            </p:nvSpPr>
            <p:spPr bwMode="auto">
              <a:xfrm>
                <a:off x="4013" y="2256"/>
                <a:ext cx="0" cy="211"/>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5" name="Line 117"/>
              <p:cNvSpPr>
                <a:spLocks noChangeShapeType="1"/>
              </p:cNvSpPr>
              <p:nvPr/>
            </p:nvSpPr>
            <p:spPr bwMode="auto">
              <a:xfrm>
                <a:off x="4021" y="2735"/>
                <a:ext cx="0" cy="211"/>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6" name="Line 118"/>
              <p:cNvSpPr>
                <a:spLocks noChangeShapeType="1"/>
              </p:cNvSpPr>
              <p:nvPr/>
            </p:nvSpPr>
            <p:spPr bwMode="auto">
              <a:xfrm flipH="1">
                <a:off x="3149" y="2698"/>
                <a:ext cx="768" cy="307"/>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7" name="Line 119"/>
              <p:cNvSpPr>
                <a:spLocks noChangeShapeType="1"/>
              </p:cNvSpPr>
              <p:nvPr/>
            </p:nvSpPr>
            <p:spPr bwMode="auto">
              <a:xfrm>
                <a:off x="4099" y="2698"/>
                <a:ext cx="720" cy="34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8" name="Line 120"/>
              <p:cNvSpPr>
                <a:spLocks noChangeShapeType="1"/>
              </p:cNvSpPr>
              <p:nvPr/>
            </p:nvSpPr>
            <p:spPr bwMode="auto">
              <a:xfrm flipH="1">
                <a:off x="2861" y="3178"/>
                <a:ext cx="125" cy="23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9" name="Line 121"/>
              <p:cNvSpPr>
                <a:spLocks noChangeShapeType="1"/>
              </p:cNvSpPr>
              <p:nvPr/>
            </p:nvSpPr>
            <p:spPr bwMode="auto">
              <a:xfrm>
                <a:off x="3110" y="3178"/>
                <a:ext cx="154" cy="21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0" name="Line 122"/>
              <p:cNvSpPr>
                <a:spLocks noChangeShapeType="1"/>
              </p:cNvSpPr>
              <p:nvPr/>
            </p:nvSpPr>
            <p:spPr bwMode="auto">
              <a:xfrm>
                <a:off x="2794" y="3638"/>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1" name="Line 123"/>
              <p:cNvSpPr>
                <a:spLocks noChangeShapeType="1"/>
              </p:cNvSpPr>
              <p:nvPr/>
            </p:nvSpPr>
            <p:spPr bwMode="auto">
              <a:xfrm>
                <a:off x="3312" y="3638"/>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2" name="Line 124"/>
              <p:cNvSpPr>
                <a:spLocks noChangeShapeType="1"/>
              </p:cNvSpPr>
              <p:nvPr/>
            </p:nvSpPr>
            <p:spPr bwMode="auto">
              <a:xfrm flipH="1">
                <a:off x="3857" y="3185"/>
                <a:ext cx="125" cy="230"/>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3" name="Line 125"/>
              <p:cNvSpPr>
                <a:spLocks noChangeShapeType="1"/>
              </p:cNvSpPr>
              <p:nvPr/>
            </p:nvSpPr>
            <p:spPr bwMode="auto">
              <a:xfrm>
                <a:off x="4106" y="3185"/>
                <a:ext cx="154" cy="21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4" name="Line 126"/>
              <p:cNvSpPr>
                <a:spLocks noChangeShapeType="1"/>
              </p:cNvSpPr>
              <p:nvPr/>
            </p:nvSpPr>
            <p:spPr bwMode="auto">
              <a:xfrm>
                <a:off x="3790" y="3645"/>
                <a:ext cx="0" cy="250"/>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5" name="Line 127"/>
              <p:cNvSpPr>
                <a:spLocks noChangeShapeType="1"/>
              </p:cNvSpPr>
              <p:nvPr/>
            </p:nvSpPr>
            <p:spPr bwMode="auto">
              <a:xfrm>
                <a:off x="4308" y="3645"/>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6" name="Line 128"/>
              <p:cNvSpPr>
                <a:spLocks noChangeShapeType="1"/>
              </p:cNvSpPr>
              <p:nvPr/>
            </p:nvSpPr>
            <p:spPr bwMode="auto">
              <a:xfrm flipH="1">
                <a:off x="4778" y="3185"/>
                <a:ext cx="125" cy="23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7" name="Line 129"/>
              <p:cNvSpPr>
                <a:spLocks noChangeShapeType="1"/>
              </p:cNvSpPr>
              <p:nvPr/>
            </p:nvSpPr>
            <p:spPr bwMode="auto">
              <a:xfrm>
                <a:off x="5008" y="3166"/>
                <a:ext cx="154" cy="22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8" name="Line 130"/>
              <p:cNvSpPr>
                <a:spLocks noChangeShapeType="1"/>
              </p:cNvSpPr>
              <p:nvPr/>
            </p:nvSpPr>
            <p:spPr bwMode="auto">
              <a:xfrm>
                <a:off x="4741" y="3645"/>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9" name="Line 131"/>
              <p:cNvSpPr>
                <a:spLocks noChangeShapeType="1"/>
              </p:cNvSpPr>
              <p:nvPr/>
            </p:nvSpPr>
            <p:spPr bwMode="auto">
              <a:xfrm>
                <a:off x="5219" y="3645"/>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0" name="Text Box 132"/>
              <p:cNvSpPr txBox="1">
                <a:spLocks noChangeArrowheads="1"/>
              </p:cNvSpPr>
              <p:nvPr/>
            </p:nvSpPr>
            <p:spPr bwMode="auto">
              <a:xfrm>
                <a:off x="4046" y="2282"/>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47151" name="Text Box 134"/>
              <p:cNvSpPr txBox="1">
                <a:spLocks noChangeArrowheads="1"/>
              </p:cNvSpPr>
              <p:nvPr/>
            </p:nvSpPr>
            <p:spPr bwMode="auto">
              <a:xfrm>
                <a:off x="3439" y="2636"/>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47152" name="Text Box 135"/>
              <p:cNvSpPr txBox="1">
                <a:spLocks noChangeArrowheads="1"/>
              </p:cNvSpPr>
              <p:nvPr/>
            </p:nvSpPr>
            <p:spPr bwMode="auto">
              <a:xfrm>
                <a:off x="2738" y="3134"/>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47153" name="Text Box 136"/>
              <p:cNvSpPr txBox="1">
                <a:spLocks noChangeArrowheads="1"/>
              </p:cNvSpPr>
              <p:nvPr/>
            </p:nvSpPr>
            <p:spPr bwMode="auto">
              <a:xfrm>
                <a:off x="2604" y="370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47154" name="Text Box 137"/>
              <p:cNvSpPr txBox="1">
                <a:spLocks noChangeArrowheads="1"/>
              </p:cNvSpPr>
              <p:nvPr/>
            </p:nvSpPr>
            <p:spPr bwMode="auto">
              <a:xfrm>
                <a:off x="3219" y="3154"/>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47155" name="Text Box 138"/>
              <p:cNvSpPr txBox="1">
                <a:spLocks noChangeArrowheads="1"/>
              </p:cNvSpPr>
              <p:nvPr/>
            </p:nvSpPr>
            <p:spPr bwMode="auto">
              <a:xfrm>
                <a:off x="4034" y="276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47156" name="Text Box 139"/>
              <p:cNvSpPr txBox="1">
                <a:spLocks noChangeArrowheads="1"/>
              </p:cNvSpPr>
              <p:nvPr/>
            </p:nvSpPr>
            <p:spPr bwMode="auto">
              <a:xfrm>
                <a:off x="4418" y="269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47157" name="Text Box 140"/>
              <p:cNvSpPr txBox="1">
                <a:spLocks noChangeArrowheads="1"/>
              </p:cNvSpPr>
              <p:nvPr/>
            </p:nvSpPr>
            <p:spPr bwMode="auto">
              <a:xfrm>
                <a:off x="3716" y="316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47158" name="Text Box 141"/>
              <p:cNvSpPr txBox="1">
                <a:spLocks noChangeArrowheads="1"/>
              </p:cNvSpPr>
              <p:nvPr/>
            </p:nvSpPr>
            <p:spPr bwMode="auto">
              <a:xfrm>
                <a:off x="3612" y="370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47159" name="Text Box 143"/>
              <p:cNvSpPr txBox="1">
                <a:spLocks noChangeArrowheads="1"/>
              </p:cNvSpPr>
              <p:nvPr/>
            </p:nvSpPr>
            <p:spPr bwMode="auto">
              <a:xfrm>
                <a:off x="3119" y="367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47160" name="Text Box 144"/>
              <p:cNvSpPr txBox="1">
                <a:spLocks noChangeArrowheads="1"/>
              </p:cNvSpPr>
              <p:nvPr/>
            </p:nvSpPr>
            <p:spPr bwMode="auto">
              <a:xfrm>
                <a:off x="4186" y="316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47161" name="Text Box 145"/>
              <p:cNvSpPr txBox="1">
                <a:spLocks noChangeArrowheads="1"/>
              </p:cNvSpPr>
              <p:nvPr/>
            </p:nvSpPr>
            <p:spPr bwMode="auto">
              <a:xfrm>
                <a:off x="4119" y="366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47162" name="Text Box 146"/>
              <p:cNvSpPr txBox="1">
                <a:spLocks noChangeArrowheads="1"/>
              </p:cNvSpPr>
              <p:nvPr/>
            </p:nvSpPr>
            <p:spPr bwMode="auto">
              <a:xfrm>
                <a:off x="4659" y="316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47163" name="Text Box 147"/>
              <p:cNvSpPr txBox="1">
                <a:spLocks noChangeArrowheads="1"/>
              </p:cNvSpPr>
              <p:nvPr/>
            </p:nvSpPr>
            <p:spPr bwMode="auto">
              <a:xfrm>
                <a:off x="5004" y="3691"/>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47164" name="Text Box 148"/>
              <p:cNvSpPr txBox="1">
                <a:spLocks noChangeArrowheads="1"/>
              </p:cNvSpPr>
              <p:nvPr/>
            </p:nvSpPr>
            <p:spPr bwMode="auto">
              <a:xfrm>
                <a:off x="4538" y="370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47165" name="Text Box 149"/>
              <p:cNvSpPr txBox="1">
                <a:spLocks noChangeArrowheads="1"/>
              </p:cNvSpPr>
              <p:nvPr/>
            </p:nvSpPr>
            <p:spPr bwMode="auto">
              <a:xfrm>
                <a:off x="5105" y="314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sp>
          <p:nvSpPr>
            <p:cNvPr id="47111" name="Text Box 136"/>
            <p:cNvSpPr txBox="1">
              <a:spLocks noChangeArrowheads="1"/>
            </p:cNvSpPr>
            <p:nvPr/>
          </p:nvSpPr>
          <p:spPr bwMode="auto">
            <a:xfrm>
              <a:off x="4241800" y="6563042"/>
              <a:ext cx="2730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39</a:t>
              </a:r>
            </a:p>
          </p:txBody>
        </p:sp>
        <p:sp>
          <p:nvSpPr>
            <p:cNvPr id="47112" name="Text Box 136"/>
            <p:cNvSpPr txBox="1">
              <a:spLocks noChangeArrowheads="1"/>
            </p:cNvSpPr>
            <p:nvPr/>
          </p:nvSpPr>
          <p:spPr bwMode="auto">
            <a:xfrm flipH="1">
              <a:off x="5069840" y="6540361"/>
              <a:ext cx="284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46</a:t>
              </a:r>
            </a:p>
          </p:txBody>
        </p:sp>
        <p:sp>
          <p:nvSpPr>
            <p:cNvPr id="47113" name="Text Box 136"/>
            <p:cNvSpPr txBox="1">
              <a:spLocks noChangeArrowheads="1"/>
            </p:cNvSpPr>
            <p:nvPr/>
          </p:nvSpPr>
          <p:spPr bwMode="auto">
            <a:xfrm flipH="1">
              <a:off x="5821680" y="6530201"/>
              <a:ext cx="284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25</a:t>
              </a:r>
            </a:p>
          </p:txBody>
        </p:sp>
        <p:sp>
          <p:nvSpPr>
            <p:cNvPr id="47114" name="Text Box 136"/>
            <p:cNvSpPr txBox="1">
              <a:spLocks noChangeArrowheads="1"/>
            </p:cNvSpPr>
            <p:nvPr/>
          </p:nvSpPr>
          <p:spPr bwMode="auto">
            <a:xfrm flipH="1">
              <a:off x="6593840" y="6540361"/>
              <a:ext cx="284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46</a:t>
              </a:r>
            </a:p>
          </p:txBody>
        </p:sp>
        <p:sp>
          <p:nvSpPr>
            <p:cNvPr id="47115" name="Text Box 136"/>
            <p:cNvSpPr txBox="1">
              <a:spLocks noChangeArrowheads="1"/>
            </p:cNvSpPr>
            <p:nvPr/>
          </p:nvSpPr>
          <p:spPr bwMode="auto">
            <a:xfrm flipH="1">
              <a:off x="7305040" y="6540361"/>
              <a:ext cx="284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25</a:t>
              </a:r>
            </a:p>
          </p:txBody>
        </p:sp>
        <p:sp>
          <p:nvSpPr>
            <p:cNvPr id="47116" name="Text Box 136"/>
            <p:cNvSpPr txBox="1">
              <a:spLocks noChangeArrowheads="1"/>
            </p:cNvSpPr>
            <p:nvPr/>
          </p:nvSpPr>
          <p:spPr bwMode="auto">
            <a:xfrm>
              <a:off x="8061960" y="6540361"/>
              <a:ext cx="2730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39</a:t>
              </a:r>
            </a:p>
          </p:txBody>
        </p:sp>
      </p:grpSp>
      <p:sp>
        <p:nvSpPr>
          <p:cNvPr id="205" name="矩形 204"/>
          <p:cNvSpPr/>
          <p:nvPr/>
        </p:nvSpPr>
        <p:spPr>
          <a:xfrm>
            <a:off x="330200" y="4578350"/>
            <a:ext cx="3878263" cy="193833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buClr>
                <a:srgbClr val="00B050"/>
              </a:buClr>
              <a:defRPr/>
            </a:pP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找到</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N</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点，当前代价最小的路径为</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25</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，回退到</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D</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点，搜索得到</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I</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点，</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到</a:t>
            </a:r>
            <a:r>
              <a:rPr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I</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的代价为</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26&gt;25</a:t>
            </a:r>
            <a:r>
              <a:rPr lang="zh-CN" altLang="en-US"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问：是否还有必要搜索</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I</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结点？</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ransition advTm="2279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2"/>
          <p:cNvSpPr>
            <a:spLocks noChangeArrowheads="1"/>
          </p:cNvSpPr>
          <p:nvPr/>
        </p:nvSpPr>
        <p:spPr bwMode="auto">
          <a:xfrm>
            <a:off x="292100" y="376238"/>
            <a:ext cx="4625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货郎担</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递归求解</a:t>
            </a:r>
          </a:p>
        </p:txBody>
      </p:sp>
      <p:sp>
        <p:nvSpPr>
          <p:cNvPr id="5" name="Text Box 4"/>
          <p:cNvSpPr txBox="1">
            <a:spLocks noChangeArrowheads="1"/>
          </p:cNvSpPr>
          <p:nvPr/>
        </p:nvSpPr>
        <p:spPr bwMode="auto">
          <a:xfrm>
            <a:off x="1533525" y="1069975"/>
            <a:ext cx="6411913" cy="5627688"/>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a[n][n]</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邻接矩阵，存储任意两个城市间的代价；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存储当前最小代价对应的路线；</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MaxInt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cc = 0;//</a:t>
            </a:r>
            <a:r>
              <a:rPr kumimoji="1" lang="zh-CN" altLang="en-US" sz="1600" b="1" dirty="0">
                <a:solidFill>
                  <a:srgbClr val="FF0000"/>
                </a:solidFill>
                <a:latin typeface="Times New Roman" panose="02020603050405020304" pitchFamily="18" charset="0"/>
                <a:cs typeface="Times New Roman" panose="02020603050405020304" pitchFamily="18" charset="0"/>
              </a:rPr>
              <a:t>存储当前代价</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void Traveling&lt;Type&gt;::Backtrack(</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 //t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的初值为</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2</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(t &gt; n)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rgbClr val="FF0000"/>
                </a:solidFill>
                <a:latin typeface="Times New Roman" panose="02020603050405020304" pitchFamily="18" charset="0"/>
                <a:cs typeface="Times New Roman" panose="02020603050405020304" pitchFamily="18" charset="0"/>
              </a:rPr>
              <a:t>bestc</a:t>
            </a:r>
            <a:r>
              <a:rPr kumimoji="1" lang="en-US" altLang="zh-CN" sz="1600" b="1" dirty="0">
                <a:solidFill>
                  <a:srgbClr val="FF0000"/>
                </a:solidFill>
                <a:latin typeface="Times New Roman" panose="02020603050405020304" pitchFamily="18" charset="0"/>
                <a:cs typeface="Times New Roman" panose="02020603050405020304" pitchFamily="18" charset="0"/>
              </a:rPr>
              <a:t> = cc; </a:t>
            </a:r>
            <a:r>
              <a:rPr kumimoji="1" lang="en-US" altLang="zh-CN" sz="1600" b="1" dirty="0" err="1">
                <a:solidFill>
                  <a:srgbClr val="FF0000"/>
                </a:solidFill>
                <a:latin typeface="Times New Roman" panose="02020603050405020304" pitchFamily="18" charset="0"/>
                <a:cs typeface="Times New Roman" panose="02020603050405020304" pitchFamily="18" charset="0"/>
              </a:rPr>
              <a:t>bestx</a:t>
            </a:r>
            <a:r>
              <a:rPr kumimoji="1" lang="en-US" altLang="zh-CN" sz="1600" b="1" dirty="0">
                <a:solidFill>
                  <a:srgbClr val="FF0000"/>
                </a:solidFill>
                <a:latin typeface="Times New Roman" panose="02020603050405020304" pitchFamily="18" charset="0"/>
                <a:cs typeface="Times New Roman" panose="02020603050405020304" pitchFamily="18" charset="0"/>
              </a:rPr>
              <a:t> = 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 = t; j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if(check(x, j, t, a, n) )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swap(x[t], x[j]);</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if(t &lt; n &amp;&amp; cc + a[x[t-1]][x[t]] &lt; </a:t>
            </a:r>
            <a:r>
              <a:rPr kumimoji="1" lang="en-US" altLang="zh-CN" sz="1600" b="1" dirty="0" err="1">
                <a:solidFill>
                  <a:srgbClr val="FF0000"/>
                </a:solidFill>
                <a:latin typeface="Times New Roman" panose="02020603050405020304" pitchFamily="18" charset="0"/>
                <a:cs typeface="Times New Roman" panose="02020603050405020304" pitchFamily="18" charset="0"/>
              </a:rPr>
              <a:t>bestc</a:t>
            </a:r>
            <a:r>
              <a:rPr kumimoji="1" lang="en-US" altLang="zh-CN" sz="1600" b="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cc = cc + a[x[t-1]][x[t]];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backtrack(t + 1)</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 cc = cc - a[x[t-1]][x[t]];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 </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if(t == n  &amp;&amp;  cc + a[x[t-1]][x[t]]  + a[x[n]][x[1]] &lt; </a:t>
            </a:r>
            <a:r>
              <a:rPr kumimoji="1" lang="en-US" altLang="zh-CN" sz="1600" b="1" dirty="0" err="1">
                <a:solidFill>
                  <a:srgbClr val="FF0000"/>
                </a:solidFill>
                <a:latin typeface="Times New Roman" panose="02020603050405020304" pitchFamily="18" charset="0"/>
                <a:cs typeface="Times New Roman" panose="02020603050405020304" pitchFamily="18" charset="0"/>
              </a:rPr>
              <a:t>bestc</a:t>
            </a:r>
            <a:r>
              <a:rPr kumimoji="1" lang="en-US" altLang="zh-CN" sz="1600" b="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cc = cc + a[x[t-1]][x[t]]  + a[x[n]][x[1]];</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backtrack(t + 1)</a:t>
            </a:r>
            <a:r>
              <a:rPr kumimoji="1" lang="zh-CN" altLang="en-US" sz="1600" b="1" dirty="0">
                <a:solidFill>
                  <a:srgbClr val="FF0000"/>
                </a:solidFill>
                <a:latin typeface="Times New Roman" panose="02020603050405020304" pitchFamily="18" charset="0"/>
                <a:cs typeface="Times New Roman" panose="02020603050405020304" pitchFamily="18" charset="0"/>
              </a:rPr>
              <a:t>；</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cc = cc -  a[x[t-1]][x[t]]  - a[x[n]][x[1]];</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swap(x[t], x[j])) ;//</a:t>
            </a:r>
            <a:r>
              <a:rPr kumimoji="1" lang="zh-CN" altLang="en-US" sz="1600" b="1" dirty="0">
                <a:solidFill>
                  <a:srgbClr val="FF0000"/>
                </a:solidFill>
                <a:latin typeface="Times New Roman" panose="02020603050405020304" pitchFamily="18" charset="0"/>
                <a:cs typeface="Times New Roman" panose="02020603050405020304" pitchFamily="18" charset="0"/>
              </a:rPr>
              <a:t>恢复现场</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p:txBody>
      </p:sp>
      <p:sp>
        <p:nvSpPr>
          <p:cNvPr id="4" name="AutoShape 5"/>
          <p:cNvSpPr>
            <a:spLocks noChangeArrowheads="1"/>
          </p:cNvSpPr>
          <p:nvPr/>
        </p:nvSpPr>
        <p:spPr bwMode="auto">
          <a:xfrm>
            <a:off x="5786438" y="1357313"/>
            <a:ext cx="3357562" cy="3378200"/>
          </a:xfrm>
          <a:prstGeom prst="roundRect">
            <a:avLst>
              <a:gd name="adj" fmla="val 16667"/>
            </a:avLst>
          </a:prstGeom>
          <a:solidFill>
            <a:srgbClr val="FFFFFF"/>
          </a:solidFill>
          <a:ln w="38100">
            <a:solidFill>
              <a:srgbClr val="063DE8"/>
            </a:solidFill>
            <a:round/>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算法时间复杂度：</a:t>
            </a:r>
          </a:p>
          <a:p>
            <a:pPr defTabSz="914400" eaLnBrk="1" hangingPunct="1">
              <a:lnSpc>
                <a:spcPct val="100000"/>
              </a:lnSpc>
              <a:spcBef>
                <a:spcPct val="0"/>
              </a:spcBef>
              <a:buClrTx/>
              <a:buSzTx/>
              <a:buFontTx/>
              <a:buNone/>
            </a:pP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算法</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backtrack</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在最坏情况下可能需要更新当前最优解</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O((n-1)!)</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次，每次更新</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bestx</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需计算时间</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，从而整个算法的计算时间复杂性为</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p>
        </p:txBody>
      </p:sp>
      <p:grpSp>
        <p:nvGrpSpPr>
          <p:cNvPr id="2" name="组合 5"/>
          <p:cNvGrpSpPr/>
          <p:nvPr/>
        </p:nvGrpSpPr>
        <p:grpSpPr bwMode="auto">
          <a:xfrm>
            <a:off x="1697038" y="2301875"/>
            <a:ext cx="2378075" cy="565150"/>
            <a:chOff x="3382963" y="3597275"/>
            <a:chExt cx="2378075" cy="344488"/>
          </a:xfrm>
        </p:grpSpPr>
        <p:cxnSp>
          <p:nvCxnSpPr>
            <p:cNvPr id="7" name="直接连接符 6"/>
            <p:cNvCxnSpPr/>
            <p:nvPr/>
          </p:nvCxnSpPr>
          <p:spPr>
            <a:xfrm flipV="1">
              <a:off x="3403600" y="3597275"/>
              <a:ext cx="2336800" cy="2032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3394075" y="3627273"/>
              <a:ext cx="0" cy="29417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3382963" y="3911766"/>
              <a:ext cx="2378075" cy="2032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719763" y="3627273"/>
              <a:ext cx="11112" cy="31449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2"/>
          <p:cNvSpPr>
            <a:spLocks noChangeArrowheads="1"/>
          </p:cNvSpPr>
          <p:nvPr/>
        </p:nvSpPr>
        <p:spPr bwMode="auto">
          <a:xfrm>
            <a:off x="292100" y="376238"/>
            <a:ext cx="4625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货郎担</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递归求解</a:t>
            </a:r>
          </a:p>
        </p:txBody>
      </p:sp>
      <p:sp>
        <p:nvSpPr>
          <p:cNvPr id="5" name="Text Box 4"/>
          <p:cNvSpPr txBox="1">
            <a:spLocks noChangeArrowheads="1"/>
          </p:cNvSpPr>
          <p:nvPr/>
        </p:nvSpPr>
        <p:spPr bwMode="auto">
          <a:xfrm>
            <a:off x="0" y="1120775"/>
            <a:ext cx="6319838" cy="5737225"/>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a[n][n]</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邻接矩阵，存储任意两个城市间的代价；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cc = 0</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NoEdge</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存储当前最小代价对应的路线；</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void Traveling&lt;Type&gt;::Backtrack(</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 //t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的初值为</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2</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a:t>
            </a:r>
            <a:r>
              <a:rPr kumimoji="1" lang="en-US" altLang="zh-CN" sz="1600" b="1" dirty="0">
                <a:solidFill>
                  <a:srgbClr val="FF0000"/>
                </a:solidFill>
                <a:latin typeface="Times New Roman" panose="02020603050405020304" pitchFamily="18" charset="0"/>
                <a:cs typeface="Times New Roman" panose="02020603050405020304" pitchFamily="18" charset="0"/>
              </a:rPr>
              <a:t>t == n</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(a[x[n-1]][x[n]]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NoEdge</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&amp;&amp; a[x[n]][1]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NoEdge</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&amp;&amp;</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(cc + a[x[n-1]][x[n]] + a[x[n]][1] &lt;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NoEdge</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 = 1; j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n; j++)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[j] = x[j];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cc + a[x[n-1]][x[n]] + a[x[n]][1];}</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else {</a:t>
            </a:r>
            <a:r>
              <a:rPr kumimoji="1" lang="en-US" altLang="zh-CN" sz="1600" b="1" dirty="0">
                <a:solidFill>
                  <a:srgbClr val="FF0000"/>
                </a:solidFill>
                <a:latin typeface="Times New Roman" panose="02020603050405020304" pitchFamily="18" charset="0"/>
                <a:cs typeface="Times New Roman" panose="02020603050405020304" pitchFamily="18" charset="0"/>
              </a:rPr>
              <a:t>//t &lt; n</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 = t; j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(a[x[t-1]][x[j]]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NoEdge</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&amp;&amp; //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是否可进入</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x[j]</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子树</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(cc + a[x[t-1]][x[j]] &lt;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NoEdge</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搜索子树</a:t>
            </a:r>
          </a:p>
          <a:p>
            <a:pPr>
              <a:defRPr/>
            </a:pP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Swap(x[t], x[j]);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cc += a[x[t-1]][x[t]];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Backtrack(t+1);</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cc -= a[x[t-1]][x[t]];//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恢复现场</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Swap(x[t], x[j]);}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p:txBody>
      </p:sp>
      <p:sp>
        <p:nvSpPr>
          <p:cNvPr id="8" name="AutoShape 5"/>
          <p:cNvSpPr>
            <a:spLocks noChangeArrowheads="1"/>
          </p:cNvSpPr>
          <p:nvPr/>
        </p:nvSpPr>
        <p:spPr bwMode="auto">
          <a:xfrm>
            <a:off x="5786438" y="2325688"/>
            <a:ext cx="3357562" cy="3378200"/>
          </a:xfrm>
          <a:prstGeom prst="roundRect">
            <a:avLst>
              <a:gd name="adj" fmla="val 16667"/>
            </a:avLst>
          </a:prstGeom>
          <a:solidFill>
            <a:srgbClr val="FFFFFF"/>
          </a:solidFill>
          <a:ln w="38100">
            <a:solidFill>
              <a:srgbClr val="063DE8"/>
            </a:solidFill>
            <a:round/>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算法时间复杂度：</a:t>
            </a:r>
          </a:p>
          <a:p>
            <a:pPr defTabSz="914400" eaLnBrk="1" hangingPunct="1">
              <a:lnSpc>
                <a:spcPct val="100000"/>
              </a:lnSpc>
              <a:spcBef>
                <a:spcPct val="0"/>
              </a:spcBef>
              <a:buClrTx/>
              <a:buSzTx/>
              <a:buFontTx/>
              <a:buNone/>
            </a:pP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算法</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backtrack</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在最坏情况下可能需要更新当前最优解</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O((n-1)!)</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次，每次</a:t>
            </a:r>
            <a:r>
              <a:rPr lang="zh-CN" altLang="en-US" sz="24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更新</a:t>
            </a:r>
            <a:r>
              <a:rPr lang="en-US" altLang="zh-CN" sz="24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bestx</a:t>
            </a:r>
            <a:r>
              <a:rPr lang="zh-CN" altLang="en-US" sz="24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需计算时间</a:t>
            </a:r>
            <a:r>
              <a:rPr lang="en-US" altLang="zh-CN" sz="24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，从而整个算法的计算时间复杂性为</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O(n!)</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2"/>
          <p:cNvSpPr>
            <a:spLocks noChangeArrowheads="1"/>
          </p:cNvSpPr>
          <p:nvPr/>
        </p:nvSpPr>
        <p:spPr bwMode="auto">
          <a:xfrm>
            <a:off x="292100" y="376238"/>
            <a:ext cx="65151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递归求解方法与递归求解框架对比</a:t>
            </a:r>
          </a:p>
        </p:txBody>
      </p:sp>
      <p:sp>
        <p:nvSpPr>
          <p:cNvPr id="7" name="Text Box 4"/>
          <p:cNvSpPr txBox="1">
            <a:spLocks noChangeArrowheads="1"/>
          </p:cNvSpPr>
          <p:nvPr/>
        </p:nvSpPr>
        <p:spPr bwMode="auto">
          <a:xfrm>
            <a:off x="5935663" y="2219325"/>
            <a:ext cx="3170237" cy="3759200"/>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void backtrack (</a:t>
            </a:r>
            <a:r>
              <a:rPr lang="en-US" altLang="zh-CN"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 &gt; n</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output(</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else</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for (</a:t>
            </a:r>
            <a:r>
              <a:rPr lang="en-US" altLang="zh-CN"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f</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 </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g</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h</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if (constraint(</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&amp;&amp;bound(</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backtrack(</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+1);</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6" name="Text Box 4"/>
          <p:cNvSpPr txBox="1">
            <a:spLocks noChangeArrowheads="1"/>
          </p:cNvSpPr>
          <p:nvPr/>
        </p:nvSpPr>
        <p:spPr bwMode="auto">
          <a:xfrm>
            <a:off x="0" y="1079500"/>
            <a:ext cx="5842000" cy="5778500"/>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a[n][n]</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邻接矩阵，存储任意两个城市间的代价；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存储当前最小代价对应的路线；</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MaxInt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cc = 0;//</a:t>
            </a:r>
            <a:r>
              <a:rPr kumimoji="1" lang="zh-CN" altLang="en-US" sz="1600" b="1" dirty="0">
                <a:solidFill>
                  <a:srgbClr val="FF0000"/>
                </a:solidFill>
                <a:latin typeface="Times New Roman" panose="02020603050405020304" pitchFamily="18" charset="0"/>
                <a:cs typeface="Times New Roman" panose="02020603050405020304" pitchFamily="18" charset="0"/>
              </a:rPr>
              <a:t>存储当前代价</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void Traveling&lt;Type&gt;::Backtrack(</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 //t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的初值为</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2</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(t &gt; n)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rgbClr val="FF0000"/>
                </a:solidFill>
                <a:latin typeface="Times New Roman" panose="02020603050405020304" pitchFamily="18" charset="0"/>
                <a:cs typeface="Times New Roman" panose="02020603050405020304" pitchFamily="18" charset="0"/>
              </a:rPr>
              <a:t>bestc</a:t>
            </a:r>
            <a:r>
              <a:rPr kumimoji="1" lang="en-US" altLang="zh-CN" sz="1600" b="1" dirty="0">
                <a:solidFill>
                  <a:srgbClr val="FF0000"/>
                </a:solidFill>
                <a:latin typeface="Times New Roman" panose="02020603050405020304" pitchFamily="18" charset="0"/>
                <a:cs typeface="Times New Roman" panose="02020603050405020304" pitchFamily="18" charset="0"/>
              </a:rPr>
              <a:t> = cc; </a:t>
            </a:r>
            <a:r>
              <a:rPr kumimoji="1" lang="en-US" altLang="zh-CN" sz="1600" b="1" dirty="0" err="1">
                <a:solidFill>
                  <a:srgbClr val="FF0000"/>
                </a:solidFill>
                <a:latin typeface="Times New Roman" panose="02020603050405020304" pitchFamily="18" charset="0"/>
                <a:cs typeface="Times New Roman" panose="02020603050405020304" pitchFamily="18" charset="0"/>
              </a:rPr>
              <a:t>bestx</a:t>
            </a:r>
            <a:r>
              <a:rPr kumimoji="1" lang="en-US" altLang="zh-CN" sz="1600" b="1" dirty="0">
                <a:solidFill>
                  <a:srgbClr val="FF0000"/>
                </a:solidFill>
                <a:latin typeface="Times New Roman" panose="02020603050405020304" pitchFamily="18" charset="0"/>
                <a:cs typeface="Times New Roman" panose="02020603050405020304" pitchFamily="18" charset="0"/>
              </a:rPr>
              <a:t> = 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 = t; j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if(check(x, j, t, a, n) )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swap(x[t], x[j]);</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if(t &lt; n &amp;&amp; cc + a[x[t-1]][x[t]] &lt; </a:t>
            </a:r>
            <a:r>
              <a:rPr kumimoji="1" lang="en-US" altLang="zh-CN" sz="1600" b="1" dirty="0" err="1">
                <a:solidFill>
                  <a:srgbClr val="FF0000"/>
                </a:solidFill>
                <a:latin typeface="Times New Roman" panose="02020603050405020304" pitchFamily="18" charset="0"/>
                <a:cs typeface="Times New Roman" panose="02020603050405020304" pitchFamily="18" charset="0"/>
              </a:rPr>
              <a:t>bestc</a:t>
            </a:r>
            <a:r>
              <a:rPr kumimoji="1" lang="en-US" altLang="zh-CN" sz="1600" b="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cc = cc + a[x[t-1]][x[t]]; //</a:t>
            </a:r>
            <a:r>
              <a:rPr kumimoji="1" lang="zh-CN" altLang="en-US" sz="1600" b="1" dirty="0">
                <a:solidFill>
                  <a:srgbClr val="FF0000"/>
                </a:solidFill>
                <a:latin typeface="Times New Roman" panose="02020603050405020304" pitchFamily="18" charset="0"/>
                <a:cs typeface="Times New Roman" panose="02020603050405020304" pitchFamily="18" charset="0"/>
              </a:rPr>
              <a:t>加入城市</a:t>
            </a:r>
            <a:r>
              <a:rPr kumimoji="1" lang="en-US" altLang="zh-CN" sz="1600" b="1" dirty="0">
                <a:solidFill>
                  <a:srgbClr val="FF0000"/>
                </a:solidFill>
                <a:latin typeface="Times New Roman" panose="02020603050405020304" pitchFamily="18" charset="0"/>
                <a:cs typeface="Times New Roman" panose="02020603050405020304" pitchFamily="18" charset="0"/>
              </a:rPr>
              <a:t>x[t]</a:t>
            </a:r>
            <a:r>
              <a:rPr kumimoji="1" lang="zh-CN" altLang="en-US" sz="1600" b="1" dirty="0">
                <a:solidFill>
                  <a:srgbClr val="FF0000"/>
                </a:solidFill>
                <a:latin typeface="Times New Roman" panose="02020603050405020304" pitchFamily="18" charset="0"/>
                <a:cs typeface="Times New Roman" panose="02020603050405020304" pitchFamily="18" charset="0"/>
              </a:rPr>
              <a:t>后更新</a:t>
            </a:r>
            <a:r>
              <a:rPr kumimoji="1" lang="en-US" altLang="zh-CN" sz="1600" b="1" dirty="0">
                <a:solidFill>
                  <a:srgbClr val="FF0000"/>
                </a:solidFill>
                <a:latin typeface="Times New Roman" panose="02020603050405020304" pitchFamily="18" charset="0"/>
                <a:cs typeface="Times New Roman" panose="02020603050405020304" pitchFamily="18" charset="0"/>
              </a:rPr>
              <a:t>cc</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backtrack(t + 1)</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 cc = cc - a[x[t-1]][x[t]];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if(t == n  &amp;&amp;  cc + a[x[t-1]][x[t]]  + a[x[n]][x[1]] &lt; </a:t>
            </a:r>
            <a:r>
              <a:rPr kumimoji="1" lang="en-US" altLang="zh-CN" sz="1600" b="1" dirty="0" err="1">
                <a:solidFill>
                  <a:srgbClr val="FF0000"/>
                </a:solidFill>
                <a:latin typeface="Times New Roman" panose="02020603050405020304" pitchFamily="18" charset="0"/>
                <a:cs typeface="Times New Roman" panose="02020603050405020304" pitchFamily="18" charset="0"/>
              </a:rPr>
              <a:t>bestc</a:t>
            </a:r>
            <a:r>
              <a:rPr kumimoji="1" lang="en-US" altLang="zh-CN" sz="1600" b="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cc = cc + a[x[t-1]][x[t]]  + a[x[n]][x[1]];</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backtrack(t + 1)</a:t>
            </a:r>
            <a:r>
              <a:rPr kumimoji="1" lang="zh-CN" altLang="en-US" sz="1600" b="1" dirty="0">
                <a:solidFill>
                  <a:srgbClr val="FF0000"/>
                </a:solidFill>
                <a:latin typeface="Times New Roman" panose="02020603050405020304" pitchFamily="18" charset="0"/>
                <a:cs typeface="Times New Roman" panose="02020603050405020304" pitchFamily="18" charset="0"/>
              </a:rPr>
              <a:t>；</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cc = cc -  a[x[t-1]][x[t]]  - a[x[n]][x[1]];</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swap(x[t], x[j]);) //</a:t>
            </a:r>
            <a:r>
              <a:rPr kumimoji="1" lang="zh-CN" altLang="en-US" sz="1600" b="1" dirty="0">
                <a:solidFill>
                  <a:srgbClr val="FF0000"/>
                </a:solidFill>
                <a:latin typeface="Times New Roman" panose="02020603050405020304" pitchFamily="18" charset="0"/>
                <a:cs typeface="Times New Roman" panose="02020603050405020304" pitchFamily="18" charset="0"/>
              </a:rPr>
              <a:t>恢复现场</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p:txBody>
      </p:sp>
    </p:spTree>
    <p:custDataLst>
      <p:tags r:id="rId1"/>
    </p:custData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2"/>
          <p:cNvSpPr>
            <a:spLocks noChangeArrowheads="1"/>
          </p:cNvSpPr>
          <p:nvPr/>
        </p:nvSpPr>
        <p:spPr bwMode="auto">
          <a:xfrm>
            <a:off x="292100" y="376238"/>
            <a:ext cx="4625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货郎担</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迭代求解</a:t>
            </a:r>
          </a:p>
        </p:txBody>
      </p:sp>
      <p:sp>
        <p:nvSpPr>
          <p:cNvPr id="51203" name="AutoShape 2" descr="data:image/jpeg;base64,/9j/4AAQSkZJRgABAQAAAQABAAD/2wBDAAgGBgcGBQgHBwcJCQgKDBQNDAsLDBkSEw8UHRofHh0aHBwgJC4nICIsIxwcKDcpLDAxNDQ0Hyc5PTgyPC4zNDL/2wBDAQkJCQwLDBgNDRgyIRwhMjIyMjIyMjIyMjIyMjIyMjIyMjIyMjIyMjIyMjIyMjIyMjIyMjIyMjIyMjIyMjIyMjL/wAARCAEsAOE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o5p4reMyTSpGg6s7AAfiaxbnxn4ftSQ2pRyEf88QZP1UEVLko7suFOc3aCb9DeorkX+I2iKflS8k91ix/MikX4j6Mxw0N6o9TEP6Go9vS/mR0fUMVv7N/czr6K5+28a+H7kgDUEiJ/57K0f6kYrbguYLmMSW80cqHo0bBh+Yq4yjLZnPOlOnpOLXqS0UUVRAUUUUAFFFFABRRRQAUUUUAFFFFABRRRQAUUUUAFFFFABRRRQAUUVzHiXxja6Kpt7cLcXxHEeflT3Y/0qZTUFzS2NKVKdWahBXbNrUtVstItjcX06xJ2zyWPoB1Jrz/V/iHfXRaPS4haxf8APWQBpD9B0H61yt7e3WpXbXV7M00x7noo9AOwqCvJrY6UtIaI+swWRUqaUq/vPt0/4JJc3E97L5t3PLcSf3pXLY+melR4oorhcm3ds96EIwVoqyA0lLSUigp8EstrL5ttLJBJ/ficqfzFMoqk2tUKUIzVpK6Oq0vx/qtkVS8C30Pq2EkH4jg/iPxrvtG8Sabrif6JNiYDLQSfK6/h3+oyK8XpUd45FljdkkQ5V0OCp9Qa7KWNnDSWqPFxmR0KyvS91/h9x79RXA+GPHXmsljrDqrniO5xgN7N6H36fSu+zmvVp1I1I80T5LE4arhp8lVWYUUUVoc4UUUUAFFFFABRRRQAUUUUAFFFFABRRRQAUHgZorifGnihbON7C2f58fvWXqP9ke9JtJXZUIuTsiPxZ4z+zBrLTmDStwXH8/p/OvPCWZmd2LyMcszdSaaC7u0shzI/X29qdXh4rEOrKy2Pucsy+OFp3fxPf/ISilpK5T1QooooAKSlpKACiiimMKKKKAEIB4Nd14K8WtE8ekajISjfLbzMeh7IT/I/h6VwtIRkVrRrSpS5kceNwVPF0uSe/R9j6BorlvBPiE6vpxtrl83lsAGJ6yL2b69j7/Wupr34TU4qSPz+tRnRqOnPdBRRRVGQUUUUAFFFFABRRRQAUUUUAFFFFAGN4l1pNE0l5gR57/JEp7n1/CvGZZnvLtpJGLbSSSe7HvW343106nrMqxtmG3/dRAdCe5/E/wAqw4o/LiC9+59687HVrR5V1Po8jwalP2sun5j6KKK8k+sCkpaKAEpCwUZJAHvT4opri4jtraFpriU7Y406sf6D37V6Honw5s4olm1rF5cnnygSIo/YD+I+5/IV0UMNOttsefjsypYRWlrLseZi5EgJgilmHrGhI/PpUMl7JH960lH4r/jXttz4O0W6j2NbuvGAUlYY/WuV1f4VJIjPpeoOr9o7gZB/4EOn5Gu9YCCWp4EuIK8n7qSPOk1W3JxJvjP+0v8AWriSJIoZGDA9wc1k63o+p6FdfZ9RtniY/dY8q49QehrLjnkgk3xOUPfHQ1jUwSXws7sPncn/ABY6d0dZRVGw1FbsbHwso7dj9KvVwSi4uzPfp1I1IqUHdCUUUUjQvaPqkujatBfR5IjOJFH8aH7w/wA9wK9ugmjuII5omDxyKGVh0IIyDXgdenfDvVDdaPJYSNmS0b5c/wDPNuR+RyPyr0sBV1dNnzPEOETisRHpo/0Oyooor1D5QKKKKACiiigAooooAKKKKACsbxTqn9keHrq5VsSFdkf+8eB+XX8K2a83+KeoYWxsFPXMzj9B/wCzUpOyLpx5pJHnkf766UHkL8xq/VPT1yJH9Tj8qu14OJlzVH5H3mW0vZ4ePnqJSUtIa5z0AprsEQs3QDNOrd8HaSNX8SReYubezAnkz0LZ+Qfnz/wGtKVN1JqKMMVXjh6Mqsuh2ngnwyNIsftt3H/xMblctnrEnUIP6+/0FdZRRX0MIKEVFH53WqzrTdSbu2FFFFUZlHVtIstbsJLK/gWWF/Xqp9Qexr578WeGLnwtq7WspLwP80E2Pvr/AIjvX0lXN+OPDyeIvDc8Cpm6hBltz33Dt+I4qJxujajU5Ja7HztG7RuHUkMDkGuntLgXVssn8XRh71zGK1dGkK3DRHo4/UV5mJhzRv1R9RltZ06nI9mbFFFFeefRhXQeCL82Pii3UnEdyDA348r+oA/GueNPhuGtbiK5T70LrIMeqnP9K0oy5JqRy4ykq1CdPuj36ikVg6hlOQRkGlr6I/OAooooAKKKKACiiigAooooAK8W+I90ZvF08eeIY0Qflu/rXtNcPrfw6i1fVrjUGvnDzNkxlflHGOoOamSbWhrSkoyuzzTT1xZofXmrNdLc/DG8j5t5c+nlzEf+hVlXHgzX7XJHnMB/eiDj81ryp4Go22j6uhnmGUVGSasZxpKbLZ6vbHbJbxOR2yUP5EVXa5uIv9dp9yvuoDj9K55YWrHoehTzPCz2mvyLNem/DqwFv4ea9YfvLyVnz32L8qj9Cf8AgVeSNqlrgr5myUj5UcFST6c17/pVmNP0izsx0ghSP8gBXVgKTU3KSPJz/ExlShCDvd3+4uUUUV6p8qFFFFABRRRQB83eLbBdN8W6naoMIs5ZR6BvmA/I1nWcnk3Ucn91s103xLAHju+x3WLP/fC1y0Q/eD6159Xqj6LCO/I/Q6dxhyPem05zlyaaa8k+uWwlNPIIpaQ0xM9z0OTztA06U9Xto2P/AHyK0Ky/DalfDGlA9fskX/oIrUr6SOyPzOorTYUUUUyAooooAKKKKACiiigAooooAKKKKAGvGki7XRWHowzVGbQtLnOZLCDPqF2/yrQoJwMmgClFo+mwgeXY24x38sZ/OrtZNx4hs4XKR752HXyxx+ZqFfERJ/48Xx/vigDcoqja6tbXTBMtHIeiuMZ+lXqACiiigAoorkvH3iZNA0OSKGT/AE66UpCAeVHdvw7e9JuyuVGLk7I8e8Xagup+LdSu0O6NpiqEd1X5QfyFZ1hH5t3GOwOTVbFbWm2xhiMrjDv09hXmYifLF92fU5dRc6iS2iXj1pKKSvNPpQpjnCMfQU6r2iWZ1HXbC0AyJJl3D/ZHzN+gNXCPNJIxr1FTpym+iPbNPgNrp1tbnrFEqfkAKs0UV9Gfmrd9QooooAKKKKACiiigAooooAKKKKACiiigArntWvJLuVrSFiIl4cj+I+n0ravZjBZyyDqF4+vauet1AFABb2SqBxVwWygdKfGQBUu4YoAozWqkdKt6ZfOJBaztk/8ALNj39jSOwxWZdkph0OGU5B96AOroqK2mFxbRTDo6hqoa/r9l4e017y8f2jjH3pG9BQNK+iI/EfiG08N6Y13dHLnIiiB5kb0Ht6mvAdZ1e71vUpb68fdJIeB2UdgPYVNr+v3niHUnvLt/aOMfdjX0FV7GyM5EkgxEOg/vVyV6yirs9fA4KVSXLHf8h1hZeYRNKPkH3V9a1jRwBgcAUhrx5zc5XZ9lQoQoQ5IgaSikqTVga7n4a6WZby51WRfkiXyIie7HBY/gMD8TXFWtrPf3kNpbLvnmcIg/qfYdT9K9x0fTIdH0q3sIOUiXBbux6kn6nJrvwNLmlzvofPZ7i1Cl7CO8t/QvUUUV6x8iFFFFABRRRQAUUUUAFFFFABRRRQAUUUUAZ+tEjS5COxXP5isKGYYrpr23+1WU0HQupAPv2rg0uSjFH+VlOCD2NAHQLP707z/esZbv3pftfvQBqNP71RuphsPNVmux61majqKQW7u7YVQSTQB1h1200DwlFf3z4UKQiD70hycAV4j4h8R3niPUmu7t8DpHED8sa+g/xpniLxHca7dR7iVtbdBHbxdlUdz7nqao6dam8mOciJPvn+lc1aqoq72PSweFlUmox3ZYsLI3DeZJkRD/AMeraAAAAAAHQCkACqFUAKBgAUGvGqVHUldn22Gw0MPDliBpCaM0lQbthTWIUEk4ApSa7DwN4WOqXCarex/6FE2YUYf61x3/AN0H8z9K2o0nVlyo48Zi4YWk6kvl5m/4C8Mtp9t/al7Hi7uFxGjDmKP/ABPU/gPWu1oor3IQUIqKPga9adeo6k92FFFFWZBRRRQAUUUUAFFFFABRRRQAUUUUAFFFFABXm/iFbufxBcGztNwERlZU+8wBAJx3PI6V6OSFBJOAOprmLiGQavHeW4BHzo+Tj5G/+vg/hQBxVzdz6fJHHdxmJ3GVBIP8qBqQP8VTeM7eC4dQyyeeP9UyOAFPfIwc/pWDb6Leug+Z2/3aANOXUwqklq4/xFrT3DNaISFB+f6+ldXBpd3pyT3f2CS7mWFvIViCFk7Njvj0rzGZn85/N3Bwx37uue+aiTNqUU3cRfMuLuKztxmaTv2Re5Ndjb28dpbrBH91ep7k+prH8L2XlWkmoyj99dH5M/wp2rczXjYqrzystkfa5VhVRpc8t2FJmjNJXMeo2FJRmtbw54euPEeoeTGWjtYyPtE4H3R/dH+0f061pCm5y5YnPiMRChTdSb0RZ8KeGJPEV7vlDJp0LfvXHHmH+4p/me1exQwxwQpFEipGihVVRgADoBUVjZW+nWUVpaxLFBEu1VXtVivbo0VSjZHwmNxs8XU55bdEFFFFbHGFFFFABRRRQAUUUUAFFFFABRRRQAUUUUAFFFFAFDVy62W5fuhhv+n/AOvFZZm/cny1LvjgCuhdFkjZHAKsMEHuK4r7WunahJHvZrcthHbsPegDnJYrrUNfIuo3iSLoHGM1v2wWW6S0gHCjc7eg9K2pILbUIRvAJ7MOoqDSdLOnzXG4lgx3Bz3HpQBbaBEiwQOleEfFOz8jxTYi0UIL8ESbepZSAfzBFe2atfLBCea8V8WXR1Hxzpluw/49omlP/Aj/APYVnWfLBs6cHD2leMO7L4CxokagBUUKAPQUZpuaM18+foiaSshc0maTNISACT0FOwmy9pWl3OtanFYWow78u5HEaDqx/wA9cV7XpOlWujadFZWibY0HJPVj3YnuTWH4D0IaVoi3Uq4u7wCR89VX+Ffy5+pNdVXtYWgqcbvdnw+aY54mrZfCtv8AMKKKK6TywooooAKKKKACiiigAooooAKKKKACiiigAooooAKKKKAKuoTeRZuQcM3yj8a5ie1SVCCBzWtrs22SCLPqx/z+dZ6tuFAGC93daQ/G5oe3tVhfFYZeSKv3NusykEZrGbQ7fzd/ljNADnuW1KUSH/Vjp715bdnz/iNq8nUQqiD2+Uf4mvWxCIo8AYxXkNuS/jDxC56/aMfkMVzYt2pM9LKFfFxNfNLmm5ozXjH29xas6dai+1Wys2GVnnSNv90sM/pmqua2vB6iTxjpankeYx/JGNaUleaXmc2Mm4UJyXZntwAAwKKKK94/PwooooAKKKKACiiigAooooAKKKKACiiigAooooAKKKKACiiigDkfFFyIdVhUn/lkP5mq0FwGAwag8UL9tnmkVsFThT9OKztFmeW3y/3lJU0AdDvBFRMRTN+BUTyYoAbOwCmvG7Jw3ivxBj/n5Nes3M3yGudtPhBrttqmoXialYul5KZhvDhl3HOCAD0zjrWGIg50+WJ35bWhRxCnN2RgUma7aL4U6o/+u122i9ktC/6lxVuL4TDH7/X52/65W6p/MmvPWCqn0TzvCrZv7jz7Nb/gfnxppv1k/wDRbV18Xwp0hB+91DU5T7yIv8lrX0jwLoui38V9apcG4izteSZmxkEHjp0Jralg5xkpN7HFis5o1aUqcU9UdLRRRXonzYUUUUAFFFFABRRRQAUUUUAFFFFABRRRQAUUUUAFFFFABUF5N5FpLL3VTj69qnrK8QyGPSJD6soP50AcnqLYgP0qnoa4tpG/vSE/yo1GfMB57VLpK7NOi9WG78zmgC47YqrLJipZWrPnkwDQBb0q3Oo6zbwYygbe/wDujn9eB+NdLrnjXQvD7mK8uw1wP+WEQ3v+PYfjivMtS1690bS9QvLK4aFhAQWUDOPbPQ15pFd/bR54dnLnJZupPfNTKVjWnT5tz3mL4t6LLLt+yXip/eIXP5ZrrNK8RaXrKA2V0jt3jPDD8K+ZrW3urtyLdQFX70r/AHV9vc1sW9rJasHXUbgSDkGIBQD+tc0sXCLsz0qWUVqseaOi8z6VorxzR/H+saZsjuZvt8A4InAD49mH9Qa9Q0TXLLXrEXVm5OOHjbhkPoRWtOvCp8JyYnA1sNrNad1sadFFFbHGFFFFABRRRQAUUUUAFFFFABRRRQAUUUUAFFFFABRRRQAVR1iza/0q4t0++y5T/eHI/UVepMigDxbUdQ8qJ4pQUkQlWVuCD6V0tuBHbRoD91QP0rrNW8OaLq5aW/sY5ZAPvglGP1KkE1xIcqOtAE878Viahc7EIHU8Cr8svB5rCu28y568LQBy3jfURbaF9lB+e6YLj/ZHJ/oPxrjtAtpr68W3SQpDndIR2Aq147ujL4jS2z8sMA49yST+mK0/CtssFjLMDlpCvJ7cA/1rlxM3GOh6uV0lUqpS23N/KJGsUShIkGFUUmabmjNeZY+qchc1t+Etbk0TxBbzbyLeZhFOueCpPX8Dz+frWFmmSH9230q4NxkmjCvBVabhLqfS1FQWcjSWUDyffaNS31xU9e0fDhRRRQAUUUUAFFFFABRRRQAUUUUAFFFFABRRRQAUhOKCajY0AKXqMyYpjtVeSXFAC3k+y0mbPSNj+lefscCutvrkPA8SMCzDGAe1cxeW7RZO00AZlxJhTWA90EnkWQFHDEFWGCK3Y8PexK/CBstn0HNat3dabcPvuYLeZh0MkYY/rQB5f4u8ET3cEGtRZDToDuA4HoG/DBz71T0FHt7JreXG9CM4+gr1W58Q2SxNG+HQjG3HGPSuB1b7Ebs3Onqyf34m7j1H+FYYinzw0O/L8QqNZOWwzNJmo0lWRQynINOzXl2Pq+ZNXQuat6VYNqurWtggJ8+QK2Oy9WP4DNUS2PqeAPWvQfBOmf2buv7hR9qlXaqn/lmv+J/z3rehSc5eRw47Fxo033ex6irjAA6VIGrJhuGfFXI3Jr1D5Mu5oqJTUgNAC0UUUAFFFFABRRRQAUUUUAFFFFABRRRQA1jUDtirBGahkhLCgDPublYkZ2PAGaqxXUcoyxGabrVhdT2ciW+N5HGelcf9u1SwbZdaXeAj+KJDID+VAHVXDxbs4FUrm5V02kCsJtW1G4+W20i8c+sieWP/AB6lXSvEF6cyyxWiH+GNd7fmeP0oAj1Ixpbu5IXAyKw/JknGQDzXUx+EV3B7iSW4ccgytnH4dK0Y9ESMYCUAcE2jTS9jUR8L3MnQV6SumAfw1Kun47UAeYDwNdu25JliJ7irUXgK8YjzdSUD/Zi5/nXpK2WO1SraY7VDpwbu0bwxNWCtGTSOM0zwTZ2cold5JpR/E39PSustLKGEAKlXUtsdqnWHHaqSS0RlKTk7yd2JEoHarKU1Y8VKq0yR6mpAaaBTwKAHA0tIBS0AFFFFABRRRQAUUUUAFFFFABRRRQAUUUUAGAe1MaJW6in0UAQG1T0FN+yr6VZooAqm2HpSfZh6VbooAp/Zh6UfZx6VcooAp+R7Uog9qt0UAVhDThFU9FAEQjpwSn0UAJgUtFFABRRRQAUUUUAFFFFABRRRQAUUUUAFFFFABRRRQAUUUUAFQR3trKMx3MLjOMrIDU9c1a+FLDT0QRSTsQOGcrkc7sjCjBz368n1oA6FbiB2CrNGzN0AYHNPyDnBHHWs6z0q3tHg8syn7OrJGXcscNjgnuOKht9DiWIFr2/cttZi1weSNvJ/75FAGvkZxkZ9KWsaPQoism6+1Bi4ZCTcHJGWxz7bjirUmmrJFHH9qu12MWDLMQTk5wT3H17UAX6KozaZBLqSX5eVZ0j8sFHwCuc4I78+vpVRvDdiwlBaYeafnKsFJ+bPYDFAGzRWGvhewUMA0uGJJyVPXrjI4+g4HanTeGrGeZpXafc7FmxJgEkk9B9aANqisKTwrpsrBn84kKE+/jgDA7e5/wAgYuado9rpksj25lJk6h3JHUn+tAGjRRRQAUUUUAFFFFABRRRQAUUUUAf/2Q=="/>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endParaRPr lang="zh-CN" altLang="en-US">
              <a:solidFill>
                <a:schemeClr val="tx1"/>
              </a:solidFill>
              <a:latin typeface="Arial" panose="020B0604020202020204" pitchFamily="34" charset="0"/>
              <a:ea typeface="宋体" panose="02010600030101010101" pitchFamily="2" charset="-122"/>
            </a:endParaRPr>
          </a:p>
        </p:txBody>
      </p:sp>
      <p:pic>
        <p:nvPicPr>
          <p:cNvPr id="51204" name="Picture 3" descr="C:\Users\think\Desktop\下载.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1000" y="1644650"/>
            <a:ext cx="3255963" cy="434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2"/>
          <p:cNvSpPr>
            <a:spLocks noChangeArrowheads="1"/>
          </p:cNvSpPr>
          <p:nvPr/>
        </p:nvSpPr>
        <p:spPr bwMode="auto">
          <a:xfrm>
            <a:off x="4044950" y="419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目录</a:t>
            </a:r>
          </a:p>
        </p:txBody>
      </p:sp>
      <p:graphicFrame>
        <p:nvGraphicFramePr>
          <p:cNvPr id="7" name="图示 6"/>
          <p:cNvGraphicFramePr/>
          <p:nvPr/>
        </p:nvGraphicFramePr>
        <p:xfrm>
          <a:off x="1552575" y="1549400"/>
          <a:ext cx="6096000" cy="4660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装载问题</a:t>
            </a:r>
          </a:p>
        </p:txBody>
      </p:sp>
      <p:sp>
        <p:nvSpPr>
          <p:cNvPr id="13" name="内容占位符 2"/>
          <p:cNvSpPr>
            <a:spLocks noGrp="1"/>
          </p:cNvSpPr>
          <p:nvPr>
            <p:ph idx="1"/>
          </p:nvPr>
        </p:nvSpPr>
        <p:spPr>
          <a:xfrm>
            <a:off x="396875" y="1316038"/>
            <a:ext cx="8472488" cy="4779962"/>
          </a:xfrm>
        </p:spPr>
        <p:txBody>
          <a:bodyPr/>
          <a:lstStyle/>
          <a:p>
            <a:pPr marL="0" indent="0" defTabSz="914400" eaLnBrk="1" fontAlgn="auto" hangingPunct="1">
              <a:lnSpc>
                <a:spcPct val="100000"/>
              </a:lnSpc>
              <a:spcBef>
                <a:spcPts val="0"/>
              </a:spcBef>
              <a:spcAft>
                <a:spcPts val="0"/>
              </a:spcAft>
              <a:buClrTx/>
              <a:buSzTx/>
              <a:buFontTx/>
              <a:buNone/>
              <a:defRPr/>
            </a:pPr>
            <a:endParaRPr lang="zh-CN" altLang="en-US" sz="2800" b="1" kern="0" dirty="0" smtClean="0">
              <a:solidFill>
                <a:srgbClr val="FF0000"/>
              </a:solidFill>
              <a:latin typeface="华文楷体" panose="02010600040101010101" pitchFamily="2" charset="-122"/>
              <a:ea typeface="华文楷体" panose="02010600040101010101" pitchFamily="2" charset="-122"/>
            </a:endParaRPr>
          </a:p>
        </p:txBody>
      </p:sp>
      <p:sp>
        <p:nvSpPr>
          <p:cNvPr id="54276" name="Text Box 4"/>
          <p:cNvSpPr txBox="1">
            <a:spLocks noChangeArrowheads="1"/>
          </p:cNvSpPr>
          <p:nvPr/>
        </p:nvSpPr>
        <p:spPr bwMode="auto">
          <a:xfrm>
            <a:off x="477838" y="1436688"/>
            <a:ext cx="8099425" cy="273843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有一批共</a:t>
            </a:r>
            <a:r>
              <a:rPr lang="en-US" altLang="zh-CN" sz="28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个集装箱要装上</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艘载重量分别为</a:t>
            </a:r>
            <a:r>
              <a:rPr lang="en-US" altLang="zh-CN" sz="28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r>
              <a:rPr lang="en-US" altLang="zh-CN" sz="28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r>
              <a:rPr lang="en-US" altLang="zh-CN" sz="28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的轮船，其中集装箱</a:t>
            </a:r>
            <a:r>
              <a:rPr lang="en-US" altLang="zh-CN" sz="2800" b="1" i="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的重量为</a:t>
            </a:r>
            <a:r>
              <a:rPr lang="en-US" altLang="zh-CN" sz="2800" b="1" i="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800" b="1" i="1" baseline="-25000"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，且</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endPar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装载问题要求确定是否有一个合理的装载方案可将这批集装箱装上这</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艘轮船。如果有，找出</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一种</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装载方案。</a:t>
            </a:r>
          </a:p>
        </p:txBody>
      </p:sp>
      <p:sp>
        <p:nvSpPr>
          <p:cNvPr id="1030" name="Text Box 7"/>
          <p:cNvSpPr txBox="1">
            <a:spLocks noChangeArrowheads="1"/>
          </p:cNvSpPr>
          <p:nvPr/>
        </p:nvSpPr>
        <p:spPr bwMode="auto">
          <a:xfrm>
            <a:off x="498475" y="4392613"/>
            <a:ext cx="8116888" cy="1530350"/>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例如：</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28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3, </a:t>
            </a:r>
            <a:r>
              <a:rPr lang="en-US" altLang="zh-CN" sz="28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r>
              <a:rPr lang="en-US" altLang="zh-CN" sz="28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r>
              <a:rPr lang="en-US" altLang="zh-CN" sz="28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=50,</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且</a:t>
            </a:r>
            <a:r>
              <a:rPr lang="en-US" altLang="zh-CN" sz="28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[10,40,40]</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时，可将</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装上第一艘轮船，</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装入第二艘轮船；若</a:t>
            </a:r>
            <a:r>
              <a:rPr lang="en-US" altLang="zh-CN" sz="28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 </a:t>
            </a:r>
            <a:r>
              <a:rPr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[20,40,40]</a:t>
            </a:r>
            <a:r>
              <a:rPr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，则无法将这三个集装箱都装上轮船。</a:t>
            </a:r>
          </a:p>
        </p:txBody>
      </p:sp>
      <p:graphicFrame>
        <p:nvGraphicFramePr>
          <p:cNvPr id="53254" name="Object 5"/>
          <p:cNvGraphicFramePr>
            <a:graphicFrameLocks noChangeAspect="1"/>
          </p:cNvGraphicFramePr>
          <p:nvPr/>
        </p:nvGraphicFramePr>
        <p:xfrm>
          <a:off x="6359525" y="1814513"/>
          <a:ext cx="1836738" cy="849312"/>
        </p:xfrm>
        <a:graphic>
          <a:graphicData uri="http://schemas.openxmlformats.org/presentationml/2006/ole">
            <mc:AlternateContent xmlns:mc="http://schemas.openxmlformats.org/markup-compatibility/2006">
              <mc:Choice xmlns:v="urn:schemas-microsoft-com:vml" Requires="v">
                <p:oleObj spid="_x0000_s53339" name="Microsoft 公式 3.0" r:id="rId5" imgW="927100" imgH="431800" progId="Equation.3">
                  <p:embed/>
                </p:oleObj>
              </mc:Choice>
              <mc:Fallback>
                <p:oleObj name="Microsoft 公式 3.0" r:id="rId5" imgW="927100" imgH="431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9525" y="1814513"/>
                        <a:ext cx="1836738"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装载问题</a:t>
            </a:r>
          </a:p>
        </p:txBody>
      </p:sp>
      <p:sp>
        <p:nvSpPr>
          <p:cNvPr id="2052" name="Text Box 4"/>
          <p:cNvSpPr txBox="1">
            <a:spLocks noChangeArrowheads="1"/>
          </p:cNvSpPr>
          <p:nvPr/>
        </p:nvSpPr>
        <p:spPr bwMode="auto">
          <a:xfrm>
            <a:off x="538163" y="1371600"/>
            <a:ext cx="8281987" cy="2695575"/>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容易证明，如果一个给定装载问题有解，则采用下面的策略可得到一种装载方案。</a:t>
            </a:r>
          </a:p>
          <a:p>
            <a:pPr eaLnBrk="1" hangingPunct="1">
              <a:lnSpc>
                <a:spcPct val="100000"/>
              </a:lnSpc>
              <a:spcBef>
                <a:spcPct val="0"/>
              </a:spcBef>
              <a:buClrTx/>
              <a:buSzTx/>
              <a:buFontTx/>
              <a:buNone/>
              <a:defRPr/>
            </a:pPr>
            <a:r>
              <a:rPr lang="en-US" altLang="zh-CN"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(1)</a:t>
            </a:r>
            <a:r>
              <a:rPr lang="zh-CN" altLang="en-US"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首先将</a:t>
            </a:r>
            <a:r>
              <a:rPr lang="zh-CN" altLang="en-US" sz="2400" b="1" dirty="0" smtClean="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第一艘轮船尽可能装满</a:t>
            </a:r>
            <a:r>
              <a:rPr lang="zh-CN" altLang="en-US"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lang="en-US" altLang="zh-CN"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(2)</a:t>
            </a:r>
            <a:r>
              <a:rPr lang="zh-CN" altLang="en-US"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将剩余的集装箱装上第二艘轮船。</a:t>
            </a:r>
          </a:p>
          <a:p>
            <a:pPr eaLnBrk="1" hangingPunct="1">
              <a:lnSpc>
                <a:spcPct val="100000"/>
              </a:lnSpc>
              <a:spcBef>
                <a:spcPct val="0"/>
              </a:spcBef>
              <a:buClrTx/>
              <a:buSzTx/>
              <a:buFontTx/>
              <a:buNone/>
              <a:defRPr/>
            </a:pPr>
            <a:r>
              <a:rPr lang="zh-CN" altLang="en-US" sz="2400" b="1" dirty="0" smtClean="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将第一艘轮船尽可能装满等价于选取全体集装箱的一个子集，使该子集中集装箱重量之和最接近第一艘轮船。由此可知，装载问题等价于以下特殊的</a:t>
            </a:r>
            <a:r>
              <a:rPr lang="en-US" altLang="zh-CN" sz="2400" b="1" dirty="0" smtClean="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0-1</a:t>
            </a:r>
            <a:r>
              <a:rPr lang="zh-CN" altLang="en-US" sz="2400" b="1" dirty="0" smtClean="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背包问题。</a:t>
            </a:r>
          </a:p>
        </p:txBody>
      </p:sp>
      <p:graphicFrame>
        <p:nvGraphicFramePr>
          <p:cNvPr id="2050" name="Object 5"/>
          <p:cNvGraphicFramePr>
            <a:graphicFrameLocks noChangeAspect="1"/>
          </p:cNvGraphicFramePr>
          <p:nvPr/>
        </p:nvGraphicFramePr>
        <p:xfrm>
          <a:off x="1076325" y="4195763"/>
          <a:ext cx="2146300" cy="2146300"/>
        </p:xfrm>
        <a:graphic>
          <a:graphicData uri="http://schemas.openxmlformats.org/presentationml/2006/ole">
            <mc:AlternateContent xmlns:mc="http://schemas.openxmlformats.org/markup-compatibility/2006">
              <mc:Choice xmlns:v="urn:schemas-microsoft-com:vml" Requires="v">
                <p:oleObj spid="_x0000_s54362" name="公式" r:id="rId5" imgW="1104900" imgH="1104900" progId="Equation.3">
                  <p:embed/>
                </p:oleObj>
              </mc:Choice>
              <mc:Fallback>
                <p:oleObj name="公式" r:id="rId5" imgW="1104900" imgH="11049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6325" y="4195763"/>
                        <a:ext cx="2146300"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7"/>
          <p:cNvSpPr txBox="1">
            <a:spLocks noChangeArrowheads="1"/>
          </p:cNvSpPr>
          <p:nvPr/>
        </p:nvSpPr>
        <p:spPr bwMode="auto">
          <a:xfrm>
            <a:off x="3768725" y="4699000"/>
            <a:ext cx="4968875" cy="123825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用回溯法设计解装载问题的</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O(2</a:t>
            </a:r>
            <a:r>
              <a:rPr lang="en-US" altLang="zh-CN" sz="2400" b="1" baseline="30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计算时间算法，在某些情况下该算法优于动态规划算法。</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装载问题</a:t>
            </a:r>
          </a:p>
        </p:txBody>
      </p:sp>
      <p:sp>
        <p:nvSpPr>
          <p:cNvPr id="3" name="Text Box 4"/>
          <p:cNvSpPr txBox="1">
            <a:spLocks noChangeArrowheads="1"/>
          </p:cNvSpPr>
          <p:nvPr/>
        </p:nvSpPr>
        <p:spPr bwMode="auto">
          <a:xfrm>
            <a:off x="99060" y="1227455"/>
            <a:ext cx="8869045" cy="4373245"/>
          </a:xfrm>
          <a:prstGeom prst="rect">
            <a:avLst/>
          </a:prstGeom>
        </p:spPr>
        <p:style>
          <a:lnRef idx="2">
            <a:schemeClr val="dk1"/>
          </a:lnRef>
          <a:fillRef idx="1">
            <a:schemeClr val="lt1"/>
          </a:fillRef>
          <a:effectRef idx="0">
            <a:schemeClr val="dk1"/>
          </a:effectRef>
          <a:fontRef idx="minor">
            <a:schemeClr val="dk1"/>
          </a:fontRef>
        </p:style>
        <p:txBody>
          <a:bodyPr/>
          <a:lstStyle/>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）每个集装箱要么出现要么不出现，设第</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个集装箱是否出现表示为</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，则问题</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解向量</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显式约束</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{0, 1}</a:t>
            </a: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隐式约束</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为</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的集装箱</a:t>
            </a:r>
            <a:r>
              <a:rPr lang="zh-CN" altLang="en-US" sz="3200" b="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总重量</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小于等于</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界函数</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p:nvPr/>
        </p:nvSpPr>
        <p:spPr>
          <a:xfrm>
            <a:off x="98425" y="5645150"/>
            <a:ext cx="8869680" cy="1076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Clr>
                <a:srgbClr val="92944E"/>
              </a:buClr>
              <a:defRPr/>
            </a:pPr>
            <a:r>
              <a:rPr lang="en-US" altLang="zh-CN"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当前载重量</a:t>
            </a:r>
            <a:r>
              <a:rPr lang="en-US" altLang="zh-CN" sz="3200" b="1" dirty="0" err="1">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剩余可选集装箱的重量和</a:t>
            </a:r>
            <a:r>
              <a:rPr lang="en-US" altLang="zh-CN"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r &gt;</a:t>
            </a:r>
            <a:r>
              <a:rPr lang="zh-CN" altLang="en-US"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当前最优载重量</a:t>
            </a:r>
            <a:r>
              <a:rPr lang="en-US" altLang="zh-CN" sz="3200" b="1" dirty="0" err="1">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bestw</a:t>
            </a:r>
            <a:r>
              <a:rPr lang="zh-CN" altLang="en-US"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标准回溯</a:t>
            </a:r>
          </a:p>
        </p:txBody>
      </p:sp>
      <p:sp>
        <p:nvSpPr>
          <p:cNvPr id="7" name="Text Box 5"/>
          <p:cNvSpPr txBox="1">
            <a:spLocks noChangeArrowheads="1"/>
          </p:cNvSpPr>
          <p:nvPr/>
        </p:nvSpPr>
        <p:spPr bwMode="auto">
          <a:xfrm>
            <a:off x="4100513" y="1062038"/>
            <a:ext cx="4357687" cy="5795962"/>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集装箱的数量；</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w[n]</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mn-ea"/>
              </a:rPr>
              <a:t>集装箱</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的重量；</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bestx</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最优解；</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最优重量；</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0</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当前</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mn-ea"/>
              </a:rPr>
              <a:t>集装箱</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的重量；</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backtrack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t)</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搜索第</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层结点</a:t>
            </a:r>
          </a:p>
          <a:p>
            <a:pPr eaLnBrk="1" hangingPunct="1">
              <a:lnSpc>
                <a:spcPct val="100000"/>
              </a:lnSpc>
              <a:spcBef>
                <a:spcPct val="0"/>
              </a:spcBef>
              <a:buClrTx/>
              <a:buSzTx/>
              <a:buFontTx/>
              <a:buNone/>
              <a:defRPr/>
            </a:pP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if (t &gt; n)  // </a:t>
            </a: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到达叶结点</a:t>
            </a:r>
          </a:p>
          <a:p>
            <a:pPr eaLnBrk="1" hangingPunct="1">
              <a:lnSpc>
                <a:spcPct val="100000"/>
              </a:lnSpc>
              <a:spcBef>
                <a:spcPct val="0"/>
              </a:spcBef>
              <a:buClrTx/>
              <a:buSzTx/>
              <a:buFontTx/>
              <a:buNone/>
              <a:defRPr/>
            </a:pPr>
            <a:r>
              <a:rPr kumimoji="1" lang="zh-CN" altLang="en-US"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更新最优解</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bestx,bestw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else</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for(</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1; </a:t>
            </a:r>
            <a:r>
              <a:rPr kumimoji="1"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&gt;= 0</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x[t] = </a:t>
            </a:r>
            <a:r>
              <a:rPr kumimoji="1"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a:t>
            </a:r>
            <a:r>
              <a:rPr kumimoji="1"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w[t] * </a:t>
            </a:r>
            <a:r>
              <a:rPr kumimoji="1"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&lt;= c</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w[t] *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backtrack(t + 1);</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w[t] *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5" name="Text Box 4"/>
          <p:cNvSpPr txBox="1">
            <a:spLocks noChangeArrowheads="1"/>
          </p:cNvSpPr>
          <p:nvPr/>
        </p:nvSpPr>
        <p:spPr bwMode="auto">
          <a:xfrm>
            <a:off x="266700" y="1770063"/>
            <a:ext cx="3495675" cy="3587750"/>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void backtrack (</a:t>
            </a:r>
            <a:r>
              <a:rPr lang="en-US" altLang="zh-CN"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if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 </a:t>
            </a:r>
            <a:r>
              <a:rPr lang="en-US" altLang="zh-CN" b="1" dirty="0">
                <a:solidFill>
                  <a:schemeClr val="tx1">
                    <a:lumMod val="50000"/>
                  </a:schemeClr>
                </a:solidFill>
                <a:latin typeface="Times New Roman" panose="02020603050405020304" pitchFamily="18" charset="0"/>
                <a:cs typeface="Times New Roman" panose="02020603050405020304" pitchFamily="18" charset="0"/>
              </a:rPr>
              <a:t>&gt;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n</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output(</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else</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for (</a:t>
            </a:r>
            <a:r>
              <a:rPr lang="en-US" altLang="zh-CN" b="1" dirty="0" err="1">
                <a:solidFill>
                  <a:schemeClr val="tx1">
                    <a:lumMod val="50000"/>
                  </a:schemeClr>
                </a:solidFill>
                <a:latin typeface="Times New Roman" panose="02020603050405020304" pitchFamily="18" charset="0"/>
                <a:cs typeface="Times New Roman" panose="02020603050405020304" pitchFamily="18" charset="0"/>
              </a:rPr>
              <a:t>int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dirty="0">
                <a:solidFill>
                  <a:srgbClr val="002060"/>
                </a:solidFill>
                <a:latin typeface="Times New Roman" panose="02020603050405020304" pitchFamily="18" charset="0"/>
                <a:cs typeface="Times New Roman" panose="02020603050405020304" pitchFamily="18" charset="0"/>
              </a:rPr>
              <a:t>=</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i="1" dirty="0">
                <a:solidFill>
                  <a:srgbClr val="FF0000"/>
                </a:solidFill>
                <a:latin typeface="Times New Roman" panose="02020603050405020304" pitchFamily="18" charset="0"/>
                <a:cs typeface="Times New Roman" panose="02020603050405020304" pitchFamily="18" charset="0"/>
              </a:rPr>
              <a:t>f</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i="1" dirty="0">
                <a:solidFill>
                  <a:srgbClr val="FF0000"/>
                </a:solidFill>
                <a:latin typeface="Times New Roman" panose="02020603050405020304" pitchFamily="18" charset="0"/>
                <a:cs typeface="Times New Roman" panose="02020603050405020304" pitchFamily="18" charset="0"/>
              </a:rPr>
              <a:t>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i="1" dirty="0">
                <a:solidFill>
                  <a:srgbClr val="FF0000"/>
                </a:solidFill>
                <a:latin typeface="Times New Roman" panose="02020603050405020304" pitchFamily="18" charset="0"/>
                <a:cs typeface="Times New Roman" panose="02020603050405020304" pitchFamily="18" charset="0"/>
              </a:rPr>
              <a:t>t </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i="1" dirty="0">
                <a:solidFill>
                  <a:srgbClr val="FF0000"/>
                </a:solidFill>
                <a:latin typeface="Times New Roman" panose="02020603050405020304" pitchFamily="18" charset="0"/>
                <a:cs typeface="Times New Roman" panose="02020603050405020304" pitchFamily="18" charset="0"/>
              </a:rPr>
              <a:t>g</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i="1" dirty="0">
                <a:solidFill>
                  <a:srgbClr val="FF0000"/>
                </a:solidFill>
                <a:latin typeface="Times New Roman" panose="02020603050405020304" pitchFamily="18" charset="0"/>
                <a:cs typeface="Times New Roman" panose="02020603050405020304" pitchFamily="18" charset="0"/>
              </a:rPr>
              <a:t>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i="1" dirty="0">
                <a:solidFill>
                  <a:srgbClr val="FF0000"/>
                </a:solidFill>
                <a:latin typeface="Times New Roman" panose="02020603050405020304" pitchFamily="18" charset="0"/>
                <a:cs typeface="Times New Roman" panose="02020603050405020304" pitchFamily="18" charset="0"/>
              </a:rPr>
              <a:t>t</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x</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 </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h</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r>
              <a:rPr lang="en-US" altLang="zh-CN" b="1" i="1" dirty="0" err="1">
                <a:solidFill>
                  <a:schemeClr val="tx1">
                    <a:lumMod val="50000"/>
                  </a:schemeClr>
                </a:solidFill>
                <a:latin typeface="Times New Roman" panose="02020603050405020304" pitchFamily="18" charset="0"/>
                <a:cs typeface="Times New Roman" panose="02020603050405020304" pitchFamily="18" charset="0"/>
              </a:rPr>
              <a:t>i</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if(constraint(</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)&amp;bound(</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backtrack(</a:t>
            </a:r>
            <a:r>
              <a:rPr lang="en-US" altLang="zh-CN" b="1" i="1" dirty="0">
                <a:solidFill>
                  <a:schemeClr val="tx1">
                    <a:lumMod val="50000"/>
                  </a:schemeClr>
                </a:solidFill>
                <a:latin typeface="Times New Roman" panose="02020603050405020304" pitchFamily="18" charset="0"/>
                <a:cs typeface="Times New Roman" panose="02020603050405020304" pitchFamily="18" charset="0"/>
              </a:rPr>
              <a:t>t</a:t>
            </a:r>
            <a:r>
              <a:rPr lang="en-US" altLang="zh-CN" b="1" dirty="0">
                <a:solidFill>
                  <a:schemeClr val="tx1">
                    <a:lumMod val="50000"/>
                  </a:schemeClr>
                </a:solidFill>
                <a:latin typeface="Times New Roman" panose="02020603050405020304" pitchFamily="18" charset="0"/>
                <a:cs typeface="Times New Roman" panose="02020603050405020304" pitchFamily="18" charset="0"/>
              </a:rPr>
              <a:t>+1);</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lang="en-US" altLang="zh-CN"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b="1"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标准回溯</a:t>
            </a:r>
          </a:p>
        </p:txBody>
      </p:sp>
      <p:sp>
        <p:nvSpPr>
          <p:cNvPr id="7" name="Text Box 5"/>
          <p:cNvSpPr txBox="1">
            <a:spLocks noChangeArrowheads="1"/>
          </p:cNvSpPr>
          <p:nvPr/>
        </p:nvSpPr>
        <p:spPr bwMode="auto">
          <a:xfrm>
            <a:off x="406400" y="1050925"/>
            <a:ext cx="6511925" cy="5807075"/>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r=sum(w); 1~n</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个集装箱的重量和；</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物品的数量；</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bestx</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最优解；</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最优重量；</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0</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当前物品的重量；</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backtrack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t)</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搜索第</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层结点</a:t>
            </a:r>
          </a:p>
          <a:p>
            <a:pPr eaLnBrk="1" hangingPunct="1">
              <a:lnSpc>
                <a:spcPct val="100000"/>
              </a:lnSpc>
              <a:spcBef>
                <a:spcPct val="0"/>
              </a:spcBef>
              <a:buClrTx/>
              <a:buSzTx/>
              <a:buFontTx/>
              <a:buNone/>
              <a:defRPr/>
            </a:pP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if (t &gt; n)  // </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到达叶结点</a:t>
            </a:r>
          </a:p>
          <a:p>
            <a:pPr eaLnBrk="1" hangingPunct="1">
              <a:lnSpc>
                <a:spcPct val="100000"/>
              </a:lnSpc>
              <a:spcBef>
                <a:spcPct val="0"/>
              </a:spcBef>
              <a:buClrTx/>
              <a:buSzTx/>
              <a:buFontTx/>
              <a:buNone/>
              <a:defRPr/>
            </a:pP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更新最优解</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bestx</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else{</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r -= w[t];//t+1~n</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个集装箱的重量和</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for(</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1;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&gt;= 0;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x[t] =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w[t] *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&lt;= c &amp;&amp;</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w[t] *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r &gt;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w[t] *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backtrack(t+ 1);</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w[t] *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 += w[t</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向上回溯的时候得加上</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p:txBody>
      </p:sp>
      <p:sp>
        <p:nvSpPr>
          <p:cNvPr id="58372" name="Text Box 4"/>
          <p:cNvSpPr txBox="1">
            <a:spLocks noChangeArrowheads="1"/>
          </p:cNvSpPr>
          <p:nvPr/>
        </p:nvSpPr>
        <p:spPr bwMode="auto">
          <a:xfrm>
            <a:off x="4306888" y="1252538"/>
            <a:ext cx="4837112" cy="2314575"/>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解空间：子集树</a:t>
            </a:r>
          </a:p>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可行性约束函数</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选择当前元素</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cw+w</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[t]&lt;=c</a:t>
            </a:r>
          </a:p>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上界函数：</a:t>
            </a:r>
          </a:p>
          <a:p>
            <a:pPr eaLnBrk="1" hangingPunct="1">
              <a:lnSpc>
                <a:spcPct val="100000"/>
              </a:lnSpc>
              <a:spcBef>
                <a:spcPct val="0"/>
              </a:spcBef>
              <a:buClrTx/>
              <a:buSzTx/>
              <a:buFontTx/>
              <a:buNone/>
              <a:defRPr/>
            </a:pP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当前载重量</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剩余可选集装箱的重量和</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&gt;</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当前最优载重量</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bestw</a:t>
            </a:r>
            <a:endPar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endParaRPr lang="zh-CN" altLang="en-US" sz="2400" dirty="0" smtClean="0">
              <a:solidFill>
                <a:srgbClr val="000066"/>
              </a:solidFill>
              <a:latin typeface="Times New Roman" panose="02020603050405020304" pitchFamily="18" charset="0"/>
              <a:ea typeface="楷体_GB2312" pitchFamily="49" charset="-122"/>
              <a:cs typeface="Times New Roman" panose="02020603050405020304" pitchFamily="18" charset="0"/>
            </a:endParaRPr>
          </a:p>
        </p:txBody>
      </p:sp>
      <p:sp>
        <p:nvSpPr>
          <p:cNvPr id="5" name="椭圆形标注 4"/>
          <p:cNvSpPr/>
          <p:nvPr/>
        </p:nvSpPr>
        <p:spPr>
          <a:xfrm>
            <a:off x="5324475" y="3857625"/>
            <a:ext cx="3200400" cy="1562100"/>
          </a:xfrm>
          <a:prstGeom prst="wedgeEllipseCallout">
            <a:avLst>
              <a:gd name="adj1" fmla="val -85417"/>
              <a:gd name="adj2" fmla="val 113823"/>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tLang="zh-CN" sz="2800" b="1" dirty="0">
                <a:latin typeface="Times New Roman" panose="02020603050405020304" pitchFamily="18" charset="0"/>
                <a:cs typeface="Times New Roman" panose="02020603050405020304" pitchFamily="18" charset="0"/>
              </a:rPr>
              <a:t>r</a:t>
            </a:r>
            <a:r>
              <a:rPr lang="zh-CN" altLang="en-US" sz="2800" b="1" dirty="0"/>
              <a:t>用矩阵存储是否可行？</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9" end="1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装载问题</a:t>
            </a:r>
          </a:p>
        </p:txBody>
      </p:sp>
      <p:sp>
        <p:nvSpPr>
          <p:cNvPr id="59395" name="Text Box 5"/>
          <p:cNvSpPr txBox="1">
            <a:spLocks noChangeArrowheads="1"/>
          </p:cNvSpPr>
          <p:nvPr/>
        </p:nvSpPr>
        <p:spPr bwMode="auto">
          <a:xfrm>
            <a:off x="0" y="1135063"/>
            <a:ext cx="5753100" cy="572293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r=sum(w); </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剩余材料的重量；</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物品的数量；</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bestx</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最优解；</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最优重量；</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当前物品的重量；</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backtrack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搜索第</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层结点</a:t>
            </a:r>
          </a:p>
          <a:p>
            <a:pPr eaLnBrk="1" hangingPunct="1">
              <a:lnSpc>
                <a:spcPct val="100000"/>
              </a:lnSpc>
              <a:spcBef>
                <a:spcPct val="0"/>
              </a:spcBef>
              <a:buClrTx/>
              <a:buSzTx/>
              <a:buFontTx/>
              <a:buNone/>
              <a:defRPr/>
            </a:pP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if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&gt; n)  // </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到达叶结点</a:t>
            </a:r>
          </a:p>
          <a:p>
            <a:pPr eaLnBrk="1" hangingPunct="1">
              <a:lnSpc>
                <a:spcPct val="100000"/>
              </a:lnSpc>
              <a:spcBef>
                <a:spcPct val="0"/>
              </a:spcBef>
              <a:buClrTx/>
              <a:buSzTx/>
              <a:buFontTx/>
              <a:buNone/>
              <a:defRPr/>
            </a:pP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更新最优解</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bestx</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return</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 -= w[</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if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&lt;= c) {// </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搜索左子树</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x[</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1 </a:t>
            </a:r>
            <a:endPar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1;</a:t>
            </a:r>
          </a:p>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backtrack(</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+ 1);</a:t>
            </a:r>
          </a:p>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x[</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0;</a:t>
            </a:r>
          </a:p>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if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r &gt;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搜索右子树</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x[</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0 </a:t>
            </a:r>
          </a:p>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x[</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0;  </a:t>
            </a:r>
            <a:endPar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backtrack(</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+ 1);      }</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 += w[</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p:txBody>
      </p:sp>
      <p:sp>
        <p:nvSpPr>
          <p:cNvPr id="57348" name="Text Box 4"/>
          <p:cNvSpPr txBox="1">
            <a:spLocks noChangeArrowheads="1"/>
          </p:cNvSpPr>
          <p:nvPr/>
        </p:nvSpPr>
        <p:spPr bwMode="auto">
          <a:xfrm>
            <a:off x="4306888" y="1370013"/>
            <a:ext cx="4837112" cy="2314575"/>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解空间：子集树</a:t>
            </a:r>
          </a:p>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可行性约束函数</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选择当前元素</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cw+w</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]&lt;=c</a:t>
            </a:r>
          </a:p>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上界函数：</a:t>
            </a:r>
          </a:p>
          <a:p>
            <a:pPr eaLnBrk="1" hangingPunct="1">
              <a:lnSpc>
                <a:spcPct val="100000"/>
              </a:lnSpc>
              <a:spcBef>
                <a:spcPct val="0"/>
              </a:spcBef>
              <a:buClrTx/>
              <a:buSzTx/>
              <a:buFontTx/>
              <a:buNone/>
              <a:defRPr/>
            </a:pP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当前载重量</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剩余可选集装箱的重量和</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&gt;</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当前最优载重量</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bestw</a:t>
            </a:r>
            <a:endPar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endParaRPr lang="zh-CN" altLang="en-US" sz="2400" dirty="0" smtClean="0">
              <a:solidFill>
                <a:srgbClr val="000066"/>
              </a:solidFill>
              <a:latin typeface="Times New Roman" panose="02020603050405020304" pitchFamily="18" charset="0"/>
              <a:ea typeface="楷体_GB2312" pitchFamily="49" charset="-122"/>
              <a:cs typeface="Times New Roman" panose="02020603050405020304" pitchFamily="18" charset="0"/>
            </a:endParaRPr>
          </a:p>
        </p:txBody>
      </p:sp>
      <p:sp>
        <p:nvSpPr>
          <p:cNvPr id="10" name="AutoShape 6"/>
          <p:cNvSpPr>
            <a:spLocks noChangeArrowheads="1"/>
          </p:cNvSpPr>
          <p:nvPr/>
        </p:nvSpPr>
        <p:spPr bwMode="auto">
          <a:xfrm>
            <a:off x="5802313" y="6091238"/>
            <a:ext cx="3341687" cy="565150"/>
          </a:xfrm>
          <a:prstGeom prst="roundRect">
            <a:avLst>
              <a:gd name="adj" fmla="val 16667"/>
            </a:avLst>
          </a:prstGeom>
          <a:solidFill>
            <a:srgbClr val="FFFFFF"/>
          </a:solidFill>
          <a:ln w="38100">
            <a:solidFill>
              <a:srgbClr val="063DE8"/>
            </a:solidFill>
            <a:round/>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算法时间复杂度 </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O(n2</a:t>
            </a:r>
            <a:r>
              <a:rPr lang="en-US" altLang="zh-CN" sz="2400" b="1" baseline="3000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 name="圆角矩形标注 5"/>
          <p:cNvSpPr/>
          <p:nvPr/>
        </p:nvSpPr>
        <p:spPr>
          <a:xfrm>
            <a:off x="5080000" y="3860800"/>
            <a:ext cx="4064000" cy="800100"/>
          </a:xfrm>
          <a:prstGeom prst="wedgeRoundRectCallout">
            <a:avLst>
              <a:gd name="adj1" fmla="val -63262"/>
              <a:gd name="adj2" fmla="val -21779"/>
              <a:gd name="adj3" fmla="val 16667"/>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zh-CN" altLang="en-US" b="1" dirty="0">
                <a:solidFill>
                  <a:srgbClr val="FF0000"/>
                </a:solidFill>
                <a:latin typeface="Times New Roman" panose="02020603050405020304" pitchFamily="18" charset="0"/>
                <a:cs typeface="Times New Roman" panose="02020603050405020304" pitchFamily="18" charset="0"/>
              </a:rPr>
              <a:t>进左前：</a:t>
            </a:r>
            <a:r>
              <a:rPr lang="en-US" altLang="zh-CN" b="1" dirty="0" err="1">
                <a:solidFill>
                  <a:srgbClr val="FF0000"/>
                </a:solidFill>
                <a:latin typeface="Times New Roman" panose="02020603050405020304" pitchFamily="18" charset="0"/>
                <a:cs typeface="Times New Roman" panose="02020603050405020304" pitchFamily="18" charset="0"/>
              </a:rPr>
              <a:t>ub</a:t>
            </a:r>
            <a:r>
              <a:rPr lang="en-US" altLang="zh-CN" b="1" dirty="0">
                <a:solidFill>
                  <a:srgbClr val="FF0000"/>
                </a:solidFill>
                <a:latin typeface="Times New Roman" panose="02020603050405020304" pitchFamily="18" charset="0"/>
                <a:cs typeface="Times New Roman" panose="02020603050405020304" pitchFamily="18" charset="0"/>
              </a:rPr>
              <a:t> = </a:t>
            </a:r>
            <a:r>
              <a:rPr lang="en-US" altLang="zh-CN" b="1" dirty="0" err="1">
                <a:solidFill>
                  <a:srgbClr val="FF0000"/>
                </a:solidFill>
                <a:latin typeface="Times New Roman" panose="02020603050405020304" pitchFamily="18" charset="0"/>
                <a:cs typeface="Times New Roman" panose="02020603050405020304" pitchFamily="18" charset="0"/>
              </a:rPr>
              <a:t>cw</a:t>
            </a:r>
            <a:r>
              <a:rPr lang="en-US" altLang="zh-CN" b="1" dirty="0">
                <a:solidFill>
                  <a:srgbClr val="FF0000"/>
                </a:solidFill>
                <a:latin typeface="Times New Roman" panose="02020603050405020304" pitchFamily="18" charset="0"/>
                <a:cs typeface="Times New Roman" panose="02020603050405020304" pitchFamily="18" charset="0"/>
              </a:rPr>
              <a:t> + r &gt; </a:t>
            </a:r>
            <a:r>
              <a:rPr lang="en-US" altLang="zh-CN" b="1" dirty="0" err="1">
                <a:solidFill>
                  <a:srgbClr val="FF0000"/>
                </a:solidFill>
                <a:latin typeface="Times New Roman" panose="02020603050405020304" pitchFamily="18" charset="0"/>
                <a:cs typeface="Times New Roman" panose="02020603050405020304" pitchFamily="18" charset="0"/>
              </a:rPr>
              <a:t>bestw</a:t>
            </a:r>
            <a:endParaRPr lang="en-US" altLang="zh-CN" b="1" dirty="0">
              <a:solidFill>
                <a:srgbClr val="FF0000"/>
              </a:solidFill>
              <a:latin typeface="Times New Roman" panose="02020603050405020304" pitchFamily="18" charset="0"/>
              <a:cs typeface="Times New Roman" panose="02020603050405020304" pitchFamily="18" charset="0"/>
            </a:endParaRPr>
          </a:p>
          <a:p>
            <a:pPr>
              <a:defRPr/>
            </a:pPr>
            <a:r>
              <a:rPr lang="zh-CN" altLang="en-US" b="1" dirty="0">
                <a:solidFill>
                  <a:srgbClr val="FF0000"/>
                </a:solidFill>
                <a:latin typeface="Times New Roman" panose="02020603050405020304" pitchFamily="18" charset="0"/>
                <a:cs typeface="Times New Roman" panose="02020603050405020304" pitchFamily="18" charset="0"/>
              </a:rPr>
              <a:t>进左后：</a:t>
            </a:r>
            <a:r>
              <a:rPr lang="en-US" altLang="zh-CN" b="1" dirty="0" err="1">
                <a:solidFill>
                  <a:srgbClr val="FF0000"/>
                </a:solidFill>
                <a:latin typeface="Times New Roman" panose="02020603050405020304" pitchFamily="18" charset="0"/>
                <a:cs typeface="Times New Roman" panose="02020603050405020304" pitchFamily="18" charset="0"/>
              </a:rPr>
              <a:t>ub</a:t>
            </a:r>
            <a:r>
              <a:rPr lang="en-US" altLang="zh-CN" b="1" dirty="0">
                <a:solidFill>
                  <a:srgbClr val="FF0000"/>
                </a:solidFill>
                <a:latin typeface="Times New Roman" panose="02020603050405020304" pitchFamily="18" charset="0"/>
                <a:cs typeface="Times New Roman" panose="02020603050405020304" pitchFamily="18" charset="0"/>
              </a:rPr>
              <a:t>’ = </a:t>
            </a:r>
            <a:r>
              <a:rPr lang="en-US" altLang="zh-CN" b="1" dirty="0" err="1">
                <a:solidFill>
                  <a:srgbClr val="FF0000"/>
                </a:solidFill>
                <a:latin typeface="Times New Roman" panose="02020603050405020304" pitchFamily="18" charset="0"/>
                <a:cs typeface="Times New Roman" panose="02020603050405020304" pitchFamily="18" charset="0"/>
              </a:rPr>
              <a:t>cw</a:t>
            </a:r>
            <a:r>
              <a:rPr lang="en-US" altLang="zh-CN" b="1" dirty="0">
                <a:solidFill>
                  <a:srgbClr val="FF0000"/>
                </a:solidFill>
                <a:latin typeface="Times New Roman" panose="02020603050405020304" pitchFamily="18" charset="0"/>
                <a:cs typeface="Times New Roman" panose="02020603050405020304" pitchFamily="18" charset="0"/>
              </a:rPr>
              <a:t> + w[</a:t>
            </a:r>
            <a:r>
              <a:rPr lang="en-US" altLang="zh-CN" b="1" dirty="0" err="1">
                <a:solidFill>
                  <a:srgbClr val="FF0000"/>
                </a:solidFill>
                <a:latin typeface="Times New Roman" panose="02020603050405020304" pitchFamily="18" charset="0"/>
                <a:cs typeface="Times New Roman" panose="02020603050405020304" pitchFamily="18" charset="0"/>
              </a:rPr>
              <a:t>i</a:t>
            </a:r>
            <a:r>
              <a:rPr lang="en-US" altLang="zh-CN" b="1" dirty="0">
                <a:solidFill>
                  <a:srgbClr val="FF0000"/>
                </a:solidFill>
                <a:latin typeface="Times New Roman" panose="02020603050405020304" pitchFamily="18" charset="0"/>
                <a:cs typeface="Times New Roman" panose="02020603050405020304" pitchFamily="18" charset="0"/>
              </a:rPr>
              <a:t>] + r - w[</a:t>
            </a:r>
            <a:r>
              <a:rPr lang="en-US" altLang="zh-CN" b="1" dirty="0" err="1">
                <a:solidFill>
                  <a:srgbClr val="FF0000"/>
                </a:solidFill>
                <a:latin typeface="Times New Roman" panose="02020603050405020304" pitchFamily="18" charset="0"/>
                <a:cs typeface="Times New Roman" panose="02020603050405020304" pitchFamily="18" charset="0"/>
              </a:rPr>
              <a:t>i</a:t>
            </a:r>
            <a:r>
              <a:rPr lang="en-US" altLang="zh-CN" b="1" dirty="0">
                <a:solidFill>
                  <a:srgbClr val="FF0000"/>
                </a:solidFill>
                <a:latin typeface="Times New Roman" panose="02020603050405020304" pitchFamily="18" charset="0"/>
                <a:cs typeface="Times New Roman" panose="02020603050405020304" pitchFamily="18" charset="0"/>
              </a:rPr>
              <a:t>] = </a:t>
            </a:r>
            <a:r>
              <a:rPr lang="en-US" altLang="zh-CN" b="1" dirty="0" err="1">
                <a:solidFill>
                  <a:srgbClr val="FF0000"/>
                </a:solidFill>
                <a:latin typeface="Times New Roman" panose="02020603050405020304" pitchFamily="18" charset="0"/>
                <a:cs typeface="Times New Roman" panose="02020603050405020304" pitchFamily="18" charset="0"/>
              </a:rPr>
              <a:t>ub</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7" name="圆角矩形标注 6"/>
          <p:cNvSpPr/>
          <p:nvPr/>
        </p:nvSpPr>
        <p:spPr>
          <a:xfrm>
            <a:off x="5080000" y="5232400"/>
            <a:ext cx="4064000" cy="800100"/>
          </a:xfrm>
          <a:prstGeom prst="wedgeRoundRectCallout">
            <a:avLst>
              <a:gd name="adj1" fmla="val -62012"/>
              <a:gd name="adj2" fmla="val 8380"/>
              <a:gd name="adj3" fmla="val 16667"/>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zh-CN" altLang="en-US" b="1" dirty="0">
                <a:solidFill>
                  <a:srgbClr val="FF0000"/>
                </a:solidFill>
                <a:latin typeface="Times New Roman" panose="02020603050405020304" pitchFamily="18" charset="0"/>
                <a:cs typeface="Times New Roman" panose="02020603050405020304" pitchFamily="18" charset="0"/>
              </a:rPr>
              <a:t>进右前：</a:t>
            </a:r>
            <a:r>
              <a:rPr lang="en-US" altLang="zh-CN" b="1" dirty="0" err="1">
                <a:solidFill>
                  <a:srgbClr val="FF0000"/>
                </a:solidFill>
                <a:latin typeface="Times New Roman" panose="02020603050405020304" pitchFamily="18" charset="0"/>
                <a:cs typeface="Times New Roman" panose="02020603050405020304" pitchFamily="18" charset="0"/>
              </a:rPr>
              <a:t>cw</a:t>
            </a:r>
            <a:r>
              <a:rPr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&lt;= c</a:t>
            </a:r>
            <a:endParaRPr lang="en-US" altLang="zh-CN" b="1" dirty="0">
              <a:solidFill>
                <a:srgbClr val="FF0000"/>
              </a:solidFill>
              <a:latin typeface="Times New Roman" panose="02020603050405020304" pitchFamily="18" charset="0"/>
              <a:cs typeface="Times New Roman" panose="02020603050405020304" pitchFamily="18" charset="0"/>
            </a:endParaRPr>
          </a:p>
          <a:p>
            <a:pPr>
              <a:defRPr/>
            </a:pPr>
            <a:r>
              <a:rPr lang="zh-CN" altLang="en-US" b="1" dirty="0">
                <a:solidFill>
                  <a:srgbClr val="FF0000"/>
                </a:solidFill>
                <a:latin typeface="Times New Roman" panose="02020603050405020304" pitchFamily="18" charset="0"/>
                <a:cs typeface="Times New Roman" panose="02020603050405020304" pitchFamily="18" charset="0"/>
              </a:rPr>
              <a:t>进右后：</a:t>
            </a:r>
            <a:r>
              <a:rPr lang="en-US" altLang="zh-CN" b="1" dirty="0" err="1">
                <a:solidFill>
                  <a:srgbClr val="FF0000"/>
                </a:solidFill>
                <a:latin typeface="Times New Roman" panose="02020603050405020304" pitchFamily="18" charset="0"/>
                <a:cs typeface="Times New Roman" panose="02020603050405020304" pitchFamily="18" charset="0"/>
              </a:rPr>
              <a:t>cw</a:t>
            </a:r>
            <a:r>
              <a:rPr lang="en-US" altLang="zh-CN" b="1" dirty="0">
                <a:solidFill>
                  <a:srgbClr val="FF0000"/>
                </a:solidFill>
                <a:latin typeface="Times New Roman" panose="02020603050405020304" pitchFamily="18" charset="0"/>
                <a:cs typeface="Times New Roman" panose="02020603050405020304" pitchFamily="18" charset="0"/>
              </a:rPr>
              <a:t> + 0 </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&lt;= c</a:t>
            </a:r>
            <a:endParaRPr lang="zh-CN" altLang="en-US" b="1" dirty="0">
              <a:solidFill>
                <a:srgbClr val="FF0000"/>
              </a:solidFill>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dissolve">
                                      <p:cBhvr>
                                        <p:cTn id="1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animBg="1"/>
      <p:bldP spid="10" grpId="0" animBg="1"/>
      <p:bldP spid="6"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装载问题</a:t>
            </a:r>
          </a:p>
        </p:txBody>
      </p:sp>
      <p:sp>
        <p:nvSpPr>
          <p:cNvPr id="60419" name="Text Box 4"/>
          <p:cNvSpPr txBox="1">
            <a:spLocks noChangeArrowheads="1"/>
          </p:cNvSpPr>
          <p:nvPr/>
        </p:nvSpPr>
        <p:spPr bwMode="auto">
          <a:xfrm>
            <a:off x="517525" y="2185988"/>
            <a:ext cx="8281988" cy="47148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en-US" altLang="zh-CN" sz="2400" dirty="0" smtClean="0">
                <a:solidFill>
                  <a:srgbClr val="000066"/>
                </a:solidFill>
                <a:latin typeface="Times New Roman" panose="02020603050405020304" pitchFamily="18" charset="0"/>
                <a:ea typeface="楷体_GB2312" pitchFamily="49" charset="-122"/>
                <a:cs typeface="Times New Roman" panose="02020603050405020304" pitchFamily="18" charset="0"/>
              </a:rPr>
              <a:t>W = &lt;90, 80, 40, 30, 20, 12, 10&gt;</a:t>
            </a:r>
            <a:r>
              <a:rPr lang="zh-CN" altLang="en-US" sz="2400" dirty="0" smtClean="0">
                <a:solidFill>
                  <a:srgbClr val="000066"/>
                </a:solidFill>
                <a:latin typeface="Times New Roman" panose="02020603050405020304" pitchFamily="18" charset="0"/>
                <a:ea typeface="楷体_GB2312" pitchFamily="49" charset="-122"/>
                <a:cs typeface="Times New Roman" panose="02020603050405020304" pitchFamily="18" charset="0"/>
              </a:rPr>
              <a:t>，</a:t>
            </a:r>
            <a:r>
              <a:rPr lang="en-US" altLang="zh-CN" sz="2400" dirty="0" smtClean="0">
                <a:solidFill>
                  <a:srgbClr val="000066"/>
                </a:solidFill>
                <a:latin typeface="Times New Roman" panose="02020603050405020304" pitchFamily="18" charset="0"/>
                <a:ea typeface="楷体_GB2312" pitchFamily="49" charset="-122"/>
                <a:cs typeface="Times New Roman" panose="02020603050405020304" pitchFamily="18" charset="0"/>
              </a:rPr>
              <a:t>c</a:t>
            </a:r>
            <a:r>
              <a:rPr lang="en-US" altLang="zh-CN" sz="2400" baseline="-25000" dirty="0" smtClean="0">
                <a:solidFill>
                  <a:srgbClr val="000066"/>
                </a:solidFill>
                <a:latin typeface="Times New Roman" panose="02020603050405020304" pitchFamily="18" charset="0"/>
                <a:ea typeface="楷体_GB2312" pitchFamily="49" charset="-122"/>
                <a:cs typeface="Times New Roman" panose="02020603050405020304" pitchFamily="18" charset="0"/>
              </a:rPr>
              <a:t>1</a:t>
            </a:r>
            <a:r>
              <a:rPr lang="en-US" altLang="zh-CN" sz="2400" dirty="0" smtClean="0">
                <a:solidFill>
                  <a:srgbClr val="000066"/>
                </a:solidFill>
                <a:latin typeface="Times New Roman" panose="02020603050405020304" pitchFamily="18" charset="0"/>
                <a:ea typeface="楷体_GB2312" pitchFamily="49" charset="-122"/>
                <a:cs typeface="Times New Roman" panose="02020603050405020304" pitchFamily="18" charset="0"/>
              </a:rPr>
              <a:t>=152</a:t>
            </a:r>
            <a:r>
              <a:rPr lang="zh-CN" altLang="en-US" sz="2400" dirty="0" smtClean="0">
                <a:solidFill>
                  <a:srgbClr val="000066"/>
                </a:solidFill>
                <a:latin typeface="Times New Roman" panose="02020603050405020304" pitchFamily="18" charset="0"/>
                <a:ea typeface="楷体_GB2312" pitchFamily="49" charset="-122"/>
                <a:cs typeface="Times New Roman" panose="02020603050405020304" pitchFamily="18" charset="0"/>
              </a:rPr>
              <a:t>，</a:t>
            </a:r>
            <a:r>
              <a:rPr lang="en-US" altLang="zh-CN" sz="2400" dirty="0" smtClean="0">
                <a:solidFill>
                  <a:srgbClr val="000066"/>
                </a:solidFill>
                <a:latin typeface="Times New Roman" panose="02020603050405020304" pitchFamily="18" charset="0"/>
                <a:ea typeface="楷体_GB2312" pitchFamily="49" charset="-122"/>
                <a:cs typeface="Times New Roman" panose="02020603050405020304" pitchFamily="18" charset="0"/>
              </a:rPr>
              <a:t>c</a:t>
            </a:r>
            <a:r>
              <a:rPr lang="en-US" altLang="zh-CN" sz="2400" baseline="-25000" dirty="0" smtClean="0">
                <a:solidFill>
                  <a:srgbClr val="000066"/>
                </a:solidFill>
                <a:latin typeface="Times New Roman" panose="02020603050405020304" pitchFamily="18" charset="0"/>
                <a:ea typeface="楷体_GB2312" pitchFamily="49" charset="-122"/>
                <a:cs typeface="Times New Roman" panose="02020603050405020304" pitchFamily="18" charset="0"/>
              </a:rPr>
              <a:t>2</a:t>
            </a:r>
            <a:r>
              <a:rPr lang="en-US" altLang="zh-CN" sz="2400" dirty="0" smtClean="0">
                <a:solidFill>
                  <a:srgbClr val="000066"/>
                </a:solidFill>
                <a:latin typeface="Times New Roman" panose="02020603050405020304" pitchFamily="18" charset="0"/>
                <a:ea typeface="楷体_GB2312" pitchFamily="49" charset="-122"/>
                <a:cs typeface="Times New Roman" panose="02020603050405020304" pitchFamily="18" charset="0"/>
              </a:rPr>
              <a:t>=130</a:t>
            </a:r>
            <a:r>
              <a:rPr lang="zh-CN" altLang="en-US" sz="2400" dirty="0" smtClean="0">
                <a:solidFill>
                  <a:srgbClr val="000066"/>
                </a:solidFill>
                <a:latin typeface="Times New Roman" panose="02020603050405020304" pitchFamily="18" charset="0"/>
                <a:ea typeface="楷体_GB2312" pitchFamily="49" charset="-122"/>
                <a:cs typeface="Times New Roman" panose="02020603050405020304" pitchFamily="18" charset="0"/>
              </a:rPr>
              <a:t>。</a:t>
            </a:r>
          </a:p>
        </p:txBody>
      </p:sp>
      <p:sp>
        <p:nvSpPr>
          <p:cNvPr id="60420" name="Text Box 77"/>
          <p:cNvSpPr txBox="1">
            <a:spLocks noChangeArrowheads="1"/>
          </p:cNvSpPr>
          <p:nvPr/>
        </p:nvSpPr>
        <p:spPr bwMode="auto">
          <a:xfrm>
            <a:off x="6856413" y="1390650"/>
            <a:ext cx="1952625" cy="512763"/>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楷体_GB2312" pitchFamily="49" charset="-122"/>
                <a:cs typeface="Times New Roman" panose="02020603050405020304" pitchFamily="18" charset="0"/>
              </a:rPr>
              <a:t>子集树问题</a:t>
            </a:r>
          </a:p>
        </p:txBody>
      </p:sp>
      <p:grpSp>
        <p:nvGrpSpPr>
          <p:cNvPr id="2" name="Group 80"/>
          <p:cNvGrpSpPr/>
          <p:nvPr/>
        </p:nvGrpSpPr>
        <p:grpSpPr bwMode="auto">
          <a:xfrm>
            <a:off x="2327275" y="2895600"/>
            <a:ext cx="6816725" cy="3317875"/>
            <a:chOff x="1466" y="1824"/>
            <a:chExt cx="4294" cy="2090"/>
          </a:xfrm>
        </p:grpSpPr>
        <p:grpSp>
          <p:nvGrpSpPr>
            <p:cNvPr id="59401" name="Group 76"/>
            <p:cNvGrpSpPr/>
            <p:nvPr/>
          </p:nvGrpSpPr>
          <p:grpSpPr bwMode="auto">
            <a:xfrm>
              <a:off x="1662" y="1825"/>
              <a:ext cx="1810" cy="2089"/>
              <a:chOff x="1662" y="1825"/>
              <a:chExt cx="1810" cy="2089"/>
            </a:xfrm>
          </p:grpSpPr>
          <p:sp>
            <p:nvSpPr>
              <p:cNvPr id="59404" name="Oval 6"/>
              <p:cNvSpPr>
                <a:spLocks noChangeArrowheads="1"/>
              </p:cNvSpPr>
              <p:nvPr/>
            </p:nvSpPr>
            <p:spPr bwMode="auto">
              <a:xfrm>
                <a:off x="2706" y="1825"/>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05" name="Line 7"/>
              <p:cNvSpPr>
                <a:spLocks noChangeShapeType="1"/>
              </p:cNvSpPr>
              <p:nvPr/>
            </p:nvSpPr>
            <p:spPr bwMode="auto">
              <a:xfrm flipH="1">
                <a:off x="2260" y="1906"/>
                <a:ext cx="442" cy="19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06" name="Oval 9"/>
              <p:cNvSpPr>
                <a:spLocks noChangeArrowheads="1"/>
              </p:cNvSpPr>
              <p:nvPr/>
            </p:nvSpPr>
            <p:spPr bwMode="auto">
              <a:xfrm>
                <a:off x="2166" y="2073"/>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07" name="Line 16"/>
              <p:cNvSpPr>
                <a:spLocks noChangeShapeType="1"/>
              </p:cNvSpPr>
              <p:nvPr/>
            </p:nvSpPr>
            <p:spPr bwMode="auto">
              <a:xfrm>
                <a:off x="2270" y="2166"/>
                <a:ext cx="423" cy="22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08" name="Line 17"/>
              <p:cNvSpPr>
                <a:spLocks noChangeShapeType="1"/>
              </p:cNvSpPr>
              <p:nvPr/>
            </p:nvSpPr>
            <p:spPr bwMode="auto">
              <a:xfrm flipH="1">
                <a:off x="1799" y="2175"/>
                <a:ext cx="394" cy="195"/>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9409" name="Text Box 29"/>
              <p:cNvSpPr txBox="1">
                <a:spLocks noChangeArrowheads="1"/>
              </p:cNvSpPr>
              <p:nvPr/>
            </p:nvSpPr>
            <p:spPr bwMode="auto">
              <a:xfrm>
                <a:off x="2243" y="1850"/>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90</a:t>
                </a:r>
              </a:p>
            </p:txBody>
          </p:sp>
          <p:sp>
            <p:nvSpPr>
              <p:cNvPr id="59410" name="Text Box 33"/>
              <p:cNvSpPr txBox="1">
                <a:spLocks noChangeArrowheads="1"/>
              </p:cNvSpPr>
              <p:nvPr/>
            </p:nvSpPr>
            <p:spPr bwMode="auto">
              <a:xfrm>
                <a:off x="1751" y="2137"/>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80</a:t>
                </a:r>
              </a:p>
            </p:txBody>
          </p:sp>
          <p:sp>
            <p:nvSpPr>
              <p:cNvPr id="59411" name="Oval 34"/>
              <p:cNvSpPr>
                <a:spLocks noChangeArrowheads="1"/>
              </p:cNvSpPr>
              <p:nvPr/>
            </p:nvSpPr>
            <p:spPr bwMode="auto">
              <a:xfrm>
                <a:off x="1683" y="2360"/>
                <a:ext cx="125" cy="125"/>
              </a:xfrm>
              <a:prstGeom prst="ellipse">
                <a:avLst/>
              </a:prstGeom>
              <a:solidFill>
                <a:srgbClr val="C0C0C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12" name="Text Box 35"/>
              <p:cNvSpPr txBox="1">
                <a:spLocks noChangeArrowheads="1"/>
              </p:cNvSpPr>
              <p:nvPr/>
            </p:nvSpPr>
            <p:spPr bwMode="auto">
              <a:xfrm>
                <a:off x="2478" y="2125"/>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59413" name="Oval 36"/>
              <p:cNvSpPr>
                <a:spLocks noChangeArrowheads="1"/>
              </p:cNvSpPr>
              <p:nvPr/>
            </p:nvSpPr>
            <p:spPr bwMode="auto">
              <a:xfrm>
                <a:off x="2692" y="2358"/>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14" name="Line 37"/>
              <p:cNvSpPr>
                <a:spLocks noChangeShapeType="1"/>
              </p:cNvSpPr>
              <p:nvPr/>
            </p:nvSpPr>
            <p:spPr bwMode="auto">
              <a:xfrm flipH="1">
                <a:off x="2297" y="2451"/>
                <a:ext cx="394" cy="19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15" name="Oval 38"/>
              <p:cNvSpPr>
                <a:spLocks noChangeArrowheads="1"/>
              </p:cNvSpPr>
              <p:nvPr/>
            </p:nvSpPr>
            <p:spPr bwMode="auto">
              <a:xfrm>
                <a:off x="2162" y="2617"/>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16" name="Text Box 39"/>
              <p:cNvSpPr txBox="1">
                <a:spLocks noChangeArrowheads="1"/>
              </p:cNvSpPr>
              <p:nvPr/>
            </p:nvSpPr>
            <p:spPr bwMode="auto">
              <a:xfrm>
                <a:off x="2239" y="2404"/>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40</a:t>
                </a:r>
              </a:p>
            </p:txBody>
          </p:sp>
          <p:sp>
            <p:nvSpPr>
              <p:cNvPr id="59417" name="Line 42"/>
              <p:cNvSpPr>
                <a:spLocks noChangeShapeType="1"/>
              </p:cNvSpPr>
              <p:nvPr/>
            </p:nvSpPr>
            <p:spPr bwMode="auto">
              <a:xfrm flipH="1">
                <a:off x="1778" y="2710"/>
                <a:ext cx="394" cy="195"/>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9418" name="Text Box 43"/>
              <p:cNvSpPr txBox="1">
                <a:spLocks noChangeArrowheads="1"/>
              </p:cNvSpPr>
              <p:nvPr/>
            </p:nvSpPr>
            <p:spPr bwMode="auto">
              <a:xfrm>
                <a:off x="1730" y="2672"/>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30</a:t>
                </a:r>
              </a:p>
            </p:txBody>
          </p:sp>
          <p:sp>
            <p:nvSpPr>
              <p:cNvPr id="59419" name="Oval 44"/>
              <p:cNvSpPr>
                <a:spLocks noChangeArrowheads="1"/>
              </p:cNvSpPr>
              <p:nvPr/>
            </p:nvSpPr>
            <p:spPr bwMode="auto">
              <a:xfrm>
                <a:off x="1662" y="2895"/>
                <a:ext cx="125" cy="125"/>
              </a:xfrm>
              <a:prstGeom prst="ellipse">
                <a:avLst/>
              </a:prstGeom>
              <a:solidFill>
                <a:srgbClr val="C0C0C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20" name="Line 45"/>
              <p:cNvSpPr>
                <a:spLocks noChangeShapeType="1"/>
              </p:cNvSpPr>
              <p:nvPr/>
            </p:nvSpPr>
            <p:spPr bwMode="auto">
              <a:xfrm>
                <a:off x="2288" y="2710"/>
                <a:ext cx="423" cy="22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21" name="Text Box 46"/>
              <p:cNvSpPr txBox="1">
                <a:spLocks noChangeArrowheads="1"/>
              </p:cNvSpPr>
              <p:nvPr/>
            </p:nvSpPr>
            <p:spPr bwMode="auto">
              <a:xfrm>
                <a:off x="2496" y="2669"/>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59422" name="Oval 47"/>
              <p:cNvSpPr>
                <a:spLocks noChangeArrowheads="1"/>
              </p:cNvSpPr>
              <p:nvPr/>
            </p:nvSpPr>
            <p:spPr bwMode="auto">
              <a:xfrm>
                <a:off x="2710" y="2902"/>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23" name="Line 48"/>
              <p:cNvSpPr>
                <a:spLocks noChangeShapeType="1"/>
              </p:cNvSpPr>
              <p:nvPr/>
            </p:nvSpPr>
            <p:spPr bwMode="auto">
              <a:xfrm flipH="1">
                <a:off x="2315" y="2995"/>
                <a:ext cx="394" cy="19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24" name="Oval 49"/>
              <p:cNvSpPr>
                <a:spLocks noChangeArrowheads="1"/>
              </p:cNvSpPr>
              <p:nvPr/>
            </p:nvSpPr>
            <p:spPr bwMode="auto">
              <a:xfrm>
                <a:off x="2197" y="3183"/>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25" name="Text Box 50"/>
              <p:cNvSpPr txBox="1">
                <a:spLocks noChangeArrowheads="1"/>
              </p:cNvSpPr>
              <p:nvPr/>
            </p:nvSpPr>
            <p:spPr bwMode="auto">
              <a:xfrm>
                <a:off x="2275" y="2930"/>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20</a:t>
                </a:r>
              </a:p>
            </p:txBody>
          </p:sp>
          <p:sp>
            <p:nvSpPr>
              <p:cNvPr id="59426" name="Line 51"/>
              <p:cNvSpPr>
                <a:spLocks noChangeShapeType="1"/>
              </p:cNvSpPr>
              <p:nvPr/>
            </p:nvSpPr>
            <p:spPr bwMode="auto">
              <a:xfrm flipH="1">
                <a:off x="1977" y="3285"/>
                <a:ext cx="221" cy="243"/>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9427" name="Text Box 52"/>
              <p:cNvSpPr txBox="1">
                <a:spLocks noChangeArrowheads="1"/>
              </p:cNvSpPr>
              <p:nvPr/>
            </p:nvSpPr>
            <p:spPr bwMode="auto">
              <a:xfrm>
                <a:off x="1804" y="3228"/>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12</a:t>
                </a:r>
              </a:p>
            </p:txBody>
          </p:sp>
          <p:sp>
            <p:nvSpPr>
              <p:cNvPr id="59428" name="Oval 53"/>
              <p:cNvSpPr>
                <a:spLocks noChangeArrowheads="1"/>
              </p:cNvSpPr>
              <p:nvPr/>
            </p:nvSpPr>
            <p:spPr bwMode="auto">
              <a:xfrm>
                <a:off x="1900" y="3489"/>
                <a:ext cx="125" cy="125"/>
              </a:xfrm>
              <a:prstGeom prst="ellipse">
                <a:avLst/>
              </a:prstGeom>
              <a:solidFill>
                <a:srgbClr val="C0C0C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29" name="Line 54"/>
              <p:cNvSpPr>
                <a:spLocks noChangeShapeType="1"/>
              </p:cNvSpPr>
              <p:nvPr/>
            </p:nvSpPr>
            <p:spPr bwMode="auto">
              <a:xfrm>
                <a:off x="2306" y="3286"/>
                <a:ext cx="183"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30" name="Text Box 55"/>
              <p:cNvSpPr txBox="1">
                <a:spLocks noChangeArrowheads="1"/>
              </p:cNvSpPr>
              <p:nvPr/>
            </p:nvSpPr>
            <p:spPr bwMode="auto">
              <a:xfrm>
                <a:off x="2428" y="3284"/>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59431" name="Oval 56"/>
              <p:cNvSpPr>
                <a:spLocks noChangeArrowheads="1"/>
              </p:cNvSpPr>
              <p:nvPr/>
            </p:nvSpPr>
            <p:spPr bwMode="auto">
              <a:xfrm>
                <a:off x="2449" y="3526"/>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32" name="Line 57"/>
              <p:cNvSpPr>
                <a:spLocks noChangeShapeType="1"/>
              </p:cNvSpPr>
              <p:nvPr/>
            </p:nvSpPr>
            <p:spPr bwMode="auto">
              <a:xfrm flipH="1">
                <a:off x="2272" y="3632"/>
                <a:ext cx="183" cy="185"/>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9433" name="Text Box 58"/>
              <p:cNvSpPr txBox="1">
                <a:spLocks noChangeArrowheads="1"/>
              </p:cNvSpPr>
              <p:nvPr/>
            </p:nvSpPr>
            <p:spPr bwMode="auto">
              <a:xfrm>
                <a:off x="2158" y="3555"/>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59434" name="Oval 59"/>
              <p:cNvSpPr>
                <a:spLocks noChangeArrowheads="1"/>
              </p:cNvSpPr>
              <p:nvPr/>
            </p:nvSpPr>
            <p:spPr bwMode="auto">
              <a:xfrm>
                <a:off x="2205" y="3777"/>
                <a:ext cx="125" cy="125"/>
              </a:xfrm>
              <a:prstGeom prst="ellipse">
                <a:avLst/>
              </a:prstGeom>
              <a:solidFill>
                <a:srgbClr val="C0C0C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35" name="Line 60"/>
              <p:cNvSpPr>
                <a:spLocks noChangeShapeType="1"/>
              </p:cNvSpPr>
              <p:nvPr/>
            </p:nvSpPr>
            <p:spPr bwMode="auto">
              <a:xfrm>
                <a:off x="2562" y="3630"/>
                <a:ext cx="116" cy="15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36" name="Text Box 61"/>
              <p:cNvSpPr txBox="1">
                <a:spLocks noChangeArrowheads="1"/>
              </p:cNvSpPr>
              <p:nvPr/>
            </p:nvSpPr>
            <p:spPr bwMode="auto">
              <a:xfrm>
                <a:off x="2645" y="3589"/>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59437" name="Rectangle 63"/>
              <p:cNvSpPr>
                <a:spLocks noChangeArrowheads="1"/>
              </p:cNvSpPr>
              <p:nvPr/>
            </p:nvSpPr>
            <p:spPr bwMode="auto">
              <a:xfrm>
                <a:off x="2625" y="3798"/>
                <a:ext cx="116" cy="116"/>
              </a:xfrm>
              <a:prstGeom prst="rect">
                <a:avLst/>
              </a:prstGeom>
              <a:solidFill>
                <a:srgbClr val="993300"/>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38" name="Line 64"/>
              <p:cNvSpPr>
                <a:spLocks noChangeShapeType="1"/>
              </p:cNvSpPr>
              <p:nvPr/>
            </p:nvSpPr>
            <p:spPr bwMode="auto">
              <a:xfrm>
                <a:off x="2824" y="2996"/>
                <a:ext cx="423" cy="22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39" name="Text Box 65"/>
              <p:cNvSpPr txBox="1">
                <a:spLocks noChangeArrowheads="1"/>
              </p:cNvSpPr>
              <p:nvPr/>
            </p:nvSpPr>
            <p:spPr bwMode="auto">
              <a:xfrm>
                <a:off x="3032" y="2955"/>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59440" name="Oval 66"/>
              <p:cNvSpPr>
                <a:spLocks noChangeArrowheads="1"/>
              </p:cNvSpPr>
              <p:nvPr/>
            </p:nvSpPr>
            <p:spPr bwMode="auto">
              <a:xfrm>
                <a:off x="3226" y="3177"/>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41" name="Line 67"/>
              <p:cNvSpPr>
                <a:spLocks noChangeShapeType="1"/>
              </p:cNvSpPr>
              <p:nvPr/>
            </p:nvSpPr>
            <p:spPr bwMode="auto">
              <a:xfrm flipH="1">
                <a:off x="3158" y="3300"/>
                <a:ext cx="106" cy="19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42" name="Text Box 68"/>
              <p:cNvSpPr txBox="1">
                <a:spLocks noChangeArrowheads="1"/>
              </p:cNvSpPr>
              <p:nvPr/>
            </p:nvSpPr>
            <p:spPr bwMode="auto">
              <a:xfrm>
                <a:off x="3232" y="3360"/>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12</a:t>
                </a:r>
              </a:p>
            </p:txBody>
          </p:sp>
          <p:sp>
            <p:nvSpPr>
              <p:cNvPr id="59443" name="Oval 69"/>
              <p:cNvSpPr>
                <a:spLocks noChangeArrowheads="1"/>
              </p:cNvSpPr>
              <p:nvPr/>
            </p:nvSpPr>
            <p:spPr bwMode="auto">
              <a:xfrm>
                <a:off x="3061" y="3500"/>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44" name="Line 70"/>
              <p:cNvSpPr>
                <a:spLocks noChangeShapeType="1"/>
              </p:cNvSpPr>
              <p:nvPr/>
            </p:nvSpPr>
            <p:spPr bwMode="auto">
              <a:xfrm flipH="1">
                <a:off x="3000" y="3615"/>
                <a:ext cx="97" cy="186"/>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45" name="Rectangle 71"/>
              <p:cNvSpPr>
                <a:spLocks noChangeArrowheads="1"/>
              </p:cNvSpPr>
              <p:nvPr/>
            </p:nvSpPr>
            <p:spPr bwMode="auto">
              <a:xfrm>
                <a:off x="2941" y="3792"/>
                <a:ext cx="116" cy="116"/>
              </a:xfrm>
              <a:prstGeom prst="rect">
                <a:avLst/>
              </a:prstGeom>
              <a:solidFill>
                <a:srgbClr val="993300"/>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46" name="Text Box 72"/>
              <p:cNvSpPr txBox="1">
                <a:spLocks noChangeArrowheads="1"/>
              </p:cNvSpPr>
              <p:nvPr/>
            </p:nvSpPr>
            <p:spPr bwMode="auto">
              <a:xfrm>
                <a:off x="3067" y="3665"/>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59447" name="Line 74"/>
              <p:cNvSpPr>
                <a:spLocks noChangeShapeType="1"/>
              </p:cNvSpPr>
              <p:nvPr/>
            </p:nvSpPr>
            <p:spPr bwMode="auto">
              <a:xfrm>
                <a:off x="2811" y="2447"/>
                <a:ext cx="423" cy="22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48" name="Line 75"/>
              <p:cNvSpPr>
                <a:spLocks noChangeShapeType="1"/>
              </p:cNvSpPr>
              <p:nvPr/>
            </p:nvSpPr>
            <p:spPr bwMode="auto">
              <a:xfrm>
                <a:off x="2831" y="1918"/>
                <a:ext cx="423" cy="22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9402" name="Text Box 78"/>
            <p:cNvSpPr txBox="1">
              <a:spLocks noChangeArrowheads="1"/>
            </p:cNvSpPr>
            <p:nvPr/>
          </p:nvSpPr>
          <p:spPr bwMode="auto">
            <a:xfrm>
              <a:off x="1466" y="1824"/>
              <a:ext cx="825" cy="174"/>
            </a:xfrm>
            <a:prstGeom prst="rect">
              <a:avLst/>
            </a:prstGeom>
            <a:solidFill>
              <a:srgbClr val="CCFFFF"/>
            </a:solidFill>
            <a:ln w="9525">
              <a:solidFill>
                <a:srgbClr val="000066"/>
              </a:solidFill>
              <a:miter lim="800000"/>
            </a:ln>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cw+w[i]&lt;=c1</a:t>
              </a:r>
              <a:endParaRPr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403" name="Text Box 79"/>
            <p:cNvSpPr txBox="1">
              <a:spLocks noChangeArrowheads="1"/>
            </p:cNvSpPr>
            <p:nvPr/>
          </p:nvSpPr>
          <p:spPr bwMode="auto">
            <a:xfrm>
              <a:off x="3153" y="2909"/>
              <a:ext cx="2607" cy="174"/>
            </a:xfrm>
            <a:prstGeom prst="rect">
              <a:avLst/>
            </a:prstGeom>
            <a:solidFill>
              <a:srgbClr val="CCFFFF"/>
            </a:solidFill>
            <a:ln w="9525">
              <a:solidFill>
                <a:srgbClr val="000066"/>
              </a:solidFill>
              <a:miter lim="800000"/>
            </a:ln>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cw + r =130 + 12 + 10 = 152 &gt; bestw = 150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59398" name="Text Box 79"/>
          <p:cNvSpPr txBox="1">
            <a:spLocks noChangeArrowheads="1"/>
          </p:cNvSpPr>
          <p:nvPr/>
        </p:nvSpPr>
        <p:spPr bwMode="auto">
          <a:xfrm>
            <a:off x="517525" y="2898775"/>
            <a:ext cx="1146175" cy="276225"/>
          </a:xfrm>
          <a:prstGeom prst="rect">
            <a:avLst/>
          </a:prstGeom>
          <a:solidFill>
            <a:srgbClr val="CCFFFF"/>
          </a:solidFill>
          <a:ln w="9525">
            <a:solidFill>
              <a:srgbClr val="000066"/>
            </a:solidFill>
            <a:miter lim="800000"/>
          </a:ln>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bestx = -1</a:t>
            </a:r>
            <a:endParaRPr kumimoji="1" lang="zh-CN" altLang="en-US"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Text Box 79"/>
          <p:cNvSpPr txBox="1">
            <a:spLocks noChangeArrowheads="1"/>
          </p:cNvSpPr>
          <p:nvPr/>
        </p:nvSpPr>
        <p:spPr bwMode="auto">
          <a:xfrm>
            <a:off x="3527425" y="6289675"/>
            <a:ext cx="1146175" cy="276225"/>
          </a:xfrm>
          <a:prstGeom prst="rect">
            <a:avLst/>
          </a:prstGeom>
          <a:solidFill>
            <a:srgbClr val="CCFFFF"/>
          </a:solidFill>
          <a:ln w="9525">
            <a:solidFill>
              <a:srgbClr val="000066"/>
            </a:solidFill>
            <a:miter lim="800000"/>
          </a:ln>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bestx = 150</a:t>
            </a:r>
            <a:endParaRPr kumimoji="1" lang="zh-CN" altLang="en-US"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Text Box 79"/>
          <p:cNvSpPr txBox="1">
            <a:spLocks noChangeArrowheads="1"/>
          </p:cNvSpPr>
          <p:nvPr/>
        </p:nvSpPr>
        <p:spPr bwMode="auto">
          <a:xfrm>
            <a:off x="4949825" y="6289675"/>
            <a:ext cx="1146175" cy="276225"/>
          </a:xfrm>
          <a:prstGeom prst="rect">
            <a:avLst/>
          </a:prstGeom>
          <a:solidFill>
            <a:srgbClr val="CCFFFF"/>
          </a:solidFill>
          <a:ln w="9525">
            <a:solidFill>
              <a:srgbClr val="000066"/>
            </a:solidFill>
            <a:miter lim="800000"/>
          </a:ln>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bestx = 152</a:t>
            </a:r>
            <a:endParaRPr kumimoji="1" lang="zh-CN" altLang="en-US"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椭圆形标注 57"/>
          <p:cNvSpPr/>
          <p:nvPr/>
        </p:nvSpPr>
        <p:spPr>
          <a:xfrm>
            <a:off x="5511800" y="3059113"/>
            <a:ext cx="2241550" cy="812799"/>
          </a:xfrm>
          <a:prstGeom prst="wedgeEllipseCallout">
            <a:avLst>
              <a:gd name="adj1" fmla="val -71443"/>
              <a:gd name="adj2" fmla="val 33298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b="1" dirty="0" smtClean="0">
                <a:solidFill>
                  <a:schemeClr val="tx1">
                    <a:lumMod val="50000"/>
                  </a:schemeClr>
                </a:solidFill>
                <a:latin typeface="Times New Roman" panose="02020603050405020304" pitchFamily="18" charset="0"/>
                <a:cs typeface="Times New Roman" panose="02020603050405020304" pitchFamily="18" charset="0"/>
              </a:rPr>
              <a:t>是否需要继续搜索？</a:t>
            </a:r>
            <a:endParaRPr lang="zh-CN" altLang="en-US" b="1" dirty="0">
              <a:solidFill>
                <a:schemeClr val="tx1">
                  <a:lumMod val="50000"/>
                </a:schemeClr>
              </a:solidFill>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批作业调度问题</a:t>
            </a:r>
          </a:p>
        </p:txBody>
      </p:sp>
      <p:sp>
        <p:nvSpPr>
          <p:cNvPr id="59395" name="Text Box 5"/>
          <p:cNvSpPr txBox="1">
            <a:spLocks noChangeArrowheads="1"/>
          </p:cNvSpPr>
          <p:nvPr/>
        </p:nvSpPr>
        <p:spPr bwMode="auto">
          <a:xfrm>
            <a:off x="446088" y="1616075"/>
            <a:ext cx="8281987" cy="3756025"/>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给定</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个作业的集合</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b="1" baseline="-25000"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b="1" baseline="-25000"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b="1" baseline="-25000"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。每个作业</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必须先由机器</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处理，然后由机器</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处理</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。所有作业在</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机器</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上完成处理的时间和</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称为该作业调度的完成时间和。</a:t>
            </a:r>
            <a:endPar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spcBef>
                <a:spcPct val="0"/>
              </a:spcBef>
              <a:buClrTx/>
              <a:buSzTx/>
              <a:buFontTx/>
              <a:buNone/>
              <a:defRPr/>
            </a:pPr>
            <a:endPar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批处理作业调度问题要求对于给定的</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个作业，制定最佳作业调度方案</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给出作业的加工顺序</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，使其</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完成时间和</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达到最小。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批作业调度问题</a:t>
            </a:r>
          </a:p>
        </p:txBody>
      </p:sp>
      <p:graphicFrame>
        <p:nvGraphicFramePr>
          <p:cNvPr id="7" name="Group 33"/>
          <p:cNvGraphicFramePr>
            <a:graphicFrameLocks noGrp="1"/>
          </p:cNvGraphicFramePr>
          <p:nvPr>
            <p:extLst>
              <p:ext uri="{D42A27DB-BD31-4B8C-83A1-F6EECF244321}">
                <p14:modId xmlns:p14="http://schemas.microsoft.com/office/powerpoint/2010/main" val="267462496"/>
              </p:ext>
            </p:extLst>
          </p:nvPr>
        </p:nvGraphicFramePr>
        <p:xfrm>
          <a:off x="1143000" y="1477963"/>
          <a:ext cx="6553200" cy="1898652"/>
        </p:xfrm>
        <a:graphic>
          <a:graphicData uri="http://schemas.openxmlformats.org/drawingml/2006/table">
            <a:tbl>
              <a:tblPr/>
              <a:tblGrid>
                <a:gridCol w="1862138">
                  <a:extLst>
                    <a:ext uri="{9D8B030D-6E8A-4147-A177-3AD203B41FA5}">
                      <a16:colId xmlns:a16="http://schemas.microsoft.com/office/drawing/2014/main" val="20000"/>
                    </a:ext>
                  </a:extLst>
                </a:gridCol>
                <a:gridCol w="2346325">
                  <a:extLst>
                    <a:ext uri="{9D8B030D-6E8A-4147-A177-3AD203B41FA5}">
                      <a16:colId xmlns:a16="http://schemas.microsoft.com/office/drawing/2014/main" val="20001"/>
                    </a:ext>
                  </a:extLst>
                </a:gridCol>
                <a:gridCol w="2344737">
                  <a:extLst>
                    <a:ext uri="{9D8B030D-6E8A-4147-A177-3AD203B41FA5}">
                      <a16:colId xmlns:a16="http://schemas.microsoft.com/office/drawing/2014/main" val="20002"/>
                    </a:ext>
                  </a:extLst>
                </a:gridCol>
              </a:tblGrid>
              <a:tr h="474663">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en-US" altLang="zh-CN" sz="1800" b="1" i="0" u="none" strike="noStrike" cap="none" normalizeH="0" baseline="-2500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机器</a:t>
                      </a:r>
                      <a:r>
                        <a:rPr kumimoji="1" lang="en-US" altLang="zh-CN"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1</a:t>
                      </a:r>
                    </a:p>
                  </a:txBody>
                  <a:tcPr marT="45740" marB="457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机器</a:t>
                      </a:r>
                      <a:r>
                        <a:rPr kumimoji="1" lang="en-US" altLang="zh-CN"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2</a:t>
                      </a:r>
                    </a:p>
                  </a:txBody>
                  <a:tcPr marT="45740" marB="4574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4663">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作业</a:t>
                      </a:r>
                      <a:r>
                        <a:rPr kumimoji="1" lang="en-US" altLang="zh-CN"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1</a:t>
                      </a:r>
                    </a:p>
                  </a:txBody>
                  <a:tcPr marT="45740" marB="4574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dirty="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2</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dirty="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1</a:t>
                      </a:r>
                    </a:p>
                  </a:txBody>
                  <a:tcPr marT="45740" marB="4574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74663">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作业</a:t>
                      </a:r>
                      <a:r>
                        <a:rPr kumimoji="1" lang="en-US" altLang="zh-CN"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2</a:t>
                      </a:r>
                    </a:p>
                  </a:txBody>
                  <a:tcPr marT="45740" marB="4574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3</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dirty="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1</a:t>
                      </a:r>
                    </a:p>
                  </a:txBody>
                  <a:tcPr marT="45740" marB="4574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474663">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作业</a:t>
                      </a:r>
                      <a:r>
                        <a:rPr kumimoji="1" lang="en-US" altLang="zh-CN"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3</a:t>
                      </a:r>
                    </a:p>
                  </a:txBody>
                  <a:tcPr marT="45740" marB="45740"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2</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dirty="0" smtClean="0">
                          <a:ln>
                            <a:noFill/>
                          </a:ln>
                          <a:solidFill>
                            <a:schemeClr val="tx1">
                              <a:lumMod val="50000"/>
                            </a:schemeClr>
                          </a:solidFill>
                          <a:effectLst/>
                          <a:latin typeface="Times New Roman" panose="02020603050405020304" pitchFamily="18" charset="0"/>
                          <a:ea typeface="华文楷体" panose="02010600040101010101" pitchFamily="2" charset="-122"/>
                          <a:cs typeface="Times New Roman" panose="02020603050405020304" pitchFamily="18" charset="0"/>
                        </a:rPr>
                        <a:t>3</a:t>
                      </a:r>
                    </a:p>
                  </a:txBody>
                  <a:tcPr marT="45740" marB="45740"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9414" name="Text Box 32"/>
          <p:cNvSpPr txBox="1">
            <a:spLocks noChangeArrowheads="1"/>
          </p:cNvSpPr>
          <p:nvPr/>
        </p:nvSpPr>
        <p:spPr bwMode="auto">
          <a:xfrm>
            <a:off x="622300" y="3806825"/>
            <a:ext cx="8089900" cy="2174875"/>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just" eaLnBrk="1" hangingPunct="1">
              <a:lnSpc>
                <a:spcPct val="15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这</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个作业的</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6</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种可能的调度方案是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1,2,3</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1,3,2</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2,1,3</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2,3,1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3,1,2</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3,2,1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；它们所相应的完成时间和分别是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19</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18</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20</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19</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19</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。易见，最佳调度方案是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1,3,2</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，其完成时间和为</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18</a:t>
            </a:r>
            <a:r>
              <a:rPr lang="zh-CN" altLang="en-US" sz="2400" b="1" dirty="0" smtClean="0">
                <a:solidFill>
                  <a:srgbClr val="000066"/>
                </a:solidFill>
                <a:latin typeface="Times New Roman" panose="02020603050405020304" pitchFamily="18" charset="0"/>
                <a:ea typeface="楷体_GB2312" pitchFamily="49" charset="-122"/>
                <a:cs typeface="Times New Roman" panose="02020603050405020304" pitchFamily="18"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9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1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批作业调度问题</a:t>
            </a:r>
          </a:p>
        </p:txBody>
      </p:sp>
      <p:grpSp>
        <p:nvGrpSpPr>
          <p:cNvPr id="2" name="Group 182"/>
          <p:cNvGrpSpPr/>
          <p:nvPr/>
        </p:nvGrpSpPr>
        <p:grpSpPr bwMode="auto">
          <a:xfrm>
            <a:off x="411163" y="2916238"/>
            <a:ext cx="8145462" cy="3703637"/>
            <a:chOff x="259" y="1837"/>
            <a:chExt cx="5131" cy="2333"/>
          </a:xfrm>
        </p:grpSpPr>
        <p:sp>
          <p:nvSpPr>
            <p:cNvPr id="62486" name="Text Box 106"/>
            <p:cNvSpPr txBox="1">
              <a:spLocks noChangeArrowheads="1"/>
            </p:cNvSpPr>
            <p:nvPr/>
          </p:nvSpPr>
          <p:spPr bwMode="auto">
            <a:xfrm>
              <a:off x="264" y="2207"/>
              <a:ext cx="3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20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62487" name="Text Box 107"/>
            <p:cNvSpPr txBox="1">
              <a:spLocks noChangeArrowheads="1"/>
            </p:cNvSpPr>
            <p:nvPr/>
          </p:nvSpPr>
          <p:spPr bwMode="auto">
            <a:xfrm>
              <a:off x="262" y="2452"/>
              <a:ext cx="3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20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62488" name="Text Box 108"/>
            <p:cNvSpPr txBox="1">
              <a:spLocks noChangeArrowheads="1"/>
            </p:cNvSpPr>
            <p:nvPr/>
          </p:nvSpPr>
          <p:spPr bwMode="auto">
            <a:xfrm>
              <a:off x="262" y="2711"/>
              <a:ext cx="3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20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p>
          </p:txBody>
        </p:sp>
        <p:grpSp>
          <p:nvGrpSpPr>
            <p:cNvPr id="62489" name="Group 155"/>
            <p:cNvGrpSpPr/>
            <p:nvPr/>
          </p:nvGrpSpPr>
          <p:grpSpPr bwMode="auto">
            <a:xfrm>
              <a:off x="615" y="2182"/>
              <a:ext cx="1408" cy="215"/>
              <a:chOff x="625" y="2182"/>
              <a:chExt cx="1408" cy="215"/>
            </a:xfrm>
          </p:grpSpPr>
          <p:grpSp>
            <p:nvGrpSpPr>
              <p:cNvPr id="62529" name="Group 109"/>
              <p:cNvGrpSpPr/>
              <p:nvPr/>
            </p:nvGrpSpPr>
            <p:grpSpPr bwMode="auto">
              <a:xfrm>
                <a:off x="625" y="2185"/>
                <a:ext cx="941" cy="212"/>
                <a:chOff x="725" y="2635"/>
                <a:chExt cx="941" cy="212"/>
              </a:xfrm>
            </p:grpSpPr>
            <p:sp>
              <p:nvSpPr>
                <p:cNvPr id="62533" name="Rectangle 92"/>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34" name="Text Box 93"/>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62530" name="Group 110"/>
              <p:cNvGrpSpPr/>
              <p:nvPr/>
            </p:nvGrpSpPr>
            <p:grpSpPr bwMode="auto">
              <a:xfrm>
                <a:off x="1563" y="2182"/>
                <a:ext cx="470" cy="212"/>
                <a:chOff x="725" y="2635"/>
                <a:chExt cx="941" cy="212"/>
              </a:xfrm>
            </p:grpSpPr>
            <p:sp>
              <p:nvSpPr>
                <p:cNvPr id="62531" name="Rectangle 111"/>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32" name="Text Box 112"/>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grpSp>
          <p:nvGrpSpPr>
            <p:cNvPr id="62490" name="Group 156"/>
            <p:cNvGrpSpPr/>
            <p:nvPr/>
          </p:nvGrpSpPr>
          <p:grpSpPr bwMode="auto">
            <a:xfrm>
              <a:off x="1553" y="2394"/>
              <a:ext cx="1898" cy="219"/>
              <a:chOff x="1563" y="2394"/>
              <a:chExt cx="1898" cy="219"/>
            </a:xfrm>
          </p:grpSpPr>
          <p:grpSp>
            <p:nvGrpSpPr>
              <p:cNvPr id="62523" name="Group 113"/>
              <p:cNvGrpSpPr/>
              <p:nvPr/>
            </p:nvGrpSpPr>
            <p:grpSpPr bwMode="auto">
              <a:xfrm>
                <a:off x="1563" y="2394"/>
                <a:ext cx="1430" cy="212"/>
                <a:chOff x="725" y="2635"/>
                <a:chExt cx="941" cy="212"/>
              </a:xfrm>
            </p:grpSpPr>
            <p:sp>
              <p:nvSpPr>
                <p:cNvPr id="62527" name="Rectangle 114"/>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28" name="Text Box 115"/>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grpSp>
            <p:nvGrpSpPr>
              <p:cNvPr id="62524" name="Group 122"/>
              <p:cNvGrpSpPr/>
              <p:nvPr/>
            </p:nvGrpSpPr>
            <p:grpSpPr bwMode="auto">
              <a:xfrm>
                <a:off x="2991" y="2401"/>
                <a:ext cx="470" cy="212"/>
                <a:chOff x="725" y="2635"/>
                <a:chExt cx="941" cy="212"/>
              </a:xfrm>
            </p:grpSpPr>
            <p:sp>
              <p:nvSpPr>
                <p:cNvPr id="62525" name="Rectangle 123"/>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26" name="Text Box 124"/>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grpSp>
          <p:nvGrpSpPr>
            <p:cNvPr id="62491" name="Group 157"/>
            <p:cNvGrpSpPr/>
            <p:nvPr/>
          </p:nvGrpSpPr>
          <p:grpSpPr bwMode="auto">
            <a:xfrm>
              <a:off x="2981" y="2612"/>
              <a:ext cx="2409" cy="213"/>
              <a:chOff x="2991" y="2612"/>
              <a:chExt cx="2409" cy="213"/>
            </a:xfrm>
          </p:grpSpPr>
          <p:grpSp>
            <p:nvGrpSpPr>
              <p:cNvPr id="62517" name="Group 125"/>
              <p:cNvGrpSpPr/>
              <p:nvPr/>
            </p:nvGrpSpPr>
            <p:grpSpPr bwMode="auto">
              <a:xfrm>
                <a:off x="2991" y="2612"/>
                <a:ext cx="978" cy="212"/>
                <a:chOff x="725" y="2635"/>
                <a:chExt cx="941" cy="212"/>
              </a:xfrm>
            </p:grpSpPr>
            <p:sp>
              <p:nvSpPr>
                <p:cNvPr id="62521" name="Rectangle 126"/>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22" name="Text Box 127"/>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62518" name="Group 131"/>
              <p:cNvGrpSpPr/>
              <p:nvPr/>
            </p:nvGrpSpPr>
            <p:grpSpPr bwMode="auto">
              <a:xfrm>
                <a:off x="3970" y="2613"/>
                <a:ext cx="1430" cy="212"/>
                <a:chOff x="725" y="2635"/>
                <a:chExt cx="941" cy="212"/>
              </a:xfrm>
            </p:grpSpPr>
            <p:sp>
              <p:nvSpPr>
                <p:cNvPr id="62519" name="Rectangle 132"/>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20" name="Text Box 133"/>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grpSp>
        <p:sp>
          <p:nvSpPr>
            <p:cNvPr id="62492" name="Text Box 137"/>
            <p:cNvSpPr txBox="1">
              <a:spLocks noChangeArrowheads="1"/>
            </p:cNvSpPr>
            <p:nvPr/>
          </p:nvSpPr>
          <p:spPr bwMode="auto">
            <a:xfrm>
              <a:off x="261" y="2973"/>
              <a:ext cx="3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20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62493" name="Text Box 138"/>
            <p:cNvSpPr txBox="1">
              <a:spLocks noChangeArrowheads="1"/>
            </p:cNvSpPr>
            <p:nvPr/>
          </p:nvSpPr>
          <p:spPr bwMode="auto">
            <a:xfrm>
              <a:off x="259" y="3218"/>
              <a:ext cx="3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20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62494" name="Text Box 139"/>
            <p:cNvSpPr txBox="1">
              <a:spLocks noChangeArrowheads="1"/>
            </p:cNvSpPr>
            <p:nvPr/>
          </p:nvSpPr>
          <p:spPr bwMode="auto">
            <a:xfrm>
              <a:off x="259" y="3477"/>
              <a:ext cx="3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20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p>
          </p:txBody>
        </p:sp>
        <p:grpSp>
          <p:nvGrpSpPr>
            <p:cNvPr id="62495" name="Group 158"/>
            <p:cNvGrpSpPr/>
            <p:nvPr/>
          </p:nvGrpSpPr>
          <p:grpSpPr bwMode="auto">
            <a:xfrm>
              <a:off x="623" y="2986"/>
              <a:ext cx="1408" cy="215"/>
              <a:chOff x="625" y="2182"/>
              <a:chExt cx="1408" cy="215"/>
            </a:xfrm>
          </p:grpSpPr>
          <p:grpSp>
            <p:nvGrpSpPr>
              <p:cNvPr id="62511" name="Group 159"/>
              <p:cNvGrpSpPr/>
              <p:nvPr/>
            </p:nvGrpSpPr>
            <p:grpSpPr bwMode="auto">
              <a:xfrm>
                <a:off x="625" y="2185"/>
                <a:ext cx="941" cy="212"/>
                <a:chOff x="725" y="2635"/>
                <a:chExt cx="941" cy="212"/>
              </a:xfrm>
            </p:grpSpPr>
            <p:sp>
              <p:nvSpPr>
                <p:cNvPr id="62515" name="Rectangle 160"/>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16" name="Text Box 161"/>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62512" name="Group 162"/>
              <p:cNvGrpSpPr/>
              <p:nvPr/>
            </p:nvGrpSpPr>
            <p:grpSpPr bwMode="auto">
              <a:xfrm>
                <a:off x="1563" y="2182"/>
                <a:ext cx="470" cy="212"/>
                <a:chOff x="725" y="2635"/>
                <a:chExt cx="941" cy="212"/>
              </a:xfrm>
            </p:grpSpPr>
            <p:sp>
              <p:nvSpPr>
                <p:cNvPr id="62513" name="Rectangle 163"/>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14" name="Text Box 164"/>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grpSp>
          <p:nvGrpSpPr>
            <p:cNvPr id="62496" name="Group 165"/>
            <p:cNvGrpSpPr/>
            <p:nvPr/>
          </p:nvGrpSpPr>
          <p:grpSpPr bwMode="auto">
            <a:xfrm>
              <a:off x="2541" y="3418"/>
              <a:ext cx="1898" cy="219"/>
              <a:chOff x="1563" y="2394"/>
              <a:chExt cx="1898" cy="219"/>
            </a:xfrm>
          </p:grpSpPr>
          <p:grpSp>
            <p:nvGrpSpPr>
              <p:cNvPr id="62505" name="Group 166"/>
              <p:cNvGrpSpPr/>
              <p:nvPr/>
            </p:nvGrpSpPr>
            <p:grpSpPr bwMode="auto">
              <a:xfrm>
                <a:off x="1563" y="2394"/>
                <a:ext cx="1430" cy="212"/>
                <a:chOff x="725" y="2635"/>
                <a:chExt cx="941" cy="212"/>
              </a:xfrm>
            </p:grpSpPr>
            <p:sp>
              <p:nvSpPr>
                <p:cNvPr id="62509" name="Rectangle 167"/>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10" name="Text Box 168"/>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grpSp>
            <p:nvGrpSpPr>
              <p:cNvPr id="62506" name="Group 169"/>
              <p:cNvGrpSpPr/>
              <p:nvPr/>
            </p:nvGrpSpPr>
            <p:grpSpPr bwMode="auto">
              <a:xfrm>
                <a:off x="2991" y="2401"/>
                <a:ext cx="470" cy="212"/>
                <a:chOff x="725" y="2635"/>
                <a:chExt cx="941" cy="212"/>
              </a:xfrm>
            </p:grpSpPr>
            <p:sp>
              <p:nvSpPr>
                <p:cNvPr id="62507" name="Rectangle 170"/>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08" name="Text Box 171"/>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grpSp>
          <p:nvGrpSpPr>
            <p:cNvPr id="62497" name="Group 172"/>
            <p:cNvGrpSpPr/>
            <p:nvPr/>
          </p:nvGrpSpPr>
          <p:grpSpPr bwMode="auto">
            <a:xfrm>
              <a:off x="1558" y="3205"/>
              <a:ext cx="2409" cy="213"/>
              <a:chOff x="2991" y="2612"/>
              <a:chExt cx="2409" cy="213"/>
            </a:xfrm>
          </p:grpSpPr>
          <p:grpSp>
            <p:nvGrpSpPr>
              <p:cNvPr id="62499" name="Group 173"/>
              <p:cNvGrpSpPr/>
              <p:nvPr/>
            </p:nvGrpSpPr>
            <p:grpSpPr bwMode="auto">
              <a:xfrm>
                <a:off x="2991" y="2612"/>
                <a:ext cx="978" cy="212"/>
                <a:chOff x="725" y="2635"/>
                <a:chExt cx="941" cy="212"/>
              </a:xfrm>
            </p:grpSpPr>
            <p:sp>
              <p:nvSpPr>
                <p:cNvPr id="62503" name="Rectangle 174"/>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04" name="Text Box 175"/>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62500" name="Group 176"/>
              <p:cNvGrpSpPr/>
              <p:nvPr/>
            </p:nvGrpSpPr>
            <p:grpSpPr bwMode="auto">
              <a:xfrm>
                <a:off x="3970" y="2613"/>
                <a:ext cx="1430" cy="212"/>
                <a:chOff x="725" y="2635"/>
                <a:chExt cx="941" cy="212"/>
              </a:xfrm>
            </p:grpSpPr>
            <p:sp>
              <p:nvSpPr>
                <p:cNvPr id="62501" name="Rectangle 177"/>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502" name="Text Box 178"/>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grpSp>
        <p:sp>
          <p:nvSpPr>
            <p:cNvPr id="62498" name="Line 180"/>
            <p:cNvSpPr>
              <a:spLocks noChangeShapeType="1"/>
            </p:cNvSpPr>
            <p:nvPr/>
          </p:nvSpPr>
          <p:spPr bwMode="auto">
            <a:xfrm>
              <a:off x="617" y="1837"/>
              <a:ext cx="0" cy="233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34" name="Group 33"/>
          <p:cNvGraphicFramePr>
            <a:graphicFrameLocks noGrp="1"/>
          </p:cNvGraphicFramePr>
          <p:nvPr/>
        </p:nvGraphicFramePr>
        <p:xfrm>
          <a:off x="1346200" y="1122363"/>
          <a:ext cx="6184900" cy="1568452"/>
        </p:xfrm>
        <a:graphic>
          <a:graphicData uri="http://schemas.openxmlformats.org/drawingml/2006/table">
            <a:tbl>
              <a:tblPr/>
              <a:tblGrid>
                <a:gridCol w="1757363">
                  <a:extLst>
                    <a:ext uri="{9D8B030D-6E8A-4147-A177-3AD203B41FA5}">
                      <a16:colId xmlns:a16="http://schemas.microsoft.com/office/drawing/2014/main" val="20000"/>
                    </a:ext>
                  </a:extLst>
                </a:gridCol>
                <a:gridCol w="2214562">
                  <a:extLst>
                    <a:ext uri="{9D8B030D-6E8A-4147-A177-3AD203B41FA5}">
                      <a16:colId xmlns:a16="http://schemas.microsoft.com/office/drawing/2014/main" val="20001"/>
                    </a:ext>
                  </a:extLst>
                </a:gridCol>
                <a:gridCol w="2212975">
                  <a:extLst>
                    <a:ext uri="{9D8B030D-6E8A-4147-A177-3AD203B41FA5}">
                      <a16:colId xmlns:a16="http://schemas.microsoft.com/office/drawing/2014/main" val="20002"/>
                    </a:ext>
                  </a:extLst>
                </a:gridCol>
              </a:tblGrid>
              <a:tr h="392113">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1" lang="en-US" altLang="zh-CN" sz="1800" b="1" i="0" u="none" strike="noStrike" cap="none" normalizeH="0" baseline="-2500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机器</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1</a:t>
                      </a:r>
                    </a:p>
                  </a:txBody>
                  <a:tcPr marT="45740" marB="457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机器</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2</a:t>
                      </a:r>
                    </a:p>
                  </a:txBody>
                  <a:tcPr marT="45740" marB="4574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13">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作业</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1</a:t>
                      </a:r>
                    </a:p>
                  </a:txBody>
                  <a:tcPr marT="45740" marB="4574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2</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1</a:t>
                      </a:r>
                    </a:p>
                  </a:txBody>
                  <a:tcPr marT="45740" marB="4574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92113">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作业</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2</a:t>
                      </a:r>
                    </a:p>
                  </a:txBody>
                  <a:tcPr marT="45740" marB="4574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3</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1</a:t>
                      </a:r>
                    </a:p>
                  </a:txBody>
                  <a:tcPr marT="45740" marB="4574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392113">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作业</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3</a:t>
                      </a:r>
                    </a:p>
                  </a:txBody>
                  <a:tcPr marT="45740" marB="45740"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2</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3</a:t>
                      </a:r>
                    </a:p>
                  </a:txBody>
                  <a:tcPr marT="45740" marB="45740"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批作业调度问题</a:t>
            </a:r>
          </a:p>
        </p:txBody>
      </p:sp>
      <p:sp>
        <p:nvSpPr>
          <p:cNvPr id="3" name="Text Box 4"/>
          <p:cNvSpPr txBox="1">
            <a:spLocks noChangeArrowheads="1"/>
          </p:cNvSpPr>
          <p:nvPr/>
        </p:nvSpPr>
        <p:spPr bwMode="auto">
          <a:xfrm>
            <a:off x="309563" y="1519238"/>
            <a:ext cx="8605837" cy="3890962"/>
          </a:xfrm>
          <a:prstGeom prst="rect">
            <a:avLst/>
          </a:prstGeom>
        </p:spPr>
        <p:style>
          <a:lnRef idx="2">
            <a:schemeClr val="dk1"/>
          </a:lnRef>
          <a:fillRef idx="1">
            <a:schemeClr val="lt1"/>
          </a:fillRef>
          <a:effectRef idx="0">
            <a:schemeClr val="dk1"/>
          </a:effectRef>
          <a:fontRef idx="minor">
            <a:schemeClr val="dk1"/>
          </a:fontRef>
        </p:style>
        <p:txBody>
          <a:bodyPr/>
          <a:lstStyle/>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）每个工件出现且出现一次，设第</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个出现的工件序号为</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，则</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问题解向量</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显约束</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 2, …,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1" i="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 2, …,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隐约束</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1" i="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a:t>
            </a:r>
            <a:r>
              <a:rPr lang="en-US" altLang="zh-CN"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1" i="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k</a:t>
            </a:r>
            <a:r>
              <a:rPr lang="en-US" altLang="zh-CN"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 2, …, </a:t>
            </a:r>
            <a:r>
              <a:rPr lang="en-US" altLang="zh-CN" sz="3200" b="1" i="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且</a:t>
            </a:r>
            <a:r>
              <a:rPr lang="en-US" altLang="zh-CN" sz="3200" b="1" i="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1" i="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k</a:t>
            </a:r>
            <a:endPar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界函数：</a:t>
            </a:r>
            <a:endPar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p:nvPr/>
        </p:nvSpPr>
        <p:spPr>
          <a:xfrm>
            <a:off x="330200" y="5602288"/>
            <a:ext cx="8631238" cy="1077912"/>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zh-CN" altLang="en-US"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当前工件的完成时间和</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小于</a:t>
            </a:r>
            <a:r>
              <a:rPr lang="zh-CN" altLang="en-US"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当前找到的最优调度的完成时间和。</a:t>
            </a:r>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批作业调度问题</a:t>
            </a:r>
          </a:p>
        </p:txBody>
      </p:sp>
      <p:sp>
        <p:nvSpPr>
          <p:cNvPr id="65539" name="Text Box 5"/>
          <p:cNvSpPr txBox="1">
            <a:spLocks noChangeArrowheads="1"/>
          </p:cNvSpPr>
          <p:nvPr/>
        </p:nvSpPr>
        <p:spPr bwMode="auto">
          <a:xfrm>
            <a:off x="446088" y="1463675"/>
            <a:ext cx="8281987" cy="1004888"/>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本质是一个</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全排列问题</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，解空间属于排列树问题，</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参考货郎担代码</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即可求解，难点是给定一个解，如何计算其完工时间？</a:t>
            </a:r>
            <a:endPar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1444" name="Text Box 5"/>
          <p:cNvSpPr txBox="1">
            <a:spLocks noChangeArrowheads="1"/>
          </p:cNvSpPr>
          <p:nvPr/>
        </p:nvSpPr>
        <p:spPr bwMode="auto">
          <a:xfrm>
            <a:off x="476250" y="2713038"/>
            <a:ext cx="8281988" cy="2138362"/>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假设</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是一个调度序列，令</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sz="2400" b="1" baseline="-2500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表示工件</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在第一个机器上的完成时间，</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sz="2400" b="1" baseline="-2500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2</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表示工件</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在第二个机器上的完成时间，</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F</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1xi</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2xi</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为工件</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在机器</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上的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加工时间</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，则完成时间计算过程为：</a:t>
            </a:r>
            <a:endPar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sz="2400" b="1" baseline="-2500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1</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M</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(i-1)1</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F</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1xi</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M</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i2</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max{M</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(i-1)2</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sz="2400" b="1" baseline="-2500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1</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F</a:t>
            </a:r>
            <a:r>
              <a:rPr lang="en-US" altLang="zh-CN" sz="2400" b="1"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2xi</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endParaRPr lang="en-US" altLang="zh-CN" sz="2400" b="1" dirty="0" smtClean="0">
              <a:solidFill>
                <a:srgbClr val="000066"/>
              </a:solidFill>
              <a:latin typeface="Times New Roman" panose="02020603050405020304" pitchFamily="18" charset="0"/>
              <a:ea typeface="楷体_GB2312" pitchFamily="49" charset="-122"/>
              <a:cs typeface="Times New Roman" panose="02020603050405020304" pitchFamily="18" charset="0"/>
            </a:endParaRPr>
          </a:p>
        </p:txBody>
      </p:sp>
      <p:sp>
        <p:nvSpPr>
          <p:cNvPr id="61445" name="Text Box 5"/>
          <p:cNvSpPr txBox="1">
            <a:spLocks noChangeArrowheads="1"/>
          </p:cNvSpPr>
          <p:nvPr/>
        </p:nvSpPr>
        <p:spPr bwMode="auto">
          <a:xfrm>
            <a:off x="542925" y="5402263"/>
            <a:ext cx="8281988" cy="1006475"/>
          </a:xfrm>
          <a:prstGeom prst="rect">
            <a:avLst/>
          </a:prstGeom>
        </p:spPr>
        <p:style>
          <a:lnRef idx="2">
            <a:schemeClr val="accent2"/>
          </a:lnRef>
          <a:fillRef idx="1">
            <a:schemeClr val="lt1"/>
          </a:fillRef>
          <a:effectRef idx="0">
            <a:schemeClr val="accent2"/>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求解过程中，如果计算出来的完成时间和</a:t>
            </a:r>
            <a:r>
              <a:rPr lang="zh-CN" altLang="en-US" sz="2400" b="1" dirty="0" smtClean="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大于等于</a:t>
            </a:r>
            <a:r>
              <a:rPr lang="zh-CN" altLang="en-US"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当前找到的最优调度的完成时间和，则</a:t>
            </a:r>
            <a:r>
              <a:rPr lang="zh-CN" altLang="en-US" sz="2400" b="1" dirty="0" smtClean="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剪枝</a:t>
            </a:r>
            <a:r>
              <a:rPr lang="zh-CN" altLang="en-US"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400" b="1" dirty="0"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nimBg="1"/>
      <p:bldP spid="6144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2"/>
          <p:cNvSpPr>
            <a:spLocks noChangeArrowheads="1"/>
          </p:cNvSpPr>
          <p:nvPr/>
        </p:nvSpPr>
        <p:spPr bwMode="auto">
          <a:xfrm>
            <a:off x="292100" y="376238"/>
            <a:ext cx="5254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批作业调度</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问题</a:t>
            </a:r>
            <a:r>
              <a:rPr lang="en-US" altLang="zh-CN" sz="3200">
                <a:solidFill>
                  <a:schemeClr val="bg1"/>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递归求解</a:t>
            </a:r>
          </a:p>
        </p:txBody>
      </p:sp>
      <p:sp>
        <p:nvSpPr>
          <p:cNvPr id="4" name="Text Box 4"/>
          <p:cNvSpPr txBox="1">
            <a:spLocks noChangeArrowheads="1"/>
          </p:cNvSpPr>
          <p:nvPr/>
        </p:nvSpPr>
        <p:spPr bwMode="auto">
          <a:xfrm>
            <a:off x="0" y="1079500"/>
            <a:ext cx="5781675" cy="5646738"/>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a[n][n]</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邻接矩阵，存储任意两个城市间的代价；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存储当前最小代价对应的路线；</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MaxInt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存储当前最小代价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cc = 0;//</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存储当前代价</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void Traveling&lt;Type::Backtrack(</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的初值为</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2</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(t &gt; n)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cc;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x;}</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j = t; j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swap(x[t], x[j]);</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if(check(x, </a:t>
            </a:r>
            <a:r>
              <a:rPr kumimoji="1" lang="en-US" altLang="zh-CN" sz="1600" b="1" dirty="0">
                <a:solidFill>
                  <a:srgbClr val="FF0000"/>
                </a:solidFill>
                <a:latin typeface="Times New Roman" panose="02020603050405020304" pitchFamily="18" charset="0"/>
                <a:cs typeface="Times New Roman" panose="02020603050405020304" pitchFamily="18" charset="0"/>
              </a:rPr>
              <a:t>j</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 a, n) )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if(t &lt; n &amp;&amp; cc + a[x[t-1]][x[t]] &lt;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cc = cc + a[x[t-1]][x[t]];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backtrack(t + 1)</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cc = cc - a[x[t-1]][x[t]];  }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if(t == n  &amp;&amp;  cc + a[x[t-1]][x[t]]  + a[x[n]][[1]] &lt;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bestc</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cc = cc + a[x[t-1]][x[t]]  + a[x[n]][[1]];</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backtrack(t + 1)</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cc = cc -  a[x[t-1]][x[t]]  - a[x[n]][[1]];}</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swap(x[t], x[j]);)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恢复现场</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p:txBody>
      </p:sp>
      <p:sp>
        <p:nvSpPr>
          <p:cNvPr id="6" name="Text Box 4"/>
          <p:cNvSpPr txBox="1">
            <a:spLocks noChangeArrowheads="1"/>
          </p:cNvSpPr>
          <p:nvPr/>
        </p:nvSpPr>
        <p:spPr bwMode="auto">
          <a:xfrm>
            <a:off x="4987925" y="1079500"/>
            <a:ext cx="4156075" cy="5635625"/>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F[2][n]</a:t>
            </a:r>
            <a:r>
              <a:rPr kumimoji="1" lang="zh-CN" altLang="en-US" sz="1600" b="1" dirty="0">
                <a:solidFill>
                  <a:srgbClr val="FF0000"/>
                </a:solidFill>
                <a:latin typeface="Times New Roman" panose="02020603050405020304" pitchFamily="18" charset="0"/>
                <a:cs typeface="Times New Roman" panose="02020603050405020304" pitchFamily="18" charset="0"/>
              </a:rPr>
              <a:t>；</a:t>
            </a:r>
            <a:r>
              <a:rPr kumimoji="1" lang="en-US" altLang="zh-CN" sz="1600" b="1" dirty="0">
                <a:solidFill>
                  <a:srgbClr val="FF0000"/>
                </a:solidFill>
                <a:latin typeface="Times New Roman" panose="02020603050405020304" pitchFamily="18" charset="0"/>
                <a:cs typeface="Times New Roman" panose="02020603050405020304" pitchFamily="18" charset="0"/>
              </a:rPr>
              <a:t>//</a:t>
            </a:r>
            <a:r>
              <a:rPr kumimoji="1" lang="zh-CN" altLang="en-US" sz="1600" b="1" dirty="0">
                <a:solidFill>
                  <a:srgbClr val="FF0000"/>
                </a:solidFill>
                <a:latin typeface="Times New Roman" panose="02020603050405020304" pitchFamily="18" charset="0"/>
                <a:cs typeface="Times New Roman" panose="02020603050405020304" pitchFamily="18" charset="0"/>
              </a:rPr>
              <a:t>任务加工时间矩阵；</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a:t>
            </a:r>
            <a:r>
              <a:rPr kumimoji="1" lang="zh-CN" altLang="en-US" sz="1600" b="1" dirty="0">
                <a:solidFill>
                  <a:srgbClr val="FF0000"/>
                </a:solidFill>
                <a:latin typeface="Times New Roman" panose="02020603050405020304" pitchFamily="18" charset="0"/>
                <a:cs typeface="Times New Roman" panose="02020603050405020304" pitchFamily="18" charset="0"/>
              </a:rPr>
              <a:t>存储完成时间最短的加工顺序；</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bestf</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MaxInt</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zh-CN" altLang="en-US" sz="1600" b="1" dirty="0">
                <a:solidFill>
                  <a:srgbClr val="FF0000"/>
                </a:solidFill>
                <a:latin typeface="Times New Roman" panose="02020603050405020304" pitchFamily="18" charset="0"/>
                <a:cs typeface="Times New Roman" panose="02020603050405020304" pitchFamily="18" charset="0"/>
              </a:rPr>
              <a:t>存储当前最短完工时间和</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cf</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0;//</a:t>
            </a:r>
            <a:r>
              <a:rPr kumimoji="1" lang="zh-CN" altLang="en-US" sz="1600" b="1" dirty="0">
                <a:solidFill>
                  <a:srgbClr val="FF0000"/>
                </a:solidFill>
                <a:latin typeface="Times New Roman" panose="02020603050405020304" pitchFamily="18" charset="0"/>
                <a:cs typeface="Times New Roman" panose="02020603050405020304" pitchFamily="18" charset="0"/>
              </a:rPr>
              <a:t>存储当前完成时间和</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M1 = 0; //</a:t>
            </a:r>
            <a:r>
              <a:rPr kumimoji="1" lang="zh-CN" altLang="en-US" sz="1600" b="1" dirty="0">
                <a:solidFill>
                  <a:srgbClr val="FF0000"/>
                </a:solidFill>
                <a:latin typeface="Times New Roman" panose="02020603050405020304" pitchFamily="18" charset="0"/>
                <a:cs typeface="Times New Roman" panose="02020603050405020304" pitchFamily="18" charset="0"/>
              </a:rPr>
              <a:t>机器</a:t>
            </a:r>
            <a:r>
              <a:rPr kumimoji="1" lang="en-US" altLang="zh-CN" sz="1600" b="1" dirty="0">
                <a:solidFill>
                  <a:srgbClr val="FF0000"/>
                </a:solidFill>
                <a:latin typeface="Times New Roman" panose="02020603050405020304" pitchFamily="18" charset="0"/>
                <a:cs typeface="Times New Roman" panose="02020603050405020304" pitchFamily="18" charset="0"/>
              </a:rPr>
              <a:t>1</a:t>
            </a:r>
            <a:r>
              <a:rPr kumimoji="1" lang="zh-CN" altLang="en-US" sz="1600" b="1" dirty="0">
                <a:solidFill>
                  <a:srgbClr val="FF0000"/>
                </a:solidFill>
                <a:latin typeface="Times New Roman" panose="02020603050405020304" pitchFamily="18" charset="0"/>
                <a:cs typeface="Times New Roman" panose="02020603050405020304" pitchFamily="18" charset="0"/>
              </a:rPr>
              <a:t>的完成时间</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M2[n+1] = 0; </a:t>
            </a:r>
            <a:r>
              <a:rPr kumimoji="1" lang="zh-CN" altLang="en-US" sz="1600" b="1" dirty="0">
                <a:solidFill>
                  <a:srgbClr val="FF0000"/>
                </a:solidFill>
                <a:latin typeface="Times New Roman" panose="02020603050405020304" pitchFamily="18" charset="0"/>
                <a:cs typeface="Times New Roman" panose="02020603050405020304" pitchFamily="18" charset="0"/>
              </a:rPr>
              <a:t>机器</a:t>
            </a:r>
            <a:r>
              <a:rPr kumimoji="1" lang="en-US" altLang="zh-CN" sz="1600" b="1" dirty="0">
                <a:solidFill>
                  <a:srgbClr val="FF0000"/>
                </a:solidFill>
                <a:latin typeface="Times New Roman" panose="02020603050405020304" pitchFamily="18" charset="0"/>
                <a:cs typeface="Times New Roman" panose="02020603050405020304" pitchFamily="18" charset="0"/>
              </a:rPr>
              <a:t>2</a:t>
            </a:r>
            <a:r>
              <a:rPr kumimoji="1" lang="zh-CN" altLang="en-US" sz="1600" b="1" dirty="0">
                <a:solidFill>
                  <a:srgbClr val="FF0000"/>
                </a:solidFill>
                <a:latin typeface="Times New Roman" panose="02020603050405020304" pitchFamily="18" charset="0"/>
                <a:cs typeface="Times New Roman" panose="02020603050405020304" pitchFamily="18" charset="0"/>
              </a:rPr>
              <a:t>的完成时间</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void  Scheduling&lt;Type&gt;::Backtrack(</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t){</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 (t &gt; n)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bestf</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cf</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bestx</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x;}</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else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for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n;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swap(x[t], x[</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M1 + = F[1][x[t]];</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M2[t] = max(M2[t-1], M1) + F[2][x[t]];</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a:t>
            </a:r>
            <a:r>
              <a:rPr kumimoji="1" lang="en-US" altLang="zh-CN" sz="1600" b="1" dirty="0" err="1">
                <a:solidFill>
                  <a:srgbClr val="FF0000"/>
                </a:solidFill>
                <a:latin typeface="Times New Roman" panose="02020603050405020304" pitchFamily="18" charset="0"/>
                <a:cs typeface="Times New Roman" panose="02020603050405020304" pitchFamily="18" charset="0"/>
              </a:rPr>
              <a:t>cf</a:t>
            </a:r>
            <a:r>
              <a:rPr kumimoji="1" lang="en-US" altLang="zh-CN" sz="1600" b="1" dirty="0">
                <a:solidFill>
                  <a:srgbClr val="FF0000"/>
                </a:solidFill>
                <a:latin typeface="Times New Roman" panose="02020603050405020304" pitchFamily="18" charset="0"/>
                <a:cs typeface="Times New Roman" panose="02020603050405020304" pitchFamily="18" charset="0"/>
              </a:rPr>
              <a:t> += M2[t];</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if(check(</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bestf</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cf</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r>
              <a:rPr kumimoji="1" lang="zh-CN" altLang="en-US" sz="1600" b="1" dirty="0">
                <a:solidFill>
                  <a:srgbClr val="FF0000"/>
                </a:solidFill>
                <a:latin typeface="Times New Roman" panose="02020603050405020304" pitchFamily="18" charset="0"/>
                <a:cs typeface="Times New Roman" panose="02020603050405020304" pitchFamily="18" charset="0"/>
              </a:rPr>
              <a:t>检查</a:t>
            </a:r>
            <a:r>
              <a:rPr kumimoji="1" lang="en-US" altLang="zh-CN" sz="1600" b="1" dirty="0">
                <a:solidFill>
                  <a:srgbClr val="FF0000"/>
                </a:solidFill>
                <a:latin typeface="Times New Roman" panose="02020603050405020304" pitchFamily="18" charset="0"/>
                <a:cs typeface="Times New Roman" panose="02020603050405020304" pitchFamily="18" charset="0"/>
              </a:rPr>
              <a:t>bound</a:t>
            </a:r>
            <a:endPar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backtrack(t + 1)</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M1 - = F[1][x[t]];</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cs typeface="Times New Roman" panose="02020603050405020304" pitchFamily="18" charset="0"/>
              </a:rPr>
              <a:t>//</a:t>
            </a:r>
            <a:r>
              <a:rPr kumimoji="1" lang="zh-CN" altLang="en-US" sz="1600" b="1" dirty="0">
                <a:solidFill>
                  <a:srgbClr val="FF0000"/>
                </a:solidFill>
                <a:latin typeface="Times New Roman" panose="02020603050405020304" pitchFamily="18" charset="0"/>
                <a:cs typeface="Times New Roman" panose="02020603050405020304" pitchFamily="18" charset="0"/>
              </a:rPr>
              <a:t>恢复现场</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a:t>
            </a:r>
            <a:r>
              <a:rPr kumimoji="1" lang="en-US" altLang="zh-CN" sz="1600" b="1" dirty="0" err="1">
                <a:solidFill>
                  <a:srgbClr val="FF0000"/>
                </a:solidFill>
                <a:latin typeface="Times New Roman" panose="02020603050405020304" pitchFamily="18" charset="0"/>
                <a:cs typeface="Times New Roman" panose="02020603050405020304" pitchFamily="18" charset="0"/>
              </a:rPr>
              <a:t>cf</a:t>
            </a:r>
            <a:r>
              <a:rPr kumimoji="1" lang="en-US" altLang="zh-CN" sz="1600" b="1" dirty="0">
                <a:solidFill>
                  <a:srgbClr val="FF0000"/>
                </a:solidFill>
                <a:latin typeface="Times New Roman" panose="02020603050405020304" pitchFamily="18" charset="0"/>
                <a:cs typeface="Times New Roman" panose="02020603050405020304" pitchFamily="18" charset="0"/>
              </a:rPr>
              <a:t> -= M2[t];</a:t>
            </a: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swap(x[t], x[</a:t>
            </a:r>
            <a:r>
              <a:rPr kumimoji="1" lang="en-US" altLang="zh-CN" sz="16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a:t>
            </a:r>
            <a:r>
              <a:rPr kumimoji="1" lang="zh-CN" altLang="en-US" sz="1600" b="1" dirty="0">
                <a:solidFill>
                  <a:schemeClr val="tx1">
                    <a:lumMod val="50000"/>
                  </a:schemeClr>
                </a:solidFill>
                <a:latin typeface="Times New Roman" panose="02020603050405020304" pitchFamily="18" charset="0"/>
                <a:cs typeface="Times New Roman" panose="02020603050405020304" pitchFamily="18" charset="0"/>
              </a:rPr>
              <a:t>恢复现场</a:t>
            </a:r>
            <a:endParaRPr kumimoji="1" lang="en-US" altLang="zh-CN" sz="1600" b="1" dirty="0">
              <a:solidFill>
                <a:srgbClr val="FF0000"/>
              </a:solidFill>
              <a:latin typeface="Times New Roman" panose="02020603050405020304" pitchFamily="18" charset="0"/>
              <a:cs typeface="Times New Roman" panose="02020603050405020304" pitchFamily="18" charset="0"/>
            </a:endParaRPr>
          </a:p>
          <a:p>
            <a:pPr>
              <a:defRPr/>
            </a:pPr>
            <a:r>
              <a:rPr kumimoji="1" lang="en-US" altLang="zh-CN" sz="1600" b="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 }     </a:t>
            </a:r>
          </a:p>
          <a:p>
            <a:pPr>
              <a:defRPr/>
            </a:pPr>
            <a:r>
              <a:rPr kumimoji="1" lang="en-US" altLang="zh-CN" sz="1600" b="1" dirty="0">
                <a:solidFill>
                  <a:schemeClr val="tx1">
                    <a:lumMod val="50000"/>
                  </a:schemeClr>
                </a:solidFill>
                <a:latin typeface="Times New Roman" panose="02020603050405020304" pitchFamily="18" charset="0"/>
                <a:cs typeface="Times New Roman" panose="02020603050405020304" pitchFamily="18" charset="0"/>
              </a:rPr>
              <a:t>}</a:t>
            </a:r>
          </a:p>
        </p:txBody>
      </p:sp>
      <p:sp>
        <p:nvSpPr>
          <p:cNvPr id="7" name="矩形 6"/>
          <p:cNvSpPr>
            <a:spLocks noChangeArrowheads="1"/>
          </p:cNvSpPr>
          <p:nvPr/>
        </p:nvSpPr>
        <p:spPr bwMode="auto">
          <a:xfrm>
            <a:off x="2438400" y="2419350"/>
            <a:ext cx="25733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 1</a:t>
            </a: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M</a:t>
            </a:r>
            <a:r>
              <a:rPr lang="en-US" altLang="zh-CN"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(i-1)1</a:t>
            </a: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F</a:t>
            </a:r>
            <a:r>
              <a:rPr lang="en-US" altLang="zh-CN"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1xi</a:t>
            </a: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pP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i2</a:t>
            </a: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max{M</a:t>
            </a:r>
            <a:r>
              <a:rPr lang="en-US" altLang="zh-CN"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(i-1)2</a:t>
            </a: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M</a:t>
            </a:r>
            <a:r>
              <a:rPr lang="en-US" altLang="zh-CN"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 1</a:t>
            </a: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F</a:t>
            </a:r>
            <a:r>
              <a:rPr lang="en-US" altLang="zh-CN"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2xi</a:t>
            </a: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p>
        </p:txBody>
      </p:sp>
      <p:sp>
        <p:nvSpPr>
          <p:cNvPr id="2" name="椭圆形标注 1"/>
          <p:cNvSpPr/>
          <p:nvPr/>
        </p:nvSpPr>
        <p:spPr>
          <a:xfrm>
            <a:off x="2285999" y="4476750"/>
            <a:ext cx="1952625" cy="700087"/>
          </a:xfrm>
          <a:prstGeom prst="wedgeEllipseCallout">
            <a:avLst>
              <a:gd name="adj1" fmla="val 128652"/>
              <a:gd name="adj2" fmla="val 11337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b="1" dirty="0" err="1" smtClean="0">
                <a:solidFill>
                  <a:schemeClr val="tx1">
                    <a:lumMod val="50000"/>
                  </a:schemeClr>
                </a:solidFill>
                <a:latin typeface="Times New Roman" panose="02020603050405020304" pitchFamily="18" charset="0"/>
                <a:cs typeface="Times New Roman" panose="02020603050405020304" pitchFamily="18" charset="0"/>
              </a:rPr>
              <a:t>M</a:t>
            </a:r>
            <a:r>
              <a:rPr lang="en-US" altLang="zh-CN" b="1" baseline="-25000" dirty="0" err="1" smtClean="0">
                <a:solidFill>
                  <a:schemeClr val="tx1">
                    <a:lumMod val="50000"/>
                  </a:schemeClr>
                </a:solidFill>
                <a:latin typeface="Times New Roman" panose="02020603050405020304" pitchFamily="18" charset="0"/>
                <a:cs typeface="Times New Roman" panose="02020603050405020304" pitchFamily="18" charset="0"/>
              </a:rPr>
              <a:t>2</a:t>
            </a:r>
            <a:r>
              <a:rPr lang="zh-CN" altLang="en-US" b="1" dirty="0" smtClean="0">
                <a:solidFill>
                  <a:schemeClr val="tx1">
                    <a:lumMod val="50000"/>
                  </a:schemeClr>
                </a:solidFill>
                <a:latin typeface="Times New Roman" panose="02020603050405020304" pitchFamily="18" charset="0"/>
                <a:cs typeface="Times New Roman" panose="02020603050405020304" pitchFamily="18" charset="0"/>
              </a:rPr>
              <a:t>为什么不恢复？</a:t>
            </a:r>
            <a:endParaRPr lang="zh-CN" altLang="en-US" b="1" dirty="0">
              <a:solidFill>
                <a:schemeClr val="tx1">
                  <a:lumMod val="50000"/>
                </a:schemeClr>
              </a:solidFill>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背包问题</a:t>
            </a:r>
          </a:p>
        </p:txBody>
      </p:sp>
      <p:sp>
        <p:nvSpPr>
          <p:cNvPr id="67587" name="Text Box 4"/>
          <p:cNvSpPr txBox="1">
            <a:spLocks noChangeArrowheads="1"/>
          </p:cNvSpPr>
          <p:nvPr/>
        </p:nvSpPr>
        <p:spPr bwMode="auto">
          <a:xfrm>
            <a:off x="568325" y="1130300"/>
            <a:ext cx="8099425" cy="1295400"/>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解空间：子集树</a:t>
            </a:r>
          </a:p>
          <a:p>
            <a:pPr eaLnBrk="1" hangingPunct="1">
              <a:lnSpc>
                <a:spcPct val="100000"/>
              </a:lnSpc>
              <a:spcBef>
                <a:spcPct val="0"/>
              </a:spcBef>
              <a:buClrTx/>
              <a:buSzTx/>
              <a:buFontTx/>
              <a:buNone/>
              <a:defRPr/>
            </a:pPr>
            <a:r>
              <a:rPr lang="zh-CN" altLang="en-US" sz="2400" b="1"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可行性约束函数：</a:t>
            </a:r>
          </a:p>
          <a:p>
            <a:pPr eaLnBrk="1" hangingPunct="1">
              <a:lnSpc>
                <a:spcPct val="100000"/>
              </a:lnSpc>
              <a:spcBef>
                <a:spcPct val="0"/>
              </a:spcBef>
              <a:buClrTx/>
              <a:buSzTx/>
              <a:buFontTx/>
              <a:buNone/>
              <a:defRPr/>
            </a:pPr>
            <a:r>
              <a:rPr lang="zh-CN" altLang="en-US" sz="2400" b="1" smtClean="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上界函数：</a:t>
            </a:r>
          </a:p>
        </p:txBody>
      </p:sp>
      <p:sp>
        <p:nvSpPr>
          <p:cNvPr id="3077" name="Text Box 7"/>
          <p:cNvSpPr txBox="1">
            <a:spLocks noChangeArrowheads="1"/>
          </p:cNvSpPr>
          <p:nvPr/>
        </p:nvSpPr>
        <p:spPr bwMode="auto">
          <a:xfrm>
            <a:off x="3638550" y="2516188"/>
            <a:ext cx="5297488" cy="4311650"/>
          </a:xfrm>
          <a:prstGeom prst="rect">
            <a:avLst/>
          </a:prstGeom>
        </p:spPr>
        <p:style>
          <a:lnRef idx="2">
            <a:schemeClr val="accent3"/>
          </a:lnRef>
          <a:fillRef idx="1">
            <a:schemeClr val="lt1"/>
          </a:fillRef>
          <a:effectRef idx="0">
            <a:schemeClr val="accent3"/>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template&lt;class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Typew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class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Typep</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&gt;</a:t>
            </a:r>
          </a:p>
          <a:p>
            <a:pPr eaLnBrk="1" hangingPunct="1">
              <a:lnSpc>
                <a:spcPct val="100000"/>
              </a:lnSpc>
              <a:spcBef>
                <a:spcPct val="0"/>
              </a:spcBef>
              <a:buClrTx/>
              <a:buSzTx/>
              <a:buFontTx/>
              <a:buNone/>
              <a:defRPr/>
            </a:pP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Typep</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Knap&lt;</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Typew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Typep</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&gt;::Bound(</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计算上界</a:t>
            </a:r>
          </a:p>
          <a:p>
            <a:pPr eaLnBrk="1" hangingPunct="1">
              <a:lnSpc>
                <a:spcPct val="100000"/>
              </a:lnSpc>
              <a:spcBef>
                <a:spcPct val="0"/>
              </a:spcBef>
              <a:buClrTx/>
              <a:buSzTx/>
              <a:buFontTx/>
              <a:buNone/>
              <a:defRPr/>
            </a:pP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Typew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cleft = c -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剩余容量</a:t>
            </a:r>
          </a:p>
          <a:p>
            <a:pPr eaLnBrk="1" hangingPunct="1">
              <a:lnSpc>
                <a:spcPct val="100000"/>
              </a:lnSpc>
              <a:spcBef>
                <a:spcPct val="0"/>
              </a:spcBef>
              <a:buClrTx/>
              <a:buSzTx/>
              <a:buFontTx/>
              <a:buNone/>
              <a:defRPr/>
            </a:pP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Typep</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b = cv;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当前价值</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以剩余物品单位重量价值递减序装入物品</a:t>
            </a:r>
          </a:p>
          <a:p>
            <a:pPr eaLnBrk="1" hangingPunct="1">
              <a:lnSpc>
                <a:spcPct val="100000"/>
              </a:lnSpc>
              <a:spcBef>
                <a:spcPct val="0"/>
              </a:spcBef>
              <a:buClrTx/>
              <a:buSzTx/>
              <a:buFontTx/>
              <a:buNone/>
              <a:defRPr/>
            </a:pP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while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&lt;= n &amp;&amp; w[</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&lt;= cleft) {</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cleft -= w[</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重量减少</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b += p[</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价值增加</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装满背包</a:t>
            </a:r>
          </a:p>
          <a:p>
            <a:pPr eaLnBrk="1" hangingPunct="1">
              <a:lnSpc>
                <a:spcPct val="100000"/>
              </a:lnSpc>
              <a:spcBef>
                <a:spcPct val="0"/>
              </a:spcBef>
              <a:buClrTx/>
              <a:buSzTx/>
              <a:buFontTx/>
              <a:buNone/>
              <a:defRPr/>
            </a:pP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if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&lt;= n) b += p[</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cleft;</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return b;</a:t>
            </a:r>
          </a:p>
          <a:p>
            <a:pPr eaLnBrk="1" hangingPunct="1">
              <a:lnSpc>
                <a:spcPct val="100000"/>
              </a:lnSpc>
              <a:spcBef>
                <a:spcPct val="0"/>
              </a:spcBef>
              <a:buClrTx/>
              <a:buSzTx/>
              <a:buFontTx/>
              <a:buNone/>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endParaRPr lang="zh-CN" altLang="en-US" dirty="0" smtClean="0">
              <a:solidFill>
                <a:srgbClr val="000066"/>
              </a:solidFill>
              <a:latin typeface="Times New Roman" panose="02020603050405020304" pitchFamily="18" charset="0"/>
              <a:ea typeface="楷体_GB2312" pitchFamily="49" charset="-122"/>
              <a:cs typeface="Times New Roman" panose="02020603050405020304" pitchFamily="18" charset="0"/>
            </a:endParaRPr>
          </a:p>
        </p:txBody>
      </p:sp>
      <p:sp>
        <p:nvSpPr>
          <p:cNvPr id="67589" name="Text Box 8"/>
          <p:cNvSpPr txBox="1">
            <a:spLocks noChangeArrowheads="1"/>
          </p:cNvSpPr>
          <p:nvPr/>
        </p:nvSpPr>
        <p:spPr bwMode="auto">
          <a:xfrm>
            <a:off x="192088" y="2801938"/>
            <a:ext cx="3376612" cy="1647825"/>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
                <a:srgbClr val="33CCCC"/>
              </a:buClr>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装载问题的上界函数为</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当前载量</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cp</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剩余可选集装箱重量和</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 &gt;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当前最优装载量</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bestp</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p:txBody>
      </p:sp>
      <p:graphicFrame>
        <p:nvGraphicFramePr>
          <p:cNvPr id="66566" name="Object 5"/>
          <p:cNvGraphicFramePr>
            <a:graphicFrameLocks noChangeAspect="1"/>
          </p:cNvGraphicFramePr>
          <p:nvPr/>
        </p:nvGraphicFramePr>
        <p:xfrm>
          <a:off x="2987675" y="1331913"/>
          <a:ext cx="1411288" cy="798512"/>
        </p:xfrm>
        <a:graphic>
          <a:graphicData uri="http://schemas.openxmlformats.org/presentationml/2006/ole">
            <mc:AlternateContent xmlns:mc="http://schemas.openxmlformats.org/markup-compatibility/2006">
              <mc:Choice xmlns:v="urn:schemas-microsoft-com:vml" Requires="v">
                <p:oleObj spid="_x0000_s66654" name="公式" r:id="rId5" imgW="761365" imgH="431800" progId="Equation.3">
                  <p:embed/>
                </p:oleObj>
              </mc:Choice>
              <mc:Fallback>
                <p:oleObj name="公式" r:id="rId5" imgW="761365" imgH="431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1331913"/>
                        <a:ext cx="1411288"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173038" y="4694238"/>
            <a:ext cx="3392487" cy="193992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buClr>
                <a:srgbClr val="33CCCC"/>
              </a:buClr>
              <a:defRPr/>
            </a:pP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对于</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背包问题，更好的上界为：</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当前价值</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cv</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剩余容量可容纳的最大价值 </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&gt;</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当前最优价值</a:t>
            </a: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bestp</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8" name="椭圆形标注 7"/>
          <p:cNvSpPr/>
          <p:nvPr/>
        </p:nvSpPr>
        <p:spPr>
          <a:xfrm>
            <a:off x="6807200" y="4673600"/>
            <a:ext cx="1778000" cy="1333500"/>
          </a:xfrm>
          <a:prstGeom prst="wedgeEllipseCallout">
            <a:avLst>
              <a:gd name="adj1" fmla="val -32030"/>
              <a:gd name="adj2" fmla="val -171317"/>
            </a:avLst>
          </a:prstGeom>
        </p:spPr>
        <p:style>
          <a:lnRef idx="2">
            <a:schemeClr val="accent5"/>
          </a:lnRef>
          <a:fillRef idx="1">
            <a:schemeClr val="lt1"/>
          </a:fillRef>
          <a:effectRef idx="0">
            <a:schemeClr val="accent5"/>
          </a:effectRef>
          <a:fontRef idx="minor">
            <a:schemeClr val="dk1"/>
          </a:fontRef>
        </p:style>
        <p:txBody>
          <a:bodyPr anchor="ctr"/>
          <a:lstStyle/>
          <a:p>
            <a:pPr algn="ctr">
              <a:defRPr/>
            </a:pPr>
            <a:r>
              <a:rPr lang="zh-CN" altLang="en-US" b="1" dirty="0">
                <a:solidFill>
                  <a:srgbClr val="FF0000"/>
                </a:solidFill>
              </a:rPr>
              <a:t>思想同背包问题的贪心法</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 grpId="0" animBg="1"/>
      <p:bldP spid="7" grpId="0" animBg="1"/>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矩形 2"/>
          <p:cNvSpPr>
            <a:spLocks noChangeArrowheads="1"/>
          </p:cNvSpPr>
          <p:nvPr/>
        </p:nvSpPr>
        <p:spPr bwMode="auto">
          <a:xfrm>
            <a:off x="292100" y="366713"/>
            <a:ext cx="4838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背包问题</a:t>
            </a:r>
          </a:p>
        </p:txBody>
      </p:sp>
      <p:sp>
        <p:nvSpPr>
          <p:cNvPr id="68611" name="Text Box 4"/>
          <p:cNvSpPr txBox="1">
            <a:spLocks noChangeArrowheads="1"/>
          </p:cNvSpPr>
          <p:nvPr/>
        </p:nvSpPr>
        <p:spPr bwMode="auto">
          <a:xfrm>
            <a:off x="263525" y="1319213"/>
            <a:ext cx="8586788" cy="898525"/>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例：</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n=3，C=20，(v</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)=(20,15,25)</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)=(10,5,15)，</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求</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使背包价值最大？</a:t>
            </a:r>
          </a:p>
        </p:txBody>
      </p:sp>
      <p:grpSp>
        <p:nvGrpSpPr>
          <p:cNvPr id="2" name="Group 76"/>
          <p:cNvGrpSpPr/>
          <p:nvPr/>
        </p:nvGrpSpPr>
        <p:grpSpPr bwMode="auto">
          <a:xfrm>
            <a:off x="496888" y="2292350"/>
            <a:ext cx="8202612" cy="4498975"/>
            <a:chOff x="313" y="1444"/>
            <a:chExt cx="5167" cy="2834"/>
          </a:xfrm>
        </p:grpSpPr>
        <p:sp>
          <p:nvSpPr>
            <p:cNvPr id="67594" name="Oval 5"/>
            <p:cNvSpPr>
              <a:spLocks noChangeArrowheads="1"/>
            </p:cNvSpPr>
            <p:nvPr/>
          </p:nvSpPr>
          <p:spPr bwMode="auto">
            <a:xfrm>
              <a:off x="2640" y="1615"/>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a:t>
              </a:r>
            </a:p>
          </p:txBody>
        </p:sp>
        <p:sp>
          <p:nvSpPr>
            <p:cNvPr id="67595" name="Oval 6"/>
            <p:cNvSpPr>
              <a:spLocks noChangeArrowheads="1"/>
            </p:cNvSpPr>
            <p:nvPr/>
          </p:nvSpPr>
          <p:spPr bwMode="auto">
            <a:xfrm>
              <a:off x="1526" y="2205"/>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a:t>
              </a:r>
            </a:p>
          </p:txBody>
        </p:sp>
        <p:sp>
          <p:nvSpPr>
            <p:cNvPr id="67596" name="Oval 7"/>
            <p:cNvSpPr>
              <a:spLocks noChangeArrowheads="1"/>
            </p:cNvSpPr>
            <p:nvPr/>
          </p:nvSpPr>
          <p:spPr bwMode="auto">
            <a:xfrm>
              <a:off x="4080" y="2287"/>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a:t>
              </a:r>
            </a:p>
          </p:txBody>
        </p:sp>
        <p:sp>
          <p:nvSpPr>
            <p:cNvPr id="67597" name="Oval 8"/>
            <p:cNvSpPr>
              <a:spLocks noChangeArrowheads="1"/>
            </p:cNvSpPr>
            <p:nvPr/>
          </p:nvSpPr>
          <p:spPr bwMode="auto">
            <a:xfrm>
              <a:off x="752" y="2877"/>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D</a:t>
              </a:r>
            </a:p>
          </p:txBody>
        </p:sp>
        <p:sp>
          <p:nvSpPr>
            <p:cNvPr id="67598" name="Oval 9"/>
            <p:cNvSpPr>
              <a:spLocks noChangeArrowheads="1"/>
            </p:cNvSpPr>
            <p:nvPr/>
          </p:nvSpPr>
          <p:spPr bwMode="auto">
            <a:xfrm>
              <a:off x="2147" y="2935"/>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E</a:t>
              </a:r>
            </a:p>
          </p:txBody>
        </p:sp>
        <p:sp>
          <p:nvSpPr>
            <p:cNvPr id="67599" name="Oval 10"/>
            <p:cNvSpPr>
              <a:spLocks noChangeArrowheads="1"/>
            </p:cNvSpPr>
            <p:nvPr/>
          </p:nvSpPr>
          <p:spPr bwMode="auto">
            <a:xfrm>
              <a:off x="3408" y="2911"/>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F</a:t>
              </a:r>
            </a:p>
          </p:txBody>
        </p:sp>
        <p:sp>
          <p:nvSpPr>
            <p:cNvPr id="67600" name="Oval 11"/>
            <p:cNvSpPr>
              <a:spLocks noChangeArrowheads="1"/>
            </p:cNvSpPr>
            <p:nvPr/>
          </p:nvSpPr>
          <p:spPr bwMode="auto">
            <a:xfrm>
              <a:off x="4608" y="2863"/>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G</a:t>
              </a:r>
            </a:p>
          </p:txBody>
        </p:sp>
        <p:sp>
          <p:nvSpPr>
            <p:cNvPr id="67601" name="Oval 12"/>
            <p:cNvSpPr>
              <a:spLocks noChangeArrowheads="1"/>
            </p:cNvSpPr>
            <p:nvPr/>
          </p:nvSpPr>
          <p:spPr bwMode="auto">
            <a:xfrm>
              <a:off x="448" y="3413"/>
              <a:ext cx="288" cy="288"/>
            </a:xfrm>
            <a:prstGeom prst="ellipse">
              <a:avLst/>
            </a:prstGeom>
            <a:solidFill>
              <a:srgbClr val="0066FF"/>
            </a:solidFill>
            <a:ln w="28575" cap="rnd">
              <a:solidFill>
                <a:srgbClr val="33CCCC"/>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H</a:t>
              </a:r>
            </a:p>
          </p:txBody>
        </p:sp>
        <p:sp>
          <p:nvSpPr>
            <p:cNvPr id="67602" name="Oval 13"/>
            <p:cNvSpPr>
              <a:spLocks noChangeArrowheads="1"/>
            </p:cNvSpPr>
            <p:nvPr/>
          </p:nvSpPr>
          <p:spPr bwMode="auto">
            <a:xfrm>
              <a:off x="972" y="3405"/>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I</a:t>
              </a:r>
            </a:p>
          </p:txBody>
        </p:sp>
        <p:sp>
          <p:nvSpPr>
            <p:cNvPr id="67603" name="Oval 14"/>
            <p:cNvSpPr>
              <a:spLocks noChangeArrowheads="1"/>
            </p:cNvSpPr>
            <p:nvPr/>
          </p:nvSpPr>
          <p:spPr bwMode="auto">
            <a:xfrm>
              <a:off x="1744" y="3439"/>
              <a:ext cx="288" cy="288"/>
            </a:xfrm>
            <a:prstGeom prst="ellipse">
              <a:avLst/>
            </a:prstGeom>
            <a:solidFill>
              <a:srgbClr val="0066FF"/>
            </a:solidFill>
            <a:ln w="28575" cap="rnd">
              <a:solidFill>
                <a:srgbClr val="33CCCC"/>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J</a:t>
              </a:r>
            </a:p>
          </p:txBody>
        </p:sp>
        <p:sp>
          <p:nvSpPr>
            <p:cNvPr id="67604" name="Oval 15"/>
            <p:cNvSpPr>
              <a:spLocks noChangeArrowheads="1"/>
            </p:cNvSpPr>
            <p:nvPr/>
          </p:nvSpPr>
          <p:spPr bwMode="auto">
            <a:xfrm>
              <a:off x="3002" y="3439"/>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a:t>
              </a:r>
            </a:p>
          </p:txBody>
        </p:sp>
        <p:sp>
          <p:nvSpPr>
            <p:cNvPr id="67605" name="Oval 16"/>
            <p:cNvSpPr>
              <a:spLocks noChangeArrowheads="1"/>
            </p:cNvSpPr>
            <p:nvPr/>
          </p:nvSpPr>
          <p:spPr bwMode="auto">
            <a:xfrm>
              <a:off x="2496" y="3431"/>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K</a:t>
              </a:r>
            </a:p>
          </p:txBody>
        </p:sp>
        <p:sp>
          <p:nvSpPr>
            <p:cNvPr id="67606" name="Oval 17"/>
            <p:cNvSpPr>
              <a:spLocks noChangeArrowheads="1"/>
            </p:cNvSpPr>
            <p:nvPr/>
          </p:nvSpPr>
          <p:spPr bwMode="auto">
            <a:xfrm>
              <a:off x="3648" y="3439"/>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M</a:t>
              </a:r>
            </a:p>
          </p:txBody>
        </p:sp>
        <p:sp>
          <p:nvSpPr>
            <p:cNvPr id="67607" name="Oval 18"/>
            <p:cNvSpPr>
              <a:spLocks noChangeArrowheads="1"/>
            </p:cNvSpPr>
            <p:nvPr/>
          </p:nvSpPr>
          <p:spPr bwMode="auto">
            <a:xfrm>
              <a:off x="4272" y="3439"/>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N</a:t>
              </a:r>
            </a:p>
          </p:txBody>
        </p:sp>
        <p:sp>
          <p:nvSpPr>
            <p:cNvPr id="67608" name="Oval 19"/>
            <p:cNvSpPr>
              <a:spLocks noChangeArrowheads="1"/>
            </p:cNvSpPr>
            <p:nvPr/>
          </p:nvSpPr>
          <p:spPr bwMode="auto">
            <a:xfrm>
              <a:off x="4992" y="3439"/>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O</a:t>
              </a:r>
            </a:p>
          </p:txBody>
        </p:sp>
        <p:sp>
          <p:nvSpPr>
            <p:cNvPr id="67609" name="Line 20"/>
            <p:cNvSpPr>
              <a:spLocks noChangeShapeType="1"/>
            </p:cNvSpPr>
            <p:nvPr/>
          </p:nvSpPr>
          <p:spPr bwMode="auto">
            <a:xfrm flipH="1">
              <a:off x="1814" y="1855"/>
              <a:ext cx="826" cy="398"/>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0" name="Line 21"/>
            <p:cNvSpPr>
              <a:spLocks noChangeShapeType="1"/>
            </p:cNvSpPr>
            <p:nvPr/>
          </p:nvSpPr>
          <p:spPr bwMode="auto">
            <a:xfrm flipH="1">
              <a:off x="960" y="2397"/>
              <a:ext cx="566" cy="46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1" name="Line 22"/>
            <p:cNvSpPr>
              <a:spLocks noChangeShapeType="1"/>
            </p:cNvSpPr>
            <p:nvPr/>
          </p:nvSpPr>
          <p:spPr bwMode="auto">
            <a:xfrm>
              <a:off x="1776" y="2479"/>
              <a:ext cx="480" cy="432"/>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2" name="Line 23"/>
            <p:cNvSpPr>
              <a:spLocks noChangeShapeType="1"/>
            </p:cNvSpPr>
            <p:nvPr/>
          </p:nvSpPr>
          <p:spPr bwMode="auto">
            <a:xfrm flipH="1">
              <a:off x="620" y="3117"/>
              <a:ext cx="192" cy="288"/>
            </a:xfrm>
            <a:prstGeom prst="line">
              <a:avLst/>
            </a:prstGeom>
            <a:noFill/>
            <a:ln w="28575" cap="rnd">
              <a:solidFill>
                <a:srgbClr val="33CCCC"/>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3" name="Line 24"/>
            <p:cNvSpPr>
              <a:spLocks noChangeShapeType="1"/>
            </p:cNvSpPr>
            <p:nvPr/>
          </p:nvSpPr>
          <p:spPr bwMode="auto">
            <a:xfrm>
              <a:off x="956" y="3165"/>
              <a:ext cx="96" cy="240"/>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4" name="Line 25"/>
            <p:cNvSpPr>
              <a:spLocks noChangeShapeType="1"/>
            </p:cNvSpPr>
            <p:nvPr/>
          </p:nvSpPr>
          <p:spPr bwMode="auto">
            <a:xfrm flipH="1">
              <a:off x="1948" y="3199"/>
              <a:ext cx="240" cy="240"/>
            </a:xfrm>
            <a:prstGeom prst="line">
              <a:avLst/>
            </a:prstGeom>
            <a:noFill/>
            <a:ln w="28575" cap="rnd">
              <a:solidFill>
                <a:srgbClr val="33CCCC"/>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5" name="Line 26"/>
            <p:cNvSpPr>
              <a:spLocks noChangeShapeType="1"/>
            </p:cNvSpPr>
            <p:nvPr/>
          </p:nvSpPr>
          <p:spPr bwMode="auto">
            <a:xfrm>
              <a:off x="2400" y="3199"/>
              <a:ext cx="192" cy="240"/>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6" name="Line 27"/>
            <p:cNvSpPr>
              <a:spLocks noChangeShapeType="1"/>
            </p:cNvSpPr>
            <p:nvPr/>
          </p:nvSpPr>
          <p:spPr bwMode="auto">
            <a:xfrm flipH="1">
              <a:off x="3216" y="3151"/>
              <a:ext cx="240" cy="288"/>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7" name="Line 28"/>
            <p:cNvSpPr>
              <a:spLocks noChangeShapeType="1"/>
            </p:cNvSpPr>
            <p:nvPr/>
          </p:nvSpPr>
          <p:spPr bwMode="auto">
            <a:xfrm>
              <a:off x="3600" y="3199"/>
              <a:ext cx="144" cy="240"/>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8" name="Line 29"/>
            <p:cNvSpPr>
              <a:spLocks noChangeShapeType="1"/>
            </p:cNvSpPr>
            <p:nvPr/>
          </p:nvSpPr>
          <p:spPr bwMode="auto">
            <a:xfrm flipH="1">
              <a:off x="4416" y="3103"/>
              <a:ext cx="240" cy="33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19" name="Line 30"/>
            <p:cNvSpPr>
              <a:spLocks noChangeShapeType="1"/>
            </p:cNvSpPr>
            <p:nvPr/>
          </p:nvSpPr>
          <p:spPr bwMode="auto">
            <a:xfrm>
              <a:off x="4848" y="3103"/>
              <a:ext cx="240" cy="33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20" name="Line 31"/>
            <p:cNvSpPr>
              <a:spLocks noChangeShapeType="1"/>
            </p:cNvSpPr>
            <p:nvPr/>
          </p:nvSpPr>
          <p:spPr bwMode="auto">
            <a:xfrm flipH="1">
              <a:off x="3648" y="2527"/>
              <a:ext cx="480" cy="384"/>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21" name="Line 32"/>
            <p:cNvSpPr>
              <a:spLocks noChangeShapeType="1"/>
            </p:cNvSpPr>
            <p:nvPr/>
          </p:nvSpPr>
          <p:spPr bwMode="auto">
            <a:xfrm>
              <a:off x="4320" y="2527"/>
              <a:ext cx="384" cy="33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22" name="Line 33"/>
            <p:cNvSpPr>
              <a:spLocks noChangeShapeType="1"/>
            </p:cNvSpPr>
            <p:nvPr/>
          </p:nvSpPr>
          <p:spPr bwMode="auto">
            <a:xfrm>
              <a:off x="2928" y="1807"/>
              <a:ext cx="1152" cy="57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7623" name="Text Box 34"/>
            <p:cNvSpPr txBox="1">
              <a:spLocks noChangeArrowheads="1"/>
            </p:cNvSpPr>
            <p:nvPr/>
          </p:nvSpPr>
          <p:spPr bwMode="auto">
            <a:xfrm>
              <a:off x="1872" y="1855"/>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67624" name="Text Box 35"/>
            <p:cNvSpPr txBox="1">
              <a:spLocks noChangeArrowheads="1"/>
            </p:cNvSpPr>
            <p:nvPr/>
          </p:nvSpPr>
          <p:spPr bwMode="auto">
            <a:xfrm>
              <a:off x="3360" y="1807"/>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25" name="Text Box 36"/>
            <p:cNvSpPr txBox="1">
              <a:spLocks noChangeArrowheads="1"/>
            </p:cNvSpPr>
            <p:nvPr/>
          </p:nvSpPr>
          <p:spPr bwMode="auto">
            <a:xfrm>
              <a:off x="960" y="243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26" name="Text Box 37"/>
            <p:cNvSpPr txBox="1">
              <a:spLocks noChangeArrowheads="1"/>
            </p:cNvSpPr>
            <p:nvPr/>
          </p:nvSpPr>
          <p:spPr bwMode="auto">
            <a:xfrm>
              <a:off x="1920" y="2478"/>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27" name="Text Box 38"/>
            <p:cNvSpPr txBox="1">
              <a:spLocks noChangeArrowheads="1"/>
            </p:cNvSpPr>
            <p:nvPr/>
          </p:nvSpPr>
          <p:spPr bwMode="auto">
            <a:xfrm>
              <a:off x="313" y="3151"/>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28" name="Text Box 39"/>
            <p:cNvSpPr txBox="1">
              <a:spLocks noChangeArrowheads="1"/>
            </p:cNvSpPr>
            <p:nvPr/>
          </p:nvSpPr>
          <p:spPr bwMode="auto">
            <a:xfrm>
              <a:off x="1014"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67629" name="Text Box 40"/>
            <p:cNvSpPr txBox="1">
              <a:spLocks noChangeArrowheads="1"/>
            </p:cNvSpPr>
            <p:nvPr/>
          </p:nvSpPr>
          <p:spPr bwMode="auto">
            <a:xfrm>
              <a:off x="1632"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67630" name="Text Box 41"/>
            <p:cNvSpPr txBox="1">
              <a:spLocks noChangeArrowheads="1"/>
            </p:cNvSpPr>
            <p:nvPr/>
          </p:nvSpPr>
          <p:spPr bwMode="auto">
            <a:xfrm>
              <a:off x="2496" y="315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 0</a:t>
              </a:r>
            </a:p>
          </p:txBody>
        </p:sp>
        <p:sp>
          <p:nvSpPr>
            <p:cNvPr id="67631" name="Text Box 42"/>
            <p:cNvSpPr txBox="1">
              <a:spLocks noChangeArrowheads="1"/>
            </p:cNvSpPr>
            <p:nvPr/>
          </p:nvSpPr>
          <p:spPr bwMode="auto">
            <a:xfrm>
              <a:off x="3537" y="2527"/>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32" name="Text Box 43"/>
            <p:cNvSpPr txBox="1">
              <a:spLocks noChangeArrowheads="1"/>
            </p:cNvSpPr>
            <p:nvPr/>
          </p:nvSpPr>
          <p:spPr bwMode="auto">
            <a:xfrm>
              <a:off x="4464" y="2527"/>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33" name="Text Box 44"/>
            <p:cNvSpPr txBox="1">
              <a:spLocks noChangeArrowheads="1"/>
            </p:cNvSpPr>
            <p:nvPr/>
          </p:nvSpPr>
          <p:spPr bwMode="auto">
            <a:xfrm>
              <a:off x="2982"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67634" name="Text Box 45"/>
            <p:cNvSpPr txBox="1">
              <a:spLocks noChangeArrowheads="1"/>
            </p:cNvSpPr>
            <p:nvPr/>
          </p:nvSpPr>
          <p:spPr bwMode="auto">
            <a:xfrm>
              <a:off x="3660"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35" name="Text Box 46"/>
            <p:cNvSpPr txBox="1">
              <a:spLocks noChangeArrowheads="1"/>
            </p:cNvSpPr>
            <p:nvPr/>
          </p:nvSpPr>
          <p:spPr bwMode="auto">
            <a:xfrm>
              <a:off x="4155" y="3152"/>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36" name="Text Box 47"/>
            <p:cNvSpPr txBox="1">
              <a:spLocks noChangeArrowheads="1"/>
            </p:cNvSpPr>
            <p:nvPr/>
          </p:nvSpPr>
          <p:spPr bwMode="auto">
            <a:xfrm>
              <a:off x="4993"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37" name="Text Box 48"/>
            <p:cNvSpPr txBox="1">
              <a:spLocks noChangeArrowheads="1"/>
            </p:cNvSpPr>
            <p:nvPr/>
          </p:nvSpPr>
          <p:spPr bwMode="auto">
            <a:xfrm>
              <a:off x="1151" y="2234"/>
              <a:ext cx="336" cy="134"/>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(10,20)</a:t>
              </a:r>
            </a:p>
          </p:txBody>
        </p:sp>
        <p:sp>
          <p:nvSpPr>
            <p:cNvPr id="67638" name="Text Box 49"/>
            <p:cNvSpPr txBox="1">
              <a:spLocks noChangeArrowheads="1"/>
            </p:cNvSpPr>
            <p:nvPr/>
          </p:nvSpPr>
          <p:spPr bwMode="auto">
            <a:xfrm>
              <a:off x="385" y="2919"/>
              <a:ext cx="336" cy="134"/>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(15,35)</a:t>
              </a:r>
            </a:p>
          </p:txBody>
        </p:sp>
        <p:sp>
          <p:nvSpPr>
            <p:cNvPr id="67639" name="Text Box 50"/>
            <p:cNvSpPr txBox="1">
              <a:spLocks noChangeArrowheads="1"/>
            </p:cNvSpPr>
            <p:nvPr/>
          </p:nvSpPr>
          <p:spPr bwMode="auto">
            <a:xfrm>
              <a:off x="982" y="3782"/>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(15,35)</a:t>
              </a:r>
            </a:p>
          </p:txBody>
        </p:sp>
        <p:sp>
          <p:nvSpPr>
            <p:cNvPr id="67640" name="Text Box 51"/>
            <p:cNvSpPr txBox="1">
              <a:spLocks noChangeArrowheads="1"/>
            </p:cNvSpPr>
            <p:nvPr/>
          </p:nvSpPr>
          <p:spPr bwMode="auto">
            <a:xfrm>
              <a:off x="1761" y="2973"/>
              <a:ext cx="336" cy="134"/>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(10,20)</a:t>
              </a:r>
            </a:p>
          </p:txBody>
        </p:sp>
        <p:sp>
          <p:nvSpPr>
            <p:cNvPr id="67641" name="Freeform 52"/>
            <p:cNvSpPr/>
            <p:nvPr/>
          </p:nvSpPr>
          <p:spPr bwMode="auto">
            <a:xfrm>
              <a:off x="1200" y="2431"/>
              <a:ext cx="336" cy="1296"/>
            </a:xfrm>
            <a:custGeom>
              <a:avLst/>
              <a:gdLst>
                <a:gd name="T0" fmla="*/ 0 w 336"/>
                <a:gd name="T1" fmla="*/ 1248 h 1296"/>
                <a:gd name="T2" fmla="*/ 48 w 336"/>
                <a:gd name="T3" fmla="*/ 1296 h 1296"/>
                <a:gd name="T4" fmla="*/ 144 w 336"/>
                <a:gd name="T5" fmla="*/ 1248 h 1296"/>
                <a:gd name="T6" fmla="*/ 192 w 336"/>
                <a:gd name="T7" fmla="*/ 1104 h 1296"/>
                <a:gd name="T8" fmla="*/ 240 w 336"/>
                <a:gd name="T9" fmla="*/ 912 h 1296"/>
                <a:gd name="T10" fmla="*/ 240 w 336"/>
                <a:gd name="T11" fmla="*/ 624 h 1296"/>
                <a:gd name="T12" fmla="*/ 192 w 336"/>
                <a:gd name="T13" fmla="*/ 336 h 1296"/>
                <a:gd name="T14" fmla="*/ 240 w 336"/>
                <a:gd name="T15" fmla="*/ 192 h 1296"/>
                <a:gd name="T16" fmla="*/ 336 w 336"/>
                <a:gd name="T17" fmla="*/ 0 h 12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6"/>
                <a:gd name="T28" fmla="*/ 0 h 1296"/>
                <a:gd name="T29" fmla="*/ 336 w 336"/>
                <a:gd name="T30" fmla="*/ 1296 h 12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6" h="1296">
                  <a:moveTo>
                    <a:pt x="0" y="1248"/>
                  </a:moveTo>
                  <a:cubicBezTo>
                    <a:pt x="12" y="1272"/>
                    <a:pt x="24" y="1296"/>
                    <a:pt x="48" y="1296"/>
                  </a:cubicBezTo>
                  <a:cubicBezTo>
                    <a:pt x="72" y="1296"/>
                    <a:pt x="120" y="1280"/>
                    <a:pt x="144" y="1248"/>
                  </a:cubicBezTo>
                  <a:cubicBezTo>
                    <a:pt x="168" y="1216"/>
                    <a:pt x="176" y="1160"/>
                    <a:pt x="192" y="1104"/>
                  </a:cubicBezTo>
                  <a:cubicBezTo>
                    <a:pt x="208" y="1048"/>
                    <a:pt x="232" y="992"/>
                    <a:pt x="240" y="912"/>
                  </a:cubicBezTo>
                  <a:cubicBezTo>
                    <a:pt x="248" y="832"/>
                    <a:pt x="248" y="720"/>
                    <a:pt x="240" y="624"/>
                  </a:cubicBezTo>
                  <a:cubicBezTo>
                    <a:pt x="232" y="528"/>
                    <a:pt x="192" y="408"/>
                    <a:pt x="192" y="336"/>
                  </a:cubicBezTo>
                  <a:cubicBezTo>
                    <a:pt x="192" y="264"/>
                    <a:pt x="216" y="248"/>
                    <a:pt x="240" y="192"/>
                  </a:cubicBezTo>
                  <a:cubicBezTo>
                    <a:pt x="264" y="136"/>
                    <a:pt x="300" y="68"/>
                    <a:pt x="336" y="0"/>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7642" name="Text Box 53"/>
            <p:cNvSpPr txBox="1">
              <a:spLocks noChangeArrowheads="1"/>
            </p:cNvSpPr>
            <p:nvPr/>
          </p:nvSpPr>
          <p:spPr bwMode="auto">
            <a:xfrm>
              <a:off x="2091" y="3515"/>
              <a:ext cx="364" cy="13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(10,20)</a:t>
              </a:r>
            </a:p>
          </p:txBody>
        </p:sp>
        <p:sp>
          <p:nvSpPr>
            <p:cNvPr id="67643" name="Freeform 54"/>
            <p:cNvSpPr/>
            <p:nvPr/>
          </p:nvSpPr>
          <p:spPr bwMode="auto">
            <a:xfrm>
              <a:off x="2688" y="1903"/>
              <a:ext cx="352" cy="1840"/>
            </a:xfrm>
            <a:custGeom>
              <a:avLst/>
              <a:gdLst>
                <a:gd name="T0" fmla="*/ 48 w 352"/>
                <a:gd name="T1" fmla="*/ 1776 h 1840"/>
                <a:gd name="T2" fmla="*/ 96 w 352"/>
                <a:gd name="T3" fmla="*/ 1824 h 1840"/>
                <a:gd name="T4" fmla="*/ 144 w 352"/>
                <a:gd name="T5" fmla="*/ 1824 h 1840"/>
                <a:gd name="T6" fmla="*/ 192 w 352"/>
                <a:gd name="T7" fmla="*/ 1728 h 1840"/>
                <a:gd name="T8" fmla="*/ 240 w 352"/>
                <a:gd name="T9" fmla="*/ 1584 h 1840"/>
                <a:gd name="T10" fmla="*/ 288 w 352"/>
                <a:gd name="T11" fmla="*/ 1392 h 1840"/>
                <a:gd name="T12" fmla="*/ 336 w 352"/>
                <a:gd name="T13" fmla="*/ 1152 h 1840"/>
                <a:gd name="T14" fmla="*/ 192 w 352"/>
                <a:gd name="T15" fmla="*/ 672 h 1840"/>
                <a:gd name="T16" fmla="*/ 96 w 352"/>
                <a:gd name="T17" fmla="*/ 432 h 1840"/>
                <a:gd name="T18" fmla="*/ 0 w 352"/>
                <a:gd name="T19" fmla="*/ 240 h 1840"/>
                <a:gd name="T20" fmla="*/ 96 w 352"/>
                <a:gd name="T21" fmla="*/ 0 h 1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2"/>
                <a:gd name="T34" fmla="*/ 0 h 1840"/>
                <a:gd name="T35" fmla="*/ 352 w 352"/>
                <a:gd name="T36" fmla="*/ 1840 h 1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2" h="1840">
                  <a:moveTo>
                    <a:pt x="48" y="1776"/>
                  </a:moveTo>
                  <a:cubicBezTo>
                    <a:pt x="64" y="1796"/>
                    <a:pt x="80" y="1816"/>
                    <a:pt x="96" y="1824"/>
                  </a:cubicBezTo>
                  <a:cubicBezTo>
                    <a:pt x="112" y="1832"/>
                    <a:pt x="128" y="1840"/>
                    <a:pt x="144" y="1824"/>
                  </a:cubicBezTo>
                  <a:cubicBezTo>
                    <a:pt x="160" y="1808"/>
                    <a:pt x="176" y="1768"/>
                    <a:pt x="192" y="1728"/>
                  </a:cubicBezTo>
                  <a:cubicBezTo>
                    <a:pt x="208" y="1688"/>
                    <a:pt x="224" y="1640"/>
                    <a:pt x="240" y="1584"/>
                  </a:cubicBezTo>
                  <a:cubicBezTo>
                    <a:pt x="256" y="1528"/>
                    <a:pt x="272" y="1464"/>
                    <a:pt x="288" y="1392"/>
                  </a:cubicBezTo>
                  <a:cubicBezTo>
                    <a:pt x="304" y="1320"/>
                    <a:pt x="352" y="1272"/>
                    <a:pt x="336" y="1152"/>
                  </a:cubicBezTo>
                  <a:cubicBezTo>
                    <a:pt x="320" y="1032"/>
                    <a:pt x="232" y="792"/>
                    <a:pt x="192" y="672"/>
                  </a:cubicBezTo>
                  <a:cubicBezTo>
                    <a:pt x="152" y="552"/>
                    <a:pt x="128" y="504"/>
                    <a:pt x="96" y="432"/>
                  </a:cubicBezTo>
                  <a:cubicBezTo>
                    <a:pt x="64" y="360"/>
                    <a:pt x="0" y="312"/>
                    <a:pt x="0" y="240"/>
                  </a:cubicBezTo>
                  <a:cubicBezTo>
                    <a:pt x="0" y="168"/>
                    <a:pt x="48" y="84"/>
                    <a:pt x="96" y="0"/>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7644" name="Text Box 55"/>
            <p:cNvSpPr txBox="1">
              <a:spLocks noChangeArrowheads="1"/>
            </p:cNvSpPr>
            <p:nvPr/>
          </p:nvSpPr>
          <p:spPr bwMode="auto">
            <a:xfrm>
              <a:off x="3066" y="2972"/>
              <a:ext cx="294" cy="134"/>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(5,15)</a:t>
              </a:r>
            </a:p>
          </p:txBody>
        </p:sp>
        <p:sp>
          <p:nvSpPr>
            <p:cNvPr id="67645" name="Text Box 56"/>
            <p:cNvSpPr txBox="1">
              <a:spLocks noChangeArrowheads="1"/>
            </p:cNvSpPr>
            <p:nvPr/>
          </p:nvSpPr>
          <p:spPr bwMode="auto">
            <a:xfrm>
              <a:off x="3004" y="3788"/>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7646" name="Text Box 57"/>
            <p:cNvSpPr txBox="1">
              <a:spLocks noChangeArrowheads="1"/>
            </p:cNvSpPr>
            <p:nvPr/>
          </p:nvSpPr>
          <p:spPr bwMode="auto">
            <a:xfrm>
              <a:off x="2487" y="3795"/>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(15,35)</a:t>
              </a:r>
            </a:p>
          </p:txBody>
        </p:sp>
        <p:sp>
          <p:nvSpPr>
            <p:cNvPr id="67647" name="Text Box 58"/>
            <p:cNvSpPr txBox="1">
              <a:spLocks noChangeArrowheads="1"/>
            </p:cNvSpPr>
            <p:nvPr/>
          </p:nvSpPr>
          <p:spPr bwMode="auto">
            <a:xfrm>
              <a:off x="3360" y="3487"/>
              <a:ext cx="288" cy="13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(5,15)</a:t>
              </a:r>
            </a:p>
          </p:txBody>
        </p:sp>
        <p:sp>
          <p:nvSpPr>
            <p:cNvPr id="67648" name="Text Box 59"/>
            <p:cNvSpPr txBox="1">
              <a:spLocks noChangeArrowheads="1"/>
            </p:cNvSpPr>
            <p:nvPr/>
          </p:nvSpPr>
          <p:spPr bwMode="auto">
            <a:xfrm>
              <a:off x="3642" y="3803"/>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7649" name="Freeform 60"/>
            <p:cNvSpPr/>
            <p:nvPr/>
          </p:nvSpPr>
          <p:spPr bwMode="auto">
            <a:xfrm rot="207836">
              <a:off x="3888" y="2623"/>
              <a:ext cx="192" cy="1160"/>
            </a:xfrm>
            <a:custGeom>
              <a:avLst/>
              <a:gdLst>
                <a:gd name="T0" fmla="*/ 0 w 192"/>
                <a:gd name="T1" fmla="*/ 1104 h 1160"/>
                <a:gd name="T2" fmla="*/ 48 w 192"/>
                <a:gd name="T3" fmla="*/ 1152 h 1160"/>
                <a:gd name="T4" fmla="*/ 96 w 192"/>
                <a:gd name="T5" fmla="*/ 1152 h 1160"/>
                <a:gd name="T6" fmla="*/ 144 w 192"/>
                <a:gd name="T7" fmla="*/ 1104 h 1160"/>
                <a:gd name="T8" fmla="*/ 144 w 192"/>
                <a:gd name="T9" fmla="*/ 960 h 1160"/>
                <a:gd name="T10" fmla="*/ 96 w 192"/>
                <a:gd name="T11" fmla="*/ 816 h 1160"/>
                <a:gd name="T12" fmla="*/ 96 w 192"/>
                <a:gd name="T13" fmla="*/ 672 h 1160"/>
                <a:gd name="T14" fmla="*/ 96 w 192"/>
                <a:gd name="T15" fmla="*/ 528 h 1160"/>
                <a:gd name="T16" fmla="*/ 96 w 192"/>
                <a:gd name="T17" fmla="*/ 384 h 1160"/>
                <a:gd name="T18" fmla="*/ 192 w 192"/>
                <a:gd name="T19" fmla="*/ 0 h 11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1160"/>
                <a:gd name="T32" fmla="*/ 192 w 192"/>
                <a:gd name="T33" fmla="*/ 1160 h 11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1160">
                  <a:moveTo>
                    <a:pt x="0" y="1104"/>
                  </a:moveTo>
                  <a:cubicBezTo>
                    <a:pt x="16" y="1124"/>
                    <a:pt x="32" y="1144"/>
                    <a:pt x="48" y="1152"/>
                  </a:cubicBezTo>
                  <a:cubicBezTo>
                    <a:pt x="64" y="1160"/>
                    <a:pt x="80" y="1160"/>
                    <a:pt x="96" y="1152"/>
                  </a:cubicBezTo>
                  <a:cubicBezTo>
                    <a:pt x="112" y="1144"/>
                    <a:pt x="136" y="1136"/>
                    <a:pt x="144" y="1104"/>
                  </a:cubicBezTo>
                  <a:cubicBezTo>
                    <a:pt x="152" y="1072"/>
                    <a:pt x="152" y="1008"/>
                    <a:pt x="144" y="960"/>
                  </a:cubicBezTo>
                  <a:cubicBezTo>
                    <a:pt x="136" y="912"/>
                    <a:pt x="104" y="864"/>
                    <a:pt x="96" y="816"/>
                  </a:cubicBezTo>
                  <a:cubicBezTo>
                    <a:pt x="88" y="768"/>
                    <a:pt x="96" y="720"/>
                    <a:pt x="96" y="672"/>
                  </a:cubicBezTo>
                  <a:cubicBezTo>
                    <a:pt x="96" y="624"/>
                    <a:pt x="96" y="576"/>
                    <a:pt x="96" y="528"/>
                  </a:cubicBezTo>
                  <a:cubicBezTo>
                    <a:pt x="96" y="480"/>
                    <a:pt x="80" y="472"/>
                    <a:pt x="96" y="384"/>
                  </a:cubicBezTo>
                  <a:cubicBezTo>
                    <a:pt x="112" y="296"/>
                    <a:pt x="152" y="148"/>
                    <a:pt x="192" y="0"/>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7650" name="Text Box 61"/>
            <p:cNvSpPr txBox="1">
              <a:spLocks noChangeArrowheads="1"/>
            </p:cNvSpPr>
            <p:nvPr/>
          </p:nvSpPr>
          <p:spPr bwMode="auto">
            <a:xfrm>
              <a:off x="4416" y="2336"/>
              <a:ext cx="288" cy="134"/>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(0,0)</a:t>
              </a:r>
            </a:p>
          </p:txBody>
        </p:sp>
        <p:sp>
          <p:nvSpPr>
            <p:cNvPr id="67651" name="Text Box 62"/>
            <p:cNvSpPr txBox="1">
              <a:spLocks noChangeArrowheads="1"/>
            </p:cNvSpPr>
            <p:nvPr/>
          </p:nvSpPr>
          <p:spPr bwMode="auto">
            <a:xfrm>
              <a:off x="4944" y="2911"/>
              <a:ext cx="288" cy="134"/>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(0,0)</a:t>
              </a:r>
            </a:p>
          </p:txBody>
        </p:sp>
        <p:sp>
          <p:nvSpPr>
            <p:cNvPr id="67652" name="Text Box 63"/>
            <p:cNvSpPr txBox="1">
              <a:spLocks noChangeArrowheads="1"/>
            </p:cNvSpPr>
            <p:nvPr/>
          </p:nvSpPr>
          <p:spPr bwMode="auto">
            <a:xfrm>
              <a:off x="3997" y="3348"/>
              <a:ext cx="336" cy="13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(15,25)</a:t>
              </a:r>
            </a:p>
          </p:txBody>
        </p:sp>
        <p:sp>
          <p:nvSpPr>
            <p:cNvPr id="67653" name="Freeform 64"/>
            <p:cNvSpPr/>
            <p:nvPr/>
          </p:nvSpPr>
          <p:spPr bwMode="auto">
            <a:xfrm>
              <a:off x="4464" y="3151"/>
              <a:ext cx="192" cy="648"/>
            </a:xfrm>
            <a:custGeom>
              <a:avLst/>
              <a:gdLst>
                <a:gd name="T0" fmla="*/ 0 w 192"/>
                <a:gd name="T1" fmla="*/ 576 h 648"/>
                <a:gd name="T2" fmla="*/ 48 w 192"/>
                <a:gd name="T3" fmla="*/ 624 h 648"/>
                <a:gd name="T4" fmla="*/ 144 w 192"/>
                <a:gd name="T5" fmla="*/ 624 h 648"/>
                <a:gd name="T6" fmla="*/ 192 w 192"/>
                <a:gd name="T7" fmla="*/ 480 h 648"/>
                <a:gd name="T8" fmla="*/ 144 w 192"/>
                <a:gd name="T9" fmla="*/ 192 h 648"/>
                <a:gd name="T10" fmla="*/ 192 w 192"/>
                <a:gd name="T11" fmla="*/ 0 h 648"/>
                <a:gd name="T12" fmla="*/ 0 60000 65536"/>
                <a:gd name="T13" fmla="*/ 0 60000 65536"/>
                <a:gd name="T14" fmla="*/ 0 60000 65536"/>
                <a:gd name="T15" fmla="*/ 0 60000 65536"/>
                <a:gd name="T16" fmla="*/ 0 60000 65536"/>
                <a:gd name="T17" fmla="*/ 0 60000 65536"/>
                <a:gd name="T18" fmla="*/ 0 w 192"/>
                <a:gd name="T19" fmla="*/ 0 h 648"/>
                <a:gd name="T20" fmla="*/ 192 w 192"/>
                <a:gd name="T21" fmla="*/ 648 h 648"/>
              </a:gdLst>
              <a:ahLst/>
              <a:cxnLst>
                <a:cxn ang="T12">
                  <a:pos x="T0" y="T1"/>
                </a:cxn>
                <a:cxn ang="T13">
                  <a:pos x="T2" y="T3"/>
                </a:cxn>
                <a:cxn ang="T14">
                  <a:pos x="T4" y="T5"/>
                </a:cxn>
                <a:cxn ang="T15">
                  <a:pos x="T6" y="T7"/>
                </a:cxn>
                <a:cxn ang="T16">
                  <a:pos x="T8" y="T9"/>
                </a:cxn>
                <a:cxn ang="T17">
                  <a:pos x="T10" y="T11"/>
                </a:cxn>
              </a:cxnLst>
              <a:rect l="T18" t="T19" r="T20" b="T21"/>
              <a:pathLst>
                <a:path w="192" h="648">
                  <a:moveTo>
                    <a:pt x="0" y="576"/>
                  </a:moveTo>
                  <a:cubicBezTo>
                    <a:pt x="12" y="596"/>
                    <a:pt x="24" y="616"/>
                    <a:pt x="48" y="624"/>
                  </a:cubicBezTo>
                  <a:cubicBezTo>
                    <a:pt x="72" y="632"/>
                    <a:pt x="120" y="648"/>
                    <a:pt x="144" y="624"/>
                  </a:cubicBezTo>
                  <a:cubicBezTo>
                    <a:pt x="168" y="600"/>
                    <a:pt x="192" y="552"/>
                    <a:pt x="192" y="480"/>
                  </a:cubicBezTo>
                  <a:cubicBezTo>
                    <a:pt x="192" y="408"/>
                    <a:pt x="144" y="272"/>
                    <a:pt x="144" y="192"/>
                  </a:cubicBezTo>
                  <a:cubicBezTo>
                    <a:pt x="144" y="112"/>
                    <a:pt x="168" y="56"/>
                    <a:pt x="192" y="0"/>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7654" name="Text Box 65"/>
            <p:cNvSpPr txBox="1">
              <a:spLocks noChangeArrowheads="1"/>
            </p:cNvSpPr>
            <p:nvPr/>
          </p:nvSpPr>
          <p:spPr bwMode="auto">
            <a:xfrm>
              <a:off x="4224" y="3816"/>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7655" name="Text Box 66"/>
            <p:cNvSpPr txBox="1">
              <a:spLocks noChangeArrowheads="1"/>
            </p:cNvSpPr>
            <p:nvPr/>
          </p:nvSpPr>
          <p:spPr bwMode="auto">
            <a:xfrm>
              <a:off x="4944" y="3823"/>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7656" name="Text Box 67"/>
            <p:cNvSpPr txBox="1">
              <a:spLocks noChangeArrowheads="1"/>
            </p:cNvSpPr>
            <p:nvPr/>
          </p:nvSpPr>
          <p:spPr bwMode="auto">
            <a:xfrm>
              <a:off x="4704" y="3521"/>
              <a:ext cx="240" cy="13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(0,0)</a:t>
              </a:r>
            </a:p>
          </p:txBody>
        </p:sp>
        <p:sp>
          <p:nvSpPr>
            <p:cNvPr id="67657" name="Freeform 68"/>
            <p:cNvSpPr/>
            <p:nvPr/>
          </p:nvSpPr>
          <p:spPr bwMode="auto">
            <a:xfrm>
              <a:off x="2928" y="1759"/>
              <a:ext cx="2552" cy="1992"/>
            </a:xfrm>
            <a:custGeom>
              <a:avLst/>
              <a:gdLst>
                <a:gd name="T0" fmla="*/ 21672 w 2456"/>
                <a:gd name="T1" fmla="*/ 1928 h 1992"/>
                <a:gd name="T2" fmla="*/ 22125 w 2456"/>
                <a:gd name="T3" fmla="*/ 1976 h 1992"/>
                <a:gd name="T4" fmla="*/ 23046 w 2456"/>
                <a:gd name="T5" fmla="*/ 1976 h 1992"/>
                <a:gd name="T6" fmla="*/ 23503 w 2456"/>
                <a:gd name="T7" fmla="*/ 1880 h 1992"/>
                <a:gd name="T8" fmla="*/ 23503 w 2456"/>
                <a:gd name="T9" fmla="*/ 1592 h 1992"/>
                <a:gd name="T10" fmla="*/ 23503 w 2456"/>
                <a:gd name="T11" fmla="*/ 1352 h 1992"/>
                <a:gd name="T12" fmla="*/ 23046 w 2456"/>
                <a:gd name="T13" fmla="*/ 1112 h 1992"/>
                <a:gd name="T14" fmla="*/ 20746 w 2456"/>
                <a:gd name="T15" fmla="*/ 824 h 1992"/>
                <a:gd name="T16" fmla="*/ 19836 w 2456"/>
                <a:gd name="T17" fmla="*/ 632 h 1992"/>
                <a:gd name="T18" fmla="*/ 17971 w 2456"/>
                <a:gd name="T19" fmla="*/ 488 h 1992"/>
                <a:gd name="T20" fmla="*/ 12915 w 2456"/>
                <a:gd name="T21" fmla="*/ 296 h 1992"/>
                <a:gd name="T22" fmla="*/ 8762 w 2456"/>
                <a:gd name="T23" fmla="*/ 56 h 1992"/>
                <a:gd name="T24" fmla="*/ 3228 w 2456"/>
                <a:gd name="T25" fmla="*/ 8 h 1992"/>
                <a:gd name="T26" fmla="*/ 0 w 2456"/>
                <a:gd name="T27" fmla="*/ 8 h 19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56"/>
                <a:gd name="T43" fmla="*/ 0 h 1992"/>
                <a:gd name="T44" fmla="*/ 2456 w 2456"/>
                <a:gd name="T45" fmla="*/ 1992 h 199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56" h="1992">
                  <a:moveTo>
                    <a:pt x="2256" y="1928"/>
                  </a:moveTo>
                  <a:cubicBezTo>
                    <a:pt x="2268" y="1948"/>
                    <a:pt x="2280" y="1968"/>
                    <a:pt x="2304" y="1976"/>
                  </a:cubicBezTo>
                  <a:cubicBezTo>
                    <a:pt x="2328" y="1984"/>
                    <a:pt x="2376" y="1992"/>
                    <a:pt x="2400" y="1976"/>
                  </a:cubicBezTo>
                  <a:cubicBezTo>
                    <a:pt x="2424" y="1960"/>
                    <a:pt x="2440" y="1944"/>
                    <a:pt x="2448" y="1880"/>
                  </a:cubicBezTo>
                  <a:cubicBezTo>
                    <a:pt x="2456" y="1816"/>
                    <a:pt x="2448" y="1680"/>
                    <a:pt x="2448" y="1592"/>
                  </a:cubicBezTo>
                  <a:cubicBezTo>
                    <a:pt x="2448" y="1504"/>
                    <a:pt x="2456" y="1432"/>
                    <a:pt x="2448" y="1352"/>
                  </a:cubicBezTo>
                  <a:cubicBezTo>
                    <a:pt x="2440" y="1272"/>
                    <a:pt x="2448" y="1200"/>
                    <a:pt x="2400" y="1112"/>
                  </a:cubicBezTo>
                  <a:cubicBezTo>
                    <a:pt x="2352" y="1024"/>
                    <a:pt x="2216" y="904"/>
                    <a:pt x="2160" y="824"/>
                  </a:cubicBezTo>
                  <a:cubicBezTo>
                    <a:pt x="2104" y="744"/>
                    <a:pt x="2112" y="688"/>
                    <a:pt x="2064" y="632"/>
                  </a:cubicBezTo>
                  <a:cubicBezTo>
                    <a:pt x="2016" y="576"/>
                    <a:pt x="1992" y="544"/>
                    <a:pt x="1872" y="488"/>
                  </a:cubicBezTo>
                  <a:cubicBezTo>
                    <a:pt x="1752" y="432"/>
                    <a:pt x="1504" y="368"/>
                    <a:pt x="1344" y="296"/>
                  </a:cubicBezTo>
                  <a:cubicBezTo>
                    <a:pt x="1184" y="224"/>
                    <a:pt x="1080" y="104"/>
                    <a:pt x="912" y="56"/>
                  </a:cubicBezTo>
                  <a:cubicBezTo>
                    <a:pt x="744" y="8"/>
                    <a:pt x="488" y="16"/>
                    <a:pt x="336" y="8"/>
                  </a:cubicBezTo>
                  <a:cubicBezTo>
                    <a:pt x="184" y="0"/>
                    <a:pt x="92" y="4"/>
                    <a:pt x="0" y="8"/>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7658" name="Text Box 69"/>
            <p:cNvSpPr txBox="1">
              <a:spLocks noChangeArrowheads="1"/>
            </p:cNvSpPr>
            <p:nvPr/>
          </p:nvSpPr>
          <p:spPr bwMode="auto">
            <a:xfrm>
              <a:off x="2593" y="1444"/>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7659" name="Text Box 70"/>
            <p:cNvSpPr txBox="1">
              <a:spLocks noChangeArrowheads="1"/>
            </p:cNvSpPr>
            <p:nvPr/>
          </p:nvSpPr>
          <p:spPr bwMode="auto">
            <a:xfrm>
              <a:off x="480" y="4058"/>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60" name="Text Box 71"/>
            <p:cNvSpPr txBox="1">
              <a:spLocks noChangeArrowheads="1"/>
            </p:cNvSpPr>
            <p:nvPr/>
          </p:nvSpPr>
          <p:spPr bwMode="auto">
            <a:xfrm>
              <a:off x="912" y="4010"/>
              <a:ext cx="84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楷体_GB2312" pitchFamily="49" charset="-122"/>
                  <a:cs typeface="Times New Roman" panose="02020603050405020304" pitchFamily="18" charset="0"/>
                </a:rPr>
                <a:t>当前最优解</a:t>
              </a:r>
            </a:p>
          </p:txBody>
        </p:sp>
        <p:sp>
          <p:nvSpPr>
            <p:cNvPr id="67661" name="Text Box 72"/>
            <p:cNvSpPr txBox="1">
              <a:spLocks noChangeArrowheads="1"/>
            </p:cNvSpPr>
            <p:nvPr/>
          </p:nvSpPr>
          <p:spPr bwMode="auto">
            <a:xfrm>
              <a:off x="3452" y="4095"/>
              <a:ext cx="364" cy="14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62" name="Text Box 73"/>
            <p:cNvSpPr txBox="1">
              <a:spLocks noChangeArrowheads="1"/>
            </p:cNvSpPr>
            <p:nvPr/>
          </p:nvSpPr>
          <p:spPr bwMode="auto">
            <a:xfrm>
              <a:off x="3884" y="4047"/>
              <a:ext cx="5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楷体_GB2312" pitchFamily="49" charset="-122"/>
                  <a:cs typeface="Times New Roman" panose="02020603050405020304" pitchFamily="18" charset="0"/>
                </a:rPr>
                <a:t>可行解</a:t>
              </a:r>
            </a:p>
          </p:txBody>
        </p:sp>
        <p:sp>
          <p:nvSpPr>
            <p:cNvPr id="67663" name="Text Box 74"/>
            <p:cNvSpPr txBox="1">
              <a:spLocks noChangeArrowheads="1"/>
            </p:cNvSpPr>
            <p:nvPr/>
          </p:nvSpPr>
          <p:spPr bwMode="auto">
            <a:xfrm>
              <a:off x="1920" y="4092"/>
              <a:ext cx="364" cy="148"/>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664" name="Text Box 75"/>
            <p:cNvSpPr txBox="1">
              <a:spLocks noChangeArrowheads="1"/>
            </p:cNvSpPr>
            <p:nvPr/>
          </p:nvSpPr>
          <p:spPr bwMode="auto">
            <a:xfrm>
              <a:off x="2352" y="4044"/>
              <a:ext cx="98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楷体_GB2312" pitchFamily="49" charset="-122"/>
                  <a:cs typeface="Times New Roman" panose="02020603050405020304" pitchFamily="18" charset="0"/>
                </a:rPr>
                <a:t>中间计算结果</a:t>
              </a:r>
            </a:p>
          </p:txBody>
        </p:sp>
      </p:grpSp>
      <p:sp>
        <p:nvSpPr>
          <p:cNvPr id="76" name="矩形 75"/>
          <p:cNvSpPr/>
          <p:nvPr/>
        </p:nvSpPr>
        <p:spPr>
          <a:xfrm>
            <a:off x="3717925" y="3789363"/>
            <a:ext cx="1138238" cy="914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上界为：</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algn="ctr">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20+10*25/15=36.6</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7" name="矩形 76"/>
          <p:cNvSpPr/>
          <p:nvPr/>
        </p:nvSpPr>
        <p:spPr>
          <a:xfrm>
            <a:off x="6797675" y="2701925"/>
            <a:ext cx="1136650" cy="914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上界为：</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algn="ctr">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15+25=40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8" name="矩形 77"/>
          <p:cNvSpPr/>
          <p:nvPr/>
        </p:nvSpPr>
        <p:spPr>
          <a:xfrm>
            <a:off x="7793038" y="3738563"/>
            <a:ext cx="1138237" cy="914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上界为：</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algn="ctr">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25,</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可以剪枝</a:t>
            </a:r>
          </a:p>
        </p:txBody>
      </p:sp>
      <p:sp>
        <p:nvSpPr>
          <p:cNvPr id="79" name="矩形 78"/>
          <p:cNvSpPr/>
          <p:nvPr/>
        </p:nvSpPr>
        <p:spPr>
          <a:xfrm>
            <a:off x="5578475" y="5770563"/>
            <a:ext cx="1136650" cy="914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上界为：</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algn="ctr">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15,</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可以剪枝</a:t>
            </a:r>
          </a:p>
        </p:txBody>
      </p:sp>
      <p:sp>
        <p:nvSpPr>
          <p:cNvPr id="80" name="矩形 79"/>
          <p:cNvSpPr/>
          <p:nvPr/>
        </p:nvSpPr>
        <p:spPr>
          <a:xfrm>
            <a:off x="3343275" y="5781675"/>
            <a:ext cx="1136650" cy="914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上界为：</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algn="ctr">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20,</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可以剪枝</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7" grpId="0" animBg="1"/>
      <p:bldP spid="78" grpId="0" animBg="1"/>
      <p:bldP spid="79" grpId="0" animBg="1"/>
      <p:bldP spid="8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2"/>
          <p:cNvSpPr>
            <a:spLocks noChangeArrowheads="1"/>
          </p:cNvSpPr>
          <p:nvPr/>
        </p:nvSpPr>
        <p:spPr bwMode="auto">
          <a:xfrm>
            <a:off x="292100" y="366713"/>
            <a:ext cx="4838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背包问题</a:t>
            </a:r>
          </a:p>
        </p:txBody>
      </p:sp>
      <p:sp>
        <p:nvSpPr>
          <p:cNvPr id="69635" name="Text Box 4"/>
          <p:cNvSpPr txBox="1">
            <a:spLocks noChangeArrowheads="1"/>
          </p:cNvSpPr>
          <p:nvPr/>
        </p:nvSpPr>
        <p:spPr bwMode="auto">
          <a:xfrm>
            <a:off x="233363" y="1166813"/>
            <a:ext cx="8586787" cy="898525"/>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按单位重量价值排序后</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n=3，C=20，(v</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)=(15,20,25)</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)=(5,10,15)，</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求</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使背包价值最大？</a:t>
            </a:r>
          </a:p>
        </p:txBody>
      </p:sp>
      <p:grpSp>
        <p:nvGrpSpPr>
          <p:cNvPr id="68612" name="组合 78"/>
          <p:cNvGrpSpPr/>
          <p:nvPr/>
        </p:nvGrpSpPr>
        <p:grpSpPr bwMode="auto">
          <a:xfrm>
            <a:off x="496888" y="2292350"/>
            <a:ext cx="8202612" cy="4498975"/>
            <a:chOff x="496888" y="2292350"/>
            <a:chExt cx="8202612" cy="4498975"/>
          </a:xfrm>
        </p:grpSpPr>
        <p:grpSp>
          <p:nvGrpSpPr>
            <p:cNvPr id="68619" name="Group 76"/>
            <p:cNvGrpSpPr/>
            <p:nvPr/>
          </p:nvGrpSpPr>
          <p:grpSpPr bwMode="auto">
            <a:xfrm>
              <a:off x="496888" y="2292350"/>
              <a:ext cx="8202612" cy="4498975"/>
              <a:chOff x="313" y="1444"/>
              <a:chExt cx="5167" cy="2834"/>
            </a:xfrm>
          </p:grpSpPr>
          <p:sp>
            <p:nvSpPr>
              <p:cNvPr id="68621" name="Oval 5"/>
              <p:cNvSpPr>
                <a:spLocks noChangeArrowheads="1"/>
              </p:cNvSpPr>
              <p:nvPr/>
            </p:nvSpPr>
            <p:spPr bwMode="auto">
              <a:xfrm>
                <a:off x="2640" y="1615"/>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a:t>
                </a:r>
              </a:p>
            </p:txBody>
          </p:sp>
          <p:sp>
            <p:nvSpPr>
              <p:cNvPr id="68622" name="Oval 6"/>
              <p:cNvSpPr>
                <a:spLocks noChangeArrowheads="1"/>
              </p:cNvSpPr>
              <p:nvPr/>
            </p:nvSpPr>
            <p:spPr bwMode="auto">
              <a:xfrm>
                <a:off x="1526" y="2205"/>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a:t>
                </a:r>
              </a:p>
            </p:txBody>
          </p:sp>
          <p:sp>
            <p:nvSpPr>
              <p:cNvPr id="68623" name="Oval 7"/>
              <p:cNvSpPr>
                <a:spLocks noChangeArrowheads="1"/>
              </p:cNvSpPr>
              <p:nvPr/>
            </p:nvSpPr>
            <p:spPr bwMode="auto">
              <a:xfrm>
                <a:off x="4080" y="2287"/>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a:t>
                </a:r>
              </a:p>
            </p:txBody>
          </p:sp>
          <p:sp>
            <p:nvSpPr>
              <p:cNvPr id="68624" name="Oval 8"/>
              <p:cNvSpPr>
                <a:spLocks noChangeArrowheads="1"/>
              </p:cNvSpPr>
              <p:nvPr/>
            </p:nvSpPr>
            <p:spPr bwMode="auto">
              <a:xfrm>
                <a:off x="752" y="2877"/>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D</a:t>
                </a:r>
              </a:p>
            </p:txBody>
          </p:sp>
          <p:sp>
            <p:nvSpPr>
              <p:cNvPr id="68625" name="Oval 9"/>
              <p:cNvSpPr>
                <a:spLocks noChangeArrowheads="1"/>
              </p:cNvSpPr>
              <p:nvPr/>
            </p:nvSpPr>
            <p:spPr bwMode="auto">
              <a:xfrm>
                <a:off x="2147" y="2935"/>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E</a:t>
                </a:r>
              </a:p>
            </p:txBody>
          </p:sp>
          <p:sp>
            <p:nvSpPr>
              <p:cNvPr id="68626" name="Oval 10"/>
              <p:cNvSpPr>
                <a:spLocks noChangeArrowheads="1"/>
              </p:cNvSpPr>
              <p:nvPr/>
            </p:nvSpPr>
            <p:spPr bwMode="auto">
              <a:xfrm>
                <a:off x="3408" y="2911"/>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F</a:t>
                </a:r>
              </a:p>
            </p:txBody>
          </p:sp>
          <p:sp>
            <p:nvSpPr>
              <p:cNvPr id="68627" name="Oval 11"/>
              <p:cNvSpPr>
                <a:spLocks noChangeArrowheads="1"/>
              </p:cNvSpPr>
              <p:nvPr/>
            </p:nvSpPr>
            <p:spPr bwMode="auto">
              <a:xfrm>
                <a:off x="4608" y="2863"/>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G</a:t>
                </a:r>
              </a:p>
            </p:txBody>
          </p:sp>
          <p:sp>
            <p:nvSpPr>
              <p:cNvPr id="68628" name="Oval 12"/>
              <p:cNvSpPr>
                <a:spLocks noChangeArrowheads="1"/>
              </p:cNvSpPr>
              <p:nvPr/>
            </p:nvSpPr>
            <p:spPr bwMode="auto">
              <a:xfrm>
                <a:off x="448" y="3413"/>
                <a:ext cx="288" cy="288"/>
              </a:xfrm>
              <a:prstGeom prst="ellipse">
                <a:avLst/>
              </a:prstGeom>
              <a:solidFill>
                <a:srgbClr val="0066FF"/>
              </a:solidFill>
              <a:ln w="28575" cap="rnd">
                <a:solidFill>
                  <a:srgbClr val="33CCCC"/>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H</a:t>
                </a:r>
              </a:p>
            </p:txBody>
          </p:sp>
          <p:sp>
            <p:nvSpPr>
              <p:cNvPr id="68629" name="Oval 13"/>
              <p:cNvSpPr>
                <a:spLocks noChangeArrowheads="1"/>
              </p:cNvSpPr>
              <p:nvPr/>
            </p:nvSpPr>
            <p:spPr bwMode="auto">
              <a:xfrm>
                <a:off x="972" y="3405"/>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I</a:t>
                </a:r>
              </a:p>
            </p:txBody>
          </p:sp>
          <p:sp>
            <p:nvSpPr>
              <p:cNvPr id="68630" name="Oval 16"/>
              <p:cNvSpPr>
                <a:spLocks noChangeArrowheads="1"/>
              </p:cNvSpPr>
              <p:nvPr/>
            </p:nvSpPr>
            <p:spPr bwMode="auto">
              <a:xfrm>
                <a:off x="2496" y="3431"/>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K</a:t>
                </a:r>
              </a:p>
            </p:txBody>
          </p:sp>
          <p:sp>
            <p:nvSpPr>
              <p:cNvPr id="68631" name="Oval 17"/>
              <p:cNvSpPr>
                <a:spLocks noChangeArrowheads="1"/>
              </p:cNvSpPr>
              <p:nvPr/>
            </p:nvSpPr>
            <p:spPr bwMode="auto">
              <a:xfrm>
                <a:off x="3648" y="3439"/>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M</a:t>
                </a:r>
              </a:p>
            </p:txBody>
          </p:sp>
          <p:sp>
            <p:nvSpPr>
              <p:cNvPr id="68632" name="Oval 18"/>
              <p:cNvSpPr>
                <a:spLocks noChangeArrowheads="1"/>
              </p:cNvSpPr>
              <p:nvPr/>
            </p:nvSpPr>
            <p:spPr bwMode="auto">
              <a:xfrm>
                <a:off x="4272" y="3439"/>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N</a:t>
                </a:r>
              </a:p>
            </p:txBody>
          </p:sp>
          <p:sp>
            <p:nvSpPr>
              <p:cNvPr id="68633" name="Oval 19"/>
              <p:cNvSpPr>
                <a:spLocks noChangeArrowheads="1"/>
              </p:cNvSpPr>
              <p:nvPr/>
            </p:nvSpPr>
            <p:spPr bwMode="auto">
              <a:xfrm>
                <a:off x="4992" y="3439"/>
                <a:ext cx="288" cy="288"/>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O</a:t>
                </a:r>
              </a:p>
            </p:txBody>
          </p:sp>
          <p:sp>
            <p:nvSpPr>
              <p:cNvPr id="68634" name="Line 20"/>
              <p:cNvSpPr>
                <a:spLocks noChangeShapeType="1"/>
              </p:cNvSpPr>
              <p:nvPr/>
            </p:nvSpPr>
            <p:spPr bwMode="auto">
              <a:xfrm flipH="1">
                <a:off x="1814" y="1855"/>
                <a:ext cx="826" cy="398"/>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35" name="Line 21"/>
              <p:cNvSpPr>
                <a:spLocks noChangeShapeType="1"/>
              </p:cNvSpPr>
              <p:nvPr/>
            </p:nvSpPr>
            <p:spPr bwMode="auto">
              <a:xfrm flipH="1">
                <a:off x="960" y="2397"/>
                <a:ext cx="566" cy="46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36" name="Line 22"/>
              <p:cNvSpPr>
                <a:spLocks noChangeShapeType="1"/>
              </p:cNvSpPr>
              <p:nvPr/>
            </p:nvSpPr>
            <p:spPr bwMode="auto">
              <a:xfrm>
                <a:off x="1776" y="2479"/>
                <a:ext cx="480" cy="432"/>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37" name="Line 23"/>
              <p:cNvSpPr>
                <a:spLocks noChangeShapeType="1"/>
              </p:cNvSpPr>
              <p:nvPr/>
            </p:nvSpPr>
            <p:spPr bwMode="auto">
              <a:xfrm flipH="1">
                <a:off x="620" y="3117"/>
                <a:ext cx="192" cy="288"/>
              </a:xfrm>
              <a:prstGeom prst="line">
                <a:avLst/>
              </a:prstGeom>
              <a:noFill/>
              <a:ln w="28575" cap="rnd">
                <a:solidFill>
                  <a:srgbClr val="33CCCC"/>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38" name="Line 24"/>
              <p:cNvSpPr>
                <a:spLocks noChangeShapeType="1"/>
              </p:cNvSpPr>
              <p:nvPr/>
            </p:nvSpPr>
            <p:spPr bwMode="auto">
              <a:xfrm>
                <a:off x="956" y="3165"/>
                <a:ext cx="96" cy="240"/>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39" name="Line 26"/>
              <p:cNvSpPr>
                <a:spLocks noChangeShapeType="1"/>
              </p:cNvSpPr>
              <p:nvPr/>
            </p:nvSpPr>
            <p:spPr bwMode="auto">
              <a:xfrm>
                <a:off x="2387" y="3213"/>
                <a:ext cx="205" cy="22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40" name="Line 28"/>
              <p:cNvSpPr>
                <a:spLocks noChangeShapeType="1"/>
              </p:cNvSpPr>
              <p:nvPr/>
            </p:nvSpPr>
            <p:spPr bwMode="auto">
              <a:xfrm>
                <a:off x="3600" y="3199"/>
                <a:ext cx="144" cy="240"/>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41" name="Line 29"/>
              <p:cNvSpPr>
                <a:spLocks noChangeShapeType="1"/>
              </p:cNvSpPr>
              <p:nvPr/>
            </p:nvSpPr>
            <p:spPr bwMode="auto">
              <a:xfrm flipH="1">
                <a:off x="4416" y="3103"/>
                <a:ext cx="240" cy="33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42" name="Line 30"/>
              <p:cNvSpPr>
                <a:spLocks noChangeShapeType="1"/>
              </p:cNvSpPr>
              <p:nvPr/>
            </p:nvSpPr>
            <p:spPr bwMode="auto">
              <a:xfrm>
                <a:off x="4848" y="3103"/>
                <a:ext cx="240" cy="33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43" name="Line 31"/>
              <p:cNvSpPr>
                <a:spLocks noChangeShapeType="1"/>
              </p:cNvSpPr>
              <p:nvPr/>
            </p:nvSpPr>
            <p:spPr bwMode="auto">
              <a:xfrm flipH="1">
                <a:off x="3648" y="2527"/>
                <a:ext cx="480" cy="384"/>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44" name="Line 32"/>
              <p:cNvSpPr>
                <a:spLocks noChangeShapeType="1"/>
              </p:cNvSpPr>
              <p:nvPr/>
            </p:nvSpPr>
            <p:spPr bwMode="auto">
              <a:xfrm>
                <a:off x="4320" y="2527"/>
                <a:ext cx="384" cy="33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45" name="Line 33"/>
              <p:cNvSpPr>
                <a:spLocks noChangeShapeType="1"/>
              </p:cNvSpPr>
              <p:nvPr/>
            </p:nvSpPr>
            <p:spPr bwMode="auto">
              <a:xfrm>
                <a:off x="2928" y="1807"/>
                <a:ext cx="1152" cy="576"/>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46" name="Text Box 34"/>
              <p:cNvSpPr txBox="1">
                <a:spLocks noChangeArrowheads="1"/>
              </p:cNvSpPr>
              <p:nvPr/>
            </p:nvSpPr>
            <p:spPr bwMode="auto">
              <a:xfrm>
                <a:off x="1872" y="1855"/>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68647" name="Text Box 35"/>
              <p:cNvSpPr txBox="1">
                <a:spLocks noChangeArrowheads="1"/>
              </p:cNvSpPr>
              <p:nvPr/>
            </p:nvSpPr>
            <p:spPr bwMode="auto">
              <a:xfrm>
                <a:off x="3360" y="1807"/>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48" name="Text Box 36"/>
              <p:cNvSpPr txBox="1">
                <a:spLocks noChangeArrowheads="1"/>
              </p:cNvSpPr>
              <p:nvPr/>
            </p:nvSpPr>
            <p:spPr bwMode="auto">
              <a:xfrm>
                <a:off x="960" y="243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49" name="Text Box 37"/>
              <p:cNvSpPr txBox="1">
                <a:spLocks noChangeArrowheads="1"/>
              </p:cNvSpPr>
              <p:nvPr/>
            </p:nvSpPr>
            <p:spPr bwMode="auto">
              <a:xfrm>
                <a:off x="1920" y="2478"/>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50" name="Text Box 38"/>
              <p:cNvSpPr txBox="1">
                <a:spLocks noChangeArrowheads="1"/>
              </p:cNvSpPr>
              <p:nvPr/>
            </p:nvSpPr>
            <p:spPr bwMode="auto">
              <a:xfrm>
                <a:off x="313" y="3151"/>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51" name="Text Box 39"/>
              <p:cNvSpPr txBox="1">
                <a:spLocks noChangeArrowheads="1"/>
              </p:cNvSpPr>
              <p:nvPr/>
            </p:nvSpPr>
            <p:spPr bwMode="auto">
              <a:xfrm>
                <a:off x="1014"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68652" name="Text Box 40"/>
              <p:cNvSpPr txBox="1">
                <a:spLocks noChangeArrowheads="1"/>
              </p:cNvSpPr>
              <p:nvPr/>
            </p:nvSpPr>
            <p:spPr bwMode="auto">
              <a:xfrm>
                <a:off x="1632"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68653" name="Text Box 41"/>
              <p:cNvSpPr txBox="1">
                <a:spLocks noChangeArrowheads="1"/>
              </p:cNvSpPr>
              <p:nvPr/>
            </p:nvSpPr>
            <p:spPr bwMode="auto">
              <a:xfrm>
                <a:off x="2496" y="315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 0</a:t>
                </a:r>
              </a:p>
            </p:txBody>
          </p:sp>
          <p:sp>
            <p:nvSpPr>
              <p:cNvPr id="68654" name="Text Box 42"/>
              <p:cNvSpPr txBox="1">
                <a:spLocks noChangeArrowheads="1"/>
              </p:cNvSpPr>
              <p:nvPr/>
            </p:nvSpPr>
            <p:spPr bwMode="auto">
              <a:xfrm>
                <a:off x="3537" y="2527"/>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55" name="Text Box 43"/>
              <p:cNvSpPr txBox="1">
                <a:spLocks noChangeArrowheads="1"/>
              </p:cNvSpPr>
              <p:nvPr/>
            </p:nvSpPr>
            <p:spPr bwMode="auto">
              <a:xfrm>
                <a:off x="4464" y="2527"/>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56" name="Text Box 44"/>
              <p:cNvSpPr txBox="1">
                <a:spLocks noChangeArrowheads="1"/>
              </p:cNvSpPr>
              <p:nvPr/>
            </p:nvSpPr>
            <p:spPr bwMode="auto">
              <a:xfrm>
                <a:off x="2982"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68657" name="Text Box 45"/>
              <p:cNvSpPr txBox="1">
                <a:spLocks noChangeArrowheads="1"/>
              </p:cNvSpPr>
              <p:nvPr/>
            </p:nvSpPr>
            <p:spPr bwMode="auto">
              <a:xfrm>
                <a:off x="3660"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58" name="Text Box 46"/>
              <p:cNvSpPr txBox="1">
                <a:spLocks noChangeArrowheads="1"/>
              </p:cNvSpPr>
              <p:nvPr/>
            </p:nvSpPr>
            <p:spPr bwMode="auto">
              <a:xfrm>
                <a:off x="4155" y="3152"/>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59" name="Text Box 47"/>
              <p:cNvSpPr txBox="1">
                <a:spLocks noChangeArrowheads="1"/>
              </p:cNvSpPr>
              <p:nvPr/>
            </p:nvSpPr>
            <p:spPr bwMode="auto">
              <a:xfrm>
                <a:off x="4993" y="3151"/>
                <a:ext cx="3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b="1" baseline="-250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60" name="Text Box 48"/>
              <p:cNvSpPr txBox="1">
                <a:spLocks noChangeArrowheads="1"/>
              </p:cNvSpPr>
              <p:nvPr/>
            </p:nvSpPr>
            <p:spPr bwMode="auto">
              <a:xfrm>
                <a:off x="1126" y="2234"/>
                <a:ext cx="361" cy="136"/>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5,15</a:t>
                </a: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68661" name="Text Box 49"/>
              <p:cNvSpPr txBox="1">
                <a:spLocks noChangeArrowheads="1"/>
              </p:cNvSpPr>
              <p:nvPr/>
            </p:nvSpPr>
            <p:spPr bwMode="auto">
              <a:xfrm>
                <a:off x="385" y="2919"/>
                <a:ext cx="336" cy="134"/>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(15,35)</a:t>
                </a:r>
              </a:p>
            </p:txBody>
          </p:sp>
          <p:sp>
            <p:nvSpPr>
              <p:cNvPr id="68662" name="Text Box 50"/>
              <p:cNvSpPr txBox="1">
                <a:spLocks noChangeArrowheads="1"/>
              </p:cNvSpPr>
              <p:nvPr/>
            </p:nvSpPr>
            <p:spPr bwMode="auto">
              <a:xfrm>
                <a:off x="982" y="3782"/>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(15,35)</a:t>
                </a:r>
              </a:p>
            </p:txBody>
          </p:sp>
          <p:sp>
            <p:nvSpPr>
              <p:cNvPr id="68663" name="Text Box 51"/>
              <p:cNvSpPr txBox="1">
                <a:spLocks noChangeArrowheads="1"/>
              </p:cNvSpPr>
              <p:nvPr/>
            </p:nvSpPr>
            <p:spPr bwMode="auto">
              <a:xfrm>
                <a:off x="1761" y="2973"/>
                <a:ext cx="336" cy="136"/>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5</a:t>
                </a: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15</a:t>
                </a: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68664" name="Freeform 52"/>
              <p:cNvSpPr/>
              <p:nvPr/>
            </p:nvSpPr>
            <p:spPr bwMode="auto">
              <a:xfrm>
                <a:off x="1200" y="2431"/>
                <a:ext cx="336" cy="1296"/>
              </a:xfrm>
              <a:custGeom>
                <a:avLst/>
                <a:gdLst>
                  <a:gd name="T0" fmla="*/ 0 w 336"/>
                  <a:gd name="T1" fmla="*/ 1248 h 1296"/>
                  <a:gd name="T2" fmla="*/ 48 w 336"/>
                  <a:gd name="T3" fmla="*/ 1296 h 1296"/>
                  <a:gd name="T4" fmla="*/ 144 w 336"/>
                  <a:gd name="T5" fmla="*/ 1248 h 1296"/>
                  <a:gd name="T6" fmla="*/ 192 w 336"/>
                  <a:gd name="T7" fmla="*/ 1104 h 1296"/>
                  <a:gd name="T8" fmla="*/ 240 w 336"/>
                  <a:gd name="T9" fmla="*/ 912 h 1296"/>
                  <a:gd name="T10" fmla="*/ 240 w 336"/>
                  <a:gd name="T11" fmla="*/ 624 h 1296"/>
                  <a:gd name="T12" fmla="*/ 192 w 336"/>
                  <a:gd name="T13" fmla="*/ 336 h 1296"/>
                  <a:gd name="T14" fmla="*/ 240 w 336"/>
                  <a:gd name="T15" fmla="*/ 192 h 1296"/>
                  <a:gd name="T16" fmla="*/ 336 w 336"/>
                  <a:gd name="T17" fmla="*/ 0 h 12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6"/>
                  <a:gd name="T28" fmla="*/ 0 h 1296"/>
                  <a:gd name="T29" fmla="*/ 336 w 336"/>
                  <a:gd name="T30" fmla="*/ 1296 h 12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6" h="1296">
                    <a:moveTo>
                      <a:pt x="0" y="1248"/>
                    </a:moveTo>
                    <a:cubicBezTo>
                      <a:pt x="12" y="1272"/>
                      <a:pt x="24" y="1296"/>
                      <a:pt x="48" y="1296"/>
                    </a:cubicBezTo>
                    <a:cubicBezTo>
                      <a:pt x="72" y="1296"/>
                      <a:pt x="120" y="1280"/>
                      <a:pt x="144" y="1248"/>
                    </a:cubicBezTo>
                    <a:cubicBezTo>
                      <a:pt x="168" y="1216"/>
                      <a:pt x="176" y="1160"/>
                      <a:pt x="192" y="1104"/>
                    </a:cubicBezTo>
                    <a:cubicBezTo>
                      <a:pt x="208" y="1048"/>
                      <a:pt x="232" y="992"/>
                      <a:pt x="240" y="912"/>
                    </a:cubicBezTo>
                    <a:cubicBezTo>
                      <a:pt x="248" y="832"/>
                      <a:pt x="248" y="720"/>
                      <a:pt x="240" y="624"/>
                    </a:cubicBezTo>
                    <a:cubicBezTo>
                      <a:pt x="232" y="528"/>
                      <a:pt x="192" y="408"/>
                      <a:pt x="192" y="336"/>
                    </a:cubicBezTo>
                    <a:cubicBezTo>
                      <a:pt x="192" y="264"/>
                      <a:pt x="216" y="248"/>
                      <a:pt x="240" y="192"/>
                    </a:cubicBezTo>
                    <a:cubicBezTo>
                      <a:pt x="264" y="136"/>
                      <a:pt x="300" y="68"/>
                      <a:pt x="336" y="0"/>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8665" name="Text Box 53"/>
              <p:cNvSpPr txBox="1">
                <a:spLocks noChangeArrowheads="1"/>
              </p:cNvSpPr>
              <p:nvPr/>
            </p:nvSpPr>
            <p:spPr bwMode="auto">
              <a:xfrm>
                <a:off x="2091" y="3515"/>
                <a:ext cx="364" cy="136"/>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r>
                  <a:rPr kumimoji="1" lang="en-US" altLang="zh-CN"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68666" name="Freeform 54"/>
              <p:cNvSpPr/>
              <p:nvPr/>
            </p:nvSpPr>
            <p:spPr bwMode="auto">
              <a:xfrm>
                <a:off x="2688" y="1903"/>
                <a:ext cx="352" cy="1840"/>
              </a:xfrm>
              <a:custGeom>
                <a:avLst/>
                <a:gdLst>
                  <a:gd name="T0" fmla="*/ 48 w 352"/>
                  <a:gd name="T1" fmla="*/ 1776 h 1840"/>
                  <a:gd name="T2" fmla="*/ 96 w 352"/>
                  <a:gd name="T3" fmla="*/ 1824 h 1840"/>
                  <a:gd name="T4" fmla="*/ 144 w 352"/>
                  <a:gd name="T5" fmla="*/ 1824 h 1840"/>
                  <a:gd name="T6" fmla="*/ 192 w 352"/>
                  <a:gd name="T7" fmla="*/ 1728 h 1840"/>
                  <a:gd name="T8" fmla="*/ 240 w 352"/>
                  <a:gd name="T9" fmla="*/ 1584 h 1840"/>
                  <a:gd name="T10" fmla="*/ 288 w 352"/>
                  <a:gd name="T11" fmla="*/ 1392 h 1840"/>
                  <a:gd name="T12" fmla="*/ 336 w 352"/>
                  <a:gd name="T13" fmla="*/ 1152 h 1840"/>
                  <a:gd name="T14" fmla="*/ 192 w 352"/>
                  <a:gd name="T15" fmla="*/ 672 h 1840"/>
                  <a:gd name="T16" fmla="*/ 96 w 352"/>
                  <a:gd name="T17" fmla="*/ 432 h 1840"/>
                  <a:gd name="T18" fmla="*/ 0 w 352"/>
                  <a:gd name="T19" fmla="*/ 240 h 1840"/>
                  <a:gd name="T20" fmla="*/ 96 w 352"/>
                  <a:gd name="T21" fmla="*/ 0 h 1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2"/>
                  <a:gd name="T34" fmla="*/ 0 h 1840"/>
                  <a:gd name="T35" fmla="*/ 352 w 352"/>
                  <a:gd name="T36" fmla="*/ 1840 h 1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2" h="1840">
                    <a:moveTo>
                      <a:pt x="48" y="1776"/>
                    </a:moveTo>
                    <a:cubicBezTo>
                      <a:pt x="64" y="1796"/>
                      <a:pt x="80" y="1816"/>
                      <a:pt x="96" y="1824"/>
                    </a:cubicBezTo>
                    <a:cubicBezTo>
                      <a:pt x="112" y="1832"/>
                      <a:pt x="128" y="1840"/>
                      <a:pt x="144" y="1824"/>
                    </a:cubicBezTo>
                    <a:cubicBezTo>
                      <a:pt x="160" y="1808"/>
                      <a:pt x="176" y="1768"/>
                      <a:pt x="192" y="1728"/>
                    </a:cubicBezTo>
                    <a:cubicBezTo>
                      <a:pt x="208" y="1688"/>
                      <a:pt x="224" y="1640"/>
                      <a:pt x="240" y="1584"/>
                    </a:cubicBezTo>
                    <a:cubicBezTo>
                      <a:pt x="256" y="1528"/>
                      <a:pt x="272" y="1464"/>
                      <a:pt x="288" y="1392"/>
                    </a:cubicBezTo>
                    <a:cubicBezTo>
                      <a:pt x="304" y="1320"/>
                      <a:pt x="352" y="1272"/>
                      <a:pt x="336" y="1152"/>
                    </a:cubicBezTo>
                    <a:cubicBezTo>
                      <a:pt x="320" y="1032"/>
                      <a:pt x="232" y="792"/>
                      <a:pt x="192" y="672"/>
                    </a:cubicBezTo>
                    <a:cubicBezTo>
                      <a:pt x="152" y="552"/>
                      <a:pt x="128" y="504"/>
                      <a:pt x="96" y="432"/>
                    </a:cubicBezTo>
                    <a:cubicBezTo>
                      <a:pt x="64" y="360"/>
                      <a:pt x="0" y="312"/>
                      <a:pt x="0" y="240"/>
                    </a:cubicBezTo>
                    <a:cubicBezTo>
                      <a:pt x="0" y="168"/>
                      <a:pt x="48" y="84"/>
                      <a:pt x="96" y="0"/>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8667" name="Text Box 55"/>
              <p:cNvSpPr txBox="1">
                <a:spLocks noChangeArrowheads="1"/>
              </p:cNvSpPr>
              <p:nvPr/>
            </p:nvSpPr>
            <p:spPr bwMode="auto">
              <a:xfrm>
                <a:off x="3016" y="2972"/>
                <a:ext cx="344" cy="136"/>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10</a:t>
                </a: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20</a:t>
                </a: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68668" name="Text Box 56"/>
              <p:cNvSpPr txBox="1">
                <a:spLocks noChangeArrowheads="1"/>
              </p:cNvSpPr>
              <p:nvPr/>
            </p:nvSpPr>
            <p:spPr bwMode="auto">
              <a:xfrm>
                <a:off x="3004" y="3788"/>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8669" name="Text Box 57"/>
              <p:cNvSpPr txBox="1">
                <a:spLocks noChangeArrowheads="1"/>
              </p:cNvSpPr>
              <p:nvPr/>
            </p:nvSpPr>
            <p:spPr bwMode="auto">
              <a:xfrm>
                <a:off x="2487" y="3795"/>
                <a:ext cx="364" cy="149"/>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a:t>
                </a: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40</a:t>
                </a: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68670" name="Text Box 58"/>
              <p:cNvSpPr txBox="1">
                <a:spLocks noChangeArrowheads="1"/>
              </p:cNvSpPr>
              <p:nvPr/>
            </p:nvSpPr>
            <p:spPr bwMode="auto">
              <a:xfrm>
                <a:off x="3312" y="3487"/>
                <a:ext cx="336" cy="136"/>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20</a:t>
                </a: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68671" name="Text Box 59"/>
              <p:cNvSpPr txBox="1">
                <a:spLocks noChangeArrowheads="1"/>
              </p:cNvSpPr>
              <p:nvPr/>
            </p:nvSpPr>
            <p:spPr bwMode="auto">
              <a:xfrm>
                <a:off x="3642" y="3803"/>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8672" name="Freeform 60"/>
              <p:cNvSpPr/>
              <p:nvPr/>
            </p:nvSpPr>
            <p:spPr bwMode="auto">
              <a:xfrm rot="207836">
                <a:off x="3888" y="2623"/>
                <a:ext cx="192" cy="1160"/>
              </a:xfrm>
              <a:custGeom>
                <a:avLst/>
                <a:gdLst>
                  <a:gd name="T0" fmla="*/ 0 w 192"/>
                  <a:gd name="T1" fmla="*/ 1104 h 1160"/>
                  <a:gd name="T2" fmla="*/ 48 w 192"/>
                  <a:gd name="T3" fmla="*/ 1152 h 1160"/>
                  <a:gd name="T4" fmla="*/ 96 w 192"/>
                  <a:gd name="T5" fmla="*/ 1152 h 1160"/>
                  <a:gd name="T6" fmla="*/ 144 w 192"/>
                  <a:gd name="T7" fmla="*/ 1104 h 1160"/>
                  <a:gd name="T8" fmla="*/ 144 w 192"/>
                  <a:gd name="T9" fmla="*/ 960 h 1160"/>
                  <a:gd name="T10" fmla="*/ 96 w 192"/>
                  <a:gd name="T11" fmla="*/ 816 h 1160"/>
                  <a:gd name="T12" fmla="*/ 96 w 192"/>
                  <a:gd name="T13" fmla="*/ 672 h 1160"/>
                  <a:gd name="T14" fmla="*/ 96 w 192"/>
                  <a:gd name="T15" fmla="*/ 528 h 1160"/>
                  <a:gd name="T16" fmla="*/ 96 w 192"/>
                  <a:gd name="T17" fmla="*/ 384 h 1160"/>
                  <a:gd name="T18" fmla="*/ 192 w 192"/>
                  <a:gd name="T19" fmla="*/ 0 h 11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2"/>
                  <a:gd name="T31" fmla="*/ 0 h 1160"/>
                  <a:gd name="T32" fmla="*/ 192 w 192"/>
                  <a:gd name="T33" fmla="*/ 1160 h 11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2" h="1160">
                    <a:moveTo>
                      <a:pt x="0" y="1104"/>
                    </a:moveTo>
                    <a:cubicBezTo>
                      <a:pt x="16" y="1124"/>
                      <a:pt x="32" y="1144"/>
                      <a:pt x="48" y="1152"/>
                    </a:cubicBezTo>
                    <a:cubicBezTo>
                      <a:pt x="64" y="1160"/>
                      <a:pt x="80" y="1160"/>
                      <a:pt x="96" y="1152"/>
                    </a:cubicBezTo>
                    <a:cubicBezTo>
                      <a:pt x="112" y="1144"/>
                      <a:pt x="136" y="1136"/>
                      <a:pt x="144" y="1104"/>
                    </a:cubicBezTo>
                    <a:cubicBezTo>
                      <a:pt x="152" y="1072"/>
                      <a:pt x="152" y="1008"/>
                      <a:pt x="144" y="960"/>
                    </a:cubicBezTo>
                    <a:cubicBezTo>
                      <a:pt x="136" y="912"/>
                      <a:pt x="104" y="864"/>
                      <a:pt x="96" y="816"/>
                    </a:cubicBezTo>
                    <a:cubicBezTo>
                      <a:pt x="88" y="768"/>
                      <a:pt x="96" y="720"/>
                      <a:pt x="96" y="672"/>
                    </a:cubicBezTo>
                    <a:cubicBezTo>
                      <a:pt x="96" y="624"/>
                      <a:pt x="96" y="576"/>
                      <a:pt x="96" y="528"/>
                    </a:cubicBezTo>
                    <a:cubicBezTo>
                      <a:pt x="96" y="480"/>
                      <a:pt x="80" y="472"/>
                      <a:pt x="96" y="384"/>
                    </a:cubicBezTo>
                    <a:cubicBezTo>
                      <a:pt x="112" y="296"/>
                      <a:pt x="152" y="148"/>
                      <a:pt x="192" y="0"/>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8673" name="Text Box 61"/>
              <p:cNvSpPr txBox="1">
                <a:spLocks noChangeArrowheads="1"/>
              </p:cNvSpPr>
              <p:nvPr/>
            </p:nvSpPr>
            <p:spPr bwMode="auto">
              <a:xfrm>
                <a:off x="4416" y="2336"/>
                <a:ext cx="288" cy="134"/>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(0,0)</a:t>
                </a:r>
              </a:p>
            </p:txBody>
          </p:sp>
          <p:sp>
            <p:nvSpPr>
              <p:cNvPr id="68674" name="Text Box 62"/>
              <p:cNvSpPr txBox="1">
                <a:spLocks noChangeArrowheads="1"/>
              </p:cNvSpPr>
              <p:nvPr/>
            </p:nvSpPr>
            <p:spPr bwMode="auto">
              <a:xfrm>
                <a:off x="4944" y="2911"/>
                <a:ext cx="288" cy="134"/>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(0,0)</a:t>
                </a:r>
              </a:p>
            </p:txBody>
          </p:sp>
          <p:sp>
            <p:nvSpPr>
              <p:cNvPr id="68675" name="Text Box 63"/>
              <p:cNvSpPr txBox="1">
                <a:spLocks noChangeArrowheads="1"/>
              </p:cNvSpPr>
              <p:nvPr/>
            </p:nvSpPr>
            <p:spPr bwMode="auto">
              <a:xfrm>
                <a:off x="3997" y="3348"/>
                <a:ext cx="336" cy="13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(15,25)</a:t>
                </a:r>
              </a:p>
            </p:txBody>
          </p:sp>
          <p:sp>
            <p:nvSpPr>
              <p:cNvPr id="68676" name="Freeform 64"/>
              <p:cNvSpPr/>
              <p:nvPr/>
            </p:nvSpPr>
            <p:spPr bwMode="auto">
              <a:xfrm>
                <a:off x="4464" y="3151"/>
                <a:ext cx="192" cy="648"/>
              </a:xfrm>
              <a:custGeom>
                <a:avLst/>
                <a:gdLst>
                  <a:gd name="T0" fmla="*/ 0 w 192"/>
                  <a:gd name="T1" fmla="*/ 576 h 648"/>
                  <a:gd name="T2" fmla="*/ 48 w 192"/>
                  <a:gd name="T3" fmla="*/ 624 h 648"/>
                  <a:gd name="T4" fmla="*/ 144 w 192"/>
                  <a:gd name="T5" fmla="*/ 624 h 648"/>
                  <a:gd name="T6" fmla="*/ 192 w 192"/>
                  <a:gd name="T7" fmla="*/ 480 h 648"/>
                  <a:gd name="T8" fmla="*/ 144 w 192"/>
                  <a:gd name="T9" fmla="*/ 192 h 648"/>
                  <a:gd name="T10" fmla="*/ 192 w 192"/>
                  <a:gd name="T11" fmla="*/ 0 h 648"/>
                  <a:gd name="T12" fmla="*/ 0 60000 65536"/>
                  <a:gd name="T13" fmla="*/ 0 60000 65536"/>
                  <a:gd name="T14" fmla="*/ 0 60000 65536"/>
                  <a:gd name="T15" fmla="*/ 0 60000 65536"/>
                  <a:gd name="T16" fmla="*/ 0 60000 65536"/>
                  <a:gd name="T17" fmla="*/ 0 60000 65536"/>
                  <a:gd name="T18" fmla="*/ 0 w 192"/>
                  <a:gd name="T19" fmla="*/ 0 h 648"/>
                  <a:gd name="T20" fmla="*/ 192 w 192"/>
                  <a:gd name="T21" fmla="*/ 648 h 648"/>
                </a:gdLst>
                <a:ahLst/>
                <a:cxnLst>
                  <a:cxn ang="T12">
                    <a:pos x="T0" y="T1"/>
                  </a:cxn>
                  <a:cxn ang="T13">
                    <a:pos x="T2" y="T3"/>
                  </a:cxn>
                  <a:cxn ang="T14">
                    <a:pos x="T4" y="T5"/>
                  </a:cxn>
                  <a:cxn ang="T15">
                    <a:pos x="T6" y="T7"/>
                  </a:cxn>
                  <a:cxn ang="T16">
                    <a:pos x="T8" y="T9"/>
                  </a:cxn>
                  <a:cxn ang="T17">
                    <a:pos x="T10" y="T11"/>
                  </a:cxn>
                </a:cxnLst>
                <a:rect l="T18" t="T19" r="T20" b="T21"/>
                <a:pathLst>
                  <a:path w="192" h="648">
                    <a:moveTo>
                      <a:pt x="0" y="576"/>
                    </a:moveTo>
                    <a:cubicBezTo>
                      <a:pt x="12" y="596"/>
                      <a:pt x="24" y="616"/>
                      <a:pt x="48" y="624"/>
                    </a:cubicBezTo>
                    <a:cubicBezTo>
                      <a:pt x="72" y="632"/>
                      <a:pt x="120" y="648"/>
                      <a:pt x="144" y="624"/>
                    </a:cubicBezTo>
                    <a:cubicBezTo>
                      <a:pt x="168" y="600"/>
                      <a:pt x="192" y="552"/>
                      <a:pt x="192" y="480"/>
                    </a:cubicBezTo>
                    <a:cubicBezTo>
                      <a:pt x="192" y="408"/>
                      <a:pt x="144" y="272"/>
                      <a:pt x="144" y="192"/>
                    </a:cubicBezTo>
                    <a:cubicBezTo>
                      <a:pt x="144" y="112"/>
                      <a:pt x="168" y="56"/>
                      <a:pt x="192" y="0"/>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8677" name="Text Box 65"/>
              <p:cNvSpPr txBox="1">
                <a:spLocks noChangeArrowheads="1"/>
              </p:cNvSpPr>
              <p:nvPr/>
            </p:nvSpPr>
            <p:spPr bwMode="auto">
              <a:xfrm>
                <a:off x="4224" y="3816"/>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8678" name="Text Box 66"/>
              <p:cNvSpPr txBox="1">
                <a:spLocks noChangeArrowheads="1"/>
              </p:cNvSpPr>
              <p:nvPr/>
            </p:nvSpPr>
            <p:spPr bwMode="auto">
              <a:xfrm>
                <a:off x="4944" y="3823"/>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8679" name="Text Box 67"/>
              <p:cNvSpPr txBox="1">
                <a:spLocks noChangeArrowheads="1"/>
              </p:cNvSpPr>
              <p:nvPr/>
            </p:nvSpPr>
            <p:spPr bwMode="auto">
              <a:xfrm>
                <a:off x="4704" y="3521"/>
                <a:ext cx="240" cy="13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(0,0)</a:t>
                </a:r>
              </a:p>
            </p:txBody>
          </p:sp>
          <p:sp>
            <p:nvSpPr>
              <p:cNvPr id="68680" name="Freeform 68"/>
              <p:cNvSpPr/>
              <p:nvPr/>
            </p:nvSpPr>
            <p:spPr bwMode="auto">
              <a:xfrm>
                <a:off x="2928" y="1759"/>
                <a:ext cx="2552" cy="1992"/>
              </a:xfrm>
              <a:custGeom>
                <a:avLst/>
                <a:gdLst>
                  <a:gd name="T0" fmla="*/ 21672 w 2456"/>
                  <a:gd name="T1" fmla="*/ 1928 h 1992"/>
                  <a:gd name="T2" fmla="*/ 22125 w 2456"/>
                  <a:gd name="T3" fmla="*/ 1976 h 1992"/>
                  <a:gd name="T4" fmla="*/ 23046 w 2456"/>
                  <a:gd name="T5" fmla="*/ 1976 h 1992"/>
                  <a:gd name="T6" fmla="*/ 23503 w 2456"/>
                  <a:gd name="T7" fmla="*/ 1880 h 1992"/>
                  <a:gd name="T8" fmla="*/ 23503 w 2456"/>
                  <a:gd name="T9" fmla="*/ 1592 h 1992"/>
                  <a:gd name="T10" fmla="*/ 23503 w 2456"/>
                  <a:gd name="T11" fmla="*/ 1352 h 1992"/>
                  <a:gd name="T12" fmla="*/ 23046 w 2456"/>
                  <a:gd name="T13" fmla="*/ 1112 h 1992"/>
                  <a:gd name="T14" fmla="*/ 20746 w 2456"/>
                  <a:gd name="T15" fmla="*/ 824 h 1992"/>
                  <a:gd name="T16" fmla="*/ 19836 w 2456"/>
                  <a:gd name="T17" fmla="*/ 632 h 1992"/>
                  <a:gd name="T18" fmla="*/ 17971 w 2456"/>
                  <a:gd name="T19" fmla="*/ 488 h 1992"/>
                  <a:gd name="T20" fmla="*/ 12915 w 2456"/>
                  <a:gd name="T21" fmla="*/ 296 h 1992"/>
                  <a:gd name="T22" fmla="*/ 8762 w 2456"/>
                  <a:gd name="T23" fmla="*/ 56 h 1992"/>
                  <a:gd name="T24" fmla="*/ 3228 w 2456"/>
                  <a:gd name="T25" fmla="*/ 8 h 1992"/>
                  <a:gd name="T26" fmla="*/ 0 w 2456"/>
                  <a:gd name="T27" fmla="*/ 8 h 19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56"/>
                  <a:gd name="T43" fmla="*/ 0 h 1992"/>
                  <a:gd name="T44" fmla="*/ 2456 w 2456"/>
                  <a:gd name="T45" fmla="*/ 1992 h 199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56" h="1992">
                    <a:moveTo>
                      <a:pt x="2256" y="1928"/>
                    </a:moveTo>
                    <a:cubicBezTo>
                      <a:pt x="2268" y="1948"/>
                      <a:pt x="2280" y="1968"/>
                      <a:pt x="2304" y="1976"/>
                    </a:cubicBezTo>
                    <a:cubicBezTo>
                      <a:pt x="2328" y="1984"/>
                      <a:pt x="2376" y="1992"/>
                      <a:pt x="2400" y="1976"/>
                    </a:cubicBezTo>
                    <a:cubicBezTo>
                      <a:pt x="2424" y="1960"/>
                      <a:pt x="2440" y="1944"/>
                      <a:pt x="2448" y="1880"/>
                    </a:cubicBezTo>
                    <a:cubicBezTo>
                      <a:pt x="2456" y="1816"/>
                      <a:pt x="2448" y="1680"/>
                      <a:pt x="2448" y="1592"/>
                    </a:cubicBezTo>
                    <a:cubicBezTo>
                      <a:pt x="2448" y="1504"/>
                      <a:pt x="2456" y="1432"/>
                      <a:pt x="2448" y="1352"/>
                    </a:cubicBezTo>
                    <a:cubicBezTo>
                      <a:pt x="2440" y="1272"/>
                      <a:pt x="2448" y="1200"/>
                      <a:pt x="2400" y="1112"/>
                    </a:cubicBezTo>
                    <a:cubicBezTo>
                      <a:pt x="2352" y="1024"/>
                      <a:pt x="2216" y="904"/>
                      <a:pt x="2160" y="824"/>
                    </a:cubicBezTo>
                    <a:cubicBezTo>
                      <a:pt x="2104" y="744"/>
                      <a:pt x="2112" y="688"/>
                      <a:pt x="2064" y="632"/>
                    </a:cubicBezTo>
                    <a:cubicBezTo>
                      <a:pt x="2016" y="576"/>
                      <a:pt x="1992" y="544"/>
                      <a:pt x="1872" y="488"/>
                    </a:cubicBezTo>
                    <a:cubicBezTo>
                      <a:pt x="1752" y="432"/>
                      <a:pt x="1504" y="368"/>
                      <a:pt x="1344" y="296"/>
                    </a:cubicBezTo>
                    <a:cubicBezTo>
                      <a:pt x="1184" y="224"/>
                      <a:pt x="1080" y="104"/>
                      <a:pt x="912" y="56"/>
                    </a:cubicBezTo>
                    <a:cubicBezTo>
                      <a:pt x="744" y="8"/>
                      <a:pt x="488" y="16"/>
                      <a:pt x="336" y="8"/>
                    </a:cubicBezTo>
                    <a:cubicBezTo>
                      <a:pt x="184" y="0"/>
                      <a:pt x="92" y="4"/>
                      <a:pt x="0" y="8"/>
                    </a:cubicBezTo>
                  </a:path>
                </a:pathLst>
              </a:custGeom>
              <a:noFill/>
              <a:ln w="9525">
                <a:solidFill>
                  <a:srgbClr val="FF0000"/>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8681" name="Text Box 69"/>
              <p:cNvSpPr txBox="1">
                <a:spLocks noChangeArrowheads="1"/>
              </p:cNvSpPr>
              <p:nvPr/>
            </p:nvSpPr>
            <p:spPr bwMode="auto">
              <a:xfrm>
                <a:off x="2593" y="1444"/>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rPr>
                  <a:t>(20,40)</a:t>
                </a:r>
              </a:p>
            </p:txBody>
          </p:sp>
          <p:sp>
            <p:nvSpPr>
              <p:cNvPr id="68682" name="Text Box 70"/>
              <p:cNvSpPr txBox="1">
                <a:spLocks noChangeArrowheads="1"/>
              </p:cNvSpPr>
              <p:nvPr/>
            </p:nvSpPr>
            <p:spPr bwMode="auto">
              <a:xfrm>
                <a:off x="480" y="4058"/>
                <a:ext cx="364" cy="148"/>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83" name="Text Box 71"/>
              <p:cNvSpPr txBox="1">
                <a:spLocks noChangeArrowheads="1"/>
              </p:cNvSpPr>
              <p:nvPr/>
            </p:nvSpPr>
            <p:spPr bwMode="auto">
              <a:xfrm>
                <a:off x="912" y="4010"/>
                <a:ext cx="84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楷体_GB2312" pitchFamily="49" charset="-122"/>
                    <a:cs typeface="Times New Roman" panose="02020603050405020304" pitchFamily="18" charset="0"/>
                  </a:rPr>
                  <a:t>当前最优解</a:t>
                </a:r>
              </a:p>
            </p:txBody>
          </p:sp>
          <p:sp>
            <p:nvSpPr>
              <p:cNvPr id="68684" name="Text Box 72"/>
              <p:cNvSpPr txBox="1">
                <a:spLocks noChangeArrowheads="1"/>
              </p:cNvSpPr>
              <p:nvPr/>
            </p:nvSpPr>
            <p:spPr bwMode="auto">
              <a:xfrm>
                <a:off x="3452" y="4095"/>
                <a:ext cx="364" cy="14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85" name="Text Box 73"/>
              <p:cNvSpPr txBox="1">
                <a:spLocks noChangeArrowheads="1"/>
              </p:cNvSpPr>
              <p:nvPr/>
            </p:nvSpPr>
            <p:spPr bwMode="auto">
              <a:xfrm>
                <a:off x="3884" y="4047"/>
                <a:ext cx="5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楷体_GB2312" pitchFamily="49" charset="-122"/>
                    <a:cs typeface="Times New Roman" panose="02020603050405020304" pitchFamily="18" charset="0"/>
                  </a:rPr>
                  <a:t>可行解</a:t>
                </a:r>
              </a:p>
            </p:txBody>
          </p:sp>
          <p:sp>
            <p:nvSpPr>
              <p:cNvPr id="68686" name="Text Box 74"/>
              <p:cNvSpPr txBox="1">
                <a:spLocks noChangeArrowheads="1"/>
              </p:cNvSpPr>
              <p:nvPr/>
            </p:nvSpPr>
            <p:spPr bwMode="auto">
              <a:xfrm>
                <a:off x="1920" y="4092"/>
                <a:ext cx="364" cy="148"/>
              </a:xfrm>
              <a:prstGeom prst="rect">
                <a:avLst/>
              </a:prstGeom>
              <a:solidFill>
                <a:srgbClr val="0066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kumimoji="1" lang="zh-CN" altLang="en-US" sz="1400" b="1">
                  <a:solidFill>
                    <a:srgbClr val="FF33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687" name="Text Box 75"/>
              <p:cNvSpPr txBox="1">
                <a:spLocks noChangeArrowheads="1"/>
              </p:cNvSpPr>
              <p:nvPr/>
            </p:nvSpPr>
            <p:spPr bwMode="auto">
              <a:xfrm>
                <a:off x="2352" y="4044"/>
                <a:ext cx="98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楷体_GB2312" pitchFamily="49" charset="-122"/>
                    <a:cs typeface="Times New Roman" panose="02020603050405020304" pitchFamily="18" charset="0"/>
                  </a:rPr>
                  <a:t>中间计算结果</a:t>
                </a:r>
              </a:p>
            </p:txBody>
          </p:sp>
        </p:grpSp>
        <p:sp>
          <p:nvSpPr>
            <p:cNvPr id="68620" name="Line 26"/>
            <p:cNvSpPr>
              <a:spLocks noChangeShapeType="1"/>
            </p:cNvSpPr>
            <p:nvPr/>
          </p:nvSpPr>
          <p:spPr bwMode="auto">
            <a:xfrm flipH="1">
              <a:off x="3038475" y="5068888"/>
              <a:ext cx="446088" cy="396875"/>
            </a:xfrm>
            <a:prstGeom prst="line">
              <a:avLst/>
            </a:prstGeom>
            <a:noFill/>
            <a:ln w="28575">
              <a:solidFill>
                <a:srgbClr val="33CCCC"/>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sp>
        <p:nvSpPr>
          <p:cNvPr id="80" name="矩形 79"/>
          <p:cNvSpPr/>
          <p:nvPr/>
        </p:nvSpPr>
        <p:spPr>
          <a:xfrm>
            <a:off x="3717925" y="3789363"/>
            <a:ext cx="1138238" cy="914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上界为：</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algn="ctr">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15+25=40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1" name="矩形 80"/>
          <p:cNvSpPr/>
          <p:nvPr/>
        </p:nvSpPr>
        <p:spPr>
          <a:xfrm>
            <a:off x="3444875" y="5761038"/>
            <a:ext cx="1136650" cy="914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上界为：</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algn="ctr">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15</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，剪枝</a:t>
            </a:r>
          </a:p>
        </p:txBody>
      </p:sp>
      <p:sp>
        <p:nvSpPr>
          <p:cNvPr id="82" name="矩形 81"/>
          <p:cNvSpPr/>
          <p:nvPr/>
        </p:nvSpPr>
        <p:spPr>
          <a:xfrm>
            <a:off x="6867525" y="2692400"/>
            <a:ext cx="1920875" cy="914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上界为：</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algn="ctr">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20+10*25/15=36.6&lt;40</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故可以剪枝</a:t>
            </a:r>
          </a:p>
        </p:txBody>
      </p:sp>
      <p:sp>
        <p:nvSpPr>
          <p:cNvPr id="68616" name="Line 23"/>
          <p:cNvSpPr>
            <a:spLocks noChangeShapeType="1"/>
          </p:cNvSpPr>
          <p:nvPr/>
        </p:nvSpPr>
        <p:spPr bwMode="auto">
          <a:xfrm flipH="1">
            <a:off x="5149850" y="5037138"/>
            <a:ext cx="304800" cy="457200"/>
          </a:xfrm>
          <a:prstGeom prst="line">
            <a:avLst/>
          </a:prstGeom>
          <a:noFill/>
          <a:ln w="28575" cap="rnd">
            <a:solidFill>
              <a:srgbClr val="33CCCC"/>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8617" name="Oval 12"/>
          <p:cNvSpPr>
            <a:spLocks noChangeArrowheads="1"/>
          </p:cNvSpPr>
          <p:nvPr/>
        </p:nvSpPr>
        <p:spPr bwMode="auto">
          <a:xfrm>
            <a:off x="4838700" y="5507038"/>
            <a:ext cx="457200" cy="457200"/>
          </a:xfrm>
          <a:prstGeom prst="ellipse">
            <a:avLst/>
          </a:prstGeom>
          <a:solidFill>
            <a:srgbClr val="0066FF"/>
          </a:solidFill>
          <a:ln w="28575" cap="rnd">
            <a:solidFill>
              <a:srgbClr val="33CCCC"/>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a:t>
            </a:r>
          </a:p>
        </p:txBody>
      </p:sp>
      <p:sp>
        <p:nvSpPr>
          <p:cNvPr id="68618" name="Oval 13"/>
          <p:cNvSpPr>
            <a:spLocks noChangeArrowheads="1"/>
          </p:cNvSpPr>
          <p:nvPr/>
        </p:nvSpPr>
        <p:spPr bwMode="auto">
          <a:xfrm>
            <a:off x="2711450" y="5456238"/>
            <a:ext cx="457200" cy="457200"/>
          </a:xfrm>
          <a:prstGeom prst="ellipse">
            <a:avLst/>
          </a:prstGeom>
          <a:solidFill>
            <a:srgbClr val="0066FF"/>
          </a:solidFill>
          <a:ln w="28575">
            <a:solidFill>
              <a:srgbClr val="33CCCC"/>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en-US" altLang="zh-CN" sz="24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J</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8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最大团问题</a:t>
            </a:r>
          </a:p>
        </p:txBody>
      </p:sp>
      <p:sp>
        <p:nvSpPr>
          <p:cNvPr id="70659" name="Text Box 4"/>
          <p:cNvSpPr txBox="1">
            <a:spLocks noChangeArrowheads="1"/>
          </p:cNvSpPr>
          <p:nvPr/>
        </p:nvSpPr>
        <p:spPr bwMode="auto">
          <a:xfrm>
            <a:off x="85725" y="1300480"/>
            <a:ext cx="8982075" cy="1635125"/>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给定无向图</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G=(V</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。如果</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，且对任意</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有</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，则称</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完全子图</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完全子图</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团</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当且仅当</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不包含在</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更大的完全子图</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中。</a:t>
            </a:r>
          </a:p>
          <a:p>
            <a:pPr eaLnBrk="1" hangingPunct="1">
              <a:lnSpc>
                <a:spcPct val="100000"/>
              </a:lnSpc>
              <a:spcBef>
                <a:spcPct val="0"/>
              </a:spcBef>
              <a:buClrTx/>
              <a:buSzTx/>
              <a:buFontTx/>
              <a:buNone/>
              <a:defRPr/>
            </a:pP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最大团</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是指</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中所含</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顶点数最多的团</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6564" name="Text Box 5"/>
          <p:cNvSpPr txBox="1">
            <a:spLocks noChangeArrowheads="1"/>
          </p:cNvSpPr>
          <p:nvPr/>
        </p:nvSpPr>
        <p:spPr bwMode="auto">
          <a:xfrm>
            <a:off x="82550" y="3413125"/>
            <a:ext cx="8985250" cy="2073275"/>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如果</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且对任意</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有</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，则称</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空子图</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空子图</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独立集</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当且仅当</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不包含在</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的更大的空子图中。</a:t>
            </a:r>
          </a:p>
          <a:p>
            <a:pPr eaLnBrk="1" hangingPunct="1">
              <a:lnSpc>
                <a:spcPct val="100000"/>
              </a:lnSpc>
              <a:spcBef>
                <a:spcPct val="0"/>
              </a:spcBef>
              <a:buClrTx/>
              <a:buSzTx/>
              <a:buFontTx/>
              <a:buNone/>
              <a:defRPr/>
            </a:pP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最大独立集</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中所含</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顶点数最多的独立集</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对于任一无向图</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G=(V</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，其</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补图</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G=(V</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定义为：</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，且</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当且仅当</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6565" name="Text Box 6"/>
          <p:cNvSpPr txBox="1">
            <a:spLocks noChangeArrowheads="1"/>
          </p:cNvSpPr>
          <p:nvPr/>
        </p:nvSpPr>
        <p:spPr bwMode="auto">
          <a:xfrm>
            <a:off x="114300" y="5962650"/>
            <a:ext cx="8966200" cy="485775"/>
          </a:xfrm>
          <a:prstGeom prst="rect">
            <a:avLst/>
          </a:prstGeom>
        </p:spPr>
        <p:style>
          <a:lnRef idx="2">
            <a:schemeClr val="accent2"/>
          </a:lnRef>
          <a:fillRef idx="1">
            <a:schemeClr val="lt1"/>
          </a:fillRef>
          <a:effectRef idx="0">
            <a:schemeClr val="accent2"/>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的最大团当且仅当</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的最大独立集。</a:t>
            </a:r>
          </a:p>
        </p:txBody>
      </p:sp>
      <p:cxnSp>
        <p:nvCxnSpPr>
          <p:cNvPr id="17" name="直接连接符 16"/>
          <p:cNvCxnSpPr/>
          <p:nvPr/>
        </p:nvCxnSpPr>
        <p:spPr>
          <a:xfrm>
            <a:off x="4838700" y="4597400"/>
            <a:ext cx="228600" cy="1588"/>
          </a:xfrm>
          <a:prstGeom prst="line">
            <a:avLst/>
          </a:prstGeom>
          <a:ln>
            <a:solidFill>
              <a:schemeClr val="tx1">
                <a:lumMod val="50000"/>
              </a:schemeClr>
            </a:solidFill>
          </a:ln>
        </p:spPr>
        <p:style>
          <a:lnRef idx="3">
            <a:schemeClr val="accent6"/>
          </a:lnRef>
          <a:fillRef idx="0">
            <a:schemeClr val="accent6"/>
          </a:fillRef>
          <a:effectRef idx="2">
            <a:schemeClr val="accent6"/>
          </a:effectRef>
          <a:fontRef idx="minor">
            <a:schemeClr val="tx1"/>
          </a:fontRef>
        </p:style>
      </p:cxnSp>
      <p:cxnSp>
        <p:nvCxnSpPr>
          <p:cNvPr id="19" name="直接连接符 18"/>
          <p:cNvCxnSpPr/>
          <p:nvPr/>
        </p:nvCxnSpPr>
        <p:spPr>
          <a:xfrm>
            <a:off x="3886200" y="6057900"/>
            <a:ext cx="228600" cy="1588"/>
          </a:xfrm>
          <a:prstGeom prst="line">
            <a:avLst/>
          </a:prstGeom>
          <a:ln>
            <a:solidFill>
              <a:schemeClr val="tx1">
                <a:lumMod val="50000"/>
              </a:schemeClr>
            </a:solidFill>
          </a:ln>
        </p:spPr>
        <p:style>
          <a:lnRef idx="3">
            <a:schemeClr val="accent6"/>
          </a:lnRef>
          <a:fillRef idx="0">
            <a:schemeClr val="accent6"/>
          </a:fillRef>
          <a:effectRef idx="2">
            <a:schemeClr val="accent6"/>
          </a:effectRef>
          <a:fontRef idx="minor">
            <a:schemeClr val="tx1"/>
          </a:fontRef>
        </p:style>
      </p:cxnSp>
      <p:sp>
        <p:nvSpPr>
          <p:cNvPr id="2" name="椭圆形标注 1"/>
          <p:cNvSpPr/>
          <p:nvPr/>
        </p:nvSpPr>
        <p:spPr>
          <a:xfrm>
            <a:off x="6100445" y="2679065"/>
            <a:ext cx="2736215" cy="734060"/>
          </a:xfrm>
          <a:prstGeom prst="wedgeEllipseCallout">
            <a:avLst>
              <a:gd name="adj1" fmla="val -23381"/>
              <a:gd name="adj2" fmla="val -916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有些定义是团、极大团、最大团</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56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56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564">
                                            <p:txEl>
                                              <p:pRg st="3" end="3"/>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6565"/>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5" grpId="0" animBg="1"/>
      <p:bldP spid="2" grpId="0" animBg="1"/>
      <p:bldP spid="2"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最大团问题</a:t>
            </a:r>
          </a:p>
        </p:txBody>
      </p:sp>
      <p:grpSp>
        <p:nvGrpSpPr>
          <p:cNvPr id="70659" name="Group 4"/>
          <p:cNvGrpSpPr/>
          <p:nvPr/>
        </p:nvGrpSpPr>
        <p:grpSpPr bwMode="auto">
          <a:xfrm>
            <a:off x="1270000" y="1435100"/>
            <a:ext cx="3044825" cy="1708150"/>
            <a:chOff x="869" y="3106"/>
            <a:chExt cx="1692" cy="846"/>
          </a:xfrm>
        </p:grpSpPr>
        <p:sp>
          <p:nvSpPr>
            <p:cNvPr id="70684" name="Oval 5"/>
            <p:cNvSpPr>
              <a:spLocks noChangeArrowheads="1"/>
            </p:cNvSpPr>
            <p:nvPr/>
          </p:nvSpPr>
          <p:spPr bwMode="auto">
            <a:xfrm>
              <a:off x="886" y="3106"/>
              <a:ext cx="211" cy="193"/>
            </a:xfrm>
            <a:prstGeom prst="ellipse">
              <a:avLst/>
            </a:prstGeom>
            <a:solidFill>
              <a:srgbClr val="99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1</a:t>
              </a:r>
            </a:p>
          </p:txBody>
        </p:sp>
        <p:sp>
          <p:nvSpPr>
            <p:cNvPr id="70685" name="Oval 6"/>
            <p:cNvSpPr>
              <a:spLocks noChangeArrowheads="1"/>
            </p:cNvSpPr>
            <p:nvPr/>
          </p:nvSpPr>
          <p:spPr bwMode="auto">
            <a:xfrm>
              <a:off x="1699" y="3107"/>
              <a:ext cx="211" cy="193"/>
            </a:xfrm>
            <a:prstGeom prst="ellipse">
              <a:avLst/>
            </a:prstGeom>
            <a:solidFill>
              <a:srgbClr val="99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2</a:t>
              </a:r>
            </a:p>
          </p:txBody>
        </p:sp>
        <p:sp>
          <p:nvSpPr>
            <p:cNvPr id="70686" name="Oval 7"/>
            <p:cNvSpPr>
              <a:spLocks noChangeArrowheads="1"/>
            </p:cNvSpPr>
            <p:nvPr/>
          </p:nvSpPr>
          <p:spPr bwMode="auto">
            <a:xfrm>
              <a:off x="869" y="3759"/>
              <a:ext cx="211" cy="193"/>
            </a:xfrm>
            <a:prstGeom prst="ellipse">
              <a:avLst/>
            </a:prstGeom>
            <a:solidFill>
              <a:srgbClr val="FF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4</a:t>
              </a:r>
            </a:p>
          </p:txBody>
        </p:sp>
        <p:sp>
          <p:nvSpPr>
            <p:cNvPr id="70687" name="Oval 8"/>
            <p:cNvSpPr>
              <a:spLocks noChangeArrowheads="1"/>
            </p:cNvSpPr>
            <p:nvPr/>
          </p:nvSpPr>
          <p:spPr bwMode="auto">
            <a:xfrm>
              <a:off x="1699" y="3759"/>
              <a:ext cx="211" cy="193"/>
            </a:xfrm>
            <a:prstGeom prst="ellipse">
              <a:avLst/>
            </a:prstGeom>
            <a:solidFill>
              <a:srgbClr val="99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5</a:t>
              </a:r>
            </a:p>
          </p:txBody>
        </p:sp>
        <p:sp>
          <p:nvSpPr>
            <p:cNvPr id="70688" name="Oval 9"/>
            <p:cNvSpPr>
              <a:spLocks noChangeArrowheads="1"/>
            </p:cNvSpPr>
            <p:nvPr/>
          </p:nvSpPr>
          <p:spPr bwMode="auto">
            <a:xfrm>
              <a:off x="2350" y="3404"/>
              <a:ext cx="211" cy="193"/>
            </a:xfrm>
            <a:prstGeom prst="ellipse">
              <a:avLst/>
            </a:prstGeom>
            <a:solidFill>
              <a:srgbClr val="FF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3</a:t>
              </a:r>
            </a:p>
          </p:txBody>
        </p:sp>
        <p:cxnSp>
          <p:nvCxnSpPr>
            <p:cNvPr id="70689" name="AutoShape 10"/>
            <p:cNvCxnSpPr>
              <a:cxnSpLocks noChangeShapeType="1"/>
              <a:stCxn id="70684" idx="6"/>
              <a:endCxn id="70685" idx="2"/>
            </p:cNvCxnSpPr>
            <p:nvPr/>
          </p:nvCxnSpPr>
          <p:spPr bwMode="auto">
            <a:xfrm>
              <a:off x="1097" y="3202"/>
              <a:ext cx="602" cy="1"/>
            </a:xfrm>
            <a:prstGeom prst="straightConnector1">
              <a:avLst/>
            </a:prstGeom>
            <a:noFill/>
            <a:ln w="50800">
              <a:solidFill>
                <a:srgbClr val="FF6600"/>
              </a:solidFill>
              <a:round/>
            </a:ln>
            <a:extLst>
              <a:ext uri="{909E8E84-426E-40DD-AFC4-6F175D3DCCD1}">
                <a14:hiddenFill xmlns:a14="http://schemas.microsoft.com/office/drawing/2010/main">
                  <a:noFill/>
                </a14:hiddenFill>
              </a:ext>
            </a:extLst>
          </p:spPr>
        </p:cxnSp>
        <p:cxnSp>
          <p:nvCxnSpPr>
            <p:cNvPr id="70690" name="AutoShape 11"/>
            <p:cNvCxnSpPr>
              <a:cxnSpLocks noChangeShapeType="1"/>
              <a:stCxn id="70684" idx="4"/>
              <a:endCxn id="70686" idx="0"/>
            </p:cNvCxnSpPr>
            <p:nvPr/>
          </p:nvCxnSpPr>
          <p:spPr bwMode="auto">
            <a:xfrm rot="5400000">
              <a:off x="753" y="3520"/>
              <a:ext cx="460" cy="17"/>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0691" name="AutoShape 12"/>
            <p:cNvCxnSpPr>
              <a:cxnSpLocks noChangeShapeType="1"/>
              <a:stCxn id="70686" idx="6"/>
              <a:endCxn id="70687" idx="2"/>
            </p:cNvCxnSpPr>
            <p:nvPr/>
          </p:nvCxnSpPr>
          <p:spPr bwMode="auto">
            <a:xfrm>
              <a:off x="1080" y="3855"/>
              <a:ext cx="619" cy="1"/>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0692" name="AutoShape 13"/>
            <p:cNvCxnSpPr>
              <a:cxnSpLocks noChangeShapeType="1"/>
              <a:stCxn id="70687" idx="0"/>
              <a:endCxn id="70685" idx="4"/>
            </p:cNvCxnSpPr>
            <p:nvPr/>
          </p:nvCxnSpPr>
          <p:spPr bwMode="auto">
            <a:xfrm rot="5400000" flipH="1" flipV="1">
              <a:off x="1575" y="3529"/>
              <a:ext cx="459" cy="1"/>
            </a:xfrm>
            <a:prstGeom prst="straightConnector1">
              <a:avLst/>
            </a:prstGeom>
            <a:noFill/>
            <a:ln w="50800">
              <a:solidFill>
                <a:srgbClr val="FF6600"/>
              </a:solidFill>
              <a:round/>
            </a:ln>
            <a:extLst>
              <a:ext uri="{909E8E84-426E-40DD-AFC4-6F175D3DCCD1}">
                <a14:hiddenFill xmlns:a14="http://schemas.microsoft.com/office/drawing/2010/main">
                  <a:noFill/>
                </a14:hiddenFill>
              </a:ext>
            </a:extLst>
          </p:spPr>
        </p:cxnSp>
        <p:cxnSp>
          <p:nvCxnSpPr>
            <p:cNvPr id="70693" name="AutoShape 14"/>
            <p:cNvCxnSpPr>
              <a:cxnSpLocks noChangeShapeType="1"/>
              <a:stCxn id="70684" idx="5"/>
              <a:endCxn id="70687" idx="1"/>
            </p:cNvCxnSpPr>
            <p:nvPr/>
          </p:nvCxnSpPr>
          <p:spPr bwMode="auto">
            <a:xfrm rot="16200000" flipH="1">
              <a:off x="1140" y="3197"/>
              <a:ext cx="517" cy="664"/>
            </a:xfrm>
            <a:prstGeom prst="straightConnector1">
              <a:avLst/>
            </a:prstGeom>
            <a:noFill/>
            <a:ln w="50800">
              <a:solidFill>
                <a:srgbClr val="FF6600"/>
              </a:solidFill>
              <a:round/>
            </a:ln>
            <a:extLst>
              <a:ext uri="{909E8E84-426E-40DD-AFC4-6F175D3DCCD1}">
                <a14:hiddenFill xmlns:a14="http://schemas.microsoft.com/office/drawing/2010/main">
                  <a:noFill/>
                </a14:hiddenFill>
              </a:ext>
            </a:extLst>
          </p:spPr>
        </p:cxnSp>
        <p:cxnSp>
          <p:nvCxnSpPr>
            <p:cNvPr id="70694" name="AutoShape 15"/>
            <p:cNvCxnSpPr>
              <a:cxnSpLocks noChangeShapeType="1"/>
              <a:stCxn id="70688" idx="1"/>
              <a:endCxn id="70685" idx="6"/>
            </p:cNvCxnSpPr>
            <p:nvPr/>
          </p:nvCxnSpPr>
          <p:spPr bwMode="auto">
            <a:xfrm rot="16200000" flipV="1">
              <a:off x="2031" y="3082"/>
              <a:ext cx="229" cy="471"/>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0695" name="AutoShape 16"/>
            <p:cNvCxnSpPr>
              <a:cxnSpLocks noChangeShapeType="1"/>
              <a:stCxn id="70687" idx="6"/>
              <a:endCxn id="70688" idx="3"/>
            </p:cNvCxnSpPr>
            <p:nvPr/>
          </p:nvCxnSpPr>
          <p:spPr bwMode="auto">
            <a:xfrm flipV="1">
              <a:off x="1910" y="3569"/>
              <a:ext cx="471" cy="287"/>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grpSp>
      <p:grpSp>
        <p:nvGrpSpPr>
          <p:cNvPr id="70660" name="Group 17"/>
          <p:cNvGrpSpPr/>
          <p:nvPr/>
        </p:nvGrpSpPr>
        <p:grpSpPr bwMode="auto">
          <a:xfrm>
            <a:off x="5130800" y="1447800"/>
            <a:ext cx="2667000" cy="1657350"/>
            <a:chOff x="2362" y="3217"/>
            <a:chExt cx="1322" cy="681"/>
          </a:xfrm>
        </p:grpSpPr>
        <p:sp>
          <p:nvSpPr>
            <p:cNvPr id="70676" name="Oval 18"/>
            <p:cNvSpPr>
              <a:spLocks noChangeArrowheads="1"/>
            </p:cNvSpPr>
            <p:nvPr/>
          </p:nvSpPr>
          <p:spPr bwMode="auto">
            <a:xfrm>
              <a:off x="2375" y="3237"/>
              <a:ext cx="188" cy="160"/>
            </a:xfrm>
            <a:prstGeom prst="ellipse">
              <a:avLst/>
            </a:prstGeom>
            <a:solidFill>
              <a:srgbClr val="99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1</a:t>
              </a:r>
            </a:p>
          </p:txBody>
        </p:sp>
        <p:sp>
          <p:nvSpPr>
            <p:cNvPr id="70677" name="Oval 19"/>
            <p:cNvSpPr>
              <a:spLocks noChangeArrowheads="1"/>
            </p:cNvSpPr>
            <p:nvPr/>
          </p:nvSpPr>
          <p:spPr bwMode="auto">
            <a:xfrm>
              <a:off x="3119" y="3217"/>
              <a:ext cx="188" cy="160"/>
            </a:xfrm>
            <a:prstGeom prst="ellipse">
              <a:avLst/>
            </a:prstGeom>
            <a:solidFill>
              <a:srgbClr val="99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2</a:t>
              </a:r>
            </a:p>
          </p:txBody>
        </p:sp>
        <p:sp>
          <p:nvSpPr>
            <p:cNvPr id="70678" name="Oval 20"/>
            <p:cNvSpPr>
              <a:spLocks noChangeArrowheads="1"/>
            </p:cNvSpPr>
            <p:nvPr/>
          </p:nvSpPr>
          <p:spPr bwMode="auto">
            <a:xfrm>
              <a:off x="2362" y="3738"/>
              <a:ext cx="188" cy="160"/>
            </a:xfrm>
            <a:prstGeom prst="ellipse">
              <a:avLst/>
            </a:prstGeom>
            <a:solidFill>
              <a:srgbClr val="FF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4</a:t>
              </a:r>
            </a:p>
          </p:txBody>
        </p:sp>
        <p:sp>
          <p:nvSpPr>
            <p:cNvPr id="70679" name="Oval 21"/>
            <p:cNvSpPr>
              <a:spLocks noChangeArrowheads="1"/>
            </p:cNvSpPr>
            <p:nvPr/>
          </p:nvSpPr>
          <p:spPr bwMode="auto">
            <a:xfrm>
              <a:off x="3119" y="3716"/>
              <a:ext cx="188" cy="160"/>
            </a:xfrm>
            <a:prstGeom prst="ellipse">
              <a:avLst/>
            </a:prstGeom>
            <a:solidFill>
              <a:srgbClr val="99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5</a:t>
              </a:r>
            </a:p>
          </p:txBody>
        </p:sp>
        <p:sp>
          <p:nvSpPr>
            <p:cNvPr id="70680" name="Oval 22"/>
            <p:cNvSpPr>
              <a:spLocks noChangeArrowheads="1"/>
            </p:cNvSpPr>
            <p:nvPr/>
          </p:nvSpPr>
          <p:spPr bwMode="auto">
            <a:xfrm>
              <a:off x="3496" y="3466"/>
              <a:ext cx="188" cy="160"/>
            </a:xfrm>
            <a:prstGeom prst="ellipse">
              <a:avLst/>
            </a:prstGeom>
            <a:solidFill>
              <a:srgbClr val="FF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sz="1200" b="1">
                  <a:solidFill>
                    <a:srgbClr val="000066"/>
                  </a:solidFill>
                  <a:latin typeface="Arial" panose="020B0604020202020204" pitchFamily="34" charset="0"/>
                  <a:ea typeface="楷体_GB2312" pitchFamily="49" charset="-122"/>
                </a:rPr>
                <a:t>3</a:t>
              </a:r>
            </a:p>
          </p:txBody>
        </p:sp>
        <p:cxnSp>
          <p:nvCxnSpPr>
            <p:cNvPr id="70681" name="AutoShape 23"/>
            <p:cNvCxnSpPr>
              <a:cxnSpLocks noChangeShapeType="1"/>
              <a:stCxn id="70676" idx="6"/>
              <a:endCxn id="70680" idx="2"/>
            </p:cNvCxnSpPr>
            <p:nvPr/>
          </p:nvCxnSpPr>
          <p:spPr bwMode="auto">
            <a:xfrm>
              <a:off x="2563" y="3317"/>
              <a:ext cx="933" cy="229"/>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0682" name="AutoShape 24"/>
            <p:cNvCxnSpPr>
              <a:cxnSpLocks noChangeShapeType="1"/>
              <a:stCxn id="70678" idx="7"/>
              <a:endCxn id="70680" idx="2"/>
            </p:cNvCxnSpPr>
            <p:nvPr/>
          </p:nvCxnSpPr>
          <p:spPr bwMode="auto">
            <a:xfrm rot="5400000" flipH="1" flipV="1">
              <a:off x="2902" y="3167"/>
              <a:ext cx="215" cy="974"/>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0683" name="AutoShape 25"/>
            <p:cNvCxnSpPr>
              <a:cxnSpLocks noChangeShapeType="1"/>
              <a:stCxn id="70678" idx="7"/>
              <a:endCxn id="70677" idx="2"/>
            </p:cNvCxnSpPr>
            <p:nvPr/>
          </p:nvCxnSpPr>
          <p:spPr bwMode="auto">
            <a:xfrm rot="5400000" flipH="1" flipV="1">
              <a:off x="2589" y="3231"/>
              <a:ext cx="464" cy="597"/>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grpSp>
      <p:sp>
        <p:nvSpPr>
          <p:cNvPr id="70661" name="矩形 25"/>
          <p:cNvSpPr>
            <a:spLocks noChangeArrowheads="1"/>
          </p:cNvSpPr>
          <p:nvPr/>
        </p:nvSpPr>
        <p:spPr bwMode="auto">
          <a:xfrm>
            <a:off x="1947863" y="3089275"/>
            <a:ext cx="5032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G</a:t>
            </a:r>
            <a:endParaRPr lang="zh-CN" altLang="en-US" sz="3200" b="1">
              <a:solidFill>
                <a:srgbClr val="FF0000"/>
              </a:solidFill>
              <a:latin typeface="Arial" panose="020B0604020202020204" pitchFamily="34" charset="0"/>
              <a:ea typeface="华文楷体" panose="02010600040101010101" pitchFamily="2" charset="-122"/>
              <a:cs typeface="Times New Roman" panose="02020603050405020304" pitchFamily="18" charset="0"/>
            </a:endParaRPr>
          </a:p>
        </p:txBody>
      </p:sp>
      <p:sp>
        <p:nvSpPr>
          <p:cNvPr id="70662" name="矩形 26"/>
          <p:cNvSpPr>
            <a:spLocks noChangeArrowheads="1"/>
          </p:cNvSpPr>
          <p:nvPr/>
        </p:nvSpPr>
        <p:spPr bwMode="auto">
          <a:xfrm>
            <a:off x="5956300" y="3071813"/>
            <a:ext cx="722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en-US" altLang="zh-CN" sz="32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G</a:t>
            </a:r>
            <a:endParaRPr lang="zh-CN" altLang="en-US" sz="3200" b="1">
              <a:solidFill>
                <a:srgbClr val="FF0000"/>
              </a:solidFill>
              <a:latin typeface="Arial" panose="020B0604020202020204" pitchFamily="34" charset="0"/>
              <a:ea typeface="华文楷体" panose="02010600040101010101" pitchFamily="2" charset="-122"/>
              <a:cs typeface="Times New Roman" panose="02020603050405020304" pitchFamily="18" charset="0"/>
            </a:endParaRPr>
          </a:p>
        </p:txBody>
      </p:sp>
      <p:sp>
        <p:nvSpPr>
          <p:cNvPr id="28" name="Text Box 26"/>
          <p:cNvSpPr txBox="1">
            <a:spLocks noChangeArrowheads="1"/>
          </p:cNvSpPr>
          <p:nvPr/>
        </p:nvSpPr>
        <p:spPr bwMode="auto">
          <a:xfrm>
            <a:off x="296863" y="3681413"/>
            <a:ext cx="3856037" cy="52228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smtClean="0">
                <a:solidFill>
                  <a:srgbClr val="FF0000"/>
                </a:solidFill>
                <a:latin typeface="Times New Roman" panose="02020603050405020304" pitchFamily="18" charset="0"/>
                <a:ea typeface="楷体_GB2312" pitchFamily="49" charset="-122"/>
              </a:rPr>
              <a:t>（</a:t>
            </a:r>
            <a:r>
              <a:rPr lang="en-US" altLang="zh-CN" sz="2400" b="1" smtClean="0">
                <a:solidFill>
                  <a:srgbClr val="FF0000"/>
                </a:solidFill>
                <a:latin typeface="Times New Roman" panose="02020603050405020304" pitchFamily="18" charset="0"/>
                <a:ea typeface="楷体_GB2312" pitchFamily="49" charset="-122"/>
              </a:rPr>
              <a:t>1,2</a:t>
            </a:r>
            <a:r>
              <a:rPr lang="zh-CN" altLang="en-US" sz="2400" b="1" smtClean="0">
                <a:solidFill>
                  <a:srgbClr val="FF0000"/>
                </a:solidFill>
                <a:latin typeface="Times New Roman" panose="02020603050405020304" pitchFamily="18" charset="0"/>
                <a:ea typeface="楷体_GB2312" pitchFamily="49" charset="-122"/>
              </a:rPr>
              <a:t>）是</a:t>
            </a:r>
            <a:r>
              <a:rPr lang="en-US" altLang="zh-CN" sz="2400" b="1" smtClean="0">
                <a:solidFill>
                  <a:srgbClr val="FF0000"/>
                </a:solidFill>
                <a:latin typeface="Times New Roman" panose="02020603050405020304" pitchFamily="18" charset="0"/>
                <a:ea typeface="楷体_GB2312" pitchFamily="49" charset="-122"/>
              </a:rPr>
              <a:t>G</a:t>
            </a:r>
            <a:r>
              <a:rPr lang="zh-CN" altLang="en-US" sz="2400" b="1" smtClean="0">
                <a:solidFill>
                  <a:srgbClr val="FF0000"/>
                </a:solidFill>
                <a:latin typeface="Times New Roman" panose="02020603050405020304" pitchFamily="18" charset="0"/>
                <a:ea typeface="楷体_GB2312" pitchFamily="49" charset="-122"/>
              </a:rPr>
              <a:t>的完全子图吗？</a:t>
            </a:r>
          </a:p>
        </p:txBody>
      </p:sp>
      <p:sp>
        <p:nvSpPr>
          <p:cNvPr id="29" name="Text Box 26"/>
          <p:cNvSpPr txBox="1">
            <a:spLocks noChangeArrowheads="1"/>
          </p:cNvSpPr>
          <p:nvPr/>
        </p:nvSpPr>
        <p:spPr bwMode="auto">
          <a:xfrm>
            <a:off x="4551363" y="3681413"/>
            <a:ext cx="4211637" cy="48418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smtClean="0">
                <a:solidFill>
                  <a:srgbClr val="FF0000"/>
                </a:solidFill>
                <a:latin typeface="Times New Roman" panose="02020603050405020304" pitchFamily="18" charset="0"/>
                <a:ea typeface="楷体_GB2312" pitchFamily="49" charset="-122"/>
              </a:rPr>
              <a:t>（</a:t>
            </a:r>
            <a:r>
              <a:rPr lang="en-US" altLang="zh-CN" sz="2400" b="1" smtClean="0">
                <a:solidFill>
                  <a:srgbClr val="FF0000"/>
                </a:solidFill>
                <a:latin typeface="Times New Roman" panose="02020603050405020304" pitchFamily="18" charset="0"/>
                <a:ea typeface="楷体_GB2312" pitchFamily="49" charset="-122"/>
              </a:rPr>
              <a:t>1, 2, 5</a:t>
            </a:r>
            <a:r>
              <a:rPr lang="zh-CN" altLang="en-US" sz="2400" b="1" smtClean="0">
                <a:solidFill>
                  <a:srgbClr val="FF0000"/>
                </a:solidFill>
                <a:latin typeface="Times New Roman" panose="02020603050405020304" pitchFamily="18" charset="0"/>
                <a:ea typeface="楷体_GB2312" pitchFamily="49" charset="-122"/>
              </a:rPr>
              <a:t>）是</a:t>
            </a:r>
            <a:r>
              <a:rPr lang="en-US" altLang="zh-CN" sz="2400" b="1" smtClean="0">
                <a:solidFill>
                  <a:srgbClr val="FF0000"/>
                </a:solidFill>
                <a:latin typeface="Times New Roman" panose="02020603050405020304" pitchFamily="18" charset="0"/>
                <a:ea typeface="楷体_GB2312" pitchFamily="49" charset="-122"/>
              </a:rPr>
              <a:t>G</a:t>
            </a:r>
            <a:r>
              <a:rPr lang="zh-CN" altLang="en-US" sz="2400" b="1" smtClean="0">
                <a:solidFill>
                  <a:srgbClr val="FF0000"/>
                </a:solidFill>
                <a:latin typeface="Times New Roman" panose="02020603050405020304" pitchFamily="18" charset="0"/>
                <a:ea typeface="楷体_GB2312" pitchFamily="49" charset="-122"/>
              </a:rPr>
              <a:t>的完全子图吗？</a:t>
            </a:r>
          </a:p>
        </p:txBody>
      </p:sp>
      <p:sp>
        <p:nvSpPr>
          <p:cNvPr id="30" name="Text Box 26"/>
          <p:cNvSpPr txBox="1">
            <a:spLocks noChangeArrowheads="1"/>
          </p:cNvSpPr>
          <p:nvPr/>
        </p:nvSpPr>
        <p:spPr bwMode="auto">
          <a:xfrm>
            <a:off x="284163" y="4392613"/>
            <a:ext cx="3856037" cy="47148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smtClean="0">
                <a:solidFill>
                  <a:srgbClr val="FF0000"/>
                </a:solidFill>
                <a:latin typeface="Times New Roman" panose="02020603050405020304" pitchFamily="18" charset="0"/>
                <a:ea typeface="楷体_GB2312" pitchFamily="49" charset="-122"/>
              </a:rPr>
              <a:t>（</a:t>
            </a:r>
            <a:r>
              <a:rPr lang="en-US" altLang="zh-CN" sz="2400" b="1" smtClean="0">
                <a:solidFill>
                  <a:srgbClr val="FF0000"/>
                </a:solidFill>
                <a:latin typeface="Times New Roman" panose="02020603050405020304" pitchFamily="18" charset="0"/>
                <a:ea typeface="楷体_GB2312" pitchFamily="49" charset="-122"/>
              </a:rPr>
              <a:t>1,2</a:t>
            </a:r>
            <a:r>
              <a:rPr lang="zh-CN" altLang="en-US" sz="2400" b="1" smtClean="0">
                <a:solidFill>
                  <a:srgbClr val="FF0000"/>
                </a:solidFill>
                <a:latin typeface="Times New Roman" panose="02020603050405020304" pitchFamily="18" charset="0"/>
                <a:ea typeface="楷体_GB2312" pitchFamily="49" charset="-122"/>
              </a:rPr>
              <a:t>）是</a:t>
            </a:r>
            <a:r>
              <a:rPr lang="en-US" altLang="zh-CN" sz="2400" b="1" smtClean="0">
                <a:solidFill>
                  <a:srgbClr val="FF0000"/>
                </a:solidFill>
                <a:latin typeface="Times New Roman" panose="02020603050405020304" pitchFamily="18" charset="0"/>
                <a:ea typeface="楷体_GB2312" pitchFamily="49" charset="-122"/>
              </a:rPr>
              <a:t>G</a:t>
            </a:r>
            <a:r>
              <a:rPr lang="zh-CN" altLang="en-US" sz="2400" b="1" smtClean="0">
                <a:solidFill>
                  <a:srgbClr val="FF0000"/>
                </a:solidFill>
                <a:latin typeface="Times New Roman" panose="02020603050405020304" pitchFamily="18" charset="0"/>
                <a:ea typeface="楷体_GB2312" pitchFamily="49" charset="-122"/>
              </a:rPr>
              <a:t>的团吗？</a:t>
            </a:r>
          </a:p>
        </p:txBody>
      </p:sp>
      <p:sp>
        <p:nvSpPr>
          <p:cNvPr id="31" name="Text Box 26"/>
          <p:cNvSpPr txBox="1">
            <a:spLocks noChangeArrowheads="1"/>
          </p:cNvSpPr>
          <p:nvPr/>
        </p:nvSpPr>
        <p:spPr bwMode="auto">
          <a:xfrm>
            <a:off x="4564063" y="4367213"/>
            <a:ext cx="4211637" cy="48418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smtClean="0">
                <a:solidFill>
                  <a:srgbClr val="FF0000"/>
                </a:solidFill>
                <a:latin typeface="Times New Roman" panose="02020603050405020304" pitchFamily="18" charset="0"/>
                <a:ea typeface="楷体_GB2312" pitchFamily="49" charset="-122"/>
              </a:rPr>
              <a:t>（</a:t>
            </a:r>
            <a:r>
              <a:rPr lang="en-US" altLang="zh-CN" sz="2400" b="1" smtClean="0">
                <a:solidFill>
                  <a:srgbClr val="FF0000"/>
                </a:solidFill>
                <a:latin typeface="Times New Roman" panose="02020603050405020304" pitchFamily="18" charset="0"/>
                <a:ea typeface="楷体_GB2312" pitchFamily="49" charset="-122"/>
              </a:rPr>
              <a:t>1, 2, 5</a:t>
            </a:r>
            <a:r>
              <a:rPr lang="zh-CN" altLang="en-US" sz="2400" b="1" smtClean="0">
                <a:solidFill>
                  <a:srgbClr val="FF0000"/>
                </a:solidFill>
                <a:latin typeface="Times New Roman" panose="02020603050405020304" pitchFamily="18" charset="0"/>
                <a:ea typeface="楷体_GB2312" pitchFamily="49" charset="-122"/>
              </a:rPr>
              <a:t>）是</a:t>
            </a:r>
            <a:r>
              <a:rPr lang="en-US" altLang="zh-CN" sz="2400" b="1" smtClean="0">
                <a:solidFill>
                  <a:srgbClr val="FF0000"/>
                </a:solidFill>
                <a:latin typeface="Times New Roman" panose="02020603050405020304" pitchFamily="18" charset="0"/>
                <a:ea typeface="楷体_GB2312" pitchFamily="49" charset="-122"/>
              </a:rPr>
              <a:t>G</a:t>
            </a:r>
            <a:r>
              <a:rPr lang="zh-CN" altLang="en-US" sz="2400" b="1" smtClean="0">
                <a:solidFill>
                  <a:srgbClr val="FF0000"/>
                </a:solidFill>
                <a:latin typeface="Times New Roman" panose="02020603050405020304" pitchFamily="18" charset="0"/>
                <a:ea typeface="楷体_GB2312" pitchFamily="49" charset="-122"/>
              </a:rPr>
              <a:t>的团吗？</a:t>
            </a:r>
          </a:p>
        </p:txBody>
      </p:sp>
      <p:sp>
        <p:nvSpPr>
          <p:cNvPr id="32" name="Text Box 26"/>
          <p:cNvSpPr txBox="1">
            <a:spLocks noChangeArrowheads="1"/>
          </p:cNvSpPr>
          <p:nvPr/>
        </p:nvSpPr>
        <p:spPr bwMode="auto">
          <a:xfrm>
            <a:off x="296863" y="5014913"/>
            <a:ext cx="3856037" cy="52228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smtClean="0">
                <a:solidFill>
                  <a:srgbClr val="FF0000"/>
                </a:solidFill>
                <a:latin typeface="Times New Roman" panose="02020603050405020304" pitchFamily="18" charset="0"/>
                <a:ea typeface="楷体_GB2312" pitchFamily="49" charset="-122"/>
              </a:rPr>
              <a:t>（</a:t>
            </a:r>
            <a:r>
              <a:rPr lang="en-US" altLang="zh-CN" sz="2400" b="1" smtClean="0">
                <a:solidFill>
                  <a:srgbClr val="FF0000"/>
                </a:solidFill>
                <a:latin typeface="Times New Roman" panose="02020603050405020304" pitchFamily="18" charset="0"/>
                <a:ea typeface="楷体_GB2312" pitchFamily="49" charset="-122"/>
              </a:rPr>
              <a:t>1,2</a:t>
            </a:r>
            <a:r>
              <a:rPr lang="zh-CN" altLang="en-US" sz="2400" b="1" smtClean="0">
                <a:solidFill>
                  <a:srgbClr val="FF0000"/>
                </a:solidFill>
                <a:latin typeface="Times New Roman" panose="02020603050405020304" pitchFamily="18" charset="0"/>
                <a:ea typeface="楷体_GB2312" pitchFamily="49" charset="-122"/>
              </a:rPr>
              <a:t>）是</a:t>
            </a:r>
            <a:r>
              <a:rPr lang="en-US" altLang="zh-CN" sz="2400" b="1" smtClean="0">
                <a:solidFill>
                  <a:srgbClr val="FF0000"/>
                </a:solidFill>
                <a:latin typeface="Times New Roman" panose="02020603050405020304" pitchFamily="18" charset="0"/>
                <a:ea typeface="楷体_GB2312" pitchFamily="49" charset="-122"/>
              </a:rPr>
              <a:t>G</a:t>
            </a:r>
            <a:r>
              <a:rPr lang="zh-CN" altLang="en-US" sz="2400" b="1" smtClean="0">
                <a:solidFill>
                  <a:srgbClr val="FF0000"/>
                </a:solidFill>
                <a:latin typeface="Times New Roman" panose="02020603050405020304" pitchFamily="18" charset="0"/>
                <a:ea typeface="楷体_GB2312" pitchFamily="49" charset="-122"/>
              </a:rPr>
              <a:t>的空子图吗？</a:t>
            </a:r>
          </a:p>
        </p:txBody>
      </p:sp>
      <p:sp>
        <p:nvSpPr>
          <p:cNvPr id="33" name="Text Box 26"/>
          <p:cNvSpPr txBox="1">
            <a:spLocks noChangeArrowheads="1"/>
          </p:cNvSpPr>
          <p:nvPr/>
        </p:nvSpPr>
        <p:spPr bwMode="auto">
          <a:xfrm>
            <a:off x="4551363" y="5014913"/>
            <a:ext cx="4211637" cy="48418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smtClean="0">
                <a:solidFill>
                  <a:srgbClr val="FF0000"/>
                </a:solidFill>
                <a:latin typeface="Times New Roman" panose="02020603050405020304" pitchFamily="18" charset="0"/>
                <a:ea typeface="楷体_GB2312" pitchFamily="49" charset="-122"/>
              </a:rPr>
              <a:t>（</a:t>
            </a:r>
            <a:r>
              <a:rPr lang="en-US" altLang="zh-CN" sz="2400" b="1" smtClean="0">
                <a:solidFill>
                  <a:srgbClr val="FF0000"/>
                </a:solidFill>
                <a:latin typeface="Times New Roman" panose="02020603050405020304" pitchFamily="18" charset="0"/>
                <a:ea typeface="楷体_GB2312" pitchFamily="49" charset="-122"/>
              </a:rPr>
              <a:t>1, 2, 5</a:t>
            </a:r>
            <a:r>
              <a:rPr lang="zh-CN" altLang="en-US" sz="2400" b="1" smtClean="0">
                <a:solidFill>
                  <a:srgbClr val="FF0000"/>
                </a:solidFill>
                <a:latin typeface="Times New Roman" panose="02020603050405020304" pitchFamily="18" charset="0"/>
                <a:ea typeface="楷体_GB2312" pitchFamily="49" charset="-122"/>
              </a:rPr>
              <a:t>）是</a:t>
            </a:r>
            <a:r>
              <a:rPr lang="en-US" altLang="zh-CN" sz="2400" b="1" smtClean="0">
                <a:solidFill>
                  <a:srgbClr val="FF0000"/>
                </a:solidFill>
                <a:latin typeface="Times New Roman" panose="02020603050405020304" pitchFamily="18" charset="0"/>
                <a:ea typeface="楷体_GB2312" pitchFamily="49" charset="-122"/>
              </a:rPr>
              <a:t>G</a:t>
            </a:r>
            <a:r>
              <a:rPr lang="zh-CN" altLang="en-US" sz="2400" b="1" smtClean="0">
                <a:solidFill>
                  <a:srgbClr val="FF0000"/>
                </a:solidFill>
                <a:latin typeface="Times New Roman" panose="02020603050405020304" pitchFamily="18" charset="0"/>
                <a:ea typeface="楷体_GB2312" pitchFamily="49" charset="-122"/>
              </a:rPr>
              <a:t>的空子图吗？</a:t>
            </a:r>
          </a:p>
        </p:txBody>
      </p:sp>
      <p:sp>
        <p:nvSpPr>
          <p:cNvPr id="34" name="Text Box 26"/>
          <p:cNvSpPr txBox="1">
            <a:spLocks noChangeArrowheads="1"/>
          </p:cNvSpPr>
          <p:nvPr/>
        </p:nvSpPr>
        <p:spPr bwMode="auto">
          <a:xfrm>
            <a:off x="284163" y="5726113"/>
            <a:ext cx="3856037" cy="47148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smtClean="0">
                <a:solidFill>
                  <a:srgbClr val="FF0000"/>
                </a:solidFill>
                <a:latin typeface="Times New Roman" panose="02020603050405020304" pitchFamily="18" charset="0"/>
                <a:ea typeface="楷体_GB2312" pitchFamily="49" charset="-122"/>
              </a:rPr>
              <a:t>（</a:t>
            </a:r>
            <a:r>
              <a:rPr lang="en-US" altLang="zh-CN" sz="2400" b="1" smtClean="0">
                <a:solidFill>
                  <a:srgbClr val="FF0000"/>
                </a:solidFill>
                <a:latin typeface="Times New Roman" panose="02020603050405020304" pitchFamily="18" charset="0"/>
                <a:ea typeface="楷体_GB2312" pitchFamily="49" charset="-122"/>
              </a:rPr>
              <a:t>1,2</a:t>
            </a:r>
            <a:r>
              <a:rPr lang="zh-CN" altLang="en-US" sz="2400" b="1" smtClean="0">
                <a:solidFill>
                  <a:srgbClr val="FF0000"/>
                </a:solidFill>
                <a:latin typeface="Times New Roman" panose="02020603050405020304" pitchFamily="18" charset="0"/>
                <a:ea typeface="楷体_GB2312" pitchFamily="49" charset="-122"/>
              </a:rPr>
              <a:t>）是</a:t>
            </a:r>
            <a:r>
              <a:rPr lang="en-US" altLang="zh-CN" sz="2400" b="1" smtClean="0">
                <a:solidFill>
                  <a:srgbClr val="FF0000"/>
                </a:solidFill>
                <a:latin typeface="Times New Roman" panose="02020603050405020304" pitchFamily="18" charset="0"/>
                <a:ea typeface="楷体_GB2312" pitchFamily="49" charset="-122"/>
              </a:rPr>
              <a:t>G</a:t>
            </a:r>
            <a:r>
              <a:rPr lang="zh-CN" altLang="en-US" sz="2400" b="1" smtClean="0">
                <a:solidFill>
                  <a:srgbClr val="FF0000"/>
                </a:solidFill>
                <a:latin typeface="Times New Roman" panose="02020603050405020304" pitchFamily="18" charset="0"/>
                <a:ea typeface="楷体_GB2312" pitchFamily="49" charset="-122"/>
              </a:rPr>
              <a:t>的独立集吗？</a:t>
            </a:r>
          </a:p>
        </p:txBody>
      </p:sp>
      <p:sp>
        <p:nvSpPr>
          <p:cNvPr id="35" name="Text Box 26"/>
          <p:cNvSpPr txBox="1">
            <a:spLocks noChangeArrowheads="1"/>
          </p:cNvSpPr>
          <p:nvPr/>
        </p:nvSpPr>
        <p:spPr bwMode="auto">
          <a:xfrm>
            <a:off x="4564063" y="5700713"/>
            <a:ext cx="4211637" cy="484187"/>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smtClean="0">
                <a:solidFill>
                  <a:srgbClr val="FF0000"/>
                </a:solidFill>
                <a:latin typeface="Times New Roman" panose="02020603050405020304" pitchFamily="18" charset="0"/>
                <a:ea typeface="楷体_GB2312" pitchFamily="49" charset="-122"/>
              </a:rPr>
              <a:t>（</a:t>
            </a:r>
            <a:r>
              <a:rPr lang="en-US" altLang="zh-CN" sz="2400" b="1" smtClean="0">
                <a:solidFill>
                  <a:srgbClr val="FF0000"/>
                </a:solidFill>
                <a:latin typeface="Times New Roman" panose="02020603050405020304" pitchFamily="18" charset="0"/>
                <a:ea typeface="楷体_GB2312" pitchFamily="49" charset="-122"/>
              </a:rPr>
              <a:t>1, 2, 5</a:t>
            </a:r>
            <a:r>
              <a:rPr lang="zh-CN" altLang="en-US" sz="2400" b="1" smtClean="0">
                <a:solidFill>
                  <a:srgbClr val="FF0000"/>
                </a:solidFill>
                <a:latin typeface="Times New Roman" panose="02020603050405020304" pitchFamily="18" charset="0"/>
                <a:ea typeface="楷体_GB2312" pitchFamily="49" charset="-122"/>
              </a:rPr>
              <a:t>）是</a:t>
            </a:r>
            <a:r>
              <a:rPr lang="en-US" altLang="zh-CN" sz="2400" b="1" smtClean="0">
                <a:solidFill>
                  <a:srgbClr val="FF0000"/>
                </a:solidFill>
                <a:latin typeface="Times New Roman" panose="02020603050405020304" pitchFamily="18" charset="0"/>
                <a:ea typeface="楷体_GB2312" pitchFamily="49" charset="-122"/>
              </a:rPr>
              <a:t>G</a:t>
            </a:r>
            <a:r>
              <a:rPr lang="zh-CN" altLang="en-US" sz="2400" b="1" smtClean="0">
                <a:solidFill>
                  <a:srgbClr val="FF0000"/>
                </a:solidFill>
                <a:latin typeface="Times New Roman" panose="02020603050405020304" pitchFamily="18" charset="0"/>
                <a:ea typeface="楷体_GB2312" pitchFamily="49" charset="-122"/>
              </a:rPr>
              <a:t>的独立集吗？</a:t>
            </a:r>
          </a:p>
        </p:txBody>
      </p:sp>
      <p:cxnSp>
        <p:nvCxnSpPr>
          <p:cNvPr id="36" name="直接连接符 35"/>
          <p:cNvCxnSpPr/>
          <p:nvPr/>
        </p:nvCxnSpPr>
        <p:spPr>
          <a:xfrm>
            <a:off x="1714500" y="5105400"/>
            <a:ext cx="228600" cy="1588"/>
          </a:xfrm>
          <a:prstGeom prst="line">
            <a:avLst/>
          </a:prstGeom>
        </p:spPr>
        <p:style>
          <a:lnRef idx="2">
            <a:schemeClr val="dk1"/>
          </a:lnRef>
          <a:fillRef idx="1">
            <a:schemeClr val="lt1"/>
          </a:fillRef>
          <a:effectRef idx="0">
            <a:schemeClr val="dk1"/>
          </a:effectRef>
          <a:fontRef idx="minor">
            <a:schemeClr val="dk1"/>
          </a:fontRef>
        </p:style>
      </p:cxnSp>
      <p:cxnSp>
        <p:nvCxnSpPr>
          <p:cNvPr id="37" name="直接连接符 36"/>
          <p:cNvCxnSpPr/>
          <p:nvPr/>
        </p:nvCxnSpPr>
        <p:spPr>
          <a:xfrm>
            <a:off x="1714500" y="5816600"/>
            <a:ext cx="228600" cy="1588"/>
          </a:xfrm>
          <a:prstGeom prst="line">
            <a:avLst/>
          </a:prstGeom>
        </p:spPr>
        <p:style>
          <a:lnRef idx="2">
            <a:schemeClr val="dk1"/>
          </a:lnRef>
          <a:fillRef idx="1">
            <a:schemeClr val="lt1"/>
          </a:fillRef>
          <a:effectRef idx="0">
            <a:schemeClr val="dk1"/>
          </a:effectRef>
          <a:fontRef idx="minor">
            <a:schemeClr val="dk1"/>
          </a:fontRef>
        </p:style>
      </p:cxnSp>
      <p:cxnSp>
        <p:nvCxnSpPr>
          <p:cNvPr id="38" name="直接连接符 37"/>
          <p:cNvCxnSpPr/>
          <p:nvPr/>
        </p:nvCxnSpPr>
        <p:spPr>
          <a:xfrm>
            <a:off x="6350000" y="5092700"/>
            <a:ext cx="228600" cy="1588"/>
          </a:xfrm>
          <a:prstGeom prst="line">
            <a:avLst/>
          </a:prstGeom>
        </p:spPr>
        <p:style>
          <a:lnRef idx="2">
            <a:schemeClr val="dk1"/>
          </a:lnRef>
          <a:fillRef idx="1">
            <a:schemeClr val="lt1"/>
          </a:fillRef>
          <a:effectRef idx="0">
            <a:schemeClr val="dk1"/>
          </a:effectRef>
          <a:fontRef idx="minor">
            <a:schemeClr val="dk1"/>
          </a:fontRef>
        </p:style>
      </p:cxnSp>
      <p:cxnSp>
        <p:nvCxnSpPr>
          <p:cNvPr id="39" name="直接连接符 38"/>
          <p:cNvCxnSpPr/>
          <p:nvPr/>
        </p:nvCxnSpPr>
        <p:spPr>
          <a:xfrm>
            <a:off x="6362700" y="5778500"/>
            <a:ext cx="228600" cy="1588"/>
          </a:xfrm>
          <a:prstGeom prst="line">
            <a:avLst/>
          </a:prstGeom>
        </p:spPr>
        <p:style>
          <a:lnRef idx="2">
            <a:schemeClr val="dk1"/>
          </a:lnRef>
          <a:fillRef idx="1">
            <a:schemeClr val="lt1"/>
          </a:fillRef>
          <a:effectRef idx="0">
            <a:schemeClr val="dk1"/>
          </a:effectRef>
          <a:fontRef idx="minor">
            <a:schemeClr val="dk1"/>
          </a:fontRef>
        </p:style>
      </p:cxnSp>
      <p:sp>
        <p:nvSpPr>
          <p:cNvPr id="67589" name="Text Box 26"/>
          <p:cNvSpPr txBox="1">
            <a:spLocks noChangeArrowheads="1"/>
          </p:cNvSpPr>
          <p:nvPr/>
        </p:nvSpPr>
        <p:spPr bwMode="auto">
          <a:xfrm>
            <a:off x="258763" y="5638800"/>
            <a:ext cx="8556625" cy="914400"/>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lang="zh-CN" altLang="en-US" sz="2400" b="1" dirty="0">
                <a:solidFill>
                  <a:schemeClr val="tx2">
                    <a:lumMod val="50000"/>
                  </a:schemeClr>
                </a:solidFill>
                <a:latin typeface="Times New Roman" panose="02020603050405020304" pitchFamily="18" charset="0"/>
                <a:ea typeface="楷体_GB2312" pitchFamily="49" charset="-122"/>
              </a:rPr>
              <a:t>无向图</a:t>
            </a:r>
            <a:r>
              <a:rPr lang="en-US" altLang="zh-CN" sz="2400" b="1" dirty="0">
                <a:solidFill>
                  <a:schemeClr val="tx2">
                    <a:lumMod val="50000"/>
                  </a:schemeClr>
                </a:solidFill>
                <a:latin typeface="Times New Roman" panose="02020603050405020304" pitchFamily="18" charset="0"/>
                <a:ea typeface="楷体_GB2312" pitchFamily="49" charset="-122"/>
              </a:rPr>
              <a:t>G</a:t>
            </a:r>
            <a:r>
              <a:rPr lang="zh-CN" altLang="en-US" sz="2400" b="1" dirty="0">
                <a:solidFill>
                  <a:schemeClr val="tx2">
                    <a:lumMod val="50000"/>
                  </a:schemeClr>
                </a:solidFill>
                <a:latin typeface="Times New Roman" panose="02020603050405020304" pitchFamily="18" charset="0"/>
                <a:ea typeface="楷体_GB2312" pitchFamily="49" charset="-122"/>
              </a:rPr>
              <a:t>的最大团和最大独立集问题可以看作是图</a:t>
            </a:r>
            <a:r>
              <a:rPr lang="en-US" altLang="zh-CN" sz="2400" b="1" dirty="0">
                <a:solidFill>
                  <a:schemeClr val="tx2">
                    <a:lumMod val="50000"/>
                  </a:schemeClr>
                </a:solidFill>
                <a:latin typeface="Times New Roman" panose="02020603050405020304" pitchFamily="18" charset="0"/>
                <a:ea typeface="楷体_GB2312" pitchFamily="49" charset="-122"/>
              </a:rPr>
              <a:t>G</a:t>
            </a:r>
            <a:r>
              <a:rPr lang="zh-CN" altLang="en-US" sz="2400" b="1" dirty="0">
                <a:solidFill>
                  <a:schemeClr val="tx2">
                    <a:lumMod val="50000"/>
                  </a:schemeClr>
                </a:solidFill>
                <a:latin typeface="Times New Roman" panose="02020603050405020304" pitchFamily="18" charset="0"/>
                <a:ea typeface="楷体_GB2312" pitchFamily="49" charset="-122"/>
              </a:rPr>
              <a:t>的顶点集</a:t>
            </a:r>
            <a:r>
              <a:rPr lang="en-US" altLang="zh-CN" sz="2400" b="1" dirty="0">
                <a:solidFill>
                  <a:schemeClr val="tx2">
                    <a:lumMod val="50000"/>
                  </a:schemeClr>
                </a:solidFill>
                <a:latin typeface="Times New Roman" panose="02020603050405020304" pitchFamily="18" charset="0"/>
                <a:ea typeface="楷体_GB2312" pitchFamily="49" charset="-122"/>
              </a:rPr>
              <a:t>V</a:t>
            </a:r>
            <a:r>
              <a:rPr lang="zh-CN" altLang="en-US" sz="2400" b="1" dirty="0">
                <a:solidFill>
                  <a:schemeClr val="tx2">
                    <a:lumMod val="50000"/>
                  </a:schemeClr>
                </a:solidFill>
                <a:latin typeface="Times New Roman" panose="02020603050405020304" pitchFamily="18" charset="0"/>
                <a:ea typeface="楷体_GB2312" pitchFamily="49" charset="-122"/>
              </a:rPr>
              <a:t>的</a:t>
            </a:r>
            <a:r>
              <a:rPr lang="zh-CN" altLang="en-US" sz="2400" b="1" dirty="0">
                <a:solidFill>
                  <a:srgbClr val="FF0000"/>
                </a:solidFill>
                <a:latin typeface="Times New Roman" panose="02020603050405020304" pitchFamily="18" charset="0"/>
                <a:ea typeface="楷体_GB2312" pitchFamily="49" charset="-122"/>
              </a:rPr>
              <a:t>子集选取</a:t>
            </a:r>
            <a:r>
              <a:rPr lang="zh-CN" altLang="en-US" sz="2400" b="1" dirty="0">
                <a:solidFill>
                  <a:schemeClr val="tx2">
                    <a:lumMod val="50000"/>
                  </a:schemeClr>
                </a:solidFill>
                <a:latin typeface="Times New Roman" panose="02020603050405020304" pitchFamily="18" charset="0"/>
                <a:ea typeface="楷体_GB2312" pitchFamily="49" charset="-122"/>
              </a:rPr>
              <a:t>问题</a:t>
            </a:r>
            <a:r>
              <a:rPr lang="zh-CN" altLang="en-US" sz="2400" b="1" dirty="0" smtClean="0">
                <a:solidFill>
                  <a:schemeClr val="tx2">
                    <a:lumMod val="50000"/>
                  </a:schemeClr>
                </a:solidFill>
                <a:latin typeface="Times New Roman" panose="02020603050405020304" pitchFamily="18" charset="0"/>
                <a:ea typeface="楷体_GB2312" pitchFamily="49" charset="-122"/>
              </a:rPr>
              <a:t>。</a:t>
            </a:r>
            <a:r>
              <a:rPr lang="zh-CN" altLang="en-US" sz="2400" b="1" dirty="0" smtClean="0">
                <a:solidFill>
                  <a:srgbClr val="FF0000"/>
                </a:solidFill>
                <a:latin typeface="Times New Roman" panose="02020603050405020304" pitchFamily="18" charset="0"/>
                <a:ea typeface="楷体_GB2312" pitchFamily="49" charset="-122"/>
              </a:rPr>
              <a:t>最大团就是包含顶点最多的完全子图。</a:t>
            </a:r>
            <a:endParaRPr lang="zh-CN" altLang="en-US" sz="2400" b="1" dirty="0">
              <a:solidFill>
                <a:srgbClr val="FF0000"/>
              </a:solidFill>
              <a:latin typeface="Times New Roman" panose="02020603050405020304" pitchFamily="18" charset="0"/>
              <a:ea typeface="楷体_GB2312"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7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6758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最大团问题</a:t>
            </a:r>
          </a:p>
        </p:txBody>
      </p:sp>
      <p:sp>
        <p:nvSpPr>
          <p:cNvPr id="3" name="Text Box 4"/>
          <p:cNvSpPr txBox="1">
            <a:spLocks noChangeArrowheads="1"/>
          </p:cNvSpPr>
          <p:nvPr/>
        </p:nvSpPr>
        <p:spPr bwMode="auto">
          <a:xfrm>
            <a:off x="246063" y="1150938"/>
            <a:ext cx="8605837" cy="4360862"/>
          </a:xfrm>
          <a:prstGeom prst="rect">
            <a:avLst/>
          </a:prstGeom>
        </p:spPr>
        <p:style>
          <a:lnRef idx="2">
            <a:schemeClr val="dk1"/>
          </a:lnRef>
          <a:fillRef idx="1">
            <a:schemeClr val="lt1"/>
          </a:fillRef>
          <a:effectRef idx="0">
            <a:schemeClr val="dk1"/>
          </a:effectRef>
          <a:fontRef idx="minor">
            <a:schemeClr val="dk1"/>
          </a:fontRef>
        </p:style>
        <p:txBody>
          <a:bodyPr/>
          <a:lstStyle/>
          <a:p>
            <a:pPr>
              <a:lnSpc>
                <a:spcPct val="125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）每个顶点要么出现要么不出现，设第</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个顶点是否出现表示为</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，则问题</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解向量</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 </a:t>
            </a:r>
            <a:r>
              <a:rPr lang="en-US" altLang="zh-CN" sz="3200" b="1" i="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lnSpc>
                <a:spcPct val="125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显约束：</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0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或者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endPar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5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隐约束</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lnSpc>
                <a:spcPct val="125000"/>
              </a:lnSpc>
              <a:buClr>
                <a:schemeClr val="accent2"/>
              </a:buClr>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所有</a:t>
            </a:r>
            <a:r>
              <a:rPr lang="en-US" altLang="zh-CN" sz="32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3200" b="1" i="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b="1" baseline="-25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的顶点都相互连接；</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5000"/>
              </a:lnSpc>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界函数</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buClr>
                <a:schemeClr val="accent2"/>
              </a:buClr>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p:nvPr/>
        </p:nvSpPr>
        <p:spPr>
          <a:xfrm>
            <a:off x="249238" y="5653088"/>
            <a:ext cx="8574087" cy="1077912"/>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zh-CN" altLang="en-US"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有</a:t>
            </a:r>
            <a:r>
              <a:rPr lang="zh-CN" altLang="en-US" sz="32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足够多的可选择顶点</a:t>
            </a:r>
            <a:r>
              <a:rPr lang="zh-CN" altLang="en-US"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使得算法有可能在</a:t>
            </a:r>
            <a:r>
              <a:rPr lang="zh-CN" altLang="en-US" sz="32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右子树</a:t>
            </a:r>
            <a:r>
              <a:rPr lang="zh-CN" altLang="en-US" sz="32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中找到更大的团。</a:t>
            </a:r>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最大团问题</a:t>
            </a:r>
          </a:p>
        </p:txBody>
      </p:sp>
      <p:sp>
        <p:nvSpPr>
          <p:cNvPr id="67587" name="Text Box 5"/>
          <p:cNvSpPr txBox="1">
            <a:spLocks noChangeArrowheads="1"/>
          </p:cNvSpPr>
          <p:nvPr/>
        </p:nvSpPr>
        <p:spPr bwMode="auto">
          <a:xfrm>
            <a:off x="0" y="1068388"/>
            <a:ext cx="5740400" cy="5789612"/>
          </a:xfrm>
          <a:prstGeom prst="rect">
            <a:avLst/>
          </a:prstGeom>
        </p:spPr>
        <p:style>
          <a:lnRef idx="2">
            <a:schemeClr val="dk1"/>
          </a:lnRef>
          <a:fillRef idx="1">
            <a:schemeClr val="lt1"/>
          </a:fillRef>
          <a:effectRef idx="0">
            <a:schemeClr val="dk1"/>
          </a:effectRef>
          <a:fontRef idx="minor">
            <a:schemeClr val="dk1"/>
          </a:fontRef>
        </p:style>
        <p:txBody>
          <a:bodyPr/>
          <a:lstStyle/>
          <a:p>
            <a:pPr>
              <a:defRPr/>
            </a:pP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cn</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0; </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当前结点数</a:t>
            </a:r>
            <a:endPar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bestx</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最大团的选择方案</a:t>
            </a:r>
            <a:endPar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Clique::Backtrack(</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计算最大团</a:t>
            </a:r>
          </a:p>
          <a:p>
            <a:pPr>
              <a:defRPr/>
            </a:pPr>
            <a:r>
              <a:rPr kumimoji="1" lang="zh-CN" altLang="en-US" sz="2000" b="1" dirty="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if (</a:t>
            </a:r>
            <a:r>
              <a:rPr kumimoji="1" lang="en-US" altLang="zh-CN" sz="2000" b="1" dirty="0" err="1">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 &gt; n) {// </a:t>
            </a:r>
            <a:r>
              <a:rPr kumimoji="1" lang="zh-CN" altLang="en-US" sz="2000" b="1" dirty="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到达叶结点</a:t>
            </a:r>
          </a:p>
          <a:p>
            <a:pPr>
              <a:defRPr/>
            </a:pPr>
            <a:r>
              <a:rPr kumimoji="1" lang="zh-CN" altLang="en-US"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for (</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j = 1; j </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n; j++) </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bestx</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[j] = x[j];</a:t>
            </a:r>
          </a:p>
          <a:p>
            <a:pPr>
              <a:defRPr/>
            </a:pP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bestn</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cn</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return; }</a:t>
            </a:r>
          </a:p>
          <a:p>
            <a:pPr>
              <a:defRPr/>
            </a:pP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检查顶点 </a:t>
            </a:r>
            <a:r>
              <a:rPr kumimoji="1"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与当前团的连接</a:t>
            </a:r>
            <a:endPar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 (check(</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进入左子树，只</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check</a:t>
            </a: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不</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bound</a:t>
            </a:r>
            <a:endPar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r>
              <a:rPr kumimoji="1" lang="zh-CN" altLang="en-US"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1;  </a:t>
            </a:r>
          </a:p>
          <a:p>
            <a:pPr>
              <a:defRPr/>
            </a:pP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p>
          <a:p>
            <a:pPr>
              <a:defRPr/>
            </a:pP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Backtrack(i+1);</a:t>
            </a:r>
          </a:p>
          <a:p>
            <a:pPr>
              <a:defRPr/>
            </a:pPr>
            <a:r>
              <a:rPr kumimoji="1"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a:t>
            </a:r>
            <a:r>
              <a:rPr kumimoji="1"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0; </a:t>
            </a:r>
          </a:p>
          <a:p>
            <a:pPr>
              <a:defRPr/>
            </a:pPr>
            <a:r>
              <a:rPr kumimoji="1"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p>
          <a:p>
            <a:pPr>
              <a:defRPr/>
            </a:pP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 (</a:t>
            </a:r>
            <a:r>
              <a:rPr kumimoji="1"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n - </a:t>
            </a:r>
            <a:r>
              <a:rPr kumimoji="1"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&gt; </a:t>
            </a:r>
            <a:r>
              <a:rPr kumimoji="1"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bestn</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进入右子树</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先判断界值</a:t>
            </a:r>
          </a:p>
          <a:p>
            <a:pPr>
              <a:defRPr/>
            </a:pPr>
            <a:r>
              <a:rPr kumimoji="1" lang="zh-CN" altLang="en-US"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0;</a:t>
            </a:r>
          </a:p>
          <a:p>
            <a:pPr>
              <a:defRPr/>
            </a:pP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Backtrack(i+1);}</a:t>
            </a:r>
          </a:p>
          <a:p>
            <a:pPr>
              <a:defRPr/>
            </a:pP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Text Box 5"/>
          <p:cNvSpPr txBox="1">
            <a:spLocks noChangeArrowheads="1"/>
          </p:cNvSpPr>
          <p:nvPr/>
        </p:nvSpPr>
        <p:spPr bwMode="auto">
          <a:xfrm>
            <a:off x="5303838" y="1093788"/>
            <a:ext cx="3840162" cy="5570537"/>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r=sum(w); </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剩余材料的重量；</a:t>
            </a:r>
            <a:endPar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backtrack (</a:t>
            </a:r>
            <a:r>
              <a:rPr kumimoji="1" lang="en-US" altLang="zh-CN"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计算最大装载</a:t>
            </a:r>
            <a:endPar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搜索第</a:t>
            </a:r>
            <a:r>
              <a:rPr kumimoji="1" lang="en-US" altLang="zh-CN"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层结点</a:t>
            </a:r>
          </a:p>
          <a:p>
            <a:pPr>
              <a:defRPr/>
            </a:pP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if (</a:t>
            </a:r>
            <a:r>
              <a:rPr kumimoji="1" lang="en-US" altLang="zh-CN"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&gt; n)  // </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到达叶结点</a:t>
            </a:r>
          </a:p>
          <a:p>
            <a:pPr>
              <a:defRPr/>
            </a:pP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更新最优解</a:t>
            </a:r>
            <a:r>
              <a:rPr kumimoji="1" lang="en-US" altLang="zh-CN"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bestx</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return;</a:t>
            </a:r>
          </a:p>
          <a:p>
            <a:pPr>
              <a:defRPr/>
            </a:pP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 -= w[</a:t>
            </a:r>
            <a:r>
              <a:rPr kumimoji="1" lang="en-US" altLang="zh-CN"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a:defRPr/>
            </a:pP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 (</a:t>
            </a:r>
            <a:r>
              <a:rPr kumimoji="1" lang="en-US" altLang="zh-CN"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&lt;= c) </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搜索左子树</a:t>
            </a:r>
          </a:p>
          <a:p>
            <a:pPr>
              <a:defRPr/>
            </a:pPr>
            <a:r>
              <a:rPr kumimoji="1" lang="zh-CN" altLang="en-US"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kumimoji="1" lang="en-US" altLang="zh-CN"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a:t>
            </a:r>
          </a:p>
          <a:p>
            <a:pPr>
              <a:defRPr/>
            </a:pP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p>
          <a:p>
            <a:pPr>
              <a:defRPr/>
            </a:pP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backtrack(</a:t>
            </a:r>
            <a:r>
              <a:rPr kumimoji="1" lang="en-US" altLang="zh-CN"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a:t>
            </a:r>
          </a:p>
          <a:p>
            <a:pPr>
              <a:defRPr/>
            </a:pP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a:t>
            </a:r>
            <a:r>
              <a:rPr kumimoji="1" lang="en-US" altLang="zh-CN"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0;</a:t>
            </a:r>
          </a:p>
          <a:p>
            <a:pPr>
              <a:defRPr/>
            </a:pP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defRPr/>
            </a:pP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 (</a:t>
            </a:r>
            <a:r>
              <a:rPr kumimoji="1"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r &gt; </a:t>
            </a:r>
            <a:r>
              <a:rPr kumimoji="1"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p>
          <a:p>
            <a:pPr>
              <a:defRPr/>
            </a:pP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x[</a:t>
            </a:r>
            <a:r>
              <a:rPr kumimoji="1" lang="en-US" altLang="zh-CN"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0;  </a:t>
            </a:r>
            <a:r>
              <a:rPr kumimoji="1"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搜索右子树</a:t>
            </a:r>
          </a:p>
          <a:p>
            <a:pPr>
              <a:defRPr/>
            </a:pPr>
            <a:r>
              <a:rPr kumimoji="1" lang="zh-CN" altLang="en-US"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backtrack(</a:t>
            </a:r>
            <a:r>
              <a:rPr kumimoji="1" lang="en-US" altLang="zh-CN"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      }</a:t>
            </a:r>
          </a:p>
          <a:p>
            <a:pPr>
              <a:defRPr/>
            </a:pP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 += w[</a:t>
            </a:r>
            <a:r>
              <a:rPr kumimoji="1" lang="en-US" altLang="zh-CN"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a:defRPr/>
            </a:pP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nimBg="1"/>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最大团问题</a:t>
            </a:r>
          </a:p>
        </p:txBody>
      </p:sp>
      <p:grpSp>
        <p:nvGrpSpPr>
          <p:cNvPr id="73731" name="Group 86"/>
          <p:cNvGrpSpPr/>
          <p:nvPr/>
        </p:nvGrpSpPr>
        <p:grpSpPr bwMode="auto">
          <a:xfrm>
            <a:off x="319088" y="1290638"/>
            <a:ext cx="3419475" cy="1868487"/>
            <a:chOff x="869" y="3106"/>
            <a:chExt cx="1747" cy="980"/>
          </a:xfrm>
        </p:grpSpPr>
        <p:sp>
          <p:nvSpPr>
            <p:cNvPr id="73778" name="Oval 87"/>
            <p:cNvSpPr>
              <a:spLocks noChangeArrowheads="1"/>
            </p:cNvSpPr>
            <p:nvPr/>
          </p:nvSpPr>
          <p:spPr bwMode="auto">
            <a:xfrm>
              <a:off x="886" y="3106"/>
              <a:ext cx="266" cy="327"/>
            </a:xfrm>
            <a:prstGeom prst="ellipse">
              <a:avLst/>
            </a:prstGeom>
            <a:solidFill>
              <a:srgbClr val="99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b="1">
                  <a:solidFill>
                    <a:srgbClr val="000066"/>
                  </a:solidFill>
                  <a:latin typeface="Times New Roman" panose="02020603050405020304" pitchFamily="18" charset="0"/>
                  <a:ea typeface="楷体_GB2312" pitchFamily="49" charset="-122"/>
                  <a:cs typeface="Times New Roman" panose="02020603050405020304" pitchFamily="18" charset="0"/>
                </a:rPr>
                <a:t>1</a:t>
              </a:r>
            </a:p>
          </p:txBody>
        </p:sp>
        <p:sp>
          <p:nvSpPr>
            <p:cNvPr id="73779" name="Oval 88"/>
            <p:cNvSpPr>
              <a:spLocks noChangeArrowheads="1"/>
            </p:cNvSpPr>
            <p:nvPr/>
          </p:nvSpPr>
          <p:spPr bwMode="auto">
            <a:xfrm>
              <a:off x="1699" y="3107"/>
              <a:ext cx="266" cy="327"/>
            </a:xfrm>
            <a:prstGeom prst="ellipse">
              <a:avLst/>
            </a:prstGeom>
            <a:solidFill>
              <a:srgbClr val="99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b="1">
                  <a:solidFill>
                    <a:srgbClr val="000066"/>
                  </a:solidFill>
                  <a:latin typeface="Times New Roman" panose="02020603050405020304" pitchFamily="18" charset="0"/>
                  <a:ea typeface="楷体_GB2312" pitchFamily="49" charset="-122"/>
                  <a:cs typeface="Times New Roman" panose="02020603050405020304" pitchFamily="18" charset="0"/>
                </a:rPr>
                <a:t>2</a:t>
              </a:r>
            </a:p>
          </p:txBody>
        </p:sp>
        <p:sp>
          <p:nvSpPr>
            <p:cNvPr id="73780" name="Oval 89"/>
            <p:cNvSpPr>
              <a:spLocks noChangeArrowheads="1"/>
            </p:cNvSpPr>
            <p:nvPr/>
          </p:nvSpPr>
          <p:spPr bwMode="auto">
            <a:xfrm>
              <a:off x="869" y="3759"/>
              <a:ext cx="266" cy="327"/>
            </a:xfrm>
            <a:prstGeom prst="ellipse">
              <a:avLst/>
            </a:prstGeom>
            <a:solidFill>
              <a:srgbClr val="FF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b="1">
                  <a:solidFill>
                    <a:srgbClr val="000066"/>
                  </a:solidFill>
                  <a:latin typeface="Times New Roman" panose="02020603050405020304" pitchFamily="18" charset="0"/>
                  <a:ea typeface="楷体_GB2312" pitchFamily="49" charset="-122"/>
                  <a:cs typeface="Times New Roman" panose="02020603050405020304" pitchFamily="18" charset="0"/>
                </a:rPr>
                <a:t>4</a:t>
              </a:r>
            </a:p>
          </p:txBody>
        </p:sp>
        <p:sp>
          <p:nvSpPr>
            <p:cNvPr id="73781" name="Oval 90"/>
            <p:cNvSpPr>
              <a:spLocks noChangeArrowheads="1"/>
            </p:cNvSpPr>
            <p:nvPr/>
          </p:nvSpPr>
          <p:spPr bwMode="auto">
            <a:xfrm>
              <a:off x="1699" y="3759"/>
              <a:ext cx="266" cy="327"/>
            </a:xfrm>
            <a:prstGeom prst="ellipse">
              <a:avLst/>
            </a:prstGeom>
            <a:solidFill>
              <a:srgbClr val="99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b="1">
                  <a:solidFill>
                    <a:srgbClr val="000066"/>
                  </a:solidFill>
                  <a:latin typeface="Times New Roman" panose="02020603050405020304" pitchFamily="18" charset="0"/>
                  <a:ea typeface="楷体_GB2312" pitchFamily="49" charset="-122"/>
                  <a:cs typeface="Times New Roman" panose="02020603050405020304" pitchFamily="18" charset="0"/>
                </a:rPr>
                <a:t>5</a:t>
              </a:r>
            </a:p>
          </p:txBody>
        </p:sp>
        <p:sp>
          <p:nvSpPr>
            <p:cNvPr id="73782" name="Oval 91"/>
            <p:cNvSpPr>
              <a:spLocks noChangeArrowheads="1"/>
            </p:cNvSpPr>
            <p:nvPr/>
          </p:nvSpPr>
          <p:spPr bwMode="auto">
            <a:xfrm>
              <a:off x="2350" y="3404"/>
              <a:ext cx="266" cy="327"/>
            </a:xfrm>
            <a:prstGeom prst="ellipse">
              <a:avLst/>
            </a:prstGeom>
            <a:solidFill>
              <a:srgbClr val="FFCC00"/>
            </a:solidFill>
            <a:ln w="12700" algn="ctr">
              <a:solidFill>
                <a:srgbClr val="000066"/>
              </a:solidFill>
              <a:round/>
            </a:ln>
          </p:spPr>
          <p:txBody>
            <a:bodyPr wrap="none" anchor="ct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lang="en-US" altLang="zh-CN" b="1">
                  <a:solidFill>
                    <a:srgbClr val="000066"/>
                  </a:solidFill>
                  <a:latin typeface="Times New Roman" panose="02020603050405020304" pitchFamily="18" charset="0"/>
                  <a:ea typeface="楷体_GB2312" pitchFamily="49" charset="-122"/>
                  <a:cs typeface="Times New Roman" panose="02020603050405020304" pitchFamily="18" charset="0"/>
                </a:rPr>
                <a:t>3</a:t>
              </a:r>
            </a:p>
          </p:txBody>
        </p:sp>
        <p:cxnSp>
          <p:nvCxnSpPr>
            <p:cNvPr id="73783" name="AutoShape 92"/>
            <p:cNvCxnSpPr>
              <a:cxnSpLocks noChangeShapeType="1"/>
              <a:stCxn id="73778" idx="6"/>
              <a:endCxn id="73779" idx="2"/>
            </p:cNvCxnSpPr>
            <p:nvPr/>
          </p:nvCxnSpPr>
          <p:spPr bwMode="auto">
            <a:xfrm>
              <a:off x="1152" y="3270"/>
              <a:ext cx="547" cy="1"/>
            </a:xfrm>
            <a:prstGeom prst="straightConnector1">
              <a:avLst/>
            </a:prstGeom>
            <a:noFill/>
            <a:ln w="50800">
              <a:solidFill>
                <a:srgbClr val="FF6600"/>
              </a:solidFill>
              <a:round/>
            </a:ln>
            <a:extLst>
              <a:ext uri="{909E8E84-426E-40DD-AFC4-6F175D3DCCD1}">
                <a14:hiddenFill xmlns:a14="http://schemas.microsoft.com/office/drawing/2010/main">
                  <a:noFill/>
                </a14:hiddenFill>
              </a:ext>
            </a:extLst>
          </p:spPr>
        </p:cxnSp>
        <p:cxnSp>
          <p:nvCxnSpPr>
            <p:cNvPr id="73784" name="AutoShape 93"/>
            <p:cNvCxnSpPr>
              <a:cxnSpLocks noChangeShapeType="1"/>
              <a:stCxn id="73778" idx="4"/>
              <a:endCxn id="73780" idx="0"/>
            </p:cNvCxnSpPr>
            <p:nvPr/>
          </p:nvCxnSpPr>
          <p:spPr bwMode="auto">
            <a:xfrm rot="5400000">
              <a:off x="847" y="3588"/>
              <a:ext cx="326" cy="17"/>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3785" name="AutoShape 94"/>
            <p:cNvCxnSpPr>
              <a:cxnSpLocks noChangeShapeType="1"/>
              <a:stCxn id="73780" idx="6"/>
              <a:endCxn id="73781" idx="2"/>
            </p:cNvCxnSpPr>
            <p:nvPr/>
          </p:nvCxnSpPr>
          <p:spPr bwMode="auto">
            <a:xfrm>
              <a:off x="1135" y="3923"/>
              <a:ext cx="564" cy="1"/>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3786" name="AutoShape 95"/>
            <p:cNvCxnSpPr>
              <a:cxnSpLocks noChangeShapeType="1"/>
              <a:stCxn id="73781" idx="0"/>
              <a:endCxn id="73779" idx="4"/>
            </p:cNvCxnSpPr>
            <p:nvPr/>
          </p:nvCxnSpPr>
          <p:spPr bwMode="auto">
            <a:xfrm rot="5400000" flipH="1" flipV="1">
              <a:off x="1669" y="3597"/>
              <a:ext cx="325" cy="1"/>
            </a:xfrm>
            <a:prstGeom prst="straightConnector1">
              <a:avLst/>
            </a:prstGeom>
            <a:noFill/>
            <a:ln w="50800">
              <a:solidFill>
                <a:srgbClr val="FF6600"/>
              </a:solidFill>
              <a:round/>
            </a:ln>
            <a:extLst>
              <a:ext uri="{909E8E84-426E-40DD-AFC4-6F175D3DCCD1}">
                <a14:hiddenFill xmlns:a14="http://schemas.microsoft.com/office/drawing/2010/main">
                  <a:noFill/>
                </a14:hiddenFill>
              </a:ext>
            </a:extLst>
          </p:spPr>
        </p:cxnSp>
        <p:cxnSp>
          <p:nvCxnSpPr>
            <p:cNvPr id="73787" name="AutoShape 96"/>
            <p:cNvCxnSpPr>
              <a:cxnSpLocks noChangeShapeType="1"/>
              <a:stCxn id="73778" idx="5"/>
              <a:endCxn id="73781" idx="1"/>
            </p:cNvCxnSpPr>
            <p:nvPr/>
          </p:nvCxnSpPr>
          <p:spPr bwMode="auto">
            <a:xfrm rot="16200000" flipH="1">
              <a:off x="1215" y="3284"/>
              <a:ext cx="422" cy="625"/>
            </a:xfrm>
            <a:prstGeom prst="straightConnector1">
              <a:avLst/>
            </a:prstGeom>
            <a:noFill/>
            <a:ln w="50800">
              <a:solidFill>
                <a:srgbClr val="FF6600"/>
              </a:solidFill>
              <a:round/>
            </a:ln>
            <a:extLst>
              <a:ext uri="{909E8E84-426E-40DD-AFC4-6F175D3DCCD1}">
                <a14:hiddenFill xmlns:a14="http://schemas.microsoft.com/office/drawing/2010/main">
                  <a:noFill/>
                </a14:hiddenFill>
              </a:ext>
            </a:extLst>
          </p:spPr>
        </p:cxnSp>
        <p:cxnSp>
          <p:nvCxnSpPr>
            <p:cNvPr id="73788" name="AutoShape 97"/>
            <p:cNvCxnSpPr>
              <a:cxnSpLocks noChangeShapeType="1"/>
              <a:stCxn id="73782" idx="1"/>
              <a:endCxn id="73779" idx="6"/>
            </p:cNvCxnSpPr>
            <p:nvPr/>
          </p:nvCxnSpPr>
          <p:spPr bwMode="auto">
            <a:xfrm rot="16200000" flipV="1">
              <a:off x="2086" y="3149"/>
              <a:ext cx="181" cy="424"/>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3789" name="AutoShape 98"/>
            <p:cNvCxnSpPr>
              <a:cxnSpLocks noChangeShapeType="1"/>
              <a:stCxn id="73781" idx="6"/>
              <a:endCxn id="73782" idx="3"/>
            </p:cNvCxnSpPr>
            <p:nvPr/>
          </p:nvCxnSpPr>
          <p:spPr bwMode="auto">
            <a:xfrm flipV="1">
              <a:off x="1965" y="3683"/>
              <a:ext cx="424" cy="239"/>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grpSp>
      <p:grpSp>
        <p:nvGrpSpPr>
          <p:cNvPr id="73732" name="组合 62"/>
          <p:cNvGrpSpPr/>
          <p:nvPr/>
        </p:nvGrpSpPr>
        <p:grpSpPr bwMode="auto">
          <a:xfrm>
            <a:off x="2546350" y="2387600"/>
            <a:ext cx="4926013" cy="2938463"/>
            <a:chOff x="2546350" y="2387600"/>
            <a:chExt cx="4926013" cy="2938463"/>
          </a:xfrm>
        </p:grpSpPr>
        <p:grpSp>
          <p:nvGrpSpPr>
            <p:cNvPr id="73738" name="Group 84"/>
            <p:cNvGrpSpPr/>
            <p:nvPr/>
          </p:nvGrpSpPr>
          <p:grpSpPr bwMode="auto">
            <a:xfrm>
              <a:off x="2546350" y="2387600"/>
              <a:ext cx="4146550" cy="2938463"/>
              <a:chOff x="810" y="1033"/>
              <a:chExt cx="2481" cy="1655"/>
            </a:xfrm>
          </p:grpSpPr>
          <p:sp>
            <p:nvSpPr>
              <p:cNvPr id="73742" name="Oval 20"/>
              <p:cNvSpPr>
                <a:spLocks noChangeArrowheads="1"/>
              </p:cNvSpPr>
              <p:nvPr/>
            </p:nvSpPr>
            <p:spPr bwMode="auto">
              <a:xfrm>
                <a:off x="2596" y="1033"/>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43" name="Line 21"/>
              <p:cNvSpPr>
                <a:spLocks noChangeShapeType="1"/>
              </p:cNvSpPr>
              <p:nvPr/>
            </p:nvSpPr>
            <p:spPr bwMode="auto">
              <a:xfrm flipH="1">
                <a:off x="2227" y="1124"/>
                <a:ext cx="375" cy="24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44" name="Oval 23"/>
              <p:cNvSpPr>
                <a:spLocks noChangeArrowheads="1"/>
              </p:cNvSpPr>
              <p:nvPr/>
            </p:nvSpPr>
            <p:spPr bwMode="auto">
              <a:xfrm>
                <a:off x="2114" y="1348"/>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45" name="Line 24"/>
              <p:cNvSpPr>
                <a:spLocks noChangeShapeType="1"/>
              </p:cNvSpPr>
              <p:nvPr/>
            </p:nvSpPr>
            <p:spPr bwMode="auto">
              <a:xfrm flipH="1">
                <a:off x="1844" y="1451"/>
                <a:ext cx="279" cy="20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46" name="Line 25"/>
              <p:cNvSpPr>
                <a:spLocks noChangeShapeType="1"/>
              </p:cNvSpPr>
              <p:nvPr/>
            </p:nvSpPr>
            <p:spPr bwMode="auto">
              <a:xfrm>
                <a:off x="2228" y="1450"/>
                <a:ext cx="211" cy="19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47" name="Oval 26"/>
              <p:cNvSpPr>
                <a:spLocks noChangeArrowheads="1"/>
              </p:cNvSpPr>
              <p:nvPr/>
            </p:nvSpPr>
            <p:spPr bwMode="auto">
              <a:xfrm>
                <a:off x="1756" y="1645"/>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48" name="Oval 27"/>
              <p:cNvSpPr>
                <a:spLocks noChangeArrowheads="1"/>
              </p:cNvSpPr>
              <p:nvPr/>
            </p:nvSpPr>
            <p:spPr bwMode="auto">
              <a:xfrm>
                <a:off x="2411" y="1635"/>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49" name="Oval 28"/>
              <p:cNvSpPr>
                <a:spLocks noChangeArrowheads="1"/>
              </p:cNvSpPr>
              <p:nvPr/>
            </p:nvSpPr>
            <p:spPr bwMode="auto">
              <a:xfrm>
                <a:off x="2287" y="2209"/>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50" name="Line 30"/>
              <p:cNvSpPr>
                <a:spLocks noChangeShapeType="1"/>
              </p:cNvSpPr>
              <p:nvPr/>
            </p:nvSpPr>
            <p:spPr bwMode="auto">
              <a:xfrm flipH="1">
                <a:off x="2123" y="2334"/>
                <a:ext cx="191" cy="20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51" name="Text Box 33"/>
              <p:cNvSpPr txBox="1">
                <a:spLocks noChangeArrowheads="1"/>
              </p:cNvSpPr>
              <p:nvPr/>
            </p:nvSpPr>
            <p:spPr bwMode="auto">
              <a:xfrm>
                <a:off x="1499" y="1395"/>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&lt;1,1&gt;</a:t>
                </a:r>
              </a:p>
            </p:txBody>
          </p:sp>
          <p:sp>
            <p:nvSpPr>
              <p:cNvPr id="73752" name="Text Box 34"/>
              <p:cNvSpPr txBox="1">
                <a:spLocks noChangeArrowheads="1"/>
              </p:cNvSpPr>
              <p:nvPr/>
            </p:nvSpPr>
            <p:spPr bwMode="auto">
              <a:xfrm>
                <a:off x="1479" y="1729"/>
                <a:ext cx="17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CC00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3753" name="Line 37"/>
              <p:cNvSpPr>
                <a:spLocks noChangeShapeType="1"/>
              </p:cNvSpPr>
              <p:nvPr/>
            </p:nvSpPr>
            <p:spPr bwMode="auto">
              <a:xfrm flipH="1">
                <a:off x="1466" y="1737"/>
                <a:ext cx="298" cy="253"/>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3754" name="Line 46"/>
              <p:cNvSpPr>
                <a:spLocks noChangeShapeType="1"/>
              </p:cNvSpPr>
              <p:nvPr/>
            </p:nvSpPr>
            <p:spPr bwMode="auto">
              <a:xfrm>
                <a:off x="1861" y="1746"/>
                <a:ext cx="192" cy="19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55" name="Oval 47"/>
              <p:cNvSpPr>
                <a:spLocks noChangeArrowheads="1"/>
              </p:cNvSpPr>
              <p:nvPr/>
            </p:nvSpPr>
            <p:spPr bwMode="auto">
              <a:xfrm>
                <a:off x="2032" y="1928"/>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56" name="Oval 51"/>
              <p:cNvSpPr>
                <a:spLocks noChangeArrowheads="1"/>
              </p:cNvSpPr>
              <p:nvPr/>
            </p:nvSpPr>
            <p:spPr bwMode="auto">
              <a:xfrm>
                <a:off x="2043" y="2513"/>
                <a:ext cx="125" cy="125"/>
              </a:xfrm>
              <a:prstGeom prst="ellipse">
                <a:avLst/>
              </a:prstGeom>
              <a:solidFill>
                <a:srgbClr val="99CC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57" name="Line 55"/>
              <p:cNvSpPr>
                <a:spLocks noChangeShapeType="1"/>
              </p:cNvSpPr>
              <p:nvPr/>
            </p:nvSpPr>
            <p:spPr bwMode="auto">
              <a:xfrm>
                <a:off x="2715" y="1131"/>
                <a:ext cx="423" cy="22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58" name="Text Box 56"/>
              <p:cNvSpPr txBox="1">
                <a:spLocks noChangeArrowheads="1"/>
              </p:cNvSpPr>
              <p:nvPr/>
            </p:nvSpPr>
            <p:spPr bwMode="auto">
              <a:xfrm>
                <a:off x="2918" y="1075"/>
                <a:ext cx="2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&lt;0&gt;</a:t>
                </a:r>
              </a:p>
            </p:txBody>
          </p:sp>
          <p:sp>
            <p:nvSpPr>
              <p:cNvPr id="73759" name="Text Box 57"/>
              <p:cNvSpPr txBox="1">
                <a:spLocks noChangeArrowheads="1"/>
              </p:cNvSpPr>
              <p:nvPr/>
            </p:nvSpPr>
            <p:spPr bwMode="auto">
              <a:xfrm>
                <a:off x="1890" y="1105"/>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&lt;1&gt;</a:t>
                </a:r>
              </a:p>
            </p:txBody>
          </p:sp>
          <p:sp>
            <p:nvSpPr>
              <p:cNvPr id="73760" name="Text Box 58"/>
              <p:cNvSpPr txBox="1">
                <a:spLocks noChangeArrowheads="1"/>
              </p:cNvSpPr>
              <p:nvPr/>
            </p:nvSpPr>
            <p:spPr bwMode="auto">
              <a:xfrm>
                <a:off x="2351" y="1412"/>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&lt;1,0&gt;</a:t>
                </a:r>
              </a:p>
            </p:txBody>
          </p:sp>
          <p:sp>
            <p:nvSpPr>
              <p:cNvPr id="73761" name="Text Box 59"/>
              <p:cNvSpPr txBox="1">
                <a:spLocks noChangeArrowheads="1"/>
              </p:cNvSpPr>
              <p:nvPr/>
            </p:nvSpPr>
            <p:spPr bwMode="auto">
              <a:xfrm>
                <a:off x="1650" y="1816"/>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&lt;1,1,0&gt;</a:t>
                </a:r>
              </a:p>
            </p:txBody>
          </p:sp>
          <p:sp>
            <p:nvSpPr>
              <p:cNvPr id="73762" name="Text Box 60"/>
              <p:cNvSpPr txBox="1">
                <a:spLocks noChangeArrowheads="1"/>
              </p:cNvSpPr>
              <p:nvPr/>
            </p:nvSpPr>
            <p:spPr bwMode="auto">
              <a:xfrm>
                <a:off x="1765" y="2014"/>
                <a:ext cx="17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CC00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3763" name="Line 61"/>
              <p:cNvSpPr>
                <a:spLocks noChangeShapeType="1"/>
              </p:cNvSpPr>
              <p:nvPr/>
            </p:nvSpPr>
            <p:spPr bwMode="auto">
              <a:xfrm flipH="1">
                <a:off x="1791" y="2022"/>
                <a:ext cx="240" cy="225"/>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3764" name="Line 62"/>
              <p:cNvSpPr>
                <a:spLocks noChangeShapeType="1"/>
              </p:cNvSpPr>
              <p:nvPr/>
            </p:nvSpPr>
            <p:spPr bwMode="auto">
              <a:xfrm>
                <a:off x="2128" y="2041"/>
                <a:ext cx="192" cy="19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65" name="Text Box 63"/>
              <p:cNvSpPr txBox="1">
                <a:spLocks noChangeArrowheads="1"/>
              </p:cNvSpPr>
              <p:nvPr/>
            </p:nvSpPr>
            <p:spPr bwMode="auto">
              <a:xfrm>
                <a:off x="1918" y="2095"/>
                <a:ext cx="57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&lt;1,1,0,0&gt;</a:t>
                </a:r>
              </a:p>
            </p:txBody>
          </p:sp>
          <p:sp>
            <p:nvSpPr>
              <p:cNvPr id="73766" name="Text Box 64"/>
              <p:cNvSpPr txBox="1">
                <a:spLocks noChangeArrowheads="1"/>
              </p:cNvSpPr>
              <p:nvPr/>
            </p:nvSpPr>
            <p:spPr bwMode="auto">
              <a:xfrm>
                <a:off x="1532" y="2302"/>
                <a:ext cx="60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&lt;1,1,0,0,1&gt;</a:t>
                </a:r>
              </a:p>
            </p:txBody>
          </p:sp>
          <p:sp>
            <p:nvSpPr>
              <p:cNvPr id="73767" name="Text Box 65"/>
              <p:cNvSpPr txBox="1">
                <a:spLocks noChangeArrowheads="1"/>
              </p:cNvSpPr>
              <p:nvPr/>
            </p:nvSpPr>
            <p:spPr bwMode="auto">
              <a:xfrm>
                <a:off x="1120" y="2292"/>
                <a:ext cx="41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bestx=</a:t>
                </a:r>
              </a:p>
            </p:txBody>
          </p:sp>
          <p:sp>
            <p:nvSpPr>
              <p:cNvPr id="73768" name="Text Box 66"/>
              <p:cNvSpPr txBox="1">
                <a:spLocks noChangeArrowheads="1"/>
              </p:cNvSpPr>
              <p:nvPr/>
            </p:nvSpPr>
            <p:spPr bwMode="auto">
              <a:xfrm>
                <a:off x="810" y="2309"/>
                <a:ext cx="29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cn=3</a:t>
                </a:r>
              </a:p>
            </p:txBody>
          </p:sp>
          <p:sp>
            <p:nvSpPr>
              <p:cNvPr id="73769" name="Text Box 67"/>
              <p:cNvSpPr txBox="1">
                <a:spLocks noChangeArrowheads="1"/>
              </p:cNvSpPr>
              <p:nvPr/>
            </p:nvSpPr>
            <p:spPr bwMode="auto">
              <a:xfrm>
                <a:off x="1336" y="2513"/>
                <a:ext cx="6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bestn=cn=3</a:t>
                </a:r>
              </a:p>
            </p:txBody>
          </p:sp>
          <p:sp>
            <p:nvSpPr>
              <p:cNvPr id="73770" name="Line 68"/>
              <p:cNvSpPr>
                <a:spLocks noChangeShapeType="1"/>
              </p:cNvSpPr>
              <p:nvPr/>
            </p:nvSpPr>
            <p:spPr bwMode="auto">
              <a:xfrm>
                <a:off x="2395" y="2318"/>
                <a:ext cx="211" cy="210"/>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3771" name="Text Box 69"/>
              <p:cNvSpPr txBox="1">
                <a:spLocks noChangeArrowheads="1"/>
              </p:cNvSpPr>
              <p:nvPr/>
            </p:nvSpPr>
            <p:spPr bwMode="auto">
              <a:xfrm>
                <a:off x="2512" y="2319"/>
                <a:ext cx="17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CC00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3772" name="Text Box 70"/>
              <p:cNvSpPr txBox="1">
                <a:spLocks noChangeArrowheads="1"/>
              </p:cNvSpPr>
              <p:nvPr/>
            </p:nvSpPr>
            <p:spPr bwMode="auto">
              <a:xfrm>
                <a:off x="2283" y="2534"/>
                <a:ext cx="100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cn+n-i&gt;bestn</a:t>
                </a:r>
                <a:r>
                  <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为假</a:t>
                </a:r>
              </a:p>
            </p:txBody>
          </p:sp>
          <p:sp>
            <p:nvSpPr>
              <p:cNvPr id="73773" name="Line 71"/>
              <p:cNvSpPr>
                <a:spLocks noChangeShapeType="1"/>
              </p:cNvSpPr>
              <p:nvPr/>
            </p:nvSpPr>
            <p:spPr bwMode="auto">
              <a:xfrm flipH="1">
                <a:off x="2268" y="1761"/>
                <a:ext cx="173" cy="158"/>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3774" name="Line 72"/>
              <p:cNvSpPr>
                <a:spLocks noChangeShapeType="1"/>
              </p:cNvSpPr>
              <p:nvPr/>
            </p:nvSpPr>
            <p:spPr bwMode="auto">
              <a:xfrm>
                <a:off x="2531" y="1724"/>
                <a:ext cx="297" cy="134"/>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75" name="Oval 73"/>
              <p:cNvSpPr>
                <a:spLocks noChangeArrowheads="1"/>
              </p:cNvSpPr>
              <p:nvPr/>
            </p:nvSpPr>
            <p:spPr bwMode="auto">
              <a:xfrm>
                <a:off x="2803" y="1842"/>
                <a:ext cx="125" cy="125"/>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76" name="Text Box 74"/>
              <p:cNvSpPr txBox="1">
                <a:spLocks noChangeArrowheads="1"/>
              </p:cNvSpPr>
              <p:nvPr/>
            </p:nvSpPr>
            <p:spPr bwMode="auto">
              <a:xfrm>
                <a:off x="2675" y="1640"/>
                <a:ext cx="5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&lt;1,0,0&gt;</a:t>
                </a:r>
              </a:p>
            </p:txBody>
          </p:sp>
          <p:sp>
            <p:nvSpPr>
              <p:cNvPr id="73777" name="Text Box 83"/>
              <p:cNvSpPr txBox="1">
                <a:spLocks noChangeArrowheads="1"/>
              </p:cNvSpPr>
              <p:nvPr/>
            </p:nvSpPr>
            <p:spPr bwMode="auto">
              <a:xfrm flipV="1">
                <a:off x="2687" y="1938"/>
                <a:ext cx="234"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CC0000"/>
                    </a:solidFill>
                    <a:latin typeface="Times New Roman" panose="02020603050405020304" pitchFamily="18" charset="0"/>
                    <a:ea typeface="宋体" panose="02010600030101010101" pitchFamily="2" charset="-122"/>
                    <a:cs typeface="Times New Roman" panose="02020603050405020304" pitchFamily="18" charset="0"/>
                  </a:rPr>
                  <a:t>×</a:t>
                </a:r>
              </a:p>
            </p:txBody>
          </p:sp>
        </p:grpSp>
        <p:sp>
          <p:nvSpPr>
            <p:cNvPr id="73739" name="Oval 23"/>
            <p:cNvSpPr>
              <a:spLocks noChangeArrowheads="1"/>
            </p:cNvSpPr>
            <p:nvPr/>
          </p:nvSpPr>
          <p:spPr bwMode="auto">
            <a:xfrm>
              <a:off x="6440488" y="2906713"/>
              <a:ext cx="198437" cy="198437"/>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40" name="Line 55"/>
            <p:cNvSpPr>
              <a:spLocks noChangeShapeType="1"/>
            </p:cNvSpPr>
            <p:nvPr/>
          </p:nvSpPr>
          <p:spPr bwMode="auto">
            <a:xfrm>
              <a:off x="6632575" y="3060700"/>
              <a:ext cx="671513" cy="35401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41" name="Oval 23"/>
            <p:cNvSpPr>
              <a:spLocks noChangeArrowheads="1"/>
            </p:cNvSpPr>
            <p:nvPr/>
          </p:nvSpPr>
          <p:spPr bwMode="auto">
            <a:xfrm>
              <a:off x="7273925" y="3384550"/>
              <a:ext cx="198438" cy="198438"/>
            </a:xfrm>
            <a:prstGeom prst="ellipse">
              <a:avLst/>
            </a:prstGeom>
            <a:solidFill>
              <a:srgbClr val="993300"/>
            </a:solidFill>
            <a:ln w="9525">
              <a:solidFill>
                <a:srgbClr val="000066"/>
              </a:solidFill>
              <a:round/>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73733" name="Text Box 56"/>
          <p:cNvSpPr txBox="1">
            <a:spLocks noChangeArrowheads="1"/>
          </p:cNvSpPr>
          <p:nvPr/>
        </p:nvSpPr>
        <p:spPr bwMode="auto">
          <a:xfrm>
            <a:off x="6792913" y="2889250"/>
            <a:ext cx="822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&lt;0</a:t>
            </a:r>
            <a:r>
              <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0&gt;</a:t>
            </a:r>
          </a:p>
        </p:txBody>
      </p:sp>
      <p:sp>
        <p:nvSpPr>
          <p:cNvPr id="76" name="Text Box 70"/>
          <p:cNvSpPr txBox="1">
            <a:spLocks noChangeArrowheads="1"/>
          </p:cNvSpPr>
          <p:nvPr/>
        </p:nvSpPr>
        <p:spPr bwMode="auto">
          <a:xfrm>
            <a:off x="7481888" y="3214688"/>
            <a:ext cx="1600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cn+n-i&gt;bestn</a:t>
            </a:r>
            <a:r>
              <a:rPr lang="zh-CN" altLang="en-US"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为假</a:t>
            </a:r>
          </a:p>
        </p:txBody>
      </p:sp>
      <p:sp>
        <p:nvSpPr>
          <p:cNvPr id="77" name="Text Box 70"/>
          <p:cNvSpPr txBox="1">
            <a:spLocks noChangeArrowheads="1"/>
          </p:cNvSpPr>
          <p:nvPr/>
        </p:nvSpPr>
        <p:spPr bwMode="auto">
          <a:xfrm>
            <a:off x="6086475" y="4065588"/>
            <a:ext cx="1600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dirty="0" err="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cn+n-i</a:t>
            </a:r>
            <a:r>
              <a:rPr lang="en-US" altLang="zh-CN" sz="1600" b="1" dirty="0">
                <a:solidFill>
                  <a:srgbClr val="000066"/>
                </a:solidFill>
                <a:latin typeface="Times New Roman" panose="02020603050405020304" pitchFamily="18" charset="0"/>
                <a:ea typeface="宋体" panose="02010600030101010101" pitchFamily="2" charset="-122"/>
                <a:cs typeface="Times New Roman" panose="02020603050405020304" pitchFamily="18" charset="0"/>
              </a:rPr>
              <a:t>&gt;</a:t>
            </a:r>
            <a:r>
              <a:rPr lang="en-US" altLang="zh-CN" sz="1600" b="1" dirty="0" err="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bestn</a:t>
            </a:r>
            <a:r>
              <a:rPr lang="zh-CN" altLang="en-US" sz="1600" b="1" dirty="0">
                <a:solidFill>
                  <a:srgbClr val="000066"/>
                </a:solidFill>
                <a:latin typeface="Times New Roman" panose="02020603050405020304" pitchFamily="18" charset="0"/>
                <a:ea typeface="宋体" panose="02010600030101010101" pitchFamily="2" charset="-122"/>
                <a:cs typeface="Times New Roman" panose="02020603050405020304" pitchFamily="18" charset="0"/>
              </a:rPr>
              <a:t>为假</a:t>
            </a:r>
          </a:p>
        </p:txBody>
      </p:sp>
      <p:sp>
        <p:nvSpPr>
          <p:cNvPr id="73736" name="Text Box 60"/>
          <p:cNvSpPr txBox="1">
            <a:spLocks noChangeArrowheads="1"/>
          </p:cNvSpPr>
          <p:nvPr/>
        </p:nvSpPr>
        <p:spPr bwMode="auto">
          <a:xfrm>
            <a:off x="4957763" y="3960813"/>
            <a:ext cx="2746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CC00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3737" name="Text Box 60"/>
          <p:cNvSpPr txBox="1">
            <a:spLocks noChangeArrowheads="1"/>
          </p:cNvSpPr>
          <p:nvPr/>
        </p:nvSpPr>
        <p:spPr bwMode="auto">
          <a:xfrm>
            <a:off x="6913563" y="3171825"/>
            <a:ext cx="2746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sz="1600" b="1">
                <a:solidFill>
                  <a:srgbClr val="CC0000"/>
                </a:solidFill>
                <a:latin typeface="Times New Roman" panose="02020603050405020304" pitchFamily="18" charset="0"/>
                <a:ea typeface="宋体" panose="02010600030101010101" pitchFamily="2" charset="-122"/>
                <a:cs typeface="Times New Roman" panose="02020603050405020304" pitchFamily="18"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图的</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sz="3200">
                <a:solidFill>
                  <a:schemeClr val="bg1"/>
                </a:solidFill>
                <a:latin typeface="楷体" panose="02010609060101010101" pitchFamily="49" charset="-122"/>
                <a:ea typeface="楷体" panose="02010609060101010101" pitchFamily="49" charset="-122"/>
              </a:rPr>
              <a:t>着色问题</a:t>
            </a:r>
          </a:p>
        </p:txBody>
      </p:sp>
      <p:sp>
        <p:nvSpPr>
          <p:cNvPr id="75779" name="Text Box 4"/>
          <p:cNvSpPr txBox="1">
            <a:spLocks noChangeArrowheads="1"/>
          </p:cNvSpPr>
          <p:nvPr/>
        </p:nvSpPr>
        <p:spPr bwMode="auto">
          <a:xfrm>
            <a:off x="339725" y="1355725"/>
            <a:ext cx="8556625" cy="2714625"/>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just"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给定无向连通图</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种不同的颜色。用这些颜色为图</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的各顶点着色，每个顶点着一种颜色。是否有一种着色法使</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中每条边的</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个顶点着不同颜色。</a:t>
            </a:r>
          </a:p>
          <a:p>
            <a:pPr algn="just"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这个问题是</a:t>
            </a:r>
            <a:r>
              <a:rPr lang="zh-CN" altLang="en-US" sz="2400" b="1" dirty="0" smtClean="0">
                <a:solidFill>
                  <a:srgbClr val="CC0000"/>
                </a:solidFill>
                <a:latin typeface="Times New Roman" panose="02020603050405020304" pitchFamily="18" charset="0"/>
                <a:ea typeface="华文楷体" panose="02010600040101010101" pitchFamily="2" charset="-122"/>
                <a:cs typeface="Times New Roman" panose="02020603050405020304" pitchFamily="18" charset="0"/>
              </a:rPr>
              <a:t>图的</a:t>
            </a:r>
            <a:r>
              <a:rPr lang="en-US" altLang="zh-CN" sz="2400" b="1" dirty="0" smtClean="0">
                <a:solidFill>
                  <a:srgbClr val="CC0000"/>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CC0000"/>
                </a:solidFill>
                <a:latin typeface="Times New Roman" panose="02020603050405020304" pitchFamily="18" charset="0"/>
                <a:ea typeface="华文楷体" panose="02010600040101010101" pitchFamily="2" charset="-122"/>
                <a:cs typeface="Times New Roman" panose="02020603050405020304" pitchFamily="18" charset="0"/>
              </a:rPr>
              <a:t>可着色判定问题</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。若一个图</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最少需要</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种颜色</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才能使图中每条边连接的</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个顶点着不同颜色，则称这个数</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为该图的色数</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求一个图的色数</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的问题称为图的</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可着色优化问题。</a:t>
            </a:r>
          </a:p>
        </p:txBody>
      </p:sp>
      <p:pic>
        <p:nvPicPr>
          <p:cNvPr id="6963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5725" y="4383088"/>
            <a:ext cx="4762500"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Text Box 7"/>
          <p:cNvSpPr txBox="1">
            <a:spLocks noChangeArrowheads="1"/>
          </p:cNvSpPr>
          <p:nvPr/>
        </p:nvSpPr>
        <p:spPr bwMode="auto">
          <a:xfrm>
            <a:off x="409575" y="4852988"/>
            <a:ext cx="3071813" cy="563562"/>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楷体_GB2312" pitchFamily="49" charset="-122"/>
              </a:rPr>
              <a:t>平面图的四色猜想。</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图的</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sz="3200">
                <a:solidFill>
                  <a:schemeClr val="bg1"/>
                </a:solidFill>
                <a:latin typeface="楷体" panose="02010609060101010101" pitchFamily="49" charset="-122"/>
                <a:ea typeface="楷体" panose="02010609060101010101" pitchFamily="49" charset="-122"/>
              </a:rPr>
              <a:t>着色问题</a:t>
            </a:r>
          </a:p>
        </p:txBody>
      </p:sp>
      <p:sp>
        <p:nvSpPr>
          <p:cNvPr id="70659" name="Text Box 4"/>
          <p:cNvSpPr txBox="1">
            <a:spLocks noChangeArrowheads="1"/>
          </p:cNvSpPr>
          <p:nvPr/>
        </p:nvSpPr>
        <p:spPr bwMode="auto">
          <a:xfrm>
            <a:off x="390525" y="2178050"/>
            <a:ext cx="8556625" cy="1280258"/>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解向量：</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 </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表示结点</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所着颜色</a:t>
            </a:r>
            <a:endPar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显式约束：</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 </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1, 2</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m}</a:t>
            </a:r>
            <a:endPar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隐式约束函数：所有</a:t>
            </a:r>
            <a:r>
              <a:rPr lang="zh-CN"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已着色的相邻</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结点</a:t>
            </a:r>
            <a:r>
              <a:rPr lang="zh-CN"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颜色不重复。</a:t>
            </a:r>
            <a:endPar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0660" name="Text Box 5"/>
          <p:cNvSpPr txBox="1">
            <a:spLocks noChangeArrowheads="1"/>
          </p:cNvSpPr>
          <p:nvPr/>
        </p:nvSpPr>
        <p:spPr bwMode="auto">
          <a:xfrm>
            <a:off x="373063" y="3647096"/>
            <a:ext cx="8556625" cy="1236663"/>
          </a:xfrm>
          <a:prstGeom prst="rect">
            <a:avLst/>
          </a:prstGeom>
        </p:spPr>
        <p:style>
          <a:lnRef idx="2">
            <a:schemeClr val="accent2"/>
          </a:lnRef>
          <a:fillRef idx="1">
            <a:schemeClr val="lt1"/>
          </a:fillRef>
          <a:effectRef idx="0">
            <a:schemeClr val="accent2"/>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问题解空间可表示为一颗</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高度为</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n+1</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的完全</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叉树</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。解空间树的第</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 ≤ </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n</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）层每个结点都有</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个儿子，每个儿子相应于</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个可能着色之一。第</a:t>
            </a:r>
            <a:r>
              <a:rPr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n+1</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层结点均为叶结点。</a:t>
            </a:r>
          </a:p>
        </p:txBody>
      </p:sp>
      <p:pic>
        <p:nvPicPr>
          <p:cNvPr id="70661" name="Picture 6" descr="t5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0350" y="4924791"/>
            <a:ext cx="5908675"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Text Box 4"/>
          <p:cNvSpPr txBox="1">
            <a:spLocks noChangeArrowheads="1"/>
          </p:cNvSpPr>
          <p:nvPr/>
        </p:nvSpPr>
        <p:spPr bwMode="auto">
          <a:xfrm>
            <a:off x="390525" y="1123950"/>
            <a:ext cx="8556625" cy="869950"/>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对于含有</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个结点</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的图，问能否能用</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种颜色</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着色，使得任意两个相邻的结点的着色不同？如果可以，给出所有的可行方案。</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6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animBg="1"/>
      <p:bldP spid="7066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图的</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sz="3200">
                <a:solidFill>
                  <a:schemeClr val="bg1"/>
                </a:solidFill>
                <a:latin typeface="楷体" panose="02010609060101010101" pitchFamily="49" charset="-122"/>
                <a:ea typeface="楷体" panose="02010609060101010101" pitchFamily="49" charset="-122"/>
              </a:rPr>
              <a:t>着色问题</a:t>
            </a:r>
          </a:p>
        </p:txBody>
      </p:sp>
      <p:sp>
        <p:nvSpPr>
          <p:cNvPr id="76803" name="Text Box 4"/>
          <p:cNvSpPr txBox="1">
            <a:spLocks noChangeArrowheads="1"/>
          </p:cNvSpPr>
          <p:nvPr/>
        </p:nvSpPr>
        <p:spPr bwMode="auto">
          <a:xfrm>
            <a:off x="322263" y="1312863"/>
            <a:ext cx="4108450" cy="5256212"/>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Color::Backtrack(</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t) </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第</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zh-CN" altLang="en-US"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个结点着色</a:t>
            </a:r>
            <a:endPar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{//color</a:t>
            </a:r>
          </a:p>
          <a:p>
            <a:pPr eaLnBrk="1" hangingPunct="1">
              <a:lnSpc>
                <a:spcPct val="100000"/>
              </a:lnSpc>
              <a:spcBef>
                <a:spcPct val="0"/>
              </a:spcBef>
              <a:buClrTx/>
              <a:buSzTx/>
              <a:buFontTx/>
              <a:buNone/>
              <a:defRPr/>
            </a:pPr>
            <a:r>
              <a:rPr kumimoji="1" lang="en-US" altLang="zh-CN" sz="1600" b="1" dirty="0" smtClean="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  if (t&gt;n) {</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sum++;</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for (</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&lt;=n; </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cout</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&lt;&lt; x[</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&lt;&lt; ' ';</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cout</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&lt;&lt; </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endl</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else</a:t>
            </a:r>
          </a:p>
          <a:p>
            <a:pPr eaLnBrk="1" hangingPunct="1">
              <a:lnSpc>
                <a:spcPct val="100000"/>
              </a:lnSpc>
              <a:spcBef>
                <a:spcPct val="0"/>
              </a:spcBef>
              <a:buClrTx/>
              <a:buSzTx/>
              <a:buFontTx/>
              <a:buNone/>
              <a:defRPr/>
            </a:pP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for (</a:t>
            </a:r>
            <a:r>
              <a:rPr kumimoji="1" lang="en-US" altLang="zh-CN" sz="16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sz="16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&lt;=m; </a:t>
            </a:r>
            <a:r>
              <a:rPr kumimoji="1" lang="en-US" altLang="zh-CN" sz="16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x[t]=</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if (Ok(t)) </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Backtrack(t+1);</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x[t]=0; </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bool Color::Ok(</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t)</a:t>
            </a:r>
          </a:p>
          <a:p>
            <a:pPr eaLnBrk="1" hangingPunct="1">
              <a:lnSpc>
                <a:spcPct val="100000"/>
              </a:lnSpc>
              <a:spcBef>
                <a:spcPct val="0"/>
              </a:spcBef>
              <a:buClrTx/>
              <a:buSzTx/>
              <a:buFontTx/>
              <a:buNone/>
              <a:defRPr/>
            </a:pP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检查颜色重复性</a:t>
            </a:r>
          </a:p>
          <a:p>
            <a:pPr eaLnBrk="1" hangingPunct="1">
              <a:lnSpc>
                <a:spcPct val="100000"/>
              </a:lnSpc>
              <a:spcBef>
                <a:spcPct val="0"/>
              </a:spcBef>
              <a:buClrTx/>
              <a:buSzTx/>
              <a:buFontTx/>
              <a:buNone/>
              <a:defRPr/>
            </a:pPr>
            <a:r>
              <a:rPr kumimoji="1" lang="zh-CN" altLang="en-US"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for (</a:t>
            </a:r>
            <a:r>
              <a:rPr kumimoji="1" lang="en-US" altLang="zh-CN" sz="1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j=1;</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j&lt;=</a:t>
            </a:r>
            <a:r>
              <a:rPr kumimoji="1" lang="en-US" altLang="zh-CN" sz="16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a:t>
            </a:r>
            <a:r>
              <a:rPr kumimoji="1" lang="en-US" altLang="zh-CN" sz="1600" b="1" dirty="0" err="1" smtClean="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j</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 ((a[</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][j]==1)&amp;&amp;(x[j]==x[</a:t>
            </a:r>
            <a:r>
              <a:rPr kumimoji="1" lang="en-US" altLang="zh-CN" sz="1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return false;</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return true;</a:t>
            </a:r>
          </a:p>
          <a:p>
            <a:pPr eaLnBrk="1" hangingPunct="1">
              <a:lnSpc>
                <a:spcPct val="100000"/>
              </a:lnSpc>
              <a:spcBef>
                <a:spcPct val="0"/>
              </a:spcBef>
              <a:buClrTx/>
              <a:buSzTx/>
              <a:buFontTx/>
              <a:buNone/>
              <a:defRPr/>
            </a:pPr>
            <a:r>
              <a:rPr kumimoji="1" lang="en-US" altLang="zh-CN" sz="1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76804" name="Text Box 6"/>
          <p:cNvSpPr txBox="1">
            <a:spLocks noChangeArrowheads="1"/>
          </p:cNvSpPr>
          <p:nvPr/>
        </p:nvSpPr>
        <p:spPr bwMode="auto">
          <a:xfrm>
            <a:off x="4973638" y="1619250"/>
            <a:ext cx="3071812" cy="563563"/>
          </a:xfrm>
          <a:prstGeom prst="rect">
            <a:avLst/>
          </a:prstGeom>
          <a:solidFill>
            <a:srgbClr val="CCFFFF"/>
          </a:solidFill>
          <a:ln w="25400">
            <a:solidFill>
              <a:srgbClr val="FF6600"/>
            </a:solidFill>
            <a:miter lim="800000"/>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类似于</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后问题。</a:t>
            </a:r>
          </a:p>
        </p:txBody>
      </p:sp>
      <p:sp>
        <p:nvSpPr>
          <p:cNvPr id="8" name="Text Box 4"/>
          <p:cNvSpPr txBox="1">
            <a:spLocks noChangeArrowheads="1"/>
          </p:cNvSpPr>
          <p:nvPr/>
        </p:nvSpPr>
        <p:spPr bwMode="auto">
          <a:xfrm>
            <a:off x="4592638" y="4765675"/>
            <a:ext cx="4357687" cy="1909763"/>
          </a:xfrm>
          <a:prstGeom prst="rect">
            <a:avLst/>
          </a:prstGeom>
        </p:spPr>
        <p:style>
          <a:lnRef idx="2">
            <a:schemeClr val="accent2"/>
          </a:lnRef>
          <a:fillRef idx="1">
            <a:schemeClr val="lt1"/>
          </a:fillRef>
          <a:effectRef idx="0">
            <a:schemeClr val="accent2"/>
          </a:effectRef>
          <a:fontRef idx="minor">
            <a:schemeClr val="dk1"/>
          </a:fontRef>
        </p:style>
        <p:txBody>
          <a:bodyPr/>
          <a:lstStyle/>
          <a:p>
            <a:pPr>
              <a:buClr>
                <a:schemeClr val="accent2"/>
              </a:buCl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check(</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pos) {</a:t>
            </a:r>
          </a:p>
          <a:p>
            <a:pPr>
              <a:buClr>
                <a:schemeClr val="accent2"/>
              </a:buCl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&lt;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buClr>
                <a:schemeClr val="accent2"/>
              </a:buCl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if(abs(x[</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x[</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abs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or x[</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x[</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buClr>
                <a:schemeClr val="accent2"/>
              </a:buCl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0;</a:t>
            </a:r>
          </a:p>
          <a:p>
            <a:pPr>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1; }</a:t>
            </a:r>
            <a:endPar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Text Box 6"/>
          <p:cNvSpPr txBox="1">
            <a:spLocks noChangeArrowheads="1"/>
          </p:cNvSpPr>
          <p:nvPr/>
        </p:nvSpPr>
        <p:spPr bwMode="auto">
          <a:xfrm>
            <a:off x="4652963" y="1138238"/>
            <a:ext cx="4262437" cy="3403600"/>
          </a:xfrm>
          <a:prstGeom prst="rect">
            <a:avLst/>
          </a:prstGeom>
        </p:spPr>
        <p:style>
          <a:lnRef idx="2">
            <a:schemeClr val="accent1"/>
          </a:lnRef>
          <a:fillRef idx="1">
            <a:schemeClr val="lt1"/>
          </a:fillRef>
          <a:effectRef idx="0">
            <a:schemeClr val="accent1"/>
          </a:effectRef>
          <a:fontRef idx="minor">
            <a:schemeClr val="dk1"/>
          </a:fontRef>
        </p:style>
        <p:txBody>
          <a:bodyPr/>
          <a:lstStyle/>
          <a:p>
            <a:pPr>
              <a:defRPr/>
            </a:pPr>
            <a:r>
              <a:rPr kumimoji="1"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n = *; sum = 0; a[n];</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void Queen::Backtrack(</a:t>
            </a:r>
            <a:r>
              <a:rPr kumimoji="1" lang="en-US" altLang="zh-CN" sz="2000" b="1" dirty="0" err="1">
                <a:solidFill>
                  <a:schemeClr val="tx1">
                    <a:lumMod val="50000"/>
                  </a:schemeClr>
                </a:solidFill>
                <a:latin typeface="Times New Roman" panose="02020603050405020304" pitchFamily="18" charset="0"/>
                <a:cs typeface="Times New Roman" panose="02020603050405020304" pitchFamily="18" charset="0"/>
              </a:rPr>
              <a:t>int</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t) {//</a:t>
            </a:r>
            <a:r>
              <a:rPr kumimoji="1" lang="en-US" altLang="zh-CN" sz="2000" b="1" dirty="0" err="1">
                <a:solidFill>
                  <a:schemeClr val="tx1">
                    <a:lumMod val="50000"/>
                  </a:schemeClr>
                </a:solidFill>
                <a:latin typeface="Times New Roman" panose="02020603050405020304" pitchFamily="18" charset="0"/>
                <a:cs typeface="Times New Roman" panose="02020603050405020304" pitchFamily="18" charset="0"/>
              </a:rPr>
              <a:t>NQueen</a:t>
            </a:r>
            <a:endPar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endParaRP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if (t &gt; n) sum++;</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else</a:t>
            </a:r>
          </a:p>
          <a:p>
            <a:pPr>
              <a:defRPr/>
            </a:pPr>
            <a:r>
              <a:rPr kumimoji="1" lang="en-US" altLang="zh-CN" sz="2000" b="1" dirty="0">
                <a:solidFill>
                  <a:srgbClr val="FF0000"/>
                </a:solidFill>
                <a:latin typeface="Times New Roman" panose="02020603050405020304" pitchFamily="18" charset="0"/>
                <a:cs typeface="Times New Roman" panose="02020603050405020304" pitchFamily="18" charset="0"/>
              </a:rPr>
              <a:t>            for (</a:t>
            </a:r>
            <a:r>
              <a:rPr kumimoji="1" lang="en-US" altLang="zh-CN" sz="2000" b="1" dirty="0" err="1">
                <a:solidFill>
                  <a:srgbClr val="FF0000"/>
                </a:solidFill>
                <a:latin typeface="Times New Roman" panose="02020603050405020304" pitchFamily="18" charset="0"/>
                <a:cs typeface="Times New Roman" panose="02020603050405020304" pitchFamily="18" charset="0"/>
              </a:rPr>
              <a:t>int</a:t>
            </a:r>
            <a:r>
              <a:rPr kumimoji="1" lang="en-US" altLang="zh-CN" sz="2000" b="1" dirty="0">
                <a:solidFill>
                  <a:srgbClr val="FF0000"/>
                </a:solidFill>
                <a:latin typeface="Times New Roman" panose="02020603050405020304" pitchFamily="18" charset="0"/>
                <a:cs typeface="Times New Roman" panose="02020603050405020304" pitchFamily="18" charset="0"/>
              </a:rPr>
              <a:t> </a:t>
            </a:r>
            <a:r>
              <a:rPr kumimoji="1" lang="en-US" altLang="zh-CN" sz="2000" b="1" dirty="0" err="1">
                <a:solidFill>
                  <a:srgbClr val="FF0000"/>
                </a:solidFill>
                <a:latin typeface="Times New Roman" panose="02020603050405020304" pitchFamily="18" charset="0"/>
                <a:cs typeface="Times New Roman" panose="02020603050405020304" pitchFamily="18" charset="0"/>
              </a:rPr>
              <a:t>i</a:t>
            </a:r>
            <a:r>
              <a:rPr kumimoji="1" lang="en-US" altLang="zh-CN" sz="2000" b="1" dirty="0">
                <a:solidFill>
                  <a:srgbClr val="FF0000"/>
                </a:solidFill>
                <a:latin typeface="Times New Roman" panose="02020603050405020304" pitchFamily="18" charset="0"/>
                <a:cs typeface="Times New Roman" panose="02020603050405020304" pitchFamily="18" charset="0"/>
              </a:rPr>
              <a:t> = 1; </a:t>
            </a:r>
            <a:r>
              <a:rPr kumimoji="1" lang="en-US" altLang="zh-CN" sz="2000" b="1" dirty="0" err="1">
                <a:solidFill>
                  <a:srgbClr val="FF0000"/>
                </a:solidFill>
                <a:latin typeface="Times New Roman" panose="02020603050405020304" pitchFamily="18" charset="0"/>
                <a:cs typeface="Times New Roman" panose="02020603050405020304" pitchFamily="18" charset="0"/>
              </a:rPr>
              <a:t>i</a:t>
            </a:r>
            <a:r>
              <a:rPr kumimoji="1" lang="en-US" altLang="zh-CN" sz="2000" b="1" dirty="0">
                <a:solidFill>
                  <a:srgbClr val="FF0000"/>
                </a:solidFill>
                <a:latin typeface="Times New Roman" panose="02020603050405020304" pitchFamily="18" charset="0"/>
                <a:cs typeface="Times New Roman" panose="02020603050405020304" pitchFamily="18" charset="0"/>
              </a:rPr>
              <a:t> </a:t>
            </a:r>
            <a:r>
              <a:rPr kumimoji="1" lang="en-US" altLang="zh-CN" sz="2000" b="1" dirty="0">
                <a:solidFill>
                  <a:srgbClr val="FF0000"/>
                </a:solidFill>
                <a:latin typeface="Times New Roman" panose="02020603050405020304" pitchFamily="18" charset="0"/>
                <a:cs typeface="Times New Roman" panose="02020603050405020304" pitchFamily="18" charset="0"/>
                <a:sym typeface="Symbol" panose="05050102010706020507"/>
              </a:rPr>
              <a:t> </a:t>
            </a:r>
            <a:r>
              <a:rPr kumimoji="1" lang="en-US" altLang="zh-CN" sz="2000" b="1" dirty="0">
                <a:solidFill>
                  <a:srgbClr val="FF0000"/>
                </a:solidFill>
                <a:latin typeface="Times New Roman" panose="02020603050405020304" pitchFamily="18" charset="0"/>
                <a:cs typeface="Times New Roman" panose="02020603050405020304" pitchFamily="18" charset="0"/>
              </a:rPr>
              <a:t>n; </a:t>
            </a:r>
            <a:r>
              <a:rPr kumimoji="1" lang="en-US" altLang="zh-CN" sz="2000" b="1" dirty="0" err="1">
                <a:solidFill>
                  <a:srgbClr val="FF0000"/>
                </a:solidFill>
                <a:latin typeface="Times New Roman" panose="02020603050405020304" pitchFamily="18" charset="0"/>
                <a:cs typeface="Times New Roman" panose="02020603050405020304" pitchFamily="18" charset="0"/>
              </a:rPr>
              <a:t>i</a:t>
            </a:r>
            <a:r>
              <a:rPr kumimoji="1" lang="en-US" altLang="zh-CN" sz="2000" b="1" dirty="0">
                <a:solidFill>
                  <a:srgbClr val="FF0000"/>
                </a:solidFill>
                <a:latin typeface="Times New Roman" panose="02020603050405020304" pitchFamily="18" charset="0"/>
                <a:cs typeface="Times New Roman" panose="02020603050405020304" pitchFamily="18" charset="0"/>
              </a:rPr>
              <a:t>++) </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x[t] = </a:t>
            </a:r>
            <a:r>
              <a:rPr kumimoji="1" lang="en-US" altLang="zh-CN" sz="2000" b="1" dirty="0" err="1">
                <a:solidFill>
                  <a:schemeClr val="tx1">
                    <a:lumMod val="50000"/>
                  </a:schemeClr>
                </a:solidFill>
                <a:latin typeface="Times New Roman" panose="02020603050405020304" pitchFamily="18" charset="0"/>
                <a:cs typeface="Times New Roman" panose="02020603050405020304" pitchFamily="18" charset="0"/>
              </a:rPr>
              <a:t>i</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if (</a:t>
            </a:r>
            <a:r>
              <a:rPr kumimoji="1" lang="en-US" altLang="zh-CN" sz="2000" b="1" dirty="0">
                <a:solidFill>
                  <a:srgbClr val="FF0000"/>
                </a:solidFill>
                <a:latin typeface="Times New Roman" panose="02020603050405020304" pitchFamily="18" charset="0"/>
                <a:cs typeface="Times New Roman" panose="02020603050405020304" pitchFamily="18" charset="0"/>
              </a:rPr>
              <a:t>check(t)</a:t>
            </a: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Backtrack(t+1);</a:t>
            </a:r>
          </a:p>
          <a:p>
            <a:pPr>
              <a:defRPr/>
            </a:pPr>
            <a:r>
              <a:rPr kumimoji="1" lang="en-US" altLang="zh-CN" sz="2000" b="1" dirty="0">
                <a:solidFill>
                  <a:schemeClr val="tx1">
                    <a:lumMod val="50000"/>
                  </a:schemeClr>
                </a:solidFill>
                <a:latin typeface="Times New Roman" panose="02020603050405020304" pitchFamily="18" charset="0"/>
                <a:cs typeface="Times New Roman" panose="02020603050405020304" pitchFamily="18" charset="0"/>
              </a:rPr>
              <a:t>            }</a:t>
            </a:r>
          </a:p>
          <a:p>
            <a:pPr>
              <a:defRPr/>
            </a:pPr>
            <a:r>
              <a:rPr kumimoji="1"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p>
          <a:p>
            <a:pPr>
              <a:defRPr/>
            </a:pPr>
            <a:endParaRPr lang="zh-CN" altLang="en-US" dirty="0">
              <a:ea typeface="楷体_GB2312" pitchFamily="49" charset="-122"/>
              <a:cs typeface="Times New Roman" panose="02020603050405020304" pitchFamily="18" charset="0"/>
            </a:endParaRPr>
          </a:p>
        </p:txBody>
      </p:sp>
      <p:sp>
        <p:nvSpPr>
          <p:cNvPr id="7" name="圆角矩形 6"/>
          <p:cNvSpPr/>
          <p:nvPr/>
        </p:nvSpPr>
        <p:spPr>
          <a:xfrm>
            <a:off x="2425700" y="5346700"/>
            <a:ext cx="1778000" cy="4095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zh-CN" altLang="en-US"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是否需要到</a:t>
            </a:r>
            <a:r>
              <a:rPr kumimoji="1" lang="en-US" altLang="zh-CN"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n?</a:t>
            </a:r>
            <a:endParaRPr lang="zh-CN" altLang="en-US"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圆角矩形 9"/>
          <p:cNvSpPr/>
          <p:nvPr/>
        </p:nvSpPr>
        <p:spPr>
          <a:xfrm>
            <a:off x="1663700" y="4279900"/>
            <a:ext cx="1917700" cy="4095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zh-CN" altLang="en-US"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是否需要</a:t>
            </a:r>
            <a:r>
              <a:rPr kumimoji="1" lang="en-US" altLang="zh-CN"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x[t]=0?</a:t>
            </a:r>
            <a:endParaRPr lang="zh-CN" altLang="en-US"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8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animBg="1"/>
      <p:bldP spid="7" grpId="0" animBg="1"/>
      <p:bldP spid="1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图的</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sz="3200">
                <a:solidFill>
                  <a:schemeClr val="bg1"/>
                </a:solidFill>
                <a:latin typeface="楷体" panose="02010609060101010101" pitchFamily="49" charset="-122"/>
                <a:ea typeface="楷体" panose="02010609060101010101" pitchFamily="49" charset="-122"/>
              </a:rPr>
              <a:t>着色问题</a:t>
            </a:r>
          </a:p>
        </p:txBody>
      </p:sp>
      <p:sp>
        <p:nvSpPr>
          <p:cNvPr id="78851" name="Text Box 4"/>
          <p:cNvSpPr txBox="1">
            <a:spLocks noChangeArrowheads="1"/>
          </p:cNvSpPr>
          <p:nvPr/>
        </p:nvSpPr>
        <p:spPr bwMode="auto">
          <a:xfrm>
            <a:off x="363538" y="1322388"/>
            <a:ext cx="4108450" cy="5256212"/>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Color::Backtrack(int t)</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if (t&gt;n) {</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sum++;</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for (int i=1; i&lt;=n; i++)</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cout &lt;&lt; x[i] &lt;&lt; ' ';</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cout &lt;&lt; endl;</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else</a:t>
            </a:r>
          </a:p>
          <a:p>
            <a:pPr eaLnBrk="1" hangingPunct="1">
              <a:lnSpc>
                <a:spcPct val="100000"/>
              </a:lnSpc>
              <a:spcBef>
                <a:spcPct val="0"/>
              </a:spcBef>
              <a:buClrTx/>
              <a:buSzTx/>
              <a:buFontTx/>
              <a:buNone/>
              <a:defRPr/>
            </a:pPr>
            <a:r>
              <a:rPr kumimoji="1" lang="en-US" altLang="zh-CN" sz="1600"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for (int i=1; i&lt;=m; i++) {</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x[t]=i;</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if (Ok(t)) </a:t>
            </a: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Backtrack(t+1);</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x[t]=0;</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bool Color::Ok(int t)</a:t>
            </a:r>
          </a:p>
          <a:p>
            <a:pPr eaLnBrk="1" hangingPunct="1">
              <a:lnSpc>
                <a:spcPct val="100000"/>
              </a:lnSpc>
              <a:spcBef>
                <a:spcPct val="0"/>
              </a:spcBef>
              <a:buClrTx/>
              <a:buSzTx/>
              <a:buFontTx/>
              <a:buNone/>
              <a:defRPr/>
            </a:pPr>
            <a:r>
              <a:rPr kumimoji="1" lang="en-US" altLang="zh-CN" sz="1600"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1600"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检查颜色重复性</a:t>
            </a:r>
          </a:p>
          <a:p>
            <a:pPr eaLnBrk="1" hangingPunct="1">
              <a:lnSpc>
                <a:spcPct val="100000"/>
              </a:lnSpc>
              <a:spcBef>
                <a:spcPct val="0"/>
              </a:spcBef>
              <a:buClrTx/>
              <a:buSzTx/>
              <a:buFontTx/>
              <a:buNone/>
              <a:defRPr/>
            </a:pPr>
            <a:r>
              <a:rPr kumimoji="1" lang="zh-CN" altLang="en-US"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for (int j=1;</a:t>
            </a:r>
            <a:r>
              <a:rPr kumimoji="1" lang="en-US" altLang="zh-CN" sz="1600" b="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j&lt;=n;</a:t>
            </a:r>
            <a:r>
              <a:rPr kumimoji="1" lang="en-US" altLang="zh-CN" sz="1600" b="1" smtClean="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j</a:t>
            </a: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 ((a[t][j]==1)&amp;&amp;(x[j]==x[t])) return false;</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return true;</a:t>
            </a:r>
          </a:p>
          <a:p>
            <a:pPr eaLnBrk="1" hangingPunct="1">
              <a:lnSpc>
                <a:spcPct val="100000"/>
              </a:lnSpc>
              <a:spcBef>
                <a:spcPct val="0"/>
              </a:spcBef>
              <a:buClrTx/>
              <a:buSzTx/>
              <a:buFontTx/>
              <a:buNone/>
              <a:defRPr/>
            </a:pPr>
            <a:r>
              <a:rPr kumimoji="1" lang="en-US" altLang="zh-CN" sz="1600" b="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1" name="AutoShape 5"/>
          <p:cNvSpPr>
            <a:spLocks noChangeArrowheads="1"/>
          </p:cNvSpPr>
          <p:nvPr/>
        </p:nvSpPr>
        <p:spPr bwMode="auto">
          <a:xfrm>
            <a:off x="4721225" y="2371725"/>
            <a:ext cx="4211638" cy="3354388"/>
          </a:xfrm>
          <a:prstGeom prst="roundRect">
            <a:avLst>
              <a:gd name="adj" fmla="val 16667"/>
            </a:avLst>
          </a:prstGeom>
          <a:solidFill>
            <a:srgbClr val="FFFFFF"/>
          </a:solidFill>
          <a:ln w="38100">
            <a:solidFill>
              <a:srgbClr val="063DE8"/>
            </a:solidFill>
            <a:round/>
          </a:ln>
        </p:spPr>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算法时间复杂度</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分析：</a:t>
            </a:r>
          </a:p>
          <a:p>
            <a:pPr defTabSz="914400" eaLnBrk="1" hangingPunct="1">
              <a:lnSpc>
                <a:spcPct val="100000"/>
              </a:lnSpc>
              <a:spcBef>
                <a:spcPct val="0"/>
              </a:spcBef>
              <a:buClrTx/>
              <a:buSzTx/>
              <a:buFontTx/>
              <a:buNone/>
            </a:pP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(1</a:t>
            </a:r>
            <a:r>
              <a:rPr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结点数</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p>
          <a:p>
            <a:pPr defTabSz="914400" eaLnBrk="1" hangingPunct="1">
              <a:lnSpc>
                <a:spcPct val="100000"/>
              </a:lnSpc>
              <a:spcBef>
                <a:spcPct val="0"/>
              </a:spcBef>
              <a:buClrTx/>
              <a:buSzTx/>
              <a:buFontTx/>
              <a:buNone/>
            </a:pP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1+m+m</a:t>
            </a:r>
            <a:r>
              <a:rPr lang="en-US" altLang="zh-CN" sz="2400" b="1" baseline="30000"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2</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m</a:t>
            </a:r>
            <a:r>
              <a:rPr lang="en-US" altLang="zh-CN" sz="2400" b="1" baseline="30000"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n</a:t>
            </a:r>
            <a:r>
              <a:rPr lang="en-US" altLang="zh-CN" sz="2400" b="1" baseline="30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sz="2400" b="1" baseline="30000"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n+1</a:t>
            </a: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)/(m-1)≤</a:t>
            </a: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r>
              <a:rPr lang="en-US" altLang="zh-CN" sz="2400" b="1" baseline="30000"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n+1</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/(m/2)=</a:t>
            </a: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2m</a:t>
            </a:r>
            <a:r>
              <a:rPr lang="en-US" altLang="zh-CN" sz="2400" b="1" baseline="30000"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endParaRPr lang="en-US" altLang="zh-CN" sz="2400" b="1" baseline="30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defTabSz="914400" eaLnBrk="1" hangingPunct="1">
              <a:lnSpc>
                <a:spcPct val="100000"/>
              </a:lnSpc>
              <a:spcBef>
                <a:spcPct val="0"/>
              </a:spcBef>
              <a:buClrTx/>
              <a:buSzTx/>
              <a:buFontTx/>
              <a:buNone/>
            </a:pP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最坏情况下</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每个结点都</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要与其它</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所有结点的</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颜色比较，复杂度</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O(n)</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a:p>
            <a:pPr defTabSz="914400" eaLnBrk="1" hangingPunct="1">
              <a:lnSpc>
                <a:spcPct val="100000"/>
              </a:lnSpc>
              <a:spcBef>
                <a:spcPct val="0"/>
              </a:spcBef>
              <a:buClrTx/>
              <a:buSzTx/>
              <a:buFontTx/>
              <a:buNone/>
            </a:pP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故复杂度为</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O(</a:t>
            </a: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nm</a:t>
            </a:r>
            <a:r>
              <a:rPr lang="en-US" altLang="zh-CN" sz="2400" b="1" baseline="30000"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 name="圆角矩形 5"/>
          <p:cNvSpPr/>
          <p:nvPr/>
        </p:nvSpPr>
        <p:spPr>
          <a:xfrm>
            <a:off x="2387600" y="4968875"/>
            <a:ext cx="2154238" cy="7810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并不需要</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check</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check</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t-1</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即可</a:t>
            </a:r>
          </a:p>
        </p:txBody>
      </p:sp>
      <p:sp>
        <p:nvSpPr>
          <p:cNvPr id="7" name="圆角矩形 6"/>
          <p:cNvSpPr/>
          <p:nvPr/>
        </p:nvSpPr>
        <p:spPr>
          <a:xfrm>
            <a:off x="1693863" y="4318000"/>
            <a:ext cx="3059112" cy="5492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并不需要</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x[t]=0</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，向下会重新计算，回溯值不会影响</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图的</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sz="3200">
                <a:solidFill>
                  <a:schemeClr val="bg1"/>
                </a:solidFill>
                <a:latin typeface="楷体" panose="02010609060101010101" pitchFamily="49" charset="-122"/>
                <a:ea typeface="楷体" panose="02010609060101010101" pitchFamily="49" charset="-122"/>
              </a:rPr>
              <a:t>着色问题</a:t>
            </a:r>
          </a:p>
        </p:txBody>
      </p:sp>
      <p:sp>
        <p:nvSpPr>
          <p:cNvPr id="78851" name="Oval 4"/>
          <p:cNvSpPr>
            <a:spLocks noChangeArrowheads="1"/>
          </p:cNvSpPr>
          <p:nvPr/>
        </p:nvSpPr>
        <p:spPr bwMode="auto">
          <a:xfrm>
            <a:off x="884238" y="1698625"/>
            <a:ext cx="304800" cy="304800"/>
          </a:xfrm>
          <a:prstGeom prst="ellipse">
            <a:avLst/>
          </a:prstGeom>
          <a:solidFill>
            <a:srgbClr val="FFFF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8852" name="Oval 5"/>
          <p:cNvSpPr>
            <a:spLocks noChangeArrowheads="1"/>
          </p:cNvSpPr>
          <p:nvPr/>
        </p:nvSpPr>
        <p:spPr bwMode="auto">
          <a:xfrm>
            <a:off x="1951038" y="1698625"/>
            <a:ext cx="304800" cy="304800"/>
          </a:xfrm>
          <a:prstGeom prst="ellipse">
            <a:avLst/>
          </a:prstGeom>
          <a:solidFill>
            <a:srgbClr val="FFFF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8853" name="Oval 6"/>
          <p:cNvSpPr>
            <a:spLocks noChangeArrowheads="1"/>
          </p:cNvSpPr>
          <p:nvPr/>
        </p:nvSpPr>
        <p:spPr bwMode="auto">
          <a:xfrm>
            <a:off x="1951038" y="2308225"/>
            <a:ext cx="304800" cy="304800"/>
          </a:xfrm>
          <a:prstGeom prst="ellipse">
            <a:avLst/>
          </a:prstGeom>
          <a:solidFill>
            <a:srgbClr val="FFFF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8854" name="Oval 7"/>
          <p:cNvSpPr>
            <a:spLocks noChangeArrowheads="1"/>
          </p:cNvSpPr>
          <p:nvPr/>
        </p:nvSpPr>
        <p:spPr bwMode="auto">
          <a:xfrm>
            <a:off x="884238" y="2308225"/>
            <a:ext cx="304800" cy="304800"/>
          </a:xfrm>
          <a:prstGeom prst="ellipse">
            <a:avLst/>
          </a:prstGeom>
          <a:solidFill>
            <a:srgbClr val="FFFF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8855" name="Line 8"/>
          <p:cNvSpPr>
            <a:spLocks noChangeShapeType="1"/>
          </p:cNvSpPr>
          <p:nvPr/>
        </p:nvSpPr>
        <p:spPr bwMode="auto">
          <a:xfrm>
            <a:off x="1189038" y="185102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56" name="Line 9"/>
          <p:cNvSpPr>
            <a:spLocks noChangeShapeType="1"/>
          </p:cNvSpPr>
          <p:nvPr/>
        </p:nvSpPr>
        <p:spPr bwMode="auto">
          <a:xfrm>
            <a:off x="1190625" y="243998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57" name="Line 10"/>
          <p:cNvSpPr>
            <a:spLocks noChangeShapeType="1"/>
          </p:cNvSpPr>
          <p:nvPr/>
        </p:nvSpPr>
        <p:spPr bwMode="auto">
          <a:xfrm>
            <a:off x="1025525" y="200342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58" name="Line 11"/>
          <p:cNvSpPr>
            <a:spLocks noChangeShapeType="1"/>
          </p:cNvSpPr>
          <p:nvPr/>
        </p:nvSpPr>
        <p:spPr bwMode="auto">
          <a:xfrm>
            <a:off x="2103438" y="200342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59" name="Oval 12"/>
          <p:cNvSpPr>
            <a:spLocks noChangeArrowheads="1"/>
          </p:cNvSpPr>
          <p:nvPr/>
        </p:nvSpPr>
        <p:spPr bwMode="auto">
          <a:xfrm>
            <a:off x="3246438" y="192722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60" name="Oval 13"/>
          <p:cNvSpPr>
            <a:spLocks noChangeArrowheads="1"/>
          </p:cNvSpPr>
          <p:nvPr/>
        </p:nvSpPr>
        <p:spPr bwMode="auto">
          <a:xfrm>
            <a:off x="4389438" y="192722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61" name="Oval 14"/>
          <p:cNvSpPr>
            <a:spLocks noChangeArrowheads="1"/>
          </p:cNvSpPr>
          <p:nvPr/>
        </p:nvSpPr>
        <p:spPr bwMode="auto">
          <a:xfrm>
            <a:off x="5456238" y="192722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endPar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62" name="Text Box 16"/>
          <p:cNvSpPr txBox="1">
            <a:spLocks noChangeArrowheads="1"/>
          </p:cNvSpPr>
          <p:nvPr/>
        </p:nvSpPr>
        <p:spPr bwMode="auto">
          <a:xfrm>
            <a:off x="3290888" y="23082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8863" name="Text Box 17"/>
          <p:cNvSpPr txBox="1">
            <a:spLocks noChangeArrowheads="1"/>
          </p:cNvSpPr>
          <p:nvPr/>
        </p:nvSpPr>
        <p:spPr bwMode="auto">
          <a:xfrm>
            <a:off x="4387850" y="2286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8864" name="Text Box 18"/>
          <p:cNvSpPr txBox="1">
            <a:spLocks noChangeArrowheads="1"/>
          </p:cNvSpPr>
          <p:nvPr/>
        </p:nvSpPr>
        <p:spPr bwMode="auto">
          <a:xfrm>
            <a:off x="5491163" y="226377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nvGrpSpPr>
          <p:cNvPr id="2" name="Group 141"/>
          <p:cNvGrpSpPr/>
          <p:nvPr/>
        </p:nvGrpSpPr>
        <p:grpSpPr bwMode="auto">
          <a:xfrm>
            <a:off x="1254125" y="2565400"/>
            <a:ext cx="7205663" cy="4062413"/>
            <a:chOff x="461" y="1497"/>
            <a:chExt cx="4868" cy="2823"/>
          </a:xfrm>
        </p:grpSpPr>
        <p:sp>
          <p:nvSpPr>
            <p:cNvPr id="78866" name="Oval 39"/>
            <p:cNvSpPr>
              <a:spLocks noChangeArrowheads="1"/>
            </p:cNvSpPr>
            <p:nvPr/>
          </p:nvSpPr>
          <p:spPr bwMode="auto">
            <a:xfrm>
              <a:off x="461" y="3945"/>
              <a:ext cx="144" cy="144"/>
            </a:xfrm>
            <a:prstGeom prst="ellipse">
              <a:avLst/>
            </a:prstGeom>
            <a:solidFill>
              <a:srgbClr val="0066FF"/>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67" name="Line 40"/>
            <p:cNvSpPr>
              <a:spLocks noChangeShapeType="1"/>
            </p:cNvSpPr>
            <p:nvPr/>
          </p:nvSpPr>
          <p:spPr bwMode="auto">
            <a:xfrm flipH="1">
              <a:off x="516" y="3177"/>
              <a:ext cx="192" cy="768"/>
            </a:xfrm>
            <a:prstGeom prst="line">
              <a:avLst/>
            </a:prstGeom>
            <a:noFill/>
            <a:ln w="19050" cap="rnd">
              <a:solidFill>
                <a:srgbClr val="0066FF"/>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68" name="Oval 20"/>
            <p:cNvSpPr>
              <a:spLocks noChangeArrowheads="1"/>
            </p:cNvSpPr>
            <p:nvPr/>
          </p:nvSpPr>
          <p:spPr bwMode="auto">
            <a:xfrm>
              <a:off x="3252" y="1497"/>
              <a:ext cx="144" cy="144"/>
            </a:xfrm>
            <a:prstGeom prst="ellipse">
              <a:avLst/>
            </a:prstGeom>
            <a:noFill/>
            <a:ln w="19050">
              <a:solidFill>
                <a:srgbClr val="000066"/>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69" name="Oval 21"/>
            <p:cNvSpPr>
              <a:spLocks noChangeArrowheads="1"/>
            </p:cNvSpPr>
            <p:nvPr/>
          </p:nvSpPr>
          <p:spPr bwMode="auto">
            <a:xfrm>
              <a:off x="2148" y="1882"/>
              <a:ext cx="144" cy="144"/>
            </a:xfrm>
            <a:prstGeom prst="ellipse">
              <a:avLst/>
            </a:prstGeom>
            <a:solidFill>
              <a:srgbClr val="0066FF"/>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70" name="Oval 22"/>
            <p:cNvSpPr>
              <a:spLocks noChangeArrowheads="1"/>
            </p:cNvSpPr>
            <p:nvPr/>
          </p:nvSpPr>
          <p:spPr bwMode="auto">
            <a:xfrm>
              <a:off x="3246" y="1861"/>
              <a:ext cx="144" cy="144"/>
            </a:xfrm>
            <a:prstGeom prst="ellipse">
              <a:avLst/>
            </a:prstGeom>
            <a:solidFill>
              <a:srgbClr val="FF33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71" name="Oval 23"/>
            <p:cNvSpPr>
              <a:spLocks noChangeArrowheads="1"/>
            </p:cNvSpPr>
            <p:nvPr/>
          </p:nvSpPr>
          <p:spPr bwMode="auto">
            <a:xfrm>
              <a:off x="4260" y="1882"/>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72" name="Line 24"/>
            <p:cNvSpPr>
              <a:spLocks noChangeShapeType="1"/>
            </p:cNvSpPr>
            <p:nvPr/>
          </p:nvSpPr>
          <p:spPr bwMode="auto">
            <a:xfrm flipH="1">
              <a:off x="2292" y="1593"/>
              <a:ext cx="960" cy="336"/>
            </a:xfrm>
            <a:prstGeom prst="line">
              <a:avLst/>
            </a:prstGeom>
            <a:noFill/>
            <a:ln w="19050">
              <a:solidFill>
                <a:srgbClr val="0066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73" name="Line 25"/>
            <p:cNvSpPr>
              <a:spLocks noChangeShapeType="1"/>
            </p:cNvSpPr>
            <p:nvPr/>
          </p:nvSpPr>
          <p:spPr bwMode="auto">
            <a:xfrm>
              <a:off x="3314" y="1648"/>
              <a:ext cx="0" cy="192"/>
            </a:xfrm>
            <a:prstGeom prst="line">
              <a:avLst/>
            </a:prstGeom>
            <a:noFill/>
            <a:ln w="19050">
              <a:solidFill>
                <a:srgbClr val="FF33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74" name="Line 26"/>
            <p:cNvSpPr>
              <a:spLocks noChangeShapeType="1"/>
            </p:cNvSpPr>
            <p:nvPr/>
          </p:nvSpPr>
          <p:spPr bwMode="auto">
            <a:xfrm>
              <a:off x="3396" y="1593"/>
              <a:ext cx="864" cy="288"/>
            </a:xfrm>
            <a:prstGeom prst="line">
              <a:avLst/>
            </a:prstGeom>
            <a:noFill/>
            <a:ln w="19050">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75" name="Oval 27"/>
            <p:cNvSpPr>
              <a:spLocks noChangeArrowheads="1"/>
            </p:cNvSpPr>
            <p:nvPr/>
          </p:nvSpPr>
          <p:spPr bwMode="auto">
            <a:xfrm>
              <a:off x="878" y="2416"/>
              <a:ext cx="144" cy="144"/>
            </a:xfrm>
            <a:prstGeom prst="ellipse">
              <a:avLst/>
            </a:prstGeom>
            <a:solidFill>
              <a:srgbClr val="0066FF"/>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76" name="Oval 28"/>
            <p:cNvSpPr>
              <a:spLocks noChangeArrowheads="1"/>
            </p:cNvSpPr>
            <p:nvPr/>
          </p:nvSpPr>
          <p:spPr bwMode="auto">
            <a:xfrm>
              <a:off x="1262" y="2416"/>
              <a:ext cx="144" cy="144"/>
            </a:xfrm>
            <a:prstGeom prst="ellipse">
              <a:avLst/>
            </a:prstGeom>
            <a:solidFill>
              <a:srgbClr val="FF33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77" name="Oval 29"/>
            <p:cNvSpPr>
              <a:spLocks noChangeArrowheads="1"/>
            </p:cNvSpPr>
            <p:nvPr/>
          </p:nvSpPr>
          <p:spPr bwMode="auto">
            <a:xfrm>
              <a:off x="1956" y="2409"/>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78" name="Line 30"/>
            <p:cNvSpPr>
              <a:spLocks noChangeShapeType="1"/>
            </p:cNvSpPr>
            <p:nvPr/>
          </p:nvSpPr>
          <p:spPr bwMode="auto">
            <a:xfrm flipH="1">
              <a:off x="996" y="1977"/>
              <a:ext cx="1152" cy="432"/>
            </a:xfrm>
            <a:prstGeom prst="line">
              <a:avLst/>
            </a:prstGeom>
            <a:noFill/>
            <a:ln w="19050" cap="rnd">
              <a:solidFill>
                <a:srgbClr val="33CCCC"/>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79" name="Line 31"/>
            <p:cNvSpPr>
              <a:spLocks noChangeShapeType="1"/>
            </p:cNvSpPr>
            <p:nvPr/>
          </p:nvSpPr>
          <p:spPr bwMode="auto">
            <a:xfrm flipH="1">
              <a:off x="1380" y="1977"/>
              <a:ext cx="768" cy="432"/>
            </a:xfrm>
            <a:prstGeom prst="line">
              <a:avLst/>
            </a:prstGeom>
            <a:noFill/>
            <a:ln w="19050">
              <a:solidFill>
                <a:srgbClr val="FF33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80" name="Line 32"/>
            <p:cNvSpPr>
              <a:spLocks noChangeShapeType="1"/>
            </p:cNvSpPr>
            <p:nvPr/>
          </p:nvSpPr>
          <p:spPr bwMode="auto">
            <a:xfrm flipH="1">
              <a:off x="2025" y="2025"/>
              <a:ext cx="144" cy="384"/>
            </a:xfrm>
            <a:prstGeom prst="line">
              <a:avLst/>
            </a:prstGeom>
            <a:noFill/>
            <a:ln w="19050">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81" name="Oval 33"/>
            <p:cNvSpPr>
              <a:spLocks noChangeArrowheads="1"/>
            </p:cNvSpPr>
            <p:nvPr/>
          </p:nvSpPr>
          <p:spPr bwMode="auto">
            <a:xfrm>
              <a:off x="673" y="3020"/>
              <a:ext cx="144" cy="144"/>
            </a:xfrm>
            <a:prstGeom prst="ellipse">
              <a:avLst/>
            </a:prstGeom>
            <a:solidFill>
              <a:srgbClr val="0066FF"/>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82" name="Oval 34"/>
            <p:cNvSpPr>
              <a:spLocks noChangeArrowheads="1"/>
            </p:cNvSpPr>
            <p:nvPr/>
          </p:nvSpPr>
          <p:spPr bwMode="auto">
            <a:xfrm>
              <a:off x="897" y="3020"/>
              <a:ext cx="144" cy="144"/>
            </a:xfrm>
            <a:prstGeom prst="ellipse">
              <a:avLst/>
            </a:prstGeom>
            <a:solidFill>
              <a:srgbClr val="FF33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83" name="Line 35"/>
            <p:cNvSpPr>
              <a:spLocks noChangeShapeType="1"/>
            </p:cNvSpPr>
            <p:nvPr/>
          </p:nvSpPr>
          <p:spPr bwMode="auto">
            <a:xfrm flipH="1">
              <a:off x="790" y="2533"/>
              <a:ext cx="480" cy="480"/>
            </a:xfrm>
            <a:prstGeom prst="line">
              <a:avLst/>
            </a:prstGeom>
            <a:noFill/>
            <a:ln w="19050">
              <a:solidFill>
                <a:srgbClr val="0066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84" name="Line 36"/>
            <p:cNvSpPr>
              <a:spLocks noChangeShapeType="1"/>
            </p:cNvSpPr>
            <p:nvPr/>
          </p:nvSpPr>
          <p:spPr bwMode="auto">
            <a:xfrm flipH="1">
              <a:off x="996" y="2553"/>
              <a:ext cx="288" cy="480"/>
            </a:xfrm>
            <a:prstGeom prst="line">
              <a:avLst/>
            </a:prstGeom>
            <a:noFill/>
            <a:ln w="19050" cap="rnd">
              <a:solidFill>
                <a:srgbClr val="FF330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85" name="Oval 37"/>
            <p:cNvSpPr>
              <a:spLocks noChangeArrowheads="1"/>
            </p:cNvSpPr>
            <p:nvPr/>
          </p:nvSpPr>
          <p:spPr bwMode="auto">
            <a:xfrm>
              <a:off x="1113" y="3012"/>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86" name="Line 38"/>
            <p:cNvSpPr>
              <a:spLocks noChangeShapeType="1"/>
            </p:cNvSpPr>
            <p:nvPr/>
          </p:nvSpPr>
          <p:spPr bwMode="auto">
            <a:xfrm flipH="1">
              <a:off x="1188" y="2553"/>
              <a:ext cx="144" cy="480"/>
            </a:xfrm>
            <a:prstGeom prst="line">
              <a:avLst/>
            </a:prstGeom>
            <a:noFill/>
            <a:ln w="19050">
              <a:solidFill>
                <a:srgbClr val="00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87" name="Oval 41"/>
            <p:cNvSpPr>
              <a:spLocks noChangeArrowheads="1"/>
            </p:cNvSpPr>
            <p:nvPr/>
          </p:nvSpPr>
          <p:spPr bwMode="auto">
            <a:xfrm>
              <a:off x="660" y="3945"/>
              <a:ext cx="144" cy="144"/>
            </a:xfrm>
            <a:prstGeom prst="ellipse">
              <a:avLst/>
            </a:prstGeom>
            <a:solidFill>
              <a:srgbClr val="FF33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88" name="Oval 42"/>
            <p:cNvSpPr>
              <a:spLocks noChangeArrowheads="1"/>
            </p:cNvSpPr>
            <p:nvPr/>
          </p:nvSpPr>
          <p:spPr bwMode="auto">
            <a:xfrm>
              <a:off x="852" y="3945"/>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89" name="Line 43"/>
            <p:cNvSpPr>
              <a:spLocks noChangeShapeType="1"/>
            </p:cNvSpPr>
            <p:nvPr/>
          </p:nvSpPr>
          <p:spPr bwMode="auto">
            <a:xfrm>
              <a:off x="742" y="3177"/>
              <a:ext cx="0" cy="768"/>
            </a:xfrm>
            <a:prstGeom prst="line">
              <a:avLst/>
            </a:prstGeom>
            <a:noFill/>
            <a:ln w="19050">
              <a:solidFill>
                <a:srgbClr val="FF33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90" name="Line 44"/>
            <p:cNvSpPr>
              <a:spLocks noChangeShapeType="1"/>
            </p:cNvSpPr>
            <p:nvPr/>
          </p:nvSpPr>
          <p:spPr bwMode="auto">
            <a:xfrm>
              <a:off x="756" y="3177"/>
              <a:ext cx="144" cy="768"/>
            </a:xfrm>
            <a:prstGeom prst="line">
              <a:avLst/>
            </a:prstGeom>
            <a:noFill/>
            <a:ln w="19050">
              <a:solidFill>
                <a:srgbClr val="00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91" name="Oval 45"/>
            <p:cNvSpPr>
              <a:spLocks noChangeArrowheads="1"/>
            </p:cNvSpPr>
            <p:nvPr/>
          </p:nvSpPr>
          <p:spPr bwMode="auto">
            <a:xfrm>
              <a:off x="1043" y="3945"/>
              <a:ext cx="144" cy="144"/>
            </a:xfrm>
            <a:prstGeom prst="ellipse">
              <a:avLst/>
            </a:prstGeom>
            <a:solidFill>
              <a:srgbClr val="0066FF"/>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92" name="Oval 46"/>
            <p:cNvSpPr>
              <a:spLocks noChangeArrowheads="1"/>
            </p:cNvSpPr>
            <p:nvPr/>
          </p:nvSpPr>
          <p:spPr bwMode="auto">
            <a:xfrm>
              <a:off x="1242" y="3945"/>
              <a:ext cx="144" cy="144"/>
            </a:xfrm>
            <a:prstGeom prst="ellipse">
              <a:avLst/>
            </a:prstGeom>
            <a:solidFill>
              <a:srgbClr val="FF33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93" name="Oval 47"/>
            <p:cNvSpPr>
              <a:spLocks noChangeArrowheads="1"/>
            </p:cNvSpPr>
            <p:nvPr/>
          </p:nvSpPr>
          <p:spPr bwMode="auto">
            <a:xfrm>
              <a:off x="1434" y="3945"/>
              <a:ext cx="144" cy="144"/>
            </a:xfrm>
            <a:prstGeom prst="ellipse">
              <a:avLst/>
            </a:prstGeom>
            <a:solidFill>
              <a:srgbClr val="FFFF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94" name="Line 48"/>
            <p:cNvSpPr>
              <a:spLocks noChangeShapeType="1"/>
            </p:cNvSpPr>
            <p:nvPr/>
          </p:nvSpPr>
          <p:spPr bwMode="auto">
            <a:xfrm flipH="1">
              <a:off x="1092" y="3177"/>
              <a:ext cx="62" cy="768"/>
            </a:xfrm>
            <a:prstGeom prst="line">
              <a:avLst/>
            </a:prstGeom>
            <a:noFill/>
            <a:ln w="19050" cap="rnd">
              <a:solidFill>
                <a:srgbClr val="0066FF"/>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95" name="Line 49"/>
            <p:cNvSpPr>
              <a:spLocks noChangeShapeType="1"/>
            </p:cNvSpPr>
            <p:nvPr/>
          </p:nvSpPr>
          <p:spPr bwMode="auto">
            <a:xfrm>
              <a:off x="1188" y="3177"/>
              <a:ext cx="96" cy="768"/>
            </a:xfrm>
            <a:prstGeom prst="line">
              <a:avLst/>
            </a:prstGeom>
            <a:noFill/>
            <a:ln w="19050">
              <a:solidFill>
                <a:srgbClr val="FF33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96" name="Line 50"/>
            <p:cNvSpPr>
              <a:spLocks noChangeShapeType="1"/>
            </p:cNvSpPr>
            <p:nvPr/>
          </p:nvSpPr>
          <p:spPr bwMode="auto">
            <a:xfrm>
              <a:off x="1202" y="3177"/>
              <a:ext cx="274" cy="768"/>
            </a:xfrm>
            <a:prstGeom prst="line">
              <a:avLst/>
            </a:prstGeom>
            <a:noFill/>
            <a:ln w="19050" cap="rnd">
              <a:solidFill>
                <a:srgbClr val="0000FF"/>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897" name="Oval 51"/>
            <p:cNvSpPr>
              <a:spLocks noChangeArrowheads="1"/>
            </p:cNvSpPr>
            <p:nvPr/>
          </p:nvSpPr>
          <p:spPr bwMode="auto">
            <a:xfrm>
              <a:off x="1681" y="2993"/>
              <a:ext cx="144" cy="144"/>
            </a:xfrm>
            <a:prstGeom prst="ellipse">
              <a:avLst/>
            </a:prstGeom>
            <a:solidFill>
              <a:srgbClr val="0066FF"/>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98" name="Oval 52"/>
            <p:cNvSpPr>
              <a:spLocks noChangeArrowheads="1"/>
            </p:cNvSpPr>
            <p:nvPr/>
          </p:nvSpPr>
          <p:spPr bwMode="auto">
            <a:xfrm>
              <a:off x="2106" y="2985"/>
              <a:ext cx="144" cy="144"/>
            </a:xfrm>
            <a:prstGeom prst="ellipse">
              <a:avLst/>
            </a:prstGeom>
            <a:solidFill>
              <a:srgbClr val="FF33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899" name="Oval 53"/>
            <p:cNvSpPr>
              <a:spLocks noChangeArrowheads="1"/>
            </p:cNvSpPr>
            <p:nvPr/>
          </p:nvSpPr>
          <p:spPr bwMode="auto">
            <a:xfrm>
              <a:off x="2484" y="2985"/>
              <a:ext cx="144" cy="144"/>
            </a:xfrm>
            <a:prstGeom prst="ellipse">
              <a:avLst/>
            </a:prstGeom>
            <a:solidFill>
              <a:srgbClr val="FFFF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00" name="Line 54"/>
            <p:cNvSpPr>
              <a:spLocks noChangeShapeType="1"/>
            </p:cNvSpPr>
            <p:nvPr/>
          </p:nvSpPr>
          <p:spPr bwMode="auto">
            <a:xfrm flipH="1">
              <a:off x="1764" y="2553"/>
              <a:ext cx="240" cy="432"/>
            </a:xfrm>
            <a:prstGeom prst="line">
              <a:avLst/>
            </a:prstGeom>
            <a:noFill/>
            <a:ln w="19050">
              <a:solidFill>
                <a:srgbClr val="0066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01" name="Line 55"/>
            <p:cNvSpPr>
              <a:spLocks noChangeShapeType="1"/>
            </p:cNvSpPr>
            <p:nvPr/>
          </p:nvSpPr>
          <p:spPr bwMode="auto">
            <a:xfrm>
              <a:off x="2052" y="2553"/>
              <a:ext cx="96" cy="432"/>
            </a:xfrm>
            <a:prstGeom prst="line">
              <a:avLst/>
            </a:prstGeom>
            <a:noFill/>
            <a:ln w="19050">
              <a:solidFill>
                <a:srgbClr val="FF33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02" name="Line 56"/>
            <p:cNvSpPr>
              <a:spLocks noChangeShapeType="1"/>
            </p:cNvSpPr>
            <p:nvPr/>
          </p:nvSpPr>
          <p:spPr bwMode="auto">
            <a:xfrm>
              <a:off x="2100" y="2505"/>
              <a:ext cx="384" cy="480"/>
            </a:xfrm>
            <a:prstGeom prst="line">
              <a:avLst/>
            </a:prstGeom>
            <a:noFill/>
            <a:ln w="19050" cap="rnd">
              <a:solidFill>
                <a:srgbClr val="080808"/>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03" name="Oval 57"/>
            <p:cNvSpPr>
              <a:spLocks noChangeArrowheads="1"/>
            </p:cNvSpPr>
            <p:nvPr/>
          </p:nvSpPr>
          <p:spPr bwMode="auto">
            <a:xfrm>
              <a:off x="1613" y="3945"/>
              <a:ext cx="144" cy="144"/>
            </a:xfrm>
            <a:prstGeom prst="ellipse">
              <a:avLst/>
            </a:prstGeom>
            <a:solidFill>
              <a:srgbClr val="0066FF"/>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04" name="Oval 58"/>
            <p:cNvSpPr>
              <a:spLocks noChangeArrowheads="1"/>
            </p:cNvSpPr>
            <p:nvPr/>
          </p:nvSpPr>
          <p:spPr bwMode="auto">
            <a:xfrm>
              <a:off x="1812" y="3945"/>
              <a:ext cx="144" cy="144"/>
            </a:xfrm>
            <a:prstGeom prst="ellipse">
              <a:avLst/>
            </a:prstGeom>
            <a:solidFill>
              <a:srgbClr val="FF33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05" name="Oval 59"/>
            <p:cNvSpPr>
              <a:spLocks noChangeArrowheads="1"/>
            </p:cNvSpPr>
            <p:nvPr/>
          </p:nvSpPr>
          <p:spPr bwMode="auto">
            <a:xfrm>
              <a:off x="2004" y="3945"/>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06" name="Line 60"/>
            <p:cNvSpPr>
              <a:spLocks noChangeShapeType="1"/>
            </p:cNvSpPr>
            <p:nvPr/>
          </p:nvSpPr>
          <p:spPr bwMode="auto">
            <a:xfrm flipH="1">
              <a:off x="1668" y="3129"/>
              <a:ext cx="96" cy="816"/>
            </a:xfrm>
            <a:prstGeom prst="line">
              <a:avLst/>
            </a:prstGeom>
            <a:noFill/>
            <a:ln w="19050" cap="rnd">
              <a:solidFill>
                <a:srgbClr val="0066FF"/>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07" name="Line 61"/>
            <p:cNvSpPr>
              <a:spLocks noChangeShapeType="1"/>
            </p:cNvSpPr>
            <p:nvPr/>
          </p:nvSpPr>
          <p:spPr bwMode="auto">
            <a:xfrm>
              <a:off x="1764" y="3177"/>
              <a:ext cx="96" cy="768"/>
            </a:xfrm>
            <a:prstGeom prst="line">
              <a:avLst/>
            </a:prstGeom>
            <a:noFill/>
            <a:ln w="9525">
              <a:solidFill>
                <a:srgbClr val="FF33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08" name="Line 62"/>
            <p:cNvSpPr>
              <a:spLocks noChangeShapeType="1"/>
            </p:cNvSpPr>
            <p:nvPr/>
          </p:nvSpPr>
          <p:spPr bwMode="auto">
            <a:xfrm>
              <a:off x="1764" y="3129"/>
              <a:ext cx="288" cy="816"/>
            </a:xfrm>
            <a:prstGeom prst="line">
              <a:avLst/>
            </a:prstGeom>
            <a:noFill/>
            <a:ln w="9525">
              <a:solidFill>
                <a:srgbClr val="080808"/>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09" name="Oval 63"/>
            <p:cNvSpPr>
              <a:spLocks noChangeArrowheads="1"/>
            </p:cNvSpPr>
            <p:nvPr/>
          </p:nvSpPr>
          <p:spPr bwMode="auto">
            <a:xfrm>
              <a:off x="2202" y="3945"/>
              <a:ext cx="144" cy="144"/>
            </a:xfrm>
            <a:prstGeom prst="ellipse">
              <a:avLst/>
            </a:prstGeom>
            <a:solidFill>
              <a:srgbClr val="0066FF"/>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10" name="Oval 64"/>
            <p:cNvSpPr>
              <a:spLocks noChangeArrowheads="1"/>
            </p:cNvSpPr>
            <p:nvPr/>
          </p:nvSpPr>
          <p:spPr bwMode="auto">
            <a:xfrm>
              <a:off x="2401" y="3945"/>
              <a:ext cx="144" cy="144"/>
            </a:xfrm>
            <a:prstGeom prst="ellipse">
              <a:avLst/>
            </a:prstGeom>
            <a:solidFill>
              <a:srgbClr val="FF33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11" name="Oval 65"/>
            <p:cNvSpPr>
              <a:spLocks noChangeArrowheads="1"/>
            </p:cNvSpPr>
            <p:nvPr/>
          </p:nvSpPr>
          <p:spPr bwMode="auto">
            <a:xfrm>
              <a:off x="2600" y="3945"/>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12" name="Line 66"/>
            <p:cNvSpPr>
              <a:spLocks noChangeShapeType="1"/>
            </p:cNvSpPr>
            <p:nvPr/>
          </p:nvSpPr>
          <p:spPr bwMode="auto">
            <a:xfrm>
              <a:off x="2148" y="3129"/>
              <a:ext cx="96" cy="816"/>
            </a:xfrm>
            <a:prstGeom prst="line">
              <a:avLst/>
            </a:prstGeom>
            <a:noFill/>
            <a:ln w="19050" cap="rnd">
              <a:solidFill>
                <a:srgbClr val="0066FF"/>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13" name="Line 67"/>
            <p:cNvSpPr>
              <a:spLocks noChangeShapeType="1"/>
            </p:cNvSpPr>
            <p:nvPr/>
          </p:nvSpPr>
          <p:spPr bwMode="auto">
            <a:xfrm>
              <a:off x="2175" y="3129"/>
              <a:ext cx="288" cy="816"/>
            </a:xfrm>
            <a:prstGeom prst="line">
              <a:avLst/>
            </a:prstGeom>
            <a:noFill/>
            <a:ln w="19050" cap="rnd">
              <a:solidFill>
                <a:srgbClr val="FF330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14" name="Line 68"/>
            <p:cNvSpPr>
              <a:spLocks noChangeShapeType="1"/>
            </p:cNvSpPr>
            <p:nvPr/>
          </p:nvSpPr>
          <p:spPr bwMode="auto">
            <a:xfrm>
              <a:off x="2196" y="3129"/>
              <a:ext cx="480" cy="816"/>
            </a:xfrm>
            <a:prstGeom prst="line">
              <a:avLst/>
            </a:prstGeom>
            <a:noFill/>
            <a:ln w="19050">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15" name="Oval 69"/>
            <p:cNvSpPr>
              <a:spLocks noChangeArrowheads="1"/>
            </p:cNvSpPr>
            <p:nvPr/>
          </p:nvSpPr>
          <p:spPr bwMode="auto">
            <a:xfrm>
              <a:off x="2977" y="2409"/>
              <a:ext cx="144" cy="144"/>
            </a:xfrm>
            <a:prstGeom prst="ellipse">
              <a:avLst/>
            </a:prstGeom>
            <a:solidFill>
              <a:srgbClr val="0066FF"/>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16" name="Oval 70"/>
            <p:cNvSpPr>
              <a:spLocks noChangeArrowheads="1"/>
            </p:cNvSpPr>
            <p:nvPr/>
          </p:nvSpPr>
          <p:spPr bwMode="auto">
            <a:xfrm>
              <a:off x="3361" y="2409"/>
              <a:ext cx="144" cy="144"/>
            </a:xfrm>
            <a:prstGeom prst="ellipse">
              <a:avLst/>
            </a:prstGeom>
            <a:solidFill>
              <a:srgbClr val="FF33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17" name="Oval 71"/>
            <p:cNvSpPr>
              <a:spLocks noChangeArrowheads="1"/>
            </p:cNvSpPr>
            <p:nvPr/>
          </p:nvSpPr>
          <p:spPr bwMode="auto">
            <a:xfrm>
              <a:off x="3732" y="2409"/>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18" name="Line 72"/>
            <p:cNvSpPr>
              <a:spLocks noChangeShapeType="1"/>
            </p:cNvSpPr>
            <p:nvPr/>
          </p:nvSpPr>
          <p:spPr bwMode="auto">
            <a:xfrm flipH="1">
              <a:off x="3060" y="2025"/>
              <a:ext cx="240" cy="384"/>
            </a:xfrm>
            <a:prstGeom prst="line">
              <a:avLst/>
            </a:prstGeom>
            <a:noFill/>
            <a:ln w="19050">
              <a:solidFill>
                <a:srgbClr val="0066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19" name="Line 73"/>
            <p:cNvSpPr>
              <a:spLocks noChangeShapeType="1"/>
            </p:cNvSpPr>
            <p:nvPr/>
          </p:nvSpPr>
          <p:spPr bwMode="auto">
            <a:xfrm>
              <a:off x="3314" y="2025"/>
              <a:ext cx="96" cy="384"/>
            </a:xfrm>
            <a:prstGeom prst="line">
              <a:avLst/>
            </a:prstGeom>
            <a:noFill/>
            <a:ln w="19050" cap="rnd">
              <a:solidFill>
                <a:srgbClr val="FF330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20" name="Line 74"/>
            <p:cNvSpPr>
              <a:spLocks noChangeShapeType="1"/>
            </p:cNvSpPr>
            <p:nvPr/>
          </p:nvSpPr>
          <p:spPr bwMode="auto">
            <a:xfrm>
              <a:off x="3348" y="2025"/>
              <a:ext cx="432" cy="384"/>
            </a:xfrm>
            <a:prstGeom prst="line">
              <a:avLst/>
            </a:prstGeom>
            <a:noFill/>
            <a:ln w="19050">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21" name="Oval 75"/>
            <p:cNvSpPr>
              <a:spLocks noChangeArrowheads="1"/>
            </p:cNvSpPr>
            <p:nvPr/>
          </p:nvSpPr>
          <p:spPr bwMode="auto">
            <a:xfrm>
              <a:off x="2668" y="2993"/>
              <a:ext cx="144" cy="144"/>
            </a:xfrm>
            <a:prstGeom prst="ellipse">
              <a:avLst/>
            </a:prstGeom>
            <a:solidFill>
              <a:srgbClr val="0066FF"/>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22" name="Oval 76"/>
            <p:cNvSpPr>
              <a:spLocks noChangeArrowheads="1"/>
            </p:cNvSpPr>
            <p:nvPr/>
          </p:nvSpPr>
          <p:spPr bwMode="auto">
            <a:xfrm>
              <a:off x="2892" y="2993"/>
              <a:ext cx="144" cy="144"/>
            </a:xfrm>
            <a:prstGeom prst="ellipse">
              <a:avLst/>
            </a:prstGeom>
            <a:solidFill>
              <a:srgbClr val="FF33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23" name="Oval 77"/>
            <p:cNvSpPr>
              <a:spLocks noChangeArrowheads="1"/>
            </p:cNvSpPr>
            <p:nvPr/>
          </p:nvSpPr>
          <p:spPr bwMode="auto">
            <a:xfrm>
              <a:off x="3108" y="2985"/>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24" name="Line 78"/>
            <p:cNvSpPr>
              <a:spLocks noChangeShapeType="1"/>
            </p:cNvSpPr>
            <p:nvPr/>
          </p:nvSpPr>
          <p:spPr bwMode="auto">
            <a:xfrm flipH="1">
              <a:off x="2772" y="2553"/>
              <a:ext cx="240" cy="432"/>
            </a:xfrm>
            <a:prstGeom prst="line">
              <a:avLst/>
            </a:prstGeom>
            <a:noFill/>
            <a:ln w="19050" cap="rnd">
              <a:solidFill>
                <a:srgbClr val="0066FF"/>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25" name="Line 79"/>
            <p:cNvSpPr>
              <a:spLocks noChangeShapeType="1"/>
            </p:cNvSpPr>
            <p:nvPr/>
          </p:nvSpPr>
          <p:spPr bwMode="auto">
            <a:xfrm flipH="1">
              <a:off x="2964" y="2553"/>
              <a:ext cx="48" cy="432"/>
            </a:xfrm>
            <a:prstGeom prst="line">
              <a:avLst/>
            </a:prstGeom>
            <a:noFill/>
            <a:ln w="19050">
              <a:solidFill>
                <a:srgbClr val="FF33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26" name="Line 80"/>
            <p:cNvSpPr>
              <a:spLocks noChangeShapeType="1"/>
            </p:cNvSpPr>
            <p:nvPr/>
          </p:nvSpPr>
          <p:spPr bwMode="auto">
            <a:xfrm>
              <a:off x="3012" y="2553"/>
              <a:ext cx="144" cy="432"/>
            </a:xfrm>
            <a:prstGeom prst="line">
              <a:avLst/>
            </a:prstGeom>
            <a:noFill/>
            <a:ln w="19050">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27" name="Oval 81"/>
            <p:cNvSpPr>
              <a:spLocks noChangeArrowheads="1"/>
            </p:cNvSpPr>
            <p:nvPr/>
          </p:nvSpPr>
          <p:spPr bwMode="auto">
            <a:xfrm>
              <a:off x="2785" y="3945"/>
              <a:ext cx="144" cy="144"/>
            </a:xfrm>
            <a:prstGeom prst="ellipse">
              <a:avLst/>
            </a:prstGeom>
            <a:solidFill>
              <a:srgbClr val="0066FF"/>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28" name="Oval 82"/>
            <p:cNvSpPr>
              <a:spLocks noChangeArrowheads="1"/>
            </p:cNvSpPr>
            <p:nvPr/>
          </p:nvSpPr>
          <p:spPr bwMode="auto">
            <a:xfrm>
              <a:off x="2984" y="3945"/>
              <a:ext cx="144" cy="144"/>
            </a:xfrm>
            <a:prstGeom prst="ellipse">
              <a:avLst/>
            </a:prstGeom>
            <a:solidFill>
              <a:srgbClr val="FF33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29" name="Oval 83"/>
            <p:cNvSpPr>
              <a:spLocks noChangeArrowheads="1"/>
            </p:cNvSpPr>
            <p:nvPr/>
          </p:nvSpPr>
          <p:spPr bwMode="auto">
            <a:xfrm>
              <a:off x="3183" y="3945"/>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30" name="Line 84"/>
            <p:cNvSpPr>
              <a:spLocks noChangeShapeType="1"/>
            </p:cNvSpPr>
            <p:nvPr/>
          </p:nvSpPr>
          <p:spPr bwMode="auto">
            <a:xfrm flipH="1">
              <a:off x="2868" y="3129"/>
              <a:ext cx="96" cy="816"/>
            </a:xfrm>
            <a:prstGeom prst="line">
              <a:avLst/>
            </a:prstGeom>
            <a:noFill/>
            <a:ln w="19050">
              <a:solidFill>
                <a:srgbClr val="0066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31" name="Line 85"/>
            <p:cNvSpPr>
              <a:spLocks noChangeShapeType="1"/>
            </p:cNvSpPr>
            <p:nvPr/>
          </p:nvSpPr>
          <p:spPr bwMode="auto">
            <a:xfrm>
              <a:off x="2964" y="3129"/>
              <a:ext cx="96" cy="816"/>
            </a:xfrm>
            <a:prstGeom prst="line">
              <a:avLst/>
            </a:prstGeom>
            <a:noFill/>
            <a:ln w="19050" cap="rnd">
              <a:solidFill>
                <a:srgbClr val="FF330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32" name="Line 86"/>
            <p:cNvSpPr>
              <a:spLocks noChangeShapeType="1"/>
            </p:cNvSpPr>
            <p:nvPr/>
          </p:nvSpPr>
          <p:spPr bwMode="auto">
            <a:xfrm>
              <a:off x="2964" y="3129"/>
              <a:ext cx="288" cy="816"/>
            </a:xfrm>
            <a:prstGeom prst="line">
              <a:avLst/>
            </a:prstGeom>
            <a:noFill/>
            <a:ln w="19050">
              <a:solidFill>
                <a:srgbClr val="080808"/>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33" name="Oval 87"/>
            <p:cNvSpPr>
              <a:spLocks noChangeArrowheads="1"/>
            </p:cNvSpPr>
            <p:nvPr/>
          </p:nvSpPr>
          <p:spPr bwMode="auto">
            <a:xfrm>
              <a:off x="3354" y="3945"/>
              <a:ext cx="144" cy="144"/>
            </a:xfrm>
            <a:prstGeom prst="ellipse">
              <a:avLst/>
            </a:prstGeom>
            <a:solidFill>
              <a:srgbClr val="0066FF"/>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34" name="Oval 88"/>
            <p:cNvSpPr>
              <a:spLocks noChangeArrowheads="1"/>
            </p:cNvSpPr>
            <p:nvPr/>
          </p:nvSpPr>
          <p:spPr bwMode="auto">
            <a:xfrm>
              <a:off x="3553" y="3945"/>
              <a:ext cx="144" cy="144"/>
            </a:xfrm>
            <a:prstGeom prst="ellipse">
              <a:avLst/>
            </a:prstGeom>
            <a:solidFill>
              <a:srgbClr val="FF33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35" name="Oval 89"/>
            <p:cNvSpPr>
              <a:spLocks noChangeArrowheads="1"/>
            </p:cNvSpPr>
            <p:nvPr/>
          </p:nvSpPr>
          <p:spPr bwMode="auto">
            <a:xfrm>
              <a:off x="3752" y="3945"/>
              <a:ext cx="144" cy="144"/>
            </a:xfrm>
            <a:prstGeom prst="ellipse">
              <a:avLst/>
            </a:prstGeom>
            <a:solidFill>
              <a:srgbClr val="FFFF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36" name="Line 90"/>
            <p:cNvSpPr>
              <a:spLocks noChangeShapeType="1"/>
            </p:cNvSpPr>
            <p:nvPr/>
          </p:nvSpPr>
          <p:spPr bwMode="auto">
            <a:xfrm>
              <a:off x="3156" y="3129"/>
              <a:ext cx="240" cy="816"/>
            </a:xfrm>
            <a:prstGeom prst="line">
              <a:avLst/>
            </a:prstGeom>
            <a:noFill/>
            <a:ln w="19050">
              <a:solidFill>
                <a:srgbClr val="0066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37" name="Line 91"/>
            <p:cNvSpPr>
              <a:spLocks noChangeShapeType="1"/>
            </p:cNvSpPr>
            <p:nvPr/>
          </p:nvSpPr>
          <p:spPr bwMode="auto">
            <a:xfrm>
              <a:off x="3204" y="3129"/>
              <a:ext cx="384" cy="816"/>
            </a:xfrm>
            <a:prstGeom prst="line">
              <a:avLst/>
            </a:prstGeom>
            <a:noFill/>
            <a:ln w="19050" cap="rnd">
              <a:solidFill>
                <a:srgbClr val="FF330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38" name="Line 92"/>
            <p:cNvSpPr>
              <a:spLocks noChangeShapeType="1"/>
            </p:cNvSpPr>
            <p:nvPr/>
          </p:nvSpPr>
          <p:spPr bwMode="auto">
            <a:xfrm>
              <a:off x="3252" y="3081"/>
              <a:ext cx="528" cy="864"/>
            </a:xfrm>
            <a:prstGeom prst="line">
              <a:avLst/>
            </a:prstGeom>
            <a:noFill/>
            <a:ln w="19050" cap="rnd">
              <a:solidFill>
                <a:srgbClr val="000066"/>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39" name="Oval 93"/>
            <p:cNvSpPr>
              <a:spLocks noChangeArrowheads="1"/>
            </p:cNvSpPr>
            <p:nvPr/>
          </p:nvSpPr>
          <p:spPr bwMode="auto">
            <a:xfrm>
              <a:off x="3746" y="2993"/>
              <a:ext cx="144" cy="144"/>
            </a:xfrm>
            <a:prstGeom prst="ellipse">
              <a:avLst/>
            </a:prstGeom>
            <a:solidFill>
              <a:srgbClr val="0066FF"/>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40" name="Oval 94"/>
            <p:cNvSpPr>
              <a:spLocks noChangeArrowheads="1"/>
            </p:cNvSpPr>
            <p:nvPr/>
          </p:nvSpPr>
          <p:spPr bwMode="auto">
            <a:xfrm>
              <a:off x="3996" y="2993"/>
              <a:ext cx="144" cy="144"/>
            </a:xfrm>
            <a:prstGeom prst="ellipse">
              <a:avLst/>
            </a:prstGeom>
            <a:solidFill>
              <a:srgbClr val="FF33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41" name="Oval 95"/>
            <p:cNvSpPr>
              <a:spLocks noChangeArrowheads="1"/>
            </p:cNvSpPr>
            <p:nvPr/>
          </p:nvSpPr>
          <p:spPr bwMode="auto">
            <a:xfrm>
              <a:off x="4212" y="2985"/>
              <a:ext cx="144" cy="144"/>
            </a:xfrm>
            <a:prstGeom prst="ellipse">
              <a:avLst/>
            </a:prstGeom>
            <a:solidFill>
              <a:srgbClr val="FFFF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42" name="Line 96"/>
            <p:cNvSpPr>
              <a:spLocks noChangeShapeType="1"/>
            </p:cNvSpPr>
            <p:nvPr/>
          </p:nvSpPr>
          <p:spPr bwMode="auto">
            <a:xfrm>
              <a:off x="3828" y="2553"/>
              <a:ext cx="0" cy="432"/>
            </a:xfrm>
            <a:prstGeom prst="line">
              <a:avLst/>
            </a:prstGeom>
            <a:noFill/>
            <a:ln w="19050">
              <a:solidFill>
                <a:srgbClr val="0066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43" name="Line 97"/>
            <p:cNvSpPr>
              <a:spLocks noChangeShapeType="1"/>
            </p:cNvSpPr>
            <p:nvPr/>
          </p:nvSpPr>
          <p:spPr bwMode="auto">
            <a:xfrm>
              <a:off x="3862" y="2546"/>
              <a:ext cx="192" cy="432"/>
            </a:xfrm>
            <a:prstGeom prst="line">
              <a:avLst/>
            </a:prstGeom>
            <a:noFill/>
            <a:ln w="19050">
              <a:solidFill>
                <a:srgbClr val="FF33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44" name="Line 98"/>
            <p:cNvSpPr>
              <a:spLocks noChangeShapeType="1"/>
            </p:cNvSpPr>
            <p:nvPr/>
          </p:nvSpPr>
          <p:spPr bwMode="auto">
            <a:xfrm>
              <a:off x="3876" y="2505"/>
              <a:ext cx="384" cy="480"/>
            </a:xfrm>
            <a:prstGeom prst="line">
              <a:avLst/>
            </a:prstGeom>
            <a:noFill/>
            <a:ln w="19050" cap="rnd">
              <a:solidFill>
                <a:srgbClr val="FF00FF"/>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45" name="Oval 99"/>
            <p:cNvSpPr>
              <a:spLocks noChangeArrowheads="1"/>
            </p:cNvSpPr>
            <p:nvPr/>
          </p:nvSpPr>
          <p:spPr bwMode="auto">
            <a:xfrm>
              <a:off x="3944" y="3932"/>
              <a:ext cx="144" cy="144"/>
            </a:xfrm>
            <a:prstGeom prst="ellipse">
              <a:avLst/>
            </a:prstGeom>
            <a:solidFill>
              <a:srgbClr val="0066FF"/>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46" name="Oval 100"/>
            <p:cNvSpPr>
              <a:spLocks noChangeArrowheads="1"/>
            </p:cNvSpPr>
            <p:nvPr/>
          </p:nvSpPr>
          <p:spPr bwMode="auto">
            <a:xfrm>
              <a:off x="4143" y="3932"/>
              <a:ext cx="144" cy="144"/>
            </a:xfrm>
            <a:prstGeom prst="ellipse">
              <a:avLst/>
            </a:prstGeom>
            <a:solidFill>
              <a:srgbClr val="FF33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47" name="Oval 101"/>
            <p:cNvSpPr>
              <a:spLocks noChangeArrowheads="1"/>
            </p:cNvSpPr>
            <p:nvPr/>
          </p:nvSpPr>
          <p:spPr bwMode="auto">
            <a:xfrm>
              <a:off x="4342" y="3932"/>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48" name="Line 102"/>
            <p:cNvSpPr>
              <a:spLocks noChangeShapeType="1"/>
            </p:cNvSpPr>
            <p:nvPr/>
          </p:nvSpPr>
          <p:spPr bwMode="auto">
            <a:xfrm>
              <a:off x="3828" y="3129"/>
              <a:ext cx="192" cy="816"/>
            </a:xfrm>
            <a:prstGeom prst="line">
              <a:avLst/>
            </a:prstGeom>
            <a:noFill/>
            <a:ln w="19050" cap="rnd">
              <a:solidFill>
                <a:srgbClr val="0066FF"/>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49" name="Line 103"/>
            <p:cNvSpPr>
              <a:spLocks noChangeShapeType="1"/>
            </p:cNvSpPr>
            <p:nvPr/>
          </p:nvSpPr>
          <p:spPr bwMode="auto">
            <a:xfrm>
              <a:off x="3849" y="3129"/>
              <a:ext cx="315" cy="816"/>
            </a:xfrm>
            <a:prstGeom prst="line">
              <a:avLst/>
            </a:prstGeom>
            <a:noFill/>
            <a:ln w="19050" cap="rnd">
              <a:solidFill>
                <a:srgbClr val="FF330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50" name="Line 104"/>
            <p:cNvSpPr>
              <a:spLocks noChangeShapeType="1"/>
            </p:cNvSpPr>
            <p:nvPr/>
          </p:nvSpPr>
          <p:spPr bwMode="auto">
            <a:xfrm>
              <a:off x="3876" y="3129"/>
              <a:ext cx="528" cy="816"/>
            </a:xfrm>
            <a:prstGeom prst="line">
              <a:avLst/>
            </a:prstGeom>
            <a:noFill/>
            <a:ln w="19050">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51" name="Oval 105"/>
            <p:cNvSpPr>
              <a:spLocks noChangeArrowheads="1"/>
            </p:cNvSpPr>
            <p:nvPr/>
          </p:nvSpPr>
          <p:spPr bwMode="auto">
            <a:xfrm>
              <a:off x="4527" y="3918"/>
              <a:ext cx="144" cy="144"/>
            </a:xfrm>
            <a:prstGeom prst="ellipse">
              <a:avLst/>
            </a:prstGeom>
            <a:solidFill>
              <a:srgbClr val="0066FF"/>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52" name="Oval 106"/>
            <p:cNvSpPr>
              <a:spLocks noChangeArrowheads="1"/>
            </p:cNvSpPr>
            <p:nvPr/>
          </p:nvSpPr>
          <p:spPr bwMode="auto">
            <a:xfrm>
              <a:off x="4726" y="3918"/>
              <a:ext cx="144" cy="144"/>
            </a:xfrm>
            <a:prstGeom prst="ellipse">
              <a:avLst/>
            </a:prstGeom>
            <a:solidFill>
              <a:srgbClr val="FF33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53" name="Oval 107"/>
            <p:cNvSpPr>
              <a:spLocks noChangeArrowheads="1"/>
            </p:cNvSpPr>
            <p:nvPr/>
          </p:nvSpPr>
          <p:spPr bwMode="auto">
            <a:xfrm>
              <a:off x="4925" y="3918"/>
              <a:ext cx="144" cy="144"/>
            </a:xfrm>
            <a:prstGeom prst="ellipse">
              <a:avLst/>
            </a:prstGeom>
            <a:solidFill>
              <a:srgbClr val="FFFF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54" name="Line 108"/>
            <p:cNvSpPr>
              <a:spLocks noChangeShapeType="1"/>
            </p:cNvSpPr>
            <p:nvPr/>
          </p:nvSpPr>
          <p:spPr bwMode="auto">
            <a:xfrm>
              <a:off x="4068" y="3129"/>
              <a:ext cx="528" cy="768"/>
            </a:xfrm>
            <a:prstGeom prst="line">
              <a:avLst/>
            </a:prstGeom>
            <a:noFill/>
            <a:ln w="19050">
              <a:solidFill>
                <a:srgbClr val="0066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55" name="Line 109"/>
            <p:cNvSpPr>
              <a:spLocks noChangeShapeType="1"/>
            </p:cNvSpPr>
            <p:nvPr/>
          </p:nvSpPr>
          <p:spPr bwMode="auto">
            <a:xfrm>
              <a:off x="4095" y="3129"/>
              <a:ext cx="672" cy="768"/>
            </a:xfrm>
            <a:prstGeom prst="line">
              <a:avLst/>
            </a:prstGeom>
            <a:noFill/>
            <a:ln w="19050" cap="rnd">
              <a:solidFill>
                <a:srgbClr val="FF330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56" name="Line 110"/>
            <p:cNvSpPr>
              <a:spLocks noChangeShapeType="1"/>
            </p:cNvSpPr>
            <p:nvPr/>
          </p:nvSpPr>
          <p:spPr bwMode="auto">
            <a:xfrm>
              <a:off x="4116" y="3129"/>
              <a:ext cx="864" cy="768"/>
            </a:xfrm>
            <a:prstGeom prst="line">
              <a:avLst/>
            </a:prstGeom>
            <a:noFill/>
            <a:ln w="19050">
              <a:solidFill>
                <a:srgbClr val="080808"/>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57" name="Text Box 111"/>
            <p:cNvSpPr txBox="1">
              <a:spLocks noChangeArrowheads="1"/>
            </p:cNvSpPr>
            <p:nvPr/>
          </p:nvSpPr>
          <p:spPr bwMode="auto">
            <a:xfrm>
              <a:off x="4326" y="2573"/>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8958" name="Oval 112"/>
            <p:cNvSpPr>
              <a:spLocks noChangeArrowheads="1"/>
            </p:cNvSpPr>
            <p:nvPr/>
          </p:nvSpPr>
          <p:spPr bwMode="auto">
            <a:xfrm>
              <a:off x="4321" y="2409"/>
              <a:ext cx="144" cy="144"/>
            </a:xfrm>
            <a:prstGeom prst="ellipse">
              <a:avLst/>
            </a:prstGeom>
            <a:solidFill>
              <a:srgbClr val="0066FF"/>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59" name="Oval 113"/>
            <p:cNvSpPr>
              <a:spLocks noChangeArrowheads="1"/>
            </p:cNvSpPr>
            <p:nvPr/>
          </p:nvSpPr>
          <p:spPr bwMode="auto">
            <a:xfrm>
              <a:off x="4705" y="2409"/>
              <a:ext cx="144" cy="144"/>
            </a:xfrm>
            <a:prstGeom prst="ellipse">
              <a:avLst/>
            </a:prstGeom>
            <a:solidFill>
              <a:srgbClr val="FF3300"/>
            </a:solidFill>
            <a:ln w="19050">
              <a:solidFill>
                <a:srgbClr val="080808"/>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60" name="Oval 114"/>
            <p:cNvSpPr>
              <a:spLocks noChangeArrowheads="1"/>
            </p:cNvSpPr>
            <p:nvPr/>
          </p:nvSpPr>
          <p:spPr bwMode="auto">
            <a:xfrm>
              <a:off x="5076" y="2409"/>
              <a:ext cx="144" cy="144"/>
            </a:xfrm>
            <a:prstGeom prst="ellipse">
              <a:avLst/>
            </a:prstGeom>
            <a:solidFill>
              <a:srgbClr val="FFFF00"/>
            </a:solidFill>
            <a:ln w="19050" cap="rnd">
              <a:solidFill>
                <a:srgbClr val="080808"/>
              </a:solidFill>
              <a:prstDash val="sysDot"/>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endParaRPr lang="zh-CN" altLang="en-US" sz="2400">
                <a:solidFill>
                  <a:srgbClr val="00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961" name="Line 115"/>
            <p:cNvSpPr>
              <a:spLocks noChangeShapeType="1"/>
            </p:cNvSpPr>
            <p:nvPr/>
          </p:nvSpPr>
          <p:spPr bwMode="auto">
            <a:xfrm>
              <a:off x="4342" y="2025"/>
              <a:ext cx="48" cy="384"/>
            </a:xfrm>
            <a:prstGeom prst="line">
              <a:avLst/>
            </a:prstGeom>
            <a:noFill/>
            <a:ln w="19050">
              <a:solidFill>
                <a:srgbClr val="0066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62" name="Line 116"/>
            <p:cNvSpPr>
              <a:spLocks noChangeShapeType="1"/>
            </p:cNvSpPr>
            <p:nvPr/>
          </p:nvSpPr>
          <p:spPr bwMode="auto">
            <a:xfrm>
              <a:off x="4404" y="2025"/>
              <a:ext cx="336" cy="384"/>
            </a:xfrm>
            <a:prstGeom prst="line">
              <a:avLst/>
            </a:prstGeom>
            <a:noFill/>
            <a:ln w="19050">
              <a:solidFill>
                <a:srgbClr val="FF33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63" name="Line 117"/>
            <p:cNvSpPr>
              <a:spLocks noChangeShapeType="1"/>
            </p:cNvSpPr>
            <p:nvPr/>
          </p:nvSpPr>
          <p:spPr bwMode="auto">
            <a:xfrm>
              <a:off x="4404" y="1977"/>
              <a:ext cx="720" cy="432"/>
            </a:xfrm>
            <a:prstGeom prst="line">
              <a:avLst/>
            </a:prstGeom>
            <a:noFill/>
            <a:ln w="19050" cap="rnd">
              <a:solidFill>
                <a:srgbClr val="080808"/>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8964" name="Text Box 118"/>
            <p:cNvSpPr txBox="1">
              <a:spLocks noChangeArrowheads="1"/>
            </p:cNvSpPr>
            <p:nvPr/>
          </p:nvSpPr>
          <p:spPr bwMode="auto">
            <a:xfrm>
              <a:off x="4692" y="2574"/>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8965" name="Text Box 119"/>
            <p:cNvSpPr txBox="1">
              <a:spLocks noChangeArrowheads="1"/>
            </p:cNvSpPr>
            <p:nvPr/>
          </p:nvSpPr>
          <p:spPr bwMode="auto">
            <a:xfrm>
              <a:off x="5069" y="2580"/>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8966" name="Freeform 120"/>
            <p:cNvSpPr/>
            <p:nvPr/>
          </p:nvSpPr>
          <p:spPr bwMode="auto">
            <a:xfrm>
              <a:off x="844" y="2553"/>
              <a:ext cx="416" cy="1440"/>
            </a:xfrm>
            <a:custGeom>
              <a:avLst/>
              <a:gdLst>
                <a:gd name="T0" fmla="*/ 152 w 416"/>
                <a:gd name="T1" fmla="*/ 1440 h 1440"/>
                <a:gd name="T2" fmla="*/ 152 w 416"/>
                <a:gd name="T3" fmla="*/ 1344 h 1440"/>
                <a:gd name="T4" fmla="*/ 56 w 416"/>
                <a:gd name="T5" fmla="*/ 1152 h 1440"/>
                <a:gd name="T6" fmla="*/ 56 w 416"/>
                <a:gd name="T7" fmla="*/ 912 h 1440"/>
                <a:gd name="T8" fmla="*/ 8 w 416"/>
                <a:gd name="T9" fmla="*/ 720 h 1440"/>
                <a:gd name="T10" fmla="*/ 8 w 416"/>
                <a:gd name="T11" fmla="*/ 528 h 1440"/>
                <a:gd name="T12" fmla="*/ 56 w 416"/>
                <a:gd name="T13" fmla="*/ 432 h 1440"/>
                <a:gd name="T14" fmla="*/ 152 w 416"/>
                <a:gd name="T15" fmla="*/ 336 h 1440"/>
                <a:gd name="T16" fmla="*/ 248 w 416"/>
                <a:gd name="T17" fmla="*/ 192 h 1440"/>
                <a:gd name="T18" fmla="*/ 392 w 416"/>
                <a:gd name="T19" fmla="*/ 48 h 1440"/>
                <a:gd name="T20" fmla="*/ 392 w 416"/>
                <a:gd name="T21" fmla="*/ 0 h 14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6"/>
                <a:gd name="T34" fmla="*/ 0 h 1440"/>
                <a:gd name="T35" fmla="*/ 416 w 416"/>
                <a:gd name="T36" fmla="*/ 1440 h 14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6" h="1440">
                  <a:moveTo>
                    <a:pt x="152" y="1440"/>
                  </a:moveTo>
                  <a:cubicBezTo>
                    <a:pt x="160" y="1416"/>
                    <a:pt x="168" y="1392"/>
                    <a:pt x="152" y="1344"/>
                  </a:cubicBezTo>
                  <a:cubicBezTo>
                    <a:pt x="136" y="1296"/>
                    <a:pt x="72" y="1224"/>
                    <a:pt x="56" y="1152"/>
                  </a:cubicBezTo>
                  <a:cubicBezTo>
                    <a:pt x="40" y="1080"/>
                    <a:pt x="64" y="984"/>
                    <a:pt x="56" y="912"/>
                  </a:cubicBezTo>
                  <a:cubicBezTo>
                    <a:pt x="48" y="840"/>
                    <a:pt x="16" y="784"/>
                    <a:pt x="8" y="720"/>
                  </a:cubicBezTo>
                  <a:cubicBezTo>
                    <a:pt x="0" y="656"/>
                    <a:pt x="0" y="576"/>
                    <a:pt x="8" y="528"/>
                  </a:cubicBezTo>
                  <a:cubicBezTo>
                    <a:pt x="16" y="480"/>
                    <a:pt x="32" y="464"/>
                    <a:pt x="56" y="432"/>
                  </a:cubicBezTo>
                  <a:cubicBezTo>
                    <a:pt x="80" y="400"/>
                    <a:pt x="120" y="376"/>
                    <a:pt x="152" y="336"/>
                  </a:cubicBezTo>
                  <a:cubicBezTo>
                    <a:pt x="184" y="296"/>
                    <a:pt x="208" y="240"/>
                    <a:pt x="248" y="192"/>
                  </a:cubicBezTo>
                  <a:cubicBezTo>
                    <a:pt x="288" y="144"/>
                    <a:pt x="368" y="80"/>
                    <a:pt x="392" y="48"/>
                  </a:cubicBezTo>
                  <a:cubicBezTo>
                    <a:pt x="416" y="16"/>
                    <a:pt x="392" y="8"/>
                    <a:pt x="392" y="0"/>
                  </a:cubicBezTo>
                </a:path>
              </a:pathLst>
            </a:custGeom>
            <a:noFill/>
            <a:ln w="9525">
              <a:solidFill>
                <a:srgbClr val="33CCCC"/>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8967" name="Freeform 121"/>
            <p:cNvSpPr/>
            <p:nvPr/>
          </p:nvSpPr>
          <p:spPr bwMode="auto">
            <a:xfrm>
              <a:off x="1236" y="1977"/>
              <a:ext cx="912" cy="1224"/>
            </a:xfrm>
            <a:custGeom>
              <a:avLst/>
              <a:gdLst>
                <a:gd name="T0" fmla="*/ 0 w 912"/>
                <a:gd name="T1" fmla="*/ 1152 h 1224"/>
                <a:gd name="T2" fmla="*/ 48 w 912"/>
                <a:gd name="T3" fmla="*/ 1200 h 1224"/>
                <a:gd name="T4" fmla="*/ 96 w 912"/>
                <a:gd name="T5" fmla="*/ 1200 h 1224"/>
                <a:gd name="T6" fmla="*/ 144 w 912"/>
                <a:gd name="T7" fmla="*/ 1056 h 1224"/>
                <a:gd name="T8" fmla="*/ 192 w 912"/>
                <a:gd name="T9" fmla="*/ 864 h 1224"/>
                <a:gd name="T10" fmla="*/ 240 w 912"/>
                <a:gd name="T11" fmla="*/ 720 h 1224"/>
                <a:gd name="T12" fmla="*/ 336 w 912"/>
                <a:gd name="T13" fmla="*/ 576 h 1224"/>
                <a:gd name="T14" fmla="*/ 480 w 912"/>
                <a:gd name="T15" fmla="*/ 384 h 1224"/>
                <a:gd name="T16" fmla="*/ 576 w 912"/>
                <a:gd name="T17" fmla="*/ 288 h 1224"/>
                <a:gd name="T18" fmla="*/ 720 w 912"/>
                <a:gd name="T19" fmla="*/ 144 h 1224"/>
                <a:gd name="T20" fmla="*/ 912 w 912"/>
                <a:gd name="T21" fmla="*/ 0 h 12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2"/>
                <a:gd name="T34" fmla="*/ 0 h 1224"/>
                <a:gd name="T35" fmla="*/ 912 w 912"/>
                <a:gd name="T36" fmla="*/ 1224 h 12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2" h="1224">
                  <a:moveTo>
                    <a:pt x="0" y="1152"/>
                  </a:moveTo>
                  <a:cubicBezTo>
                    <a:pt x="16" y="1172"/>
                    <a:pt x="32" y="1192"/>
                    <a:pt x="48" y="1200"/>
                  </a:cubicBezTo>
                  <a:cubicBezTo>
                    <a:pt x="64" y="1208"/>
                    <a:pt x="80" y="1224"/>
                    <a:pt x="96" y="1200"/>
                  </a:cubicBezTo>
                  <a:cubicBezTo>
                    <a:pt x="112" y="1176"/>
                    <a:pt x="128" y="1112"/>
                    <a:pt x="144" y="1056"/>
                  </a:cubicBezTo>
                  <a:cubicBezTo>
                    <a:pt x="160" y="1000"/>
                    <a:pt x="176" y="920"/>
                    <a:pt x="192" y="864"/>
                  </a:cubicBezTo>
                  <a:cubicBezTo>
                    <a:pt x="208" y="808"/>
                    <a:pt x="216" y="768"/>
                    <a:pt x="240" y="720"/>
                  </a:cubicBezTo>
                  <a:cubicBezTo>
                    <a:pt x="264" y="672"/>
                    <a:pt x="296" y="632"/>
                    <a:pt x="336" y="576"/>
                  </a:cubicBezTo>
                  <a:cubicBezTo>
                    <a:pt x="376" y="520"/>
                    <a:pt x="440" y="432"/>
                    <a:pt x="480" y="384"/>
                  </a:cubicBezTo>
                  <a:cubicBezTo>
                    <a:pt x="520" y="336"/>
                    <a:pt x="536" y="328"/>
                    <a:pt x="576" y="288"/>
                  </a:cubicBezTo>
                  <a:cubicBezTo>
                    <a:pt x="616" y="248"/>
                    <a:pt x="664" y="192"/>
                    <a:pt x="720" y="144"/>
                  </a:cubicBezTo>
                  <a:cubicBezTo>
                    <a:pt x="776" y="96"/>
                    <a:pt x="844" y="48"/>
                    <a:pt x="912" y="0"/>
                  </a:cubicBezTo>
                </a:path>
              </a:pathLst>
            </a:custGeom>
            <a:noFill/>
            <a:ln w="9525">
              <a:solidFill>
                <a:srgbClr val="33CCCC"/>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8968" name="Freeform 122"/>
            <p:cNvSpPr/>
            <p:nvPr/>
          </p:nvSpPr>
          <p:spPr bwMode="auto">
            <a:xfrm>
              <a:off x="2044" y="3129"/>
              <a:ext cx="104" cy="816"/>
            </a:xfrm>
            <a:custGeom>
              <a:avLst/>
              <a:gdLst>
                <a:gd name="T0" fmla="*/ 56 w 104"/>
                <a:gd name="T1" fmla="*/ 816 h 816"/>
                <a:gd name="T2" fmla="*/ 8 w 104"/>
                <a:gd name="T3" fmla="*/ 672 h 816"/>
                <a:gd name="T4" fmla="*/ 8 w 104"/>
                <a:gd name="T5" fmla="*/ 480 h 816"/>
                <a:gd name="T6" fmla="*/ 56 w 104"/>
                <a:gd name="T7" fmla="*/ 336 h 816"/>
                <a:gd name="T8" fmla="*/ 56 w 104"/>
                <a:gd name="T9" fmla="*/ 192 h 816"/>
                <a:gd name="T10" fmla="*/ 104 w 104"/>
                <a:gd name="T11" fmla="*/ 0 h 816"/>
                <a:gd name="T12" fmla="*/ 0 60000 65536"/>
                <a:gd name="T13" fmla="*/ 0 60000 65536"/>
                <a:gd name="T14" fmla="*/ 0 60000 65536"/>
                <a:gd name="T15" fmla="*/ 0 60000 65536"/>
                <a:gd name="T16" fmla="*/ 0 60000 65536"/>
                <a:gd name="T17" fmla="*/ 0 60000 65536"/>
                <a:gd name="T18" fmla="*/ 0 w 104"/>
                <a:gd name="T19" fmla="*/ 0 h 816"/>
                <a:gd name="T20" fmla="*/ 104 w 104"/>
                <a:gd name="T21" fmla="*/ 816 h 816"/>
              </a:gdLst>
              <a:ahLst/>
              <a:cxnLst>
                <a:cxn ang="T12">
                  <a:pos x="T0" y="T1"/>
                </a:cxn>
                <a:cxn ang="T13">
                  <a:pos x="T2" y="T3"/>
                </a:cxn>
                <a:cxn ang="T14">
                  <a:pos x="T4" y="T5"/>
                </a:cxn>
                <a:cxn ang="T15">
                  <a:pos x="T6" y="T7"/>
                </a:cxn>
                <a:cxn ang="T16">
                  <a:pos x="T8" y="T9"/>
                </a:cxn>
                <a:cxn ang="T17">
                  <a:pos x="T10" y="T11"/>
                </a:cxn>
              </a:cxnLst>
              <a:rect l="T18" t="T19" r="T20" b="T21"/>
              <a:pathLst>
                <a:path w="104" h="816">
                  <a:moveTo>
                    <a:pt x="56" y="816"/>
                  </a:moveTo>
                  <a:cubicBezTo>
                    <a:pt x="36" y="772"/>
                    <a:pt x="16" y="728"/>
                    <a:pt x="8" y="672"/>
                  </a:cubicBezTo>
                  <a:cubicBezTo>
                    <a:pt x="0" y="616"/>
                    <a:pt x="0" y="536"/>
                    <a:pt x="8" y="480"/>
                  </a:cubicBezTo>
                  <a:cubicBezTo>
                    <a:pt x="16" y="424"/>
                    <a:pt x="48" y="384"/>
                    <a:pt x="56" y="336"/>
                  </a:cubicBezTo>
                  <a:cubicBezTo>
                    <a:pt x="64" y="288"/>
                    <a:pt x="48" y="248"/>
                    <a:pt x="56" y="192"/>
                  </a:cubicBezTo>
                  <a:cubicBezTo>
                    <a:pt x="64" y="136"/>
                    <a:pt x="84" y="68"/>
                    <a:pt x="104" y="0"/>
                  </a:cubicBezTo>
                </a:path>
              </a:pathLst>
            </a:custGeom>
            <a:noFill/>
            <a:ln w="9525">
              <a:solidFill>
                <a:srgbClr val="33CCCC"/>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8969" name="Freeform 123"/>
            <p:cNvSpPr/>
            <p:nvPr/>
          </p:nvSpPr>
          <p:spPr bwMode="auto">
            <a:xfrm>
              <a:off x="2572" y="1641"/>
              <a:ext cx="680" cy="2304"/>
            </a:xfrm>
            <a:custGeom>
              <a:avLst/>
              <a:gdLst>
                <a:gd name="T0" fmla="*/ 104 w 680"/>
                <a:gd name="T1" fmla="*/ 2304 h 2304"/>
                <a:gd name="T2" fmla="*/ 104 w 680"/>
                <a:gd name="T3" fmla="*/ 2160 h 2304"/>
                <a:gd name="T4" fmla="*/ 8 w 680"/>
                <a:gd name="T5" fmla="*/ 1872 h 2304"/>
                <a:gd name="T6" fmla="*/ 56 w 680"/>
                <a:gd name="T7" fmla="*/ 1632 h 2304"/>
                <a:gd name="T8" fmla="*/ 56 w 680"/>
                <a:gd name="T9" fmla="*/ 1488 h 2304"/>
                <a:gd name="T10" fmla="*/ 104 w 680"/>
                <a:gd name="T11" fmla="*/ 1248 h 2304"/>
                <a:gd name="T12" fmla="*/ 200 w 680"/>
                <a:gd name="T13" fmla="*/ 864 h 2304"/>
                <a:gd name="T14" fmla="*/ 296 w 680"/>
                <a:gd name="T15" fmla="*/ 576 h 2304"/>
                <a:gd name="T16" fmla="*/ 440 w 680"/>
                <a:gd name="T17" fmla="*/ 288 h 2304"/>
                <a:gd name="T18" fmla="*/ 536 w 680"/>
                <a:gd name="T19" fmla="*/ 144 h 2304"/>
                <a:gd name="T20" fmla="*/ 680 w 680"/>
                <a:gd name="T21" fmla="*/ 0 h 23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80"/>
                <a:gd name="T34" fmla="*/ 0 h 2304"/>
                <a:gd name="T35" fmla="*/ 680 w 680"/>
                <a:gd name="T36" fmla="*/ 2304 h 230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80" h="2304">
                  <a:moveTo>
                    <a:pt x="104" y="2304"/>
                  </a:moveTo>
                  <a:cubicBezTo>
                    <a:pt x="112" y="2268"/>
                    <a:pt x="120" y="2232"/>
                    <a:pt x="104" y="2160"/>
                  </a:cubicBezTo>
                  <a:cubicBezTo>
                    <a:pt x="88" y="2088"/>
                    <a:pt x="16" y="1960"/>
                    <a:pt x="8" y="1872"/>
                  </a:cubicBezTo>
                  <a:cubicBezTo>
                    <a:pt x="0" y="1784"/>
                    <a:pt x="48" y="1696"/>
                    <a:pt x="56" y="1632"/>
                  </a:cubicBezTo>
                  <a:cubicBezTo>
                    <a:pt x="64" y="1568"/>
                    <a:pt x="48" y="1552"/>
                    <a:pt x="56" y="1488"/>
                  </a:cubicBezTo>
                  <a:cubicBezTo>
                    <a:pt x="64" y="1424"/>
                    <a:pt x="80" y="1352"/>
                    <a:pt x="104" y="1248"/>
                  </a:cubicBezTo>
                  <a:cubicBezTo>
                    <a:pt x="128" y="1144"/>
                    <a:pt x="168" y="976"/>
                    <a:pt x="200" y="864"/>
                  </a:cubicBezTo>
                  <a:cubicBezTo>
                    <a:pt x="232" y="752"/>
                    <a:pt x="256" y="672"/>
                    <a:pt x="296" y="576"/>
                  </a:cubicBezTo>
                  <a:cubicBezTo>
                    <a:pt x="336" y="480"/>
                    <a:pt x="400" y="360"/>
                    <a:pt x="440" y="288"/>
                  </a:cubicBezTo>
                  <a:cubicBezTo>
                    <a:pt x="480" y="216"/>
                    <a:pt x="496" y="192"/>
                    <a:pt x="536" y="144"/>
                  </a:cubicBezTo>
                  <a:cubicBezTo>
                    <a:pt x="576" y="96"/>
                    <a:pt x="628" y="48"/>
                    <a:pt x="680" y="0"/>
                  </a:cubicBezTo>
                </a:path>
              </a:pathLst>
            </a:custGeom>
            <a:noFill/>
            <a:ln w="9525">
              <a:solidFill>
                <a:srgbClr val="33CCCC"/>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8970" name="Freeform 124"/>
            <p:cNvSpPr/>
            <p:nvPr/>
          </p:nvSpPr>
          <p:spPr bwMode="auto">
            <a:xfrm>
              <a:off x="3108" y="3129"/>
              <a:ext cx="192" cy="816"/>
            </a:xfrm>
            <a:custGeom>
              <a:avLst/>
              <a:gdLst>
                <a:gd name="T0" fmla="*/ 192 w 192"/>
                <a:gd name="T1" fmla="*/ 816 h 816"/>
                <a:gd name="T2" fmla="*/ 144 w 192"/>
                <a:gd name="T3" fmla="*/ 720 h 816"/>
                <a:gd name="T4" fmla="*/ 96 w 192"/>
                <a:gd name="T5" fmla="*/ 528 h 816"/>
                <a:gd name="T6" fmla="*/ 48 w 192"/>
                <a:gd name="T7" fmla="*/ 288 h 816"/>
                <a:gd name="T8" fmla="*/ 0 w 192"/>
                <a:gd name="T9" fmla="*/ 96 h 816"/>
                <a:gd name="T10" fmla="*/ 48 w 192"/>
                <a:gd name="T11" fmla="*/ 0 h 816"/>
                <a:gd name="T12" fmla="*/ 0 60000 65536"/>
                <a:gd name="T13" fmla="*/ 0 60000 65536"/>
                <a:gd name="T14" fmla="*/ 0 60000 65536"/>
                <a:gd name="T15" fmla="*/ 0 60000 65536"/>
                <a:gd name="T16" fmla="*/ 0 60000 65536"/>
                <a:gd name="T17" fmla="*/ 0 60000 65536"/>
                <a:gd name="T18" fmla="*/ 0 w 192"/>
                <a:gd name="T19" fmla="*/ 0 h 816"/>
                <a:gd name="T20" fmla="*/ 192 w 192"/>
                <a:gd name="T21" fmla="*/ 816 h 816"/>
              </a:gdLst>
              <a:ahLst/>
              <a:cxnLst>
                <a:cxn ang="T12">
                  <a:pos x="T0" y="T1"/>
                </a:cxn>
                <a:cxn ang="T13">
                  <a:pos x="T2" y="T3"/>
                </a:cxn>
                <a:cxn ang="T14">
                  <a:pos x="T4" y="T5"/>
                </a:cxn>
                <a:cxn ang="T15">
                  <a:pos x="T6" y="T7"/>
                </a:cxn>
                <a:cxn ang="T16">
                  <a:pos x="T8" y="T9"/>
                </a:cxn>
                <a:cxn ang="T17">
                  <a:pos x="T10" y="T11"/>
                </a:cxn>
              </a:cxnLst>
              <a:rect l="T18" t="T19" r="T20" b="T21"/>
              <a:pathLst>
                <a:path w="192" h="816">
                  <a:moveTo>
                    <a:pt x="192" y="816"/>
                  </a:moveTo>
                  <a:cubicBezTo>
                    <a:pt x="176" y="792"/>
                    <a:pt x="160" y="768"/>
                    <a:pt x="144" y="720"/>
                  </a:cubicBezTo>
                  <a:cubicBezTo>
                    <a:pt x="128" y="672"/>
                    <a:pt x="112" y="600"/>
                    <a:pt x="96" y="528"/>
                  </a:cubicBezTo>
                  <a:cubicBezTo>
                    <a:pt x="80" y="456"/>
                    <a:pt x="64" y="360"/>
                    <a:pt x="48" y="288"/>
                  </a:cubicBezTo>
                  <a:cubicBezTo>
                    <a:pt x="32" y="216"/>
                    <a:pt x="0" y="144"/>
                    <a:pt x="0" y="96"/>
                  </a:cubicBezTo>
                  <a:cubicBezTo>
                    <a:pt x="0" y="48"/>
                    <a:pt x="24" y="24"/>
                    <a:pt x="48" y="0"/>
                  </a:cubicBezTo>
                </a:path>
              </a:pathLst>
            </a:custGeom>
            <a:noFill/>
            <a:ln w="9525">
              <a:solidFill>
                <a:srgbClr val="33CCCC"/>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8971" name="Freeform 125"/>
            <p:cNvSpPr/>
            <p:nvPr/>
          </p:nvSpPr>
          <p:spPr bwMode="auto">
            <a:xfrm>
              <a:off x="3196" y="2025"/>
              <a:ext cx="112" cy="1008"/>
            </a:xfrm>
            <a:custGeom>
              <a:avLst/>
              <a:gdLst>
                <a:gd name="T0" fmla="*/ 56 w 112"/>
                <a:gd name="T1" fmla="*/ 1008 h 1008"/>
                <a:gd name="T2" fmla="*/ 104 w 112"/>
                <a:gd name="T3" fmla="*/ 912 h 1008"/>
                <a:gd name="T4" fmla="*/ 104 w 112"/>
                <a:gd name="T5" fmla="*/ 816 h 1008"/>
                <a:gd name="T6" fmla="*/ 56 w 112"/>
                <a:gd name="T7" fmla="*/ 624 h 1008"/>
                <a:gd name="T8" fmla="*/ 8 w 112"/>
                <a:gd name="T9" fmla="*/ 480 h 1008"/>
                <a:gd name="T10" fmla="*/ 8 w 112"/>
                <a:gd name="T11" fmla="*/ 288 h 1008"/>
                <a:gd name="T12" fmla="*/ 56 w 112"/>
                <a:gd name="T13" fmla="*/ 192 h 1008"/>
                <a:gd name="T14" fmla="*/ 104 w 112"/>
                <a:gd name="T15" fmla="*/ 0 h 1008"/>
                <a:gd name="T16" fmla="*/ 0 60000 65536"/>
                <a:gd name="T17" fmla="*/ 0 60000 65536"/>
                <a:gd name="T18" fmla="*/ 0 60000 65536"/>
                <a:gd name="T19" fmla="*/ 0 60000 65536"/>
                <a:gd name="T20" fmla="*/ 0 60000 65536"/>
                <a:gd name="T21" fmla="*/ 0 60000 65536"/>
                <a:gd name="T22" fmla="*/ 0 60000 65536"/>
                <a:gd name="T23" fmla="*/ 0 60000 65536"/>
                <a:gd name="T24" fmla="*/ 0 w 112"/>
                <a:gd name="T25" fmla="*/ 0 h 1008"/>
                <a:gd name="T26" fmla="*/ 112 w 112"/>
                <a:gd name="T27" fmla="*/ 1008 h 10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 h="1008">
                  <a:moveTo>
                    <a:pt x="56" y="1008"/>
                  </a:moveTo>
                  <a:cubicBezTo>
                    <a:pt x="76" y="976"/>
                    <a:pt x="96" y="944"/>
                    <a:pt x="104" y="912"/>
                  </a:cubicBezTo>
                  <a:cubicBezTo>
                    <a:pt x="112" y="880"/>
                    <a:pt x="112" y="864"/>
                    <a:pt x="104" y="816"/>
                  </a:cubicBezTo>
                  <a:cubicBezTo>
                    <a:pt x="96" y="768"/>
                    <a:pt x="72" y="680"/>
                    <a:pt x="56" y="624"/>
                  </a:cubicBezTo>
                  <a:cubicBezTo>
                    <a:pt x="40" y="568"/>
                    <a:pt x="16" y="536"/>
                    <a:pt x="8" y="480"/>
                  </a:cubicBezTo>
                  <a:cubicBezTo>
                    <a:pt x="0" y="424"/>
                    <a:pt x="0" y="336"/>
                    <a:pt x="8" y="288"/>
                  </a:cubicBezTo>
                  <a:cubicBezTo>
                    <a:pt x="16" y="240"/>
                    <a:pt x="40" y="240"/>
                    <a:pt x="56" y="192"/>
                  </a:cubicBezTo>
                  <a:cubicBezTo>
                    <a:pt x="72" y="144"/>
                    <a:pt x="88" y="72"/>
                    <a:pt x="104" y="0"/>
                  </a:cubicBezTo>
                </a:path>
              </a:pathLst>
            </a:custGeom>
            <a:noFill/>
            <a:ln w="9525">
              <a:solidFill>
                <a:srgbClr val="33CCCC"/>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8972" name="Freeform 126"/>
            <p:cNvSpPr/>
            <p:nvPr/>
          </p:nvSpPr>
          <p:spPr bwMode="auto">
            <a:xfrm>
              <a:off x="4020" y="3129"/>
              <a:ext cx="384" cy="816"/>
            </a:xfrm>
            <a:custGeom>
              <a:avLst/>
              <a:gdLst>
                <a:gd name="T0" fmla="*/ 384 w 384"/>
                <a:gd name="T1" fmla="*/ 816 h 816"/>
                <a:gd name="T2" fmla="*/ 336 w 384"/>
                <a:gd name="T3" fmla="*/ 624 h 816"/>
                <a:gd name="T4" fmla="*/ 240 w 384"/>
                <a:gd name="T5" fmla="*/ 432 h 816"/>
                <a:gd name="T6" fmla="*/ 96 w 384"/>
                <a:gd name="T7" fmla="*/ 288 h 816"/>
                <a:gd name="T8" fmla="*/ 48 w 384"/>
                <a:gd name="T9" fmla="*/ 192 h 816"/>
                <a:gd name="T10" fmla="*/ 0 w 384"/>
                <a:gd name="T11" fmla="*/ 0 h 816"/>
                <a:gd name="T12" fmla="*/ 0 60000 65536"/>
                <a:gd name="T13" fmla="*/ 0 60000 65536"/>
                <a:gd name="T14" fmla="*/ 0 60000 65536"/>
                <a:gd name="T15" fmla="*/ 0 60000 65536"/>
                <a:gd name="T16" fmla="*/ 0 60000 65536"/>
                <a:gd name="T17" fmla="*/ 0 60000 65536"/>
                <a:gd name="T18" fmla="*/ 0 w 384"/>
                <a:gd name="T19" fmla="*/ 0 h 816"/>
                <a:gd name="T20" fmla="*/ 384 w 384"/>
                <a:gd name="T21" fmla="*/ 816 h 816"/>
              </a:gdLst>
              <a:ahLst/>
              <a:cxnLst>
                <a:cxn ang="T12">
                  <a:pos x="T0" y="T1"/>
                </a:cxn>
                <a:cxn ang="T13">
                  <a:pos x="T2" y="T3"/>
                </a:cxn>
                <a:cxn ang="T14">
                  <a:pos x="T4" y="T5"/>
                </a:cxn>
                <a:cxn ang="T15">
                  <a:pos x="T6" y="T7"/>
                </a:cxn>
                <a:cxn ang="T16">
                  <a:pos x="T8" y="T9"/>
                </a:cxn>
                <a:cxn ang="T17">
                  <a:pos x="T10" y="T11"/>
                </a:cxn>
              </a:cxnLst>
              <a:rect l="T18" t="T19" r="T20" b="T21"/>
              <a:pathLst>
                <a:path w="384" h="816">
                  <a:moveTo>
                    <a:pt x="384" y="816"/>
                  </a:moveTo>
                  <a:cubicBezTo>
                    <a:pt x="372" y="752"/>
                    <a:pt x="360" y="688"/>
                    <a:pt x="336" y="624"/>
                  </a:cubicBezTo>
                  <a:cubicBezTo>
                    <a:pt x="312" y="560"/>
                    <a:pt x="280" y="488"/>
                    <a:pt x="240" y="432"/>
                  </a:cubicBezTo>
                  <a:cubicBezTo>
                    <a:pt x="200" y="376"/>
                    <a:pt x="128" y="328"/>
                    <a:pt x="96" y="288"/>
                  </a:cubicBezTo>
                  <a:cubicBezTo>
                    <a:pt x="64" y="248"/>
                    <a:pt x="64" y="240"/>
                    <a:pt x="48" y="192"/>
                  </a:cubicBezTo>
                  <a:cubicBezTo>
                    <a:pt x="32" y="144"/>
                    <a:pt x="16" y="72"/>
                    <a:pt x="0" y="0"/>
                  </a:cubicBezTo>
                </a:path>
              </a:pathLst>
            </a:custGeom>
            <a:noFill/>
            <a:ln w="9525">
              <a:solidFill>
                <a:srgbClr val="33CCCC"/>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8973" name="Freeform 127"/>
            <p:cNvSpPr/>
            <p:nvPr/>
          </p:nvSpPr>
          <p:spPr bwMode="auto">
            <a:xfrm>
              <a:off x="3956" y="2025"/>
              <a:ext cx="1080" cy="1952"/>
            </a:xfrm>
            <a:custGeom>
              <a:avLst/>
              <a:gdLst>
                <a:gd name="T0" fmla="*/ 1072 w 1080"/>
                <a:gd name="T1" fmla="*/ 1872 h 1952"/>
                <a:gd name="T2" fmla="*/ 1072 w 1080"/>
                <a:gd name="T3" fmla="*/ 1920 h 1952"/>
                <a:gd name="T4" fmla="*/ 1024 w 1080"/>
                <a:gd name="T5" fmla="*/ 1680 h 1952"/>
                <a:gd name="T6" fmla="*/ 736 w 1080"/>
                <a:gd name="T7" fmla="*/ 1392 h 1952"/>
                <a:gd name="T8" fmla="*/ 592 w 1080"/>
                <a:gd name="T9" fmla="*/ 1104 h 1952"/>
                <a:gd name="T10" fmla="*/ 400 w 1080"/>
                <a:gd name="T11" fmla="*/ 864 h 1952"/>
                <a:gd name="T12" fmla="*/ 64 w 1080"/>
                <a:gd name="T13" fmla="*/ 576 h 1952"/>
                <a:gd name="T14" fmla="*/ 16 w 1080"/>
                <a:gd name="T15" fmla="*/ 336 h 1952"/>
                <a:gd name="T16" fmla="*/ 160 w 1080"/>
                <a:gd name="T17" fmla="*/ 192 h 1952"/>
                <a:gd name="T18" fmla="*/ 304 w 1080"/>
                <a:gd name="T19" fmla="*/ 0 h 19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80"/>
                <a:gd name="T31" fmla="*/ 0 h 1952"/>
                <a:gd name="T32" fmla="*/ 1080 w 1080"/>
                <a:gd name="T33" fmla="*/ 1952 h 19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80" h="1952">
                  <a:moveTo>
                    <a:pt x="1072" y="1872"/>
                  </a:moveTo>
                  <a:cubicBezTo>
                    <a:pt x="1076" y="1912"/>
                    <a:pt x="1080" y="1952"/>
                    <a:pt x="1072" y="1920"/>
                  </a:cubicBezTo>
                  <a:cubicBezTo>
                    <a:pt x="1064" y="1888"/>
                    <a:pt x="1080" y="1768"/>
                    <a:pt x="1024" y="1680"/>
                  </a:cubicBezTo>
                  <a:cubicBezTo>
                    <a:pt x="968" y="1592"/>
                    <a:pt x="808" y="1488"/>
                    <a:pt x="736" y="1392"/>
                  </a:cubicBezTo>
                  <a:cubicBezTo>
                    <a:pt x="664" y="1296"/>
                    <a:pt x="648" y="1192"/>
                    <a:pt x="592" y="1104"/>
                  </a:cubicBezTo>
                  <a:cubicBezTo>
                    <a:pt x="536" y="1016"/>
                    <a:pt x="488" y="952"/>
                    <a:pt x="400" y="864"/>
                  </a:cubicBezTo>
                  <a:cubicBezTo>
                    <a:pt x="312" y="776"/>
                    <a:pt x="128" y="664"/>
                    <a:pt x="64" y="576"/>
                  </a:cubicBezTo>
                  <a:cubicBezTo>
                    <a:pt x="0" y="488"/>
                    <a:pt x="0" y="400"/>
                    <a:pt x="16" y="336"/>
                  </a:cubicBezTo>
                  <a:cubicBezTo>
                    <a:pt x="32" y="272"/>
                    <a:pt x="112" y="248"/>
                    <a:pt x="160" y="192"/>
                  </a:cubicBezTo>
                  <a:cubicBezTo>
                    <a:pt x="208" y="136"/>
                    <a:pt x="256" y="68"/>
                    <a:pt x="304" y="0"/>
                  </a:cubicBezTo>
                </a:path>
              </a:pathLst>
            </a:custGeom>
            <a:noFill/>
            <a:ln w="9525">
              <a:solidFill>
                <a:srgbClr val="33CCCC"/>
              </a:solidFill>
              <a:miter lim="800000"/>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8974" name="Text Box 128"/>
            <p:cNvSpPr txBox="1">
              <a:spLocks noChangeArrowheads="1"/>
            </p:cNvSpPr>
            <p:nvPr/>
          </p:nvSpPr>
          <p:spPr bwMode="auto">
            <a:xfrm>
              <a:off x="623" y="4075"/>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8975" name="Text Box 129"/>
            <p:cNvSpPr txBox="1">
              <a:spLocks noChangeArrowheads="1"/>
            </p:cNvSpPr>
            <p:nvPr/>
          </p:nvSpPr>
          <p:spPr bwMode="auto">
            <a:xfrm>
              <a:off x="830" y="4075"/>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8976" name="Text Box 130"/>
            <p:cNvSpPr txBox="1">
              <a:spLocks noChangeArrowheads="1"/>
            </p:cNvSpPr>
            <p:nvPr/>
          </p:nvSpPr>
          <p:spPr bwMode="auto">
            <a:xfrm>
              <a:off x="1221" y="4075"/>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8977" name="Text Box 131"/>
            <p:cNvSpPr txBox="1">
              <a:spLocks noChangeArrowheads="1"/>
            </p:cNvSpPr>
            <p:nvPr/>
          </p:nvSpPr>
          <p:spPr bwMode="auto">
            <a:xfrm>
              <a:off x="1782" y="408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8978" name="Text Box 132"/>
            <p:cNvSpPr txBox="1">
              <a:spLocks noChangeArrowheads="1"/>
            </p:cNvSpPr>
            <p:nvPr/>
          </p:nvSpPr>
          <p:spPr bwMode="auto">
            <a:xfrm>
              <a:off x="1982" y="4089"/>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78979" name="Text Box 133"/>
            <p:cNvSpPr txBox="1">
              <a:spLocks noChangeArrowheads="1"/>
            </p:cNvSpPr>
            <p:nvPr/>
          </p:nvSpPr>
          <p:spPr bwMode="auto">
            <a:xfrm>
              <a:off x="2571" y="408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78980" name="Text Box 134"/>
            <p:cNvSpPr txBox="1">
              <a:spLocks noChangeArrowheads="1"/>
            </p:cNvSpPr>
            <p:nvPr/>
          </p:nvSpPr>
          <p:spPr bwMode="auto">
            <a:xfrm>
              <a:off x="2747" y="408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7</a:t>
              </a:r>
            </a:p>
          </p:txBody>
        </p:sp>
        <p:sp>
          <p:nvSpPr>
            <p:cNvPr id="78981" name="Text Box 135"/>
            <p:cNvSpPr txBox="1">
              <a:spLocks noChangeArrowheads="1"/>
            </p:cNvSpPr>
            <p:nvPr/>
          </p:nvSpPr>
          <p:spPr bwMode="auto">
            <a:xfrm>
              <a:off x="3161" y="4089"/>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8</a:t>
              </a:r>
            </a:p>
          </p:txBody>
        </p:sp>
        <p:sp>
          <p:nvSpPr>
            <p:cNvPr id="78982" name="Text Box 136"/>
            <p:cNvSpPr txBox="1">
              <a:spLocks noChangeArrowheads="1"/>
            </p:cNvSpPr>
            <p:nvPr/>
          </p:nvSpPr>
          <p:spPr bwMode="auto">
            <a:xfrm>
              <a:off x="3345" y="408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9</a:t>
              </a:r>
            </a:p>
          </p:txBody>
        </p:sp>
        <p:sp>
          <p:nvSpPr>
            <p:cNvPr id="78983" name="Text Box 137"/>
            <p:cNvSpPr txBox="1">
              <a:spLocks noChangeArrowheads="1"/>
            </p:cNvSpPr>
            <p:nvPr/>
          </p:nvSpPr>
          <p:spPr bwMode="auto">
            <a:xfrm>
              <a:off x="4313" y="4075"/>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78984" name="Text Box 138"/>
            <p:cNvSpPr txBox="1">
              <a:spLocks noChangeArrowheads="1"/>
            </p:cNvSpPr>
            <p:nvPr/>
          </p:nvSpPr>
          <p:spPr bwMode="auto">
            <a:xfrm>
              <a:off x="4511" y="4075"/>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11</a:t>
              </a:r>
            </a:p>
          </p:txBody>
        </p:sp>
        <p:sp>
          <p:nvSpPr>
            <p:cNvPr id="78985" name="Text Box 139"/>
            <p:cNvSpPr txBox="1">
              <a:spLocks noChangeArrowheads="1"/>
            </p:cNvSpPr>
            <p:nvPr/>
          </p:nvSpPr>
          <p:spPr bwMode="auto">
            <a:xfrm>
              <a:off x="4917" y="4068"/>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0"/>
                </a:spcBef>
                <a:buClrTx/>
                <a:buSzTx/>
                <a:buFontTx/>
                <a:buNone/>
              </a:pPr>
              <a:r>
                <a:rPr kumimoji="1" lang="zh-CN" altLang="en-US">
                  <a:solidFill>
                    <a:srgbClr val="000066"/>
                  </a:solidFill>
                  <a:latin typeface="Times New Roman" panose="02020603050405020304" pitchFamily="18" charset="0"/>
                  <a:ea typeface="宋体" panose="02010600030101010101" pitchFamily="2" charset="-122"/>
                  <a:cs typeface="Times New Roman" panose="02020603050405020304" pitchFamily="18" charset="0"/>
                </a:rPr>
                <a:t>12</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图的</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sz="3200">
                <a:solidFill>
                  <a:schemeClr val="bg1"/>
                </a:solidFill>
                <a:latin typeface="楷体" panose="02010609060101010101" pitchFamily="49" charset="-122"/>
                <a:ea typeface="楷体" panose="02010609060101010101" pitchFamily="49" charset="-122"/>
              </a:rPr>
              <a:t>着色问题</a:t>
            </a:r>
          </a:p>
        </p:txBody>
      </p:sp>
      <p:sp>
        <p:nvSpPr>
          <p:cNvPr id="79875" name="Oval 4"/>
          <p:cNvSpPr>
            <a:spLocks noChangeArrowheads="1"/>
          </p:cNvSpPr>
          <p:nvPr/>
        </p:nvSpPr>
        <p:spPr bwMode="auto">
          <a:xfrm>
            <a:off x="282575" y="178752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876" name="Oval 5"/>
          <p:cNvSpPr>
            <a:spLocks noChangeArrowheads="1"/>
          </p:cNvSpPr>
          <p:nvPr/>
        </p:nvSpPr>
        <p:spPr bwMode="auto">
          <a:xfrm>
            <a:off x="1349375" y="178752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877" name="Oval 6"/>
          <p:cNvSpPr>
            <a:spLocks noChangeArrowheads="1"/>
          </p:cNvSpPr>
          <p:nvPr/>
        </p:nvSpPr>
        <p:spPr bwMode="auto">
          <a:xfrm>
            <a:off x="1349375" y="239712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878" name="Oval 7"/>
          <p:cNvSpPr>
            <a:spLocks noChangeArrowheads="1"/>
          </p:cNvSpPr>
          <p:nvPr/>
        </p:nvSpPr>
        <p:spPr bwMode="auto">
          <a:xfrm>
            <a:off x="282575" y="239712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879" name="Line 8"/>
          <p:cNvSpPr>
            <a:spLocks noChangeShapeType="1"/>
          </p:cNvSpPr>
          <p:nvPr/>
        </p:nvSpPr>
        <p:spPr bwMode="auto">
          <a:xfrm>
            <a:off x="587375" y="193992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80" name="Line 9"/>
          <p:cNvSpPr>
            <a:spLocks noChangeShapeType="1"/>
          </p:cNvSpPr>
          <p:nvPr/>
        </p:nvSpPr>
        <p:spPr bwMode="auto">
          <a:xfrm>
            <a:off x="588963" y="252888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81" name="Line 10"/>
          <p:cNvSpPr>
            <a:spLocks noChangeShapeType="1"/>
          </p:cNvSpPr>
          <p:nvPr/>
        </p:nvSpPr>
        <p:spPr bwMode="auto">
          <a:xfrm>
            <a:off x="423863" y="209232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82" name="Line 11"/>
          <p:cNvSpPr>
            <a:spLocks noChangeShapeType="1"/>
          </p:cNvSpPr>
          <p:nvPr/>
        </p:nvSpPr>
        <p:spPr bwMode="auto">
          <a:xfrm>
            <a:off x="1501775" y="209232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83" name="Oval 12"/>
          <p:cNvSpPr>
            <a:spLocks noChangeArrowheads="1"/>
          </p:cNvSpPr>
          <p:nvPr/>
        </p:nvSpPr>
        <p:spPr bwMode="auto">
          <a:xfrm>
            <a:off x="1722438" y="178752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884" name="Oval 13"/>
          <p:cNvSpPr>
            <a:spLocks noChangeArrowheads="1"/>
          </p:cNvSpPr>
          <p:nvPr/>
        </p:nvSpPr>
        <p:spPr bwMode="auto">
          <a:xfrm>
            <a:off x="2789238" y="178752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885" name="Oval 14"/>
          <p:cNvSpPr>
            <a:spLocks noChangeArrowheads="1"/>
          </p:cNvSpPr>
          <p:nvPr/>
        </p:nvSpPr>
        <p:spPr bwMode="auto">
          <a:xfrm>
            <a:off x="2789238" y="239712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886" name="Oval 15"/>
          <p:cNvSpPr>
            <a:spLocks noChangeArrowheads="1"/>
          </p:cNvSpPr>
          <p:nvPr/>
        </p:nvSpPr>
        <p:spPr bwMode="auto">
          <a:xfrm>
            <a:off x="1722438" y="239712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887" name="Line 16"/>
          <p:cNvSpPr>
            <a:spLocks noChangeShapeType="1"/>
          </p:cNvSpPr>
          <p:nvPr/>
        </p:nvSpPr>
        <p:spPr bwMode="auto">
          <a:xfrm>
            <a:off x="2027238" y="193992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88" name="Line 17"/>
          <p:cNvSpPr>
            <a:spLocks noChangeShapeType="1"/>
          </p:cNvSpPr>
          <p:nvPr/>
        </p:nvSpPr>
        <p:spPr bwMode="auto">
          <a:xfrm>
            <a:off x="2028825" y="252888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89" name="Line 18"/>
          <p:cNvSpPr>
            <a:spLocks noChangeShapeType="1"/>
          </p:cNvSpPr>
          <p:nvPr/>
        </p:nvSpPr>
        <p:spPr bwMode="auto">
          <a:xfrm>
            <a:off x="1863725" y="209232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90" name="Line 19"/>
          <p:cNvSpPr>
            <a:spLocks noChangeShapeType="1"/>
          </p:cNvSpPr>
          <p:nvPr/>
        </p:nvSpPr>
        <p:spPr bwMode="auto">
          <a:xfrm>
            <a:off x="2941638" y="209232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91" name="Oval 20"/>
          <p:cNvSpPr>
            <a:spLocks noChangeArrowheads="1"/>
          </p:cNvSpPr>
          <p:nvPr/>
        </p:nvSpPr>
        <p:spPr bwMode="auto">
          <a:xfrm>
            <a:off x="3159125" y="178752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892" name="Oval 21"/>
          <p:cNvSpPr>
            <a:spLocks noChangeArrowheads="1"/>
          </p:cNvSpPr>
          <p:nvPr/>
        </p:nvSpPr>
        <p:spPr bwMode="auto">
          <a:xfrm>
            <a:off x="4225925" y="178752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893" name="Oval 22"/>
          <p:cNvSpPr>
            <a:spLocks noChangeArrowheads="1"/>
          </p:cNvSpPr>
          <p:nvPr/>
        </p:nvSpPr>
        <p:spPr bwMode="auto">
          <a:xfrm>
            <a:off x="4225925" y="239712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894" name="Oval 23"/>
          <p:cNvSpPr>
            <a:spLocks noChangeArrowheads="1"/>
          </p:cNvSpPr>
          <p:nvPr/>
        </p:nvSpPr>
        <p:spPr bwMode="auto">
          <a:xfrm>
            <a:off x="3159125" y="239712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895" name="Line 24"/>
          <p:cNvSpPr>
            <a:spLocks noChangeShapeType="1"/>
          </p:cNvSpPr>
          <p:nvPr/>
        </p:nvSpPr>
        <p:spPr bwMode="auto">
          <a:xfrm>
            <a:off x="3463925" y="193992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96" name="Line 25"/>
          <p:cNvSpPr>
            <a:spLocks noChangeShapeType="1"/>
          </p:cNvSpPr>
          <p:nvPr/>
        </p:nvSpPr>
        <p:spPr bwMode="auto">
          <a:xfrm>
            <a:off x="3465513" y="252888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97" name="Line 26"/>
          <p:cNvSpPr>
            <a:spLocks noChangeShapeType="1"/>
          </p:cNvSpPr>
          <p:nvPr/>
        </p:nvSpPr>
        <p:spPr bwMode="auto">
          <a:xfrm>
            <a:off x="3300413" y="209232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98" name="Line 27"/>
          <p:cNvSpPr>
            <a:spLocks noChangeShapeType="1"/>
          </p:cNvSpPr>
          <p:nvPr/>
        </p:nvSpPr>
        <p:spPr bwMode="auto">
          <a:xfrm>
            <a:off x="4378325" y="209232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99" name="Oval 28"/>
          <p:cNvSpPr>
            <a:spLocks noChangeArrowheads="1"/>
          </p:cNvSpPr>
          <p:nvPr/>
        </p:nvSpPr>
        <p:spPr bwMode="auto">
          <a:xfrm>
            <a:off x="4614863" y="1776413"/>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00" name="Oval 29"/>
          <p:cNvSpPr>
            <a:spLocks noChangeArrowheads="1"/>
          </p:cNvSpPr>
          <p:nvPr/>
        </p:nvSpPr>
        <p:spPr bwMode="auto">
          <a:xfrm>
            <a:off x="5681663" y="1776413"/>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01" name="Oval 30"/>
          <p:cNvSpPr>
            <a:spLocks noChangeArrowheads="1"/>
          </p:cNvSpPr>
          <p:nvPr/>
        </p:nvSpPr>
        <p:spPr bwMode="auto">
          <a:xfrm>
            <a:off x="5681663" y="2386013"/>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02" name="Oval 31"/>
          <p:cNvSpPr>
            <a:spLocks noChangeArrowheads="1"/>
          </p:cNvSpPr>
          <p:nvPr/>
        </p:nvSpPr>
        <p:spPr bwMode="auto">
          <a:xfrm>
            <a:off x="4614863" y="2386013"/>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03" name="Line 32"/>
          <p:cNvSpPr>
            <a:spLocks noChangeShapeType="1"/>
          </p:cNvSpPr>
          <p:nvPr/>
        </p:nvSpPr>
        <p:spPr bwMode="auto">
          <a:xfrm>
            <a:off x="4919663" y="1928813"/>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04" name="Line 33"/>
          <p:cNvSpPr>
            <a:spLocks noChangeShapeType="1"/>
          </p:cNvSpPr>
          <p:nvPr/>
        </p:nvSpPr>
        <p:spPr bwMode="auto">
          <a:xfrm>
            <a:off x="4921250" y="251777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05" name="Line 34"/>
          <p:cNvSpPr>
            <a:spLocks noChangeShapeType="1"/>
          </p:cNvSpPr>
          <p:nvPr/>
        </p:nvSpPr>
        <p:spPr bwMode="auto">
          <a:xfrm>
            <a:off x="4756150" y="208121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06" name="Line 35"/>
          <p:cNvSpPr>
            <a:spLocks noChangeShapeType="1"/>
          </p:cNvSpPr>
          <p:nvPr/>
        </p:nvSpPr>
        <p:spPr bwMode="auto">
          <a:xfrm>
            <a:off x="5834063" y="208121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07" name="Oval 36"/>
          <p:cNvSpPr>
            <a:spLocks noChangeArrowheads="1"/>
          </p:cNvSpPr>
          <p:nvPr/>
        </p:nvSpPr>
        <p:spPr bwMode="auto">
          <a:xfrm>
            <a:off x="6081713" y="175577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08" name="Oval 37"/>
          <p:cNvSpPr>
            <a:spLocks noChangeArrowheads="1"/>
          </p:cNvSpPr>
          <p:nvPr/>
        </p:nvSpPr>
        <p:spPr bwMode="auto">
          <a:xfrm>
            <a:off x="7148513" y="175577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09" name="Oval 38"/>
          <p:cNvSpPr>
            <a:spLocks noChangeArrowheads="1"/>
          </p:cNvSpPr>
          <p:nvPr/>
        </p:nvSpPr>
        <p:spPr bwMode="auto">
          <a:xfrm>
            <a:off x="7148513" y="236537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10" name="Oval 39"/>
          <p:cNvSpPr>
            <a:spLocks noChangeArrowheads="1"/>
          </p:cNvSpPr>
          <p:nvPr/>
        </p:nvSpPr>
        <p:spPr bwMode="auto">
          <a:xfrm>
            <a:off x="6081713" y="236537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11" name="Line 40"/>
          <p:cNvSpPr>
            <a:spLocks noChangeShapeType="1"/>
          </p:cNvSpPr>
          <p:nvPr/>
        </p:nvSpPr>
        <p:spPr bwMode="auto">
          <a:xfrm>
            <a:off x="6386513" y="190817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12" name="Line 41"/>
          <p:cNvSpPr>
            <a:spLocks noChangeShapeType="1"/>
          </p:cNvSpPr>
          <p:nvPr/>
        </p:nvSpPr>
        <p:spPr bwMode="auto">
          <a:xfrm>
            <a:off x="6388100" y="249713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13" name="Line 42"/>
          <p:cNvSpPr>
            <a:spLocks noChangeShapeType="1"/>
          </p:cNvSpPr>
          <p:nvPr/>
        </p:nvSpPr>
        <p:spPr bwMode="auto">
          <a:xfrm>
            <a:off x="6223000" y="206057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14" name="Line 43"/>
          <p:cNvSpPr>
            <a:spLocks noChangeShapeType="1"/>
          </p:cNvSpPr>
          <p:nvPr/>
        </p:nvSpPr>
        <p:spPr bwMode="auto">
          <a:xfrm>
            <a:off x="7300913" y="206057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15" name="Oval 44"/>
          <p:cNvSpPr>
            <a:spLocks noChangeArrowheads="1"/>
          </p:cNvSpPr>
          <p:nvPr/>
        </p:nvSpPr>
        <p:spPr bwMode="auto">
          <a:xfrm>
            <a:off x="7543800" y="175577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16" name="Oval 45"/>
          <p:cNvSpPr>
            <a:spLocks noChangeArrowheads="1"/>
          </p:cNvSpPr>
          <p:nvPr/>
        </p:nvSpPr>
        <p:spPr bwMode="auto">
          <a:xfrm>
            <a:off x="8610600" y="175577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17" name="Oval 46"/>
          <p:cNvSpPr>
            <a:spLocks noChangeArrowheads="1"/>
          </p:cNvSpPr>
          <p:nvPr/>
        </p:nvSpPr>
        <p:spPr bwMode="auto">
          <a:xfrm>
            <a:off x="8610600" y="236537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18" name="Oval 47"/>
          <p:cNvSpPr>
            <a:spLocks noChangeArrowheads="1"/>
          </p:cNvSpPr>
          <p:nvPr/>
        </p:nvSpPr>
        <p:spPr bwMode="auto">
          <a:xfrm>
            <a:off x="7543800" y="236537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19" name="Line 48"/>
          <p:cNvSpPr>
            <a:spLocks noChangeShapeType="1"/>
          </p:cNvSpPr>
          <p:nvPr/>
        </p:nvSpPr>
        <p:spPr bwMode="auto">
          <a:xfrm>
            <a:off x="7848600" y="190817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20" name="Line 49"/>
          <p:cNvSpPr>
            <a:spLocks noChangeShapeType="1"/>
          </p:cNvSpPr>
          <p:nvPr/>
        </p:nvSpPr>
        <p:spPr bwMode="auto">
          <a:xfrm>
            <a:off x="7850188" y="249713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21" name="Line 50"/>
          <p:cNvSpPr>
            <a:spLocks noChangeShapeType="1"/>
          </p:cNvSpPr>
          <p:nvPr/>
        </p:nvSpPr>
        <p:spPr bwMode="auto">
          <a:xfrm>
            <a:off x="7685088" y="206057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22" name="Line 51"/>
          <p:cNvSpPr>
            <a:spLocks noChangeShapeType="1"/>
          </p:cNvSpPr>
          <p:nvPr/>
        </p:nvSpPr>
        <p:spPr bwMode="auto">
          <a:xfrm>
            <a:off x="8763000" y="206057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23" name="Oval 52"/>
          <p:cNvSpPr>
            <a:spLocks noChangeArrowheads="1"/>
          </p:cNvSpPr>
          <p:nvPr/>
        </p:nvSpPr>
        <p:spPr bwMode="auto">
          <a:xfrm>
            <a:off x="282575" y="3316288"/>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24" name="Oval 53"/>
          <p:cNvSpPr>
            <a:spLocks noChangeArrowheads="1"/>
          </p:cNvSpPr>
          <p:nvPr/>
        </p:nvSpPr>
        <p:spPr bwMode="auto">
          <a:xfrm>
            <a:off x="1349375" y="3316288"/>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25" name="Oval 54"/>
          <p:cNvSpPr>
            <a:spLocks noChangeArrowheads="1"/>
          </p:cNvSpPr>
          <p:nvPr/>
        </p:nvSpPr>
        <p:spPr bwMode="auto">
          <a:xfrm>
            <a:off x="1349375" y="3925888"/>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26" name="Oval 55"/>
          <p:cNvSpPr>
            <a:spLocks noChangeArrowheads="1"/>
          </p:cNvSpPr>
          <p:nvPr/>
        </p:nvSpPr>
        <p:spPr bwMode="auto">
          <a:xfrm>
            <a:off x="282575" y="3925888"/>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27" name="Line 56"/>
          <p:cNvSpPr>
            <a:spLocks noChangeShapeType="1"/>
          </p:cNvSpPr>
          <p:nvPr/>
        </p:nvSpPr>
        <p:spPr bwMode="auto">
          <a:xfrm>
            <a:off x="587375" y="346868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28" name="Line 57"/>
          <p:cNvSpPr>
            <a:spLocks noChangeShapeType="1"/>
          </p:cNvSpPr>
          <p:nvPr/>
        </p:nvSpPr>
        <p:spPr bwMode="auto">
          <a:xfrm>
            <a:off x="588963" y="4057650"/>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29" name="Line 58"/>
          <p:cNvSpPr>
            <a:spLocks noChangeShapeType="1"/>
          </p:cNvSpPr>
          <p:nvPr/>
        </p:nvSpPr>
        <p:spPr bwMode="auto">
          <a:xfrm>
            <a:off x="423863" y="3621088"/>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30" name="Line 59"/>
          <p:cNvSpPr>
            <a:spLocks noChangeShapeType="1"/>
          </p:cNvSpPr>
          <p:nvPr/>
        </p:nvSpPr>
        <p:spPr bwMode="auto">
          <a:xfrm>
            <a:off x="1501775" y="3621088"/>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31" name="Oval 60"/>
          <p:cNvSpPr>
            <a:spLocks noChangeArrowheads="1"/>
          </p:cNvSpPr>
          <p:nvPr/>
        </p:nvSpPr>
        <p:spPr bwMode="auto">
          <a:xfrm>
            <a:off x="1738313" y="330517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32" name="Oval 61"/>
          <p:cNvSpPr>
            <a:spLocks noChangeArrowheads="1"/>
          </p:cNvSpPr>
          <p:nvPr/>
        </p:nvSpPr>
        <p:spPr bwMode="auto">
          <a:xfrm>
            <a:off x="2805113" y="3305175"/>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33" name="Oval 62"/>
          <p:cNvSpPr>
            <a:spLocks noChangeArrowheads="1"/>
          </p:cNvSpPr>
          <p:nvPr/>
        </p:nvSpPr>
        <p:spPr bwMode="auto">
          <a:xfrm>
            <a:off x="2805113" y="391477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34" name="Oval 63"/>
          <p:cNvSpPr>
            <a:spLocks noChangeArrowheads="1"/>
          </p:cNvSpPr>
          <p:nvPr/>
        </p:nvSpPr>
        <p:spPr bwMode="auto">
          <a:xfrm>
            <a:off x="1738313" y="391477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35" name="Line 64"/>
          <p:cNvSpPr>
            <a:spLocks noChangeShapeType="1"/>
          </p:cNvSpPr>
          <p:nvPr/>
        </p:nvSpPr>
        <p:spPr bwMode="auto">
          <a:xfrm>
            <a:off x="2043113" y="345757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36" name="Line 65"/>
          <p:cNvSpPr>
            <a:spLocks noChangeShapeType="1"/>
          </p:cNvSpPr>
          <p:nvPr/>
        </p:nvSpPr>
        <p:spPr bwMode="auto">
          <a:xfrm>
            <a:off x="2044700" y="404653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37" name="Line 66"/>
          <p:cNvSpPr>
            <a:spLocks noChangeShapeType="1"/>
          </p:cNvSpPr>
          <p:nvPr/>
        </p:nvSpPr>
        <p:spPr bwMode="auto">
          <a:xfrm>
            <a:off x="1879600" y="360997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38" name="Line 67"/>
          <p:cNvSpPr>
            <a:spLocks noChangeShapeType="1"/>
          </p:cNvSpPr>
          <p:nvPr/>
        </p:nvSpPr>
        <p:spPr bwMode="auto">
          <a:xfrm>
            <a:off x="2957513" y="360997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39" name="Oval 68"/>
          <p:cNvSpPr>
            <a:spLocks noChangeArrowheads="1"/>
          </p:cNvSpPr>
          <p:nvPr/>
        </p:nvSpPr>
        <p:spPr bwMode="auto">
          <a:xfrm>
            <a:off x="3213100" y="3303588"/>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40" name="Oval 69"/>
          <p:cNvSpPr>
            <a:spLocks noChangeArrowheads="1"/>
          </p:cNvSpPr>
          <p:nvPr/>
        </p:nvSpPr>
        <p:spPr bwMode="auto">
          <a:xfrm>
            <a:off x="4279900" y="3303588"/>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41" name="Oval 70"/>
          <p:cNvSpPr>
            <a:spLocks noChangeArrowheads="1"/>
          </p:cNvSpPr>
          <p:nvPr/>
        </p:nvSpPr>
        <p:spPr bwMode="auto">
          <a:xfrm>
            <a:off x="4279900" y="3913188"/>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42" name="Oval 71"/>
          <p:cNvSpPr>
            <a:spLocks noChangeArrowheads="1"/>
          </p:cNvSpPr>
          <p:nvPr/>
        </p:nvSpPr>
        <p:spPr bwMode="auto">
          <a:xfrm>
            <a:off x="3213100" y="3913188"/>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43" name="Line 72"/>
          <p:cNvSpPr>
            <a:spLocks noChangeShapeType="1"/>
          </p:cNvSpPr>
          <p:nvPr/>
        </p:nvSpPr>
        <p:spPr bwMode="auto">
          <a:xfrm>
            <a:off x="3517900" y="345598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44" name="Line 73"/>
          <p:cNvSpPr>
            <a:spLocks noChangeShapeType="1"/>
          </p:cNvSpPr>
          <p:nvPr/>
        </p:nvSpPr>
        <p:spPr bwMode="auto">
          <a:xfrm>
            <a:off x="3519488" y="4044950"/>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45" name="Line 74"/>
          <p:cNvSpPr>
            <a:spLocks noChangeShapeType="1"/>
          </p:cNvSpPr>
          <p:nvPr/>
        </p:nvSpPr>
        <p:spPr bwMode="auto">
          <a:xfrm>
            <a:off x="3354388" y="3608388"/>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46" name="Line 75"/>
          <p:cNvSpPr>
            <a:spLocks noChangeShapeType="1"/>
          </p:cNvSpPr>
          <p:nvPr/>
        </p:nvSpPr>
        <p:spPr bwMode="auto">
          <a:xfrm>
            <a:off x="4432300" y="3608388"/>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47" name="Oval 76"/>
          <p:cNvSpPr>
            <a:spLocks noChangeArrowheads="1"/>
          </p:cNvSpPr>
          <p:nvPr/>
        </p:nvSpPr>
        <p:spPr bwMode="auto">
          <a:xfrm>
            <a:off x="4652963" y="3303588"/>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48" name="Oval 77"/>
          <p:cNvSpPr>
            <a:spLocks noChangeArrowheads="1"/>
          </p:cNvSpPr>
          <p:nvPr/>
        </p:nvSpPr>
        <p:spPr bwMode="auto">
          <a:xfrm>
            <a:off x="5719763" y="3303588"/>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49" name="Oval 78"/>
          <p:cNvSpPr>
            <a:spLocks noChangeArrowheads="1"/>
          </p:cNvSpPr>
          <p:nvPr/>
        </p:nvSpPr>
        <p:spPr bwMode="auto">
          <a:xfrm>
            <a:off x="5719763" y="3913188"/>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50" name="Oval 79"/>
          <p:cNvSpPr>
            <a:spLocks noChangeArrowheads="1"/>
          </p:cNvSpPr>
          <p:nvPr/>
        </p:nvSpPr>
        <p:spPr bwMode="auto">
          <a:xfrm>
            <a:off x="4652963" y="3913188"/>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51" name="Line 80"/>
          <p:cNvSpPr>
            <a:spLocks noChangeShapeType="1"/>
          </p:cNvSpPr>
          <p:nvPr/>
        </p:nvSpPr>
        <p:spPr bwMode="auto">
          <a:xfrm>
            <a:off x="4957763" y="345598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52" name="Line 81"/>
          <p:cNvSpPr>
            <a:spLocks noChangeShapeType="1"/>
          </p:cNvSpPr>
          <p:nvPr/>
        </p:nvSpPr>
        <p:spPr bwMode="auto">
          <a:xfrm>
            <a:off x="4959350" y="4044950"/>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53" name="Line 82"/>
          <p:cNvSpPr>
            <a:spLocks noChangeShapeType="1"/>
          </p:cNvSpPr>
          <p:nvPr/>
        </p:nvSpPr>
        <p:spPr bwMode="auto">
          <a:xfrm>
            <a:off x="4794250" y="3608388"/>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54" name="Line 83"/>
          <p:cNvSpPr>
            <a:spLocks noChangeShapeType="1"/>
          </p:cNvSpPr>
          <p:nvPr/>
        </p:nvSpPr>
        <p:spPr bwMode="auto">
          <a:xfrm>
            <a:off x="5872163" y="3608388"/>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55" name="Oval 84"/>
          <p:cNvSpPr>
            <a:spLocks noChangeArrowheads="1"/>
          </p:cNvSpPr>
          <p:nvPr/>
        </p:nvSpPr>
        <p:spPr bwMode="auto">
          <a:xfrm>
            <a:off x="6089650" y="3303588"/>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56" name="Oval 85"/>
          <p:cNvSpPr>
            <a:spLocks noChangeArrowheads="1"/>
          </p:cNvSpPr>
          <p:nvPr/>
        </p:nvSpPr>
        <p:spPr bwMode="auto">
          <a:xfrm>
            <a:off x="7156450" y="3303588"/>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57" name="Oval 86"/>
          <p:cNvSpPr>
            <a:spLocks noChangeArrowheads="1"/>
          </p:cNvSpPr>
          <p:nvPr/>
        </p:nvSpPr>
        <p:spPr bwMode="auto">
          <a:xfrm>
            <a:off x="7156450" y="3913188"/>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58" name="Oval 87"/>
          <p:cNvSpPr>
            <a:spLocks noChangeArrowheads="1"/>
          </p:cNvSpPr>
          <p:nvPr/>
        </p:nvSpPr>
        <p:spPr bwMode="auto">
          <a:xfrm>
            <a:off x="6089650" y="3913188"/>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59" name="Line 88"/>
          <p:cNvSpPr>
            <a:spLocks noChangeShapeType="1"/>
          </p:cNvSpPr>
          <p:nvPr/>
        </p:nvSpPr>
        <p:spPr bwMode="auto">
          <a:xfrm>
            <a:off x="6394450" y="345598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60" name="Line 89"/>
          <p:cNvSpPr>
            <a:spLocks noChangeShapeType="1"/>
          </p:cNvSpPr>
          <p:nvPr/>
        </p:nvSpPr>
        <p:spPr bwMode="auto">
          <a:xfrm>
            <a:off x="6396038" y="4044950"/>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61" name="Line 90"/>
          <p:cNvSpPr>
            <a:spLocks noChangeShapeType="1"/>
          </p:cNvSpPr>
          <p:nvPr/>
        </p:nvSpPr>
        <p:spPr bwMode="auto">
          <a:xfrm>
            <a:off x="6230938" y="3608388"/>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62" name="Line 91"/>
          <p:cNvSpPr>
            <a:spLocks noChangeShapeType="1"/>
          </p:cNvSpPr>
          <p:nvPr/>
        </p:nvSpPr>
        <p:spPr bwMode="auto">
          <a:xfrm>
            <a:off x="7308850" y="3608388"/>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63" name="Oval 92"/>
          <p:cNvSpPr>
            <a:spLocks noChangeArrowheads="1"/>
          </p:cNvSpPr>
          <p:nvPr/>
        </p:nvSpPr>
        <p:spPr bwMode="auto">
          <a:xfrm>
            <a:off x="7545388" y="329247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64" name="Oval 93"/>
          <p:cNvSpPr>
            <a:spLocks noChangeArrowheads="1"/>
          </p:cNvSpPr>
          <p:nvPr/>
        </p:nvSpPr>
        <p:spPr bwMode="auto">
          <a:xfrm>
            <a:off x="8612188" y="329247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65" name="Oval 94"/>
          <p:cNvSpPr>
            <a:spLocks noChangeArrowheads="1"/>
          </p:cNvSpPr>
          <p:nvPr/>
        </p:nvSpPr>
        <p:spPr bwMode="auto">
          <a:xfrm>
            <a:off x="8612188" y="3902075"/>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66" name="Oval 95"/>
          <p:cNvSpPr>
            <a:spLocks noChangeArrowheads="1"/>
          </p:cNvSpPr>
          <p:nvPr/>
        </p:nvSpPr>
        <p:spPr bwMode="auto">
          <a:xfrm>
            <a:off x="7545388" y="3902075"/>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67" name="Line 96"/>
          <p:cNvSpPr>
            <a:spLocks noChangeShapeType="1"/>
          </p:cNvSpPr>
          <p:nvPr/>
        </p:nvSpPr>
        <p:spPr bwMode="auto">
          <a:xfrm>
            <a:off x="7850188" y="344487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68" name="Line 97"/>
          <p:cNvSpPr>
            <a:spLocks noChangeShapeType="1"/>
          </p:cNvSpPr>
          <p:nvPr/>
        </p:nvSpPr>
        <p:spPr bwMode="auto">
          <a:xfrm>
            <a:off x="7851775" y="4033838"/>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69" name="Line 98"/>
          <p:cNvSpPr>
            <a:spLocks noChangeShapeType="1"/>
          </p:cNvSpPr>
          <p:nvPr/>
        </p:nvSpPr>
        <p:spPr bwMode="auto">
          <a:xfrm>
            <a:off x="7686675" y="359727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70" name="Line 99"/>
          <p:cNvSpPr>
            <a:spLocks noChangeShapeType="1"/>
          </p:cNvSpPr>
          <p:nvPr/>
        </p:nvSpPr>
        <p:spPr bwMode="auto">
          <a:xfrm>
            <a:off x="8764588" y="3597275"/>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71" name="Text Box 100"/>
          <p:cNvSpPr txBox="1">
            <a:spLocks noChangeArrowheads="1"/>
          </p:cNvSpPr>
          <p:nvPr/>
        </p:nvSpPr>
        <p:spPr bwMode="auto">
          <a:xfrm>
            <a:off x="357188" y="2703513"/>
            <a:ext cx="1206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A:(1,2,1,2)</a:t>
            </a:r>
          </a:p>
        </p:txBody>
      </p:sp>
      <p:sp>
        <p:nvSpPr>
          <p:cNvPr id="79972" name="Text Box 101"/>
          <p:cNvSpPr txBox="1">
            <a:spLocks noChangeArrowheads="1"/>
          </p:cNvSpPr>
          <p:nvPr/>
        </p:nvSpPr>
        <p:spPr bwMode="auto">
          <a:xfrm>
            <a:off x="1851025" y="2713038"/>
            <a:ext cx="1193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B:(1,2,1,3)</a:t>
            </a:r>
          </a:p>
        </p:txBody>
      </p:sp>
      <p:sp>
        <p:nvSpPr>
          <p:cNvPr id="79973" name="Text Box 102"/>
          <p:cNvSpPr txBox="1">
            <a:spLocks noChangeArrowheads="1"/>
          </p:cNvSpPr>
          <p:nvPr/>
        </p:nvSpPr>
        <p:spPr bwMode="auto">
          <a:xfrm>
            <a:off x="3268663" y="2690813"/>
            <a:ext cx="1206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C:(1,2,3,2)</a:t>
            </a:r>
          </a:p>
        </p:txBody>
      </p:sp>
      <p:sp>
        <p:nvSpPr>
          <p:cNvPr id="79974" name="Text Box 103"/>
          <p:cNvSpPr txBox="1">
            <a:spLocks noChangeArrowheads="1"/>
          </p:cNvSpPr>
          <p:nvPr/>
        </p:nvSpPr>
        <p:spPr bwMode="auto">
          <a:xfrm>
            <a:off x="4729163" y="2700338"/>
            <a:ext cx="1206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D:(1,3,1,2)</a:t>
            </a:r>
          </a:p>
        </p:txBody>
      </p:sp>
      <p:sp>
        <p:nvSpPr>
          <p:cNvPr id="79975" name="Text Box 104"/>
          <p:cNvSpPr txBox="1">
            <a:spLocks noChangeArrowheads="1"/>
          </p:cNvSpPr>
          <p:nvPr/>
        </p:nvSpPr>
        <p:spPr bwMode="auto">
          <a:xfrm>
            <a:off x="6157913" y="2638425"/>
            <a:ext cx="1193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E:(1,3,1,3)</a:t>
            </a:r>
          </a:p>
        </p:txBody>
      </p:sp>
      <p:sp>
        <p:nvSpPr>
          <p:cNvPr id="79976" name="Text Box 105"/>
          <p:cNvSpPr txBox="1">
            <a:spLocks noChangeArrowheads="1"/>
          </p:cNvSpPr>
          <p:nvPr/>
        </p:nvSpPr>
        <p:spPr bwMode="auto">
          <a:xfrm>
            <a:off x="7673975" y="2647950"/>
            <a:ext cx="118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F:(1,3,2,3)</a:t>
            </a:r>
          </a:p>
        </p:txBody>
      </p:sp>
      <p:sp>
        <p:nvSpPr>
          <p:cNvPr id="79977" name="Text Box 106"/>
          <p:cNvSpPr txBox="1">
            <a:spLocks noChangeArrowheads="1"/>
          </p:cNvSpPr>
          <p:nvPr/>
        </p:nvSpPr>
        <p:spPr bwMode="auto">
          <a:xfrm>
            <a:off x="393700" y="418623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G:(2,1,2,1)</a:t>
            </a:r>
          </a:p>
        </p:txBody>
      </p:sp>
      <p:sp>
        <p:nvSpPr>
          <p:cNvPr id="79978" name="Text Box 107"/>
          <p:cNvSpPr txBox="1">
            <a:spLocks noChangeArrowheads="1"/>
          </p:cNvSpPr>
          <p:nvPr/>
        </p:nvSpPr>
        <p:spPr bwMode="auto">
          <a:xfrm>
            <a:off x="1854200" y="4195763"/>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H:(2,1,2,3)</a:t>
            </a:r>
          </a:p>
        </p:txBody>
      </p:sp>
      <p:sp>
        <p:nvSpPr>
          <p:cNvPr id="79979" name="Text Box 108"/>
          <p:cNvSpPr txBox="1">
            <a:spLocks noChangeArrowheads="1"/>
          </p:cNvSpPr>
          <p:nvPr/>
        </p:nvSpPr>
        <p:spPr bwMode="auto">
          <a:xfrm>
            <a:off x="3332163" y="4149725"/>
            <a:ext cx="1130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I:(2,1,3,1)</a:t>
            </a:r>
          </a:p>
        </p:txBody>
      </p:sp>
      <p:sp>
        <p:nvSpPr>
          <p:cNvPr id="79980" name="Text Box 109"/>
          <p:cNvSpPr txBox="1">
            <a:spLocks noChangeArrowheads="1"/>
          </p:cNvSpPr>
          <p:nvPr/>
        </p:nvSpPr>
        <p:spPr bwMode="auto">
          <a:xfrm>
            <a:off x="4826000" y="4159250"/>
            <a:ext cx="1155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J:(2,3,1,3)</a:t>
            </a:r>
          </a:p>
        </p:txBody>
      </p:sp>
      <p:sp>
        <p:nvSpPr>
          <p:cNvPr id="79981" name="Text Box 110"/>
          <p:cNvSpPr txBox="1">
            <a:spLocks noChangeArrowheads="1"/>
          </p:cNvSpPr>
          <p:nvPr/>
        </p:nvSpPr>
        <p:spPr bwMode="auto">
          <a:xfrm>
            <a:off x="6243638" y="4137025"/>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K:(2,3,2,1)</a:t>
            </a:r>
          </a:p>
        </p:txBody>
      </p:sp>
      <p:sp>
        <p:nvSpPr>
          <p:cNvPr id="79982" name="Text Box 111"/>
          <p:cNvSpPr txBox="1">
            <a:spLocks noChangeArrowheads="1"/>
          </p:cNvSpPr>
          <p:nvPr/>
        </p:nvSpPr>
        <p:spPr bwMode="auto">
          <a:xfrm>
            <a:off x="7704138" y="4146550"/>
            <a:ext cx="1193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L:(2,3,2,3)</a:t>
            </a:r>
          </a:p>
        </p:txBody>
      </p:sp>
      <p:sp>
        <p:nvSpPr>
          <p:cNvPr id="79983" name="Oval 112"/>
          <p:cNvSpPr>
            <a:spLocks noChangeArrowheads="1"/>
          </p:cNvSpPr>
          <p:nvPr/>
        </p:nvSpPr>
        <p:spPr bwMode="auto">
          <a:xfrm>
            <a:off x="296863" y="4729163"/>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84" name="Oval 113"/>
          <p:cNvSpPr>
            <a:spLocks noChangeArrowheads="1"/>
          </p:cNvSpPr>
          <p:nvPr/>
        </p:nvSpPr>
        <p:spPr bwMode="auto">
          <a:xfrm>
            <a:off x="1363663" y="4729163"/>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85" name="Oval 114"/>
          <p:cNvSpPr>
            <a:spLocks noChangeArrowheads="1"/>
          </p:cNvSpPr>
          <p:nvPr/>
        </p:nvSpPr>
        <p:spPr bwMode="auto">
          <a:xfrm>
            <a:off x="1363663" y="5338763"/>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86" name="Oval 115"/>
          <p:cNvSpPr>
            <a:spLocks noChangeArrowheads="1"/>
          </p:cNvSpPr>
          <p:nvPr/>
        </p:nvSpPr>
        <p:spPr bwMode="auto">
          <a:xfrm>
            <a:off x="296863" y="5338763"/>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87" name="Line 116"/>
          <p:cNvSpPr>
            <a:spLocks noChangeShapeType="1"/>
          </p:cNvSpPr>
          <p:nvPr/>
        </p:nvSpPr>
        <p:spPr bwMode="auto">
          <a:xfrm>
            <a:off x="601663" y="4881563"/>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88" name="Line 117"/>
          <p:cNvSpPr>
            <a:spLocks noChangeShapeType="1"/>
          </p:cNvSpPr>
          <p:nvPr/>
        </p:nvSpPr>
        <p:spPr bwMode="auto">
          <a:xfrm>
            <a:off x="603250" y="547052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89" name="Line 118"/>
          <p:cNvSpPr>
            <a:spLocks noChangeShapeType="1"/>
          </p:cNvSpPr>
          <p:nvPr/>
        </p:nvSpPr>
        <p:spPr bwMode="auto">
          <a:xfrm>
            <a:off x="438150" y="503396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90" name="Line 119"/>
          <p:cNvSpPr>
            <a:spLocks noChangeShapeType="1"/>
          </p:cNvSpPr>
          <p:nvPr/>
        </p:nvSpPr>
        <p:spPr bwMode="auto">
          <a:xfrm>
            <a:off x="1516063" y="503396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91" name="Oval 120"/>
          <p:cNvSpPr>
            <a:spLocks noChangeArrowheads="1"/>
          </p:cNvSpPr>
          <p:nvPr/>
        </p:nvSpPr>
        <p:spPr bwMode="auto">
          <a:xfrm>
            <a:off x="1752600" y="4718050"/>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992" name="Oval 121"/>
          <p:cNvSpPr>
            <a:spLocks noChangeArrowheads="1"/>
          </p:cNvSpPr>
          <p:nvPr/>
        </p:nvSpPr>
        <p:spPr bwMode="auto">
          <a:xfrm>
            <a:off x="2819400" y="4718050"/>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79993" name="Oval 122"/>
          <p:cNvSpPr>
            <a:spLocks noChangeArrowheads="1"/>
          </p:cNvSpPr>
          <p:nvPr/>
        </p:nvSpPr>
        <p:spPr bwMode="auto">
          <a:xfrm>
            <a:off x="2819400" y="5327650"/>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79994" name="Oval 123"/>
          <p:cNvSpPr>
            <a:spLocks noChangeArrowheads="1"/>
          </p:cNvSpPr>
          <p:nvPr/>
        </p:nvSpPr>
        <p:spPr bwMode="auto">
          <a:xfrm>
            <a:off x="1752600" y="5327650"/>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79995" name="Line 124"/>
          <p:cNvSpPr>
            <a:spLocks noChangeShapeType="1"/>
          </p:cNvSpPr>
          <p:nvPr/>
        </p:nvSpPr>
        <p:spPr bwMode="auto">
          <a:xfrm>
            <a:off x="2057400" y="4870450"/>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96" name="Line 125"/>
          <p:cNvSpPr>
            <a:spLocks noChangeShapeType="1"/>
          </p:cNvSpPr>
          <p:nvPr/>
        </p:nvSpPr>
        <p:spPr bwMode="auto">
          <a:xfrm>
            <a:off x="2058988" y="5459413"/>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97" name="Line 126"/>
          <p:cNvSpPr>
            <a:spLocks noChangeShapeType="1"/>
          </p:cNvSpPr>
          <p:nvPr/>
        </p:nvSpPr>
        <p:spPr bwMode="auto">
          <a:xfrm>
            <a:off x="1893888" y="5022850"/>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98" name="Line 127"/>
          <p:cNvSpPr>
            <a:spLocks noChangeShapeType="1"/>
          </p:cNvSpPr>
          <p:nvPr/>
        </p:nvSpPr>
        <p:spPr bwMode="auto">
          <a:xfrm>
            <a:off x="2971800" y="5022850"/>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99" name="Oval 128"/>
          <p:cNvSpPr>
            <a:spLocks noChangeArrowheads="1"/>
          </p:cNvSpPr>
          <p:nvPr/>
        </p:nvSpPr>
        <p:spPr bwMode="auto">
          <a:xfrm>
            <a:off x="3227388" y="4716463"/>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80000" name="Oval 129"/>
          <p:cNvSpPr>
            <a:spLocks noChangeArrowheads="1"/>
          </p:cNvSpPr>
          <p:nvPr/>
        </p:nvSpPr>
        <p:spPr bwMode="auto">
          <a:xfrm>
            <a:off x="4294188" y="4716463"/>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0001" name="Oval 130"/>
          <p:cNvSpPr>
            <a:spLocks noChangeArrowheads="1"/>
          </p:cNvSpPr>
          <p:nvPr/>
        </p:nvSpPr>
        <p:spPr bwMode="auto">
          <a:xfrm>
            <a:off x="4294188" y="5326063"/>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80002" name="Oval 131"/>
          <p:cNvSpPr>
            <a:spLocks noChangeArrowheads="1"/>
          </p:cNvSpPr>
          <p:nvPr/>
        </p:nvSpPr>
        <p:spPr bwMode="auto">
          <a:xfrm>
            <a:off x="3227388" y="5326063"/>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80003" name="Line 132"/>
          <p:cNvSpPr>
            <a:spLocks noChangeShapeType="1"/>
          </p:cNvSpPr>
          <p:nvPr/>
        </p:nvSpPr>
        <p:spPr bwMode="auto">
          <a:xfrm>
            <a:off x="3532188" y="4868863"/>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04" name="Line 133"/>
          <p:cNvSpPr>
            <a:spLocks noChangeShapeType="1"/>
          </p:cNvSpPr>
          <p:nvPr/>
        </p:nvSpPr>
        <p:spPr bwMode="auto">
          <a:xfrm>
            <a:off x="3533775" y="545782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05" name="Line 134"/>
          <p:cNvSpPr>
            <a:spLocks noChangeShapeType="1"/>
          </p:cNvSpPr>
          <p:nvPr/>
        </p:nvSpPr>
        <p:spPr bwMode="auto">
          <a:xfrm>
            <a:off x="3368675" y="502126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06" name="Line 135"/>
          <p:cNvSpPr>
            <a:spLocks noChangeShapeType="1"/>
          </p:cNvSpPr>
          <p:nvPr/>
        </p:nvSpPr>
        <p:spPr bwMode="auto">
          <a:xfrm>
            <a:off x="4446588" y="502126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07" name="Oval 136"/>
          <p:cNvSpPr>
            <a:spLocks noChangeArrowheads="1"/>
          </p:cNvSpPr>
          <p:nvPr/>
        </p:nvSpPr>
        <p:spPr bwMode="auto">
          <a:xfrm>
            <a:off x="4667250" y="4716463"/>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80008" name="Oval 137"/>
          <p:cNvSpPr>
            <a:spLocks noChangeArrowheads="1"/>
          </p:cNvSpPr>
          <p:nvPr/>
        </p:nvSpPr>
        <p:spPr bwMode="auto">
          <a:xfrm>
            <a:off x="5734050" y="4716463"/>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0009" name="Oval 138"/>
          <p:cNvSpPr>
            <a:spLocks noChangeArrowheads="1"/>
          </p:cNvSpPr>
          <p:nvPr/>
        </p:nvSpPr>
        <p:spPr bwMode="auto">
          <a:xfrm>
            <a:off x="5734050" y="5326063"/>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80010" name="Oval 139"/>
          <p:cNvSpPr>
            <a:spLocks noChangeArrowheads="1"/>
          </p:cNvSpPr>
          <p:nvPr/>
        </p:nvSpPr>
        <p:spPr bwMode="auto">
          <a:xfrm>
            <a:off x="4667250" y="5326063"/>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80011" name="Line 140"/>
          <p:cNvSpPr>
            <a:spLocks noChangeShapeType="1"/>
          </p:cNvSpPr>
          <p:nvPr/>
        </p:nvSpPr>
        <p:spPr bwMode="auto">
          <a:xfrm>
            <a:off x="4972050" y="4868863"/>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12" name="Line 141"/>
          <p:cNvSpPr>
            <a:spLocks noChangeShapeType="1"/>
          </p:cNvSpPr>
          <p:nvPr/>
        </p:nvSpPr>
        <p:spPr bwMode="auto">
          <a:xfrm>
            <a:off x="4973638" y="545782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13" name="Line 142"/>
          <p:cNvSpPr>
            <a:spLocks noChangeShapeType="1"/>
          </p:cNvSpPr>
          <p:nvPr/>
        </p:nvSpPr>
        <p:spPr bwMode="auto">
          <a:xfrm>
            <a:off x="4808538" y="502126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14" name="Line 143"/>
          <p:cNvSpPr>
            <a:spLocks noChangeShapeType="1"/>
          </p:cNvSpPr>
          <p:nvPr/>
        </p:nvSpPr>
        <p:spPr bwMode="auto">
          <a:xfrm>
            <a:off x="5886450" y="502126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15" name="Oval 144"/>
          <p:cNvSpPr>
            <a:spLocks noChangeArrowheads="1"/>
          </p:cNvSpPr>
          <p:nvPr/>
        </p:nvSpPr>
        <p:spPr bwMode="auto">
          <a:xfrm>
            <a:off x="6103938" y="4716463"/>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80016" name="Oval 145"/>
          <p:cNvSpPr>
            <a:spLocks noChangeArrowheads="1"/>
          </p:cNvSpPr>
          <p:nvPr/>
        </p:nvSpPr>
        <p:spPr bwMode="auto">
          <a:xfrm>
            <a:off x="7170738" y="4716463"/>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0017" name="Oval 146"/>
          <p:cNvSpPr>
            <a:spLocks noChangeArrowheads="1"/>
          </p:cNvSpPr>
          <p:nvPr/>
        </p:nvSpPr>
        <p:spPr bwMode="auto">
          <a:xfrm>
            <a:off x="7170738" y="5326063"/>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80018" name="Oval 147"/>
          <p:cNvSpPr>
            <a:spLocks noChangeArrowheads="1"/>
          </p:cNvSpPr>
          <p:nvPr/>
        </p:nvSpPr>
        <p:spPr bwMode="auto">
          <a:xfrm>
            <a:off x="6103938" y="5326063"/>
            <a:ext cx="304800" cy="304800"/>
          </a:xfrm>
          <a:prstGeom prst="ellipse">
            <a:avLst/>
          </a:prstGeom>
          <a:solidFill>
            <a:srgbClr val="0066FF"/>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80019" name="Line 148"/>
          <p:cNvSpPr>
            <a:spLocks noChangeShapeType="1"/>
          </p:cNvSpPr>
          <p:nvPr/>
        </p:nvSpPr>
        <p:spPr bwMode="auto">
          <a:xfrm>
            <a:off x="6408738" y="4868863"/>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20" name="Line 149"/>
          <p:cNvSpPr>
            <a:spLocks noChangeShapeType="1"/>
          </p:cNvSpPr>
          <p:nvPr/>
        </p:nvSpPr>
        <p:spPr bwMode="auto">
          <a:xfrm>
            <a:off x="6410325" y="5457825"/>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21" name="Line 150"/>
          <p:cNvSpPr>
            <a:spLocks noChangeShapeType="1"/>
          </p:cNvSpPr>
          <p:nvPr/>
        </p:nvSpPr>
        <p:spPr bwMode="auto">
          <a:xfrm>
            <a:off x="6245225" y="502126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22" name="Line 151"/>
          <p:cNvSpPr>
            <a:spLocks noChangeShapeType="1"/>
          </p:cNvSpPr>
          <p:nvPr/>
        </p:nvSpPr>
        <p:spPr bwMode="auto">
          <a:xfrm>
            <a:off x="7323138" y="5021263"/>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23" name="Oval 152"/>
          <p:cNvSpPr>
            <a:spLocks noChangeArrowheads="1"/>
          </p:cNvSpPr>
          <p:nvPr/>
        </p:nvSpPr>
        <p:spPr bwMode="auto">
          <a:xfrm>
            <a:off x="7559675" y="4705350"/>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80024" name="Oval 153"/>
          <p:cNvSpPr>
            <a:spLocks noChangeArrowheads="1"/>
          </p:cNvSpPr>
          <p:nvPr/>
        </p:nvSpPr>
        <p:spPr bwMode="auto">
          <a:xfrm>
            <a:off x="8626475" y="4705350"/>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0025" name="Oval 154"/>
          <p:cNvSpPr>
            <a:spLocks noChangeArrowheads="1"/>
          </p:cNvSpPr>
          <p:nvPr/>
        </p:nvSpPr>
        <p:spPr bwMode="auto">
          <a:xfrm>
            <a:off x="8626475" y="5314950"/>
            <a:ext cx="304800" cy="304800"/>
          </a:xfrm>
          <a:prstGeom prst="ellipse">
            <a:avLst/>
          </a:prstGeom>
          <a:solidFill>
            <a:srgbClr val="FFFF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80026" name="Oval 155"/>
          <p:cNvSpPr>
            <a:spLocks noChangeArrowheads="1"/>
          </p:cNvSpPr>
          <p:nvPr/>
        </p:nvSpPr>
        <p:spPr bwMode="auto">
          <a:xfrm>
            <a:off x="7559675" y="5314950"/>
            <a:ext cx="304800" cy="304800"/>
          </a:xfrm>
          <a:prstGeom prst="ellipse">
            <a:avLst/>
          </a:prstGeom>
          <a:solidFill>
            <a:srgbClr val="FF0000"/>
          </a:solidFill>
          <a:ln w="28575">
            <a:solidFill>
              <a:srgbClr val="000066"/>
            </a:solidFill>
            <a:miter lim="800000"/>
          </a:ln>
        </p:spPr>
        <p:txBody>
          <a:bodyPr wrap="none" anchor="ct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0"/>
              </a:spcBef>
              <a:buClrTx/>
              <a:buSzTx/>
              <a:buFontTx/>
              <a:buNone/>
            </a:pPr>
            <a:r>
              <a:rPr kumimoji="1" lang="zh-CN" altLang="en-US"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80027" name="Line 156"/>
          <p:cNvSpPr>
            <a:spLocks noChangeShapeType="1"/>
          </p:cNvSpPr>
          <p:nvPr/>
        </p:nvSpPr>
        <p:spPr bwMode="auto">
          <a:xfrm>
            <a:off x="7864475" y="4857750"/>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28" name="Line 157"/>
          <p:cNvSpPr>
            <a:spLocks noChangeShapeType="1"/>
          </p:cNvSpPr>
          <p:nvPr/>
        </p:nvSpPr>
        <p:spPr bwMode="auto">
          <a:xfrm>
            <a:off x="7866063" y="5446713"/>
            <a:ext cx="762000" cy="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29" name="Line 158"/>
          <p:cNvSpPr>
            <a:spLocks noChangeShapeType="1"/>
          </p:cNvSpPr>
          <p:nvPr/>
        </p:nvSpPr>
        <p:spPr bwMode="auto">
          <a:xfrm>
            <a:off x="7700963" y="5010150"/>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30" name="Line 159"/>
          <p:cNvSpPr>
            <a:spLocks noChangeShapeType="1"/>
          </p:cNvSpPr>
          <p:nvPr/>
        </p:nvSpPr>
        <p:spPr bwMode="auto">
          <a:xfrm>
            <a:off x="8778875" y="5010150"/>
            <a:ext cx="0" cy="304800"/>
          </a:xfrm>
          <a:prstGeom prst="line">
            <a:avLst/>
          </a:prstGeom>
          <a:noFill/>
          <a:ln w="28575">
            <a:solidFill>
              <a:srgbClr val="000066"/>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80031" name="Text Box 160"/>
          <p:cNvSpPr txBox="1">
            <a:spLocks noChangeArrowheads="1"/>
          </p:cNvSpPr>
          <p:nvPr/>
        </p:nvSpPr>
        <p:spPr bwMode="auto">
          <a:xfrm>
            <a:off x="407988" y="5599113"/>
            <a:ext cx="1257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M:(3,1,2,1)</a:t>
            </a:r>
          </a:p>
        </p:txBody>
      </p:sp>
      <p:sp>
        <p:nvSpPr>
          <p:cNvPr id="80032" name="Text Box 161"/>
          <p:cNvSpPr txBox="1">
            <a:spLocks noChangeArrowheads="1"/>
          </p:cNvSpPr>
          <p:nvPr/>
        </p:nvSpPr>
        <p:spPr bwMode="auto">
          <a:xfrm>
            <a:off x="1868488" y="5608638"/>
            <a:ext cx="1206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N:(3,1,3,1)</a:t>
            </a:r>
          </a:p>
        </p:txBody>
      </p:sp>
      <p:sp>
        <p:nvSpPr>
          <p:cNvPr id="80033" name="Text Box 162"/>
          <p:cNvSpPr txBox="1">
            <a:spLocks noChangeArrowheads="1"/>
          </p:cNvSpPr>
          <p:nvPr/>
        </p:nvSpPr>
        <p:spPr bwMode="auto">
          <a:xfrm>
            <a:off x="3346450" y="55626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O:(3,1,3,2)</a:t>
            </a:r>
          </a:p>
        </p:txBody>
      </p:sp>
      <p:sp>
        <p:nvSpPr>
          <p:cNvPr id="80034" name="Text Box 163"/>
          <p:cNvSpPr txBox="1">
            <a:spLocks noChangeArrowheads="1"/>
          </p:cNvSpPr>
          <p:nvPr/>
        </p:nvSpPr>
        <p:spPr bwMode="auto">
          <a:xfrm>
            <a:off x="4840288" y="5572125"/>
            <a:ext cx="118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P:(3,2,1,2)</a:t>
            </a:r>
          </a:p>
        </p:txBody>
      </p:sp>
      <p:sp>
        <p:nvSpPr>
          <p:cNvPr id="80035" name="Text Box 164"/>
          <p:cNvSpPr txBox="1">
            <a:spLocks noChangeArrowheads="1"/>
          </p:cNvSpPr>
          <p:nvPr/>
        </p:nvSpPr>
        <p:spPr bwMode="auto">
          <a:xfrm>
            <a:off x="6257925" y="55499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Q:(3,2,3,1)</a:t>
            </a:r>
          </a:p>
        </p:txBody>
      </p:sp>
      <p:sp>
        <p:nvSpPr>
          <p:cNvPr id="80036" name="Text Box 165"/>
          <p:cNvSpPr txBox="1">
            <a:spLocks noChangeArrowheads="1"/>
          </p:cNvSpPr>
          <p:nvPr/>
        </p:nvSpPr>
        <p:spPr bwMode="auto">
          <a:xfrm>
            <a:off x="7718425" y="5559425"/>
            <a:ext cx="1206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kumimoji="1"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R:(3,2,3,2)</a:t>
            </a:r>
          </a:p>
        </p:txBody>
      </p:sp>
    </p:spTree>
    <p:custDataLst>
      <p:tags r:id="rId1"/>
    </p:custData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一个有趣的高精度数</a:t>
            </a:r>
          </a:p>
        </p:txBody>
      </p:sp>
      <p:sp>
        <p:nvSpPr>
          <p:cNvPr id="81923" name="Text Box 4"/>
          <p:cNvSpPr txBox="1">
            <a:spLocks noChangeArrowheads="1"/>
          </p:cNvSpPr>
          <p:nvPr/>
        </p:nvSpPr>
        <p:spPr bwMode="auto">
          <a:xfrm>
            <a:off x="276225" y="1304925"/>
            <a:ext cx="8556625" cy="1793875"/>
          </a:xfrm>
          <a:prstGeom prst="rect">
            <a:avLst/>
          </a:prstGeom>
        </p:spPr>
        <p:style>
          <a:lnRef idx="2">
            <a:schemeClr val="dk1"/>
          </a:lnRef>
          <a:fillRef idx="1">
            <a:schemeClr val="lt1"/>
          </a:fillRef>
          <a:effectRef idx="0">
            <a:schemeClr val="dk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一个有趣的高精度数据：构造一个尽可能大的数，使其从高到低满足前一位能被</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整除，前</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为能被</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整除，</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前</a:t>
            </a:r>
            <a:r>
              <a:rPr lang="en-US" altLang="zh-CN" sz="32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位能被</a:t>
            </a:r>
            <a:r>
              <a:rPr lang="en-US" altLang="zh-CN" sz="32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整除。</a:t>
            </a:r>
          </a:p>
        </p:txBody>
      </p:sp>
      <p:sp>
        <p:nvSpPr>
          <p:cNvPr id="80900" name="Text Box 4"/>
          <p:cNvSpPr txBox="1">
            <a:spLocks noChangeArrowheads="1"/>
          </p:cNvSpPr>
          <p:nvPr/>
        </p:nvSpPr>
        <p:spPr bwMode="auto">
          <a:xfrm>
            <a:off x="288925" y="3286125"/>
            <a:ext cx="4359275" cy="739775"/>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高精度数据如何保存？</a:t>
            </a:r>
          </a:p>
        </p:txBody>
      </p:sp>
      <p:sp>
        <p:nvSpPr>
          <p:cNvPr id="80901" name="Text Box 4"/>
          <p:cNvSpPr txBox="1">
            <a:spLocks noChangeArrowheads="1"/>
          </p:cNvSpPr>
          <p:nvPr/>
        </p:nvSpPr>
        <p:spPr bwMode="auto">
          <a:xfrm>
            <a:off x="314325" y="4213225"/>
            <a:ext cx="8556625" cy="2479675"/>
          </a:xfrm>
          <a:prstGeom prst="rect">
            <a:avLst/>
          </a:prstGeom>
        </p:spPr>
        <p:style>
          <a:lnRef idx="2">
            <a:schemeClr val="accent2"/>
          </a:lnRef>
          <a:fillRef idx="1">
            <a:schemeClr val="lt1"/>
          </a:fillRef>
          <a:effectRef idx="0">
            <a:schemeClr val="accent2"/>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数学模型：记高精度数为</a:t>
            </a:r>
            <a:r>
              <a:rPr lang="en-US" altLang="zh-CN" sz="3200" b="1" i="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3200" b="1" baseline="-25000"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32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32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2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3200" b="1" i="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有两个要求：</a:t>
            </a:r>
            <a:endPar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32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能被</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整除</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且（</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10</a:t>
            </a:r>
            <a:r>
              <a:rPr lang="en-US" altLang="zh-CN" sz="32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32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i="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3200" b="1" baseline="-25000"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 </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）能被</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整除，依此类推；</a:t>
            </a:r>
            <a:endPar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00000"/>
              </a:lnSpc>
              <a:spcBef>
                <a:spcPct val="0"/>
              </a:spcBef>
              <a:buClrTx/>
              <a:buSzTx/>
              <a:buFontTx/>
              <a:buNone/>
              <a:defRPr/>
            </a:pP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）求最大的这样的数。</a:t>
            </a:r>
          </a:p>
        </p:txBody>
      </p:sp>
      <p:sp>
        <p:nvSpPr>
          <p:cNvPr id="330" name="Text Box 4"/>
          <p:cNvSpPr txBox="1">
            <a:spLocks noChangeArrowheads="1"/>
          </p:cNvSpPr>
          <p:nvPr/>
        </p:nvSpPr>
        <p:spPr bwMode="auto">
          <a:xfrm>
            <a:off x="4784725" y="3273425"/>
            <a:ext cx="4016375" cy="739775"/>
          </a:xfrm>
          <a:prstGeom prst="rect">
            <a:avLst/>
          </a:prstGeom>
        </p:spPr>
        <p:style>
          <a:lnRef idx="2">
            <a:schemeClr val="accent1"/>
          </a:lnRef>
          <a:fillRef idx="1">
            <a:schemeClr val="lt1"/>
          </a:fillRef>
          <a:effectRef idx="0">
            <a:schemeClr val="accent1"/>
          </a:effectRef>
          <a:fontRef idx="minor">
            <a:schemeClr val="dk1"/>
          </a:fontRef>
        </p:style>
        <p:txBody>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defRPr/>
            </a:pPr>
            <a:r>
              <a:rPr lang="zh-CN" altLang="en-US" sz="32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数组</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9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9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animBg="1"/>
      <p:bldP spid="80901" grpId="0" animBg="1"/>
      <p:bldP spid="33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一个有趣的高精度数</a:t>
            </a:r>
          </a:p>
        </p:txBody>
      </p:sp>
      <p:sp>
        <p:nvSpPr>
          <p:cNvPr id="8" name="矩形 7"/>
          <p:cNvSpPr/>
          <p:nvPr/>
        </p:nvSpPr>
        <p:spPr>
          <a:xfrm>
            <a:off x="12700" y="1382713"/>
            <a:ext cx="5321300" cy="5018087"/>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 = new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bigInt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存储当前值</a:t>
            </a:r>
          </a:p>
          <a:p>
            <a:pPr>
              <a:defRPr/>
            </a:pP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b = new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bigInt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存储最优值</a:t>
            </a:r>
          </a:p>
          <a:p>
            <a:pPr>
              <a:defRPr/>
            </a:pPr>
            <a:endPar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public void backTracking4MaxNumber(</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t) {</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bigThan</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 b)) {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每找到一个需要比较</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assignA2B(a, b);</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j;</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if(t == 1) j = 1; //</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第一位不能取</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p>
          <a:p>
            <a:pPr>
              <a:defRPr/>
            </a:pP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else j = 0; //</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其它位可以</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 (; j &lt;= 9; j++) {</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 j;</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 (OK(a, t)) {</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backTracking4MaxNumber(t + 1); }</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 -1; }</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矩形 8"/>
          <p:cNvSpPr/>
          <p:nvPr/>
        </p:nvSpPr>
        <p:spPr>
          <a:xfrm>
            <a:off x="5397500" y="1838325"/>
            <a:ext cx="3657600" cy="4094163"/>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public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boolean</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OK(</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t) {</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 = 0;</a:t>
            </a:r>
          </a:p>
          <a:p>
            <a:pPr>
              <a:defRPr/>
            </a:pPr>
            <a:r>
              <a:rPr lang="nn-NO"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for(int i = 1; i &lt;= t; i++) </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 = r*10 + a[</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p>
          <a:p>
            <a:pPr>
              <a:defRPr/>
            </a:pP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r = r % t;</a:t>
            </a:r>
          </a:p>
          <a:p>
            <a:pPr>
              <a:defRPr/>
            </a:pP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整数倍乘以</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10</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没用故只用余数，防止溢出</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 = r % t;</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if(r == 0) return true;</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false;</a:t>
            </a:r>
          </a:p>
          <a:p>
            <a:pPr>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childTnLst>
                          </p:cTn>
                        </p:par>
                        <p:par>
                          <p:cTn id="9" fill="hold">
                            <p:stCondLst>
                              <p:cond delay="0"/>
                            </p:stCondLst>
                            <p:childTnLst>
                              <p:par>
                                <p:cTn id="10" presetID="1" presetClass="exit" presetSubtype="0" fill="hold" nodeType="afterEffect">
                                  <p:stCondLst>
                                    <p:cond delay="0"/>
                                  </p:stCondLst>
                                  <p:childTnLst>
                                    <p:set>
                                      <p:cBhvr>
                                        <p:cTn id="11" dur="1" fill="hold">
                                          <p:stCondLst>
                                            <p:cond delay="0"/>
                                          </p:stCondLst>
                                        </p:cTn>
                                        <p:tgtEl>
                                          <p:spTgt spid="9">
                                            <p:txEl>
                                              <p:pRg st="7" end="7"/>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回溯法效率分析</a:t>
            </a:r>
          </a:p>
        </p:txBody>
      </p:sp>
      <p:sp>
        <p:nvSpPr>
          <p:cNvPr id="4" name="矩形 3"/>
          <p:cNvSpPr/>
          <p:nvPr/>
        </p:nvSpPr>
        <p:spPr>
          <a:xfrm>
            <a:off x="203200" y="1239838"/>
            <a:ext cx="8686800" cy="452431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indent="-342900" defTabSz="914400">
              <a:lnSpc>
                <a:spcPct val="150000"/>
              </a:lnSpc>
              <a:defRPr/>
            </a:pP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通过前面具体实例的讨论容易看出，回溯算法的效率在很大程度上依赖于以下因素：</a:t>
            </a:r>
          </a:p>
          <a:p>
            <a:pPr marL="342900" indent="-342900" defTabSz="914400">
              <a:lnSpc>
                <a:spcPct val="150000"/>
              </a:lnSpc>
              <a:defRPr/>
            </a:pPr>
            <a:r>
              <a:rPr lang="en-US" altLang="zh-CN"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产生</a:t>
            </a:r>
            <a:r>
              <a:rPr lang="en-US" altLang="zh-CN"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x[k]</a:t>
            </a: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的时间；</a:t>
            </a:r>
          </a:p>
          <a:p>
            <a:pPr marL="342900" indent="-342900" defTabSz="914400">
              <a:lnSpc>
                <a:spcPct val="150000"/>
              </a:lnSpc>
              <a:defRPr/>
            </a:pPr>
            <a:r>
              <a:rPr lang="en-US" altLang="zh-CN" sz="3200" kern="0"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计算约束函数</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constraint</a:t>
            </a: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的时间；</a:t>
            </a:r>
          </a:p>
          <a:p>
            <a:pPr marL="342900" indent="-342900" defTabSz="914400">
              <a:lnSpc>
                <a:spcPct val="150000"/>
              </a:lnSpc>
              <a:defRPr/>
            </a:pPr>
            <a:r>
              <a:rPr lang="en-US" altLang="zh-CN" sz="3200" kern="0"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计算上界函数</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bound</a:t>
            </a: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的时间；</a:t>
            </a:r>
          </a:p>
          <a:p>
            <a:pPr marL="342900" indent="-342900" defTabSz="914400">
              <a:lnSpc>
                <a:spcPct val="150000"/>
              </a:lnSpc>
              <a:defRPr/>
            </a:pPr>
            <a:r>
              <a:rPr lang="en-US" altLang="zh-CN" sz="3200" kern="0"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满足约束</a:t>
            </a:r>
            <a:r>
              <a:rPr lang="zh-CN" altLang="en-US" sz="3200" kern="0"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和界</a:t>
            </a: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函数约束的所有</a:t>
            </a:r>
            <a:r>
              <a:rPr lang="en-US" altLang="zh-CN" sz="3200" kern="0"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x[k]</a:t>
            </a:r>
            <a:r>
              <a:rPr lang="zh-CN" altLang="en-US" sz="3200" kern="0"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32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个数。</a:t>
            </a:r>
          </a:p>
        </p:txBody>
      </p:sp>
    </p:spTree>
    <p:custDataLst>
      <p:tags r:id="rId1"/>
    </p:custData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回溯法效率分析</a:t>
            </a:r>
          </a:p>
        </p:txBody>
      </p:sp>
      <p:sp>
        <p:nvSpPr>
          <p:cNvPr id="78851" name="Text Box 3"/>
          <p:cNvSpPr txBox="1">
            <a:spLocks noChangeArrowheads="1"/>
          </p:cNvSpPr>
          <p:nvPr/>
        </p:nvSpPr>
        <p:spPr bwMode="auto">
          <a:xfrm>
            <a:off x="313531" y="1005321"/>
            <a:ext cx="8569325" cy="120015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just">
              <a:defRPr/>
            </a:pP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对于许多问题而言，在搜索试探时选取</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的值顺序是任意的。</a:t>
            </a:r>
            <a:r>
              <a:rPr lang="zh-CN" altLang="en-US" sz="2400" b="1" dirty="0">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在其他条件相当的前提下，让可取值最少的</a:t>
            </a:r>
            <a:r>
              <a:rPr lang="en-US" altLang="zh-CN" sz="2400" b="1" dirty="0">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2400" b="1" dirty="0" err="1">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优先</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。从图中关于同一问题的</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棵不同解空间树，可以体会到这种策略的潜力。</a:t>
            </a:r>
          </a:p>
        </p:txBody>
      </p:sp>
      <p:pic>
        <p:nvPicPr>
          <p:cNvPr id="83972" name="Picture 4" descr="t510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217738"/>
            <a:ext cx="5183188"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3" name="Picture 5" descr="t510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3573463"/>
            <a:ext cx="5184775" cy="139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6"/>
          <p:cNvSpPr txBox="1">
            <a:spLocks noChangeArrowheads="1"/>
          </p:cNvSpPr>
          <p:nvPr/>
        </p:nvSpPr>
        <p:spPr bwMode="auto">
          <a:xfrm>
            <a:off x="303213" y="5103813"/>
            <a:ext cx="8589962" cy="1570037"/>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just">
              <a:defRPr/>
            </a:pP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图</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中，从第</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层剪去</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棵子树，则从所有应当考虑的</a:t>
            </a:r>
            <a:r>
              <a:rPr lang="zh-CN" altLang="en-US" sz="2400" b="1"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叶结点中</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一次消去</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12</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个</a:t>
            </a:r>
            <a:r>
              <a:rPr lang="zh-CN" altLang="en-US" sz="2400" b="1"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叶结点。</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对于图</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，虽然同样从第</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层剪去</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棵子树，却只从应当考虑的</a:t>
            </a:r>
            <a:r>
              <a:rPr lang="zh-CN" altLang="en-US" sz="2400" b="1"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叶结点中</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消去</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8</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个</a:t>
            </a:r>
            <a:r>
              <a:rPr lang="zh-CN" altLang="en-US" sz="2400" b="1" dirty="0" smtClean="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叶结点。</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前者的效果明显比后者好。</a:t>
            </a:r>
          </a:p>
        </p:txBody>
      </p:sp>
      <p:sp>
        <p:nvSpPr>
          <p:cNvPr id="13" name="Text Box 7"/>
          <p:cNvSpPr txBox="1">
            <a:spLocks noChangeArrowheads="1"/>
          </p:cNvSpPr>
          <p:nvPr/>
        </p:nvSpPr>
        <p:spPr bwMode="auto">
          <a:xfrm>
            <a:off x="6856413" y="2800350"/>
            <a:ext cx="544512" cy="461963"/>
          </a:xfrm>
          <a:prstGeom prst="rect">
            <a:avLst/>
          </a:prstGeom>
          <a:noFill/>
          <a:ln w="6350" algn="ctr">
            <a:noFill/>
            <a:miter lim="800000"/>
          </a:ln>
          <a:effectLst/>
        </p:spPr>
        <p:txBody>
          <a:bodyPr wrap="none">
            <a:spAutoFit/>
          </a:bodyPr>
          <a:lstStyle/>
          <a:p>
            <a:pPr>
              <a:defRPr/>
            </a:pPr>
            <a:r>
              <a:rPr lang="en-US" altLang="zh-CN" sz="2400" b="1" dirty="0">
                <a:solidFill>
                  <a:schemeClr val="tx1">
                    <a:lumMod val="50000"/>
                  </a:schemeClr>
                </a:solidFill>
                <a:latin typeface="Times New Roman" panose="02020603050405020304" pitchFamily="18" charset="0"/>
                <a:ea typeface="楷体_GB2312"/>
                <a:cs typeface="Times New Roman" panose="02020603050405020304" pitchFamily="18" charset="0"/>
              </a:rPr>
              <a:t>(a)</a:t>
            </a:r>
          </a:p>
        </p:txBody>
      </p:sp>
      <p:sp>
        <p:nvSpPr>
          <p:cNvPr id="14" name="Text Box 8"/>
          <p:cNvSpPr txBox="1">
            <a:spLocks noChangeArrowheads="1"/>
          </p:cNvSpPr>
          <p:nvPr/>
        </p:nvSpPr>
        <p:spPr bwMode="auto">
          <a:xfrm>
            <a:off x="6948488" y="4221163"/>
            <a:ext cx="557212" cy="457200"/>
          </a:xfrm>
          <a:prstGeom prst="rect">
            <a:avLst/>
          </a:prstGeom>
          <a:noFill/>
          <a:ln w="6350" algn="ctr">
            <a:noFill/>
            <a:miter lim="800000"/>
          </a:ln>
          <a:effectLst/>
        </p:spPr>
        <p:txBody>
          <a:bodyPr wrap="none">
            <a:spAutoFit/>
          </a:bodyPr>
          <a:lstStyle/>
          <a:p>
            <a:pPr>
              <a:defRPr/>
            </a:pPr>
            <a:r>
              <a:rPr lang="en-US" altLang="zh-CN" sz="2400" b="1" dirty="0">
                <a:solidFill>
                  <a:schemeClr val="tx1">
                    <a:lumMod val="50000"/>
                  </a:schemeClr>
                </a:solidFill>
                <a:latin typeface="Times New Roman" panose="02020603050405020304" pitchFamily="18" charset="0"/>
                <a:ea typeface="楷体_GB2312"/>
                <a:cs typeface="Times New Roman" panose="02020603050405020304" pitchFamily="18" charset="0"/>
              </a:rPr>
              <a:t>(b)</a:t>
            </a:r>
          </a:p>
        </p:txBody>
      </p:sp>
    </p:spTree>
    <p:custDataLst>
      <p:tags r:id="rId1"/>
    </p:custData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dirty="0">
                <a:solidFill>
                  <a:schemeClr val="bg1"/>
                </a:solidFill>
                <a:latin typeface="楷体" panose="02010609060101010101" pitchFamily="49" charset="-122"/>
                <a:ea typeface="楷体" panose="02010609060101010101" pitchFamily="49" charset="-122"/>
              </a:rPr>
              <a:t>回溯</a:t>
            </a:r>
            <a:r>
              <a:rPr lang="zh-CN" altLang="en-US" sz="3200" dirty="0" smtClean="0">
                <a:solidFill>
                  <a:schemeClr val="bg1"/>
                </a:solidFill>
                <a:latin typeface="楷体" panose="02010609060101010101" pitchFamily="49" charset="-122"/>
                <a:ea typeface="楷体" panose="02010609060101010101" pitchFamily="49" charset="-122"/>
              </a:rPr>
              <a:t>法启发</a:t>
            </a:r>
            <a:endParaRPr lang="zh-CN" altLang="en-US" sz="3200" dirty="0">
              <a:solidFill>
                <a:schemeClr val="bg1"/>
              </a:solidFill>
              <a:latin typeface="楷体" panose="02010609060101010101" pitchFamily="49" charset="-122"/>
              <a:ea typeface="楷体" panose="02010609060101010101" pitchFamily="49" charset="-122"/>
            </a:endParaRPr>
          </a:p>
        </p:txBody>
      </p:sp>
      <p:grpSp>
        <p:nvGrpSpPr>
          <p:cNvPr id="14339" name="Group 133"/>
          <p:cNvGrpSpPr/>
          <p:nvPr/>
        </p:nvGrpSpPr>
        <p:grpSpPr bwMode="auto">
          <a:xfrm>
            <a:off x="550863" y="2946400"/>
            <a:ext cx="2581275" cy="2481263"/>
            <a:chOff x="244" y="2236"/>
            <a:chExt cx="1317" cy="1186"/>
          </a:xfrm>
        </p:grpSpPr>
        <p:grpSp>
          <p:nvGrpSpPr>
            <p:cNvPr id="14430" name="Group 6"/>
            <p:cNvGrpSpPr/>
            <p:nvPr/>
          </p:nvGrpSpPr>
          <p:grpSpPr bwMode="auto">
            <a:xfrm>
              <a:off x="1248" y="2271"/>
              <a:ext cx="249" cy="249"/>
              <a:chOff x="4531" y="2063"/>
              <a:chExt cx="249" cy="249"/>
            </a:xfrm>
          </p:grpSpPr>
          <p:sp>
            <p:nvSpPr>
              <p:cNvPr id="28" name="Oval 7"/>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4453" name="Text Box 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grpSp>
        <p:grpSp>
          <p:nvGrpSpPr>
            <p:cNvPr id="14431" name="Group 9"/>
            <p:cNvGrpSpPr/>
            <p:nvPr/>
          </p:nvGrpSpPr>
          <p:grpSpPr bwMode="auto">
            <a:xfrm>
              <a:off x="323" y="2264"/>
              <a:ext cx="249" cy="249"/>
              <a:chOff x="4531" y="2063"/>
              <a:chExt cx="249" cy="249"/>
            </a:xfrm>
          </p:grpSpPr>
          <p:sp>
            <p:nvSpPr>
              <p:cNvPr id="26" name="Oval 10"/>
              <p:cNvSpPr>
                <a:spLocks noChangeArrowheads="1"/>
              </p:cNvSpPr>
              <p:nvPr/>
            </p:nvSpPr>
            <p:spPr bwMode="auto">
              <a:xfrm>
                <a:off x="4531" y="2063"/>
                <a:ext cx="249" cy="249"/>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4451" name="Text Box 1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grpSp>
        <p:grpSp>
          <p:nvGrpSpPr>
            <p:cNvPr id="14432" name="Group 15"/>
            <p:cNvGrpSpPr/>
            <p:nvPr/>
          </p:nvGrpSpPr>
          <p:grpSpPr bwMode="auto">
            <a:xfrm>
              <a:off x="315" y="3131"/>
              <a:ext cx="249" cy="249"/>
              <a:chOff x="4531" y="2063"/>
              <a:chExt cx="249" cy="249"/>
            </a:xfrm>
          </p:grpSpPr>
          <p:sp>
            <p:nvSpPr>
              <p:cNvPr id="24" name="Oval 16"/>
              <p:cNvSpPr>
                <a:spLocks noChangeArrowheads="1"/>
              </p:cNvSpPr>
              <p:nvPr/>
            </p:nvSpPr>
            <p:spPr bwMode="auto">
              <a:xfrm>
                <a:off x="4531" y="2063"/>
                <a:ext cx="249" cy="250"/>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4449" name="Text Box 1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sp>
          <p:nvSpPr>
            <p:cNvPr id="14433" name="Text Box 46"/>
            <p:cNvSpPr txBox="1">
              <a:spLocks noChangeArrowheads="1"/>
            </p:cNvSpPr>
            <p:nvPr/>
          </p:nvSpPr>
          <p:spPr bwMode="auto">
            <a:xfrm>
              <a:off x="1389" y="274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14434" name="Text Box 47"/>
            <p:cNvSpPr txBox="1">
              <a:spLocks noChangeArrowheads="1"/>
            </p:cNvSpPr>
            <p:nvPr/>
          </p:nvSpPr>
          <p:spPr bwMode="auto">
            <a:xfrm>
              <a:off x="832" y="2236"/>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10</a:t>
              </a:r>
            </a:p>
          </p:txBody>
        </p:sp>
        <p:grpSp>
          <p:nvGrpSpPr>
            <p:cNvPr id="14435" name="Group 48"/>
            <p:cNvGrpSpPr/>
            <p:nvPr/>
          </p:nvGrpSpPr>
          <p:grpSpPr bwMode="auto">
            <a:xfrm>
              <a:off x="1253" y="3134"/>
              <a:ext cx="249" cy="249"/>
              <a:chOff x="4531" y="2063"/>
              <a:chExt cx="249" cy="249"/>
            </a:xfrm>
          </p:grpSpPr>
          <p:sp>
            <p:nvSpPr>
              <p:cNvPr id="22" name="Oval 49"/>
              <p:cNvSpPr>
                <a:spLocks noChangeArrowheads="1"/>
              </p:cNvSpPr>
              <p:nvPr/>
            </p:nvSpPr>
            <p:spPr bwMode="auto">
              <a:xfrm>
                <a:off x="4531" y="2063"/>
                <a:ext cx="249" cy="250"/>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4447" name="Text Box 5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sp>
          <p:nvSpPr>
            <p:cNvPr id="14436" name="Line 51"/>
            <p:cNvSpPr>
              <a:spLocks noChangeShapeType="1"/>
            </p:cNvSpPr>
            <p:nvPr/>
          </p:nvSpPr>
          <p:spPr bwMode="auto">
            <a:xfrm>
              <a:off x="557" y="2429"/>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37" name="Line 52"/>
            <p:cNvSpPr>
              <a:spLocks noChangeShapeType="1"/>
            </p:cNvSpPr>
            <p:nvPr/>
          </p:nvSpPr>
          <p:spPr bwMode="auto">
            <a:xfrm>
              <a:off x="442" y="2515"/>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38" name="Line 53"/>
            <p:cNvSpPr>
              <a:spLocks noChangeShapeType="1"/>
            </p:cNvSpPr>
            <p:nvPr/>
          </p:nvSpPr>
          <p:spPr bwMode="auto">
            <a:xfrm>
              <a:off x="564" y="3224"/>
              <a:ext cx="691" cy="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39" name="Line 54"/>
            <p:cNvSpPr>
              <a:spLocks noChangeShapeType="1"/>
            </p:cNvSpPr>
            <p:nvPr/>
          </p:nvSpPr>
          <p:spPr bwMode="auto">
            <a:xfrm>
              <a:off x="1371" y="2523"/>
              <a:ext cx="0" cy="60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40" name="Line 55"/>
            <p:cNvSpPr>
              <a:spLocks noChangeShapeType="1"/>
            </p:cNvSpPr>
            <p:nvPr/>
          </p:nvSpPr>
          <p:spPr bwMode="auto">
            <a:xfrm>
              <a:off x="509" y="2477"/>
              <a:ext cx="787" cy="69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41" name="Line 56"/>
            <p:cNvSpPr>
              <a:spLocks noChangeShapeType="1"/>
            </p:cNvSpPr>
            <p:nvPr/>
          </p:nvSpPr>
          <p:spPr bwMode="auto">
            <a:xfrm flipV="1">
              <a:off x="509" y="2486"/>
              <a:ext cx="777" cy="67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442" name="Text Box 57"/>
            <p:cNvSpPr txBox="1">
              <a:spLocks noChangeArrowheads="1"/>
            </p:cNvSpPr>
            <p:nvPr/>
          </p:nvSpPr>
          <p:spPr bwMode="auto">
            <a:xfrm>
              <a:off x="244" y="273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14443" name="Text Box 58"/>
            <p:cNvSpPr txBox="1">
              <a:spLocks noChangeArrowheads="1"/>
            </p:cNvSpPr>
            <p:nvPr/>
          </p:nvSpPr>
          <p:spPr bwMode="auto">
            <a:xfrm>
              <a:off x="807" y="324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20</a:t>
              </a:r>
            </a:p>
          </p:txBody>
        </p:sp>
        <p:sp>
          <p:nvSpPr>
            <p:cNvPr id="14444" name="Text Box 59"/>
            <p:cNvSpPr txBox="1">
              <a:spLocks noChangeArrowheads="1"/>
            </p:cNvSpPr>
            <p:nvPr/>
          </p:nvSpPr>
          <p:spPr bwMode="auto">
            <a:xfrm>
              <a:off x="1106" y="262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14445" name="Text Box 60"/>
            <p:cNvSpPr txBox="1">
              <a:spLocks noChangeArrowheads="1"/>
            </p:cNvSpPr>
            <p:nvPr/>
          </p:nvSpPr>
          <p:spPr bwMode="auto">
            <a:xfrm>
              <a:off x="905" y="2962"/>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grpSp>
      <p:grpSp>
        <p:nvGrpSpPr>
          <p:cNvPr id="7" name="Group 62"/>
          <p:cNvGrpSpPr/>
          <p:nvPr/>
        </p:nvGrpSpPr>
        <p:grpSpPr bwMode="auto">
          <a:xfrm>
            <a:off x="5884863" y="2057400"/>
            <a:ext cx="395287" cy="395288"/>
            <a:chOff x="4531" y="2063"/>
            <a:chExt cx="249" cy="249"/>
          </a:xfrm>
        </p:grpSpPr>
        <p:sp>
          <p:nvSpPr>
            <p:cNvPr id="112" name="Oval 63"/>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13" name="Text Box 64"/>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A</a:t>
              </a:r>
            </a:p>
          </p:txBody>
        </p:sp>
      </p:grpSp>
      <p:grpSp>
        <p:nvGrpSpPr>
          <p:cNvPr id="8" name="Group 65"/>
          <p:cNvGrpSpPr/>
          <p:nvPr/>
        </p:nvGrpSpPr>
        <p:grpSpPr bwMode="auto">
          <a:xfrm>
            <a:off x="5883275" y="2800350"/>
            <a:ext cx="395288" cy="395288"/>
            <a:chOff x="4531" y="2063"/>
            <a:chExt cx="249" cy="249"/>
          </a:xfrm>
        </p:grpSpPr>
        <p:sp>
          <p:nvSpPr>
            <p:cNvPr id="110" name="Oval 66"/>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11" name="Text Box 67"/>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B</a:t>
              </a:r>
            </a:p>
          </p:txBody>
        </p:sp>
      </p:grpSp>
      <p:grpSp>
        <p:nvGrpSpPr>
          <p:cNvPr id="9" name="Group 68"/>
          <p:cNvGrpSpPr/>
          <p:nvPr/>
        </p:nvGrpSpPr>
        <p:grpSpPr bwMode="auto">
          <a:xfrm>
            <a:off x="4376738" y="3557588"/>
            <a:ext cx="395287" cy="395287"/>
            <a:chOff x="4531" y="2063"/>
            <a:chExt cx="249" cy="249"/>
          </a:xfrm>
        </p:grpSpPr>
        <p:sp>
          <p:nvSpPr>
            <p:cNvPr id="108" name="Oval 69"/>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9" name="Text Box 70"/>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C</a:t>
              </a:r>
            </a:p>
          </p:txBody>
        </p:sp>
      </p:grpSp>
      <p:grpSp>
        <p:nvGrpSpPr>
          <p:cNvPr id="10" name="Group 71"/>
          <p:cNvGrpSpPr/>
          <p:nvPr/>
        </p:nvGrpSpPr>
        <p:grpSpPr bwMode="auto">
          <a:xfrm>
            <a:off x="5903913" y="3551238"/>
            <a:ext cx="395287" cy="395287"/>
            <a:chOff x="4531" y="2063"/>
            <a:chExt cx="249" cy="249"/>
          </a:xfrm>
        </p:grpSpPr>
        <p:sp>
          <p:nvSpPr>
            <p:cNvPr id="106" name="Oval 72"/>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7" name="Text Box 73"/>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D</a:t>
              </a:r>
            </a:p>
          </p:txBody>
        </p:sp>
      </p:grpSp>
      <p:grpSp>
        <p:nvGrpSpPr>
          <p:cNvPr id="11" name="Group 74"/>
          <p:cNvGrpSpPr/>
          <p:nvPr/>
        </p:nvGrpSpPr>
        <p:grpSpPr bwMode="auto">
          <a:xfrm>
            <a:off x="7356475" y="3551238"/>
            <a:ext cx="395288" cy="395287"/>
            <a:chOff x="4531" y="2063"/>
            <a:chExt cx="249" cy="249"/>
          </a:xfrm>
        </p:grpSpPr>
        <p:sp>
          <p:nvSpPr>
            <p:cNvPr id="104" name="Oval 75"/>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5" name="Text Box 76"/>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E</a:t>
              </a:r>
            </a:p>
          </p:txBody>
        </p:sp>
      </p:grpSp>
      <p:grpSp>
        <p:nvGrpSpPr>
          <p:cNvPr id="12" name="Group 77"/>
          <p:cNvGrpSpPr/>
          <p:nvPr/>
        </p:nvGrpSpPr>
        <p:grpSpPr bwMode="auto">
          <a:xfrm>
            <a:off x="3965575" y="4265613"/>
            <a:ext cx="395288" cy="395287"/>
            <a:chOff x="4531" y="2063"/>
            <a:chExt cx="249" cy="249"/>
          </a:xfrm>
        </p:grpSpPr>
        <p:sp>
          <p:nvSpPr>
            <p:cNvPr id="102" name="Oval 78"/>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3" name="Text Box 79"/>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F</a:t>
              </a:r>
            </a:p>
          </p:txBody>
        </p:sp>
      </p:grpSp>
      <p:grpSp>
        <p:nvGrpSpPr>
          <p:cNvPr id="13" name="Group 80"/>
          <p:cNvGrpSpPr/>
          <p:nvPr/>
        </p:nvGrpSpPr>
        <p:grpSpPr bwMode="auto">
          <a:xfrm>
            <a:off x="4767263" y="4248150"/>
            <a:ext cx="395287" cy="395288"/>
            <a:chOff x="4531" y="2063"/>
            <a:chExt cx="249" cy="249"/>
          </a:xfrm>
        </p:grpSpPr>
        <p:sp>
          <p:nvSpPr>
            <p:cNvPr id="100" name="Oval 81"/>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101" name="Text Box 82"/>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G</a:t>
              </a:r>
            </a:p>
          </p:txBody>
        </p:sp>
      </p:grpSp>
      <p:grpSp>
        <p:nvGrpSpPr>
          <p:cNvPr id="14" name="Group 83"/>
          <p:cNvGrpSpPr/>
          <p:nvPr/>
        </p:nvGrpSpPr>
        <p:grpSpPr bwMode="auto">
          <a:xfrm>
            <a:off x="5561013" y="4243388"/>
            <a:ext cx="395287" cy="395287"/>
            <a:chOff x="4531" y="2063"/>
            <a:chExt cx="249" cy="249"/>
          </a:xfrm>
        </p:grpSpPr>
        <p:sp>
          <p:nvSpPr>
            <p:cNvPr id="98" name="Oval 84"/>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9" name="Text Box 85"/>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H</a:t>
              </a:r>
            </a:p>
          </p:txBody>
        </p:sp>
      </p:grpSp>
      <p:grpSp>
        <p:nvGrpSpPr>
          <p:cNvPr id="15" name="Group 86"/>
          <p:cNvGrpSpPr/>
          <p:nvPr/>
        </p:nvGrpSpPr>
        <p:grpSpPr bwMode="auto">
          <a:xfrm>
            <a:off x="6330950" y="4254500"/>
            <a:ext cx="395288" cy="395288"/>
            <a:chOff x="4531" y="2063"/>
            <a:chExt cx="249" cy="249"/>
          </a:xfrm>
        </p:grpSpPr>
        <p:sp>
          <p:nvSpPr>
            <p:cNvPr id="96" name="Oval 87"/>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7" name="Text Box 88"/>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I</a:t>
              </a:r>
            </a:p>
          </p:txBody>
        </p:sp>
      </p:grpSp>
      <p:grpSp>
        <p:nvGrpSpPr>
          <p:cNvPr id="16" name="Group 89"/>
          <p:cNvGrpSpPr/>
          <p:nvPr/>
        </p:nvGrpSpPr>
        <p:grpSpPr bwMode="auto">
          <a:xfrm>
            <a:off x="7040563" y="4265613"/>
            <a:ext cx="395287" cy="395287"/>
            <a:chOff x="4531" y="2063"/>
            <a:chExt cx="249" cy="249"/>
          </a:xfrm>
        </p:grpSpPr>
        <p:sp>
          <p:nvSpPr>
            <p:cNvPr id="94" name="Oval 90"/>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5" name="Text Box 91"/>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J</a:t>
              </a:r>
            </a:p>
          </p:txBody>
        </p:sp>
      </p:grpSp>
      <p:grpSp>
        <p:nvGrpSpPr>
          <p:cNvPr id="17" name="Group 92"/>
          <p:cNvGrpSpPr/>
          <p:nvPr/>
        </p:nvGrpSpPr>
        <p:grpSpPr bwMode="auto">
          <a:xfrm>
            <a:off x="7775575" y="4251325"/>
            <a:ext cx="395288" cy="395288"/>
            <a:chOff x="4531" y="2063"/>
            <a:chExt cx="249" cy="249"/>
          </a:xfrm>
        </p:grpSpPr>
        <p:sp>
          <p:nvSpPr>
            <p:cNvPr id="92" name="Oval 93"/>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3" name="Text Box 94"/>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K</a:t>
              </a:r>
            </a:p>
          </p:txBody>
        </p:sp>
      </p:grpSp>
      <p:grpSp>
        <p:nvGrpSpPr>
          <p:cNvPr id="18" name="Group 95"/>
          <p:cNvGrpSpPr/>
          <p:nvPr/>
        </p:nvGrpSpPr>
        <p:grpSpPr bwMode="auto">
          <a:xfrm>
            <a:off x="3975100" y="5049838"/>
            <a:ext cx="395288" cy="395287"/>
            <a:chOff x="4531" y="2063"/>
            <a:chExt cx="249" cy="249"/>
          </a:xfrm>
        </p:grpSpPr>
        <p:sp>
          <p:nvSpPr>
            <p:cNvPr id="90" name="Oval 96"/>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91" name="Text Box 97"/>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L</a:t>
              </a:r>
            </a:p>
          </p:txBody>
        </p:sp>
      </p:grpSp>
      <p:grpSp>
        <p:nvGrpSpPr>
          <p:cNvPr id="19" name="Group 98"/>
          <p:cNvGrpSpPr/>
          <p:nvPr/>
        </p:nvGrpSpPr>
        <p:grpSpPr bwMode="auto">
          <a:xfrm>
            <a:off x="4810125" y="5049838"/>
            <a:ext cx="395288" cy="395287"/>
            <a:chOff x="4531" y="2063"/>
            <a:chExt cx="249" cy="249"/>
          </a:xfrm>
        </p:grpSpPr>
        <p:sp>
          <p:nvSpPr>
            <p:cNvPr id="88" name="Oval 99"/>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9" name="Text Box 100"/>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M</a:t>
              </a:r>
            </a:p>
          </p:txBody>
        </p:sp>
      </p:grpSp>
      <p:grpSp>
        <p:nvGrpSpPr>
          <p:cNvPr id="20" name="Group 101"/>
          <p:cNvGrpSpPr/>
          <p:nvPr/>
        </p:nvGrpSpPr>
        <p:grpSpPr bwMode="auto">
          <a:xfrm>
            <a:off x="6354763" y="5029200"/>
            <a:ext cx="395287" cy="395288"/>
            <a:chOff x="4531" y="2063"/>
            <a:chExt cx="249" cy="249"/>
          </a:xfrm>
        </p:grpSpPr>
        <p:sp>
          <p:nvSpPr>
            <p:cNvPr id="86" name="Oval 102"/>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7" name="Text Box 103"/>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O</a:t>
              </a:r>
            </a:p>
          </p:txBody>
        </p:sp>
      </p:grpSp>
      <p:grpSp>
        <p:nvGrpSpPr>
          <p:cNvPr id="21" name="Group 104"/>
          <p:cNvGrpSpPr/>
          <p:nvPr/>
        </p:nvGrpSpPr>
        <p:grpSpPr bwMode="auto">
          <a:xfrm>
            <a:off x="5575300" y="5041900"/>
            <a:ext cx="395288" cy="395288"/>
            <a:chOff x="4531" y="2063"/>
            <a:chExt cx="249" cy="249"/>
          </a:xfrm>
        </p:grpSpPr>
        <p:sp>
          <p:nvSpPr>
            <p:cNvPr id="84" name="Oval 105"/>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5" name="Text Box 106"/>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N</a:t>
              </a:r>
            </a:p>
          </p:txBody>
        </p:sp>
      </p:grpSp>
      <p:grpSp>
        <p:nvGrpSpPr>
          <p:cNvPr id="23" name="Group 107"/>
          <p:cNvGrpSpPr/>
          <p:nvPr/>
        </p:nvGrpSpPr>
        <p:grpSpPr bwMode="auto">
          <a:xfrm>
            <a:off x="7805738" y="5041900"/>
            <a:ext cx="395287" cy="395288"/>
            <a:chOff x="4531" y="2063"/>
            <a:chExt cx="249" cy="249"/>
          </a:xfrm>
        </p:grpSpPr>
        <p:sp>
          <p:nvSpPr>
            <p:cNvPr id="82" name="Oval 108"/>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3" name="Text Box 109"/>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Q</a:t>
              </a:r>
            </a:p>
          </p:txBody>
        </p:sp>
      </p:grpSp>
      <p:grpSp>
        <p:nvGrpSpPr>
          <p:cNvPr id="25" name="Group 110"/>
          <p:cNvGrpSpPr/>
          <p:nvPr/>
        </p:nvGrpSpPr>
        <p:grpSpPr bwMode="auto">
          <a:xfrm>
            <a:off x="7054850" y="5056188"/>
            <a:ext cx="395288" cy="395287"/>
            <a:chOff x="4531" y="2063"/>
            <a:chExt cx="249" cy="249"/>
          </a:xfrm>
        </p:grpSpPr>
        <p:sp>
          <p:nvSpPr>
            <p:cNvPr id="80" name="Oval 111"/>
            <p:cNvSpPr>
              <a:spLocks noChangeArrowheads="1"/>
            </p:cNvSpPr>
            <p:nvPr/>
          </p:nvSpPr>
          <p:spPr bwMode="auto">
            <a:xfrm>
              <a:off x="4531" y="2063"/>
              <a:ext cx="249" cy="249"/>
            </a:xfrm>
            <a:prstGeom prst="ellipse">
              <a:avLst/>
            </a:prstGeom>
          </p:spPr>
          <p:style>
            <a:lnRef idx="0">
              <a:schemeClr val="accent1"/>
            </a:lnRef>
            <a:fillRef idx="3">
              <a:schemeClr val="accent1"/>
            </a:fillRef>
            <a:effectRef idx="3">
              <a:schemeClr val="accent1"/>
            </a:effectRef>
            <a:fontRef idx="minor">
              <a:schemeClr val="lt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1" name="Text Box 112"/>
            <p:cNvSpPr txBox="1">
              <a:spLocks noChangeArrowheads="1"/>
            </p:cNvSpPr>
            <p:nvPr/>
          </p:nvSpPr>
          <p:spPr bwMode="auto">
            <a:xfrm>
              <a:off x="4582" y="2106"/>
              <a:ext cx="146" cy="154"/>
            </a:xfrm>
            <a:prstGeom prst="rect">
              <a:avLst/>
            </a:prstGeom>
          </p:spPr>
          <p:style>
            <a:lnRef idx="0">
              <a:schemeClr val="accent1"/>
            </a:lnRef>
            <a:fillRef idx="3">
              <a:schemeClr val="accent1"/>
            </a:fillRef>
            <a:effectRef idx="3">
              <a:schemeClr val="accent1"/>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sz="1600"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P</a:t>
              </a:r>
            </a:p>
          </p:txBody>
        </p:sp>
      </p:grpSp>
      <p:sp>
        <p:nvSpPr>
          <p:cNvPr id="48" name="Line 116"/>
          <p:cNvSpPr>
            <a:spLocks noChangeShapeType="1"/>
          </p:cNvSpPr>
          <p:nvPr/>
        </p:nvSpPr>
        <p:spPr bwMode="auto">
          <a:xfrm>
            <a:off x="6086475" y="2449513"/>
            <a:ext cx="0" cy="334962"/>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49" name="Line 117"/>
          <p:cNvSpPr>
            <a:spLocks noChangeShapeType="1"/>
          </p:cNvSpPr>
          <p:nvPr/>
        </p:nvSpPr>
        <p:spPr bwMode="auto">
          <a:xfrm>
            <a:off x="6103938" y="3232150"/>
            <a:ext cx="0" cy="334963"/>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0" name="Line 118"/>
          <p:cNvSpPr>
            <a:spLocks noChangeShapeType="1"/>
          </p:cNvSpPr>
          <p:nvPr/>
        </p:nvSpPr>
        <p:spPr bwMode="auto">
          <a:xfrm flipH="1">
            <a:off x="4714875" y="3151188"/>
            <a:ext cx="1219200" cy="487362"/>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1" name="Line 119"/>
          <p:cNvSpPr>
            <a:spLocks noChangeShapeType="1"/>
          </p:cNvSpPr>
          <p:nvPr/>
        </p:nvSpPr>
        <p:spPr bwMode="auto">
          <a:xfrm>
            <a:off x="6223000" y="3151188"/>
            <a:ext cx="1143000" cy="547687"/>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2" name="Line 120"/>
          <p:cNvSpPr>
            <a:spLocks noChangeShapeType="1"/>
          </p:cNvSpPr>
          <p:nvPr/>
        </p:nvSpPr>
        <p:spPr bwMode="auto">
          <a:xfrm flipH="1">
            <a:off x="4257675" y="3913188"/>
            <a:ext cx="198438" cy="36512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3" name="Line 121"/>
          <p:cNvSpPr>
            <a:spLocks noChangeShapeType="1"/>
          </p:cNvSpPr>
          <p:nvPr/>
        </p:nvSpPr>
        <p:spPr bwMode="auto">
          <a:xfrm>
            <a:off x="4652963" y="3913188"/>
            <a:ext cx="244475" cy="334962"/>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4" name="Line 122"/>
          <p:cNvSpPr>
            <a:spLocks noChangeShapeType="1"/>
          </p:cNvSpPr>
          <p:nvPr/>
        </p:nvSpPr>
        <p:spPr bwMode="auto">
          <a:xfrm>
            <a:off x="4151313" y="4643438"/>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5" name="Line 123"/>
          <p:cNvSpPr>
            <a:spLocks noChangeShapeType="1"/>
          </p:cNvSpPr>
          <p:nvPr/>
        </p:nvSpPr>
        <p:spPr bwMode="auto">
          <a:xfrm>
            <a:off x="4973638" y="4643438"/>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6" name="Line 124"/>
          <p:cNvSpPr>
            <a:spLocks noChangeShapeType="1"/>
          </p:cNvSpPr>
          <p:nvPr/>
        </p:nvSpPr>
        <p:spPr bwMode="auto">
          <a:xfrm flipH="1">
            <a:off x="5838825" y="3924300"/>
            <a:ext cx="198438" cy="36512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7" name="Line 125"/>
          <p:cNvSpPr>
            <a:spLocks noChangeShapeType="1"/>
          </p:cNvSpPr>
          <p:nvPr/>
        </p:nvSpPr>
        <p:spPr bwMode="auto">
          <a:xfrm>
            <a:off x="6234113" y="3924300"/>
            <a:ext cx="244475" cy="334963"/>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8" name="Line 126"/>
          <p:cNvSpPr>
            <a:spLocks noChangeShapeType="1"/>
          </p:cNvSpPr>
          <p:nvPr/>
        </p:nvSpPr>
        <p:spPr bwMode="auto">
          <a:xfrm>
            <a:off x="5732463" y="4654550"/>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59" name="Line 127"/>
          <p:cNvSpPr>
            <a:spLocks noChangeShapeType="1"/>
          </p:cNvSpPr>
          <p:nvPr/>
        </p:nvSpPr>
        <p:spPr bwMode="auto">
          <a:xfrm>
            <a:off x="6554788" y="4654550"/>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0" name="Line 128"/>
          <p:cNvSpPr>
            <a:spLocks noChangeShapeType="1"/>
          </p:cNvSpPr>
          <p:nvPr/>
        </p:nvSpPr>
        <p:spPr bwMode="auto">
          <a:xfrm flipH="1">
            <a:off x="7300913" y="3924300"/>
            <a:ext cx="198437" cy="36512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1" name="Line 129"/>
          <p:cNvSpPr>
            <a:spLocks noChangeShapeType="1"/>
          </p:cNvSpPr>
          <p:nvPr/>
        </p:nvSpPr>
        <p:spPr bwMode="auto">
          <a:xfrm>
            <a:off x="7666038" y="3894138"/>
            <a:ext cx="244475" cy="349250"/>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2" name="Line 130"/>
          <p:cNvSpPr>
            <a:spLocks noChangeShapeType="1"/>
          </p:cNvSpPr>
          <p:nvPr/>
        </p:nvSpPr>
        <p:spPr bwMode="auto">
          <a:xfrm>
            <a:off x="7242175" y="4654550"/>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3" name="Line 131"/>
          <p:cNvSpPr>
            <a:spLocks noChangeShapeType="1"/>
          </p:cNvSpPr>
          <p:nvPr/>
        </p:nvSpPr>
        <p:spPr bwMode="auto">
          <a:xfrm>
            <a:off x="8001000" y="4654550"/>
            <a:ext cx="0" cy="396875"/>
          </a:xfrm>
          <a:prstGeom prst="line">
            <a:avLst/>
          </a:prstGeom>
        </p:spPr>
        <p:style>
          <a:lnRef idx="2">
            <a:schemeClr val="accent6">
              <a:shade val="50000"/>
            </a:schemeClr>
          </a:lnRef>
          <a:fillRef idx="1">
            <a:schemeClr val="accent6"/>
          </a:fillRef>
          <a:effectRef idx="0">
            <a:schemeClr val="accent6"/>
          </a:effectRef>
          <a:fontRef idx="minor">
            <a:schemeClr val="lt1"/>
          </a:fontRef>
        </p:style>
        <p:txBody>
          <a:bodyPr/>
          <a:lstStyle/>
          <a:p>
            <a:pPr>
              <a:defRPr/>
            </a:pPr>
            <a:endParaRPr lang="zh-CN" altLang="en-US" b="1"/>
          </a:p>
        </p:txBody>
      </p:sp>
      <p:sp>
        <p:nvSpPr>
          <p:cNvPr id="64" name="Text Box 132"/>
          <p:cNvSpPr txBox="1">
            <a:spLocks noChangeArrowheads="1"/>
          </p:cNvSpPr>
          <p:nvPr/>
        </p:nvSpPr>
        <p:spPr bwMode="auto">
          <a:xfrm>
            <a:off x="6138863" y="2490788"/>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1</a:t>
            </a:r>
          </a:p>
        </p:txBody>
      </p:sp>
      <p:sp>
        <p:nvSpPr>
          <p:cNvPr id="65" name="Text Box 134"/>
          <p:cNvSpPr txBox="1">
            <a:spLocks noChangeArrowheads="1"/>
          </p:cNvSpPr>
          <p:nvPr/>
        </p:nvSpPr>
        <p:spPr bwMode="auto">
          <a:xfrm>
            <a:off x="5175250" y="3052763"/>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66" name="Text Box 135"/>
          <p:cNvSpPr txBox="1">
            <a:spLocks noChangeArrowheads="1"/>
          </p:cNvSpPr>
          <p:nvPr/>
        </p:nvSpPr>
        <p:spPr bwMode="auto">
          <a:xfrm>
            <a:off x="4062413" y="3843338"/>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67" name="Text Box 136"/>
          <p:cNvSpPr txBox="1">
            <a:spLocks noChangeArrowheads="1"/>
          </p:cNvSpPr>
          <p:nvPr/>
        </p:nvSpPr>
        <p:spPr bwMode="auto">
          <a:xfrm>
            <a:off x="3849688" y="4741863"/>
            <a:ext cx="273050" cy="274637"/>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68" name="Text Box 137"/>
          <p:cNvSpPr txBox="1">
            <a:spLocks noChangeArrowheads="1"/>
          </p:cNvSpPr>
          <p:nvPr/>
        </p:nvSpPr>
        <p:spPr bwMode="auto">
          <a:xfrm>
            <a:off x="4826000" y="3875088"/>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69" name="Text Box 138"/>
          <p:cNvSpPr txBox="1">
            <a:spLocks noChangeArrowheads="1"/>
          </p:cNvSpPr>
          <p:nvPr/>
        </p:nvSpPr>
        <p:spPr bwMode="auto">
          <a:xfrm>
            <a:off x="6151563" y="3249613"/>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70" name="Text Box 139"/>
          <p:cNvSpPr txBox="1">
            <a:spLocks noChangeArrowheads="1"/>
          </p:cNvSpPr>
          <p:nvPr/>
        </p:nvSpPr>
        <p:spPr bwMode="auto">
          <a:xfrm>
            <a:off x="6729413" y="3143250"/>
            <a:ext cx="273050" cy="274638"/>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71" name="Text Box 140"/>
          <p:cNvSpPr txBox="1">
            <a:spLocks noChangeArrowheads="1"/>
          </p:cNvSpPr>
          <p:nvPr/>
        </p:nvSpPr>
        <p:spPr bwMode="auto">
          <a:xfrm>
            <a:off x="5614988" y="3889375"/>
            <a:ext cx="273050" cy="274638"/>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72" name="Text Box 141"/>
          <p:cNvSpPr txBox="1">
            <a:spLocks noChangeArrowheads="1"/>
          </p:cNvSpPr>
          <p:nvPr/>
        </p:nvSpPr>
        <p:spPr bwMode="auto">
          <a:xfrm>
            <a:off x="5449888" y="4741863"/>
            <a:ext cx="273050" cy="274637"/>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73" name="Text Box 143"/>
          <p:cNvSpPr txBox="1">
            <a:spLocks noChangeArrowheads="1"/>
          </p:cNvSpPr>
          <p:nvPr/>
        </p:nvSpPr>
        <p:spPr bwMode="auto">
          <a:xfrm>
            <a:off x="4667250" y="4708525"/>
            <a:ext cx="273050" cy="274638"/>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74" name="Text Box 144"/>
          <p:cNvSpPr txBox="1">
            <a:spLocks noChangeArrowheads="1"/>
          </p:cNvSpPr>
          <p:nvPr/>
        </p:nvSpPr>
        <p:spPr bwMode="auto">
          <a:xfrm>
            <a:off x="6361113" y="3884613"/>
            <a:ext cx="273050" cy="274637"/>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p>
        </p:txBody>
      </p:sp>
      <p:sp>
        <p:nvSpPr>
          <p:cNvPr id="75" name="Text Box 145"/>
          <p:cNvSpPr txBox="1">
            <a:spLocks noChangeArrowheads="1"/>
          </p:cNvSpPr>
          <p:nvPr/>
        </p:nvSpPr>
        <p:spPr bwMode="auto">
          <a:xfrm>
            <a:off x="6254750" y="4692650"/>
            <a:ext cx="273050" cy="274638"/>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76" name="Text Box 146"/>
          <p:cNvSpPr txBox="1">
            <a:spLocks noChangeArrowheads="1"/>
          </p:cNvSpPr>
          <p:nvPr/>
        </p:nvSpPr>
        <p:spPr bwMode="auto">
          <a:xfrm>
            <a:off x="7112000" y="3889375"/>
            <a:ext cx="273050" cy="274638"/>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77" name="Text Box 147"/>
          <p:cNvSpPr txBox="1">
            <a:spLocks noChangeArrowheads="1"/>
          </p:cNvSpPr>
          <p:nvPr/>
        </p:nvSpPr>
        <p:spPr bwMode="auto">
          <a:xfrm>
            <a:off x="7659688" y="4727575"/>
            <a:ext cx="273050" cy="274638"/>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78" name="Text Box 148"/>
          <p:cNvSpPr txBox="1">
            <a:spLocks noChangeArrowheads="1"/>
          </p:cNvSpPr>
          <p:nvPr/>
        </p:nvSpPr>
        <p:spPr bwMode="auto">
          <a:xfrm>
            <a:off x="6919913" y="4749800"/>
            <a:ext cx="273050" cy="274638"/>
          </a:xfrm>
          <a:prstGeom prst="rect">
            <a:avLst/>
          </a:prstGeom>
          <a:solidFill>
            <a:schemeClr val="bg2"/>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79" name="Text Box 149"/>
          <p:cNvSpPr txBox="1">
            <a:spLocks noChangeArrowheads="1"/>
          </p:cNvSpPr>
          <p:nvPr/>
        </p:nvSpPr>
        <p:spPr bwMode="auto">
          <a:xfrm>
            <a:off x="7820025" y="3867150"/>
            <a:ext cx="273050" cy="274638"/>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defRPr/>
            </a:pPr>
            <a:r>
              <a:rPr lang="en-US" altLang="zh-CN" b="1" smtClean="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114" name="Text Box 136"/>
          <p:cNvSpPr txBox="1">
            <a:spLocks noChangeArrowheads="1"/>
          </p:cNvSpPr>
          <p:nvPr/>
        </p:nvSpPr>
        <p:spPr bwMode="auto">
          <a:xfrm>
            <a:off x="4052888" y="5513388"/>
            <a:ext cx="273050"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39</a:t>
            </a:r>
          </a:p>
        </p:txBody>
      </p:sp>
      <p:sp>
        <p:nvSpPr>
          <p:cNvPr id="115" name="Text Box 136"/>
          <p:cNvSpPr txBox="1">
            <a:spLocks noChangeArrowheads="1"/>
          </p:cNvSpPr>
          <p:nvPr/>
        </p:nvSpPr>
        <p:spPr bwMode="auto">
          <a:xfrm flipH="1">
            <a:off x="4879975" y="5491163"/>
            <a:ext cx="284163"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46</a:t>
            </a:r>
          </a:p>
        </p:txBody>
      </p:sp>
      <p:sp>
        <p:nvSpPr>
          <p:cNvPr id="116" name="Text Box 136"/>
          <p:cNvSpPr txBox="1">
            <a:spLocks noChangeArrowheads="1"/>
          </p:cNvSpPr>
          <p:nvPr/>
        </p:nvSpPr>
        <p:spPr bwMode="auto">
          <a:xfrm flipH="1">
            <a:off x="5632450" y="5480050"/>
            <a:ext cx="284163" cy="277813"/>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25</a:t>
            </a:r>
          </a:p>
        </p:txBody>
      </p:sp>
      <p:sp>
        <p:nvSpPr>
          <p:cNvPr id="117" name="Text Box 136"/>
          <p:cNvSpPr txBox="1">
            <a:spLocks noChangeArrowheads="1"/>
          </p:cNvSpPr>
          <p:nvPr/>
        </p:nvSpPr>
        <p:spPr bwMode="auto">
          <a:xfrm flipH="1">
            <a:off x="6403975" y="5491163"/>
            <a:ext cx="284163"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46</a:t>
            </a:r>
          </a:p>
        </p:txBody>
      </p:sp>
      <p:sp>
        <p:nvSpPr>
          <p:cNvPr id="118" name="Text Box 136"/>
          <p:cNvSpPr txBox="1">
            <a:spLocks noChangeArrowheads="1"/>
          </p:cNvSpPr>
          <p:nvPr/>
        </p:nvSpPr>
        <p:spPr bwMode="auto">
          <a:xfrm flipH="1">
            <a:off x="7115175" y="5491163"/>
            <a:ext cx="284163"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25</a:t>
            </a:r>
          </a:p>
        </p:txBody>
      </p:sp>
      <p:sp>
        <p:nvSpPr>
          <p:cNvPr id="119" name="Text Box 136"/>
          <p:cNvSpPr txBox="1">
            <a:spLocks noChangeArrowheads="1"/>
          </p:cNvSpPr>
          <p:nvPr/>
        </p:nvSpPr>
        <p:spPr bwMode="auto">
          <a:xfrm>
            <a:off x="7872413" y="5491163"/>
            <a:ext cx="273050" cy="276225"/>
          </a:xfrm>
          <a:prstGeom prst="rect">
            <a:avLst/>
          </a:prstGeom>
          <a:solidFill>
            <a:schemeClr val="bg1"/>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spAutoFit/>
          </a:bodyPr>
          <a:lstStyle/>
          <a:p>
            <a:pPr algn="r" defTabSz="914400">
              <a:spcBef>
                <a:spcPct val="50000"/>
              </a:spcBef>
              <a:defRPr/>
            </a:pPr>
            <a:r>
              <a:rPr lang="en-US" altLang="zh-CN" b="1" dirty="0">
                <a:solidFill>
                  <a:srgbClr val="000066"/>
                </a:solidFill>
                <a:latin typeface="Times New Roman" panose="02020603050405020304" pitchFamily="18" charset="0"/>
                <a:cs typeface="Times New Roman" panose="02020603050405020304" pitchFamily="18" charset="0"/>
              </a:rPr>
              <a:t>39</a:t>
            </a:r>
          </a:p>
        </p:txBody>
      </p:sp>
      <p:sp>
        <p:nvSpPr>
          <p:cNvPr id="2" name="矩形 1"/>
          <p:cNvSpPr/>
          <p:nvPr/>
        </p:nvSpPr>
        <p:spPr>
          <a:xfrm>
            <a:off x="5341144" y="4136464"/>
            <a:ext cx="1595438" cy="193913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38100">
                <a:solidFill>
                  <a:srgbClr val="FF0000"/>
                </a:solidFill>
              </a:ln>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1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7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1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0"/>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6"/>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60"/>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78"/>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25"/>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1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7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7"/>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2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19"/>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114" grpId="0" animBg="1"/>
      <p:bldP spid="115" grpId="0" animBg="1"/>
      <p:bldP spid="116" grpId="0" animBg="1"/>
      <p:bldP spid="117" grpId="0" animBg="1"/>
      <p:bldP spid="118" grpId="0" animBg="1"/>
      <p:bldP spid="119" grpId="0" animBg="1"/>
      <p:bldP spid="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a:solidFill>
                  <a:schemeClr val="bg1"/>
                </a:solidFill>
                <a:latin typeface="楷体" panose="02010609060101010101" pitchFamily="49" charset="-122"/>
                <a:ea typeface="楷体" panose="02010609060101010101" pitchFamily="49" charset="-122"/>
              </a:rPr>
              <a:t>总结</a:t>
            </a:r>
          </a:p>
        </p:txBody>
      </p:sp>
      <p:sp>
        <p:nvSpPr>
          <p:cNvPr id="84995" name="Rectangle 6"/>
          <p:cNvSpPr>
            <a:spLocks noChangeArrowheads="1"/>
          </p:cNvSpPr>
          <p:nvPr/>
        </p:nvSpPr>
        <p:spPr bwMode="auto">
          <a:xfrm>
            <a:off x="342900" y="1295400"/>
            <a:ext cx="8445500"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20000"/>
              </a:spcBef>
              <a:buClr>
                <a:srgbClr val="800000"/>
              </a:buClr>
              <a:buSzTx/>
              <a:buFont typeface="Wingdings" panose="05000000000000000000" pitchFamily="2" charset="2"/>
              <a:buChar char="§"/>
            </a:pP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适应于求解组合搜索问题（含组合优化问题）</a:t>
            </a:r>
          </a:p>
          <a:p>
            <a:pPr eaLnBrk="1" hangingPunct="1">
              <a:lnSpc>
                <a:spcPct val="150000"/>
              </a:lnSpc>
              <a:spcBef>
                <a:spcPct val="20000"/>
              </a:spcBef>
              <a:buClr>
                <a:srgbClr val="800000"/>
              </a:buClr>
              <a:buSzTx/>
              <a:buFont typeface="Wingdings" panose="05000000000000000000" pitchFamily="2" charset="2"/>
              <a:buChar char="§"/>
            </a:pP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求解条件：满足多米诺性质</a:t>
            </a:r>
          </a:p>
          <a:p>
            <a:pPr eaLnBrk="1" hangingPunct="1">
              <a:lnSpc>
                <a:spcPct val="150000"/>
              </a:lnSpc>
              <a:spcBef>
                <a:spcPct val="20000"/>
              </a:spcBef>
              <a:buClr>
                <a:srgbClr val="800000"/>
              </a:buClr>
              <a:buSzTx/>
              <a:buFont typeface="Wingdings" panose="05000000000000000000" pitchFamily="2" charset="2"/>
              <a:buChar char="§"/>
            </a:pP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解的表示：解向量，求解是不断扩充解向量的过程</a:t>
            </a:r>
          </a:p>
          <a:p>
            <a:pPr eaLnBrk="1" hangingPunct="1">
              <a:lnSpc>
                <a:spcPct val="150000"/>
              </a:lnSpc>
              <a:spcBef>
                <a:spcPct val="20000"/>
              </a:spcBef>
              <a:buClr>
                <a:srgbClr val="800000"/>
              </a:buClr>
              <a:buSzTx/>
              <a:buFont typeface="Wingdings" panose="05000000000000000000" pitchFamily="2" charset="2"/>
              <a:buChar char="§"/>
            </a:pP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回溯条件：</a:t>
            </a:r>
            <a:r>
              <a:rPr kumimoji="1" lang="zh-CN" altLang="en-US" sz="28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约束条件</a:t>
            </a: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或者</a:t>
            </a:r>
            <a:r>
              <a:rPr kumimoji="1" lang="zh-CN" altLang="en-US" sz="28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界条件</a:t>
            </a:r>
            <a:endParaRPr kumimoji="1" lang="en-US" altLang="zh-CN" sz="28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lnSpc>
                <a:spcPct val="150000"/>
              </a:lnSpc>
              <a:spcBef>
                <a:spcPct val="20000"/>
              </a:spcBef>
              <a:buClr>
                <a:srgbClr val="800000"/>
              </a:buClr>
              <a:buSzTx/>
              <a:buFont typeface="Wingdings" panose="05000000000000000000" pitchFamily="2" charset="2"/>
              <a:buChar char="§"/>
            </a:pP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算法复杂性：最坏情况为指数，空间代价小</a:t>
            </a:r>
          </a:p>
          <a:p>
            <a:pPr eaLnBrk="1" hangingPunct="1">
              <a:lnSpc>
                <a:spcPct val="150000"/>
              </a:lnSpc>
              <a:spcBef>
                <a:spcPct val="20000"/>
              </a:spcBef>
              <a:buClr>
                <a:srgbClr val="800000"/>
              </a:buClr>
              <a:buSzTx/>
              <a:buFont typeface="Wingdings" panose="05000000000000000000" pitchFamily="2" charset="2"/>
              <a:buChar char="§"/>
            </a:pP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降低时间复杂性的主要途径：利用界函数对搜索树进行剪枝。</a:t>
            </a:r>
          </a:p>
        </p:txBody>
      </p:sp>
    </p:spTree>
    <p:custDataLst>
      <p:tags r:id="rId1"/>
    </p:custData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dirty="0" smtClean="0">
                <a:solidFill>
                  <a:schemeClr val="bg1"/>
                </a:solidFill>
                <a:latin typeface="楷体" panose="02010609060101010101" pitchFamily="49" charset="-122"/>
                <a:ea typeface="楷体" panose="02010609060101010101" pitchFamily="49" charset="-122"/>
              </a:rPr>
              <a:t>讨论</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84995" name="Rectangle 6"/>
          <p:cNvSpPr>
            <a:spLocks noChangeArrowheads="1"/>
          </p:cNvSpPr>
          <p:nvPr/>
        </p:nvSpPr>
        <p:spPr bwMode="auto">
          <a:xfrm>
            <a:off x="342900" y="1295400"/>
            <a:ext cx="8445500"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just" eaLnBrk="1" hangingPunct="1">
              <a:lnSpc>
                <a:spcPct val="150000"/>
              </a:lnSpc>
              <a:spcBef>
                <a:spcPct val="20000"/>
              </a:spcBef>
              <a:buClr>
                <a:srgbClr val="800000"/>
              </a:buClr>
              <a:buSzTx/>
              <a:buFont typeface="Wingdings" panose="05000000000000000000" pitchFamily="2" charset="2"/>
              <a:buChar char="§"/>
            </a:pP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问题一：回溯法采用的深度优先的搜索方式能够快速找到一个解，但是如果解空间太大，那么无论怎么回溯都不能回到很浅的层次，这会导致什么问题？</a:t>
            </a:r>
            <a:endParaRPr kumimoji="1" lang="en-US" altLang="zh-CN"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algn="just" eaLnBrk="1" hangingPunct="1">
              <a:lnSpc>
                <a:spcPct val="150000"/>
              </a:lnSpc>
              <a:spcBef>
                <a:spcPct val="20000"/>
              </a:spcBef>
              <a:buClr>
                <a:srgbClr val="800000"/>
              </a:buClr>
              <a:buSzTx/>
              <a:buFont typeface="Wingdings" panose="05000000000000000000" pitchFamily="2" charset="2"/>
              <a:buChar char="§"/>
            </a:pP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答：解空间太大时导致</a:t>
            </a: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的</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问题：很难</a:t>
            </a: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回到</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根结点，</a:t>
            </a: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探索前面的步骤的其它走法；</a:t>
            </a:r>
            <a:r>
              <a:rPr kumimoji="1" lang="zh-CN" altLang="en-US" sz="28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如果前面走得不好，那么再怎么搜索都不会得到好的解</a:t>
            </a:r>
            <a:r>
              <a:rPr kumimoji="1" lang="zh-CN" altLang="en-US" sz="2800" b="1" dirty="0" smtClean="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en-US" altLang="zh-CN" sz="28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4097446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Text Box 3"/>
          <p:cNvSpPr txBox="1">
            <a:spLocks noChangeArrowheads="1"/>
          </p:cNvSpPr>
          <p:nvPr/>
        </p:nvSpPr>
        <p:spPr bwMode="auto">
          <a:xfrm>
            <a:off x="1423988" y="908050"/>
            <a:ext cx="184150" cy="579438"/>
          </a:xfrm>
          <a:prstGeom prst="rect">
            <a:avLst/>
          </a:prstGeom>
          <a:noFill/>
          <a:ln w="9525">
            <a:noFill/>
            <a:miter lim="800000"/>
          </a:ln>
          <a:effectLst/>
        </p:spPr>
        <p:txBody>
          <a:bodyPr wrap="none">
            <a:spAutoFit/>
          </a:bodyPr>
          <a:lstStyle/>
          <a:p>
            <a:pPr algn="ctr">
              <a:defRPr/>
            </a:pPr>
            <a:endParaRPr lang="zh-CN" altLang="en-US" sz="3200" b="1">
              <a:solidFill>
                <a:srgbClr val="000000"/>
              </a:solidFill>
              <a:effectLst>
                <a:outerShdw blurRad="38100" dist="38100" dir="2700000" algn="tl">
                  <a:srgbClr val="C0C0C0"/>
                </a:outerShdw>
              </a:effectLst>
              <a:latin typeface="Arial" panose="020B0604020202020204" pitchFamily="34" charset="0"/>
              <a:ea typeface="黑体" panose="02010609060101010101" pitchFamily="49" charset="-122"/>
            </a:endParaRPr>
          </a:p>
        </p:txBody>
      </p:sp>
      <p:grpSp>
        <p:nvGrpSpPr>
          <p:cNvPr id="86019" name="Group 151"/>
          <p:cNvGrpSpPr/>
          <p:nvPr/>
        </p:nvGrpSpPr>
        <p:grpSpPr bwMode="auto">
          <a:xfrm>
            <a:off x="2039938" y="1524000"/>
            <a:ext cx="5478462" cy="4164013"/>
            <a:chOff x="2604" y="2009"/>
            <a:chExt cx="2741" cy="2138"/>
          </a:xfrm>
        </p:grpSpPr>
        <p:grpSp>
          <p:nvGrpSpPr>
            <p:cNvPr id="86021" name="Group 62"/>
            <p:cNvGrpSpPr/>
            <p:nvPr/>
          </p:nvGrpSpPr>
          <p:grpSpPr bwMode="auto">
            <a:xfrm>
              <a:off x="3886" y="2009"/>
              <a:ext cx="249" cy="249"/>
              <a:chOff x="4531" y="2063"/>
              <a:chExt cx="249" cy="249"/>
            </a:xfrm>
          </p:grpSpPr>
          <p:sp>
            <p:nvSpPr>
              <p:cNvPr id="87" name="Oval 63"/>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103" name="Text Box 64"/>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A</a:t>
                </a:r>
              </a:p>
            </p:txBody>
          </p:sp>
        </p:grpSp>
        <p:grpSp>
          <p:nvGrpSpPr>
            <p:cNvPr id="86022" name="Group 65"/>
            <p:cNvGrpSpPr/>
            <p:nvPr/>
          </p:nvGrpSpPr>
          <p:grpSpPr bwMode="auto">
            <a:xfrm>
              <a:off x="3885" y="2477"/>
              <a:ext cx="249" cy="249"/>
              <a:chOff x="4531" y="2063"/>
              <a:chExt cx="249" cy="249"/>
            </a:xfrm>
          </p:grpSpPr>
          <p:sp>
            <p:nvSpPr>
              <p:cNvPr id="85" name="Oval 66"/>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101" name="Text Box 6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B</a:t>
                </a:r>
              </a:p>
            </p:txBody>
          </p:sp>
        </p:grpSp>
        <p:grpSp>
          <p:nvGrpSpPr>
            <p:cNvPr id="86023" name="Group 68"/>
            <p:cNvGrpSpPr/>
            <p:nvPr/>
          </p:nvGrpSpPr>
          <p:grpSpPr bwMode="auto">
            <a:xfrm>
              <a:off x="2936" y="2954"/>
              <a:ext cx="249" cy="249"/>
              <a:chOff x="4531" y="2063"/>
              <a:chExt cx="249" cy="249"/>
            </a:xfrm>
          </p:grpSpPr>
          <p:sp>
            <p:nvSpPr>
              <p:cNvPr id="83" name="Oval 69"/>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99" name="Text Box 7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C</a:t>
                </a:r>
              </a:p>
            </p:txBody>
          </p:sp>
        </p:grpSp>
        <p:grpSp>
          <p:nvGrpSpPr>
            <p:cNvPr id="86024" name="Group 71"/>
            <p:cNvGrpSpPr/>
            <p:nvPr/>
          </p:nvGrpSpPr>
          <p:grpSpPr bwMode="auto">
            <a:xfrm>
              <a:off x="3898" y="2950"/>
              <a:ext cx="249" cy="249"/>
              <a:chOff x="4531" y="2063"/>
              <a:chExt cx="249" cy="249"/>
            </a:xfrm>
          </p:grpSpPr>
          <p:sp>
            <p:nvSpPr>
              <p:cNvPr id="81" name="Oval 72"/>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97" name="Text Box 7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D</a:t>
                </a:r>
              </a:p>
            </p:txBody>
          </p:sp>
        </p:grpSp>
        <p:grpSp>
          <p:nvGrpSpPr>
            <p:cNvPr id="86025" name="Group 74"/>
            <p:cNvGrpSpPr/>
            <p:nvPr/>
          </p:nvGrpSpPr>
          <p:grpSpPr bwMode="auto">
            <a:xfrm>
              <a:off x="4813" y="2950"/>
              <a:ext cx="249" cy="249"/>
              <a:chOff x="4531" y="2063"/>
              <a:chExt cx="249" cy="249"/>
            </a:xfrm>
          </p:grpSpPr>
          <p:sp>
            <p:nvSpPr>
              <p:cNvPr id="79" name="Oval 75"/>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95" name="Text Box 76"/>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E</a:t>
                </a:r>
              </a:p>
            </p:txBody>
          </p:sp>
        </p:grpSp>
        <p:grpSp>
          <p:nvGrpSpPr>
            <p:cNvPr id="86026" name="Group 77"/>
            <p:cNvGrpSpPr/>
            <p:nvPr/>
          </p:nvGrpSpPr>
          <p:grpSpPr bwMode="auto">
            <a:xfrm>
              <a:off x="2677" y="3400"/>
              <a:ext cx="249" cy="249"/>
              <a:chOff x="4531" y="2063"/>
              <a:chExt cx="249" cy="249"/>
            </a:xfrm>
          </p:grpSpPr>
          <p:sp>
            <p:nvSpPr>
              <p:cNvPr id="77" name="Oval 78"/>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93" name="Text Box 7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F</a:t>
                </a:r>
              </a:p>
            </p:txBody>
          </p:sp>
        </p:grpSp>
        <p:grpSp>
          <p:nvGrpSpPr>
            <p:cNvPr id="86027" name="Group 80"/>
            <p:cNvGrpSpPr/>
            <p:nvPr/>
          </p:nvGrpSpPr>
          <p:grpSpPr bwMode="auto">
            <a:xfrm>
              <a:off x="3182" y="3389"/>
              <a:ext cx="249" cy="249"/>
              <a:chOff x="4531" y="2063"/>
              <a:chExt cx="249" cy="249"/>
            </a:xfrm>
          </p:grpSpPr>
          <p:sp>
            <p:nvSpPr>
              <p:cNvPr id="75" name="Oval 81"/>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91" name="Text Box 8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G</a:t>
                </a:r>
              </a:p>
            </p:txBody>
          </p:sp>
        </p:grpSp>
        <p:grpSp>
          <p:nvGrpSpPr>
            <p:cNvPr id="86028" name="Group 83"/>
            <p:cNvGrpSpPr/>
            <p:nvPr/>
          </p:nvGrpSpPr>
          <p:grpSpPr bwMode="auto">
            <a:xfrm>
              <a:off x="3682" y="3386"/>
              <a:ext cx="249" cy="249"/>
              <a:chOff x="4531" y="2063"/>
              <a:chExt cx="249" cy="249"/>
            </a:xfrm>
          </p:grpSpPr>
          <p:sp>
            <p:nvSpPr>
              <p:cNvPr id="73" name="Oval 84"/>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89" name="Text Box 85"/>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H</a:t>
                </a:r>
              </a:p>
            </p:txBody>
          </p:sp>
        </p:grpSp>
        <p:grpSp>
          <p:nvGrpSpPr>
            <p:cNvPr id="86029" name="Group 86"/>
            <p:cNvGrpSpPr/>
            <p:nvPr/>
          </p:nvGrpSpPr>
          <p:grpSpPr bwMode="auto">
            <a:xfrm>
              <a:off x="4167" y="3393"/>
              <a:ext cx="249" cy="249"/>
              <a:chOff x="4531" y="2063"/>
              <a:chExt cx="249" cy="249"/>
            </a:xfrm>
          </p:grpSpPr>
          <p:sp>
            <p:nvSpPr>
              <p:cNvPr id="71" name="Oval 87"/>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87" name="Text Box 8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I</a:t>
                </a:r>
              </a:p>
            </p:txBody>
          </p:sp>
        </p:grpSp>
        <p:grpSp>
          <p:nvGrpSpPr>
            <p:cNvPr id="86030" name="Group 89"/>
            <p:cNvGrpSpPr/>
            <p:nvPr/>
          </p:nvGrpSpPr>
          <p:grpSpPr bwMode="auto">
            <a:xfrm>
              <a:off x="4614" y="3400"/>
              <a:ext cx="249" cy="249"/>
              <a:chOff x="4531" y="2063"/>
              <a:chExt cx="249" cy="249"/>
            </a:xfrm>
          </p:grpSpPr>
          <p:sp>
            <p:nvSpPr>
              <p:cNvPr id="69" name="Oval 90"/>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85" name="Text Box 9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J</a:t>
                </a:r>
              </a:p>
            </p:txBody>
          </p:sp>
        </p:grpSp>
        <p:grpSp>
          <p:nvGrpSpPr>
            <p:cNvPr id="86031" name="Group 92"/>
            <p:cNvGrpSpPr/>
            <p:nvPr/>
          </p:nvGrpSpPr>
          <p:grpSpPr bwMode="auto">
            <a:xfrm>
              <a:off x="5077" y="3391"/>
              <a:ext cx="249" cy="249"/>
              <a:chOff x="4531" y="2063"/>
              <a:chExt cx="249" cy="249"/>
            </a:xfrm>
          </p:grpSpPr>
          <p:sp>
            <p:nvSpPr>
              <p:cNvPr id="67" name="Oval 93"/>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83" name="Text Box 94"/>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K</a:t>
                </a:r>
              </a:p>
            </p:txBody>
          </p:sp>
        </p:grpSp>
        <p:grpSp>
          <p:nvGrpSpPr>
            <p:cNvPr id="86032" name="Group 95"/>
            <p:cNvGrpSpPr/>
            <p:nvPr/>
          </p:nvGrpSpPr>
          <p:grpSpPr bwMode="auto">
            <a:xfrm>
              <a:off x="2683" y="3894"/>
              <a:ext cx="249" cy="249"/>
              <a:chOff x="4531" y="2063"/>
              <a:chExt cx="249" cy="249"/>
            </a:xfrm>
          </p:grpSpPr>
          <p:sp>
            <p:nvSpPr>
              <p:cNvPr id="65" name="Oval 96"/>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81" name="Text Box 97"/>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L</a:t>
                </a:r>
              </a:p>
            </p:txBody>
          </p:sp>
        </p:grpSp>
        <p:grpSp>
          <p:nvGrpSpPr>
            <p:cNvPr id="86033" name="Group 98"/>
            <p:cNvGrpSpPr/>
            <p:nvPr/>
          </p:nvGrpSpPr>
          <p:grpSpPr bwMode="auto">
            <a:xfrm>
              <a:off x="3209" y="3894"/>
              <a:ext cx="249" cy="249"/>
              <a:chOff x="4531" y="2063"/>
              <a:chExt cx="249" cy="249"/>
            </a:xfrm>
          </p:grpSpPr>
          <p:sp>
            <p:nvSpPr>
              <p:cNvPr id="63" name="Oval 99"/>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79" name="Text Box 10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M</a:t>
                </a:r>
              </a:p>
            </p:txBody>
          </p:sp>
        </p:grpSp>
        <p:grpSp>
          <p:nvGrpSpPr>
            <p:cNvPr id="86034" name="Group 101"/>
            <p:cNvGrpSpPr/>
            <p:nvPr/>
          </p:nvGrpSpPr>
          <p:grpSpPr bwMode="auto">
            <a:xfrm>
              <a:off x="4182" y="3881"/>
              <a:ext cx="249" cy="249"/>
              <a:chOff x="4531" y="2063"/>
              <a:chExt cx="249" cy="249"/>
            </a:xfrm>
          </p:grpSpPr>
          <p:sp>
            <p:nvSpPr>
              <p:cNvPr id="61" name="Oval 102"/>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77" name="Text Box 10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O</a:t>
                </a:r>
              </a:p>
            </p:txBody>
          </p:sp>
        </p:grpSp>
        <p:grpSp>
          <p:nvGrpSpPr>
            <p:cNvPr id="86035" name="Group 104"/>
            <p:cNvGrpSpPr/>
            <p:nvPr/>
          </p:nvGrpSpPr>
          <p:grpSpPr bwMode="auto">
            <a:xfrm>
              <a:off x="3691" y="3889"/>
              <a:ext cx="249" cy="249"/>
              <a:chOff x="4531" y="2063"/>
              <a:chExt cx="249" cy="249"/>
            </a:xfrm>
          </p:grpSpPr>
          <p:sp>
            <p:nvSpPr>
              <p:cNvPr id="59" name="Oval 105"/>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75" name="Text Box 106"/>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N</a:t>
                </a:r>
              </a:p>
            </p:txBody>
          </p:sp>
        </p:grpSp>
        <p:grpSp>
          <p:nvGrpSpPr>
            <p:cNvPr id="86036" name="Group 107"/>
            <p:cNvGrpSpPr/>
            <p:nvPr/>
          </p:nvGrpSpPr>
          <p:grpSpPr bwMode="auto">
            <a:xfrm>
              <a:off x="5096" y="3889"/>
              <a:ext cx="249" cy="249"/>
              <a:chOff x="4531" y="2063"/>
              <a:chExt cx="249" cy="249"/>
            </a:xfrm>
          </p:grpSpPr>
          <p:sp>
            <p:nvSpPr>
              <p:cNvPr id="57" name="Oval 108"/>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73" name="Text Box 10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Q</a:t>
                </a:r>
              </a:p>
            </p:txBody>
          </p:sp>
        </p:grpSp>
        <p:grpSp>
          <p:nvGrpSpPr>
            <p:cNvPr id="86037" name="Group 110"/>
            <p:cNvGrpSpPr/>
            <p:nvPr/>
          </p:nvGrpSpPr>
          <p:grpSpPr bwMode="auto">
            <a:xfrm>
              <a:off x="4623" y="3898"/>
              <a:ext cx="249" cy="249"/>
              <a:chOff x="4531" y="2063"/>
              <a:chExt cx="249" cy="249"/>
            </a:xfrm>
          </p:grpSpPr>
          <p:sp>
            <p:nvSpPr>
              <p:cNvPr id="55" name="Oval 111"/>
              <p:cNvSpPr>
                <a:spLocks noChangeArrowheads="1"/>
              </p:cNvSpPr>
              <p:nvPr/>
            </p:nvSpPr>
            <p:spPr bwMode="auto">
              <a:xfrm>
                <a:off x="4531" y="2063"/>
                <a:ext cx="249" cy="24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defTabSz="914400">
                  <a:defRPr/>
                </a:pPr>
                <a:endParaRPr lang="zh-CN" altLang="en-US" sz="2400" b="1">
                  <a:solidFill>
                    <a:srgbClr val="000066"/>
                  </a:solidFill>
                  <a:latin typeface="Times New Roman" panose="02020603050405020304" pitchFamily="18" charset="0"/>
                  <a:cs typeface="Times New Roman" panose="02020603050405020304" pitchFamily="18" charset="0"/>
                </a:endParaRPr>
              </a:p>
            </p:txBody>
          </p:sp>
          <p:sp>
            <p:nvSpPr>
              <p:cNvPr id="86071" name="Text Box 11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sz="1600"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P</a:t>
                </a:r>
              </a:p>
            </p:txBody>
          </p:sp>
        </p:grpSp>
        <p:sp>
          <p:nvSpPr>
            <p:cNvPr id="86038" name="Line 116"/>
            <p:cNvSpPr>
              <a:spLocks noChangeShapeType="1"/>
            </p:cNvSpPr>
            <p:nvPr/>
          </p:nvSpPr>
          <p:spPr bwMode="auto">
            <a:xfrm>
              <a:off x="4013" y="2256"/>
              <a:ext cx="0" cy="211"/>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39" name="Line 117"/>
            <p:cNvSpPr>
              <a:spLocks noChangeShapeType="1"/>
            </p:cNvSpPr>
            <p:nvPr/>
          </p:nvSpPr>
          <p:spPr bwMode="auto">
            <a:xfrm>
              <a:off x="4021" y="2735"/>
              <a:ext cx="0" cy="211"/>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0" name="Line 118"/>
            <p:cNvSpPr>
              <a:spLocks noChangeShapeType="1"/>
            </p:cNvSpPr>
            <p:nvPr/>
          </p:nvSpPr>
          <p:spPr bwMode="auto">
            <a:xfrm flipH="1">
              <a:off x="3149" y="2698"/>
              <a:ext cx="768" cy="307"/>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1" name="Line 119"/>
            <p:cNvSpPr>
              <a:spLocks noChangeShapeType="1"/>
            </p:cNvSpPr>
            <p:nvPr/>
          </p:nvSpPr>
          <p:spPr bwMode="auto">
            <a:xfrm>
              <a:off x="4099" y="2698"/>
              <a:ext cx="720" cy="345"/>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2" name="Line 120"/>
            <p:cNvSpPr>
              <a:spLocks noChangeShapeType="1"/>
            </p:cNvSpPr>
            <p:nvPr/>
          </p:nvSpPr>
          <p:spPr bwMode="auto">
            <a:xfrm flipH="1">
              <a:off x="2861" y="3178"/>
              <a:ext cx="125" cy="23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3" name="Line 121"/>
            <p:cNvSpPr>
              <a:spLocks noChangeShapeType="1"/>
            </p:cNvSpPr>
            <p:nvPr/>
          </p:nvSpPr>
          <p:spPr bwMode="auto">
            <a:xfrm>
              <a:off x="3110" y="3178"/>
              <a:ext cx="154" cy="21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4" name="Line 122"/>
            <p:cNvSpPr>
              <a:spLocks noChangeShapeType="1"/>
            </p:cNvSpPr>
            <p:nvPr/>
          </p:nvSpPr>
          <p:spPr bwMode="auto">
            <a:xfrm>
              <a:off x="2794" y="3638"/>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5" name="Line 123"/>
            <p:cNvSpPr>
              <a:spLocks noChangeShapeType="1"/>
            </p:cNvSpPr>
            <p:nvPr/>
          </p:nvSpPr>
          <p:spPr bwMode="auto">
            <a:xfrm>
              <a:off x="3312" y="3638"/>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6" name="Line 124"/>
            <p:cNvSpPr>
              <a:spLocks noChangeShapeType="1"/>
            </p:cNvSpPr>
            <p:nvPr/>
          </p:nvSpPr>
          <p:spPr bwMode="auto">
            <a:xfrm flipH="1">
              <a:off x="3857" y="3185"/>
              <a:ext cx="125" cy="230"/>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7" name="Line 125"/>
            <p:cNvSpPr>
              <a:spLocks noChangeShapeType="1"/>
            </p:cNvSpPr>
            <p:nvPr/>
          </p:nvSpPr>
          <p:spPr bwMode="auto">
            <a:xfrm>
              <a:off x="4106" y="3185"/>
              <a:ext cx="154" cy="211"/>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8" name="Line 126"/>
            <p:cNvSpPr>
              <a:spLocks noChangeShapeType="1"/>
            </p:cNvSpPr>
            <p:nvPr/>
          </p:nvSpPr>
          <p:spPr bwMode="auto">
            <a:xfrm>
              <a:off x="3790" y="3645"/>
              <a:ext cx="0" cy="250"/>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49" name="Line 127"/>
            <p:cNvSpPr>
              <a:spLocks noChangeShapeType="1"/>
            </p:cNvSpPr>
            <p:nvPr/>
          </p:nvSpPr>
          <p:spPr bwMode="auto">
            <a:xfrm>
              <a:off x="4308" y="3645"/>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50" name="Line 128"/>
            <p:cNvSpPr>
              <a:spLocks noChangeShapeType="1"/>
            </p:cNvSpPr>
            <p:nvPr/>
          </p:nvSpPr>
          <p:spPr bwMode="auto">
            <a:xfrm flipH="1">
              <a:off x="4778" y="3185"/>
              <a:ext cx="125" cy="23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51" name="Line 129"/>
            <p:cNvSpPr>
              <a:spLocks noChangeShapeType="1"/>
            </p:cNvSpPr>
            <p:nvPr/>
          </p:nvSpPr>
          <p:spPr bwMode="auto">
            <a:xfrm>
              <a:off x="5008" y="3166"/>
              <a:ext cx="154" cy="22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52" name="Line 130"/>
            <p:cNvSpPr>
              <a:spLocks noChangeShapeType="1"/>
            </p:cNvSpPr>
            <p:nvPr/>
          </p:nvSpPr>
          <p:spPr bwMode="auto">
            <a:xfrm>
              <a:off x="4741" y="3645"/>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53" name="Line 131"/>
            <p:cNvSpPr>
              <a:spLocks noChangeShapeType="1"/>
            </p:cNvSpPr>
            <p:nvPr/>
          </p:nvSpPr>
          <p:spPr bwMode="auto">
            <a:xfrm>
              <a:off x="5219" y="3645"/>
              <a:ext cx="0" cy="2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54" name="Text Box 132"/>
            <p:cNvSpPr txBox="1">
              <a:spLocks noChangeArrowheads="1"/>
            </p:cNvSpPr>
            <p:nvPr/>
          </p:nvSpPr>
          <p:spPr bwMode="auto">
            <a:xfrm>
              <a:off x="4046" y="2282"/>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86055" name="Text Box 134"/>
            <p:cNvSpPr txBox="1">
              <a:spLocks noChangeArrowheads="1"/>
            </p:cNvSpPr>
            <p:nvPr/>
          </p:nvSpPr>
          <p:spPr bwMode="auto">
            <a:xfrm>
              <a:off x="3439" y="2636"/>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6056" name="Text Box 135"/>
            <p:cNvSpPr txBox="1">
              <a:spLocks noChangeArrowheads="1"/>
            </p:cNvSpPr>
            <p:nvPr/>
          </p:nvSpPr>
          <p:spPr bwMode="auto">
            <a:xfrm>
              <a:off x="2738" y="3134"/>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86057" name="Text Box 136"/>
            <p:cNvSpPr txBox="1">
              <a:spLocks noChangeArrowheads="1"/>
            </p:cNvSpPr>
            <p:nvPr/>
          </p:nvSpPr>
          <p:spPr bwMode="auto">
            <a:xfrm>
              <a:off x="2604" y="370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86058" name="Text Box 137"/>
            <p:cNvSpPr txBox="1">
              <a:spLocks noChangeArrowheads="1"/>
            </p:cNvSpPr>
            <p:nvPr/>
          </p:nvSpPr>
          <p:spPr bwMode="auto">
            <a:xfrm>
              <a:off x="3219" y="3154"/>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86059" name="Text Box 138"/>
            <p:cNvSpPr txBox="1">
              <a:spLocks noChangeArrowheads="1"/>
            </p:cNvSpPr>
            <p:nvPr/>
          </p:nvSpPr>
          <p:spPr bwMode="auto">
            <a:xfrm>
              <a:off x="4034" y="276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86060" name="Text Box 139"/>
            <p:cNvSpPr txBox="1">
              <a:spLocks noChangeArrowheads="1"/>
            </p:cNvSpPr>
            <p:nvPr/>
          </p:nvSpPr>
          <p:spPr bwMode="auto">
            <a:xfrm>
              <a:off x="4418" y="269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86061" name="Text Box 140"/>
            <p:cNvSpPr txBox="1">
              <a:spLocks noChangeArrowheads="1"/>
            </p:cNvSpPr>
            <p:nvPr/>
          </p:nvSpPr>
          <p:spPr bwMode="auto">
            <a:xfrm>
              <a:off x="3716" y="316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6062" name="Text Box 141"/>
            <p:cNvSpPr txBox="1">
              <a:spLocks noChangeArrowheads="1"/>
            </p:cNvSpPr>
            <p:nvPr/>
          </p:nvSpPr>
          <p:spPr bwMode="auto">
            <a:xfrm>
              <a:off x="3612" y="370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86063" name="Text Box 143"/>
            <p:cNvSpPr txBox="1">
              <a:spLocks noChangeArrowheads="1"/>
            </p:cNvSpPr>
            <p:nvPr/>
          </p:nvSpPr>
          <p:spPr bwMode="auto">
            <a:xfrm>
              <a:off x="3119" y="367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86064" name="Text Box 144"/>
            <p:cNvSpPr txBox="1">
              <a:spLocks noChangeArrowheads="1"/>
            </p:cNvSpPr>
            <p:nvPr/>
          </p:nvSpPr>
          <p:spPr bwMode="auto">
            <a:xfrm>
              <a:off x="4186" y="3160"/>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86065" name="Text Box 145"/>
            <p:cNvSpPr txBox="1">
              <a:spLocks noChangeArrowheads="1"/>
            </p:cNvSpPr>
            <p:nvPr/>
          </p:nvSpPr>
          <p:spPr bwMode="auto">
            <a:xfrm>
              <a:off x="4119" y="366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6066" name="Text Box 146"/>
            <p:cNvSpPr txBox="1">
              <a:spLocks noChangeArrowheads="1"/>
            </p:cNvSpPr>
            <p:nvPr/>
          </p:nvSpPr>
          <p:spPr bwMode="auto">
            <a:xfrm>
              <a:off x="4659" y="3163"/>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ct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6067" name="Text Box 147"/>
            <p:cNvSpPr txBox="1">
              <a:spLocks noChangeArrowheads="1"/>
            </p:cNvSpPr>
            <p:nvPr/>
          </p:nvSpPr>
          <p:spPr bwMode="auto">
            <a:xfrm>
              <a:off x="5004" y="3691"/>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6068" name="Text Box 148"/>
            <p:cNvSpPr txBox="1">
              <a:spLocks noChangeArrowheads="1"/>
            </p:cNvSpPr>
            <p:nvPr/>
          </p:nvSpPr>
          <p:spPr bwMode="auto">
            <a:xfrm>
              <a:off x="4538" y="3705"/>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86069" name="Text Box 149"/>
            <p:cNvSpPr txBox="1">
              <a:spLocks noChangeArrowheads="1"/>
            </p:cNvSpPr>
            <p:nvPr/>
          </p:nvSpPr>
          <p:spPr bwMode="auto">
            <a:xfrm>
              <a:off x="5105" y="3149"/>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defTabSz="914400" eaLnBrk="1" hangingPunct="1">
                <a:lnSpc>
                  <a:spcPct val="100000"/>
                </a:lnSpc>
                <a:spcBef>
                  <a:spcPct val="50000"/>
                </a:spcBef>
                <a:buClrTx/>
                <a:buSzTx/>
                <a:buFontTx/>
                <a:buNone/>
              </a:pPr>
              <a:r>
                <a:rPr lang="en-US" altLang="zh-CN" b="1">
                  <a:solidFill>
                    <a:srgbClr val="000066"/>
                  </a:solidFill>
                  <a:latin typeface="Times New Roman" panose="02020603050405020304" pitchFamily="18" charset="0"/>
                  <a:ea typeface="宋体" panose="02010600030101010101" pitchFamily="2" charset="-122"/>
                  <a:cs typeface="Times New Roman" panose="02020603050405020304" pitchFamily="18" charset="0"/>
                </a:rPr>
                <a:t>3</a:t>
              </a:r>
            </a:p>
          </p:txBody>
        </p:sp>
      </p:grpSp>
      <p:sp>
        <p:nvSpPr>
          <p:cNvPr id="89" name="动作按钮: 后退或前一项 88">
            <a:hlinkClick r:id="rId3" action="ppaction://hlinksldjump" highlightClick="1"/>
          </p:cNvPr>
          <p:cNvSpPr/>
          <p:nvPr/>
        </p:nvSpPr>
        <p:spPr>
          <a:xfrm>
            <a:off x="4546600" y="6037263"/>
            <a:ext cx="1041400" cy="447675"/>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advTm="22792"/>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dirty="0" smtClean="0">
                <a:solidFill>
                  <a:schemeClr val="bg1"/>
                </a:solidFill>
                <a:latin typeface="楷体" panose="02010609060101010101" pitchFamily="49" charset="-122"/>
                <a:ea typeface="楷体" panose="02010609060101010101" pitchFamily="49" charset="-122"/>
              </a:rPr>
              <a:t>讨论</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84995" name="Rectangle 6"/>
          <p:cNvSpPr>
            <a:spLocks noChangeArrowheads="1"/>
          </p:cNvSpPr>
          <p:nvPr/>
        </p:nvSpPr>
        <p:spPr bwMode="auto">
          <a:xfrm>
            <a:off x="342900" y="1295400"/>
            <a:ext cx="8445500"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just" eaLnBrk="1" hangingPunct="1">
              <a:lnSpc>
                <a:spcPct val="150000"/>
              </a:lnSpc>
              <a:spcBef>
                <a:spcPct val="20000"/>
              </a:spcBef>
              <a:buClr>
                <a:srgbClr val="800000"/>
              </a:buClr>
              <a:buSzTx/>
              <a:buFont typeface="Wingdings" panose="05000000000000000000" pitchFamily="2" charset="2"/>
              <a:buChar char="§"/>
            </a:pP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问题二：如何能够避免该问题？</a:t>
            </a:r>
            <a:endParaRPr kumimoji="1" lang="en-US" altLang="zh-CN"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lnSpc>
                <a:spcPct val="150000"/>
              </a:lnSpc>
              <a:spcBef>
                <a:spcPct val="0"/>
              </a:spcBef>
            </a:pP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答：可以采用函数优先的选点搜索方式</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，确保前面搜索的解的质量；或者函数</a:t>
            </a: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和深度优先结合的方式</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，在保证搜索结点的质量的同时，加快搜索进度；或者</a:t>
            </a: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循环深度优先的</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方式，不断从根结点重新尝试新的搜索路径。</a:t>
            </a:r>
            <a:endParaRPr kumimoji="1" lang="en-US" altLang="zh-CN"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spcBef>
                <a:spcPct val="0"/>
              </a:spcBef>
            </a:pPr>
            <a:endParaRPr lang="zh-CN" altLang="en-US" sz="2800" dirty="0"/>
          </a:p>
          <a:p>
            <a:pPr algn="just" eaLnBrk="1" hangingPunct="1">
              <a:lnSpc>
                <a:spcPct val="150000"/>
              </a:lnSpc>
              <a:spcBef>
                <a:spcPct val="20000"/>
              </a:spcBef>
              <a:buClr>
                <a:srgbClr val="800000"/>
              </a:buClr>
              <a:buSzTx/>
              <a:buFont typeface="Wingdings" panose="05000000000000000000" pitchFamily="2" charset="2"/>
              <a:buChar char="§"/>
            </a:pPr>
            <a:endParaRPr kumimoji="1" lang="en-US" altLang="zh-CN"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66607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Text Box 3"/>
          <p:cNvSpPr txBox="1">
            <a:spLocks noChangeArrowheads="1"/>
          </p:cNvSpPr>
          <p:nvPr/>
        </p:nvSpPr>
        <p:spPr bwMode="auto">
          <a:xfrm>
            <a:off x="1423988" y="908050"/>
            <a:ext cx="184150" cy="579438"/>
          </a:xfrm>
          <a:prstGeom prst="rect">
            <a:avLst/>
          </a:prstGeom>
          <a:noFill/>
          <a:ln w="9525">
            <a:noFill/>
            <a:miter lim="800000"/>
          </a:ln>
          <a:effectLst/>
        </p:spPr>
        <p:txBody>
          <a:bodyPr wrap="none">
            <a:spAutoFit/>
          </a:bodyPr>
          <a:lstStyle/>
          <a:p>
            <a:pPr algn="ctr">
              <a:defRPr/>
            </a:pPr>
            <a:endParaRPr lang="zh-CN" altLang="en-US" sz="3200" b="1">
              <a:solidFill>
                <a:srgbClr val="000000"/>
              </a:solidFill>
              <a:effectLst>
                <a:outerShdw blurRad="38100" dist="38100" dir="2700000" algn="tl">
                  <a:srgbClr val="C0C0C0"/>
                </a:outerShdw>
              </a:effectLst>
              <a:latin typeface="Arial" panose="020B0604020202020204" pitchFamily="34" charset="0"/>
              <a:ea typeface="黑体" panose="02010609060101010101" pitchFamily="49" charset="-122"/>
            </a:endParaRPr>
          </a:p>
        </p:txBody>
      </p:sp>
      <p:sp>
        <p:nvSpPr>
          <p:cNvPr id="89" name="动作按钮: 后退或前一项 88">
            <a:hlinkClick r:id="rId3" action="ppaction://hlinksldjump" highlightClick="1"/>
          </p:cNvPr>
          <p:cNvSpPr/>
          <p:nvPr/>
        </p:nvSpPr>
        <p:spPr>
          <a:xfrm>
            <a:off x="4546600" y="6037263"/>
            <a:ext cx="1041400" cy="447675"/>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矩形 1"/>
          <p:cNvSpPr/>
          <p:nvPr/>
        </p:nvSpPr>
        <p:spPr>
          <a:xfrm>
            <a:off x="228601" y="1034627"/>
            <a:ext cx="8915399" cy="4598182"/>
          </a:xfrm>
          <a:prstGeom prst="rect">
            <a:avLst/>
          </a:prstGeom>
        </p:spPr>
        <p:txBody>
          <a:bodyPr wrap="square">
            <a:spAutoFit/>
          </a:bodyPr>
          <a:lstStyle/>
          <a:p>
            <a:pPr eaLnBrk="1" hangingPunct="1">
              <a:spcBef>
                <a:spcPct val="20000"/>
              </a:spcBef>
              <a:buClr>
                <a:srgbClr val="800000"/>
              </a:buClr>
              <a:buSzTx/>
            </a:pP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如果不恢复现场则可能出现这样的问题</a:t>
            </a:r>
            <a:endPar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20000"/>
              </a:spcBef>
              <a:buClr>
                <a:srgbClr val="800000"/>
              </a:buClr>
              <a:buSzTx/>
            </a:pP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例如 </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 = {, 1, 2, 3, 4, 5}</a:t>
            </a:r>
          </a:p>
          <a:p>
            <a:pPr marL="342900" indent="-342900">
              <a:spcBef>
                <a:spcPct val="20000"/>
              </a:spcBef>
              <a:buClr>
                <a:srgbClr val="800000"/>
              </a:buClr>
              <a:buFont typeface="Wingdings" panose="05000000000000000000" pitchFamily="2" charset="2"/>
              <a:buChar char="l"/>
            </a:pP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将</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2-5</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依次交换到</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x[2]</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进行搜索，例如得到了</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 = {, 1,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4, 5</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a:t>
            </a:r>
          </a:p>
          <a:p>
            <a:pPr marL="342900" indent="-342900">
              <a:spcBef>
                <a:spcPct val="20000"/>
              </a:spcBef>
              <a:buClr>
                <a:srgbClr val="800000"/>
              </a:buClr>
              <a:buFont typeface="Wingdings" panose="05000000000000000000" pitchFamily="2" charset="2"/>
              <a:buChar char="l"/>
            </a:pP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搜索</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 = {, 1, </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4, 5</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过程中，可能最后得到</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 = {, 1, </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4</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5}</a:t>
            </a:r>
          </a:p>
          <a:p>
            <a:pPr marL="342900" indent="-342900">
              <a:spcBef>
                <a:spcPct val="20000"/>
              </a:spcBef>
              <a:buClr>
                <a:srgbClr val="800000"/>
              </a:buClr>
              <a:buFont typeface="Wingdings" panose="05000000000000000000" pitchFamily="2" charset="2"/>
              <a:buChar char="l"/>
            </a:pP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1,3</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开头的搜索完后，希望搜索</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1,4</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开头的，但是交换</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x[4]</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到</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x[2] </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得到</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 = {, 1,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4,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5</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，显然</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1,2</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开头的搜索过了，这样部分搜索会重复，部分搜索没有搜索到，所以必须恢复现场。</a:t>
            </a:r>
            <a:endPar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endParaRPr>
          </a:p>
          <a:p>
            <a:pPr>
              <a:spcBef>
                <a:spcPct val="20000"/>
              </a:spcBef>
              <a:buClr>
                <a:srgbClr val="800000"/>
              </a:buClr>
            </a:pPr>
            <a:endPar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endParaRPr>
          </a:p>
          <a:p>
            <a:pPr>
              <a:spcBef>
                <a:spcPct val="20000"/>
              </a:spcBef>
              <a:buClr>
                <a:srgbClr val="800000"/>
              </a:buClr>
            </a:pP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如果恢复现场，则搜索</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 = {, 1, </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4, 5</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以</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1,3</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开头的搜索结束后，会执行恢复现场，变成</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 = {, 1,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4, 5</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，然后将</a:t>
            </a:r>
            <a:r>
              <a:rPr kumimoji="1" lang="zh-CN" altLang="en-US"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交换</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x[4]</a:t>
            </a:r>
            <a:r>
              <a:rPr kumimoji="1" lang="zh-CN" altLang="en-US"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到</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x[2] </a:t>
            </a:r>
            <a:r>
              <a:rPr kumimoji="1" lang="zh-CN" altLang="en-US"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得到</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x = {, 1,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3,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5</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，进而搜索</a:t>
            </a:r>
            <a:r>
              <a:rPr kumimoji="1" lang="en-US" altLang="zh-CN"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1,4</a:t>
            </a:r>
            <a:r>
              <a:rPr kumimoji="1" lang="zh-CN" altLang="en-US" sz="2400" b="1" dirty="0" smtClean="0">
                <a:solidFill>
                  <a:srgbClr val="003366"/>
                </a:solidFill>
                <a:latin typeface="Times New Roman" panose="02020603050405020304" pitchFamily="18" charset="0"/>
                <a:ea typeface="华文楷体" panose="02010600040101010101" pitchFamily="2" charset="-122"/>
                <a:cs typeface="Times New Roman" panose="02020603050405020304" pitchFamily="18" charset="0"/>
              </a:rPr>
              <a:t>开头的空间。</a:t>
            </a:r>
            <a:endParaRPr kumimoji="1" lang="en-US" altLang="zh-CN" sz="2400" b="1" dirty="0">
              <a:solidFill>
                <a:srgbClr val="0033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655579373"/>
      </p:ext>
    </p:extLst>
  </p:cSld>
  <p:clrMapOvr>
    <a:masterClrMapping/>
  </p:clrMapOvr>
  <p:transition advTm="22792"/>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43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431"/>
</p:tagLst>
</file>

<file path=ppt/tags/tag3.xml><?xml version="1.0" encoding="utf-8"?>
<p:tagLst xmlns:a="http://schemas.openxmlformats.org/drawingml/2006/main" xmlns:r="http://schemas.openxmlformats.org/officeDocument/2006/relationships" xmlns:p="http://schemas.openxmlformats.org/presentationml/2006/main">
  <p:tag name="KSO_WM_TEMPLATE_THUMBS_INDEX" val="1、8、11、14、15、16、20、25、29"/>
  <p:tag name="KSO_WM_TEMPLATE_CATEGORY" val="custom"/>
  <p:tag name="KSO_WM_TEMPLATE_INDEX" val="16043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TEMPLATE_THUMBS_INDEX" val="1、8、11、14、15、16、20、25、29"/>
  <p:tag name="KSO_WM_TEMPLATE_CATEGORY" val="custom"/>
  <p:tag name="KSO_WM_TEMPLATE_INDEX" val="160431"/>
  <p:tag name="KSO_WM_TAG_VERSION" val="1.0"/>
  <p:tag name="KSO_WM_SLIDE_ID" val="custom160431_1"/>
  <p:tag name="KSO_WM_SLIDE_INDEX" val="1"/>
  <p:tag name="KSO_WM_SLIDE_ITEM_CNT" val="2"/>
  <p:tag name="KSO_WM_SLIDE_LAYOUT" val="a_b"/>
  <p:tag name="KSO_WM_SLIDE_LAYOUT_CNT" val="1_1"/>
  <p:tag name="KSO_WM_SLIDE_TYPE" val="title"/>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31"/>
  <p:tag name="KSO_WM_UNIT_TYPE" val="b"/>
  <p:tag name="KSO_WM_UNIT_INDEX" val="1"/>
  <p:tag name="KSO_WM_UNIT_ID" val="custom160431_1*b*1"/>
  <p:tag name="KSO_WM_UNIT_CLEAR" val="1"/>
  <p:tag name="KSO_WM_UNIT_LAYERLEVEL" val="1"/>
  <p:tag name="KSO_WM_UNIT_VALUE" val="35"/>
  <p:tag name="KSO_WM_UNIT_ISCONTENTSTITLE" val="0"/>
  <p:tag name="KSO_WM_UNIT_HIGHLIGHT" val="0"/>
  <p:tag name="KSO_WM_UNIT_COMPATIBLE" val="0"/>
  <p:tag name="KSO_WM_UNIT_PRESET_TEXT_INDEX" val="3"/>
  <p:tag name="KSO_WM_UNIT_PRESET_TEXT_LEN" val="17"/>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31"/>
  <p:tag name="KSO_WM_UNIT_TYPE" val="a"/>
  <p:tag name="KSO_WM_UNIT_INDEX" val="1"/>
  <p:tag name="KSO_WM_UNIT_ID" val="custom160431_1*a*1"/>
  <p:tag name="KSO_WM_UNIT_CLEAR" val="1"/>
  <p:tag name="KSO_WM_UNIT_LAYERLEVEL" val="1"/>
  <p:tag name="KSO_WM_UNIT_VALUE" val="44"/>
  <p:tag name="KSO_WM_UNIT_ISCONTENTSTITLE" val="0"/>
  <p:tag name="KSO_WM_UNIT_HIGHLIGHT" val="0"/>
  <p:tag name="KSO_WM_UNIT_COMPATIBLE" val="0"/>
  <p:tag name="KSO_WM_UNIT_PRESET_TEXT_INDEX" val="3"/>
  <p:tag name="KSO_WM_UNIT_PRESET_TEXT_LEN" val="17"/>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31"/>
  <p:tag name="KSO_WM_UNIT_TYPE" val="a"/>
  <p:tag name="KSO_WM_UNIT_INDEX" val="1"/>
  <p:tag name="KSO_WM_UNIT_ID" val="custom160431_1*a*1"/>
  <p:tag name="KSO_WM_UNIT_CLEAR" val="1"/>
  <p:tag name="KSO_WM_UNIT_LAYERLEVEL" val="1"/>
  <p:tag name="KSO_WM_UNIT_VALUE" val="44"/>
  <p:tag name="KSO_WM_UNIT_ISCONTENTSTITLE" val="0"/>
  <p:tag name="KSO_WM_UNIT_HIGHLIGHT" val="0"/>
  <p:tag name="KSO_WM_UNIT_COMPATIBLE" val="0"/>
  <p:tag name="KSO_WM_UNIT_PRESET_TEXT_INDEX" val="3"/>
  <p:tag name="KSO_WM_UNIT_PRESET_TEXT_LEN" val="17"/>
</p:tagLst>
</file>

<file path=ppt/tags/tag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36.7"/>
</p:tagLst>
</file>

<file path=ppt/tags/tag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1.4"/>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2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4.xml><?xml version="1.0" encoding="utf-8"?>
<p:tagLst xmlns:a="http://schemas.openxmlformats.org/drawingml/2006/main" xmlns:r="http://schemas.openxmlformats.org/officeDocument/2006/relationships" xmlns:p="http://schemas.openxmlformats.org/presentationml/2006/main">
  <p:tag name="TIMING" val="|13.7"/>
</p:tagLst>
</file>

<file path=ppt/tags/tag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A000120141119A01PPBG">
  <a:themeElements>
    <a:clrScheme name="146">
      <a:dk1>
        <a:srgbClr val="5F5F5F"/>
      </a:dk1>
      <a:lt1>
        <a:srgbClr val="FFFFFF"/>
      </a:lt1>
      <a:dk2>
        <a:srgbClr val="4D4D4D"/>
      </a:dk2>
      <a:lt2>
        <a:srgbClr val="FFFFFF"/>
      </a:lt2>
      <a:accent1>
        <a:srgbClr val="C15011"/>
      </a:accent1>
      <a:accent2>
        <a:srgbClr val="92944E"/>
      </a:accent2>
      <a:accent3>
        <a:srgbClr val="CDAF31"/>
      </a:accent3>
      <a:accent4>
        <a:srgbClr val="618499"/>
      </a:accent4>
      <a:accent5>
        <a:srgbClr val="047BCC"/>
      </a:accent5>
      <a:accent6>
        <a:srgbClr val="7EC234"/>
      </a:accent6>
      <a:hlink>
        <a:srgbClr val="800000"/>
      </a:hlink>
      <a:folHlink>
        <a:srgbClr val="D3A219"/>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lipFill rotWithShape="0">
          <a:blip xmlns:r="http://schemas.openxmlformats.org/officeDocument/2006/relationships" r:embed="rId1" cstate="print"/>
          <a:stretch>
            <a:fillRect/>
          </a:stretch>
        </a:blipFill>
      </a:spPr>
      <a:bodyPr/>
      <a:lstStyle>
        <a:defPPr fontAlgn="auto">
          <a:spcBef>
            <a:spcPts val="0"/>
          </a:spcBef>
          <a:spcAft>
            <a:spcPts val="0"/>
          </a:spcAft>
          <a:defRPr>
            <a:noFill/>
            <a:latin typeface="+mn-lt"/>
            <a:ea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1020</TotalTime>
  <Words>14655</Words>
  <Application>Microsoft Office PowerPoint</Application>
  <PresentationFormat>全屏显示(4:3)</PresentationFormat>
  <Paragraphs>1793</Paragraphs>
  <Slides>80</Slides>
  <Notes>80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80</vt:i4>
      </vt:variant>
    </vt:vector>
  </HeadingPairs>
  <TitlesOfParts>
    <vt:vector size="98" baseType="lpstr">
      <vt:lpstr>Gungsuh</vt:lpstr>
      <vt:lpstr>新細明體</vt:lpstr>
      <vt:lpstr>新細明體</vt:lpstr>
      <vt:lpstr>等线</vt:lpstr>
      <vt:lpstr>黑体</vt:lpstr>
      <vt:lpstr>华文楷体</vt:lpstr>
      <vt:lpstr>华文中宋</vt:lpstr>
      <vt:lpstr>楷体</vt:lpstr>
      <vt:lpstr>楷体_GB2312</vt:lpstr>
      <vt:lpstr>宋体</vt:lpstr>
      <vt:lpstr>Arial</vt:lpstr>
      <vt:lpstr>Calibri</vt:lpstr>
      <vt:lpstr>Symbol</vt:lpstr>
      <vt:lpstr>Times New Roman</vt:lpstr>
      <vt:lpstr>Wingdings</vt:lpstr>
      <vt:lpstr>A000120141119A01PPBG</vt:lpstr>
      <vt:lpstr>Microsoft 公式 3.0</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Hung-yi Lee</dc:creator>
  <cp:lastModifiedBy>jianchao luo</cp:lastModifiedBy>
  <cp:revision>2010</cp:revision>
  <dcterms:created xsi:type="dcterms:W3CDTF">2016-10-09T14:12:00Z</dcterms:created>
  <dcterms:modified xsi:type="dcterms:W3CDTF">2025-10-10T03:11:35Z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2052-11.8.6.8810</vt:lpwstr>
  </property>
</Properties>
</file>