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tiff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cs.stanford.edu/people/karpathy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课程简介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课程要求</a:t>
            </a:r>
            <a:endParaRPr lang="en-US" dirty="0"/>
          </a:p>
          <a:p>
            <a:r>
              <a:rPr lang="zh-CN" altLang="en-US" dirty="0"/>
              <a:t>课程教材</a:t>
            </a:r>
            <a:endParaRPr lang="en-US" altLang="zh-CN" dirty="0"/>
          </a:p>
          <a:p>
            <a:r>
              <a:rPr lang="zh-CN" altLang="en-US" dirty="0"/>
              <a:t>课程参考</a:t>
            </a:r>
            <a:r>
              <a:rPr lang="en-US" altLang="zh-CN" dirty="0"/>
              <a:t>PPT</a:t>
            </a:r>
            <a:endParaRPr lang="en-US" dirty="0"/>
          </a:p>
          <a:p>
            <a:r>
              <a:rPr lang="zh-CN" altLang="en-US" dirty="0"/>
              <a:t>课程考核标准</a:t>
            </a:r>
            <a:endParaRPr lang="en-US" dirty="0"/>
          </a:p>
          <a:p>
            <a:r>
              <a:rPr lang="zh-CN" altLang="en-US" dirty="0"/>
              <a:t>课程目标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课程要求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课程预先要求知识：</a:t>
            </a:r>
            <a:endParaRPr lang="en-US" sz="2400" dirty="0"/>
          </a:p>
          <a:p>
            <a:pPr lvl="1"/>
            <a:r>
              <a:rPr lang="zh-CN" altLang="en-US" sz="2000" dirty="0"/>
              <a:t>概率论</a:t>
            </a:r>
            <a:endParaRPr lang="en-US" sz="2000" dirty="0"/>
          </a:p>
          <a:p>
            <a:pPr lvl="1"/>
            <a:r>
              <a:rPr lang="zh-CN" altLang="en-US" sz="2000" dirty="0"/>
              <a:t>线性代数</a:t>
            </a:r>
            <a:r>
              <a:rPr lang="en-US" sz="2000" dirty="0"/>
              <a:t> </a:t>
            </a:r>
            <a:endParaRPr lang="en-US" sz="2000" dirty="0"/>
          </a:p>
          <a:p>
            <a:pPr lvl="1"/>
            <a:r>
              <a:rPr lang="zh-CN" altLang="en-US" sz="2000" dirty="0"/>
              <a:t>多元微积分</a:t>
            </a:r>
            <a:endParaRPr lang="en-US" altLang="zh-CN" sz="2000" dirty="0"/>
          </a:p>
          <a:p>
            <a:pPr lvl="1"/>
            <a:r>
              <a:rPr lang="en-US" altLang="zh-CN" sz="2000" dirty="0"/>
              <a:t>Python</a:t>
            </a:r>
            <a:r>
              <a:rPr lang="zh-CN" altLang="en-US" sz="2000" dirty="0"/>
              <a:t>语言</a:t>
            </a:r>
            <a:r>
              <a:rPr lang="en-US" altLang="zh-CN" sz="2000" dirty="0"/>
              <a:t>(</a:t>
            </a:r>
            <a:r>
              <a:rPr lang="en-US" altLang="zh-CN" sz="2000" dirty="0" err="1"/>
              <a:t>Matlab</a:t>
            </a:r>
            <a:r>
              <a:rPr lang="en-US" altLang="zh-CN" sz="2000" dirty="0"/>
              <a:t>)</a:t>
            </a:r>
            <a:endParaRPr lang="en-US" sz="2000" dirty="0"/>
          </a:p>
          <a:p>
            <a:r>
              <a:rPr lang="zh-CN" altLang="en-US" sz="2400" dirty="0"/>
              <a:t>不要求图像处理，计算机视觉和计算机图形学知识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Richard </a:t>
            </a:r>
            <a:r>
              <a:rPr lang="en-US" altLang="zh-CN" dirty="0" err="1"/>
              <a:t>Szeliski</a:t>
            </a:r>
            <a:r>
              <a:rPr lang="zh-CN" altLang="en-US" dirty="0"/>
              <a:t> </a:t>
            </a:r>
            <a:r>
              <a:rPr lang="en-US" altLang="zh-CN" dirty="0"/>
              <a:t> Computer Vision: Algorithms and Applications 2</a:t>
            </a:r>
            <a:r>
              <a:rPr lang="en-US" altLang="zh-CN" baseline="30000" dirty="0"/>
              <a:t>nd</a:t>
            </a:r>
            <a:r>
              <a:rPr lang="en-US" altLang="zh-CN" dirty="0"/>
              <a:t> Edition. 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E.</a:t>
            </a:r>
            <a:r>
              <a:rPr lang="zh-CN" altLang="en-US" dirty="0"/>
              <a:t> </a:t>
            </a:r>
            <a:r>
              <a:rPr lang="en-US" altLang="zh-CN" dirty="0"/>
              <a:t>R.</a:t>
            </a:r>
            <a:r>
              <a:rPr lang="zh-CN" altLang="en-US" dirty="0"/>
              <a:t> </a:t>
            </a:r>
            <a:r>
              <a:rPr lang="en-US" altLang="zh-CN" dirty="0"/>
              <a:t>Davies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Vision:</a:t>
            </a:r>
            <a:r>
              <a:rPr lang="zh-CN" altLang="en-US" dirty="0"/>
              <a:t> </a:t>
            </a:r>
            <a:r>
              <a:rPr lang="en-US" altLang="zh-CN" dirty="0"/>
              <a:t>Principles,</a:t>
            </a:r>
            <a:r>
              <a:rPr lang="zh-CN" altLang="en-US" dirty="0"/>
              <a:t> </a:t>
            </a:r>
            <a:r>
              <a:rPr lang="en-US" altLang="zh-CN" dirty="0"/>
              <a:t>Algorithms,</a:t>
            </a:r>
            <a:r>
              <a:rPr lang="zh-CN" altLang="en-US" dirty="0"/>
              <a:t> </a:t>
            </a:r>
            <a:r>
              <a:rPr lang="en-US" altLang="zh-CN" dirty="0"/>
              <a:t>Applications,</a:t>
            </a:r>
            <a:r>
              <a:rPr lang="zh-CN" altLang="en-US" dirty="0"/>
              <a:t> </a:t>
            </a:r>
            <a:r>
              <a:rPr lang="en-US" altLang="zh-CN" dirty="0"/>
              <a:t>Learning(5</a:t>
            </a:r>
            <a:r>
              <a:rPr lang="en-US" altLang="zh-CN" baseline="30000" dirty="0"/>
              <a:t>th</a:t>
            </a:r>
            <a:r>
              <a:rPr lang="zh-CN" altLang="en-US" dirty="0"/>
              <a:t>  </a:t>
            </a:r>
            <a:r>
              <a:rPr lang="en-US" altLang="zh-CN" dirty="0"/>
              <a:t>Edition)</a:t>
            </a:r>
            <a:endParaRPr lang="en-US" altLang="zh-CN" dirty="0"/>
          </a:p>
          <a:p>
            <a:r>
              <a:rPr lang="en-US" altLang="zh-CN" dirty="0"/>
              <a:t>3.Simon</a:t>
            </a:r>
            <a:r>
              <a:rPr lang="zh-CN" altLang="en-US" dirty="0"/>
              <a:t> </a:t>
            </a:r>
            <a:r>
              <a:rPr lang="en-US" altLang="zh-CN" dirty="0"/>
              <a:t>J.D. Prince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Vision:</a:t>
            </a:r>
            <a:r>
              <a:rPr lang="zh-CN" altLang="en-US" dirty="0"/>
              <a:t> </a:t>
            </a:r>
            <a:r>
              <a:rPr lang="en-US" altLang="zh-CN" dirty="0"/>
              <a:t>Models,</a:t>
            </a:r>
            <a:r>
              <a:rPr lang="zh-CN" altLang="en-US" dirty="0"/>
              <a:t> </a:t>
            </a:r>
            <a:r>
              <a:rPr lang="en-US" altLang="zh-CN" dirty="0"/>
              <a:t>Learning,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Inference</a:t>
            </a:r>
            <a:endParaRPr lang="en-US" dirty="0"/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dirty="0"/>
              <a:t>Forsyth and Ponce, Computer Vision: A Modern Approach </a:t>
            </a: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en-US" altLang="zh-CN" dirty="0"/>
              <a:t> Edition</a:t>
            </a:r>
            <a:r>
              <a:rPr lang="en-US" dirty="0"/>
              <a:t>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Rick </a:t>
            </a:r>
            <a:r>
              <a:rPr lang="en-US" altLang="zh-CN" dirty="0" err="1"/>
              <a:t>Szeliski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计算机视觉</a:t>
            </a:r>
            <a:r>
              <a:rPr lang="en-US" altLang="zh-CN" dirty="0"/>
              <a:t>: </a:t>
            </a:r>
            <a:r>
              <a:rPr lang="zh-CN" altLang="en-US" dirty="0"/>
              <a:t>算法与应用</a:t>
            </a:r>
            <a:r>
              <a:rPr lang="en-US" altLang="zh-CN" dirty="0"/>
              <a:t> </a:t>
            </a:r>
            <a:r>
              <a:rPr lang="zh-CN" altLang="en-US" dirty="0"/>
              <a:t>第二版</a:t>
            </a:r>
            <a:endParaRPr lang="en-US" altLang="zh-CN" dirty="0"/>
          </a:p>
          <a:p>
            <a:pPr marL="0" indent="0">
              <a:buNone/>
            </a:pPr>
            <a:r>
              <a:rPr kumimoji="1" lang="zh-CN" altLang="en-US" dirty="0"/>
              <a:t>   艾海舟等译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清华大学出版社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255838"/>
            <a:ext cx="3840162" cy="3840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E.</a:t>
            </a:r>
            <a:r>
              <a:rPr lang="zh-CN" altLang="en-US" dirty="0"/>
              <a:t> </a:t>
            </a:r>
            <a:r>
              <a:rPr lang="en-US" altLang="zh-CN" dirty="0"/>
              <a:t>R.</a:t>
            </a:r>
            <a:r>
              <a:rPr lang="zh-CN" altLang="en-US" dirty="0"/>
              <a:t> </a:t>
            </a:r>
            <a:r>
              <a:rPr lang="en-US" altLang="zh-CN" dirty="0"/>
              <a:t>Davies</a:t>
            </a:r>
            <a:r>
              <a:rPr lang="zh-CN" altLang="en-US" dirty="0"/>
              <a:t> 计算机视觉：原理、算法、应用及学习（第五版）</a:t>
            </a:r>
            <a:endParaRPr lang="en-US" altLang="zh-CN" dirty="0"/>
          </a:p>
          <a:p>
            <a:pPr marL="0" indent="0">
              <a:buNone/>
            </a:pPr>
            <a:r>
              <a:rPr kumimoji="1" lang="zh-CN" altLang="en-US" dirty="0"/>
              <a:t>    机械工业出版社</a:t>
            </a:r>
            <a:endParaRPr kumimoji="1" lang="zh-CN" altLang="en-US" dirty="0"/>
          </a:p>
        </p:txBody>
      </p:sp>
      <p:pic>
        <p:nvPicPr>
          <p:cNvPr id="1025" name="Picture 1" descr="page1image6265428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276600"/>
            <a:ext cx="2533650" cy="312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03" y="2943001"/>
            <a:ext cx="3526397" cy="3526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参考书一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西蒙 </a:t>
            </a:r>
            <a:r>
              <a:rPr lang="en-US" altLang="zh-CN" dirty="0"/>
              <a:t>J.D. </a:t>
            </a:r>
            <a:r>
              <a:rPr lang="zh-CN" altLang="en-US" dirty="0"/>
              <a:t>普林斯 计算机视觉 </a:t>
            </a:r>
            <a:r>
              <a:rPr lang="en-US" altLang="zh-CN" dirty="0"/>
              <a:t>: </a:t>
            </a:r>
            <a:r>
              <a:rPr lang="zh-CN" altLang="en-US" dirty="0"/>
              <a:t>模型、学习和推理</a:t>
            </a:r>
            <a:endParaRPr lang="en-US" altLang="zh-CN" dirty="0"/>
          </a:p>
          <a:p>
            <a:pPr marL="0" indent="0">
              <a:buNone/>
            </a:pPr>
            <a:r>
              <a:rPr kumimoji="1" lang="zh-CN" altLang="en-US" dirty="0"/>
              <a:t>    机械工业出版社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209800"/>
            <a:ext cx="42672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参考书二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Forsyth and Ponce</a:t>
            </a:r>
            <a:r>
              <a:rPr lang="zh-CN" altLang="en-US" b="1" dirty="0"/>
              <a:t>计算机视觉</a:t>
            </a:r>
            <a:r>
              <a:rPr lang="en-US" altLang="zh-CN" b="1" dirty="0"/>
              <a:t>——</a:t>
            </a:r>
            <a:r>
              <a:rPr lang="zh-CN" altLang="en-US" b="1" dirty="0"/>
              <a:t>一种现代方法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   电子工业出版社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2209800"/>
            <a:ext cx="383540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讲义</a:t>
            </a:r>
            <a:r>
              <a:rPr lang="en-US" dirty="0"/>
              <a:t>PPT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主要参考</a:t>
            </a:r>
            <a:r>
              <a:rPr lang="en-US" dirty="0"/>
              <a:t> PPT 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1.Prof. Trevor Darrell’s</a:t>
            </a:r>
            <a:r>
              <a:rPr lang="zh-CN" altLang="en-US" dirty="0"/>
              <a:t> </a:t>
            </a:r>
            <a:r>
              <a:rPr lang="en-US" altLang="zh-CN" dirty="0"/>
              <a:t>C280 , </a:t>
            </a:r>
            <a:r>
              <a:rPr lang="en-US" altLang="zh-CN" u="sng" dirty="0"/>
              <a:t>Computer Vision.</a:t>
            </a:r>
            <a:endParaRPr lang="en-US" altLang="zh-CN" u="sng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2.</a:t>
            </a:r>
            <a:r>
              <a:rPr lang="en-US" dirty="0"/>
              <a:t>Rick </a:t>
            </a:r>
            <a:r>
              <a:rPr lang="en-US" dirty="0" err="1"/>
              <a:t>Szeliski’s</a:t>
            </a:r>
            <a:r>
              <a:rPr lang="en-US" dirty="0"/>
              <a:t> </a:t>
            </a:r>
            <a:r>
              <a:rPr lang="en-US" altLang="zh-CN" dirty="0"/>
              <a:t>CSE 576</a:t>
            </a:r>
            <a:r>
              <a:rPr lang="en-US" dirty="0"/>
              <a:t>; </a:t>
            </a:r>
            <a:r>
              <a:rPr lang="zh-CN" altLang="en-US" dirty="0"/>
              <a:t> </a:t>
            </a:r>
            <a:r>
              <a:rPr lang="en-US" u="sng" dirty="0">
                <a:solidFill>
                  <a:srgbClr val="0070C0"/>
                </a:solidFill>
              </a:rPr>
              <a:t>https://courses.cs.washington.edu/courses/cse576/20sp/calendar/</a:t>
            </a:r>
            <a:r>
              <a:rPr lang="en-US" dirty="0">
                <a:solidFill>
                  <a:srgbClr val="0070C0"/>
                </a:solidFill>
              </a:rPr>
              <a:t>   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CN" altLang="en-US" u="sng" dirty="0"/>
              <a:t>   </a:t>
            </a:r>
            <a:r>
              <a:rPr lang="en-US" altLang="zh-CN" u="sng" dirty="0"/>
              <a:t>3.Justin</a:t>
            </a:r>
            <a:r>
              <a:rPr lang="en-US" altLang="zh-CN" u="sng" dirty="0">
                <a:hlinkClick r:id="rId1"/>
              </a:rPr>
              <a:t> </a:t>
            </a:r>
            <a:r>
              <a:rPr lang="en-US" altLang="zh-CN" u="sng" dirty="0"/>
              <a:t>Johnson</a:t>
            </a:r>
            <a:r>
              <a:rPr lang="en-US" altLang="zh-CN" dirty="0"/>
              <a:t>’s</a:t>
            </a:r>
            <a:r>
              <a:rPr lang="zh-CN" altLang="en-US" dirty="0"/>
              <a:t> </a:t>
            </a:r>
            <a:r>
              <a:rPr lang="en-US" altLang="zh-CN" dirty="0"/>
              <a:t>EECS 498-007 , </a:t>
            </a:r>
            <a:r>
              <a:rPr lang="en-US" altLang="zh-CN" u="sng" dirty="0"/>
              <a:t>Deep Learning for Computer Vision.</a:t>
            </a:r>
            <a:endParaRPr lang="en-US" altLang="zh-CN" u="sng" dirty="0"/>
          </a:p>
          <a:p>
            <a:pPr marL="0" indent="0">
              <a:buNone/>
            </a:pPr>
            <a:r>
              <a:rPr lang="en-US" u="sng" dirty="0">
                <a:solidFill>
                  <a:srgbClr val="0070C0"/>
                </a:solidFill>
              </a:rPr>
              <a:t>https://web.eecs.umich.edu/~justincj/teaching/eecs498/FA2020/schedule.html</a:t>
            </a:r>
            <a:endParaRPr lang="en-US" u="sng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r>
              <a:rPr lang="en-US" altLang="zh-CN" dirty="0"/>
              <a:t> PPT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623852"/>
            <a:ext cx="8259177" cy="4510087"/>
          </a:xfrm>
          <a:prstGeom prst="rect">
            <a:avLst/>
          </a:prstGeom>
        </p:spPr>
      </p:pic>
      <p:pic>
        <p:nvPicPr>
          <p:cNvPr id="6" name="Content Placeholder 8" descr="Szeliski_Jan07_smal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39200" y="76200"/>
            <a:ext cx="1751351" cy="2335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r>
              <a:rPr lang="en-US" altLang="zh-CN" dirty="0"/>
              <a:t> PPT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390" y="1635711"/>
            <a:ext cx="8265219" cy="4513386"/>
          </a:xfrm>
          <a:prstGeom prst="rect">
            <a:avLst/>
          </a:prstGeom>
        </p:spPr>
      </p:pic>
      <p:sp>
        <p:nvSpPr>
          <p:cNvPr id="5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524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课程考核标准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课程考核</a:t>
            </a:r>
            <a:endParaRPr lang="en-US" sz="2400" dirty="0"/>
          </a:p>
          <a:p>
            <a:pPr lvl="1"/>
            <a:r>
              <a:rPr lang="zh-CN" altLang="en-US" sz="2000" dirty="0"/>
              <a:t>考勤</a:t>
            </a:r>
            <a:r>
              <a:rPr lang="en-US" sz="2000" dirty="0"/>
              <a:t>                       </a:t>
            </a:r>
            <a:r>
              <a:rPr lang="zh-CN" altLang="en-US" sz="2000" dirty="0"/>
              <a:t>                         </a:t>
            </a:r>
            <a:r>
              <a:rPr lang="en-US" altLang="zh-CN" sz="2000" dirty="0"/>
              <a:t>5</a:t>
            </a:r>
            <a:r>
              <a:rPr lang="en-US" sz="2000" dirty="0"/>
              <a:t>%</a:t>
            </a:r>
            <a:endParaRPr lang="en-US" sz="2000" dirty="0"/>
          </a:p>
          <a:p>
            <a:pPr lvl="1"/>
            <a:r>
              <a:rPr lang="zh-CN" altLang="en-US" sz="2000" dirty="0"/>
              <a:t>平时作业</a:t>
            </a:r>
            <a:r>
              <a:rPr lang="en-US" altLang="zh-CN" sz="2000" dirty="0"/>
              <a:t>+</a:t>
            </a:r>
            <a:r>
              <a:rPr lang="zh-CN" altLang="en-US" sz="2000" dirty="0"/>
              <a:t>实验</a:t>
            </a:r>
            <a:r>
              <a:rPr lang="en-US" altLang="zh-CN" sz="2000" dirty="0"/>
              <a:t>          </a:t>
            </a:r>
            <a:r>
              <a:rPr lang="zh-CN" altLang="en-US" sz="2000" dirty="0"/>
              <a:t>                  </a:t>
            </a:r>
            <a:r>
              <a:rPr lang="en-US" altLang="zh-CN" sz="2000" dirty="0"/>
              <a:t>25%</a:t>
            </a:r>
            <a:endParaRPr lang="en-US" altLang="zh-CN" sz="2000" dirty="0"/>
          </a:p>
          <a:p>
            <a:pPr lvl="1"/>
            <a:r>
              <a:rPr lang="zh-CN" altLang="en-US" sz="2000" dirty="0"/>
              <a:t>期末考试     </a:t>
            </a:r>
            <a:r>
              <a:rPr lang="en-US" altLang="zh-CN" sz="2000" dirty="0"/>
              <a:t>7</a:t>
            </a:r>
            <a:r>
              <a:rPr lang="en-US" sz="2000" dirty="0"/>
              <a:t>0%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考勤</a:t>
            </a:r>
            <a:r>
              <a:rPr lang="en-US" altLang="zh-CN" dirty="0"/>
              <a:t>(</a:t>
            </a:r>
            <a:r>
              <a:rPr lang="en-US" altLang="zh-CN" b="1" dirty="0"/>
              <a:t>5%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课堂出勤</a:t>
            </a:r>
            <a:endParaRPr lang="en-US" sz="2800" dirty="0"/>
          </a:p>
          <a:p>
            <a:pPr lvl="1"/>
            <a:r>
              <a:rPr lang="zh-CN" altLang="en-US" sz="2400" dirty="0"/>
              <a:t>形式</a:t>
            </a:r>
            <a:endParaRPr lang="en-US" altLang="zh-CN" sz="2400" dirty="0"/>
          </a:p>
          <a:p>
            <a:pPr lvl="2"/>
            <a:r>
              <a:rPr lang="zh-CN" altLang="en-US" sz="2000" dirty="0"/>
              <a:t>随机点名</a:t>
            </a:r>
            <a:endParaRPr lang="en-US" sz="2000" dirty="0"/>
          </a:p>
          <a:p>
            <a:pPr lvl="1"/>
            <a:r>
              <a:rPr lang="zh-CN" altLang="en-US" sz="2400" dirty="0"/>
              <a:t>成绩评定</a:t>
            </a:r>
            <a:endParaRPr lang="en-US" altLang="zh-CN" sz="2400" dirty="0"/>
          </a:p>
          <a:p>
            <a:pPr lvl="2"/>
            <a:r>
              <a:rPr lang="en-US" dirty="0"/>
              <a:t> </a:t>
            </a:r>
            <a:r>
              <a:rPr lang="zh-CN" altLang="en-US" sz="2000" dirty="0"/>
              <a:t>一次未到：</a:t>
            </a:r>
            <a:r>
              <a:rPr lang="en-US" altLang="zh-CN" sz="2000" dirty="0"/>
              <a:t>-20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effectLst/>
              </a:rPr>
              <a:t>     作业（</a:t>
            </a:r>
            <a:r>
              <a:rPr lang="en-US" altLang="zh-CN" b="1" dirty="0"/>
              <a:t> 10%-15%</a:t>
            </a:r>
            <a:r>
              <a:rPr lang="zh-CN" altLang="en-US" b="1" dirty="0"/>
              <a:t>）</a:t>
            </a:r>
            <a:endParaRPr lang="zh-CN" altLang="en-US" dirty="0"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dirty="0"/>
              <a:t>课堂作业</a:t>
            </a:r>
            <a:endParaRPr lang="zh-CN" altLang="en-US" sz="28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形式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每两周一次（共</a:t>
            </a:r>
            <a:r>
              <a:rPr lang="en-US" altLang="zh-CN" sz="2000" dirty="0"/>
              <a:t>3</a:t>
            </a:r>
            <a:r>
              <a:rPr lang="zh-CN" altLang="en-US" sz="2000" dirty="0"/>
              <a:t>次），完成期限一周</a:t>
            </a:r>
            <a:endParaRPr lang="zh-CN" altLang="en-US" sz="20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内容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课程重点内容练习，使用</a:t>
            </a:r>
            <a:r>
              <a:rPr lang="en-US" altLang="zh-CN" sz="2000" dirty="0" err="1"/>
              <a:t>matlab</a:t>
            </a:r>
            <a:r>
              <a:rPr lang="en-US" altLang="zh-CN" sz="2000" dirty="0"/>
              <a:t>/python</a:t>
            </a:r>
            <a:r>
              <a:rPr lang="zh-CN" altLang="en-US" sz="2000" dirty="0"/>
              <a:t>编程实现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华为昇腾平台实验</a:t>
            </a:r>
            <a:endParaRPr lang="en-US" altLang="zh-CN" sz="20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成绩评定（共</a:t>
            </a:r>
            <a:r>
              <a:rPr lang="en-US" altLang="zh-CN" sz="2400" dirty="0"/>
              <a:t>3</a:t>
            </a:r>
            <a:r>
              <a:rPr lang="zh-CN" altLang="en-US" sz="2400" dirty="0"/>
              <a:t>次）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未完成</a:t>
            </a:r>
            <a:r>
              <a:rPr lang="en-US" altLang="zh-CN" sz="2000" dirty="0"/>
              <a:t>0</a:t>
            </a:r>
            <a:r>
              <a:rPr lang="zh-CN" altLang="en-US" sz="2000" dirty="0"/>
              <a:t>分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完成不好酌情减分</a:t>
            </a:r>
            <a:endParaRPr lang="zh-CN" altLang="en-US" sz="2000" dirty="0"/>
          </a:p>
          <a:p>
            <a:pPr>
              <a:lnSpc>
                <a:spcPct val="80000"/>
              </a:lnSpc>
            </a:pPr>
            <a:endParaRPr lang="zh-CN" altLang="en-US" sz="28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effectLst/>
              </a:rPr>
              <a:t>实验（</a:t>
            </a:r>
            <a:r>
              <a:rPr lang="en-US" altLang="zh-CN" b="1" dirty="0">
                <a:effectLst/>
              </a:rPr>
              <a:t>10</a:t>
            </a:r>
            <a:r>
              <a:rPr lang="en-US" altLang="zh-CN" b="1" dirty="0"/>
              <a:t>%</a:t>
            </a:r>
            <a:r>
              <a:rPr lang="zh-CN" altLang="en-US" b="1" dirty="0"/>
              <a:t>）</a:t>
            </a:r>
            <a:endParaRPr lang="zh-CN" altLang="en-US" dirty="0"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dirty="0"/>
              <a:t>两次实验</a:t>
            </a:r>
            <a:endParaRPr lang="zh-CN" altLang="en-US" sz="28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形式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上机实验（共</a:t>
            </a:r>
            <a:r>
              <a:rPr lang="en-US" altLang="zh-CN" sz="2000" dirty="0"/>
              <a:t>2</a:t>
            </a:r>
            <a:r>
              <a:rPr lang="zh-CN" altLang="en-US" sz="2000" dirty="0"/>
              <a:t>次）</a:t>
            </a:r>
            <a:endParaRPr lang="zh-CN" altLang="en-US" sz="28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内容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华为</a:t>
            </a:r>
            <a:r>
              <a:rPr lang="en-US" altLang="zh-CN" sz="2000" dirty="0"/>
              <a:t>AI</a:t>
            </a:r>
            <a:r>
              <a:rPr lang="zh-CN" altLang="en-US" sz="2000" dirty="0"/>
              <a:t>平台实验</a:t>
            </a:r>
            <a:endParaRPr lang="en-US" altLang="zh-CN" sz="2000" dirty="0"/>
          </a:p>
          <a:p>
            <a:pPr marL="914400" lvl="2" indent="0">
              <a:lnSpc>
                <a:spcPct val="80000"/>
              </a:lnSpc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1.</a:t>
            </a:r>
            <a:r>
              <a:rPr lang="zh-CN" altLang="en-US" sz="2000" dirty="0"/>
              <a:t> 物体识别    分类模型                    </a:t>
            </a:r>
            <a:r>
              <a:rPr lang="en-US" altLang="zh-CN" sz="2000" dirty="0"/>
              <a:t>4</a:t>
            </a:r>
            <a:r>
              <a:rPr lang="zh-CN" altLang="en-US" sz="2000" dirty="0"/>
              <a:t>课时</a:t>
            </a:r>
            <a:endParaRPr lang="en-US" altLang="zh-CN" sz="2000" dirty="0"/>
          </a:p>
          <a:p>
            <a:pPr marL="914400" lvl="2" indent="0">
              <a:lnSpc>
                <a:spcPct val="80000"/>
              </a:lnSpc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2.</a:t>
            </a:r>
            <a:r>
              <a:rPr lang="zh-CN" altLang="en-US" sz="2000" dirty="0"/>
              <a:t> 图像分割    分割模型                    </a:t>
            </a:r>
            <a:r>
              <a:rPr lang="en-US" altLang="zh-CN" sz="2000" dirty="0"/>
              <a:t>4</a:t>
            </a:r>
            <a:r>
              <a:rPr lang="zh-CN" altLang="en-US" sz="2000" dirty="0"/>
              <a:t>课时</a:t>
            </a:r>
            <a:endParaRPr lang="en-US" altLang="zh-CN" sz="2000" dirty="0"/>
          </a:p>
          <a:p>
            <a:pPr marL="914400" lvl="2" indent="0">
              <a:lnSpc>
                <a:spcPct val="80000"/>
              </a:lnSpc>
              <a:buNone/>
            </a:pPr>
            <a:r>
              <a:rPr lang="zh-CN" altLang="en-US" sz="2000" dirty="0"/>
              <a:t>     </a:t>
            </a:r>
            <a:endParaRPr lang="zh-CN" altLang="en-US" sz="20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成绩评定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实验报告评分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完成不好酌情减分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effectLst/>
              </a:rPr>
              <a:t>期末（</a:t>
            </a:r>
            <a:r>
              <a:rPr lang="en-US" altLang="zh-CN" b="1" dirty="0"/>
              <a:t> 70%-75%</a:t>
            </a:r>
            <a:r>
              <a:rPr lang="zh-CN" altLang="en-US" b="1" dirty="0"/>
              <a:t>）</a:t>
            </a:r>
            <a:endParaRPr lang="zh-CN" altLang="en-US" dirty="0"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dirty="0"/>
              <a:t>课堂内容考核</a:t>
            </a:r>
            <a:endParaRPr lang="zh-CN" altLang="en-US" sz="28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形式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笔试</a:t>
            </a:r>
            <a:endParaRPr lang="zh-CN" altLang="en-US" sz="20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内容</a:t>
            </a:r>
            <a:endParaRPr lang="zh-CN" altLang="en-US" sz="24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基本概念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核心知识点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课堂作业或实验升级</a:t>
            </a:r>
            <a:endParaRPr lang="en-US" altLang="zh-CN" sz="2400" dirty="0"/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成绩评定</a:t>
            </a:r>
            <a:endParaRPr lang="en-US" altLang="zh-CN" sz="2000" dirty="0"/>
          </a:p>
          <a:p>
            <a:pPr lvl="2">
              <a:lnSpc>
                <a:spcPct val="80000"/>
              </a:lnSpc>
            </a:pPr>
            <a:r>
              <a:rPr lang="zh-CN" altLang="en-US" sz="2000" dirty="0"/>
              <a:t>卷面分</a:t>
            </a:r>
            <a:endParaRPr lang="zh-CN" altLang="en-US" sz="2000" dirty="0"/>
          </a:p>
          <a:p>
            <a:pPr>
              <a:lnSpc>
                <a:spcPct val="80000"/>
              </a:lnSpc>
            </a:pPr>
            <a:endParaRPr lang="zh-CN" altLang="en-US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87962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图像形成的基本原理</a:t>
            </a:r>
            <a:endParaRPr lang="en-US" sz="3600" dirty="0"/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图像分析基础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卷积与图像金字塔</a:t>
            </a:r>
            <a:endParaRPr lang="en-US" sz="3100" dirty="0"/>
          </a:p>
          <a:p>
            <a:pPr marL="0" indent="0">
              <a:buNone/>
            </a:pPr>
            <a:r>
              <a:rPr lang="zh-CN" altLang="en-US" sz="3100" dirty="0"/>
              <a:t>         图像局部特征分析</a:t>
            </a:r>
            <a:endParaRPr lang="en-US" sz="3100" dirty="0"/>
          </a:p>
          <a:p>
            <a:r>
              <a:rPr lang="en-US" altLang="zh-CN" sz="3600" dirty="0"/>
              <a:t>3.</a:t>
            </a:r>
            <a:r>
              <a:rPr lang="zh-CN" altLang="en-US" sz="3600" dirty="0"/>
              <a:t>基于深度学习的图像分析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深度学习与图像分类</a:t>
            </a:r>
            <a:endParaRPr lang="en-US" sz="3100" dirty="0"/>
          </a:p>
          <a:p>
            <a:pPr marL="0" indent="0">
              <a:buNone/>
            </a:pPr>
            <a:r>
              <a:rPr lang="zh-CN" altLang="en-US" sz="3100" dirty="0"/>
              <a:t>         图像分割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目标检测与识别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图像生成</a:t>
            </a:r>
            <a:endParaRPr lang="en-US" altLang="zh-CN" sz="3100" dirty="0"/>
          </a:p>
          <a:p>
            <a:r>
              <a:rPr lang="en-US" altLang="zh-CN" sz="3600" dirty="0"/>
              <a:t>4.</a:t>
            </a:r>
            <a:r>
              <a:rPr lang="zh-CN" altLang="en-US" sz="3600" dirty="0"/>
              <a:t> 视觉分析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图像全景拼接与配准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双目视觉原理</a:t>
            </a:r>
            <a:r>
              <a:rPr lang="en-US" sz="3100" dirty="0"/>
              <a:t> </a:t>
            </a:r>
            <a:endParaRPr lang="en-US" sz="3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课程</a:t>
            </a:r>
            <a:r>
              <a:rPr kumimoji="1" lang="en-US" altLang="zh-CN" dirty="0"/>
              <a:t>QQ</a:t>
            </a:r>
            <a:r>
              <a:rPr kumimoji="1" lang="zh-CN" altLang="en-US" dirty="0"/>
              <a:t>群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3129908" cy="556265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</Words>
  <Application>WPS 演示</Application>
  <PresentationFormat>宽屏</PresentationFormat>
  <Paragraphs>131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课程简介</vt:lpstr>
      <vt:lpstr>课程要求</vt:lpstr>
      <vt:lpstr>教材</vt:lpstr>
      <vt:lpstr>教材一</vt:lpstr>
      <vt:lpstr>教材二</vt:lpstr>
      <vt:lpstr>参考书一</vt:lpstr>
      <vt:lpstr>参考书二</vt:lpstr>
      <vt:lpstr>讲义PPT</vt:lpstr>
      <vt:lpstr>参考 PPT</vt:lpstr>
      <vt:lpstr>参考 PPT</vt:lpstr>
      <vt:lpstr>课程考核标准</vt:lpstr>
      <vt:lpstr>考勤(5%)</vt:lpstr>
      <vt:lpstr>     作业（ 10%-15%）</vt:lpstr>
      <vt:lpstr>实验（10%）</vt:lpstr>
      <vt:lpstr>期末（ 70%-75%）</vt:lpstr>
      <vt:lpstr>课程目标</vt:lpstr>
      <vt:lpstr>课程QQ群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梁景毓</cp:lastModifiedBy>
  <cp:revision>157</cp:revision>
  <dcterms:created xsi:type="dcterms:W3CDTF">2019-06-19T02:08:00Z</dcterms:created>
  <dcterms:modified xsi:type="dcterms:W3CDTF">2025-12-06T16:41:35Z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CCBFD1D6F4514F21997003A997E668F7_11</vt:lpwstr>
  </property>
</Properties>
</file>