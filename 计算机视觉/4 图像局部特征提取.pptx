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.xml" ContentType="application/vnd.openxmlformats-officedocument.presentationml.tags+xml"/>
  <Override PartName="/ppt/notesSlides/notesSlide24.xml" ContentType="application/vnd.openxmlformats-officedocument.presentationml.notesSlide+xml"/>
  <Override PartName="/ppt/tags/tag3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4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1"/>
  </p:notesMasterIdLst>
  <p:sldIdLst>
    <p:sldId id="330" r:id="rId2"/>
    <p:sldId id="1000" r:id="rId3"/>
    <p:sldId id="762" r:id="rId4"/>
    <p:sldId id="763" r:id="rId5"/>
    <p:sldId id="764" r:id="rId6"/>
    <p:sldId id="765" r:id="rId7"/>
    <p:sldId id="999" r:id="rId8"/>
    <p:sldId id="766" r:id="rId9"/>
    <p:sldId id="767" r:id="rId10"/>
    <p:sldId id="768" r:id="rId11"/>
    <p:sldId id="769" r:id="rId12"/>
    <p:sldId id="770" r:id="rId13"/>
    <p:sldId id="771" r:id="rId14"/>
    <p:sldId id="772" r:id="rId15"/>
    <p:sldId id="862" r:id="rId16"/>
    <p:sldId id="863" r:id="rId17"/>
    <p:sldId id="864" r:id="rId18"/>
    <p:sldId id="1007" r:id="rId19"/>
    <p:sldId id="1008" r:id="rId20"/>
    <p:sldId id="1006" r:id="rId21"/>
    <p:sldId id="998" r:id="rId22"/>
    <p:sldId id="866" r:id="rId23"/>
    <p:sldId id="1009" r:id="rId24"/>
    <p:sldId id="1011" r:id="rId25"/>
    <p:sldId id="1012" r:id="rId26"/>
    <p:sldId id="867" r:id="rId27"/>
    <p:sldId id="868" r:id="rId28"/>
    <p:sldId id="948" r:id="rId29"/>
    <p:sldId id="1266" r:id="rId30"/>
    <p:sldId id="869" r:id="rId31"/>
    <p:sldId id="870" r:id="rId32"/>
    <p:sldId id="871" r:id="rId33"/>
    <p:sldId id="872" r:id="rId34"/>
    <p:sldId id="873" r:id="rId35"/>
    <p:sldId id="874" r:id="rId36"/>
    <p:sldId id="875" r:id="rId37"/>
    <p:sldId id="876" r:id="rId38"/>
    <p:sldId id="877" r:id="rId39"/>
    <p:sldId id="878" r:id="rId40"/>
    <p:sldId id="879" r:id="rId41"/>
    <p:sldId id="880" r:id="rId42"/>
    <p:sldId id="881" r:id="rId43"/>
    <p:sldId id="883" r:id="rId44"/>
    <p:sldId id="884" r:id="rId45"/>
    <p:sldId id="885" r:id="rId46"/>
    <p:sldId id="997" r:id="rId47"/>
    <p:sldId id="2011" r:id="rId48"/>
    <p:sldId id="2012" r:id="rId49"/>
    <p:sldId id="2013" r:id="rId50"/>
    <p:sldId id="774" r:id="rId51"/>
    <p:sldId id="778" r:id="rId52"/>
    <p:sldId id="321" r:id="rId53"/>
    <p:sldId id="322" r:id="rId54"/>
    <p:sldId id="2007" r:id="rId55"/>
    <p:sldId id="780" r:id="rId56"/>
    <p:sldId id="781" r:id="rId57"/>
    <p:sldId id="590" r:id="rId58"/>
    <p:sldId id="591" r:id="rId59"/>
    <p:sldId id="2015" r:id="rId60"/>
    <p:sldId id="987" r:id="rId61"/>
    <p:sldId id="988" r:id="rId62"/>
    <p:sldId id="989" r:id="rId63"/>
    <p:sldId id="990" r:id="rId64"/>
    <p:sldId id="991" r:id="rId65"/>
    <p:sldId id="992" r:id="rId66"/>
    <p:sldId id="891" r:id="rId67"/>
    <p:sldId id="892" r:id="rId68"/>
    <p:sldId id="894" r:id="rId69"/>
    <p:sldId id="895" r:id="rId70"/>
    <p:sldId id="896" r:id="rId71"/>
    <p:sldId id="897" r:id="rId72"/>
    <p:sldId id="898" r:id="rId73"/>
    <p:sldId id="899" r:id="rId74"/>
    <p:sldId id="900" r:id="rId75"/>
    <p:sldId id="901" r:id="rId76"/>
    <p:sldId id="902" r:id="rId77"/>
    <p:sldId id="903" r:id="rId78"/>
    <p:sldId id="904" r:id="rId79"/>
    <p:sldId id="905" r:id="rId80"/>
    <p:sldId id="906" r:id="rId81"/>
    <p:sldId id="1013" r:id="rId82"/>
    <p:sldId id="909" r:id="rId83"/>
    <p:sldId id="910" r:id="rId84"/>
    <p:sldId id="911" r:id="rId85"/>
    <p:sldId id="996" r:id="rId86"/>
    <p:sldId id="1014" r:id="rId87"/>
    <p:sldId id="913" r:id="rId88"/>
    <p:sldId id="914" r:id="rId89"/>
    <p:sldId id="915" r:id="rId90"/>
    <p:sldId id="916" r:id="rId91"/>
    <p:sldId id="918" r:id="rId92"/>
    <p:sldId id="919" r:id="rId93"/>
    <p:sldId id="994" r:id="rId94"/>
    <p:sldId id="1015" r:id="rId95"/>
    <p:sldId id="839" r:id="rId96"/>
    <p:sldId id="851" r:id="rId97"/>
    <p:sldId id="852" r:id="rId98"/>
    <p:sldId id="853" r:id="rId99"/>
    <p:sldId id="1211" r:id="rId100"/>
    <p:sldId id="1213" r:id="rId101"/>
    <p:sldId id="1214" r:id="rId102"/>
    <p:sldId id="1253" r:id="rId103"/>
    <p:sldId id="1254" r:id="rId104"/>
    <p:sldId id="1255" r:id="rId105"/>
    <p:sldId id="1257" r:id="rId106"/>
    <p:sldId id="1258" r:id="rId107"/>
    <p:sldId id="995" r:id="rId108"/>
    <p:sldId id="1215" r:id="rId109"/>
    <p:sldId id="1259" r:id="rId110"/>
    <p:sldId id="1260" r:id="rId111"/>
    <p:sldId id="1262" r:id="rId112"/>
    <p:sldId id="1261" r:id="rId113"/>
    <p:sldId id="1263" r:id="rId114"/>
    <p:sldId id="1264" r:id="rId115"/>
    <p:sldId id="920" r:id="rId116"/>
    <p:sldId id="921" r:id="rId117"/>
    <p:sldId id="415" r:id="rId118"/>
    <p:sldId id="316" r:id="rId119"/>
    <p:sldId id="324" r:id="rId1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695A"/>
    <a:srgbClr val="D60093"/>
    <a:srgbClr val="00FF00"/>
    <a:srgbClr val="FF0000"/>
    <a:srgbClr val="FB1C05"/>
    <a:srgbClr val="59F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07"/>
    <p:restoredTop sz="96420"/>
  </p:normalViewPr>
  <p:slideViewPr>
    <p:cSldViewPr>
      <p:cViewPr varScale="1">
        <p:scale>
          <a:sx n="142" d="100"/>
          <a:sy n="142" d="100"/>
        </p:scale>
        <p:origin x="176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4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image" Target="../media/image75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image" Target="../media/image8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image" Target="../media/image115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png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Relationship Id="rId4" Type="http://schemas.openxmlformats.org/officeDocument/2006/relationships/image" Target="../media/image132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emf"/><Relationship Id="rId1" Type="http://schemas.openxmlformats.org/officeDocument/2006/relationships/image" Target="../media/image13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1D9AC-C4DC-4626-BD9E-860ADBEBE25E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B2A92-AD47-4AF8-BBA5-94641E995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除了边缘特征，图像还存在哪些局部特征？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72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从图像匹配问题谈起，如何实现两幅不同角度不同设备拍摄的照片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90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左上角和右下角匹配上了</a:t>
            </a:r>
            <a:endParaRPr 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2FC706-9640-4315-917A-B758FF55AD33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90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27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8B5D60B6-6A22-4F10-90E8-55362939715E}" type="slidenum">
              <a:rPr lang="en-US" smtClean="0">
                <a:solidFill>
                  <a:srgbClr val="000000"/>
                </a:solidFill>
              </a:rPr>
              <a:pPr eaLnBrk="0" hangingPunct="0"/>
              <a:t>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8483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eaLnBrk="0" hangingPunct="0"/>
            <a:fld id="{4B1EF7E0-DA40-476C-B2FE-B2F160D06D70}" type="slidenum">
              <a:rPr lang="en-US" sz="1300">
                <a:solidFill>
                  <a:srgbClr val="000000"/>
                </a:solidFill>
              </a:rPr>
              <a:pPr algn="r" eaLnBrk="0" hangingPunct="0"/>
              <a:t>8</a:t>
            </a:fld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148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484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r>
              <a:rPr lang="zh-CN" altLang="en-US" dirty="0"/>
              <a:t>如何实现图像匹配？基于灰度相关匹配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50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10580CF3-55BB-454E-BBE4-D5C2BD80D8DF}" type="slidenum">
              <a:rPr lang="en-US" smtClean="0">
                <a:solidFill>
                  <a:srgbClr val="000000"/>
                </a:solidFill>
              </a:rPr>
              <a:pPr eaLnBrk="0" hangingPunct="0"/>
              <a:t>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9507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eaLnBrk="0" hangingPunct="0"/>
            <a:fld id="{6A6A9C7F-80FA-45DE-A9A4-4C3A157036DB}" type="slidenum">
              <a:rPr lang="en-US" sz="1300">
                <a:solidFill>
                  <a:srgbClr val="000000"/>
                </a:solidFill>
              </a:rPr>
              <a:pPr algn="r" eaLnBrk="0" hangingPunct="0"/>
              <a:t>9</a:t>
            </a:fld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1495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495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31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D82A3E30-C17E-4CEB-9CBC-DF7E60DB2AA4}" type="slidenum">
              <a:rPr lang="en-US" smtClean="0">
                <a:solidFill>
                  <a:srgbClr val="000000"/>
                </a:solidFill>
              </a:rPr>
              <a:pPr eaLnBrk="0" hangingPunct="0"/>
              <a:t>10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50531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eaLnBrk="0" hangingPunct="0"/>
            <a:fld id="{771BFAC1-AF94-45AD-94C9-B98982D272B1}" type="slidenum">
              <a:rPr lang="en-US" sz="1300">
                <a:solidFill>
                  <a:srgbClr val="000000"/>
                </a:solidFill>
              </a:rPr>
              <a:pPr algn="r" eaLnBrk="0" hangingPunct="0"/>
              <a:t>10</a:t>
            </a:fld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150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505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05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B7744895-D2E0-4C18-8A3A-FFDEFEA0784C}" type="slidenum">
              <a:rPr lang="en-US" smtClean="0">
                <a:solidFill>
                  <a:srgbClr val="000000"/>
                </a:solidFill>
              </a:rPr>
              <a:pPr eaLnBrk="0" hangingPunct="0"/>
              <a:t>11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51555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eaLnBrk="0" hangingPunct="0"/>
            <a:fld id="{B6304576-CC32-40D6-B5D1-5D1DFC06A755}" type="slidenum">
              <a:rPr lang="en-US" sz="1300">
                <a:solidFill>
                  <a:srgbClr val="000000"/>
                </a:solidFill>
              </a:rPr>
              <a:pPr algn="r" eaLnBrk="0" hangingPunct="0"/>
              <a:t>11</a:t>
            </a:fld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151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515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91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19A9BEE9-CC1A-4A97-8ACB-93D24C6C1571}" type="slidenum">
              <a:rPr lang="en-US" smtClean="0">
                <a:solidFill>
                  <a:srgbClr val="000000"/>
                </a:solidFill>
              </a:rPr>
              <a:pPr eaLnBrk="0" hangingPunct="0"/>
              <a:t>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52579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eaLnBrk="0" hangingPunct="0"/>
            <a:fld id="{AC213F5E-A8BA-4B38-B5B7-DC2CDCEBEDFE}" type="slidenum">
              <a:rPr lang="en-US" sz="1300">
                <a:solidFill>
                  <a:srgbClr val="000000"/>
                </a:solidFill>
              </a:rPr>
              <a:pPr algn="r" eaLnBrk="0" hangingPunct="0"/>
              <a:t>12</a:t>
            </a:fld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1525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525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r>
              <a:rPr lang="zh-CN" altLang="en-US" dirty="0"/>
              <a:t>如何实现特征点的检测？两幅图像检测特征点需一致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5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5231B351-67D9-4839-88EC-017053335269}" type="slidenum">
              <a:rPr lang="en-US" smtClean="0">
                <a:solidFill>
                  <a:srgbClr val="000000"/>
                </a:solidFill>
              </a:rPr>
              <a:pPr eaLnBrk="0" hangingPunct="0"/>
              <a:t>13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53603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eaLnBrk="0" hangingPunct="0"/>
            <a:fld id="{8913EC76-FA98-4D8A-AFE4-0548CEFF564E}" type="slidenum">
              <a:rPr lang="en-US" sz="1300">
                <a:solidFill>
                  <a:srgbClr val="000000"/>
                </a:solidFill>
              </a:rPr>
              <a:pPr algn="r" eaLnBrk="0" hangingPunct="0"/>
              <a:t>13</a:t>
            </a:fld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1536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536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r>
              <a:rPr lang="zh-CN" altLang="en-US" dirty="0"/>
              <a:t>特征点如何对应，需要对特征点进行描述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571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786646-369E-4AEC-85F9-C838BFF2A0A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607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实际中的图像存在变换，拍摄角度不一样，设备不一样等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239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A8F159-DD25-4B1C-ABF9-08B6B4FB6989}" type="slidenum">
              <a:rPr lang="en-US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17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拍摄时间不一样，光照不一样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145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901A98-FEC0-4EDC-9B83-12C6A97B11B2}" type="slidenum">
              <a:rPr lang="en-US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28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还存在噪声、模糊、阴影，难以实现稳定特征点检测和描述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22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BAF9E9-1F8B-404D-BDA2-D27EA9AEF440}" type="slidenum">
              <a:rPr lang="en-US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384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如何提取不变的局部特征，哪些特征能够适应几何光照不变</a:t>
            </a:r>
            <a:endParaRPr lang="en-US" altLang="zh-CN" dirty="0"/>
          </a:p>
          <a:p>
            <a:pPr eaLnBrk="1" hangingPunct="1"/>
            <a:r>
              <a:rPr lang="zh-CN" altLang="en-US" dirty="0"/>
              <a:t>提取点还是块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60689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FDACBCFE-C3C4-440E-9B14-6B24124DD38B}" type="slidenum">
              <a:rPr lang="en-US">
                <a:solidFill>
                  <a:srgbClr val="000000"/>
                </a:solidFill>
              </a:rPr>
              <a:pPr eaLnBrk="0" hangingPunct="0"/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第一步：特征点提取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03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角点是一类相对稳定的点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97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1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1F5ABE-FE86-45D7-A3C1-874D9049B9BD}" type="slidenum">
              <a:rPr lang="en-US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054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115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0D35FC-DE77-448B-A76A-5FA651EA8F55}" type="slidenum">
              <a:rPr lang="en-US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块沿不同方向移动，宽口强度能量变化情况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366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FF4939-B25B-4F8C-948B-D27EC51D191B}" type="slidenum">
              <a:rPr lang="en-US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窗口能量取为平方和，窗口可取均匀窗口，也可取高斯窗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2987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三个不同区域随平移分量强度能量变化情况，同质区域变化很小，沿边缘变化很大，纹理区域变化大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31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按泰勒级数展开，得到强度能量矩阵度量矩阵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768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7CF7FC-C39C-43F1-ADFB-D34A99595A39}" type="slidenum">
              <a:rPr lang="en-US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去掉</a:t>
            </a:r>
            <a:r>
              <a:rPr lang="en-US" altLang="zh-CN" dirty="0" err="1"/>
              <a:t>uv</a:t>
            </a:r>
            <a:r>
              <a:rPr lang="zh-CN" altLang="en-US" dirty="0"/>
              <a:t>分量，使用</a:t>
            </a:r>
            <a:r>
              <a:rPr lang="en-US" altLang="zh-CN" dirty="0"/>
              <a:t>M</a:t>
            </a:r>
            <a:r>
              <a:rPr lang="zh-CN" altLang="en-US" dirty="0"/>
              <a:t>矩阵来度量图像块的强度能量变化，每个点可以得到一个</a:t>
            </a:r>
            <a:r>
              <a:rPr lang="en-US" altLang="zh-CN" dirty="0"/>
              <a:t>M</a:t>
            </a:r>
            <a:r>
              <a:rPr lang="zh-CN" altLang="en-US" dirty="0"/>
              <a:t>矩阵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3654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EC71D8-9C33-413D-A50D-1BD4650D98F0}" type="slidenum">
              <a:rPr lang="en-US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r>
              <a:rPr lang="en-US" dirty="0"/>
              <a:t>M</a:t>
            </a:r>
            <a:r>
              <a:rPr lang="zh-CN" altLang="en-US" dirty="0"/>
              <a:t>矩阵的三个分量图示，可以发现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2231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715AB0-8A52-44FD-B4E5-05288B528A5F}" type="slidenum">
              <a:rPr lang="en-US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0540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研究不同点的</a:t>
            </a:r>
            <a:r>
              <a:rPr lang="en-US" altLang="zh-CN" dirty="0"/>
              <a:t>M</a:t>
            </a:r>
            <a:r>
              <a:rPr lang="zh-CN" altLang="en-US" dirty="0"/>
              <a:t>矩阵的含义，先考虑理想情况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947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780C37-CB99-488D-BD3E-B43ACB625947}" type="slidenum">
              <a:rPr lang="en-US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0540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只有角点的</a:t>
            </a:r>
            <a:r>
              <a:rPr lang="en-US" altLang="zh-CN" dirty="0"/>
              <a:t>M</a:t>
            </a:r>
            <a:r>
              <a:rPr lang="zh-CN" altLang="en-US" dirty="0"/>
              <a:t>矩阵的对角线元素都很大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6684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40038D-68A0-4744-9CF4-462825EDA426}" type="slidenum">
              <a:rPr lang="en-US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0540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需要考虑坐标变换，边缘向量的坐标变换，</a:t>
            </a:r>
            <a:r>
              <a:rPr lang="en-US" altLang="zh-CN" dirty="0"/>
              <a:t>R</a:t>
            </a:r>
            <a:r>
              <a:rPr lang="zh-CN" altLang="en-US" dirty="0"/>
              <a:t>为变换矩阵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5281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7DA19F-5962-4EA9-8C6D-8E95EE2E3A74}" type="slidenum">
              <a:rPr lang="en-US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特征值难以求解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051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C7D925-B875-469D-8618-E773D99FEF70}" type="slidenum">
              <a:rPr lang="en-US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寻找能度量两个特征值的响应函数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021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065F41-7C63-4BEA-8A66-2097E6A080E1}" type="slidenum">
              <a:rPr lang="en-US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6131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04801A4B-A49C-4A92-9B1A-BA8C807D67A9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6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6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r>
              <a:rPr lang="zh-CN" altLang="en-US" dirty="0"/>
              <a:t>每个点确定一个窗口区域，计算</a:t>
            </a:r>
            <a:r>
              <a:rPr lang="en-US" altLang="zh-CN" dirty="0"/>
              <a:t>M</a:t>
            </a:r>
            <a:r>
              <a:rPr lang="zh-CN" altLang="en-US" dirty="0"/>
              <a:t>矩阵，基于</a:t>
            </a:r>
            <a:r>
              <a:rPr lang="en-US" altLang="zh-CN" dirty="0"/>
              <a:t>M</a:t>
            </a:r>
            <a:r>
              <a:rPr lang="zh-CN" altLang="en-US" dirty="0"/>
              <a:t>矩阵计算响应函数值</a:t>
            </a:r>
            <a:r>
              <a:rPr lang="en-US" altLang="zh-CN" dirty="0"/>
              <a:t>R</a:t>
            </a:r>
          </a:p>
          <a:p>
            <a:pPr eaLnBrk="1" hangingPunct="1"/>
            <a:r>
              <a:rPr lang="zh-CN" altLang="en-US" dirty="0"/>
              <a:t>对响应能量图进行阈值化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8353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F9D7B1-F03A-4226-B773-51DB613AA936}" type="slidenum">
              <a:rPr lang="en-US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7155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DC47A932-289B-4BDD-B23D-07FB84B6F8C7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7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71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988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EA5EE2-E35E-4CBA-B344-6D9ECAE08929}" type="slidenum">
              <a:rPr lang="en-US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8179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89529E5-6399-44E0-886E-8669C8D9D798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8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81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197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7D668A-8E37-4A3D-AEAD-D798D860890C}" type="slidenum">
              <a:rPr lang="en-US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79203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FF28B76-ECA9-4009-A5B4-1D2364898B55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9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79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r>
              <a:rPr lang="zh-CN" altLang="en-US" dirty="0"/>
              <a:t>局部区域非最大化抑制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1571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D3681B-2618-4107-8B0C-3F27217161A1}" type="slidenum">
              <a:rPr lang="en-US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0227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E02155F0-DC8E-484C-ADE3-8639992B20A5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80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802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270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28C26E-25E6-4BD5-8128-8DB9B1329EBD}" type="slidenum">
              <a:rPr lang="en-US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1251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5812CC64-B2CA-422F-8A07-CFCF5FEA0DFB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81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81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046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90DB7C-108F-4475-9F26-B759F42629F4}" type="slidenum">
              <a:rPr lang="en-US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3299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1A2F50A-D193-47E6-A48B-18DDA173A5C2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833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833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r>
              <a:rPr lang="zh-CN" altLang="en-US" dirty="0"/>
              <a:t>角点区域旋转，等价坐标轴旋转，椭圆长短轴不变，响应值</a:t>
            </a:r>
            <a:r>
              <a:rPr lang="en-US" altLang="zh-CN" dirty="0"/>
              <a:t>R</a:t>
            </a:r>
            <a:r>
              <a:rPr lang="zh-CN" altLang="en-US" dirty="0"/>
              <a:t>不变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0398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152A87-223E-4CEC-8E99-5693FDC69222}" type="slidenum">
              <a:rPr lang="en-US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4323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3" tIns="48326" rIns="96653" bIns="48326"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E52AB4BA-65D4-4C61-9960-72D217C58A9D}" type="slidenum">
              <a:rPr lang="en-US" sz="1300" smtClean="0">
                <a:solidFill>
                  <a:prstClr val="black"/>
                </a:solidFill>
                <a:latin typeface="Arial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sz="1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84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1843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pPr eaLnBrk="1" hangingPunct="1"/>
            <a:r>
              <a:rPr lang="zh-CN" altLang="en-US" dirty="0"/>
              <a:t>右边是大尺度观测图像，左右图取相同区域，左边只能检测出边缘点无法检测角点，右边可以检测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9596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06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956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/>
              <a:t>具体来说，观察者距离物体</a:t>
            </a:r>
            <a:r>
              <a:rPr kumimoji="1" lang="zh-CN" altLang="en-US" sz="1200" dirty="0">
                <a:solidFill>
                  <a:srgbClr val="FF0000"/>
                </a:solidFill>
              </a:rPr>
              <a:t>远</a:t>
            </a:r>
            <a:r>
              <a:rPr kumimoji="1" lang="zh-CN" altLang="en-US" sz="1200" dirty="0"/>
              <a:t>，看到物体可能只有大概的</a:t>
            </a:r>
            <a:r>
              <a:rPr kumimoji="1" lang="zh-CN" altLang="en-US" sz="1200" dirty="0">
                <a:solidFill>
                  <a:srgbClr val="FF0000"/>
                </a:solidFill>
              </a:rPr>
              <a:t>轮廓</a:t>
            </a:r>
            <a:r>
              <a:rPr kumimoji="1" lang="zh-CN" altLang="en-US" sz="1200" dirty="0"/>
              <a:t>；观察者距离物体</a:t>
            </a:r>
            <a:r>
              <a:rPr kumimoji="1" lang="zh-CN" altLang="en-US" sz="1200" dirty="0">
                <a:solidFill>
                  <a:srgbClr val="FF0000"/>
                </a:solidFill>
              </a:rPr>
              <a:t>近</a:t>
            </a:r>
            <a:r>
              <a:rPr kumimoji="1" lang="zh-CN" altLang="en-US" sz="1200" dirty="0"/>
              <a:t>，更可能看到物体的</a:t>
            </a:r>
            <a:r>
              <a:rPr kumimoji="1" lang="zh-CN" altLang="en-US" sz="1200" dirty="0">
                <a:solidFill>
                  <a:srgbClr val="FF0000"/>
                </a:solidFill>
              </a:rPr>
              <a:t>细节</a:t>
            </a:r>
            <a:r>
              <a:rPr kumimoji="1" lang="zh-CN" altLang="en-US" sz="1200" dirty="0"/>
              <a:t>，比如纹理，表面的粗糙等等。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895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举个例子，如果你想看一颗树而不是叶子，可以故意删除图像中的某些细节（例如树叶树枝等），在摆脱这些细节时，必须确保不引入新的虚假细节。做到这一点的唯一方法是使用高斯模糊（已通过数学证明）。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577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图像是二维的，如何采样？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647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82e84bb10b_0_2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82e84bb10b_0_2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6453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82e84bb10b_0_2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82e84bb10b_0_2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9525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6880CD-D544-42BA-BF53-15068483D3F9}" type="slidenum">
              <a:rPr lang="en-US"/>
              <a:pPr/>
              <a:t>57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517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E2010F-C46B-41EA-8957-B06E06316546}" type="slidenum">
              <a:rPr lang="en-US">
                <a:latin typeface="Times New Roman" pitchFamily="-112" charset="0"/>
              </a:rPr>
              <a:pPr/>
              <a:t>58</a:t>
            </a:fld>
            <a:endParaRPr lang="en-US">
              <a:latin typeface="Times New Roman" pitchFamily="-112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112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62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097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13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在不同尺度空间搜索</a:t>
            </a:r>
            <a:endParaRPr lang="en-US" altLang="zh-CN" dirty="0"/>
          </a:p>
          <a:p>
            <a:r>
              <a:rPr lang="zh-CN" altLang="en-US" dirty="0"/>
              <a:t>特征具有尺度不变性</a:t>
            </a:r>
            <a:endParaRPr lang="en-US" altLang="zh-CN" dirty="0"/>
          </a:p>
          <a:p>
            <a:r>
              <a:rPr lang="zh-CN" altLang="en-US" dirty="0"/>
              <a:t>特征具有稳健性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57D822-4235-4554-A52B-52DC02FBF706}" type="slidenum">
              <a:rPr lang="en-US" smtClean="0"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pPr>
                <a:defRPr/>
              </a:pPr>
              <a:t>60</a:t>
            </a:fld>
            <a:endParaRPr lang="en-US">
              <a:solidFill>
                <a:srgbClr val="1F497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3791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23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6F6D2-2B4A-4644-BF34-FDA7D36B662D}" type="slidenum">
              <a:rPr lang="en-US" smtClean="0"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pPr>
                <a:defRPr/>
              </a:pPr>
              <a:t>61</a:t>
            </a:fld>
            <a:endParaRPr lang="en-US">
              <a:solidFill>
                <a:srgbClr val="1F497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889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34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F7A0C6-7EC3-4741-8CB6-B90C40D7A7E1}" type="slidenum">
              <a:rPr lang="en-US" smtClean="0"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pPr>
                <a:defRPr/>
              </a:pPr>
              <a:t>62</a:t>
            </a:fld>
            <a:endParaRPr lang="en-US">
              <a:solidFill>
                <a:srgbClr val="1F497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3221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44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FBAB51-03D4-4B39-981E-F2559344D868}" type="slidenum">
              <a:rPr lang="en-US" smtClean="0"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pPr>
                <a:defRPr/>
              </a:pPr>
              <a:t>63</a:t>
            </a:fld>
            <a:endParaRPr lang="en-US">
              <a:solidFill>
                <a:srgbClr val="1F497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1436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5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FE8DB0-A5CD-4684-9308-F8541B504218}" type="slidenum">
              <a:rPr lang="en-US" smtClean="0"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pPr>
                <a:defRPr/>
              </a:pPr>
              <a:t>64</a:t>
            </a:fld>
            <a:endParaRPr lang="en-US">
              <a:solidFill>
                <a:srgbClr val="1F497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759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4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穷尽搜索存在的问题是如何独立的在两张图像中找到对应的块，需要设计一个具有尺度不变性的函数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EA1CED-BE3F-4F93-B80A-A96B8DCCB8E2}" type="slidenum">
              <a:rPr lang="en-US" smtClean="0"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</a:rPr>
              <a:pPr>
                <a:defRPr/>
              </a:pPr>
              <a:t>65</a:t>
            </a:fld>
            <a:endParaRPr lang="en-US">
              <a:solidFill>
                <a:srgbClr val="1F497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1666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C1FBB-E630-435A-826D-7D09F5094A86}" type="slidenum">
              <a:rPr lang="en-US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046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尺度不变函数，能够实现同一块在不同尺度下的对应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6693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931E9B-88B5-43F4-97DF-3706C930D46D}" type="slidenum">
              <a:rPr lang="en-US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14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函数确定后，如何实现尺度的自动选择，可以取函数的局部最大值，最大值容易确定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466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E1A670-7B80-429D-A319-553F8FC93933}" type="slidenum">
              <a:rPr lang="en-US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2207"/>
          </a:xfrm>
          <a:noFill/>
          <a:ln/>
        </p:spPr>
        <p:txBody>
          <a:bodyPr lIns="98188" tIns="49093" rIns="98188" bIns="49093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1109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545D87-0015-4553-8DC7-2C8EBBA5FAE9}" type="slidenum">
              <a:rPr lang="en-US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2207"/>
          </a:xfrm>
          <a:noFill/>
          <a:ln/>
        </p:spPr>
        <p:txBody>
          <a:bodyPr lIns="98188" tIns="49093" rIns="98188" bIns="49093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6384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702000-8F74-4EDB-A29E-2E5D74B989C4}" type="slidenum">
              <a:rPr lang="en-US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2207"/>
          </a:xfrm>
          <a:noFill/>
          <a:ln/>
        </p:spPr>
        <p:txBody>
          <a:bodyPr lIns="98188" tIns="49093" rIns="98188" bIns="49093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7459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ED5F55-DCB3-4530-BFFF-C1CB6F5853C2}" type="slidenum">
              <a:rPr lang="en-US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2207"/>
          </a:xfrm>
          <a:noFill/>
          <a:ln/>
        </p:spPr>
        <p:txBody>
          <a:bodyPr lIns="98188" tIns="49093" rIns="98188" bIns="49093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306680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A86567-990B-4943-80CF-219381CE90F3}" type="slidenum">
              <a:rPr lang="en-US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2207"/>
          </a:xfrm>
          <a:noFill/>
          <a:ln/>
        </p:spPr>
        <p:txBody>
          <a:bodyPr lIns="98188" tIns="49093" rIns="98188" bIns="49093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63195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3D250A-A48C-4CA8-89AC-E00B0A804867}" type="slidenum">
              <a:rPr lang="en-US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2207"/>
          </a:xfrm>
          <a:noFill/>
          <a:ln/>
        </p:spPr>
        <p:txBody>
          <a:bodyPr lIns="98188" tIns="49093" rIns="98188" bIns="49093"/>
          <a:lstStyle/>
          <a:p>
            <a:pPr eaLnBrk="1" hangingPunct="1"/>
            <a:r>
              <a:rPr lang="zh-CN" altLang="de-DE" dirty="0"/>
              <a:t>响应函数</a:t>
            </a:r>
            <a:r>
              <a:rPr lang="zh-CN" altLang="en-US" dirty="0"/>
              <a:t>极值点对应的尺度对应块是对应的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346439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706D57FE-4B75-4B79-AE10-518163F466D9}" type="slidenum">
              <a:rPr lang="en-US">
                <a:solidFill>
                  <a:srgbClr val="000000"/>
                </a:solidFill>
              </a:rPr>
              <a:pPr eaLnBrk="0" hangingPunct="0"/>
              <a:t>74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968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极值点对应的尺度，进行缩放，直到两个块能够完全匹配，由此可确定两幅图像的尺度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4131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EC7616-7B6B-41F8-B867-F7DD843D330D}" type="slidenum">
              <a:rPr lang="en-US">
                <a:solidFill>
                  <a:prstClr val="black"/>
                </a:solidFill>
              </a:rPr>
              <a:pPr/>
              <a:t>75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2207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前面讲了</a:t>
            </a:r>
            <a:r>
              <a:rPr lang="en-US" altLang="zh-CN" dirty="0" err="1"/>
              <a:t>LoG</a:t>
            </a:r>
            <a:r>
              <a:rPr lang="zh-CN" altLang="en-US" dirty="0"/>
              <a:t>算子过零点能够实现边缘点的检测，研究发现</a:t>
            </a:r>
            <a:r>
              <a:rPr lang="en-US" altLang="zh-CN" dirty="0" err="1"/>
              <a:t>LoG</a:t>
            </a:r>
            <a:r>
              <a:rPr lang="zh-CN" altLang="en-US" dirty="0"/>
              <a:t>算子具有尺度不变性，能够实现特征点的检测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76855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739D16-4922-4183-80B8-18D29D079A2E}" type="slidenum">
              <a:rPr lang="en-US">
                <a:solidFill>
                  <a:prstClr val="black"/>
                </a:solidFill>
              </a:rPr>
              <a:pPr/>
              <a:t>76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66211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249BDA-33EB-4EB7-85E4-B4B2750A6650}" type="slidenum">
              <a:rPr lang="en-US">
                <a:solidFill>
                  <a:prstClr val="black"/>
                </a:solidFill>
              </a:rPr>
              <a:pPr/>
              <a:t>77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60570"/>
            <a:ext cx="5364480" cy="4322207"/>
          </a:xfrm>
          <a:noFill/>
          <a:ln/>
        </p:spPr>
        <p:txBody>
          <a:bodyPr lIns="98188" tIns="49093" rIns="98188" bIns="49093"/>
          <a:lstStyle/>
          <a:p>
            <a:pPr eaLnBrk="1" hangingPunct="1"/>
            <a:r>
              <a:rPr lang="de-DE" dirty="0" err="1"/>
              <a:t>LoG</a:t>
            </a:r>
            <a:r>
              <a:rPr lang="zh-CN" altLang="en-US" dirty="0"/>
              <a:t>尺度空间，局部极值点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369361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5D91A-1E67-4486-86E4-CD54045DE9E4}" type="slidenum">
              <a:rPr lang="en-US">
                <a:solidFill>
                  <a:prstClr val="black"/>
                </a:solidFill>
              </a:rPr>
              <a:pPr/>
              <a:t>78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6564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7A806D-3448-4A0A-ADF9-E71AD1149EE1}" type="slidenum">
              <a:rPr lang="en-US">
                <a:solidFill>
                  <a:prstClr val="black"/>
                </a:solidFill>
              </a:rPr>
              <a:pPr/>
              <a:t>79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8618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6F2201-5610-44F1-AC26-A5A78950DF09}" type="slidenum">
              <a:rPr lang="en-US">
                <a:solidFill>
                  <a:prstClr val="black"/>
                </a:solidFill>
              </a:rPr>
              <a:pPr/>
              <a:t>80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5758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LoG</a:t>
            </a:r>
            <a:r>
              <a:rPr kumimoji="1" lang="zh-CN" altLang="en-US" dirty="0"/>
              <a:t>算子计算困难，</a:t>
            </a:r>
            <a:r>
              <a:rPr kumimoji="1" lang="en-US" altLang="zh-CN" dirty="0" err="1"/>
              <a:t>LoG</a:t>
            </a:r>
            <a:r>
              <a:rPr kumimoji="1" lang="zh-CN" altLang="en-US" dirty="0"/>
              <a:t>算子可使用</a:t>
            </a:r>
            <a:r>
              <a:rPr kumimoji="1" lang="en-US" altLang="zh-CN" dirty="0" err="1"/>
              <a:t>DoG</a:t>
            </a:r>
            <a:r>
              <a:rPr kumimoji="1" lang="zh-CN" altLang="en-US" dirty="0"/>
              <a:t>算子近似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7213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B13B1A-9F0B-496B-BEB7-4B28CBF3D455}" type="slidenum">
              <a:rPr lang="en-US">
                <a:solidFill>
                  <a:prstClr val="black"/>
                </a:solidFill>
              </a:rPr>
              <a:pPr/>
              <a:t>82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889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08900" name="Rectangle 3"/>
          <p:cNvSpPr>
            <a:spLocks noGrp="1"/>
          </p:cNvSpPr>
          <p:nvPr>
            <p:ph type="body" idx="1"/>
          </p:nvPr>
        </p:nvSpPr>
        <p:spPr>
          <a:xfrm>
            <a:off x="975360" y="4560570"/>
            <a:ext cx="5364480" cy="4320540"/>
          </a:xfrm>
          <a:noFill/>
          <a:ln/>
        </p:spPr>
        <p:txBody>
          <a:bodyPr/>
          <a:lstStyle/>
          <a:p>
            <a:pPr eaLnBrk="1" hangingPunct="1"/>
            <a:r>
              <a:rPr lang="zh-CN" altLang="en-US" dirty="0"/>
              <a:t>注意：尺度空间极大值，同时包括空域和尺度域方向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99349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85EEF6-9EEB-48F4-AFBD-E4083741DE72}" type="slidenum">
              <a:rPr lang="en-US">
                <a:solidFill>
                  <a:prstClr val="black"/>
                </a:solidFill>
              </a:rPr>
              <a:pPr/>
              <a:t>83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099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09924" name="Rectangle 3"/>
          <p:cNvSpPr>
            <a:spLocks noGrp="1"/>
          </p:cNvSpPr>
          <p:nvPr>
            <p:ph type="body" idx="1"/>
          </p:nvPr>
        </p:nvSpPr>
        <p:spPr>
          <a:xfrm>
            <a:off x="975360" y="4560570"/>
            <a:ext cx="5364480" cy="432054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2872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D73EAE-4A3C-4E20-A98E-B54EB7D6EABF}" type="slidenum">
              <a:rPr lang="en-US">
                <a:solidFill>
                  <a:prstClr val="black"/>
                </a:solidFill>
              </a:rPr>
              <a:pPr/>
              <a:t>84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1094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5851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1023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FDACBCFE-C3C4-440E-9B14-6B24124DD38B}" type="slidenum">
              <a:rPr lang="en-US">
                <a:solidFill>
                  <a:srgbClr val="000000"/>
                </a:solidFill>
              </a:rPr>
              <a:pPr eaLnBrk="0" hangingPunct="0"/>
              <a:t>86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7712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905D7233-4AD7-4ADE-8467-3401A3666770}" type="slidenum">
              <a:rPr lang="en-US">
                <a:solidFill>
                  <a:srgbClr val="000000"/>
                </a:solidFill>
              </a:rPr>
              <a:pPr eaLnBrk="0" hangingPunct="0"/>
              <a:t>87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29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3733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A628A341-C06F-4D15-87E0-621972E75FA3}" type="slidenum">
              <a:rPr lang="en-US">
                <a:solidFill>
                  <a:srgbClr val="000000"/>
                </a:solidFill>
              </a:rPr>
              <a:pPr eaLnBrk="0" hangingPunct="0"/>
              <a:t>89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3341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548B402B-5C03-4DA0-9050-665121F7A997}" type="slidenum">
              <a:rPr lang="en-US">
                <a:solidFill>
                  <a:srgbClr val="000000"/>
                </a:solidFill>
              </a:rPr>
              <a:pPr eaLnBrk="0" hangingPunct="0"/>
              <a:t>90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6349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71A991FB-1A20-4B0D-B61C-96CAF620A87B}" type="slidenum">
              <a:rPr lang="en-US">
                <a:solidFill>
                  <a:srgbClr val="000000"/>
                </a:solidFill>
              </a:rPr>
              <a:pPr eaLnBrk="0" hangingPunct="0"/>
              <a:t>91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70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70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1168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1251E8C3-B87F-446F-8369-5AAA5A3CC31C}" type="slidenum">
              <a:rPr lang="en-US">
                <a:solidFill>
                  <a:srgbClr val="000000"/>
                </a:solidFill>
              </a:rPr>
              <a:pPr eaLnBrk="0" hangingPunct="0"/>
              <a:t>92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041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3926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FDACBCFE-C3C4-440E-9B14-6B24124DD38B}" type="slidenum">
              <a:rPr lang="en-US">
                <a:solidFill>
                  <a:srgbClr val="000000"/>
                </a:solidFill>
              </a:rPr>
              <a:pPr eaLnBrk="0" hangingPunct="0"/>
              <a:t>94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4236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SSD</a:t>
            </a:r>
            <a:r>
              <a:rPr kumimoji="1" lang="zh-CN" altLang="en-US" dirty="0"/>
              <a:t>：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 of Squares Distances 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平方和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距离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395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E97CED3E-E3F9-4D7D-9D8D-C4FB1321CB92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99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6283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E7AA9125-2124-4EAF-8E93-2369E1A03A65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100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7072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CDC770C1-2FC0-485B-B4EE-CA3EA468D581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101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6216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C5EE5D04-15E8-4C03-9C40-69A74A0B5B46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102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9147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95D729BE-8E81-4CFC-AD2F-39F6FA3E85FB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103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1084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F97DF278-D59E-4167-B222-98ACC117170D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104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1423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0E506C31-BE7C-41E3-816B-BF60A9C54F7A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105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5004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8F01204A-2FD0-4714-AC05-4C45ACDABB0B}" type="slidenum">
              <a:rPr lang="en-US" sz="1200" b="1">
                <a:solidFill>
                  <a:srgbClr val="000000"/>
                </a:solidFill>
                <a:latin typeface="Times New Roman" pitchFamily="18" charset="0"/>
              </a:rPr>
              <a:pPr eaLnBrk="0" hangingPunct="0"/>
              <a:t>106</a:t>
            </a:fld>
            <a:endParaRPr lang="en-US" sz="1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9810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1069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BC5A3BBA-B815-4727-97EE-176EA63ABB6D}" type="slidenum">
              <a:rPr lang="en-US">
                <a:solidFill>
                  <a:srgbClr val="000000"/>
                </a:solidFill>
              </a:rPr>
              <a:pPr eaLnBrk="0" hangingPunct="0"/>
              <a:t>115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9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7550"/>
            <a:ext cx="4779963" cy="3584575"/>
          </a:xfrm>
          <a:ln/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961" y="4540568"/>
            <a:ext cx="5384800" cy="4378881"/>
          </a:xfrm>
          <a:noFill/>
          <a:ln/>
        </p:spPr>
        <p:txBody>
          <a:bodyPr/>
          <a:lstStyle/>
          <a:p>
            <a:pPr eaLnBrk="1" hangingPunct="1"/>
            <a:r>
              <a:rPr lang="en-US" sz="2500" dirty="0"/>
              <a:t>Invariant to</a:t>
            </a:r>
          </a:p>
          <a:p>
            <a:pPr lvl="1" eaLnBrk="1" hangingPunct="1"/>
            <a:r>
              <a:rPr lang="en-US" sz="2500" dirty="0"/>
              <a:t>Scale </a:t>
            </a:r>
          </a:p>
          <a:p>
            <a:pPr lvl="1" eaLnBrk="1" hangingPunct="1"/>
            <a:r>
              <a:rPr lang="en-US" sz="2500" dirty="0"/>
              <a:t>Rotation</a:t>
            </a:r>
          </a:p>
          <a:p>
            <a:pPr lvl="1" eaLnBrk="1" hangingPunct="1"/>
            <a:endParaRPr lang="en-US" sz="2500" dirty="0"/>
          </a:p>
          <a:p>
            <a:pPr eaLnBrk="1" hangingPunct="1"/>
            <a:r>
              <a:rPr lang="en-US" sz="2500" dirty="0"/>
              <a:t>Partially invariant to</a:t>
            </a:r>
          </a:p>
          <a:p>
            <a:pPr lvl="1" eaLnBrk="1" hangingPunct="1"/>
            <a:r>
              <a:rPr lang="en-US" sz="2500" dirty="0"/>
              <a:t>Illumination changes</a:t>
            </a:r>
          </a:p>
          <a:p>
            <a:pPr lvl="1" eaLnBrk="1" hangingPunct="1"/>
            <a:r>
              <a:rPr lang="en-US" sz="2500" dirty="0"/>
              <a:t>Camera viewpoint</a:t>
            </a:r>
          </a:p>
          <a:p>
            <a:pPr lvl="1" eaLnBrk="1" hangingPunct="1"/>
            <a:r>
              <a:rPr lang="en-US" sz="2500" dirty="0"/>
              <a:t>Occlusion, clutter</a:t>
            </a:r>
          </a:p>
          <a:p>
            <a:pPr eaLnBrk="1" hangingPunct="1"/>
            <a:endParaRPr lang="en-US" sz="2500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1068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0" hangingPunct="0"/>
            <a:fld id="{5DE92843-2CF0-4627-A304-3292E562205B}" type="slidenum">
              <a:rPr lang="en-US">
                <a:solidFill>
                  <a:srgbClr val="000000"/>
                </a:solidFill>
              </a:rPr>
              <a:pPr eaLnBrk="0" hangingPunct="0"/>
              <a:t>116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2016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0164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527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50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869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074333"/>
            <a:ext cx="8520600" cy="5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59537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A3C84-B78A-4974-AD61-9619B9242517}" type="datetimeFigureOut">
              <a:rPr lang="en-US" smtClean="0"/>
              <a:pPr/>
              <a:t>3/28/24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hyperlink" Target="http://www.flickr.com/photos/swashford/428567562/" TargetMode="External"/><Relationship Id="rId5" Type="http://schemas.openxmlformats.org/officeDocument/2006/relationships/hyperlink" Target="http://www.flickr.com/photos/diaphanus/136915456/" TargetMode="Externa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diaphanus/136915456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flickr.com/photos/scpgt/328570837/" TargetMode="Externa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se.uwa.edu.au/~pk/research/matlabfns/Spatial/Docs/Harris/A_Combined_Corner_and_Edge_Detector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3.bin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24.xml"/><Relationship Id="rId9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8.pn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25.xml"/><Relationship Id="rId9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7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if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oleObject" Target="../embeddings/oleObject8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tiff"/><Relationship Id="rId5" Type="http://schemas.openxmlformats.org/officeDocument/2006/relationships/image" Target="../media/image60.tiff"/><Relationship Id="rId4" Type="http://schemas.openxmlformats.org/officeDocument/2006/relationships/image" Target="../media/image59.tif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notesSlide" Target="../notesSlides/notesSlide57.xml"/><Relationship Id="rId7" Type="http://schemas.openxmlformats.org/officeDocument/2006/relationships/image" Target="../media/image7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1.png"/><Relationship Id="rId11" Type="http://schemas.openxmlformats.org/officeDocument/2006/relationships/image" Target="../media/image70.emf"/><Relationship Id="rId5" Type="http://schemas.openxmlformats.org/officeDocument/2006/relationships/image" Target="../media/image69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74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notesSlide" Target="../notesSlides/notesSlide58.xml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1.png"/><Relationship Id="rId11" Type="http://schemas.openxmlformats.org/officeDocument/2006/relationships/image" Target="../media/image76.emf"/><Relationship Id="rId5" Type="http://schemas.openxmlformats.org/officeDocument/2006/relationships/image" Target="../media/image75.e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7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notesSlide" Target="../notesSlides/notesSlide59.xml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1.png"/><Relationship Id="rId11" Type="http://schemas.openxmlformats.org/officeDocument/2006/relationships/image" Target="../media/image79.emf"/><Relationship Id="rId5" Type="http://schemas.openxmlformats.org/officeDocument/2006/relationships/image" Target="../media/image78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74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notesSlide" Target="../notesSlides/notesSlide60.xml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1.png"/><Relationship Id="rId11" Type="http://schemas.openxmlformats.org/officeDocument/2006/relationships/image" Target="../media/image81.emf"/><Relationship Id="rId5" Type="http://schemas.openxmlformats.org/officeDocument/2006/relationships/image" Target="../media/image80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7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notesSlide" Target="../notesSlides/notesSlide61.xml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1.png"/><Relationship Id="rId11" Type="http://schemas.openxmlformats.org/officeDocument/2006/relationships/image" Target="../media/image83.emf"/><Relationship Id="rId5" Type="http://schemas.openxmlformats.org/officeDocument/2006/relationships/image" Target="../media/image82.e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notesSlide" Target="../notesSlides/notesSlide62.xml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1.png"/><Relationship Id="rId11" Type="http://schemas.openxmlformats.org/officeDocument/2006/relationships/image" Target="../media/image85.emf"/><Relationship Id="rId5" Type="http://schemas.openxmlformats.org/officeDocument/2006/relationships/image" Target="../media/image84.e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7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ada.kth.se/cvap/abstracts/cvap198.html" TargetMode="Externa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88.png"/><Relationship Id="rId3" Type="http://schemas.openxmlformats.org/officeDocument/2006/relationships/notesSlide" Target="../notesSlides/notesSlide66.xml"/><Relationship Id="rId7" Type="http://schemas.openxmlformats.org/officeDocument/2006/relationships/image" Target="../media/image95.png"/><Relationship Id="rId12" Type="http://schemas.openxmlformats.org/officeDocument/2006/relationships/image" Target="../media/image9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4.png"/><Relationship Id="rId11" Type="http://schemas.openxmlformats.org/officeDocument/2006/relationships/image" Target="../media/image91.emf"/><Relationship Id="rId5" Type="http://schemas.openxmlformats.org/officeDocument/2006/relationships/image" Target="../media/image93.png"/><Relationship Id="rId10" Type="http://schemas.openxmlformats.org/officeDocument/2006/relationships/oleObject" Target="../embeddings/oleObject21.bin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jpeg"/><Relationship Id="rId3" Type="http://schemas.openxmlformats.org/officeDocument/2006/relationships/image" Target="../media/image100.jpeg"/><Relationship Id="rId7" Type="http://schemas.openxmlformats.org/officeDocument/2006/relationships/image" Target="../media/image104.jpeg"/><Relationship Id="rId12" Type="http://schemas.openxmlformats.org/officeDocument/2006/relationships/image" Target="../media/image109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jpeg"/><Relationship Id="rId11" Type="http://schemas.openxmlformats.org/officeDocument/2006/relationships/image" Target="../media/image108.jpeg"/><Relationship Id="rId5" Type="http://schemas.openxmlformats.org/officeDocument/2006/relationships/image" Target="../media/image102.jpeg"/><Relationship Id="rId10" Type="http://schemas.openxmlformats.org/officeDocument/2006/relationships/image" Target="../media/image107.jpeg"/><Relationship Id="rId4" Type="http://schemas.openxmlformats.org/officeDocument/2006/relationships/image" Target="../media/image101.jpeg"/><Relationship Id="rId9" Type="http://schemas.openxmlformats.org/officeDocument/2006/relationships/image" Target="../media/image106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tif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tiff"/><Relationship Id="rId5" Type="http://schemas.openxmlformats.org/officeDocument/2006/relationships/image" Target="../media/image113.jpeg"/><Relationship Id="rId4" Type="http://schemas.openxmlformats.org/officeDocument/2006/relationships/image" Target="../media/image112.jpe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3" Type="http://schemas.openxmlformats.org/officeDocument/2006/relationships/notesSlide" Target="../notesSlides/notesSlide71.xml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7.wmf"/><Relationship Id="rId5" Type="http://schemas.openxmlformats.org/officeDocument/2006/relationships/image" Target="../media/image115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18.w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19.png"/><Relationship Id="rId4" Type="http://schemas.openxmlformats.org/officeDocument/2006/relationships/oleObject" Target="../embeddings/oleObject24.bin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oleObject" Target="../embeddings/oleObject25.bin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ubc.ca/~lowe/papers/ijcv04.pdf" TargetMode="External"/><Relationship Id="rId4" Type="http://schemas.openxmlformats.org/officeDocument/2006/relationships/image" Target="../media/image12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notesSlide" Target="../notesSlides/notesSlide84.xml"/><Relationship Id="rId7" Type="http://schemas.openxmlformats.org/officeDocument/2006/relationships/image" Target="../media/image13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129.e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31.em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85.xml"/><Relationship Id="rId7" Type="http://schemas.openxmlformats.org/officeDocument/2006/relationships/image" Target="../media/image13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132.emf"/><Relationship Id="rId5" Type="http://schemas.openxmlformats.org/officeDocument/2006/relationships/image" Target="../media/image129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131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7" Type="http://schemas.openxmlformats.org/officeDocument/2006/relationships/image" Target="../media/image13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132.emf"/><Relationship Id="rId4" Type="http://schemas.openxmlformats.org/officeDocument/2006/relationships/oleObject" Target="../embeddings/oleObject33.bin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tiff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tiff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tiff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119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wmf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8.jpe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828800"/>
            <a:ext cx="7772400" cy="20574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/>
              <a:t>计算机视觉</a:t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04</a:t>
            </a:r>
            <a:r>
              <a:rPr lang="zh-CN" altLang="en-US" dirty="0"/>
              <a:t>章 图像局部特征提取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343400"/>
            <a:ext cx="5105400" cy="12954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西工大软件学院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 刘春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FB34AB-A8FA-AD43-A8C9-D27A719C2FEB}"/>
              </a:ext>
            </a:extLst>
          </p:cNvPr>
          <p:cNvSpPr txBox="1">
            <a:spLocks/>
          </p:cNvSpPr>
          <p:nvPr/>
        </p:nvSpPr>
        <p:spPr>
          <a:xfrm>
            <a:off x="1524000" y="5486400"/>
            <a:ext cx="6400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Ref:</a:t>
            </a:r>
            <a:r>
              <a:rPr lang="zh-CN" altLang="en-US" dirty="0"/>
              <a:t> </a:t>
            </a:r>
            <a:r>
              <a:rPr lang="en-US" altLang="zh-CN" dirty="0"/>
              <a:t>C280, Computer Vision</a:t>
            </a:r>
          </a:p>
          <a:p>
            <a:r>
              <a:rPr lang="en-US" altLang="zh-CN" dirty="0"/>
              <a:t>Prof. Trevor Darrell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C40B7-4F6C-B943-B642-997660A7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图像特征类别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529007-BB82-2F44-B71B-06AD60B9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sz="3500" dirty="0"/>
              <a:t>低级特征</a:t>
            </a:r>
            <a:endParaRPr kumimoji="1" lang="en-US" altLang="zh-CN" sz="3500" dirty="0"/>
          </a:p>
          <a:p>
            <a:pPr marL="0" indent="0">
              <a:buNone/>
            </a:pPr>
            <a:r>
              <a:rPr kumimoji="1" lang="zh-CN" altLang="en-US" sz="3000" dirty="0"/>
              <a:t>         </a:t>
            </a:r>
            <a:r>
              <a:rPr kumimoji="1" lang="en-US" altLang="zh-CN" sz="3000" dirty="0"/>
              <a:t>—</a:t>
            </a:r>
            <a:r>
              <a:rPr kumimoji="1" lang="zh-CN" altLang="en-US" sz="3000" dirty="0"/>
              <a:t>有意义的兴趣点，局部特征：</a:t>
            </a:r>
            <a:endParaRPr kumimoji="1" lang="en-US" altLang="zh-CN" sz="3000" dirty="0"/>
          </a:p>
          <a:p>
            <a:pPr marL="0" indent="0">
              <a:buNone/>
            </a:pPr>
            <a:r>
              <a:rPr kumimoji="1" lang="zh-CN" altLang="en-US" sz="3000" dirty="0"/>
              <a:t>             边缘，角点，纹理</a:t>
            </a:r>
            <a:endParaRPr kumimoji="1" lang="en-US" altLang="zh-CN" sz="3000" dirty="0"/>
          </a:p>
          <a:p>
            <a:pPr marL="0" indent="0">
              <a:buNone/>
            </a:pPr>
            <a:endParaRPr kumimoji="1" lang="en-US" altLang="zh-CN" sz="3000" dirty="0"/>
          </a:p>
          <a:p>
            <a:r>
              <a:rPr kumimoji="1" lang="zh-CN" altLang="en-US" sz="3500" dirty="0"/>
              <a:t>中级特征</a:t>
            </a:r>
            <a:endParaRPr kumimoji="1" lang="en-US" altLang="zh-CN" sz="3500" dirty="0"/>
          </a:p>
          <a:p>
            <a:pPr marL="0" indent="0">
              <a:buNone/>
            </a:pPr>
            <a:r>
              <a:rPr kumimoji="1" lang="zh-CN" altLang="en-US" sz="3000" dirty="0"/>
              <a:t>         </a:t>
            </a:r>
            <a:r>
              <a:rPr kumimoji="1" lang="en-US" altLang="zh-CN" sz="3000" dirty="0"/>
              <a:t>—</a:t>
            </a:r>
            <a:r>
              <a:rPr kumimoji="1" lang="zh-CN" altLang="en-US" sz="3000" dirty="0"/>
              <a:t>直线，曲线，轮廓线，椭圆线</a:t>
            </a:r>
            <a:endParaRPr kumimoji="1" lang="en-US" altLang="zh-CN" sz="3000" dirty="0"/>
          </a:p>
          <a:p>
            <a:pPr marL="0" indent="0">
              <a:buNone/>
            </a:pPr>
            <a:r>
              <a:rPr kumimoji="1" lang="zh-CN" altLang="en-US" sz="3000" dirty="0"/>
              <a:t>         </a:t>
            </a:r>
            <a:r>
              <a:rPr kumimoji="1" lang="en-US" altLang="zh-CN" sz="3000" dirty="0"/>
              <a:t>—</a:t>
            </a:r>
            <a:r>
              <a:rPr kumimoji="1" lang="zh-CN" altLang="en-US" sz="3000" dirty="0"/>
              <a:t>组合特征</a:t>
            </a:r>
            <a:endParaRPr kumimoji="1" lang="en-US" altLang="zh-CN" sz="3000" dirty="0"/>
          </a:p>
          <a:p>
            <a:pPr marL="0" indent="0">
              <a:buNone/>
            </a:pPr>
            <a:r>
              <a:rPr kumimoji="1" lang="zh-CN" altLang="en-US" sz="3000" dirty="0"/>
              <a:t>             平行线，角点组合，低级特征组合</a:t>
            </a:r>
            <a:endParaRPr kumimoji="1" lang="en-US" altLang="zh-CN" sz="3000" dirty="0"/>
          </a:p>
          <a:p>
            <a:pPr marL="0" indent="0">
              <a:buNone/>
            </a:pPr>
            <a:endParaRPr kumimoji="1" lang="en-US" altLang="zh-CN" sz="3000" dirty="0"/>
          </a:p>
          <a:p>
            <a:r>
              <a:rPr kumimoji="1" lang="zh-CN" altLang="en-US" sz="3500" dirty="0"/>
              <a:t>高级特征</a:t>
            </a:r>
            <a:endParaRPr kumimoji="1" lang="en-US" altLang="zh-CN" sz="3500" dirty="0"/>
          </a:p>
          <a:p>
            <a:pPr marL="0" indent="0">
              <a:buNone/>
            </a:pPr>
            <a:r>
              <a:rPr kumimoji="1" lang="zh-CN" altLang="en-US" sz="3300" dirty="0"/>
              <a:t>        </a:t>
            </a:r>
            <a:r>
              <a:rPr kumimoji="1" lang="en-US" altLang="zh-CN" sz="3000" dirty="0"/>
              <a:t>—</a:t>
            </a:r>
            <a:r>
              <a:rPr kumimoji="1" lang="zh-CN" altLang="en-US" sz="3000" dirty="0"/>
              <a:t>人脸，建筑物，等等</a:t>
            </a:r>
            <a:endParaRPr kumimoji="1" lang="zh-CN" altLang="en-US" sz="3300" dirty="0"/>
          </a:p>
        </p:txBody>
      </p:sp>
    </p:spTree>
    <p:extLst>
      <p:ext uri="{BB962C8B-B14F-4D97-AF65-F5344CB8AC3E}">
        <p14:creationId xmlns:p14="http://schemas.microsoft.com/office/powerpoint/2010/main" val="301242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zh-CN" altLang="en-US" dirty="0"/>
              <a:t>图像匹配</a:t>
            </a:r>
            <a:endParaRPr lang="en-US" dirty="0"/>
          </a:p>
        </p:txBody>
      </p:sp>
      <p:pic>
        <p:nvPicPr>
          <p:cNvPr id="17411" name="Picture 2" descr="http://farm1.static.flickr.com/47/136915456_c6f719ea3f.jpg?v=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900" y="1762125"/>
            <a:ext cx="394970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extBox 4"/>
          <p:cNvSpPr txBox="1">
            <a:spLocks noChangeArrowheads="1"/>
          </p:cNvSpPr>
          <p:nvPr/>
        </p:nvSpPr>
        <p:spPr bwMode="auto">
          <a:xfrm>
            <a:off x="419100" y="4800600"/>
            <a:ext cx="36195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0">
                <a:latin typeface="Arial" pitchFamily="34" charset="0"/>
              </a:rPr>
              <a:t>by </a:t>
            </a:r>
            <a:r>
              <a:rPr lang="en-US" sz="1600" b="0">
                <a:latin typeface="Arial" pitchFamily="34" charset="0"/>
                <a:hlinkClick r:id="rId5"/>
              </a:rPr>
              <a:t>Diva Sian</a:t>
            </a:r>
            <a:endParaRPr lang="en-US" sz="1600" b="0">
              <a:latin typeface="Arial" pitchFamily="34" charset="0"/>
            </a:endParaRPr>
          </a:p>
        </p:txBody>
      </p:sp>
      <p:sp>
        <p:nvSpPr>
          <p:cNvPr id="17413" name="TextBox 6"/>
          <p:cNvSpPr txBox="1">
            <a:spLocks noChangeArrowheads="1"/>
          </p:cNvSpPr>
          <p:nvPr/>
        </p:nvSpPr>
        <p:spPr bwMode="auto">
          <a:xfrm>
            <a:off x="4724400" y="5562600"/>
            <a:ext cx="36195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0">
                <a:latin typeface="Arial" pitchFamily="34" charset="0"/>
              </a:rPr>
              <a:t>by </a:t>
            </a:r>
            <a:r>
              <a:rPr lang="en-US" sz="1600" b="0">
                <a:latin typeface="Arial" pitchFamily="34" charset="0"/>
                <a:hlinkClick r:id="rId6"/>
              </a:rPr>
              <a:t>swashford</a:t>
            </a:r>
            <a:endParaRPr lang="en-US" sz="1600" b="0">
              <a:latin typeface="Arial" pitchFamily="34" charset="0"/>
            </a:endParaRPr>
          </a:p>
        </p:txBody>
      </p:sp>
      <p:pic>
        <p:nvPicPr>
          <p:cNvPr id="17414" name="Picture 6" descr="http://farm1.static.flickr.com/150/428567562_c51726836e.jpg?v=117443048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86325" y="1066800"/>
            <a:ext cx="3343275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5" name="Text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7112000"/>
            <a:ext cx="9144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TexPoint fonts used in EMF. </a:t>
            </a:r>
          </a:p>
          <a:p>
            <a:r>
              <a:rPr lang="en-US"/>
              <a:t>Read the TexPoint manual before you delete this box.: </a:t>
            </a:r>
            <a:r>
              <a:rPr lang="en-US">
                <a:latin typeface="CMEX10" pitchFamily="34" charset="0"/>
              </a:rPr>
              <a:t>A</a:t>
            </a:r>
            <a:r>
              <a:rPr lang="en-US">
                <a:latin typeface="CMMI7" pitchFamily="34" charset="0"/>
              </a:rPr>
              <a:t>A</a:t>
            </a:r>
            <a:r>
              <a:rPr lang="en-US">
                <a:latin typeface="CMR10" pitchFamily="34" charset="0"/>
              </a:rPr>
              <a:t>A</a:t>
            </a:r>
            <a:r>
              <a:rPr lang="en-US">
                <a:latin typeface="CMMI10" pitchFamily="34" charset="0"/>
              </a:rPr>
              <a:t>A</a:t>
            </a:r>
            <a:r>
              <a:rPr lang="en-US">
                <a:latin typeface="CMSY10" pitchFamily="34" charset="0"/>
              </a:rPr>
              <a:t>A</a:t>
            </a:r>
            <a:r>
              <a:rPr lang="en-US">
                <a:latin typeface="CMR7" pitchFamily="34" charset="0"/>
              </a:rPr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0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难于匹配</a:t>
            </a:r>
            <a:endParaRPr lang="en-US" dirty="0"/>
          </a:p>
        </p:txBody>
      </p:sp>
      <p:pic>
        <p:nvPicPr>
          <p:cNvPr id="18435" name="Picture 2" descr="http://farm1.static.flickr.com/47/136915456_c6f719ea3f.jpg?v=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" y="1762125"/>
            <a:ext cx="394970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419100" y="4800600"/>
            <a:ext cx="36195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0">
                <a:latin typeface="Arial" pitchFamily="34" charset="0"/>
              </a:rPr>
              <a:t>by </a:t>
            </a:r>
            <a:r>
              <a:rPr lang="en-US" sz="1600" b="0">
                <a:latin typeface="Arial" pitchFamily="34" charset="0"/>
                <a:hlinkClick r:id="rId3"/>
              </a:rPr>
              <a:t>Diva Sian</a:t>
            </a:r>
            <a:endParaRPr lang="en-US" sz="1600" b="0">
              <a:latin typeface="Arial" pitchFamily="34" charset="0"/>
            </a:endParaRPr>
          </a:p>
        </p:txBody>
      </p:sp>
      <p:pic>
        <p:nvPicPr>
          <p:cNvPr id="18437" name="Picture 4" descr="http://farm1.static.flickr.com/133/328570837_37b6289916.jpg?v=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14850" y="1795463"/>
            <a:ext cx="4171950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TextBox 6"/>
          <p:cNvSpPr txBox="1">
            <a:spLocks noChangeArrowheads="1"/>
          </p:cNvSpPr>
          <p:nvPr/>
        </p:nvSpPr>
        <p:spPr bwMode="auto">
          <a:xfrm>
            <a:off x="4876800" y="4800600"/>
            <a:ext cx="36195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0">
                <a:latin typeface="Arial" pitchFamily="34" charset="0"/>
              </a:rPr>
              <a:t>by </a:t>
            </a:r>
            <a:r>
              <a:rPr lang="en-US" sz="1600" b="0">
                <a:latin typeface="Arial" pitchFamily="34" charset="0"/>
                <a:hlinkClick r:id="rId5"/>
              </a:rPr>
              <a:t>scgbt</a:t>
            </a:r>
            <a:endParaRPr lang="en-US" sz="1600" b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40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4478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4478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无法匹配</a:t>
            </a:r>
            <a:r>
              <a:rPr lang="en-US" dirty="0"/>
              <a:t>?</a:t>
            </a:r>
          </a:p>
        </p:txBody>
      </p:sp>
      <p:sp>
        <p:nvSpPr>
          <p:cNvPr id="20485" name="TextBox 6"/>
          <p:cNvSpPr txBox="1">
            <a:spLocks noChangeArrowheads="1"/>
          </p:cNvSpPr>
          <p:nvPr/>
        </p:nvSpPr>
        <p:spPr bwMode="auto">
          <a:xfrm>
            <a:off x="2781300" y="5910263"/>
            <a:ext cx="36195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>
                <a:latin typeface="Arial" pitchFamily="34" charset="0"/>
              </a:rPr>
              <a:t>火星</a:t>
            </a:r>
            <a:r>
              <a:rPr lang="zh-CN" altLang="en-US" sz="1600" dirty="0">
                <a:latin typeface="Arial" pitchFamily="34" charset="0"/>
              </a:rPr>
              <a:t>漫游车图片</a:t>
            </a:r>
            <a:endParaRPr lang="en-US" sz="1600" b="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1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4478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447800"/>
            <a:ext cx="4419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TextBox 6"/>
          <p:cNvSpPr txBox="1">
            <a:spLocks noChangeArrowheads="1"/>
          </p:cNvSpPr>
          <p:nvPr/>
        </p:nvSpPr>
        <p:spPr bwMode="auto">
          <a:xfrm>
            <a:off x="2781300" y="5910263"/>
            <a:ext cx="3619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0" dirty="0">
                <a:latin typeface="Arial" pitchFamily="34" charset="0"/>
              </a:rPr>
              <a:t>SIF</a:t>
            </a:r>
            <a:r>
              <a:rPr lang="en-US" altLang="zh-CN" sz="1600" b="0" dirty="0">
                <a:latin typeface="Arial" pitchFamily="34" charset="0"/>
              </a:rPr>
              <a:t>T</a:t>
            </a:r>
            <a:r>
              <a:rPr lang="zh-CN" altLang="en-US" sz="1600" dirty="0">
                <a:latin typeface="Arial" pitchFamily="34" charset="0"/>
              </a:rPr>
              <a:t>算法匹配结果</a:t>
            </a:r>
            <a:endParaRPr lang="en-US" sz="1600" b="0" dirty="0">
              <a:latin typeface="Arial" pitchFamily="34" charset="0"/>
            </a:endParaRPr>
          </a:p>
        </p:txBody>
      </p:sp>
      <p:sp>
        <p:nvSpPr>
          <p:cNvPr id="215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</a:t>
            </a:r>
            <a:r>
              <a:rPr lang="en-US" sz="2400" dirty="0"/>
              <a:t>(</a:t>
            </a:r>
            <a:r>
              <a:rPr lang="zh-CN" altLang="en-US" sz="2400" dirty="0"/>
              <a:t>彩色区域</a:t>
            </a:r>
            <a:r>
              <a:rPr lang="en-US" sz="2400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170950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D60093"/>
                </a:solidFill>
              </a:rPr>
              <a:t>4.1.</a:t>
            </a:r>
            <a:r>
              <a:rPr lang="zh-CN" altLang="en-US" dirty="0">
                <a:solidFill>
                  <a:srgbClr val="D60093"/>
                </a:solidFill>
              </a:rPr>
              <a:t>局部特征与匹配</a:t>
            </a:r>
            <a:endParaRPr lang="en-US" altLang="zh-CN" dirty="0">
              <a:solidFill>
                <a:srgbClr val="D60093"/>
              </a:solidFill>
            </a:endParaRPr>
          </a:p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en-US" dirty="0"/>
          </a:p>
          <a:p>
            <a:r>
              <a:rPr lang="en-US" altLang="zh-CN" dirty="0"/>
              <a:t>4.3</a:t>
            </a:r>
            <a:r>
              <a:rPr lang="zh-CN" altLang="en-US" dirty="0"/>
              <a:t> 尺度空间</a:t>
            </a:r>
            <a:endParaRPr lang="en-US" altLang="zh-CN" dirty="0"/>
          </a:p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endParaRPr lang="en-US" altLang="zh-CN" dirty="0"/>
          </a:p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endParaRPr lang="en-US" altLang="zh-CN" dirty="0"/>
          </a:p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endParaRPr lang="en-US" altLang="zh-CN" dirty="0"/>
          </a:p>
          <a:p>
            <a:r>
              <a:rPr lang="en-US" altLang="zh-CN" dirty="0"/>
              <a:t>4.7.SIFT</a:t>
            </a:r>
            <a:r>
              <a:rPr lang="zh-CN" altLang="en-US" dirty="0"/>
              <a:t>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075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ru-RU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5800" y="1600200"/>
            <a:ext cx="7486650" cy="2660650"/>
            <a:chOff x="516" y="2164"/>
            <a:chExt cx="4716" cy="1676"/>
          </a:xfrm>
        </p:grpSpPr>
        <p:pic>
          <p:nvPicPr>
            <p:cNvPr id="65541" name="Picture 5" descr="image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6" y="2164"/>
              <a:ext cx="2316" cy="1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5542" name="Picture 6" descr="image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16" y="2164"/>
              <a:ext cx="2316" cy="1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5540" name="Text Box 7"/>
          <p:cNvSpPr txBox="1">
            <a:spLocks noChangeArrowheads="1"/>
          </p:cNvSpPr>
          <p:nvPr/>
        </p:nvSpPr>
        <p:spPr bwMode="auto">
          <a:xfrm>
            <a:off x="431800" y="6550223"/>
            <a:ext cx="8712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[Darya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Frolova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 and Denis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Simakov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]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85800" y="4419599"/>
            <a:ext cx="7772400" cy="1752601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2400" dirty="0"/>
              <a:t>我们需要匹配（对齐）图像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2400" dirty="0"/>
              <a:t>基于灰度匹配的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方法对遮挡、光照、视差效应敏感，    需要寻找局部特征进行匹配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2400" dirty="0"/>
              <a:t>人眼是如何实现匹配的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900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20738" y="3436938"/>
            <a:ext cx="7485062" cy="2663825"/>
            <a:chOff x="528" y="2472"/>
            <a:chExt cx="4715" cy="1678"/>
          </a:xfrm>
        </p:grpSpPr>
        <p:pic>
          <p:nvPicPr>
            <p:cNvPr id="66565" name="Picture 3" descr="SIFT2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28" y="2472"/>
              <a:ext cx="2315" cy="1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6566" name="Picture 4" descr="SIFT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8" y="2472"/>
              <a:ext cx="2315" cy="16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6563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en-US" dirty="0"/>
          </a:p>
        </p:txBody>
      </p:sp>
      <p:sp>
        <p:nvSpPr>
          <p:cNvPr id="66564" name="Rectangle 6"/>
          <p:cNvSpPr>
            <a:spLocks noChangeArrowheads="1"/>
          </p:cNvSpPr>
          <p:nvPr/>
        </p:nvSpPr>
        <p:spPr bwMode="auto">
          <a:xfrm>
            <a:off x="838200" y="1219200"/>
            <a:ext cx="7086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在两幅图像上检测特征点</a:t>
            </a:r>
            <a:endParaRPr lang="en-US" sz="2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31800" y="6550223"/>
            <a:ext cx="8712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[Darya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Frolova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 and Denis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Simakov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0259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en-US" dirty="0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838200" y="1219200"/>
            <a:ext cx="70866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在两幅图像上检测特征点</a:t>
            </a:r>
            <a:endParaRPr lang="en-US" sz="2800" dirty="0">
              <a:solidFill>
                <a:srgbClr val="000000"/>
              </a:solidFill>
              <a:cs typeface="Times New Roman" pitchFamily="18" charset="0"/>
            </a:endParaRP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寻找对应的特征点对</a:t>
            </a:r>
            <a:endParaRPr lang="en-US" sz="2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22325" y="3436938"/>
            <a:ext cx="7485063" cy="2663825"/>
            <a:chOff x="528" y="2472"/>
            <a:chExt cx="4715" cy="1678"/>
          </a:xfrm>
        </p:grpSpPr>
        <p:pic>
          <p:nvPicPr>
            <p:cNvPr id="67589" name="Picture 5" descr="SIFT2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28" y="2472"/>
              <a:ext cx="2315" cy="1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7590" name="Picture 6" descr="SIFT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8" y="2472"/>
              <a:ext cx="2315" cy="16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7591" name="Line 7"/>
            <p:cNvSpPr>
              <a:spLocks noChangeShapeType="1"/>
            </p:cNvSpPr>
            <p:nvPr/>
          </p:nvSpPr>
          <p:spPr bwMode="auto">
            <a:xfrm flipV="1">
              <a:off x="2064" y="2976"/>
              <a:ext cx="1200" cy="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2" name="Line 8"/>
            <p:cNvSpPr>
              <a:spLocks noChangeShapeType="1"/>
            </p:cNvSpPr>
            <p:nvPr/>
          </p:nvSpPr>
          <p:spPr bwMode="auto">
            <a:xfrm>
              <a:off x="2658" y="3146"/>
              <a:ext cx="1144" cy="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3" name="Line 9"/>
            <p:cNvSpPr>
              <a:spLocks noChangeShapeType="1"/>
            </p:cNvSpPr>
            <p:nvPr/>
          </p:nvSpPr>
          <p:spPr bwMode="auto">
            <a:xfrm flipV="1">
              <a:off x="2338" y="3840"/>
              <a:ext cx="1070" cy="9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4" name="Line 10"/>
            <p:cNvSpPr>
              <a:spLocks noChangeShapeType="1"/>
            </p:cNvSpPr>
            <p:nvPr/>
          </p:nvSpPr>
          <p:spPr bwMode="auto">
            <a:xfrm flipV="1">
              <a:off x="2626" y="3552"/>
              <a:ext cx="1094" cy="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5" name="Line 11"/>
            <p:cNvSpPr>
              <a:spLocks noChangeShapeType="1"/>
            </p:cNvSpPr>
            <p:nvPr/>
          </p:nvSpPr>
          <p:spPr bwMode="auto">
            <a:xfrm flipV="1">
              <a:off x="2162" y="3288"/>
              <a:ext cx="1150" cy="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31800" y="6550223"/>
            <a:ext cx="8712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[Darya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Frolova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 and Denis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Simakov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65119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en-US" dirty="0"/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838200" y="1219200"/>
            <a:ext cx="70866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zh-CN" altLang="en-US" sz="2800">
                <a:solidFill>
                  <a:srgbClr val="000000"/>
                </a:solidFill>
                <a:cs typeface="Times New Roman" pitchFamily="18" charset="0"/>
              </a:rPr>
              <a:t> 在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两幅图像上检测特征点</a:t>
            </a:r>
            <a:endParaRPr lang="en-US" altLang="zh-CN" sz="2800" dirty="0">
              <a:solidFill>
                <a:srgbClr val="000000"/>
              </a:solidFill>
              <a:cs typeface="Times New Roman" pitchFamily="18" charset="0"/>
            </a:endParaRP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altLang="zh-CN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寻找对应的特征点对</a:t>
            </a:r>
            <a:endParaRPr lang="en-US" altLang="zh-CN" sz="2800" dirty="0">
              <a:solidFill>
                <a:srgbClr val="000000"/>
              </a:solidFill>
              <a:cs typeface="Times New Roman" pitchFamily="18" charset="0"/>
            </a:endParaRP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使用特征点对进行图像匹配</a:t>
            </a:r>
            <a:endParaRPr lang="ru-RU" sz="2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pic>
        <p:nvPicPr>
          <p:cNvPr id="68612" name="Picture 4" descr="homograp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325" y="3436938"/>
            <a:ext cx="5691188" cy="284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31800" y="6550223"/>
            <a:ext cx="8712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[Darya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Frolova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 and Denis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Simakov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575802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9525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ru-RU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160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问题</a:t>
            </a:r>
            <a:r>
              <a:rPr lang="en-US" dirty="0"/>
              <a:t>1</a:t>
            </a:r>
            <a:r>
              <a:rPr lang="zh-CN" altLang="en-US" dirty="0"/>
              <a:t>：</a:t>
            </a:r>
            <a:endParaRPr lang="en-US" dirty="0"/>
          </a:p>
          <a:p>
            <a:pPr lvl="1" eaLnBrk="1" hangingPunct="1"/>
            <a:r>
              <a:rPr lang="zh-CN" altLang="en-US" dirty="0"/>
              <a:t>分别在两幅图像独立检测特征点</a:t>
            </a: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1200" y="3525838"/>
            <a:ext cx="4076700" cy="1000125"/>
            <a:chOff x="1248" y="2832"/>
            <a:chExt cx="2568" cy="630"/>
          </a:xfrm>
        </p:grpSpPr>
        <p:pic>
          <p:nvPicPr>
            <p:cNvPr id="69639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48" y="2832"/>
              <a:ext cx="1080" cy="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9640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32" y="2880"/>
              <a:ext cx="984" cy="5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9641" name="Oval 7"/>
            <p:cNvSpPr>
              <a:spLocks noChangeArrowheads="1"/>
            </p:cNvSpPr>
            <p:nvPr/>
          </p:nvSpPr>
          <p:spPr bwMode="auto">
            <a:xfrm>
              <a:off x="1632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2" name="Oval 8"/>
            <p:cNvSpPr>
              <a:spLocks noChangeArrowheads="1"/>
            </p:cNvSpPr>
            <p:nvPr/>
          </p:nvSpPr>
          <p:spPr bwMode="auto">
            <a:xfrm>
              <a:off x="1488" y="321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3" name="Oval 9"/>
            <p:cNvSpPr>
              <a:spLocks noChangeArrowheads="1"/>
            </p:cNvSpPr>
            <p:nvPr/>
          </p:nvSpPr>
          <p:spPr bwMode="auto">
            <a:xfrm>
              <a:off x="1680" y="331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4" name="Oval 10"/>
            <p:cNvSpPr>
              <a:spLocks noChangeArrowheads="1"/>
            </p:cNvSpPr>
            <p:nvPr/>
          </p:nvSpPr>
          <p:spPr bwMode="auto">
            <a:xfrm>
              <a:off x="1872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5" name="Oval 11"/>
            <p:cNvSpPr>
              <a:spLocks noChangeArrowheads="1"/>
            </p:cNvSpPr>
            <p:nvPr/>
          </p:nvSpPr>
          <p:spPr bwMode="auto">
            <a:xfrm>
              <a:off x="3648" y="3120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6" name="Oval 12"/>
            <p:cNvSpPr>
              <a:spLocks noChangeArrowheads="1"/>
            </p:cNvSpPr>
            <p:nvPr/>
          </p:nvSpPr>
          <p:spPr bwMode="auto">
            <a:xfrm>
              <a:off x="3504" y="3312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7" name="Oval 13"/>
            <p:cNvSpPr>
              <a:spLocks noChangeArrowheads="1"/>
            </p:cNvSpPr>
            <p:nvPr/>
          </p:nvSpPr>
          <p:spPr bwMode="auto">
            <a:xfrm>
              <a:off x="3264" y="3072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8" name="Oval 14"/>
            <p:cNvSpPr>
              <a:spLocks noChangeArrowheads="1"/>
            </p:cNvSpPr>
            <p:nvPr/>
          </p:nvSpPr>
          <p:spPr bwMode="auto">
            <a:xfrm>
              <a:off x="2928" y="3264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69637" name="Text Box 15"/>
          <p:cNvSpPr txBox="1">
            <a:spLocks noChangeArrowheads="1"/>
          </p:cNvSpPr>
          <p:nvPr/>
        </p:nvSpPr>
        <p:spPr bwMode="auto">
          <a:xfrm>
            <a:off x="3492353" y="4603789"/>
            <a:ext cx="12955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无法匹配</a:t>
            </a:r>
            <a:r>
              <a:rPr lang="en-US" sz="2000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!</a:t>
            </a:r>
            <a:endParaRPr lang="ru-RU" sz="2000" dirty="0">
              <a:solidFill>
                <a:srgbClr val="FF33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36" name="Text Box 16"/>
          <p:cNvSpPr txBox="1">
            <a:spLocks noChangeArrowheads="1"/>
          </p:cNvSpPr>
          <p:nvPr/>
        </p:nvSpPr>
        <p:spPr bwMode="auto">
          <a:xfrm>
            <a:off x="1676400" y="5278438"/>
            <a:ext cx="5715000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3200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需要一个可重复的检测子</a:t>
            </a:r>
            <a:endParaRPr lang="ru-RU" sz="3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431800" y="6550223"/>
            <a:ext cx="8712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[Darya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Frolova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 and Denis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Simakov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5904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6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ru-RU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2556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dirty="0"/>
          </a:p>
          <a:p>
            <a:pPr lvl="1" eaLnBrk="1" hangingPunct="1"/>
            <a:r>
              <a:rPr lang="zh-CN" altLang="en-US" dirty="0"/>
              <a:t>确定的特征点，如何进行对应</a:t>
            </a:r>
            <a:endParaRPr lang="en-US" dirty="0"/>
          </a:p>
        </p:txBody>
      </p:sp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535363"/>
            <a:ext cx="17145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3611563"/>
            <a:ext cx="15621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62" name="Oval 6"/>
          <p:cNvSpPr>
            <a:spLocks noChangeArrowheads="1"/>
          </p:cNvSpPr>
          <p:nvPr/>
        </p:nvSpPr>
        <p:spPr bwMode="auto">
          <a:xfrm>
            <a:off x="2590800" y="38401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0663" name="Oval 7"/>
          <p:cNvSpPr>
            <a:spLocks noChangeArrowheads="1"/>
          </p:cNvSpPr>
          <p:nvPr/>
        </p:nvSpPr>
        <p:spPr bwMode="auto">
          <a:xfrm>
            <a:off x="2362200" y="41449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0664" name="Oval 8"/>
          <p:cNvSpPr>
            <a:spLocks noChangeArrowheads="1"/>
          </p:cNvSpPr>
          <p:nvPr/>
        </p:nvSpPr>
        <p:spPr bwMode="auto">
          <a:xfrm>
            <a:off x="2667000" y="42973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0665" name="Oval 9"/>
          <p:cNvSpPr>
            <a:spLocks noChangeArrowheads="1"/>
          </p:cNvSpPr>
          <p:nvPr/>
        </p:nvSpPr>
        <p:spPr bwMode="auto">
          <a:xfrm>
            <a:off x="2971800" y="40687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0666" name="Oval 10"/>
          <p:cNvSpPr>
            <a:spLocks noChangeArrowheads="1"/>
          </p:cNvSpPr>
          <p:nvPr/>
        </p:nvSpPr>
        <p:spPr bwMode="auto">
          <a:xfrm>
            <a:off x="5367338" y="3992563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0667" name="Oval 11"/>
          <p:cNvSpPr>
            <a:spLocks noChangeArrowheads="1"/>
          </p:cNvSpPr>
          <p:nvPr/>
        </p:nvSpPr>
        <p:spPr bwMode="auto">
          <a:xfrm>
            <a:off x="5000625" y="4192588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0668" name="Oval 12"/>
          <p:cNvSpPr>
            <a:spLocks noChangeArrowheads="1"/>
          </p:cNvSpPr>
          <p:nvPr/>
        </p:nvSpPr>
        <p:spPr bwMode="auto">
          <a:xfrm>
            <a:off x="4953000" y="3687763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0669" name="Oval 13"/>
          <p:cNvSpPr>
            <a:spLocks noChangeArrowheads="1"/>
          </p:cNvSpPr>
          <p:nvPr/>
        </p:nvSpPr>
        <p:spPr bwMode="auto">
          <a:xfrm>
            <a:off x="4724400" y="3992563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0670" name="Line 14"/>
          <p:cNvSpPr>
            <a:spLocks noChangeShapeType="1"/>
          </p:cNvSpPr>
          <p:nvPr/>
        </p:nvSpPr>
        <p:spPr bwMode="auto">
          <a:xfrm flipV="1">
            <a:off x="3109913" y="3709988"/>
            <a:ext cx="1839912" cy="37306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 flipV="1">
            <a:off x="3124200" y="3992563"/>
            <a:ext cx="1600200" cy="14446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672" name="Line 16"/>
          <p:cNvSpPr>
            <a:spLocks noChangeShapeType="1"/>
          </p:cNvSpPr>
          <p:nvPr/>
        </p:nvSpPr>
        <p:spPr bwMode="auto">
          <a:xfrm>
            <a:off x="3121025" y="4137025"/>
            <a:ext cx="1831975" cy="841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673" name="Line 17"/>
          <p:cNvSpPr>
            <a:spLocks noChangeShapeType="1"/>
          </p:cNvSpPr>
          <p:nvPr/>
        </p:nvSpPr>
        <p:spPr bwMode="auto">
          <a:xfrm flipV="1">
            <a:off x="3124200" y="4043363"/>
            <a:ext cx="2246313" cy="101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674" name="Text Box 18"/>
          <p:cNvSpPr txBox="1">
            <a:spLocks noChangeArrowheads="1"/>
          </p:cNvSpPr>
          <p:nvPr/>
        </p:nvSpPr>
        <p:spPr bwMode="auto">
          <a:xfrm>
            <a:off x="3886200" y="3001963"/>
            <a:ext cx="6096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6000" b="1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6000" b="1">
              <a:solidFill>
                <a:srgbClr val="FF33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675" name="Text Box 19"/>
          <p:cNvSpPr txBox="1">
            <a:spLocks noChangeArrowheads="1"/>
          </p:cNvSpPr>
          <p:nvPr/>
        </p:nvSpPr>
        <p:spPr bwMode="auto">
          <a:xfrm>
            <a:off x="685800" y="5211763"/>
            <a:ext cx="7696200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需要一个稳定的、可鉴别的特征点描述</a:t>
            </a:r>
            <a:endParaRPr lang="ru-RU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431800" y="6550223"/>
            <a:ext cx="8712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[Darya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Frolova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 and Denis 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Simakov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08593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en-US" dirty="0">
              <a:latin typeface="Arial" pitchFamily="34" charset="0"/>
            </a:endParaRPr>
          </a:p>
        </p:txBody>
      </p:sp>
      <p:pic>
        <p:nvPicPr>
          <p:cNvPr id="77827" name="Picture 5" descr="featExtract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447800"/>
            <a:ext cx="2846388" cy="381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8" name="Picture 6" descr="featExtract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7200" y="1568450"/>
            <a:ext cx="4419600" cy="353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8" descr="featData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52725" y="5191125"/>
            <a:ext cx="159067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7" descr="featData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91125" y="5183187"/>
            <a:ext cx="1590675" cy="159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ight Arrow 13"/>
          <p:cNvSpPr>
            <a:spLocks noChangeArrowheads="1"/>
          </p:cNvSpPr>
          <p:nvPr/>
        </p:nvSpPr>
        <p:spPr bwMode="auto">
          <a:xfrm rot="3375002">
            <a:off x="2547937" y="4252913"/>
            <a:ext cx="1133475" cy="685800"/>
          </a:xfrm>
          <a:prstGeom prst="rightArrow">
            <a:avLst>
              <a:gd name="adj1" fmla="val 50000"/>
              <a:gd name="adj2" fmla="val 4999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 sz="2400" b="1">
              <a:latin typeface="Times New Roman" pitchFamily="18" charset="0"/>
            </a:endParaRPr>
          </a:p>
        </p:txBody>
      </p:sp>
      <p:sp>
        <p:nvSpPr>
          <p:cNvPr id="13" name="Right Arrow 14"/>
          <p:cNvSpPr>
            <a:spLocks noChangeArrowheads="1"/>
          </p:cNvSpPr>
          <p:nvPr/>
        </p:nvSpPr>
        <p:spPr bwMode="auto">
          <a:xfrm rot="7715876">
            <a:off x="5618162" y="4281488"/>
            <a:ext cx="1133475" cy="685800"/>
          </a:xfrm>
          <a:prstGeom prst="rightArrow">
            <a:avLst>
              <a:gd name="adj1" fmla="val 50000"/>
              <a:gd name="adj2" fmla="val 4999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 sz="2400" b="1">
              <a:latin typeface="Times New Roman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FE8245-3FE9-5D49-BB9A-2DB0D89BB5D8}"/>
              </a:ext>
            </a:extLst>
          </p:cNvPr>
          <p:cNvSpPr/>
          <p:nvPr/>
        </p:nvSpPr>
        <p:spPr>
          <a:xfrm>
            <a:off x="676373" y="92458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Arial" pitchFamily="34" charset="0"/>
              </a:rPr>
              <a:t>几何变换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3839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4300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endParaRPr lang="en-US"/>
          </a:p>
        </p:txBody>
      </p:sp>
      <p:pic>
        <p:nvPicPr>
          <p:cNvPr id="78852" name="Picture 4"/>
          <p:cNvPicPr>
            <a:picLocks noChangeAspect="1" noChangeArrowheads="1"/>
          </p:cNvPicPr>
          <p:nvPr/>
        </p:nvPicPr>
        <p:blipFill>
          <a:blip r:embed="rId3" cstate="print"/>
          <a:srcRect l="15833" t="31601" r="17084" b="2982"/>
          <a:stretch>
            <a:fillRect/>
          </a:stretch>
        </p:blipFill>
        <p:spPr bwMode="auto">
          <a:xfrm>
            <a:off x="304800" y="1066800"/>
            <a:ext cx="8534400" cy="508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228600" y="6278563"/>
            <a:ext cx="5638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</a:rPr>
              <a:t>Figure from T. </a:t>
            </a:r>
            <a:r>
              <a:rPr lang="en-US" sz="1200" dirty="0" err="1">
                <a:solidFill>
                  <a:srgbClr val="000000"/>
                </a:solidFill>
              </a:rPr>
              <a:t>Tuytelaars</a:t>
            </a:r>
            <a:r>
              <a:rPr lang="en-US" sz="1200" dirty="0">
                <a:solidFill>
                  <a:srgbClr val="000000"/>
                </a:solidFill>
              </a:rPr>
              <a:t> ECCV 2006 tutorial</a:t>
            </a:r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228600" y="4914900"/>
            <a:ext cx="54102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6438900" y="914400"/>
            <a:ext cx="5410200" cy="2895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8856" name="Rectangle 8"/>
          <p:cNvSpPr>
            <a:spLocks noChangeArrowheads="1"/>
          </p:cNvSpPr>
          <p:nvPr/>
        </p:nvSpPr>
        <p:spPr bwMode="auto">
          <a:xfrm>
            <a:off x="-2133600" y="3429000"/>
            <a:ext cx="5410200" cy="2895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3886200" y="914400"/>
            <a:ext cx="5410200" cy="1524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EBF92-88D9-824D-A862-BFCD68B2B8D0}"/>
              </a:ext>
            </a:extLst>
          </p:cNvPr>
          <p:cNvSpPr/>
          <p:nvPr/>
        </p:nvSpPr>
        <p:spPr>
          <a:xfrm>
            <a:off x="4410767" y="107698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光照变化</a:t>
            </a:r>
          </a:p>
        </p:txBody>
      </p:sp>
    </p:spTree>
    <p:extLst>
      <p:ext uri="{BB962C8B-B14F-4D97-AF65-F5344CB8AC3E}">
        <p14:creationId xmlns:p14="http://schemas.microsoft.com/office/powerpoint/2010/main" val="549921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dirty="0"/>
              <a:t>噪声</a:t>
            </a:r>
            <a:endParaRPr lang="en-US" dirty="0"/>
          </a:p>
          <a:p>
            <a:r>
              <a:rPr lang="zh-CN" altLang="en-US" dirty="0"/>
              <a:t>模糊</a:t>
            </a:r>
            <a:endParaRPr lang="en-US" dirty="0"/>
          </a:p>
          <a:p>
            <a:r>
              <a:rPr lang="zh-CN" altLang="en-US" dirty="0"/>
              <a:t>阴影</a:t>
            </a:r>
            <a:endParaRPr lang="en-US" dirty="0"/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85062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4" descr="sift-fea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3770312"/>
            <a:ext cx="6096000" cy="293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8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en-US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00"/>
            <a:ext cx="8382000" cy="41148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不变的局部特征</a:t>
            </a: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dirty="0"/>
              <a:t>         </a:t>
            </a:r>
            <a:r>
              <a:rPr lang="en-US" altLang="zh-CN" sz="2400" dirty="0"/>
              <a:t>—</a:t>
            </a:r>
            <a:r>
              <a:rPr lang="en-US" altLang="zh-CN" sz="2400" dirty="0" err="1"/>
              <a:t>局部特征集设计为对常用的几何和光照变换保持不变</a:t>
            </a:r>
            <a:endParaRPr lang="en-US" sz="2400" dirty="0"/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 err="1"/>
              <a:t>基本步骤</a:t>
            </a:r>
            <a:r>
              <a:rPr lang="en-US" altLang="zh-CN" sz="2400" dirty="0"/>
              <a:t> </a:t>
            </a:r>
            <a:r>
              <a:rPr lang="zh-CN" altLang="en-US" sz="2400" dirty="0"/>
              <a:t>：</a:t>
            </a:r>
            <a:endParaRPr lang="en-US" sz="2400" dirty="0"/>
          </a:p>
          <a:p>
            <a:pPr marL="0" indent="0">
              <a:lnSpc>
                <a:spcPct val="90000"/>
              </a:lnSpc>
              <a:buFontTx/>
              <a:buAutoNum type="arabicParenR"/>
            </a:pPr>
            <a:r>
              <a:rPr lang="en-US" sz="2400" dirty="0"/>
              <a:t> </a:t>
            </a:r>
            <a:r>
              <a:rPr lang="en-US" altLang="zh-CN" sz="2400" dirty="0" err="1"/>
              <a:t>检测感兴趣特征点</a:t>
            </a:r>
            <a:endParaRPr lang="en-US" sz="2400" dirty="0"/>
          </a:p>
          <a:p>
            <a:pPr marL="0" indent="0">
              <a:lnSpc>
                <a:spcPct val="90000"/>
              </a:lnSpc>
              <a:buFontTx/>
              <a:buAutoNum type="arabicParenR"/>
            </a:pPr>
            <a:r>
              <a:rPr lang="en-US" sz="2400" dirty="0"/>
              <a:t> </a:t>
            </a:r>
            <a:r>
              <a:rPr lang="en-US" altLang="zh-CN" sz="2400" dirty="0" err="1"/>
              <a:t>提取特征点的不变描述</a:t>
            </a:r>
            <a:endParaRPr lang="en-US" sz="2400" dirty="0"/>
          </a:p>
        </p:txBody>
      </p:sp>
      <p:sp>
        <p:nvSpPr>
          <p:cNvPr id="80901" name="TextBox 29"/>
          <p:cNvSpPr txBox="1">
            <a:spLocks noChangeArrowheads="1"/>
          </p:cNvSpPr>
          <p:nvPr/>
        </p:nvSpPr>
        <p:spPr bwMode="auto">
          <a:xfrm>
            <a:off x="7391400" y="6565900"/>
            <a:ext cx="243840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solidFill>
                  <a:srgbClr val="000000"/>
                </a:solidFill>
              </a:rPr>
              <a:t>Figure: David Lowe</a:t>
            </a:r>
          </a:p>
        </p:txBody>
      </p:sp>
    </p:spTree>
    <p:extLst>
      <p:ext uri="{BB962C8B-B14F-4D97-AF65-F5344CB8AC3E}">
        <p14:creationId xmlns:p14="http://schemas.microsoft.com/office/powerpoint/2010/main" val="334246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1600200"/>
            <a:ext cx="7924800" cy="106680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19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299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感兴趣特征点在哪里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altLang="zh-CN" dirty="0" err="1">
                <a:latin typeface="Arial" pitchFamily="34" charset="0"/>
                <a:cs typeface="Arial" pitchFamily="34" charset="0"/>
              </a:rPr>
              <a:t>需要提取的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突出</a:t>
            </a:r>
            <a:r>
              <a:rPr lang="en-US" altLang="zh-CN" dirty="0" err="1">
                <a:latin typeface="Arial" pitchFamily="34" charset="0"/>
                <a:cs typeface="Arial" pitchFamily="34" charset="0"/>
              </a:rPr>
              <a:t>特征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是什么？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如何描述一个局部区域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如何建立对应关系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进行匹配？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3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DCD4D-982B-464A-938D-B59B5F42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97FD03-B944-454B-BB82-F7C3AE077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哪些块更容易匹配？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18957A-4686-5C4A-80E9-2E07D4723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91" y="1433349"/>
            <a:ext cx="8305089" cy="38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56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125F0-E94E-8A44-BDFB-AB02D134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</a:t>
            </a:r>
            <a:r>
              <a:rPr lang="zh-CN" altLang="en-US" dirty="0"/>
              <a:t>局部特征与匹配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4DA73-F6BF-AF47-9BC6-74DFD154C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包含角点的块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EC3CF7-B7C0-ED45-932B-19EFCADAE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26255"/>
            <a:ext cx="70993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9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4.1.</a:t>
            </a:r>
            <a:r>
              <a:rPr lang="zh-CN" altLang="en-US" dirty="0"/>
              <a:t>局部特征与匹配</a:t>
            </a:r>
            <a:endParaRPr lang="en-US" altLang="zh-CN" dirty="0"/>
          </a:p>
          <a:p>
            <a:r>
              <a:rPr lang="en-US" altLang="zh-CN" dirty="0">
                <a:solidFill>
                  <a:srgbClr val="D60093"/>
                </a:solidFill>
              </a:rPr>
              <a:t>4.2.Harris</a:t>
            </a:r>
            <a:r>
              <a:rPr lang="zh-CN" altLang="en-US" dirty="0">
                <a:solidFill>
                  <a:srgbClr val="D60093"/>
                </a:solidFill>
              </a:rPr>
              <a:t>角点检测</a:t>
            </a:r>
            <a:endParaRPr lang="en-US" dirty="0">
              <a:solidFill>
                <a:srgbClr val="D60093"/>
              </a:solidFill>
            </a:endParaRPr>
          </a:p>
          <a:p>
            <a:r>
              <a:rPr lang="en-US" altLang="zh-CN" dirty="0"/>
              <a:t>4.3</a:t>
            </a:r>
            <a:r>
              <a:rPr lang="zh-CN" altLang="en-US" dirty="0"/>
              <a:t> 尺度空间</a:t>
            </a:r>
            <a:endParaRPr lang="en-US" altLang="zh-CN" dirty="0"/>
          </a:p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endParaRPr lang="en-US" altLang="zh-CN" dirty="0"/>
          </a:p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endParaRPr lang="en-US" altLang="zh-CN" dirty="0"/>
          </a:p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endParaRPr lang="en-US" altLang="zh-CN" dirty="0"/>
          </a:p>
          <a:p>
            <a:r>
              <a:rPr lang="en-US" altLang="zh-CN" dirty="0"/>
              <a:t>4.7.SIFT</a:t>
            </a:r>
            <a:r>
              <a:rPr lang="zh-CN" altLang="en-US" dirty="0"/>
              <a:t>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0582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en-US" altLang="zh-CN" dirty="0"/>
          </a:p>
        </p:txBody>
      </p:sp>
      <p:sp>
        <p:nvSpPr>
          <p:cNvPr id="83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4184028"/>
            <a:ext cx="7772400" cy="1215198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关键点</a:t>
            </a:r>
            <a:r>
              <a:rPr lang="zh-CN" altLang="en-US" dirty="0"/>
              <a:t>：对于角点附近区域，图像梯度有两个或更多个主方向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457200" y="6032271"/>
            <a:ext cx="8305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 err="1">
                <a:solidFill>
                  <a:srgbClr val="000000"/>
                </a:solidFill>
                <a:cs typeface="Arial" pitchFamily="34" charset="0"/>
              </a:rPr>
              <a:t>C.Harris</a:t>
            </a:r>
            <a:r>
              <a:rPr lang="en-US" sz="2000" dirty="0">
                <a:solidFill>
                  <a:srgbClr val="000000"/>
                </a:solidFill>
                <a:cs typeface="Arial" pitchFamily="34" charset="0"/>
              </a:rPr>
              <a:t> and </a:t>
            </a:r>
            <a:r>
              <a:rPr lang="en-US" sz="2000" dirty="0" err="1">
                <a:solidFill>
                  <a:srgbClr val="000000"/>
                </a:solidFill>
                <a:cs typeface="Arial" pitchFamily="34" charset="0"/>
              </a:rPr>
              <a:t>M.Stephens</a:t>
            </a:r>
            <a:r>
              <a:rPr lang="en-US" sz="2000" dirty="0">
                <a:solidFill>
                  <a:srgbClr val="000000"/>
                </a:solidFill>
                <a:cs typeface="Arial" pitchFamily="34" charset="0"/>
              </a:rPr>
              <a:t>. </a:t>
            </a:r>
            <a:r>
              <a:rPr lang="en-US" sz="2000" dirty="0">
                <a:solidFill>
                  <a:srgbClr val="000000"/>
                </a:solidFill>
                <a:cs typeface="Arial" pitchFamily="34" charset="0"/>
                <a:hlinkClick r:id="rId3"/>
              </a:rPr>
              <a:t>"A Combined Corner and Edge Detector.“</a:t>
            </a:r>
            <a:r>
              <a:rPr lang="en-US" sz="2000" dirty="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sz="2000" i="1" dirty="0">
                <a:solidFill>
                  <a:srgbClr val="000000"/>
                </a:solidFill>
                <a:cs typeface="Arial" pitchFamily="34" charset="0"/>
              </a:rPr>
              <a:t>Proceedings of the 4th </a:t>
            </a:r>
            <a:r>
              <a:rPr lang="en-US" sz="2000" i="1" dirty="0" err="1">
                <a:solidFill>
                  <a:srgbClr val="000000"/>
                </a:solidFill>
                <a:cs typeface="Arial" pitchFamily="34" charset="0"/>
              </a:rPr>
              <a:t>Alvey</a:t>
            </a:r>
            <a:r>
              <a:rPr lang="en-US" sz="2000" i="1" dirty="0">
                <a:solidFill>
                  <a:srgbClr val="000000"/>
                </a:solidFill>
                <a:cs typeface="Arial" pitchFamily="34" charset="0"/>
              </a:rPr>
              <a:t> Vision Conference</a:t>
            </a:r>
            <a:r>
              <a:rPr lang="en-US" sz="2000" dirty="0">
                <a:solidFill>
                  <a:srgbClr val="000000"/>
                </a:solidFill>
                <a:cs typeface="Arial" pitchFamily="34" charset="0"/>
              </a:rPr>
              <a:t>: pages 147--151.  </a:t>
            </a: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7315200" y="6629400"/>
            <a:ext cx="2286000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Lana Lazebnik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C265480-CB99-904E-82F3-CC6DB213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1461088"/>
            <a:ext cx="2644964" cy="247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7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51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D7CC5-6D4D-B24E-9E90-F79816D7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A24F7B-F5C6-CD4B-BD6F-0F473EBE9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" dirty="0"/>
              <a:t>一种</a:t>
            </a:r>
            <a:r>
              <a:rPr lang="zh-CN" altLang="en-US" dirty="0"/>
              <a:t>检测角点的方法：</a:t>
            </a:r>
            <a:endParaRPr lang="en" altLang="zh-CN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" altLang="zh-CN" dirty="0"/>
              <a:t>– </a:t>
            </a:r>
            <a:r>
              <a:rPr lang="zh-CN" altLang="en-US" dirty="0"/>
              <a:t>找出</a:t>
            </a:r>
            <a:r>
              <a:rPr lang="en" altLang="zh-CN" dirty="0"/>
              <a:t>x</a:t>
            </a:r>
            <a:r>
              <a:rPr lang="zh-CN" altLang="en-US" dirty="0"/>
              <a:t>和</a:t>
            </a:r>
            <a:r>
              <a:rPr lang="en" altLang="zh-CN" dirty="0"/>
              <a:t>y</a:t>
            </a:r>
            <a:r>
              <a:rPr lang="zh-CN" altLang="en-US" dirty="0"/>
              <a:t>方向导数都很大的图像块</a:t>
            </a:r>
            <a:endParaRPr lang="en" altLang="zh-CN" dirty="0"/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4F3BA5-D089-F74C-B6E5-DD17A1DF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00" y="3048000"/>
            <a:ext cx="7932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19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D7CC5-6D4D-B24E-9E90-F79816D7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A24F7B-F5C6-CD4B-BD6F-0F473EBE9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19457" name="Picture 1" descr="page9image66936336">
            <a:extLst>
              <a:ext uri="{FF2B5EF4-FFF2-40B4-BE49-F238E27FC236}">
                <a16:creationId xmlns:a16="http://schemas.microsoft.com/office/drawing/2014/main" id="{3C69D39C-7ED3-384E-9819-50D91E71A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12" y="2104231"/>
            <a:ext cx="35179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8" name="Picture 2" descr="page9image66934048">
            <a:extLst>
              <a:ext uri="{FF2B5EF4-FFF2-40B4-BE49-F238E27FC236}">
                <a16:creationId xmlns:a16="http://schemas.microsoft.com/office/drawing/2014/main" id="{173707C8-79F5-3447-B107-9A1B64D22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104231"/>
            <a:ext cx="47371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350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D7CC5-6D4D-B24E-9E90-F79816D7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A24F7B-F5C6-CD4B-BD6F-0F473EBE9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20481" name="Picture 1" descr="page10image66814784">
            <a:extLst>
              <a:ext uri="{FF2B5EF4-FFF2-40B4-BE49-F238E27FC236}">
                <a16:creationId xmlns:a16="http://schemas.microsoft.com/office/drawing/2014/main" id="{03E44BCF-BAB5-1843-944C-FCD007AC4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73" y="2057400"/>
            <a:ext cx="3340100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4B10088-2C70-8C48-B67D-CD182AC31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263" y="1843881"/>
            <a:ext cx="5156200" cy="2019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807089-803B-D34C-B07D-9C52FC6AC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563" y="4117074"/>
            <a:ext cx="51816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49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5652" y="1442138"/>
            <a:ext cx="7467600" cy="142171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通过一个小的邻域窗很容易识别这种点</a:t>
            </a: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窗口沿着任意方向移动，窗口强度都会发生很大的改变</a:t>
            </a:r>
            <a:endParaRPr lang="ru-RU" sz="28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429000" y="2895600"/>
            <a:ext cx="2438400" cy="3517901"/>
            <a:chOff x="2160" y="1824"/>
            <a:chExt cx="1536" cy="2216"/>
          </a:xfrm>
        </p:grpSpPr>
        <p:pic>
          <p:nvPicPr>
            <p:cNvPr id="82966" name="Picture 5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60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2967" name="Text Box 6"/>
            <p:cNvSpPr txBox="1">
              <a:spLocks noChangeArrowheads="1"/>
            </p:cNvSpPr>
            <p:nvPr/>
          </p:nvSpPr>
          <p:spPr bwMode="auto">
            <a:xfrm>
              <a:off x="2160" y="3284"/>
              <a:ext cx="1536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3399"/>
                  </a:solidFill>
                  <a:latin typeface="Arial Unicode MS" pitchFamily="34" charset="-128"/>
                  <a:cs typeface="Times New Roman" pitchFamily="18" charset="0"/>
                </a:rPr>
                <a:t>“edge”</a:t>
              </a:r>
              <a: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:</a:t>
              </a:r>
              <a:b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</a:br>
              <a:r>
                <a:rPr lang="zh-CN" alt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沿着边缘方向移动没有变化</a:t>
              </a:r>
              <a:endParaRPr lang="ru-RU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82968" name="Rectangle 7"/>
            <p:cNvSpPr>
              <a:spLocks noChangeArrowheads="1"/>
            </p:cNvSpPr>
            <p:nvPr/>
          </p:nvSpPr>
          <p:spPr bwMode="auto">
            <a:xfrm>
              <a:off x="2496" y="249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9" name="Line 8"/>
            <p:cNvSpPr>
              <a:spLocks noChangeShapeType="1"/>
            </p:cNvSpPr>
            <p:nvPr/>
          </p:nvSpPr>
          <p:spPr bwMode="auto">
            <a:xfrm flipV="1">
              <a:off x="2352" y="254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019800" y="2895600"/>
            <a:ext cx="2667000" cy="3517901"/>
            <a:chOff x="3792" y="1824"/>
            <a:chExt cx="1680" cy="2216"/>
          </a:xfrm>
        </p:grpSpPr>
        <p:pic>
          <p:nvPicPr>
            <p:cNvPr id="82959" name="Picture 10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92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2960" name="Text Box 11"/>
            <p:cNvSpPr txBox="1">
              <a:spLocks noChangeArrowheads="1"/>
            </p:cNvSpPr>
            <p:nvPr/>
          </p:nvSpPr>
          <p:spPr bwMode="auto">
            <a:xfrm>
              <a:off x="3936" y="3284"/>
              <a:ext cx="1536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3399"/>
                  </a:solidFill>
                  <a:latin typeface="Arial Unicode MS" pitchFamily="34" charset="-128"/>
                  <a:cs typeface="Times New Roman" pitchFamily="18" charset="0"/>
                </a:rPr>
                <a:t>“corner”</a:t>
              </a:r>
              <a: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:</a:t>
              </a:r>
              <a:b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</a:br>
              <a:r>
                <a:rPr lang="zh-CN" alt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沿着任何方向移动都有显著变化</a:t>
              </a:r>
              <a:endParaRPr lang="ru-RU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82961" name="Rectangle 12"/>
            <p:cNvSpPr>
              <a:spLocks noChangeArrowheads="1"/>
            </p:cNvSpPr>
            <p:nvPr/>
          </p:nvSpPr>
          <p:spPr bwMode="auto">
            <a:xfrm>
              <a:off x="4224" y="201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2" name="Line 13"/>
            <p:cNvSpPr>
              <a:spLocks noChangeShapeType="1"/>
            </p:cNvSpPr>
            <p:nvPr/>
          </p:nvSpPr>
          <p:spPr bwMode="auto">
            <a:xfrm flipH="1">
              <a:off x="4080" y="244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3" name="Line 14"/>
            <p:cNvSpPr>
              <a:spLocks noChangeShapeType="1"/>
            </p:cNvSpPr>
            <p:nvPr/>
          </p:nvSpPr>
          <p:spPr bwMode="auto">
            <a:xfrm flipH="1" flipV="1">
              <a:off x="4080" y="18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4" name="Line 15"/>
            <p:cNvSpPr>
              <a:spLocks noChangeShapeType="1"/>
            </p:cNvSpPr>
            <p:nvPr/>
          </p:nvSpPr>
          <p:spPr bwMode="auto">
            <a:xfrm>
              <a:off x="4656" y="244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65" name="Line 16"/>
            <p:cNvSpPr>
              <a:spLocks noChangeShapeType="1"/>
            </p:cNvSpPr>
            <p:nvPr/>
          </p:nvSpPr>
          <p:spPr bwMode="auto">
            <a:xfrm flipV="1">
              <a:off x="4656" y="18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762000" y="2895600"/>
            <a:ext cx="2362200" cy="3517901"/>
            <a:chOff x="480" y="1824"/>
            <a:chExt cx="1488" cy="2216"/>
          </a:xfrm>
        </p:grpSpPr>
        <p:pic>
          <p:nvPicPr>
            <p:cNvPr id="82952" name="Picture 18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28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2953" name="Text Box 19"/>
            <p:cNvSpPr txBox="1">
              <a:spLocks noChangeArrowheads="1"/>
            </p:cNvSpPr>
            <p:nvPr/>
          </p:nvSpPr>
          <p:spPr bwMode="auto">
            <a:xfrm>
              <a:off x="480" y="3284"/>
              <a:ext cx="1296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3399"/>
                  </a:solidFill>
                  <a:latin typeface="Arial Unicode MS" pitchFamily="34" charset="-128"/>
                  <a:cs typeface="Times New Roman" pitchFamily="18" charset="0"/>
                </a:rPr>
                <a:t>“flat”</a:t>
              </a:r>
              <a: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区域：</a:t>
              </a:r>
              <a:br>
                <a:rPr 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</a:br>
              <a:r>
                <a:rPr lang="zh-CN" altLang="en-US" sz="2400" dirty="0">
                  <a:solidFill>
                    <a:srgbClr val="000000"/>
                  </a:solidFill>
                  <a:latin typeface="Arial Unicode MS" pitchFamily="34" charset="-128"/>
                  <a:cs typeface="Times New Roman" pitchFamily="18" charset="0"/>
                </a:rPr>
                <a:t>在所有方向移动没有变化</a:t>
              </a:r>
              <a:endParaRPr lang="ru-RU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82954" name="Rectangle 20"/>
            <p:cNvSpPr>
              <a:spLocks noChangeArrowheads="1"/>
            </p:cNvSpPr>
            <p:nvPr/>
          </p:nvSpPr>
          <p:spPr bwMode="auto">
            <a:xfrm>
              <a:off x="1344" y="249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55" name="Line 21"/>
            <p:cNvSpPr>
              <a:spLocks noChangeShapeType="1"/>
            </p:cNvSpPr>
            <p:nvPr/>
          </p:nvSpPr>
          <p:spPr bwMode="auto">
            <a:xfrm>
              <a:off x="1776" y="292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56" name="Line 22"/>
            <p:cNvSpPr>
              <a:spLocks noChangeShapeType="1"/>
            </p:cNvSpPr>
            <p:nvPr/>
          </p:nvSpPr>
          <p:spPr bwMode="auto">
            <a:xfrm flipH="1">
              <a:off x="1200" y="292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57" name="Line 23"/>
            <p:cNvSpPr>
              <a:spLocks noChangeShapeType="1"/>
            </p:cNvSpPr>
            <p:nvPr/>
          </p:nvSpPr>
          <p:spPr bwMode="auto">
            <a:xfrm flipH="1" flipV="1">
              <a:off x="1200" y="2352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2958" name="Line 24"/>
            <p:cNvSpPr>
              <a:spLocks noChangeShapeType="1"/>
            </p:cNvSpPr>
            <p:nvPr/>
          </p:nvSpPr>
          <p:spPr bwMode="auto">
            <a:xfrm flipV="1">
              <a:off x="1776" y="2352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82951" name="Text Box 25"/>
          <p:cNvSpPr txBox="1">
            <a:spLocks noChangeArrowheads="1"/>
          </p:cNvSpPr>
          <p:nvPr/>
        </p:nvSpPr>
        <p:spPr bwMode="auto">
          <a:xfrm>
            <a:off x="47625" y="6553200"/>
            <a:ext cx="1476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Source: A. Efros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955BCFE-AEA5-C648-AEF4-CBD834DD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</a:p>
        </p:txBody>
      </p:sp>
    </p:spTree>
    <p:extLst>
      <p:ext uri="{BB962C8B-B14F-4D97-AF65-F5344CB8AC3E}">
        <p14:creationId xmlns:p14="http://schemas.microsoft.com/office/powerpoint/2010/main" val="382503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ru-RU" dirty="0"/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219200" y="1981200"/>
          <a:ext cx="69342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" name="Equation" r:id="rId4" imgW="2768400" imgH="380880" progId="">
                  <p:embed/>
                </p:oleObj>
              </mc:Choice>
              <mc:Fallback>
                <p:oleObj name="Equation" r:id="rId4" imgW="2768400" imgH="380880" progId="">
                  <p:embed/>
                  <p:pic>
                    <p:nvPicPr>
                      <p:cNvPr id="20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81200"/>
                        <a:ext cx="6934200" cy="954088"/>
                      </a:xfrm>
                      <a:prstGeom prst="rect">
                        <a:avLst/>
                      </a:prstGeom>
                      <a:solidFill>
                        <a:srgbClr val="67D967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582291" y="1285082"/>
            <a:ext cx="40719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平移</a:t>
            </a:r>
            <a:r>
              <a:rPr lang="en-US" altLang="zh-CN" sz="2800" dirty="0">
                <a:solidFill>
                  <a:srgbClr val="000000"/>
                </a:solidFill>
                <a:cs typeface="Times New Roman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cs typeface="Times New Roman" pitchFamily="18" charset="0"/>
              </a:rPr>
              <a:t>u,v</a:t>
            </a:r>
            <a:r>
              <a:rPr lang="en-US" altLang="zh-CN" sz="2800" dirty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分量强度变化：</a:t>
            </a:r>
            <a:endParaRPr lang="ru-RU" sz="2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477000" y="2514600"/>
            <a:ext cx="1371600" cy="1371600"/>
            <a:chOff x="4080" y="1920"/>
            <a:chExt cx="864" cy="864"/>
          </a:xfrm>
        </p:grpSpPr>
        <p:sp>
          <p:nvSpPr>
            <p:cNvPr id="2081" name="Line 6"/>
            <p:cNvSpPr>
              <a:spLocks noChangeShapeType="1"/>
            </p:cNvSpPr>
            <p:nvPr/>
          </p:nvSpPr>
          <p:spPr bwMode="auto">
            <a:xfrm flipH="1" flipV="1">
              <a:off x="4368" y="1920"/>
              <a:ext cx="9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2" name="AutoShape 7"/>
            <p:cNvSpPr>
              <a:spLocks noChangeArrowheads="1"/>
            </p:cNvSpPr>
            <p:nvPr/>
          </p:nvSpPr>
          <p:spPr bwMode="auto">
            <a:xfrm>
              <a:off x="4080" y="2448"/>
              <a:ext cx="864" cy="336"/>
            </a:xfrm>
            <a:prstGeom prst="roundRect">
              <a:avLst>
                <a:gd name="adj" fmla="val 45486"/>
              </a:avLst>
            </a:prstGeom>
            <a:solidFill>
              <a:srgbClr val="B3FFB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3" name="Text Box 8"/>
            <p:cNvSpPr txBox="1">
              <a:spLocks noChangeArrowheads="1"/>
            </p:cNvSpPr>
            <p:nvPr/>
          </p:nvSpPr>
          <p:spPr bwMode="auto">
            <a:xfrm>
              <a:off x="4080" y="2486"/>
              <a:ext cx="86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ru-RU" sz="2000" dirty="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灰度</a:t>
              </a:r>
              <a:endParaRPr lang="ru-RU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114800" y="2667000"/>
            <a:ext cx="1385888" cy="1371600"/>
            <a:chOff x="2592" y="2016"/>
            <a:chExt cx="873" cy="864"/>
          </a:xfrm>
        </p:grpSpPr>
        <p:sp>
          <p:nvSpPr>
            <p:cNvPr id="2078" name="AutoShape 10"/>
            <p:cNvSpPr>
              <a:spLocks noChangeArrowheads="1"/>
            </p:cNvSpPr>
            <p:nvPr/>
          </p:nvSpPr>
          <p:spPr bwMode="auto">
            <a:xfrm>
              <a:off x="2592" y="2400"/>
              <a:ext cx="864" cy="480"/>
            </a:xfrm>
            <a:prstGeom prst="roundRect">
              <a:avLst>
                <a:gd name="adj" fmla="val 45486"/>
              </a:avLst>
            </a:prstGeom>
            <a:solidFill>
              <a:srgbClr val="B3FFB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79" name="Text Box 11"/>
            <p:cNvSpPr txBox="1">
              <a:spLocks noChangeArrowheads="1"/>
            </p:cNvSpPr>
            <p:nvPr/>
          </p:nvSpPr>
          <p:spPr bwMode="auto">
            <a:xfrm>
              <a:off x="2601" y="2427"/>
              <a:ext cx="864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ru-RU" sz="2000" dirty="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平移</a:t>
              </a:r>
              <a:r>
                <a:rPr lang="zh-CN" altLang="en-US" sz="2000" dirty="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后的灰度</a:t>
              </a:r>
              <a:endParaRPr lang="ru-RU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080" name="Line 12"/>
            <p:cNvSpPr>
              <a:spLocks noChangeShapeType="1"/>
            </p:cNvSpPr>
            <p:nvPr/>
          </p:nvSpPr>
          <p:spPr bwMode="auto">
            <a:xfrm flipH="1" flipV="1">
              <a:off x="2928" y="2016"/>
              <a:ext cx="48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905000" y="2590800"/>
            <a:ext cx="1385888" cy="1447800"/>
            <a:chOff x="1200" y="1968"/>
            <a:chExt cx="873" cy="912"/>
          </a:xfrm>
        </p:grpSpPr>
        <p:sp>
          <p:nvSpPr>
            <p:cNvPr id="2075" name="AutoShape 14"/>
            <p:cNvSpPr>
              <a:spLocks noChangeArrowheads="1"/>
            </p:cNvSpPr>
            <p:nvPr/>
          </p:nvSpPr>
          <p:spPr bwMode="auto">
            <a:xfrm>
              <a:off x="1200" y="2400"/>
              <a:ext cx="864" cy="480"/>
            </a:xfrm>
            <a:prstGeom prst="roundRect">
              <a:avLst>
                <a:gd name="adj" fmla="val 45486"/>
              </a:avLst>
            </a:prstGeom>
            <a:solidFill>
              <a:srgbClr val="B3FFB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76" name="Text Box 15"/>
            <p:cNvSpPr txBox="1">
              <a:spLocks noChangeArrowheads="1"/>
            </p:cNvSpPr>
            <p:nvPr/>
          </p:nvSpPr>
          <p:spPr bwMode="auto">
            <a:xfrm>
              <a:off x="1209" y="2427"/>
              <a:ext cx="86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窗函数</a:t>
              </a:r>
              <a:endParaRPr lang="ru-RU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077" name="Line 16"/>
            <p:cNvSpPr>
              <a:spLocks noChangeShapeType="1"/>
            </p:cNvSpPr>
            <p:nvPr/>
          </p:nvSpPr>
          <p:spPr bwMode="auto">
            <a:xfrm flipV="1">
              <a:off x="1728" y="1968"/>
              <a:ext cx="33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00077" y="4876800"/>
            <a:ext cx="8310565" cy="1284288"/>
            <a:chOff x="381" y="3312"/>
            <a:chExt cx="5235" cy="809"/>
          </a:xfrm>
        </p:grpSpPr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4128" y="3312"/>
              <a:ext cx="1488" cy="432"/>
              <a:chOff x="3696" y="3264"/>
              <a:chExt cx="1920" cy="624"/>
            </a:xfrm>
          </p:grpSpPr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3696" y="3648"/>
                <a:ext cx="1920" cy="240"/>
                <a:chOff x="3408" y="3648"/>
                <a:chExt cx="1920" cy="240"/>
              </a:xfrm>
            </p:grpSpPr>
            <p:sp>
              <p:nvSpPr>
                <p:cNvPr id="2073" name="AutoShape 20"/>
                <p:cNvSpPr>
                  <a:spLocks noChangeArrowheads="1"/>
                </p:cNvSpPr>
                <p:nvPr/>
              </p:nvSpPr>
              <p:spPr bwMode="auto">
                <a:xfrm>
                  <a:off x="3408" y="3648"/>
                  <a:ext cx="1920" cy="240"/>
                </a:xfrm>
                <a:prstGeom prst="parallelogram">
                  <a:avLst>
                    <a:gd name="adj" fmla="val 200000"/>
                  </a:avLst>
                </a:prstGeom>
                <a:solidFill>
                  <a:srgbClr val="C0C0C0"/>
                </a:solidFill>
                <a:ln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74" name="Freeform 21"/>
                <p:cNvSpPr>
                  <a:spLocks/>
                </p:cNvSpPr>
                <p:nvPr/>
              </p:nvSpPr>
              <p:spPr bwMode="auto">
                <a:xfrm>
                  <a:off x="3840" y="3696"/>
                  <a:ext cx="960" cy="144"/>
                </a:xfrm>
                <a:custGeom>
                  <a:avLst/>
                  <a:gdLst>
                    <a:gd name="T0" fmla="*/ 0 w 960"/>
                    <a:gd name="T1" fmla="*/ 144 h 144"/>
                    <a:gd name="T2" fmla="*/ 240 w 960"/>
                    <a:gd name="T3" fmla="*/ 0 h 144"/>
                    <a:gd name="T4" fmla="*/ 960 w 960"/>
                    <a:gd name="T5" fmla="*/ 96 h 144"/>
                    <a:gd name="T6" fmla="*/ 0 60000 65536"/>
                    <a:gd name="T7" fmla="*/ 0 60000 65536"/>
                    <a:gd name="T8" fmla="*/ 0 60000 65536"/>
                    <a:gd name="T9" fmla="*/ 0 w 960"/>
                    <a:gd name="T10" fmla="*/ 0 h 144"/>
                    <a:gd name="T11" fmla="*/ 960 w 960"/>
                    <a:gd name="T12" fmla="*/ 144 h 1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60" h="144">
                      <a:moveTo>
                        <a:pt x="0" y="144"/>
                      </a:moveTo>
                      <a:lnTo>
                        <a:pt x="240" y="0"/>
                      </a:lnTo>
                      <a:lnTo>
                        <a:pt x="960" y="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8" name="Group 22"/>
              <p:cNvGrpSpPr>
                <a:grpSpLocks/>
              </p:cNvGrpSpPr>
              <p:nvPr/>
            </p:nvGrpSpPr>
            <p:grpSpPr bwMode="auto">
              <a:xfrm>
                <a:off x="3744" y="3264"/>
                <a:ext cx="1824" cy="528"/>
                <a:chOff x="1680" y="3312"/>
                <a:chExt cx="2640" cy="816"/>
              </a:xfrm>
            </p:grpSpPr>
            <p:sp>
              <p:nvSpPr>
                <p:cNvPr id="2070" name="Freeform 23"/>
                <p:cNvSpPr>
                  <a:spLocks/>
                </p:cNvSpPr>
                <p:nvPr/>
              </p:nvSpPr>
              <p:spPr bwMode="auto">
                <a:xfrm>
                  <a:off x="1680" y="3312"/>
                  <a:ext cx="1248" cy="816"/>
                </a:xfrm>
                <a:custGeom>
                  <a:avLst/>
                  <a:gdLst>
                    <a:gd name="T0" fmla="*/ 0 w 1248"/>
                    <a:gd name="T1" fmla="*/ 816 h 816"/>
                    <a:gd name="T2" fmla="*/ 336 w 1248"/>
                    <a:gd name="T3" fmla="*/ 720 h 816"/>
                    <a:gd name="T4" fmla="*/ 768 w 1248"/>
                    <a:gd name="T5" fmla="*/ 288 h 816"/>
                    <a:gd name="T6" fmla="*/ 1008 w 1248"/>
                    <a:gd name="T7" fmla="*/ 96 h 816"/>
                    <a:gd name="T8" fmla="*/ 1248 w 1248"/>
                    <a:gd name="T9" fmla="*/ 0 h 8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48"/>
                    <a:gd name="T16" fmla="*/ 0 h 816"/>
                    <a:gd name="T17" fmla="*/ 1248 w 1248"/>
                    <a:gd name="T18" fmla="*/ 816 h 8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48" h="816">
                      <a:moveTo>
                        <a:pt x="0" y="816"/>
                      </a:moveTo>
                      <a:cubicBezTo>
                        <a:pt x="104" y="812"/>
                        <a:pt x="208" y="808"/>
                        <a:pt x="336" y="720"/>
                      </a:cubicBezTo>
                      <a:cubicBezTo>
                        <a:pt x="464" y="632"/>
                        <a:pt x="656" y="392"/>
                        <a:pt x="768" y="288"/>
                      </a:cubicBezTo>
                      <a:cubicBezTo>
                        <a:pt x="880" y="184"/>
                        <a:pt x="928" y="144"/>
                        <a:pt x="1008" y="96"/>
                      </a:cubicBezTo>
                      <a:cubicBezTo>
                        <a:pt x="1088" y="48"/>
                        <a:pt x="1208" y="16"/>
                        <a:pt x="1248" y="0"/>
                      </a:cubicBezTo>
                    </a:path>
                  </a:pathLst>
                </a:custGeom>
                <a:noFill/>
                <a:ln w="317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71" name="Freeform 24"/>
                <p:cNvSpPr>
                  <a:spLocks/>
                </p:cNvSpPr>
                <p:nvPr/>
              </p:nvSpPr>
              <p:spPr bwMode="auto">
                <a:xfrm flipH="1">
                  <a:off x="3072" y="3312"/>
                  <a:ext cx="1248" cy="816"/>
                </a:xfrm>
                <a:custGeom>
                  <a:avLst/>
                  <a:gdLst>
                    <a:gd name="T0" fmla="*/ 0 w 1248"/>
                    <a:gd name="T1" fmla="*/ 816 h 816"/>
                    <a:gd name="T2" fmla="*/ 336 w 1248"/>
                    <a:gd name="T3" fmla="*/ 720 h 816"/>
                    <a:gd name="T4" fmla="*/ 768 w 1248"/>
                    <a:gd name="T5" fmla="*/ 288 h 816"/>
                    <a:gd name="T6" fmla="*/ 1008 w 1248"/>
                    <a:gd name="T7" fmla="*/ 96 h 816"/>
                    <a:gd name="T8" fmla="*/ 1248 w 1248"/>
                    <a:gd name="T9" fmla="*/ 0 h 8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48"/>
                    <a:gd name="T16" fmla="*/ 0 h 816"/>
                    <a:gd name="T17" fmla="*/ 1248 w 1248"/>
                    <a:gd name="T18" fmla="*/ 816 h 8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48" h="816">
                      <a:moveTo>
                        <a:pt x="0" y="816"/>
                      </a:moveTo>
                      <a:cubicBezTo>
                        <a:pt x="104" y="812"/>
                        <a:pt x="208" y="808"/>
                        <a:pt x="336" y="720"/>
                      </a:cubicBezTo>
                      <a:cubicBezTo>
                        <a:pt x="464" y="632"/>
                        <a:pt x="656" y="392"/>
                        <a:pt x="768" y="288"/>
                      </a:cubicBezTo>
                      <a:cubicBezTo>
                        <a:pt x="880" y="184"/>
                        <a:pt x="928" y="144"/>
                        <a:pt x="1008" y="96"/>
                      </a:cubicBezTo>
                      <a:cubicBezTo>
                        <a:pt x="1088" y="48"/>
                        <a:pt x="1208" y="16"/>
                        <a:pt x="1248" y="0"/>
                      </a:cubicBezTo>
                    </a:path>
                  </a:pathLst>
                </a:custGeom>
                <a:noFill/>
                <a:ln w="317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72" name="Line 25"/>
                <p:cNvSpPr>
                  <a:spLocks noChangeShapeType="1"/>
                </p:cNvSpPr>
                <p:nvPr/>
              </p:nvSpPr>
              <p:spPr bwMode="auto">
                <a:xfrm>
                  <a:off x="2928" y="3312"/>
                  <a:ext cx="144" cy="0"/>
                </a:xfrm>
                <a:prstGeom prst="line">
                  <a:avLst/>
                </a:prstGeom>
                <a:noFill/>
                <a:ln w="317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2208" y="3360"/>
              <a:ext cx="1632" cy="432"/>
              <a:chOff x="1296" y="3360"/>
              <a:chExt cx="2112" cy="528"/>
            </a:xfrm>
          </p:grpSpPr>
          <p:grpSp>
            <p:nvGrpSpPr>
              <p:cNvPr id="10" name="Group 27"/>
              <p:cNvGrpSpPr>
                <a:grpSpLocks/>
              </p:cNvGrpSpPr>
              <p:nvPr/>
            </p:nvGrpSpPr>
            <p:grpSpPr bwMode="auto">
              <a:xfrm>
                <a:off x="1488" y="3648"/>
                <a:ext cx="1920" cy="240"/>
                <a:chOff x="3408" y="3648"/>
                <a:chExt cx="1920" cy="240"/>
              </a:xfrm>
            </p:grpSpPr>
            <p:sp>
              <p:nvSpPr>
                <p:cNvPr id="2066" name="AutoShape 28"/>
                <p:cNvSpPr>
                  <a:spLocks noChangeArrowheads="1"/>
                </p:cNvSpPr>
                <p:nvPr/>
              </p:nvSpPr>
              <p:spPr bwMode="auto">
                <a:xfrm>
                  <a:off x="3408" y="3648"/>
                  <a:ext cx="1920" cy="240"/>
                </a:xfrm>
                <a:prstGeom prst="parallelogram">
                  <a:avLst>
                    <a:gd name="adj" fmla="val 200000"/>
                  </a:avLst>
                </a:prstGeom>
                <a:solidFill>
                  <a:srgbClr val="C0C0C0"/>
                </a:solidFill>
                <a:ln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67" name="Freeform 29"/>
                <p:cNvSpPr>
                  <a:spLocks/>
                </p:cNvSpPr>
                <p:nvPr/>
              </p:nvSpPr>
              <p:spPr bwMode="auto">
                <a:xfrm>
                  <a:off x="3840" y="3696"/>
                  <a:ext cx="960" cy="144"/>
                </a:xfrm>
                <a:custGeom>
                  <a:avLst/>
                  <a:gdLst>
                    <a:gd name="T0" fmla="*/ 0 w 960"/>
                    <a:gd name="T1" fmla="*/ 144 h 144"/>
                    <a:gd name="T2" fmla="*/ 240 w 960"/>
                    <a:gd name="T3" fmla="*/ 0 h 144"/>
                    <a:gd name="T4" fmla="*/ 960 w 960"/>
                    <a:gd name="T5" fmla="*/ 96 h 144"/>
                    <a:gd name="T6" fmla="*/ 0 60000 65536"/>
                    <a:gd name="T7" fmla="*/ 0 60000 65536"/>
                    <a:gd name="T8" fmla="*/ 0 60000 65536"/>
                    <a:gd name="T9" fmla="*/ 0 w 960"/>
                    <a:gd name="T10" fmla="*/ 0 h 144"/>
                    <a:gd name="T11" fmla="*/ 960 w 960"/>
                    <a:gd name="T12" fmla="*/ 144 h 1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60" h="144">
                      <a:moveTo>
                        <a:pt x="0" y="144"/>
                      </a:moveTo>
                      <a:lnTo>
                        <a:pt x="240" y="0"/>
                      </a:lnTo>
                      <a:lnTo>
                        <a:pt x="960" y="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65" name="Freeform 30"/>
              <p:cNvSpPr>
                <a:spLocks/>
              </p:cNvSpPr>
              <p:nvPr/>
            </p:nvSpPr>
            <p:spPr bwMode="auto">
              <a:xfrm>
                <a:off x="1296" y="3360"/>
                <a:ext cx="2064" cy="432"/>
              </a:xfrm>
              <a:custGeom>
                <a:avLst/>
                <a:gdLst>
                  <a:gd name="T0" fmla="*/ 0 w 2064"/>
                  <a:gd name="T1" fmla="*/ 432 h 432"/>
                  <a:gd name="T2" fmla="*/ 384 w 2064"/>
                  <a:gd name="T3" fmla="*/ 432 h 432"/>
                  <a:gd name="T4" fmla="*/ 384 w 2064"/>
                  <a:gd name="T5" fmla="*/ 0 h 432"/>
                  <a:gd name="T6" fmla="*/ 1824 w 2064"/>
                  <a:gd name="T7" fmla="*/ 0 h 432"/>
                  <a:gd name="T8" fmla="*/ 1824 w 2064"/>
                  <a:gd name="T9" fmla="*/ 432 h 432"/>
                  <a:gd name="T10" fmla="*/ 2064 w 2064"/>
                  <a:gd name="T11" fmla="*/ 432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64"/>
                  <a:gd name="T19" fmla="*/ 0 h 432"/>
                  <a:gd name="T20" fmla="*/ 2064 w 2064"/>
                  <a:gd name="T21" fmla="*/ 432 h 43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64" h="432">
                    <a:moveTo>
                      <a:pt x="0" y="432"/>
                    </a:moveTo>
                    <a:lnTo>
                      <a:pt x="384" y="432"/>
                    </a:lnTo>
                    <a:lnTo>
                      <a:pt x="384" y="0"/>
                    </a:lnTo>
                    <a:lnTo>
                      <a:pt x="1824" y="0"/>
                    </a:lnTo>
                    <a:lnTo>
                      <a:pt x="1824" y="432"/>
                    </a:lnTo>
                    <a:lnTo>
                      <a:pt x="2064" y="432"/>
                    </a:ln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60" name="Text Box 31"/>
            <p:cNvSpPr txBox="1">
              <a:spLocks noChangeArrowheads="1"/>
            </p:cNvSpPr>
            <p:nvPr/>
          </p:nvSpPr>
          <p:spPr bwMode="auto">
            <a:xfrm>
              <a:off x="3914" y="3389"/>
              <a:ext cx="2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0000"/>
                  </a:solidFill>
                  <a:cs typeface="Times New Roman" pitchFamily="18" charset="0"/>
                </a:rPr>
                <a:t>或</a:t>
              </a:r>
              <a:endParaRPr lang="ru-RU" sz="2000" dirty="0">
                <a:solidFill>
                  <a:srgbClr val="000000"/>
                </a:solidFill>
                <a:cs typeface="Times New Roman" pitchFamily="18" charset="0"/>
              </a:endParaRPr>
            </a:p>
          </p:txBody>
        </p:sp>
        <p:sp>
          <p:nvSpPr>
            <p:cNvPr id="2061" name="Text Box 32"/>
            <p:cNvSpPr txBox="1">
              <a:spLocks noChangeArrowheads="1"/>
            </p:cNvSpPr>
            <p:nvPr/>
          </p:nvSpPr>
          <p:spPr bwMode="auto">
            <a:xfrm>
              <a:off x="381" y="3360"/>
              <a:ext cx="14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0000"/>
                  </a:solidFill>
                  <a:cs typeface="Times New Roman" pitchFamily="18" charset="0"/>
                </a:rPr>
                <a:t>窗口函数</a:t>
              </a:r>
              <a:r>
                <a:rPr lang="en-US" sz="2800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w(</a:t>
              </a:r>
              <a:r>
                <a:rPr lang="en-US" sz="2800" i="1" dirty="0" err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x,y</a:t>
              </a:r>
              <a:r>
                <a:rPr lang="en-US" sz="2800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sz="20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=</a:t>
              </a:r>
              <a:endPara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2" name="Text Box 33"/>
            <p:cNvSpPr txBox="1">
              <a:spLocks noChangeArrowheads="1"/>
            </p:cNvSpPr>
            <p:nvPr/>
          </p:nvSpPr>
          <p:spPr bwMode="auto">
            <a:xfrm>
              <a:off x="4575" y="3869"/>
              <a:ext cx="60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0000"/>
                  </a:solidFill>
                  <a:cs typeface="Times New Roman" pitchFamily="18" charset="0"/>
                </a:rPr>
                <a:t>高斯窗</a:t>
              </a:r>
              <a:endParaRPr lang="ru-RU" sz="2000" dirty="0">
                <a:solidFill>
                  <a:srgbClr val="000000"/>
                </a:solidFill>
                <a:cs typeface="Times New Roman" pitchFamily="18" charset="0"/>
              </a:endParaRPr>
            </a:p>
          </p:txBody>
        </p:sp>
        <p:sp>
          <p:nvSpPr>
            <p:cNvPr id="2063" name="Text Box 34"/>
            <p:cNvSpPr txBox="1">
              <a:spLocks noChangeArrowheads="1"/>
            </p:cNvSpPr>
            <p:nvPr/>
          </p:nvSpPr>
          <p:spPr bwMode="auto">
            <a:xfrm>
              <a:off x="2516" y="3869"/>
              <a:ext cx="96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0000"/>
                  </a:solidFill>
                  <a:cs typeface="Times New Roman" pitchFamily="18" charset="0"/>
                </a:rPr>
                <a:t>窗口内</a:t>
              </a:r>
              <a:r>
                <a:rPr lang="en-US" sz="2000" dirty="0">
                  <a:solidFill>
                    <a:srgbClr val="000000"/>
                  </a:solidFill>
                  <a:cs typeface="Times New Roman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cs typeface="Times New Roman" pitchFamily="18" charset="0"/>
                </a:rPr>
                <a:t>外</a:t>
              </a:r>
              <a:r>
                <a:rPr lang="en-US" sz="2000" dirty="0">
                  <a:solidFill>
                    <a:srgbClr val="000000"/>
                  </a:solidFill>
                  <a:cs typeface="Times New Roman" pitchFamily="18" charset="0"/>
                </a:rPr>
                <a:t>0</a:t>
              </a:r>
              <a:endParaRPr lang="ru-RU" sz="2000" dirty="0">
                <a:solidFill>
                  <a:srgbClr val="000000"/>
                </a:solidFill>
                <a:cs typeface="Times New Roman" pitchFamily="18" charset="0"/>
              </a:endParaRPr>
            </a:p>
          </p:txBody>
        </p:sp>
      </p:grpSp>
      <p:sp>
        <p:nvSpPr>
          <p:cNvPr id="2057" name="Text Box 35"/>
          <p:cNvSpPr txBox="1">
            <a:spLocks noChangeArrowheads="1"/>
          </p:cNvSpPr>
          <p:nvPr/>
        </p:nvSpPr>
        <p:spPr bwMode="auto">
          <a:xfrm>
            <a:off x="7504113" y="6477000"/>
            <a:ext cx="16748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cs typeface="Arial" pitchFamily="34" charset="0"/>
              </a:rPr>
              <a:t>Source: R. Szeliski</a:t>
            </a:r>
          </a:p>
        </p:txBody>
      </p:sp>
    </p:spTree>
    <p:extLst>
      <p:ext uri="{BB962C8B-B14F-4D97-AF65-F5344CB8AC3E}">
        <p14:creationId xmlns:p14="http://schemas.microsoft.com/office/powerpoint/2010/main" val="12285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1B4807B-8212-6140-86AA-D8FA2CD5A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0"/>
            <a:ext cx="6934200" cy="677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64076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D5215-AD57-5544-B430-FA195262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4C107C-A999-A843-9368-F806F10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泰勒级数展开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可得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E10370-1ED5-F44A-A089-EB4D913E3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966" y="3305024"/>
            <a:ext cx="7023100" cy="3263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038648-16B0-D64F-8C3C-37E82E5FD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286000"/>
            <a:ext cx="50292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4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ChangeArrowheads="1"/>
          </p:cNvSpPr>
          <p:nvPr/>
        </p:nvSpPr>
        <p:spPr bwMode="auto">
          <a:xfrm>
            <a:off x="2286000" y="1524000"/>
            <a:ext cx="4038600" cy="1295400"/>
          </a:xfrm>
          <a:prstGeom prst="rect">
            <a:avLst/>
          </a:prstGeom>
          <a:solidFill>
            <a:srgbClr val="62D86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ru-RU" dirty="0"/>
          </a:p>
        </p:txBody>
      </p:sp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304800" y="1101081"/>
            <a:ext cx="853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能量可以近似为：</a:t>
            </a:r>
            <a:endParaRPr lang="ru-RU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2286000" y="3505200"/>
          <a:ext cx="44227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" name="Equation" r:id="rId5" imgW="1765080" imgH="507960" progId="">
                  <p:embed/>
                </p:oleObj>
              </mc:Choice>
              <mc:Fallback>
                <p:oleObj name="Equation" r:id="rId5" imgW="1765080" imgH="507960" progId="">
                  <p:embed/>
                  <p:pic>
                    <p:nvPicPr>
                      <p:cNvPr id="30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05200"/>
                        <a:ext cx="4422775" cy="1270000"/>
                      </a:xfrm>
                      <a:prstGeom prst="rect">
                        <a:avLst/>
                      </a:prstGeom>
                      <a:solidFill>
                        <a:srgbClr val="67D967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Text Box 6"/>
          <p:cNvSpPr txBox="1">
            <a:spLocks noChangeArrowheads="1"/>
          </p:cNvSpPr>
          <p:nvPr/>
        </p:nvSpPr>
        <p:spPr bwMode="auto">
          <a:xfrm>
            <a:off x="230187" y="3018400"/>
            <a:ext cx="853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000000"/>
                </a:solidFill>
                <a:cs typeface="Times New Roman" pitchFamily="18" charset="0"/>
              </a:rPr>
              <a:t>M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是一个从图像梯度计算的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2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2 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矩阵：</a:t>
            </a:r>
            <a:endParaRPr lang="ru-RU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3075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708620"/>
              </p:ext>
            </p:extLst>
          </p:nvPr>
        </p:nvGraphicFramePr>
        <p:xfrm>
          <a:off x="2286000" y="1560513"/>
          <a:ext cx="4038600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70" name="Equation" r:id="rId7" imgW="1536480" imgH="457200" progId="Equation.3">
                  <p:embed/>
                </p:oleObj>
              </mc:Choice>
              <mc:Fallback>
                <p:oleObj name="Equation" r:id="rId7" imgW="1536480" imgH="457200" progId="Equation.3">
                  <p:embed/>
                  <p:pic>
                    <p:nvPicPr>
                      <p:cNvPr id="30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60513"/>
                        <a:ext cx="4038600" cy="1201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133600" y="5943600"/>
            <a:ext cx="5562600" cy="685800"/>
            <a:chOff x="528" y="3696"/>
            <a:chExt cx="3504" cy="432"/>
          </a:xfrm>
        </p:grpSpPr>
        <p:pic>
          <p:nvPicPr>
            <p:cNvPr id="3085" name="Picture 9" descr="Edittex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9" cstate="print"/>
            <a:srcRect r="25143" b="230"/>
            <a:stretch>
              <a:fillRect/>
            </a:stretch>
          </p:blipFill>
          <p:spPr bwMode="auto">
            <a:xfrm>
              <a:off x="528" y="3696"/>
              <a:ext cx="3504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6" name="Rectangle 10"/>
            <p:cNvSpPr>
              <a:spLocks noChangeArrowheads="1"/>
            </p:cNvSpPr>
            <p:nvPr/>
          </p:nvSpPr>
          <p:spPr bwMode="auto">
            <a:xfrm>
              <a:off x="528" y="3696"/>
              <a:ext cx="432" cy="4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i="1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M</a:t>
              </a:r>
            </a:p>
          </p:txBody>
        </p:sp>
      </p:grp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286000" y="5177135"/>
            <a:ext cx="2133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</a:rPr>
              <a:t>在</a:t>
            </a:r>
            <a:r>
              <a:rPr lang="zh-CN" altLang="en-US" dirty="0">
                <a:solidFill>
                  <a:srgbClr val="000000"/>
                </a:solidFill>
              </a:rPr>
              <a:t>角点的窗口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</a:rPr>
              <a:t>区域中求和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 rot="5400000" flipH="1" flipV="1">
            <a:off x="3048001" y="4875212"/>
            <a:ext cx="457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086600" y="3856038"/>
            <a:ext cx="1600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x </a:t>
            </a:r>
            <a:r>
              <a:rPr lang="en-US" altLang="zh-CN" dirty="0" err="1">
                <a:solidFill>
                  <a:srgbClr val="000000"/>
                </a:solidFill>
              </a:rPr>
              <a:t>方向梯度乘以</a:t>
            </a:r>
            <a:r>
              <a:rPr lang="en-US" altLang="zh-CN" dirty="0">
                <a:solidFill>
                  <a:srgbClr val="000000"/>
                </a:solidFill>
              </a:rPr>
              <a:t> y </a:t>
            </a:r>
            <a:r>
              <a:rPr lang="en-US" altLang="zh-CN" dirty="0" err="1">
                <a:solidFill>
                  <a:srgbClr val="000000"/>
                </a:solidFill>
              </a:rPr>
              <a:t>方向梯度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6" name="Straight Arrow Connector 15"/>
          <p:cNvCxnSpPr>
            <a:cxnSpLocks noChangeShapeType="1"/>
          </p:cNvCxnSpPr>
          <p:nvPr/>
        </p:nvCxnSpPr>
        <p:spPr bwMode="auto">
          <a:xfrm rot="10800000">
            <a:off x="6553200" y="38862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195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ru-RU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286000" y="3505200"/>
          <a:ext cx="44227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1" name="Equation" r:id="rId5" imgW="1765080" imgH="507960" progId="">
                  <p:embed/>
                </p:oleObj>
              </mc:Choice>
              <mc:Fallback>
                <p:oleObj name="Equation" r:id="rId5" imgW="1765080" imgH="507960" progId="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05200"/>
                        <a:ext cx="4422775" cy="1270000"/>
                      </a:xfrm>
                      <a:prstGeom prst="rect">
                        <a:avLst/>
                      </a:prstGeom>
                      <a:solidFill>
                        <a:srgbClr val="67D967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533400" y="3048000"/>
            <a:ext cx="853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i="1" dirty="0">
                <a:solidFill>
                  <a:srgbClr val="000000"/>
                </a:solidFill>
                <a:cs typeface="Times New Roman" pitchFamily="18" charset="0"/>
              </a:rPr>
              <a:t>M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是一个从图像梯度计算的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 2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2 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矩阵：</a:t>
            </a:r>
            <a:endParaRPr lang="ru-RU" altLang="zh-CN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4101" name="TextBox 12"/>
          <p:cNvSpPr txBox="1">
            <a:spLocks noChangeArrowheads="1"/>
          </p:cNvSpPr>
          <p:nvPr/>
        </p:nvSpPr>
        <p:spPr bwMode="auto">
          <a:xfrm>
            <a:off x="2286000" y="5027613"/>
            <a:ext cx="22860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</a:rPr>
              <a:t>在</a:t>
            </a:r>
            <a:r>
              <a:rPr lang="zh-CN" altLang="en-US" dirty="0">
                <a:solidFill>
                  <a:srgbClr val="000000"/>
                </a:solidFill>
              </a:rPr>
              <a:t>角点的窗口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</a:rPr>
              <a:t>区域中求和</a:t>
            </a:r>
            <a:endParaRPr lang="en-US" altLang="zh-CN" dirty="0">
              <a:solidFill>
                <a:srgbClr val="000000"/>
              </a:solidFill>
            </a:endParaRPr>
          </a:p>
        </p:txBody>
      </p:sp>
      <p:cxnSp>
        <p:nvCxnSpPr>
          <p:cNvPr id="4102" name="Straight Arrow Connector 13"/>
          <p:cNvCxnSpPr>
            <a:cxnSpLocks noChangeShapeType="1"/>
          </p:cNvCxnSpPr>
          <p:nvPr/>
        </p:nvCxnSpPr>
        <p:spPr bwMode="auto">
          <a:xfrm rot="5400000" flipH="1" flipV="1">
            <a:off x="3048001" y="4875212"/>
            <a:ext cx="4572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103" name="TextBox 14"/>
          <p:cNvSpPr txBox="1">
            <a:spLocks noChangeArrowheads="1"/>
          </p:cNvSpPr>
          <p:nvPr/>
        </p:nvSpPr>
        <p:spPr bwMode="auto">
          <a:xfrm>
            <a:off x="7086600" y="3856038"/>
            <a:ext cx="16002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x </a:t>
            </a:r>
            <a:r>
              <a:rPr lang="en-US" altLang="zh-CN" dirty="0" err="1">
                <a:solidFill>
                  <a:srgbClr val="000000"/>
                </a:solidFill>
              </a:rPr>
              <a:t>方向梯度乘以</a:t>
            </a:r>
            <a:r>
              <a:rPr lang="en-US" altLang="zh-CN" dirty="0">
                <a:solidFill>
                  <a:srgbClr val="000000"/>
                </a:solidFill>
              </a:rPr>
              <a:t> y </a:t>
            </a:r>
            <a:r>
              <a:rPr lang="en-US" altLang="zh-CN" dirty="0" err="1">
                <a:solidFill>
                  <a:srgbClr val="000000"/>
                </a:solidFill>
              </a:rPr>
              <a:t>方向梯度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4104" name="Straight Arrow Connector 15"/>
          <p:cNvCxnSpPr>
            <a:cxnSpLocks noChangeShapeType="1"/>
          </p:cNvCxnSpPr>
          <p:nvPr/>
        </p:nvCxnSpPr>
        <p:spPr bwMode="auto">
          <a:xfrm rot="10800000">
            <a:off x="6553200" y="38862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pic>
        <p:nvPicPr>
          <p:cNvPr id="4105" name="Picture 10" descr="hessian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8475" y="1425575"/>
            <a:ext cx="1655763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6" name="Picture 17" descr="hessian"/>
          <p:cNvPicPr>
            <a:picLocks noChangeAspect="1" noChangeArrowheads="1"/>
          </p:cNvPicPr>
          <p:nvPr/>
        </p:nvPicPr>
        <p:blipFill>
          <a:blip r:embed="rId8" cstate="print"/>
          <a:srcRect l="7629" t="9563" r="47212" b="45161"/>
          <a:stretch>
            <a:fillRect/>
          </a:stretch>
        </p:blipFill>
        <p:spPr bwMode="auto">
          <a:xfrm>
            <a:off x="2586038" y="1447800"/>
            <a:ext cx="16192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7" name="Picture 18" descr="hessian"/>
          <p:cNvPicPr>
            <a:picLocks noChangeAspect="1" noChangeArrowheads="1"/>
          </p:cNvPicPr>
          <p:nvPr/>
        </p:nvPicPr>
        <p:blipFill>
          <a:blip r:embed="rId8" cstate="print"/>
          <a:srcRect l="6955" t="54877" r="45802"/>
          <a:stretch>
            <a:fillRect/>
          </a:stretch>
        </p:blipFill>
        <p:spPr bwMode="auto">
          <a:xfrm>
            <a:off x="6742113" y="1447800"/>
            <a:ext cx="170021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19" descr="hessian"/>
          <p:cNvPicPr>
            <a:picLocks noChangeAspect="1" noChangeArrowheads="1"/>
          </p:cNvPicPr>
          <p:nvPr/>
        </p:nvPicPr>
        <p:blipFill>
          <a:blip r:embed="rId8" cstate="print"/>
          <a:srcRect l="53523" t="54877"/>
          <a:stretch>
            <a:fillRect/>
          </a:stretch>
        </p:blipFill>
        <p:spPr bwMode="auto">
          <a:xfrm>
            <a:off x="4648200" y="1447800"/>
            <a:ext cx="16732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133600" y="5943600"/>
            <a:ext cx="5562600" cy="685800"/>
            <a:chOff x="528" y="3696"/>
            <a:chExt cx="3504" cy="432"/>
          </a:xfrm>
        </p:grpSpPr>
        <p:pic>
          <p:nvPicPr>
            <p:cNvPr id="4110" name="Picture 9" descr="Edittex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9" cstate="print"/>
            <a:srcRect r="25143" b="230"/>
            <a:stretch>
              <a:fillRect/>
            </a:stretch>
          </p:blipFill>
          <p:spPr bwMode="auto">
            <a:xfrm>
              <a:off x="528" y="3696"/>
              <a:ext cx="3504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11" name="Rectangle 10"/>
            <p:cNvSpPr>
              <a:spLocks noChangeArrowheads="1"/>
            </p:cNvSpPr>
            <p:nvPr/>
          </p:nvSpPr>
          <p:spPr bwMode="auto">
            <a:xfrm>
              <a:off x="528" y="3696"/>
              <a:ext cx="432" cy="4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i="1">
                  <a:solidFill>
                    <a:srgbClr val="000000"/>
                  </a:solidFill>
                  <a:latin typeface="Times New Roman" pitchFamily="18" charset="0"/>
                  <a:cs typeface="Arial" pitchFamily="34" charset="0"/>
                </a:rPr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6567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685800" y="1698365"/>
            <a:ext cx="6858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首先，考虑沿坐标轴对齐的角点：</a:t>
            </a:r>
            <a:endParaRPr lang="en-US" sz="28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r>
              <a:rPr lang="en-US" altLang="zh-CN" dirty="0"/>
              <a:t>—</a:t>
            </a:r>
            <a:r>
              <a:rPr lang="zh-CN" altLang="en-US" dirty="0"/>
              <a:t>矩阵</a:t>
            </a:r>
            <a:r>
              <a:rPr lang="en-US" altLang="zh-CN" i="1" dirty="0"/>
              <a:t>M</a:t>
            </a:r>
            <a:r>
              <a:rPr lang="zh-CN" altLang="en-US" dirty="0"/>
              <a:t>的含义</a:t>
            </a:r>
            <a:endParaRPr lang="en-US" dirty="0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2971800" y="2362200"/>
            <a:ext cx="266700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4191000" y="3429000"/>
            <a:ext cx="1447800" cy="1447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10000" y="3124200"/>
            <a:ext cx="1676400" cy="1600200"/>
            <a:chOff x="2400" y="1968"/>
            <a:chExt cx="1056" cy="1008"/>
          </a:xfrm>
        </p:grpSpPr>
        <p:sp>
          <p:nvSpPr>
            <p:cNvPr id="83975" name="Line 7"/>
            <p:cNvSpPr>
              <a:spLocks noChangeShapeType="1"/>
            </p:cNvSpPr>
            <p:nvPr/>
          </p:nvSpPr>
          <p:spPr bwMode="auto">
            <a:xfrm flipH="1">
              <a:off x="2400" y="2400"/>
              <a:ext cx="38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976" name="Line 8"/>
            <p:cNvSpPr>
              <a:spLocks noChangeShapeType="1"/>
            </p:cNvSpPr>
            <p:nvPr/>
          </p:nvSpPr>
          <p:spPr bwMode="auto">
            <a:xfrm flipH="1">
              <a:off x="2400" y="2592"/>
              <a:ext cx="38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977" name="Line 9"/>
            <p:cNvSpPr>
              <a:spLocks noChangeShapeType="1"/>
            </p:cNvSpPr>
            <p:nvPr/>
          </p:nvSpPr>
          <p:spPr bwMode="auto">
            <a:xfrm flipH="1">
              <a:off x="2400" y="2784"/>
              <a:ext cx="38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978" name="Line 10"/>
            <p:cNvSpPr>
              <a:spLocks noChangeShapeType="1"/>
            </p:cNvSpPr>
            <p:nvPr/>
          </p:nvSpPr>
          <p:spPr bwMode="auto">
            <a:xfrm flipH="1">
              <a:off x="2400" y="2976"/>
              <a:ext cx="38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979" name="Line 11"/>
            <p:cNvSpPr>
              <a:spLocks noChangeShapeType="1"/>
            </p:cNvSpPr>
            <p:nvPr/>
          </p:nvSpPr>
          <p:spPr bwMode="auto">
            <a:xfrm rot="5400000" flipH="1">
              <a:off x="2688" y="2160"/>
              <a:ext cx="38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980" name="Line 12"/>
            <p:cNvSpPr>
              <a:spLocks noChangeShapeType="1"/>
            </p:cNvSpPr>
            <p:nvPr/>
          </p:nvSpPr>
          <p:spPr bwMode="auto">
            <a:xfrm rot="5400000" flipH="1">
              <a:off x="2880" y="2160"/>
              <a:ext cx="38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981" name="Line 13"/>
            <p:cNvSpPr>
              <a:spLocks noChangeShapeType="1"/>
            </p:cNvSpPr>
            <p:nvPr/>
          </p:nvSpPr>
          <p:spPr bwMode="auto">
            <a:xfrm rot="5400000" flipH="1">
              <a:off x="3072" y="2160"/>
              <a:ext cx="38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982" name="Line 14"/>
            <p:cNvSpPr>
              <a:spLocks noChangeShapeType="1"/>
            </p:cNvSpPr>
            <p:nvPr/>
          </p:nvSpPr>
          <p:spPr bwMode="auto">
            <a:xfrm rot="5400000" flipH="1">
              <a:off x="3264" y="2160"/>
              <a:ext cx="38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047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1231900" y="1905000"/>
          <a:ext cx="6700838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" name="Equation" r:id="rId4" imgW="2197080" imgH="507960" progId="Equation.3">
                  <p:embed/>
                </p:oleObj>
              </mc:Choice>
              <mc:Fallback>
                <p:oleObj name="Equation" r:id="rId4" imgW="2197080" imgH="507960" progId="Equation.3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1905000"/>
                        <a:ext cx="6700838" cy="154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446202" y="1392639"/>
            <a:ext cx="6858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首先，考虑沿坐标轴对齐的角点：</a:t>
            </a:r>
            <a:endParaRPr lang="en-US" sz="28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457200" y="3581400"/>
            <a:ext cx="82296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这意味着主梯度方向沿</a:t>
            </a:r>
            <a:r>
              <a:rPr lang="en-US" altLang="zh-CN" sz="2800" dirty="0">
                <a:solidFill>
                  <a:srgbClr val="000000"/>
                </a:solidFill>
                <a:cs typeface="Arial" pitchFamily="34" charset="0"/>
              </a:rPr>
              <a:t>x</a:t>
            </a: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cs typeface="Arial" pitchFamily="34" charset="0"/>
              </a:rPr>
              <a:t>y</a:t>
            </a: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轴</a:t>
            </a:r>
            <a:endParaRPr lang="en-US" sz="2800" dirty="0">
              <a:solidFill>
                <a:srgbClr val="000000"/>
              </a:solidFill>
              <a:cs typeface="Arial" pitchFamily="34" charset="0"/>
            </a:endParaRP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如果</a:t>
            </a:r>
            <a:r>
              <a:rPr lang="el-GR" sz="2800" dirty="0">
                <a:solidFill>
                  <a:srgbClr val="000000"/>
                </a:solidFill>
                <a:cs typeface="Arial" pitchFamily="34" charset="0"/>
              </a:rPr>
              <a:t>λ</a:t>
            </a:r>
            <a:r>
              <a:rPr lang="en-US" sz="2800" dirty="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接近</a:t>
            </a:r>
            <a:r>
              <a:rPr lang="en-US" sz="2800" dirty="0">
                <a:solidFill>
                  <a:srgbClr val="000000"/>
                </a:solidFill>
                <a:cs typeface="Arial" pitchFamily="34" charset="0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，则不为角点，需要寻找两个</a:t>
            </a:r>
            <a:r>
              <a:rPr lang="el-GR" altLang="zh-CN" sz="2800" dirty="0">
                <a:solidFill>
                  <a:srgbClr val="000000"/>
                </a:solidFill>
                <a:cs typeface="Arial" pitchFamily="34" charset="0"/>
              </a:rPr>
              <a:t>λ</a:t>
            </a: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都很大的点</a:t>
            </a:r>
            <a:r>
              <a:rPr lang="en-US" sz="2800" dirty="0">
                <a:solidFill>
                  <a:srgbClr val="000000"/>
                </a:solidFill>
                <a:cs typeface="Arial" pitchFamily="34" charset="0"/>
              </a:rPr>
              <a:t>.</a:t>
            </a: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</a:pPr>
            <a:endParaRPr lang="en-US" sz="28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7019925" y="6553200"/>
            <a:ext cx="2047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Times"/>
                <a:cs typeface="Arial" pitchFamily="34" charset="0"/>
              </a:rPr>
              <a:t>Slide credit: David Jacobs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r>
              <a:rPr lang="en-US" altLang="zh-CN" dirty="0"/>
              <a:t>—</a:t>
            </a:r>
            <a:r>
              <a:rPr lang="zh-CN" altLang="en-US" dirty="0"/>
              <a:t>矩阵</a:t>
            </a:r>
            <a:r>
              <a:rPr lang="en-US" altLang="zh-CN" i="1" dirty="0"/>
              <a:t>M</a:t>
            </a:r>
            <a:r>
              <a:rPr lang="zh-CN" altLang="en-US" dirty="0"/>
              <a:t>的含义</a:t>
            </a:r>
            <a:endParaRPr lang="en-US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" y="5638800"/>
            <a:ext cx="8610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</a:rPr>
              <a:t>问题：</a:t>
            </a:r>
            <a:r>
              <a:rPr lang="en-US" altLang="zh-CN" sz="2800" dirty="0" err="1">
                <a:solidFill>
                  <a:srgbClr val="000000"/>
                </a:solidFill>
              </a:rPr>
              <a:t>如果角点不与坐标轴对齐</a:t>
            </a:r>
            <a:r>
              <a:rPr lang="zh-CN" altLang="en-US" sz="2800" dirty="0">
                <a:solidFill>
                  <a:srgbClr val="000000"/>
                </a:solidFill>
              </a:rPr>
              <a:t>？</a:t>
            </a:r>
            <a:endParaRPr lang="en-US" altLang="zh-CN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23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r>
              <a:rPr lang="en-US" altLang="zh-CN" dirty="0"/>
              <a:t>—</a:t>
            </a:r>
            <a:r>
              <a:rPr lang="zh-CN" altLang="en-US" dirty="0"/>
              <a:t>矩阵</a:t>
            </a:r>
            <a:r>
              <a:rPr lang="en-US" altLang="zh-CN" i="1" dirty="0"/>
              <a:t>M</a:t>
            </a:r>
            <a:r>
              <a:rPr lang="zh-CN" altLang="en-US" dirty="0"/>
              <a:t>的含义</a:t>
            </a:r>
            <a:endParaRPr lang="en-US" dirty="0"/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609600" y="1696603"/>
            <a:ext cx="7391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由于</a:t>
            </a:r>
            <a:r>
              <a:rPr lang="en-US" sz="2800" dirty="0">
                <a:solidFill>
                  <a:srgbClr val="000000"/>
                </a:solidFill>
                <a:cs typeface="Arial" pitchFamily="34" charset="0"/>
              </a:rPr>
              <a:t> M </a:t>
            </a: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是对称的，有</a:t>
            </a:r>
            <a:endParaRPr lang="en-US" sz="2800" dirty="0">
              <a:solidFill>
                <a:srgbClr val="000000"/>
              </a:solidFill>
              <a:cs typeface="Arial" pitchFamily="34" charset="0"/>
            </a:endParaRP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880042"/>
              </p:ext>
            </p:extLst>
          </p:nvPr>
        </p:nvGraphicFramePr>
        <p:xfrm>
          <a:off x="4572000" y="1376721"/>
          <a:ext cx="28956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9" name="Equation" r:id="rId4" imgW="1206360" imgH="482400" progId="Equation.3">
                  <p:embed/>
                </p:oleObj>
              </mc:Choice>
              <mc:Fallback>
                <p:oleObj name="Equation" r:id="rId4" imgW="1206360" imgH="482400" progId="Equation.3">
                  <p:embed/>
                  <p:pic>
                    <p:nvPicPr>
                      <p:cNvPr id="61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76721"/>
                        <a:ext cx="2895600" cy="1158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9381" name="Text Box 5"/>
          <p:cNvSpPr txBox="1">
            <a:spLocks noChangeArrowheads="1"/>
          </p:cNvSpPr>
          <p:nvPr/>
        </p:nvSpPr>
        <p:spPr bwMode="auto">
          <a:xfrm>
            <a:off x="609600" y="2600650"/>
            <a:ext cx="7315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i="1" dirty="0">
                <a:solidFill>
                  <a:srgbClr val="000000"/>
                </a:solidFill>
                <a:cs typeface="Arial" pitchFamily="34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  <a:cs typeface="Arial" pitchFamily="34" charset="0"/>
              </a:rPr>
              <a:t>可看成一个椭圆</a:t>
            </a: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，长轴和短轴为两个特征值，</a:t>
            </a:r>
            <a:r>
              <a:rPr lang="en-US" altLang="zh-CN" sz="2800" dirty="0" err="1">
                <a:solidFill>
                  <a:srgbClr val="000000"/>
                </a:solidFill>
                <a:cs typeface="Arial" pitchFamily="34" charset="0"/>
              </a:rPr>
              <a:t>方向由</a:t>
            </a:r>
            <a:r>
              <a:rPr lang="en-US" altLang="zh-CN" sz="2800" i="1" dirty="0" err="1">
                <a:solidFill>
                  <a:srgbClr val="000000"/>
                </a:solidFill>
                <a:cs typeface="Arial" pitchFamily="34" charset="0"/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  <a:cs typeface="Arial" pitchFamily="34" charset="0"/>
              </a:rPr>
              <a:t>决定</a:t>
            </a:r>
            <a:endParaRPr lang="en-US" altLang="zh-CN" sz="2800" dirty="0">
              <a:solidFill>
                <a:srgbClr val="000000"/>
              </a:solidFill>
              <a:cs typeface="Arial" pitchFamily="34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81200" y="3733800"/>
            <a:ext cx="5591175" cy="2878138"/>
            <a:chOff x="2254" y="2352"/>
            <a:chExt cx="3522" cy="1813"/>
          </a:xfrm>
        </p:grpSpPr>
        <p:sp>
          <p:nvSpPr>
            <p:cNvPr id="6152" name="Text Box 7"/>
            <p:cNvSpPr txBox="1">
              <a:spLocks noChangeArrowheads="1"/>
            </p:cNvSpPr>
            <p:nvPr/>
          </p:nvSpPr>
          <p:spPr bwMode="auto">
            <a:xfrm>
              <a:off x="4704" y="2736"/>
              <a:ext cx="107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dirty="0">
                  <a:solidFill>
                    <a:srgbClr val="FF3300"/>
                  </a:solidFill>
                  <a:cs typeface="Times New Roman" pitchFamily="18" charset="0"/>
                </a:rPr>
                <a:t>变化最慢的方向</a:t>
              </a:r>
              <a:endParaRPr lang="ru-RU" sz="1600" dirty="0">
                <a:solidFill>
                  <a:srgbClr val="FF3300"/>
                </a:solidFill>
                <a:cs typeface="Times New Roman" pitchFamily="18" charset="0"/>
              </a:endParaRPr>
            </a:p>
          </p:txBody>
        </p:sp>
        <p:sp>
          <p:nvSpPr>
            <p:cNvPr id="6153" name="Text Box 8"/>
            <p:cNvSpPr txBox="1">
              <a:spLocks noChangeArrowheads="1"/>
            </p:cNvSpPr>
            <p:nvPr/>
          </p:nvSpPr>
          <p:spPr bwMode="auto">
            <a:xfrm>
              <a:off x="2688" y="2352"/>
              <a:ext cx="105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dirty="0">
                  <a:solidFill>
                    <a:srgbClr val="0033CC"/>
                  </a:solidFill>
                  <a:cs typeface="Times New Roman" pitchFamily="18" charset="0"/>
                </a:rPr>
                <a:t>变化最快的方向</a:t>
              </a:r>
              <a:endParaRPr lang="ru-RU" sz="1600" dirty="0">
                <a:solidFill>
                  <a:srgbClr val="0033CC"/>
                </a:solidFill>
                <a:cs typeface="Times New Roman" pitchFamily="18" charset="0"/>
              </a:endParaRPr>
            </a:p>
          </p:txBody>
        </p:sp>
        <p:sp>
          <p:nvSpPr>
            <p:cNvPr id="6154" name="Oval 9"/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rgbClr val="7CF6D3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155" name="Line 10"/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156" name="Line 11"/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157" name="AutoShape 12"/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158" name="AutoShape 13"/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159" name="Rectangle 14"/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max</a:t>
              </a:r>
              <a:r>
                <a:rPr lang="en-US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160" name="Rectangle 15"/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min</a:t>
              </a:r>
              <a:r>
                <a:rPr lang="en-US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</p:grp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5257800" y="6629400"/>
            <a:ext cx="7467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1300" kern="0" dirty="0">
                <a:solidFill>
                  <a:srgbClr val="000000"/>
                </a:solidFill>
              </a:rPr>
              <a:t>Slide adapted form Darya </a:t>
            </a:r>
            <a:r>
              <a:rPr lang="en-US" sz="1300" kern="0" dirty="0" err="1">
                <a:solidFill>
                  <a:srgbClr val="000000"/>
                </a:solidFill>
              </a:rPr>
              <a:t>Frolova</a:t>
            </a:r>
            <a:r>
              <a:rPr lang="en-US" sz="1300" kern="0" dirty="0">
                <a:solidFill>
                  <a:srgbClr val="000000"/>
                </a:solidFill>
              </a:rPr>
              <a:t>, Denis </a:t>
            </a:r>
            <a:r>
              <a:rPr lang="en-US" sz="1300" kern="0" dirty="0" err="1">
                <a:solidFill>
                  <a:srgbClr val="000000"/>
                </a:solidFill>
              </a:rPr>
              <a:t>Simakov</a:t>
            </a:r>
            <a:r>
              <a:rPr lang="en-US" sz="1300" kern="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514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938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AutoShape 2"/>
          <p:cNvSpPr>
            <a:spLocks noChangeArrowheads="1"/>
          </p:cNvSpPr>
          <p:nvPr/>
        </p:nvSpPr>
        <p:spPr bwMode="auto">
          <a:xfrm>
            <a:off x="838200" y="4800600"/>
            <a:ext cx="3124200" cy="1219200"/>
          </a:xfrm>
          <a:prstGeom prst="rightArrowCallout">
            <a:avLst>
              <a:gd name="adj1" fmla="val 25000"/>
              <a:gd name="adj2" fmla="val 24093"/>
              <a:gd name="adj3" fmla="val 41581"/>
              <a:gd name="adj4" fmla="val 7566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r>
              <a:rPr lang="en-US" altLang="zh-CN" dirty="0"/>
              <a:t>—</a:t>
            </a:r>
            <a:r>
              <a:rPr lang="zh-CN" altLang="en-US" dirty="0"/>
              <a:t>矩阵</a:t>
            </a:r>
            <a:r>
              <a:rPr lang="en-US" altLang="zh-CN" i="1" dirty="0"/>
              <a:t>M</a:t>
            </a:r>
            <a:r>
              <a:rPr lang="zh-CN" altLang="en-US" dirty="0"/>
              <a:t>的含义</a:t>
            </a:r>
            <a:endParaRPr lang="ru-RU" dirty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038600" y="1752600"/>
            <a:ext cx="4343400" cy="4343400"/>
          </a:xfrm>
          <a:prstGeom prst="rect">
            <a:avLst/>
          </a:prstGeom>
          <a:solidFill>
            <a:srgbClr val="F38F6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7772400" y="6096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endParaRPr lang="ru-RU" sz="2400" baseline="-2500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3124200" y="18288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endParaRPr lang="ru-RU" sz="2400" baseline="-2500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4999" name="Freeform 7"/>
          <p:cNvSpPr>
            <a:spLocks/>
          </p:cNvSpPr>
          <p:nvPr/>
        </p:nvSpPr>
        <p:spPr bwMode="auto">
          <a:xfrm>
            <a:off x="4495800" y="1752600"/>
            <a:ext cx="3886200" cy="3937000"/>
          </a:xfrm>
          <a:custGeom>
            <a:avLst/>
            <a:gdLst>
              <a:gd name="T0" fmla="*/ 0 w 2448"/>
              <a:gd name="T1" fmla="*/ 1920 h 2480"/>
              <a:gd name="T2" fmla="*/ 672 w 2448"/>
              <a:gd name="T3" fmla="*/ 0 h 2480"/>
              <a:gd name="T4" fmla="*/ 2448 w 2448"/>
              <a:gd name="T5" fmla="*/ 0 h 2480"/>
              <a:gd name="T6" fmla="*/ 2448 w 2448"/>
              <a:gd name="T7" fmla="*/ 1872 h 2480"/>
              <a:gd name="T8" fmla="*/ 555 w 2448"/>
              <a:gd name="T9" fmla="*/ 2480 h 2480"/>
              <a:gd name="T10" fmla="*/ 0 w 2448"/>
              <a:gd name="T11" fmla="*/ 1920 h 24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48"/>
              <a:gd name="T19" fmla="*/ 0 h 2480"/>
              <a:gd name="T20" fmla="*/ 2448 w 2448"/>
              <a:gd name="T21" fmla="*/ 2480 h 24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48" h="2480">
                <a:moveTo>
                  <a:pt x="0" y="1920"/>
                </a:moveTo>
                <a:lnTo>
                  <a:pt x="672" y="0"/>
                </a:lnTo>
                <a:lnTo>
                  <a:pt x="2448" y="0"/>
                </a:lnTo>
                <a:lnTo>
                  <a:pt x="2448" y="1872"/>
                </a:lnTo>
                <a:lnTo>
                  <a:pt x="555" y="2480"/>
                </a:lnTo>
                <a:lnTo>
                  <a:pt x="0" y="192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5000" name="AutoShape 8"/>
          <p:cNvSpPr>
            <a:spLocks noChangeArrowheads="1"/>
          </p:cNvSpPr>
          <p:nvPr/>
        </p:nvSpPr>
        <p:spPr bwMode="auto">
          <a:xfrm>
            <a:off x="4038600" y="4343400"/>
            <a:ext cx="1749425" cy="1752600"/>
          </a:xfrm>
          <a:prstGeom prst="rtTriangle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75529" name="Rectangle 9"/>
          <p:cNvSpPr>
            <a:spLocks noChangeArrowheads="1"/>
          </p:cNvSpPr>
          <p:nvPr/>
        </p:nvSpPr>
        <p:spPr bwMode="auto">
          <a:xfrm>
            <a:off x="5562600" y="23622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“Corner”</a:t>
            </a:r>
            <a:b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和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都很大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~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沿任意方向都增加</a:t>
            </a:r>
            <a:endParaRPr lang="ru-RU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75530" name="Rectangle 10"/>
          <p:cNvSpPr>
            <a:spLocks noChangeArrowheads="1"/>
          </p:cNvSpPr>
          <p:nvPr/>
        </p:nvSpPr>
        <p:spPr bwMode="auto">
          <a:xfrm>
            <a:off x="914400" y="4800600"/>
            <a:ext cx="23622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和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都很小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沿任何方向都是不变</a:t>
            </a:r>
            <a:endParaRPr lang="ru-RU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75531" name="Rectangle 11"/>
          <p:cNvSpPr>
            <a:spLocks noChangeArrowheads="1"/>
          </p:cNvSpPr>
          <p:nvPr/>
        </p:nvSpPr>
        <p:spPr bwMode="auto">
          <a:xfrm>
            <a:off x="7162800" y="5105400"/>
            <a:ext cx="1295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ru-RU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&gt;&gt; </a:t>
            </a:r>
            <a:r>
              <a:rPr lang="ru-RU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endParaRPr lang="ru-RU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75532" name="Rectangle 12"/>
          <p:cNvSpPr>
            <a:spLocks noChangeArrowheads="1"/>
          </p:cNvSpPr>
          <p:nvPr/>
        </p:nvSpPr>
        <p:spPr bwMode="auto">
          <a:xfrm>
            <a:off x="4114800" y="1905000"/>
            <a:ext cx="1295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ru-RU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&gt;&gt; </a:t>
            </a:r>
            <a:r>
              <a:rPr lang="ru-RU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endParaRPr lang="ru-RU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75533" name="Rectangle 13"/>
          <p:cNvSpPr>
            <a:spLocks noChangeArrowheads="1"/>
          </p:cNvSpPr>
          <p:nvPr/>
        </p:nvSpPr>
        <p:spPr bwMode="auto">
          <a:xfrm>
            <a:off x="3962400" y="5181600"/>
            <a:ext cx="121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“Flat” </a:t>
            </a:r>
            <a:r>
              <a:rPr lang="en-US" sz="24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区域</a:t>
            </a:r>
            <a:endParaRPr lang="ru-RU" sz="2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5006" name="Text Box 14"/>
          <p:cNvSpPr txBox="1">
            <a:spLocks noChangeArrowheads="1"/>
          </p:cNvSpPr>
          <p:nvPr/>
        </p:nvSpPr>
        <p:spPr bwMode="auto">
          <a:xfrm>
            <a:off x="512190" y="1292553"/>
            <a:ext cx="8001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根据矩阵</a:t>
            </a:r>
            <a:r>
              <a:rPr lang="en-US" altLang="zh-CN" sz="2800" i="1" dirty="0">
                <a:solidFill>
                  <a:srgbClr val="000000"/>
                </a:solidFill>
                <a:cs typeface="Times New Roman" pitchFamily="18" charset="0"/>
              </a:rPr>
              <a:t>M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特征值将图像点分类：</a:t>
            </a:r>
            <a:endParaRPr lang="ru-RU" sz="2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875535" name="Oval 15"/>
          <p:cNvSpPr>
            <a:spLocks noChangeArrowheads="1"/>
          </p:cNvSpPr>
          <p:nvPr/>
        </p:nvSpPr>
        <p:spPr bwMode="auto">
          <a:xfrm>
            <a:off x="6934200" y="2133600"/>
            <a:ext cx="609600" cy="638175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75536" name="Oval 16"/>
          <p:cNvSpPr>
            <a:spLocks noChangeArrowheads="1"/>
          </p:cNvSpPr>
          <p:nvPr/>
        </p:nvSpPr>
        <p:spPr bwMode="auto">
          <a:xfrm>
            <a:off x="4184650" y="1828800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75537" name="Oval 17"/>
          <p:cNvSpPr>
            <a:spLocks noChangeArrowheads="1"/>
          </p:cNvSpPr>
          <p:nvPr/>
        </p:nvSpPr>
        <p:spPr bwMode="auto">
          <a:xfrm>
            <a:off x="4267200" y="4953000"/>
            <a:ext cx="152400" cy="152400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75538" name="Oval 18"/>
          <p:cNvSpPr>
            <a:spLocks noChangeArrowheads="1"/>
          </p:cNvSpPr>
          <p:nvPr/>
        </p:nvSpPr>
        <p:spPr bwMode="auto">
          <a:xfrm rot="5542000">
            <a:off x="6650832" y="5557043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4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5522" grpId="0" animBg="1"/>
      <p:bldP spid="875529" grpId="0"/>
      <p:bldP spid="875530" grpId="0"/>
      <p:bldP spid="875531" grpId="0"/>
      <p:bldP spid="875532" grpId="0"/>
      <p:bldP spid="875533" grpId="0"/>
      <p:bldP spid="875535" grpId="0" animBg="1"/>
      <p:bldP spid="875536" grpId="0" animBg="1"/>
      <p:bldP spid="875537" grpId="0" animBg="1"/>
      <p:bldP spid="87553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r>
              <a:rPr lang="en-US" altLang="zh-CN" dirty="0"/>
              <a:t>— </a:t>
            </a:r>
            <a:r>
              <a:rPr lang="zh-CN" altLang="en-US" dirty="0"/>
              <a:t>角点响应函数</a:t>
            </a:r>
            <a:endParaRPr lang="en-US" dirty="0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4038600" y="1752600"/>
            <a:ext cx="4343400" cy="4343400"/>
          </a:xfrm>
          <a:prstGeom prst="rect">
            <a:avLst/>
          </a:prstGeom>
          <a:solidFill>
            <a:srgbClr val="F38F6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73" name="Freeform 4"/>
          <p:cNvSpPr>
            <a:spLocks/>
          </p:cNvSpPr>
          <p:nvPr/>
        </p:nvSpPr>
        <p:spPr bwMode="auto">
          <a:xfrm>
            <a:off x="4495800" y="1752600"/>
            <a:ext cx="3886200" cy="3937000"/>
          </a:xfrm>
          <a:custGeom>
            <a:avLst/>
            <a:gdLst>
              <a:gd name="T0" fmla="*/ 0 w 2448"/>
              <a:gd name="T1" fmla="*/ 1920 h 2480"/>
              <a:gd name="T2" fmla="*/ 672 w 2448"/>
              <a:gd name="T3" fmla="*/ 0 h 2480"/>
              <a:gd name="T4" fmla="*/ 2448 w 2448"/>
              <a:gd name="T5" fmla="*/ 0 h 2480"/>
              <a:gd name="T6" fmla="*/ 2448 w 2448"/>
              <a:gd name="T7" fmla="*/ 1872 h 2480"/>
              <a:gd name="T8" fmla="*/ 555 w 2448"/>
              <a:gd name="T9" fmla="*/ 2480 h 2480"/>
              <a:gd name="T10" fmla="*/ 0 w 2448"/>
              <a:gd name="T11" fmla="*/ 1920 h 24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48"/>
              <a:gd name="T19" fmla="*/ 0 h 2480"/>
              <a:gd name="T20" fmla="*/ 2448 w 2448"/>
              <a:gd name="T21" fmla="*/ 2480 h 24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48" h="2480">
                <a:moveTo>
                  <a:pt x="0" y="1920"/>
                </a:moveTo>
                <a:lnTo>
                  <a:pt x="672" y="0"/>
                </a:lnTo>
                <a:lnTo>
                  <a:pt x="2448" y="0"/>
                </a:lnTo>
                <a:lnTo>
                  <a:pt x="2448" y="1872"/>
                </a:lnTo>
                <a:lnTo>
                  <a:pt x="555" y="2480"/>
                </a:lnTo>
                <a:lnTo>
                  <a:pt x="0" y="192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74" name="AutoShape 5"/>
          <p:cNvSpPr>
            <a:spLocks noChangeArrowheads="1"/>
          </p:cNvSpPr>
          <p:nvPr/>
        </p:nvSpPr>
        <p:spPr bwMode="auto">
          <a:xfrm>
            <a:off x="4038600" y="4343400"/>
            <a:ext cx="1749425" cy="1752600"/>
          </a:xfrm>
          <a:prstGeom prst="rtTriangle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75" name="Rectangle 6"/>
          <p:cNvSpPr>
            <a:spLocks noChangeArrowheads="1"/>
          </p:cNvSpPr>
          <p:nvPr/>
        </p:nvSpPr>
        <p:spPr bwMode="auto">
          <a:xfrm>
            <a:off x="5562600" y="2362200"/>
            <a:ext cx="2667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“Corner”</a:t>
            </a:r>
            <a:b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 &gt; 0</a:t>
            </a:r>
            <a:endParaRPr lang="ru-RU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auto">
          <a:xfrm>
            <a:off x="7162800" y="5105400"/>
            <a:ext cx="1295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 &lt; 0</a:t>
            </a:r>
            <a:endParaRPr lang="ru-RU" sz="200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7" name="Rectangle 8"/>
          <p:cNvSpPr>
            <a:spLocks noChangeArrowheads="1"/>
          </p:cNvSpPr>
          <p:nvPr/>
        </p:nvSpPr>
        <p:spPr bwMode="auto">
          <a:xfrm>
            <a:off x="4114800" y="1905000"/>
            <a:ext cx="1295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&lt; 0</a:t>
            </a:r>
            <a:endParaRPr lang="ru-RU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8" name="Rectangle 9"/>
          <p:cNvSpPr>
            <a:spLocks noChangeArrowheads="1"/>
          </p:cNvSpPr>
          <p:nvPr/>
        </p:nvSpPr>
        <p:spPr bwMode="auto">
          <a:xfrm>
            <a:off x="3962400" y="5181600"/>
            <a:ext cx="121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“Flat” </a:t>
            </a:r>
            <a:r>
              <a:rPr lang="zh-CN" alt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区域</a:t>
            </a:r>
            <a:endParaRPr lang="ru-RU" sz="2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179" name="Oval 10"/>
          <p:cNvSpPr>
            <a:spLocks noChangeArrowheads="1"/>
          </p:cNvSpPr>
          <p:nvPr/>
        </p:nvSpPr>
        <p:spPr bwMode="auto">
          <a:xfrm>
            <a:off x="6934200" y="2133600"/>
            <a:ext cx="609600" cy="638175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80" name="Oval 11"/>
          <p:cNvSpPr>
            <a:spLocks noChangeArrowheads="1"/>
          </p:cNvSpPr>
          <p:nvPr/>
        </p:nvSpPr>
        <p:spPr bwMode="auto">
          <a:xfrm>
            <a:off x="4184650" y="1828800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81" name="Oval 12"/>
          <p:cNvSpPr>
            <a:spLocks noChangeArrowheads="1"/>
          </p:cNvSpPr>
          <p:nvPr/>
        </p:nvSpPr>
        <p:spPr bwMode="auto">
          <a:xfrm>
            <a:off x="4267200" y="4953000"/>
            <a:ext cx="152400" cy="152400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82" name="Oval 13"/>
          <p:cNvSpPr>
            <a:spLocks noChangeArrowheads="1"/>
          </p:cNvSpPr>
          <p:nvPr/>
        </p:nvSpPr>
        <p:spPr bwMode="auto">
          <a:xfrm rot="5542000">
            <a:off x="6650832" y="5557043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83" name="Rectangle 14"/>
          <p:cNvSpPr>
            <a:spLocks noChangeArrowheads="1"/>
          </p:cNvSpPr>
          <p:nvPr/>
        </p:nvSpPr>
        <p:spPr bwMode="auto">
          <a:xfrm>
            <a:off x="4899025" y="4714875"/>
            <a:ext cx="9268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|R| 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小</a:t>
            </a:r>
            <a:endParaRPr lang="en-US" sz="2400" dirty="0">
              <a:solidFill>
                <a:srgbClr val="000000"/>
              </a:solidFill>
              <a:latin typeface="Times New Roman" pitchFamily="18" charset="0"/>
              <a:cs typeface="Arial" pitchFamily="34" charset="0"/>
              <a:sym typeface="Symbol" pitchFamily="18" charset="2"/>
            </a:endParaRPr>
          </a:p>
        </p:txBody>
      </p:sp>
      <p:sp>
        <p:nvSpPr>
          <p:cNvPr id="7184" name="Line 15"/>
          <p:cNvSpPr>
            <a:spLocks noChangeShapeType="1"/>
          </p:cNvSpPr>
          <p:nvPr/>
        </p:nvSpPr>
        <p:spPr bwMode="auto">
          <a:xfrm flipH="1">
            <a:off x="5029200" y="5181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717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089144"/>
              </p:ext>
            </p:extLst>
          </p:nvPr>
        </p:nvGraphicFramePr>
        <p:xfrm>
          <a:off x="979766" y="1130987"/>
          <a:ext cx="71231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" name="Equation" r:id="rId4" imgW="2844720" imgH="228600" progId="Equation.3">
                  <p:embed/>
                </p:oleObj>
              </mc:Choice>
              <mc:Fallback>
                <p:oleObj name="Equation" r:id="rId4" imgW="2844720" imgH="228600" progId="Equation.3">
                  <p:embed/>
                  <p:pic>
                    <p:nvPicPr>
                      <p:cNvPr id="717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766" y="1130987"/>
                        <a:ext cx="71231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1006475" y="1828800"/>
            <a:ext cx="21973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i="1" dirty="0">
                <a:solidFill>
                  <a:srgbClr val="000000"/>
                </a:solidFill>
                <a:latin typeface="Times New Roman" pitchFamily="18" charset="0"/>
                <a:cs typeface="Arial" pitchFamily="34" charset="0"/>
              </a:rPr>
              <a:t>α</a:t>
            </a:r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: </a:t>
            </a:r>
            <a:r>
              <a:rPr lang="zh-CN" altLang="en-US" dirty="0">
                <a:solidFill>
                  <a:srgbClr val="000000"/>
                </a:solidFill>
                <a:cs typeface="Arial" pitchFamily="34" charset="0"/>
              </a:rPr>
              <a:t>常量</a:t>
            </a:r>
            <a:r>
              <a:rPr lang="en-US" dirty="0">
                <a:solidFill>
                  <a:srgbClr val="000000"/>
                </a:solidFill>
                <a:cs typeface="Arial" pitchFamily="34" charset="0"/>
              </a:rPr>
              <a:t> (0.04 to 0.06)</a:t>
            </a:r>
            <a:endParaRPr lang="el-GR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167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ru-RU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01763"/>
            <a:ext cx="8229600" cy="452596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算法步骤：</a:t>
            </a:r>
            <a:endParaRPr lang="en-US" dirty="0"/>
          </a:p>
          <a:p>
            <a:pPr lvl="1"/>
            <a:r>
              <a:rPr lang="zh-CN" altLang="en-US" dirty="0"/>
              <a:t>设定窗口，计算矩阵</a:t>
            </a:r>
            <a:r>
              <a:rPr lang="en-US" altLang="zh-CN" i="1" dirty="0"/>
              <a:t>M</a:t>
            </a:r>
            <a:r>
              <a:rPr lang="zh-CN" altLang="en-US" dirty="0"/>
              <a:t>得到整个图像的响应值</a:t>
            </a:r>
            <a:r>
              <a:rPr lang="en-US" altLang="zh-CN" i="1" dirty="0"/>
              <a:t>R</a:t>
            </a:r>
            <a:endParaRPr lang="en-US" dirty="0"/>
          </a:p>
          <a:p>
            <a:pPr lvl="1" eaLnBrk="1" hangingPunct="1"/>
            <a:endParaRPr lang="en-US" altLang="zh-CN" dirty="0"/>
          </a:p>
          <a:p>
            <a:pPr lvl="1" eaLnBrk="1" hangingPunct="1"/>
            <a:r>
              <a:rPr lang="zh-CN" altLang="en-US" dirty="0"/>
              <a:t>找出具有较大</a:t>
            </a:r>
            <a:r>
              <a:rPr lang="zh-CN" altLang="en-US"/>
              <a:t>响应值的点</a:t>
            </a:r>
            <a:r>
              <a:rPr lang="en-US" dirty="0"/>
              <a:t> (</a:t>
            </a:r>
            <a:r>
              <a:rPr lang="en-US" i="1" dirty="0"/>
              <a:t>R </a:t>
            </a:r>
            <a:r>
              <a:rPr lang="en-US" dirty="0"/>
              <a:t>&gt; threshold)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确定</a:t>
            </a:r>
            <a:r>
              <a:rPr lang="en-US" altLang="zh-CN" i="1" dirty="0"/>
              <a:t>R</a:t>
            </a:r>
            <a:r>
              <a:rPr lang="zh-CN" altLang="en-US" dirty="0"/>
              <a:t>局部极值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4160710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r>
              <a:rPr lang="en-US" altLang="zh-CN" sz="3600" dirty="0"/>
              <a:t>4.2.Harris</a:t>
            </a:r>
            <a:r>
              <a:rPr lang="zh-CN" altLang="en-US" sz="3600" dirty="0"/>
              <a:t>角点检测</a:t>
            </a:r>
            <a:r>
              <a:rPr lang="en-US" altLang="zh-CN" sz="3600" dirty="0"/>
              <a:t>—</a:t>
            </a:r>
            <a:r>
              <a:rPr lang="zh-CN" altLang="en-US" sz="3600" dirty="0"/>
              <a:t>流程</a:t>
            </a:r>
            <a:endParaRPr lang="ru-RU" sz="3600" b="1" dirty="0"/>
          </a:p>
        </p:txBody>
      </p:sp>
      <p:pic>
        <p:nvPicPr>
          <p:cNvPr id="87043" name="Picture 3" descr="cows_step0"/>
          <p:cNvPicPr>
            <a:picLocks noChangeAspect="1" noChangeArrowheads="1"/>
          </p:cNvPicPr>
          <p:nvPr/>
        </p:nvPicPr>
        <p:blipFill>
          <a:blip r:embed="rId3" cstate="print">
            <a:lum bright="12000" contrast="18000"/>
          </a:blip>
          <a:srcRect/>
          <a:stretch>
            <a:fillRect/>
          </a:stretch>
        </p:blipFill>
        <p:spPr bwMode="auto">
          <a:xfrm>
            <a:off x="533400" y="1295400"/>
            <a:ext cx="8153400" cy="527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371600" y="6553200"/>
            <a:ext cx="7467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1600" kern="0" dirty="0">
                <a:solidFill>
                  <a:srgbClr val="000000"/>
                </a:solidFill>
              </a:rPr>
              <a:t>Slide adapted fr</a:t>
            </a:r>
            <a:r>
              <a:rPr lang="en-US" altLang="zh-CN" sz="1600" kern="0" dirty="0">
                <a:solidFill>
                  <a:srgbClr val="000000"/>
                </a:solidFill>
              </a:rPr>
              <a:t>o</a:t>
            </a:r>
            <a:r>
              <a:rPr lang="en-US" sz="1600" kern="0" dirty="0">
                <a:solidFill>
                  <a:srgbClr val="000000"/>
                </a:solidFill>
              </a:rPr>
              <a:t>m Darya </a:t>
            </a:r>
            <a:r>
              <a:rPr lang="en-US" sz="1600" kern="0" dirty="0" err="1">
                <a:solidFill>
                  <a:srgbClr val="000000"/>
                </a:solidFill>
              </a:rPr>
              <a:t>Frolova</a:t>
            </a:r>
            <a:r>
              <a:rPr lang="en-US" sz="1600" kern="0" dirty="0">
                <a:solidFill>
                  <a:srgbClr val="000000"/>
                </a:solidFill>
              </a:rPr>
              <a:t>, Denis </a:t>
            </a:r>
            <a:r>
              <a:rPr lang="en-US" sz="1600" kern="0" dirty="0" err="1">
                <a:solidFill>
                  <a:srgbClr val="000000"/>
                </a:solidFill>
              </a:rPr>
              <a:t>Simakov</a:t>
            </a:r>
            <a:r>
              <a:rPr lang="en-US" sz="1600" kern="0" dirty="0">
                <a:solidFill>
                  <a:srgbClr val="000000"/>
                </a:solidFill>
              </a:rPr>
              <a:t>, Weizmann Institute.</a:t>
            </a:r>
          </a:p>
        </p:txBody>
      </p:sp>
    </p:spTree>
    <p:extLst>
      <p:ext uri="{BB962C8B-B14F-4D97-AF65-F5344CB8AC3E}">
        <p14:creationId xmlns:p14="http://schemas.microsoft.com/office/powerpoint/2010/main" val="365011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r>
              <a:rPr lang="en-US" altLang="zh-CN" sz="3600" dirty="0"/>
              <a:t>4.2.Harris</a:t>
            </a:r>
            <a:r>
              <a:rPr lang="zh-CN" altLang="en-US" sz="3600" dirty="0"/>
              <a:t>角点检测</a:t>
            </a:r>
            <a:r>
              <a:rPr lang="en-US" altLang="zh-CN" sz="3600" dirty="0"/>
              <a:t>—</a:t>
            </a:r>
            <a:r>
              <a:rPr lang="zh-CN" altLang="en-US" sz="3600" dirty="0"/>
              <a:t>流程</a:t>
            </a:r>
            <a:endParaRPr lang="ru-RU" sz="3600" b="1" dirty="0"/>
          </a:p>
        </p:txBody>
      </p:sp>
      <p:pic>
        <p:nvPicPr>
          <p:cNvPr id="88067" name="Picture 3" descr="cows_step1_corner_respon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95400"/>
            <a:ext cx="8153400" cy="526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828675" y="635000"/>
            <a:ext cx="16353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计算响应</a:t>
            </a: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endParaRPr lang="ru-RU" sz="28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926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r>
              <a:rPr lang="en-US" altLang="zh-CN" sz="3600" dirty="0"/>
              <a:t>4.2.Harris</a:t>
            </a:r>
            <a:r>
              <a:rPr lang="zh-CN" altLang="en-US" sz="3600" dirty="0"/>
              <a:t>角点检测</a:t>
            </a:r>
            <a:r>
              <a:rPr lang="en-US" altLang="zh-CN" sz="3600" dirty="0"/>
              <a:t>—</a:t>
            </a:r>
            <a:r>
              <a:rPr lang="zh-CN" altLang="en-US" sz="3600" dirty="0"/>
              <a:t>流程</a:t>
            </a:r>
            <a:endParaRPr lang="ru-RU" sz="3600" b="1" dirty="0"/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838200" y="635000"/>
            <a:ext cx="47516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找出响应值大的点：</a:t>
            </a: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R&gt;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threshold</a:t>
            </a:r>
            <a:endParaRPr lang="ru-RU" sz="28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9092" name="Picture 4" descr="cows_step2_thres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95400"/>
            <a:ext cx="8153400" cy="526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227629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r>
              <a:rPr lang="en-US" altLang="zh-CN" sz="3600" dirty="0"/>
              <a:t>4.2.Harris</a:t>
            </a:r>
            <a:r>
              <a:rPr lang="zh-CN" altLang="en-US" sz="3600" dirty="0"/>
              <a:t>角点检测</a:t>
            </a:r>
            <a:r>
              <a:rPr lang="en-US" altLang="zh-CN" sz="3600" dirty="0"/>
              <a:t>—</a:t>
            </a:r>
            <a:r>
              <a:rPr lang="zh-CN" altLang="en-US" sz="3600" dirty="0"/>
              <a:t>流程</a:t>
            </a:r>
            <a:endParaRPr lang="ru-RU" sz="3600" b="1" dirty="0"/>
          </a:p>
        </p:txBody>
      </p:sp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838200" y="635000"/>
            <a:ext cx="22188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取</a:t>
            </a:r>
            <a:r>
              <a:rPr lang="en-US" altLang="zh-CN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局部极值点</a:t>
            </a:r>
            <a:endParaRPr lang="ru-RU" sz="28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0116" name="Picture 4" descr="cows_step3_thresh&amp;max"/>
          <p:cNvPicPr>
            <a:picLocks noChangeAspect="1" noChangeArrowheads="1"/>
          </p:cNvPicPr>
          <p:nvPr/>
        </p:nvPicPr>
        <p:blipFill>
          <a:blip r:embed="rId3" cstate="print">
            <a:lum bright="24000" contrast="72000"/>
            <a:grayscl/>
            <a:biLevel thresh="50000"/>
          </a:blip>
          <a:srcRect/>
          <a:stretch>
            <a:fillRect/>
          </a:stretch>
        </p:blipFill>
        <p:spPr bwMode="auto">
          <a:xfrm>
            <a:off x="533400" y="1295400"/>
            <a:ext cx="8153400" cy="525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772929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zh-CN" sz="4000" dirty="0"/>
              <a:t>4.2.Harris</a:t>
            </a:r>
            <a:r>
              <a:rPr lang="zh-CN" altLang="en-US" sz="4000" dirty="0"/>
              <a:t>角点检测</a:t>
            </a:r>
            <a:r>
              <a:rPr lang="en-US" altLang="zh-CN" sz="4000" dirty="0"/>
              <a:t>—</a:t>
            </a:r>
            <a:r>
              <a:rPr lang="zh-CN" altLang="en-US" sz="4000" dirty="0"/>
              <a:t>流程</a:t>
            </a:r>
            <a:endParaRPr lang="ru-RU" sz="4000" b="1" dirty="0"/>
          </a:p>
        </p:txBody>
      </p:sp>
      <p:pic>
        <p:nvPicPr>
          <p:cNvPr id="91139" name="Picture 3" descr="cows_step4_harris"/>
          <p:cNvPicPr>
            <a:picLocks noChangeAspect="1" noChangeArrowheads="1"/>
          </p:cNvPicPr>
          <p:nvPr/>
        </p:nvPicPr>
        <p:blipFill>
          <a:blip r:embed="rId3" cstate="print">
            <a:lum bright="12000" contrast="18000"/>
          </a:blip>
          <a:srcRect/>
          <a:stretch>
            <a:fillRect/>
          </a:stretch>
        </p:blipFill>
        <p:spPr bwMode="auto">
          <a:xfrm>
            <a:off x="533400" y="1295400"/>
            <a:ext cx="815340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37649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r>
              <a:rPr lang="en-US" altLang="zh-CN" dirty="0"/>
              <a:t>—</a:t>
            </a:r>
            <a:r>
              <a:rPr lang="zh-CN" altLang="en-US" dirty="0"/>
              <a:t>特性</a:t>
            </a:r>
            <a:endParaRPr lang="ru-RU" dirty="0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00163"/>
            <a:ext cx="8229600" cy="5873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旋转不变性</a:t>
            </a:r>
            <a:endParaRPr lang="ru-RU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67000" y="2519363"/>
            <a:ext cx="685800" cy="685800"/>
            <a:chOff x="1248" y="1584"/>
            <a:chExt cx="1536" cy="1248"/>
          </a:xfrm>
        </p:grpSpPr>
        <p:sp>
          <p:nvSpPr>
            <p:cNvPr id="93203" name="Rectangle 5"/>
            <p:cNvSpPr>
              <a:spLocks noChangeArrowheads="1"/>
            </p:cNvSpPr>
            <p:nvPr/>
          </p:nvSpPr>
          <p:spPr bwMode="auto">
            <a:xfrm>
              <a:off x="1248" y="1584"/>
              <a:ext cx="1536" cy="124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3204" name="Freeform 6"/>
            <p:cNvSpPr>
              <a:spLocks/>
            </p:cNvSpPr>
            <p:nvPr/>
          </p:nvSpPr>
          <p:spPr bwMode="auto">
            <a:xfrm>
              <a:off x="1680" y="2016"/>
              <a:ext cx="1104" cy="816"/>
            </a:xfrm>
            <a:custGeom>
              <a:avLst/>
              <a:gdLst>
                <a:gd name="T0" fmla="*/ 0 w 720"/>
                <a:gd name="T1" fmla="*/ 816 h 528"/>
                <a:gd name="T2" fmla="*/ 74 w 720"/>
                <a:gd name="T3" fmla="*/ 0 h 528"/>
                <a:gd name="T4" fmla="*/ 1104 w 720"/>
                <a:gd name="T5" fmla="*/ 519 h 528"/>
                <a:gd name="T6" fmla="*/ 0 60000 65536"/>
                <a:gd name="T7" fmla="*/ 0 60000 65536"/>
                <a:gd name="T8" fmla="*/ 0 60000 65536"/>
                <a:gd name="T9" fmla="*/ 0 w 720"/>
                <a:gd name="T10" fmla="*/ 0 h 528"/>
                <a:gd name="T11" fmla="*/ 720 w 720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528">
                  <a:moveTo>
                    <a:pt x="0" y="528"/>
                  </a:moveTo>
                  <a:lnTo>
                    <a:pt x="48" y="0"/>
                  </a:lnTo>
                  <a:lnTo>
                    <a:pt x="720" y="336"/>
                  </a:lnTo>
                </a:path>
              </a:pathLst>
            </a:custGeom>
            <a:solidFill>
              <a:schemeClr val="accent1">
                <a:alpha val="50195"/>
              </a:schemeClr>
            </a:solidFill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105400" y="2519363"/>
            <a:ext cx="685800" cy="700087"/>
            <a:chOff x="2928" y="1776"/>
            <a:chExt cx="432" cy="441"/>
          </a:xfrm>
        </p:grpSpPr>
        <p:sp>
          <p:nvSpPr>
            <p:cNvPr id="93201" name="Rectangle 8"/>
            <p:cNvSpPr>
              <a:spLocks noChangeArrowheads="1"/>
            </p:cNvSpPr>
            <p:nvPr/>
          </p:nvSpPr>
          <p:spPr bwMode="auto">
            <a:xfrm>
              <a:off x="2928" y="1776"/>
              <a:ext cx="432" cy="43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3202" name="Freeform 9"/>
            <p:cNvSpPr>
              <a:spLocks/>
            </p:cNvSpPr>
            <p:nvPr/>
          </p:nvSpPr>
          <p:spPr bwMode="auto">
            <a:xfrm rot="3029958">
              <a:off x="2987" y="1873"/>
              <a:ext cx="364" cy="323"/>
            </a:xfrm>
            <a:custGeom>
              <a:avLst/>
              <a:gdLst>
                <a:gd name="T0" fmla="*/ 0 w 720"/>
                <a:gd name="T1" fmla="*/ 323 h 528"/>
                <a:gd name="T2" fmla="*/ 24 w 720"/>
                <a:gd name="T3" fmla="*/ 0 h 528"/>
                <a:gd name="T4" fmla="*/ 364 w 720"/>
                <a:gd name="T5" fmla="*/ 206 h 528"/>
                <a:gd name="T6" fmla="*/ 0 60000 65536"/>
                <a:gd name="T7" fmla="*/ 0 60000 65536"/>
                <a:gd name="T8" fmla="*/ 0 60000 65536"/>
                <a:gd name="T9" fmla="*/ 0 w 720"/>
                <a:gd name="T10" fmla="*/ 0 h 528"/>
                <a:gd name="T11" fmla="*/ 720 w 720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528">
                  <a:moveTo>
                    <a:pt x="0" y="528"/>
                  </a:moveTo>
                  <a:lnTo>
                    <a:pt x="48" y="0"/>
                  </a:lnTo>
                  <a:lnTo>
                    <a:pt x="720" y="336"/>
                  </a:lnTo>
                </a:path>
              </a:pathLst>
            </a:custGeom>
            <a:solidFill>
              <a:schemeClr val="accent1">
                <a:alpha val="50195"/>
              </a:schemeClr>
            </a:solidFill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93190" name="AutoShape 10"/>
          <p:cNvSpPr>
            <a:spLocks noChangeArrowheads="1"/>
          </p:cNvSpPr>
          <p:nvPr/>
        </p:nvSpPr>
        <p:spPr bwMode="auto">
          <a:xfrm>
            <a:off x="3886200" y="2747963"/>
            <a:ext cx="762000" cy="762000"/>
          </a:xfrm>
          <a:custGeom>
            <a:avLst/>
            <a:gdLst>
              <a:gd name="T0" fmla="*/ 20161252 w 21600"/>
              <a:gd name="T1" fmla="*/ 0 h 21600"/>
              <a:gd name="T2" fmla="*/ 0 w 21600"/>
              <a:gd name="T3" fmla="*/ 13440833 h 21600"/>
              <a:gd name="T4" fmla="*/ 20161252 w 21600"/>
              <a:gd name="T5" fmla="*/ 26881666 h 21600"/>
              <a:gd name="T6" fmla="*/ 26881666 w 21600"/>
              <a:gd name="T7" fmla="*/ 1344083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3191" name="Text Box 11"/>
          <p:cNvSpPr txBox="1">
            <a:spLocks noChangeArrowheads="1"/>
          </p:cNvSpPr>
          <p:nvPr/>
        </p:nvSpPr>
        <p:spPr bwMode="auto">
          <a:xfrm>
            <a:off x="1905000" y="4394200"/>
            <a:ext cx="6554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椭圆旋转形状不变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(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例如：特征值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椭圆长短轴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)</a:t>
            </a:r>
            <a:endParaRPr lang="ru-RU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 rot="-1269191">
            <a:off x="2590800" y="3662363"/>
            <a:ext cx="927100" cy="365125"/>
            <a:chOff x="1536" y="2496"/>
            <a:chExt cx="1152" cy="384"/>
          </a:xfrm>
        </p:grpSpPr>
        <p:sp>
          <p:nvSpPr>
            <p:cNvPr id="93198" name="Oval 13"/>
            <p:cNvSpPr>
              <a:spLocks noChangeArrowheads="1"/>
            </p:cNvSpPr>
            <p:nvPr/>
          </p:nvSpPr>
          <p:spPr bwMode="auto">
            <a:xfrm>
              <a:off x="1536" y="2496"/>
              <a:ext cx="1152" cy="384"/>
            </a:xfrm>
            <a:prstGeom prst="ellipse">
              <a:avLst/>
            </a:prstGeom>
            <a:solidFill>
              <a:srgbClr val="7CF6D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3199" name="Line 14"/>
            <p:cNvSpPr>
              <a:spLocks noChangeShapeType="1"/>
            </p:cNvSpPr>
            <p:nvPr/>
          </p:nvSpPr>
          <p:spPr bwMode="auto">
            <a:xfrm>
              <a:off x="1536" y="268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3200" name="Line 15"/>
            <p:cNvSpPr>
              <a:spLocks noChangeShapeType="1"/>
            </p:cNvSpPr>
            <p:nvPr/>
          </p:nvSpPr>
          <p:spPr bwMode="auto">
            <a:xfrm>
              <a:off x="2112" y="249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 rot="1035916">
            <a:off x="4953000" y="3662363"/>
            <a:ext cx="927100" cy="365125"/>
            <a:chOff x="1536" y="2496"/>
            <a:chExt cx="1152" cy="384"/>
          </a:xfrm>
        </p:grpSpPr>
        <p:sp>
          <p:nvSpPr>
            <p:cNvPr id="93195" name="Oval 17"/>
            <p:cNvSpPr>
              <a:spLocks noChangeArrowheads="1"/>
            </p:cNvSpPr>
            <p:nvPr/>
          </p:nvSpPr>
          <p:spPr bwMode="auto">
            <a:xfrm>
              <a:off x="1536" y="2496"/>
              <a:ext cx="1152" cy="384"/>
            </a:xfrm>
            <a:prstGeom prst="ellipse">
              <a:avLst/>
            </a:prstGeom>
            <a:solidFill>
              <a:srgbClr val="7CF6D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3196" name="Line 18"/>
            <p:cNvSpPr>
              <a:spLocks noChangeShapeType="1"/>
            </p:cNvSpPr>
            <p:nvPr/>
          </p:nvSpPr>
          <p:spPr bwMode="auto">
            <a:xfrm>
              <a:off x="1536" y="268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3197" name="Line 19"/>
            <p:cNvSpPr>
              <a:spLocks noChangeShapeType="1"/>
            </p:cNvSpPr>
            <p:nvPr/>
          </p:nvSpPr>
          <p:spPr bwMode="auto">
            <a:xfrm>
              <a:off x="2112" y="249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93194" name="Text Box 20"/>
          <p:cNvSpPr txBox="1">
            <a:spLocks noChangeArrowheads="1"/>
          </p:cNvSpPr>
          <p:nvPr/>
        </p:nvSpPr>
        <p:spPr bwMode="auto">
          <a:xfrm>
            <a:off x="1447800" y="5338763"/>
            <a:ext cx="6324600" cy="5286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相对图像旋转具有不变性</a:t>
            </a:r>
            <a:endParaRPr lang="ru-RU" sz="2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713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r>
              <a:rPr lang="en-US" altLang="zh-CN" dirty="0"/>
              <a:t>—</a:t>
            </a:r>
            <a:r>
              <a:rPr lang="zh-CN" altLang="en-US" dirty="0"/>
              <a:t>特性</a:t>
            </a:r>
            <a:endParaRPr lang="ru-RU" dirty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477963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dirty="0"/>
              <a:t>不具有图像尺度缩放不变性</a:t>
            </a:r>
            <a:endParaRPr lang="ru-RU" dirty="0"/>
          </a:p>
        </p:txBody>
      </p:sp>
      <p:sp>
        <p:nvSpPr>
          <p:cNvPr id="94212" name="Freeform 4"/>
          <p:cNvSpPr>
            <a:spLocks/>
          </p:cNvSpPr>
          <p:nvPr/>
        </p:nvSpPr>
        <p:spPr bwMode="auto">
          <a:xfrm>
            <a:off x="7086600" y="3281363"/>
            <a:ext cx="381000" cy="330200"/>
          </a:xfrm>
          <a:custGeom>
            <a:avLst/>
            <a:gdLst>
              <a:gd name="T0" fmla="*/ 0 w 1728"/>
              <a:gd name="T1" fmla="*/ 330200 h 1264"/>
              <a:gd name="T2" fmla="*/ 21167 w 1728"/>
              <a:gd name="T3" fmla="*/ 104494 h 1264"/>
              <a:gd name="T4" fmla="*/ 95250 w 1728"/>
              <a:gd name="T5" fmla="*/ 16719 h 1264"/>
              <a:gd name="T6" fmla="*/ 232833 w 1728"/>
              <a:gd name="T7" fmla="*/ 4180 h 1264"/>
              <a:gd name="T8" fmla="*/ 381000 w 1728"/>
              <a:gd name="T9" fmla="*/ 41797 h 1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28"/>
              <a:gd name="T16" fmla="*/ 0 h 1264"/>
              <a:gd name="T17" fmla="*/ 1728 w 1728"/>
              <a:gd name="T18" fmla="*/ 1264 h 12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28" h="1264">
                <a:moveTo>
                  <a:pt x="0" y="1264"/>
                </a:moveTo>
                <a:cubicBezTo>
                  <a:pt x="12" y="932"/>
                  <a:pt x="24" y="600"/>
                  <a:pt x="96" y="400"/>
                </a:cubicBezTo>
                <a:cubicBezTo>
                  <a:pt x="168" y="200"/>
                  <a:pt x="272" y="128"/>
                  <a:pt x="432" y="64"/>
                </a:cubicBezTo>
                <a:cubicBezTo>
                  <a:pt x="592" y="0"/>
                  <a:pt x="840" y="0"/>
                  <a:pt x="1056" y="16"/>
                </a:cubicBezTo>
                <a:cubicBezTo>
                  <a:pt x="1272" y="32"/>
                  <a:pt x="1500" y="96"/>
                  <a:pt x="1728" y="1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7024688" y="3176588"/>
            <a:ext cx="381000" cy="3810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4214" name="Freeform 6"/>
          <p:cNvSpPr>
            <a:spLocks/>
          </p:cNvSpPr>
          <p:nvPr/>
        </p:nvSpPr>
        <p:spPr bwMode="auto">
          <a:xfrm>
            <a:off x="1295400" y="2900363"/>
            <a:ext cx="2743200" cy="2006600"/>
          </a:xfrm>
          <a:custGeom>
            <a:avLst/>
            <a:gdLst>
              <a:gd name="T0" fmla="*/ 0 w 1728"/>
              <a:gd name="T1" fmla="*/ 2006600 h 1264"/>
              <a:gd name="T2" fmla="*/ 152400 w 1728"/>
              <a:gd name="T3" fmla="*/ 635000 h 1264"/>
              <a:gd name="T4" fmla="*/ 685800 w 1728"/>
              <a:gd name="T5" fmla="*/ 101600 h 1264"/>
              <a:gd name="T6" fmla="*/ 1676400 w 1728"/>
              <a:gd name="T7" fmla="*/ 25400 h 1264"/>
              <a:gd name="T8" fmla="*/ 2743200 w 1728"/>
              <a:gd name="T9" fmla="*/ 254000 h 1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28"/>
              <a:gd name="T16" fmla="*/ 0 h 1264"/>
              <a:gd name="T17" fmla="*/ 1728 w 1728"/>
              <a:gd name="T18" fmla="*/ 1264 h 12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28" h="1264">
                <a:moveTo>
                  <a:pt x="0" y="1264"/>
                </a:moveTo>
                <a:cubicBezTo>
                  <a:pt x="12" y="932"/>
                  <a:pt x="24" y="600"/>
                  <a:pt x="96" y="400"/>
                </a:cubicBezTo>
                <a:cubicBezTo>
                  <a:pt x="168" y="200"/>
                  <a:pt x="272" y="128"/>
                  <a:pt x="432" y="64"/>
                </a:cubicBezTo>
                <a:cubicBezTo>
                  <a:pt x="592" y="0"/>
                  <a:pt x="840" y="0"/>
                  <a:pt x="1056" y="16"/>
                </a:cubicBezTo>
                <a:cubicBezTo>
                  <a:pt x="1272" y="32"/>
                  <a:pt x="1500" y="96"/>
                  <a:pt x="1728" y="16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4215" name="Rectangle 7"/>
          <p:cNvSpPr>
            <a:spLocks noChangeArrowheads="1"/>
          </p:cNvSpPr>
          <p:nvPr/>
        </p:nvSpPr>
        <p:spPr bwMode="auto">
          <a:xfrm>
            <a:off x="1219200" y="3459163"/>
            <a:ext cx="381000" cy="3810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4216" name="Rectangle 8"/>
          <p:cNvSpPr>
            <a:spLocks noChangeArrowheads="1"/>
          </p:cNvSpPr>
          <p:nvPr/>
        </p:nvSpPr>
        <p:spPr bwMode="auto">
          <a:xfrm>
            <a:off x="1600200" y="2925763"/>
            <a:ext cx="381000" cy="3810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4217" name="Rectangle 9"/>
          <p:cNvSpPr>
            <a:spLocks noChangeArrowheads="1"/>
          </p:cNvSpPr>
          <p:nvPr/>
        </p:nvSpPr>
        <p:spPr bwMode="auto">
          <a:xfrm>
            <a:off x="2452688" y="2711450"/>
            <a:ext cx="381000" cy="3810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4218" name="AutoShape 10"/>
          <p:cNvSpPr>
            <a:spLocks noChangeArrowheads="1"/>
          </p:cNvSpPr>
          <p:nvPr/>
        </p:nvSpPr>
        <p:spPr bwMode="auto">
          <a:xfrm>
            <a:off x="4800600" y="3001963"/>
            <a:ext cx="1676400" cy="838200"/>
          </a:xfrm>
          <a:custGeom>
            <a:avLst/>
            <a:gdLst>
              <a:gd name="T0" fmla="*/ 97580454 w 21600"/>
              <a:gd name="T1" fmla="*/ 0 h 21600"/>
              <a:gd name="T2" fmla="*/ 0 w 21600"/>
              <a:gd name="T3" fmla="*/ 16263407 h 21600"/>
              <a:gd name="T4" fmla="*/ 97580454 w 21600"/>
              <a:gd name="T5" fmla="*/ 32526815 h 21600"/>
              <a:gd name="T6" fmla="*/ 130107258 w 21600"/>
              <a:gd name="T7" fmla="*/ 1626340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4219" name="Text Box 11"/>
          <p:cNvSpPr txBox="1">
            <a:spLocks noChangeArrowheads="1"/>
          </p:cNvSpPr>
          <p:nvPr/>
        </p:nvSpPr>
        <p:spPr bwMode="auto">
          <a:xfrm>
            <a:off x="1371600" y="5211763"/>
            <a:ext cx="1905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cs typeface="Times New Roman" pitchFamily="18" charset="0"/>
              </a:rPr>
              <a:t>所有的点都被检测为边缘</a:t>
            </a:r>
            <a:endParaRPr lang="ru-RU" sz="2000" dirty="0">
              <a:solidFill>
                <a:srgbClr val="0033CC"/>
              </a:solidFill>
              <a:cs typeface="Times New Roman" pitchFamily="18" charset="0"/>
            </a:endParaRPr>
          </a:p>
        </p:txBody>
      </p:sp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6781800" y="5211763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FF3300"/>
                </a:solidFill>
                <a:cs typeface="Times New Roman" pitchFamily="18" charset="0"/>
              </a:rPr>
              <a:t>角点</a:t>
            </a:r>
            <a:r>
              <a:rPr lang="en-US" sz="2400" dirty="0">
                <a:solidFill>
                  <a:srgbClr val="FF3300"/>
                </a:solidFill>
                <a:cs typeface="Times New Roman" pitchFamily="18" charset="0"/>
              </a:rPr>
              <a:t> !</a:t>
            </a:r>
            <a:endParaRPr lang="ru-RU" sz="2400" dirty="0">
              <a:solidFill>
                <a:srgbClr val="FF33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703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952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如何检测尺度不变感兴趣特征点？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022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4.1.</a:t>
            </a:r>
            <a:r>
              <a:rPr lang="zh-CN" altLang="en-US" dirty="0"/>
              <a:t>局部特征与匹配</a:t>
            </a:r>
            <a:endParaRPr lang="en-US" altLang="zh-CN" dirty="0"/>
          </a:p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en-US" dirty="0"/>
          </a:p>
          <a:p>
            <a:r>
              <a:rPr lang="en-US" altLang="zh-CN" dirty="0">
                <a:solidFill>
                  <a:srgbClr val="D60093"/>
                </a:solidFill>
              </a:rPr>
              <a:t>4.3.</a:t>
            </a:r>
            <a:r>
              <a:rPr lang="zh-CN" altLang="en-US" dirty="0">
                <a:solidFill>
                  <a:srgbClr val="D60093"/>
                </a:solidFill>
              </a:rPr>
              <a:t>尺度空间</a:t>
            </a:r>
            <a:endParaRPr lang="en-US" altLang="zh-CN" dirty="0">
              <a:solidFill>
                <a:srgbClr val="D60093"/>
              </a:solidFill>
            </a:endParaRPr>
          </a:p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endParaRPr lang="en-US" altLang="zh-CN" dirty="0"/>
          </a:p>
          <a:p>
            <a:r>
              <a:rPr lang="en-US" altLang="zh-CN" dirty="0"/>
              <a:t>4.4.</a:t>
            </a:r>
            <a:r>
              <a:rPr lang="zh-CN" altLang="en-US" dirty="0"/>
              <a:t>局部区域描述</a:t>
            </a:r>
            <a:endParaRPr lang="en-US" altLang="zh-CN" dirty="0"/>
          </a:p>
          <a:p>
            <a:r>
              <a:rPr lang="en-US" altLang="zh-CN" dirty="0"/>
              <a:t>4.5.</a:t>
            </a:r>
            <a:r>
              <a:rPr lang="zh-CN" altLang="en-US" dirty="0"/>
              <a:t>特征匹配</a:t>
            </a:r>
            <a:endParaRPr lang="en-US" altLang="zh-CN" dirty="0"/>
          </a:p>
          <a:p>
            <a:r>
              <a:rPr lang="en-US" altLang="zh-CN" dirty="0"/>
              <a:t>4.6.SIFT</a:t>
            </a:r>
            <a:r>
              <a:rPr lang="zh-CN" altLang="en-US" dirty="0"/>
              <a:t>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6964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0E72B-5F8E-D349-840B-4B657B56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尺度与尺度空间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DF6D52-8D01-1149-80E7-CCC5D6A3A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3939"/>
            <a:ext cx="8229600" cy="461586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图像的尺度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sz="2400" dirty="0"/>
              <a:t>       </a:t>
            </a:r>
            <a:r>
              <a:rPr kumimoji="1" lang="zh-CN" altLang="en-US" dirty="0"/>
              <a:t>图像内容的</a:t>
            </a:r>
            <a:r>
              <a:rPr kumimoji="1" lang="zh-CN" altLang="en-US" dirty="0">
                <a:solidFill>
                  <a:srgbClr val="FF0000"/>
                </a:solidFill>
              </a:rPr>
              <a:t>粗细程度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800" dirty="0"/>
              <a:t>     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zh-CN" altLang="en-US" sz="2800" dirty="0"/>
              <a:t>      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zh-CN" altLang="en-US" sz="2400" dirty="0"/>
              <a:t>      </a:t>
            </a:r>
            <a:r>
              <a:rPr kumimoji="1" lang="zh-CN" altLang="en-US" dirty="0"/>
              <a:t>尺度用来模拟观察者距离物体的</a:t>
            </a:r>
            <a:r>
              <a:rPr kumimoji="1" lang="zh-CN" altLang="en-US" dirty="0">
                <a:solidFill>
                  <a:srgbClr val="FF0000"/>
                </a:solidFill>
              </a:rPr>
              <a:t>远近</a:t>
            </a:r>
            <a:r>
              <a:rPr kumimoji="1" lang="zh-CN" altLang="en-US" dirty="0"/>
              <a:t>程度</a:t>
            </a:r>
            <a:endParaRPr kumimoji="1"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A33810B-A8AB-B84A-AD9D-58972EA8C9F8}"/>
              </a:ext>
            </a:extLst>
          </p:cNvPr>
          <p:cNvGrpSpPr/>
          <p:nvPr/>
        </p:nvGrpSpPr>
        <p:grpSpPr>
          <a:xfrm>
            <a:off x="1066800" y="2057400"/>
            <a:ext cx="6544570" cy="2971521"/>
            <a:chOff x="1092199" y="1694142"/>
            <a:chExt cx="6544570" cy="2971521"/>
          </a:xfrm>
        </p:grpSpPr>
        <p:pic>
          <p:nvPicPr>
            <p:cNvPr id="5" name="Picture 17" descr="forest_lake_park01">
              <a:extLst>
                <a:ext uri="{FF2B5EF4-FFF2-40B4-BE49-F238E27FC236}">
                  <a16:creationId xmlns:a16="http://schemas.microsoft.com/office/drawing/2014/main" id="{99E31A84-EAA1-6D41-AEF9-B64A07FC7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92199" y="2438400"/>
              <a:ext cx="3341688" cy="2227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15" descr="Seattle-Capitol-Hill-Conifer-Tree-Trunk-3352">
              <a:extLst>
                <a:ext uri="{FF2B5EF4-FFF2-40B4-BE49-F238E27FC236}">
                  <a16:creationId xmlns:a16="http://schemas.microsoft.com/office/drawing/2014/main" id="{B7144249-CA43-1346-AE68-B3418CB193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07718" y="1694142"/>
              <a:ext cx="2229051" cy="29715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7025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C282C-3D78-E549-9344-68317F55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尺度与尺度空间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66B7DC-CAEA-814C-A2AC-94A0F39DE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图像的尺度空间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sz="2800" dirty="0"/>
              <a:t>-</a:t>
            </a:r>
            <a:r>
              <a:rPr kumimoji="1" lang="zh-CN" altLang="en-US" sz="2800" dirty="0"/>
              <a:t>同一张图像</a:t>
            </a:r>
            <a:r>
              <a:rPr kumimoji="1" lang="zh-CN" altLang="en-US" sz="2800" dirty="0">
                <a:solidFill>
                  <a:srgbClr val="FF0000"/>
                </a:solidFill>
              </a:rPr>
              <a:t>不同尺度的集合</a:t>
            </a:r>
            <a:r>
              <a:rPr kumimoji="1" lang="zh-CN" altLang="en-US" sz="2800" dirty="0"/>
              <a:t>。      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zh-CN" altLang="en-US" sz="2800" dirty="0"/>
              <a:t>     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en-US" altLang="zh-CN" sz="2800" dirty="0"/>
              <a:t>-</a:t>
            </a:r>
            <a:r>
              <a:rPr kumimoji="1" lang="zh-CN" altLang="en-US" sz="2800" dirty="0"/>
              <a:t>细尺度图像</a:t>
            </a:r>
            <a:r>
              <a:rPr kumimoji="1" lang="zh-CN" altLang="en" sz="2800" dirty="0">
                <a:solidFill>
                  <a:srgbClr val="FF0000"/>
                </a:solidFill>
              </a:rPr>
              <a:t>滤波</a:t>
            </a:r>
            <a:r>
              <a:rPr kumimoji="1" lang="zh-CN" altLang="en-US" sz="2800" dirty="0"/>
              <a:t>形成粗尺度图像         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zh-CN" altLang="en-US" sz="2800" dirty="0"/>
              <a:t>     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en-US" altLang="zh-CN" sz="2800" dirty="0"/>
              <a:t>-</a:t>
            </a:r>
            <a:r>
              <a:rPr kumimoji="1" lang="zh-CN" altLang="en-US" sz="2800" dirty="0"/>
              <a:t>粗尺度图像内容存在于细尺度图像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zh-CN" altLang="en-US" sz="2800" dirty="0"/>
              <a:t>        </a:t>
            </a:r>
            <a:endParaRPr kumimoji="1" lang="en-US" altLang="zh-CN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5DD3CA-92C7-C64A-9B57-EB43A0E7A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695" y="2362200"/>
            <a:ext cx="314930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1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D104E-9D1C-9046-B5BC-D8B12FC4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尺度与尺度空间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17EEB-43E0-F64C-ABEB-956093378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为什么需要尺度空间</a:t>
            </a:r>
            <a:endParaRPr lang="en-US" altLang="zh-CN" dirty="0"/>
          </a:p>
          <a:p>
            <a:pPr marL="0" indent="0">
              <a:buNone/>
            </a:pPr>
            <a:r>
              <a:rPr kumimoji="1" lang="zh-CN" altLang="en-US" sz="3600" dirty="0"/>
              <a:t>    </a:t>
            </a:r>
            <a:r>
              <a:rPr kumimoji="1" lang="en-US" altLang="zh-CN" dirty="0"/>
              <a:t>1.</a:t>
            </a:r>
            <a:r>
              <a:rPr kumimoji="1" lang="zh-CN" altLang="en-US" dirty="0"/>
              <a:t>自然界中的物体呈现出</a:t>
            </a:r>
            <a:r>
              <a:rPr kumimoji="1" lang="zh-CN" altLang="en-US" dirty="0">
                <a:solidFill>
                  <a:srgbClr val="FF0000"/>
                </a:solidFill>
              </a:rPr>
              <a:t>不同的形态</a:t>
            </a:r>
            <a:r>
              <a:rPr kumimoji="1" lang="zh-CN" altLang="en-US" dirty="0"/>
              <a:t>，需要</a:t>
            </a:r>
            <a:r>
              <a:rPr kumimoji="1" lang="zh-CN" altLang="en-US" dirty="0">
                <a:solidFill>
                  <a:srgbClr val="FF0000"/>
                </a:solidFill>
              </a:rPr>
              <a:t>不同的尺度</a:t>
            </a:r>
            <a:r>
              <a:rPr kumimoji="1" lang="zh-CN" altLang="en-US" dirty="0"/>
              <a:t>来观测。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sz="2800" dirty="0"/>
              <a:t>       粗尺度图像更能体现物体的轮廓形态</a:t>
            </a:r>
            <a:endParaRPr kumimoji="1" lang="en-US" altLang="zh-CN" sz="2800" dirty="0"/>
          </a:p>
          <a:p>
            <a:pPr marL="0" indent="0">
              <a:buNone/>
            </a:pPr>
            <a:r>
              <a:rPr kumimoji="1" lang="zh-CN" altLang="en-US" sz="2800" dirty="0"/>
              <a:t>       细尺度图像更能体现物体的局部细节特征</a:t>
            </a:r>
            <a:endParaRPr kumimoji="1" lang="en-US" altLang="zh-CN" dirty="0"/>
          </a:p>
          <a:p>
            <a:pPr marL="0" indent="0">
              <a:buNone/>
            </a:pPr>
            <a:r>
              <a:rPr lang="zh-CN" altLang="en-US" sz="3600" dirty="0"/>
              <a:t>    </a:t>
            </a:r>
            <a:r>
              <a:rPr lang="en-US" altLang="zh-CN" dirty="0"/>
              <a:t>2.</a:t>
            </a:r>
            <a:r>
              <a:rPr lang="zh-CN" altLang="en-US" dirty="0"/>
              <a:t>计算机在进行图像分析时，并不知道图像的真实尺寸大小，需要考虑</a:t>
            </a:r>
            <a:r>
              <a:rPr lang="zh-CN" altLang="en-US" dirty="0">
                <a:solidFill>
                  <a:srgbClr val="FF0000"/>
                </a:solidFill>
              </a:rPr>
              <a:t>多尺度</a:t>
            </a:r>
            <a:r>
              <a:rPr lang="zh-CN" altLang="en-US" dirty="0"/>
              <a:t>以获取感兴趣物体的</a:t>
            </a:r>
            <a:r>
              <a:rPr lang="zh-CN" altLang="en-US" dirty="0">
                <a:solidFill>
                  <a:srgbClr val="FF0000"/>
                </a:solidFill>
              </a:rPr>
              <a:t>最佳尺度</a:t>
            </a:r>
            <a:r>
              <a:rPr lang="zh-CN" altLang="en-US" dirty="0"/>
              <a:t>。</a:t>
            </a:r>
            <a:endParaRPr kumimoji="1"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8149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A6288-5E91-E14B-80E1-91D24B1EB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图像采样</a:t>
            </a:r>
            <a:br>
              <a:rPr kumimoji="1" lang="zh-CN" altLang="en-US" dirty="0"/>
            </a:b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C7668D-CE81-B243-93AF-221EF97BF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图像中如何构造多尺度空间</a:t>
            </a:r>
          </a:p>
        </p:txBody>
      </p:sp>
      <p:pic>
        <p:nvPicPr>
          <p:cNvPr id="4" name="Google Shape;1624;p80">
            <a:extLst>
              <a:ext uri="{FF2B5EF4-FFF2-40B4-BE49-F238E27FC236}">
                <a16:creationId xmlns:a16="http://schemas.microsoft.com/office/drawing/2014/main" id="{FAA4322B-5E22-0D40-967E-9F23E9E99F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1981200"/>
            <a:ext cx="4820042" cy="3293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88343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9EA70-084D-FB47-913F-2F7A07657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图像采样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206D05-9EE2-7F40-9964-7319CA0FE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二维抽样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EB98F6-5582-0645-91E8-AF1467C7F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4138" y="1059605"/>
            <a:ext cx="5229566" cy="524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45168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80"/>
          <p:cNvSpPr txBox="1">
            <a:spLocks noGrp="1"/>
          </p:cNvSpPr>
          <p:nvPr>
            <p:ph type="title"/>
          </p:nvPr>
        </p:nvSpPr>
        <p:spPr>
          <a:xfrm>
            <a:off x="311700" y="137160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zh-CN" altLang="en-US" sz="3200" dirty="0"/>
              <a:t>两倍下采样</a:t>
            </a:r>
            <a:endParaRPr sz="3200" dirty="0"/>
          </a:p>
        </p:txBody>
      </p:sp>
      <p:sp>
        <p:nvSpPr>
          <p:cNvPr id="1623" name="Google Shape;1623;p80"/>
          <p:cNvSpPr txBox="1">
            <a:spLocks noGrp="1"/>
          </p:cNvSpPr>
          <p:nvPr>
            <p:ph type="body" idx="1"/>
          </p:nvPr>
        </p:nvSpPr>
        <p:spPr>
          <a:xfrm>
            <a:off x="311700" y="5486400"/>
            <a:ext cx="8520600" cy="943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zh-CN" altLang="en" dirty="0"/>
              <a:t>方案</a:t>
            </a:r>
            <a:r>
              <a:rPr lang="zh-CN" altLang="en-US" dirty="0"/>
              <a:t>：先低通滤波，后下采样</a:t>
            </a:r>
            <a:endParaRPr dirty="0"/>
          </a:p>
        </p:txBody>
      </p:sp>
      <p:pic>
        <p:nvPicPr>
          <p:cNvPr id="1624" name="Google Shape;162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2193325"/>
            <a:ext cx="4820042" cy="3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EE586C6C-0B33-DE4D-B1AD-0CFDAE6640BB}"/>
              </a:ext>
            </a:extLst>
          </p:cNvPr>
          <p:cNvSpPr txBox="1">
            <a:spLocks/>
          </p:cNvSpPr>
          <p:nvPr/>
        </p:nvSpPr>
        <p:spPr>
          <a:xfrm>
            <a:off x="311700" y="186967"/>
            <a:ext cx="8520600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zh-CN" altLang="en-US" dirty="0"/>
              <a:t>图像采样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74770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81"/>
          <p:cNvSpPr txBox="1">
            <a:spLocks noGrp="1"/>
          </p:cNvSpPr>
          <p:nvPr>
            <p:ph type="title"/>
          </p:nvPr>
        </p:nvSpPr>
        <p:spPr>
          <a:xfrm>
            <a:off x="311700" y="9974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zh-CN" altLang="en-US" sz="3600" dirty="0"/>
              <a:t>滤波结果</a:t>
            </a:r>
            <a:endParaRPr sz="3600" dirty="0"/>
          </a:p>
        </p:txBody>
      </p:sp>
      <p:sp>
        <p:nvSpPr>
          <p:cNvPr id="1630" name="Google Shape;1630;p81"/>
          <p:cNvSpPr txBox="1">
            <a:spLocks noGrp="1"/>
          </p:cNvSpPr>
          <p:nvPr>
            <p:ph type="body" idx="1"/>
          </p:nvPr>
        </p:nvSpPr>
        <p:spPr>
          <a:xfrm>
            <a:off x="311700" y="1663000"/>
            <a:ext cx="8520600" cy="3763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endParaRPr/>
          </a:p>
        </p:txBody>
      </p:sp>
      <p:pic>
        <p:nvPicPr>
          <p:cNvPr id="1631" name="Google Shape;163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14" y="1724026"/>
            <a:ext cx="8202167" cy="391676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7C3B1627-6E71-594E-A062-15A6E3B4AA5F}"/>
              </a:ext>
            </a:extLst>
          </p:cNvPr>
          <p:cNvSpPr txBox="1">
            <a:spLocks/>
          </p:cNvSpPr>
          <p:nvPr/>
        </p:nvSpPr>
        <p:spPr>
          <a:xfrm>
            <a:off x="311700" y="186967"/>
            <a:ext cx="8520600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zh-CN" altLang="en-US" dirty="0"/>
              <a:t>图像采样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1413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4D8DF7-2BFD-AF42-86ED-5A7C4A01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高斯金字塔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85677-3CA1-D74D-A0E3-F3D3A0ED0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4260A4-07F3-2442-B87E-BDAAEA3DA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" y="1528762"/>
            <a:ext cx="91440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15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E944B-5B36-0F40-89E3-3A051F1F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高斯金字塔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2EE36-34ED-0840-B138-9EB0B7F09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滤波器选择高斯滤波器</a:t>
            </a:r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12F4C03D-59EF-214F-987B-A775F3400C42}"/>
              </a:ext>
            </a:extLst>
          </p:cNvPr>
          <p:cNvGrpSpPr>
            <a:grpSpLocks/>
          </p:cNvGrpSpPr>
          <p:nvPr/>
        </p:nvGrpSpPr>
        <p:grpSpPr bwMode="auto">
          <a:xfrm>
            <a:off x="1835184" y="2362200"/>
            <a:ext cx="2736816" cy="3617913"/>
            <a:chOff x="6215085" y="2187558"/>
            <a:chExt cx="2736852" cy="3617943"/>
          </a:xfrm>
        </p:grpSpPr>
        <p:graphicFrame>
          <p:nvGraphicFramePr>
            <p:cNvPr id="5" name="Object 2">
              <a:extLst>
                <a:ext uri="{FF2B5EF4-FFF2-40B4-BE49-F238E27FC236}">
                  <a16:creationId xmlns:a16="http://schemas.microsoft.com/office/drawing/2014/main" id="{DC149C1F-D243-1E4F-8EE6-D1898C40F6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70676" y="4414851"/>
            <a:ext cx="2095500" cy="1390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09" name="Photo Editor Photo" r:id="rId4" imgW="2095793" imgH="1390844" progId="">
                    <p:embed/>
                  </p:oleObj>
                </mc:Choice>
                <mc:Fallback>
                  <p:oleObj name="Photo Editor Photo" r:id="rId4" imgW="2095793" imgH="1390844" progId="">
                    <p:embed/>
                    <p:pic>
                      <p:nvPicPr>
                        <p:cNvPr id="5" name="Object 2">
                          <a:extLst>
                            <a:ext uri="{FF2B5EF4-FFF2-40B4-BE49-F238E27FC236}">
                              <a16:creationId xmlns:a16="http://schemas.microsoft.com/office/drawing/2014/main" id="{DC149C1F-D243-1E4F-8EE6-D1898C40F6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0676" y="4414851"/>
                          <a:ext cx="2095500" cy="1390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Picture 151" descr="Edittex">
              <a:extLst>
                <a:ext uri="{FF2B5EF4-FFF2-40B4-BE49-F238E27FC236}">
                  <a16:creationId xmlns:a16="http://schemas.microsoft.com/office/drawing/2014/main" id="{AD45DE88-D212-664D-BD44-FFCB4482DC0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324624" y="3429000"/>
              <a:ext cx="2627313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Rectangle 20">
              <a:extLst>
                <a:ext uri="{FF2B5EF4-FFF2-40B4-BE49-F238E27FC236}">
                  <a16:creationId xmlns:a16="http://schemas.microsoft.com/office/drawing/2014/main" id="{D0E5E550-7FF0-DF40-A974-8FBCA484F189}"/>
                </a:ext>
              </a:extLst>
            </p:cNvPr>
            <p:cNvSpPr/>
            <p:nvPr/>
          </p:nvSpPr>
          <p:spPr>
            <a:xfrm>
              <a:off x="6215085" y="2187558"/>
              <a:ext cx="1925663" cy="42473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spcAft>
                  <a:spcPct val="50000"/>
                </a:spcAft>
                <a:tabLst>
                  <a:tab pos="573088" algn="l"/>
                </a:tabLst>
                <a:defRPr/>
              </a:pPr>
              <a:r>
                <a:rPr lang="zh-CN" altLang="en-US" sz="2400" b="0" kern="0" dirty="0">
                  <a:solidFill>
                    <a:srgbClr val="000000"/>
                  </a:solidFill>
                  <a:latin typeface="Myriad Roman"/>
                </a:rPr>
                <a:t>高斯函数：</a:t>
              </a:r>
              <a:endParaRPr lang="en-US" sz="2400" b="0" kern="0" dirty="0">
                <a:solidFill>
                  <a:srgbClr val="000000"/>
                </a:solidFill>
                <a:latin typeface="Myriad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096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47C89-3477-5440-8A99-F49B50E3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高斯金字塔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7F02DF-72AF-DC41-A347-8A6B91BFA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CFE8BC-B8C8-DB43-95C1-12F597239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667000"/>
            <a:ext cx="5190852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049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高斯金字塔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23F379-D21E-F64C-BD36-D4CCF64B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095500"/>
            <a:ext cx="2971800" cy="2667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760EC75-D3FC-1A48-96A9-7B5B652F6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3429000"/>
            <a:ext cx="1485900" cy="1320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6DEEC3E-90D9-BB4E-BF9A-AF91C5C6F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4076083"/>
            <a:ext cx="736600" cy="660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0FBC37E-4CD8-AF49-BDDB-F73062684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400" y="4377431"/>
            <a:ext cx="3556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966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6988"/>
            <a:ext cx="7620000" cy="683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53190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4.1.</a:t>
            </a:r>
            <a:r>
              <a:rPr lang="zh-CN" altLang="en-US" dirty="0"/>
              <a:t>局部特征与匹配</a:t>
            </a:r>
            <a:endParaRPr lang="en-US" altLang="zh-CN" dirty="0"/>
          </a:p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en-US" dirty="0"/>
          </a:p>
          <a:p>
            <a:r>
              <a:rPr lang="en-US" altLang="zh-CN" dirty="0"/>
              <a:t>4.3.</a:t>
            </a:r>
            <a:r>
              <a:rPr lang="zh-CN" altLang="en-US" dirty="0"/>
              <a:t>尺度空间</a:t>
            </a:r>
            <a:endParaRPr lang="en-US" altLang="zh-CN" dirty="0"/>
          </a:p>
          <a:p>
            <a:r>
              <a:rPr lang="en-US" altLang="zh-CN" dirty="0">
                <a:solidFill>
                  <a:srgbClr val="D60093"/>
                </a:solidFill>
              </a:rPr>
              <a:t>4.4.</a:t>
            </a:r>
            <a:r>
              <a:rPr lang="zh-CN" altLang="en-US" dirty="0">
                <a:solidFill>
                  <a:srgbClr val="D60093"/>
                </a:solidFill>
              </a:rPr>
              <a:t>不变特征提取</a:t>
            </a:r>
            <a:endParaRPr lang="en-US" altLang="zh-CN" dirty="0">
              <a:solidFill>
                <a:srgbClr val="D60093"/>
              </a:solidFill>
            </a:endParaRPr>
          </a:p>
          <a:p>
            <a:r>
              <a:rPr lang="en-US" altLang="zh-CN" dirty="0"/>
              <a:t>4.4.</a:t>
            </a:r>
            <a:r>
              <a:rPr lang="zh-CN" altLang="en-US" dirty="0"/>
              <a:t>局部区域描述</a:t>
            </a:r>
            <a:endParaRPr lang="en-US" altLang="zh-CN" dirty="0"/>
          </a:p>
          <a:p>
            <a:r>
              <a:rPr lang="en-US" altLang="zh-CN" dirty="0"/>
              <a:t>4.5.</a:t>
            </a:r>
            <a:r>
              <a:rPr lang="zh-CN" altLang="en-US" dirty="0"/>
              <a:t>特征匹配</a:t>
            </a:r>
            <a:endParaRPr lang="en-US" altLang="zh-CN" dirty="0"/>
          </a:p>
          <a:p>
            <a:r>
              <a:rPr lang="en-US" altLang="zh-CN" dirty="0"/>
              <a:t>4.6.SIFT</a:t>
            </a:r>
            <a:r>
              <a:rPr lang="zh-CN" altLang="en-US" dirty="0"/>
              <a:t>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80599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/>
              <a:t>4.4.</a:t>
            </a:r>
            <a:r>
              <a:rPr lang="zh-CN" altLang="en-US" sz="4000" dirty="0"/>
              <a:t>不变特征提取</a:t>
            </a:r>
            <a:endParaRPr lang="en-US" sz="4000" dirty="0"/>
          </a:p>
        </p:txBody>
      </p:sp>
      <p:sp>
        <p:nvSpPr>
          <p:cNvPr id="14745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zh-CN" dirty="0" err="1"/>
              <a:t>如何提取尺度不变特征</a:t>
            </a:r>
            <a:r>
              <a:rPr lang="zh-CN" altLang="en-US" dirty="0"/>
              <a:t>？</a:t>
            </a:r>
            <a:endParaRPr lang="en-US" dirty="0"/>
          </a:p>
          <a:p>
            <a:pPr>
              <a:defRPr/>
            </a:pPr>
            <a:r>
              <a:rPr lang="en-US" altLang="zh-CN" dirty="0" err="1"/>
              <a:t>穷尽搜索</a:t>
            </a:r>
            <a:endParaRPr lang="en-US" dirty="0"/>
          </a:p>
          <a:p>
            <a:pPr>
              <a:defRPr/>
            </a:pPr>
            <a:r>
              <a:rPr lang="en-US" altLang="zh-CN" dirty="0" err="1"/>
              <a:t>不变性</a:t>
            </a:r>
            <a:endParaRPr lang="en-US" altLang="zh-CN" dirty="0"/>
          </a:p>
          <a:p>
            <a:pPr>
              <a:defRPr/>
            </a:pPr>
            <a:r>
              <a:rPr lang="en-US" altLang="zh-CN" dirty="0" err="1"/>
              <a:t>鲁棒性</a:t>
            </a:r>
            <a:endParaRPr lang="en-US" dirty="0"/>
          </a:p>
          <a:p>
            <a:pPr lvl="1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穷尽搜索</a:t>
            </a:r>
            <a:endParaRPr lang="en-US" dirty="0"/>
          </a:p>
        </p:txBody>
      </p:sp>
      <p:sp>
        <p:nvSpPr>
          <p:cNvPr id="13926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多尺度方法</a:t>
            </a:r>
            <a:endParaRPr lang="en-US" dirty="0"/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51388" y="2386013"/>
            <a:ext cx="2484437" cy="2397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pic>
        <p:nvPicPr>
          <p:cNvPr id="593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1863" y="2386013"/>
            <a:ext cx="2370137" cy="24114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346325" y="2890838"/>
            <a:ext cx="73025" cy="73025"/>
            <a:chOff x="1292" y="2205"/>
            <a:chExt cx="46" cy="46"/>
          </a:xfrm>
        </p:grpSpPr>
        <p:sp>
          <p:nvSpPr>
            <p:cNvPr id="139271" name="Line 7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72" name="Line 8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778125" y="4114800"/>
            <a:ext cx="73025" cy="73025"/>
            <a:chOff x="1292" y="2205"/>
            <a:chExt cx="46" cy="46"/>
          </a:xfrm>
        </p:grpSpPr>
        <p:sp>
          <p:nvSpPr>
            <p:cNvPr id="139274" name="Line 10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75" name="Line 11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498850" y="2817813"/>
            <a:ext cx="73025" cy="73025"/>
            <a:chOff x="1292" y="2205"/>
            <a:chExt cx="46" cy="46"/>
          </a:xfrm>
        </p:grpSpPr>
        <p:sp>
          <p:nvSpPr>
            <p:cNvPr id="139277" name="Line 13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78" name="Line 14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3965575" y="2927350"/>
            <a:ext cx="73025" cy="73025"/>
            <a:chOff x="1292" y="2205"/>
            <a:chExt cx="46" cy="46"/>
          </a:xfrm>
        </p:grpSpPr>
        <p:sp>
          <p:nvSpPr>
            <p:cNvPr id="139280" name="Line 1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81" name="Line 1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930650" y="3898900"/>
            <a:ext cx="73025" cy="73025"/>
            <a:chOff x="1292" y="2205"/>
            <a:chExt cx="46" cy="46"/>
          </a:xfrm>
        </p:grpSpPr>
        <p:sp>
          <p:nvSpPr>
            <p:cNvPr id="139283" name="Line 1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84" name="Line 2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822700" y="4619625"/>
            <a:ext cx="73025" cy="73025"/>
            <a:chOff x="1292" y="2205"/>
            <a:chExt cx="46" cy="46"/>
          </a:xfrm>
        </p:grpSpPr>
        <p:sp>
          <p:nvSpPr>
            <p:cNvPr id="139286" name="Line 2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87" name="Line 2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6299200" y="2674938"/>
            <a:ext cx="73025" cy="73025"/>
            <a:chOff x="1292" y="2205"/>
            <a:chExt cx="46" cy="46"/>
          </a:xfrm>
        </p:grpSpPr>
        <p:sp>
          <p:nvSpPr>
            <p:cNvPr id="139289" name="Line 2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90" name="Line 2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5507038" y="3935413"/>
            <a:ext cx="73025" cy="73025"/>
            <a:chOff x="1292" y="2205"/>
            <a:chExt cx="46" cy="46"/>
          </a:xfrm>
        </p:grpSpPr>
        <p:sp>
          <p:nvSpPr>
            <p:cNvPr id="139292" name="Line 28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93" name="Line 29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6154738" y="2962275"/>
            <a:ext cx="73025" cy="73025"/>
            <a:chOff x="1292" y="2205"/>
            <a:chExt cx="46" cy="46"/>
          </a:xfrm>
        </p:grpSpPr>
        <p:sp>
          <p:nvSpPr>
            <p:cNvPr id="139295" name="Line 31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96" name="Line 32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1" name="Group 33"/>
          <p:cNvGrpSpPr>
            <a:grpSpLocks/>
          </p:cNvGrpSpPr>
          <p:nvPr/>
        </p:nvGrpSpPr>
        <p:grpSpPr bwMode="auto">
          <a:xfrm>
            <a:off x="6659563" y="3430588"/>
            <a:ext cx="73025" cy="73025"/>
            <a:chOff x="1292" y="2205"/>
            <a:chExt cx="46" cy="46"/>
          </a:xfrm>
        </p:grpSpPr>
        <p:sp>
          <p:nvSpPr>
            <p:cNvPr id="139298" name="Line 34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299" name="Line 35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2" name="Group 36"/>
          <p:cNvGrpSpPr>
            <a:grpSpLocks/>
          </p:cNvGrpSpPr>
          <p:nvPr/>
        </p:nvGrpSpPr>
        <p:grpSpPr bwMode="auto">
          <a:xfrm>
            <a:off x="6875463" y="4222750"/>
            <a:ext cx="73025" cy="73025"/>
            <a:chOff x="1292" y="2205"/>
            <a:chExt cx="46" cy="46"/>
          </a:xfrm>
        </p:grpSpPr>
        <p:sp>
          <p:nvSpPr>
            <p:cNvPr id="139301" name="Line 37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302" name="Line 38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3" name="Group 39"/>
          <p:cNvGrpSpPr>
            <a:grpSpLocks/>
          </p:cNvGrpSpPr>
          <p:nvPr/>
        </p:nvGrpSpPr>
        <p:grpSpPr bwMode="auto">
          <a:xfrm>
            <a:off x="7127875" y="3359150"/>
            <a:ext cx="73025" cy="73025"/>
            <a:chOff x="1292" y="2205"/>
            <a:chExt cx="46" cy="46"/>
          </a:xfrm>
        </p:grpSpPr>
        <p:sp>
          <p:nvSpPr>
            <p:cNvPr id="139304" name="Line 40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305" name="Line 41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pic>
        <p:nvPicPr>
          <p:cNvPr id="59410" name="Picture 4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9363" y="5445125"/>
            <a:ext cx="828675" cy="828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pic>
        <p:nvPicPr>
          <p:cNvPr id="59411" name="Picture 4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03888" y="5481638"/>
            <a:ext cx="812800" cy="8270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2706688" y="2779713"/>
            <a:ext cx="73025" cy="73025"/>
            <a:chOff x="1292" y="2205"/>
            <a:chExt cx="46" cy="46"/>
          </a:xfrm>
        </p:grpSpPr>
        <p:sp>
          <p:nvSpPr>
            <p:cNvPr id="139309" name="Line 4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310" name="Line 4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39311" name="Rectangle 47"/>
          <p:cNvSpPr>
            <a:spLocks noChangeArrowheads="1"/>
          </p:cNvSpPr>
          <p:nvPr/>
        </p:nvSpPr>
        <p:spPr bwMode="auto">
          <a:xfrm>
            <a:off x="2417763" y="2495550"/>
            <a:ext cx="612775" cy="646113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grpSp>
        <p:nvGrpSpPr>
          <p:cNvPr id="15" name="Group 48"/>
          <p:cNvGrpSpPr>
            <a:grpSpLocks/>
          </p:cNvGrpSpPr>
          <p:nvPr/>
        </p:nvGrpSpPr>
        <p:grpSpPr bwMode="auto">
          <a:xfrm>
            <a:off x="5508625" y="3173413"/>
            <a:ext cx="73025" cy="73025"/>
            <a:chOff x="1292" y="2205"/>
            <a:chExt cx="46" cy="46"/>
          </a:xfrm>
        </p:grpSpPr>
        <p:sp>
          <p:nvSpPr>
            <p:cNvPr id="139313" name="Line 4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9314" name="Line 5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39315" name="Rectangle 51"/>
          <p:cNvSpPr>
            <a:spLocks noChangeArrowheads="1"/>
          </p:cNvSpPr>
          <p:nvPr/>
        </p:nvSpPr>
        <p:spPr bwMode="auto">
          <a:xfrm>
            <a:off x="5219700" y="2889250"/>
            <a:ext cx="612775" cy="646113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sp>
        <p:nvSpPr>
          <p:cNvPr id="52" name="Text Box 6"/>
          <p:cNvSpPr txBox="1">
            <a:spLocks noChangeArrowheads="1"/>
          </p:cNvSpPr>
          <p:nvPr/>
        </p:nvSpPr>
        <p:spPr bwMode="auto">
          <a:xfrm>
            <a:off x="0" y="6583363"/>
            <a:ext cx="56388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</a:rPr>
              <a:t>Slide from T. </a:t>
            </a:r>
            <a:r>
              <a:rPr lang="en-US" sz="1200" dirty="0" err="1">
                <a:solidFill>
                  <a:srgbClr val="000000"/>
                </a:solidFill>
              </a:rPr>
              <a:t>Tuytelaars</a:t>
            </a:r>
            <a:r>
              <a:rPr lang="en-US" sz="1200" dirty="0">
                <a:solidFill>
                  <a:srgbClr val="000000"/>
                </a:solidFill>
              </a:rPr>
              <a:t> ECCV 2006 tutorial</a:t>
            </a:r>
          </a:p>
        </p:txBody>
      </p:sp>
    </p:spTree>
    <p:extLst>
      <p:ext uri="{BB962C8B-B14F-4D97-AF65-F5344CB8AC3E}">
        <p14:creationId xmlns:p14="http://schemas.microsoft.com/office/powerpoint/2010/main" val="22901766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穷尽搜索</a:t>
            </a:r>
            <a:endParaRPr lang="en-US" dirty="0"/>
          </a:p>
        </p:txBody>
      </p:sp>
      <p:sp>
        <p:nvSpPr>
          <p:cNvPr id="13517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多尺度方法</a:t>
            </a:r>
            <a:endParaRPr lang="en-US" altLang="zh-CN" dirty="0"/>
          </a:p>
        </p:txBody>
      </p:sp>
      <p:pic>
        <p:nvPicPr>
          <p:cNvPr id="60420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513" y="2386013"/>
            <a:ext cx="2370137" cy="24114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339975" y="2890838"/>
            <a:ext cx="73025" cy="73025"/>
            <a:chOff x="1292" y="2205"/>
            <a:chExt cx="46" cy="46"/>
          </a:xfrm>
        </p:grpSpPr>
        <p:sp>
          <p:nvSpPr>
            <p:cNvPr id="135175" name="Line 7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176" name="Line 8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771775" y="4114800"/>
            <a:ext cx="73025" cy="73025"/>
            <a:chOff x="1292" y="2205"/>
            <a:chExt cx="46" cy="46"/>
          </a:xfrm>
        </p:grpSpPr>
        <p:sp>
          <p:nvSpPr>
            <p:cNvPr id="135178" name="Line 10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179" name="Line 11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492500" y="2817813"/>
            <a:ext cx="73025" cy="73025"/>
            <a:chOff x="1292" y="2205"/>
            <a:chExt cx="46" cy="46"/>
          </a:xfrm>
        </p:grpSpPr>
        <p:sp>
          <p:nvSpPr>
            <p:cNvPr id="135181" name="Line 13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182" name="Line 14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3959225" y="2927350"/>
            <a:ext cx="73025" cy="73025"/>
            <a:chOff x="1292" y="2205"/>
            <a:chExt cx="46" cy="46"/>
          </a:xfrm>
        </p:grpSpPr>
        <p:sp>
          <p:nvSpPr>
            <p:cNvPr id="135184" name="Line 1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185" name="Line 1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924300" y="3898900"/>
            <a:ext cx="73025" cy="73025"/>
            <a:chOff x="1292" y="2205"/>
            <a:chExt cx="46" cy="46"/>
          </a:xfrm>
        </p:grpSpPr>
        <p:sp>
          <p:nvSpPr>
            <p:cNvPr id="135187" name="Line 1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188" name="Line 2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816350" y="4619625"/>
            <a:ext cx="73025" cy="73025"/>
            <a:chOff x="1292" y="2205"/>
            <a:chExt cx="46" cy="46"/>
          </a:xfrm>
        </p:grpSpPr>
        <p:sp>
          <p:nvSpPr>
            <p:cNvPr id="135190" name="Line 2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191" name="Line 2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pic>
        <p:nvPicPr>
          <p:cNvPr id="60427" name="Picture 4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9363" y="5445125"/>
            <a:ext cx="828675" cy="828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2700338" y="2779713"/>
            <a:ext cx="73025" cy="73025"/>
            <a:chOff x="1292" y="2205"/>
            <a:chExt cx="46" cy="46"/>
          </a:xfrm>
        </p:grpSpPr>
        <p:sp>
          <p:nvSpPr>
            <p:cNvPr id="135213" name="Line 4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214" name="Line 4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35215" name="Rectangle 47"/>
          <p:cNvSpPr>
            <a:spLocks noChangeArrowheads="1"/>
          </p:cNvSpPr>
          <p:nvPr/>
        </p:nvSpPr>
        <p:spPr bwMode="auto">
          <a:xfrm>
            <a:off x="2411413" y="2495550"/>
            <a:ext cx="612775" cy="646113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pic>
        <p:nvPicPr>
          <p:cNvPr id="60430" name="Picture 5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45038" y="2386013"/>
            <a:ext cx="2484437" cy="2397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6292850" y="2674938"/>
            <a:ext cx="73025" cy="73025"/>
            <a:chOff x="1292" y="2205"/>
            <a:chExt cx="46" cy="46"/>
          </a:xfrm>
        </p:grpSpPr>
        <p:sp>
          <p:nvSpPr>
            <p:cNvPr id="135222" name="Line 54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223" name="Line 55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5500688" y="3935413"/>
            <a:ext cx="73025" cy="73025"/>
            <a:chOff x="1292" y="2205"/>
            <a:chExt cx="46" cy="46"/>
          </a:xfrm>
        </p:grpSpPr>
        <p:sp>
          <p:nvSpPr>
            <p:cNvPr id="135225" name="Line 57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226" name="Line 58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1" name="Group 59"/>
          <p:cNvGrpSpPr>
            <a:grpSpLocks/>
          </p:cNvGrpSpPr>
          <p:nvPr/>
        </p:nvGrpSpPr>
        <p:grpSpPr bwMode="auto">
          <a:xfrm>
            <a:off x="6148388" y="2962275"/>
            <a:ext cx="73025" cy="73025"/>
            <a:chOff x="1292" y="2205"/>
            <a:chExt cx="46" cy="46"/>
          </a:xfrm>
        </p:grpSpPr>
        <p:sp>
          <p:nvSpPr>
            <p:cNvPr id="135228" name="Line 60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229" name="Line 61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2" name="Group 62"/>
          <p:cNvGrpSpPr>
            <a:grpSpLocks/>
          </p:cNvGrpSpPr>
          <p:nvPr/>
        </p:nvGrpSpPr>
        <p:grpSpPr bwMode="auto">
          <a:xfrm>
            <a:off x="6653213" y="3430588"/>
            <a:ext cx="73025" cy="73025"/>
            <a:chOff x="1292" y="2205"/>
            <a:chExt cx="46" cy="46"/>
          </a:xfrm>
        </p:grpSpPr>
        <p:sp>
          <p:nvSpPr>
            <p:cNvPr id="135231" name="Line 63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232" name="Line 64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3" name="Group 65"/>
          <p:cNvGrpSpPr>
            <a:grpSpLocks/>
          </p:cNvGrpSpPr>
          <p:nvPr/>
        </p:nvGrpSpPr>
        <p:grpSpPr bwMode="auto">
          <a:xfrm>
            <a:off x="6869113" y="4222750"/>
            <a:ext cx="73025" cy="73025"/>
            <a:chOff x="1292" y="2205"/>
            <a:chExt cx="46" cy="46"/>
          </a:xfrm>
        </p:grpSpPr>
        <p:sp>
          <p:nvSpPr>
            <p:cNvPr id="135234" name="Line 6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235" name="Line 6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4" name="Group 68"/>
          <p:cNvGrpSpPr>
            <a:grpSpLocks/>
          </p:cNvGrpSpPr>
          <p:nvPr/>
        </p:nvGrpSpPr>
        <p:grpSpPr bwMode="auto">
          <a:xfrm>
            <a:off x="7121525" y="3359150"/>
            <a:ext cx="73025" cy="73025"/>
            <a:chOff x="1292" y="2205"/>
            <a:chExt cx="46" cy="46"/>
          </a:xfrm>
        </p:grpSpPr>
        <p:sp>
          <p:nvSpPr>
            <p:cNvPr id="135237" name="Line 6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238" name="Line 7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5" name="Group 71"/>
          <p:cNvGrpSpPr>
            <a:grpSpLocks/>
          </p:cNvGrpSpPr>
          <p:nvPr/>
        </p:nvGrpSpPr>
        <p:grpSpPr bwMode="auto">
          <a:xfrm>
            <a:off x="5502275" y="3173413"/>
            <a:ext cx="73025" cy="73025"/>
            <a:chOff x="1292" y="2205"/>
            <a:chExt cx="46" cy="46"/>
          </a:xfrm>
        </p:grpSpPr>
        <p:sp>
          <p:nvSpPr>
            <p:cNvPr id="135240" name="Line 7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5241" name="Line 7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35242" name="Rectangle 74"/>
          <p:cNvSpPr>
            <a:spLocks noChangeArrowheads="1"/>
          </p:cNvSpPr>
          <p:nvPr/>
        </p:nvSpPr>
        <p:spPr bwMode="auto">
          <a:xfrm>
            <a:off x="5140325" y="2781300"/>
            <a:ext cx="792163" cy="828675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pic>
        <p:nvPicPr>
          <p:cNvPr id="60439" name="Picture 7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45150" y="5335588"/>
            <a:ext cx="908050" cy="9731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7000837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穷尽搜索</a:t>
            </a:r>
            <a:endParaRPr lang="en-US" dirty="0"/>
          </a:p>
        </p:txBody>
      </p:sp>
      <p:sp>
        <p:nvSpPr>
          <p:cNvPr id="13619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多尺度方法</a:t>
            </a:r>
            <a:endParaRPr lang="en-US" altLang="zh-CN" dirty="0"/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513" y="2386013"/>
            <a:ext cx="2370137" cy="24114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339975" y="2890838"/>
            <a:ext cx="73025" cy="73025"/>
            <a:chOff x="1292" y="2205"/>
            <a:chExt cx="46" cy="46"/>
          </a:xfrm>
        </p:grpSpPr>
        <p:sp>
          <p:nvSpPr>
            <p:cNvPr id="136198" name="Line 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199" name="Line 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771775" y="4114800"/>
            <a:ext cx="73025" cy="73025"/>
            <a:chOff x="1292" y="2205"/>
            <a:chExt cx="46" cy="46"/>
          </a:xfrm>
        </p:grpSpPr>
        <p:sp>
          <p:nvSpPr>
            <p:cNvPr id="136201" name="Line 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02" name="Line 1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492500" y="2817813"/>
            <a:ext cx="73025" cy="73025"/>
            <a:chOff x="1292" y="2205"/>
            <a:chExt cx="46" cy="46"/>
          </a:xfrm>
        </p:grpSpPr>
        <p:sp>
          <p:nvSpPr>
            <p:cNvPr id="136204" name="Line 1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05" name="Line 1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959225" y="2927350"/>
            <a:ext cx="73025" cy="73025"/>
            <a:chOff x="1292" y="2205"/>
            <a:chExt cx="46" cy="46"/>
          </a:xfrm>
        </p:grpSpPr>
        <p:sp>
          <p:nvSpPr>
            <p:cNvPr id="136207" name="Line 1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08" name="Line 1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3924300" y="3898900"/>
            <a:ext cx="73025" cy="73025"/>
            <a:chOff x="1292" y="2205"/>
            <a:chExt cx="46" cy="46"/>
          </a:xfrm>
        </p:grpSpPr>
        <p:sp>
          <p:nvSpPr>
            <p:cNvPr id="136210" name="Line 18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11" name="Line 19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3816350" y="4619625"/>
            <a:ext cx="73025" cy="73025"/>
            <a:chOff x="1292" y="2205"/>
            <a:chExt cx="46" cy="46"/>
          </a:xfrm>
        </p:grpSpPr>
        <p:sp>
          <p:nvSpPr>
            <p:cNvPr id="136213" name="Line 21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14" name="Line 22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pic>
        <p:nvPicPr>
          <p:cNvPr id="61451" name="Picture 2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9363" y="5445125"/>
            <a:ext cx="828675" cy="828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700338" y="2779713"/>
            <a:ext cx="73025" cy="73025"/>
            <a:chOff x="1292" y="2205"/>
            <a:chExt cx="46" cy="46"/>
          </a:xfrm>
        </p:grpSpPr>
        <p:sp>
          <p:nvSpPr>
            <p:cNvPr id="136217" name="Line 2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18" name="Line 2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36219" name="Rectangle 27"/>
          <p:cNvSpPr>
            <a:spLocks noChangeArrowheads="1"/>
          </p:cNvSpPr>
          <p:nvPr/>
        </p:nvSpPr>
        <p:spPr bwMode="auto">
          <a:xfrm>
            <a:off x="2411413" y="2495550"/>
            <a:ext cx="612775" cy="646113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pic>
        <p:nvPicPr>
          <p:cNvPr id="61454" name="Picture 2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45038" y="2386013"/>
            <a:ext cx="2484437" cy="2397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6292850" y="2674938"/>
            <a:ext cx="73025" cy="73025"/>
            <a:chOff x="1292" y="2205"/>
            <a:chExt cx="46" cy="46"/>
          </a:xfrm>
        </p:grpSpPr>
        <p:sp>
          <p:nvSpPr>
            <p:cNvPr id="136222" name="Line 30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23" name="Line 31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5500688" y="3935413"/>
            <a:ext cx="73025" cy="73025"/>
            <a:chOff x="1292" y="2205"/>
            <a:chExt cx="46" cy="46"/>
          </a:xfrm>
        </p:grpSpPr>
        <p:sp>
          <p:nvSpPr>
            <p:cNvPr id="136225" name="Line 33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26" name="Line 34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6148388" y="2962275"/>
            <a:ext cx="73025" cy="73025"/>
            <a:chOff x="1292" y="2205"/>
            <a:chExt cx="46" cy="46"/>
          </a:xfrm>
        </p:grpSpPr>
        <p:sp>
          <p:nvSpPr>
            <p:cNvPr id="136228" name="Line 3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29" name="Line 3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6653213" y="3430588"/>
            <a:ext cx="73025" cy="73025"/>
            <a:chOff x="1292" y="2205"/>
            <a:chExt cx="46" cy="46"/>
          </a:xfrm>
        </p:grpSpPr>
        <p:sp>
          <p:nvSpPr>
            <p:cNvPr id="136231" name="Line 3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32" name="Line 4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3" name="Group 41"/>
          <p:cNvGrpSpPr>
            <a:grpSpLocks/>
          </p:cNvGrpSpPr>
          <p:nvPr/>
        </p:nvGrpSpPr>
        <p:grpSpPr bwMode="auto">
          <a:xfrm>
            <a:off x="6869113" y="4222750"/>
            <a:ext cx="73025" cy="73025"/>
            <a:chOff x="1292" y="2205"/>
            <a:chExt cx="46" cy="46"/>
          </a:xfrm>
        </p:grpSpPr>
        <p:sp>
          <p:nvSpPr>
            <p:cNvPr id="136234" name="Line 4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35" name="Line 4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7121525" y="3359150"/>
            <a:ext cx="73025" cy="73025"/>
            <a:chOff x="1292" y="2205"/>
            <a:chExt cx="46" cy="46"/>
          </a:xfrm>
        </p:grpSpPr>
        <p:sp>
          <p:nvSpPr>
            <p:cNvPr id="136237" name="Line 4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38" name="Line 4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5" name="Group 47"/>
          <p:cNvGrpSpPr>
            <a:grpSpLocks/>
          </p:cNvGrpSpPr>
          <p:nvPr/>
        </p:nvGrpSpPr>
        <p:grpSpPr bwMode="auto">
          <a:xfrm>
            <a:off x="5502275" y="3173413"/>
            <a:ext cx="73025" cy="73025"/>
            <a:chOff x="1292" y="2205"/>
            <a:chExt cx="46" cy="46"/>
          </a:xfrm>
        </p:grpSpPr>
        <p:sp>
          <p:nvSpPr>
            <p:cNvPr id="136240" name="Line 48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6241" name="Line 49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36242" name="Rectangle 50"/>
          <p:cNvSpPr>
            <a:spLocks noChangeArrowheads="1"/>
          </p:cNvSpPr>
          <p:nvPr/>
        </p:nvSpPr>
        <p:spPr bwMode="auto">
          <a:xfrm>
            <a:off x="5032375" y="2673350"/>
            <a:ext cx="1044575" cy="1044575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pic>
        <p:nvPicPr>
          <p:cNvPr id="61463" name="Picture 5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75300" y="5300663"/>
            <a:ext cx="1077913" cy="1152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6498963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穷尽搜索</a:t>
            </a:r>
            <a:endParaRPr lang="en-US" dirty="0"/>
          </a:p>
        </p:txBody>
      </p:sp>
      <p:sp>
        <p:nvSpPr>
          <p:cNvPr id="13721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多尺度方法</a:t>
            </a:r>
            <a:endParaRPr lang="en-US" altLang="zh-CN" dirty="0"/>
          </a:p>
          <a:p>
            <a:pPr marL="0" indent="0" eaLnBrk="1" hangingPunct="1">
              <a:buNone/>
              <a:defRPr/>
            </a:pPr>
            <a:endParaRPr lang="en-US" dirty="0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513" y="2386013"/>
            <a:ext cx="2370137" cy="24114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339975" y="2890838"/>
            <a:ext cx="73025" cy="73025"/>
            <a:chOff x="1292" y="2205"/>
            <a:chExt cx="46" cy="46"/>
          </a:xfrm>
        </p:grpSpPr>
        <p:sp>
          <p:nvSpPr>
            <p:cNvPr id="137222" name="Line 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23" name="Line 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771775" y="4114800"/>
            <a:ext cx="73025" cy="73025"/>
            <a:chOff x="1292" y="2205"/>
            <a:chExt cx="46" cy="46"/>
          </a:xfrm>
        </p:grpSpPr>
        <p:sp>
          <p:nvSpPr>
            <p:cNvPr id="137225" name="Line 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26" name="Line 1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492500" y="2817813"/>
            <a:ext cx="73025" cy="73025"/>
            <a:chOff x="1292" y="2205"/>
            <a:chExt cx="46" cy="46"/>
          </a:xfrm>
        </p:grpSpPr>
        <p:sp>
          <p:nvSpPr>
            <p:cNvPr id="137228" name="Line 1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29" name="Line 1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959225" y="2927350"/>
            <a:ext cx="73025" cy="73025"/>
            <a:chOff x="1292" y="2205"/>
            <a:chExt cx="46" cy="46"/>
          </a:xfrm>
        </p:grpSpPr>
        <p:sp>
          <p:nvSpPr>
            <p:cNvPr id="137231" name="Line 1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32" name="Line 1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3924300" y="3898900"/>
            <a:ext cx="73025" cy="73025"/>
            <a:chOff x="1292" y="2205"/>
            <a:chExt cx="46" cy="46"/>
          </a:xfrm>
        </p:grpSpPr>
        <p:sp>
          <p:nvSpPr>
            <p:cNvPr id="137234" name="Line 18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35" name="Line 19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3816350" y="4619625"/>
            <a:ext cx="73025" cy="73025"/>
            <a:chOff x="1292" y="2205"/>
            <a:chExt cx="46" cy="46"/>
          </a:xfrm>
        </p:grpSpPr>
        <p:sp>
          <p:nvSpPr>
            <p:cNvPr id="137237" name="Line 21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38" name="Line 22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pic>
        <p:nvPicPr>
          <p:cNvPr id="62475" name="Picture 2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9363" y="5445125"/>
            <a:ext cx="828675" cy="828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700338" y="2779713"/>
            <a:ext cx="73025" cy="73025"/>
            <a:chOff x="1292" y="2205"/>
            <a:chExt cx="46" cy="46"/>
          </a:xfrm>
        </p:grpSpPr>
        <p:sp>
          <p:nvSpPr>
            <p:cNvPr id="137241" name="Line 2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42" name="Line 2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37243" name="Rectangle 27"/>
          <p:cNvSpPr>
            <a:spLocks noChangeArrowheads="1"/>
          </p:cNvSpPr>
          <p:nvPr/>
        </p:nvSpPr>
        <p:spPr bwMode="auto">
          <a:xfrm>
            <a:off x="2411413" y="2495550"/>
            <a:ext cx="612775" cy="646113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pic>
        <p:nvPicPr>
          <p:cNvPr id="62478" name="Picture 2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51388" y="2386013"/>
            <a:ext cx="2484437" cy="2397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6299200" y="2674938"/>
            <a:ext cx="73025" cy="73025"/>
            <a:chOff x="1292" y="2205"/>
            <a:chExt cx="46" cy="46"/>
          </a:xfrm>
        </p:grpSpPr>
        <p:sp>
          <p:nvSpPr>
            <p:cNvPr id="137246" name="Line 30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47" name="Line 31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5505450" y="3176588"/>
            <a:ext cx="73025" cy="73025"/>
            <a:chOff x="1292" y="2205"/>
            <a:chExt cx="46" cy="46"/>
          </a:xfrm>
        </p:grpSpPr>
        <p:sp>
          <p:nvSpPr>
            <p:cNvPr id="137249" name="Line 33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50" name="Line 34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5507038" y="3935413"/>
            <a:ext cx="73025" cy="73025"/>
            <a:chOff x="1292" y="2205"/>
            <a:chExt cx="46" cy="46"/>
          </a:xfrm>
        </p:grpSpPr>
        <p:sp>
          <p:nvSpPr>
            <p:cNvPr id="137252" name="Line 3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53" name="Line 3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6154738" y="2962275"/>
            <a:ext cx="73025" cy="73025"/>
            <a:chOff x="1292" y="2205"/>
            <a:chExt cx="46" cy="46"/>
          </a:xfrm>
        </p:grpSpPr>
        <p:sp>
          <p:nvSpPr>
            <p:cNvPr id="137255" name="Line 3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56" name="Line 4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3" name="Group 41"/>
          <p:cNvGrpSpPr>
            <a:grpSpLocks/>
          </p:cNvGrpSpPr>
          <p:nvPr/>
        </p:nvGrpSpPr>
        <p:grpSpPr bwMode="auto">
          <a:xfrm>
            <a:off x="6659563" y="3430588"/>
            <a:ext cx="73025" cy="73025"/>
            <a:chOff x="1292" y="2205"/>
            <a:chExt cx="46" cy="46"/>
          </a:xfrm>
        </p:grpSpPr>
        <p:sp>
          <p:nvSpPr>
            <p:cNvPr id="137258" name="Line 4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59" name="Line 4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6875463" y="4222750"/>
            <a:ext cx="73025" cy="73025"/>
            <a:chOff x="1292" y="2205"/>
            <a:chExt cx="46" cy="46"/>
          </a:xfrm>
        </p:grpSpPr>
        <p:sp>
          <p:nvSpPr>
            <p:cNvPr id="137261" name="Line 4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62" name="Line 4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5" name="Group 47"/>
          <p:cNvGrpSpPr>
            <a:grpSpLocks/>
          </p:cNvGrpSpPr>
          <p:nvPr/>
        </p:nvGrpSpPr>
        <p:grpSpPr bwMode="auto">
          <a:xfrm>
            <a:off x="7127875" y="3359150"/>
            <a:ext cx="73025" cy="73025"/>
            <a:chOff x="1292" y="2205"/>
            <a:chExt cx="46" cy="46"/>
          </a:xfrm>
        </p:grpSpPr>
        <p:sp>
          <p:nvSpPr>
            <p:cNvPr id="137264" name="Line 48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137265" name="Line 49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37266" name="Rectangle 50"/>
          <p:cNvSpPr>
            <a:spLocks noChangeArrowheads="1"/>
          </p:cNvSpPr>
          <p:nvPr/>
        </p:nvSpPr>
        <p:spPr bwMode="auto">
          <a:xfrm>
            <a:off x="4930775" y="2601913"/>
            <a:ext cx="1189038" cy="1223962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pic>
        <p:nvPicPr>
          <p:cNvPr id="62487" name="Picture 5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27650" y="5121275"/>
            <a:ext cx="1439863" cy="14398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5307721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不变性</a:t>
            </a:r>
            <a:endParaRPr lang="en-US" dirty="0"/>
          </a:p>
        </p:txBody>
      </p:sp>
      <p:sp>
        <p:nvSpPr>
          <p:cNvPr id="24269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从各图像中独立提取图像块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pic>
        <p:nvPicPr>
          <p:cNvPr id="2426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513" y="2386013"/>
            <a:ext cx="2370137" cy="24114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339975" y="2890838"/>
            <a:ext cx="73025" cy="73025"/>
            <a:chOff x="1292" y="2205"/>
            <a:chExt cx="46" cy="46"/>
          </a:xfrm>
        </p:grpSpPr>
        <p:sp>
          <p:nvSpPr>
            <p:cNvPr id="242694" name="Line 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695" name="Line 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771775" y="4114800"/>
            <a:ext cx="73025" cy="73025"/>
            <a:chOff x="1292" y="2205"/>
            <a:chExt cx="46" cy="46"/>
          </a:xfrm>
        </p:grpSpPr>
        <p:sp>
          <p:nvSpPr>
            <p:cNvPr id="242697" name="Line 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698" name="Line 1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492500" y="2817813"/>
            <a:ext cx="73025" cy="73025"/>
            <a:chOff x="1292" y="2205"/>
            <a:chExt cx="46" cy="46"/>
          </a:xfrm>
        </p:grpSpPr>
        <p:sp>
          <p:nvSpPr>
            <p:cNvPr id="242700" name="Line 1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01" name="Line 1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959225" y="2927350"/>
            <a:ext cx="73025" cy="73025"/>
            <a:chOff x="1292" y="2205"/>
            <a:chExt cx="46" cy="46"/>
          </a:xfrm>
        </p:grpSpPr>
        <p:sp>
          <p:nvSpPr>
            <p:cNvPr id="242703" name="Line 1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04" name="Line 1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3924300" y="3898900"/>
            <a:ext cx="73025" cy="73025"/>
            <a:chOff x="1292" y="2205"/>
            <a:chExt cx="46" cy="46"/>
          </a:xfrm>
        </p:grpSpPr>
        <p:sp>
          <p:nvSpPr>
            <p:cNvPr id="242706" name="Line 18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07" name="Line 19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3816350" y="4619625"/>
            <a:ext cx="73025" cy="73025"/>
            <a:chOff x="1292" y="2205"/>
            <a:chExt cx="46" cy="46"/>
          </a:xfrm>
        </p:grpSpPr>
        <p:sp>
          <p:nvSpPr>
            <p:cNvPr id="242709" name="Line 21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10" name="Line 22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pic>
        <p:nvPicPr>
          <p:cNvPr id="242711" name="Picture 2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9363" y="5445125"/>
            <a:ext cx="828675" cy="828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700338" y="2779713"/>
            <a:ext cx="73025" cy="73025"/>
            <a:chOff x="1292" y="2205"/>
            <a:chExt cx="46" cy="46"/>
          </a:xfrm>
        </p:grpSpPr>
        <p:sp>
          <p:nvSpPr>
            <p:cNvPr id="242713" name="Line 2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14" name="Line 2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242715" name="Rectangle 27"/>
          <p:cNvSpPr>
            <a:spLocks noChangeArrowheads="1"/>
          </p:cNvSpPr>
          <p:nvPr/>
        </p:nvSpPr>
        <p:spPr bwMode="auto">
          <a:xfrm>
            <a:off x="2411413" y="2495550"/>
            <a:ext cx="612775" cy="646113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pic>
        <p:nvPicPr>
          <p:cNvPr id="242716" name="Picture 2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51388" y="2386013"/>
            <a:ext cx="2484437" cy="2397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6299200" y="2674938"/>
            <a:ext cx="73025" cy="73025"/>
            <a:chOff x="1292" y="2205"/>
            <a:chExt cx="46" cy="46"/>
          </a:xfrm>
        </p:grpSpPr>
        <p:sp>
          <p:nvSpPr>
            <p:cNvPr id="242718" name="Line 30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19" name="Line 31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5505450" y="3176588"/>
            <a:ext cx="73025" cy="73025"/>
            <a:chOff x="1292" y="2205"/>
            <a:chExt cx="46" cy="46"/>
          </a:xfrm>
        </p:grpSpPr>
        <p:sp>
          <p:nvSpPr>
            <p:cNvPr id="242721" name="Line 33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22" name="Line 34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5507038" y="3935413"/>
            <a:ext cx="73025" cy="73025"/>
            <a:chOff x="1292" y="2205"/>
            <a:chExt cx="46" cy="46"/>
          </a:xfrm>
        </p:grpSpPr>
        <p:sp>
          <p:nvSpPr>
            <p:cNvPr id="242724" name="Line 36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25" name="Line 37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6154738" y="2962275"/>
            <a:ext cx="73025" cy="73025"/>
            <a:chOff x="1292" y="2205"/>
            <a:chExt cx="46" cy="46"/>
          </a:xfrm>
        </p:grpSpPr>
        <p:sp>
          <p:nvSpPr>
            <p:cNvPr id="242727" name="Line 39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28" name="Line 40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3" name="Group 41"/>
          <p:cNvGrpSpPr>
            <a:grpSpLocks/>
          </p:cNvGrpSpPr>
          <p:nvPr/>
        </p:nvGrpSpPr>
        <p:grpSpPr bwMode="auto">
          <a:xfrm>
            <a:off x="6659563" y="3430588"/>
            <a:ext cx="73025" cy="73025"/>
            <a:chOff x="1292" y="2205"/>
            <a:chExt cx="46" cy="46"/>
          </a:xfrm>
        </p:grpSpPr>
        <p:sp>
          <p:nvSpPr>
            <p:cNvPr id="242730" name="Line 42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31" name="Line 43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6875463" y="4222750"/>
            <a:ext cx="73025" cy="73025"/>
            <a:chOff x="1292" y="2205"/>
            <a:chExt cx="46" cy="46"/>
          </a:xfrm>
        </p:grpSpPr>
        <p:sp>
          <p:nvSpPr>
            <p:cNvPr id="242733" name="Line 45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34" name="Line 46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grpSp>
        <p:nvGrpSpPr>
          <p:cNvPr id="15" name="Group 47"/>
          <p:cNvGrpSpPr>
            <a:grpSpLocks/>
          </p:cNvGrpSpPr>
          <p:nvPr/>
        </p:nvGrpSpPr>
        <p:grpSpPr bwMode="auto">
          <a:xfrm>
            <a:off x="7127875" y="3359150"/>
            <a:ext cx="73025" cy="73025"/>
            <a:chOff x="1292" y="2205"/>
            <a:chExt cx="46" cy="46"/>
          </a:xfrm>
        </p:grpSpPr>
        <p:sp>
          <p:nvSpPr>
            <p:cNvPr id="242736" name="Line 48"/>
            <p:cNvSpPr>
              <a:spLocks noChangeShapeType="1"/>
            </p:cNvSpPr>
            <p:nvPr/>
          </p:nvSpPr>
          <p:spPr bwMode="auto">
            <a:xfrm>
              <a:off x="1292" y="2205"/>
              <a:ext cx="46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  <p:sp>
          <p:nvSpPr>
            <p:cNvPr id="242737" name="Line 49"/>
            <p:cNvSpPr>
              <a:spLocks noChangeShapeType="1"/>
            </p:cNvSpPr>
            <p:nvPr/>
          </p:nvSpPr>
          <p:spPr bwMode="auto">
            <a:xfrm flipH="1">
              <a:off x="1293" y="2205"/>
              <a:ext cx="45" cy="46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440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242738" name="Rectangle 50"/>
          <p:cNvSpPr>
            <a:spLocks noChangeArrowheads="1"/>
          </p:cNvSpPr>
          <p:nvPr/>
        </p:nvSpPr>
        <p:spPr bwMode="auto">
          <a:xfrm>
            <a:off x="4930775" y="2601913"/>
            <a:ext cx="1189038" cy="1223962"/>
          </a:xfrm>
          <a:prstGeom prst="rect">
            <a:avLst/>
          </a:prstGeom>
          <a:noFill/>
          <a:ln w="254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  <p:pic>
        <p:nvPicPr>
          <p:cNvPr id="242739" name="Picture 5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27650" y="5121275"/>
            <a:ext cx="1439863" cy="14398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242740" name="Line 52"/>
          <p:cNvSpPr>
            <a:spLocks noChangeShapeType="1"/>
          </p:cNvSpPr>
          <p:nvPr/>
        </p:nvSpPr>
        <p:spPr bwMode="auto">
          <a:xfrm>
            <a:off x="4643438" y="2060575"/>
            <a:ext cx="0" cy="4797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en-US" sz="440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5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15" grpId="0" animBg="1"/>
      <p:bldP spid="242715" grpId="1" animBg="1"/>
      <p:bldP spid="24273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ru-RU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19200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方案：</a:t>
            </a:r>
            <a:endParaRPr lang="en-US" sz="2400" dirty="0"/>
          </a:p>
          <a:p>
            <a:pPr lvl="1"/>
            <a:r>
              <a:rPr lang="zh-CN" altLang="en-US" sz="2400" dirty="0"/>
              <a:t>设计一个具有尺度不变性的关于区域的函数</a:t>
            </a:r>
            <a:r>
              <a:rPr lang="en-US" sz="2400" dirty="0"/>
              <a:t> (</a:t>
            </a:r>
            <a:r>
              <a:rPr lang="zh-CN" altLang="en-US" sz="2400" dirty="0"/>
              <a:t>即使图像的尺度不同，对应区域响应值相同</a:t>
            </a:r>
            <a:r>
              <a:rPr lang="en-US" altLang="zh-CN" sz="2400" dirty="0"/>
              <a:t>)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2042848" y="2608792"/>
            <a:ext cx="5500952" cy="707886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cs typeface="Arial" pitchFamily="34" charset="0"/>
              </a:rPr>
              <a:t>举例：平均强度。对于不同尺度相对应的区域，平均强度相同。</a:t>
            </a:r>
            <a:endParaRPr lang="ru-RU" sz="20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92554" y="5089525"/>
            <a:ext cx="1296988" cy="625475"/>
            <a:chOff x="2452" y="2342"/>
            <a:chExt cx="817" cy="394"/>
          </a:xfrm>
        </p:grpSpPr>
        <p:sp>
          <p:nvSpPr>
            <p:cNvPr id="101397" name="AutoShape 6"/>
            <p:cNvSpPr>
              <a:spLocks noChangeArrowheads="1"/>
            </p:cNvSpPr>
            <p:nvPr/>
          </p:nvSpPr>
          <p:spPr bwMode="auto">
            <a:xfrm>
              <a:off x="2688" y="2544"/>
              <a:ext cx="384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1398" name="Text Box 7"/>
            <p:cNvSpPr txBox="1">
              <a:spLocks noChangeArrowheads="1"/>
            </p:cNvSpPr>
            <p:nvPr/>
          </p:nvSpPr>
          <p:spPr bwMode="auto">
            <a:xfrm>
              <a:off x="2452" y="2342"/>
              <a:ext cx="81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尺度</a:t>
              </a:r>
              <a:r>
                <a:rPr lang="en-US" sz="2000" dirty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 = 1/2</a:t>
              </a:r>
              <a:endParaRPr lang="ru-RU" sz="20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14024" name="Rectangle 8"/>
          <p:cNvSpPr>
            <a:spLocks noChangeArrowheads="1"/>
          </p:cNvSpPr>
          <p:nvPr/>
        </p:nvSpPr>
        <p:spPr bwMode="auto">
          <a:xfrm>
            <a:off x="685800" y="3505200"/>
            <a:ext cx="7315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sz="2400" dirty="0" err="1">
                <a:solidFill>
                  <a:srgbClr val="000000"/>
                </a:solidFill>
                <a:cs typeface="Times New Roman" pitchFamily="18" charset="0"/>
              </a:rPr>
              <a:t>对于图像中的点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，可以考虑区域大小（块宽度）的函数</a:t>
            </a:r>
            <a:br>
              <a:rPr lang="en-US" sz="2400" dirty="0">
                <a:solidFill>
                  <a:srgbClr val="000000"/>
                </a:solidFill>
                <a:cs typeface="Times New Roman" pitchFamily="18" charset="0"/>
              </a:rPr>
            </a:br>
            <a:endParaRPr lang="en-US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76200" y="4621213"/>
            <a:ext cx="3638552" cy="2027237"/>
            <a:chOff x="48" y="3055"/>
            <a:chExt cx="2292" cy="1277"/>
          </a:xfrm>
        </p:grpSpPr>
        <p:sp>
          <p:nvSpPr>
            <p:cNvPr id="101391" name="Line 10"/>
            <p:cNvSpPr>
              <a:spLocks noChangeShapeType="1"/>
            </p:cNvSpPr>
            <p:nvPr/>
          </p:nvSpPr>
          <p:spPr bwMode="auto">
            <a:xfrm>
              <a:off x="297" y="4080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1392" name="Line 11"/>
            <p:cNvSpPr>
              <a:spLocks noChangeShapeType="1"/>
            </p:cNvSpPr>
            <p:nvPr/>
          </p:nvSpPr>
          <p:spPr bwMode="auto">
            <a:xfrm flipV="1">
              <a:off x="297" y="3168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1393" name="Text Box 12"/>
            <p:cNvSpPr txBox="1">
              <a:spLocks noChangeArrowheads="1"/>
            </p:cNvSpPr>
            <p:nvPr/>
          </p:nvSpPr>
          <p:spPr bwMode="auto">
            <a:xfrm>
              <a:off x="48" y="3072"/>
              <a:ext cx="2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i="1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endParaRPr lang="ru-RU" sz="2400" i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94" name="Text Box 13"/>
            <p:cNvSpPr txBox="1">
              <a:spLocks noChangeArrowheads="1"/>
            </p:cNvSpPr>
            <p:nvPr/>
          </p:nvSpPr>
          <p:spPr bwMode="auto">
            <a:xfrm>
              <a:off x="1577" y="4080"/>
              <a:ext cx="76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区域大小</a:t>
              </a:r>
              <a:endParaRPr lang="ru-RU" sz="20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95" name="Text Box 14"/>
            <p:cNvSpPr txBox="1">
              <a:spLocks noChangeArrowheads="1"/>
            </p:cNvSpPr>
            <p:nvPr/>
          </p:nvSpPr>
          <p:spPr bwMode="auto">
            <a:xfrm>
              <a:off x="1387" y="3055"/>
              <a:ext cx="56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图像</a:t>
              </a:r>
              <a:r>
                <a:rPr 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 1</a:t>
              </a:r>
              <a:endParaRPr lang="ru-RU" sz="20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96" name="Freeform 15"/>
            <p:cNvSpPr>
              <a:spLocks/>
            </p:cNvSpPr>
            <p:nvPr/>
          </p:nvSpPr>
          <p:spPr bwMode="auto">
            <a:xfrm>
              <a:off x="528" y="3368"/>
              <a:ext cx="1632" cy="568"/>
            </a:xfrm>
            <a:custGeom>
              <a:avLst/>
              <a:gdLst>
                <a:gd name="T0" fmla="*/ 0 w 1632"/>
                <a:gd name="T1" fmla="*/ 568 h 568"/>
                <a:gd name="T2" fmla="*/ 288 w 1632"/>
                <a:gd name="T3" fmla="*/ 40 h 568"/>
                <a:gd name="T4" fmla="*/ 912 w 1632"/>
                <a:gd name="T5" fmla="*/ 328 h 568"/>
                <a:gd name="T6" fmla="*/ 1392 w 1632"/>
                <a:gd name="T7" fmla="*/ 472 h 568"/>
                <a:gd name="T8" fmla="*/ 1632 w 1632"/>
                <a:gd name="T9" fmla="*/ 520 h 5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2"/>
                <a:gd name="T16" fmla="*/ 0 h 568"/>
                <a:gd name="T17" fmla="*/ 1632 w 1632"/>
                <a:gd name="T18" fmla="*/ 568 h 5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2" h="568">
                  <a:moveTo>
                    <a:pt x="0" y="568"/>
                  </a:moveTo>
                  <a:cubicBezTo>
                    <a:pt x="68" y="324"/>
                    <a:pt x="136" y="80"/>
                    <a:pt x="288" y="40"/>
                  </a:cubicBezTo>
                  <a:cubicBezTo>
                    <a:pt x="440" y="0"/>
                    <a:pt x="728" y="256"/>
                    <a:pt x="912" y="328"/>
                  </a:cubicBezTo>
                  <a:cubicBezTo>
                    <a:pt x="1096" y="400"/>
                    <a:pt x="1272" y="440"/>
                    <a:pt x="1392" y="472"/>
                  </a:cubicBezTo>
                  <a:cubicBezTo>
                    <a:pt x="1512" y="504"/>
                    <a:pt x="1572" y="512"/>
                    <a:pt x="1632" y="52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5391155" y="4632325"/>
            <a:ext cx="3636965" cy="2000250"/>
            <a:chOff x="3396" y="3072"/>
            <a:chExt cx="2291" cy="1260"/>
          </a:xfrm>
        </p:grpSpPr>
        <p:sp>
          <p:nvSpPr>
            <p:cNvPr id="101385" name="Line 17"/>
            <p:cNvSpPr>
              <a:spLocks noChangeShapeType="1"/>
            </p:cNvSpPr>
            <p:nvPr/>
          </p:nvSpPr>
          <p:spPr bwMode="auto">
            <a:xfrm>
              <a:off x="3645" y="4080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1386" name="Line 18"/>
            <p:cNvSpPr>
              <a:spLocks noChangeShapeType="1"/>
            </p:cNvSpPr>
            <p:nvPr/>
          </p:nvSpPr>
          <p:spPr bwMode="auto">
            <a:xfrm flipV="1">
              <a:off x="3645" y="3168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1387" name="Text Box 19"/>
            <p:cNvSpPr txBox="1">
              <a:spLocks noChangeArrowheads="1"/>
            </p:cNvSpPr>
            <p:nvPr/>
          </p:nvSpPr>
          <p:spPr bwMode="auto">
            <a:xfrm>
              <a:off x="3396" y="3072"/>
              <a:ext cx="2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i="1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endParaRPr lang="ru-RU" sz="2400" i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88" name="Text Box 20"/>
            <p:cNvSpPr txBox="1">
              <a:spLocks noChangeArrowheads="1"/>
            </p:cNvSpPr>
            <p:nvPr/>
          </p:nvSpPr>
          <p:spPr bwMode="auto">
            <a:xfrm>
              <a:off x="4924" y="4080"/>
              <a:ext cx="76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区域大小</a:t>
              </a:r>
              <a:endParaRPr lang="ru-RU" sz="20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89" name="Text Box 21"/>
            <p:cNvSpPr txBox="1">
              <a:spLocks noChangeArrowheads="1"/>
            </p:cNvSpPr>
            <p:nvPr/>
          </p:nvSpPr>
          <p:spPr bwMode="auto">
            <a:xfrm>
              <a:off x="4843" y="3103"/>
              <a:ext cx="56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图像</a:t>
              </a:r>
              <a:r>
                <a:rPr 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 2</a:t>
              </a:r>
              <a:endParaRPr lang="ru-RU" sz="20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390" name="Freeform 22"/>
            <p:cNvSpPr>
              <a:spLocks/>
            </p:cNvSpPr>
            <p:nvPr/>
          </p:nvSpPr>
          <p:spPr bwMode="auto">
            <a:xfrm>
              <a:off x="3744" y="3368"/>
              <a:ext cx="864" cy="568"/>
            </a:xfrm>
            <a:custGeom>
              <a:avLst/>
              <a:gdLst>
                <a:gd name="T0" fmla="*/ 0 w 1632"/>
                <a:gd name="T1" fmla="*/ 568 h 568"/>
                <a:gd name="T2" fmla="*/ 42 w 1632"/>
                <a:gd name="T3" fmla="*/ 40 h 568"/>
                <a:gd name="T4" fmla="*/ 136 w 1632"/>
                <a:gd name="T5" fmla="*/ 328 h 568"/>
                <a:gd name="T6" fmla="*/ 206 w 1632"/>
                <a:gd name="T7" fmla="*/ 472 h 568"/>
                <a:gd name="T8" fmla="*/ 242 w 1632"/>
                <a:gd name="T9" fmla="*/ 520 h 5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2"/>
                <a:gd name="T16" fmla="*/ 0 h 568"/>
                <a:gd name="T17" fmla="*/ 1632 w 1632"/>
                <a:gd name="T18" fmla="*/ 568 h 5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2" h="568">
                  <a:moveTo>
                    <a:pt x="0" y="568"/>
                  </a:moveTo>
                  <a:cubicBezTo>
                    <a:pt x="68" y="324"/>
                    <a:pt x="136" y="80"/>
                    <a:pt x="288" y="40"/>
                  </a:cubicBezTo>
                  <a:cubicBezTo>
                    <a:pt x="440" y="0"/>
                    <a:pt x="728" y="256"/>
                    <a:pt x="912" y="328"/>
                  </a:cubicBezTo>
                  <a:cubicBezTo>
                    <a:pt x="1096" y="400"/>
                    <a:pt x="1272" y="440"/>
                    <a:pt x="1392" y="472"/>
                  </a:cubicBezTo>
                  <a:cubicBezTo>
                    <a:pt x="1512" y="504"/>
                    <a:pt x="1572" y="512"/>
                    <a:pt x="1632" y="52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565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4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ru-RU" dirty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常用方法：</a:t>
            </a:r>
            <a:endParaRPr lang="en-US" sz="28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92554" y="5013325"/>
            <a:ext cx="1296988" cy="625475"/>
            <a:chOff x="2452" y="2342"/>
            <a:chExt cx="817" cy="394"/>
          </a:xfrm>
        </p:grpSpPr>
        <p:sp>
          <p:nvSpPr>
            <p:cNvPr id="102430" name="AutoShape 5"/>
            <p:cNvSpPr>
              <a:spLocks noChangeArrowheads="1"/>
            </p:cNvSpPr>
            <p:nvPr/>
          </p:nvSpPr>
          <p:spPr bwMode="auto">
            <a:xfrm>
              <a:off x="2688" y="2544"/>
              <a:ext cx="384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431" name="Text Box 6"/>
            <p:cNvSpPr txBox="1">
              <a:spLocks noChangeArrowheads="1"/>
            </p:cNvSpPr>
            <p:nvPr/>
          </p:nvSpPr>
          <p:spPr bwMode="auto">
            <a:xfrm>
              <a:off x="2452" y="2342"/>
              <a:ext cx="81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尺度</a:t>
              </a:r>
              <a:r>
                <a:rPr lang="en-US" sz="2000" dirty="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</a:rPr>
                <a:t> = 1/2</a:t>
              </a:r>
              <a:endParaRPr lang="ru-RU" sz="20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76200" y="4545013"/>
            <a:ext cx="3638552" cy="2027237"/>
            <a:chOff x="48" y="3055"/>
            <a:chExt cx="2292" cy="1277"/>
          </a:xfrm>
        </p:grpSpPr>
        <p:sp>
          <p:nvSpPr>
            <p:cNvPr id="102424" name="Line 8"/>
            <p:cNvSpPr>
              <a:spLocks noChangeShapeType="1"/>
            </p:cNvSpPr>
            <p:nvPr/>
          </p:nvSpPr>
          <p:spPr bwMode="auto">
            <a:xfrm>
              <a:off x="297" y="4080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425" name="Line 9"/>
            <p:cNvSpPr>
              <a:spLocks noChangeShapeType="1"/>
            </p:cNvSpPr>
            <p:nvPr/>
          </p:nvSpPr>
          <p:spPr bwMode="auto">
            <a:xfrm flipV="1">
              <a:off x="297" y="3168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426" name="Text Box 10"/>
            <p:cNvSpPr txBox="1">
              <a:spLocks noChangeArrowheads="1"/>
            </p:cNvSpPr>
            <p:nvPr/>
          </p:nvSpPr>
          <p:spPr bwMode="auto">
            <a:xfrm>
              <a:off x="48" y="3072"/>
              <a:ext cx="2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i="1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endParaRPr lang="ru-RU" sz="2400" i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27" name="Text Box 11"/>
            <p:cNvSpPr txBox="1">
              <a:spLocks noChangeArrowheads="1"/>
            </p:cNvSpPr>
            <p:nvPr/>
          </p:nvSpPr>
          <p:spPr bwMode="auto">
            <a:xfrm>
              <a:off x="1577" y="4080"/>
              <a:ext cx="76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ru-RU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区域</a:t>
              </a:r>
              <a:r>
                <a:rPr lang="zh-CN" alt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大小</a:t>
              </a:r>
              <a:endParaRPr lang="ru-RU" sz="20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28" name="Text Box 12"/>
            <p:cNvSpPr txBox="1">
              <a:spLocks noChangeArrowheads="1"/>
            </p:cNvSpPr>
            <p:nvPr/>
          </p:nvSpPr>
          <p:spPr bwMode="auto">
            <a:xfrm>
              <a:off x="1387" y="3055"/>
              <a:ext cx="56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图像</a:t>
              </a:r>
              <a:r>
                <a:rPr 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 1</a:t>
              </a:r>
              <a:endParaRPr lang="ru-RU" sz="20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29" name="Freeform 13"/>
            <p:cNvSpPr>
              <a:spLocks/>
            </p:cNvSpPr>
            <p:nvPr/>
          </p:nvSpPr>
          <p:spPr bwMode="auto">
            <a:xfrm>
              <a:off x="528" y="3368"/>
              <a:ext cx="1632" cy="568"/>
            </a:xfrm>
            <a:custGeom>
              <a:avLst/>
              <a:gdLst>
                <a:gd name="T0" fmla="*/ 0 w 1632"/>
                <a:gd name="T1" fmla="*/ 568 h 568"/>
                <a:gd name="T2" fmla="*/ 288 w 1632"/>
                <a:gd name="T3" fmla="*/ 40 h 568"/>
                <a:gd name="T4" fmla="*/ 912 w 1632"/>
                <a:gd name="T5" fmla="*/ 328 h 568"/>
                <a:gd name="T6" fmla="*/ 1392 w 1632"/>
                <a:gd name="T7" fmla="*/ 472 h 568"/>
                <a:gd name="T8" fmla="*/ 1632 w 1632"/>
                <a:gd name="T9" fmla="*/ 520 h 5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2"/>
                <a:gd name="T16" fmla="*/ 0 h 568"/>
                <a:gd name="T17" fmla="*/ 1632 w 1632"/>
                <a:gd name="T18" fmla="*/ 568 h 5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2" h="568">
                  <a:moveTo>
                    <a:pt x="0" y="568"/>
                  </a:moveTo>
                  <a:cubicBezTo>
                    <a:pt x="68" y="324"/>
                    <a:pt x="136" y="80"/>
                    <a:pt x="288" y="40"/>
                  </a:cubicBezTo>
                  <a:cubicBezTo>
                    <a:pt x="440" y="0"/>
                    <a:pt x="728" y="256"/>
                    <a:pt x="912" y="328"/>
                  </a:cubicBezTo>
                  <a:cubicBezTo>
                    <a:pt x="1096" y="400"/>
                    <a:pt x="1272" y="440"/>
                    <a:pt x="1392" y="472"/>
                  </a:cubicBezTo>
                  <a:cubicBezTo>
                    <a:pt x="1512" y="504"/>
                    <a:pt x="1572" y="512"/>
                    <a:pt x="1632" y="52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5391154" y="4556125"/>
            <a:ext cx="3638552" cy="2000250"/>
            <a:chOff x="3396" y="3072"/>
            <a:chExt cx="2292" cy="1260"/>
          </a:xfrm>
        </p:grpSpPr>
        <p:sp>
          <p:nvSpPr>
            <p:cNvPr id="102418" name="Line 15"/>
            <p:cNvSpPr>
              <a:spLocks noChangeShapeType="1"/>
            </p:cNvSpPr>
            <p:nvPr/>
          </p:nvSpPr>
          <p:spPr bwMode="auto">
            <a:xfrm>
              <a:off x="3645" y="4080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419" name="Line 16"/>
            <p:cNvSpPr>
              <a:spLocks noChangeShapeType="1"/>
            </p:cNvSpPr>
            <p:nvPr/>
          </p:nvSpPr>
          <p:spPr bwMode="auto">
            <a:xfrm flipV="1">
              <a:off x="3645" y="3168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420" name="Text Box 17"/>
            <p:cNvSpPr txBox="1">
              <a:spLocks noChangeArrowheads="1"/>
            </p:cNvSpPr>
            <p:nvPr/>
          </p:nvSpPr>
          <p:spPr bwMode="auto">
            <a:xfrm>
              <a:off x="3396" y="3072"/>
              <a:ext cx="2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i="1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endParaRPr lang="ru-RU" sz="2400" i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21" name="Text Box 18"/>
            <p:cNvSpPr txBox="1">
              <a:spLocks noChangeArrowheads="1"/>
            </p:cNvSpPr>
            <p:nvPr/>
          </p:nvSpPr>
          <p:spPr bwMode="auto">
            <a:xfrm>
              <a:off x="4925" y="4080"/>
              <a:ext cx="76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区域大小</a:t>
              </a:r>
              <a:endParaRPr lang="ru-RU" sz="20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22" name="Text Box 19"/>
            <p:cNvSpPr txBox="1">
              <a:spLocks noChangeArrowheads="1"/>
            </p:cNvSpPr>
            <p:nvPr/>
          </p:nvSpPr>
          <p:spPr bwMode="auto">
            <a:xfrm>
              <a:off x="4843" y="3103"/>
              <a:ext cx="56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图像</a:t>
              </a:r>
              <a:r>
                <a:rPr lang="en-US" sz="2000" dirty="0">
                  <a:solidFill>
                    <a:srgbClr val="009900"/>
                  </a:solidFill>
                  <a:latin typeface="Times New Roman" pitchFamily="18" charset="0"/>
                  <a:cs typeface="Times New Roman" pitchFamily="18" charset="0"/>
                </a:rPr>
                <a:t> 2</a:t>
              </a:r>
              <a:endParaRPr lang="ru-RU" sz="20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423" name="Freeform 20"/>
            <p:cNvSpPr>
              <a:spLocks/>
            </p:cNvSpPr>
            <p:nvPr/>
          </p:nvSpPr>
          <p:spPr bwMode="auto">
            <a:xfrm>
              <a:off x="3744" y="3368"/>
              <a:ext cx="864" cy="568"/>
            </a:xfrm>
            <a:custGeom>
              <a:avLst/>
              <a:gdLst>
                <a:gd name="T0" fmla="*/ 0 w 1632"/>
                <a:gd name="T1" fmla="*/ 568 h 568"/>
                <a:gd name="T2" fmla="*/ 42 w 1632"/>
                <a:gd name="T3" fmla="*/ 40 h 568"/>
                <a:gd name="T4" fmla="*/ 136 w 1632"/>
                <a:gd name="T5" fmla="*/ 328 h 568"/>
                <a:gd name="T6" fmla="*/ 206 w 1632"/>
                <a:gd name="T7" fmla="*/ 472 h 568"/>
                <a:gd name="T8" fmla="*/ 242 w 1632"/>
                <a:gd name="T9" fmla="*/ 520 h 5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2"/>
                <a:gd name="T16" fmla="*/ 0 h 568"/>
                <a:gd name="T17" fmla="*/ 1632 w 1632"/>
                <a:gd name="T18" fmla="*/ 568 h 5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2" h="568">
                  <a:moveTo>
                    <a:pt x="0" y="568"/>
                  </a:moveTo>
                  <a:cubicBezTo>
                    <a:pt x="68" y="324"/>
                    <a:pt x="136" y="80"/>
                    <a:pt x="288" y="40"/>
                  </a:cubicBezTo>
                  <a:cubicBezTo>
                    <a:pt x="440" y="0"/>
                    <a:pt x="728" y="256"/>
                    <a:pt x="912" y="328"/>
                  </a:cubicBezTo>
                  <a:cubicBezTo>
                    <a:pt x="1096" y="400"/>
                    <a:pt x="1272" y="440"/>
                    <a:pt x="1392" y="472"/>
                  </a:cubicBezTo>
                  <a:cubicBezTo>
                    <a:pt x="1512" y="504"/>
                    <a:pt x="1572" y="512"/>
                    <a:pt x="1632" y="52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16085" name="Oval 21"/>
          <p:cNvSpPr>
            <a:spLocks noChangeArrowheads="1"/>
          </p:cNvSpPr>
          <p:nvPr/>
        </p:nvSpPr>
        <p:spPr bwMode="auto">
          <a:xfrm>
            <a:off x="1295400" y="5029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16086" name="Oval 22"/>
          <p:cNvSpPr>
            <a:spLocks noChangeArrowheads="1"/>
          </p:cNvSpPr>
          <p:nvPr/>
        </p:nvSpPr>
        <p:spPr bwMode="auto">
          <a:xfrm>
            <a:off x="6157913" y="5000625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16087" name="Rectangle 23"/>
          <p:cNvSpPr>
            <a:spLocks noChangeArrowheads="1"/>
          </p:cNvSpPr>
          <p:nvPr/>
        </p:nvSpPr>
        <p:spPr bwMode="auto">
          <a:xfrm>
            <a:off x="1676400" y="1751013"/>
            <a:ext cx="56546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solidFill>
                  <a:srgbClr val="000000"/>
                </a:solidFill>
                <a:cs typeface="Times New Roman" pitchFamily="18" charset="0"/>
              </a:rPr>
              <a:t>取函数的局部最大值</a:t>
            </a:r>
            <a:endParaRPr lang="ru-RU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16088" name="Rectangle 24"/>
          <p:cNvSpPr>
            <a:spLocks noChangeArrowheads="1"/>
          </p:cNvSpPr>
          <p:nvPr/>
        </p:nvSpPr>
        <p:spPr bwMode="auto">
          <a:xfrm>
            <a:off x="1676401" y="2386013"/>
            <a:ext cx="6553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sz="2400" dirty="0" err="1">
                <a:solidFill>
                  <a:srgbClr val="000000"/>
                </a:solidFill>
                <a:cs typeface="Arial" pitchFamily="34" charset="0"/>
              </a:rPr>
              <a:t>观察</a:t>
            </a:r>
            <a:r>
              <a:rPr lang="zh-CN" altLang="en-US" sz="2400" dirty="0">
                <a:solidFill>
                  <a:srgbClr val="000000"/>
                </a:solidFill>
                <a:cs typeface="Arial" pitchFamily="34" charset="0"/>
              </a:rPr>
              <a:t>可知：有关区域大小的函数，极值点具有尺度不变性</a:t>
            </a:r>
            <a:endParaRPr lang="en-US" altLang="zh-CN" sz="24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219200" y="5181600"/>
            <a:ext cx="404813" cy="1371600"/>
            <a:chOff x="768" y="3456"/>
            <a:chExt cx="255" cy="864"/>
          </a:xfrm>
        </p:grpSpPr>
        <p:sp>
          <p:nvSpPr>
            <p:cNvPr id="102416" name="Line 26"/>
            <p:cNvSpPr>
              <a:spLocks noChangeShapeType="1"/>
            </p:cNvSpPr>
            <p:nvPr/>
          </p:nvSpPr>
          <p:spPr bwMode="auto">
            <a:xfrm>
              <a:off x="864" y="3456"/>
              <a:ext cx="0" cy="62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417" name="Text Box 27"/>
            <p:cNvSpPr txBox="1">
              <a:spLocks noChangeArrowheads="1"/>
            </p:cNvSpPr>
            <p:nvPr/>
          </p:nvSpPr>
          <p:spPr bwMode="auto">
            <a:xfrm>
              <a:off x="768" y="4032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aseline="-25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ru-RU" sz="2400" baseline="-25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6096000" y="5181600"/>
            <a:ext cx="404813" cy="1371600"/>
            <a:chOff x="3840" y="3456"/>
            <a:chExt cx="255" cy="864"/>
          </a:xfrm>
        </p:grpSpPr>
        <p:sp>
          <p:nvSpPr>
            <p:cNvPr id="102414" name="Line 29"/>
            <p:cNvSpPr>
              <a:spLocks noChangeShapeType="1"/>
            </p:cNvSpPr>
            <p:nvPr/>
          </p:nvSpPr>
          <p:spPr bwMode="auto">
            <a:xfrm>
              <a:off x="3936" y="3456"/>
              <a:ext cx="0" cy="62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415" name="Text Box 30"/>
            <p:cNvSpPr txBox="1">
              <a:spLocks noChangeArrowheads="1"/>
            </p:cNvSpPr>
            <p:nvPr/>
          </p:nvSpPr>
          <p:spPr bwMode="auto">
            <a:xfrm>
              <a:off x="3840" y="4032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aseline="-25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lang="ru-RU" sz="2400" baseline="-25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16095" name="Text Box 31"/>
          <p:cNvSpPr txBox="1">
            <a:spLocks noChangeArrowheads="1"/>
          </p:cNvSpPr>
          <p:nvPr/>
        </p:nvSpPr>
        <p:spPr bwMode="auto">
          <a:xfrm>
            <a:off x="1447800" y="3352800"/>
            <a:ext cx="7011988" cy="95410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dirty="0" err="1">
                <a:solidFill>
                  <a:srgbClr val="000000"/>
                </a:solidFill>
                <a:cs typeface="Arial" pitchFamily="34" charset="0"/>
              </a:rPr>
              <a:t>更重要的是</a:t>
            </a: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：这个尺度不变区域大小可以在各个图像独立确定</a:t>
            </a:r>
            <a:endParaRPr lang="ru-RU" altLang="zh-CN" sz="2800" dirty="0">
              <a:solidFill>
                <a:srgbClr val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86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85" grpId="0" animBg="1"/>
      <p:bldP spid="216086" grpId="0" animBg="1"/>
      <p:bldP spid="216087" grpId="0" autoUpdateAnimBg="0"/>
      <p:bldP spid="216088" grpId="0" autoUpdateAnimBg="0"/>
      <p:bldP spid="216095" grpId="0" animBg="1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de-CH" dirty="0"/>
          </a:p>
        </p:txBody>
      </p:sp>
      <p:sp>
        <p:nvSpPr>
          <p:cNvPr id="9222" name="Content Placeholder 2"/>
          <p:cNvSpPr>
            <a:spLocks noGrp="1"/>
          </p:cNvSpPr>
          <p:nvPr>
            <p:ph idx="4294967295"/>
          </p:nvPr>
        </p:nvSpPr>
        <p:spPr>
          <a:xfrm>
            <a:off x="457200" y="1177454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/>
              <a:t>响应函数随尺度变化</a:t>
            </a:r>
            <a:endParaRPr lang="de-CH" dirty="0"/>
          </a:p>
        </p:txBody>
      </p:sp>
      <p:sp>
        <p:nvSpPr>
          <p:cNvPr id="9223" name="Slide Number Placeholder 3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CF70BF58-EF61-444A-A8D3-5E350FFC8B9E}" type="slidenum">
              <a:rPr lang="de-DE" sz="1400" smtClean="0">
                <a:solidFill>
                  <a:srgbClr val="00000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68</a:t>
            </a:fld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9224" name="Footer Placeholder 4"/>
          <p:cNvSpPr txBox="1">
            <a:spLocks noGrp="1"/>
          </p:cNvSpPr>
          <p:nvPr/>
        </p:nvSpPr>
        <p:spPr bwMode="auto">
          <a:xfrm>
            <a:off x="2376488" y="6553200"/>
            <a:ext cx="457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dirty="0">
                <a:solidFill>
                  <a:srgbClr val="000000"/>
                </a:solidFill>
              </a:rPr>
              <a:t>K. </a:t>
            </a:r>
            <a:r>
              <a:rPr lang="de-DE" sz="1200" dirty="0" err="1">
                <a:solidFill>
                  <a:srgbClr val="000000"/>
                </a:solidFill>
              </a:rPr>
              <a:t>Grauman</a:t>
            </a:r>
            <a:r>
              <a:rPr lang="de-DE" sz="1200" dirty="0">
                <a:solidFill>
                  <a:srgbClr val="000000"/>
                </a:solidFill>
              </a:rPr>
              <a:t>, B. Leibe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914400" y="1833562"/>
            <a:ext cx="6846887" cy="4719638"/>
            <a:chOff x="1042988" y="1952625"/>
            <a:chExt cx="6846887" cy="4718932"/>
          </a:xfrm>
        </p:grpSpPr>
        <p:graphicFrame>
          <p:nvGraphicFramePr>
            <p:cNvPr id="9218" name="Object 2"/>
            <p:cNvGraphicFramePr>
              <a:graphicFrameLocks noChangeAspect="1"/>
            </p:cNvGraphicFramePr>
            <p:nvPr/>
          </p:nvGraphicFramePr>
          <p:xfrm>
            <a:off x="2093913" y="6390569"/>
            <a:ext cx="1038225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3" name="Equation" r:id="rId4" imgW="901440" imgH="241200" progId="Equation.3">
                    <p:embed/>
                  </p:oleObj>
                </mc:Choice>
                <mc:Fallback>
                  <p:oleObj name="Equation" r:id="rId4" imgW="901440" imgH="241200" progId="Equation.3">
                    <p:embed/>
                    <p:pic>
                      <p:nvPicPr>
                        <p:cNvPr id="921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913" y="6390569"/>
                          <a:ext cx="1038225" cy="277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226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304925" y="4895850"/>
              <a:ext cx="2619375" cy="14859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9227" name="Picture 6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42988" y="1952625"/>
              <a:ext cx="3313112" cy="2649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8" name="Picture 7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265738" y="1989138"/>
              <a:ext cx="2619375" cy="2663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29" name="Rectangle 8"/>
            <p:cNvSpPr>
              <a:spLocks noChangeArrowheads="1"/>
            </p:cNvSpPr>
            <p:nvPr/>
          </p:nvSpPr>
          <p:spPr bwMode="auto">
            <a:xfrm>
              <a:off x="1906588" y="2601913"/>
              <a:ext cx="144462" cy="142875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5821363" y="2393950"/>
              <a:ext cx="73025" cy="73025"/>
              <a:chOff x="1292" y="2205"/>
              <a:chExt cx="46" cy="46"/>
            </a:xfrm>
          </p:grpSpPr>
          <p:sp>
            <p:nvSpPr>
              <p:cNvPr id="9242" name="Line 10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9243" name="Line 11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943100" y="2636838"/>
              <a:ext cx="73025" cy="73025"/>
              <a:chOff x="1292" y="2205"/>
              <a:chExt cx="46" cy="46"/>
            </a:xfrm>
          </p:grpSpPr>
          <p:sp>
            <p:nvSpPr>
              <p:cNvPr id="9240" name="Line 13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9241" name="Line 14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pic>
          <p:nvPicPr>
            <p:cNvPr id="9232" name="Picture 19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327650" y="4868863"/>
              <a:ext cx="2562225" cy="14287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9233" name="Rectangle 20"/>
            <p:cNvSpPr>
              <a:spLocks noChangeArrowheads="1"/>
            </p:cNvSpPr>
            <p:nvPr/>
          </p:nvSpPr>
          <p:spPr bwMode="auto">
            <a:xfrm>
              <a:off x="5472113" y="4941888"/>
              <a:ext cx="2303462" cy="1116012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aphicFrame>
          <p:nvGraphicFramePr>
            <p:cNvPr id="9219" name="Object 3"/>
            <p:cNvGraphicFramePr>
              <a:graphicFrameLocks noChangeAspect="1"/>
            </p:cNvGraphicFramePr>
            <p:nvPr/>
          </p:nvGraphicFramePr>
          <p:xfrm>
            <a:off x="5953125" y="6336594"/>
            <a:ext cx="130175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4" name="Equation" r:id="rId10" imgW="939600" imgH="241200" progId="Equation.3">
                    <p:embed/>
                  </p:oleObj>
                </mc:Choice>
                <mc:Fallback>
                  <p:oleObj name="Equation" r:id="rId10" imgW="939600" imgH="241200" progId="Equation.3">
                    <p:embed/>
                    <p:pic>
                      <p:nvPicPr>
                        <p:cNvPr id="921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3125" y="6336594"/>
                          <a:ext cx="1301750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4" name="Rectangle 22"/>
            <p:cNvSpPr>
              <a:spLocks noChangeArrowheads="1"/>
            </p:cNvSpPr>
            <p:nvPr/>
          </p:nvSpPr>
          <p:spPr bwMode="auto">
            <a:xfrm>
              <a:off x="1511300" y="4951413"/>
              <a:ext cx="2305050" cy="1150937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9235" name="Line 16"/>
            <p:cNvSpPr>
              <a:spLocks noChangeShapeType="1"/>
            </p:cNvSpPr>
            <p:nvPr/>
          </p:nvSpPr>
          <p:spPr bwMode="auto">
            <a:xfrm flipH="1">
              <a:off x="1584325" y="2816225"/>
              <a:ext cx="395288" cy="230505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9236" name="Rectangle 24"/>
            <p:cNvSpPr>
              <a:spLocks noChangeArrowheads="1"/>
            </p:cNvSpPr>
            <p:nvPr/>
          </p:nvSpPr>
          <p:spPr bwMode="auto">
            <a:xfrm>
              <a:off x="5786438" y="2359025"/>
              <a:ext cx="144462" cy="142875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9237" name="Line 25"/>
            <p:cNvSpPr>
              <a:spLocks noChangeShapeType="1"/>
            </p:cNvSpPr>
            <p:nvPr/>
          </p:nvSpPr>
          <p:spPr bwMode="auto">
            <a:xfrm flipH="1">
              <a:off x="5543550" y="2528888"/>
              <a:ext cx="360363" cy="3240087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9238" name="Oval 26"/>
            <p:cNvSpPr>
              <a:spLocks noChangeArrowheads="1"/>
            </p:cNvSpPr>
            <p:nvPr/>
          </p:nvSpPr>
          <p:spPr bwMode="auto">
            <a:xfrm>
              <a:off x="1511300" y="53006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9239" name="Oval 27"/>
            <p:cNvSpPr>
              <a:spLocks noChangeArrowheads="1"/>
            </p:cNvSpPr>
            <p:nvPr/>
          </p:nvSpPr>
          <p:spPr bwMode="auto">
            <a:xfrm>
              <a:off x="5543550" y="5842000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0846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K. Grauman, B. Leibe</a:t>
            </a:r>
          </a:p>
        </p:txBody>
      </p:sp>
      <p:sp>
        <p:nvSpPr>
          <p:cNvPr id="10245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de-CH" dirty="0"/>
          </a:p>
        </p:txBody>
      </p:sp>
      <p:sp>
        <p:nvSpPr>
          <p:cNvPr id="10246" name="Content Placeholder 2"/>
          <p:cNvSpPr>
            <a:spLocks noGrp="1"/>
          </p:cNvSpPr>
          <p:nvPr>
            <p:ph idx="4294967295"/>
          </p:nvPr>
        </p:nvSpPr>
        <p:spPr>
          <a:xfrm>
            <a:off x="457200" y="1288771"/>
            <a:ext cx="8229600" cy="4525963"/>
          </a:xfrm>
        </p:spPr>
        <p:txBody>
          <a:bodyPr/>
          <a:lstStyle/>
          <a:p>
            <a:r>
              <a:rPr lang="zh-CN" altLang="en-US" dirty="0"/>
              <a:t>响应函数随尺度变化</a:t>
            </a:r>
            <a:endParaRPr lang="de-CH" altLang="zh-CN" dirty="0"/>
          </a:p>
        </p:txBody>
      </p:sp>
      <p:sp>
        <p:nvSpPr>
          <p:cNvPr id="10247" name="Slide Number Placeholder 3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98FEDBBD-03C6-4AE0-992C-6DA7542ECA0D}" type="slidenum">
              <a:rPr lang="de-DE" sz="1400" smtClean="0">
                <a:solidFill>
                  <a:srgbClr val="00000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69</a:t>
            </a:fld>
            <a:endParaRPr lang="de-DE" sz="1400">
              <a:solidFill>
                <a:srgbClr val="000000"/>
              </a:solidFill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990600" y="1916642"/>
            <a:ext cx="6846887" cy="4721225"/>
            <a:chOff x="1042988" y="1952625"/>
            <a:chExt cx="6846887" cy="4720903"/>
          </a:xfrm>
        </p:grpSpPr>
        <p:graphicFrame>
          <p:nvGraphicFramePr>
            <p:cNvPr id="10242" name="Object 2"/>
            <p:cNvGraphicFramePr>
              <a:graphicFrameLocks noChangeAspect="1"/>
            </p:cNvGraphicFramePr>
            <p:nvPr/>
          </p:nvGraphicFramePr>
          <p:xfrm>
            <a:off x="2093913" y="6392540"/>
            <a:ext cx="1038225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37" name="Equation" r:id="rId4" imgW="901440" imgH="241200" progId="Equation.3">
                    <p:embed/>
                  </p:oleObj>
                </mc:Choice>
                <mc:Fallback>
                  <p:oleObj name="Equation" r:id="rId4" imgW="901440" imgH="241200" progId="Equation.3">
                    <p:embed/>
                    <p:pic>
                      <p:nvPicPr>
                        <p:cNvPr id="1024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913" y="6392540"/>
                          <a:ext cx="1038225" cy="277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250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304925" y="4895850"/>
              <a:ext cx="2619375" cy="14859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0251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42988" y="1952625"/>
              <a:ext cx="3313112" cy="2649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52" name="Picture 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265738" y="1989138"/>
              <a:ext cx="2619375" cy="2663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3" name="Rectangle 7"/>
            <p:cNvSpPr>
              <a:spLocks noChangeArrowheads="1"/>
            </p:cNvSpPr>
            <p:nvPr/>
          </p:nvSpPr>
          <p:spPr bwMode="auto">
            <a:xfrm>
              <a:off x="1871663" y="2573338"/>
              <a:ext cx="190500" cy="206375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5821363" y="2393950"/>
              <a:ext cx="73025" cy="73025"/>
              <a:chOff x="1292" y="2205"/>
              <a:chExt cx="46" cy="46"/>
            </a:xfrm>
          </p:grpSpPr>
          <p:sp>
            <p:nvSpPr>
              <p:cNvPr id="10268" name="Line 9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0269" name="Line 10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943100" y="2636838"/>
              <a:ext cx="73025" cy="73025"/>
              <a:chOff x="1292" y="2205"/>
              <a:chExt cx="46" cy="46"/>
            </a:xfrm>
          </p:grpSpPr>
          <p:sp>
            <p:nvSpPr>
              <p:cNvPr id="10266" name="Line 12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0267" name="Line 13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pic>
          <p:nvPicPr>
            <p:cNvPr id="10256" name="Picture 14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327650" y="4868863"/>
              <a:ext cx="2562225" cy="14287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0257" name="Rectangle 15"/>
            <p:cNvSpPr>
              <a:spLocks noChangeArrowheads="1"/>
            </p:cNvSpPr>
            <p:nvPr/>
          </p:nvSpPr>
          <p:spPr bwMode="auto">
            <a:xfrm>
              <a:off x="5472113" y="4941888"/>
              <a:ext cx="2303462" cy="1116012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aphicFrame>
          <p:nvGraphicFramePr>
            <p:cNvPr id="10243" name="Object 3"/>
            <p:cNvGraphicFramePr>
              <a:graphicFrameLocks noChangeAspect="1"/>
            </p:cNvGraphicFramePr>
            <p:nvPr/>
          </p:nvGraphicFramePr>
          <p:xfrm>
            <a:off x="5953125" y="6338565"/>
            <a:ext cx="130175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38" name="Equation" r:id="rId10" imgW="939600" imgH="241200" progId="Equation.3">
                    <p:embed/>
                  </p:oleObj>
                </mc:Choice>
                <mc:Fallback>
                  <p:oleObj name="Equation" r:id="rId10" imgW="939600" imgH="241200" progId="Equation.3">
                    <p:embed/>
                    <p:pic>
                      <p:nvPicPr>
                        <p:cNvPr id="1024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3125" y="6338565"/>
                          <a:ext cx="1301750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8" name="Rectangle 17"/>
            <p:cNvSpPr>
              <a:spLocks noChangeArrowheads="1"/>
            </p:cNvSpPr>
            <p:nvPr/>
          </p:nvSpPr>
          <p:spPr bwMode="auto">
            <a:xfrm>
              <a:off x="1511300" y="4951413"/>
              <a:ext cx="2305050" cy="1150937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 flipH="1">
              <a:off x="1619250" y="2816225"/>
              <a:ext cx="360363" cy="2160588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0260" name="Rectangle 20"/>
            <p:cNvSpPr>
              <a:spLocks noChangeArrowheads="1"/>
            </p:cNvSpPr>
            <p:nvPr/>
          </p:nvSpPr>
          <p:spPr bwMode="auto">
            <a:xfrm>
              <a:off x="5751513" y="2330450"/>
              <a:ext cx="190500" cy="206375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0261" name="Line 21"/>
            <p:cNvSpPr>
              <a:spLocks noChangeShapeType="1"/>
            </p:cNvSpPr>
            <p:nvPr/>
          </p:nvSpPr>
          <p:spPr bwMode="auto">
            <a:xfrm flipH="1">
              <a:off x="5688013" y="2528888"/>
              <a:ext cx="215900" cy="2916237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0262" name="Oval 22"/>
            <p:cNvSpPr>
              <a:spLocks noChangeArrowheads="1"/>
            </p:cNvSpPr>
            <p:nvPr/>
          </p:nvSpPr>
          <p:spPr bwMode="auto">
            <a:xfrm>
              <a:off x="1511300" y="53006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0263" name="Oval 23"/>
            <p:cNvSpPr>
              <a:spLocks noChangeArrowheads="1"/>
            </p:cNvSpPr>
            <p:nvPr/>
          </p:nvSpPr>
          <p:spPr bwMode="auto">
            <a:xfrm>
              <a:off x="5534025" y="58324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0264" name="Oval 24"/>
            <p:cNvSpPr>
              <a:spLocks noChangeArrowheads="1"/>
            </p:cNvSpPr>
            <p:nvPr/>
          </p:nvSpPr>
          <p:spPr bwMode="auto">
            <a:xfrm>
              <a:off x="1619250" y="501332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0265" name="Oval 25"/>
            <p:cNvSpPr>
              <a:spLocks noChangeArrowheads="1"/>
            </p:cNvSpPr>
            <p:nvPr/>
          </p:nvSpPr>
          <p:spPr bwMode="auto">
            <a:xfrm>
              <a:off x="5651500" y="55530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57100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475205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K. Grauman, B. Leibe</a:t>
            </a:r>
          </a:p>
        </p:txBody>
      </p:sp>
      <p:sp>
        <p:nvSpPr>
          <p:cNvPr id="11269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de-CH" dirty="0"/>
          </a:p>
        </p:txBody>
      </p:sp>
      <p:sp>
        <p:nvSpPr>
          <p:cNvPr id="11270" name="Content Placeholder 2"/>
          <p:cNvSpPr>
            <a:spLocks noGrp="1"/>
          </p:cNvSpPr>
          <p:nvPr>
            <p:ph idx="4294967295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zh-CN" altLang="en-US" dirty="0"/>
              <a:t>响应函数随尺度变化</a:t>
            </a:r>
            <a:endParaRPr lang="de-CH" altLang="zh-CN" dirty="0"/>
          </a:p>
          <a:p>
            <a:pPr marL="0" indent="0" eaLnBrk="1" hangingPunct="1">
              <a:buNone/>
            </a:pPr>
            <a:endParaRPr lang="de-CH" dirty="0"/>
          </a:p>
        </p:txBody>
      </p:sp>
      <p:sp>
        <p:nvSpPr>
          <p:cNvPr id="11271" name="Slide Number Placeholder 3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C64D9182-D7D8-43ED-A5F9-FDD93D15A792}" type="slidenum">
              <a:rPr lang="de-DE" sz="1400" smtClean="0">
                <a:solidFill>
                  <a:srgbClr val="00000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70</a:t>
            </a:fld>
            <a:endParaRPr lang="de-DE" sz="1400">
              <a:solidFill>
                <a:srgbClr val="000000"/>
              </a:solidFill>
            </a:endParaRP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1066800" y="1981200"/>
            <a:ext cx="6846887" cy="4721225"/>
            <a:chOff x="1042988" y="1952625"/>
            <a:chExt cx="6846887" cy="4720903"/>
          </a:xfrm>
        </p:grpSpPr>
        <p:graphicFrame>
          <p:nvGraphicFramePr>
            <p:cNvPr id="11266" name="Object 4"/>
            <p:cNvGraphicFramePr>
              <a:graphicFrameLocks noChangeAspect="1"/>
            </p:cNvGraphicFramePr>
            <p:nvPr/>
          </p:nvGraphicFramePr>
          <p:xfrm>
            <a:off x="2093913" y="6392540"/>
            <a:ext cx="1038225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61" name="Equation" r:id="rId4" imgW="901440" imgH="241200" progId="Equation.3">
                    <p:embed/>
                  </p:oleObj>
                </mc:Choice>
                <mc:Fallback>
                  <p:oleObj name="Equation" r:id="rId4" imgW="901440" imgH="241200" progId="Equation.3">
                    <p:embed/>
                    <p:pic>
                      <p:nvPicPr>
                        <p:cNvPr id="1126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913" y="6392540"/>
                          <a:ext cx="1038225" cy="277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1274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304925" y="4895850"/>
              <a:ext cx="2619375" cy="14859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1275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42988" y="1952625"/>
              <a:ext cx="3313112" cy="2649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6" name="Picture 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265738" y="1989138"/>
              <a:ext cx="2619375" cy="2663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7" name="Rectangle 7"/>
            <p:cNvSpPr>
              <a:spLocks noChangeArrowheads="1"/>
            </p:cNvSpPr>
            <p:nvPr/>
          </p:nvSpPr>
          <p:spPr bwMode="auto">
            <a:xfrm>
              <a:off x="1843088" y="2535238"/>
              <a:ext cx="260350" cy="269875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5821363" y="2393950"/>
              <a:ext cx="73025" cy="73025"/>
              <a:chOff x="1292" y="2205"/>
              <a:chExt cx="46" cy="46"/>
            </a:xfrm>
          </p:grpSpPr>
          <p:sp>
            <p:nvSpPr>
              <p:cNvPr id="11294" name="Line 9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1295" name="Line 10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943100" y="2636838"/>
              <a:ext cx="73025" cy="73025"/>
              <a:chOff x="1292" y="2205"/>
              <a:chExt cx="46" cy="46"/>
            </a:xfrm>
          </p:grpSpPr>
          <p:sp>
            <p:nvSpPr>
              <p:cNvPr id="11292" name="Line 12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1293" name="Line 13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pic>
          <p:nvPicPr>
            <p:cNvPr id="11280" name="Picture 14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327650" y="4868863"/>
              <a:ext cx="2562225" cy="14287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1281" name="Rectangle 15"/>
            <p:cNvSpPr>
              <a:spLocks noChangeArrowheads="1"/>
            </p:cNvSpPr>
            <p:nvPr/>
          </p:nvSpPr>
          <p:spPr bwMode="auto">
            <a:xfrm>
              <a:off x="5472113" y="4941888"/>
              <a:ext cx="2303462" cy="1116012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aphicFrame>
          <p:nvGraphicFramePr>
            <p:cNvPr id="11267" name="Object 5"/>
            <p:cNvGraphicFramePr>
              <a:graphicFrameLocks noChangeAspect="1"/>
            </p:cNvGraphicFramePr>
            <p:nvPr/>
          </p:nvGraphicFramePr>
          <p:xfrm>
            <a:off x="5953125" y="6338565"/>
            <a:ext cx="130175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62" name="Equation" r:id="rId10" imgW="939600" imgH="241200" progId="Equation.3">
                    <p:embed/>
                  </p:oleObj>
                </mc:Choice>
                <mc:Fallback>
                  <p:oleObj name="Equation" r:id="rId10" imgW="939600" imgH="241200" progId="Equation.3">
                    <p:embed/>
                    <p:pic>
                      <p:nvPicPr>
                        <p:cNvPr id="1126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3125" y="6338565"/>
                          <a:ext cx="1301750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2" name="Rectangle 17"/>
            <p:cNvSpPr>
              <a:spLocks noChangeArrowheads="1"/>
            </p:cNvSpPr>
            <p:nvPr/>
          </p:nvSpPr>
          <p:spPr bwMode="auto">
            <a:xfrm>
              <a:off x="1511300" y="4951413"/>
              <a:ext cx="2305050" cy="1150937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1283" name="Line 19"/>
            <p:cNvSpPr>
              <a:spLocks noChangeShapeType="1"/>
            </p:cNvSpPr>
            <p:nvPr/>
          </p:nvSpPr>
          <p:spPr bwMode="auto">
            <a:xfrm flipH="1">
              <a:off x="1763713" y="2816225"/>
              <a:ext cx="215900" cy="2052638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1284" name="Rectangle 20"/>
            <p:cNvSpPr>
              <a:spLocks noChangeArrowheads="1"/>
            </p:cNvSpPr>
            <p:nvPr/>
          </p:nvSpPr>
          <p:spPr bwMode="auto">
            <a:xfrm>
              <a:off x="5722938" y="2292350"/>
              <a:ext cx="260350" cy="269875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1285" name="Line 21"/>
            <p:cNvSpPr>
              <a:spLocks noChangeShapeType="1"/>
            </p:cNvSpPr>
            <p:nvPr/>
          </p:nvSpPr>
          <p:spPr bwMode="auto">
            <a:xfrm flipH="1">
              <a:off x="5795963" y="2528888"/>
              <a:ext cx="107950" cy="2663825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1286" name="Oval 22"/>
            <p:cNvSpPr>
              <a:spLocks noChangeArrowheads="1"/>
            </p:cNvSpPr>
            <p:nvPr/>
          </p:nvSpPr>
          <p:spPr bwMode="auto">
            <a:xfrm>
              <a:off x="1511300" y="53006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1287" name="Oval 23"/>
            <p:cNvSpPr>
              <a:spLocks noChangeArrowheads="1"/>
            </p:cNvSpPr>
            <p:nvPr/>
          </p:nvSpPr>
          <p:spPr bwMode="auto">
            <a:xfrm>
              <a:off x="5534025" y="58324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1288" name="Oval 24"/>
            <p:cNvSpPr>
              <a:spLocks noChangeArrowheads="1"/>
            </p:cNvSpPr>
            <p:nvPr/>
          </p:nvSpPr>
          <p:spPr bwMode="auto">
            <a:xfrm>
              <a:off x="1619250" y="501332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1289" name="Oval 25"/>
            <p:cNvSpPr>
              <a:spLocks noChangeArrowheads="1"/>
            </p:cNvSpPr>
            <p:nvPr/>
          </p:nvSpPr>
          <p:spPr bwMode="auto">
            <a:xfrm>
              <a:off x="5651500" y="55530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1290" name="Oval 26"/>
            <p:cNvSpPr>
              <a:spLocks noChangeArrowheads="1"/>
            </p:cNvSpPr>
            <p:nvPr/>
          </p:nvSpPr>
          <p:spPr bwMode="auto">
            <a:xfrm>
              <a:off x="1727200" y="49307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1291" name="Oval 27"/>
            <p:cNvSpPr>
              <a:spLocks noChangeArrowheads="1"/>
            </p:cNvSpPr>
            <p:nvPr/>
          </p:nvSpPr>
          <p:spPr bwMode="auto">
            <a:xfrm>
              <a:off x="5795963" y="5300663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98709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14675" y="6483672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de-DE" dirty="0">
                <a:solidFill>
                  <a:srgbClr val="000000"/>
                </a:solidFill>
              </a:rPr>
              <a:t>K. </a:t>
            </a:r>
            <a:r>
              <a:rPr lang="de-DE" dirty="0" err="1">
                <a:solidFill>
                  <a:srgbClr val="000000"/>
                </a:solidFill>
              </a:rPr>
              <a:t>Grauman</a:t>
            </a:r>
            <a:r>
              <a:rPr lang="de-DE" dirty="0">
                <a:solidFill>
                  <a:srgbClr val="000000"/>
                </a:solidFill>
              </a:rPr>
              <a:t>, B. Leibe</a:t>
            </a:r>
          </a:p>
        </p:txBody>
      </p:sp>
      <p:sp>
        <p:nvSpPr>
          <p:cNvPr id="12293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de-CH" dirty="0"/>
          </a:p>
        </p:txBody>
      </p:sp>
      <p:sp>
        <p:nvSpPr>
          <p:cNvPr id="12294" name="Content Placeholder 2"/>
          <p:cNvSpPr>
            <a:spLocks noGrp="1"/>
          </p:cNvSpPr>
          <p:nvPr>
            <p:ph idx="4294967295"/>
          </p:nvPr>
        </p:nvSpPr>
        <p:spPr>
          <a:xfrm>
            <a:off x="447675" y="1273420"/>
            <a:ext cx="8229600" cy="4525963"/>
          </a:xfrm>
        </p:spPr>
        <p:txBody>
          <a:bodyPr/>
          <a:lstStyle/>
          <a:p>
            <a:r>
              <a:rPr lang="zh-CN" altLang="en-US" dirty="0"/>
              <a:t>响应函数随尺度变化</a:t>
            </a:r>
            <a:r>
              <a:rPr lang="en-US" dirty="0"/>
              <a:t> </a:t>
            </a:r>
            <a:endParaRPr lang="de-CH" dirty="0"/>
          </a:p>
          <a:p>
            <a:pPr eaLnBrk="1" hangingPunct="1"/>
            <a:endParaRPr lang="de-CH" dirty="0"/>
          </a:p>
        </p:txBody>
      </p:sp>
      <p:sp>
        <p:nvSpPr>
          <p:cNvPr id="12295" name="Slide Number Placeholder 3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AD3472A6-5873-458C-ABE2-339C3847ED57}" type="slidenum">
              <a:rPr lang="de-DE" sz="1400" smtClean="0">
                <a:solidFill>
                  <a:srgbClr val="00000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71</a:t>
            </a:fld>
            <a:endParaRPr lang="de-DE" sz="1400">
              <a:solidFill>
                <a:srgbClr val="000000"/>
              </a:solidFill>
            </a:endParaRPr>
          </a:p>
        </p:txBody>
      </p:sp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914400" y="1908175"/>
            <a:ext cx="6846887" cy="4721225"/>
            <a:chOff x="1042988" y="1952625"/>
            <a:chExt cx="6846887" cy="4720903"/>
          </a:xfrm>
        </p:grpSpPr>
        <p:graphicFrame>
          <p:nvGraphicFramePr>
            <p:cNvPr id="12290" name="Object 4"/>
            <p:cNvGraphicFramePr>
              <a:graphicFrameLocks noChangeAspect="1"/>
            </p:cNvGraphicFramePr>
            <p:nvPr/>
          </p:nvGraphicFramePr>
          <p:xfrm>
            <a:off x="2093913" y="6392540"/>
            <a:ext cx="1038225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85" name="Equation" r:id="rId4" imgW="901440" imgH="241200" progId="Equation.3">
                    <p:embed/>
                  </p:oleObj>
                </mc:Choice>
                <mc:Fallback>
                  <p:oleObj name="Equation" r:id="rId4" imgW="901440" imgH="241200" progId="Equation.3">
                    <p:embed/>
                    <p:pic>
                      <p:nvPicPr>
                        <p:cNvPr id="1229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913" y="6392540"/>
                          <a:ext cx="1038225" cy="277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2298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304925" y="4895850"/>
              <a:ext cx="2619375" cy="14859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2299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42988" y="1952625"/>
              <a:ext cx="3313112" cy="2649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0" name="Picture 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265738" y="1989138"/>
              <a:ext cx="2619375" cy="2663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01" name="Rectangle 7"/>
            <p:cNvSpPr>
              <a:spLocks noChangeArrowheads="1"/>
            </p:cNvSpPr>
            <p:nvPr/>
          </p:nvSpPr>
          <p:spPr bwMode="auto">
            <a:xfrm>
              <a:off x="1804988" y="2497138"/>
              <a:ext cx="325437" cy="344487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5821363" y="2393950"/>
              <a:ext cx="73025" cy="73025"/>
              <a:chOff x="1292" y="2205"/>
              <a:chExt cx="46" cy="46"/>
            </a:xfrm>
          </p:grpSpPr>
          <p:sp>
            <p:nvSpPr>
              <p:cNvPr id="12320" name="Line 9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2321" name="Line 10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943100" y="2636838"/>
              <a:ext cx="73025" cy="73025"/>
              <a:chOff x="1292" y="2205"/>
              <a:chExt cx="46" cy="46"/>
            </a:xfrm>
          </p:grpSpPr>
          <p:sp>
            <p:nvSpPr>
              <p:cNvPr id="12318" name="Line 12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2319" name="Line 13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pic>
          <p:nvPicPr>
            <p:cNvPr id="12304" name="Picture 14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327650" y="4868863"/>
              <a:ext cx="2562225" cy="14287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2305" name="Rectangle 15"/>
            <p:cNvSpPr>
              <a:spLocks noChangeArrowheads="1"/>
            </p:cNvSpPr>
            <p:nvPr/>
          </p:nvSpPr>
          <p:spPr bwMode="auto">
            <a:xfrm>
              <a:off x="5472113" y="4941888"/>
              <a:ext cx="2303462" cy="1116012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aphicFrame>
          <p:nvGraphicFramePr>
            <p:cNvPr id="12291" name="Object 5"/>
            <p:cNvGraphicFramePr>
              <a:graphicFrameLocks noChangeAspect="1"/>
            </p:cNvGraphicFramePr>
            <p:nvPr/>
          </p:nvGraphicFramePr>
          <p:xfrm>
            <a:off x="5953125" y="6338565"/>
            <a:ext cx="130175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86" name="Equation" r:id="rId10" imgW="939600" imgH="241200" progId="Equation.3">
                    <p:embed/>
                  </p:oleObj>
                </mc:Choice>
                <mc:Fallback>
                  <p:oleObj name="Equation" r:id="rId10" imgW="939600" imgH="241200" progId="Equation.3">
                    <p:embed/>
                    <p:pic>
                      <p:nvPicPr>
                        <p:cNvPr id="1229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3125" y="6338565"/>
                          <a:ext cx="1301750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Rectangle 17"/>
            <p:cNvSpPr>
              <a:spLocks noChangeArrowheads="1"/>
            </p:cNvSpPr>
            <p:nvPr/>
          </p:nvSpPr>
          <p:spPr bwMode="auto">
            <a:xfrm>
              <a:off x="1511300" y="4951413"/>
              <a:ext cx="2305050" cy="1150937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07" name="Line 19"/>
            <p:cNvSpPr>
              <a:spLocks noChangeShapeType="1"/>
            </p:cNvSpPr>
            <p:nvPr/>
          </p:nvSpPr>
          <p:spPr bwMode="auto">
            <a:xfrm flipH="1">
              <a:off x="1908175" y="2816225"/>
              <a:ext cx="71438" cy="2160588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5684838" y="2254250"/>
              <a:ext cx="325437" cy="344488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09" name="Line 21"/>
            <p:cNvSpPr>
              <a:spLocks noChangeShapeType="1"/>
            </p:cNvSpPr>
            <p:nvPr/>
          </p:nvSpPr>
          <p:spPr bwMode="auto">
            <a:xfrm>
              <a:off x="5903913" y="2528888"/>
              <a:ext cx="73025" cy="252095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2310" name="Oval 22"/>
            <p:cNvSpPr>
              <a:spLocks noChangeArrowheads="1"/>
            </p:cNvSpPr>
            <p:nvPr/>
          </p:nvSpPr>
          <p:spPr bwMode="auto">
            <a:xfrm>
              <a:off x="1511300" y="53006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11" name="Oval 23"/>
            <p:cNvSpPr>
              <a:spLocks noChangeArrowheads="1"/>
            </p:cNvSpPr>
            <p:nvPr/>
          </p:nvSpPr>
          <p:spPr bwMode="auto">
            <a:xfrm>
              <a:off x="5534025" y="58324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12" name="Oval 24"/>
            <p:cNvSpPr>
              <a:spLocks noChangeArrowheads="1"/>
            </p:cNvSpPr>
            <p:nvPr/>
          </p:nvSpPr>
          <p:spPr bwMode="auto">
            <a:xfrm>
              <a:off x="1584325" y="50847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13" name="Oval 25"/>
            <p:cNvSpPr>
              <a:spLocks noChangeArrowheads="1"/>
            </p:cNvSpPr>
            <p:nvPr/>
          </p:nvSpPr>
          <p:spPr bwMode="auto">
            <a:xfrm>
              <a:off x="5651500" y="55530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14" name="Oval 26"/>
            <p:cNvSpPr>
              <a:spLocks noChangeArrowheads="1"/>
            </p:cNvSpPr>
            <p:nvPr/>
          </p:nvSpPr>
          <p:spPr bwMode="auto">
            <a:xfrm>
              <a:off x="1727200" y="49307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15" name="Oval 27"/>
            <p:cNvSpPr>
              <a:spLocks noChangeArrowheads="1"/>
            </p:cNvSpPr>
            <p:nvPr/>
          </p:nvSpPr>
          <p:spPr bwMode="auto">
            <a:xfrm>
              <a:off x="5795963" y="5300663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16" name="Oval 28"/>
            <p:cNvSpPr>
              <a:spLocks noChangeArrowheads="1"/>
            </p:cNvSpPr>
            <p:nvPr/>
          </p:nvSpPr>
          <p:spPr bwMode="auto">
            <a:xfrm>
              <a:off x="5975350" y="51212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2317" name="Oval 29"/>
            <p:cNvSpPr>
              <a:spLocks noChangeArrowheads="1"/>
            </p:cNvSpPr>
            <p:nvPr/>
          </p:nvSpPr>
          <p:spPr bwMode="auto">
            <a:xfrm>
              <a:off x="1906588" y="5032375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3344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8963" y="6475942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de-DE" dirty="0">
                <a:solidFill>
                  <a:srgbClr val="000000"/>
                </a:solidFill>
              </a:rPr>
              <a:t>K. </a:t>
            </a:r>
            <a:r>
              <a:rPr lang="de-DE" dirty="0" err="1">
                <a:solidFill>
                  <a:srgbClr val="000000"/>
                </a:solidFill>
              </a:rPr>
              <a:t>Grauman</a:t>
            </a:r>
            <a:r>
              <a:rPr lang="de-DE" dirty="0">
                <a:solidFill>
                  <a:srgbClr val="000000"/>
                </a:solidFill>
              </a:rPr>
              <a:t>, B. Leibe</a:t>
            </a:r>
          </a:p>
        </p:txBody>
      </p:sp>
      <p:sp>
        <p:nvSpPr>
          <p:cNvPr id="13317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de-CH" dirty="0"/>
          </a:p>
        </p:txBody>
      </p:sp>
      <p:sp>
        <p:nvSpPr>
          <p:cNvPr id="13318" name="Content Placeholder 2"/>
          <p:cNvSpPr>
            <a:spLocks noGrp="1"/>
          </p:cNvSpPr>
          <p:nvPr>
            <p:ph idx="4294967295"/>
          </p:nvPr>
        </p:nvSpPr>
        <p:spPr>
          <a:xfrm>
            <a:off x="457200" y="1336665"/>
            <a:ext cx="8229600" cy="4525963"/>
          </a:xfrm>
        </p:spPr>
        <p:txBody>
          <a:bodyPr/>
          <a:lstStyle/>
          <a:p>
            <a:r>
              <a:rPr lang="zh-CN" altLang="en-US" dirty="0"/>
              <a:t>响应函数随尺度变化</a:t>
            </a:r>
            <a:endParaRPr lang="de-CH" altLang="zh-CN" dirty="0"/>
          </a:p>
        </p:txBody>
      </p:sp>
      <p:sp>
        <p:nvSpPr>
          <p:cNvPr id="13319" name="Slide Number Placeholder 3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779D7BA4-E48C-4A9D-AE1E-70FE83B26CA3}" type="slidenum">
              <a:rPr lang="de-DE" sz="1400" smtClean="0">
                <a:solidFill>
                  <a:srgbClr val="00000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72</a:t>
            </a:fld>
            <a:endParaRPr lang="de-DE" sz="1400">
              <a:solidFill>
                <a:srgbClr val="000000"/>
              </a:solidFill>
            </a:endParaRPr>
          </a:p>
        </p:txBody>
      </p:sp>
      <p:grpSp>
        <p:nvGrpSpPr>
          <p:cNvPr id="2" name="Group 101"/>
          <p:cNvGrpSpPr>
            <a:grpSpLocks/>
          </p:cNvGrpSpPr>
          <p:nvPr/>
        </p:nvGrpSpPr>
        <p:grpSpPr bwMode="auto">
          <a:xfrm>
            <a:off x="1066800" y="1955810"/>
            <a:ext cx="6846887" cy="4721225"/>
            <a:chOff x="1042988" y="1952625"/>
            <a:chExt cx="6846887" cy="4720903"/>
          </a:xfrm>
        </p:grpSpPr>
        <p:graphicFrame>
          <p:nvGraphicFramePr>
            <p:cNvPr id="13314" name="Object 4"/>
            <p:cNvGraphicFramePr>
              <a:graphicFrameLocks noChangeAspect="1"/>
            </p:cNvGraphicFramePr>
            <p:nvPr/>
          </p:nvGraphicFramePr>
          <p:xfrm>
            <a:off x="2093913" y="6392540"/>
            <a:ext cx="1038225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09" name="Equation" r:id="rId4" imgW="901440" imgH="241200" progId="Equation.3">
                    <p:embed/>
                  </p:oleObj>
                </mc:Choice>
                <mc:Fallback>
                  <p:oleObj name="Equation" r:id="rId4" imgW="901440" imgH="241200" progId="Equation.3">
                    <p:embed/>
                    <p:pic>
                      <p:nvPicPr>
                        <p:cNvPr id="1331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913" y="6392540"/>
                          <a:ext cx="1038225" cy="277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3322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304925" y="4895850"/>
              <a:ext cx="2619375" cy="14859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3323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42988" y="1952625"/>
              <a:ext cx="3313112" cy="2649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4" name="Picture 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265738" y="1989138"/>
              <a:ext cx="2619375" cy="2663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25" name="Rectangle 7"/>
            <p:cNvSpPr>
              <a:spLocks noChangeArrowheads="1"/>
            </p:cNvSpPr>
            <p:nvPr/>
          </p:nvSpPr>
          <p:spPr bwMode="auto">
            <a:xfrm>
              <a:off x="1481138" y="2217738"/>
              <a:ext cx="939800" cy="958850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5821363" y="2393950"/>
              <a:ext cx="73025" cy="73025"/>
              <a:chOff x="1292" y="2205"/>
              <a:chExt cx="46" cy="46"/>
            </a:xfrm>
          </p:grpSpPr>
          <p:sp>
            <p:nvSpPr>
              <p:cNvPr id="13363" name="Line 9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3364" name="Line 10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943100" y="2636838"/>
              <a:ext cx="73025" cy="73025"/>
              <a:chOff x="1292" y="2205"/>
              <a:chExt cx="46" cy="46"/>
            </a:xfrm>
          </p:grpSpPr>
          <p:sp>
            <p:nvSpPr>
              <p:cNvPr id="13361" name="Line 12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3362" name="Line 13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pic>
          <p:nvPicPr>
            <p:cNvPr id="13328" name="Picture 14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327650" y="4868863"/>
              <a:ext cx="2562225" cy="14287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3329" name="Rectangle 15"/>
            <p:cNvSpPr>
              <a:spLocks noChangeArrowheads="1"/>
            </p:cNvSpPr>
            <p:nvPr/>
          </p:nvSpPr>
          <p:spPr bwMode="auto">
            <a:xfrm>
              <a:off x="5472113" y="4941888"/>
              <a:ext cx="2303462" cy="1116012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aphicFrame>
          <p:nvGraphicFramePr>
            <p:cNvPr id="13315" name="Object 5"/>
            <p:cNvGraphicFramePr>
              <a:graphicFrameLocks noChangeAspect="1"/>
            </p:cNvGraphicFramePr>
            <p:nvPr/>
          </p:nvGraphicFramePr>
          <p:xfrm>
            <a:off x="5953125" y="6338565"/>
            <a:ext cx="130175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10" name="Equation" r:id="rId10" imgW="939600" imgH="241200" progId="Equation.3">
                    <p:embed/>
                  </p:oleObj>
                </mc:Choice>
                <mc:Fallback>
                  <p:oleObj name="Equation" r:id="rId10" imgW="939600" imgH="241200" progId="Equation.3">
                    <p:embed/>
                    <p:pic>
                      <p:nvPicPr>
                        <p:cNvPr id="1331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3125" y="6338565"/>
                          <a:ext cx="1301750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0" name="Rectangle 17"/>
            <p:cNvSpPr>
              <a:spLocks noChangeArrowheads="1"/>
            </p:cNvSpPr>
            <p:nvPr/>
          </p:nvSpPr>
          <p:spPr bwMode="auto">
            <a:xfrm>
              <a:off x="1511300" y="4951413"/>
              <a:ext cx="2305050" cy="1150937"/>
            </a:xfrm>
            <a:prstGeom prst="rect">
              <a:avLst/>
            </a:prstGeom>
            <a:solidFill>
              <a:schemeClr val="tx1"/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31" name="Line 19"/>
            <p:cNvSpPr>
              <a:spLocks noChangeShapeType="1"/>
            </p:cNvSpPr>
            <p:nvPr/>
          </p:nvSpPr>
          <p:spPr bwMode="auto">
            <a:xfrm>
              <a:off x="1979613" y="2816225"/>
              <a:ext cx="1692275" cy="3133725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3332" name="Rectangle 20"/>
            <p:cNvSpPr>
              <a:spLocks noChangeArrowheads="1"/>
            </p:cNvSpPr>
            <p:nvPr/>
          </p:nvSpPr>
          <p:spPr bwMode="auto">
            <a:xfrm>
              <a:off x="5360988" y="1974850"/>
              <a:ext cx="939800" cy="958850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33" name="Line 21"/>
            <p:cNvSpPr>
              <a:spLocks noChangeShapeType="1"/>
            </p:cNvSpPr>
            <p:nvPr/>
          </p:nvSpPr>
          <p:spPr bwMode="auto">
            <a:xfrm>
              <a:off x="5903913" y="2528888"/>
              <a:ext cx="1692275" cy="262890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3334" name="Oval 22"/>
            <p:cNvSpPr>
              <a:spLocks noChangeArrowheads="1"/>
            </p:cNvSpPr>
            <p:nvPr/>
          </p:nvSpPr>
          <p:spPr bwMode="auto">
            <a:xfrm>
              <a:off x="1511300" y="53006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35" name="Oval 23"/>
            <p:cNvSpPr>
              <a:spLocks noChangeArrowheads="1"/>
            </p:cNvSpPr>
            <p:nvPr/>
          </p:nvSpPr>
          <p:spPr bwMode="auto">
            <a:xfrm>
              <a:off x="5534025" y="58324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36" name="Oval 24"/>
            <p:cNvSpPr>
              <a:spLocks noChangeArrowheads="1"/>
            </p:cNvSpPr>
            <p:nvPr/>
          </p:nvSpPr>
          <p:spPr bwMode="auto">
            <a:xfrm>
              <a:off x="1584325" y="50847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37" name="Oval 25"/>
            <p:cNvSpPr>
              <a:spLocks noChangeArrowheads="1"/>
            </p:cNvSpPr>
            <p:nvPr/>
          </p:nvSpPr>
          <p:spPr bwMode="auto">
            <a:xfrm>
              <a:off x="5651500" y="55530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38" name="Oval 26"/>
            <p:cNvSpPr>
              <a:spLocks noChangeArrowheads="1"/>
            </p:cNvSpPr>
            <p:nvPr/>
          </p:nvSpPr>
          <p:spPr bwMode="auto">
            <a:xfrm>
              <a:off x="1727200" y="49307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39" name="Oval 27"/>
            <p:cNvSpPr>
              <a:spLocks noChangeArrowheads="1"/>
            </p:cNvSpPr>
            <p:nvPr/>
          </p:nvSpPr>
          <p:spPr bwMode="auto">
            <a:xfrm>
              <a:off x="5795963" y="5300663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0" name="Oval 28"/>
            <p:cNvSpPr>
              <a:spLocks noChangeArrowheads="1"/>
            </p:cNvSpPr>
            <p:nvPr/>
          </p:nvSpPr>
          <p:spPr bwMode="auto">
            <a:xfrm>
              <a:off x="5975350" y="51212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1" name="Oval 29"/>
            <p:cNvSpPr>
              <a:spLocks noChangeArrowheads="1"/>
            </p:cNvSpPr>
            <p:nvPr/>
          </p:nvSpPr>
          <p:spPr bwMode="auto">
            <a:xfrm>
              <a:off x="1906588" y="5032375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2" name="Oval 30"/>
            <p:cNvSpPr>
              <a:spLocks noChangeArrowheads="1"/>
            </p:cNvSpPr>
            <p:nvPr/>
          </p:nvSpPr>
          <p:spPr bwMode="auto">
            <a:xfrm>
              <a:off x="2051050" y="52117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3" name="Oval 31"/>
            <p:cNvSpPr>
              <a:spLocks noChangeArrowheads="1"/>
            </p:cNvSpPr>
            <p:nvPr/>
          </p:nvSpPr>
          <p:spPr bwMode="auto">
            <a:xfrm>
              <a:off x="2230438" y="5408613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4" name="Oval 32"/>
            <p:cNvSpPr>
              <a:spLocks noChangeArrowheads="1"/>
            </p:cNvSpPr>
            <p:nvPr/>
          </p:nvSpPr>
          <p:spPr bwMode="auto">
            <a:xfrm>
              <a:off x="2409825" y="55530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5" name="Oval 33"/>
            <p:cNvSpPr>
              <a:spLocks noChangeArrowheads="1"/>
            </p:cNvSpPr>
            <p:nvPr/>
          </p:nvSpPr>
          <p:spPr bwMode="auto">
            <a:xfrm>
              <a:off x="2590800" y="566102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6" name="Oval 34"/>
            <p:cNvSpPr>
              <a:spLocks noChangeArrowheads="1"/>
            </p:cNvSpPr>
            <p:nvPr/>
          </p:nvSpPr>
          <p:spPr bwMode="auto">
            <a:xfrm>
              <a:off x="2770188" y="5734050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7" name="Oval 35"/>
            <p:cNvSpPr>
              <a:spLocks noChangeArrowheads="1"/>
            </p:cNvSpPr>
            <p:nvPr/>
          </p:nvSpPr>
          <p:spPr bwMode="auto">
            <a:xfrm>
              <a:off x="2949575" y="578643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8" name="Oval 36"/>
            <p:cNvSpPr>
              <a:spLocks noChangeArrowheads="1"/>
            </p:cNvSpPr>
            <p:nvPr/>
          </p:nvSpPr>
          <p:spPr bwMode="auto">
            <a:xfrm>
              <a:off x="3128963" y="5842000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49" name="Oval 37"/>
            <p:cNvSpPr>
              <a:spLocks noChangeArrowheads="1"/>
            </p:cNvSpPr>
            <p:nvPr/>
          </p:nvSpPr>
          <p:spPr bwMode="auto">
            <a:xfrm>
              <a:off x="3308350" y="589438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0" name="Oval 38"/>
            <p:cNvSpPr>
              <a:spLocks noChangeArrowheads="1"/>
            </p:cNvSpPr>
            <p:nvPr/>
          </p:nvSpPr>
          <p:spPr bwMode="auto">
            <a:xfrm>
              <a:off x="3487738" y="5949950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1" name="Oval 39"/>
            <p:cNvSpPr>
              <a:spLocks noChangeArrowheads="1"/>
            </p:cNvSpPr>
            <p:nvPr/>
          </p:nvSpPr>
          <p:spPr bwMode="auto">
            <a:xfrm>
              <a:off x="3667125" y="602138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2" name="Oval 40"/>
            <p:cNvSpPr>
              <a:spLocks noChangeArrowheads="1"/>
            </p:cNvSpPr>
            <p:nvPr/>
          </p:nvSpPr>
          <p:spPr bwMode="auto">
            <a:xfrm>
              <a:off x="6154738" y="4986338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3" name="Oval 41"/>
            <p:cNvSpPr>
              <a:spLocks noChangeArrowheads="1"/>
            </p:cNvSpPr>
            <p:nvPr/>
          </p:nvSpPr>
          <p:spPr bwMode="auto">
            <a:xfrm>
              <a:off x="6334125" y="492283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4" name="Oval 42"/>
            <p:cNvSpPr>
              <a:spLocks noChangeArrowheads="1"/>
            </p:cNvSpPr>
            <p:nvPr/>
          </p:nvSpPr>
          <p:spPr bwMode="auto">
            <a:xfrm>
              <a:off x="6513513" y="4905375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5" name="Oval 43"/>
            <p:cNvSpPr>
              <a:spLocks noChangeArrowheads="1"/>
            </p:cNvSpPr>
            <p:nvPr/>
          </p:nvSpPr>
          <p:spPr bwMode="auto">
            <a:xfrm>
              <a:off x="6692900" y="494188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6" name="Oval 44"/>
            <p:cNvSpPr>
              <a:spLocks noChangeArrowheads="1"/>
            </p:cNvSpPr>
            <p:nvPr/>
          </p:nvSpPr>
          <p:spPr bwMode="auto">
            <a:xfrm>
              <a:off x="6872288" y="4986338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7" name="Oval 45"/>
            <p:cNvSpPr>
              <a:spLocks noChangeArrowheads="1"/>
            </p:cNvSpPr>
            <p:nvPr/>
          </p:nvSpPr>
          <p:spPr bwMode="auto">
            <a:xfrm>
              <a:off x="7051675" y="504983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8" name="Oval 46"/>
            <p:cNvSpPr>
              <a:spLocks noChangeArrowheads="1"/>
            </p:cNvSpPr>
            <p:nvPr/>
          </p:nvSpPr>
          <p:spPr bwMode="auto">
            <a:xfrm>
              <a:off x="7231063" y="5121275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59" name="Oval 47"/>
            <p:cNvSpPr>
              <a:spLocks noChangeArrowheads="1"/>
            </p:cNvSpPr>
            <p:nvPr/>
          </p:nvSpPr>
          <p:spPr bwMode="auto">
            <a:xfrm>
              <a:off x="7410450" y="518318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3360" name="Oval 48"/>
            <p:cNvSpPr>
              <a:spLocks noChangeArrowheads="1"/>
            </p:cNvSpPr>
            <p:nvPr/>
          </p:nvSpPr>
          <p:spPr bwMode="auto">
            <a:xfrm>
              <a:off x="7589838" y="5238750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24094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35842" y="645445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de-DE" dirty="0">
                <a:solidFill>
                  <a:srgbClr val="000000"/>
                </a:solidFill>
              </a:rPr>
              <a:t>K. </a:t>
            </a:r>
            <a:r>
              <a:rPr lang="de-DE" dirty="0" err="1">
                <a:solidFill>
                  <a:srgbClr val="000000"/>
                </a:solidFill>
              </a:rPr>
              <a:t>Grauman</a:t>
            </a:r>
            <a:r>
              <a:rPr lang="de-DE" dirty="0">
                <a:solidFill>
                  <a:srgbClr val="000000"/>
                </a:solidFill>
              </a:rPr>
              <a:t>, B. Leibe</a:t>
            </a:r>
          </a:p>
        </p:txBody>
      </p:sp>
      <p:sp>
        <p:nvSpPr>
          <p:cNvPr id="14341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de-CH" dirty="0"/>
          </a:p>
        </p:txBody>
      </p:sp>
      <p:sp>
        <p:nvSpPr>
          <p:cNvPr id="14342" name="Content Placeholder 2"/>
          <p:cNvSpPr>
            <a:spLocks noGrp="1"/>
          </p:cNvSpPr>
          <p:nvPr>
            <p:ph idx="4294967295"/>
          </p:nvPr>
        </p:nvSpPr>
        <p:spPr>
          <a:xfrm>
            <a:off x="457200" y="1244879"/>
            <a:ext cx="8229600" cy="4525963"/>
          </a:xfrm>
        </p:spPr>
        <p:txBody>
          <a:bodyPr/>
          <a:lstStyle/>
          <a:p>
            <a:r>
              <a:rPr lang="zh-CN" altLang="en-US" dirty="0"/>
              <a:t>响应函数随尺度变化</a:t>
            </a:r>
            <a:endParaRPr lang="de-CH" altLang="zh-CN" dirty="0"/>
          </a:p>
        </p:txBody>
      </p:sp>
      <p:sp>
        <p:nvSpPr>
          <p:cNvPr id="14343" name="Slide Number Placeholder 3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D9BCE3E6-98D2-4A1A-BD72-63343649070B}" type="slidenum">
              <a:rPr lang="de-DE" sz="1400" smtClean="0">
                <a:solidFill>
                  <a:srgbClr val="00000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73</a:t>
            </a:fld>
            <a:endParaRPr lang="de-DE" sz="1400">
              <a:solidFill>
                <a:srgbClr val="000000"/>
              </a:solidFill>
            </a:endParaRPr>
          </a:p>
        </p:txBody>
      </p:sp>
      <p:grpSp>
        <p:nvGrpSpPr>
          <p:cNvPr id="2" name="Group 122"/>
          <p:cNvGrpSpPr>
            <a:grpSpLocks/>
          </p:cNvGrpSpPr>
          <p:nvPr/>
        </p:nvGrpSpPr>
        <p:grpSpPr bwMode="auto">
          <a:xfrm>
            <a:off x="1066800" y="1908175"/>
            <a:ext cx="6846887" cy="4721225"/>
            <a:chOff x="1042988" y="1952625"/>
            <a:chExt cx="6846887" cy="4720903"/>
          </a:xfrm>
        </p:grpSpPr>
        <p:graphicFrame>
          <p:nvGraphicFramePr>
            <p:cNvPr id="14338" name="Object 4"/>
            <p:cNvGraphicFramePr>
              <a:graphicFrameLocks noChangeAspect="1"/>
            </p:cNvGraphicFramePr>
            <p:nvPr/>
          </p:nvGraphicFramePr>
          <p:xfrm>
            <a:off x="2093913" y="6392540"/>
            <a:ext cx="1038225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33" name="Equation" r:id="rId4" imgW="901440" imgH="241200" progId="Equation.3">
                    <p:embed/>
                  </p:oleObj>
                </mc:Choice>
                <mc:Fallback>
                  <p:oleObj name="Equation" r:id="rId4" imgW="901440" imgH="241200" progId="Equation.3">
                    <p:embed/>
                    <p:pic>
                      <p:nvPicPr>
                        <p:cNvPr id="1433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913" y="6392540"/>
                          <a:ext cx="1038225" cy="277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346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304925" y="4895850"/>
              <a:ext cx="2619375" cy="14859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4347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42988" y="1952625"/>
              <a:ext cx="3313112" cy="2649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8" name="Picture 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265738" y="1989138"/>
              <a:ext cx="2619375" cy="2663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49" name="Rectangle 7"/>
            <p:cNvSpPr>
              <a:spLocks noChangeArrowheads="1"/>
            </p:cNvSpPr>
            <p:nvPr/>
          </p:nvSpPr>
          <p:spPr bwMode="auto">
            <a:xfrm>
              <a:off x="1833563" y="2546350"/>
              <a:ext cx="261937" cy="260350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5821363" y="2393950"/>
              <a:ext cx="73025" cy="73025"/>
              <a:chOff x="1292" y="2205"/>
              <a:chExt cx="46" cy="46"/>
            </a:xfrm>
          </p:grpSpPr>
          <p:sp>
            <p:nvSpPr>
              <p:cNvPr id="14385" name="Line 9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4386" name="Line 10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943100" y="2636838"/>
              <a:ext cx="73025" cy="73025"/>
              <a:chOff x="1292" y="2205"/>
              <a:chExt cx="46" cy="46"/>
            </a:xfrm>
          </p:grpSpPr>
          <p:sp>
            <p:nvSpPr>
              <p:cNvPr id="14383" name="Line 12"/>
              <p:cNvSpPr>
                <a:spLocks noChangeShapeType="1"/>
              </p:cNvSpPr>
              <p:nvPr/>
            </p:nvSpPr>
            <p:spPr bwMode="auto">
              <a:xfrm>
                <a:off x="1292" y="2205"/>
                <a:ext cx="46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  <p:sp>
            <p:nvSpPr>
              <p:cNvPr id="14384" name="Line 13"/>
              <p:cNvSpPr>
                <a:spLocks noChangeShapeType="1"/>
              </p:cNvSpPr>
              <p:nvPr/>
            </p:nvSpPr>
            <p:spPr bwMode="auto">
              <a:xfrm flipH="1">
                <a:off x="1293" y="2205"/>
                <a:ext cx="45" cy="46"/>
              </a:xfrm>
              <a:prstGeom prst="line">
                <a:avLst/>
              </a:prstGeom>
              <a:noFill/>
              <a:ln w="254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p:grpSp>
        <p:pic>
          <p:nvPicPr>
            <p:cNvPr id="14352" name="Picture 14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327650" y="4868863"/>
              <a:ext cx="2562225" cy="14287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graphicFrame>
          <p:nvGraphicFramePr>
            <p:cNvPr id="14339" name="Object 5"/>
            <p:cNvGraphicFramePr>
              <a:graphicFrameLocks noChangeAspect="1"/>
            </p:cNvGraphicFramePr>
            <p:nvPr/>
          </p:nvGraphicFramePr>
          <p:xfrm>
            <a:off x="5935663" y="6338565"/>
            <a:ext cx="1336675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34" name="Equation" r:id="rId10" imgW="965160" imgH="241200" progId="Equation.3">
                    <p:embed/>
                  </p:oleObj>
                </mc:Choice>
                <mc:Fallback>
                  <p:oleObj name="Equation" r:id="rId10" imgW="965160" imgH="241200" progId="Equation.3">
                    <p:embed/>
                    <p:pic>
                      <p:nvPicPr>
                        <p:cNvPr id="1433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5663" y="6338565"/>
                          <a:ext cx="1336675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3" name="Line 19"/>
            <p:cNvSpPr>
              <a:spLocks noChangeShapeType="1"/>
            </p:cNvSpPr>
            <p:nvPr/>
          </p:nvSpPr>
          <p:spPr bwMode="auto">
            <a:xfrm flipH="1">
              <a:off x="1727200" y="2816225"/>
              <a:ext cx="252413" cy="2017713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4354" name="Rectangle 20"/>
            <p:cNvSpPr>
              <a:spLocks noChangeArrowheads="1"/>
            </p:cNvSpPr>
            <p:nvPr/>
          </p:nvSpPr>
          <p:spPr bwMode="auto">
            <a:xfrm>
              <a:off x="5632450" y="2232025"/>
              <a:ext cx="433388" cy="431800"/>
            </a:xfrm>
            <a:prstGeom prst="rect">
              <a:avLst/>
            </a:prstGeom>
            <a:noFill/>
            <a:ln w="25400" cap="sq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55" name="Line 21"/>
            <p:cNvSpPr>
              <a:spLocks noChangeShapeType="1"/>
            </p:cNvSpPr>
            <p:nvPr/>
          </p:nvSpPr>
          <p:spPr bwMode="auto">
            <a:xfrm>
              <a:off x="5903913" y="2528888"/>
              <a:ext cx="612775" cy="2305050"/>
            </a:xfrm>
            <a:prstGeom prst="line">
              <a:avLst/>
            </a:prstGeom>
            <a:noFill/>
            <a:ln w="19050" cap="sq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4356" name="Oval 22"/>
            <p:cNvSpPr>
              <a:spLocks noChangeArrowheads="1"/>
            </p:cNvSpPr>
            <p:nvPr/>
          </p:nvSpPr>
          <p:spPr bwMode="auto">
            <a:xfrm>
              <a:off x="1511300" y="53006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57" name="Oval 23"/>
            <p:cNvSpPr>
              <a:spLocks noChangeArrowheads="1"/>
            </p:cNvSpPr>
            <p:nvPr/>
          </p:nvSpPr>
          <p:spPr bwMode="auto">
            <a:xfrm>
              <a:off x="5534025" y="58324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58" name="Oval 24"/>
            <p:cNvSpPr>
              <a:spLocks noChangeArrowheads="1"/>
            </p:cNvSpPr>
            <p:nvPr/>
          </p:nvSpPr>
          <p:spPr bwMode="auto">
            <a:xfrm>
              <a:off x="1584325" y="50847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59" name="Oval 25"/>
            <p:cNvSpPr>
              <a:spLocks noChangeArrowheads="1"/>
            </p:cNvSpPr>
            <p:nvPr/>
          </p:nvSpPr>
          <p:spPr bwMode="auto">
            <a:xfrm>
              <a:off x="5651500" y="55530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0" name="Oval 26"/>
            <p:cNvSpPr>
              <a:spLocks noChangeArrowheads="1"/>
            </p:cNvSpPr>
            <p:nvPr/>
          </p:nvSpPr>
          <p:spPr bwMode="auto">
            <a:xfrm>
              <a:off x="1727200" y="49307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1" name="Oval 27"/>
            <p:cNvSpPr>
              <a:spLocks noChangeArrowheads="1"/>
            </p:cNvSpPr>
            <p:nvPr/>
          </p:nvSpPr>
          <p:spPr bwMode="auto">
            <a:xfrm>
              <a:off x="5795963" y="5300663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2" name="Oval 28"/>
            <p:cNvSpPr>
              <a:spLocks noChangeArrowheads="1"/>
            </p:cNvSpPr>
            <p:nvPr/>
          </p:nvSpPr>
          <p:spPr bwMode="auto">
            <a:xfrm>
              <a:off x="5975350" y="51212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3" name="Oval 29"/>
            <p:cNvSpPr>
              <a:spLocks noChangeArrowheads="1"/>
            </p:cNvSpPr>
            <p:nvPr/>
          </p:nvSpPr>
          <p:spPr bwMode="auto">
            <a:xfrm>
              <a:off x="1906588" y="5032375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4" name="Oval 30"/>
            <p:cNvSpPr>
              <a:spLocks noChangeArrowheads="1"/>
            </p:cNvSpPr>
            <p:nvPr/>
          </p:nvSpPr>
          <p:spPr bwMode="auto">
            <a:xfrm>
              <a:off x="2051050" y="5211763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5" name="Oval 31"/>
            <p:cNvSpPr>
              <a:spLocks noChangeArrowheads="1"/>
            </p:cNvSpPr>
            <p:nvPr/>
          </p:nvSpPr>
          <p:spPr bwMode="auto">
            <a:xfrm>
              <a:off x="2230438" y="5408613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6" name="Oval 32"/>
            <p:cNvSpPr>
              <a:spLocks noChangeArrowheads="1"/>
            </p:cNvSpPr>
            <p:nvPr/>
          </p:nvSpPr>
          <p:spPr bwMode="auto">
            <a:xfrm>
              <a:off x="2409825" y="555307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7" name="Oval 33"/>
            <p:cNvSpPr>
              <a:spLocks noChangeArrowheads="1"/>
            </p:cNvSpPr>
            <p:nvPr/>
          </p:nvSpPr>
          <p:spPr bwMode="auto">
            <a:xfrm>
              <a:off x="2590800" y="5661025"/>
              <a:ext cx="36513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8" name="Oval 34"/>
            <p:cNvSpPr>
              <a:spLocks noChangeArrowheads="1"/>
            </p:cNvSpPr>
            <p:nvPr/>
          </p:nvSpPr>
          <p:spPr bwMode="auto">
            <a:xfrm>
              <a:off x="2770188" y="5734050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69" name="Oval 35"/>
            <p:cNvSpPr>
              <a:spLocks noChangeArrowheads="1"/>
            </p:cNvSpPr>
            <p:nvPr/>
          </p:nvSpPr>
          <p:spPr bwMode="auto">
            <a:xfrm>
              <a:off x="2949575" y="578643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0" name="Oval 36"/>
            <p:cNvSpPr>
              <a:spLocks noChangeArrowheads="1"/>
            </p:cNvSpPr>
            <p:nvPr/>
          </p:nvSpPr>
          <p:spPr bwMode="auto">
            <a:xfrm>
              <a:off x="3128963" y="5842000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1" name="Oval 37"/>
            <p:cNvSpPr>
              <a:spLocks noChangeArrowheads="1"/>
            </p:cNvSpPr>
            <p:nvPr/>
          </p:nvSpPr>
          <p:spPr bwMode="auto">
            <a:xfrm>
              <a:off x="3308350" y="589438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2" name="Oval 38"/>
            <p:cNvSpPr>
              <a:spLocks noChangeArrowheads="1"/>
            </p:cNvSpPr>
            <p:nvPr/>
          </p:nvSpPr>
          <p:spPr bwMode="auto">
            <a:xfrm>
              <a:off x="3487738" y="5949950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3" name="Oval 39"/>
            <p:cNvSpPr>
              <a:spLocks noChangeArrowheads="1"/>
            </p:cNvSpPr>
            <p:nvPr/>
          </p:nvSpPr>
          <p:spPr bwMode="auto">
            <a:xfrm>
              <a:off x="3667125" y="602138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4" name="Oval 40"/>
            <p:cNvSpPr>
              <a:spLocks noChangeArrowheads="1"/>
            </p:cNvSpPr>
            <p:nvPr/>
          </p:nvSpPr>
          <p:spPr bwMode="auto">
            <a:xfrm>
              <a:off x="6154738" y="4986338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5" name="Oval 41"/>
            <p:cNvSpPr>
              <a:spLocks noChangeArrowheads="1"/>
            </p:cNvSpPr>
            <p:nvPr/>
          </p:nvSpPr>
          <p:spPr bwMode="auto">
            <a:xfrm>
              <a:off x="6334125" y="492283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6" name="Oval 42"/>
            <p:cNvSpPr>
              <a:spLocks noChangeArrowheads="1"/>
            </p:cNvSpPr>
            <p:nvPr/>
          </p:nvSpPr>
          <p:spPr bwMode="auto">
            <a:xfrm>
              <a:off x="6513513" y="4905375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7" name="Oval 43"/>
            <p:cNvSpPr>
              <a:spLocks noChangeArrowheads="1"/>
            </p:cNvSpPr>
            <p:nvPr/>
          </p:nvSpPr>
          <p:spPr bwMode="auto">
            <a:xfrm>
              <a:off x="6692900" y="494188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8" name="Oval 44"/>
            <p:cNvSpPr>
              <a:spLocks noChangeArrowheads="1"/>
            </p:cNvSpPr>
            <p:nvPr/>
          </p:nvSpPr>
          <p:spPr bwMode="auto">
            <a:xfrm>
              <a:off x="6872288" y="4986338"/>
              <a:ext cx="36512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79" name="Oval 45"/>
            <p:cNvSpPr>
              <a:spLocks noChangeArrowheads="1"/>
            </p:cNvSpPr>
            <p:nvPr/>
          </p:nvSpPr>
          <p:spPr bwMode="auto">
            <a:xfrm>
              <a:off x="7051675" y="504983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80" name="Oval 46"/>
            <p:cNvSpPr>
              <a:spLocks noChangeArrowheads="1"/>
            </p:cNvSpPr>
            <p:nvPr/>
          </p:nvSpPr>
          <p:spPr bwMode="auto">
            <a:xfrm>
              <a:off x="7231063" y="5121275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81" name="Oval 47"/>
            <p:cNvSpPr>
              <a:spLocks noChangeArrowheads="1"/>
            </p:cNvSpPr>
            <p:nvPr/>
          </p:nvSpPr>
          <p:spPr bwMode="auto">
            <a:xfrm>
              <a:off x="7410450" y="5183188"/>
              <a:ext cx="36513" cy="36512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  <p:sp>
          <p:nvSpPr>
            <p:cNvPr id="14382" name="Oval 48"/>
            <p:cNvSpPr>
              <a:spLocks noChangeArrowheads="1"/>
            </p:cNvSpPr>
            <p:nvPr/>
          </p:nvSpPr>
          <p:spPr bwMode="auto">
            <a:xfrm>
              <a:off x="7589838" y="5238750"/>
              <a:ext cx="36512" cy="36513"/>
            </a:xfrm>
            <a:prstGeom prst="ellipse">
              <a:avLst/>
            </a:prstGeom>
            <a:solidFill>
              <a:schemeClr val="bg2"/>
            </a:solid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CH" sz="2000">
                <a:solidFill>
                  <a:srgbClr val="FFFFFF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862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74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自动尺度选择</a:t>
            </a:r>
            <a:endParaRPr lang="ru-RU" dirty="0"/>
          </a:p>
        </p:txBody>
      </p:sp>
      <p:sp>
        <p:nvSpPr>
          <p:cNvPr id="103427" name="Text Box 3"/>
          <p:cNvSpPr>
            <a:spLocks noGrp="1" noChangeArrowheads="1"/>
          </p:cNvSpPr>
          <p:nvPr>
            <p:ph type="body" idx="4294967295"/>
          </p:nvPr>
        </p:nvSpPr>
        <p:spPr>
          <a:xfrm>
            <a:off x="719138" y="1295400"/>
            <a:ext cx="7308850" cy="2844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使用检测子确定的尺度进行规范</a:t>
            </a:r>
            <a:endParaRPr lang="ru-RU" sz="2400" b="1" i="1" dirty="0"/>
          </a:p>
        </p:txBody>
      </p:sp>
      <p:pic>
        <p:nvPicPr>
          <p:cNvPr id="103428" name="Picture 4" descr="normscale1"/>
          <p:cNvPicPr>
            <a:picLocks noChangeAspect="1" noChangeArrowheads="1"/>
          </p:cNvPicPr>
          <p:nvPr/>
        </p:nvPicPr>
        <p:blipFill>
          <a:blip r:embed="rId3" cstate="print"/>
          <a:srcRect r="52911"/>
          <a:stretch>
            <a:fillRect/>
          </a:stretch>
        </p:blipFill>
        <p:spPr bwMode="auto">
          <a:xfrm>
            <a:off x="611188" y="2057400"/>
            <a:ext cx="238442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29" name="Picture 5" descr="normscale2"/>
          <p:cNvPicPr>
            <a:picLocks noChangeAspect="1" noChangeArrowheads="1"/>
          </p:cNvPicPr>
          <p:nvPr/>
        </p:nvPicPr>
        <p:blipFill>
          <a:blip r:embed="rId4" cstate="print"/>
          <a:srcRect r="61942"/>
          <a:stretch>
            <a:fillRect/>
          </a:stretch>
        </p:blipFill>
        <p:spPr bwMode="auto">
          <a:xfrm>
            <a:off x="6372225" y="2344738"/>
            <a:ext cx="2339975" cy="132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30" name="Picture 6" descr="normscale2"/>
          <p:cNvPicPr>
            <a:picLocks noChangeAspect="1" noChangeArrowheads="1"/>
          </p:cNvPicPr>
          <p:nvPr/>
        </p:nvPicPr>
        <p:blipFill>
          <a:blip r:embed="rId4" cstate="print"/>
          <a:srcRect l="53525"/>
          <a:stretch>
            <a:fillRect/>
          </a:stretch>
        </p:blipFill>
        <p:spPr bwMode="auto">
          <a:xfrm>
            <a:off x="5832475" y="4040188"/>
            <a:ext cx="2857500" cy="132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31" name="Picture 7" descr="normscale1"/>
          <p:cNvPicPr>
            <a:picLocks noChangeAspect="1" noChangeArrowheads="1"/>
          </p:cNvPicPr>
          <p:nvPr/>
        </p:nvPicPr>
        <p:blipFill>
          <a:blip r:embed="rId3" cstate="print"/>
          <a:srcRect l="60548"/>
          <a:stretch>
            <a:fillRect/>
          </a:stretch>
        </p:blipFill>
        <p:spPr bwMode="auto">
          <a:xfrm>
            <a:off x="3311525" y="2093913"/>
            <a:ext cx="1997075" cy="327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6804025" y="6545263"/>
            <a:ext cx="3816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[Images from T. Tuytelaars]</a:t>
            </a:r>
          </a:p>
        </p:txBody>
      </p:sp>
    </p:spTree>
    <p:extLst>
      <p:ext uri="{BB962C8B-B14F-4D97-AF65-F5344CB8AC3E}">
        <p14:creationId xmlns:p14="http://schemas.microsoft.com/office/powerpoint/2010/main" val="41197279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Title 5"/>
          <p:cNvSpPr>
            <a:spLocks noGrp="1"/>
          </p:cNvSpPr>
          <p:nvPr>
            <p:ph type="title" idx="4294967295"/>
          </p:nvPr>
        </p:nvSpPr>
        <p:spPr>
          <a:xfrm>
            <a:off x="457200" y="38100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特征响应函数</a:t>
            </a:r>
            <a:endParaRPr lang="de-CH" dirty="0"/>
          </a:p>
        </p:txBody>
      </p:sp>
      <p:sp>
        <p:nvSpPr>
          <p:cNvPr id="104453" name="Slide Number Placeholder 3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27BD1534-65BA-4646-AADA-37FAF69A788D}" type="slidenum">
              <a:rPr lang="de-DE" sz="1400" smtClean="0">
                <a:solidFill>
                  <a:srgbClr val="000000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75</a:t>
            </a:fld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104454" name="Footer Placeholder 4"/>
          <p:cNvSpPr txBox="1">
            <a:spLocks noGrp="1"/>
          </p:cNvSpPr>
          <p:nvPr/>
        </p:nvSpPr>
        <p:spPr bwMode="auto">
          <a:xfrm>
            <a:off x="2376488" y="6553200"/>
            <a:ext cx="457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dirty="0">
                <a:solidFill>
                  <a:srgbClr val="000000"/>
                </a:solidFill>
              </a:rPr>
              <a:t>K. </a:t>
            </a:r>
            <a:r>
              <a:rPr lang="de-DE" sz="1200" dirty="0" err="1">
                <a:solidFill>
                  <a:srgbClr val="000000"/>
                </a:solidFill>
              </a:rPr>
              <a:t>Grauman</a:t>
            </a:r>
            <a:r>
              <a:rPr lang="de-DE" sz="1200" dirty="0">
                <a:solidFill>
                  <a:srgbClr val="000000"/>
                </a:solidFill>
              </a:rPr>
              <a:t>, B. Leibe</a:t>
            </a:r>
          </a:p>
        </p:txBody>
      </p:sp>
      <p:pic>
        <p:nvPicPr>
          <p:cNvPr id="104455" name="Picture 27" descr="c-enhedg-laplap"/>
          <p:cNvPicPr>
            <a:picLocks noChangeAspect="1" noChangeArrowheads="1"/>
          </p:cNvPicPr>
          <p:nvPr/>
        </p:nvPicPr>
        <p:blipFill>
          <a:blip r:embed="rId3" cstate="print"/>
          <a:srcRect t="21783"/>
          <a:stretch>
            <a:fillRect/>
          </a:stretch>
        </p:blipFill>
        <p:spPr bwMode="auto">
          <a:xfrm>
            <a:off x="1103313" y="1822450"/>
            <a:ext cx="1727200" cy="135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6" name="Picture 27" descr="c-enhedg-laplap"/>
          <p:cNvPicPr>
            <a:picLocks noChangeAspect="1" noChangeArrowheads="1"/>
          </p:cNvPicPr>
          <p:nvPr/>
        </p:nvPicPr>
        <p:blipFill>
          <a:blip r:embed="rId3" cstate="print"/>
          <a:srcRect t="21783"/>
          <a:stretch>
            <a:fillRect/>
          </a:stretch>
        </p:blipFill>
        <p:spPr bwMode="auto">
          <a:xfrm>
            <a:off x="1581150" y="4232275"/>
            <a:ext cx="771525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7" name="Picture 27" descr="c-enhedg-laplap"/>
          <p:cNvPicPr>
            <a:picLocks noChangeAspect="1" noChangeArrowheads="1"/>
          </p:cNvPicPr>
          <p:nvPr/>
        </p:nvPicPr>
        <p:blipFill>
          <a:blip r:embed="rId4" cstate="print"/>
          <a:srcRect t="21783"/>
          <a:stretch>
            <a:fillRect/>
          </a:stretch>
        </p:blipFill>
        <p:spPr bwMode="auto">
          <a:xfrm>
            <a:off x="1736725" y="5035550"/>
            <a:ext cx="4603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8" name="Picture 27" descr="c-enhedg-laplap"/>
          <p:cNvPicPr>
            <a:picLocks noChangeAspect="1" noChangeArrowheads="1"/>
          </p:cNvPicPr>
          <p:nvPr/>
        </p:nvPicPr>
        <p:blipFill>
          <a:blip r:embed="rId3" cstate="print"/>
          <a:srcRect t="21783"/>
          <a:stretch>
            <a:fillRect/>
          </a:stretch>
        </p:blipFill>
        <p:spPr bwMode="auto">
          <a:xfrm>
            <a:off x="1290638" y="3063875"/>
            <a:ext cx="1352550" cy="105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Straight Arrow Connector 17"/>
          <p:cNvCxnSpPr/>
          <p:nvPr/>
        </p:nvCxnSpPr>
        <p:spPr>
          <a:xfrm rot="5400000" flipH="1" flipV="1">
            <a:off x="1285876" y="3684587"/>
            <a:ext cx="3687762" cy="36513"/>
          </a:xfrm>
          <a:prstGeom prst="straightConnector1">
            <a:avLst/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111500" y="5546725"/>
            <a:ext cx="3833813" cy="0"/>
          </a:xfrm>
          <a:prstGeom prst="straightConnector1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622675" y="5948363"/>
            <a:ext cx="146050" cy="146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CH" sz="2000">
              <a:solidFill>
                <a:srgbClr val="FFFFFF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4648200" y="5802313"/>
            <a:ext cx="508000" cy="5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CH" sz="2000">
              <a:solidFill>
                <a:srgbClr val="FFFFFF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5922963" y="5619750"/>
            <a:ext cx="803275" cy="80327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CH" sz="2000">
              <a:solidFill>
                <a:srgbClr val="FFFFFF"/>
              </a:solidFill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2308194" y="3429000"/>
            <a:ext cx="3322683" cy="582982"/>
          </a:xfrm>
          <a:custGeom>
            <a:avLst/>
            <a:gdLst>
              <a:gd name="connsiteX0" fmla="*/ 0 w 2957689"/>
              <a:gd name="connsiteY0" fmla="*/ 551274 h 641585"/>
              <a:gd name="connsiteX1" fmla="*/ 699911 w 2957689"/>
              <a:gd name="connsiteY1" fmla="*/ 551274 h 641585"/>
              <a:gd name="connsiteX2" fmla="*/ 1027289 w 2957689"/>
              <a:gd name="connsiteY2" fmla="*/ 9407 h 641585"/>
              <a:gd name="connsiteX3" fmla="*/ 1241778 w 2957689"/>
              <a:gd name="connsiteY3" fmla="*/ 494830 h 641585"/>
              <a:gd name="connsiteX4" fmla="*/ 2957689 w 2957689"/>
              <a:gd name="connsiteY4" fmla="*/ 483541 h 641585"/>
              <a:gd name="connsiteX0" fmla="*/ 0 w 2957689"/>
              <a:gd name="connsiteY0" fmla="*/ 551274 h 641585"/>
              <a:gd name="connsiteX1" fmla="*/ 699911 w 2957689"/>
              <a:gd name="connsiteY1" fmla="*/ 551274 h 641585"/>
              <a:gd name="connsiteX2" fmla="*/ 1027289 w 2957689"/>
              <a:gd name="connsiteY2" fmla="*/ 9407 h 641585"/>
              <a:gd name="connsiteX3" fmla="*/ 1241778 w 2957689"/>
              <a:gd name="connsiteY3" fmla="*/ 494830 h 641585"/>
              <a:gd name="connsiteX4" fmla="*/ 2957689 w 2957689"/>
              <a:gd name="connsiteY4" fmla="*/ 483541 h 641585"/>
              <a:gd name="connsiteX0" fmla="*/ 0 w 2957689"/>
              <a:gd name="connsiteY0" fmla="*/ 581378 h 671689"/>
              <a:gd name="connsiteX1" fmla="*/ 699911 w 2957689"/>
              <a:gd name="connsiteY1" fmla="*/ 581378 h 671689"/>
              <a:gd name="connsiteX2" fmla="*/ 1027289 w 2957689"/>
              <a:gd name="connsiteY2" fmla="*/ 39511 h 671689"/>
              <a:gd name="connsiteX3" fmla="*/ 1215083 w 2957689"/>
              <a:gd name="connsiteY3" fmla="*/ 344311 h 671689"/>
              <a:gd name="connsiteX4" fmla="*/ 1241778 w 2957689"/>
              <a:gd name="connsiteY4" fmla="*/ 524934 h 671689"/>
              <a:gd name="connsiteX5" fmla="*/ 2957689 w 2957689"/>
              <a:gd name="connsiteY5" fmla="*/ 513645 h 671689"/>
              <a:gd name="connsiteX0" fmla="*/ 0 w 2957689"/>
              <a:gd name="connsiteY0" fmla="*/ 581378 h 671689"/>
              <a:gd name="connsiteX1" fmla="*/ 699911 w 2957689"/>
              <a:gd name="connsiteY1" fmla="*/ 581378 h 671689"/>
              <a:gd name="connsiteX2" fmla="*/ 1027289 w 2957689"/>
              <a:gd name="connsiteY2" fmla="*/ 39511 h 671689"/>
              <a:gd name="connsiteX3" fmla="*/ 1215083 w 2957689"/>
              <a:gd name="connsiteY3" fmla="*/ 344311 h 671689"/>
              <a:gd name="connsiteX4" fmla="*/ 1578270 w 2957689"/>
              <a:gd name="connsiteY4" fmla="*/ 524934 h 671689"/>
              <a:gd name="connsiteX5" fmla="*/ 2957689 w 2957689"/>
              <a:gd name="connsiteY5" fmla="*/ 513645 h 671689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02728"/>
              <a:gd name="connsiteX1" fmla="*/ 699911 w 2957689"/>
              <a:gd name="connsiteY1" fmla="*/ 557573 h 602728"/>
              <a:gd name="connsiteX2" fmla="*/ 1027289 w 2957689"/>
              <a:gd name="connsiteY2" fmla="*/ 15706 h 602728"/>
              <a:gd name="connsiteX3" fmla="*/ 1215083 w 2957689"/>
              <a:gd name="connsiteY3" fmla="*/ 463336 h 602728"/>
              <a:gd name="connsiteX4" fmla="*/ 1578270 w 2957689"/>
              <a:gd name="connsiteY4" fmla="*/ 501129 h 602728"/>
              <a:gd name="connsiteX5" fmla="*/ 2957689 w 2957689"/>
              <a:gd name="connsiteY5" fmla="*/ 489840 h 602728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49966 h 598559"/>
              <a:gd name="connsiteX1" fmla="*/ 699911 w 2957689"/>
              <a:gd name="connsiteY1" fmla="*/ 549966 h 598559"/>
              <a:gd name="connsiteX2" fmla="*/ 1027289 w 2957689"/>
              <a:gd name="connsiteY2" fmla="*/ 8099 h 598559"/>
              <a:gd name="connsiteX3" fmla="*/ 1215083 w 2957689"/>
              <a:gd name="connsiteY3" fmla="*/ 598559 h 598559"/>
              <a:gd name="connsiteX4" fmla="*/ 1578270 w 2957689"/>
              <a:gd name="connsiteY4" fmla="*/ 493522 h 598559"/>
              <a:gd name="connsiteX5" fmla="*/ 2957689 w 2957689"/>
              <a:gd name="connsiteY5" fmla="*/ 482233 h 598559"/>
              <a:gd name="connsiteX0" fmla="*/ 0 w 2957689"/>
              <a:gd name="connsiteY0" fmla="*/ 549966 h 598559"/>
              <a:gd name="connsiteX1" fmla="*/ 699911 w 2957689"/>
              <a:gd name="connsiteY1" fmla="*/ 549966 h 598559"/>
              <a:gd name="connsiteX2" fmla="*/ 1027289 w 2957689"/>
              <a:gd name="connsiteY2" fmla="*/ 8099 h 598559"/>
              <a:gd name="connsiteX3" fmla="*/ 1215083 w 2957689"/>
              <a:gd name="connsiteY3" fmla="*/ 598559 h 598559"/>
              <a:gd name="connsiteX4" fmla="*/ 1578270 w 2957689"/>
              <a:gd name="connsiteY4" fmla="*/ 493522 h 598559"/>
              <a:gd name="connsiteX5" fmla="*/ 2957689 w 2957689"/>
              <a:gd name="connsiteY5" fmla="*/ 482233 h 598559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615301 h 676133"/>
              <a:gd name="connsiteX1" fmla="*/ 699911 w 2957689"/>
              <a:gd name="connsiteY1" fmla="*/ 615301 h 676133"/>
              <a:gd name="connsiteX2" fmla="*/ 1027289 w 2957689"/>
              <a:gd name="connsiteY2" fmla="*/ 73434 h 676133"/>
              <a:gd name="connsiteX3" fmla="*/ 1215083 w 2957689"/>
              <a:gd name="connsiteY3" fmla="*/ 663894 h 676133"/>
              <a:gd name="connsiteX4" fmla="*/ 1457442 w 2957689"/>
              <a:gd name="connsiteY4" fmla="*/ 0 h 676133"/>
              <a:gd name="connsiteX5" fmla="*/ 1578270 w 2957689"/>
              <a:gd name="connsiteY5" fmla="*/ 558857 h 676133"/>
              <a:gd name="connsiteX6" fmla="*/ 2957689 w 2957689"/>
              <a:gd name="connsiteY6" fmla="*/ 547568 h 676133"/>
              <a:gd name="connsiteX0" fmla="*/ 0 w 2957689"/>
              <a:gd name="connsiteY0" fmla="*/ 696205 h 736612"/>
              <a:gd name="connsiteX1" fmla="*/ 699911 w 2957689"/>
              <a:gd name="connsiteY1" fmla="*/ 696205 h 736612"/>
              <a:gd name="connsiteX2" fmla="*/ 1027289 w 2957689"/>
              <a:gd name="connsiteY2" fmla="*/ 154338 h 736612"/>
              <a:gd name="connsiteX3" fmla="*/ 1457442 w 2957689"/>
              <a:gd name="connsiteY3" fmla="*/ 80904 h 736612"/>
              <a:gd name="connsiteX4" fmla="*/ 1578270 w 2957689"/>
              <a:gd name="connsiteY4" fmla="*/ 639761 h 736612"/>
              <a:gd name="connsiteX5" fmla="*/ 2957689 w 2957689"/>
              <a:gd name="connsiteY5" fmla="*/ 628472 h 736612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02151"/>
              <a:gd name="connsiteX1" fmla="*/ 699911 w 2957689"/>
              <a:gd name="connsiteY1" fmla="*/ 548319 h 602151"/>
              <a:gd name="connsiteX2" fmla="*/ 1027289 w 2957689"/>
              <a:gd name="connsiteY2" fmla="*/ 6452 h 602151"/>
              <a:gd name="connsiteX3" fmla="*/ 1282752 w 2957689"/>
              <a:gd name="connsiteY3" fmla="*/ 587030 h 602151"/>
              <a:gd name="connsiteX4" fmla="*/ 1578270 w 2957689"/>
              <a:gd name="connsiteY4" fmla="*/ 491875 h 602151"/>
              <a:gd name="connsiteX5" fmla="*/ 2957689 w 2957689"/>
              <a:gd name="connsiteY5" fmla="*/ 480586 h 602151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957689 w 2957689"/>
              <a:gd name="connsiteY5" fmla="*/ 480586 h 588726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062988 w 2957689"/>
              <a:gd name="connsiteY5" fmla="*/ 490855 h 588726"/>
              <a:gd name="connsiteX6" fmla="*/ 2957689 w 2957689"/>
              <a:gd name="connsiteY6" fmla="*/ 480586 h 588726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957689 w 2957689"/>
              <a:gd name="connsiteY5" fmla="*/ 480586 h 588726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623416 h 666052"/>
              <a:gd name="connsiteX0" fmla="*/ 0 w 2957689"/>
              <a:gd name="connsiteY0" fmla="*/ 960932 h 1078665"/>
              <a:gd name="connsiteX1" fmla="*/ 699911 w 2957689"/>
              <a:gd name="connsiteY1" fmla="*/ 960932 h 1078665"/>
              <a:gd name="connsiteX2" fmla="*/ 1027289 w 2957689"/>
              <a:gd name="connsiteY2" fmla="*/ 419065 h 1078665"/>
              <a:gd name="connsiteX3" fmla="*/ 1282752 w 2957689"/>
              <a:gd name="connsiteY3" fmla="*/ 999643 h 1078665"/>
              <a:gd name="connsiteX4" fmla="*/ 2957689 w 2957689"/>
              <a:gd name="connsiteY4" fmla="*/ 10443 h 1078665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580459 h 666052"/>
              <a:gd name="connsiteX0" fmla="*/ 0 w 2957689"/>
              <a:gd name="connsiteY0" fmla="*/ 739162 h 779569"/>
              <a:gd name="connsiteX1" fmla="*/ 699911 w 2957689"/>
              <a:gd name="connsiteY1" fmla="*/ 739162 h 779569"/>
              <a:gd name="connsiteX2" fmla="*/ 1027289 w 2957689"/>
              <a:gd name="connsiteY2" fmla="*/ 197295 h 779569"/>
              <a:gd name="connsiteX3" fmla="*/ 1282752 w 2957689"/>
              <a:gd name="connsiteY3" fmla="*/ 80904 h 779569"/>
              <a:gd name="connsiteX4" fmla="*/ 2957689 w 2957689"/>
              <a:gd name="connsiteY4" fmla="*/ 771302 h 779569"/>
              <a:gd name="connsiteX0" fmla="*/ 0 w 2957689"/>
              <a:gd name="connsiteY0" fmla="*/ 542575 h 617351"/>
              <a:gd name="connsiteX1" fmla="*/ 699911 w 2957689"/>
              <a:gd name="connsiteY1" fmla="*/ 542575 h 617351"/>
              <a:gd name="connsiteX2" fmla="*/ 1027289 w 2957689"/>
              <a:gd name="connsiteY2" fmla="*/ 708 h 617351"/>
              <a:gd name="connsiteX3" fmla="*/ 1282752 w 2957689"/>
              <a:gd name="connsiteY3" fmla="*/ 538329 h 617351"/>
              <a:gd name="connsiteX4" fmla="*/ 2957689 w 2957689"/>
              <a:gd name="connsiteY4" fmla="*/ 574715 h 617351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74715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74715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206363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2524841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2139370 w 2957689"/>
              <a:gd name="connsiteY2" fmla="*/ 708 h 582982"/>
              <a:gd name="connsiteX3" fmla="*/ 2524841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1974502 w 2957689"/>
              <a:gd name="connsiteY1" fmla="*/ 542575 h 582982"/>
              <a:gd name="connsiteX2" fmla="*/ 2139370 w 2957689"/>
              <a:gd name="connsiteY2" fmla="*/ 708 h 582982"/>
              <a:gd name="connsiteX3" fmla="*/ 2524841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1974502 w 2957689"/>
              <a:gd name="connsiteY1" fmla="*/ 542575 h 582982"/>
              <a:gd name="connsiteX2" fmla="*/ 2276388 w 2957689"/>
              <a:gd name="connsiteY2" fmla="*/ 708 h 582982"/>
              <a:gd name="connsiteX3" fmla="*/ 2524841 w 2957689"/>
              <a:gd name="connsiteY3" fmla="*/ 538329 h 582982"/>
              <a:gd name="connsiteX4" fmla="*/ 2957689 w 2957689"/>
              <a:gd name="connsiteY4" fmla="*/ 531758 h 582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7689" h="582982">
                <a:moveTo>
                  <a:pt x="0" y="542575"/>
                </a:moveTo>
                <a:lnTo>
                  <a:pt x="1974502" y="542575"/>
                </a:lnTo>
                <a:cubicBezTo>
                  <a:pt x="2156302" y="582982"/>
                  <a:pt x="2184665" y="1416"/>
                  <a:pt x="2276388" y="708"/>
                </a:cubicBezTo>
                <a:cubicBezTo>
                  <a:pt x="2368111" y="0"/>
                  <a:pt x="2433011" y="457425"/>
                  <a:pt x="2524841" y="538329"/>
                </a:cubicBezTo>
                <a:lnTo>
                  <a:pt x="2957689" y="531758"/>
                </a:lnTo>
              </a:path>
            </a:pathLst>
          </a:custGeom>
          <a:ln w="25400">
            <a:solidFill>
              <a:srgbClr val="FF0000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CH" sz="2000">
              <a:solidFill>
                <a:srgbClr val="FFFFFF"/>
              </a:solidFill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3506775" y="3429000"/>
            <a:ext cx="3322683" cy="582982"/>
          </a:xfrm>
          <a:custGeom>
            <a:avLst/>
            <a:gdLst>
              <a:gd name="connsiteX0" fmla="*/ 0 w 2957689"/>
              <a:gd name="connsiteY0" fmla="*/ 551274 h 641585"/>
              <a:gd name="connsiteX1" fmla="*/ 699911 w 2957689"/>
              <a:gd name="connsiteY1" fmla="*/ 551274 h 641585"/>
              <a:gd name="connsiteX2" fmla="*/ 1027289 w 2957689"/>
              <a:gd name="connsiteY2" fmla="*/ 9407 h 641585"/>
              <a:gd name="connsiteX3" fmla="*/ 1241778 w 2957689"/>
              <a:gd name="connsiteY3" fmla="*/ 494830 h 641585"/>
              <a:gd name="connsiteX4" fmla="*/ 2957689 w 2957689"/>
              <a:gd name="connsiteY4" fmla="*/ 483541 h 641585"/>
              <a:gd name="connsiteX0" fmla="*/ 0 w 2957689"/>
              <a:gd name="connsiteY0" fmla="*/ 551274 h 641585"/>
              <a:gd name="connsiteX1" fmla="*/ 699911 w 2957689"/>
              <a:gd name="connsiteY1" fmla="*/ 551274 h 641585"/>
              <a:gd name="connsiteX2" fmla="*/ 1027289 w 2957689"/>
              <a:gd name="connsiteY2" fmla="*/ 9407 h 641585"/>
              <a:gd name="connsiteX3" fmla="*/ 1241778 w 2957689"/>
              <a:gd name="connsiteY3" fmla="*/ 494830 h 641585"/>
              <a:gd name="connsiteX4" fmla="*/ 2957689 w 2957689"/>
              <a:gd name="connsiteY4" fmla="*/ 483541 h 641585"/>
              <a:gd name="connsiteX0" fmla="*/ 0 w 2957689"/>
              <a:gd name="connsiteY0" fmla="*/ 581378 h 671689"/>
              <a:gd name="connsiteX1" fmla="*/ 699911 w 2957689"/>
              <a:gd name="connsiteY1" fmla="*/ 581378 h 671689"/>
              <a:gd name="connsiteX2" fmla="*/ 1027289 w 2957689"/>
              <a:gd name="connsiteY2" fmla="*/ 39511 h 671689"/>
              <a:gd name="connsiteX3" fmla="*/ 1215083 w 2957689"/>
              <a:gd name="connsiteY3" fmla="*/ 344311 h 671689"/>
              <a:gd name="connsiteX4" fmla="*/ 1241778 w 2957689"/>
              <a:gd name="connsiteY4" fmla="*/ 524934 h 671689"/>
              <a:gd name="connsiteX5" fmla="*/ 2957689 w 2957689"/>
              <a:gd name="connsiteY5" fmla="*/ 513645 h 671689"/>
              <a:gd name="connsiteX0" fmla="*/ 0 w 2957689"/>
              <a:gd name="connsiteY0" fmla="*/ 581378 h 671689"/>
              <a:gd name="connsiteX1" fmla="*/ 699911 w 2957689"/>
              <a:gd name="connsiteY1" fmla="*/ 581378 h 671689"/>
              <a:gd name="connsiteX2" fmla="*/ 1027289 w 2957689"/>
              <a:gd name="connsiteY2" fmla="*/ 39511 h 671689"/>
              <a:gd name="connsiteX3" fmla="*/ 1215083 w 2957689"/>
              <a:gd name="connsiteY3" fmla="*/ 344311 h 671689"/>
              <a:gd name="connsiteX4" fmla="*/ 1578270 w 2957689"/>
              <a:gd name="connsiteY4" fmla="*/ 524934 h 671689"/>
              <a:gd name="connsiteX5" fmla="*/ 2957689 w 2957689"/>
              <a:gd name="connsiteY5" fmla="*/ 513645 h 671689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02728"/>
              <a:gd name="connsiteX1" fmla="*/ 699911 w 2957689"/>
              <a:gd name="connsiteY1" fmla="*/ 557573 h 602728"/>
              <a:gd name="connsiteX2" fmla="*/ 1027289 w 2957689"/>
              <a:gd name="connsiteY2" fmla="*/ 15706 h 602728"/>
              <a:gd name="connsiteX3" fmla="*/ 1215083 w 2957689"/>
              <a:gd name="connsiteY3" fmla="*/ 463336 h 602728"/>
              <a:gd name="connsiteX4" fmla="*/ 1578270 w 2957689"/>
              <a:gd name="connsiteY4" fmla="*/ 501129 h 602728"/>
              <a:gd name="connsiteX5" fmla="*/ 2957689 w 2957689"/>
              <a:gd name="connsiteY5" fmla="*/ 489840 h 602728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49966 h 598559"/>
              <a:gd name="connsiteX1" fmla="*/ 699911 w 2957689"/>
              <a:gd name="connsiteY1" fmla="*/ 549966 h 598559"/>
              <a:gd name="connsiteX2" fmla="*/ 1027289 w 2957689"/>
              <a:gd name="connsiteY2" fmla="*/ 8099 h 598559"/>
              <a:gd name="connsiteX3" fmla="*/ 1215083 w 2957689"/>
              <a:gd name="connsiteY3" fmla="*/ 598559 h 598559"/>
              <a:gd name="connsiteX4" fmla="*/ 1578270 w 2957689"/>
              <a:gd name="connsiteY4" fmla="*/ 493522 h 598559"/>
              <a:gd name="connsiteX5" fmla="*/ 2957689 w 2957689"/>
              <a:gd name="connsiteY5" fmla="*/ 482233 h 598559"/>
              <a:gd name="connsiteX0" fmla="*/ 0 w 2957689"/>
              <a:gd name="connsiteY0" fmla="*/ 549966 h 598559"/>
              <a:gd name="connsiteX1" fmla="*/ 699911 w 2957689"/>
              <a:gd name="connsiteY1" fmla="*/ 549966 h 598559"/>
              <a:gd name="connsiteX2" fmla="*/ 1027289 w 2957689"/>
              <a:gd name="connsiteY2" fmla="*/ 8099 h 598559"/>
              <a:gd name="connsiteX3" fmla="*/ 1215083 w 2957689"/>
              <a:gd name="connsiteY3" fmla="*/ 598559 h 598559"/>
              <a:gd name="connsiteX4" fmla="*/ 1578270 w 2957689"/>
              <a:gd name="connsiteY4" fmla="*/ 493522 h 598559"/>
              <a:gd name="connsiteX5" fmla="*/ 2957689 w 2957689"/>
              <a:gd name="connsiteY5" fmla="*/ 482233 h 598559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615301 h 676133"/>
              <a:gd name="connsiteX1" fmla="*/ 699911 w 2957689"/>
              <a:gd name="connsiteY1" fmla="*/ 615301 h 676133"/>
              <a:gd name="connsiteX2" fmla="*/ 1027289 w 2957689"/>
              <a:gd name="connsiteY2" fmla="*/ 73434 h 676133"/>
              <a:gd name="connsiteX3" fmla="*/ 1215083 w 2957689"/>
              <a:gd name="connsiteY3" fmla="*/ 663894 h 676133"/>
              <a:gd name="connsiteX4" fmla="*/ 1457442 w 2957689"/>
              <a:gd name="connsiteY4" fmla="*/ 0 h 676133"/>
              <a:gd name="connsiteX5" fmla="*/ 1578270 w 2957689"/>
              <a:gd name="connsiteY5" fmla="*/ 558857 h 676133"/>
              <a:gd name="connsiteX6" fmla="*/ 2957689 w 2957689"/>
              <a:gd name="connsiteY6" fmla="*/ 547568 h 676133"/>
              <a:gd name="connsiteX0" fmla="*/ 0 w 2957689"/>
              <a:gd name="connsiteY0" fmla="*/ 696205 h 736612"/>
              <a:gd name="connsiteX1" fmla="*/ 699911 w 2957689"/>
              <a:gd name="connsiteY1" fmla="*/ 696205 h 736612"/>
              <a:gd name="connsiteX2" fmla="*/ 1027289 w 2957689"/>
              <a:gd name="connsiteY2" fmla="*/ 154338 h 736612"/>
              <a:gd name="connsiteX3" fmla="*/ 1457442 w 2957689"/>
              <a:gd name="connsiteY3" fmla="*/ 80904 h 736612"/>
              <a:gd name="connsiteX4" fmla="*/ 1578270 w 2957689"/>
              <a:gd name="connsiteY4" fmla="*/ 639761 h 736612"/>
              <a:gd name="connsiteX5" fmla="*/ 2957689 w 2957689"/>
              <a:gd name="connsiteY5" fmla="*/ 628472 h 736612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02151"/>
              <a:gd name="connsiteX1" fmla="*/ 699911 w 2957689"/>
              <a:gd name="connsiteY1" fmla="*/ 548319 h 602151"/>
              <a:gd name="connsiteX2" fmla="*/ 1027289 w 2957689"/>
              <a:gd name="connsiteY2" fmla="*/ 6452 h 602151"/>
              <a:gd name="connsiteX3" fmla="*/ 1282752 w 2957689"/>
              <a:gd name="connsiteY3" fmla="*/ 587030 h 602151"/>
              <a:gd name="connsiteX4" fmla="*/ 1578270 w 2957689"/>
              <a:gd name="connsiteY4" fmla="*/ 491875 h 602151"/>
              <a:gd name="connsiteX5" fmla="*/ 2957689 w 2957689"/>
              <a:gd name="connsiteY5" fmla="*/ 480586 h 602151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957689 w 2957689"/>
              <a:gd name="connsiteY5" fmla="*/ 480586 h 588726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062988 w 2957689"/>
              <a:gd name="connsiteY5" fmla="*/ 490855 h 588726"/>
              <a:gd name="connsiteX6" fmla="*/ 2957689 w 2957689"/>
              <a:gd name="connsiteY6" fmla="*/ 480586 h 588726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957689 w 2957689"/>
              <a:gd name="connsiteY5" fmla="*/ 480586 h 588726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623416 h 666052"/>
              <a:gd name="connsiteX0" fmla="*/ 0 w 2957689"/>
              <a:gd name="connsiteY0" fmla="*/ 960932 h 1078665"/>
              <a:gd name="connsiteX1" fmla="*/ 699911 w 2957689"/>
              <a:gd name="connsiteY1" fmla="*/ 960932 h 1078665"/>
              <a:gd name="connsiteX2" fmla="*/ 1027289 w 2957689"/>
              <a:gd name="connsiteY2" fmla="*/ 419065 h 1078665"/>
              <a:gd name="connsiteX3" fmla="*/ 1282752 w 2957689"/>
              <a:gd name="connsiteY3" fmla="*/ 999643 h 1078665"/>
              <a:gd name="connsiteX4" fmla="*/ 2957689 w 2957689"/>
              <a:gd name="connsiteY4" fmla="*/ 10443 h 1078665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580459 h 666052"/>
              <a:gd name="connsiteX0" fmla="*/ 0 w 2957689"/>
              <a:gd name="connsiteY0" fmla="*/ 739162 h 779569"/>
              <a:gd name="connsiteX1" fmla="*/ 699911 w 2957689"/>
              <a:gd name="connsiteY1" fmla="*/ 739162 h 779569"/>
              <a:gd name="connsiteX2" fmla="*/ 1027289 w 2957689"/>
              <a:gd name="connsiteY2" fmla="*/ 197295 h 779569"/>
              <a:gd name="connsiteX3" fmla="*/ 1282752 w 2957689"/>
              <a:gd name="connsiteY3" fmla="*/ 80904 h 779569"/>
              <a:gd name="connsiteX4" fmla="*/ 2957689 w 2957689"/>
              <a:gd name="connsiteY4" fmla="*/ 771302 h 779569"/>
              <a:gd name="connsiteX0" fmla="*/ 0 w 2957689"/>
              <a:gd name="connsiteY0" fmla="*/ 542575 h 617351"/>
              <a:gd name="connsiteX1" fmla="*/ 699911 w 2957689"/>
              <a:gd name="connsiteY1" fmla="*/ 542575 h 617351"/>
              <a:gd name="connsiteX2" fmla="*/ 1027289 w 2957689"/>
              <a:gd name="connsiteY2" fmla="*/ 708 h 617351"/>
              <a:gd name="connsiteX3" fmla="*/ 1282752 w 2957689"/>
              <a:gd name="connsiteY3" fmla="*/ 538329 h 617351"/>
              <a:gd name="connsiteX4" fmla="*/ 2957689 w 2957689"/>
              <a:gd name="connsiteY4" fmla="*/ 574715 h 617351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74715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74715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206363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836930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836930 w 2957689"/>
              <a:gd name="connsiteY1" fmla="*/ 542575 h 582982"/>
              <a:gd name="connsiteX2" fmla="*/ 1131805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836930 w 2957689"/>
              <a:gd name="connsiteY1" fmla="*/ 542575 h 582982"/>
              <a:gd name="connsiteX2" fmla="*/ 1131805 w 2957689"/>
              <a:gd name="connsiteY2" fmla="*/ 708 h 582982"/>
              <a:gd name="connsiteX3" fmla="*/ 1387268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836930 w 2957689"/>
              <a:gd name="connsiteY1" fmla="*/ 542575 h 582982"/>
              <a:gd name="connsiteX2" fmla="*/ 1131805 w 2957689"/>
              <a:gd name="connsiteY2" fmla="*/ 708 h 582982"/>
              <a:gd name="connsiteX3" fmla="*/ 1784303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836930 w 2957689"/>
              <a:gd name="connsiteY1" fmla="*/ 542575 h 582982"/>
              <a:gd name="connsiteX2" fmla="*/ 1463836 w 2957689"/>
              <a:gd name="connsiteY2" fmla="*/ 708 h 582982"/>
              <a:gd name="connsiteX3" fmla="*/ 1784303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1168961 w 2957689"/>
              <a:gd name="connsiteY1" fmla="*/ 542575 h 582982"/>
              <a:gd name="connsiteX2" fmla="*/ 1463836 w 2957689"/>
              <a:gd name="connsiteY2" fmla="*/ 708 h 582982"/>
              <a:gd name="connsiteX3" fmla="*/ 1784303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1168961 w 2957689"/>
              <a:gd name="connsiteY1" fmla="*/ 542575 h 582982"/>
              <a:gd name="connsiteX2" fmla="*/ 1503348 w 2957689"/>
              <a:gd name="connsiteY2" fmla="*/ 708 h 582982"/>
              <a:gd name="connsiteX3" fmla="*/ 1784303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1168961 w 2957689"/>
              <a:gd name="connsiteY1" fmla="*/ 542575 h 582982"/>
              <a:gd name="connsiteX2" fmla="*/ 1542860 w 2957689"/>
              <a:gd name="connsiteY2" fmla="*/ 708 h 582982"/>
              <a:gd name="connsiteX3" fmla="*/ 1784303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1168961 w 2957689"/>
              <a:gd name="connsiteY1" fmla="*/ 542575 h 582982"/>
              <a:gd name="connsiteX2" fmla="*/ 1542860 w 2957689"/>
              <a:gd name="connsiteY2" fmla="*/ 708 h 582982"/>
              <a:gd name="connsiteX3" fmla="*/ 1823815 w 2957689"/>
              <a:gd name="connsiteY3" fmla="*/ 538329 h 582982"/>
              <a:gd name="connsiteX4" fmla="*/ 2957689 w 2957689"/>
              <a:gd name="connsiteY4" fmla="*/ 531758 h 582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7689" h="582982">
                <a:moveTo>
                  <a:pt x="0" y="542575"/>
                </a:moveTo>
                <a:lnTo>
                  <a:pt x="1168961" y="542575"/>
                </a:lnTo>
                <a:cubicBezTo>
                  <a:pt x="1350761" y="582982"/>
                  <a:pt x="1433718" y="1416"/>
                  <a:pt x="1542860" y="708"/>
                </a:cubicBezTo>
                <a:cubicBezTo>
                  <a:pt x="1652002" y="0"/>
                  <a:pt x="1731985" y="457425"/>
                  <a:pt x="1823815" y="538329"/>
                </a:cubicBezTo>
                <a:lnTo>
                  <a:pt x="2957689" y="531758"/>
                </a:lnTo>
              </a:path>
            </a:pathLst>
          </a:custGeom>
          <a:ln w="25400">
            <a:solidFill>
              <a:srgbClr val="FF0000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CH" sz="2000">
              <a:solidFill>
                <a:srgbClr val="FFFFFF"/>
              </a:solidFill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4900617" y="3429000"/>
            <a:ext cx="3322683" cy="582982"/>
          </a:xfrm>
          <a:custGeom>
            <a:avLst/>
            <a:gdLst>
              <a:gd name="connsiteX0" fmla="*/ 0 w 2957689"/>
              <a:gd name="connsiteY0" fmla="*/ 551274 h 641585"/>
              <a:gd name="connsiteX1" fmla="*/ 699911 w 2957689"/>
              <a:gd name="connsiteY1" fmla="*/ 551274 h 641585"/>
              <a:gd name="connsiteX2" fmla="*/ 1027289 w 2957689"/>
              <a:gd name="connsiteY2" fmla="*/ 9407 h 641585"/>
              <a:gd name="connsiteX3" fmla="*/ 1241778 w 2957689"/>
              <a:gd name="connsiteY3" fmla="*/ 494830 h 641585"/>
              <a:gd name="connsiteX4" fmla="*/ 2957689 w 2957689"/>
              <a:gd name="connsiteY4" fmla="*/ 483541 h 641585"/>
              <a:gd name="connsiteX0" fmla="*/ 0 w 2957689"/>
              <a:gd name="connsiteY0" fmla="*/ 551274 h 641585"/>
              <a:gd name="connsiteX1" fmla="*/ 699911 w 2957689"/>
              <a:gd name="connsiteY1" fmla="*/ 551274 h 641585"/>
              <a:gd name="connsiteX2" fmla="*/ 1027289 w 2957689"/>
              <a:gd name="connsiteY2" fmla="*/ 9407 h 641585"/>
              <a:gd name="connsiteX3" fmla="*/ 1241778 w 2957689"/>
              <a:gd name="connsiteY3" fmla="*/ 494830 h 641585"/>
              <a:gd name="connsiteX4" fmla="*/ 2957689 w 2957689"/>
              <a:gd name="connsiteY4" fmla="*/ 483541 h 641585"/>
              <a:gd name="connsiteX0" fmla="*/ 0 w 2957689"/>
              <a:gd name="connsiteY0" fmla="*/ 581378 h 671689"/>
              <a:gd name="connsiteX1" fmla="*/ 699911 w 2957689"/>
              <a:gd name="connsiteY1" fmla="*/ 581378 h 671689"/>
              <a:gd name="connsiteX2" fmla="*/ 1027289 w 2957689"/>
              <a:gd name="connsiteY2" fmla="*/ 39511 h 671689"/>
              <a:gd name="connsiteX3" fmla="*/ 1215083 w 2957689"/>
              <a:gd name="connsiteY3" fmla="*/ 344311 h 671689"/>
              <a:gd name="connsiteX4" fmla="*/ 1241778 w 2957689"/>
              <a:gd name="connsiteY4" fmla="*/ 524934 h 671689"/>
              <a:gd name="connsiteX5" fmla="*/ 2957689 w 2957689"/>
              <a:gd name="connsiteY5" fmla="*/ 513645 h 671689"/>
              <a:gd name="connsiteX0" fmla="*/ 0 w 2957689"/>
              <a:gd name="connsiteY0" fmla="*/ 581378 h 671689"/>
              <a:gd name="connsiteX1" fmla="*/ 699911 w 2957689"/>
              <a:gd name="connsiteY1" fmla="*/ 581378 h 671689"/>
              <a:gd name="connsiteX2" fmla="*/ 1027289 w 2957689"/>
              <a:gd name="connsiteY2" fmla="*/ 39511 h 671689"/>
              <a:gd name="connsiteX3" fmla="*/ 1215083 w 2957689"/>
              <a:gd name="connsiteY3" fmla="*/ 344311 h 671689"/>
              <a:gd name="connsiteX4" fmla="*/ 1578270 w 2957689"/>
              <a:gd name="connsiteY4" fmla="*/ 524934 h 671689"/>
              <a:gd name="connsiteX5" fmla="*/ 2957689 w 2957689"/>
              <a:gd name="connsiteY5" fmla="*/ 513645 h 671689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47884"/>
              <a:gd name="connsiteX1" fmla="*/ 699911 w 2957689"/>
              <a:gd name="connsiteY1" fmla="*/ 557573 h 647884"/>
              <a:gd name="connsiteX2" fmla="*/ 1027289 w 2957689"/>
              <a:gd name="connsiteY2" fmla="*/ 15706 h 647884"/>
              <a:gd name="connsiteX3" fmla="*/ 1215083 w 2957689"/>
              <a:gd name="connsiteY3" fmla="*/ 463336 h 647884"/>
              <a:gd name="connsiteX4" fmla="*/ 1578270 w 2957689"/>
              <a:gd name="connsiteY4" fmla="*/ 501129 h 647884"/>
              <a:gd name="connsiteX5" fmla="*/ 2957689 w 2957689"/>
              <a:gd name="connsiteY5" fmla="*/ 489840 h 647884"/>
              <a:gd name="connsiteX0" fmla="*/ 0 w 2957689"/>
              <a:gd name="connsiteY0" fmla="*/ 557573 h 602728"/>
              <a:gd name="connsiteX1" fmla="*/ 699911 w 2957689"/>
              <a:gd name="connsiteY1" fmla="*/ 557573 h 602728"/>
              <a:gd name="connsiteX2" fmla="*/ 1027289 w 2957689"/>
              <a:gd name="connsiteY2" fmla="*/ 15706 h 602728"/>
              <a:gd name="connsiteX3" fmla="*/ 1215083 w 2957689"/>
              <a:gd name="connsiteY3" fmla="*/ 463336 h 602728"/>
              <a:gd name="connsiteX4" fmla="*/ 1578270 w 2957689"/>
              <a:gd name="connsiteY4" fmla="*/ 501129 h 602728"/>
              <a:gd name="connsiteX5" fmla="*/ 2957689 w 2957689"/>
              <a:gd name="connsiteY5" fmla="*/ 489840 h 602728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57573 h 597980"/>
              <a:gd name="connsiteX1" fmla="*/ 699911 w 2957689"/>
              <a:gd name="connsiteY1" fmla="*/ 557573 h 597980"/>
              <a:gd name="connsiteX2" fmla="*/ 1027289 w 2957689"/>
              <a:gd name="connsiteY2" fmla="*/ 15706 h 597980"/>
              <a:gd name="connsiteX3" fmla="*/ 1215083 w 2957689"/>
              <a:gd name="connsiteY3" fmla="*/ 463336 h 597980"/>
              <a:gd name="connsiteX4" fmla="*/ 1578270 w 2957689"/>
              <a:gd name="connsiteY4" fmla="*/ 501129 h 597980"/>
              <a:gd name="connsiteX5" fmla="*/ 2957689 w 2957689"/>
              <a:gd name="connsiteY5" fmla="*/ 489840 h 597980"/>
              <a:gd name="connsiteX0" fmla="*/ 0 w 2957689"/>
              <a:gd name="connsiteY0" fmla="*/ 549966 h 598559"/>
              <a:gd name="connsiteX1" fmla="*/ 699911 w 2957689"/>
              <a:gd name="connsiteY1" fmla="*/ 549966 h 598559"/>
              <a:gd name="connsiteX2" fmla="*/ 1027289 w 2957689"/>
              <a:gd name="connsiteY2" fmla="*/ 8099 h 598559"/>
              <a:gd name="connsiteX3" fmla="*/ 1215083 w 2957689"/>
              <a:gd name="connsiteY3" fmla="*/ 598559 h 598559"/>
              <a:gd name="connsiteX4" fmla="*/ 1578270 w 2957689"/>
              <a:gd name="connsiteY4" fmla="*/ 493522 h 598559"/>
              <a:gd name="connsiteX5" fmla="*/ 2957689 w 2957689"/>
              <a:gd name="connsiteY5" fmla="*/ 482233 h 598559"/>
              <a:gd name="connsiteX0" fmla="*/ 0 w 2957689"/>
              <a:gd name="connsiteY0" fmla="*/ 549966 h 598559"/>
              <a:gd name="connsiteX1" fmla="*/ 699911 w 2957689"/>
              <a:gd name="connsiteY1" fmla="*/ 549966 h 598559"/>
              <a:gd name="connsiteX2" fmla="*/ 1027289 w 2957689"/>
              <a:gd name="connsiteY2" fmla="*/ 8099 h 598559"/>
              <a:gd name="connsiteX3" fmla="*/ 1215083 w 2957689"/>
              <a:gd name="connsiteY3" fmla="*/ 598559 h 598559"/>
              <a:gd name="connsiteX4" fmla="*/ 1578270 w 2957689"/>
              <a:gd name="connsiteY4" fmla="*/ 493522 h 598559"/>
              <a:gd name="connsiteX5" fmla="*/ 2957689 w 2957689"/>
              <a:gd name="connsiteY5" fmla="*/ 482233 h 598559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549966 h 696396"/>
              <a:gd name="connsiteX1" fmla="*/ 699911 w 2957689"/>
              <a:gd name="connsiteY1" fmla="*/ 549966 h 696396"/>
              <a:gd name="connsiteX2" fmla="*/ 1027289 w 2957689"/>
              <a:gd name="connsiteY2" fmla="*/ 8099 h 696396"/>
              <a:gd name="connsiteX3" fmla="*/ 1215083 w 2957689"/>
              <a:gd name="connsiteY3" fmla="*/ 598559 h 696396"/>
              <a:gd name="connsiteX4" fmla="*/ 1230489 w 2957689"/>
              <a:gd name="connsiteY4" fmla="*/ 595121 h 696396"/>
              <a:gd name="connsiteX5" fmla="*/ 1578270 w 2957689"/>
              <a:gd name="connsiteY5" fmla="*/ 493522 h 696396"/>
              <a:gd name="connsiteX6" fmla="*/ 2957689 w 2957689"/>
              <a:gd name="connsiteY6" fmla="*/ 482233 h 696396"/>
              <a:gd name="connsiteX0" fmla="*/ 0 w 2957689"/>
              <a:gd name="connsiteY0" fmla="*/ 615301 h 676133"/>
              <a:gd name="connsiteX1" fmla="*/ 699911 w 2957689"/>
              <a:gd name="connsiteY1" fmla="*/ 615301 h 676133"/>
              <a:gd name="connsiteX2" fmla="*/ 1027289 w 2957689"/>
              <a:gd name="connsiteY2" fmla="*/ 73434 h 676133"/>
              <a:gd name="connsiteX3" fmla="*/ 1215083 w 2957689"/>
              <a:gd name="connsiteY3" fmla="*/ 663894 h 676133"/>
              <a:gd name="connsiteX4" fmla="*/ 1457442 w 2957689"/>
              <a:gd name="connsiteY4" fmla="*/ 0 h 676133"/>
              <a:gd name="connsiteX5" fmla="*/ 1578270 w 2957689"/>
              <a:gd name="connsiteY5" fmla="*/ 558857 h 676133"/>
              <a:gd name="connsiteX6" fmla="*/ 2957689 w 2957689"/>
              <a:gd name="connsiteY6" fmla="*/ 547568 h 676133"/>
              <a:gd name="connsiteX0" fmla="*/ 0 w 2957689"/>
              <a:gd name="connsiteY0" fmla="*/ 696205 h 736612"/>
              <a:gd name="connsiteX1" fmla="*/ 699911 w 2957689"/>
              <a:gd name="connsiteY1" fmla="*/ 696205 h 736612"/>
              <a:gd name="connsiteX2" fmla="*/ 1027289 w 2957689"/>
              <a:gd name="connsiteY2" fmla="*/ 154338 h 736612"/>
              <a:gd name="connsiteX3" fmla="*/ 1457442 w 2957689"/>
              <a:gd name="connsiteY3" fmla="*/ 80904 h 736612"/>
              <a:gd name="connsiteX4" fmla="*/ 1578270 w 2957689"/>
              <a:gd name="connsiteY4" fmla="*/ 639761 h 736612"/>
              <a:gd name="connsiteX5" fmla="*/ 2957689 w 2957689"/>
              <a:gd name="connsiteY5" fmla="*/ 628472 h 736612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67934"/>
              <a:gd name="connsiteX1" fmla="*/ 699911 w 2957689"/>
              <a:gd name="connsiteY1" fmla="*/ 548319 h 667934"/>
              <a:gd name="connsiteX2" fmla="*/ 1027289 w 2957689"/>
              <a:gd name="connsiteY2" fmla="*/ 6452 h 667934"/>
              <a:gd name="connsiteX3" fmla="*/ 1282752 w 2957689"/>
              <a:gd name="connsiteY3" fmla="*/ 587030 h 667934"/>
              <a:gd name="connsiteX4" fmla="*/ 1578270 w 2957689"/>
              <a:gd name="connsiteY4" fmla="*/ 491875 h 667934"/>
              <a:gd name="connsiteX5" fmla="*/ 2957689 w 2957689"/>
              <a:gd name="connsiteY5" fmla="*/ 480586 h 667934"/>
              <a:gd name="connsiteX0" fmla="*/ 0 w 2957689"/>
              <a:gd name="connsiteY0" fmla="*/ 548319 h 602151"/>
              <a:gd name="connsiteX1" fmla="*/ 699911 w 2957689"/>
              <a:gd name="connsiteY1" fmla="*/ 548319 h 602151"/>
              <a:gd name="connsiteX2" fmla="*/ 1027289 w 2957689"/>
              <a:gd name="connsiteY2" fmla="*/ 6452 h 602151"/>
              <a:gd name="connsiteX3" fmla="*/ 1282752 w 2957689"/>
              <a:gd name="connsiteY3" fmla="*/ 587030 h 602151"/>
              <a:gd name="connsiteX4" fmla="*/ 1578270 w 2957689"/>
              <a:gd name="connsiteY4" fmla="*/ 491875 h 602151"/>
              <a:gd name="connsiteX5" fmla="*/ 2957689 w 2957689"/>
              <a:gd name="connsiteY5" fmla="*/ 480586 h 602151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957689 w 2957689"/>
              <a:gd name="connsiteY5" fmla="*/ 480586 h 588726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062988 w 2957689"/>
              <a:gd name="connsiteY5" fmla="*/ 490855 h 588726"/>
              <a:gd name="connsiteX6" fmla="*/ 2957689 w 2957689"/>
              <a:gd name="connsiteY6" fmla="*/ 480586 h 588726"/>
              <a:gd name="connsiteX0" fmla="*/ 0 w 2957689"/>
              <a:gd name="connsiteY0" fmla="*/ 548319 h 588726"/>
              <a:gd name="connsiteX1" fmla="*/ 699911 w 2957689"/>
              <a:gd name="connsiteY1" fmla="*/ 548319 h 588726"/>
              <a:gd name="connsiteX2" fmla="*/ 1027289 w 2957689"/>
              <a:gd name="connsiteY2" fmla="*/ 6452 h 588726"/>
              <a:gd name="connsiteX3" fmla="*/ 1282752 w 2957689"/>
              <a:gd name="connsiteY3" fmla="*/ 587030 h 588726"/>
              <a:gd name="connsiteX4" fmla="*/ 1578270 w 2957689"/>
              <a:gd name="connsiteY4" fmla="*/ 491875 h 588726"/>
              <a:gd name="connsiteX5" fmla="*/ 2957689 w 2957689"/>
              <a:gd name="connsiteY5" fmla="*/ 480586 h 588726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480586 h 666052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623416 h 666052"/>
              <a:gd name="connsiteX0" fmla="*/ 0 w 2957689"/>
              <a:gd name="connsiteY0" fmla="*/ 960932 h 1078665"/>
              <a:gd name="connsiteX1" fmla="*/ 699911 w 2957689"/>
              <a:gd name="connsiteY1" fmla="*/ 960932 h 1078665"/>
              <a:gd name="connsiteX2" fmla="*/ 1027289 w 2957689"/>
              <a:gd name="connsiteY2" fmla="*/ 419065 h 1078665"/>
              <a:gd name="connsiteX3" fmla="*/ 1282752 w 2957689"/>
              <a:gd name="connsiteY3" fmla="*/ 999643 h 1078665"/>
              <a:gd name="connsiteX4" fmla="*/ 2957689 w 2957689"/>
              <a:gd name="connsiteY4" fmla="*/ 10443 h 1078665"/>
              <a:gd name="connsiteX0" fmla="*/ 0 w 2957689"/>
              <a:gd name="connsiteY0" fmla="*/ 548319 h 666052"/>
              <a:gd name="connsiteX1" fmla="*/ 699911 w 2957689"/>
              <a:gd name="connsiteY1" fmla="*/ 548319 h 666052"/>
              <a:gd name="connsiteX2" fmla="*/ 1027289 w 2957689"/>
              <a:gd name="connsiteY2" fmla="*/ 6452 h 666052"/>
              <a:gd name="connsiteX3" fmla="*/ 1282752 w 2957689"/>
              <a:gd name="connsiteY3" fmla="*/ 587030 h 666052"/>
              <a:gd name="connsiteX4" fmla="*/ 2957689 w 2957689"/>
              <a:gd name="connsiteY4" fmla="*/ 580459 h 666052"/>
              <a:gd name="connsiteX0" fmla="*/ 0 w 2957689"/>
              <a:gd name="connsiteY0" fmla="*/ 739162 h 779569"/>
              <a:gd name="connsiteX1" fmla="*/ 699911 w 2957689"/>
              <a:gd name="connsiteY1" fmla="*/ 739162 h 779569"/>
              <a:gd name="connsiteX2" fmla="*/ 1027289 w 2957689"/>
              <a:gd name="connsiteY2" fmla="*/ 197295 h 779569"/>
              <a:gd name="connsiteX3" fmla="*/ 1282752 w 2957689"/>
              <a:gd name="connsiteY3" fmla="*/ 80904 h 779569"/>
              <a:gd name="connsiteX4" fmla="*/ 2957689 w 2957689"/>
              <a:gd name="connsiteY4" fmla="*/ 771302 h 779569"/>
              <a:gd name="connsiteX0" fmla="*/ 0 w 2957689"/>
              <a:gd name="connsiteY0" fmla="*/ 542575 h 617351"/>
              <a:gd name="connsiteX1" fmla="*/ 699911 w 2957689"/>
              <a:gd name="connsiteY1" fmla="*/ 542575 h 617351"/>
              <a:gd name="connsiteX2" fmla="*/ 1027289 w 2957689"/>
              <a:gd name="connsiteY2" fmla="*/ 708 h 617351"/>
              <a:gd name="connsiteX3" fmla="*/ 1282752 w 2957689"/>
              <a:gd name="connsiteY3" fmla="*/ 538329 h 617351"/>
              <a:gd name="connsiteX4" fmla="*/ 2957689 w 2957689"/>
              <a:gd name="connsiteY4" fmla="*/ 574715 h 617351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74715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74715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206363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699911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1027289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1282752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867235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906747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906747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906747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906747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906747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906747 w 2957689"/>
              <a:gd name="connsiteY3" fmla="*/ 538329 h 582982"/>
              <a:gd name="connsiteX4" fmla="*/ 2957689 w 2957689"/>
              <a:gd name="connsiteY4" fmla="*/ 531758 h 582982"/>
              <a:gd name="connsiteX0" fmla="*/ 0 w 2957689"/>
              <a:gd name="connsiteY0" fmla="*/ 542575 h 582982"/>
              <a:gd name="connsiteX1" fmla="*/ 219390 w 2957689"/>
              <a:gd name="connsiteY1" fmla="*/ 542575 h 582982"/>
              <a:gd name="connsiteX2" fmla="*/ 611772 w 2957689"/>
              <a:gd name="connsiteY2" fmla="*/ 708 h 582982"/>
              <a:gd name="connsiteX3" fmla="*/ 906747 w 2957689"/>
              <a:gd name="connsiteY3" fmla="*/ 538329 h 582982"/>
              <a:gd name="connsiteX4" fmla="*/ 2957689 w 2957689"/>
              <a:gd name="connsiteY4" fmla="*/ 531758 h 582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7689" h="582982">
                <a:moveTo>
                  <a:pt x="0" y="542575"/>
                </a:moveTo>
                <a:lnTo>
                  <a:pt x="219390" y="542575"/>
                </a:lnTo>
                <a:cubicBezTo>
                  <a:pt x="401190" y="582982"/>
                  <a:pt x="497213" y="1416"/>
                  <a:pt x="611772" y="708"/>
                </a:cubicBezTo>
                <a:cubicBezTo>
                  <a:pt x="726331" y="0"/>
                  <a:pt x="814917" y="457425"/>
                  <a:pt x="906747" y="538329"/>
                </a:cubicBezTo>
                <a:cubicBezTo>
                  <a:pt x="1008147" y="544063"/>
                  <a:pt x="2274042" y="533948"/>
                  <a:pt x="2957689" y="531758"/>
                </a:cubicBezTo>
              </a:path>
            </a:pathLst>
          </a:custGeom>
          <a:ln w="25400">
            <a:solidFill>
              <a:srgbClr val="FF0000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CH" sz="2000">
              <a:solidFill>
                <a:srgbClr val="FFFFF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8FAF46-075A-5542-8344-24C961A5F191}"/>
              </a:ext>
            </a:extLst>
          </p:cNvPr>
          <p:cNvSpPr/>
          <p:nvPr/>
        </p:nvSpPr>
        <p:spPr>
          <a:xfrm>
            <a:off x="532329" y="1188474"/>
            <a:ext cx="42819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高斯拉普拉斯检测子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LoG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305931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zh-CN" altLang="en-US" dirty="0"/>
              <a:t>特征尺度</a:t>
            </a:r>
            <a:endParaRPr lang="en-US" dirty="0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05846"/>
            <a:ext cx="8229600" cy="4525963"/>
          </a:xfrm>
        </p:spPr>
        <p:txBody>
          <a:bodyPr/>
          <a:lstStyle/>
          <a:p>
            <a:r>
              <a:rPr lang="zh-CN" altLang="en-US" b="1" dirty="0"/>
              <a:t>特征尺度</a:t>
            </a:r>
            <a:r>
              <a:rPr lang="zh-CN" altLang="en-US" dirty="0"/>
              <a:t>定义为拉普拉斯检测子达到极值的尺度</a:t>
            </a: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05000" y="2413000"/>
            <a:ext cx="5486400" cy="2768600"/>
            <a:chOff x="576" y="1184"/>
            <a:chExt cx="4464" cy="2252"/>
          </a:xfrm>
        </p:grpSpPr>
        <p:pic>
          <p:nvPicPr>
            <p:cNvPr id="105482" name="Picture 5" descr="scale_selection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6" y="1184"/>
              <a:ext cx="4464" cy="2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5483" name="Oval 6"/>
            <p:cNvSpPr>
              <a:spLocks noChangeArrowheads="1"/>
            </p:cNvSpPr>
            <p:nvPr/>
          </p:nvSpPr>
          <p:spPr bwMode="auto">
            <a:xfrm>
              <a:off x="1349" y="1863"/>
              <a:ext cx="706" cy="685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05477" name="Line 7"/>
          <p:cNvSpPr>
            <a:spLocks noChangeShapeType="1"/>
          </p:cNvSpPr>
          <p:nvPr/>
        </p:nvSpPr>
        <p:spPr bwMode="auto">
          <a:xfrm flipH="1" flipV="1">
            <a:off x="3352800" y="4129088"/>
            <a:ext cx="381000" cy="15097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5478" name="Line 8"/>
          <p:cNvSpPr>
            <a:spLocks noChangeShapeType="1"/>
          </p:cNvSpPr>
          <p:nvPr/>
        </p:nvSpPr>
        <p:spPr bwMode="auto">
          <a:xfrm flipV="1">
            <a:off x="6248400" y="5029200"/>
            <a:ext cx="228600" cy="6858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5479" name="Text Box 9"/>
          <p:cNvSpPr txBox="1">
            <a:spLocks noChangeArrowheads="1"/>
          </p:cNvSpPr>
          <p:nvPr/>
        </p:nvSpPr>
        <p:spPr bwMode="auto">
          <a:xfrm>
            <a:off x="4180621" y="5590392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Arial" pitchFamily="34" charset="0"/>
              </a:rPr>
              <a:t>特征尺度</a:t>
            </a:r>
            <a:endParaRPr lang="en-US" sz="28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05480" name="Rectangle 10"/>
          <p:cNvSpPr>
            <a:spLocks noChangeArrowheads="1"/>
          </p:cNvSpPr>
          <p:nvPr/>
        </p:nvSpPr>
        <p:spPr bwMode="auto">
          <a:xfrm>
            <a:off x="457200" y="6156325"/>
            <a:ext cx="8305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cs typeface="Arial" pitchFamily="34" charset="0"/>
              </a:rPr>
              <a:t>T. Lindeberg (1998). </a:t>
            </a:r>
            <a:r>
              <a:rPr lang="en-US" sz="2000">
                <a:solidFill>
                  <a:srgbClr val="000000"/>
                </a:solidFill>
                <a:cs typeface="Arial" pitchFamily="34" charset="0"/>
                <a:hlinkClick r:id="rId4" tooltip="http://www.nada.kth.se/cvap/abstracts/cvap198.html"/>
              </a:rPr>
              <a:t>"Feature detection with automatic scale selection."</a:t>
            </a:r>
            <a:r>
              <a:rPr lang="en-US" sz="2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sz="2000" i="1">
                <a:solidFill>
                  <a:srgbClr val="000000"/>
                </a:solidFill>
                <a:cs typeface="Arial" pitchFamily="34" charset="0"/>
              </a:rPr>
              <a:t>International Journal of Computer Vision</a:t>
            </a:r>
            <a:r>
              <a:rPr lang="en-US" sz="2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sz="2000" b="1">
                <a:solidFill>
                  <a:srgbClr val="000000"/>
                </a:solidFill>
                <a:cs typeface="Arial" pitchFamily="34" charset="0"/>
              </a:rPr>
              <a:t>30</a:t>
            </a:r>
            <a:r>
              <a:rPr lang="en-US" sz="2000">
                <a:solidFill>
                  <a:srgbClr val="000000"/>
                </a:solidFill>
                <a:cs typeface="Arial" pitchFamily="34" charset="0"/>
              </a:rPr>
              <a:t> (2): pp 77--116. </a:t>
            </a:r>
          </a:p>
        </p:txBody>
      </p:sp>
      <p:sp>
        <p:nvSpPr>
          <p:cNvPr id="105481" name="Text Box 11"/>
          <p:cNvSpPr txBox="1">
            <a:spLocks noChangeArrowheads="1"/>
          </p:cNvSpPr>
          <p:nvPr/>
        </p:nvSpPr>
        <p:spPr bwMode="auto">
          <a:xfrm>
            <a:off x="7315200" y="6567488"/>
            <a:ext cx="22860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Lana Lazebnik</a:t>
            </a:r>
          </a:p>
        </p:txBody>
      </p:sp>
    </p:spTree>
    <p:extLst>
      <p:ext uri="{BB962C8B-B14F-4D97-AF65-F5344CB8AC3E}">
        <p14:creationId xmlns:p14="http://schemas.microsoft.com/office/powerpoint/2010/main" val="19262813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/>
                </a:solidFill>
              </a:rPr>
              <a:t>K. Grauman, B. Leibe</a:t>
            </a:r>
          </a:p>
        </p:txBody>
      </p:sp>
      <p:sp>
        <p:nvSpPr>
          <p:cNvPr id="15364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en-US" dirty="0" err="1"/>
              <a:t>LoG</a:t>
            </a:r>
            <a:r>
              <a:rPr lang="zh-CN" altLang="en-US" dirty="0"/>
              <a:t>检测子</a:t>
            </a:r>
            <a:endParaRPr lang="de-CH" dirty="0"/>
          </a:p>
        </p:txBody>
      </p:sp>
      <p:sp>
        <p:nvSpPr>
          <p:cNvPr id="15365" name="Content Placeholder 2"/>
          <p:cNvSpPr>
            <a:spLocks noGrp="1"/>
          </p:cNvSpPr>
          <p:nvPr>
            <p:ph idx="4294967295"/>
          </p:nvPr>
        </p:nvSpPr>
        <p:spPr>
          <a:xfrm>
            <a:off x="304800" y="1143000"/>
            <a:ext cx="8686800" cy="4495800"/>
          </a:xfrm>
        </p:spPr>
        <p:txBody>
          <a:bodyPr/>
          <a:lstStyle/>
          <a:p>
            <a:pPr eaLnBrk="1" hangingPunct="1"/>
            <a:r>
              <a:rPr lang="zh-CN" altLang="en-US" dirty="0"/>
              <a:t>感兴趣点：</a:t>
            </a:r>
            <a:endParaRPr lang="en-US" dirty="0"/>
          </a:p>
          <a:p>
            <a:pPr eaLnBrk="1" hangingPunct="1">
              <a:buFontTx/>
              <a:buNone/>
            </a:pPr>
            <a:r>
              <a:rPr lang="en-US" dirty="0"/>
              <a:t>	</a:t>
            </a:r>
            <a:r>
              <a:rPr lang="en-US" sz="2800" dirty="0" err="1"/>
              <a:t>LoG</a:t>
            </a:r>
            <a:r>
              <a:rPr lang="zh-CN" altLang="en-US" sz="2800" dirty="0"/>
              <a:t>空间尺度方向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 局部极值</a:t>
            </a:r>
            <a:br>
              <a:rPr lang="en-US" dirty="0"/>
            </a:br>
            <a:r>
              <a:rPr lang="en-US" dirty="0"/>
              <a:t>an</a:t>
            </a:r>
            <a:endParaRPr lang="de-CH" dirty="0"/>
          </a:p>
        </p:txBody>
      </p:sp>
      <p:pic>
        <p:nvPicPr>
          <p:cNvPr id="1536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6275" y="2930525"/>
            <a:ext cx="1681163" cy="144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484438" y="1163638"/>
            <a:ext cx="3584575" cy="4924425"/>
            <a:chOff x="2211388" y="1700213"/>
            <a:chExt cx="3584575" cy="4924425"/>
          </a:xfrm>
        </p:grpSpPr>
        <p:pic>
          <p:nvPicPr>
            <p:cNvPr id="15376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570413" y="5665788"/>
              <a:ext cx="1225550" cy="9588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5377" name="Picture 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570413" y="4664075"/>
              <a:ext cx="1225550" cy="96043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5378" name="Picture 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570413" y="3681413"/>
              <a:ext cx="1225550" cy="9588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5379" name="Picture 9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570413" y="2684463"/>
              <a:ext cx="1225550" cy="96043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5380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570413" y="1700213"/>
              <a:ext cx="1225550" cy="96043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graphicFrame>
          <p:nvGraphicFramePr>
            <p:cNvPr id="15362" name="Object 2"/>
            <p:cNvGraphicFramePr>
              <a:graphicFrameLocks noChangeAspect="1"/>
            </p:cNvGraphicFramePr>
            <p:nvPr/>
          </p:nvGraphicFramePr>
          <p:xfrm>
            <a:off x="2211388" y="3933825"/>
            <a:ext cx="1712912" cy="41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33" name="Equation" r:id="rId10" imgW="990360" imgH="241200" progId="Equation.3">
                    <p:embed/>
                  </p:oleObj>
                </mc:Choice>
                <mc:Fallback>
                  <p:oleObj name="Equation" r:id="rId10" imgW="990360" imgH="241200" progId="Equation.3">
                    <p:embed/>
                    <p:pic>
                      <p:nvPicPr>
                        <p:cNvPr id="1536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1388" y="3933825"/>
                          <a:ext cx="1712912" cy="417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1" name="Text Box 12"/>
            <p:cNvSpPr txBox="1">
              <a:spLocks noChangeArrowheads="1"/>
            </p:cNvSpPr>
            <p:nvPr/>
          </p:nvSpPr>
          <p:spPr bwMode="auto">
            <a:xfrm>
              <a:off x="3959225" y="5972175"/>
              <a:ext cx="433388" cy="3693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pl-PL" b="1" i="1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s</a:t>
              </a:r>
              <a:endParaRPr lang="en-US" b="1" i="1">
                <a:solidFill>
                  <a:srgbClr val="000000"/>
                </a:solidFill>
                <a:latin typeface="Symbol" pitchFamily="18" charset="2"/>
                <a:cs typeface="Arial" pitchFamily="34" charset="0"/>
              </a:endParaRPr>
            </a:p>
          </p:txBody>
        </p:sp>
        <p:sp>
          <p:nvSpPr>
            <p:cNvPr id="15382" name="Text Box 13"/>
            <p:cNvSpPr txBox="1">
              <a:spLocks noChangeArrowheads="1"/>
            </p:cNvSpPr>
            <p:nvPr/>
          </p:nvSpPr>
          <p:spPr bwMode="auto">
            <a:xfrm>
              <a:off x="3959225" y="4964113"/>
              <a:ext cx="433388" cy="3693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pl-PL" b="1" i="1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s</a:t>
              </a:r>
              <a:r>
                <a:rPr lang="pl-PL" b="1" i="1" baseline="30000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2</a:t>
              </a:r>
              <a:endParaRPr lang="en-US" b="1" i="1" baseline="30000">
                <a:solidFill>
                  <a:srgbClr val="000000"/>
                </a:solidFill>
                <a:latin typeface="Symbol" pitchFamily="18" charset="2"/>
                <a:cs typeface="Arial" pitchFamily="34" charset="0"/>
              </a:endParaRPr>
            </a:p>
          </p:txBody>
        </p:sp>
        <p:sp>
          <p:nvSpPr>
            <p:cNvPr id="15383" name="Text Box 14"/>
            <p:cNvSpPr txBox="1">
              <a:spLocks noChangeArrowheads="1"/>
            </p:cNvSpPr>
            <p:nvPr/>
          </p:nvSpPr>
          <p:spPr bwMode="auto">
            <a:xfrm>
              <a:off x="3995738" y="4005263"/>
              <a:ext cx="433387" cy="3693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pl-PL" b="1" i="1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s</a:t>
              </a:r>
              <a:r>
                <a:rPr lang="pl-PL" b="1" i="1" baseline="30000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3</a:t>
              </a:r>
              <a:endParaRPr lang="en-US" b="1" i="1" baseline="30000">
                <a:solidFill>
                  <a:srgbClr val="000000"/>
                </a:solidFill>
                <a:latin typeface="Symbol" pitchFamily="18" charset="2"/>
                <a:cs typeface="Arial" pitchFamily="34" charset="0"/>
              </a:endParaRPr>
            </a:p>
          </p:txBody>
        </p:sp>
        <p:sp>
          <p:nvSpPr>
            <p:cNvPr id="15384" name="Text Box 15"/>
            <p:cNvSpPr txBox="1">
              <a:spLocks noChangeArrowheads="1"/>
            </p:cNvSpPr>
            <p:nvPr/>
          </p:nvSpPr>
          <p:spPr bwMode="auto">
            <a:xfrm>
              <a:off x="4030663" y="2997200"/>
              <a:ext cx="433387" cy="3693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pl-PL" b="1" i="1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s</a:t>
              </a:r>
              <a:r>
                <a:rPr lang="pl-PL" b="1" i="1" baseline="30000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4</a:t>
              </a:r>
              <a:endParaRPr lang="en-US" b="1" i="1" baseline="30000">
                <a:solidFill>
                  <a:srgbClr val="000000"/>
                </a:solidFill>
                <a:latin typeface="Symbol" pitchFamily="18" charset="2"/>
                <a:cs typeface="Arial" pitchFamily="34" charset="0"/>
              </a:endParaRPr>
            </a:p>
          </p:txBody>
        </p:sp>
        <p:sp>
          <p:nvSpPr>
            <p:cNvPr id="15385" name="Text Box 16"/>
            <p:cNvSpPr txBox="1">
              <a:spLocks noChangeArrowheads="1"/>
            </p:cNvSpPr>
            <p:nvPr/>
          </p:nvSpPr>
          <p:spPr bwMode="auto">
            <a:xfrm>
              <a:off x="4067175" y="2024063"/>
              <a:ext cx="541338" cy="3693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pl-PL" b="1" i="1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s</a:t>
              </a:r>
              <a:r>
                <a:rPr lang="pl-PL" b="1" i="1" baseline="30000">
                  <a:solidFill>
                    <a:srgbClr val="000000"/>
                  </a:solidFill>
                  <a:latin typeface="Symbol" pitchFamily="18" charset="2"/>
                  <a:cs typeface="Arial" pitchFamily="34" charset="0"/>
                </a:rPr>
                <a:t>5</a:t>
              </a:r>
              <a:endParaRPr lang="en-US" b="1" i="1" baseline="30000">
                <a:solidFill>
                  <a:srgbClr val="000000"/>
                </a:solidFill>
                <a:latin typeface="Symbol" pitchFamily="18" charset="2"/>
                <a:cs typeface="Arial" pitchFamily="34" charset="0"/>
              </a:endParaRPr>
            </a:p>
          </p:txBody>
        </p:sp>
        <p:sp>
          <p:nvSpPr>
            <p:cNvPr id="15386" name="Line 17"/>
            <p:cNvSpPr>
              <a:spLocks noChangeShapeType="1"/>
            </p:cNvSpPr>
            <p:nvPr/>
          </p:nvSpPr>
          <p:spPr bwMode="auto">
            <a:xfrm>
              <a:off x="3203575" y="4508500"/>
              <a:ext cx="755650" cy="1476375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5387" name="Line 18"/>
            <p:cNvSpPr>
              <a:spLocks noChangeShapeType="1"/>
            </p:cNvSpPr>
            <p:nvPr/>
          </p:nvSpPr>
          <p:spPr bwMode="auto">
            <a:xfrm>
              <a:off x="3384550" y="4437063"/>
              <a:ext cx="611188" cy="612775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5388" name="Line 19"/>
            <p:cNvSpPr>
              <a:spLocks noChangeShapeType="1"/>
            </p:cNvSpPr>
            <p:nvPr/>
          </p:nvSpPr>
          <p:spPr bwMode="auto">
            <a:xfrm>
              <a:off x="3779838" y="4149725"/>
              <a:ext cx="252412" cy="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5389" name="Line 20"/>
            <p:cNvSpPr>
              <a:spLocks noChangeShapeType="1"/>
            </p:cNvSpPr>
            <p:nvPr/>
          </p:nvSpPr>
          <p:spPr bwMode="auto">
            <a:xfrm flipV="1">
              <a:off x="3384550" y="3249613"/>
              <a:ext cx="647700" cy="611187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5390" name="Line 21"/>
            <p:cNvSpPr>
              <a:spLocks noChangeShapeType="1"/>
            </p:cNvSpPr>
            <p:nvPr/>
          </p:nvSpPr>
          <p:spPr bwMode="auto">
            <a:xfrm flipV="1">
              <a:off x="3203575" y="2276475"/>
              <a:ext cx="900113" cy="151130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140450" y="1631950"/>
            <a:ext cx="2740025" cy="3003550"/>
            <a:chOff x="5867400" y="2168525"/>
            <a:chExt cx="2740025" cy="3003550"/>
          </a:xfrm>
        </p:grpSpPr>
        <p:pic>
          <p:nvPicPr>
            <p:cNvPr id="15372" name="Picture 4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6626284" y="2462251"/>
              <a:ext cx="2254250" cy="2173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73" name="Line 22"/>
            <p:cNvSpPr>
              <a:spLocks noChangeShapeType="1"/>
            </p:cNvSpPr>
            <p:nvPr/>
          </p:nvSpPr>
          <p:spPr bwMode="auto">
            <a:xfrm>
              <a:off x="5867400" y="4113213"/>
              <a:ext cx="973138" cy="79216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5374" name="Line 23"/>
            <p:cNvSpPr>
              <a:spLocks noChangeShapeType="1"/>
            </p:cNvSpPr>
            <p:nvPr/>
          </p:nvSpPr>
          <p:spPr bwMode="auto">
            <a:xfrm>
              <a:off x="5867400" y="3213100"/>
              <a:ext cx="1081088" cy="107950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15375" name="Line 24"/>
            <p:cNvSpPr>
              <a:spLocks noChangeShapeType="1"/>
            </p:cNvSpPr>
            <p:nvPr/>
          </p:nvSpPr>
          <p:spPr bwMode="auto">
            <a:xfrm>
              <a:off x="5867400" y="2168525"/>
              <a:ext cx="936625" cy="1331913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  <a:latin typeface="Arial" pitchFamily="34" charset="0"/>
              </a:endParaRPr>
            </a:p>
          </p:txBody>
        </p:sp>
      </p:grp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7072313" y="5010150"/>
            <a:ext cx="2071687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pl-PL" sz="2000" b="1" dirty="0">
                <a:solidFill>
                  <a:srgbClr val="000000"/>
                </a:solidFill>
                <a:sym typeface="Symbol"/>
              </a:rPr>
              <a:t></a:t>
            </a:r>
            <a:r>
              <a:rPr lang="en-US" sz="2000" b="1" i="1" dirty="0">
                <a:solidFill>
                  <a:srgbClr val="000000"/>
                </a:solidFill>
              </a:rPr>
              <a:t> </a:t>
            </a:r>
            <a:r>
              <a:rPr lang="pl-PL" sz="2000" b="1" i="1" dirty="0">
                <a:solidFill>
                  <a:srgbClr val="000000"/>
                </a:solidFill>
              </a:rPr>
              <a:t>(x, y, </a:t>
            </a:r>
            <a:r>
              <a:rPr lang="el-GR" sz="2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σ</a:t>
            </a:r>
            <a:r>
              <a:rPr lang="pl-PL" sz="2000" b="1" i="1" dirty="0">
                <a:solidFill>
                  <a:srgbClr val="000000"/>
                </a:solidFill>
              </a:rPr>
              <a:t>)</a:t>
            </a:r>
            <a:r>
              <a:rPr lang="zh-CN" altLang="pl-PL" sz="2000" b="1" dirty="0">
                <a:solidFill>
                  <a:srgbClr val="000000"/>
                </a:solidFill>
              </a:rPr>
              <a:t>序列</a:t>
            </a:r>
            <a:endParaRPr lang="en-US" sz="2000" b="1" dirty="0">
              <a:solidFill>
                <a:srgbClr val="000000"/>
              </a:solidFill>
            </a:endParaRPr>
          </a:p>
        </p:txBody>
      </p:sp>
      <p:pic>
        <p:nvPicPr>
          <p:cNvPr id="15371" name="Picture 27" descr="c-enhedg-laplap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338" y="4476750"/>
            <a:ext cx="1727200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23010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尺度空间斑点检测子：举例</a:t>
            </a:r>
            <a:endParaRPr lang="en-US" dirty="0"/>
          </a:p>
        </p:txBody>
      </p:sp>
      <p:pic>
        <p:nvPicPr>
          <p:cNvPr id="106499" name="Picture 3" descr="butterfl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752600"/>
            <a:ext cx="5181600" cy="374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7315200" y="6567488"/>
            <a:ext cx="22860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Lana Lazebnik</a:t>
            </a:r>
          </a:p>
        </p:txBody>
      </p:sp>
    </p:spTree>
    <p:extLst>
      <p:ext uri="{BB962C8B-B14F-4D97-AF65-F5344CB8AC3E}">
        <p14:creationId xmlns:p14="http://schemas.microsoft.com/office/powerpoint/2010/main" val="15606946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尺度空间斑点检测子：举例</a:t>
            </a:r>
            <a:endParaRPr lang="en-US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932868" name="Picture 4" descr="pyramid_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69" name="Picture 5" descr="pyramid_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70" name="Picture 6" descr="pyramid_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71" name="Picture 7" descr="pyramid_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72" name="Picture 8" descr="pyramid_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73" name="Picture 9" descr="pyramid_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74" name="Picture 10" descr="pyramid_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75" name="Picture 11" descr="pyramid_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76" name="Picture 12" descr="pyramid_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2877" name="Picture 13" descr="pyramid_9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214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7315200" y="6567488"/>
            <a:ext cx="22860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Lana Lazebnik</a:t>
            </a:r>
          </a:p>
        </p:txBody>
      </p:sp>
    </p:spTree>
    <p:extLst>
      <p:ext uri="{BB962C8B-B14F-4D97-AF65-F5344CB8AC3E}">
        <p14:creationId xmlns:p14="http://schemas.microsoft.com/office/powerpoint/2010/main" val="193714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尺度空间斑点检测子：举例</a:t>
            </a:r>
            <a:endParaRPr lang="en-US" dirty="0"/>
          </a:p>
        </p:txBody>
      </p:sp>
      <p:pic>
        <p:nvPicPr>
          <p:cNvPr id="108547" name="Picture 3" descr="butterfly_circ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738" y="1771650"/>
            <a:ext cx="5148262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7315200" y="6567488"/>
            <a:ext cx="22860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Lana Lazebnik</a:t>
            </a:r>
          </a:p>
        </p:txBody>
      </p:sp>
    </p:spTree>
    <p:extLst>
      <p:ext uri="{BB962C8B-B14F-4D97-AF65-F5344CB8AC3E}">
        <p14:creationId xmlns:p14="http://schemas.microsoft.com/office/powerpoint/2010/main" val="225017020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EA694-459A-6A43-B463-000BB1DD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en-US" altLang="zh-CN" dirty="0" err="1"/>
              <a:t>DoG</a:t>
            </a:r>
            <a:r>
              <a:rPr lang="zh-CN" altLang="en-US" dirty="0"/>
              <a:t>检测子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E155B-506B-C745-91E6-71F1DDC33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DoG</a:t>
            </a:r>
            <a:r>
              <a:rPr kumimoji="1" lang="zh-CN" altLang="en-US" dirty="0"/>
              <a:t>与</a:t>
            </a:r>
            <a:r>
              <a:rPr kumimoji="1" lang="en-US" altLang="zh-CN" dirty="0" err="1"/>
              <a:t>LoG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42C05F-8523-EE48-89C3-EBA0076F2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12169"/>
            <a:ext cx="6293353" cy="2667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F1D6C6-7BEC-2449-B495-8AAFEA553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870450"/>
            <a:ext cx="5105400" cy="7747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C77A42-E3F3-D542-B8AB-617F1B724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5703360"/>
            <a:ext cx="2806700" cy="533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DFDCB9-887B-7849-8E40-AD2C0C811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189" y="5992020"/>
            <a:ext cx="28702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578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r>
              <a:rPr lang="en-US" altLang="zh-CN" dirty="0"/>
              <a:t>—</a:t>
            </a:r>
            <a:r>
              <a:rPr lang="en-US" altLang="zh-CN" dirty="0" err="1"/>
              <a:t>DoG</a:t>
            </a:r>
            <a:r>
              <a:rPr lang="zh-CN" altLang="en-US" dirty="0"/>
              <a:t>检测子</a:t>
            </a:r>
            <a:endParaRPr lang="en-US" b="1" dirty="0"/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295400"/>
            <a:ext cx="4419600" cy="52578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endParaRPr lang="en-US" altLang="zh-CN" sz="2400" dirty="0"/>
          </a:p>
          <a:p>
            <a:pPr>
              <a:spcAft>
                <a:spcPts val="600"/>
              </a:spcAft>
            </a:pPr>
            <a:r>
              <a:rPr lang="en-US" altLang="zh-CN" sz="2400" dirty="0" err="1"/>
              <a:t>检测DoG算子在尺度空间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极大值点</a:t>
            </a:r>
            <a:endParaRPr lang="en-US" altLang="zh-CN" sz="2400" dirty="0"/>
          </a:p>
          <a:p>
            <a:pPr>
              <a:spcAft>
                <a:spcPts val="600"/>
              </a:spcAft>
            </a:pPr>
            <a:r>
              <a:rPr lang="en-US" altLang="zh-CN" sz="2400" dirty="0" err="1"/>
              <a:t>然后抑制对比度低的点</a:t>
            </a:r>
            <a:r>
              <a:rPr lang="zh-CN" altLang="en-US" sz="2400" dirty="0"/>
              <a:t>（阈值化） </a:t>
            </a:r>
            <a:endParaRPr lang="en-US" altLang="zh-CN" sz="2400" dirty="0"/>
          </a:p>
          <a:p>
            <a:pPr>
              <a:spcAft>
                <a:spcPts val="600"/>
              </a:spcAft>
            </a:pPr>
            <a:r>
              <a:rPr lang="zh-CN" altLang="en-US" sz="2400" dirty="0"/>
              <a:t>去除边缘点</a:t>
            </a:r>
            <a:endParaRPr lang="en-US" altLang="zh-CN" sz="2400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</p:txBody>
      </p:sp>
      <p:graphicFrame>
        <p:nvGraphicFramePr>
          <p:cNvPr id="17410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181600" y="1295400"/>
          <a:ext cx="3524250" cy="317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57" name="Bitmap Image" r:id="rId4" imgW="3414056" imgH="3070476" progId="PBrush">
                  <p:embed/>
                </p:oleObj>
              </mc:Choice>
              <mc:Fallback>
                <p:oleObj name="Bitmap Image" r:id="rId4" imgW="3414056" imgH="3070476" progId="PBrush">
                  <p:embed/>
                  <p:pic>
                    <p:nvPicPr>
                      <p:cNvPr id="174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295400"/>
                        <a:ext cx="3524250" cy="317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4" name="Picture 5" descr="maxima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68825" y="3425825"/>
            <a:ext cx="6350" cy="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6" descr="maxima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68825" y="3425825"/>
            <a:ext cx="6350" cy="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411" name="Object 7"/>
          <p:cNvGraphicFramePr>
            <a:graphicFrameLocks noChangeAspect="1"/>
          </p:cNvGraphicFramePr>
          <p:nvPr/>
        </p:nvGraphicFramePr>
        <p:xfrm>
          <a:off x="4529138" y="3386138"/>
          <a:ext cx="84137" cy="8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58" name="CorelDRAW" r:id="rId7" imgW="83880" imgH="83880" progId="">
                  <p:embed/>
                </p:oleObj>
              </mc:Choice>
              <mc:Fallback>
                <p:oleObj name="CorelDRAW" r:id="rId7" imgW="83880" imgH="83880" progId="">
                  <p:embed/>
                  <p:pic>
                    <p:nvPicPr>
                      <p:cNvPr id="174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3386138"/>
                        <a:ext cx="84137" cy="8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6" name="Picture 8" descr="Pyramid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568825" y="3425825"/>
            <a:ext cx="6350" cy="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7" name="Line 12"/>
          <p:cNvSpPr>
            <a:spLocks noChangeShapeType="1"/>
          </p:cNvSpPr>
          <p:nvPr/>
        </p:nvSpPr>
        <p:spPr bwMode="auto">
          <a:xfrm>
            <a:off x="7092950" y="4564063"/>
            <a:ext cx="0" cy="684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7418" name="Text Box 13"/>
          <p:cNvSpPr txBox="1">
            <a:spLocks noChangeArrowheads="1"/>
          </p:cNvSpPr>
          <p:nvPr/>
        </p:nvSpPr>
        <p:spPr bwMode="auto">
          <a:xfrm>
            <a:off x="6172200" y="5328708"/>
            <a:ext cx="192615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</a:rPr>
              <a:t>候选特征点：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</a:rPr>
              <a:t>x,y</a:t>
            </a:r>
            <a:r>
              <a:rPr lang="en-US" altLang="zh-CN" sz="2400" i="1" dirty="0">
                <a:solidFill>
                  <a:srgbClr val="000000"/>
                </a:solidFill>
              </a:rPr>
              <a:t>,</a:t>
            </a:r>
            <a:r>
              <a:rPr lang="el-GR" altLang="zh-CN" sz="2400" i="1" dirty="0">
                <a:solidFill>
                  <a:srgbClr val="000000"/>
                </a:solidFill>
                <a:cs typeface="Arial" pitchFamily="34" charset="0"/>
              </a:rPr>
              <a:t>σ</a:t>
            </a:r>
            <a:r>
              <a:rPr lang="en-US" altLang="zh-CN" sz="2400" i="1" dirty="0">
                <a:solidFill>
                  <a:srgbClr val="000000"/>
                </a:solidFill>
                <a:cs typeface="Arial" pitchFamily="34" charset="0"/>
              </a:rPr>
              <a:t>) </a:t>
            </a:r>
            <a:r>
              <a:rPr lang="zh-CN" altLang="en-US" sz="2400" dirty="0">
                <a:solidFill>
                  <a:srgbClr val="000000"/>
                </a:solidFill>
                <a:cs typeface="Arial" pitchFamily="34" charset="0"/>
              </a:rPr>
              <a:t>集合</a:t>
            </a:r>
            <a:endParaRPr lang="el-GR" sz="2400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680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228600"/>
            <a:ext cx="81534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latin typeface="+mn-lt"/>
              </a:rPr>
              <a:t>举例</a:t>
            </a:r>
            <a:endParaRPr lang="en-US" b="1" dirty="0">
              <a:latin typeface="+mn-lt"/>
            </a:endParaRP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533400" y="1447800"/>
          <a:ext cx="6002338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81" name="Bitmap Image" r:id="rId4" imgW="6001588" imgH="4486901" progId="PBrush">
                  <p:embed/>
                </p:oleObj>
              </mc:Choice>
              <mc:Fallback>
                <p:oleObj name="Bitmap Image" r:id="rId4" imgW="6001588" imgH="4486901" progId="PBrush">
                  <p:embed/>
                  <p:pic>
                    <p:nvPicPr>
                      <p:cNvPr id="184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447800"/>
                        <a:ext cx="6002338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6553200" y="1600200"/>
            <a:ext cx="2590800" cy="13234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</a:rPr>
              <a:t>(a)</a:t>
            </a:r>
            <a:r>
              <a:rPr lang="en-US" sz="1600" dirty="0">
                <a:solidFill>
                  <a:srgbClr val="000000"/>
                </a:solidFill>
              </a:rPr>
              <a:t> 233x189 </a:t>
            </a:r>
            <a:r>
              <a:rPr lang="zh-CN" altLang="en-US" sz="1600" dirty="0">
                <a:solidFill>
                  <a:srgbClr val="000000"/>
                </a:solidFill>
              </a:rPr>
              <a:t>图像</a:t>
            </a:r>
            <a:endParaRPr lang="en-US" sz="1600" dirty="0">
              <a:solidFill>
                <a:srgbClr val="000000"/>
              </a:solidFill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</a:rPr>
              <a:t>(b)</a:t>
            </a:r>
            <a:r>
              <a:rPr lang="en-US" sz="1600" dirty="0">
                <a:solidFill>
                  <a:srgbClr val="000000"/>
                </a:solidFill>
              </a:rPr>
              <a:t> 832 DOG </a:t>
            </a:r>
            <a:r>
              <a:rPr lang="zh-CN" altLang="en-US" sz="1600" dirty="0">
                <a:solidFill>
                  <a:srgbClr val="000000"/>
                </a:solidFill>
              </a:rPr>
              <a:t>极大值点</a:t>
            </a:r>
            <a:endParaRPr lang="en-US" sz="1600" dirty="0">
              <a:solidFill>
                <a:srgbClr val="000000"/>
              </a:solidFill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</a:rPr>
              <a:t>(c)</a:t>
            </a:r>
            <a:r>
              <a:rPr lang="en-US" sz="1600" dirty="0">
                <a:solidFill>
                  <a:srgbClr val="000000"/>
                </a:solidFill>
              </a:rPr>
              <a:t> 729 </a:t>
            </a:r>
            <a:r>
              <a:rPr lang="zh-CN" altLang="en-US" sz="1600" dirty="0">
                <a:solidFill>
                  <a:srgbClr val="000000"/>
                </a:solidFill>
              </a:rPr>
              <a:t>剩余经过阈值化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</a:rPr>
              <a:t>(d)</a:t>
            </a:r>
            <a:r>
              <a:rPr lang="en-US" sz="1600" dirty="0">
                <a:solidFill>
                  <a:srgbClr val="000000"/>
                </a:solidFill>
              </a:rPr>
              <a:t> 536 </a:t>
            </a:r>
            <a:r>
              <a:rPr lang="zh-CN" altLang="en-US" sz="1600" dirty="0">
                <a:solidFill>
                  <a:srgbClr val="000000"/>
                </a:solidFill>
              </a:rPr>
              <a:t>剩余经过边缘响应检测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0193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-304800"/>
            <a:ext cx="8534400" cy="1752600"/>
          </a:xfrm>
        </p:spPr>
        <p:txBody>
          <a:bodyPr/>
          <a:lstStyle/>
          <a:p>
            <a:pPr eaLnBrk="1" hangingPunct="1"/>
            <a:r>
              <a:rPr lang="zh-CN" altLang="en-US" sz="3800" dirty="0"/>
              <a:t>尺度不变检测：总结</a:t>
            </a:r>
            <a:endParaRPr lang="ru-RU" sz="3800" dirty="0"/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447800"/>
            <a:ext cx="7848600" cy="27432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 err="1">
                <a:solidFill>
                  <a:srgbClr val="0033CC"/>
                </a:solidFill>
                <a:cs typeface="Arial" pitchFamily="34" charset="0"/>
              </a:rPr>
              <a:t>给定</a:t>
            </a:r>
            <a:r>
              <a:rPr lang="zh-CN" altLang="en-US" sz="2800" dirty="0">
                <a:solidFill>
                  <a:srgbClr val="0033CC"/>
                </a:solidFill>
                <a:cs typeface="Arial" pitchFamily="34" charset="0"/>
              </a:rPr>
              <a:t>：</a:t>
            </a:r>
            <a:r>
              <a:rPr lang="en-US" altLang="zh-CN" sz="2800" dirty="0" err="1"/>
              <a:t>两张同一场景不同尺度的图像</a:t>
            </a:r>
            <a:endParaRPr lang="en-US" sz="2800" dirty="0"/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rgbClr val="0033CC"/>
              </a:solidFill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err="1">
                <a:solidFill>
                  <a:srgbClr val="0033CC"/>
                </a:solidFill>
                <a:cs typeface="Arial" pitchFamily="34" charset="0"/>
              </a:rPr>
              <a:t>目标</a:t>
            </a:r>
            <a:r>
              <a:rPr lang="zh-CN" altLang="en-US" sz="2800" dirty="0">
                <a:solidFill>
                  <a:srgbClr val="0033CC"/>
                </a:solidFill>
                <a:cs typeface="Arial" pitchFamily="34" charset="0"/>
              </a:rPr>
              <a:t>：</a:t>
            </a:r>
            <a:r>
              <a:rPr lang="en-US" altLang="zh-CN" sz="2800" dirty="0" err="1"/>
              <a:t>分别在两幅图像中独立的确定相同的感兴趣点</a:t>
            </a:r>
            <a:endParaRPr lang="en-US" sz="2800" dirty="0"/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rgbClr val="0033CC"/>
              </a:solidFill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33CC"/>
                </a:solidFill>
                <a:cs typeface="Arial" pitchFamily="34" charset="0"/>
              </a:rPr>
              <a:t>方案：</a:t>
            </a:r>
            <a:r>
              <a:rPr lang="en-US" altLang="zh-CN" sz="2800" dirty="0" err="1"/>
              <a:t>搜索适用</a:t>
            </a:r>
            <a:r>
              <a:rPr lang="zh-CN" altLang="en-US" sz="2800" dirty="0"/>
              <a:t>的</a:t>
            </a:r>
            <a:r>
              <a:rPr lang="en-US" altLang="zh-CN" sz="2800" dirty="0" err="1"/>
              <a:t>响应函数在尺度空间的极大值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A9F2BA-242D-6543-89D2-CA1329E0FFE6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5048794"/>
            <a:ext cx="7848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cs typeface="Arial" pitchFamily="34" charset="0"/>
              </a:rPr>
              <a:t>问题：</a:t>
            </a:r>
            <a:r>
              <a:rPr lang="en-US" altLang="zh-CN" sz="2800" b="1" dirty="0" err="1">
                <a:cs typeface="Arial" pitchFamily="34" charset="0"/>
              </a:rPr>
              <a:t>LoG</a:t>
            </a:r>
            <a:r>
              <a:rPr lang="zh-CN" altLang="en-US" sz="2800" b="1" dirty="0">
                <a:cs typeface="Arial" pitchFamily="34" charset="0"/>
              </a:rPr>
              <a:t>空间确定的特征点是否具有旋转不变性？？？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7272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build="p" autoUpdateAnimBg="0"/>
      <p:bldP spid="4" grpId="0" build="p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4.1.</a:t>
            </a:r>
            <a:r>
              <a:rPr lang="zh-CN" altLang="en-US" dirty="0"/>
              <a:t>局部特征与匹配</a:t>
            </a:r>
            <a:endParaRPr lang="en-US" altLang="zh-CN" dirty="0"/>
          </a:p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en-US" dirty="0"/>
          </a:p>
          <a:p>
            <a:r>
              <a:rPr lang="en-US" altLang="zh-CN" dirty="0"/>
              <a:t>4.3.</a:t>
            </a:r>
            <a:r>
              <a:rPr lang="zh-CN" altLang="en-US" dirty="0"/>
              <a:t>尺度空间</a:t>
            </a:r>
            <a:endParaRPr lang="en-US" altLang="zh-CN" dirty="0"/>
          </a:p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endParaRPr lang="en-US" altLang="zh-CN" dirty="0"/>
          </a:p>
          <a:p>
            <a:r>
              <a:rPr lang="en-US" altLang="zh-CN" dirty="0">
                <a:solidFill>
                  <a:srgbClr val="D60093"/>
                </a:solidFill>
              </a:rPr>
              <a:t>4.5.</a:t>
            </a:r>
            <a:r>
              <a:rPr lang="zh-CN" altLang="en-US" dirty="0">
                <a:solidFill>
                  <a:srgbClr val="D60093"/>
                </a:solidFill>
              </a:rPr>
              <a:t>局部区域描述</a:t>
            </a:r>
            <a:endParaRPr lang="en-US" altLang="zh-CN" dirty="0">
              <a:solidFill>
                <a:srgbClr val="D60093"/>
              </a:solidFill>
            </a:endParaRPr>
          </a:p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endParaRPr lang="en-US" altLang="zh-CN" dirty="0"/>
          </a:p>
          <a:p>
            <a:r>
              <a:rPr lang="en-US" altLang="zh-CN" dirty="0"/>
              <a:t>4.7.SIFT</a:t>
            </a:r>
            <a:r>
              <a:rPr lang="zh-CN" altLang="en-US" dirty="0"/>
              <a:t>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66539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04800" y="2643981"/>
            <a:ext cx="7924800" cy="708819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19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endParaRPr lang="en-US" altLang="zh-CN" dirty="0"/>
          </a:p>
        </p:txBody>
      </p:sp>
      <p:sp>
        <p:nvSpPr>
          <p:cNvPr id="21299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感兴趣特征点在哪里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altLang="zh-CN" dirty="0" err="1">
                <a:latin typeface="Arial" pitchFamily="34" charset="0"/>
                <a:cs typeface="Arial" pitchFamily="34" charset="0"/>
              </a:rPr>
              <a:t>需要提取的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突出</a:t>
            </a:r>
            <a:r>
              <a:rPr lang="en-US" altLang="zh-CN" dirty="0" err="1">
                <a:latin typeface="Arial" pitchFamily="34" charset="0"/>
                <a:cs typeface="Arial" pitchFamily="34" charset="0"/>
              </a:rPr>
              <a:t>特征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是什么？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如何描述一个局部区域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如何建立对应关系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进行匹配？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7400" y="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endParaRPr lang="ru-RU" dirty="0"/>
          </a:p>
        </p:txBody>
      </p:sp>
      <p:pic>
        <p:nvPicPr>
          <p:cNvPr id="112643" name="Picture 3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0900" y="2562225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44" name="Picture 4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900" y="2562225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45" name="Line 5"/>
          <p:cNvSpPr>
            <a:spLocks noChangeShapeType="1"/>
          </p:cNvSpPr>
          <p:nvPr/>
        </p:nvSpPr>
        <p:spPr bwMode="auto">
          <a:xfrm flipV="1">
            <a:off x="3289300" y="3362325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2646" name="Line 6"/>
          <p:cNvSpPr>
            <a:spLocks noChangeShapeType="1"/>
          </p:cNvSpPr>
          <p:nvPr/>
        </p:nvSpPr>
        <p:spPr bwMode="auto">
          <a:xfrm>
            <a:off x="4232275" y="3632200"/>
            <a:ext cx="1816100" cy="14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2647" name="Line 7"/>
          <p:cNvSpPr>
            <a:spLocks noChangeShapeType="1"/>
          </p:cNvSpPr>
          <p:nvPr/>
        </p:nvSpPr>
        <p:spPr bwMode="auto">
          <a:xfrm flipV="1">
            <a:off x="3724275" y="4733925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2648" name="Line 8"/>
          <p:cNvSpPr>
            <a:spLocks noChangeShapeType="1"/>
          </p:cNvSpPr>
          <p:nvPr/>
        </p:nvSpPr>
        <p:spPr bwMode="auto">
          <a:xfrm flipV="1">
            <a:off x="4181475" y="4276725"/>
            <a:ext cx="1736725" cy="41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2649" name="Line 9"/>
          <p:cNvSpPr>
            <a:spLocks noChangeShapeType="1"/>
          </p:cNvSpPr>
          <p:nvPr/>
        </p:nvSpPr>
        <p:spPr bwMode="auto">
          <a:xfrm flipV="1">
            <a:off x="3444875" y="3857625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2650" name="Text Box 10"/>
          <p:cNvSpPr>
            <a:spLocks noGrp="1" noChangeArrowheads="1"/>
          </p:cNvSpPr>
          <p:nvPr>
            <p:ph type="body" idx="4294967295"/>
          </p:nvPr>
        </p:nvSpPr>
        <p:spPr>
          <a:xfrm>
            <a:off x="785813" y="1152525"/>
            <a:ext cx="7570787" cy="138271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zh-CN" altLang="en-US" sz="2400" dirty="0"/>
              <a:t>我们已经知道如何检测特征点</a:t>
            </a:r>
            <a:endParaRPr lang="en-US" sz="24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zh-CN" altLang="en-US" sz="2400" dirty="0"/>
              <a:t>第二个问题：</a:t>
            </a:r>
            <a:endParaRPr lang="en-US" sz="24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sz="24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400" dirty="0"/>
              <a:t>             </a:t>
            </a:r>
            <a:r>
              <a:rPr lang="zh-CN" altLang="en-US" sz="2400" b="1" dirty="0">
                <a:solidFill>
                  <a:srgbClr val="FF0000"/>
                </a:solidFill>
              </a:rPr>
              <a:t>如何描述特征点实现匹配？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4205288" y="2660650"/>
            <a:ext cx="7937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96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2708275" y="5392738"/>
            <a:ext cx="3471863" cy="1200329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点描述子应该满足：</a:t>
            </a:r>
            <a:endParaRPr lang="en-US" altLang="zh-CN" sz="24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zh-CN" altLang="en-US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不变性</a:t>
            </a:r>
            <a:endParaRPr lang="en-US" altLang="zh-CN" sz="24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zh-CN" altLang="en-US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可鉴别的</a:t>
            </a:r>
            <a:endParaRPr lang="ru-RU" sz="24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2288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9363"/>
            <a:ext cx="8229600" cy="4525962"/>
          </a:xfrm>
        </p:spPr>
        <p:txBody>
          <a:bodyPr/>
          <a:lstStyle/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最简单的描述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：块的强度向量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如何使其具有不变性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？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" y="2590800"/>
            <a:ext cx="8077200" cy="3962400"/>
            <a:chOff x="381000" y="2590800"/>
            <a:chExt cx="8077200" cy="3962400"/>
          </a:xfrm>
        </p:grpSpPr>
        <p:pic>
          <p:nvPicPr>
            <p:cNvPr id="113669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7477" t="40547" r="5296" b="5096"/>
            <a:stretch>
              <a:fillRect/>
            </a:stretch>
          </p:blipFill>
          <p:spPr bwMode="auto">
            <a:xfrm>
              <a:off x="457200" y="2590800"/>
              <a:ext cx="8001000" cy="3505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670" name="Rectangle 4"/>
            <p:cNvSpPr>
              <a:spLocks noChangeArrowheads="1"/>
            </p:cNvSpPr>
            <p:nvPr/>
          </p:nvSpPr>
          <p:spPr bwMode="auto">
            <a:xfrm>
              <a:off x="381000" y="4114800"/>
              <a:ext cx="2743200" cy="243840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67424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r>
              <a:rPr lang="en-US" altLang="zh-CN" dirty="0"/>
              <a:t>—</a:t>
            </a:r>
            <a:r>
              <a:rPr lang="zh-CN" altLang="en-US" dirty="0"/>
              <a:t>特征描述子</a:t>
            </a:r>
            <a:endParaRPr lang="en-US" dirty="0"/>
          </a:p>
        </p:txBody>
      </p:sp>
      <p:sp>
        <p:nvSpPr>
          <p:cNvPr id="100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371"/>
            <a:ext cx="8229600" cy="4846666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基于块</a:t>
            </a:r>
            <a:r>
              <a:rPr lang="zh-CN" altLang="en-US" dirty="0"/>
              <a:t>强度向量</a:t>
            </a:r>
            <a:r>
              <a:rPr lang="en-US" altLang="zh-CN" dirty="0" err="1"/>
              <a:t>的描述子存在的问题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endParaRPr lang="en-US" dirty="0"/>
          </a:p>
          <a:p>
            <a:pPr lvl="1"/>
            <a:r>
              <a:rPr lang="en-US" altLang="zh-CN" dirty="0" err="1"/>
              <a:t>很小的变化导致很大的匹配值变化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 eaLnBrk="1" hangingPunct="1"/>
            <a:endParaRPr lang="en-US" dirty="0"/>
          </a:p>
          <a:p>
            <a:r>
              <a:rPr lang="zh-CN" altLang="en-US" dirty="0"/>
              <a:t>解决</a:t>
            </a:r>
            <a:r>
              <a:rPr lang="en-US" altLang="zh-CN" dirty="0" err="1"/>
              <a:t>方案</a:t>
            </a:r>
            <a:r>
              <a:rPr lang="zh-CN" altLang="en-US" dirty="0"/>
              <a:t>：方向直方图</a:t>
            </a:r>
            <a:endParaRPr lang="en-US" dirty="0"/>
          </a:p>
        </p:txBody>
      </p:sp>
      <p:graphicFrame>
        <p:nvGraphicFramePr>
          <p:cNvPr id="19458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068522925"/>
              </p:ext>
            </p:extLst>
          </p:nvPr>
        </p:nvGraphicFramePr>
        <p:xfrm>
          <a:off x="3314658" y="2343753"/>
          <a:ext cx="2590800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04" name="Image" r:id="rId4" imgW="7796825" imgH="5142857" progId="">
                  <p:embed/>
                </p:oleObj>
              </mc:Choice>
              <mc:Fallback>
                <p:oleObj name="Image" r:id="rId4" imgW="7796825" imgH="5142857" progId="">
                  <p:embed/>
                  <p:pic>
                    <p:nvPicPr>
                      <p:cNvPr id="19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658" y="2343753"/>
                        <a:ext cx="2590800" cy="170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43000" y="4572000"/>
            <a:ext cx="5275263" cy="2057400"/>
            <a:chOff x="1381" y="2880"/>
            <a:chExt cx="3323" cy="1296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381" y="2880"/>
              <a:ext cx="3323" cy="1296"/>
              <a:chOff x="1056" y="2544"/>
              <a:chExt cx="4094" cy="1632"/>
            </a:xfrm>
          </p:grpSpPr>
          <p:pic>
            <p:nvPicPr>
              <p:cNvPr id="19475" name="Picture 7" descr="descrip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 r="56557" b="8105"/>
              <a:stretch>
                <a:fillRect/>
              </a:stretch>
            </p:blipFill>
            <p:spPr bwMode="auto">
              <a:xfrm>
                <a:off x="1056" y="2544"/>
                <a:ext cx="1505" cy="15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2725" y="2782"/>
                <a:ext cx="2425" cy="1394"/>
                <a:chOff x="2725" y="2782"/>
                <a:chExt cx="2425" cy="1394"/>
              </a:xfrm>
            </p:grpSpPr>
            <p:grpSp>
              <p:nvGrpSpPr>
                <p:cNvPr id="5" name="Group 9"/>
                <p:cNvGrpSpPr>
                  <a:grpSpLocks/>
                </p:cNvGrpSpPr>
                <p:nvPr/>
              </p:nvGrpSpPr>
              <p:grpSpPr bwMode="auto">
                <a:xfrm>
                  <a:off x="3455" y="2782"/>
                  <a:ext cx="1695" cy="1394"/>
                  <a:chOff x="4080" y="3573"/>
                  <a:chExt cx="1075" cy="699"/>
                </a:xfrm>
              </p:grpSpPr>
              <p:sp>
                <p:nvSpPr>
                  <p:cNvPr id="19479" name="Freeform 10"/>
                  <p:cNvSpPr>
                    <a:spLocks/>
                  </p:cNvSpPr>
                  <p:nvPr/>
                </p:nvSpPr>
                <p:spPr bwMode="auto">
                  <a:xfrm>
                    <a:off x="4129" y="3573"/>
                    <a:ext cx="958" cy="11"/>
                  </a:xfrm>
                  <a:custGeom>
                    <a:avLst/>
                    <a:gdLst>
                      <a:gd name="T0" fmla="*/ 8621 w 8621"/>
                      <a:gd name="T1" fmla="*/ 51 h 101"/>
                      <a:gd name="T2" fmla="*/ 8576 w 8621"/>
                      <a:gd name="T3" fmla="*/ 0 h 101"/>
                      <a:gd name="T4" fmla="*/ 0 w 8621"/>
                      <a:gd name="T5" fmla="*/ 0 h 101"/>
                      <a:gd name="T6" fmla="*/ 0 w 8621"/>
                      <a:gd name="T7" fmla="*/ 101 h 101"/>
                      <a:gd name="T8" fmla="*/ 8576 w 8621"/>
                      <a:gd name="T9" fmla="*/ 101 h 101"/>
                      <a:gd name="T10" fmla="*/ 8530 w 8621"/>
                      <a:gd name="T11" fmla="*/ 51 h 101"/>
                      <a:gd name="T12" fmla="*/ 8621 w 8621"/>
                      <a:gd name="T13" fmla="*/ 51 h 101"/>
                      <a:gd name="T14" fmla="*/ 8621 w 8621"/>
                      <a:gd name="T15" fmla="*/ 0 h 101"/>
                      <a:gd name="T16" fmla="*/ 8576 w 8621"/>
                      <a:gd name="T17" fmla="*/ 0 h 101"/>
                      <a:gd name="T18" fmla="*/ 8621 w 8621"/>
                      <a:gd name="T19" fmla="*/ 51 h 1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21"/>
                      <a:gd name="T31" fmla="*/ 0 h 101"/>
                      <a:gd name="T32" fmla="*/ 8621 w 8621"/>
                      <a:gd name="T33" fmla="*/ 101 h 1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21" h="101">
                        <a:moveTo>
                          <a:pt x="8621" y="51"/>
                        </a:moveTo>
                        <a:lnTo>
                          <a:pt x="8576" y="0"/>
                        </a:lnTo>
                        <a:lnTo>
                          <a:pt x="0" y="0"/>
                        </a:lnTo>
                        <a:lnTo>
                          <a:pt x="0" y="101"/>
                        </a:lnTo>
                        <a:lnTo>
                          <a:pt x="8576" y="101"/>
                        </a:lnTo>
                        <a:lnTo>
                          <a:pt x="8530" y="51"/>
                        </a:lnTo>
                        <a:lnTo>
                          <a:pt x="8621" y="51"/>
                        </a:lnTo>
                        <a:lnTo>
                          <a:pt x="8621" y="0"/>
                        </a:lnTo>
                        <a:lnTo>
                          <a:pt x="8576" y="0"/>
                        </a:lnTo>
                        <a:lnTo>
                          <a:pt x="8621" y="51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0" name="Freeform 11"/>
                  <p:cNvSpPr>
                    <a:spLocks/>
                  </p:cNvSpPr>
                  <p:nvPr/>
                </p:nvSpPr>
                <p:spPr bwMode="auto">
                  <a:xfrm>
                    <a:off x="5076" y="3579"/>
                    <a:ext cx="11" cy="545"/>
                  </a:xfrm>
                  <a:custGeom>
                    <a:avLst/>
                    <a:gdLst>
                      <a:gd name="T0" fmla="*/ 46 w 91"/>
                      <a:gd name="T1" fmla="*/ 5457 h 5457"/>
                      <a:gd name="T2" fmla="*/ 91 w 91"/>
                      <a:gd name="T3" fmla="*/ 5407 h 5457"/>
                      <a:gd name="T4" fmla="*/ 91 w 91"/>
                      <a:gd name="T5" fmla="*/ 0 h 5457"/>
                      <a:gd name="T6" fmla="*/ 0 w 91"/>
                      <a:gd name="T7" fmla="*/ 0 h 5457"/>
                      <a:gd name="T8" fmla="*/ 0 w 91"/>
                      <a:gd name="T9" fmla="*/ 5407 h 5457"/>
                      <a:gd name="T10" fmla="*/ 46 w 91"/>
                      <a:gd name="T11" fmla="*/ 5357 h 5457"/>
                      <a:gd name="T12" fmla="*/ 46 w 91"/>
                      <a:gd name="T13" fmla="*/ 5457 h 5457"/>
                      <a:gd name="T14" fmla="*/ 91 w 91"/>
                      <a:gd name="T15" fmla="*/ 5457 h 5457"/>
                      <a:gd name="T16" fmla="*/ 91 w 91"/>
                      <a:gd name="T17" fmla="*/ 5407 h 5457"/>
                      <a:gd name="T18" fmla="*/ 46 w 91"/>
                      <a:gd name="T19" fmla="*/ 5457 h 545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457"/>
                      <a:gd name="T32" fmla="*/ 91 w 91"/>
                      <a:gd name="T33" fmla="*/ 5457 h 545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457">
                        <a:moveTo>
                          <a:pt x="46" y="5457"/>
                        </a:moveTo>
                        <a:lnTo>
                          <a:pt x="91" y="5407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5407"/>
                        </a:lnTo>
                        <a:lnTo>
                          <a:pt x="46" y="5357"/>
                        </a:lnTo>
                        <a:lnTo>
                          <a:pt x="46" y="5457"/>
                        </a:lnTo>
                        <a:lnTo>
                          <a:pt x="91" y="5457"/>
                        </a:lnTo>
                        <a:lnTo>
                          <a:pt x="91" y="5407"/>
                        </a:lnTo>
                        <a:lnTo>
                          <a:pt x="46" y="5457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1" name="Freeform 12"/>
                  <p:cNvSpPr>
                    <a:spLocks/>
                  </p:cNvSpPr>
                  <p:nvPr/>
                </p:nvSpPr>
                <p:spPr bwMode="auto">
                  <a:xfrm>
                    <a:off x="4124" y="4114"/>
                    <a:ext cx="958" cy="10"/>
                  </a:xfrm>
                  <a:custGeom>
                    <a:avLst/>
                    <a:gdLst>
                      <a:gd name="T0" fmla="*/ 0 w 8622"/>
                      <a:gd name="T1" fmla="*/ 50 h 100"/>
                      <a:gd name="T2" fmla="*/ 46 w 8622"/>
                      <a:gd name="T3" fmla="*/ 100 h 100"/>
                      <a:gd name="T4" fmla="*/ 8622 w 8622"/>
                      <a:gd name="T5" fmla="*/ 100 h 100"/>
                      <a:gd name="T6" fmla="*/ 8622 w 8622"/>
                      <a:gd name="T7" fmla="*/ 0 h 100"/>
                      <a:gd name="T8" fmla="*/ 46 w 8622"/>
                      <a:gd name="T9" fmla="*/ 0 h 100"/>
                      <a:gd name="T10" fmla="*/ 91 w 8622"/>
                      <a:gd name="T11" fmla="*/ 50 h 100"/>
                      <a:gd name="T12" fmla="*/ 0 w 8622"/>
                      <a:gd name="T13" fmla="*/ 50 h 100"/>
                      <a:gd name="T14" fmla="*/ 0 w 8622"/>
                      <a:gd name="T15" fmla="*/ 100 h 100"/>
                      <a:gd name="T16" fmla="*/ 46 w 8622"/>
                      <a:gd name="T17" fmla="*/ 100 h 100"/>
                      <a:gd name="T18" fmla="*/ 0 w 8622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22"/>
                      <a:gd name="T31" fmla="*/ 0 h 100"/>
                      <a:gd name="T32" fmla="*/ 8622 w 8622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22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8622" y="100"/>
                        </a:lnTo>
                        <a:lnTo>
                          <a:pt x="8622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2" name="Freeform 13"/>
                  <p:cNvSpPr>
                    <a:spLocks/>
                  </p:cNvSpPr>
                  <p:nvPr/>
                </p:nvSpPr>
                <p:spPr bwMode="auto">
                  <a:xfrm>
                    <a:off x="4124" y="3573"/>
                    <a:ext cx="10" cy="546"/>
                  </a:xfrm>
                  <a:custGeom>
                    <a:avLst/>
                    <a:gdLst>
                      <a:gd name="T0" fmla="*/ 46 w 91"/>
                      <a:gd name="T1" fmla="*/ 0 h 5458"/>
                      <a:gd name="T2" fmla="*/ 0 w 91"/>
                      <a:gd name="T3" fmla="*/ 51 h 5458"/>
                      <a:gd name="T4" fmla="*/ 0 w 91"/>
                      <a:gd name="T5" fmla="*/ 5458 h 5458"/>
                      <a:gd name="T6" fmla="*/ 91 w 91"/>
                      <a:gd name="T7" fmla="*/ 5458 h 5458"/>
                      <a:gd name="T8" fmla="*/ 91 w 91"/>
                      <a:gd name="T9" fmla="*/ 51 h 5458"/>
                      <a:gd name="T10" fmla="*/ 46 w 91"/>
                      <a:gd name="T11" fmla="*/ 101 h 5458"/>
                      <a:gd name="T12" fmla="*/ 46 w 91"/>
                      <a:gd name="T13" fmla="*/ 0 h 5458"/>
                      <a:gd name="T14" fmla="*/ 0 w 91"/>
                      <a:gd name="T15" fmla="*/ 0 h 5458"/>
                      <a:gd name="T16" fmla="*/ 0 w 91"/>
                      <a:gd name="T17" fmla="*/ 51 h 5458"/>
                      <a:gd name="T18" fmla="*/ 46 w 91"/>
                      <a:gd name="T19" fmla="*/ 0 h 545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458"/>
                      <a:gd name="T32" fmla="*/ 91 w 91"/>
                      <a:gd name="T33" fmla="*/ 5458 h 5458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458">
                        <a:moveTo>
                          <a:pt x="46" y="0"/>
                        </a:moveTo>
                        <a:lnTo>
                          <a:pt x="0" y="51"/>
                        </a:lnTo>
                        <a:lnTo>
                          <a:pt x="0" y="5458"/>
                        </a:lnTo>
                        <a:lnTo>
                          <a:pt x="91" y="5458"/>
                        </a:lnTo>
                        <a:lnTo>
                          <a:pt x="91" y="51"/>
                        </a:lnTo>
                        <a:lnTo>
                          <a:pt x="46" y="101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1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3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129" y="3984"/>
                    <a:ext cx="136" cy="13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4" name="Freeform 15"/>
                  <p:cNvSpPr>
                    <a:spLocks/>
                  </p:cNvSpPr>
                  <p:nvPr/>
                </p:nvSpPr>
                <p:spPr bwMode="auto">
                  <a:xfrm>
                    <a:off x="4129" y="3979"/>
                    <a:ext cx="141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80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5" name="Freeform 16"/>
                  <p:cNvSpPr>
                    <a:spLocks/>
                  </p:cNvSpPr>
                  <p:nvPr/>
                </p:nvSpPr>
                <p:spPr bwMode="auto">
                  <a:xfrm>
                    <a:off x="4260" y="3984"/>
                    <a:ext cx="10" cy="140"/>
                  </a:xfrm>
                  <a:custGeom>
                    <a:avLst/>
                    <a:gdLst>
                      <a:gd name="T0" fmla="*/ 45 w 90"/>
                      <a:gd name="T1" fmla="*/ 1402 h 1402"/>
                      <a:gd name="T2" fmla="*/ 90 w 90"/>
                      <a:gd name="T3" fmla="*/ 1352 h 1402"/>
                      <a:gd name="T4" fmla="*/ 90 w 90"/>
                      <a:gd name="T5" fmla="*/ 0 h 1402"/>
                      <a:gd name="T6" fmla="*/ 0 w 90"/>
                      <a:gd name="T7" fmla="*/ 0 h 1402"/>
                      <a:gd name="T8" fmla="*/ 0 w 90"/>
                      <a:gd name="T9" fmla="*/ 1352 h 1402"/>
                      <a:gd name="T10" fmla="*/ 45 w 90"/>
                      <a:gd name="T11" fmla="*/ 1302 h 1402"/>
                      <a:gd name="T12" fmla="*/ 45 w 90"/>
                      <a:gd name="T13" fmla="*/ 1402 h 1402"/>
                      <a:gd name="T14" fmla="*/ 90 w 90"/>
                      <a:gd name="T15" fmla="*/ 1402 h 1402"/>
                      <a:gd name="T16" fmla="*/ 90 w 90"/>
                      <a:gd name="T17" fmla="*/ 1352 h 1402"/>
                      <a:gd name="T18" fmla="*/ 45 w 90"/>
                      <a:gd name="T19" fmla="*/ 1402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1402"/>
                      <a:gd name="T32" fmla="*/ 90 w 90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1402">
                        <a:moveTo>
                          <a:pt x="45" y="1402"/>
                        </a:moveTo>
                        <a:lnTo>
                          <a:pt x="90" y="1352"/>
                        </a:lnTo>
                        <a:lnTo>
                          <a:pt x="90" y="0"/>
                        </a:lnTo>
                        <a:lnTo>
                          <a:pt x="0" y="0"/>
                        </a:lnTo>
                        <a:lnTo>
                          <a:pt x="0" y="1352"/>
                        </a:lnTo>
                        <a:lnTo>
                          <a:pt x="45" y="1302"/>
                        </a:lnTo>
                        <a:lnTo>
                          <a:pt x="45" y="1402"/>
                        </a:lnTo>
                        <a:lnTo>
                          <a:pt x="90" y="1402"/>
                        </a:lnTo>
                        <a:lnTo>
                          <a:pt x="90" y="1352"/>
                        </a:lnTo>
                        <a:lnTo>
                          <a:pt x="45" y="140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6" name="Freeform 17"/>
                  <p:cNvSpPr>
                    <a:spLocks/>
                  </p:cNvSpPr>
                  <p:nvPr/>
                </p:nvSpPr>
                <p:spPr bwMode="auto">
                  <a:xfrm>
                    <a:off x="4124" y="4114"/>
                    <a:ext cx="141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7" name="Freeform 18"/>
                  <p:cNvSpPr>
                    <a:spLocks/>
                  </p:cNvSpPr>
                  <p:nvPr/>
                </p:nvSpPr>
                <p:spPr bwMode="auto">
                  <a:xfrm>
                    <a:off x="4124" y="3979"/>
                    <a:ext cx="10" cy="140"/>
                  </a:xfrm>
                  <a:custGeom>
                    <a:avLst/>
                    <a:gdLst>
                      <a:gd name="T0" fmla="*/ 46 w 91"/>
                      <a:gd name="T1" fmla="*/ 0 h 1402"/>
                      <a:gd name="T2" fmla="*/ 0 w 91"/>
                      <a:gd name="T3" fmla="*/ 50 h 1402"/>
                      <a:gd name="T4" fmla="*/ 0 w 91"/>
                      <a:gd name="T5" fmla="*/ 1402 h 1402"/>
                      <a:gd name="T6" fmla="*/ 91 w 91"/>
                      <a:gd name="T7" fmla="*/ 1402 h 1402"/>
                      <a:gd name="T8" fmla="*/ 91 w 91"/>
                      <a:gd name="T9" fmla="*/ 50 h 1402"/>
                      <a:gd name="T10" fmla="*/ 46 w 91"/>
                      <a:gd name="T11" fmla="*/ 100 h 1402"/>
                      <a:gd name="T12" fmla="*/ 46 w 91"/>
                      <a:gd name="T13" fmla="*/ 0 h 1402"/>
                      <a:gd name="T14" fmla="*/ 0 w 91"/>
                      <a:gd name="T15" fmla="*/ 0 h 1402"/>
                      <a:gd name="T16" fmla="*/ 0 w 91"/>
                      <a:gd name="T17" fmla="*/ 50 h 1402"/>
                      <a:gd name="T18" fmla="*/ 46 w 91"/>
                      <a:gd name="T19" fmla="*/ 0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402"/>
                      <a:gd name="T32" fmla="*/ 91 w 91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40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1402"/>
                        </a:lnTo>
                        <a:lnTo>
                          <a:pt x="91" y="140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265" y="3714"/>
                    <a:ext cx="136" cy="40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89" name="Freeform 20"/>
                  <p:cNvSpPr>
                    <a:spLocks/>
                  </p:cNvSpPr>
                  <p:nvPr/>
                </p:nvSpPr>
                <p:spPr bwMode="auto">
                  <a:xfrm>
                    <a:off x="4265" y="3709"/>
                    <a:ext cx="141" cy="10"/>
                  </a:xfrm>
                  <a:custGeom>
                    <a:avLst/>
                    <a:gdLst>
                      <a:gd name="T0" fmla="*/ 1271 w 1271"/>
                      <a:gd name="T1" fmla="*/ 50 h 100"/>
                      <a:gd name="T2" fmla="*/ 1225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5 w 1271"/>
                      <a:gd name="T9" fmla="*/ 100 h 100"/>
                      <a:gd name="T10" fmla="*/ 1179 w 1271"/>
                      <a:gd name="T11" fmla="*/ 50 h 100"/>
                      <a:gd name="T12" fmla="*/ 1271 w 1271"/>
                      <a:gd name="T13" fmla="*/ 50 h 100"/>
                      <a:gd name="T14" fmla="*/ 1271 w 1271"/>
                      <a:gd name="T15" fmla="*/ 0 h 100"/>
                      <a:gd name="T16" fmla="*/ 1225 w 1271"/>
                      <a:gd name="T17" fmla="*/ 0 h 100"/>
                      <a:gd name="T18" fmla="*/ 127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271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79" y="50"/>
                        </a:lnTo>
                        <a:lnTo>
                          <a:pt x="1271" y="50"/>
                        </a:lnTo>
                        <a:lnTo>
                          <a:pt x="1271" y="0"/>
                        </a:lnTo>
                        <a:lnTo>
                          <a:pt x="1225" y="0"/>
                        </a:lnTo>
                        <a:lnTo>
                          <a:pt x="127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0" name="Freeform 21"/>
                  <p:cNvSpPr>
                    <a:spLocks/>
                  </p:cNvSpPr>
                  <p:nvPr/>
                </p:nvSpPr>
                <p:spPr bwMode="auto">
                  <a:xfrm>
                    <a:off x="4396" y="3714"/>
                    <a:ext cx="10" cy="410"/>
                  </a:xfrm>
                  <a:custGeom>
                    <a:avLst/>
                    <a:gdLst>
                      <a:gd name="T0" fmla="*/ 46 w 92"/>
                      <a:gd name="T1" fmla="*/ 4106 h 4106"/>
                      <a:gd name="T2" fmla="*/ 92 w 92"/>
                      <a:gd name="T3" fmla="*/ 4056 h 4106"/>
                      <a:gd name="T4" fmla="*/ 92 w 92"/>
                      <a:gd name="T5" fmla="*/ 0 h 4106"/>
                      <a:gd name="T6" fmla="*/ 0 w 92"/>
                      <a:gd name="T7" fmla="*/ 0 h 4106"/>
                      <a:gd name="T8" fmla="*/ 0 w 92"/>
                      <a:gd name="T9" fmla="*/ 4056 h 4106"/>
                      <a:gd name="T10" fmla="*/ 46 w 92"/>
                      <a:gd name="T11" fmla="*/ 4006 h 4106"/>
                      <a:gd name="T12" fmla="*/ 46 w 92"/>
                      <a:gd name="T13" fmla="*/ 4106 h 4106"/>
                      <a:gd name="T14" fmla="*/ 92 w 92"/>
                      <a:gd name="T15" fmla="*/ 4106 h 4106"/>
                      <a:gd name="T16" fmla="*/ 92 w 92"/>
                      <a:gd name="T17" fmla="*/ 4056 h 4106"/>
                      <a:gd name="T18" fmla="*/ 46 w 92"/>
                      <a:gd name="T19" fmla="*/ 4106 h 410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2"/>
                      <a:gd name="T31" fmla="*/ 0 h 4106"/>
                      <a:gd name="T32" fmla="*/ 92 w 92"/>
                      <a:gd name="T33" fmla="*/ 4106 h 410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2" h="4106">
                        <a:moveTo>
                          <a:pt x="46" y="4106"/>
                        </a:moveTo>
                        <a:lnTo>
                          <a:pt x="92" y="4056"/>
                        </a:lnTo>
                        <a:lnTo>
                          <a:pt x="92" y="0"/>
                        </a:lnTo>
                        <a:lnTo>
                          <a:pt x="0" y="0"/>
                        </a:lnTo>
                        <a:lnTo>
                          <a:pt x="0" y="4056"/>
                        </a:lnTo>
                        <a:lnTo>
                          <a:pt x="46" y="4006"/>
                        </a:lnTo>
                        <a:lnTo>
                          <a:pt x="46" y="4106"/>
                        </a:lnTo>
                        <a:lnTo>
                          <a:pt x="92" y="4106"/>
                        </a:lnTo>
                        <a:lnTo>
                          <a:pt x="92" y="4056"/>
                        </a:lnTo>
                        <a:lnTo>
                          <a:pt x="46" y="4106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1" name="Freeform 22"/>
                  <p:cNvSpPr>
                    <a:spLocks/>
                  </p:cNvSpPr>
                  <p:nvPr/>
                </p:nvSpPr>
                <p:spPr bwMode="auto">
                  <a:xfrm>
                    <a:off x="4260" y="4114"/>
                    <a:ext cx="141" cy="10"/>
                  </a:xfrm>
                  <a:custGeom>
                    <a:avLst/>
                    <a:gdLst>
                      <a:gd name="T0" fmla="*/ 0 w 1270"/>
                      <a:gd name="T1" fmla="*/ 50 h 100"/>
                      <a:gd name="T2" fmla="*/ 45 w 1270"/>
                      <a:gd name="T3" fmla="*/ 100 h 100"/>
                      <a:gd name="T4" fmla="*/ 1270 w 1270"/>
                      <a:gd name="T5" fmla="*/ 100 h 100"/>
                      <a:gd name="T6" fmla="*/ 1270 w 1270"/>
                      <a:gd name="T7" fmla="*/ 0 h 100"/>
                      <a:gd name="T8" fmla="*/ 45 w 1270"/>
                      <a:gd name="T9" fmla="*/ 0 h 100"/>
                      <a:gd name="T10" fmla="*/ 90 w 1270"/>
                      <a:gd name="T11" fmla="*/ 50 h 100"/>
                      <a:gd name="T12" fmla="*/ 0 w 1270"/>
                      <a:gd name="T13" fmla="*/ 50 h 100"/>
                      <a:gd name="T14" fmla="*/ 0 w 1270"/>
                      <a:gd name="T15" fmla="*/ 100 h 100"/>
                      <a:gd name="T16" fmla="*/ 45 w 1270"/>
                      <a:gd name="T17" fmla="*/ 100 h 100"/>
                      <a:gd name="T18" fmla="*/ 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0" y="50"/>
                        </a:moveTo>
                        <a:lnTo>
                          <a:pt x="45" y="100"/>
                        </a:lnTo>
                        <a:lnTo>
                          <a:pt x="1270" y="100"/>
                        </a:lnTo>
                        <a:lnTo>
                          <a:pt x="1270" y="0"/>
                        </a:lnTo>
                        <a:lnTo>
                          <a:pt x="45" y="0"/>
                        </a:lnTo>
                        <a:lnTo>
                          <a:pt x="90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5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2" name="Freeform 23"/>
                  <p:cNvSpPr>
                    <a:spLocks/>
                  </p:cNvSpPr>
                  <p:nvPr/>
                </p:nvSpPr>
                <p:spPr bwMode="auto">
                  <a:xfrm>
                    <a:off x="4260" y="3709"/>
                    <a:ext cx="10" cy="410"/>
                  </a:xfrm>
                  <a:custGeom>
                    <a:avLst/>
                    <a:gdLst>
                      <a:gd name="T0" fmla="*/ 45 w 90"/>
                      <a:gd name="T1" fmla="*/ 0 h 4106"/>
                      <a:gd name="T2" fmla="*/ 0 w 90"/>
                      <a:gd name="T3" fmla="*/ 50 h 4106"/>
                      <a:gd name="T4" fmla="*/ 0 w 90"/>
                      <a:gd name="T5" fmla="*/ 4106 h 4106"/>
                      <a:gd name="T6" fmla="*/ 90 w 90"/>
                      <a:gd name="T7" fmla="*/ 4106 h 4106"/>
                      <a:gd name="T8" fmla="*/ 90 w 90"/>
                      <a:gd name="T9" fmla="*/ 50 h 4106"/>
                      <a:gd name="T10" fmla="*/ 45 w 90"/>
                      <a:gd name="T11" fmla="*/ 100 h 4106"/>
                      <a:gd name="T12" fmla="*/ 45 w 90"/>
                      <a:gd name="T13" fmla="*/ 0 h 4106"/>
                      <a:gd name="T14" fmla="*/ 0 w 90"/>
                      <a:gd name="T15" fmla="*/ 0 h 4106"/>
                      <a:gd name="T16" fmla="*/ 0 w 90"/>
                      <a:gd name="T17" fmla="*/ 50 h 4106"/>
                      <a:gd name="T18" fmla="*/ 45 w 90"/>
                      <a:gd name="T19" fmla="*/ 0 h 410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4106"/>
                      <a:gd name="T32" fmla="*/ 90 w 90"/>
                      <a:gd name="T33" fmla="*/ 4106 h 410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4106">
                        <a:moveTo>
                          <a:pt x="45" y="0"/>
                        </a:moveTo>
                        <a:lnTo>
                          <a:pt x="0" y="50"/>
                        </a:lnTo>
                        <a:lnTo>
                          <a:pt x="0" y="4106"/>
                        </a:lnTo>
                        <a:lnTo>
                          <a:pt x="90" y="4106"/>
                        </a:lnTo>
                        <a:lnTo>
                          <a:pt x="90" y="50"/>
                        </a:lnTo>
                        <a:lnTo>
                          <a:pt x="45" y="10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3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3849"/>
                    <a:ext cx="136" cy="27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4" name="Freeform 25"/>
                  <p:cNvSpPr>
                    <a:spLocks/>
                  </p:cNvSpPr>
                  <p:nvPr/>
                </p:nvSpPr>
                <p:spPr bwMode="auto">
                  <a:xfrm>
                    <a:off x="4396" y="3844"/>
                    <a:ext cx="141" cy="10"/>
                  </a:xfrm>
                  <a:custGeom>
                    <a:avLst/>
                    <a:gdLst>
                      <a:gd name="T0" fmla="*/ 92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0 w 1271"/>
                      <a:gd name="T11" fmla="*/ 50 h 100"/>
                      <a:gd name="T12" fmla="*/ 46 w 1271"/>
                      <a:gd name="T13" fmla="*/ 0 h 100"/>
                      <a:gd name="T14" fmla="*/ 0 w 1271"/>
                      <a:gd name="T15" fmla="*/ 0 h 100"/>
                      <a:gd name="T16" fmla="*/ 0 w 1271"/>
                      <a:gd name="T17" fmla="*/ 50 h 100"/>
                      <a:gd name="T18" fmla="*/ 92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92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92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5" name="Freeform 26"/>
                  <p:cNvSpPr>
                    <a:spLocks/>
                  </p:cNvSpPr>
                  <p:nvPr/>
                </p:nvSpPr>
                <p:spPr bwMode="auto">
                  <a:xfrm>
                    <a:off x="4396" y="3849"/>
                    <a:ext cx="10" cy="275"/>
                  </a:xfrm>
                  <a:custGeom>
                    <a:avLst/>
                    <a:gdLst>
                      <a:gd name="T0" fmla="*/ 46 w 92"/>
                      <a:gd name="T1" fmla="*/ 2654 h 2754"/>
                      <a:gd name="T2" fmla="*/ 92 w 92"/>
                      <a:gd name="T3" fmla="*/ 2704 h 2754"/>
                      <a:gd name="T4" fmla="*/ 92 w 92"/>
                      <a:gd name="T5" fmla="*/ 0 h 2754"/>
                      <a:gd name="T6" fmla="*/ 0 w 92"/>
                      <a:gd name="T7" fmla="*/ 0 h 2754"/>
                      <a:gd name="T8" fmla="*/ 0 w 92"/>
                      <a:gd name="T9" fmla="*/ 2704 h 2754"/>
                      <a:gd name="T10" fmla="*/ 46 w 92"/>
                      <a:gd name="T11" fmla="*/ 2754 h 2754"/>
                      <a:gd name="T12" fmla="*/ 0 w 92"/>
                      <a:gd name="T13" fmla="*/ 2704 h 2754"/>
                      <a:gd name="T14" fmla="*/ 0 w 92"/>
                      <a:gd name="T15" fmla="*/ 2754 h 2754"/>
                      <a:gd name="T16" fmla="*/ 46 w 92"/>
                      <a:gd name="T17" fmla="*/ 2754 h 2754"/>
                      <a:gd name="T18" fmla="*/ 46 w 92"/>
                      <a:gd name="T19" fmla="*/ 2654 h 275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2"/>
                      <a:gd name="T31" fmla="*/ 0 h 2754"/>
                      <a:gd name="T32" fmla="*/ 92 w 92"/>
                      <a:gd name="T33" fmla="*/ 2754 h 275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2" h="2754">
                        <a:moveTo>
                          <a:pt x="46" y="2654"/>
                        </a:moveTo>
                        <a:lnTo>
                          <a:pt x="92" y="2704"/>
                        </a:lnTo>
                        <a:lnTo>
                          <a:pt x="92" y="0"/>
                        </a:lnTo>
                        <a:lnTo>
                          <a:pt x="0" y="0"/>
                        </a:lnTo>
                        <a:lnTo>
                          <a:pt x="0" y="2704"/>
                        </a:lnTo>
                        <a:lnTo>
                          <a:pt x="46" y="2754"/>
                        </a:lnTo>
                        <a:lnTo>
                          <a:pt x="0" y="2704"/>
                        </a:lnTo>
                        <a:lnTo>
                          <a:pt x="0" y="2754"/>
                        </a:lnTo>
                        <a:lnTo>
                          <a:pt x="46" y="2754"/>
                        </a:lnTo>
                        <a:lnTo>
                          <a:pt x="46" y="2654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6" name="Freeform 27"/>
                  <p:cNvSpPr>
                    <a:spLocks/>
                  </p:cNvSpPr>
                  <p:nvPr/>
                </p:nvSpPr>
                <p:spPr bwMode="auto">
                  <a:xfrm>
                    <a:off x="4401" y="4114"/>
                    <a:ext cx="141" cy="10"/>
                  </a:xfrm>
                  <a:custGeom>
                    <a:avLst/>
                    <a:gdLst>
                      <a:gd name="T0" fmla="*/ 1179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270 w 1270"/>
                      <a:gd name="T11" fmla="*/ 50 h 100"/>
                      <a:gd name="T12" fmla="*/ 1225 w 1270"/>
                      <a:gd name="T13" fmla="*/ 100 h 100"/>
                      <a:gd name="T14" fmla="*/ 1270 w 1270"/>
                      <a:gd name="T15" fmla="*/ 100 h 100"/>
                      <a:gd name="T16" fmla="*/ 1270 w 1270"/>
                      <a:gd name="T17" fmla="*/ 50 h 100"/>
                      <a:gd name="T18" fmla="*/ 1179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179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270" y="50"/>
                        </a:lnTo>
                        <a:lnTo>
                          <a:pt x="1225" y="100"/>
                        </a:lnTo>
                        <a:lnTo>
                          <a:pt x="1270" y="100"/>
                        </a:lnTo>
                        <a:lnTo>
                          <a:pt x="1270" y="50"/>
                        </a:lnTo>
                        <a:lnTo>
                          <a:pt x="1179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7" name="Freeform 28"/>
                  <p:cNvSpPr>
                    <a:spLocks/>
                  </p:cNvSpPr>
                  <p:nvPr/>
                </p:nvSpPr>
                <p:spPr bwMode="auto">
                  <a:xfrm>
                    <a:off x="4532" y="3844"/>
                    <a:ext cx="10" cy="275"/>
                  </a:xfrm>
                  <a:custGeom>
                    <a:avLst/>
                    <a:gdLst>
                      <a:gd name="T0" fmla="*/ 46 w 91"/>
                      <a:gd name="T1" fmla="*/ 100 h 2754"/>
                      <a:gd name="T2" fmla="*/ 0 w 91"/>
                      <a:gd name="T3" fmla="*/ 50 h 2754"/>
                      <a:gd name="T4" fmla="*/ 0 w 91"/>
                      <a:gd name="T5" fmla="*/ 2754 h 2754"/>
                      <a:gd name="T6" fmla="*/ 91 w 91"/>
                      <a:gd name="T7" fmla="*/ 2754 h 2754"/>
                      <a:gd name="T8" fmla="*/ 91 w 91"/>
                      <a:gd name="T9" fmla="*/ 50 h 2754"/>
                      <a:gd name="T10" fmla="*/ 46 w 91"/>
                      <a:gd name="T11" fmla="*/ 0 h 2754"/>
                      <a:gd name="T12" fmla="*/ 91 w 91"/>
                      <a:gd name="T13" fmla="*/ 50 h 2754"/>
                      <a:gd name="T14" fmla="*/ 91 w 91"/>
                      <a:gd name="T15" fmla="*/ 0 h 2754"/>
                      <a:gd name="T16" fmla="*/ 46 w 91"/>
                      <a:gd name="T17" fmla="*/ 0 h 2754"/>
                      <a:gd name="T18" fmla="*/ 46 w 91"/>
                      <a:gd name="T19" fmla="*/ 100 h 275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2754"/>
                      <a:gd name="T32" fmla="*/ 91 w 91"/>
                      <a:gd name="T33" fmla="*/ 2754 h 275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2754">
                        <a:moveTo>
                          <a:pt x="46" y="100"/>
                        </a:moveTo>
                        <a:lnTo>
                          <a:pt x="0" y="50"/>
                        </a:lnTo>
                        <a:lnTo>
                          <a:pt x="0" y="2754"/>
                        </a:lnTo>
                        <a:lnTo>
                          <a:pt x="91" y="2754"/>
                        </a:lnTo>
                        <a:lnTo>
                          <a:pt x="91" y="5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91" y="0"/>
                        </a:lnTo>
                        <a:lnTo>
                          <a:pt x="46" y="0"/>
                        </a:lnTo>
                        <a:lnTo>
                          <a:pt x="46" y="10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8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537" y="4029"/>
                    <a:ext cx="136" cy="9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499" name="Freeform 30"/>
                  <p:cNvSpPr>
                    <a:spLocks/>
                  </p:cNvSpPr>
                  <p:nvPr/>
                </p:nvSpPr>
                <p:spPr bwMode="auto">
                  <a:xfrm>
                    <a:off x="4537" y="4024"/>
                    <a:ext cx="141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80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0" name="Freeform 31"/>
                  <p:cNvSpPr>
                    <a:spLocks/>
                  </p:cNvSpPr>
                  <p:nvPr/>
                </p:nvSpPr>
                <p:spPr bwMode="auto">
                  <a:xfrm>
                    <a:off x="4668" y="4029"/>
                    <a:ext cx="10" cy="95"/>
                  </a:xfrm>
                  <a:custGeom>
                    <a:avLst/>
                    <a:gdLst>
                      <a:gd name="T0" fmla="*/ 45 w 90"/>
                      <a:gd name="T1" fmla="*/ 952 h 952"/>
                      <a:gd name="T2" fmla="*/ 90 w 90"/>
                      <a:gd name="T3" fmla="*/ 902 h 952"/>
                      <a:gd name="T4" fmla="*/ 90 w 90"/>
                      <a:gd name="T5" fmla="*/ 0 h 952"/>
                      <a:gd name="T6" fmla="*/ 0 w 90"/>
                      <a:gd name="T7" fmla="*/ 0 h 952"/>
                      <a:gd name="T8" fmla="*/ 0 w 90"/>
                      <a:gd name="T9" fmla="*/ 902 h 952"/>
                      <a:gd name="T10" fmla="*/ 45 w 90"/>
                      <a:gd name="T11" fmla="*/ 852 h 952"/>
                      <a:gd name="T12" fmla="*/ 45 w 90"/>
                      <a:gd name="T13" fmla="*/ 952 h 952"/>
                      <a:gd name="T14" fmla="*/ 90 w 90"/>
                      <a:gd name="T15" fmla="*/ 952 h 952"/>
                      <a:gd name="T16" fmla="*/ 90 w 90"/>
                      <a:gd name="T17" fmla="*/ 902 h 952"/>
                      <a:gd name="T18" fmla="*/ 45 w 90"/>
                      <a:gd name="T19" fmla="*/ 952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952"/>
                      <a:gd name="T32" fmla="*/ 90 w 90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952">
                        <a:moveTo>
                          <a:pt x="45" y="952"/>
                        </a:moveTo>
                        <a:lnTo>
                          <a:pt x="90" y="902"/>
                        </a:lnTo>
                        <a:lnTo>
                          <a:pt x="90" y="0"/>
                        </a:lnTo>
                        <a:lnTo>
                          <a:pt x="0" y="0"/>
                        </a:lnTo>
                        <a:lnTo>
                          <a:pt x="0" y="902"/>
                        </a:lnTo>
                        <a:lnTo>
                          <a:pt x="45" y="852"/>
                        </a:lnTo>
                        <a:lnTo>
                          <a:pt x="45" y="952"/>
                        </a:lnTo>
                        <a:lnTo>
                          <a:pt x="90" y="952"/>
                        </a:lnTo>
                        <a:lnTo>
                          <a:pt x="90" y="902"/>
                        </a:lnTo>
                        <a:lnTo>
                          <a:pt x="45" y="95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1" name="Freeform 32"/>
                  <p:cNvSpPr>
                    <a:spLocks/>
                  </p:cNvSpPr>
                  <p:nvPr/>
                </p:nvSpPr>
                <p:spPr bwMode="auto">
                  <a:xfrm>
                    <a:off x="4532" y="4114"/>
                    <a:ext cx="141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2" name="Freeform 33"/>
                  <p:cNvSpPr>
                    <a:spLocks/>
                  </p:cNvSpPr>
                  <p:nvPr/>
                </p:nvSpPr>
                <p:spPr bwMode="auto">
                  <a:xfrm>
                    <a:off x="4532" y="4024"/>
                    <a:ext cx="10" cy="95"/>
                  </a:xfrm>
                  <a:custGeom>
                    <a:avLst/>
                    <a:gdLst>
                      <a:gd name="T0" fmla="*/ 46 w 91"/>
                      <a:gd name="T1" fmla="*/ 0 h 952"/>
                      <a:gd name="T2" fmla="*/ 0 w 91"/>
                      <a:gd name="T3" fmla="*/ 50 h 952"/>
                      <a:gd name="T4" fmla="*/ 0 w 91"/>
                      <a:gd name="T5" fmla="*/ 952 h 952"/>
                      <a:gd name="T6" fmla="*/ 91 w 91"/>
                      <a:gd name="T7" fmla="*/ 952 h 952"/>
                      <a:gd name="T8" fmla="*/ 91 w 91"/>
                      <a:gd name="T9" fmla="*/ 50 h 952"/>
                      <a:gd name="T10" fmla="*/ 46 w 91"/>
                      <a:gd name="T11" fmla="*/ 100 h 952"/>
                      <a:gd name="T12" fmla="*/ 46 w 91"/>
                      <a:gd name="T13" fmla="*/ 0 h 952"/>
                      <a:gd name="T14" fmla="*/ 0 w 91"/>
                      <a:gd name="T15" fmla="*/ 0 h 952"/>
                      <a:gd name="T16" fmla="*/ 0 w 91"/>
                      <a:gd name="T17" fmla="*/ 50 h 952"/>
                      <a:gd name="T18" fmla="*/ 46 w 91"/>
                      <a:gd name="T19" fmla="*/ 0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952"/>
                        </a:lnTo>
                        <a:lnTo>
                          <a:pt x="91" y="95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3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4673" y="3984"/>
                    <a:ext cx="136" cy="13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4" name="Freeform 35"/>
                  <p:cNvSpPr>
                    <a:spLocks/>
                  </p:cNvSpPr>
                  <p:nvPr/>
                </p:nvSpPr>
                <p:spPr bwMode="auto">
                  <a:xfrm>
                    <a:off x="4673" y="3979"/>
                    <a:ext cx="141" cy="10"/>
                  </a:xfrm>
                  <a:custGeom>
                    <a:avLst/>
                    <a:gdLst>
                      <a:gd name="T0" fmla="*/ 1271 w 1271"/>
                      <a:gd name="T1" fmla="*/ 50 h 100"/>
                      <a:gd name="T2" fmla="*/ 1225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5 w 1271"/>
                      <a:gd name="T9" fmla="*/ 100 h 100"/>
                      <a:gd name="T10" fmla="*/ 1180 w 1271"/>
                      <a:gd name="T11" fmla="*/ 50 h 100"/>
                      <a:gd name="T12" fmla="*/ 1271 w 1271"/>
                      <a:gd name="T13" fmla="*/ 50 h 100"/>
                      <a:gd name="T14" fmla="*/ 1271 w 1271"/>
                      <a:gd name="T15" fmla="*/ 0 h 100"/>
                      <a:gd name="T16" fmla="*/ 1225 w 1271"/>
                      <a:gd name="T17" fmla="*/ 0 h 100"/>
                      <a:gd name="T18" fmla="*/ 127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271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1" y="50"/>
                        </a:lnTo>
                        <a:lnTo>
                          <a:pt x="1271" y="0"/>
                        </a:lnTo>
                        <a:lnTo>
                          <a:pt x="1225" y="0"/>
                        </a:lnTo>
                        <a:lnTo>
                          <a:pt x="127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5" name="Freeform 36"/>
                  <p:cNvSpPr>
                    <a:spLocks/>
                  </p:cNvSpPr>
                  <p:nvPr/>
                </p:nvSpPr>
                <p:spPr bwMode="auto">
                  <a:xfrm>
                    <a:off x="4804" y="3984"/>
                    <a:ext cx="10" cy="140"/>
                  </a:xfrm>
                  <a:custGeom>
                    <a:avLst/>
                    <a:gdLst>
                      <a:gd name="T0" fmla="*/ 45 w 91"/>
                      <a:gd name="T1" fmla="*/ 1402 h 1402"/>
                      <a:gd name="T2" fmla="*/ 91 w 91"/>
                      <a:gd name="T3" fmla="*/ 1352 h 1402"/>
                      <a:gd name="T4" fmla="*/ 91 w 91"/>
                      <a:gd name="T5" fmla="*/ 0 h 1402"/>
                      <a:gd name="T6" fmla="*/ 0 w 91"/>
                      <a:gd name="T7" fmla="*/ 0 h 1402"/>
                      <a:gd name="T8" fmla="*/ 0 w 91"/>
                      <a:gd name="T9" fmla="*/ 1352 h 1402"/>
                      <a:gd name="T10" fmla="*/ 45 w 91"/>
                      <a:gd name="T11" fmla="*/ 1302 h 1402"/>
                      <a:gd name="T12" fmla="*/ 45 w 91"/>
                      <a:gd name="T13" fmla="*/ 1402 h 1402"/>
                      <a:gd name="T14" fmla="*/ 91 w 91"/>
                      <a:gd name="T15" fmla="*/ 1402 h 1402"/>
                      <a:gd name="T16" fmla="*/ 91 w 91"/>
                      <a:gd name="T17" fmla="*/ 1352 h 1402"/>
                      <a:gd name="T18" fmla="*/ 45 w 91"/>
                      <a:gd name="T19" fmla="*/ 1402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402"/>
                      <a:gd name="T32" fmla="*/ 91 w 91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402">
                        <a:moveTo>
                          <a:pt x="45" y="1402"/>
                        </a:moveTo>
                        <a:lnTo>
                          <a:pt x="91" y="1352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1352"/>
                        </a:lnTo>
                        <a:lnTo>
                          <a:pt x="45" y="1302"/>
                        </a:lnTo>
                        <a:lnTo>
                          <a:pt x="45" y="1402"/>
                        </a:lnTo>
                        <a:lnTo>
                          <a:pt x="91" y="1402"/>
                        </a:lnTo>
                        <a:lnTo>
                          <a:pt x="91" y="1352"/>
                        </a:lnTo>
                        <a:lnTo>
                          <a:pt x="45" y="140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6" name="Freeform 37"/>
                  <p:cNvSpPr>
                    <a:spLocks/>
                  </p:cNvSpPr>
                  <p:nvPr/>
                </p:nvSpPr>
                <p:spPr bwMode="auto">
                  <a:xfrm>
                    <a:off x="4668" y="4114"/>
                    <a:ext cx="141" cy="10"/>
                  </a:xfrm>
                  <a:custGeom>
                    <a:avLst/>
                    <a:gdLst>
                      <a:gd name="T0" fmla="*/ 0 w 1270"/>
                      <a:gd name="T1" fmla="*/ 50 h 100"/>
                      <a:gd name="T2" fmla="*/ 45 w 1270"/>
                      <a:gd name="T3" fmla="*/ 100 h 100"/>
                      <a:gd name="T4" fmla="*/ 1270 w 1270"/>
                      <a:gd name="T5" fmla="*/ 100 h 100"/>
                      <a:gd name="T6" fmla="*/ 1270 w 1270"/>
                      <a:gd name="T7" fmla="*/ 0 h 100"/>
                      <a:gd name="T8" fmla="*/ 45 w 1270"/>
                      <a:gd name="T9" fmla="*/ 0 h 100"/>
                      <a:gd name="T10" fmla="*/ 90 w 1270"/>
                      <a:gd name="T11" fmla="*/ 50 h 100"/>
                      <a:gd name="T12" fmla="*/ 0 w 1270"/>
                      <a:gd name="T13" fmla="*/ 50 h 100"/>
                      <a:gd name="T14" fmla="*/ 0 w 1270"/>
                      <a:gd name="T15" fmla="*/ 100 h 100"/>
                      <a:gd name="T16" fmla="*/ 45 w 1270"/>
                      <a:gd name="T17" fmla="*/ 100 h 100"/>
                      <a:gd name="T18" fmla="*/ 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0" y="50"/>
                        </a:moveTo>
                        <a:lnTo>
                          <a:pt x="45" y="100"/>
                        </a:lnTo>
                        <a:lnTo>
                          <a:pt x="1270" y="100"/>
                        </a:lnTo>
                        <a:lnTo>
                          <a:pt x="1270" y="0"/>
                        </a:lnTo>
                        <a:lnTo>
                          <a:pt x="45" y="0"/>
                        </a:lnTo>
                        <a:lnTo>
                          <a:pt x="90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5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7" name="Freeform 38"/>
                  <p:cNvSpPr>
                    <a:spLocks/>
                  </p:cNvSpPr>
                  <p:nvPr/>
                </p:nvSpPr>
                <p:spPr bwMode="auto">
                  <a:xfrm>
                    <a:off x="4668" y="3979"/>
                    <a:ext cx="10" cy="140"/>
                  </a:xfrm>
                  <a:custGeom>
                    <a:avLst/>
                    <a:gdLst>
                      <a:gd name="T0" fmla="*/ 45 w 90"/>
                      <a:gd name="T1" fmla="*/ 0 h 1402"/>
                      <a:gd name="T2" fmla="*/ 0 w 90"/>
                      <a:gd name="T3" fmla="*/ 50 h 1402"/>
                      <a:gd name="T4" fmla="*/ 0 w 90"/>
                      <a:gd name="T5" fmla="*/ 1402 h 1402"/>
                      <a:gd name="T6" fmla="*/ 90 w 90"/>
                      <a:gd name="T7" fmla="*/ 1402 h 1402"/>
                      <a:gd name="T8" fmla="*/ 90 w 90"/>
                      <a:gd name="T9" fmla="*/ 50 h 1402"/>
                      <a:gd name="T10" fmla="*/ 45 w 90"/>
                      <a:gd name="T11" fmla="*/ 100 h 1402"/>
                      <a:gd name="T12" fmla="*/ 45 w 90"/>
                      <a:gd name="T13" fmla="*/ 0 h 1402"/>
                      <a:gd name="T14" fmla="*/ 0 w 90"/>
                      <a:gd name="T15" fmla="*/ 0 h 1402"/>
                      <a:gd name="T16" fmla="*/ 0 w 90"/>
                      <a:gd name="T17" fmla="*/ 50 h 1402"/>
                      <a:gd name="T18" fmla="*/ 45 w 90"/>
                      <a:gd name="T19" fmla="*/ 0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1402"/>
                      <a:gd name="T32" fmla="*/ 90 w 90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1402">
                        <a:moveTo>
                          <a:pt x="45" y="0"/>
                        </a:moveTo>
                        <a:lnTo>
                          <a:pt x="0" y="50"/>
                        </a:lnTo>
                        <a:lnTo>
                          <a:pt x="0" y="1402"/>
                        </a:lnTo>
                        <a:lnTo>
                          <a:pt x="90" y="1402"/>
                        </a:lnTo>
                        <a:lnTo>
                          <a:pt x="90" y="50"/>
                        </a:lnTo>
                        <a:lnTo>
                          <a:pt x="45" y="10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8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4809" y="4074"/>
                    <a:ext cx="136" cy="4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09" name="Freeform 40"/>
                  <p:cNvSpPr>
                    <a:spLocks/>
                  </p:cNvSpPr>
                  <p:nvPr/>
                </p:nvSpPr>
                <p:spPr bwMode="auto">
                  <a:xfrm>
                    <a:off x="4804" y="4069"/>
                    <a:ext cx="141" cy="10"/>
                  </a:xfrm>
                  <a:custGeom>
                    <a:avLst/>
                    <a:gdLst>
                      <a:gd name="T0" fmla="*/ 91 w 1271"/>
                      <a:gd name="T1" fmla="*/ 50 h 100"/>
                      <a:gd name="T2" fmla="*/ 45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5 w 1271"/>
                      <a:gd name="T9" fmla="*/ 0 h 100"/>
                      <a:gd name="T10" fmla="*/ 0 w 1271"/>
                      <a:gd name="T11" fmla="*/ 50 h 100"/>
                      <a:gd name="T12" fmla="*/ 45 w 1271"/>
                      <a:gd name="T13" fmla="*/ 0 h 100"/>
                      <a:gd name="T14" fmla="*/ 0 w 1271"/>
                      <a:gd name="T15" fmla="*/ 0 h 100"/>
                      <a:gd name="T16" fmla="*/ 0 w 1271"/>
                      <a:gd name="T17" fmla="*/ 50 h 100"/>
                      <a:gd name="T18" fmla="*/ 9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91" y="50"/>
                        </a:moveTo>
                        <a:lnTo>
                          <a:pt x="45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5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9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0" name="Freeform 41"/>
                  <p:cNvSpPr>
                    <a:spLocks/>
                  </p:cNvSpPr>
                  <p:nvPr/>
                </p:nvSpPr>
                <p:spPr bwMode="auto">
                  <a:xfrm>
                    <a:off x="4804" y="4074"/>
                    <a:ext cx="10" cy="50"/>
                  </a:xfrm>
                  <a:custGeom>
                    <a:avLst/>
                    <a:gdLst>
                      <a:gd name="T0" fmla="*/ 45 w 91"/>
                      <a:gd name="T1" fmla="*/ 401 h 501"/>
                      <a:gd name="T2" fmla="*/ 91 w 91"/>
                      <a:gd name="T3" fmla="*/ 451 h 501"/>
                      <a:gd name="T4" fmla="*/ 91 w 91"/>
                      <a:gd name="T5" fmla="*/ 0 h 501"/>
                      <a:gd name="T6" fmla="*/ 0 w 91"/>
                      <a:gd name="T7" fmla="*/ 0 h 501"/>
                      <a:gd name="T8" fmla="*/ 0 w 91"/>
                      <a:gd name="T9" fmla="*/ 451 h 501"/>
                      <a:gd name="T10" fmla="*/ 45 w 91"/>
                      <a:gd name="T11" fmla="*/ 501 h 501"/>
                      <a:gd name="T12" fmla="*/ 0 w 91"/>
                      <a:gd name="T13" fmla="*/ 451 h 501"/>
                      <a:gd name="T14" fmla="*/ 0 w 91"/>
                      <a:gd name="T15" fmla="*/ 501 h 501"/>
                      <a:gd name="T16" fmla="*/ 45 w 91"/>
                      <a:gd name="T17" fmla="*/ 501 h 501"/>
                      <a:gd name="T18" fmla="*/ 45 w 91"/>
                      <a:gd name="T19" fmla="*/ 401 h 5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01"/>
                      <a:gd name="T32" fmla="*/ 91 w 91"/>
                      <a:gd name="T33" fmla="*/ 501 h 5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01">
                        <a:moveTo>
                          <a:pt x="45" y="401"/>
                        </a:moveTo>
                        <a:lnTo>
                          <a:pt x="91" y="451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451"/>
                        </a:lnTo>
                        <a:lnTo>
                          <a:pt x="45" y="501"/>
                        </a:lnTo>
                        <a:lnTo>
                          <a:pt x="0" y="451"/>
                        </a:lnTo>
                        <a:lnTo>
                          <a:pt x="0" y="501"/>
                        </a:lnTo>
                        <a:lnTo>
                          <a:pt x="45" y="501"/>
                        </a:lnTo>
                        <a:lnTo>
                          <a:pt x="45" y="401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1" name="Freeform 42"/>
                  <p:cNvSpPr>
                    <a:spLocks/>
                  </p:cNvSpPr>
                  <p:nvPr/>
                </p:nvSpPr>
                <p:spPr bwMode="auto">
                  <a:xfrm>
                    <a:off x="4809" y="4114"/>
                    <a:ext cx="141" cy="10"/>
                  </a:xfrm>
                  <a:custGeom>
                    <a:avLst/>
                    <a:gdLst>
                      <a:gd name="T0" fmla="*/ 1180 w 1271"/>
                      <a:gd name="T1" fmla="*/ 50 h 100"/>
                      <a:gd name="T2" fmla="*/ 1226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6 w 1271"/>
                      <a:gd name="T9" fmla="*/ 100 h 100"/>
                      <a:gd name="T10" fmla="*/ 1271 w 1271"/>
                      <a:gd name="T11" fmla="*/ 50 h 100"/>
                      <a:gd name="T12" fmla="*/ 1226 w 1271"/>
                      <a:gd name="T13" fmla="*/ 100 h 100"/>
                      <a:gd name="T14" fmla="*/ 1271 w 1271"/>
                      <a:gd name="T15" fmla="*/ 100 h 100"/>
                      <a:gd name="T16" fmla="*/ 1271 w 1271"/>
                      <a:gd name="T17" fmla="*/ 50 h 100"/>
                      <a:gd name="T18" fmla="*/ 118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180" y="50"/>
                        </a:moveTo>
                        <a:lnTo>
                          <a:pt x="1226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6" y="100"/>
                        </a:lnTo>
                        <a:lnTo>
                          <a:pt x="1271" y="50"/>
                        </a:lnTo>
                        <a:lnTo>
                          <a:pt x="1226" y="100"/>
                        </a:lnTo>
                        <a:lnTo>
                          <a:pt x="1271" y="100"/>
                        </a:lnTo>
                        <a:lnTo>
                          <a:pt x="1271" y="50"/>
                        </a:lnTo>
                        <a:lnTo>
                          <a:pt x="118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2" name="Freeform 43"/>
                  <p:cNvSpPr>
                    <a:spLocks/>
                  </p:cNvSpPr>
                  <p:nvPr/>
                </p:nvSpPr>
                <p:spPr bwMode="auto">
                  <a:xfrm>
                    <a:off x="4940" y="4069"/>
                    <a:ext cx="10" cy="50"/>
                  </a:xfrm>
                  <a:custGeom>
                    <a:avLst/>
                    <a:gdLst>
                      <a:gd name="T0" fmla="*/ 46 w 91"/>
                      <a:gd name="T1" fmla="*/ 100 h 501"/>
                      <a:gd name="T2" fmla="*/ 0 w 91"/>
                      <a:gd name="T3" fmla="*/ 50 h 501"/>
                      <a:gd name="T4" fmla="*/ 0 w 91"/>
                      <a:gd name="T5" fmla="*/ 501 h 501"/>
                      <a:gd name="T6" fmla="*/ 91 w 91"/>
                      <a:gd name="T7" fmla="*/ 501 h 501"/>
                      <a:gd name="T8" fmla="*/ 91 w 91"/>
                      <a:gd name="T9" fmla="*/ 50 h 501"/>
                      <a:gd name="T10" fmla="*/ 46 w 91"/>
                      <a:gd name="T11" fmla="*/ 0 h 501"/>
                      <a:gd name="T12" fmla="*/ 91 w 91"/>
                      <a:gd name="T13" fmla="*/ 50 h 501"/>
                      <a:gd name="T14" fmla="*/ 91 w 91"/>
                      <a:gd name="T15" fmla="*/ 0 h 501"/>
                      <a:gd name="T16" fmla="*/ 46 w 91"/>
                      <a:gd name="T17" fmla="*/ 0 h 501"/>
                      <a:gd name="T18" fmla="*/ 46 w 91"/>
                      <a:gd name="T19" fmla="*/ 100 h 5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01"/>
                      <a:gd name="T32" fmla="*/ 91 w 91"/>
                      <a:gd name="T33" fmla="*/ 501 h 5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01">
                        <a:moveTo>
                          <a:pt x="46" y="100"/>
                        </a:moveTo>
                        <a:lnTo>
                          <a:pt x="0" y="50"/>
                        </a:lnTo>
                        <a:lnTo>
                          <a:pt x="0" y="501"/>
                        </a:lnTo>
                        <a:lnTo>
                          <a:pt x="91" y="501"/>
                        </a:lnTo>
                        <a:lnTo>
                          <a:pt x="91" y="5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91" y="0"/>
                        </a:lnTo>
                        <a:lnTo>
                          <a:pt x="46" y="0"/>
                        </a:lnTo>
                        <a:lnTo>
                          <a:pt x="46" y="10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3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4945" y="4029"/>
                    <a:ext cx="137" cy="9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4" name="Freeform 45"/>
                  <p:cNvSpPr>
                    <a:spLocks/>
                  </p:cNvSpPr>
                  <p:nvPr/>
                </p:nvSpPr>
                <p:spPr bwMode="auto">
                  <a:xfrm>
                    <a:off x="4945" y="4024"/>
                    <a:ext cx="142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79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79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5" name="Freeform 46"/>
                  <p:cNvSpPr>
                    <a:spLocks/>
                  </p:cNvSpPr>
                  <p:nvPr/>
                </p:nvSpPr>
                <p:spPr bwMode="auto">
                  <a:xfrm>
                    <a:off x="5076" y="4029"/>
                    <a:ext cx="11" cy="95"/>
                  </a:xfrm>
                  <a:custGeom>
                    <a:avLst/>
                    <a:gdLst>
                      <a:gd name="T0" fmla="*/ 46 w 91"/>
                      <a:gd name="T1" fmla="*/ 952 h 952"/>
                      <a:gd name="T2" fmla="*/ 91 w 91"/>
                      <a:gd name="T3" fmla="*/ 902 h 952"/>
                      <a:gd name="T4" fmla="*/ 91 w 91"/>
                      <a:gd name="T5" fmla="*/ 0 h 952"/>
                      <a:gd name="T6" fmla="*/ 0 w 91"/>
                      <a:gd name="T7" fmla="*/ 0 h 952"/>
                      <a:gd name="T8" fmla="*/ 0 w 91"/>
                      <a:gd name="T9" fmla="*/ 902 h 952"/>
                      <a:gd name="T10" fmla="*/ 46 w 91"/>
                      <a:gd name="T11" fmla="*/ 852 h 952"/>
                      <a:gd name="T12" fmla="*/ 46 w 91"/>
                      <a:gd name="T13" fmla="*/ 952 h 952"/>
                      <a:gd name="T14" fmla="*/ 91 w 91"/>
                      <a:gd name="T15" fmla="*/ 952 h 952"/>
                      <a:gd name="T16" fmla="*/ 91 w 91"/>
                      <a:gd name="T17" fmla="*/ 902 h 952"/>
                      <a:gd name="T18" fmla="*/ 46 w 91"/>
                      <a:gd name="T19" fmla="*/ 952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952"/>
                        </a:moveTo>
                        <a:lnTo>
                          <a:pt x="91" y="902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902"/>
                        </a:lnTo>
                        <a:lnTo>
                          <a:pt x="46" y="852"/>
                        </a:lnTo>
                        <a:lnTo>
                          <a:pt x="46" y="952"/>
                        </a:lnTo>
                        <a:lnTo>
                          <a:pt x="91" y="952"/>
                        </a:lnTo>
                        <a:lnTo>
                          <a:pt x="91" y="902"/>
                        </a:lnTo>
                        <a:lnTo>
                          <a:pt x="46" y="95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6" name="Freeform 47"/>
                  <p:cNvSpPr>
                    <a:spLocks/>
                  </p:cNvSpPr>
                  <p:nvPr/>
                </p:nvSpPr>
                <p:spPr bwMode="auto">
                  <a:xfrm>
                    <a:off x="4940" y="4114"/>
                    <a:ext cx="142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7" name="Freeform 48"/>
                  <p:cNvSpPr>
                    <a:spLocks/>
                  </p:cNvSpPr>
                  <p:nvPr/>
                </p:nvSpPr>
                <p:spPr bwMode="auto">
                  <a:xfrm>
                    <a:off x="4940" y="4024"/>
                    <a:ext cx="10" cy="95"/>
                  </a:xfrm>
                  <a:custGeom>
                    <a:avLst/>
                    <a:gdLst>
                      <a:gd name="T0" fmla="*/ 46 w 91"/>
                      <a:gd name="T1" fmla="*/ 0 h 952"/>
                      <a:gd name="T2" fmla="*/ 0 w 91"/>
                      <a:gd name="T3" fmla="*/ 50 h 952"/>
                      <a:gd name="T4" fmla="*/ 0 w 91"/>
                      <a:gd name="T5" fmla="*/ 952 h 952"/>
                      <a:gd name="T6" fmla="*/ 91 w 91"/>
                      <a:gd name="T7" fmla="*/ 952 h 952"/>
                      <a:gd name="T8" fmla="*/ 91 w 91"/>
                      <a:gd name="T9" fmla="*/ 50 h 952"/>
                      <a:gd name="T10" fmla="*/ 46 w 91"/>
                      <a:gd name="T11" fmla="*/ 100 h 952"/>
                      <a:gd name="T12" fmla="*/ 46 w 91"/>
                      <a:gd name="T13" fmla="*/ 0 h 952"/>
                      <a:gd name="T14" fmla="*/ 0 w 91"/>
                      <a:gd name="T15" fmla="*/ 0 h 952"/>
                      <a:gd name="T16" fmla="*/ 0 w 91"/>
                      <a:gd name="T17" fmla="*/ 50 h 952"/>
                      <a:gd name="T18" fmla="*/ 46 w 91"/>
                      <a:gd name="T19" fmla="*/ 0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952"/>
                        </a:lnTo>
                        <a:lnTo>
                          <a:pt x="91" y="95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18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4160"/>
                    <a:ext cx="52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AvantGarde Bk BT"/>
                        <a:cs typeface="Arial" pitchFamily="34" charset="0"/>
                      </a:rPr>
                      <a:t>0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19519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5036" y="4145"/>
                    <a:ext cx="53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AvantGarde Bk BT"/>
                        <a:cs typeface="Arial" pitchFamily="34" charset="0"/>
                      </a:rPr>
                      <a:t>2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19520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5104" y="4133"/>
                    <a:ext cx="51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Symbol" pitchFamily="18" charset="2"/>
                        <a:cs typeface="Arial" pitchFamily="34" charset="0"/>
                      </a:rPr>
                      <a:t>p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19521" name="Freeform 52"/>
                  <p:cNvSpPr>
                    <a:spLocks/>
                  </p:cNvSpPr>
                  <p:nvPr/>
                </p:nvSpPr>
                <p:spPr bwMode="auto">
                  <a:xfrm>
                    <a:off x="4329" y="4153"/>
                    <a:ext cx="53" cy="47"/>
                  </a:xfrm>
                  <a:custGeom>
                    <a:avLst/>
                    <a:gdLst>
                      <a:gd name="T0" fmla="*/ 474 w 474"/>
                      <a:gd name="T1" fmla="*/ 476 h 476"/>
                      <a:gd name="T2" fmla="*/ 238 w 474"/>
                      <a:gd name="T3" fmla="*/ 0 h 476"/>
                      <a:gd name="T4" fmla="*/ 0 w 474"/>
                      <a:gd name="T5" fmla="*/ 476 h 476"/>
                      <a:gd name="T6" fmla="*/ 474 w 474"/>
                      <a:gd name="T7" fmla="*/ 476 h 476"/>
                      <a:gd name="T8" fmla="*/ 238 w 474"/>
                      <a:gd name="T9" fmla="*/ 0 h 476"/>
                      <a:gd name="T10" fmla="*/ 474 w 474"/>
                      <a:gd name="T11" fmla="*/ 476 h 47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474"/>
                      <a:gd name="T19" fmla="*/ 0 h 476"/>
                      <a:gd name="T20" fmla="*/ 474 w 474"/>
                      <a:gd name="T21" fmla="*/ 476 h 47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474" h="476">
                        <a:moveTo>
                          <a:pt x="474" y="476"/>
                        </a:moveTo>
                        <a:lnTo>
                          <a:pt x="238" y="0"/>
                        </a:lnTo>
                        <a:lnTo>
                          <a:pt x="0" y="476"/>
                        </a:lnTo>
                        <a:lnTo>
                          <a:pt x="474" y="476"/>
                        </a:lnTo>
                        <a:lnTo>
                          <a:pt x="238" y="0"/>
                        </a:lnTo>
                        <a:lnTo>
                          <a:pt x="474" y="476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522" name="Freeform 53"/>
                  <p:cNvSpPr>
                    <a:spLocks/>
                  </p:cNvSpPr>
                  <p:nvPr/>
                </p:nvSpPr>
                <p:spPr bwMode="auto">
                  <a:xfrm>
                    <a:off x="4350" y="4196"/>
                    <a:ext cx="11" cy="76"/>
                  </a:xfrm>
                  <a:custGeom>
                    <a:avLst/>
                    <a:gdLst>
                      <a:gd name="T0" fmla="*/ 46 w 91"/>
                      <a:gd name="T1" fmla="*/ 760 h 760"/>
                      <a:gd name="T2" fmla="*/ 91 w 91"/>
                      <a:gd name="T3" fmla="*/ 760 h 760"/>
                      <a:gd name="T4" fmla="*/ 91 w 91"/>
                      <a:gd name="T5" fmla="*/ 0 h 760"/>
                      <a:gd name="T6" fmla="*/ 0 w 91"/>
                      <a:gd name="T7" fmla="*/ 0 h 760"/>
                      <a:gd name="T8" fmla="*/ 0 w 91"/>
                      <a:gd name="T9" fmla="*/ 760 h 760"/>
                      <a:gd name="T10" fmla="*/ 46 w 91"/>
                      <a:gd name="T11" fmla="*/ 760 h 76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760"/>
                      <a:gd name="T20" fmla="*/ 91 w 91"/>
                      <a:gd name="T21" fmla="*/ 760 h 76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760">
                        <a:moveTo>
                          <a:pt x="46" y="760"/>
                        </a:moveTo>
                        <a:lnTo>
                          <a:pt x="91" y="760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760"/>
                        </a:lnTo>
                        <a:lnTo>
                          <a:pt x="46" y="76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9478" name="AutoShape 54"/>
                <p:cNvSpPr>
                  <a:spLocks noChangeArrowheads="1"/>
                </p:cNvSpPr>
                <p:nvPr/>
              </p:nvSpPr>
              <p:spPr bwMode="auto">
                <a:xfrm>
                  <a:off x="2725" y="3063"/>
                  <a:ext cx="539" cy="540"/>
                </a:xfrm>
                <a:prstGeom prst="rightArrow">
                  <a:avLst>
                    <a:gd name="adj1" fmla="val 50000"/>
                    <a:gd name="adj2" fmla="val 25000"/>
                  </a:avLst>
                </a:prstGeom>
                <a:solidFill>
                  <a:srgbClr val="FF9900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19474" name="Rectangle 55"/>
            <p:cNvSpPr>
              <a:spLocks noChangeArrowheads="1"/>
            </p:cNvSpPr>
            <p:nvPr/>
          </p:nvSpPr>
          <p:spPr bwMode="auto">
            <a:xfrm>
              <a:off x="3571" y="3975"/>
              <a:ext cx="221" cy="20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9462" name="Text Box 56"/>
          <p:cNvSpPr txBox="1">
            <a:spLocks noChangeArrowheads="1"/>
          </p:cNvSpPr>
          <p:nvPr/>
        </p:nvSpPr>
        <p:spPr bwMode="auto">
          <a:xfrm>
            <a:off x="7315200" y="6567488"/>
            <a:ext cx="19812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Lana Lazebnik</a:t>
            </a:r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6934200" y="5257800"/>
            <a:ext cx="1219200" cy="762000"/>
            <a:chOff x="6324600" y="4953000"/>
            <a:chExt cx="1219200" cy="762000"/>
          </a:xfrm>
        </p:grpSpPr>
        <p:cxnSp>
          <p:nvCxnSpPr>
            <p:cNvPr id="19464" name="Straight Arrow Connector 31"/>
            <p:cNvCxnSpPr>
              <a:cxnSpLocks noChangeShapeType="1"/>
            </p:cNvCxnSpPr>
            <p:nvPr/>
          </p:nvCxnSpPr>
          <p:spPr bwMode="auto">
            <a:xfrm>
              <a:off x="6705600" y="5334000"/>
              <a:ext cx="838200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9465" name="Straight Arrow Connector 33"/>
            <p:cNvCxnSpPr>
              <a:cxnSpLocks noChangeShapeType="1"/>
            </p:cNvCxnSpPr>
            <p:nvPr/>
          </p:nvCxnSpPr>
          <p:spPr bwMode="auto">
            <a:xfrm rot="5400000" flipH="1" flipV="1">
              <a:off x="6705600" y="4953000"/>
              <a:ext cx="381000" cy="381000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9466" name="Straight Arrow Connector 35"/>
            <p:cNvCxnSpPr>
              <a:cxnSpLocks noChangeShapeType="1"/>
            </p:cNvCxnSpPr>
            <p:nvPr/>
          </p:nvCxnSpPr>
          <p:spPr bwMode="auto">
            <a:xfrm rot="5400000" flipH="1" flipV="1">
              <a:off x="6514306" y="5144294"/>
              <a:ext cx="382588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9467" name="Straight Arrow Connector 37"/>
            <p:cNvCxnSpPr>
              <a:cxnSpLocks noChangeShapeType="1"/>
            </p:cNvCxnSpPr>
            <p:nvPr/>
          </p:nvCxnSpPr>
          <p:spPr bwMode="auto">
            <a:xfrm rot="16200000" flipV="1">
              <a:off x="6550024" y="5181600"/>
              <a:ext cx="154782" cy="154782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9468" name="Straight Arrow Connector 39"/>
            <p:cNvCxnSpPr>
              <a:cxnSpLocks noChangeShapeType="1"/>
            </p:cNvCxnSpPr>
            <p:nvPr/>
          </p:nvCxnSpPr>
          <p:spPr bwMode="auto">
            <a:xfrm rot="10800000">
              <a:off x="6324600" y="5336382"/>
              <a:ext cx="380206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9469" name="Straight Arrow Connector 42"/>
            <p:cNvCxnSpPr>
              <a:cxnSpLocks noChangeShapeType="1"/>
            </p:cNvCxnSpPr>
            <p:nvPr/>
          </p:nvCxnSpPr>
          <p:spPr bwMode="auto">
            <a:xfrm rot="5400000">
              <a:off x="6553200" y="5331618"/>
              <a:ext cx="154782" cy="154782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9470" name="Straight Arrow Connector 43"/>
            <p:cNvCxnSpPr>
              <a:cxnSpLocks noChangeShapeType="1"/>
            </p:cNvCxnSpPr>
            <p:nvPr/>
          </p:nvCxnSpPr>
          <p:spPr bwMode="auto">
            <a:xfrm rot="16200000" flipH="1">
              <a:off x="6515100" y="5522912"/>
              <a:ext cx="382588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9471" name="Straight Arrow Connector 44"/>
            <p:cNvCxnSpPr>
              <a:cxnSpLocks noChangeShapeType="1"/>
            </p:cNvCxnSpPr>
            <p:nvPr/>
          </p:nvCxnSpPr>
          <p:spPr bwMode="auto">
            <a:xfrm rot="16200000" flipH="1">
              <a:off x="6701632" y="5337969"/>
              <a:ext cx="312737" cy="304800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sp>
          <p:nvSpPr>
            <p:cNvPr id="19472" name="Oval 27"/>
            <p:cNvSpPr>
              <a:spLocks noChangeArrowheads="1"/>
            </p:cNvSpPr>
            <p:nvPr/>
          </p:nvSpPr>
          <p:spPr bwMode="auto">
            <a:xfrm>
              <a:off x="6657976" y="5286376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9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8663" y="4772024"/>
            <a:ext cx="180975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S</a:t>
            </a:r>
            <a:r>
              <a:rPr lang="en-US" dirty="0"/>
              <a:t>cale </a:t>
            </a:r>
            <a:r>
              <a:rPr lang="en-US" b="1" dirty="0"/>
              <a:t>I</a:t>
            </a:r>
            <a:r>
              <a:rPr lang="en-US" dirty="0"/>
              <a:t>nvariant </a:t>
            </a:r>
            <a:r>
              <a:rPr lang="en-US" b="1" dirty="0"/>
              <a:t>F</a:t>
            </a:r>
            <a:r>
              <a:rPr lang="en-US" dirty="0"/>
              <a:t>eature </a:t>
            </a:r>
            <a:r>
              <a:rPr lang="en-US" b="1" dirty="0"/>
              <a:t>T</a:t>
            </a:r>
            <a:r>
              <a:rPr lang="en-US" dirty="0"/>
              <a:t>ransform</a:t>
            </a:r>
          </a:p>
          <a:p>
            <a:pPr eaLnBrk="1" hangingPunct="1"/>
            <a:r>
              <a:rPr lang="zh-CN" altLang="en-US" dirty="0"/>
              <a:t>描述子计算：</a:t>
            </a:r>
            <a:endParaRPr lang="en-US" dirty="0"/>
          </a:p>
          <a:p>
            <a:pPr lvl="1" eaLnBrk="1" hangingPunct="1"/>
            <a:r>
              <a:rPr lang="zh-CN" altLang="en-US" dirty="0"/>
              <a:t>将块分为</a:t>
            </a:r>
            <a:r>
              <a:rPr lang="en-US" dirty="0"/>
              <a:t>4x4 </a:t>
            </a:r>
            <a:r>
              <a:rPr lang="zh-CN" altLang="en-US" dirty="0"/>
              <a:t>子块：</a:t>
            </a:r>
            <a:r>
              <a:rPr lang="en-US" altLang="zh-CN" dirty="0"/>
              <a:t>16</a:t>
            </a:r>
            <a:r>
              <a:rPr lang="zh-CN" altLang="en-US" dirty="0"/>
              <a:t>个单元</a:t>
            </a:r>
            <a:endParaRPr lang="en-US" dirty="0"/>
          </a:p>
          <a:p>
            <a:pPr lvl="1" eaLnBrk="1" hangingPunct="1"/>
            <a:r>
              <a:rPr lang="zh-CN" altLang="en-US" dirty="0"/>
              <a:t>分别统计每一单元像素梯度方向（离散化为</a:t>
            </a:r>
            <a:r>
              <a:rPr lang="en-US" altLang="zh-CN" dirty="0"/>
              <a:t>8</a:t>
            </a:r>
            <a:r>
              <a:rPr lang="zh-CN" altLang="en-US" dirty="0"/>
              <a:t>个方向参考角度）直方图</a:t>
            </a:r>
            <a:endParaRPr lang="en-US" dirty="0"/>
          </a:p>
          <a:p>
            <a:pPr lvl="1" eaLnBrk="1" hangingPunct="1"/>
            <a:r>
              <a:rPr lang="zh-CN" altLang="en-US" dirty="0"/>
              <a:t>最终描述子向量：</a:t>
            </a:r>
            <a:r>
              <a:rPr lang="en-US" dirty="0"/>
              <a:t>4x4x8 = 128 </a:t>
            </a:r>
            <a:r>
              <a:rPr lang="zh-CN" altLang="en-US" dirty="0"/>
              <a:t>维度</a:t>
            </a:r>
            <a:endParaRPr lang="en-US" dirty="0"/>
          </a:p>
        </p:txBody>
      </p:sp>
      <p:sp>
        <p:nvSpPr>
          <p:cNvPr id="11469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r>
              <a:rPr lang="en-US" altLang="zh-CN" dirty="0"/>
              <a:t>—</a:t>
            </a:r>
            <a:r>
              <a:rPr lang="zh-CN" altLang="en-US" dirty="0"/>
              <a:t>特征描述子</a:t>
            </a:r>
            <a:r>
              <a:rPr lang="en-US" dirty="0"/>
              <a:t>SIFT</a:t>
            </a:r>
          </a:p>
        </p:txBody>
      </p:sp>
      <p:pic>
        <p:nvPicPr>
          <p:cNvPr id="114693" name="Picture 5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4800599"/>
            <a:ext cx="17526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1004550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452559"/>
              </p:ext>
            </p:extLst>
          </p:nvPr>
        </p:nvGraphicFramePr>
        <p:xfrm>
          <a:off x="1998663" y="4794249"/>
          <a:ext cx="1811337" cy="1758951"/>
        </p:xfrm>
        <a:graphic>
          <a:graphicData uri="http://schemas.openxmlformats.org/drawingml/2006/table">
            <a:tbl>
              <a:tblPr/>
              <a:tblGrid>
                <a:gridCol w="452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4721" name="AutoShape 33"/>
          <p:cNvSpPr>
            <a:spLocks noChangeArrowheads="1"/>
          </p:cNvSpPr>
          <p:nvPr/>
        </p:nvSpPr>
        <p:spPr bwMode="auto">
          <a:xfrm>
            <a:off x="4267200" y="5410199"/>
            <a:ext cx="758825" cy="603250"/>
          </a:xfrm>
          <a:prstGeom prst="rightArrow">
            <a:avLst>
              <a:gd name="adj1" fmla="val 50000"/>
              <a:gd name="adj2" fmla="val 31447"/>
            </a:avLst>
          </a:prstGeom>
          <a:solidFill>
            <a:srgbClr val="FF9900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4722" name="Rectangle 34"/>
          <p:cNvSpPr>
            <a:spLocks noChangeArrowheads="1"/>
          </p:cNvSpPr>
          <p:nvPr/>
        </p:nvSpPr>
        <p:spPr bwMode="auto">
          <a:xfrm>
            <a:off x="228600" y="6617229"/>
            <a:ext cx="86868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cs typeface="Arial" pitchFamily="34" charset="0"/>
              </a:rPr>
              <a:t>David G. Lowe. </a:t>
            </a:r>
            <a:r>
              <a:rPr lang="en-US" sz="1200" dirty="0">
                <a:solidFill>
                  <a:srgbClr val="000000"/>
                </a:solidFill>
                <a:cs typeface="Arial" pitchFamily="34" charset="0"/>
                <a:hlinkClick r:id="rId5"/>
              </a:rPr>
              <a:t>"Distinctive image features from scale-invariant keypoints.”</a:t>
            </a:r>
            <a:r>
              <a:rPr lang="en-US" sz="1200" dirty="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sz="1200" i="1" dirty="0">
                <a:solidFill>
                  <a:srgbClr val="000000"/>
                </a:solidFill>
                <a:cs typeface="Arial" pitchFamily="34" charset="0"/>
              </a:rPr>
              <a:t>IJCV</a:t>
            </a:r>
            <a:r>
              <a:rPr lang="en-US" sz="1200" dirty="0">
                <a:solidFill>
                  <a:srgbClr val="000000"/>
                </a:solidFill>
                <a:cs typeface="Arial" pitchFamily="34" charset="0"/>
              </a:rPr>
              <a:t> 60 (2), pp. 91-110, 2004. </a:t>
            </a:r>
          </a:p>
        </p:txBody>
      </p:sp>
      <p:sp>
        <p:nvSpPr>
          <p:cNvPr id="114723" name="Text Box 35"/>
          <p:cNvSpPr txBox="1">
            <a:spLocks noChangeArrowheads="1"/>
          </p:cNvSpPr>
          <p:nvPr/>
        </p:nvSpPr>
        <p:spPr bwMode="auto">
          <a:xfrm>
            <a:off x="7315200" y="6567488"/>
            <a:ext cx="19812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Lana Lazebnik</a:t>
            </a:r>
          </a:p>
        </p:txBody>
      </p:sp>
    </p:spTree>
    <p:extLst>
      <p:ext uri="{BB962C8B-B14F-4D97-AF65-F5344CB8AC3E}">
        <p14:creationId xmlns:p14="http://schemas.microsoft.com/office/powerpoint/2010/main" val="23593822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r>
              <a:rPr lang="en-US" altLang="zh-CN" dirty="0"/>
              <a:t>—</a:t>
            </a:r>
            <a:r>
              <a:rPr lang="zh-CN" altLang="en-US" dirty="0"/>
              <a:t>旋转不变描述子</a:t>
            </a:r>
            <a:endParaRPr lang="ru-RU" dirty="0"/>
          </a:p>
        </p:txBody>
      </p:sp>
      <p:sp>
        <p:nvSpPr>
          <p:cNvPr id="116739" name="Text Box 3"/>
          <p:cNvSpPr>
            <a:spLocks noGrp="1" noChangeArrowheads="1"/>
          </p:cNvSpPr>
          <p:nvPr>
            <p:ph type="body" idx="4294967295"/>
          </p:nvPr>
        </p:nvSpPr>
        <p:spPr>
          <a:xfrm>
            <a:off x="439738" y="1598613"/>
            <a:ext cx="7570787" cy="60007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olidFill>
                  <a:srgbClr val="000099"/>
                </a:solidFill>
              </a:rPr>
              <a:t>找出块的局部方向</a:t>
            </a:r>
            <a:endParaRPr lang="ru-RU" sz="2800" b="1" i="1" dirty="0">
              <a:solidFill>
                <a:srgbClr val="FF0000"/>
              </a:solidFill>
            </a:endParaRPr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949325" y="2057400"/>
            <a:ext cx="34163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图像块的梯度主方向</a:t>
            </a:r>
            <a:endParaRPr lang="ru-RU" sz="2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371717" name="Rectangle 5"/>
          <p:cNvSpPr>
            <a:spLocks noChangeArrowheads="1"/>
          </p:cNvSpPr>
          <p:nvPr/>
        </p:nvSpPr>
        <p:spPr bwMode="auto">
          <a:xfrm>
            <a:off x="4022725" y="2708275"/>
            <a:ext cx="1030288" cy="930275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0"/>
                  <a:invGamma/>
                </a:schemeClr>
              </a:gs>
              <a:gs pos="100000">
                <a:schemeClr val="accent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71718" name="Rectangle 6"/>
          <p:cNvSpPr>
            <a:spLocks noChangeArrowheads="1"/>
          </p:cNvSpPr>
          <p:nvPr/>
        </p:nvSpPr>
        <p:spPr bwMode="auto">
          <a:xfrm>
            <a:off x="2541588" y="2722563"/>
            <a:ext cx="1030287" cy="93027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0"/>
                  <a:invGamma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 flipV="1">
            <a:off x="3065463" y="2825750"/>
            <a:ext cx="0" cy="434975"/>
          </a:xfrm>
          <a:prstGeom prst="line">
            <a:avLst/>
          </a:prstGeom>
          <a:noFill/>
          <a:ln w="38100">
            <a:solidFill>
              <a:srgbClr val="FFFF99"/>
            </a:solidFill>
            <a:round/>
            <a:headEnd/>
            <a:tailEnd type="stealth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6744" name="Line 8"/>
          <p:cNvSpPr>
            <a:spLocks noChangeShapeType="1"/>
          </p:cNvSpPr>
          <p:nvPr/>
        </p:nvSpPr>
        <p:spPr bwMode="auto">
          <a:xfrm flipV="1">
            <a:off x="4459288" y="2884488"/>
            <a:ext cx="349250" cy="361950"/>
          </a:xfrm>
          <a:prstGeom prst="line">
            <a:avLst/>
          </a:prstGeom>
          <a:noFill/>
          <a:ln w="38100">
            <a:solidFill>
              <a:srgbClr val="FFFF99"/>
            </a:solidFill>
            <a:round/>
            <a:headEnd/>
            <a:tailEnd type="stealth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381000" y="3963988"/>
            <a:ext cx="7627938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800" dirty="0">
                <a:solidFill>
                  <a:srgbClr val="000099"/>
                </a:solidFill>
                <a:cs typeface="Times New Roman" pitchFamily="18" charset="0"/>
              </a:rPr>
              <a:t>根据方向旋转块</a:t>
            </a:r>
            <a:endParaRPr lang="en-US" sz="2800" dirty="0">
              <a:solidFill>
                <a:srgbClr val="000099"/>
              </a:solidFill>
              <a:cs typeface="Times New Roman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i="1" dirty="0">
                <a:solidFill>
                  <a:srgbClr val="000099"/>
                </a:solidFill>
                <a:cs typeface="Times New Roman" pitchFamily="18" charset="0"/>
              </a:rPr>
              <a:t>	</a:t>
            </a:r>
            <a:r>
              <a:rPr lang="zh-CN" altLang="en-US" sz="2800" dirty="0">
                <a:solidFill>
                  <a:srgbClr val="000000"/>
                </a:solidFill>
                <a:cs typeface="Times New Roman" pitchFamily="18" charset="0"/>
              </a:rPr>
              <a:t>这样使得对应块方向一致</a:t>
            </a:r>
            <a:endParaRPr lang="ru-RU" sz="28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10" name="Group 46">
            <a:extLst>
              <a:ext uri="{FF2B5EF4-FFF2-40B4-BE49-F238E27FC236}">
                <a16:creationId xmlns:a16="http://schemas.microsoft.com/office/drawing/2014/main" id="{2978318B-9596-AC41-819A-48F6C8530B29}"/>
              </a:ext>
            </a:extLst>
          </p:cNvPr>
          <p:cNvGrpSpPr>
            <a:grpSpLocks/>
          </p:cNvGrpSpPr>
          <p:nvPr/>
        </p:nvGrpSpPr>
        <p:grpSpPr bwMode="auto">
          <a:xfrm>
            <a:off x="6552299" y="3210495"/>
            <a:ext cx="1219200" cy="762000"/>
            <a:chOff x="6324600" y="4953000"/>
            <a:chExt cx="1219200" cy="762000"/>
          </a:xfrm>
        </p:grpSpPr>
        <p:cxnSp>
          <p:nvCxnSpPr>
            <p:cNvPr id="11" name="Straight Arrow Connector 31">
              <a:extLst>
                <a:ext uri="{FF2B5EF4-FFF2-40B4-BE49-F238E27FC236}">
                  <a16:creationId xmlns:a16="http://schemas.microsoft.com/office/drawing/2014/main" id="{08FD01ED-CACA-D74D-8313-69854A4E19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05600" y="5334000"/>
              <a:ext cx="838200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2" name="Straight Arrow Connector 33">
              <a:extLst>
                <a:ext uri="{FF2B5EF4-FFF2-40B4-BE49-F238E27FC236}">
                  <a16:creationId xmlns:a16="http://schemas.microsoft.com/office/drawing/2014/main" id="{4E3003EC-5D8D-B545-8B64-6EE61A862D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705600" y="4953000"/>
              <a:ext cx="381000" cy="381000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3" name="Straight Arrow Connector 35">
              <a:extLst>
                <a:ext uri="{FF2B5EF4-FFF2-40B4-BE49-F238E27FC236}">
                  <a16:creationId xmlns:a16="http://schemas.microsoft.com/office/drawing/2014/main" id="{2AF1CFA9-DAB0-E445-BB06-9B553A4EFA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514306" y="5144294"/>
              <a:ext cx="382588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4" name="Straight Arrow Connector 37">
              <a:extLst>
                <a:ext uri="{FF2B5EF4-FFF2-40B4-BE49-F238E27FC236}">
                  <a16:creationId xmlns:a16="http://schemas.microsoft.com/office/drawing/2014/main" id="{C1B39A49-AC2F-9C4D-880C-ED663142A3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550024" y="5181600"/>
              <a:ext cx="154782" cy="154782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5" name="Straight Arrow Connector 39">
              <a:extLst>
                <a:ext uri="{FF2B5EF4-FFF2-40B4-BE49-F238E27FC236}">
                  <a16:creationId xmlns:a16="http://schemas.microsoft.com/office/drawing/2014/main" id="{D4C5B7E6-7BF6-2743-A1B0-0A67B64176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324600" y="5336382"/>
              <a:ext cx="380206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6" name="Straight Arrow Connector 42">
              <a:extLst>
                <a:ext uri="{FF2B5EF4-FFF2-40B4-BE49-F238E27FC236}">
                  <a16:creationId xmlns:a16="http://schemas.microsoft.com/office/drawing/2014/main" id="{8816747C-CD19-C344-A998-9D9004B853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53200" y="5331618"/>
              <a:ext cx="154782" cy="154782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7" name="Straight Arrow Connector 43">
              <a:extLst>
                <a:ext uri="{FF2B5EF4-FFF2-40B4-BE49-F238E27FC236}">
                  <a16:creationId xmlns:a16="http://schemas.microsoft.com/office/drawing/2014/main" id="{C0B75AFC-B662-4F48-919F-0FD06FE176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515100" y="5522912"/>
              <a:ext cx="382588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18" name="Straight Arrow Connector 44">
              <a:extLst>
                <a:ext uri="{FF2B5EF4-FFF2-40B4-BE49-F238E27FC236}">
                  <a16:creationId xmlns:a16="http://schemas.microsoft.com/office/drawing/2014/main" id="{6A7349E8-DF86-DB47-BD5D-634E8690DA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701632" y="5337969"/>
              <a:ext cx="312737" cy="304800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sp>
          <p:nvSpPr>
            <p:cNvPr id="19" name="Oval 27">
              <a:extLst>
                <a:ext uri="{FF2B5EF4-FFF2-40B4-BE49-F238E27FC236}">
                  <a16:creationId xmlns:a16="http://schemas.microsoft.com/office/drawing/2014/main" id="{EB2C69C7-55EA-984E-BB1D-7CD2D75DE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7976" y="5286376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095733FA-66FD-A741-94F9-23E00DB2C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123" y="1395953"/>
            <a:ext cx="2065552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1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4"/>
          <p:cNvSpPr txBox="1">
            <a:spLocks noGrp="1"/>
          </p:cNvSpPr>
          <p:nvPr/>
        </p:nvSpPr>
        <p:spPr bwMode="auto">
          <a:xfrm>
            <a:off x="3124200" y="45720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Times New Roman" pitchFamily="18" charset="0"/>
              </a:rPr>
              <a:t>CSE 576: Computer Vision</a:t>
            </a:r>
          </a:p>
        </p:txBody>
      </p:sp>
      <p:pic>
        <p:nvPicPr>
          <p:cNvPr id="117763" name="Picture 2" descr="matierb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524000"/>
            <a:ext cx="496252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6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r>
              <a:rPr lang="en-US" altLang="zh-CN" dirty="0"/>
              <a:t>—</a:t>
            </a:r>
            <a:r>
              <a:rPr lang="zh-CN" altLang="en-US" dirty="0"/>
              <a:t>旋转不变描述子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7765" name="Picture 5" descr="matierbf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99100" y="2808288"/>
            <a:ext cx="1982788" cy="198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66" name="Line 6"/>
          <p:cNvSpPr>
            <a:spLocks noChangeShapeType="1"/>
          </p:cNvSpPr>
          <p:nvPr/>
        </p:nvSpPr>
        <p:spPr bwMode="auto">
          <a:xfrm>
            <a:off x="5486400" y="2514600"/>
            <a:ext cx="1990725" cy="1588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triangle" w="lg" len="med"/>
            <a:tailEnd type="triangle" w="lg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7767" name="Line 7"/>
          <p:cNvSpPr>
            <a:spLocks noChangeShapeType="1"/>
          </p:cNvSpPr>
          <p:nvPr/>
        </p:nvSpPr>
        <p:spPr bwMode="auto">
          <a:xfrm>
            <a:off x="4343400" y="2268538"/>
            <a:ext cx="596900" cy="123825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 type="triangle" w="lg" len="med"/>
            <a:tailEnd type="triangle" w="lg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7768" name="Rectangle 14"/>
          <p:cNvSpPr>
            <a:spLocks noChangeArrowheads="1"/>
          </p:cNvSpPr>
          <p:nvPr/>
        </p:nvSpPr>
        <p:spPr bwMode="auto">
          <a:xfrm>
            <a:off x="3224808" y="6365875"/>
            <a:ext cx="26277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</a:rPr>
              <a:t>图像来自</a:t>
            </a:r>
            <a:r>
              <a:rPr lang="en-US" dirty="0">
                <a:solidFill>
                  <a:srgbClr val="000000"/>
                </a:solidFill>
              </a:rPr>
              <a:t>Matthew Brown</a:t>
            </a:r>
          </a:p>
        </p:txBody>
      </p:sp>
    </p:spTree>
    <p:extLst>
      <p:ext uri="{BB962C8B-B14F-4D97-AF65-F5344CB8AC3E}">
        <p14:creationId xmlns:p14="http://schemas.microsoft.com/office/powerpoint/2010/main" val="1413054176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4.1.</a:t>
            </a:r>
            <a:r>
              <a:rPr lang="zh-CN" altLang="en-US" dirty="0"/>
              <a:t>局部特征与匹配</a:t>
            </a:r>
            <a:endParaRPr lang="en-US" altLang="zh-CN" dirty="0"/>
          </a:p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en-US" dirty="0"/>
          </a:p>
          <a:p>
            <a:r>
              <a:rPr lang="en-US" altLang="zh-CN" dirty="0"/>
              <a:t>4.3.</a:t>
            </a:r>
            <a:r>
              <a:rPr lang="zh-CN" altLang="en-US" dirty="0"/>
              <a:t>尺度空间</a:t>
            </a:r>
            <a:endParaRPr lang="en-US" altLang="zh-CN" dirty="0"/>
          </a:p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endParaRPr lang="en-US" altLang="zh-CN" dirty="0"/>
          </a:p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endParaRPr lang="en-US" altLang="zh-CN" dirty="0"/>
          </a:p>
          <a:p>
            <a:r>
              <a:rPr lang="en-US" altLang="zh-CN" dirty="0">
                <a:solidFill>
                  <a:srgbClr val="D60093"/>
                </a:solidFill>
              </a:rPr>
              <a:t>4.6.</a:t>
            </a:r>
            <a:r>
              <a:rPr lang="zh-CN" altLang="en-US" dirty="0">
                <a:solidFill>
                  <a:srgbClr val="D60093"/>
                </a:solidFill>
              </a:rPr>
              <a:t>特征匹配</a:t>
            </a:r>
            <a:endParaRPr lang="en-US" altLang="zh-CN" dirty="0">
              <a:solidFill>
                <a:srgbClr val="D60093"/>
              </a:solidFill>
            </a:endParaRPr>
          </a:p>
          <a:p>
            <a:r>
              <a:rPr lang="en-US" altLang="zh-CN" dirty="0"/>
              <a:t>4.7.SIFT</a:t>
            </a:r>
            <a:r>
              <a:rPr lang="zh-CN" altLang="en-US" dirty="0"/>
              <a:t>算法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47454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8600" y="3276600"/>
            <a:ext cx="7924800" cy="708819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19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endParaRPr lang="en-US" altLang="zh-CN" dirty="0"/>
          </a:p>
        </p:txBody>
      </p:sp>
      <p:sp>
        <p:nvSpPr>
          <p:cNvPr id="21299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感兴趣特征点在哪里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altLang="zh-CN" dirty="0" err="1">
                <a:latin typeface="Arial" pitchFamily="34" charset="0"/>
                <a:cs typeface="Arial" pitchFamily="34" charset="0"/>
              </a:rPr>
              <a:t>需要提取的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突出</a:t>
            </a:r>
            <a:r>
              <a:rPr lang="en-US" altLang="zh-CN" dirty="0" err="1">
                <a:latin typeface="Arial" pitchFamily="34" charset="0"/>
                <a:cs typeface="Arial" pitchFamily="34" charset="0"/>
              </a:rPr>
              <a:t>特征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是什么？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如何描述一个局部区域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？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dirty="0" err="1">
                <a:latin typeface="Arial" pitchFamily="34" charset="0"/>
                <a:cs typeface="Arial" pitchFamily="34" charset="0"/>
              </a:rPr>
              <a:t>如何建立对应关系</a:t>
            </a:r>
            <a:r>
              <a:rPr lang="zh-CN" altLang="en-US" dirty="0">
                <a:latin typeface="Arial" pitchFamily="34" charset="0"/>
                <a:cs typeface="Arial" pitchFamily="34" charset="0"/>
              </a:rPr>
              <a:t>进行匹配？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0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19250"/>
            <a:ext cx="7772400" cy="516255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我们已经知道了如何检测和描述特征点</a:t>
            </a:r>
            <a:endParaRPr lang="en-US" altLang="zh-CN" dirty="0"/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   </a:t>
            </a:r>
            <a:endParaRPr lang="en-US" altLang="zh-CN" dirty="0"/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    下一个问题：</a:t>
            </a:r>
            <a:r>
              <a:rPr lang="zh-CN" altLang="en-US" b="1" dirty="0">
                <a:solidFill>
                  <a:srgbClr val="FF0000"/>
                </a:solidFill>
              </a:rPr>
              <a:t>如何实现匹配？</a:t>
            </a:r>
            <a:endParaRPr lang="en-US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59396" name="Picture 4" descr="SIFT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0900" y="3813175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7" name="Picture 5" descr="SIFT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900" y="3813175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8" name="Line 6"/>
          <p:cNvSpPr>
            <a:spLocks noChangeShapeType="1"/>
          </p:cNvSpPr>
          <p:nvPr/>
        </p:nvSpPr>
        <p:spPr bwMode="auto">
          <a:xfrm flipV="1">
            <a:off x="3289300" y="4613275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59399" name="Line 7"/>
          <p:cNvSpPr>
            <a:spLocks noChangeShapeType="1"/>
          </p:cNvSpPr>
          <p:nvPr/>
        </p:nvSpPr>
        <p:spPr bwMode="auto">
          <a:xfrm>
            <a:off x="4232275" y="4883150"/>
            <a:ext cx="1816100" cy="14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59400" name="Line 8"/>
          <p:cNvSpPr>
            <a:spLocks noChangeShapeType="1"/>
          </p:cNvSpPr>
          <p:nvPr/>
        </p:nvSpPr>
        <p:spPr bwMode="auto">
          <a:xfrm flipV="1">
            <a:off x="3724275" y="5984875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 flipV="1">
            <a:off x="4181475" y="5527675"/>
            <a:ext cx="1736725" cy="41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 flipV="1">
            <a:off x="3444875" y="5108575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4205288" y="3911600"/>
            <a:ext cx="7937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600" b="1">
                <a:solidFill>
                  <a:srgbClr val="FF0000"/>
                </a:solidFill>
                <a:latin typeface="Times New Roman" pitchFamily="18" charset="0"/>
                <a:ea typeface="MS PGothic" pitchFamily="34" charset="-128"/>
                <a:cs typeface="Times New Roman" pitchFamily="18" charset="0"/>
              </a:rPr>
              <a:t>?</a:t>
            </a:r>
            <a:endParaRPr lang="ru-RU" sz="9600" b="1">
              <a:solidFill>
                <a:srgbClr val="FF0000"/>
              </a:solidFill>
              <a:latin typeface="Times New Roman" pitchFamily="18" charset="0"/>
              <a:ea typeface="MS PGothic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674262"/>
      </p:ext>
    </p:extLst>
  </p:cSld>
  <p:clrMapOvr>
    <a:masterClrMapping/>
  </p:clrMapOvr>
  <p:transition advClick="0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endParaRPr lang="en-US" dirty="0"/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CN" altLang="en-US" dirty="0"/>
              <a:t>     给定图像</a:t>
            </a:r>
            <a:r>
              <a:rPr lang="en-US" altLang="zh-CN" dirty="0"/>
              <a:t>1 I</a:t>
            </a:r>
            <a:r>
              <a:rPr lang="en-US" altLang="zh-CN" baseline="-25000" dirty="0"/>
              <a:t>1</a:t>
            </a:r>
            <a:r>
              <a:rPr lang="zh-CN" altLang="en-US" dirty="0"/>
              <a:t>的一个特征描述</a:t>
            </a:r>
            <a:r>
              <a:rPr lang="en-US" altLang="zh-CN" dirty="0"/>
              <a:t>f</a:t>
            </a:r>
            <a:r>
              <a:rPr lang="en-US" altLang="zh-CN" baseline="-25000" dirty="0"/>
              <a:t>1 </a:t>
            </a:r>
            <a:r>
              <a:rPr lang="zh-CN" altLang="en-US" dirty="0"/>
              <a:t>，如何找到</a:t>
            </a:r>
            <a:endParaRPr lang="en-US" altLang="zh-CN" dirty="0"/>
          </a:p>
          <a:p>
            <a:pPr>
              <a:buFontTx/>
              <a:buNone/>
            </a:pPr>
            <a:r>
              <a:rPr lang="zh-CN" altLang="en-US" dirty="0"/>
              <a:t>其在图像</a:t>
            </a:r>
            <a:r>
              <a:rPr lang="en-US" altLang="zh-CN" dirty="0"/>
              <a:t>2 I</a:t>
            </a:r>
            <a:r>
              <a:rPr lang="en-US" altLang="zh-CN" baseline="-25000" dirty="0"/>
              <a:t>2</a:t>
            </a:r>
            <a:r>
              <a:rPr lang="zh-CN" altLang="en-US" dirty="0"/>
              <a:t>中的最佳匹配特征</a:t>
            </a:r>
            <a:r>
              <a:rPr lang="en-US" altLang="zh-CN" dirty="0"/>
              <a:t>f</a:t>
            </a:r>
            <a:r>
              <a:rPr lang="en-US" altLang="zh-CN" baseline="-25000" dirty="0"/>
              <a:t>2 </a:t>
            </a:r>
            <a:r>
              <a:rPr lang="zh-CN" altLang="en-US" dirty="0"/>
              <a:t>？</a:t>
            </a:r>
            <a:endParaRPr lang="en-US" dirty="0"/>
          </a:p>
          <a:p>
            <a:pPr marL="914400" lvl="1" indent="-457200">
              <a:buFontTx/>
              <a:buAutoNum type="arabicPeriod"/>
            </a:pPr>
            <a:endParaRPr lang="en-US" altLang="zh-CN" dirty="0"/>
          </a:p>
          <a:p>
            <a:pPr marL="914400" lvl="1" indent="-457200">
              <a:buFontTx/>
              <a:buAutoNum type="arabicPeriod"/>
            </a:pPr>
            <a:r>
              <a:rPr lang="zh-CN" altLang="en-US" dirty="0"/>
              <a:t>定义距离函数比较描述子的差异？</a:t>
            </a:r>
            <a:endParaRPr lang="en-US" dirty="0"/>
          </a:p>
          <a:p>
            <a:pPr marL="914400" lvl="1" indent="-457200">
              <a:buFontTx/>
              <a:buAutoNum type="arabicPeriod"/>
            </a:pPr>
            <a:endParaRPr lang="en-US" altLang="zh-CN" dirty="0"/>
          </a:p>
          <a:p>
            <a:pPr marL="914400" lvl="1" indent="-457200">
              <a:buFontTx/>
              <a:buAutoNum type="arabicPeriod"/>
            </a:pPr>
            <a:r>
              <a:rPr lang="zh-CN" altLang="en-US" dirty="0"/>
              <a:t>对图</a:t>
            </a:r>
            <a:r>
              <a:rPr lang="en-US" altLang="zh-CN" dirty="0"/>
              <a:t>2</a:t>
            </a:r>
            <a:r>
              <a:rPr lang="zh-CN" altLang="en-US" dirty="0"/>
              <a:t>中的所有特征，找出与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zh-CN" altLang="en-US" dirty="0"/>
              <a:t>距离最小的</a:t>
            </a:r>
            <a:r>
              <a:rPr lang="en-US" altLang="zh-CN" dirty="0"/>
              <a:t>f</a:t>
            </a:r>
            <a:r>
              <a:rPr lang="en-US" altLang="zh-CN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1923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r>
              <a:rPr lang="en-US" altLang="zh-CN" dirty="0"/>
              <a:t>—</a:t>
            </a:r>
            <a:r>
              <a:rPr lang="zh-CN" altLang="en-US" dirty="0"/>
              <a:t>距离函数</a:t>
            </a:r>
            <a:endParaRPr lang="en-US" dirty="0"/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388938" y="1189567"/>
            <a:ext cx="8077200" cy="52578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dirty="0"/>
              <a:t>如何度量特征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f</a:t>
            </a:r>
            <a:r>
              <a:rPr lang="en-US" altLang="zh-CN" baseline="-25000" dirty="0"/>
              <a:t>2</a:t>
            </a:r>
            <a:r>
              <a:rPr lang="zh-CN" altLang="en-US" dirty="0"/>
              <a:t>的差异</a:t>
            </a:r>
            <a:r>
              <a:rPr lang="en-US" dirty="0"/>
              <a:t>?</a:t>
            </a:r>
          </a:p>
          <a:p>
            <a:pPr marL="914400" lvl="1" indent="-457200"/>
            <a:r>
              <a:rPr lang="zh-CN" altLang="en-US" dirty="0"/>
              <a:t>最简单的方法是</a:t>
            </a:r>
            <a:r>
              <a:rPr lang="en-US" dirty="0"/>
              <a:t>SSD(f</a:t>
            </a:r>
            <a:r>
              <a:rPr lang="en-US" baseline="-25000" dirty="0"/>
              <a:t>1</a:t>
            </a:r>
            <a:r>
              <a:rPr lang="en-US" dirty="0"/>
              <a:t>, f</a:t>
            </a:r>
            <a:r>
              <a:rPr lang="en-US" baseline="-25000" dirty="0"/>
              <a:t>2</a:t>
            </a:r>
            <a:r>
              <a:rPr lang="en-US" dirty="0"/>
              <a:t>) </a:t>
            </a:r>
          </a:p>
          <a:p>
            <a:pPr marL="1314450" lvl="2" indent="-457200"/>
            <a:r>
              <a:rPr lang="zh-CN" altLang="en-US" sz="1800" dirty="0"/>
              <a:t>两个特征描述向量元素的均方和</a:t>
            </a:r>
            <a:endParaRPr lang="en-US" sz="1800" dirty="0"/>
          </a:p>
          <a:p>
            <a:pPr marL="1314450" lvl="2" indent="-457200"/>
            <a:r>
              <a:rPr lang="zh-CN" altLang="en-US" sz="1800" dirty="0"/>
              <a:t>会导致一些易混淆特征的错误匹配</a:t>
            </a:r>
            <a:endParaRPr lang="en-US" sz="1800" dirty="0"/>
          </a:p>
        </p:txBody>
      </p:sp>
      <p:pic>
        <p:nvPicPr>
          <p:cNvPr id="71684" name="Picture 2" descr="http://www.canyonstatevinyl.com/images/Picket%20Fen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775" y="28956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1219200" y="40005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pic>
        <p:nvPicPr>
          <p:cNvPr id="71686" name="Picture 6" descr="http://www.canyonstatevinyl.com/images/Picket%20Fen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28956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7" name="Rectangle 14"/>
          <p:cNvSpPr>
            <a:spLocks noChangeArrowheads="1"/>
          </p:cNvSpPr>
          <p:nvPr/>
        </p:nvSpPr>
        <p:spPr bwMode="auto">
          <a:xfrm>
            <a:off x="2214563" y="6172200"/>
            <a:ext cx="449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ea typeface="MS PGothic" pitchFamily="34" charset="-128"/>
              </a:rPr>
              <a:t>I</a:t>
            </a:r>
            <a:r>
              <a:rPr lang="en-US" sz="3200" baseline="-25000">
                <a:solidFill>
                  <a:srgbClr val="000000"/>
                </a:solidFill>
                <a:ea typeface="MS PGothic" pitchFamily="34" charset="-128"/>
              </a:rPr>
              <a:t>1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6711950" y="61722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ea typeface="MS PGothic" pitchFamily="34" charset="-128"/>
              </a:rPr>
              <a:t>I</a:t>
            </a:r>
            <a:r>
              <a:rPr lang="en-US" sz="3200" baseline="-25000">
                <a:solidFill>
                  <a:srgbClr val="000000"/>
                </a:solidFill>
                <a:ea typeface="MS PGothic" pitchFamily="34" charset="-128"/>
              </a:rPr>
              <a:t>2</a:t>
            </a:r>
          </a:p>
        </p:txBody>
      </p:sp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1219200" y="32766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00"/>
                </a:solidFill>
                <a:ea typeface="MS PGothic" pitchFamily="34" charset="-128"/>
              </a:rPr>
              <a:t>f</a:t>
            </a:r>
            <a:r>
              <a:rPr lang="en-US" sz="3200" baseline="-25000">
                <a:solidFill>
                  <a:srgbClr val="FFFF00"/>
                </a:solidFill>
                <a:ea typeface="MS PGothic" pitchFamily="34" charset="-128"/>
              </a:rPr>
              <a:t>1</a:t>
            </a:r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8015288" y="40005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8015288" y="32766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00"/>
                </a:solidFill>
                <a:ea typeface="MS PGothic" pitchFamily="34" charset="-128"/>
              </a:rPr>
              <a:t>f</a:t>
            </a:r>
            <a:r>
              <a:rPr lang="en-US" sz="3200" baseline="-25000">
                <a:solidFill>
                  <a:srgbClr val="FFFF00"/>
                </a:solidFill>
                <a:ea typeface="MS PGothic" pitchFamily="34" charset="-128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912292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r>
              <a:rPr lang="en-US" altLang="zh-CN" dirty="0"/>
              <a:t>—</a:t>
            </a:r>
            <a:r>
              <a:rPr lang="zh-CN" altLang="en-US" dirty="0"/>
              <a:t>距离函数</a:t>
            </a:r>
            <a:endParaRPr lang="en-US" dirty="0"/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>
          <a:xfrm>
            <a:off x="470958" y="914400"/>
            <a:ext cx="8077200" cy="52578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dirty="0"/>
              <a:t>如何度量特征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f</a:t>
            </a:r>
            <a:r>
              <a:rPr lang="en-US" altLang="zh-CN" baseline="-25000" dirty="0"/>
              <a:t>2</a:t>
            </a:r>
            <a:r>
              <a:rPr lang="zh-CN" altLang="en-US" dirty="0"/>
              <a:t>的差异</a:t>
            </a:r>
            <a:r>
              <a:rPr lang="en-US" altLang="zh-CN" dirty="0"/>
              <a:t>?</a:t>
            </a:r>
          </a:p>
          <a:p>
            <a:pPr marL="457200" lvl="1" indent="0">
              <a:buNone/>
            </a:pPr>
            <a:r>
              <a:rPr lang="en-US" altLang="zh-CN" dirty="0"/>
              <a:t>-</a:t>
            </a:r>
            <a:r>
              <a:rPr lang="zh-CN" altLang="en-US" dirty="0"/>
              <a:t>更好的方法：比值距离</a:t>
            </a:r>
            <a:r>
              <a:rPr lang="en-US" dirty="0"/>
              <a:t> = SSD(f</a:t>
            </a:r>
            <a:r>
              <a:rPr lang="en-US" baseline="-25000" dirty="0"/>
              <a:t>1</a:t>
            </a:r>
            <a:r>
              <a:rPr lang="en-US" dirty="0"/>
              <a:t>, f</a:t>
            </a:r>
            <a:r>
              <a:rPr lang="en-US" baseline="-25000" dirty="0"/>
              <a:t>2</a:t>
            </a:r>
            <a:r>
              <a:rPr lang="en-US" dirty="0"/>
              <a:t>) / SSD(f</a:t>
            </a:r>
            <a:r>
              <a:rPr lang="en-US" baseline="-25000" dirty="0"/>
              <a:t>1</a:t>
            </a:r>
            <a:r>
              <a:rPr lang="en-US" dirty="0"/>
              <a:t>, f</a:t>
            </a:r>
            <a:r>
              <a:rPr lang="en-US" baseline="-25000" dirty="0"/>
              <a:t>2</a:t>
            </a:r>
            <a:r>
              <a:rPr lang="en-US" dirty="0"/>
              <a:t>’)</a:t>
            </a:r>
          </a:p>
          <a:p>
            <a:pPr marL="1314450" lvl="2" indent="-457200"/>
            <a:r>
              <a:rPr lang="en-US" sz="1800" dirty="0"/>
              <a:t>f</a:t>
            </a:r>
            <a:r>
              <a:rPr lang="en-US" sz="1800" baseline="-25000" dirty="0"/>
              <a:t>2</a:t>
            </a:r>
            <a:r>
              <a:rPr lang="en-US" sz="1800" dirty="0"/>
              <a:t> </a:t>
            </a:r>
            <a:r>
              <a:rPr lang="zh-CN" altLang="en-US" sz="1800" dirty="0"/>
              <a:t>是</a:t>
            </a:r>
            <a:r>
              <a:rPr lang="en-US" altLang="zh-CN" sz="1800" dirty="0"/>
              <a:t>I</a:t>
            </a:r>
            <a:r>
              <a:rPr lang="en-US" altLang="zh-CN" sz="1800" baseline="-25000" dirty="0"/>
              <a:t>2</a:t>
            </a:r>
            <a:r>
              <a:rPr lang="zh-CN" altLang="en-US" sz="1800" dirty="0"/>
              <a:t> 中 </a:t>
            </a:r>
            <a:r>
              <a:rPr lang="en-US" sz="1800" dirty="0"/>
              <a:t>f</a:t>
            </a:r>
            <a:r>
              <a:rPr lang="en-US" sz="1800" baseline="-25000" dirty="0"/>
              <a:t>1</a:t>
            </a:r>
            <a:r>
              <a:rPr lang="en-US" sz="1800" dirty="0"/>
              <a:t> </a:t>
            </a:r>
            <a:r>
              <a:rPr lang="zh-CN" altLang="en-US" sz="1800" dirty="0"/>
              <a:t>的最佳</a:t>
            </a:r>
            <a:r>
              <a:rPr lang="en-US" altLang="zh-CN" sz="1800" dirty="0"/>
              <a:t>SSD</a:t>
            </a:r>
            <a:r>
              <a:rPr lang="zh-CN" altLang="en-US" sz="1800" dirty="0"/>
              <a:t>匹配</a:t>
            </a:r>
            <a:endParaRPr lang="en-US" sz="1800" dirty="0"/>
          </a:p>
          <a:p>
            <a:pPr marL="1314450" lvl="2" indent="-457200"/>
            <a:r>
              <a:rPr lang="en-US" sz="1800" dirty="0"/>
              <a:t>f</a:t>
            </a:r>
            <a:r>
              <a:rPr lang="en-US" sz="1800" baseline="-25000" dirty="0"/>
              <a:t>2</a:t>
            </a:r>
            <a:r>
              <a:rPr lang="en-US" sz="1800" dirty="0"/>
              <a:t>’</a:t>
            </a:r>
            <a:r>
              <a:rPr lang="zh-CN" altLang="en-US" sz="1800" dirty="0"/>
              <a:t>是</a:t>
            </a:r>
            <a:r>
              <a:rPr lang="en-US" altLang="zh-CN" sz="1800" dirty="0"/>
              <a:t>I</a:t>
            </a:r>
            <a:r>
              <a:rPr lang="en-US" altLang="zh-CN" sz="1800" baseline="-25000" dirty="0"/>
              <a:t>2</a:t>
            </a:r>
            <a:r>
              <a:rPr lang="zh-CN" altLang="en-US" sz="1800" dirty="0"/>
              <a:t> 中 </a:t>
            </a:r>
            <a:r>
              <a:rPr lang="en-US" altLang="zh-CN" sz="1800" dirty="0"/>
              <a:t>f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</a:t>
            </a:r>
            <a:r>
              <a:rPr lang="zh-CN" altLang="en-US" sz="1800" dirty="0"/>
              <a:t>的次佳</a:t>
            </a:r>
            <a:r>
              <a:rPr lang="en-US" altLang="zh-CN" sz="1800" dirty="0"/>
              <a:t>SSD</a:t>
            </a:r>
            <a:r>
              <a:rPr lang="zh-CN" altLang="en-US" sz="1800" dirty="0"/>
              <a:t>匹配</a:t>
            </a:r>
            <a:endParaRPr lang="en-US" sz="1800" baseline="-25000" dirty="0"/>
          </a:p>
          <a:p>
            <a:pPr marL="1314450" lvl="2" indent="-457200"/>
            <a:r>
              <a:rPr lang="zh-CN" altLang="en-US" sz="1800" dirty="0"/>
              <a:t>模糊匹配的情况下两者的比值较低</a:t>
            </a:r>
            <a:endParaRPr lang="en-US" sz="1800" baseline="30000" dirty="0"/>
          </a:p>
        </p:txBody>
      </p:sp>
      <p:pic>
        <p:nvPicPr>
          <p:cNvPr id="72708" name="Picture 2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75" y="30480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1219200" y="41529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pic>
        <p:nvPicPr>
          <p:cNvPr id="72710" name="Picture 6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30480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11" name="Rectangle 14"/>
          <p:cNvSpPr>
            <a:spLocks noChangeArrowheads="1"/>
          </p:cNvSpPr>
          <p:nvPr/>
        </p:nvSpPr>
        <p:spPr bwMode="auto">
          <a:xfrm>
            <a:off x="2214563" y="6172200"/>
            <a:ext cx="4492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ea typeface="MS PGothic" pitchFamily="34" charset="-128"/>
              </a:rPr>
              <a:t>I</a:t>
            </a:r>
            <a:r>
              <a:rPr lang="en-US" sz="3200" baseline="-25000">
                <a:solidFill>
                  <a:srgbClr val="000000"/>
                </a:solidFill>
                <a:ea typeface="MS PGothic" pitchFamily="34" charset="-128"/>
              </a:rPr>
              <a:t>1</a:t>
            </a:r>
          </a:p>
        </p:txBody>
      </p:sp>
      <p:sp>
        <p:nvSpPr>
          <p:cNvPr id="72712" name="Rectangle 8"/>
          <p:cNvSpPr>
            <a:spLocks noChangeArrowheads="1"/>
          </p:cNvSpPr>
          <p:nvPr/>
        </p:nvSpPr>
        <p:spPr bwMode="auto">
          <a:xfrm>
            <a:off x="6711950" y="61722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ea typeface="MS PGothic" pitchFamily="34" charset="-128"/>
              </a:rPr>
              <a:t>I</a:t>
            </a:r>
            <a:r>
              <a:rPr lang="en-US" sz="3200" baseline="-25000">
                <a:solidFill>
                  <a:srgbClr val="000000"/>
                </a:solidFill>
                <a:ea typeface="MS PGothic" pitchFamily="34" charset="-128"/>
              </a:rPr>
              <a:t>2</a:t>
            </a:r>
          </a:p>
        </p:txBody>
      </p:sp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1219200" y="34290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00"/>
                </a:solidFill>
                <a:ea typeface="MS PGothic" pitchFamily="34" charset="-128"/>
              </a:rPr>
              <a:t>f</a:t>
            </a:r>
            <a:r>
              <a:rPr lang="en-US" sz="3200" baseline="-25000">
                <a:solidFill>
                  <a:srgbClr val="FFFF00"/>
                </a:solidFill>
                <a:ea typeface="MS PGothic" pitchFamily="34" charset="-128"/>
              </a:rPr>
              <a:t>1</a:t>
            </a:r>
          </a:p>
        </p:txBody>
      </p:sp>
      <p:sp>
        <p:nvSpPr>
          <p:cNvPr id="72714" name="Rectangle 11"/>
          <p:cNvSpPr>
            <a:spLocks noChangeArrowheads="1"/>
          </p:cNvSpPr>
          <p:nvPr/>
        </p:nvSpPr>
        <p:spPr bwMode="auto">
          <a:xfrm>
            <a:off x="8015288" y="41529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72715" name="Rectangle 11"/>
          <p:cNvSpPr>
            <a:spLocks noChangeArrowheads="1"/>
          </p:cNvSpPr>
          <p:nvPr/>
        </p:nvSpPr>
        <p:spPr bwMode="auto">
          <a:xfrm>
            <a:off x="8015288" y="34290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00"/>
                </a:solidFill>
                <a:ea typeface="MS PGothic" pitchFamily="34" charset="-128"/>
              </a:rPr>
              <a:t>f</a:t>
            </a:r>
            <a:r>
              <a:rPr lang="en-US" sz="3200" baseline="-25000">
                <a:solidFill>
                  <a:srgbClr val="FFFF00"/>
                </a:solidFill>
                <a:ea typeface="MS PGothic" pitchFamily="34" charset="-128"/>
              </a:rPr>
              <a:t>2</a:t>
            </a:r>
          </a:p>
        </p:txBody>
      </p:sp>
      <p:sp>
        <p:nvSpPr>
          <p:cNvPr id="72716" name="Rectangle 13"/>
          <p:cNvSpPr>
            <a:spLocks noChangeArrowheads="1"/>
          </p:cNvSpPr>
          <p:nvPr/>
        </p:nvSpPr>
        <p:spPr bwMode="auto">
          <a:xfrm>
            <a:off x="7216775" y="41529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72717" name="Rectangle 13"/>
          <p:cNvSpPr>
            <a:spLocks noChangeArrowheads="1"/>
          </p:cNvSpPr>
          <p:nvPr/>
        </p:nvSpPr>
        <p:spPr bwMode="auto">
          <a:xfrm>
            <a:off x="7216775" y="3429000"/>
            <a:ext cx="7985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00"/>
                </a:solidFill>
                <a:ea typeface="MS PGothic" pitchFamily="34" charset="-128"/>
              </a:rPr>
              <a:t>f</a:t>
            </a:r>
            <a:r>
              <a:rPr lang="en-US" sz="3200" baseline="-25000">
                <a:solidFill>
                  <a:srgbClr val="FFFF00"/>
                </a:solidFill>
                <a:ea typeface="MS PGothic" pitchFamily="34" charset="-128"/>
              </a:rPr>
              <a:t>2</a:t>
            </a:r>
            <a:r>
              <a:rPr lang="en-US" sz="3200" baseline="30000">
                <a:solidFill>
                  <a:srgbClr val="FFFF00"/>
                </a:solidFill>
                <a:ea typeface="MS PGothic" pitchFamily="34" charset="-128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0807098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r>
              <a:rPr lang="en-US" altLang="zh-CN" dirty="0"/>
              <a:t>—</a:t>
            </a:r>
            <a:r>
              <a:rPr lang="zh-CN" altLang="en-US" dirty="0"/>
              <a:t>变换参数</a:t>
            </a:r>
            <a:endParaRPr lang="en-US" dirty="0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zh-CN" altLang="en-US" dirty="0"/>
              <a:t>获得匹配点对后，如何对齐两幅图像</a:t>
            </a:r>
            <a:r>
              <a:rPr lang="en-US" dirty="0"/>
              <a:t>?</a:t>
            </a:r>
          </a:p>
          <a:p>
            <a:pPr>
              <a:buFontTx/>
              <a:buChar char="•"/>
            </a:pPr>
            <a:r>
              <a:rPr lang="zh-CN" altLang="en-US" dirty="0"/>
              <a:t>变换参数</a:t>
            </a:r>
            <a:endParaRPr lang="en-US" dirty="0"/>
          </a:p>
        </p:txBody>
      </p:sp>
      <p:graphicFrame>
        <p:nvGraphicFramePr>
          <p:cNvPr id="13314" name="Object 2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964806397"/>
              </p:ext>
            </p:extLst>
          </p:nvPr>
        </p:nvGraphicFramePr>
        <p:xfrm>
          <a:off x="5638800" y="4225925"/>
          <a:ext cx="7302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5" name="Equation" r:id="rId4" imgW="457200" imgH="228600" progId="Equation.3">
                  <p:embed/>
                </p:oleObj>
              </mc:Choice>
              <mc:Fallback>
                <p:oleObj name="Equation" r:id="rId4" imgW="457200" imgH="228600" progId="Equation.3">
                  <p:embed/>
                  <p:pic>
                    <p:nvPicPr>
                      <p:cNvPr id="13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225925"/>
                        <a:ext cx="73025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Line 17"/>
          <p:cNvSpPr>
            <a:spLocks noChangeShapeType="1"/>
          </p:cNvSpPr>
          <p:nvPr/>
        </p:nvSpPr>
        <p:spPr bwMode="auto">
          <a:xfrm flipV="1">
            <a:off x="4191000" y="5181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676400" y="3962400"/>
            <a:ext cx="2241550" cy="2320925"/>
            <a:chOff x="3052" y="698"/>
            <a:chExt cx="1412" cy="1462"/>
          </a:xfrm>
        </p:grpSpPr>
        <p:sp>
          <p:nvSpPr>
            <p:cNvPr id="13327" name="AutoShape 19">
              <a:hlinkClick r:id="" action="ppaction://hlinkshowjump?jump=firstslide" highlightClick="1"/>
            </p:cNvPr>
            <p:cNvSpPr>
              <a:spLocks noChangeArrowheads="1"/>
            </p:cNvSpPr>
            <p:nvPr/>
          </p:nvSpPr>
          <p:spPr bwMode="auto">
            <a:xfrm>
              <a:off x="3052" y="698"/>
              <a:ext cx="1412" cy="1462"/>
            </a:xfrm>
            <a:prstGeom prst="actionButtonHome">
              <a:avLst/>
            </a:prstGeom>
            <a:solidFill>
              <a:schemeClr val="bg2">
                <a:alpha val="25098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328" name="Oval 20"/>
            <p:cNvSpPr>
              <a:spLocks noChangeAspect="1" noChangeArrowheads="1"/>
            </p:cNvSpPr>
            <p:nvPr/>
          </p:nvSpPr>
          <p:spPr bwMode="auto">
            <a:xfrm>
              <a:off x="3717" y="863"/>
              <a:ext cx="75" cy="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329" name="Oval 21"/>
            <p:cNvSpPr>
              <a:spLocks noChangeAspect="1" noChangeArrowheads="1"/>
            </p:cNvSpPr>
            <p:nvPr/>
          </p:nvSpPr>
          <p:spPr bwMode="auto">
            <a:xfrm>
              <a:off x="4101" y="1898"/>
              <a:ext cx="75" cy="75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330" name="Oval 22"/>
            <p:cNvSpPr>
              <a:spLocks noChangeAspect="1" noChangeArrowheads="1"/>
            </p:cNvSpPr>
            <p:nvPr/>
          </p:nvSpPr>
          <p:spPr bwMode="auto">
            <a:xfrm>
              <a:off x="3648" y="1653"/>
              <a:ext cx="75" cy="75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331" name="Oval 23"/>
            <p:cNvSpPr>
              <a:spLocks noChangeAspect="1" noChangeArrowheads="1"/>
            </p:cNvSpPr>
            <p:nvPr/>
          </p:nvSpPr>
          <p:spPr bwMode="auto">
            <a:xfrm>
              <a:off x="3189" y="1392"/>
              <a:ext cx="75" cy="75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332" name="Oval 24"/>
            <p:cNvSpPr>
              <a:spLocks noChangeAspect="1" noChangeArrowheads="1"/>
            </p:cNvSpPr>
            <p:nvPr/>
          </p:nvSpPr>
          <p:spPr bwMode="auto">
            <a:xfrm>
              <a:off x="4032" y="1200"/>
              <a:ext cx="75" cy="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3321" name="AutoShape 2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 rot="1247942">
            <a:off x="5410200" y="4225925"/>
            <a:ext cx="1479550" cy="1787525"/>
          </a:xfrm>
          <a:prstGeom prst="actionButtonHome">
            <a:avLst/>
          </a:prstGeom>
          <a:solidFill>
            <a:schemeClr val="bg2">
              <a:alpha val="25098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322" name="Oval 27"/>
          <p:cNvSpPr>
            <a:spLocks noChangeAspect="1" noChangeArrowheads="1"/>
          </p:cNvSpPr>
          <p:nvPr/>
        </p:nvSpPr>
        <p:spPr bwMode="auto">
          <a:xfrm>
            <a:off x="6281738" y="4564063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323" name="Oval 28"/>
          <p:cNvSpPr>
            <a:spLocks noChangeAspect="1" noChangeArrowheads="1"/>
          </p:cNvSpPr>
          <p:nvPr/>
        </p:nvSpPr>
        <p:spPr bwMode="auto">
          <a:xfrm>
            <a:off x="6280150" y="5707063"/>
            <a:ext cx="119063" cy="1190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324" name="Oval 29"/>
          <p:cNvSpPr>
            <a:spLocks noChangeAspect="1" noChangeArrowheads="1"/>
          </p:cNvSpPr>
          <p:nvPr/>
        </p:nvSpPr>
        <p:spPr bwMode="auto">
          <a:xfrm>
            <a:off x="5899150" y="5284788"/>
            <a:ext cx="119063" cy="1190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325" name="Oval 30"/>
          <p:cNvSpPr>
            <a:spLocks noChangeAspect="1" noChangeArrowheads="1"/>
          </p:cNvSpPr>
          <p:nvPr/>
        </p:nvSpPr>
        <p:spPr bwMode="auto">
          <a:xfrm>
            <a:off x="5594350" y="4870450"/>
            <a:ext cx="119063" cy="119063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326" name="Oval 31"/>
          <p:cNvSpPr>
            <a:spLocks noChangeAspect="1" noChangeArrowheads="1"/>
          </p:cNvSpPr>
          <p:nvPr/>
        </p:nvSpPr>
        <p:spPr bwMode="auto">
          <a:xfrm>
            <a:off x="6465888" y="4946650"/>
            <a:ext cx="119062" cy="11906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3315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174560333"/>
              </p:ext>
            </p:extLst>
          </p:nvPr>
        </p:nvGraphicFramePr>
        <p:xfrm>
          <a:off x="1981200" y="3997325"/>
          <a:ext cx="7302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6" name="Equation" r:id="rId6" imgW="457200" imgH="228600" progId="Equation.3">
                  <p:embed/>
                </p:oleObj>
              </mc:Choice>
              <mc:Fallback>
                <p:oleObj name="Equation" r:id="rId6" imgW="457200" imgH="228600" progId="Equation.3">
                  <p:embed/>
                  <p:pic>
                    <p:nvPicPr>
                      <p:cNvPr id="13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997325"/>
                        <a:ext cx="73025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57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858623431"/>
              </p:ext>
            </p:extLst>
          </p:nvPr>
        </p:nvGraphicFramePr>
        <p:xfrm>
          <a:off x="2817813" y="2611174"/>
          <a:ext cx="35512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7" name="Equation" r:id="rId8" imgW="1701720" imgH="482400" progId="Equation.3">
                  <p:embed/>
                </p:oleObj>
              </mc:Choice>
              <mc:Fallback>
                <p:oleObj name="Equation" r:id="rId8" imgW="1701720" imgH="482400" progId="Equation.3">
                  <p:embed/>
                  <p:pic>
                    <p:nvPicPr>
                      <p:cNvPr id="8243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3" y="2611174"/>
                        <a:ext cx="3551237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997532" y="648866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Grauman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19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r>
              <a:rPr lang="en-US" altLang="zh-CN" dirty="0"/>
              <a:t>—</a:t>
            </a:r>
            <a:r>
              <a:rPr lang="zh-CN" altLang="en-US" dirty="0"/>
              <a:t>变换参数</a:t>
            </a:r>
            <a:endParaRPr lang="en-US" dirty="0"/>
          </a:p>
        </p:txBody>
      </p:sp>
      <p:sp>
        <p:nvSpPr>
          <p:cNvPr id="153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7" y="1318418"/>
            <a:ext cx="8229600" cy="4525963"/>
          </a:xfrm>
        </p:spPr>
        <p:txBody>
          <a:bodyPr/>
          <a:lstStyle/>
          <a:p>
            <a:pPr>
              <a:buFontTx/>
              <a:buChar char="•"/>
            </a:pPr>
            <a:r>
              <a:rPr lang="zh-CN" altLang="en-US" dirty="0"/>
              <a:t>获得匹配点对后，如何求两幅图像的变换参数</a:t>
            </a:r>
            <a:r>
              <a:rPr lang="en-US" altLang="zh-CN" dirty="0"/>
              <a:t>?</a:t>
            </a:r>
          </a:p>
        </p:txBody>
      </p:sp>
      <p:graphicFrame>
        <p:nvGraphicFramePr>
          <p:cNvPr id="15362" name="Object 2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8330811"/>
              </p:ext>
            </p:extLst>
          </p:nvPr>
        </p:nvGraphicFramePr>
        <p:xfrm>
          <a:off x="5638800" y="2625725"/>
          <a:ext cx="7302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7" name="Equation" r:id="rId4" imgW="457200" imgH="228600" progId="Equation.3">
                  <p:embed/>
                </p:oleObj>
              </mc:Choice>
              <mc:Fallback>
                <p:oleObj name="Equation" r:id="rId4" imgW="457200" imgH="228600" progId="Equation.3">
                  <p:embed/>
                  <p:pic>
                    <p:nvPicPr>
                      <p:cNvPr id="153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625725"/>
                        <a:ext cx="73025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Line 17"/>
          <p:cNvSpPr>
            <a:spLocks noChangeShapeType="1"/>
          </p:cNvSpPr>
          <p:nvPr/>
        </p:nvSpPr>
        <p:spPr bwMode="auto">
          <a:xfrm flipV="1">
            <a:off x="4191000" y="3581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676400" y="2362200"/>
            <a:ext cx="2241550" cy="2320925"/>
            <a:chOff x="3052" y="698"/>
            <a:chExt cx="1412" cy="1462"/>
          </a:xfrm>
        </p:grpSpPr>
        <p:sp>
          <p:nvSpPr>
            <p:cNvPr id="15378" name="AutoShape 19">
              <a:hlinkClick r:id="" action="ppaction://hlinkshowjump?jump=firstslide" highlightClick="1"/>
            </p:cNvPr>
            <p:cNvSpPr>
              <a:spLocks noChangeArrowheads="1"/>
            </p:cNvSpPr>
            <p:nvPr/>
          </p:nvSpPr>
          <p:spPr bwMode="auto">
            <a:xfrm>
              <a:off x="3052" y="698"/>
              <a:ext cx="1412" cy="1462"/>
            </a:xfrm>
            <a:prstGeom prst="actionButtonHome">
              <a:avLst/>
            </a:prstGeom>
            <a:solidFill>
              <a:schemeClr val="bg2">
                <a:alpha val="25098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379" name="Oval 20"/>
            <p:cNvSpPr>
              <a:spLocks noChangeAspect="1" noChangeArrowheads="1"/>
            </p:cNvSpPr>
            <p:nvPr/>
          </p:nvSpPr>
          <p:spPr bwMode="auto">
            <a:xfrm>
              <a:off x="3717" y="863"/>
              <a:ext cx="75" cy="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380" name="Oval 21"/>
            <p:cNvSpPr>
              <a:spLocks noChangeAspect="1" noChangeArrowheads="1"/>
            </p:cNvSpPr>
            <p:nvPr/>
          </p:nvSpPr>
          <p:spPr bwMode="auto">
            <a:xfrm>
              <a:off x="4101" y="1898"/>
              <a:ext cx="75" cy="75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381" name="Oval 22"/>
            <p:cNvSpPr>
              <a:spLocks noChangeAspect="1" noChangeArrowheads="1"/>
            </p:cNvSpPr>
            <p:nvPr/>
          </p:nvSpPr>
          <p:spPr bwMode="auto">
            <a:xfrm>
              <a:off x="3648" y="1653"/>
              <a:ext cx="75" cy="75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382" name="Oval 23"/>
            <p:cNvSpPr>
              <a:spLocks noChangeAspect="1" noChangeArrowheads="1"/>
            </p:cNvSpPr>
            <p:nvPr/>
          </p:nvSpPr>
          <p:spPr bwMode="auto">
            <a:xfrm>
              <a:off x="3189" y="1392"/>
              <a:ext cx="75" cy="75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383" name="Oval 24"/>
            <p:cNvSpPr>
              <a:spLocks noChangeAspect="1" noChangeArrowheads="1"/>
            </p:cNvSpPr>
            <p:nvPr/>
          </p:nvSpPr>
          <p:spPr bwMode="auto">
            <a:xfrm>
              <a:off x="4032" y="1200"/>
              <a:ext cx="75" cy="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5370" name="AutoShape 2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 rot="1247942">
            <a:off x="5410200" y="2625725"/>
            <a:ext cx="1479550" cy="1787525"/>
          </a:xfrm>
          <a:prstGeom prst="actionButtonHome">
            <a:avLst/>
          </a:prstGeom>
          <a:solidFill>
            <a:schemeClr val="bg2">
              <a:alpha val="25098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371" name="Oval 27"/>
          <p:cNvSpPr>
            <a:spLocks noChangeAspect="1" noChangeArrowheads="1"/>
          </p:cNvSpPr>
          <p:nvPr/>
        </p:nvSpPr>
        <p:spPr bwMode="auto">
          <a:xfrm>
            <a:off x="6281738" y="2963863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372" name="Oval 28"/>
          <p:cNvSpPr>
            <a:spLocks noChangeAspect="1" noChangeArrowheads="1"/>
          </p:cNvSpPr>
          <p:nvPr/>
        </p:nvSpPr>
        <p:spPr bwMode="auto">
          <a:xfrm>
            <a:off x="6280150" y="4106863"/>
            <a:ext cx="119063" cy="1190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373" name="Oval 29"/>
          <p:cNvSpPr>
            <a:spLocks noChangeAspect="1" noChangeArrowheads="1"/>
          </p:cNvSpPr>
          <p:nvPr/>
        </p:nvSpPr>
        <p:spPr bwMode="auto">
          <a:xfrm>
            <a:off x="5899150" y="3684588"/>
            <a:ext cx="119063" cy="1190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374" name="Oval 30"/>
          <p:cNvSpPr>
            <a:spLocks noChangeAspect="1" noChangeArrowheads="1"/>
          </p:cNvSpPr>
          <p:nvPr/>
        </p:nvSpPr>
        <p:spPr bwMode="auto">
          <a:xfrm>
            <a:off x="5594350" y="3270250"/>
            <a:ext cx="119063" cy="119063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375" name="Oval 31"/>
          <p:cNvSpPr>
            <a:spLocks noChangeAspect="1" noChangeArrowheads="1"/>
          </p:cNvSpPr>
          <p:nvPr/>
        </p:nvSpPr>
        <p:spPr bwMode="auto">
          <a:xfrm>
            <a:off x="6465888" y="3346450"/>
            <a:ext cx="119062" cy="11906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15363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381930855"/>
              </p:ext>
            </p:extLst>
          </p:nvPr>
        </p:nvGraphicFramePr>
        <p:xfrm>
          <a:off x="1981200" y="2397125"/>
          <a:ext cx="7302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8" name="Equation" r:id="rId6" imgW="457200" imgH="228600" progId="Equation.3">
                  <p:embed/>
                </p:oleObj>
              </mc:Choice>
              <mc:Fallback>
                <p:oleObj name="Equation" r:id="rId6" imgW="457200" imgH="228600" progId="Equation.3">
                  <p:embed/>
                  <p:pic>
                    <p:nvPicPr>
                      <p:cNvPr id="153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397125"/>
                        <a:ext cx="73025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57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63563" y="4953000"/>
          <a:ext cx="35512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9" name="Equation" r:id="rId8" imgW="1701720" imgH="482400" progId="Equation.3">
                  <p:embed/>
                </p:oleObj>
              </mc:Choice>
              <mc:Fallback>
                <p:oleObj name="Equation" r:id="rId8" imgW="1701720" imgH="482400" progId="Equation.3">
                  <p:embed/>
                  <p:pic>
                    <p:nvPicPr>
                      <p:cNvPr id="8243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4953000"/>
                        <a:ext cx="3551237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59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495800" y="4038600"/>
          <a:ext cx="4525963" cy="279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00" name="Equation" r:id="rId10" imgW="2260440" imgH="1396800" progId="Equation.3">
                  <p:embed/>
                </p:oleObj>
              </mc:Choice>
              <mc:Fallback>
                <p:oleObj name="Equation" r:id="rId10" imgW="2260440" imgH="1396800" progId="Equation.3">
                  <p:embed/>
                  <p:pic>
                    <p:nvPicPr>
                      <p:cNvPr id="82435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038600"/>
                        <a:ext cx="4525963" cy="279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4681538" y="4706938"/>
            <a:ext cx="2811462" cy="1497012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8515350" y="4633913"/>
            <a:ext cx="365125" cy="1679575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37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062"/>
            <a:ext cx="8229600" cy="1143000"/>
          </a:xfrm>
        </p:spPr>
        <p:txBody>
          <a:bodyPr/>
          <a:lstStyle/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r>
              <a:rPr lang="en-US" altLang="zh-CN" dirty="0"/>
              <a:t>—</a:t>
            </a:r>
            <a:r>
              <a:rPr lang="zh-CN" altLang="en-US" dirty="0"/>
              <a:t>变换参数</a:t>
            </a:r>
            <a:endParaRPr lang="en-US" dirty="0"/>
          </a:p>
        </p:txBody>
      </p:sp>
      <p:sp>
        <p:nvSpPr>
          <p:cNvPr id="1946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4117975"/>
            <a:ext cx="7772400" cy="2232025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US" altLang="zh-CN" dirty="0" err="1"/>
              <a:t>解方程需要多少对匹配特征点对</a:t>
            </a:r>
            <a:r>
              <a:rPr lang="zh-CN" altLang="en-US" dirty="0"/>
              <a:t>？</a:t>
            </a:r>
            <a:endParaRPr lang="en-US" dirty="0"/>
          </a:p>
          <a:p>
            <a:pPr>
              <a:buFontTx/>
              <a:buChar char="•"/>
            </a:pPr>
            <a:r>
              <a:rPr lang="en-US" altLang="zh-CN" dirty="0" err="1"/>
              <a:t>如何根据变换参数确定变换后的图像</a:t>
            </a:r>
            <a:r>
              <a:rPr lang="zh-CN" altLang="en-US" dirty="0"/>
              <a:t>？</a:t>
            </a:r>
            <a:endParaRPr lang="en-US" dirty="0"/>
          </a:p>
        </p:txBody>
      </p:sp>
      <p:graphicFrame>
        <p:nvGraphicFramePr>
          <p:cNvPr id="16386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1828800" y="1066800"/>
          <a:ext cx="4648200" cy="287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21" name="Equation" r:id="rId4" imgW="2260440" imgH="1396800" progId="Equation.3">
                  <p:embed/>
                </p:oleObj>
              </mc:Choice>
              <mc:Fallback>
                <p:oleObj name="Equation" r:id="rId4" imgW="2260440" imgH="1396800" progId="Equation.3">
                  <p:embed/>
                  <p:pic>
                    <p:nvPicPr>
                      <p:cNvPr id="163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066800"/>
                        <a:ext cx="4648200" cy="287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448903"/>
              </p:ext>
            </p:extLst>
          </p:nvPr>
        </p:nvGraphicFramePr>
        <p:xfrm>
          <a:off x="6172200" y="5217054"/>
          <a:ext cx="15335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22" name="Equation" r:id="rId6" imgW="685800" imgH="228600" progId="Equation.3">
                  <p:embed/>
                </p:oleObj>
              </mc:Choice>
              <mc:Fallback>
                <p:oleObj name="Equation" r:id="rId6" imgW="685800" imgH="228600" progId="Equation.3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217054"/>
                        <a:ext cx="153352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97532" y="648866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Grauman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2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举例：图像匹配</a:t>
            </a:r>
            <a:endParaRPr lang="en-US" dirty="0"/>
          </a:p>
        </p:txBody>
      </p:sp>
      <p:pic>
        <p:nvPicPr>
          <p:cNvPr id="102403" name="Picture 4" descr="image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82750"/>
            <a:ext cx="36766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4" name="Picture 5" descr="image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1682750"/>
            <a:ext cx="36766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05" name="TextBox 5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221734333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6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069975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27" name="Picture 7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1069975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730625"/>
            <a:ext cx="7772400" cy="2819400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特征点提取</a:t>
            </a:r>
            <a:endParaRPr lang="en-US" dirty="0"/>
          </a:p>
        </p:txBody>
      </p:sp>
      <p:sp>
        <p:nvSpPr>
          <p:cNvPr id="103430" name="TextBox 6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6794843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6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995363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1" name="Picture 7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995363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733800"/>
            <a:ext cx="7772400" cy="3124200"/>
          </a:xfrm>
        </p:spPr>
        <p:txBody>
          <a:bodyPr/>
          <a:lstStyle/>
          <a:p>
            <a:pPr marL="457200" indent="-457200">
              <a:buFontTx/>
              <a:buChar char="•"/>
            </a:pPr>
            <a:r>
              <a:rPr lang="en-US" altLang="zh-CN" dirty="0"/>
              <a:t>1.</a:t>
            </a:r>
            <a:r>
              <a:rPr lang="zh-CN" altLang="en-US" dirty="0"/>
              <a:t>特征点提取</a:t>
            </a:r>
            <a:endParaRPr lang="en-US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2.</a:t>
            </a:r>
            <a:r>
              <a:rPr lang="zh-CN" altLang="en-US" dirty="0"/>
              <a:t>特征点匹配</a:t>
            </a:r>
            <a:endParaRPr lang="en-US" i="1" dirty="0"/>
          </a:p>
        </p:txBody>
      </p:sp>
      <p:sp>
        <p:nvSpPr>
          <p:cNvPr id="104454" name="Line 11"/>
          <p:cNvSpPr>
            <a:spLocks noChangeShapeType="1"/>
          </p:cNvSpPr>
          <p:nvPr/>
        </p:nvSpPr>
        <p:spPr bwMode="auto">
          <a:xfrm flipV="1">
            <a:off x="3289300" y="1828800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4455" name="Freeform 12"/>
          <p:cNvSpPr>
            <a:spLocks/>
          </p:cNvSpPr>
          <p:nvPr/>
        </p:nvSpPr>
        <p:spPr bwMode="auto">
          <a:xfrm>
            <a:off x="4232275" y="2046288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56" name="Line 13"/>
          <p:cNvSpPr>
            <a:spLocks noChangeShapeType="1"/>
          </p:cNvSpPr>
          <p:nvPr/>
        </p:nvSpPr>
        <p:spPr bwMode="auto">
          <a:xfrm flipV="1">
            <a:off x="3724275" y="3200400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4457" name="Freeform 14"/>
          <p:cNvSpPr>
            <a:spLocks/>
          </p:cNvSpPr>
          <p:nvPr/>
        </p:nvSpPr>
        <p:spPr bwMode="auto">
          <a:xfrm>
            <a:off x="4154488" y="2608263"/>
            <a:ext cx="1733550" cy="47625"/>
          </a:xfrm>
          <a:custGeom>
            <a:avLst/>
            <a:gdLst>
              <a:gd name="T0" fmla="*/ 0 w 1092"/>
              <a:gd name="T1" fmla="*/ 2147483647 h 30"/>
              <a:gd name="T2" fmla="*/ 2147483647 w 1092"/>
              <a:gd name="T3" fmla="*/ 0 h 30"/>
              <a:gd name="T4" fmla="*/ 0 60000 65536"/>
              <a:gd name="T5" fmla="*/ 0 60000 65536"/>
              <a:gd name="T6" fmla="*/ 0 w 1092"/>
              <a:gd name="T7" fmla="*/ 0 h 30"/>
              <a:gd name="T8" fmla="*/ 1092 w 1092"/>
              <a:gd name="T9" fmla="*/ 30 h 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2" h="30">
                <a:moveTo>
                  <a:pt x="0" y="30"/>
                </a:moveTo>
                <a:lnTo>
                  <a:pt x="1092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58" name="Line 15"/>
          <p:cNvSpPr>
            <a:spLocks noChangeShapeType="1"/>
          </p:cNvSpPr>
          <p:nvPr/>
        </p:nvSpPr>
        <p:spPr bwMode="auto">
          <a:xfrm flipV="1">
            <a:off x="3444875" y="2324100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4459" name="Freeform 16"/>
          <p:cNvSpPr>
            <a:spLocks/>
          </p:cNvSpPr>
          <p:nvPr/>
        </p:nvSpPr>
        <p:spPr bwMode="auto">
          <a:xfrm>
            <a:off x="4016375" y="2928938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0" name="Freeform 17"/>
          <p:cNvSpPr>
            <a:spLocks/>
          </p:cNvSpPr>
          <p:nvPr/>
        </p:nvSpPr>
        <p:spPr bwMode="auto">
          <a:xfrm>
            <a:off x="3048000" y="1958975"/>
            <a:ext cx="1785938" cy="174625"/>
          </a:xfrm>
          <a:custGeom>
            <a:avLst/>
            <a:gdLst>
              <a:gd name="T0" fmla="*/ 0 w 1125"/>
              <a:gd name="T1" fmla="*/ 2147483647 h 110"/>
              <a:gd name="T2" fmla="*/ 2147483647 w 1125"/>
              <a:gd name="T3" fmla="*/ 0 h 110"/>
              <a:gd name="T4" fmla="*/ 0 60000 65536"/>
              <a:gd name="T5" fmla="*/ 0 60000 65536"/>
              <a:gd name="T6" fmla="*/ 0 w 1125"/>
              <a:gd name="T7" fmla="*/ 0 h 110"/>
              <a:gd name="T8" fmla="*/ 1125 w 1125"/>
              <a:gd name="T9" fmla="*/ 110 h 1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5" h="110">
                <a:moveTo>
                  <a:pt x="0" y="110"/>
                </a:moveTo>
                <a:lnTo>
                  <a:pt x="112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1" name="Freeform 18"/>
          <p:cNvSpPr>
            <a:spLocks/>
          </p:cNvSpPr>
          <p:nvPr/>
        </p:nvSpPr>
        <p:spPr bwMode="auto">
          <a:xfrm>
            <a:off x="4168775" y="2714625"/>
            <a:ext cx="1709738" cy="55563"/>
          </a:xfrm>
          <a:custGeom>
            <a:avLst/>
            <a:gdLst>
              <a:gd name="T0" fmla="*/ 0 w 1077"/>
              <a:gd name="T1" fmla="*/ 2147483647 h 35"/>
              <a:gd name="T2" fmla="*/ 2147483647 w 1077"/>
              <a:gd name="T3" fmla="*/ 0 h 35"/>
              <a:gd name="T4" fmla="*/ 0 60000 65536"/>
              <a:gd name="T5" fmla="*/ 0 60000 65536"/>
              <a:gd name="T6" fmla="*/ 0 w 1077"/>
              <a:gd name="T7" fmla="*/ 0 h 35"/>
              <a:gd name="T8" fmla="*/ 1077 w 1077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7" h="35">
                <a:moveTo>
                  <a:pt x="0" y="35"/>
                </a:moveTo>
                <a:lnTo>
                  <a:pt x="107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2" name="Freeform 19"/>
          <p:cNvSpPr>
            <a:spLocks/>
          </p:cNvSpPr>
          <p:nvPr/>
        </p:nvSpPr>
        <p:spPr bwMode="auto">
          <a:xfrm>
            <a:off x="4419600" y="2157413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3" name="Line 20"/>
          <p:cNvSpPr>
            <a:spLocks noChangeShapeType="1"/>
          </p:cNvSpPr>
          <p:nvPr/>
        </p:nvSpPr>
        <p:spPr bwMode="auto">
          <a:xfrm flipV="1">
            <a:off x="3597275" y="2438400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4464" name="Freeform 21"/>
          <p:cNvSpPr>
            <a:spLocks/>
          </p:cNvSpPr>
          <p:nvPr/>
        </p:nvSpPr>
        <p:spPr bwMode="auto">
          <a:xfrm>
            <a:off x="4267200" y="2386013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5" name="Freeform 22"/>
          <p:cNvSpPr>
            <a:spLocks/>
          </p:cNvSpPr>
          <p:nvPr/>
        </p:nvSpPr>
        <p:spPr bwMode="auto">
          <a:xfrm>
            <a:off x="3886200" y="3402013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6" name="Freeform 23"/>
          <p:cNvSpPr>
            <a:spLocks/>
          </p:cNvSpPr>
          <p:nvPr/>
        </p:nvSpPr>
        <p:spPr bwMode="auto">
          <a:xfrm>
            <a:off x="3657600" y="3081338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7" name="Freeform 24"/>
          <p:cNvSpPr>
            <a:spLocks/>
          </p:cNvSpPr>
          <p:nvPr/>
        </p:nvSpPr>
        <p:spPr bwMode="auto">
          <a:xfrm>
            <a:off x="3776663" y="2819400"/>
            <a:ext cx="1709737" cy="55563"/>
          </a:xfrm>
          <a:custGeom>
            <a:avLst/>
            <a:gdLst>
              <a:gd name="T0" fmla="*/ 0 w 1077"/>
              <a:gd name="T1" fmla="*/ 2147483647 h 35"/>
              <a:gd name="T2" fmla="*/ 2147483647 w 1077"/>
              <a:gd name="T3" fmla="*/ 0 h 35"/>
              <a:gd name="T4" fmla="*/ 0 60000 65536"/>
              <a:gd name="T5" fmla="*/ 0 60000 65536"/>
              <a:gd name="T6" fmla="*/ 0 w 1077"/>
              <a:gd name="T7" fmla="*/ 0 h 35"/>
              <a:gd name="T8" fmla="*/ 1077 w 1077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7" h="35">
                <a:moveTo>
                  <a:pt x="0" y="35"/>
                </a:moveTo>
                <a:lnTo>
                  <a:pt x="107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8" name="Freeform 25"/>
          <p:cNvSpPr>
            <a:spLocks/>
          </p:cNvSpPr>
          <p:nvPr/>
        </p:nvSpPr>
        <p:spPr bwMode="auto">
          <a:xfrm>
            <a:off x="3581400" y="2286000"/>
            <a:ext cx="1790700" cy="52388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69" name="Freeform 26"/>
          <p:cNvSpPr>
            <a:spLocks/>
          </p:cNvSpPr>
          <p:nvPr/>
        </p:nvSpPr>
        <p:spPr bwMode="auto">
          <a:xfrm>
            <a:off x="3429000" y="2133600"/>
            <a:ext cx="1790700" cy="52388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0" name="Freeform 27"/>
          <p:cNvSpPr>
            <a:spLocks/>
          </p:cNvSpPr>
          <p:nvPr/>
        </p:nvSpPr>
        <p:spPr bwMode="auto">
          <a:xfrm>
            <a:off x="3733800" y="1958975"/>
            <a:ext cx="1785938" cy="174625"/>
          </a:xfrm>
          <a:custGeom>
            <a:avLst/>
            <a:gdLst>
              <a:gd name="T0" fmla="*/ 0 w 1125"/>
              <a:gd name="T1" fmla="*/ 2147483647 h 110"/>
              <a:gd name="T2" fmla="*/ 2147483647 w 1125"/>
              <a:gd name="T3" fmla="*/ 0 h 110"/>
              <a:gd name="T4" fmla="*/ 0 60000 65536"/>
              <a:gd name="T5" fmla="*/ 0 60000 65536"/>
              <a:gd name="T6" fmla="*/ 0 w 1125"/>
              <a:gd name="T7" fmla="*/ 0 h 110"/>
              <a:gd name="T8" fmla="*/ 1125 w 1125"/>
              <a:gd name="T9" fmla="*/ 110 h 1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5" h="110">
                <a:moveTo>
                  <a:pt x="0" y="110"/>
                </a:moveTo>
                <a:lnTo>
                  <a:pt x="112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1" name="Freeform 28"/>
          <p:cNvSpPr>
            <a:spLocks/>
          </p:cNvSpPr>
          <p:nvPr/>
        </p:nvSpPr>
        <p:spPr bwMode="auto">
          <a:xfrm>
            <a:off x="2362200" y="2438400"/>
            <a:ext cx="3878263" cy="609600"/>
          </a:xfrm>
          <a:custGeom>
            <a:avLst/>
            <a:gdLst>
              <a:gd name="T0" fmla="*/ 0 w 2443"/>
              <a:gd name="T1" fmla="*/ 0 h 384"/>
              <a:gd name="T2" fmla="*/ 2147483647 w 2443"/>
              <a:gd name="T3" fmla="*/ 2147483647 h 384"/>
              <a:gd name="T4" fmla="*/ 0 60000 65536"/>
              <a:gd name="T5" fmla="*/ 0 60000 65536"/>
              <a:gd name="T6" fmla="*/ 0 w 2443"/>
              <a:gd name="T7" fmla="*/ 0 h 384"/>
              <a:gd name="T8" fmla="*/ 2443 w 2443"/>
              <a:gd name="T9" fmla="*/ 384 h 3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443" h="384">
                <a:moveTo>
                  <a:pt x="0" y="0"/>
                </a:moveTo>
                <a:lnTo>
                  <a:pt x="2443" y="384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2" name="Freeform 29"/>
          <p:cNvSpPr>
            <a:spLocks/>
          </p:cNvSpPr>
          <p:nvPr/>
        </p:nvSpPr>
        <p:spPr bwMode="auto">
          <a:xfrm>
            <a:off x="2286000" y="2786063"/>
            <a:ext cx="5392738" cy="414337"/>
          </a:xfrm>
          <a:custGeom>
            <a:avLst/>
            <a:gdLst>
              <a:gd name="T0" fmla="*/ 0 w 3397"/>
              <a:gd name="T1" fmla="*/ 2147483647 h 261"/>
              <a:gd name="T2" fmla="*/ 2147483647 w 3397"/>
              <a:gd name="T3" fmla="*/ 0 h 261"/>
              <a:gd name="T4" fmla="*/ 0 60000 65536"/>
              <a:gd name="T5" fmla="*/ 0 60000 65536"/>
              <a:gd name="T6" fmla="*/ 0 w 3397"/>
              <a:gd name="T7" fmla="*/ 0 h 261"/>
              <a:gd name="T8" fmla="*/ 3397 w 3397"/>
              <a:gd name="T9" fmla="*/ 261 h 2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97" h="261">
                <a:moveTo>
                  <a:pt x="0" y="261"/>
                </a:moveTo>
                <a:lnTo>
                  <a:pt x="339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3" name="Freeform 30"/>
          <p:cNvSpPr>
            <a:spLocks/>
          </p:cNvSpPr>
          <p:nvPr/>
        </p:nvSpPr>
        <p:spPr bwMode="auto">
          <a:xfrm>
            <a:off x="1335088" y="3149600"/>
            <a:ext cx="6124575" cy="246063"/>
          </a:xfrm>
          <a:custGeom>
            <a:avLst/>
            <a:gdLst>
              <a:gd name="T0" fmla="*/ 0 w 3858"/>
              <a:gd name="T1" fmla="*/ 0 h 155"/>
              <a:gd name="T2" fmla="*/ 2147483647 w 3858"/>
              <a:gd name="T3" fmla="*/ 2147483647 h 155"/>
              <a:gd name="T4" fmla="*/ 0 60000 65536"/>
              <a:gd name="T5" fmla="*/ 0 60000 65536"/>
              <a:gd name="T6" fmla="*/ 0 w 3858"/>
              <a:gd name="T7" fmla="*/ 0 h 155"/>
              <a:gd name="T8" fmla="*/ 3858 w 3858"/>
              <a:gd name="T9" fmla="*/ 155 h 15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58" h="155">
                <a:moveTo>
                  <a:pt x="0" y="0"/>
                </a:moveTo>
                <a:lnTo>
                  <a:pt x="3858" y="155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4" name="Freeform 31"/>
          <p:cNvSpPr>
            <a:spLocks/>
          </p:cNvSpPr>
          <p:nvPr/>
        </p:nvSpPr>
        <p:spPr bwMode="auto">
          <a:xfrm>
            <a:off x="1114425" y="2819400"/>
            <a:ext cx="5243513" cy="795338"/>
          </a:xfrm>
          <a:custGeom>
            <a:avLst/>
            <a:gdLst>
              <a:gd name="T0" fmla="*/ 0 w 3303"/>
              <a:gd name="T1" fmla="*/ 0 h 501"/>
              <a:gd name="T2" fmla="*/ 2147483647 w 3303"/>
              <a:gd name="T3" fmla="*/ 2147483647 h 501"/>
              <a:gd name="T4" fmla="*/ 0 60000 65536"/>
              <a:gd name="T5" fmla="*/ 0 60000 65536"/>
              <a:gd name="T6" fmla="*/ 0 w 3303"/>
              <a:gd name="T7" fmla="*/ 0 h 501"/>
              <a:gd name="T8" fmla="*/ 3303 w 3303"/>
              <a:gd name="T9" fmla="*/ 501 h 50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03" h="501">
                <a:moveTo>
                  <a:pt x="0" y="0"/>
                </a:moveTo>
                <a:lnTo>
                  <a:pt x="3303" y="501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5" name="Freeform 32"/>
          <p:cNvSpPr>
            <a:spLocks/>
          </p:cNvSpPr>
          <p:nvPr/>
        </p:nvSpPr>
        <p:spPr bwMode="auto">
          <a:xfrm>
            <a:off x="1770063" y="2627313"/>
            <a:ext cx="4949825" cy="203200"/>
          </a:xfrm>
          <a:custGeom>
            <a:avLst/>
            <a:gdLst>
              <a:gd name="T0" fmla="*/ 0 w 3118"/>
              <a:gd name="T1" fmla="*/ 2147483647 h 128"/>
              <a:gd name="T2" fmla="*/ 2147483647 w 3118"/>
              <a:gd name="T3" fmla="*/ 0 h 128"/>
              <a:gd name="T4" fmla="*/ 0 60000 65536"/>
              <a:gd name="T5" fmla="*/ 0 60000 65536"/>
              <a:gd name="T6" fmla="*/ 0 w 3118"/>
              <a:gd name="T7" fmla="*/ 0 h 128"/>
              <a:gd name="T8" fmla="*/ 3118 w 3118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18" h="128">
                <a:moveTo>
                  <a:pt x="0" y="128"/>
                </a:moveTo>
                <a:lnTo>
                  <a:pt x="311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6" name="Freeform 33"/>
          <p:cNvSpPr>
            <a:spLocks/>
          </p:cNvSpPr>
          <p:nvPr/>
        </p:nvSpPr>
        <p:spPr bwMode="auto">
          <a:xfrm>
            <a:off x="1447800" y="2278063"/>
            <a:ext cx="4154488" cy="1285875"/>
          </a:xfrm>
          <a:custGeom>
            <a:avLst/>
            <a:gdLst>
              <a:gd name="T0" fmla="*/ 0 w 2617"/>
              <a:gd name="T1" fmla="*/ 2147483647 h 810"/>
              <a:gd name="T2" fmla="*/ 2147483647 w 2617"/>
              <a:gd name="T3" fmla="*/ 0 h 810"/>
              <a:gd name="T4" fmla="*/ 0 60000 65536"/>
              <a:gd name="T5" fmla="*/ 0 60000 65536"/>
              <a:gd name="T6" fmla="*/ 0 w 2617"/>
              <a:gd name="T7" fmla="*/ 0 h 810"/>
              <a:gd name="T8" fmla="*/ 2617 w 2617"/>
              <a:gd name="T9" fmla="*/ 810 h 8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17" h="810">
                <a:moveTo>
                  <a:pt x="0" y="810"/>
                </a:moveTo>
                <a:lnTo>
                  <a:pt x="26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7" name="Freeform 34"/>
          <p:cNvSpPr>
            <a:spLocks/>
          </p:cNvSpPr>
          <p:nvPr/>
        </p:nvSpPr>
        <p:spPr bwMode="auto">
          <a:xfrm>
            <a:off x="3787775" y="1944688"/>
            <a:ext cx="1436688" cy="1568450"/>
          </a:xfrm>
          <a:custGeom>
            <a:avLst/>
            <a:gdLst>
              <a:gd name="T0" fmla="*/ 0 w 905"/>
              <a:gd name="T1" fmla="*/ 2147483647 h 988"/>
              <a:gd name="T2" fmla="*/ 2147483647 w 905"/>
              <a:gd name="T3" fmla="*/ 0 h 988"/>
              <a:gd name="T4" fmla="*/ 0 60000 65536"/>
              <a:gd name="T5" fmla="*/ 0 60000 65536"/>
              <a:gd name="T6" fmla="*/ 0 w 905"/>
              <a:gd name="T7" fmla="*/ 0 h 988"/>
              <a:gd name="T8" fmla="*/ 905 w 905"/>
              <a:gd name="T9" fmla="*/ 988 h 9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05" h="988">
                <a:moveTo>
                  <a:pt x="0" y="988"/>
                </a:moveTo>
                <a:lnTo>
                  <a:pt x="90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8" name="Freeform 35"/>
          <p:cNvSpPr>
            <a:spLocks/>
          </p:cNvSpPr>
          <p:nvPr/>
        </p:nvSpPr>
        <p:spPr bwMode="auto">
          <a:xfrm>
            <a:off x="990600" y="2481263"/>
            <a:ext cx="6688138" cy="795337"/>
          </a:xfrm>
          <a:custGeom>
            <a:avLst/>
            <a:gdLst>
              <a:gd name="T0" fmla="*/ 0 w 4213"/>
              <a:gd name="T1" fmla="*/ 2147483647 h 501"/>
              <a:gd name="T2" fmla="*/ 2147483647 w 4213"/>
              <a:gd name="T3" fmla="*/ 0 h 501"/>
              <a:gd name="T4" fmla="*/ 0 60000 65536"/>
              <a:gd name="T5" fmla="*/ 0 60000 65536"/>
              <a:gd name="T6" fmla="*/ 0 w 4213"/>
              <a:gd name="T7" fmla="*/ 0 h 501"/>
              <a:gd name="T8" fmla="*/ 4213 w 4213"/>
              <a:gd name="T9" fmla="*/ 501 h 50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213" h="501">
                <a:moveTo>
                  <a:pt x="0" y="501"/>
                </a:moveTo>
                <a:lnTo>
                  <a:pt x="4213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79" name="Freeform 36"/>
          <p:cNvSpPr>
            <a:spLocks/>
          </p:cNvSpPr>
          <p:nvPr/>
        </p:nvSpPr>
        <p:spPr bwMode="auto">
          <a:xfrm>
            <a:off x="1495425" y="3106738"/>
            <a:ext cx="6081713" cy="474662"/>
          </a:xfrm>
          <a:custGeom>
            <a:avLst/>
            <a:gdLst>
              <a:gd name="T0" fmla="*/ 0 w 3831"/>
              <a:gd name="T1" fmla="*/ 2147483647 h 299"/>
              <a:gd name="T2" fmla="*/ 2147483647 w 3831"/>
              <a:gd name="T3" fmla="*/ 0 h 299"/>
              <a:gd name="T4" fmla="*/ 0 60000 65536"/>
              <a:gd name="T5" fmla="*/ 0 60000 65536"/>
              <a:gd name="T6" fmla="*/ 0 w 3831"/>
              <a:gd name="T7" fmla="*/ 0 h 299"/>
              <a:gd name="T8" fmla="*/ 3831 w 3831"/>
              <a:gd name="T9" fmla="*/ 299 h 2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31" h="299">
                <a:moveTo>
                  <a:pt x="0" y="299"/>
                </a:moveTo>
                <a:lnTo>
                  <a:pt x="3831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0" name="Freeform 37"/>
          <p:cNvSpPr>
            <a:spLocks/>
          </p:cNvSpPr>
          <p:nvPr/>
        </p:nvSpPr>
        <p:spPr bwMode="auto">
          <a:xfrm>
            <a:off x="4354513" y="2903538"/>
            <a:ext cx="3556000" cy="623887"/>
          </a:xfrm>
          <a:custGeom>
            <a:avLst/>
            <a:gdLst>
              <a:gd name="T0" fmla="*/ 0 w 2240"/>
              <a:gd name="T1" fmla="*/ 2147483647 h 393"/>
              <a:gd name="T2" fmla="*/ 2147483647 w 2240"/>
              <a:gd name="T3" fmla="*/ 0 h 393"/>
              <a:gd name="T4" fmla="*/ 0 60000 65536"/>
              <a:gd name="T5" fmla="*/ 0 60000 65536"/>
              <a:gd name="T6" fmla="*/ 0 w 2240"/>
              <a:gd name="T7" fmla="*/ 0 h 393"/>
              <a:gd name="T8" fmla="*/ 2240 w 2240"/>
              <a:gd name="T9" fmla="*/ 393 h 39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40" h="393">
                <a:moveTo>
                  <a:pt x="0" y="393"/>
                </a:moveTo>
                <a:lnTo>
                  <a:pt x="2240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1" name="Freeform 38"/>
          <p:cNvSpPr>
            <a:spLocks/>
          </p:cNvSpPr>
          <p:nvPr/>
        </p:nvSpPr>
        <p:spPr bwMode="auto">
          <a:xfrm>
            <a:off x="4224338" y="2540000"/>
            <a:ext cx="3454400" cy="668338"/>
          </a:xfrm>
          <a:custGeom>
            <a:avLst/>
            <a:gdLst>
              <a:gd name="T0" fmla="*/ 0 w 2176"/>
              <a:gd name="T1" fmla="*/ 2147483647 h 421"/>
              <a:gd name="T2" fmla="*/ 2147483647 w 2176"/>
              <a:gd name="T3" fmla="*/ 0 h 421"/>
              <a:gd name="T4" fmla="*/ 0 60000 65536"/>
              <a:gd name="T5" fmla="*/ 0 60000 65536"/>
              <a:gd name="T6" fmla="*/ 0 w 2176"/>
              <a:gd name="T7" fmla="*/ 0 h 421"/>
              <a:gd name="T8" fmla="*/ 2176 w 2176"/>
              <a:gd name="T9" fmla="*/ 421 h 42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76" h="421">
                <a:moveTo>
                  <a:pt x="0" y="421"/>
                </a:moveTo>
                <a:lnTo>
                  <a:pt x="2176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2" name="Freeform 39"/>
          <p:cNvSpPr>
            <a:spLocks/>
          </p:cNvSpPr>
          <p:nvPr/>
        </p:nvSpPr>
        <p:spPr bwMode="auto">
          <a:xfrm>
            <a:off x="2590800" y="2362200"/>
            <a:ext cx="3694113" cy="33338"/>
          </a:xfrm>
          <a:custGeom>
            <a:avLst/>
            <a:gdLst>
              <a:gd name="T0" fmla="*/ 0 w 2327"/>
              <a:gd name="T1" fmla="*/ 0 h 21"/>
              <a:gd name="T2" fmla="*/ 2147483647 w 2327"/>
              <a:gd name="T3" fmla="*/ 2147483647 h 21"/>
              <a:gd name="T4" fmla="*/ 0 60000 65536"/>
              <a:gd name="T5" fmla="*/ 0 60000 65536"/>
              <a:gd name="T6" fmla="*/ 0 w 2327"/>
              <a:gd name="T7" fmla="*/ 0 h 21"/>
              <a:gd name="T8" fmla="*/ 2327 w 2327"/>
              <a:gd name="T9" fmla="*/ 21 h 2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327" h="21">
                <a:moveTo>
                  <a:pt x="0" y="0"/>
                </a:moveTo>
                <a:lnTo>
                  <a:pt x="2327" y="21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3" name="Freeform 40"/>
          <p:cNvSpPr>
            <a:spLocks/>
          </p:cNvSpPr>
          <p:nvPr/>
        </p:nvSpPr>
        <p:spPr bwMode="auto">
          <a:xfrm>
            <a:off x="914400" y="2286000"/>
            <a:ext cx="6908800" cy="1095375"/>
          </a:xfrm>
          <a:custGeom>
            <a:avLst/>
            <a:gdLst>
              <a:gd name="T0" fmla="*/ 0 w 4352"/>
              <a:gd name="T1" fmla="*/ 0 h 690"/>
              <a:gd name="T2" fmla="*/ 2147483647 w 4352"/>
              <a:gd name="T3" fmla="*/ 2147483647 h 690"/>
              <a:gd name="T4" fmla="*/ 0 60000 65536"/>
              <a:gd name="T5" fmla="*/ 0 60000 65536"/>
              <a:gd name="T6" fmla="*/ 0 w 4352"/>
              <a:gd name="T7" fmla="*/ 0 h 690"/>
              <a:gd name="T8" fmla="*/ 4352 w 4352"/>
              <a:gd name="T9" fmla="*/ 690 h 69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52" h="690">
                <a:moveTo>
                  <a:pt x="0" y="0"/>
                </a:moveTo>
                <a:lnTo>
                  <a:pt x="4352" y="69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4" name="Freeform 41"/>
          <p:cNvSpPr>
            <a:spLocks/>
          </p:cNvSpPr>
          <p:nvPr/>
        </p:nvSpPr>
        <p:spPr bwMode="auto">
          <a:xfrm>
            <a:off x="2257425" y="2878138"/>
            <a:ext cx="5884863" cy="198437"/>
          </a:xfrm>
          <a:custGeom>
            <a:avLst/>
            <a:gdLst>
              <a:gd name="T0" fmla="*/ 0 w 3707"/>
              <a:gd name="T1" fmla="*/ 0 h 125"/>
              <a:gd name="T2" fmla="*/ 2147483647 w 3707"/>
              <a:gd name="T3" fmla="*/ 2147483647 h 125"/>
              <a:gd name="T4" fmla="*/ 0 60000 65536"/>
              <a:gd name="T5" fmla="*/ 0 60000 65536"/>
              <a:gd name="T6" fmla="*/ 0 w 3707"/>
              <a:gd name="T7" fmla="*/ 0 h 125"/>
              <a:gd name="T8" fmla="*/ 3707 w 3707"/>
              <a:gd name="T9" fmla="*/ 125 h 1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7" h="125">
                <a:moveTo>
                  <a:pt x="0" y="0"/>
                </a:moveTo>
                <a:lnTo>
                  <a:pt x="3707" y="125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85" name="TextBox 37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10213334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995363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499" name="Picture 3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995363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3733800"/>
            <a:ext cx="7772400" cy="3124200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•"/>
            </a:pPr>
            <a:r>
              <a:rPr lang="en-US" altLang="zh-CN" dirty="0"/>
              <a:t>1.</a:t>
            </a:r>
            <a:r>
              <a:rPr lang="zh-CN" altLang="en-US" dirty="0"/>
              <a:t>特征点提取</a:t>
            </a:r>
            <a:endParaRPr lang="en-US" altLang="zh-CN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2.</a:t>
            </a:r>
            <a:r>
              <a:rPr lang="zh-CN" altLang="en-US" dirty="0"/>
              <a:t>特征点匹配</a:t>
            </a:r>
            <a:endParaRPr lang="en-US" altLang="zh-CN" i="1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3.</a:t>
            </a:r>
            <a:r>
              <a:rPr lang="zh-CN" altLang="en-US" dirty="0"/>
              <a:t>匹配特征点筛选</a:t>
            </a:r>
            <a:endParaRPr lang="en-US" altLang="zh-CN" dirty="0"/>
          </a:p>
        </p:txBody>
      </p:sp>
      <p:sp>
        <p:nvSpPr>
          <p:cNvPr id="106502" name="Line 6"/>
          <p:cNvSpPr>
            <a:spLocks noChangeShapeType="1"/>
          </p:cNvSpPr>
          <p:nvPr/>
        </p:nvSpPr>
        <p:spPr bwMode="auto">
          <a:xfrm flipV="1">
            <a:off x="3289300" y="1828800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6503" name="Freeform 7"/>
          <p:cNvSpPr>
            <a:spLocks/>
          </p:cNvSpPr>
          <p:nvPr/>
        </p:nvSpPr>
        <p:spPr bwMode="auto">
          <a:xfrm>
            <a:off x="4232275" y="2046288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04" name="Line 8"/>
          <p:cNvSpPr>
            <a:spLocks noChangeShapeType="1"/>
          </p:cNvSpPr>
          <p:nvPr/>
        </p:nvSpPr>
        <p:spPr bwMode="auto">
          <a:xfrm flipV="1">
            <a:off x="3724275" y="3200400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6505" name="Freeform 9"/>
          <p:cNvSpPr>
            <a:spLocks/>
          </p:cNvSpPr>
          <p:nvPr/>
        </p:nvSpPr>
        <p:spPr bwMode="auto">
          <a:xfrm>
            <a:off x="4154488" y="2608263"/>
            <a:ext cx="1733550" cy="47625"/>
          </a:xfrm>
          <a:custGeom>
            <a:avLst/>
            <a:gdLst>
              <a:gd name="T0" fmla="*/ 0 w 1092"/>
              <a:gd name="T1" fmla="*/ 2147483647 h 30"/>
              <a:gd name="T2" fmla="*/ 2147483647 w 1092"/>
              <a:gd name="T3" fmla="*/ 0 h 30"/>
              <a:gd name="T4" fmla="*/ 0 60000 65536"/>
              <a:gd name="T5" fmla="*/ 0 60000 65536"/>
              <a:gd name="T6" fmla="*/ 0 w 1092"/>
              <a:gd name="T7" fmla="*/ 0 h 30"/>
              <a:gd name="T8" fmla="*/ 1092 w 1092"/>
              <a:gd name="T9" fmla="*/ 30 h 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2" h="30">
                <a:moveTo>
                  <a:pt x="0" y="30"/>
                </a:moveTo>
                <a:lnTo>
                  <a:pt x="1092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06" name="Line 10"/>
          <p:cNvSpPr>
            <a:spLocks noChangeShapeType="1"/>
          </p:cNvSpPr>
          <p:nvPr/>
        </p:nvSpPr>
        <p:spPr bwMode="auto">
          <a:xfrm flipV="1">
            <a:off x="3444875" y="2324100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6507" name="Freeform 11"/>
          <p:cNvSpPr>
            <a:spLocks/>
          </p:cNvSpPr>
          <p:nvPr/>
        </p:nvSpPr>
        <p:spPr bwMode="auto">
          <a:xfrm>
            <a:off x="4016375" y="2928938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08" name="Freeform 12"/>
          <p:cNvSpPr>
            <a:spLocks/>
          </p:cNvSpPr>
          <p:nvPr/>
        </p:nvSpPr>
        <p:spPr bwMode="auto">
          <a:xfrm>
            <a:off x="3048000" y="1958975"/>
            <a:ext cx="1785938" cy="174625"/>
          </a:xfrm>
          <a:custGeom>
            <a:avLst/>
            <a:gdLst>
              <a:gd name="T0" fmla="*/ 0 w 1125"/>
              <a:gd name="T1" fmla="*/ 2147483647 h 110"/>
              <a:gd name="T2" fmla="*/ 2147483647 w 1125"/>
              <a:gd name="T3" fmla="*/ 0 h 110"/>
              <a:gd name="T4" fmla="*/ 0 60000 65536"/>
              <a:gd name="T5" fmla="*/ 0 60000 65536"/>
              <a:gd name="T6" fmla="*/ 0 w 1125"/>
              <a:gd name="T7" fmla="*/ 0 h 110"/>
              <a:gd name="T8" fmla="*/ 1125 w 1125"/>
              <a:gd name="T9" fmla="*/ 110 h 1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5" h="110">
                <a:moveTo>
                  <a:pt x="0" y="110"/>
                </a:moveTo>
                <a:lnTo>
                  <a:pt x="112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09" name="Freeform 13"/>
          <p:cNvSpPr>
            <a:spLocks/>
          </p:cNvSpPr>
          <p:nvPr/>
        </p:nvSpPr>
        <p:spPr bwMode="auto">
          <a:xfrm>
            <a:off x="4168775" y="2714625"/>
            <a:ext cx="1709738" cy="55563"/>
          </a:xfrm>
          <a:custGeom>
            <a:avLst/>
            <a:gdLst>
              <a:gd name="T0" fmla="*/ 0 w 1077"/>
              <a:gd name="T1" fmla="*/ 2147483647 h 35"/>
              <a:gd name="T2" fmla="*/ 2147483647 w 1077"/>
              <a:gd name="T3" fmla="*/ 0 h 35"/>
              <a:gd name="T4" fmla="*/ 0 60000 65536"/>
              <a:gd name="T5" fmla="*/ 0 60000 65536"/>
              <a:gd name="T6" fmla="*/ 0 w 1077"/>
              <a:gd name="T7" fmla="*/ 0 h 35"/>
              <a:gd name="T8" fmla="*/ 1077 w 1077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7" h="35">
                <a:moveTo>
                  <a:pt x="0" y="35"/>
                </a:moveTo>
                <a:lnTo>
                  <a:pt x="107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0" name="Freeform 14"/>
          <p:cNvSpPr>
            <a:spLocks/>
          </p:cNvSpPr>
          <p:nvPr/>
        </p:nvSpPr>
        <p:spPr bwMode="auto">
          <a:xfrm>
            <a:off x="4419600" y="2157413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1" name="Line 15"/>
          <p:cNvSpPr>
            <a:spLocks noChangeShapeType="1"/>
          </p:cNvSpPr>
          <p:nvPr/>
        </p:nvSpPr>
        <p:spPr bwMode="auto">
          <a:xfrm flipV="1">
            <a:off x="3597275" y="2438400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6512" name="Freeform 16"/>
          <p:cNvSpPr>
            <a:spLocks/>
          </p:cNvSpPr>
          <p:nvPr/>
        </p:nvSpPr>
        <p:spPr bwMode="auto">
          <a:xfrm>
            <a:off x="4267200" y="2386013"/>
            <a:ext cx="1790700" cy="52387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3" name="Freeform 17"/>
          <p:cNvSpPr>
            <a:spLocks/>
          </p:cNvSpPr>
          <p:nvPr/>
        </p:nvSpPr>
        <p:spPr bwMode="auto">
          <a:xfrm>
            <a:off x="3886200" y="3402013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4" name="Freeform 18"/>
          <p:cNvSpPr>
            <a:spLocks/>
          </p:cNvSpPr>
          <p:nvPr/>
        </p:nvSpPr>
        <p:spPr bwMode="auto">
          <a:xfrm>
            <a:off x="3657600" y="3081338"/>
            <a:ext cx="1614488" cy="103187"/>
          </a:xfrm>
          <a:custGeom>
            <a:avLst/>
            <a:gdLst>
              <a:gd name="T0" fmla="*/ 0 w 1017"/>
              <a:gd name="T1" fmla="*/ 2147483647 h 65"/>
              <a:gd name="T2" fmla="*/ 2147483647 w 1017"/>
              <a:gd name="T3" fmla="*/ 0 h 65"/>
              <a:gd name="T4" fmla="*/ 0 60000 65536"/>
              <a:gd name="T5" fmla="*/ 0 60000 65536"/>
              <a:gd name="T6" fmla="*/ 0 w 1017"/>
              <a:gd name="T7" fmla="*/ 0 h 65"/>
              <a:gd name="T8" fmla="*/ 1017 w 1017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65">
                <a:moveTo>
                  <a:pt x="0" y="65"/>
                </a:moveTo>
                <a:lnTo>
                  <a:pt x="101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5" name="Freeform 19"/>
          <p:cNvSpPr>
            <a:spLocks/>
          </p:cNvSpPr>
          <p:nvPr/>
        </p:nvSpPr>
        <p:spPr bwMode="auto">
          <a:xfrm>
            <a:off x="3776663" y="2819400"/>
            <a:ext cx="1709737" cy="55563"/>
          </a:xfrm>
          <a:custGeom>
            <a:avLst/>
            <a:gdLst>
              <a:gd name="T0" fmla="*/ 0 w 1077"/>
              <a:gd name="T1" fmla="*/ 2147483647 h 35"/>
              <a:gd name="T2" fmla="*/ 2147483647 w 1077"/>
              <a:gd name="T3" fmla="*/ 0 h 35"/>
              <a:gd name="T4" fmla="*/ 0 60000 65536"/>
              <a:gd name="T5" fmla="*/ 0 60000 65536"/>
              <a:gd name="T6" fmla="*/ 0 w 1077"/>
              <a:gd name="T7" fmla="*/ 0 h 35"/>
              <a:gd name="T8" fmla="*/ 1077 w 1077"/>
              <a:gd name="T9" fmla="*/ 35 h 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7" h="35">
                <a:moveTo>
                  <a:pt x="0" y="35"/>
                </a:moveTo>
                <a:lnTo>
                  <a:pt x="1077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6" name="Freeform 20"/>
          <p:cNvSpPr>
            <a:spLocks/>
          </p:cNvSpPr>
          <p:nvPr/>
        </p:nvSpPr>
        <p:spPr bwMode="auto">
          <a:xfrm>
            <a:off x="3581400" y="2286000"/>
            <a:ext cx="1790700" cy="52388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7" name="Freeform 21"/>
          <p:cNvSpPr>
            <a:spLocks/>
          </p:cNvSpPr>
          <p:nvPr/>
        </p:nvSpPr>
        <p:spPr bwMode="auto">
          <a:xfrm>
            <a:off x="3429000" y="2133600"/>
            <a:ext cx="1790700" cy="52388"/>
          </a:xfrm>
          <a:custGeom>
            <a:avLst/>
            <a:gdLst>
              <a:gd name="T0" fmla="*/ 0 w 1128"/>
              <a:gd name="T1" fmla="*/ 2147483647 h 33"/>
              <a:gd name="T2" fmla="*/ 2147483647 w 1128"/>
              <a:gd name="T3" fmla="*/ 0 h 33"/>
              <a:gd name="T4" fmla="*/ 0 60000 65536"/>
              <a:gd name="T5" fmla="*/ 0 60000 65536"/>
              <a:gd name="T6" fmla="*/ 0 w 1128"/>
              <a:gd name="T7" fmla="*/ 0 h 33"/>
              <a:gd name="T8" fmla="*/ 1128 w 1128"/>
              <a:gd name="T9" fmla="*/ 33 h 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8" h="33">
                <a:moveTo>
                  <a:pt x="0" y="33"/>
                </a:moveTo>
                <a:lnTo>
                  <a:pt x="1128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8" name="Freeform 22"/>
          <p:cNvSpPr>
            <a:spLocks/>
          </p:cNvSpPr>
          <p:nvPr/>
        </p:nvSpPr>
        <p:spPr bwMode="auto">
          <a:xfrm>
            <a:off x="3733800" y="1958975"/>
            <a:ext cx="1785938" cy="174625"/>
          </a:xfrm>
          <a:custGeom>
            <a:avLst/>
            <a:gdLst>
              <a:gd name="T0" fmla="*/ 0 w 1125"/>
              <a:gd name="T1" fmla="*/ 2147483647 h 110"/>
              <a:gd name="T2" fmla="*/ 2147483647 w 1125"/>
              <a:gd name="T3" fmla="*/ 0 h 110"/>
              <a:gd name="T4" fmla="*/ 0 60000 65536"/>
              <a:gd name="T5" fmla="*/ 0 60000 65536"/>
              <a:gd name="T6" fmla="*/ 0 w 1125"/>
              <a:gd name="T7" fmla="*/ 0 h 110"/>
              <a:gd name="T8" fmla="*/ 1125 w 1125"/>
              <a:gd name="T9" fmla="*/ 110 h 1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25" h="110">
                <a:moveTo>
                  <a:pt x="0" y="110"/>
                </a:moveTo>
                <a:lnTo>
                  <a:pt x="1125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6519" name="TextBox 23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20740747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3891492"/>
            <a:ext cx="7772400" cy="2753254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•"/>
            </a:pPr>
            <a:r>
              <a:rPr lang="en-US" altLang="zh-CN" dirty="0"/>
              <a:t>1.</a:t>
            </a:r>
            <a:r>
              <a:rPr lang="zh-CN" altLang="en-US" dirty="0"/>
              <a:t>特征点提取</a:t>
            </a:r>
            <a:endParaRPr lang="en-US" altLang="zh-CN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2.</a:t>
            </a:r>
            <a:r>
              <a:rPr lang="zh-CN" altLang="en-US" dirty="0"/>
              <a:t>特征点匹配</a:t>
            </a:r>
            <a:endParaRPr lang="en-US" altLang="zh-CN" i="1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3.</a:t>
            </a:r>
            <a:r>
              <a:rPr lang="zh-CN" altLang="en-US" dirty="0"/>
              <a:t>匹配特征点筛选</a:t>
            </a:r>
            <a:endParaRPr lang="en-US" altLang="zh-CN" dirty="0"/>
          </a:p>
          <a:p>
            <a:pPr marL="457200" indent="-457200">
              <a:buFontTx/>
              <a:buChar char="•"/>
            </a:pPr>
            <a:r>
              <a:rPr lang="en-US" altLang="zh-CN" dirty="0"/>
              <a:t>4.</a:t>
            </a:r>
            <a:r>
              <a:rPr lang="zh-CN" altLang="en-US" dirty="0"/>
              <a:t>变换参数求解</a:t>
            </a:r>
            <a:endParaRPr lang="en-US" altLang="zh-CN" dirty="0"/>
          </a:p>
        </p:txBody>
      </p:sp>
      <p:pic>
        <p:nvPicPr>
          <p:cNvPr id="107524" name="Picture 23" descr="homograp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8313" y="963613"/>
            <a:ext cx="5691187" cy="284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25" name="TextBox 5"/>
          <p:cNvSpPr txBox="1">
            <a:spLocks noChangeArrowheads="1"/>
          </p:cNvSpPr>
          <p:nvPr/>
        </p:nvSpPr>
        <p:spPr bwMode="auto">
          <a:xfrm>
            <a:off x="7383463" y="6532563"/>
            <a:ext cx="324961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300">
                <a:solidFill>
                  <a:srgbClr val="000000"/>
                </a:solidFill>
              </a:rPr>
              <a:t>Source: L. Lazebnik</a:t>
            </a:r>
          </a:p>
        </p:txBody>
      </p:sp>
    </p:spTree>
    <p:extLst>
      <p:ext uri="{BB962C8B-B14F-4D97-AF65-F5344CB8AC3E}">
        <p14:creationId xmlns:p14="http://schemas.microsoft.com/office/powerpoint/2010/main" val="126068897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4.1.</a:t>
            </a:r>
            <a:r>
              <a:rPr lang="zh-CN" altLang="en-US" dirty="0"/>
              <a:t>局部特征与匹配</a:t>
            </a:r>
            <a:endParaRPr lang="en-US" altLang="zh-CN" dirty="0"/>
          </a:p>
          <a:p>
            <a:r>
              <a:rPr lang="en-US" altLang="zh-CN" dirty="0"/>
              <a:t>4.2.Harris</a:t>
            </a:r>
            <a:r>
              <a:rPr lang="zh-CN" altLang="en-US" dirty="0"/>
              <a:t>角点检测</a:t>
            </a:r>
            <a:endParaRPr lang="en-US" dirty="0"/>
          </a:p>
          <a:p>
            <a:r>
              <a:rPr lang="en-US" altLang="zh-CN" dirty="0"/>
              <a:t>4.3.</a:t>
            </a:r>
            <a:r>
              <a:rPr lang="zh-CN" altLang="en-US" dirty="0"/>
              <a:t>尺度空间</a:t>
            </a:r>
            <a:endParaRPr lang="en-US" altLang="zh-CN" dirty="0"/>
          </a:p>
          <a:p>
            <a:r>
              <a:rPr lang="en-US" altLang="zh-CN" dirty="0"/>
              <a:t>4.4.</a:t>
            </a:r>
            <a:r>
              <a:rPr lang="zh-CN" altLang="en-US" dirty="0"/>
              <a:t>不变特征提取</a:t>
            </a:r>
            <a:endParaRPr lang="en-US" altLang="zh-CN" dirty="0"/>
          </a:p>
          <a:p>
            <a:r>
              <a:rPr lang="en-US" altLang="zh-CN" dirty="0"/>
              <a:t>4.5.</a:t>
            </a:r>
            <a:r>
              <a:rPr lang="zh-CN" altLang="en-US" dirty="0"/>
              <a:t>局部区域描述</a:t>
            </a:r>
            <a:endParaRPr lang="en-US" altLang="zh-CN" dirty="0"/>
          </a:p>
          <a:p>
            <a:r>
              <a:rPr lang="en-US" altLang="zh-CN" dirty="0"/>
              <a:t>4.6.</a:t>
            </a:r>
            <a:r>
              <a:rPr lang="zh-CN" altLang="en-US" dirty="0"/>
              <a:t>特征匹配</a:t>
            </a:r>
            <a:endParaRPr lang="en-US" altLang="zh-CN" dirty="0"/>
          </a:p>
          <a:p>
            <a:r>
              <a:rPr lang="en-US" altLang="zh-CN" dirty="0">
                <a:solidFill>
                  <a:schemeClr val="accent2"/>
                </a:solidFill>
              </a:rPr>
              <a:t>4.7.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SIFT</a:t>
            </a:r>
            <a:r>
              <a:rPr lang="zh-CN" altLang="en-US" dirty="0">
                <a:solidFill>
                  <a:schemeClr val="accent2"/>
                </a:solidFill>
              </a:rPr>
              <a:t>算法</a:t>
            </a:r>
            <a:endParaRPr lang="en-US" altLang="zh-C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29074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9B327-D41C-3144-B73B-1BE6A3E7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2253CE-C791-0D4F-91E2-85DEC3A38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高斯金字塔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35BE6B-01DE-274E-9148-E1270F989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514600"/>
            <a:ext cx="41910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50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B3EB6-A4E1-4E4C-B7FA-F0C174F0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DE9527-0FE1-7D49-AF36-4366D16DA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DoG</a:t>
            </a:r>
            <a:r>
              <a:rPr kumimoji="1" lang="zh-CN" altLang="en-US" dirty="0"/>
              <a:t>算子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2E4569-B927-5F41-A72D-26E072B1A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65752"/>
            <a:ext cx="5670344" cy="408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269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A575A-26F4-AC47-951A-F9D04150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FAC1A0-682F-3E42-9CDB-AD04BF1E6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DoG</a:t>
            </a:r>
            <a:r>
              <a:rPr kumimoji="1" lang="zh-CN" altLang="en-US" dirty="0"/>
              <a:t>尺度空间极值点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23DDF6-EAF3-DC4D-97BE-67C95C15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738" y="2286000"/>
            <a:ext cx="4126523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512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20ED3-DE3F-B246-A163-E9DEFD073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0DF1BE-2E06-1649-BEEE-A90470627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kumimoji="1" lang="zh-CN" altLang="en-US" dirty="0"/>
              <a:t>极值点筛选</a:t>
            </a:r>
            <a:r>
              <a:rPr kumimoji="1" lang="en-US" altLang="zh-CN" dirty="0"/>
              <a:t>—</a:t>
            </a:r>
            <a:r>
              <a:rPr kumimoji="1" lang="zh-CN" altLang="en-US" dirty="0"/>
              <a:t>对比度</a:t>
            </a:r>
            <a:endParaRPr kumimoji="1" lang="en-US" altLang="zh-CN" dirty="0"/>
          </a:p>
          <a:p>
            <a:r>
              <a:rPr kumimoji="1" lang="zh-CN" altLang="en-US" dirty="0"/>
              <a:t>极值点筛选</a:t>
            </a:r>
            <a:r>
              <a:rPr kumimoji="1" lang="en-US" altLang="zh-CN" dirty="0"/>
              <a:t>—</a:t>
            </a:r>
            <a:r>
              <a:rPr kumimoji="1" lang="zh-CN" altLang="en-US" dirty="0"/>
              <a:t>边缘响应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1910F7C-BD31-E04D-B2DC-8ED8F9ED7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790937"/>
              </p:ext>
            </p:extLst>
          </p:nvPr>
        </p:nvGraphicFramePr>
        <p:xfrm>
          <a:off x="1219200" y="2275151"/>
          <a:ext cx="6002338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6" name="Bitmap Image" r:id="rId3" imgW="6001588" imgH="4486901" progId="PBrush">
                  <p:embed/>
                </p:oleObj>
              </mc:Choice>
              <mc:Fallback>
                <p:oleObj name="Bitmap Image" r:id="rId3" imgW="6001588" imgH="4486901" progId="PBrush">
                  <p:embed/>
                  <p:pic>
                    <p:nvPicPr>
                      <p:cNvPr id="184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75151"/>
                        <a:ext cx="6002338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696311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2F19A-8816-AF43-8026-FDD1B323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E05BEC-842D-A04D-B22E-662EC6DD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特征点尺度</a:t>
            </a:r>
            <a:endParaRPr kumimoji="1" lang="en-US" altLang="zh-CN" dirty="0"/>
          </a:p>
          <a:p>
            <a:r>
              <a:rPr kumimoji="1" lang="zh-CN" altLang="en-US" dirty="0"/>
              <a:t>特征点主方向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CF424F64-1A6C-7143-93E1-F197DA81CEBC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048000"/>
            <a:ext cx="5275263" cy="2057400"/>
            <a:chOff x="1381" y="2880"/>
            <a:chExt cx="3323" cy="1296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BE4CC340-7CC0-3D45-9989-D44A7F372E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1" y="2880"/>
              <a:ext cx="3323" cy="1296"/>
              <a:chOff x="1056" y="2544"/>
              <a:chExt cx="4094" cy="1632"/>
            </a:xfrm>
          </p:grpSpPr>
          <p:pic>
            <p:nvPicPr>
              <p:cNvPr id="7" name="Picture 7" descr="descrip">
                <a:extLst>
                  <a:ext uri="{FF2B5EF4-FFF2-40B4-BE49-F238E27FC236}">
                    <a16:creationId xmlns:a16="http://schemas.microsoft.com/office/drawing/2014/main" id="{D8B03B38-F236-2A42-90E3-86DC5262D8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r="56557" b="8105"/>
              <a:stretch>
                <a:fillRect/>
              </a:stretch>
            </p:blipFill>
            <p:spPr bwMode="auto">
              <a:xfrm>
                <a:off x="1056" y="2544"/>
                <a:ext cx="1505" cy="15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8" name="Group 8">
                <a:extLst>
                  <a:ext uri="{FF2B5EF4-FFF2-40B4-BE49-F238E27FC236}">
                    <a16:creationId xmlns:a16="http://schemas.microsoft.com/office/drawing/2014/main" id="{6DDE3415-2B73-6141-A782-53E5F95DE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5" y="2782"/>
                <a:ext cx="2425" cy="1394"/>
                <a:chOff x="2725" y="2782"/>
                <a:chExt cx="2425" cy="1394"/>
              </a:xfrm>
            </p:grpSpPr>
            <p:grpSp>
              <p:nvGrpSpPr>
                <p:cNvPr id="9" name="Group 9">
                  <a:extLst>
                    <a:ext uri="{FF2B5EF4-FFF2-40B4-BE49-F238E27FC236}">
                      <a16:creationId xmlns:a16="http://schemas.microsoft.com/office/drawing/2014/main" id="{ABF34D82-152F-014F-864F-1D97A6237D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55" y="2782"/>
                  <a:ext cx="1695" cy="1394"/>
                  <a:chOff x="4080" y="3573"/>
                  <a:chExt cx="1075" cy="699"/>
                </a:xfrm>
              </p:grpSpPr>
              <p:sp>
                <p:nvSpPr>
                  <p:cNvPr id="11" name="Freeform 10">
                    <a:extLst>
                      <a:ext uri="{FF2B5EF4-FFF2-40B4-BE49-F238E27FC236}">
                        <a16:creationId xmlns:a16="http://schemas.microsoft.com/office/drawing/2014/main" id="{3075D371-892F-534A-9AC5-02A5C23E1C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9" y="3573"/>
                    <a:ext cx="958" cy="11"/>
                  </a:xfrm>
                  <a:custGeom>
                    <a:avLst/>
                    <a:gdLst>
                      <a:gd name="T0" fmla="*/ 8621 w 8621"/>
                      <a:gd name="T1" fmla="*/ 51 h 101"/>
                      <a:gd name="T2" fmla="*/ 8576 w 8621"/>
                      <a:gd name="T3" fmla="*/ 0 h 101"/>
                      <a:gd name="T4" fmla="*/ 0 w 8621"/>
                      <a:gd name="T5" fmla="*/ 0 h 101"/>
                      <a:gd name="T6" fmla="*/ 0 w 8621"/>
                      <a:gd name="T7" fmla="*/ 101 h 101"/>
                      <a:gd name="T8" fmla="*/ 8576 w 8621"/>
                      <a:gd name="T9" fmla="*/ 101 h 101"/>
                      <a:gd name="T10" fmla="*/ 8530 w 8621"/>
                      <a:gd name="T11" fmla="*/ 51 h 101"/>
                      <a:gd name="T12" fmla="*/ 8621 w 8621"/>
                      <a:gd name="T13" fmla="*/ 51 h 101"/>
                      <a:gd name="T14" fmla="*/ 8621 w 8621"/>
                      <a:gd name="T15" fmla="*/ 0 h 101"/>
                      <a:gd name="T16" fmla="*/ 8576 w 8621"/>
                      <a:gd name="T17" fmla="*/ 0 h 101"/>
                      <a:gd name="T18" fmla="*/ 8621 w 8621"/>
                      <a:gd name="T19" fmla="*/ 51 h 1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21"/>
                      <a:gd name="T31" fmla="*/ 0 h 101"/>
                      <a:gd name="T32" fmla="*/ 8621 w 8621"/>
                      <a:gd name="T33" fmla="*/ 101 h 1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21" h="101">
                        <a:moveTo>
                          <a:pt x="8621" y="51"/>
                        </a:moveTo>
                        <a:lnTo>
                          <a:pt x="8576" y="0"/>
                        </a:lnTo>
                        <a:lnTo>
                          <a:pt x="0" y="0"/>
                        </a:lnTo>
                        <a:lnTo>
                          <a:pt x="0" y="101"/>
                        </a:lnTo>
                        <a:lnTo>
                          <a:pt x="8576" y="101"/>
                        </a:lnTo>
                        <a:lnTo>
                          <a:pt x="8530" y="51"/>
                        </a:lnTo>
                        <a:lnTo>
                          <a:pt x="8621" y="51"/>
                        </a:lnTo>
                        <a:lnTo>
                          <a:pt x="8621" y="0"/>
                        </a:lnTo>
                        <a:lnTo>
                          <a:pt x="8576" y="0"/>
                        </a:lnTo>
                        <a:lnTo>
                          <a:pt x="8621" y="51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2" name="Freeform 11">
                    <a:extLst>
                      <a:ext uri="{FF2B5EF4-FFF2-40B4-BE49-F238E27FC236}">
                        <a16:creationId xmlns:a16="http://schemas.microsoft.com/office/drawing/2014/main" id="{2BFC4185-A8D7-B443-8965-A6892B87A6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76" y="3579"/>
                    <a:ext cx="11" cy="545"/>
                  </a:xfrm>
                  <a:custGeom>
                    <a:avLst/>
                    <a:gdLst>
                      <a:gd name="T0" fmla="*/ 46 w 91"/>
                      <a:gd name="T1" fmla="*/ 5457 h 5457"/>
                      <a:gd name="T2" fmla="*/ 91 w 91"/>
                      <a:gd name="T3" fmla="*/ 5407 h 5457"/>
                      <a:gd name="T4" fmla="*/ 91 w 91"/>
                      <a:gd name="T5" fmla="*/ 0 h 5457"/>
                      <a:gd name="T6" fmla="*/ 0 w 91"/>
                      <a:gd name="T7" fmla="*/ 0 h 5457"/>
                      <a:gd name="T8" fmla="*/ 0 w 91"/>
                      <a:gd name="T9" fmla="*/ 5407 h 5457"/>
                      <a:gd name="T10" fmla="*/ 46 w 91"/>
                      <a:gd name="T11" fmla="*/ 5357 h 5457"/>
                      <a:gd name="T12" fmla="*/ 46 w 91"/>
                      <a:gd name="T13" fmla="*/ 5457 h 5457"/>
                      <a:gd name="T14" fmla="*/ 91 w 91"/>
                      <a:gd name="T15" fmla="*/ 5457 h 5457"/>
                      <a:gd name="T16" fmla="*/ 91 w 91"/>
                      <a:gd name="T17" fmla="*/ 5407 h 5457"/>
                      <a:gd name="T18" fmla="*/ 46 w 91"/>
                      <a:gd name="T19" fmla="*/ 5457 h 5457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457"/>
                      <a:gd name="T32" fmla="*/ 91 w 91"/>
                      <a:gd name="T33" fmla="*/ 5457 h 5457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457">
                        <a:moveTo>
                          <a:pt x="46" y="5457"/>
                        </a:moveTo>
                        <a:lnTo>
                          <a:pt x="91" y="5407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5407"/>
                        </a:lnTo>
                        <a:lnTo>
                          <a:pt x="46" y="5357"/>
                        </a:lnTo>
                        <a:lnTo>
                          <a:pt x="46" y="5457"/>
                        </a:lnTo>
                        <a:lnTo>
                          <a:pt x="91" y="5457"/>
                        </a:lnTo>
                        <a:lnTo>
                          <a:pt x="91" y="5407"/>
                        </a:lnTo>
                        <a:lnTo>
                          <a:pt x="46" y="5457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3" name="Freeform 12">
                    <a:extLst>
                      <a:ext uri="{FF2B5EF4-FFF2-40B4-BE49-F238E27FC236}">
                        <a16:creationId xmlns:a16="http://schemas.microsoft.com/office/drawing/2014/main" id="{FC0A79E3-0890-9A46-BB5A-D2D1672152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4" y="4114"/>
                    <a:ext cx="958" cy="10"/>
                  </a:xfrm>
                  <a:custGeom>
                    <a:avLst/>
                    <a:gdLst>
                      <a:gd name="T0" fmla="*/ 0 w 8622"/>
                      <a:gd name="T1" fmla="*/ 50 h 100"/>
                      <a:gd name="T2" fmla="*/ 46 w 8622"/>
                      <a:gd name="T3" fmla="*/ 100 h 100"/>
                      <a:gd name="T4" fmla="*/ 8622 w 8622"/>
                      <a:gd name="T5" fmla="*/ 100 h 100"/>
                      <a:gd name="T6" fmla="*/ 8622 w 8622"/>
                      <a:gd name="T7" fmla="*/ 0 h 100"/>
                      <a:gd name="T8" fmla="*/ 46 w 8622"/>
                      <a:gd name="T9" fmla="*/ 0 h 100"/>
                      <a:gd name="T10" fmla="*/ 91 w 8622"/>
                      <a:gd name="T11" fmla="*/ 50 h 100"/>
                      <a:gd name="T12" fmla="*/ 0 w 8622"/>
                      <a:gd name="T13" fmla="*/ 50 h 100"/>
                      <a:gd name="T14" fmla="*/ 0 w 8622"/>
                      <a:gd name="T15" fmla="*/ 100 h 100"/>
                      <a:gd name="T16" fmla="*/ 46 w 8622"/>
                      <a:gd name="T17" fmla="*/ 100 h 100"/>
                      <a:gd name="T18" fmla="*/ 0 w 8622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8622"/>
                      <a:gd name="T31" fmla="*/ 0 h 100"/>
                      <a:gd name="T32" fmla="*/ 8622 w 8622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8622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8622" y="100"/>
                        </a:lnTo>
                        <a:lnTo>
                          <a:pt x="8622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4" name="Freeform 13">
                    <a:extLst>
                      <a:ext uri="{FF2B5EF4-FFF2-40B4-BE49-F238E27FC236}">
                        <a16:creationId xmlns:a16="http://schemas.microsoft.com/office/drawing/2014/main" id="{2C613C17-DEBA-A543-B66E-0738F8B0D0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4" y="3573"/>
                    <a:ext cx="10" cy="546"/>
                  </a:xfrm>
                  <a:custGeom>
                    <a:avLst/>
                    <a:gdLst>
                      <a:gd name="T0" fmla="*/ 46 w 91"/>
                      <a:gd name="T1" fmla="*/ 0 h 5458"/>
                      <a:gd name="T2" fmla="*/ 0 w 91"/>
                      <a:gd name="T3" fmla="*/ 51 h 5458"/>
                      <a:gd name="T4" fmla="*/ 0 w 91"/>
                      <a:gd name="T5" fmla="*/ 5458 h 5458"/>
                      <a:gd name="T6" fmla="*/ 91 w 91"/>
                      <a:gd name="T7" fmla="*/ 5458 h 5458"/>
                      <a:gd name="T8" fmla="*/ 91 w 91"/>
                      <a:gd name="T9" fmla="*/ 51 h 5458"/>
                      <a:gd name="T10" fmla="*/ 46 w 91"/>
                      <a:gd name="T11" fmla="*/ 101 h 5458"/>
                      <a:gd name="T12" fmla="*/ 46 w 91"/>
                      <a:gd name="T13" fmla="*/ 0 h 5458"/>
                      <a:gd name="T14" fmla="*/ 0 w 91"/>
                      <a:gd name="T15" fmla="*/ 0 h 5458"/>
                      <a:gd name="T16" fmla="*/ 0 w 91"/>
                      <a:gd name="T17" fmla="*/ 51 h 5458"/>
                      <a:gd name="T18" fmla="*/ 46 w 91"/>
                      <a:gd name="T19" fmla="*/ 0 h 545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458"/>
                      <a:gd name="T32" fmla="*/ 91 w 91"/>
                      <a:gd name="T33" fmla="*/ 5458 h 5458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458">
                        <a:moveTo>
                          <a:pt x="46" y="0"/>
                        </a:moveTo>
                        <a:lnTo>
                          <a:pt x="0" y="51"/>
                        </a:lnTo>
                        <a:lnTo>
                          <a:pt x="0" y="5458"/>
                        </a:lnTo>
                        <a:lnTo>
                          <a:pt x="91" y="5458"/>
                        </a:lnTo>
                        <a:lnTo>
                          <a:pt x="91" y="51"/>
                        </a:lnTo>
                        <a:lnTo>
                          <a:pt x="46" y="101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1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F9C9C0B3-80C8-CF48-91B5-610185170F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29" y="3984"/>
                    <a:ext cx="136" cy="13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" name="Freeform 15">
                    <a:extLst>
                      <a:ext uri="{FF2B5EF4-FFF2-40B4-BE49-F238E27FC236}">
                        <a16:creationId xmlns:a16="http://schemas.microsoft.com/office/drawing/2014/main" id="{5350776C-8CF8-0E40-A19F-1871CD88BF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9" y="3979"/>
                    <a:ext cx="141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80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7" name="Freeform 16">
                    <a:extLst>
                      <a:ext uri="{FF2B5EF4-FFF2-40B4-BE49-F238E27FC236}">
                        <a16:creationId xmlns:a16="http://schemas.microsoft.com/office/drawing/2014/main" id="{0E1C6BB7-1E53-DE45-9AB8-C551CF165B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3984"/>
                    <a:ext cx="10" cy="140"/>
                  </a:xfrm>
                  <a:custGeom>
                    <a:avLst/>
                    <a:gdLst>
                      <a:gd name="T0" fmla="*/ 45 w 90"/>
                      <a:gd name="T1" fmla="*/ 1402 h 1402"/>
                      <a:gd name="T2" fmla="*/ 90 w 90"/>
                      <a:gd name="T3" fmla="*/ 1352 h 1402"/>
                      <a:gd name="T4" fmla="*/ 90 w 90"/>
                      <a:gd name="T5" fmla="*/ 0 h 1402"/>
                      <a:gd name="T6" fmla="*/ 0 w 90"/>
                      <a:gd name="T7" fmla="*/ 0 h 1402"/>
                      <a:gd name="T8" fmla="*/ 0 w 90"/>
                      <a:gd name="T9" fmla="*/ 1352 h 1402"/>
                      <a:gd name="T10" fmla="*/ 45 w 90"/>
                      <a:gd name="T11" fmla="*/ 1302 h 1402"/>
                      <a:gd name="T12" fmla="*/ 45 w 90"/>
                      <a:gd name="T13" fmla="*/ 1402 h 1402"/>
                      <a:gd name="T14" fmla="*/ 90 w 90"/>
                      <a:gd name="T15" fmla="*/ 1402 h 1402"/>
                      <a:gd name="T16" fmla="*/ 90 w 90"/>
                      <a:gd name="T17" fmla="*/ 1352 h 1402"/>
                      <a:gd name="T18" fmla="*/ 45 w 90"/>
                      <a:gd name="T19" fmla="*/ 1402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1402"/>
                      <a:gd name="T32" fmla="*/ 90 w 90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1402">
                        <a:moveTo>
                          <a:pt x="45" y="1402"/>
                        </a:moveTo>
                        <a:lnTo>
                          <a:pt x="90" y="1352"/>
                        </a:lnTo>
                        <a:lnTo>
                          <a:pt x="90" y="0"/>
                        </a:lnTo>
                        <a:lnTo>
                          <a:pt x="0" y="0"/>
                        </a:lnTo>
                        <a:lnTo>
                          <a:pt x="0" y="1352"/>
                        </a:lnTo>
                        <a:lnTo>
                          <a:pt x="45" y="1302"/>
                        </a:lnTo>
                        <a:lnTo>
                          <a:pt x="45" y="1402"/>
                        </a:lnTo>
                        <a:lnTo>
                          <a:pt x="90" y="1402"/>
                        </a:lnTo>
                        <a:lnTo>
                          <a:pt x="90" y="1352"/>
                        </a:lnTo>
                        <a:lnTo>
                          <a:pt x="45" y="140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3335089E-AC47-3A43-AECD-FA9201C54B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4" y="4114"/>
                    <a:ext cx="141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9" name="Freeform 18">
                    <a:extLst>
                      <a:ext uri="{FF2B5EF4-FFF2-40B4-BE49-F238E27FC236}">
                        <a16:creationId xmlns:a16="http://schemas.microsoft.com/office/drawing/2014/main" id="{DCA12EFF-286F-AF4A-B61E-62BF015465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24" y="3979"/>
                    <a:ext cx="10" cy="140"/>
                  </a:xfrm>
                  <a:custGeom>
                    <a:avLst/>
                    <a:gdLst>
                      <a:gd name="T0" fmla="*/ 46 w 91"/>
                      <a:gd name="T1" fmla="*/ 0 h 1402"/>
                      <a:gd name="T2" fmla="*/ 0 w 91"/>
                      <a:gd name="T3" fmla="*/ 50 h 1402"/>
                      <a:gd name="T4" fmla="*/ 0 w 91"/>
                      <a:gd name="T5" fmla="*/ 1402 h 1402"/>
                      <a:gd name="T6" fmla="*/ 91 w 91"/>
                      <a:gd name="T7" fmla="*/ 1402 h 1402"/>
                      <a:gd name="T8" fmla="*/ 91 w 91"/>
                      <a:gd name="T9" fmla="*/ 50 h 1402"/>
                      <a:gd name="T10" fmla="*/ 46 w 91"/>
                      <a:gd name="T11" fmla="*/ 100 h 1402"/>
                      <a:gd name="T12" fmla="*/ 46 w 91"/>
                      <a:gd name="T13" fmla="*/ 0 h 1402"/>
                      <a:gd name="T14" fmla="*/ 0 w 91"/>
                      <a:gd name="T15" fmla="*/ 0 h 1402"/>
                      <a:gd name="T16" fmla="*/ 0 w 91"/>
                      <a:gd name="T17" fmla="*/ 50 h 1402"/>
                      <a:gd name="T18" fmla="*/ 46 w 91"/>
                      <a:gd name="T19" fmla="*/ 0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402"/>
                      <a:gd name="T32" fmla="*/ 91 w 91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40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1402"/>
                        </a:lnTo>
                        <a:lnTo>
                          <a:pt x="91" y="140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A9A7CE8-6F05-4B47-A406-502D5AF865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65" y="3714"/>
                    <a:ext cx="136" cy="40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1" name="Freeform 20">
                    <a:extLst>
                      <a:ext uri="{FF2B5EF4-FFF2-40B4-BE49-F238E27FC236}">
                        <a16:creationId xmlns:a16="http://schemas.microsoft.com/office/drawing/2014/main" id="{CFC0C12E-2254-1E46-9F57-5D9197F22F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5" y="3709"/>
                    <a:ext cx="141" cy="10"/>
                  </a:xfrm>
                  <a:custGeom>
                    <a:avLst/>
                    <a:gdLst>
                      <a:gd name="T0" fmla="*/ 1271 w 1271"/>
                      <a:gd name="T1" fmla="*/ 50 h 100"/>
                      <a:gd name="T2" fmla="*/ 1225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5 w 1271"/>
                      <a:gd name="T9" fmla="*/ 100 h 100"/>
                      <a:gd name="T10" fmla="*/ 1179 w 1271"/>
                      <a:gd name="T11" fmla="*/ 50 h 100"/>
                      <a:gd name="T12" fmla="*/ 1271 w 1271"/>
                      <a:gd name="T13" fmla="*/ 50 h 100"/>
                      <a:gd name="T14" fmla="*/ 1271 w 1271"/>
                      <a:gd name="T15" fmla="*/ 0 h 100"/>
                      <a:gd name="T16" fmla="*/ 1225 w 1271"/>
                      <a:gd name="T17" fmla="*/ 0 h 100"/>
                      <a:gd name="T18" fmla="*/ 127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271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79" y="50"/>
                        </a:lnTo>
                        <a:lnTo>
                          <a:pt x="1271" y="50"/>
                        </a:lnTo>
                        <a:lnTo>
                          <a:pt x="1271" y="0"/>
                        </a:lnTo>
                        <a:lnTo>
                          <a:pt x="1225" y="0"/>
                        </a:lnTo>
                        <a:lnTo>
                          <a:pt x="127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2" name="Freeform 21">
                    <a:extLst>
                      <a:ext uri="{FF2B5EF4-FFF2-40B4-BE49-F238E27FC236}">
                        <a16:creationId xmlns:a16="http://schemas.microsoft.com/office/drawing/2014/main" id="{58F0A209-1558-6447-8120-BCF8F9656B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6" y="3714"/>
                    <a:ext cx="10" cy="410"/>
                  </a:xfrm>
                  <a:custGeom>
                    <a:avLst/>
                    <a:gdLst>
                      <a:gd name="T0" fmla="*/ 46 w 92"/>
                      <a:gd name="T1" fmla="*/ 4106 h 4106"/>
                      <a:gd name="T2" fmla="*/ 92 w 92"/>
                      <a:gd name="T3" fmla="*/ 4056 h 4106"/>
                      <a:gd name="T4" fmla="*/ 92 w 92"/>
                      <a:gd name="T5" fmla="*/ 0 h 4106"/>
                      <a:gd name="T6" fmla="*/ 0 w 92"/>
                      <a:gd name="T7" fmla="*/ 0 h 4106"/>
                      <a:gd name="T8" fmla="*/ 0 w 92"/>
                      <a:gd name="T9" fmla="*/ 4056 h 4106"/>
                      <a:gd name="T10" fmla="*/ 46 w 92"/>
                      <a:gd name="T11" fmla="*/ 4006 h 4106"/>
                      <a:gd name="T12" fmla="*/ 46 w 92"/>
                      <a:gd name="T13" fmla="*/ 4106 h 4106"/>
                      <a:gd name="T14" fmla="*/ 92 w 92"/>
                      <a:gd name="T15" fmla="*/ 4106 h 4106"/>
                      <a:gd name="T16" fmla="*/ 92 w 92"/>
                      <a:gd name="T17" fmla="*/ 4056 h 4106"/>
                      <a:gd name="T18" fmla="*/ 46 w 92"/>
                      <a:gd name="T19" fmla="*/ 4106 h 410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2"/>
                      <a:gd name="T31" fmla="*/ 0 h 4106"/>
                      <a:gd name="T32" fmla="*/ 92 w 92"/>
                      <a:gd name="T33" fmla="*/ 4106 h 410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2" h="4106">
                        <a:moveTo>
                          <a:pt x="46" y="4106"/>
                        </a:moveTo>
                        <a:lnTo>
                          <a:pt x="92" y="4056"/>
                        </a:lnTo>
                        <a:lnTo>
                          <a:pt x="92" y="0"/>
                        </a:lnTo>
                        <a:lnTo>
                          <a:pt x="0" y="0"/>
                        </a:lnTo>
                        <a:lnTo>
                          <a:pt x="0" y="4056"/>
                        </a:lnTo>
                        <a:lnTo>
                          <a:pt x="46" y="4006"/>
                        </a:lnTo>
                        <a:lnTo>
                          <a:pt x="46" y="4106"/>
                        </a:lnTo>
                        <a:lnTo>
                          <a:pt x="92" y="4106"/>
                        </a:lnTo>
                        <a:lnTo>
                          <a:pt x="92" y="4056"/>
                        </a:lnTo>
                        <a:lnTo>
                          <a:pt x="46" y="4106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3" name="Freeform 22">
                    <a:extLst>
                      <a:ext uri="{FF2B5EF4-FFF2-40B4-BE49-F238E27FC236}">
                        <a16:creationId xmlns:a16="http://schemas.microsoft.com/office/drawing/2014/main" id="{C4367B21-BF62-5A48-B33E-BAA29BEB86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4114"/>
                    <a:ext cx="141" cy="10"/>
                  </a:xfrm>
                  <a:custGeom>
                    <a:avLst/>
                    <a:gdLst>
                      <a:gd name="T0" fmla="*/ 0 w 1270"/>
                      <a:gd name="T1" fmla="*/ 50 h 100"/>
                      <a:gd name="T2" fmla="*/ 45 w 1270"/>
                      <a:gd name="T3" fmla="*/ 100 h 100"/>
                      <a:gd name="T4" fmla="*/ 1270 w 1270"/>
                      <a:gd name="T5" fmla="*/ 100 h 100"/>
                      <a:gd name="T6" fmla="*/ 1270 w 1270"/>
                      <a:gd name="T7" fmla="*/ 0 h 100"/>
                      <a:gd name="T8" fmla="*/ 45 w 1270"/>
                      <a:gd name="T9" fmla="*/ 0 h 100"/>
                      <a:gd name="T10" fmla="*/ 90 w 1270"/>
                      <a:gd name="T11" fmla="*/ 50 h 100"/>
                      <a:gd name="T12" fmla="*/ 0 w 1270"/>
                      <a:gd name="T13" fmla="*/ 50 h 100"/>
                      <a:gd name="T14" fmla="*/ 0 w 1270"/>
                      <a:gd name="T15" fmla="*/ 100 h 100"/>
                      <a:gd name="T16" fmla="*/ 45 w 1270"/>
                      <a:gd name="T17" fmla="*/ 100 h 100"/>
                      <a:gd name="T18" fmla="*/ 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0" y="50"/>
                        </a:moveTo>
                        <a:lnTo>
                          <a:pt x="45" y="100"/>
                        </a:lnTo>
                        <a:lnTo>
                          <a:pt x="1270" y="100"/>
                        </a:lnTo>
                        <a:lnTo>
                          <a:pt x="1270" y="0"/>
                        </a:lnTo>
                        <a:lnTo>
                          <a:pt x="45" y="0"/>
                        </a:lnTo>
                        <a:lnTo>
                          <a:pt x="90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5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4" name="Freeform 23">
                    <a:extLst>
                      <a:ext uri="{FF2B5EF4-FFF2-40B4-BE49-F238E27FC236}">
                        <a16:creationId xmlns:a16="http://schemas.microsoft.com/office/drawing/2014/main" id="{3E18045F-A648-2647-B0ED-EA3FC84288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0" y="3709"/>
                    <a:ext cx="10" cy="410"/>
                  </a:xfrm>
                  <a:custGeom>
                    <a:avLst/>
                    <a:gdLst>
                      <a:gd name="T0" fmla="*/ 45 w 90"/>
                      <a:gd name="T1" fmla="*/ 0 h 4106"/>
                      <a:gd name="T2" fmla="*/ 0 w 90"/>
                      <a:gd name="T3" fmla="*/ 50 h 4106"/>
                      <a:gd name="T4" fmla="*/ 0 w 90"/>
                      <a:gd name="T5" fmla="*/ 4106 h 4106"/>
                      <a:gd name="T6" fmla="*/ 90 w 90"/>
                      <a:gd name="T7" fmla="*/ 4106 h 4106"/>
                      <a:gd name="T8" fmla="*/ 90 w 90"/>
                      <a:gd name="T9" fmla="*/ 50 h 4106"/>
                      <a:gd name="T10" fmla="*/ 45 w 90"/>
                      <a:gd name="T11" fmla="*/ 100 h 4106"/>
                      <a:gd name="T12" fmla="*/ 45 w 90"/>
                      <a:gd name="T13" fmla="*/ 0 h 4106"/>
                      <a:gd name="T14" fmla="*/ 0 w 90"/>
                      <a:gd name="T15" fmla="*/ 0 h 4106"/>
                      <a:gd name="T16" fmla="*/ 0 w 90"/>
                      <a:gd name="T17" fmla="*/ 50 h 4106"/>
                      <a:gd name="T18" fmla="*/ 45 w 90"/>
                      <a:gd name="T19" fmla="*/ 0 h 410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4106"/>
                      <a:gd name="T32" fmla="*/ 90 w 90"/>
                      <a:gd name="T33" fmla="*/ 4106 h 410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4106">
                        <a:moveTo>
                          <a:pt x="45" y="0"/>
                        </a:moveTo>
                        <a:lnTo>
                          <a:pt x="0" y="50"/>
                        </a:lnTo>
                        <a:lnTo>
                          <a:pt x="0" y="4106"/>
                        </a:lnTo>
                        <a:lnTo>
                          <a:pt x="90" y="4106"/>
                        </a:lnTo>
                        <a:lnTo>
                          <a:pt x="90" y="50"/>
                        </a:lnTo>
                        <a:lnTo>
                          <a:pt x="45" y="10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E91879B8-BEDA-004F-94C6-496EA70B67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3849"/>
                    <a:ext cx="136" cy="27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" name="Freeform 25">
                    <a:extLst>
                      <a:ext uri="{FF2B5EF4-FFF2-40B4-BE49-F238E27FC236}">
                        <a16:creationId xmlns:a16="http://schemas.microsoft.com/office/drawing/2014/main" id="{7EEA226A-EC5C-E248-A594-7BED78DE22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6" y="3844"/>
                    <a:ext cx="141" cy="10"/>
                  </a:xfrm>
                  <a:custGeom>
                    <a:avLst/>
                    <a:gdLst>
                      <a:gd name="T0" fmla="*/ 92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0 w 1271"/>
                      <a:gd name="T11" fmla="*/ 50 h 100"/>
                      <a:gd name="T12" fmla="*/ 46 w 1271"/>
                      <a:gd name="T13" fmla="*/ 0 h 100"/>
                      <a:gd name="T14" fmla="*/ 0 w 1271"/>
                      <a:gd name="T15" fmla="*/ 0 h 100"/>
                      <a:gd name="T16" fmla="*/ 0 w 1271"/>
                      <a:gd name="T17" fmla="*/ 50 h 100"/>
                      <a:gd name="T18" fmla="*/ 92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92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92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7" name="Freeform 26">
                    <a:extLst>
                      <a:ext uri="{FF2B5EF4-FFF2-40B4-BE49-F238E27FC236}">
                        <a16:creationId xmlns:a16="http://schemas.microsoft.com/office/drawing/2014/main" id="{B0DA75AC-5B3E-6A46-BD34-A11FB24D86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6" y="3849"/>
                    <a:ext cx="10" cy="275"/>
                  </a:xfrm>
                  <a:custGeom>
                    <a:avLst/>
                    <a:gdLst>
                      <a:gd name="T0" fmla="*/ 46 w 92"/>
                      <a:gd name="T1" fmla="*/ 2654 h 2754"/>
                      <a:gd name="T2" fmla="*/ 92 w 92"/>
                      <a:gd name="T3" fmla="*/ 2704 h 2754"/>
                      <a:gd name="T4" fmla="*/ 92 w 92"/>
                      <a:gd name="T5" fmla="*/ 0 h 2754"/>
                      <a:gd name="T6" fmla="*/ 0 w 92"/>
                      <a:gd name="T7" fmla="*/ 0 h 2754"/>
                      <a:gd name="T8" fmla="*/ 0 w 92"/>
                      <a:gd name="T9" fmla="*/ 2704 h 2754"/>
                      <a:gd name="T10" fmla="*/ 46 w 92"/>
                      <a:gd name="T11" fmla="*/ 2754 h 2754"/>
                      <a:gd name="T12" fmla="*/ 0 w 92"/>
                      <a:gd name="T13" fmla="*/ 2704 h 2754"/>
                      <a:gd name="T14" fmla="*/ 0 w 92"/>
                      <a:gd name="T15" fmla="*/ 2754 h 2754"/>
                      <a:gd name="T16" fmla="*/ 46 w 92"/>
                      <a:gd name="T17" fmla="*/ 2754 h 2754"/>
                      <a:gd name="T18" fmla="*/ 46 w 92"/>
                      <a:gd name="T19" fmla="*/ 2654 h 275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2"/>
                      <a:gd name="T31" fmla="*/ 0 h 2754"/>
                      <a:gd name="T32" fmla="*/ 92 w 92"/>
                      <a:gd name="T33" fmla="*/ 2754 h 275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2" h="2754">
                        <a:moveTo>
                          <a:pt x="46" y="2654"/>
                        </a:moveTo>
                        <a:lnTo>
                          <a:pt x="92" y="2704"/>
                        </a:lnTo>
                        <a:lnTo>
                          <a:pt x="92" y="0"/>
                        </a:lnTo>
                        <a:lnTo>
                          <a:pt x="0" y="0"/>
                        </a:lnTo>
                        <a:lnTo>
                          <a:pt x="0" y="2704"/>
                        </a:lnTo>
                        <a:lnTo>
                          <a:pt x="46" y="2754"/>
                        </a:lnTo>
                        <a:lnTo>
                          <a:pt x="0" y="2704"/>
                        </a:lnTo>
                        <a:lnTo>
                          <a:pt x="0" y="2754"/>
                        </a:lnTo>
                        <a:lnTo>
                          <a:pt x="46" y="2754"/>
                        </a:lnTo>
                        <a:lnTo>
                          <a:pt x="46" y="2654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8" name="Freeform 27">
                    <a:extLst>
                      <a:ext uri="{FF2B5EF4-FFF2-40B4-BE49-F238E27FC236}">
                        <a16:creationId xmlns:a16="http://schemas.microsoft.com/office/drawing/2014/main" id="{E4CBC3F0-8733-274E-BBB4-71A371E3CB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01" y="4114"/>
                    <a:ext cx="141" cy="10"/>
                  </a:xfrm>
                  <a:custGeom>
                    <a:avLst/>
                    <a:gdLst>
                      <a:gd name="T0" fmla="*/ 1179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270 w 1270"/>
                      <a:gd name="T11" fmla="*/ 50 h 100"/>
                      <a:gd name="T12" fmla="*/ 1225 w 1270"/>
                      <a:gd name="T13" fmla="*/ 100 h 100"/>
                      <a:gd name="T14" fmla="*/ 1270 w 1270"/>
                      <a:gd name="T15" fmla="*/ 100 h 100"/>
                      <a:gd name="T16" fmla="*/ 1270 w 1270"/>
                      <a:gd name="T17" fmla="*/ 50 h 100"/>
                      <a:gd name="T18" fmla="*/ 1179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179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270" y="50"/>
                        </a:lnTo>
                        <a:lnTo>
                          <a:pt x="1225" y="100"/>
                        </a:lnTo>
                        <a:lnTo>
                          <a:pt x="1270" y="100"/>
                        </a:lnTo>
                        <a:lnTo>
                          <a:pt x="1270" y="50"/>
                        </a:lnTo>
                        <a:lnTo>
                          <a:pt x="1179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9" name="Freeform 28">
                    <a:extLst>
                      <a:ext uri="{FF2B5EF4-FFF2-40B4-BE49-F238E27FC236}">
                        <a16:creationId xmlns:a16="http://schemas.microsoft.com/office/drawing/2014/main" id="{7ADD6722-49F4-7047-A391-4A92A27604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32" y="3844"/>
                    <a:ext cx="10" cy="275"/>
                  </a:xfrm>
                  <a:custGeom>
                    <a:avLst/>
                    <a:gdLst>
                      <a:gd name="T0" fmla="*/ 46 w 91"/>
                      <a:gd name="T1" fmla="*/ 100 h 2754"/>
                      <a:gd name="T2" fmla="*/ 0 w 91"/>
                      <a:gd name="T3" fmla="*/ 50 h 2754"/>
                      <a:gd name="T4" fmla="*/ 0 w 91"/>
                      <a:gd name="T5" fmla="*/ 2754 h 2754"/>
                      <a:gd name="T6" fmla="*/ 91 w 91"/>
                      <a:gd name="T7" fmla="*/ 2754 h 2754"/>
                      <a:gd name="T8" fmla="*/ 91 w 91"/>
                      <a:gd name="T9" fmla="*/ 50 h 2754"/>
                      <a:gd name="T10" fmla="*/ 46 w 91"/>
                      <a:gd name="T11" fmla="*/ 0 h 2754"/>
                      <a:gd name="T12" fmla="*/ 91 w 91"/>
                      <a:gd name="T13" fmla="*/ 50 h 2754"/>
                      <a:gd name="T14" fmla="*/ 91 w 91"/>
                      <a:gd name="T15" fmla="*/ 0 h 2754"/>
                      <a:gd name="T16" fmla="*/ 46 w 91"/>
                      <a:gd name="T17" fmla="*/ 0 h 2754"/>
                      <a:gd name="T18" fmla="*/ 46 w 91"/>
                      <a:gd name="T19" fmla="*/ 100 h 275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2754"/>
                      <a:gd name="T32" fmla="*/ 91 w 91"/>
                      <a:gd name="T33" fmla="*/ 2754 h 275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2754">
                        <a:moveTo>
                          <a:pt x="46" y="100"/>
                        </a:moveTo>
                        <a:lnTo>
                          <a:pt x="0" y="50"/>
                        </a:lnTo>
                        <a:lnTo>
                          <a:pt x="0" y="2754"/>
                        </a:lnTo>
                        <a:lnTo>
                          <a:pt x="91" y="2754"/>
                        </a:lnTo>
                        <a:lnTo>
                          <a:pt x="91" y="5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91" y="0"/>
                        </a:lnTo>
                        <a:lnTo>
                          <a:pt x="46" y="0"/>
                        </a:lnTo>
                        <a:lnTo>
                          <a:pt x="46" y="10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97744E95-57BE-264D-B2A1-3AC40E967E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37" y="4029"/>
                    <a:ext cx="136" cy="9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1" name="Freeform 30">
                    <a:extLst>
                      <a:ext uri="{FF2B5EF4-FFF2-40B4-BE49-F238E27FC236}">
                        <a16:creationId xmlns:a16="http://schemas.microsoft.com/office/drawing/2014/main" id="{0BB4D600-9603-BB44-824B-3BF4FDC987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37" y="4024"/>
                    <a:ext cx="141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80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2" name="Freeform 31">
                    <a:extLst>
                      <a:ext uri="{FF2B5EF4-FFF2-40B4-BE49-F238E27FC236}">
                        <a16:creationId xmlns:a16="http://schemas.microsoft.com/office/drawing/2014/main" id="{52526A3A-8E0B-744A-8546-72588E5EAE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68" y="4029"/>
                    <a:ext cx="10" cy="95"/>
                  </a:xfrm>
                  <a:custGeom>
                    <a:avLst/>
                    <a:gdLst>
                      <a:gd name="T0" fmla="*/ 45 w 90"/>
                      <a:gd name="T1" fmla="*/ 952 h 952"/>
                      <a:gd name="T2" fmla="*/ 90 w 90"/>
                      <a:gd name="T3" fmla="*/ 902 h 952"/>
                      <a:gd name="T4" fmla="*/ 90 w 90"/>
                      <a:gd name="T5" fmla="*/ 0 h 952"/>
                      <a:gd name="T6" fmla="*/ 0 w 90"/>
                      <a:gd name="T7" fmla="*/ 0 h 952"/>
                      <a:gd name="T8" fmla="*/ 0 w 90"/>
                      <a:gd name="T9" fmla="*/ 902 h 952"/>
                      <a:gd name="T10" fmla="*/ 45 w 90"/>
                      <a:gd name="T11" fmla="*/ 852 h 952"/>
                      <a:gd name="T12" fmla="*/ 45 w 90"/>
                      <a:gd name="T13" fmla="*/ 952 h 952"/>
                      <a:gd name="T14" fmla="*/ 90 w 90"/>
                      <a:gd name="T15" fmla="*/ 952 h 952"/>
                      <a:gd name="T16" fmla="*/ 90 w 90"/>
                      <a:gd name="T17" fmla="*/ 902 h 952"/>
                      <a:gd name="T18" fmla="*/ 45 w 90"/>
                      <a:gd name="T19" fmla="*/ 952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952"/>
                      <a:gd name="T32" fmla="*/ 90 w 90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952">
                        <a:moveTo>
                          <a:pt x="45" y="952"/>
                        </a:moveTo>
                        <a:lnTo>
                          <a:pt x="90" y="902"/>
                        </a:lnTo>
                        <a:lnTo>
                          <a:pt x="90" y="0"/>
                        </a:lnTo>
                        <a:lnTo>
                          <a:pt x="0" y="0"/>
                        </a:lnTo>
                        <a:lnTo>
                          <a:pt x="0" y="902"/>
                        </a:lnTo>
                        <a:lnTo>
                          <a:pt x="45" y="852"/>
                        </a:lnTo>
                        <a:lnTo>
                          <a:pt x="45" y="952"/>
                        </a:lnTo>
                        <a:lnTo>
                          <a:pt x="90" y="952"/>
                        </a:lnTo>
                        <a:lnTo>
                          <a:pt x="90" y="902"/>
                        </a:lnTo>
                        <a:lnTo>
                          <a:pt x="45" y="95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3" name="Freeform 32">
                    <a:extLst>
                      <a:ext uri="{FF2B5EF4-FFF2-40B4-BE49-F238E27FC236}">
                        <a16:creationId xmlns:a16="http://schemas.microsoft.com/office/drawing/2014/main" id="{AFDCB7D7-8873-0E47-AE8C-88E49CA48F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32" y="4114"/>
                    <a:ext cx="141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4" name="Freeform 33">
                    <a:extLst>
                      <a:ext uri="{FF2B5EF4-FFF2-40B4-BE49-F238E27FC236}">
                        <a16:creationId xmlns:a16="http://schemas.microsoft.com/office/drawing/2014/main" id="{8D869E34-87F7-F144-8DA1-96ACBA875C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32" y="4024"/>
                    <a:ext cx="10" cy="95"/>
                  </a:xfrm>
                  <a:custGeom>
                    <a:avLst/>
                    <a:gdLst>
                      <a:gd name="T0" fmla="*/ 46 w 91"/>
                      <a:gd name="T1" fmla="*/ 0 h 952"/>
                      <a:gd name="T2" fmla="*/ 0 w 91"/>
                      <a:gd name="T3" fmla="*/ 50 h 952"/>
                      <a:gd name="T4" fmla="*/ 0 w 91"/>
                      <a:gd name="T5" fmla="*/ 952 h 952"/>
                      <a:gd name="T6" fmla="*/ 91 w 91"/>
                      <a:gd name="T7" fmla="*/ 952 h 952"/>
                      <a:gd name="T8" fmla="*/ 91 w 91"/>
                      <a:gd name="T9" fmla="*/ 50 h 952"/>
                      <a:gd name="T10" fmla="*/ 46 w 91"/>
                      <a:gd name="T11" fmla="*/ 100 h 952"/>
                      <a:gd name="T12" fmla="*/ 46 w 91"/>
                      <a:gd name="T13" fmla="*/ 0 h 952"/>
                      <a:gd name="T14" fmla="*/ 0 w 91"/>
                      <a:gd name="T15" fmla="*/ 0 h 952"/>
                      <a:gd name="T16" fmla="*/ 0 w 91"/>
                      <a:gd name="T17" fmla="*/ 50 h 952"/>
                      <a:gd name="T18" fmla="*/ 46 w 91"/>
                      <a:gd name="T19" fmla="*/ 0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952"/>
                        </a:lnTo>
                        <a:lnTo>
                          <a:pt x="91" y="95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0560D493-BF52-C041-90F9-61FB90DFD2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3" y="3984"/>
                    <a:ext cx="136" cy="13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6" name="Freeform 35">
                    <a:extLst>
                      <a:ext uri="{FF2B5EF4-FFF2-40B4-BE49-F238E27FC236}">
                        <a16:creationId xmlns:a16="http://schemas.microsoft.com/office/drawing/2014/main" id="{A6ADA5C8-052F-2C41-A485-2B371F7AAF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73" y="3979"/>
                    <a:ext cx="141" cy="10"/>
                  </a:xfrm>
                  <a:custGeom>
                    <a:avLst/>
                    <a:gdLst>
                      <a:gd name="T0" fmla="*/ 1271 w 1271"/>
                      <a:gd name="T1" fmla="*/ 50 h 100"/>
                      <a:gd name="T2" fmla="*/ 1225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5 w 1271"/>
                      <a:gd name="T9" fmla="*/ 100 h 100"/>
                      <a:gd name="T10" fmla="*/ 1180 w 1271"/>
                      <a:gd name="T11" fmla="*/ 50 h 100"/>
                      <a:gd name="T12" fmla="*/ 1271 w 1271"/>
                      <a:gd name="T13" fmla="*/ 50 h 100"/>
                      <a:gd name="T14" fmla="*/ 1271 w 1271"/>
                      <a:gd name="T15" fmla="*/ 0 h 100"/>
                      <a:gd name="T16" fmla="*/ 1225 w 1271"/>
                      <a:gd name="T17" fmla="*/ 0 h 100"/>
                      <a:gd name="T18" fmla="*/ 127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271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80" y="50"/>
                        </a:lnTo>
                        <a:lnTo>
                          <a:pt x="1271" y="50"/>
                        </a:lnTo>
                        <a:lnTo>
                          <a:pt x="1271" y="0"/>
                        </a:lnTo>
                        <a:lnTo>
                          <a:pt x="1225" y="0"/>
                        </a:lnTo>
                        <a:lnTo>
                          <a:pt x="127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7" name="Freeform 36">
                    <a:extLst>
                      <a:ext uri="{FF2B5EF4-FFF2-40B4-BE49-F238E27FC236}">
                        <a16:creationId xmlns:a16="http://schemas.microsoft.com/office/drawing/2014/main" id="{74CA4637-51E2-2245-82E4-C545B2DB0E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4" y="3984"/>
                    <a:ext cx="10" cy="140"/>
                  </a:xfrm>
                  <a:custGeom>
                    <a:avLst/>
                    <a:gdLst>
                      <a:gd name="T0" fmla="*/ 45 w 91"/>
                      <a:gd name="T1" fmla="*/ 1402 h 1402"/>
                      <a:gd name="T2" fmla="*/ 91 w 91"/>
                      <a:gd name="T3" fmla="*/ 1352 h 1402"/>
                      <a:gd name="T4" fmla="*/ 91 w 91"/>
                      <a:gd name="T5" fmla="*/ 0 h 1402"/>
                      <a:gd name="T6" fmla="*/ 0 w 91"/>
                      <a:gd name="T7" fmla="*/ 0 h 1402"/>
                      <a:gd name="T8" fmla="*/ 0 w 91"/>
                      <a:gd name="T9" fmla="*/ 1352 h 1402"/>
                      <a:gd name="T10" fmla="*/ 45 w 91"/>
                      <a:gd name="T11" fmla="*/ 1302 h 1402"/>
                      <a:gd name="T12" fmla="*/ 45 w 91"/>
                      <a:gd name="T13" fmla="*/ 1402 h 1402"/>
                      <a:gd name="T14" fmla="*/ 91 w 91"/>
                      <a:gd name="T15" fmla="*/ 1402 h 1402"/>
                      <a:gd name="T16" fmla="*/ 91 w 91"/>
                      <a:gd name="T17" fmla="*/ 1352 h 1402"/>
                      <a:gd name="T18" fmla="*/ 45 w 91"/>
                      <a:gd name="T19" fmla="*/ 1402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1402"/>
                      <a:gd name="T32" fmla="*/ 91 w 91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1402">
                        <a:moveTo>
                          <a:pt x="45" y="1402"/>
                        </a:moveTo>
                        <a:lnTo>
                          <a:pt x="91" y="1352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1352"/>
                        </a:lnTo>
                        <a:lnTo>
                          <a:pt x="45" y="1302"/>
                        </a:lnTo>
                        <a:lnTo>
                          <a:pt x="45" y="1402"/>
                        </a:lnTo>
                        <a:lnTo>
                          <a:pt x="91" y="1402"/>
                        </a:lnTo>
                        <a:lnTo>
                          <a:pt x="91" y="1352"/>
                        </a:lnTo>
                        <a:lnTo>
                          <a:pt x="45" y="140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8" name="Freeform 37">
                    <a:extLst>
                      <a:ext uri="{FF2B5EF4-FFF2-40B4-BE49-F238E27FC236}">
                        <a16:creationId xmlns:a16="http://schemas.microsoft.com/office/drawing/2014/main" id="{144E607F-72FD-4848-8B96-3E24451995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68" y="4114"/>
                    <a:ext cx="141" cy="10"/>
                  </a:xfrm>
                  <a:custGeom>
                    <a:avLst/>
                    <a:gdLst>
                      <a:gd name="T0" fmla="*/ 0 w 1270"/>
                      <a:gd name="T1" fmla="*/ 50 h 100"/>
                      <a:gd name="T2" fmla="*/ 45 w 1270"/>
                      <a:gd name="T3" fmla="*/ 100 h 100"/>
                      <a:gd name="T4" fmla="*/ 1270 w 1270"/>
                      <a:gd name="T5" fmla="*/ 100 h 100"/>
                      <a:gd name="T6" fmla="*/ 1270 w 1270"/>
                      <a:gd name="T7" fmla="*/ 0 h 100"/>
                      <a:gd name="T8" fmla="*/ 45 w 1270"/>
                      <a:gd name="T9" fmla="*/ 0 h 100"/>
                      <a:gd name="T10" fmla="*/ 90 w 1270"/>
                      <a:gd name="T11" fmla="*/ 50 h 100"/>
                      <a:gd name="T12" fmla="*/ 0 w 1270"/>
                      <a:gd name="T13" fmla="*/ 50 h 100"/>
                      <a:gd name="T14" fmla="*/ 0 w 1270"/>
                      <a:gd name="T15" fmla="*/ 100 h 100"/>
                      <a:gd name="T16" fmla="*/ 45 w 1270"/>
                      <a:gd name="T17" fmla="*/ 100 h 100"/>
                      <a:gd name="T18" fmla="*/ 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0" y="50"/>
                        </a:moveTo>
                        <a:lnTo>
                          <a:pt x="45" y="100"/>
                        </a:lnTo>
                        <a:lnTo>
                          <a:pt x="1270" y="100"/>
                        </a:lnTo>
                        <a:lnTo>
                          <a:pt x="1270" y="0"/>
                        </a:lnTo>
                        <a:lnTo>
                          <a:pt x="45" y="0"/>
                        </a:lnTo>
                        <a:lnTo>
                          <a:pt x="90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5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9" name="Freeform 38">
                    <a:extLst>
                      <a:ext uri="{FF2B5EF4-FFF2-40B4-BE49-F238E27FC236}">
                        <a16:creationId xmlns:a16="http://schemas.microsoft.com/office/drawing/2014/main" id="{47373B69-177D-0F4D-8F7B-BDBA4A41BB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68" y="3979"/>
                    <a:ext cx="10" cy="140"/>
                  </a:xfrm>
                  <a:custGeom>
                    <a:avLst/>
                    <a:gdLst>
                      <a:gd name="T0" fmla="*/ 45 w 90"/>
                      <a:gd name="T1" fmla="*/ 0 h 1402"/>
                      <a:gd name="T2" fmla="*/ 0 w 90"/>
                      <a:gd name="T3" fmla="*/ 50 h 1402"/>
                      <a:gd name="T4" fmla="*/ 0 w 90"/>
                      <a:gd name="T5" fmla="*/ 1402 h 1402"/>
                      <a:gd name="T6" fmla="*/ 90 w 90"/>
                      <a:gd name="T7" fmla="*/ 1402 h 1402"/>
                      <a:gd name="T8" fmla="*/ 90 w 90"/>
                      <a:gd name="T9" fmla="*/ 50 h 1402"/>
                      <a:gd name="T10" fmla="*/ 45 w 90"/>
                      <a:gd name="T11" fmla="*/ 100 h 1402"/>
                      <a:gd name="T12" fmla="*/ 45 w 90"/>
                      <a:gd name="T13" fmla="*/ 0 h 1402"/>
                      <a:gd name="T14" fmla="*/ 0 w 90"/>
                      <a:gd name="T15" fmla="*/ 0 h 1402"/>
                      <a:gd name="T16" fmla="*/ 0 w 90"/>
                      <a:gd name="T17" fmla="*/ 50 h 1402"/>
                      <a:gd name="T18" fmla="*/ 45 w 90"/>
                      <a:gd name="T19" fmla="*/ 0 h 140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0"/>
                      <a:gd name="T31" fmla="*/ 0 h 1402"/>
                      <a:gd name="T32" fmla="*/ 90 w 90"/>
                      <a:gd name="T33" fmla="*/ 1402 h 140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0" h="1402">
                        <a:moveTo>
                          <a:pt x="45" y="0"/>
                        </a:moveTo>
                        <a:lnTo>
                          <a:pt x="0" y="50"/>
                        </a:lnTo>
                        <a:lnTo>
                          <a:pt x="0" y="1402"/>
                        </a:lnTo>
                        <a:lnTo>
                          <a:pt x="90" y="1402"/>
                        </a:lnTo>
                        <a:lnTo>
                          <a:pt x="90" y="50"/>
                        </a:lnTo>
                        <a:lnTo>
                          <a:pt x="45" y="10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AD0B04BF-F0EC-5041-A8D5-334CDFE6B5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09" y="4074"/>
                    <a:ext cx="136" cy="45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1" name="Freeform 40">
                    <a:extLst>
                      <a:ext uri="{FF2B5EF4-FFF2-40B4-BE49-F238E27FC236}">
                        <a16:creationId xmlns:a16="http://schemas.microsoft.com/office/drawing/2014/main" id="{D00BA560-278F-3A43-BE0E-E63493F53B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4" y="4069"/>
                    <a:ext cx="141" cy="10"/>
                  </a:xfrm>
                  <a:custGeom>
                    <a:avLst/>
                    <a:gdLst>
                      <a:gd name="T0" fmla="*/ 91 w 1271"/>
                      <a:gd name="T1" fmla="*/ 50 h 100"/>
                      <a:gd name="T2" fmla="*/ 45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5 w 1271"/>
                      <a:gd name="T9" fmla="*/ 0 h 100"/>
                      <a:gd name="T10" fmla="*/ 0 w 1271"/>
                      <a:gd name="T11" fmla="*/ 50 h 100"/>
                      <a:gd name="T12" fmla="*/ 45 w 1271"/>
                      <a:gd name="T13" fmla="*/ 0 h 100"/>
                      <a:gd name="T14" fmla="*/ 0 w 1271"/>
                      <a:gd name="T15" fmla="*/ 0 h 100"/>
                      <a:gd name="T16" fmla="*/ 0 w 1271"/>
                      <a:gd name="T17" fmla="*/ 50 h 100"/>
                      <a:gd name="T18" fmla="*/ 91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91" y="50"/>
                        </a:moveTo>
                        <a:lnTo>
                          <a:pt x="45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5" y="0"/>
                        </a:lnTo>
                        <a:lnTo>
                          <a:pt x="0" y="50"/>
                        </a:lnTo>
                        <a:lnTo>
                          <a:pt x="45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91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2" name="Freeform 41">
                    <a:extLst>
                      <a:ext uri="{FF2B5EF4-FFF2-40B4-BE49-F238E27FC236}">
                        <a16:creationId xmlns:a16="http://schemas.microsoft.com/office/drawing/2014/main" id="{33136B54-D384-5140-84AC-F51047624F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4" y="4074"/>
                    <a:ext cx="10" cy="50"/>
                  </a:xfrm>
                  <a:custGeom>
                    <a:avLst/>
                    <a:gdLst>
                      <a:gd name="T0" fmla="*/ 45 w 91"/>
                      <a:gd name="T1" fmla="*/ 401 h 501"/>
                      <a:gd name="T2" fmla="*/ 91 w 91"/>
                      <a:gd name="T3" fmla="*/ 451 h 501"/>
                      <a:gd name="T4" fmla="*/ 91 w 91"/>
                      <a:gd name="T5" fmla="*/ 0 h 501"/>
                      <a:gd name="T6" fmla="*/ 0 w 91"/>
                      <a:gd name="T7" fmla="*/ 0 h 501"/>
                      <a:gd name="T8" fmla="*/ 0 w 91"/>
                      <a:gd name="T9" fmla="*/ 451 h 501"/>
                      <a:gd name="T10" fmla="*/ 45 w 91"/>
                      <a:gd name="T11" fmla="*/ 501 h 501"/>
                      <a:gd name="T12" fmla="*/ 0 w 91"/>
                      <a:gd name="T13" fmla="*/ 451 h 501"/>
                      <a:gd name="T14" fmla="*/ 0 w 91"/>
                      <a:gd name="T15" fmla="*/ 501 h 501"/>
                      <a:gd name="T16" fmla="*/ 45 w 91"/>
                      <a:gd name="T17" fmla="*/ 501 h 501"/>
                      <a:gd name="T18" fmla="*/ 45 w 91"/>
                      <a:gd name="T19" fmla="*/ 401 h 5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01"/>
                      <a:gd name="T32" fmla="*/ 91 w 91"/>
                      <a:gd name="T33" fmla="*/ 501 h 5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01">
                        <a:moveTo>
                          <a:pt x="45" y="401"/>
                        </a:moveTo>
                        <a:lnTo>
                          <a:pt x="91" y="451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451"/>
                        </a:lnTo>
                        <a:lnTo>
                          <a:pt x="45" y="501"/>
                        </a:lnTo>
                        <a:lnTo>
                          <a:pt x="0" y="451"/>
                        </a:lnTo>
                        <a:lnTo>
                          <a:pt x="0" y="501"/>
                        </a:lnTo>
                        <a:lnTo>
                          <a:pt x="45" y="501"/>
                        </a:lnTo>
                        <a:lnTo>
                          <a:pt x="45" y="401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3" name="Freeform 42">
                    <a:extLst>
                      <a:ext uri="{FF2B5EF4-FFF2-40B4-BE49-F238E27FC236}">
                        <a16:creationId xmlns:a16="http://schemas.microsoft.com/office/drawing/2014/main" id="{C1895409-53F7-7946-9D83-9EA0EBD3062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9" y="4114"/>
                    <a:ext cx="141" cy="10"/>
                  </a:xfrm>
                  <a:custGeom>
                    <a:avLst/>
                    <a:gdLst>
                      <a:gd name="T0" fmla="*/ 1180 w 1271"/>
                      <a:gd name="T1" fmla="*/ 50 h 100"/>
                      <a:gd name="T2" fmla="*/ 1226 w 1271"/>
                      <a:gd name="T3" fmla="*/ 0 h 100"/>
                      <a:gd name="T4" fmla="*/ 0 w 1271"/>
                      <a:gd name="T5" fmla="*/ 0 h 100"/>
                      <a:gd name="T6" fmla="*/ 0 w 1271"/>
                      <a:gd name="T7" fmla="*/ 100 h 100"/>
                      <a:gd name="T8" fmla="*/ 1226 w 1271"/>
                      <a:gd name="T9" fmla="*/ 100 h 100"/>
                      <a:gd name="T10" fmla="*/ 1271 w 1271"/>
                      <a:gd name="T11" fmla="*/ 50 h 100"/>
                      <a:gd name="T12" fmla="*/ 1226 w 1271"/>
                      <a:gd name="T13" fmla="*/ 100 h 100"/>
                      <a:gd name="T14" fmla="*/ 1271 w 1271"/>
                      <a:gd name="T15" fmla="*/ 100 h 100"/>
                      <a:gd name="T16" fmla="*/ 1271 w 1271"/>
                      <a:gd name="T17" fmla="*/ 50 h 100"/>
                      <a:gd name="T18" fmla="*/ 118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1180" y="50"/>
                        </a:moveTo>
                        <a:lnTo>
                          <a:pt x="1226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6" y="100"/>
                        </a:lnTo>
                        <a:lnTo>
                          <a:pt x="1271" y="50"/>
                        </a:lnTo>
                        <a:lnTo>
                          <a:pt x="1226" y="100"/>
                        </a:lnTo>
                        <a:lnTo>
                          <a:pt x="1271" y="100"/>
                        </a:lnTo>
                        <a:lnTo>
                          <a:pt x="1271" y="50"/>
                        </a:lnTo>
                        <a:lnTo>
                          <a:pt x="118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4" name="Freeform 43">
                    <a:extLst>
                      <a:ext uri="{FF2B5EF4-FFF2-40B4-BE49-F238E27FC236}">
                        <a16:creationId xmlns:a16="http://schemas.microsoft.com/office/drawing/2014/main" id="{20BA2B42-1EF4-7C44-A606-77F289D135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40" y="4069"/>
                    <a:ext cx="10" cy="50"/>
                  </a:xfrm>
                  <a:custGeom>
                    <a:avLst/>
                    <a:gdLst>
                      <a:gd name="T0" fmla="*/ 46 w 91"/>
                      <a:gd name="T1" fmla="*/ 100 h 501"/>
                      <a:gd name="T2" fmla="*/ 0 w 91"/>
                      <a:gd name="T3" fmla="*/ 50 h 501"/>
                      <a:gd name="T4" fmla="*/ 0 w 91"/>
                      <a:gd name="T5" fmla="*/ 501 h 501"/>
                      <a:gd name="T6" fmla="*/ 91 w 91"/>
                      <a:gd name="T7" fmla="*/ 501 h 501"/>
                      <a:gd name="T8" fmla="*/ 91 w 91"/>
                      <a:gd name="T9" fmla="*/ 50 h 501"/>
                      <a:gd name="T10" fmla="*/ 46 w 91"/>
                      <a:gd name="T11" fmla="*/ 0 h 501"/>
                      <a:gd name="T12" fmla="*/ 91 w 91"/>
                      <a:gd name="T13" fmla="*/ 50 h 501"/>
                      <a:gd name="T14" fmla="*/ 91 w 91"/>
                      <a:gd name="T15" fmla="*/ 0 h 501"/>
                      <a:gd name="T16" fmla="*/ 46 w 91"/>
                      <a:gd name="T17" fmla="*/ 0 h 501"/>
                      <a:gd name="T18" fmla="*/ 46 w 91"/>
                      <a:gd name="T19" fmla="*/ 100 h 501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501"/>
                      <a:gd name="T32" fmla="*/ 91 w 91"/>
                      <a:gd name="T33" fmla="*/ 501 h 501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501">
                        <a:moveTo>
                          <a:pt x="46" y="100"/>
                        </a:moveTo>
                        <a:lnTo>
                          <a:pt x="0" y="50"/>
                        </a:lnTo>
                        <a:lnTo>
                          <a:pt x="0" y="501"/>
                        </a:lnTo>
                        <a:lnTo>
                          <a:pt x="91" y="501"/>
                        </a:lnTo>
                        <a:lnTo>
                          <a:pt x="91" y="5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91" y="0"/>
                        </a:lnTo>
                        <a:lnTo>
                          <a:pt x="46" y="0"/>
                        </a:lnTo>
                        <a:lnTo>
                          <a:pt x="46" y="10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6AC3F8D-1A47-374A-BC20-0778BD0197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45" y="4029"/>
                    <a:ext cx="137" cy="90"/>
                  </a:xfrm>
                  <a:prstGeom prst="rect">
                    <a:avLst/>
                  </a:prstGeom>
                  <a:solidFill>
                    <a:srgbClr val="DC2B19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6" name="Freeform 45">
                    <a:extLst>
                      <a:ext uri="{FF2B5EF4-FFF2-40B4-BE49-F238E27FC236}">
                        <a16:creationId xmlns:a16="http://schemas.microsoft.com/office/drawing/2014/main" id="{BF264A21-FDFE-BE47-8554-58226D0EED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45" y="4024"/>
                    <a:ext cx="142" cy="10"/>
                  </a:xfrm>
                  <a:custGeom>
                    <a:avLst/>
                    <a:gdLst>
                      <a:gd name="T0" fmla="*/ 1270 w 1270"/>
                      <a:gd name="T1" fmla="*/ 50 h 100"/>
                      <a:gd name="T2" fmla="*/ 1225 w 1270"/>
                      <a:gd name="T3" fmla="*/ 0 h 100"/>
                      <a:gd name="T4" fmla="*/ 0 w 1270"/>
                      <a:gd name="T5" fmla="*/ 0 h 100"/>
                      <a:gd name="T6" fmla="*/ 0 w 1270"/>
                      <a:gd name="T7" fmla="*/ 100 h 100"/>
                      <a:gd name="T8" fmla="*/ 1225 w 1270"/>
                      <a:gd name="T9" fmla="*/ 100 h 100"/>
                      <a:gd name="T10" fmla="*/ 1179 w 1270"/>
                      <a:gd name="T11" fmla="*/ 50 h 100"/>
                      <a:gd name="T12" fmla="*/ 1270 w 1270"/>
                      <a:gd name="T13" fmla="*/ 50 h 100"/>
                      <a:gd name="T14" fmla="*/ 1270 w 1270"/>
                      <a:gd name="T15" fmla="*/ 0 h 100"/>
                      <a:gd name="T16" fmla="*/ 1225 w 1270"/>
                      <a:gd name="T17" fmla="*/ 0 h 100"/>
                      <a:gd name="T18" fmla="*/ 1270 w 1270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0"/>
                      <a:gd name="T31" fmla="*/ 0 h 100"/>
                      <a:gd name="T32" fmla="*/ 1270 w 1270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0" h="100">
                        <a:moveTo>
                          <a:pt x="1270" y="50"/>
                        </a:moveTo>
                        <a:lnTo>
                          <a:pt x="1225" y="0"/>
                        </a:lnTo>
                        <a:lnTo>
                          <a:pt x="0" y="0"/>
                        </a:lnTo>
                        <a:lnTo>
                          <a:pt x="0" y="100"/>
                        </a:lnTo>
                        <a:lnTo>
                          <a:pt x="1225" y="100"/>
                        </a:lnTo>
                        <a:lnTo>
                          <a:pt x="1179" y="50"/>
                        </a:lnTo>
                        <a:lnTo>
                          <a:pt x="1270" y="50"/>
                        </a:lnTo>
                        <a:lnTo>
                          <a:pt x="1270" y="0"/>
                        </a:lnTo>
                        <a:lnTo>
                          <a:pt x="1225" y="0"/>
                        </a:lnTo>
                        <a:lnTo>
                          <a:pt x="127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7" name="Freeform 46">
                    <a:extLst>
                      <a:ext uri="{FF2B5EF4-FFF2-40B4-BE49-F238E27FC236}">
                        <a16:creationId xmlns:a16="http://schemas.microsoft.com/office/drawing/2014/main" id="{E421AA71-6AD7-BC44-9BC5-75E67B490E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76" y="4029"/>
                    <a:ext cx="11" cy="95"/>
                  </a:xfrm>
                  <a:custGeom>
                    <a:avLst/>
                    <a:gdLst>
                      <a:gd name="T0" fmla="*/ 46 w 91"/>
                      <a:gd name="T1" fmla="*/ 952 h 952"/>
                      <a:gd name="T2" fmla="*/ 91 w 91"/>
                      <a:gd name="T3" fmla="*/ 902 h 952"/>
                      <a:gd name="T4" fmla="*/ 91 w 91"/>
                      <a:gd name="T5" fmla="*/ 0 h 952"/>
                      <a:gd name="T6" fmla="*/ 0 w 91"/>
                      <a:gd name="T7" fmla="*/ 0 h 952"/>
                      <a:gd name="T8" fmla="*/ 0 w 91"/>
                      <a:gd name="T9" fmla="*/ 902 h 952"/>
                      <a:gd name="T10" fmla="*/ 46 w 91"/>
                      <a:gd name="T11" fmla="*/ 852 h 952"/>
                      <a:gd name="T12" fmla="*/ 46 w 91"/>
                      <a:gd name="T13" fmla="*/ 952 h 952"/>
                      <a:gd name="T14" fmla="*/ 91 w 91"/>
                      <a:gd name="T15" fmla="*/ 952 h 952"/>
                      <a:gd name="T16" fmla="*/ 91 w 91"/>
                      <a:gd name="T17" fmla="*/ 902 h 952"/>
                      <a:gd name="T18" fmla="*/ 46 w 91"/>
                      <a:gd name="T19" fmla="*/ 952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952"/>
                        </a:moveTo>
                        <a:lnTo>
                          <a:pt x="91" y="902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902"/>
                        </a:lnTo>
                        <a:lnTo>
                          <a:pt x="46" y="852"/>
                        </a:lnTo>
                        <a:lnTo>
                          <a:pt x="46" y="952"/>
                        </a:lnTo>
                        <a:lnTo>
                          <a:pt x="91" y="952"/>
                        </a:lnTo>
                        <a:lnTo>
                          <a:pt x="91" y="902"/>
                        </a:lnTo>
                        <a:lnTo>
                          <a:pt x="46" y="952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CF419AB4-8881-0A47-A318-80BBEB96AF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40" y="4114"/>
                    <a:ext cx="142" cy="10"/>
                  </a:xfrm>
                  <a:custGeom>
                    <a:avLst/>
                    <a:gdLst>
                      <a:gd name="T0" fmla="*/ 0 w 1271"/>
                      <a:gd name="T1" fmla="*/ 50 h 100"/>
                      <a:gd name="T2" fmla="*/ 46 w 1271"/>
                      <a:gd name="T3" fmla="*/ 100 h 100"/>
                      <a:gd name="T4" fmla="*/ 1271 w 1271"/>
                      <a:gd name="T5" fmla="*/ 100 h 100"/>
                      <a:gd name="T6" fmla="*/ 1271 w 1271"/>
                      <a:gd name="T7" fmla="*/ 0 h 100"/>
                      <a:gd name="T8" fmla="*/ 46 w 1271"/>
                      <a:gd name="T9" fmla="*/ 0 h 100"/>
                      <a:gd name="T10" fmla="*/ 91 w 1271"/>
                      <a:gd name="T11" fmla="*/ 50 h 100"/>
                      <a:gd name="T12" fmla="*/ 0 w 1271"/>
                      <a:gd name="T13" fmla="*/ 50 h 100"/>
                      <a:gd name="T14" fmla="*/ 0 w 1271"/>
                      <a:gd name="T15" fmla="*/ 100 h 100"/>
                      <a:gd name="T16" fmla="*/ 46 w 1271"/>
                      <a:gd name="T17" fmla="*/ 100 h 100"/>
                      <a:gd name="T18" fmla="*/ 0 w 1271"/>
                      <a:gd name="T19" fmla="*/ 50 h 100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1271"/>
                      <a:gd name="T31" fmla="*/ 0 h 100"/>
                      <a:gd name="T32" fmla="*/ 1271 w 1271"/>
                      <a:gd name="T33" fmla="*/ 100 h 100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1271" h="100">
                        <a:moveTo>
                          <a:pt x="0" y="50"/>
                        </a:moveTo>
                        <a:lnTo>
                          <a:pt x="46" y="100"/>
                        </a:lnTo>
                        <a:lnTo>
                          <a:pt x="1271" y="100"/>
                        </a:lnTo>
                        <a:lnTo>
                          <a:pt x="1271" y="0"/>
                        </a:lnTo>
                        <a:lnTo>
                          <a:pt x="46" y="0"/>
                        </a:lnTo>
                        <a:lnTo>
                          <a:pt x="91" y="50"/>
                        </a:lnTo>
                        <a:lnTo>
                          <a:pt x="0" y="50"/>
                        </a:lnTo>
                        <a:lnTo>
                          <a:pt x="0" y="100"/>
                        </a:lnTo>
                        <a:lnTo>
                          <a:pt x="46" y="100"/>
                        </a:lnTo>
                        <a:lnTo>
                          <a:pt x="0" y="5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9" name="Freeform 48">
                    <a:extLst>
                      <a:ext uri="{FF2B5EF4-FFF2-40B4-BE49-F238E27FC236}">
                        <a16:creationId xmlns:a16="http://schemas.microsoft.com/office/drawing/2014/main" id="{DF2021AC-D6C8-2143-AA15-73F74CF8C7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40" y="4024"/>
                    <a:ext cx="10" cy="95"/>
                  </a:xfrm>
                  <a:custGeom>
                    <a:avLst/>
                    <a:gdLst>
                      <a:gd name="T0" fmla="*/ 46 w 91"/>
                      <a:gd name="T1" fmla="*/ 0 h 952"/>
                      <a:gd name="T2" fmla="*/ 0 w 91"/>
                      <a:gd name="T3" fmla="*/ 50 h 952"/>
                      <a:gd name="T4" fmla="*/ 0 w 91"/>
                      <a:gd name="T5" fmla="*/ 952 h 952"/>
                      <a:gd name="T6" fmla="*/ 91 w 91"/>
                      <a:gd name="T7" fmla="*/ 952 h 952"/>
                      <a:gd name="T8" fmla="*/ 91 w 91"/>
                      <a:gd name="T9" fmla="*/ 50 h 952"/>
                      <a:gd name="T10" fmla="*/ 46 w 91"/>
                      <a:gd name="T11" fmla="*/ 100 h 952"/>
                      <a:gd name="T12" fmla="*/ 46 w 91"/>
                      <a:gd name="T13" fmla="*/ 0 h 952"/>
                      <a:gd name="T14" fmla="*/ 0 w 91"/>
                      <a:gd name="T15" fmla="*/ 0 h 952"/>
                      <a:gd name="T16" fmla="*/ 0 w 91"/>
                      <a:gd name="T17" fmla="*/ 50 h 952"/>
                      <a:gd name="T18" fmla="*/ 46 w 91"/>
                      <a:gd name="T19" fmla="*/ 0 h 952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91"/>
                      <a:gd name="T31" fmla="*/ 0 h 952"/>
                      <a:gd name="T32" fmla="*/ 91 w 91"/>
                      <a:gd name="T33" fmla="*/ 952 h 952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91" h="952">
                        <a:moveTo>
                          <a:pt x="46" y="0"/>
                        </a:moveTo>
                        <a:lnTo>
                          <a:pt x="0" y="50"/>
                        </a:lnTo>
                        <a:lnTo>
                          <a:pt x="0" y="952"/>
                        </a:lnTo>
                        <a:lnTo>
                          <a:pt x="91" y="952"/>
                        </a:lnTo>
                        <a:lnTo>
                          <a:pt x="91" y="50"/>
                        </a:lnTo>
                        <a:lnTo>
                          <a:pt x="46" y="100"/>
                        </a:lnTo>
                        <a:lnTo>
                          <a:pt x="46" y="0"/>
                        </a:lnTo>
                        <a:lnTo>
                          <a:pt x="0" y="0"/>
                        </a:lnTo>
                        <a:lnTo>
                          <a:pt x="0" y="5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94BE5D73-95BE-AC48-A3A6-109696325C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80" y="4160"/>
                    <a:ext cx="52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AvantGarde Bk BT"/>
                        <a:cs typeface="Arial" pitchFamily="34" charset="0"/>
                      </a:rPr>
                      <a:t>0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9B97BB03-5B2B-D94C-A7D4-91371556A3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36" y="4145"/>
                    <a:ext cx="53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AvantGarde Bk BT"/>
                        <a:cs typeface="Arial" pitchFamily="34" charset="0"/>
                      </a:rPr>
                      <a:t>2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76BA42EF-6B80-5346-B98A-E32181535C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04" y="4133"/>
                    <a:ext cx="51" cy="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500">
                        <a:solidFill>
                          <a:srgbClr val="000000"/>
                        </a:solidFill>
                        <a:latin typeface="Symbol" pitchFamily="18" charset="2"/>
                        <a:cs typeface="Arial" pitchFamily="34" charset="0"/>
                      </a:rPr>
                      <a:t>p</a:t>
                    </a:r>
                    <a:endParaRPr lang="en-US" sz="2800">
                      <a:solidFill>
                        <a:srgbClr val="000000"/>
                      </a:solidFill>
                      <a:cs typeface="Arial" pitchFamily="34" charset="0"/>
                    </a:endParaRPr>
                  </a:p>
                </p:txBody>
              </p:sp>
              <p:sp>
                <p:nvSpPr>
                  <p:cNvPr id="53" name="Freeform 52">
                    <a:extLst>
                      <a:ext uri="{FF2B5EF4-FFF2-40B4-BE49-F238E27FC236}">
                        <a16:creationId xmlns:a16="http://schemas.microsoft.com/office/drawing/2014/main" id="{CBD5E4E3-D71D-AE43-8204-7B5DD593E2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29" y="4153"/>
                    <a:ext cx="53" cy="47"/>
                  </a:xfrm>
                  <a:custGeom>
                    <a:avLst/>
                    <a:gdLst>
                      <a:gd name="T0" fmla="*/ 474 w 474"/>
                      <a:gd name="T1" fmla="*/ 476 h 476"/>
                      <a:gd name="T2" fmla="*/ 238 w 474"/>
                      <a:gd name="T3" fmla="*/ 0 h 476"/>
                      <a:gd name="T4" fmla="*/ 0 w 474"/>
                      <a:gd name="T5" fmla="*/ 476 h 476"/>
                      <a:gd name="T6" fmla="*/ 474 w 474"/>
                      <a:gd name="T7" fmla="*/ 476 h 476"/>
                      <a:gd name="T8" fmla="*/ 238 w 474"/>
                      <a:gd name="T9" fmla="*/ 0 h 476"/>
                      <a:gd name="T10" fmla="*/ 474 w 474"/>
                      <a:gd name="T11" fmla="*/ 476 h 476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474"/>
                      <a:gd name="T19" fmla="*/ 0 h 476"/>
                      <a:gd name="T20" fmla="*/ 474 w 474"/>
                      <a:gd name="T21" fmla="*/ 476 h 47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474" h="476">
                        <a:moveTo>
                          <a:pt x="474" y="476"/>
                        </a:moveTo>
                        <a:lnTo>
                          <a:pt x="238" y="0"/>
                        </a:lnTo>
                        <a:lnTo>
                          <a:pt x="0" y="476"/>
                        </a:lnTo>
                        <a:lnTo>
                          <a:pt x="474" y="476"/>
                        </a:lnTo>
                        <a:lnTo>
                          <a:pt x="238" y="0"/>
                        </a:lnTo>
                        <a:lnTo>
                          <a:pt x="474" y="476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54" name="Freeform 53">
                    <a:extLst>
                      <a:ext uri="{FF2B5EF4-FFF2-40B4-BE49-F238E27FC236}">
                        <a16:creationId xmlns:a16="http://schemas.microsoft.com/office/drawing/2014/main" id="{986F7AEF-E613-5644-B140-62AB416E04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50" y="4196"/>
                    <a:ext cx="11" cy="76"/>
                  </a:xfrm>
                  <a:custGeom>
                    <a:avLst/>
                    <a:gdLst>
                      <a:gd name="T0" fmla="*/ 46 w 91"/>
                      <a:gd name="T1" fmla="*/ 760 h 760"/>
                      <a:gd name="T2" fmla="*/ 91 w 91"/>
                      <a:gd name="T3" fmla="*/ 760 h 760"/>
                      <a:gd name="T4" fmla="*/ 91 w 91"/>
                      <a:gd name="T5" fmla="*/ 0 h 760"/>
                      <a:gd name="T6" fmla="*/ 0 w 91"/>
                      <a:gd name="T7" fmla="*/ 0 h 760"/>
                      <a:gd name="T8" fmla="*/ 0 w 91"/>
                      <a:gd name="T9" fmla="*/ 760 h 760"/>
                      <a:gd name="T10" fmla="*/ 46 w 91"/>
                      <a:gd name="T11" fmla="*/ 760 h 76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760"/>
                      <a:gd name="T20" fmla="*/ 91 w 91"/>
                      <a:gd name="T21" fmla="*/ 760 h 76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760">
                        <a:moveTo>
                          <a:pt x="46" y="760"/>
                        </a:moveTo>
                        <a:lnTo>
                          <a:pt x="91" y="760"/>
                        </a:lnTo>
                        <a:lnTo>
                          <a:pt x="91" y="0"/>
                        </a:lnTo>
                        <a:lnTo>
                          <a:pt x="0" y="0"/>
                        </a:lnTo>
                        <a:lnTo>
                          <a:pt x="0" y="760"/>
                        </a:lnTo>
                        <a:lnTo>
                          <a:pt x="46" y="760"/>
                        </a:lnTo>
                        <a:close/>
                      </a:path>
                    </a:pathLst>
                  </a:custGeom>
                  <a:solidFill>
                    <a:srgbClr val="1F1A1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0" name="AutoShape 54">
                  <a:extLst>
                    <a:ext uri="{FF2B5EF4-FFF2-40B4-BE49-F238E27FC236}">
                      <a16:creationId xmlns:a16="http://schemas.microsoft.com/office/drawing/2014/main" id="{7889418D-4E6A-9642-B79F-CAE98442E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25" y="3063"/>
                  <a:ext cx="539" cy="540"/>
                </a:xfrm>
                <a:prstGeom prst="rightArrow">
                  <a:avLst>
                    <a:gd name="adj1" fmla="val 50000"/>
                    <a:gd name="adj2" fmla="val 25000"/>
                  </a:avLst>
                </a:prstGeom>
                <a:solidFill>
                  <a:srgbClr val="FF9900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6" name="Rectangle 55">
              <a:extLst>
                <a:ext uri="{FF2B5EF4-FFF2-40B4-BE49-F238E27FC236}">
                  <a16:creationId xmlns:a16="http://schemas.microsoft.com/office/drawing/2014/main" id="{674DC2D9-6D1D-EC49-92D8-D9FC932FB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3975"/>
              <a:ext cx="221" cy="20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5" name="Group 46">
            <a:extLst>
              <a:ext uri="{FF2B5EF4-FFF2-40B4-BE49-F238E27FC236}">
                <a16:creationId xmlns:a16="http://schemas.microsoft.com/office/drawing/2014/main" id="{AF0D325E-2084-C647-A86C-E7CC6BC7A87C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3733800"/>
            <a:ext cx="1219200" cy="762000"/>
            <a:chOff x="6324600" y="4953000"/>
            <a:chExt cx="1219200" cy="762000"/>
          </a:xfrm>
        </p:grpSpPr>
        <p:cxnSp>
          <p:nvCxnSpPr>
            <p:cNvPr id="56" name="Straight Arrow Connector 31">
              <a:extLst>
                <a:ext uri="{FF2B5EF4-FFF2-40B4-BE49-F238E27FC236}">
                  <a16:creationId xmlns:a16="http://schemas.microsoft.com/office/drawing/2014/main" id="{07F81E8F-068F-2E43-AAF9-1F0E329FF3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05600" y="5334000"/>
              <a:ext cx="838200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57" name="Straight Arrow Connector 33">
              <a:extLst>
                <a:ext uri="{FF2B5EF4-FFF2-40B4-BE49-F238E27FC236}">
                  <a16:creationId xmlns:a16="http://schemas.microsoft.com/office/drawing/2014/main" id="{C0682788-D2E4-E34A-9AA4-5172CEE3B6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705600" y="4953000"/>
              <a:ext cx="381000" cy="381000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58" name="Straight Arrow Connector 35">
              <a:extLst>
                <a:ext uri="{FF2B5EF4-FFF2-40B4-BE49-F238E27FC236}">
                  <a16:creationId xmlns:a16="http://schemas.microsoft.com/office/drawing/2014/main" id="{29FA3CF3-2076-434D-8778-4E39F398C6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514306" y="5144294"/>
              <a:ext cx="382588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59" name="Straight Arrow Connector 37">
              <a:extLst>
                <a:ext uri="{FF2B5EF4-FFF2-40B4-BE49-F238E27FC236}">
                  <a16:creationId xmlns:a16="http://schemas.microsoft.com/office/drawing/2014/main" id="{0A7F2B3D-42AF-3F44-9145-BC48CC9C02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550024" y="5181600"/>
              <a:ext cx="154782" cy="154782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0" name="Straight Arrow Connector 39">
              <a:extLst>
                <a:ext uri="{FF2B5EF4-FFF2-40B4-BE49-F238E27FC236}">
                  <a16:creationId xmlns:a16="http://schemas.microsoft.com/office/drawing/2014/main" id="{288794BF-F962-B94D-8087-AF501AEF47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324600" y="5336382"/>
              <a:ext cx="380206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1" name="Straight Arrow Connector 42">
              <a:extLst>
                <a:ext uri="{FF2B5EF4-FFF2-40B4-BE49-F238E27FC236}">
                  <a16:creationId xmlns:a16="http://schemas.microsoft.com/office/drawing/2014/main" id="{80AC1007-E8C1-E54D-ACA2-9B07E10CD7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53200" y="5331618"/>
              <a:ext cx="154782" cy="154782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2" name="Straight Arrow Connector 43">
              <a:extLst>
                <a:ext uri="{FF2B5EF4-FFF2-40B4-BE49-F238E27FC236}">
                  <a16:creationId xmlns:a16="http://schemas.microsoft.com/office/drawing/2014/main" id="{B9BBD54E-43DF-9141-A5C5-6F5FF11942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515100" y="5522912"/>
              <a:ext cx="382588" cy="1588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3" name="Straight Arrow Connector 44">
              <a:extLst>
                <a:ext uri="{FF2B5EF4-FFF2-40B4-BE49-F238E27FC236}">
                  <a16:creationId xmlns:a16="http://schemas.microsoft.com/office/drawing/2014/main" id="{2E36667F-31C6-B84C-94A4-EB5F7E23C5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701632" y="5337969"/>
              <a:ext cx="312737" cy="304800"/>
            </a:xfrm>
            <a:prstGeom prst="straightConnector1">
              <a:avLst/>
            </a:prstGeom>
            <a:noFill/>
            <a:ln w="28575" algn="ctr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sp>
          <p:nvSpPr>
            <p:cNvPr id="64" name="Oval 27">
              <a:extLst>
                <a:ext uri="{FF2B5EF4-FFF2-40B4-BE49-F238E27FC236}">
                  <a16:creationId xmlns:a16="http://schemas.microsoft.com/office/drawing/2014/main" id="{1C65ABA6-E3B4-BB40-A3E7-B51DF5693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7976" y="5286376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317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4C83D-6D8A-A640-8066-3B93AA19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2C96ED-55CE-FF40-B640-BAD15F28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特征描述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85E923-E6FD-3B48-8D66-5A2BF978E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8663" y="2286000"/>
            <a:ext cx="180975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sift1">
            <a:extLst>
              <a:ext uri="{FF2B5EF4-FFF2-40B4-BE49-F238E27FC236}">
                <a16:creationId xmlns:a16="http://schemas.microsoft.com/office/drawing/2014/main" id="{8EEBBBE0-881A-D849-B54B-1FCFC5884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2314575"/>
            <a:ext cx="17526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7" name="Group 6">
            <a:extLst>
              <a:ext uri="{FF2B5EF4-FFF2-40B4-BE49-F238E27FC236}">
                <a16:creationId xmlns:a16="http://schemas.microsoft.com/office/drawing/2014/main" id="{886B24CF-FAFD-F24D-B3B8-A192764A9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03531"/>
              </p:ext>
            </p:extLst>
          </p:nvPr>
        </p:nvGraphicFramePr>
        <p:xfrm>
          <a:off x="1998663" y="2308225"/>
          <a:ext cx="1811337" cy="1758951"/>
        </p:xfrm>
        <a:graphic>
          <a:graphicData uri="http://schemas.openxmlformats.org/drawingml/2006/table">
            <a:tbl>
              <a:tblPr/>
              <a:tblGrid>
                <a:gridCol w="452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utoShape 33">
            <a:extLst>
              <a:ext uri="{FF2B5EF4-FFF2-40B4-BE49-F238E27FC236}">
                <a16:creationId xmlns:a16="http://schemas.microsoft.com/office/drawing/2014/main" id="{67524580-77D6-9E47-A4D8-0CED46778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924175"/>
            <a:ext cx="758825" cy="603250"/>
          </a:xfrm>
          <a:prstGeom prst="rightArrow">
            <a:avLst>
              <a:gd name="adj1" fmla="val 50000"/>
              <a:gd name="adj2" fmla="val 31447"/>
            </a:avLst>
          </a:prstGeom>
          <a:solidFill>
            <a:srgbClr val="FF9900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45524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038BF-82DE-B043-A496-03005D95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836477-E16C-FE4B-A7C6-8930136B5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特征点匹配（比值距离）</a:t>
            </a:r>
            <a:endParaRPr kumimoji="1" lang="en-US" altLang="zh-CN" dirty="0"/>
          </a:p>
          <a:p>
            <a:r>
              <a:rPr kumimoji="1" lang="zh-CN" altLang="en-US" dirty="0"/>
              <a:t>变换参数求解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4" name="Picture 23" descr="homography">
            <a:extLst>
              <a:ext uri="{FF2B5EF4-FFF2-40B4-BE49-F238E27FC236}">
                <a16:creationId xmlns:a16="http://schemas.microsoft.com/office/drawing/2014/main" id="{BF65CFF5-BF0C-914B-B04C-EB4ED7307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6406" y="2971800"/>
            <a:ext cx="5691187" cy="284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491068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endParaRPr lang="en-US" dirty="0"/>
          </a:p>
        </p:txBody>
      </p:sp>
      <p:sp>
        <p:nvSpPr>
          <p:cNvPr id="118787" name="Content Placeholder 2"/>
          <p:cNvSpPr>
            <a:spLocks noGrp="1"/>
          </p:cNvSpPr>
          <p:nvPr>
            <p:ph idx="4294967295"/>
          </p:nvPr>
        </p:nvSpPr>
        <p:spPr>
          <a:xfrm>
            <a:off x="304800" y="1439333"/>
            <a:ext cx="7772400" cy="1981200"/>
          </a:xfrm>
        </p:spPr>
        <p:txBody>
          <a:bodyPr/>
          <a:lstStyle/>
          <a:p>
            <a:pPr eaLnBrk="1" hangingPunct="1"/>
            <a:r>
              <a:rPr lang="zh-CN" altLang="en-US" sz="2000" dirty="0"/>
              <a:t>非常鲁棒的匹配技术</a:t>
            </a:r>
            <a:endParaRPr lang="en-US" sz="2000" dirty="0"/>
          </a:p>
          <a:p>
            <a:pPr lvl="1" eaLnBrk="1" hangingPunct="1"/>
            <a:r>
              <a:rPr lang="zh-CN" altLang="en-US" sz="1800" dirty="0"/>
              <a:t>能适应视角的变化</a:t>
            </a:r>
            <a:endParaRPr lang="en-US" sz="1800" dirty="0"/>
          </a:p>
          <a:p>
            <a:pPr lvl="2"/>
            <a:r>
              <a:rPr lang="zh-CN" altLang="en-US" sz="1600" dirty="0"/>
              <a:t>上限为</a:t>
            </a:r>
            <a:r>
              <a:rPr lang="en-US" altLang="zh-CN" sz="1600" dirty="0"/>
              <a:t>60</a:t>
            </a:r>
            <a:r>
              <a:rPr lang="zh-CN" altLang="en-US" sz="1600" dirty="0"/>
              <a:t>度旋转变化</a:t>
            </a:r>
            <a:endParaRPr lang="en-US" sz="1600" dirty="0"/>
          </a:p>
          <a:p>
            <a:pPr lvl="1" eaLnBrk="1" hangingPunct="1"/>
            <a:r>
              <a:rPr lang="zh-CN" altLang="en-US" sz="1800" dirty="0"/>
              <a:t>能适应光照变化</a:t>
            </a:r>
            <a:endParaRPr lang="en-US" sz="1800" dirty="0"/>
          </a:p>
          <a:p>
            <a:pPr lvl="2" eaLnBrk="1" hangingPunct="1"/>
            <a:r>
              <a:rPr lang="zh-CN" altLang="en-US" sz="1600" dirty="0"/>
              <a:t>白天和晚上</a:t>
            </a:r>
            <a:endParaRPr lang="en-US" sz="1600" dirty="0"/>
          </a:p>
          <a:p>
            <a:pPr lvl="1" eaLnBrk="1" hangingPunct="1"/>
            <a:r>
              <a:rPr lang="zh-CN" altLang="en-US" sz="1800" dirty="0"/>
              <a:t>快速而高效</a:t>
            </a:r>
            <a:r>
              <a:rPr lang="en-US" altLang="zh-CN" sz="1800" dirty="0"/>
              <a:t>—</a:t>
            </a:r>
            <a:r>
              <a:rPr lang="zh-CN" altLang="en-US" sz="1800" dirty="0"/>
              <a:t>可以实现实时匹配</a:t>
            </a:r>
            <a:endParaRPr lang="en-US" sz="1100" dirty="0"/>
          </a:p>
        </p:txBody>
      </p:sp>
      <p:pic>
        <p:nvPicPr>
          <p:cNvPr id="118788" name="Picture 2" descr="http://www.cs.washington.edu/homes/snavely/outgoing/test/1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3487738"/>
            <a:ext cx="4495800" cy="337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89" name="Picture 4" descr="http://www.cs.washington.edu/homes/snavely/outgoing/test/2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59313" y="3494088"/>
            <a:ext cx="4484687" cy="336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790" name="TextBox 7"/>
          <p:cNvSpPr txBox="1">
            <a:spLocks noChangeArrowheads="1"/>
          </p:cNvSpPr>
          <p:nvPr/>
        </p:nvSpPr>
        <p:spPr bwMode="auto">
          <a:xfrm>
            <a:off x="7162800" y="6488113"/>
            <a:ext cx="1981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FFFF"/>
                </a:solidFill>
              </a:rPr>
              <a:t>Steve Seitz</a:t>
            </a:r>
          </a:p>
        </p:txBody>
      </p:sp>
    </p:spTree>
    <p:extLst>
      <p:ext uri="{BB962C8B-B14F-4D97-AF65-F5344CB8AC3E}">
        <p14:creationId xmlns:p14="http://schemas.microsoft.com/office/powerpoint/2010/main" val="9040205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dirty="0"/>
              <a:t>4.7.</a:t>
            </a:r>
            <a:r>
              <a:rPr lang="zh-CN" altLang="en-US" dirty="0"/>
              <a:t> </a:t>
            </a:r>
            <a:r>
              <a:rPr lang="en-US" altLang="zh-CN" dirty="0"/>
              <a:t>SIFT</a:t>
            </a:r>
            <a:r>
              <a:rPr lang="zh-CN" altLang="en-US" dirty="0"/>
              <a:t>算法</a:t>
            </a:r>
            <a:r>
              <a:rPr lang="en-US" altLang="zh-CN" dirty="0"/>
              <a:t>-</a:t>
            </a:r>
            <a:r>
              <a:rPr lang="zh-CN" altLang="en-US" dirty="0"/>
              <a:t>局部特征描述子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119811" name="Content Placeholder 2"/>
          <p:cNvSpPr>
            <a:spLocks noGrp="1"/>
          </p:cNvSpPr>
          <p:nvPr>
            <p:ph idx="4294967295"/>
          </p:nvPr>
        </p:nvSpPr>
        <p:spPr>
          <a:xfrm>
            <a:off x="228600" y="1447800"/>
            <a:ext cx="54102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>
                <a:latin typeface="Arial" pitchFamily="34" charset="0"/>
              </a:rPr>
              <a:t>一幅图像输出：</a:t>
            </a:r>
            <a:endParaRPr lang="en-US" sz="2400" dirty="0">
              <a:latin typeface="Arial" pitchFamily="34" charset="0"/>
            </a:endParaRPr>
          </a:p>
          <a:p>
            <a:pPr lvl="1" eaLnBrk="1" hangingPunct="1"/>
            <a:r>
              <a:rPr lang="en-US" altLang="zh-CN" sz="2000" dirty="0">
                <a:latin typeface="Arial" pitchFamily="34" charset="0"/>
              </a:rPr>
              <a:t>n</a:t>
            </a:r>
            <a:r>
              <a:rPr lang="zh-CN" altLang="en-US" sz="2000" dirty="0">
                <a:latin typeface="Arial" pitchFamily="34" charset="0"/>
              </a:rPr>
              <a:t>个</a:t>
            </a:r>
            <a:r>
              <a:rPr lang="en-US" sz="2000" dirty="0">
                <a:latin typeface="Arial" pitchFamily="34" charset="0"/>
              </a:rPr>
              <a:t>128-</a:t>
            </a:r>
            <a:r>
              <a:rPr lang="zh-CN" altLang="en-US" sz="2000" dirty="0">
                <a:latin typeface="Arial" pitchFamily="34" charset="0"/>
              </a:rPr>
              <a:t>维</a:t>
            </a:r>
            <a:r>
              <a:rPr lang="en-US" sz="2000" dirty="0">
                <a:latin typeface="Arial" pitchFamily="34" charset="0"/>
              </a:rPr>
              <a:t> </a:t>
            </a:r>
            <a:r>
              <a:rPr lang="zh-CN" altLang="en-US" sz="2000" dirty="0">
                <a:latin typeface="Arial" pitchFamily="34" charset="0"/>
              </a:rPr>
              <a:t>描述向量：每一个对应一个特征点块的梯度方向直方图</a:t>
            </a:r>
            <a:endParaRPr lang="en-US" sz="2000" dirty="0">
              <a:latin typeface="Arial" pitchFamily="34" charset="0"/>
            </a:endParaRPr>
          </a:p>
          <a:p>
            <a:pPr lvl="2" eaLnBrk="1" hangingPunct="1"/>
            <a:r>
              <a:rPr lang="en-US" sz="1600" dirty="0">
                <a:latin typeface="Arial" pitchFamily="34" charset="0"/>
              </a:rPr>
              <a:t>[n x 128</a:t>
            </a:r>
            <a:r>
              <a:rPr lang="zh-CN" altLang="en-US" sz="1600" dirty="0">
                <a:latin typeface="Arial" pitchFamily="34" charset="0"/>
              </a:rPr>
              <a:t> 矩阵</a:t>
            </a:r>
            <a:r>
              <a:rPr lang="en-US" sz="1600" dirty="0">
                <a:latin typeface="Arial" pitchFamily="34" charset="0"/>
              </a:rPr>
              <a:t>]</a:t>
            </a:r>
          </a:p>
          <a:p>
            <a:pPr lvl="1"/>
            <a:r>
              <a:rPr lang="en-US" altLang="zh-CN" sz="2000" dirty="0">
                <a:latin typeface="Arial" pitchFamily="34" charset="0"/>
              </a:rPr>
              <a:t>n</a:t>
            </a:r>
            <a:r>
              <a:rPr lang="zh-CN" altLang="en-US" sz="2000" dirty="0">
                <a:latin typeface="Arial" pitchFamily="34" charset="0"/>
              </a:rPr>
              <a:t>个尺度参数：对应每个特征点块的尺度</a:t>
            </a:r>
            <a:endParaRPr lang="en-US" sz="2000" dirty="0">
              <a:latin typeface="Arial" pitchFamily="34" charset="0"/>
            </a:endParaRPr>
          </a:p>
          <a:p>
            <a:pPr lvl="2" eaLnBrk="1" hangingPunct="1"/>
            <a:r>
              <a:rPr lang="en-US" sz="1600" dirty="0">
                <a:latin typeface="Arial" pitchFamily="34" charset="0"/>
              </a:rPr>
              <a:t>[n x 1</a:t>
            </a:r>
            <a:r>
              <a:rPr lang="zh-CN" altLang="en-US" sz="1600" dirty="0">
                <a:latin typeface="Arial" pitchFamily="34" charset="0"/>
              </a:rPr>
              <a:t> 向量</a:t>
            </a:r>
            <a:r>
              <a:rPr lang="en-US" sz="1600" dirty="0">
                <a:latin typeface="Arial" pitchFamily="34" charset="0"/>
              </a:rPr>
              <a:t>]</a:t>
            </a:r>
          </a:p>
          <a:p>
            <a:pPr lvl="1"/>
            <a:r>
              <a:rPr lang="en-US" altLang="zh-CN" sz="2000" dirty="0">
                <a:latin typeface="Arial" pitchFamily="34" charset="0"/>
              </a:rPr>
              <a:t>n</a:t>
            </a:r>
            <a:r>
              <a:rPr lang="zh-CN" altLang="en-US" sz="2000" dirty="0">
                <a:latin typeface="Arial" pitchFamily="34" charset="0"/>
              </a:rPr>
              <a:t>个主方向向量：对应每个特征点块的主方向</a:t>
            </a:r>
            <a:endParaRPr lang="en-US" sz="2000" dirty="0">
              <a:latin typeface="Arial" pitchFamily="34" charset="0"/>
            </a:endParaRPr>
          </a:p>
          <a:p>
            <a:pPr lvl="2" eaLnBrk="1" hangingPunct="1"/>
            <a:r>
              <a:rPr lang="en-US" sz="1600" dirty="0">
                <a:latin typeface="Arial" pitchFamily="34" charset="0"/>
              </a:rPr>
              <a:t>[n x 1 </a:t>
            </a:r>
            <a:r>
              <a:rPr lang="zh-CN" altLang="en-US" sz="1600" dirty="0">
                <a:latin typeface="Arial" pitchFamily="34" charset="0"/>
              </a:rPr>
              <a:t>向量</a:t>
            </a:r>
            <a:r>
              <a:rPr lang="en-US" sz="1600" dirty="0">
                <a:latin typeface="Arial" pitchFamily="34" charset="0"/>
              </a:rPr>
              <a:t>]</a:t>
            </a:r>
          </a:p>
          <a:p>
            <a:pPr lvl="1"/>
            <a:r>
              <a:rPr lang="en-US" altLang="zh-CN" sz="2000" dirty="0">
                <a:latin typeface="Arial" pitchFamily="34" charset="0"/>
              </a:rPr>
              <a:t>n</a:t>
            </a:r>
            <a:r>
              <a:rPr lang="zh-CN" altLang="en-US" sz="2000" dirty="0">
                <a:latin typeface="Arial" pitchFamily="34" charset="0"/>
              </a:rPr>
              <a:t>个</a:t>
            </a:r>
            <a:r>
              <a:rPr lang="en-US" sz="2000" dirty="0">
                <a:latin typeface="Arial" pitchFamily="34" charset="0"/>
              </a:rPr>
              <a:t>2d </a:t>
            </a:r>
            <a:r>
              <a:rPr lang="zh-CN" altLang="en-US" sz="2000" dirty="0">
                <a:latin typeface="Arial" pitchFamily="34" charset="0"/>
              </a:rPr>
              <a:t>点坐标：对应每个特征点的坐标</a:t>
            </a:r>
            <a:endParaRPr lang="en-US" sz="2000" dirty="0">
              <a:latin typeface="Arial" pitchFamily="34" charset="0"/>
            </a:endParaRPr>
          </a:p>
          <a:p>
            <a:pPr lvl="2" eaLnBrk="1" hangingPunct="1"/>
            <a:r>
              <a:rPr lang="en-US" sz="1600" dirty="0">
                <a:latin typeface="Arial" pitchFamily="34" charset="0"/>
              </a:rPr>
              <a:t>[n x 2 </a:t>
            </a:r>
            <a:r>
              <a:rPr lang="zh-CN" altLang="en-US" sz="1600" dirty="0">
                <a:latin typeface="Arial" pitchFamily="34" charset="0"/>
              </a:rPr>
              <a:t>矩阵</a:t>
            </a:r>
            <a:r>
              <a:rPr lang="en-US" sz="1600" dirty="0">
                <a:latin typeface="Arial" pitchFamily="34" charset="0"/>
              </a:rPr>
              <a:t>]</a:t>
            </a:r>
          </a:p>
        </p:txBody>
      </p:sp>
      <p:pic>
        <p:nvPicPr>
          <p:cNvPr id="119812" name="Picture 4" descr="http://www.cs.washington.edu/homes/snavely/outgoing/test/2a.jpg"/>
          <p:cNvPicPr>
            <a:picLocks noChangeAspect="1" noChangeArrowheads="1"/>
          </p:cNvPicPr>
          <p:nvPr/>
        </p:nvPicPr>
        <p:blipFill>
          <a:blip r:embed="rId3" cstate="print"/>
          <a:srcRect l="21599" t="30376" r="55637" b="43555"/>
          <a:stretch>
            <a:fillRect/>
          </a:stretch>
        </p:blipFill>
        <p:spPr bwMode="auto">
          <a:xfrm>
            <a:off x="5562600" y="2057400"/>
            <a:ext cx="32829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845804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A59DBD8-7E5F-4BCF-B31A-1319E25A9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本章小结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FB9E47A-35B0-416F-B133-81C1ABF6C7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038600" cy="49971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局部特征与匹配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特征类型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匹配流程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Harris</a:t>
            </a:r>
            <a:r>
              <a:rPr lang="zh-CN" altLang="en-US" sz="2400" dirty="0"/>
              <a:t>角点检测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角点的定义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Harris</a:t>
            </a:r>
            <a:r>
              <a:rPr lang="zh-CN" altLang="en-US" sz="2000" dirty="0"/>
              <a:t>角点检测子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Harris</a:t>
            </a:r>
            <a:r>
              <a:rPr lang="zh-CN" altLang="en-US" sz="2000" dirty="0"/>
              <a:t>角点的不变特性</a:t>
            </a:r>
            <a:endParaRPr lang="en-US" altLang="zh-CN" sz="20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尺度不变特征提取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尺度空间响应函数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 err="1"/>
              <a:t>LoG</a:t>
            </a:r>
            <a:r>
              <a:rPr lang="zh-CN" altLang="en-US" sz="2000" dirty="0"/>
              <a:t>检测子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特征尺度</a:t>
            </a:r>
            <a:endParaRPr lang="en-US" altLang="zh-CN" sz="2000" dirty="0"/>
          </a:p>
          <a:p>
            <a:pPr marL="0" indent="0">
              <a:buNone/>
            </a:pPr>
            <a:endParaRPr lang="zh-CN" altLang="zh-CN" sz="2000" dirty="0"/>
          </a:p>
          <a:p>
            <a:pPr lvl="1" eaLnBrk="1" hangingPunct="1">
              <a:lnSpc>
                <a:spcPct val="90000"/>
              </a:lnSpc>
            </a:pPr>
            <a:endParaRPr lang="zh-CN" altLang="en-US" sz="2000" dirty="0"/>
          </a:p>
        </p:txBody>
      </p:sp>
      <p:sp>
        <p:nvSpPr>
          <p:cNvPr id="158724" name="内容占位符 1">
            <a:extLst>
              <a:ext uri="{FF2B5EF4-FFF2-40B4-BE49-F238E27FC236}">
                <a16:creationId xmlns:a16="http://schemas.microsoft.com/office/drawing/2014/main" id="{F90EF2CC-4D83-4B45-999A-A2F7496B4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9952" y="1600200"/>
            <a:ext cx="4038600" cy="499715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局部区域描述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方向直方图描述子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旋转不变性</a:t>
            </a:r>
            <a:endParaRPr lang="en-US" altLang="zh-CN" sz="2000" dirty="0"/>
          </a:p>
          <a:p>
            <a:r>
              <a:rPr lang="zh-CN" altLang="en-US" sz="2400" dirty="0"/>
              <a:t>特征匹配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SSD</a:t>
            </a:r>
            <a:r>
              <a:rPr lang="zh-CN" altLang="en-US" sz="2000" dirty="0"/>
              <a:t>距离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比值</a:t>
            </a:r>
            <a:r>
              <a:rPr lang="en-US" altLang="zh-CN" sz="2000" dirty="0"/>
              <a:t>SSD</a:t>
            </a:r>
            <a:r>
              <a:rPr lang="zh-CN" altLang="en-US" sz="2000" dirty="0"/>
              <a:t>距离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参数变换</a:t>
            </a:r>
            <a:endParaRPr lang="en-US" altLang="zh-CN" sz="2000" dirty="0"/>
          </a:p>
          <a:p>
            <a:r>
              <a:rPr lang="en-US" altLang="zh-CN" sz="2400" dirty="0"/>
              <a:t>SIFT</a:t>
            </a:r>
            <a:r>
              <a:rPr lang="zh-CN" altLang="en-US" sz="2400" dirty="0"/>
              <a:t>算法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SIFT</a:t>
            </a:r>
            <a:r>
              <a:rPr lang="zh-CN" altLang="en-US" sz="2000" dirty="0"/>
              <a:t>算法流程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SIFT</a:t>
            </a:r>
            <a:r>
              <a:rPr lang="zh-CN" altLang="en-US" sz="2000" dirty="0"/>
              <a:t>算法特性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zh-CN" altLang="en-US" sz="2000" dirty="0"/>
          </a:p>
          <a:p>
            <a:pPr marL="0" indent="0">
              <a:buNone/>
            </a:pPr>
            <a:endParaRPr lang="en-US" altLang="zh-CN" sz="2000" dirty="0"/>
          </a:p>
          <a:p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3436213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+mj-ea"/>
              </a:rPr>
              <a:t>结束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15387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下一次课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机器学习与图像分类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405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A^T A = &#10;\left[&#10;\begin{array}{cc}&#10;\sum I_x I_x &amp; \sum I_x I_y \\&#10;\sum I_x I_y &amp; \sum I_y I_y&#10;\end{array}&#10;\right]&#10;=&#10;\sum&#10;\left[&#10;\begin{array}{c}&#10;I_x  \\&#10;I_y&#10;\end{array}&#10;\right]&#10;[I_x~I_y]&#10;=&#10;\sum \nabla I (\nabla I)^T&#10;\]&#10;\end{document}&#10;"/>
  <p:tag name="EXTERNALNAME" val="Edittex"/>
  <p:tag name="BLEND" val="False"/>
  <p:tag name="TRANSPARENT" val="False"/>
  <p:tag name="BITMAPFORMAT" val="bmp256"/>
  <p:tag name="DEBUGINTERACTIVE" val="True"/>
  <p:tag name="ORIGWIDTH" val="2141.1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A^T A = &#10;\left[&#10;\begin{array}{cc}&#10;\sum I_x I_x &amp; \sum I_x I_y \\&#10;\sum I_x I_y &amp; \sum I_y I_y&#10;\end{array}&#10;\right]&#10;=&#10;\sum&#10;\left[&#10;\begin{array}{c}&#10;I_x  \\&#10;I_y&#10;\end{array}&#10;\right]&#10;[I_x~I_y]&#10;=&#10;\sum \nabla I (\nabla I)^T&#10;\]&#10;\end{document}&#10;"/>
  <p:tag name="EXTERNALNAME" val="Edittex"/>
  <p:tag name="BLEND" val="False"/>
  <p:tag name="TRANSPARENT" val="False"/>
  <p:tag name="BITMAPFORMAT" val="bmp256"/>
  <p:tag name="DEBUGINTERACTIVE" val="True"/>
  <p:tag name="ORIGWIDTH" val="2141.1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h(u,v) = \frac{1}{2 \pi \sigma^2} e^{-\frac{u^2+v^2}{\sigma^2}}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820.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39669</TotalTime>
  <Words>3888</Words>
  <Application>Microsoft Macintosh PowerPoint</Application>
  <PresentationFormat>全屏显示(4:3)</PresentationFormat>
  <Paragraphs>746</Paragraphs>
  <Slides>119</Slides>
  <Notes>95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119</vt:i4>
      </vt:variant>
    </vt:vector>
  </HeadingPairs>
  <TitlesOfParts>
    <vt:vector size="140" baseType="lpstr">
      <vt:lpstr>Arial Unicode MS</vt:lpstr>
      <vt:lpstr>AvantGarde Bk BT</vt:lpstr>
      <vt:lpstr>CMEX10</vt:lpstr>
      <vt:lpstr>CMMI10</vt:lpstr>
      <vt:lpstr>CMMI7</vt:lpstr>
      <vt:lpstr>CMR10</vt:lpstr>
      <vt:lpstr>CMR7</vt:lpstr>
      <vt:lpstr>CMSY10</vt:lpstr>
      <vt:lpstr>Myriad Roman</vt:lpstr>
      <vt:lpstr>Arial</vt:lpstr>
      <vt:lpstr>Calibri</vt:lpstr>
      <vt:lpstr>Symbol</vt:lpstr>
      <vt:lpstr>Tahoma</vt:lpstr>
      <vt:lpstr>Times</vt:lpstr>
      <vt:lpstr>Times New Roman</vt:lpstr>
      <vt:lpstr>Office Theme</vt:lpstr>
      <vt:lpstr>Equation</vt:lpstr>
      <vt:lpstr>Photo Editor Photo</vt:lpstr>
      <vt:lpstr>Bitmap Image</vt:lpstr>
      <vt:lpstr>CorelDRAW</vt:lpstr>
      <vt:lpstr>Image</vt:lpstr>
      <vt:lpstr>计算机视觉 第04章 图像局部特征提取</vt:lpstr>
      <vt:lpstr>图像特征类别</vt:lpstr>
      <vt:lpstr>图像匹配</vt:lpstr>
      <vt:lpstr>难于匹配</vt:lpstr>
      <vt:lpstr>无法匹配?</vt:lpstr>
      <vt:lpstr>答案(彩色区域…)</vt:lpstr>
      <vt:lpstr>本章内容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4.1.局部特征与匹配</vt:lpstr>
      <vt:lpstr>本章内容</vt:lpstr>
      <vt:lpstr>4.2.Harris角点检测</vt:lpstr>
      <vt:lpstr>4.2.Harris角点检测</vt:lpstr>
      <vt:lpstr>4.2.Harris角点检测</vt:lpstr>
      <vt:lpstr>4.2.Harris角点检测</vt:lpstr>
      <vt:lpstr>4.2.Harris角点检测</vt:lpstr>
      <vt:lpstr>4.2.Harris角点检测</vt:lpstr>
      <vt:lpstr>PowerPoint 演示文稿</vt:lpstr>
      <vt:lpstr>4.2.Harris角点检测</vt:lpstr>
      <vt:lpstr>4.2.Harris角点检测</vt:lpstr>
      <vt:lpstr>4.2.Harris角点检测</vt:lpstr>
      <vt:lpstr>4.2.Harris角点检测—矩阵M的含义</vt:lpstr>
      <vt:lpstr>4.2.Harris角点检测—矩阵M的含义</vt:lpstr>
      <vt:lpstr>4.2.Harris角点检测—矩阵M的含义</vt:lpstr>
      <vt:lpstr>4.2.Harris角点检测—矩阵M的含义</vt:lpstr>
      <vt:lpstr>4.2.Harris角点检测— 角点响应函数</vt:lpstr>
      <vt:lpstr>4.2.Harris角点检测</vt:lpstr>
      <vt:lpstr>4.2.Harris角点检测—流程</vt:lpstr>
      <vt:lpstr>4.2.Harris角点检测—流程</vt:lpstr>
      <vt:lpstr>4.2.Harris角点检测—流程</vt:lpstr>
      <vt:lpstr>4.2.Harris角点检测—流程</vt:lpstr>
      <vt:lpstr>4.2.Harris角点检测—流程</vt:lpstr>
      <vt:lpstr>4.2.Harris角点检测—特性</vt:lpstr>
      <vt:lpstr>4.2.Harris角点检测—特性</vt:lpstr>
      <vt:lpstr>PowerPoint 演示文稿</vt:lpstr>
      <vt:lpstr>本章内容</vt:lpstr>
      <vt:lpstr>尺度与尺度空间</vt:lpstr>
      <vt:lpstr>尺度与尺度空间</vt:lpstr>
      <vt:lpstr>尺度与尺度空间</vt:lpstr>
      <vt:lpstr>图像采样 </vt:lpstr>
      <vt:lpstr>图像采样</vt:lpstr>
      <vt:lpstr>两倍下采样</vt:lpstr>
      <vt:lpstr>滤波结果</vt:lpstr>
      <vt:lpstr>高斯金字塔</vt:lpstr>
      <vt:lpstr>高斯金字塔</vt:lpstr>
      <vt:lpstr>高斯金字塔</vt:lpstr>
      <vt:lpstr>高斯金字塔</vt:lpstr>
      <vt:lpstr>PowerPoint 演示文稿</vt:lpstr>
      <vt:lpstr>本章内容</vt:lpstr>
      <vt:lpstr>4.4.不变特征提取</vt:lpstr>
      <vt:lpstr>4.4.不变特征提取—穷尽搜索</vt:lpstr>
      <vt:lpstr>4.4.不变特征提取—穷尽搜索</vt:lpstr>
      <vt:lpstr>4.4.不变特征提取—穷尽搜索</vt:lpstr>
      <vt:lpstr>4.4.不变特征提取—穷尽搜索</vt:lpstr>
      <vt:lpstr>4.4.不变特征提取—不变性</vt:lpstr>
      <vt:lpstr>4.4.不变特征提取—自动尺度选择</vt:lpstr>
      <vt:lpstr>4.4.不变特征提取—自动尺度选择</vt:lpstr>
      <vt:lpstr>4.4.不变特征提取—自动尺度选择</vt:lpstr>
      <vt:lpstr>4.4.不变特征提取—自动尺度选择</vt:lpstr>
      <vt:lpstr>4.4.不变特征提取—自动尺度选择</vt:lpstr>
      <vt:lpstr>4.4.不变特征提取—自动尺度选择</vt:lpstr>
      <vt:lpstr>4.4.不变特征提取—自动尺度选择</vt:lpstr>
      <vt:lpstr>4.4.不变特征提取—自动尺度选择</vt:lpstr>
      <vt:lpstr>4.4.不变特征提取—自动尺度选择</vt:lpstr>
      <vt:lpstr>4.4.不变特征提取—特征响应函数</vt:lpstr>
      <vt:lpstr>4.4.不变特征提取—特征尺度</vt:lpstr>
      <vt:lpstr>4.4.不变特征提取—LoG检测子</vt:lpstr>
      <vt:lpstr>尺度空间斑点检测子：举例</vt:lpstr>
      <vt:lpstr>尺度空间斑点检测子：举例</vt:lpstr>
      <vt:lpstr>尺度空间斑点检测子：举例</vt:lpstr>
      <vt:lpstr>4.4.不变特征提取—DoG检测子</vt:lpstr>
      <vt:lpstr>4.4.不变特征提取—DoG检测子</vt:lpstr>
      <vt:lpstr>举例</vt:lpstr>
      <vt:lpstr>尺度不变检测：总结</vt:lpstr>
      <vt:lpstr>本章内容</vt:lpstr>
      <vt:lpstr>4.5.局部区域描述</vt:lpstr>
      <vt:lpstr>4.5.局部区域描述</vt:lpstr>
      <vt:lpstr>4.5.局部区域描述</vt:lpstr>
      <vt:lpstr>4.5.局部区域描述—特征描述子</vt:lpstr>
      <vt:lpstr>4.5.局部区域描述—特征描述子SIFT</vt:lpstr>
      <vt:lpstr>4.5.局部区域描述—旋转不变描述子</vt:lpstr>
      <vt:lpstr>4.5.局部区域描述—旋转不变描述子</vt:lpstr>
      <vt:lpstr>本章内容</vt:lpstr>
      <vt:lpstr>4.6.特征匹配</vt:lpstr>
      <vt:lpstr>4.6.特征匹配</vt:lpstr>
      <vt:lpstr>4.6.特征匹配</vt:lpstr>
      <vt:lpstr>4.6.特征匹配—距离函数</vt:lpstr>
      <vt:lpstr>4.6.特征匹配—距离函数</vt:lpstr>
      <vt:lpstr>4.6.特征匹配—变换参数</vt:lpstr>
      <vt:lpstr>4.6.特征匹配—变换参数</vt:lpstr>
      <vt:lpstr>4.6.特征匹配—变换参数</vt:lpstr>
      <vt:lpstr>举例：图像匹配</vt:lpstr>
      <vt:lpstr>PowerPoint 演示文稿</vt:lpstr>
      <vt:lpstr>PowerPoint 演示文稿</vt:lpstr>
      <vt:lpstr>PowerPoint 演示文稿</vt:lpstr>
      <vt:lpstr>PowerPoint 演示文稿</vt:lpstr>
      <vt:lpstr>本章内容</vt:lpstr>
      <vt:lpstr>4.7. SIFT算法</vt:lpstr>
      <vt:lpstr>4.7. SIFT算法</vt:lpstr>
      <vt:lpstr>4.7. SIFT算法</vt:lpstr>
      <vt:lpstr>4.7. SIFT算法</vt:lpstr>
      <vt:lpstr>4.7. SIFT算法</vt:lpstr>
      <vt:lpstr>4.7. SIFT算法</vt:lpstr>
      <vt:lpstr>4.7. SIFT算法</vt:lpstr>
      <vt:lpstr>4.7. SIFT算法</vt:lpstr>
      <vt:lpstr>4.7. SIFT算法-局部特征描述子</vt:lpstr>
      <vt:lpstr>本章小结</vt:lpstr>
      <vt:lpstr>结束</vt:lpstr>
      <vt:lpstr>下一次课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parameters of image formation</dc:title>
  <dc:creator>trevor</dc:creator>
  <cp:lastModifiedBy>Microsoft Office User</cp:lastModifiedBy>
  <cp:revision>734</cp:revision>
  <dcterms:created xsi:type="dcterms:W3CDTF">2009-09-01T01:33:15Z</dcterms:created>
  <dcterms:modified xsi:type="dcterms:W3CDTF">2024-03-28T02:19:11Z</dcterms:modified>
</cp:coreProperties>
</file>