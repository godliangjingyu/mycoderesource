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9"/>
  </p:notesMasterIdLst>
  <p:sldIdLst>
    <p:sldId id="330" r:id="rId3"/>
    <p:sldId id="682" r:id="rId4"/>
    <p:sldId id="907" r:id="rId5"/>
    <p:sldId id="908" r:id="rId6"/>
    <p:sldId id="898" r:id="rId7"/>
    <p:sldId id="683" r:id="rId8"/>
    <p:sldId id="295" r:id="rId9"/>
    <p:sldId id="297" r:id="rId10"/>
    <p:sldId id="713" r:id="rId11"/>
    <p:sldId id="730" r:id="rId12"/>
    <p:sldId id="415" r:id="rId13"/>
    <p:sldId id="456" r:id="rId14"/>
    <p:sldId id="460" r:id="rId15"/>
    <p:sldId id="461" r:id="rId16"/>
    <p:sldId id="476" r:id="rId17"/>
    <p:sldId id="497" r:id="rId18"/>
    <p:sldId id="506" r:id="rId19"/>
    <p:sldId id="511" r:id="rId20"/>
    <p:sldId id="512" r:id="rId21"/>
    <p:sldId id="513" r:id="rId22"/>
    <p:sldId id="514" r:id="rId23"/>
    <p:sldId id="520" r:id="rId24"/>
    <p:sldId id="521" r:id="rId25"/>
    <p:sldId id="531" r:id="rId26"/>
    <p:sldId id="705" r:id="rId27"/>
    <p:sldId id="709" r:id="rId28"/>
    <p:sldId id="911" r:id="rId29"/>
    <p:sldId id="867" r:id="rId30"/>
    <p:sldId id="869" r:id="rId31"/>
    <p:sldId id="875" r:id="rId32"/>
    <p:sldId id="876" r:id="rId33"/>
    <p:sldId id="685" r:id="rId34"/>
    <p:sldId id="1253" r:id="rId35"/>
    <p:sldId id="1254" r:id="rId36"/>
    <p:sldId id="1255" r:id="rId37"/>
    <p:sldId id="1257" r:id="rId38"/>
    <p:sldId id="1258" r:id="rId39"/>
    <p:sldId id="1215" r:id="rId40"/>
    <p:sldId id="1259" r:id="rId41"/>
    <p:sldId id="1260" r:id="rId42"/>
    <p:sldId id="1261" r:id="rId43"/>
    <p:sldId id="1263" r:id="rId44"/>
    <p:sldId id="1264" r:id="rId45"/>
    <p:sldId id="687" r:id="rId46"/>
    <p:sldId id="287" r:id="rId47"/>
    <p:sldId id="1728" r:id="rId48"/>
    <p:sldId id="1735" r:id="rId49"/>
    <p:sldId id="388" r:id="rId50"/>
    <p:sldId id="399" r:id="rId51"/>
    <p:sldId id="1748" r:id="rId52"/>
    <p:sldId id="1799" r:id="rId53"/>
    <p:sldId id="1859" r:id="rId54"/>
    <p:sldId id="1860" r:id="rId55"/>
    <p:sldId id="2007" r:id="rId56"/>
    <p:sldId id="289" r:id="rId57"/>
    <p:sldId id="1861" r:id="rId58"/>
    <p:sldId id="1817" r:id="rId59"/>
    <p:sldId id="305" r:id="rId60"/>
    <p:sldId id="1862" r:id="rId61"/>
    <p:sldId id="2002" r:id="rId62"/>
    <p:sldId id="1927" r:id="rId63"/>
    <p:sldId id="292" r:id="rId64"/>
    <p:sldId id="1931" r:id="rId65"/>
    <p:sldId id="1995" r:id="rId66"/>
    <p:sldId id="1934" r:id="rId67"/>
    <p:sldId id="2000" r:id="rId68"/>
    <p:sldId id="323" r:id="rId69"/>
    <p:sldId id="262" r:id="rId70"/>
    <p:sldId id="693" r:id="rId71"/>
    <p:sldId id="260" r:id="rId72"/>
    <p:sldId id="2006" r:id="rId73"/>
    <p:sldId id="274" r:id="rId74"/>
    <p:sldId id="358" r:id="rId75"/>
    <p:sldId id="365" r:id="rId76"/>
    <p:sldId id="370" r:id="rId77"/>
    <p:sldId id="387" r:id="rId78"/>
    <p:sldId id="385" r:id="rId79"/>
    <p:sldId id="327" r:id="rId80"/>
    <p:sldId id="340" r:id="rId81"/>
    <p:sldId id="2100" r:id="rId82"/>
    <p:sldId id="1985" r:id="rId83"/>
    <p:sldId id="1990" r:id="rId84"/>
    <p:sldId id="2101" r:id="rId85"/>
    <p:sldId id="694" r:id="rId86"/>
    <p:sldId id="2102" r:id="rId87"/>
    <p:sldId id="316" r:id="rId8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FB1C05"/>
    <a:srgbClr val="FC695A"/>
    <a:srgbClr val="59F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10"/>
    <p:restoredTop sz="94674"/>
  </p:normalViewPr>
  <p:slideViewPr>
    <p:cSldViewPr>
      <p:cViewPr varScale="1">
        <p:scale>
          <a:sx n="145" d="100"/>
          <a:sy n="145" d="100"/>
        </p:scale>
        <p:origin x="3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4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1D9AC-C4DC-4626-BD9E-860ADBEBE25E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B2A92-AD47-4AF8-BBA5-94641E995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87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6364FE-8950-43FB-8EA6-BAA6B4D2A3A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6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FF3FE4-5CCB-4EE4-96DF-9F0DE97AA20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42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26AAA-A85F-464F-A94C-B4112C418EC8}" type="slidenum">
              <a:rPr lang="en-US" smtClean="0">
                <a:latin typeface="Arial" pitchFamily="34" charset="0"/>
              </a:rPr>
              <a:pPr/>
              <a:t>12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033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ADC06759-B181-4992-9306-57C61C412ABC}" type="slidenum">
              <a:rPr lang="en-US" sz="1200" smtClean="0">
                <a:solidFill>
                  <a:srgbClr val="000000"/>
                </a:solidFill>
                <a:latin typeface="Arial" pitchFamily="34" charset="0"/>
              </a:rPr>
              <a:pPr eaLnBrk="0" hangingPunct="0"/>
              <a:t>13</a:t>
            </a:fld>
            <a:endParaRPr lang="en-US" sz="1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52400" y="401638"/>
            <a:ext cx="7631113" cy="5724525"/>
          </a:xfrm>
          <a:solidFill>
            <a:srgbClr val="FFFFFF"/>
          </a:solidFill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3921" y="6367463"/>
            <a:ext cx="5620173" cy="253531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812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635F2A0E-0DE0-4E94-99BF-0028BB208054}" type="slidenum">
              <a:rPr lang="en-US" sz="1200" smtClean="0">
                <a:solidFill>
                  <a:srgbClr val="000000"/>
                </a:solidFill>
                <a:latin typeface="Arial" pitchFamily="34" charset="0"/>
              </a:rPr>
              <a:pPr eaLnBrk="0" hangingPunct="0"/>
              <a:t>14</a:t>
            </a:fld>
            <a:endParaRPr lang="en-US" sz="1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52400" y="401638"/>
            <a:ext cx="7631113" cy="5724525"/>
          </a:xfrm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3921" y="6367463"/>
            <a:ext cx="5620173" cy="253531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307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484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604141-2223-4400-B17F-8827A2B0492F}" type="slidenum">
              <a:rPr lang="en-US" smtClean="0">
                <a:solidFill>
                  <a:srgbClr val="000000"/>
                </a:solidFill>
                <a:latin typeface="Arial" pitchFamily="34" charset="0"/>
              </a:rPr>
              <a:pPr/>
              <a:t>16</a:t>
            </a:fld>
            <a:endParaRPr lang="en-US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382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957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0CB77C87-2C3E-46F5-B3F9-974A423D99FD}" type="slidenum">
              <a:rPr lang="en-US" sz="1200" smtClean="0">
                <a:solidFill>
                  <a:srgbClr val="000000"/>
                </a:solidFill>
                <a:latin typeface="Arial" pitchFamily="34" charset="0"/>
              </a:rPr>
              <a:pPr eaLnBrk="0" hangingPunct="0"/>
              <a:t>18</a:t>
            </a:fld>
            <a:endParaRPr lang="en-US" sz="1200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47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785372" lvl="1" indent="-302066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31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  <p:sp>
        <p:nvSpPr>
          <p:cNvPr id="133124" name="Slide Number Placeholder 3"/>
          <p:cNvSpPr txBox="1">
            <a:spLocks noGrp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/>
            <a:fld id="{25426A04-C3D0-45A8-A357-9EBC0982D5A8}" type="slidenum">
              <a:rPr lang="en-US" sz="1300"/>
              <a:pPr algn="r"/>
              <a:t>20</a:t>
            </a:fld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51861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054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/>
            <a:fld id="{E49C6101-8381-4A27-9814-35E65F47BF41}" type="slidenum">
              <a:rPr lang="en-US" sz="1300"/>
              <a:pPr algn="r"/>
              <a:t>22</a:t>
            </a:fld>
            <a:endParaRPr lang="en-US" sz="1300" dirty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800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315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04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84C32A9-5A2D-B045-843B-D06D034130F2}" type="slidenum">
              <a:rPr lang="en-US" sz="1200"/>
              <a:pPr eaLnBrk="1" hangingPunct="1"/>
              <a:t>26</a:t>
            </a:fld>
            <a:endParaRPr 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674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0D35FC-DE77-448B-A76A-5FA651EA8F55}" type="slidenum">
              <a:rPr lang="en-US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79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CF7FC-C39C-43F1-ADFB-D34A99595A39}" type="slidenum">
              <a:rPr lang="en-US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20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C7D925-B875-469D-8618-E773D99FEF70}" type="slidenum">
              <a:rPr lang="en-US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17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065F41-7C63-4BEA-8A66-2097E6A080E1}" type="slidenum">
              <a:rPr lang="en-US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6131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04801A4B-A49C-4A92-9B1A-BA8C807D67A9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6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6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34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C5EE5D04-15E8-4C03-9C40-69A74A0B5B46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33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415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95D729BE-8E81-4CFC-AD2F-39F6FA3E85FB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34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76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F97DF278-D59E-4167-B222-98ACC117170D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35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641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0E506C31-BE7C-41E3-816B-BF60A9C54F7A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36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9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8F01204A-2FD0-4714-AC05-4C45ACDABB0B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37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6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Let's go back to logistic regression.  We can think of binary logistic regression as a 1-layer network (</a:t>
            </a:r>
            <a:r>
              <a:rPr lang="en-US" sz="1200" dirty="0"/>
              <a:t>we don't count the input layer in counting layers!).  So we have an  input layer we could call layer 0 consisting of a vector x, we multiply x b a weight matrix, add a scalar bias, and then the 1</a:t>
            </a:r>
            <a:r>
              <a:rPr lang="en-US" sz="1200" baseline="30000" dirty="0"/>
              <a:t>st</a:t>
            </a:r>
            <a:r>
              <a:rPr lang="en-US" sz="1200" dirty="0"/>
              <a:t> layer, the output layer computes a a scalar y as a sigmoid of w dot x + 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830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multinomial Logistic Regression, where instead of a single sigmoid at the output, we have a </a:t>
            </a:r>
            <a:r>
              <a:rPr lang="en-US" dirty="0" err="1"/>
              <a:t>softmax</a:t>
            </a:r>
            <a:r>
              <a:rPr lang="en-US" dirty="0"/>
              <a:t> to turn the output values into probabilities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43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输出的结果中有很多重叠的情况，因为候选区域不是分离的，同一个目标可能有多个候选框覆盖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457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理想的检测子，</a:t>
            </a:r>
            <a:r>
              <a:rPr kumimoji="1" lang="en-US" altLang="zh-CN" dirty="0"/>
              <a:t>PR</a:t>
            </a:r>
            <a:r>
              <a:rPr kumimoji="1" lang="zh-CN" altLang="en-US" dirty="0"/>
              <a:t>曲线为矩形，包围面积为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680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IoU</a:t>
            </a:r>
            <a:r>
              <a:rPr kumimoji="1" lang="zh-CN" altLang="en-US" dirty="0"/>
              <a:t>阈值不同，得到不同阈值下的</a:t>
            </a:r>
            <a:r>
              <a:rPr kumimoji="1" lang="en-US" altLang="zh-CN" dirty="0" err="1"/>
              <a:t>mAP</a:t>
            </a:r>
            <a:r>
              <a:rPr kumimoji="1" lang="zh-CN" altLang="en-US" dirty="0"/>
              <a:t>值，最终的</a:t>
            </a:r>
            <a:r>
              <a:rPr kumimoji="1" lang="en-US" altLang="zh-CN" dirty="0" err="1"/>
              <a:t>mAP</a:t>
            </a:r>
            <a:r>
              <a:rPr kumimoji="1" lang="zh-CN" altLang="en-US" dirty="0"/>
              <a:t>值需要在不同阈值下取平均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148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两种方法对比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131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38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84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2F23-04BC-174D-975B-EA52EAFD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7F4B8-8373-BC4A-8421-8BD78F92E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60A5D-2670-46FB-9F71-125129B3C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71876-96D7-40D9-B5A9-E47ED4ADD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207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EFD5-305F-3C4E-B5C5-B78BD3A7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4F126-98FF-6B4D-94F9-975ED7B51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4EA1D-3BB7-425E-A2D4-396EA92A0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56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771B-1A74-4C45-B6AF-47D374D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48F0-52BC-7748-9157-69DC4A773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10DCD-E7F0-45F1-889B-9273A2954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C9234-F65F-489C-8BF6-2D58A516B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1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7107-386C-1641-9CD9-0EC991B1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DF79-BAF5-EB47-8AC9-CDF09BA2B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049E3-C1F5-CC4A-AC46-C057EFD0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1EEE-07E2-4433-89F0-A485480FA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69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362D-E980-D946-9FCF-611BCF4E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6468-B094-734F-B799-EBFFA6535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A95BD-C379-1647-A664-F00FED3CE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7818D-C5DD-3949-AF73-EA9BC14A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3B6B6-0AE2-F441-A704-ED8394DD9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DCD080-62AD-41B4-98C7-11051E670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966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63E-F1DC-634D-8382-33C14251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0696A53-1420-4DC0-802A-0E01355FA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659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DF79AB-86D9-428D-B986-52004005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572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1AFD-80A6-6549-AD56-7A92D9BC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5DC-D4BA-BD47-ACE3-F8A98BC7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DE935-FB9D-544B-BC4D-29D041A70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5D744-9BE6-4760-9BB6-4D3999EE8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954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D920-4F51-D640-B8F1-07E31B2B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4BEF5-1B11-FA44-96F2-FA7B0DC11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CBEFB-77FD-AB47-8634-5B508E79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03F69-4475-457D-8C25-BE3EFFAAD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22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6919-1AE4-084C-916B-607FA50E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BDEF-CA8F-6C48-8CFE-1DDCD148B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7C19E0A-E39D-4563-8C0A-EBB531534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18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05CC2-D948-264B-A9D4-D4CF09ADC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6F8B9-534E-594B-AA27-53CF5056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D03756-7836-4D15-AC3E-416BEA07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58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A3C84-B78A-4974-AD61-9619B9242517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A112F1-0439-894A-84D1-2EC63A591433}"/>
              </a:ext>
            </a:extLst>
          </p:cNvPr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972C9-ACB3-E341-B4E5-2D6626D2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0A5B-105D-DE45-A0A8-CB0E7B30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83937"/>
            <a:ext cx="7886700" cy="5120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AAF8-7122-C84B-B6BE-14153B0B7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2x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87CA8-D8A2-484C-BCF7-8D63AD7E53F8}"/>
              </a:ext>
            </a:extLst>
          </p:cNvPr>
          <p:cNvSpPr txBox="1"/>
          <p:nvPr userDrawn="1"/>
        </p:nvSpPr>
        <p:spPr>
          <a:xfrm>
            <a:off x="628650" y="6429346"/>
            <a:ext cx="13138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CB05"/>
                </a:solidFill>
              </a:rPr>
              <a:t>Justin Johnson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82331-011A-BB4A-90CA-EBA3BA780B6B}"/>
              </a:ext>
            </a:extLst>
          </p:cNvPr>
          <p:cNvSpPr txBox="1"/>
          <p:nvPr userDrawn="1"/>
        </p:nvSpPr>
        <p:spPr>
          <a:xfrm>
            <a:off x="6700707" y="6429345"/>
            <a:ext cx="18146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0" i="0" u="none" kern="1200" dirty="0">
                <a:solidFill>
                  <a:srgbClr val="FFCB05"/>
                </a:solidFill>
                <a:effectLst/>
                <a:latin typeface="+mn-lt"/>
                <a:ea typeface="+mn-ea"/>
                <a:cs typeface="+mn-cs"/>
              </a:rPr>
              <a:t>Fall 2019</a:t>
            </a:r>
            <a:endParaRPr lang="en-US" sz="1500" u="none" dirty="0">
              <a:solidFill>
                <a:srgbClr val="FFCB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2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17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5.png"/><Relationship Id="rId5" Type="http://schemas.openxmlformats.org/officeDocument/2006/relationships/tags" Target="../tags/tag5.xml"/><Relationship Id="rId10" Type="http://schemas.openxmlformats.org/officeDocument/2006/relationships/image" Target="../media/image14.png"/><Relationship Id="rId4" Type="http://schemas.openxmlformats.org/officeDocument/2006/relationships/tags" Target="../tags/tag4.xm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9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3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37.png"/><Relationship Id="rId5" Type="http://schemas.openxmlformats.org/officeDocument/2006/relationships/tags" Target="../tags/tag11.xml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tags" Target="../tags/tag10.xml"/><Relationship Id="rId9" Type="http://schemas.openxmlformats.org/officeDocument/2006/relationships/notesSlide" Target="../notesSlides/notesSlide13.xml"/><Relationship Id="rId1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5.xml"/><Relationship Id="rId7" Type="http://schemas.openxmlformats.org/officeDocument/2006/relationships/image" Target="../media/image42.png"/><Relationship Id="rId2" Type="http://schemas.openxmlformats.org/officeDocument/2006/relationships/tags" Target="../tags/tag1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45.png"/><Relationship Id="rId5" Type="http://schemas.openxmlformats.org/officeDocument/2006/relationships/notesSlide" Target="../notesSlides/notesSlide14.xml"/><Relationship Id="rId10" Type="http://schemas.openxmlformats.org/officeDocument/2006/relationships/image" Target="../media/image44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13" Type="http://schemas.openxmlformats.org/officeDocument/2006/relationships/image" Target="../media/image49.png"/><Relationship Id="rId18" Type="http://schemas.openxmlformats.org/officeDocument/2006/relationships/image" Target="../media/image52.png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7.png"/><Relationship Id="rId17" Type="http://schemas.openxmlformats.org/officeDocument/2006/relationships/image" Target="../media/image48.png"/><Relationship Id="rId2" Type="http://schemas.openxmlformats.org/officeDocument/2006/relationships/tags" Target="../tags/tag16.xml"/><Relationship Id="rId16" Type="http://schemas.openxmlformats.org/officeDocument/2006/relationships/oleObject" Target="../embeddings/oleObject9.bin"/><Relationship Id="rId1" Type="http://schemas.openxmlformats.org/officeDocument/2006/relationships/vmlDrawing" Target="../drawings/vmlDrawing4.vml"/><Relationship Id="rId6" Type="http://schemas.openxmlformats.org/officeDocument/2006/relationships/tags" Target="../tags/tag20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9.xml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3.png"/><Relationship Id="rId4" Type="http://schemas.openxmlformats.org/officeDocument/2006/relationships/tags" Target="../tags/tag18.xml"/><Relationship Id="rId9" Type="http://schemas.openxmlformats.org/officeDocument/2006/relationships/oleObject" Target="../embeddings/oleObject7.bin"/><Relationship Id="rId1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40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1.bin"/><Relationship Id="rId2" Type="http://schemas.openxmlformats.org/officeDocument/2006/relationships/tags" Target="../tags/tag2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8.emf"/><Relationship Id="rId4" Type="http://schemas.openxmlformats.org/officeDocument/2006/relationships/oleObject" Target="../embeddings/oleObject12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0.png"/><Relationship Id="rId11" Type="http://schemas.openxmlformats.org/officeDocument/2006/relationships/image" Target="../media/image63.png"/><Relationship Id="rId5" Type="http://schemas.openxmlformats.org/officeDocument/2006/relationships/image" Target="../media/image56.png"/><Relationship Id="rId10" Type="http://schemas.openxmlformats.org/officeDocument/2006/relationships/image" Target="../media/image62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9.png"/><Relationship Id="rId5" Type="http://schemas.openxmlformats.org/officeDocument/2006/relationships/image" Target="../media/image72.png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gif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gif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gif"/><Relationship Id="rId3" Type="http://schemas.openxmlformats.org/officeDocument/2006/relationships/image" Target="../media/image92.gif"/><Relationship Id="rId7" Type="http://schemas.openxmlformats.org/officeDocument/2006/relationships/image" Target="../media/image96.gif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5.gif"/><Relationship Id="rId5" Type="http://schemas.openxmlformats.org/officeDocument/2006/relationships/image" Target="../media/image94.gif"/><Relationship Id="rId4" Type="http://schemas.openxmlformats.org/officeDocument/2006/relationships/image" Target="../media/image93.gi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gif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2.gif"/><Relationship Id="rId5" Type="http://schemas.openxmlformats.org/officeDocument/2006/relationships/image" Target="../media/image101.gif"/><Relationship Id="rId4" Type="http://schemas.openxmlformats.org/officeDocument/2006/relationships/image" Target="../media/image100.gi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en/pets-christmas-dogs-cat-962215/" TargetMode="External"/><Relationship Id="rId4" Type="http://schemas.openxmlformats.org/officeDocument/2006/relationships/image" Target="../media/image107.jp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publicdomain/zero/1.0/deed.en" TargetMode="External"/><Relationship Id="rId4" Type="http://schemas.openxmlformats.org/officeDocument/2006/relationships/hyperlink" Target="https://pixabay.com/p-1246693/?no_redirect" TargetMode="Externa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publicdomain/zero/1.0/deed.en" TargetMode="External"/><Relationship Id="rId4" Type="http://schemas.openxmlformats.org/officeDocument/2006/relationships/hyperlink" Target="https://pixabay.com/p-1246693/?no_redirect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Puppy.jpg" TargetMode="External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0.png"/><Relationship Id="rId4" Type="http://schemas.openxmlformats.org/officeDocument/2006/relationships/hyperlink" Target="https://creativecommons.org/licenses/by/2.0/deed.en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Puppy.jpg" TargetMode="External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publicdomain/zero/1.0/" TargetMode="External"/><Relationship Id="rId4" Type="http://schemas.openxmlformats.org/officeDocument/2006/relationships/hyperlink" Target="https://pxhere.com/en/photo/652302" TargetMode="Externa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3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5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772400" cy="20574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/>
              <a:t>计算机视觉</a:t>
            </a:r>
            <a:br>
              <a:rPr lang="en-US" altLang="zh-CN" dirty="0"/>
            </a:br>
            <a:r>
              <a:rPr lang="zh-CN" altLang="en-US" dirty="0"/>
              <a:t>课程内容总结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343400"/>
            <a:ext cx="5105400" cy="12954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软件学院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 刘春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B6EB0-95FE-1841-A414-01F3AC7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第一章 绪论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DC1042-EBCF-4040-AD72-3D42A101B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什么是计算机视觉？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2.</a:t>
            </a:r>
            <a:r>
              <a:rPr kumimoji="1" lang="zh-CN" altLang="en-US" dirty="0"/>
              <a:t>计算机视觉的主要应用？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3.</a:t>
            </a:r>
            <a:r>
              <a:rPr kumimoji="1" lang="zh-CN" altLang="en-US" dirty="0"/>
              <a:t>计算机视觉发展历程</a:t>
            </a:r>
          </a:p>
        </p:txBody>
      </p:sp>
    </p:spTree>
    <p:extLst>
      <p:ext uri="{BB962C8B-B14F-4D97-AF65-F5344CB8AC3E}">
        <p14:creationId xmlns:p14="http://schemas.microsoft.com/office/powerpoint/2010/main" val="49118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DE1BB-C5A3-484F-AFD3-2EAE7658D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什么是计算机视觉</a:t>
            </a:r>
            <a:r>
              <a:rPr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025AC-0607-E441-94E0-66691A840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百度百科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     计算机视觉是一门研究如何使机器“看”的科学，更进一步的说，就是指用摄影机和电脑代替人眼对目标进行识别、跟踪和测量等机器视觉，并进一步做图形处理，使电脑处理成为更适合人眼观察或传送给仪器检测的图像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     作为一个科学学科，计算机视觉研究相关的理论和技术，试图建立能够从图像或者多维数据中获取‘信息’的人工智能系统。</a:t>
            </a:r>
          </a:p>
        </p:txBody>
      </p:sp>
    </p:spTree>
    <p:extLst>
      <p:ext uri="{BB962C8B-B14F-4D97-AF65-F5344CB8AC3E}">
        <p14:creationId xmlns:p14="http://schemas.microsoft.com/office/powerpoint/2010/main" val="369827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F12AD-91A9-5A4C-82E2-F61B3059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计算机视觉的主要应用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444C14-5357-344C-B73E-37D329AC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5518"/>
            <a:ext cx="8229600" cy="5822482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CN" dirty="0"/>
              <a:t>3D</a:t>
            </a:r>
            <a:r>
              <a:rPr kumimoji="1" lang="zh-CN" altLang="en-US" dirty="0"/>
              <a:t>建模</a:t>
            </a:r>
            <a:endParaRPr kumimoji="1" lang="en-US" altLang="zh-CN" dirty="0"/>
          </a:p>
          <a:p>
            <a:r>
              <a:rPr kumimoji="1" lang="zh-CN" altLang="en-US" dirty="0"/>
              <a:t>地图映射</a:t>
            </a:r>
            <a:endParaRPr kumimoji="1" lang="en-US" altLang="zh-CN" dirty="0"/>
          </a:p>
          <a:p>
            <a:r>
              <a:rPr kumimoji="1" lang="zh-CN" altLang="en-US" dirty="0"/>
              <a:t>计算摄影</a:t>
            </a:r>
            <a:endParaRPr kumimoji="1" lang="en-US" altLang="zh-CN" dirty="0"/>
          </a:p>
          <a:p>
            <a:r>
              <a:rPr kumimoji="1" lang="zh-CN" altLang="en-US" dirty="0"/>
              <a:t>手写字符识别</a:t>
            </a:r>
            <a:endParaRPr kumimoji="1" lang="en-US" altLang="zh-CN" dirty="0"/>
          </a:p>
          <a:p>
            <a:r>
              <a:rPr kumimoji="1" lang="zh-CN" altLang="en-US" dirty="0"/>
              <a:t>人脸检测</a:t>
            </a:r>
            <a:endParaRPr kumimoji="1" lang="en-US" altLang="zh-CN" dirty="0"/>
          </a:p>
          <a:p>
            <a:r>
              <a:rPr kumimoji="1" lang="zh-CN" altLang="en-US" dirty="0"/>
              <a:t>物体识别</a:t>
            </a:r>
            <a:endParaRPr kumimoji="1" lang="en-US" altLang="zh-CN" dirty="0"/>
          </a:p>
          <a:p>
            <a:r>
              <a:rPr kumimoji="1" lang="zh-CN" altLang="en-US" dirty="0"/>
              <a:t>生物视觉识别</a:t>
            </a:r>
            <a:endParaRPr kumimoji="1" lang="en-US" altLang="zh-CN" dirty="0"/>
          </a:p>
          <a:p>
            <a:r>
              <a:rPr kumimoji="1" lang="zh-CN" altLang="en-US" dirty="0"/>
              <a:t>目标识别</a:t>
            </a:r>
            <a:endParaRPr kumimoji="1" lang="en-US" altLang="zh-CN" dirty="0"/>
          </a:p>
          <a:p>
            <a:r>
              <a:rPr kumimoji="1" lang="zh-CN" altLang="en-US" dirty="0"/>
              <a:t>动画</a:t>
            </a:r>
            <a:r>
              <a:rPr kumimoji="1" lang="en-US" altLang="zh-CN" dirty="0"/>
              <a:t>3D</a:t>
            </a:r>
            <a:r>
              <a:rPr kumimoji="1" lang="zh-CN" altLang="en-US" dirty="0"/>
              <a:t>建模</a:t>
            </a:r>
            <a:endParaRPr kumimoji="1" lang="en-US" altLang="zh-CN" dirty="0"/>
          </a:p>
          <a:p>
            <a:r>
              <a:rPr kumimoji="1" lang="en-US" altLang="zh-CN" dirty="0"/>
              <a:t>AR/VR</a:t>
            </a:r>
          </a:p>
          <a:p>
            <a:r>
              <a:rPr kumimoji="1" lang="zh-CN" altLang="en-US" dirty="0"/>
              <a:t>自动驾驶</a:t>
            </a:r>
            <a:endParaRPr kumimoji="1" lang="en-US" altLang="zh-CN" dirty="0"/>
          </a:p>
          <a:p>
            <a:r>
              <a:rPr kumimoji="1" lang="zh-CN" altLang="en-US" dirty="0"/>
              <a:t>全景拼接</a:t>
            </a:r>
            <a:endParaRPr kumimoji="1" lang="en-US" altLang="zh-CN" dirty="0"/>
          </a:p>
          <a:p>
            <a:r>
              <a:rPr kumimoji="1" lang="zh-CN" altLang="en-US" dirty="0"/>
              <a:t>机器自主导航</a:t>
            </a:r>
            <a:endParaRPr kumimoji="1" lang="en-US" altLang="zh-CN" dirty="0"/>
          </a:p>
          <a:p>
            <a:r>
              <a:rPr kumimoji="1" lang="zh-CN" altLang="en-US" dirty="0"/>
              <a:t>工业视觉</a:t>
            </a:r>
            <a:endParaRPr kumimoji="1" lang="en-US" altLang="zh-CN" dirty="0"/>
          </a:p>
          <a:p>
            <a:r>
              <a:rPr kumimoji="1" lang="en-US" altLang="zh-CN" dirty="0"/>
              <a:t>…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29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8796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图像形成的基本原理</a:t>
            </a:r>
            <a:endParaRPr lang="en-US" sz="3600" dirty="0"/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图像分析基础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100" dirty="0"/>
              <a:t>         卷积与图像金字塔</a:t>
            </a:r>
            <a:endParaRPr lang="en-US" sz="3100" dirty="0"/>
          </a:p>
          <a:p>
            <a:pPr marL="0" indent="0">
              <a:buNone/>
            </a:pPr>
            <a:r>
              <a:rPr lang="zh-CN" altLang="en-US" sz="3100" dirty="0"/>
              <a:t>         图像局部特征分析</a:t>
            </a:r>
            <a:endParaRPr lang="en-US" sz="3100" dirty="0"/>
          </a:p>
          <a:p>
            <a:r>
              <a:rPr lang="en-US" altLang="zh-CN" sz="3600" dirty="0"/>
              <a:t>3.</a:t>
            </a:r>
            <a:r>
              <a:rPr lang="zh-CN" altLang="en-US" sz="3600" dirty="0"/>
              <a:t>基于深度学习的图像分析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100" dirty="0"/>
              <a:t>         深度学习与图像分类</a:t>
            </a:r>
            <a:endParaRPr lang="en-US" sz="3100" dirty="0"/>
          </a:p>
          <a:p>
            <a:pPr marL="0" indent="0">
              <a:buNone/>
            </a:pPr>
            <a:r>
              <a:rPr lang="zh-CN" altLang="en-US" sz="3100" dirty="0"/>
              <a:t>         图像分割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目标检测与识别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图像生成</a:t>
            </a:r>
            <a:endParaRPr lang="en-US" altLang="zh-CN" sz="3100" dirty="0"/>
          </a:p>
          <a:p>
            <a:r>
              <a:rPr lang="en-US" altLang="zh-CN" sz="3600" dirty="0"/>
              <a:t>4.</a:t>
            </a:r>
            <a:r>
              <a:rPr lang="zh-CN" altLang="en-US" sz="3600" dirty="0"/>
              <a:t> 视觉分析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100" dirty="0"/>
              <a:t>         图像全景拼接与配准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光流与运动估计</a:t>
            </a:r>
            <a:endParaRPr lang="en-US" altLang="zh-CN" sz="3100" dirty="0"/>
          </a:p>
          <a:p>
            <a:pPr marL="0" indent="0">
              <a:buNone/>
            </a:pPr>
            <a:r>
              <a:rPr lang="zh-CN" altLang="en-US" sz="3100" dirty="0"/>
              <a:t>         双目视觉原理</a:t>
            </a:r>
            <a:r>
              <a:rPr lang="en-US" sz="3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403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A9D4D-4185-BD4F-98E1-B3D9860C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第二章 图像形成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37AEB-5F0B-F040-91FE-79A1D003C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针孔相机模型</a:t>
            </a:r>
            <a:endParaRPr kumimoji="1" lang="en-US" altLang="zh-CN" dirty="0"/>
          </a:p>
          <a:p>
            <a:r>
              <a:rPr kumimoji="1" lang="zh-CN" altLang="en-US" dirty="0"/>
              <a:t>几何模型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sz="2800" dirty="0"/>
              <a:t>            内部参数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800" dirty="0"/>
              <a:t>            外部参数</a:t>
            </a:r>
            <a:endParaRPr kumimoji="1" lang="en-US" altLang="zh-CN" sz="280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990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338"/>
            <a:ext cx="8229600" cy="1143000"/>
          </a:xfrm>
        </p:spPr>
        <p:txBody>
          <a:bodyPr/>
          <a:lstStyle/>
          <a:p>
            <a:r>
              <a:rPr kumimoji="1" lang="en-US" altLang="zh-CN" sz="4000" dirty="0"/>
              <a:t>2.1</a:t>
            </a:r>
            <a:r>
              <a:rPr lang="zh-CN" altLang="en-US" sz="4000" dirty="0"/>
              <a:t>针孔相机</a:t>
            </a:r>
            <a:endParaRPr lang="en-US" sz="40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3825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三维世界至二维图像平面投影</a:t>
            </a:r>
            <a:endParaRPr lang="en-US" sz="2800" dirty="0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4925" y="6545263"/>
            <a:ext cx="23034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Forsyth and Ponce</a:t>
            </a:r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 cstate="print"/>
          <a:srcRect l="17465" t="47516" r="16969" b="6912"/>
          <a:stretch>
            <a:fillRect/>
          </a:stretch>
        </p:blipFill>
        <p:spPr bwMode="auto">
          <a:xfrm>
            <a:off x="360363" y="1952625"/>
            <a:ext cx="8532812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7270" name="Text Box 6"/>
          <p:cNvSpPr txBox="1">
            <a:spLocks noChangeArrowheads="1"/>
          </p:cNvSpPr>
          <p:nvPr/>
        </p:nvSpPr>
        <p:spPr bwMode="auto">
          <a:xfrm>
            <a:off x="4356100" y="4103688"/>
            <a:ext cx="12969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相机参考坐标</a:t>
            </a:r>
            <a:endParaRPr lang="en-US" dirty="0"/>
          </a:p>
        </p:txBody>
      </p:sp>
      <p:sp>
        <p:nvSpPr>
          <p:cNvPr id="267271" name="Text Box 7"/>
          <p:cNvSpPr txBox="1">
            <a:spLocks noChangeArrowheads="1"/>
          </p:cNvSpPr>
          <p:nvPr/>
        </p:nvSpPr>
        <p:spPr bwMode="auto">
          <a:xfrm>
            <a:off x="792163" y="2051050"/>
            <a:ext cx="1296987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图像</a:t>
            </a:r>
            <a:endParaRPr lang="en-US" dirty="0"/>
          </a:p>
          <a:p>
            <a:pPr>
              <a:spcBef>
                <a:spcPct val="50000"/>
              </a:spcBef>
            </a:pPr>
            <a:r>
              <a:rPr lang="en-US" dirty="0" err="1"/>
              <a:t>平面</a:t>
            </a:r>
            <a:endParaRPr lang="en-US" dirty="0"/>
          </a:p>
        </p:txBody>
      </p:sp>
      <p:sp>
        <p:nvSpPr>
          <p:cNvPr id="267272" name="Text Box 8"/>
          <p:cNvSpPr txBox="1">
            <a:spLocks noChangeArrowheads="1"/>
          </p:cNvSpPr>
          <p:nvPr/>
        </p:nvSpPr>
        <p:spPr bwMode="auto">
          <a:xfrm>
            <a:off x="6127433" y="3832226"/>
            <a:ext cx="6746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光轴</a:t>
            </a:r>
            <a:endParaRPr lang="en-US" dirty="0"/>
          </a:p>
        </p:txBody>
      </p:sp>
      <p:sp>
        <p:nvSpPr>
          <p:cNvPr id="267273" name="Text Box 9"/>
          <p:cNvSpPr txBox="1">
            <a:spLocks noChangeArrowheads="1"/>
          </p:cNvSpPr>
          <p:nvPr/>
        </p:nvSpPr>
        <p:spPr bwMode="auto">
          <a:xfrm>
            <a:off x="2987675" y="2519363"/>
            <a:ext cx="669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焦距</a:t>
            </a:r>
            <a:endParaRPr lang="en-US" dirty="0"/>
          </a:p>
        </p:txBody>
      </p:sp>
      <p:sp>
        <p:nvSpPr>
          <p:cNvPr id="27658" name="TextBox 10"/>
          <p:cNvSpPr txBox="1">
            <a:spLocks noChangeArrowheads="1"/>
          </p:cNvSpPr>
          <p:nvPr/>
        </p:nvSpPr>
        <p:spPr bwMode="auto">
          <a:xfrm>
            <a:off x="7200900" y="5108575"/>
            <a:ext cx="17160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/>
              <a:t>场景</a:t>
            </a:r>
            <a:r>
              <a:rPr lang="en-US" dirty="0"/>
              <a:t> / </a:t>
            </a:r>
            <a:r>
              <a:rPr lang="zh-CN" altLang="en-US" dirty="0"/>
              <a:t>世界</a:t>
            </a:r>
            <a:endParaRPr lang="en-US" altLang="zh-CN" dirty="0"/>
          </a:p>
          <a:p>
            <a:r>
              <a:rPr lang="zh-CN" altLang="en-US" dirty="0"/>
              <a:t>点集</a:t>
            </a: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905126" y="5346700"/>
            <a:ext cx="3492500" cy="1125538"/>
            <a:chOff x="2290" y="3385"/>
            <a:chExt cx="2200" cy="709"/>
          </a:xfrm>
        </p:grpSpPr>
        <p:pic>
          <p:nvPicPr>
            <p:cNvPr id="27664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 l="42816" t="69298" r="38101" b="23660"/>
            <a:stretch>
              <a:fillRect/>
            </a:stretch>
          </p:blipFill>
          <p:spPr bwMode="auto">
            <a:xfrm>
              <a:off x="2290" y="3385"/>
              <a:ext cx="1769" cy="4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65" name="Text Box 6"/>
            <p:cNvSpPr txBox="1">
              <a:spLocks noChangeArrowheads="1"/>
            </p:cNvSpPr>
            <p:nvPr/>
          </p:nvSpPr>
          <p:spPr bwMode="auto">
            <a:xfrm>
              <a:off x="2416" y="3863"/>
              <a:ext cx="5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场景点</a:t>
              </a:r>
              <a:endParaRPr lang="en-US" dirty="0"/>
            </a:p>
          </p:txBody>
        </p:sp>
        <p:sp>
          <p:nvSpPr>
            <p:cNvPr id="27666" name="Text Box 7"/>
            <p:cNvSpPr txBox="1">
              <a:spLocks noChangeArrowheads="1"/>
            </p:cNvSpPr>
            <p:nvPr/>
          </p:nvSpPr>
          <p:spPr bwMode="auto">
            <a:xfrm>
              <a:off x="3174" y="3857"/>
              <a:ext cx="1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图像坐标</a:t>
              </a:r>
              <a:endParaRPr lang="en-US" dirty="0"/>
            </a:p>
          </p:txBody>
        </p:sp>
      </p:grpSp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4" cstate="print"/>
          <a:srcRect l="49915" t="69658" r="47400" b="23677"/>
          <a:stretch>
            <a:fillRect/>
          </a:stretch>
        </p:blipFill>
        <p:spPr bwMode="auto">
          <a:xfrm>
            <a:off x="3951288" y="6030913"/>
            <a:ext cx="39528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18"/>
          <p:cNvSpPr/>
          <p:nvPr/>
        </p:nvSpPr>
        <p:spPr>
          <a:xfrm>
            <a:off x="2600325" y="5145088"/>
            <a:ext cx="3833813" cy="14605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151982" y="5377656"/>
            <a:ext cx="612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‘</a:t>
            </a:r>
            <a:r>
              <a:rPr lang="en-US" sz="2400" b="1" dirty="0"/>
              <a:t>’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470276" y="5015706"/>
            <a:ext cx="61277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‘</a:t>
            </a:r>
          </a:p>
          <a:p>
            <a:r>
              <a:rPr lang="en-US" sz="2400" b="1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56851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0" grpId="0"/>
      <p:bldP spid="267271" grpId="0"/>
      <p:bldP spid="267272" grpId="0"/>
      <p:bldP spid="267273" grpId="0"/>
      <p:bldP spid="19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>
          <a:xfrm>
            <a:off x="457200" y="-3175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2.3</a:t>
            </a:r>
            <a:r>
              <a:rPr kumimoji="1" lang="zh-CN" altLang="en-US" dirty="0"/>
              <a:t>几何模型</a:t>
            </a:r>
            <a:endParaRPr lang="en-US" dirty="0"/>
          </a:p>
        </p:txBody>
      </p:sp>
      <p:sp>
        <p:nvSpPr>
          <p:cNvPr id="1029" name="Text Box 2"/>
          <p:cNvSpPr txBox="1">
            <a:spLocks noChangeArrowheads="1"/>
          </p:cNvSpPr>
          <p:nvPr/>
        </p:nvSpPr>
        <p:spPr bwMode="auto">
          <a:xfrm>
            <a:off x="6207125" y="4200525"/>
            <a:ext cx="229083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dirty="0"/>
              <a:t>齐次坐标除以</a:t>
            </a:r>
            <a:r>
              <a:rPr lang="en-US" altLang="zh-CN" dirty="0"/>
              <a:t>z</a:t>
            </a:r>
            <a:r>
              <a:rPr lang="zh-CN" altLang="en-US" dirty="0"/>
              <a:t>坐标转换成非齐次坐标</a:t>
            </a:r>
            <a:endParaRPr lang="en-US" dirty="0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729768" y="1704975"/>
            <a:ext cx="77724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3200" kern="0" dirty="0"/>
              <a:t>透视投影基本方程矩阵表示：</a:t>
            </a:r>
            <a:endParaRPr lang="en-US" altLang="zh-CN" sz="3200" kern="0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914400" y="2374900"/>
          <a:ext cx="495300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9" name="Equation" r:id="rId4" imgW="1892160" imgH="914400" progId="Equation.3">
                  <p:embed/>
                </p:oleObj>
              </mc:Choice>
              <mc:Fallback>
                <p:oleObj name="Equation" r:id="rId4" imgW="1892160" imgH="91440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74900"/>
                        <a:ext cx="4953000" cy="239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943600" y="3016250"/>
          <a:ext cx="24384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0" name="Equation" r:id="rId6" imgW="927000" imgH="393480" progId="Equation.3">
                  <p:embed/>
                </p:oleObj>
              </mc:Choice>
              <mc:Fallback>
                <p:oleObj name="Equation" r:id="rId6" imgW="927000" imgH="393480" progId="Equation.3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016250"/>
                        <a:ext cx="243840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Text Box 19"/>
          <p:cNvSpPr txBox="1">
            <a:spLocks noChangeArrowheads="1"/>
          </p:cNvSpPr>
          <p:nvPr/>
        </p:nvSpPr>
        <p:spPr bwMode="auto">
          <a:xfrm>
            <a:off x="7607300" y="6583363"/>
            <a:ext cx="15367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dirty="0"/>
              <a:t>Slide by Steve Seitz</a:t>
            </a:r>
          </a:p>
        </p:txBody>
      </p:sp>
    </p:spTree>
    <p:extLst>
      <p:ext uri="{BB962C8B-B14F-4D97-AF65-F5344CB8AC3E}">
        <p14:creationId xmlns:p14="http://schemas.microsoft.com/office/powerpoint/2010/main" val="134742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940F6-A449-E948-9000-3CC55E5F6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2.3</a:t>
            </a:r>
            <a:r>
              <a:rPr kumimoji="1" lang="zh-CN" altLang="en-US" dirty="0"/>
              <a:t>几何模型</a:t>
            </a:r>
            <a:r>
              <a:rPr kumimoji="1" lang="en-US" altLang="zh-CN" dirty="0"/>
              <a:t>-</a:t>
            </a:r>
            <a:r>
              <a:rPr kumimoji="1" lang="zh-CN" altLang="en-US" dirty="0"/>
              <a:t>内部参数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9E355-B87C-F844-8801-C5014C574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相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机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矩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阵</a:t>
            </a:r>
          </a:p>
        </p:txBody>
      </p:sp>
      <p:pic>
        <p:nvPicPr>
          <p:cNvPr id="4" name="Picture 1" descr="page11image60114768">
            <a:extLst>
              <a:ext uri="{FF2B5EF4-FFF2-40B4-BE49-F238E27FC236}">
                <a16:creationId xmlns:a16="http://schemas.microsoft.com/office/drawing/2014/main" id="{A2D3E67F-C562-1E4E-8991-BA3835507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145" y="1195421"/>
            <a:ext cx="6645710" cy="27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D1C253-E484-F94A-8963-97AC920D6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945" y="3671902"/>
            <a:ext cx="4023987" cy="31098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B994ED9-252C-1C48-B851-2919C4722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16796"/>
            <a:ext cx="2633614" cy="140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76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0C4A4-F3E3-9345-A128-5A192973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2.3</a:t>
            </a:r>
            <a:r>
              <a:rPr kumimoji="1" lang="zh-CN" altLang="en-US" dirty="0"/>
              <a:t>几何模型</a:t>
            </a:r>
            <a:r>
              <a:rPr kumimoji="1" lang="en-US" altLang="zh-CN" dirty="0"/>
              <a:t>-</a:t>
            </a:r>
            <a:r>
              <a:rPr kumimoji="1" lang="zh-CN" altLang="en-US" dirty="0"/>
              <a:t>外部参数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A7929E-A762-D24E-BF29-A819538D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4D</a:t>
            </a:r>
            <a:r>
              <a:rPr kumimoji="1" lang="zh-CN" altLang="en-US" dirty="0"/>
              <a:t>齐次坐标：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C484FB-223B-D142-A9E3-82E9053B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8784"/>
            <a:ext cx="7052920" cy="2819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8D8F91-EC30-DD44-B763-6AAF26716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476" y="3918836"/>
            <a:ext cx="2743200" cy="11485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8D76898-9F7A-DC4A-8AF2-56E71AE55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536" y="3268773"/>
            <a:ext cx="1562100" cy="1803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417723-104D-704D-8DC1-B914648B2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35230"/>
            <a:ext cx="8534400" cy="161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19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59DBD8-7E5F-4BCF-B31A-1319E25A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/>
              <a:t>第三章 图像滤波与边缘检测</a:t>
            </a:r>
            <a:endParaRPr lang="zh-CN" altLang="en-US" dirty="0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FB9E47A-35B0-416F-B133-81C1ABF6C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数字图像的表示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二维函数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二维至一维映射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图像基本操作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点操作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局部区域操作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全局操作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滤波与卷积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噪声类型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高斯滤波器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滤波核参数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卷积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边界效应</a:t>
            </a:r>
            <a:endParaRPr lang="en-US" altLang="zh-CN" sz="2000" dirty="0"/>
          </a:p>
          <a:p>
            <a:pPr marL="457200" lvl="1" indent="0">
              <a:buNone/>
            </a:pPr>
            <a:endParaRPr lang="zh-CN" altLang="zh-CN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</p:txBody>
      </p:sp>
      <p:sp>
        <p:nvSpPr>
          <p:cNvPr id="158724" name="内容占位符 1">
            <a:extLst>
              <a:ext uri="{FF2B5EF4-FFF2-40B4-BE49-F238E27FC236}">
                <a16:creationId xmlns:a16="http://schemas.microsoft.com/office/drawing/2014/main" id="{F90EF2CC-4D83-4B45-999A-A2F7496B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9952" y="1600200"/>
            <a:ext cx="4038600" cy="49971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模板匹配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相关运算</a:t>
            </a:r>
            <a:endParaRPr lang="en-US" altLang="zh-CN" sz="2000" dirty="0"/>
          </a:p>
          <a:p>
            <a:r>
              <a:rPr lang="zh-CN" altLang="en-US" sz="2400" dirty="0"/>
              <a:t>边缘检测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边缘定义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边缘检测步骤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梯度检测子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高斯拉普拉斯检测子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Canny</a:t>
            </a:r>
            <a:r>
              <a:rPr lang="zh-CN" altLang="en-US" sz="2000" dirty="0"/>
              <a:t>检测子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  <a:p>
            <a:pPr marL="457200" lvl="1" indent="0">
              <a:lnSpc>
                <a:spcPct val="90000"/>
              </a:lnSpc>
              <a:buNone/>
            </a:pP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095606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701675" y="0"/>
            <a:ext cx="77724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3.3</a:t>
            </a:r>
            <a:r>
              <a:rPr kumimoji="1" lang="zh-CN" altLang="en-US" dirty="0"/>
              <a:t> 图像滤波</a:t>
            </a:r>
            <a:endParaRPr lang="en-US" dirty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539750" y="1260475"/>
            <a:ext cx="7772400" cy="41148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如何设置滤波核</a:t>
            </a:r>
            <a:r>
              <a:rPr lang="en-US" altLang="zh-CN" sz="2800" i="1" dirty="0"/>
              <a:t>H</a:t>
            </a:r>
            <a:r>
              <a:rPr lang="zh-CN" altLang="en-US" sz="2800" dirty="0"/>
              <a:t>的值</a:t>
            </a:r>
            <a:r>
              <a:rPr lang="en-US" sz="2800" dirty="0"/>
              <a:t>?</a:t>
            </a:r>
          </a:p>
        </p:txBody>
      </p:sp>
      <p:graphicFrame>
        <p:nvGraphicFramePr>
          <p:cNvPr id="4" name="Group 129"/>
          <p:cNvGraphicFramePr>
            <a:graphicFrameLocks noGrp="1"/>
          </p:cNvGraphicFramePr>
          <p:nvPr/>
        </p:nvGraphicFramePr>
        <p:xfrm>
          <a:off x="6211888" y="2628900"/>
          <a:ext cx="2741600" cy="2518883"/>
        </p:xfrm>
        <a:graphic>
          <a:graphicData uri="http://schemas.openxmlformats.org/drawingml/2006/table">
            <a:tbl>
              <a:tblPr/>
              <a:tblGrid>
                <a:gridCol w="274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2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6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113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43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17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0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12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617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28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28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28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28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3919" name="Picture 252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018338" y="2187575"/>
            <a:ext cx="108108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920" name="Rectangle 253"/>
          <p:cNvSpPr>
            <a:spLocks noChangeArrowheads="1"/>
          </p:cNvSpPr>
          <p:nvPr/>
        </p:nvSpPr>
        <p:spPr bwMode="auto">
          <a:xfrm>
            <a:off x="7529513" y="2808288"/>
            <a:ext cx="381000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000000"/>
              </a:solidFill>
              <a:cs typeface="Arial" pitchFamily="34" charset="0"/>
            </a:endParaRPr>
          </a:p>
        </p:txBody>
      </p:sp>
      <p:graphicFrame>
        <p:nvGraphicFramePr>
          <p:cNvPr id="7" name="Group 503"/>
          <p:cNvGraphicFramePr>
            <a:graphicFrameLocks noGrp="1"/>
          </p:cNvGraphicFramePr>
          <p:nvPr/>
        </p:nvGraphicFramePr>
        <p:xfrm>
          <a:off x="300038" y="2552700"/>
          <a:ext cx="3140011" cy="2551105"/>
        </p:xfrm>
        <a:graphic>
          <a:graphicData uri="http://schemas.openxmlformats.org/drawingml/2006/table">
            <a:tbl>
              <a:tblPr/>
              <a:tblGrid>
                <a:gridCol w="314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6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3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0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3100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46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100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100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8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29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100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100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46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100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4044" name="Picture 62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249363" y="2173288"/>
            <a:ext cx="1131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045" name="Rectangle 127"/>
          <p:cNvSpPr>
            <a:spLocks noChangeArrowheads="1"/>
          </p:cNvSpPr>
          <p:nvPr/>
        </p:nvSpPr>
        <p:spPr bwMode="auto">
          <a:xfrm>
            <a:off x="1577975" y="2514600"/>
            <a:ext cx="914400" cy="8032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000000"/>
              </a:solidFill>
              <a:cs typeface="Arial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87800" y="2735263"/>
            <a:ext cx="1752600" cy="1473200"/>
            <a:chOff x="3799" y="2064"/>
            <a:chExt cx="1433" cy="1136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080" y="2064"/>
              <a:ext cx="1152" cy="1136"/>
              <a:chOff x="144" y="144"/>
              <a:chExt cx="1152" cy="1136"/>
            </a:xfrm>
          </p:grpSpPr>
          <p:sp>
            <p:nvSpPr>
              <p:cNvPr id="34054" name="Rectangle 6"/>
              <p:cNvSpPr>
                <a:spLocks noChangeArrowheads="1"/>
              </p:cNvSpPr>
              <p:nvPr/>
            </p:nvSpPr>
            <p:spPr bwMode="auto">
              <a:xfrm>
                <a:off x="912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55" name="Rectangle 7"/>
              <p:cNvSpPr>
                <a:spLocks noChangeArrowheads="1"/>
              </p:cNvSpPr>
              <p:nvPr/>
            </p:nvSpPr>
            <p:spPr bwMode="auto">
              <a:xfrm>
                <a:off x="528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56" name="Rectangle 8"/>
              <p:cNvSpPr>
                <a:spLocks noChangeArrowheads="1"/>
              </p:cNvSpPr>
              <p:nvPr/>
            </p:nvSpPr>
            <p:spPr bwMode="auto">
              <a:xfrm>
                <a:off x="144" y="901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57" name="Rectangle 9"/>
              <p:cNvSpPr>
                <a:spLocks noChangeArrowheads="1"/>
              </p:cNvSpPr>
              <p:nvPr/>
            </p:nvSpPr>
            <p:spPr bwMode="auto">
              <a:xfrm>
                <a:off x="912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58" name="Rectangle 10"/>
              <p:cNvSpPr>
                <a:spLocks noChangeArrowheads="1"/>
              </p:cNvSpPr>
              <p:nvPr/>
            </p:nvSpPr>
            <p:spPr bwMode="auto">
              <a:xfrm>
                <a:off x="528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59" name="Rectangle 11"/>
              <p:cNvSpPr>
                <a:spLocks noChangeArrowheads="1"/>
              </p:cNvSpPr>
              <p:nvPr/>
            </p:nvSpPr>
            <p:spPr bwMode="auto">
              <a:xfrm>
                <a:off x="144" y="523"/>
                <a:ext cx="384" cy="378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60" name="Rectangle 12"/>
              <p:cNvSpPr>
                <a:spLocks noChangeArrowheads="1"/>
              </p:cNvSpPr>
              <p:nvPr/>
            </p:nvSpPr>
            <p:spPr bwMode="auto">
              <a:xfrm>
                <a:off x="912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61" name="Rectangle 13"/>
              <p:cNvSpPr>
                <a:spLocks noChangeArrowheads="1"/>
              </p:cNvSpPr>
              <p:nvPr/>
            </p:nvSpPr>
            <p:spPr bwMode="auto">
              <a:xfrm>
                <a:off x="528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62" name="Rectangle 14"/>
              <p:cNvSpPr>
                <a:spLocks noChangeArrowheads="1"/>
              </p:cNvSpPr>
              <p:nvPr/>
            </p:nvSpPr>
            <p:spPr bwMode="auto">
              <a:xfrm>
                <a:off x="144" y="144"/>
                <a:ext cx="384" cy="379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eaLnBrk="0" hangingPunct="0">
                  <a:spcBef>
                    <a:spcPct val="20000"/>
                  </a:spcBef>
                </a:pPr>
                <a:r>
                  <a:rPr lang="en-US" sz="2400">
                    <a:solidFill>
                      <a:srgbClr val="000000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34063" name="Line 15"/>
              <p:cNvSpPr>
                <a:spLocks noChangeShapeType="1"/>
              </p:cNvSpPr>
              <p:nvPr/>
            </p:nvSpPr>
            <p:spPr bwMode="auto">
              <a:xfrm>
                <a:off x="144" y="144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64" name="Line 16"/>
              <p:cNvSpPr>
                <a:spLocks noChangeShapeType="1"/>
              </p:cNvSpPr>
              <p:nvPr/>
            </p:nvSpPr>
            <p:spPr bwMode="auto">
              <a:xfrm>
                <a:off x="144" y="523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65" name="Line 17"/>
              <p:cNvSpPr>
                <a:spLocks noChangeShapeType="1"/>
              </p:cNvSpPr>
              <p:nvPr/>
            </p:nvSpPr>
            <p:spPr bwMode="auto">
              <a:xfrm>
                <a:off x="144" y="901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66" name="Line 18"/>
              <p:cNvSpPr>
                <a:spLocks noChangeShapeType="1"/>
              </p:cNvSpPr>
              <p:nvPr/>
            </p:nvSpPr>
            <p:spPr bwMode="auto">
              <a:xfrm>
                <a:off x="144" y="128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67" name="Line 19"/>
              <p:cNvSpPr>
                <a:spLocks noChangeShapeType="1"/>
              </p:cNvSpPr>
              <p:nvPr/>
            </p:nvSpPr>
            <p:spPr bwMode="auto">
              <a:xfrm>
                <a:off x="144" y="144"/>
                <a:ext cx="0" cy="11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68" name="Line 20"/>
              <p:cNvSpPr>
                <a:spLocks noChangeShapeType="1"/>
              </p:cNvSpPr>
              <p:nvPr/>
            </p:nvSpPr>
            <p:spPr bwMode="auto">
              <a:xfrm>
                <a:off x="528" y="144"/>
                <a:ext cx="0" cy="1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69" name="Line 21"/>
              <p:cNvSpPr>
                <a:spLocks noChangeShapeType="1"/>
              </p:cNvSpPr>
              <p:nvPr/>
            </p:nvSpPr>
            <p:spPr bwMode="auto">
              <a:xfrm>
                <a:off x="912" y="144"/>
                <a:ext cx="0" cy="1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  <p:sp>
            <p:nvSpPr>
              <p:cNvPr id="34070" name="Line 22"/>
              <p:cNvSpPr>
                <a:spLocks noChangeShapeType="1"/>
              </p:cNvSpPr>
              <p:nvPr/>
            </p:nvSpPr>
            <p:spPr bwMode="auto">
              <a:xfrm>
                <a:off x="1296" y="144"/>
                <a:ext cx="0" cy="113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endParaRPr lang="en-US"/>
              </a:p>
            </p:txBody>
          </p:sp>
        </p:grpSp>
        <p:pic>
          <p:nvPicPr>
            <p:cNvPr id="34053" name="Picture 23" descr="txp_fi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799" y="2352"/>
              <a:ext cx="192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4152900" y="4333875"/>
            <a:ext cx="1185863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rgbClr val="000000"/>
                </a:solidFill>
                <a:cs typeface="Arial" pitchFamily="34" charset="0"/>
              </a:rPr>
              <a:t>“box filter”</a:t>
            </a:r>
          </a:p>
        </p:txBody>
      </p:sp>
      <p:pic>
        <p:nvPicPr>
          <p:cNvPr id="34048" name="Picture 11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21038" y="5765800"/>
            <a:ext cx="22637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049" name="Picture 15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425950" y="2187575"/>
            <a:ext cx="998538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050" name="Picture 11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 l="64516" t="10376" r="17741" b="-3758"/>
          <a:stretch>
            <a:fillRect/>
          </a:stretch>
        </p:blipFill>
        <p:spPr bwMode="auto">
          <a:xfrm>
            <a:off x="3440113" y="2187575"/>
            <a:ext cx="401637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791075" y="3159125"/>
            <a:ext cx="16430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0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935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074"/>
          <p:cNvSpPr>
            <a:spLocks noGrp="1" noChangeArrowheads="1"/>
          </p:cNvSpPr>
          <p:nvPr>
            <p:ph type="title"/>
          </p:nvPr>
        </p:nvSpPr>
        <p:spPr>
          <a:xfrm>
            <a:off x="592138" y="0"/>
            <a:ext cx="7808912" cy="1104900"/>
          </a:xfrm>
        </p:spPr>
        <p:txBody>
          <a:bodyPr/>
          <a:lstStyle/>
          <a:p>
            <a:r>
              <a:rPr kumimoji="1" lang="en-US" altLang="zh-CN" dirty="0"/>
              <a:t>3.3</a:t>
            </a:r>
            <a:r>
              <a:rPr kumimoji="1" lang="zh-CN" altLang="en-US" dirty="0"/>
              <a:t> 图像滤波</a:t>
            </a:r>
            <a:r>
              <a:rPr kumimoji="1" lang="en-US" altLang="zh-CN" dirty="0"/>
              <a:t>—</a:t>
            </a:r>
            <a:r>
              <a:rPr kumimoji="1" lang="zh-CN" altLang="en-US" dirty="0"/>
              <a:t>高斯滤波</a:t>
            </a:r>
            <a:endParaRPr lang="en-US" dirty="0"/>
          </a:p>
        </p:txBody>
      </p:sp>
      <p:sp>
        <p:nvSpPr>
          <p:cNvPr id="6149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446088" y="1019175"/>
            <a:ext cx="8836025" cy="4525963"/>
          </a:xfrm>
        </p:spPr>
        <p:txBody>
          <a:bodyPr/>
          <a:lstStyle/>
          <a:p>
            <a:r>
              <a:rPr lang="en-US" altLang="zh-CN" sz="2800" dirty="0" err="1"/>
              <a:t>需要设置哪些参数</a:t>
            </a:r>
            <a:r>
              <a:rPr lang="en-US" altLang="zh-CN" sz="2800" dirty="0"/>
              <a:t>?</a:t>
            </a:r>
          </a:p>
          <a:p>
            <a:r>
              <a:rPr lang="en-US" altLang="zh-CN" sz="2800" dirty="0" err="1"/>
              <a:t>内核或掩膜大小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注意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高斯函数有无限支撑集</a:t>
            </a:r>
            <a:r>
              <a:rPr lang="zh-CN" altLang="en-US" sz="2400" dirty="0"/>
              <a:t>，但是离散滤波支撑集有限</a:t>
            </a:r>
            <a:endParaRPr lang="en-US" altLang="zh-CN" sz="2400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36868" name="Text Box 3349"/>
          <p:cNvSpPr txBox="1">
            <a:spLocks noChangeArrowheads="1"/>
          </p:cNvSpPr>
          <p:nvPr/>
        </p:nvSpPr>
        <p:spPr bwMode="auto">
          <a:xfrm>
            <a:off x="3008313" y="4967288"/>
            <a:ext cx="34258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</a:pPr>
            <a:endParaRPr lang="en-US" sz="20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36869" name="Picture 6"/>
          <p:cNvPicPr>
            <a:picLocks noChangeAspect="1" noChangeArrowheads="1"/>
          </p:cNvPicPr>
          <p:nvPr/>
        </p:nvPicPr>
        <p:blipFill>
          <a:blip r:embed="rId3" cstate="print"/>
          <a:srcRect t="44176" b="9006"/>
          <a:stretch>
            <a:fillRect/>
          </a:stretch>
        </p:blipFill>
        <p:spPr bwMode="auto">
          <a:xfrm>
            <a:off x="1103313" y="2844800"/>
            <a:ext cx="670560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Text Box 3349"/>
          <p:cNvSpPr txBox="1">
            <a:spLocks noChangeArrowheads="1"/>
          </p:cNvSpPr>
          <p:nvPr/>
        </p:nvSpPr>
        <p:spPr bwMode="auto">
          <a:xfrm>
            <a:off x="5126038" y="5402263"/>
            <a:ext cx="3425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</a:pPr>
            <a:endParaRPr lang="en-US" sz="28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089150" y="5145088"/>
            <a:ext cx="215423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l-GR" sz="2800" b="0" dirty="0"/>
              <a:t>σ</a:t>
            </a:r>
            <a:r>
              <a:rPr lang="en-US" sz="2800" b="0" dirty="0"/>
              <a:t> = 5  </a:t>
            </a:r>
          </a:p>
          <a:p>
            <a:pPr algn="ctr"/>
            <a:r>
              <a:rPr lang="en-US" sz="2800" b="0" dirty="0"/>
              <a:t>10 x 10 </a:t>
            </a:r>
            <a:r>
              <a:rPr lang="en-US" sz="2800" b="0" dirty="0" err="1"/>
              <a:t>内核</a:t>
            </a:r>
            <a:endParaRPr lang="en-US" sz="2800" b="0" dirty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937125" y="5145088"/>
            <a:ext cx="21177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l-GR" sz="2800" b="0" dirty="0"/>
              <a:t>σ</a:t>
            </a:r>
            <a:r>
              <a:rPr lang="en-US" sz="2800" b="0" dirty="0"/>
              <a:t> = 5 </a:t>
            </a:r>
          </a:p>
          <a:p>
            <a:pPr algn="ctr"/>
            <a:r>
              <a:rPr lang="en-US" sz="2800" b="0" dirty="0"/>
              <a:t>30 x 30 </a:t>
            </a:r>
            <a:r>
              <a:rPr lang="en-US" sz="2800" b="0" dirty="0" err="1"/>
              <a:t>内核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187617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11" descr="gauss_sigma2_hsize30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238" y="2768600"/>
            <a:ext cx="3843337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3074"/>
          <p:cNvSpPr>
            <a:spLocks noGrp="1" noChangeArrowheads="1"/>
          </p:cNvSpPr>
          <p:nvPr>
            <p:ph type="title"/>
          </p:nvPr>
        </p:nvSpPr>
        <p:spPr>
          <a:xfrm>
            <a:off x="592138" y="0"/>
            <a:ext cx="7808912" cy="11049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3.3</a:t>
            </a:r>
            <a:r>
              <a:rPr kumimoji="1" lang="zh-CN" altLang="en-US" dirty="0"/>
              <a:t> 图像滤波</a:t>
            </a:r>
            <a:r>
              <a:rPr kumimoji="1" lang="en-US" altLang="zh-CN" dirty="0"/>
              <a:t>—</a:t>
            </a:r>
            <a:r>
              <a:rPr kumimoji="1" lang="zh-CN" altLang="en-US" dirty="0"/>
              <a:t>高斯滤波</a:t>
            </a:r>
            <a:endParaRPr lang="en-US" dirty="0"/>
          </a:p>
        </p:txBody>
      </p:sp>
      <p:sp>
        <p:nvSpPr>
          <p:cNvPr id="37892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446088" y="1019175"/>
            <a:ext cx="8229600" cy="4525963"/>
          </a:xfrm>
        </p:spPr>
        <p:txBody>
          <a:bodyPr/>
          <a:lstStyle/>
          <a:p>
            <a:r>
              <a:rPr lang="en-US" altLang="zh-CN" sz="2800" dirty="0" err="1"/>
              <a:t>需要设置哪些参数</a:t>
            </a:r>
            <a:r>
              <a:rPr lang="en-US" altLang="zh-CN" sz="2800" dirty="0"/>
              <a:t>?</a:t>
            </a:r>
          </a:p>
          <a:p>
            <a:r>
              <a:rPr lang="zh-CN" altLang="en-US" sz="2800" dirty="0"/>
              <a:t>高斯核方差：平滑的程度</a:t>
            </a:r>
            <a:endParaRPr lang="en-US" sz="2800" dirty="0"/>
          </a:p>
          <a:p>
            <a:pPr eaLnBrk="1" hangingPunct="1">
              <a:buFontTx/>
              <a:buNone/>
            </a:pPr>
            <a:endParaRPr lang="en-US" sz="2800" dirty="0"/>
          </a:p>
        </p:txBody>
      </p:sp>
      <p:sp>
        <p:nvSpPr>
          <p:cNvPr id="37893" name="Text Box 3349"/>
          <p:cNvSpPr txBox="1">
            <a:spLocks noChangeArrowheads="1"/>
          </p:cNvSpPr>
          <p:nvPr/>
        </p:nvSpPr>
        <p:spPr bwMode="auto">
          <a:xfrm>
            <a:off x="2095500" y="5113338"/>
            <a:ext cx="3425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</a:pPr>
            <a:endParaRPr lang="en-US" sz="28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870075" y="4999038"/>
            <a:ext cx="215423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l-GR" sz="2800" b="0" dirty="0"/>
              <a:t>σ</a:t>
            </a:r>
            <a:r>
              <a:rPr lang="en-US" sz="2800" b="0" dirty="0"/>
              <a:t> = 2 </a:t>
            </a:r>
          </a:p>
          <a:p>
            <a:pPr algn="ctr"/>
            <a:r>
              <a:rPr lang="en-US" sz="2800" b="0" dirty="0"/>
              <a:t>30 x 30 </a:t>
            </a:r>
            <a:r>
              <a:rPr lang="en-US" sz="2800" b="0" dirty="0" err="1"/>
              <a:t>内核</a:t>
            </a:r>
            <a:endParaRPr lang="en-US" sz="2800" b="0" dirty="0"/>
          </a:p>
        </p:txBody>
      </p:sp>
      <p:pic>
        <p:nvPicPr>
          <p:cNvPr id="37895" name="Picture 14" descr="gauss_sigma5_hsize30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8975" y="2805113"/>
            <a:ext cx="3843338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15" descr="gauss_sigma5_hsize30_2d.jpg"/>
          <p:cNvPicPr>
            <a:picLocks noChangeAspect="1"/>
          </p:cNvPicPr>
          <p:nvPr/>
        </p:nvPicPr>
        <p:blipFill>
          <a:blip r:embed="rId5" cstate="print"/>
          <a:srcRect l="26300" t="5916" r="22746" b="10709"/>
          <a:stretch>
            <a:fillRect/>
          </a:stretch>
        </p:blipFill>
        <p:spPr bwMode="auto">
          <a:xfrm>
            <a:off x="7237413" y="2760663"/>
            <a:ext cx="91281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7" name="Picture 16" descr="gauss_sigma2_hsize30_2d.jpg"/>
          <p:cNvPicPr>
            <a:picLocks noChangeAspect="1"/>
          </p:cNvPicPr>
          <p:nvPr/>
        </p:nvPicPr>
        <p:blipFill>
          <a:blip r:embed="rId6" cstate="print"/>
          <a:srcRect l="26237" t="6770" r="22217" b="9853"/>
          <a:stretch>
            <a:fillRect/>
          </a:stretch>
        </p:blipFill>
        <p:spPr bwMode="auto">
          <a:xfrm>
            <a:off x="811213" y="2771775"/>
            <a:ext cx="912812" cy="91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338763" y="5002213"/>
            <a:ext cx="21177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l-GR" sz="2800" b="0" dirty="0"/>
              <a:t>σ</a:t>
            </a:r>
            <a:r>
              <a:rPr lang="en-US" sz="2800" b="0" dirty="0"/>
              <a:t> = 5 </a:t>
            </a:r>
            <a:endParaRPr lang="en-US" sz="2800" dirty="0"/>
          </a:p>
          <a:p>
            <a:pPr algn="ctr"/>
            <a:r>
              <a:rPr lang="en-US" sz="2800" b="0" dirty="0"/>
              <a:t>30 x 30 </a:t>
            </a:r>
            <a:r>
              <a:rPr lang="en-US" sz="2800" dirty="0" err="1"/>
              <a:t>内核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21460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6" descr="filter_sigma1_size30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675" y="3794125"/>
            <a:ext cx="1449388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1" name="Picture 27" descr="filter_sigma4_size30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2213" y="3830638"/>
            <a:ext cx="1449387" cy="103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938"/>
            <a:ext cx="8229600" cy="1143000"/>
          </a:xfrm>
        </p:spPr>
        <p:txBody>
          <a:bodyPr/>
          <a:lstStyle/>
          <a:p>
            <a:r>
              <a:rPr kumimoji="1" lang="en-US" altLang="zh-CN" sz="4000" dirty="0"/>
              <a:t>3.3</a:t>
            </a:r>
            <a:r>
              <a:rPr kumimoji="1" lang="zh-CN" altLang="en-US" sz="4000" dirty="0"/>
              <a:t> 图像滤波</a:t>
            </a:r>
            <a:r>
              <a:rPr kumimoji="1" lang="en-US" altLang="zh-CN" sz="4000" dirty="0"/>
              <a:t>—</a:t>
            </a:r>
            <a:r>
              <a:rPr kumimoji="1" lang="zh-CN" altLang="en-US" sz="4000" dirty="0"/>
              <a:t>高斯滤波</a:t>
            </a:r>
            <a:endParaRPr lang="en-US" sz="4000" dirty="0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6125" y="4999038"/>
            <a:ext cx="8229600" cy="2232025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latin typeface="Courier New" pitchFamily="49" charset="0"/>
              </a:rPr>
              <a:t>for sigma=1:3:10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latin typeface="Courier New" pitchFamily="49" charset="0"/>
              </a:rPr>
              <a:t>	h = </a:t>
            </a:r>
            <a:r>
              <a:rPr lang="en-US" sz="1800" b="1" dirty="0" err="1">
                <a:latin typeface="Courier New" pitchFamily="49" charset="0"/>
              </a:rPr>
              <a:t>fspecial</a:t>
            </a:r>
            <a:r>
              <a:rPr lang="en-US" sz="1800" b="1" dirty="0">
                <a:latin typeface="Courier New" pitchFamily="49" charset="0"/>
              </a:rPr>
              <a:t>('gaussian‘, </a:t>
            </a:r>
            <a:r>
              <a:rPr lang="en-US" sz="1800" b="1" dirty="0" err="1">
                <a:latin typeface="Courier New" pitchFamily="49" charset="0"/>
              </a:rPr>
              <a:t>fsize</a:t>
            </a:r>
            <a:r>
              <a:rPr lang="en-US" sz="1800" b="1" dirty="0">
                <a:latin typeface="Courier New" pitchFamily="49" charset="0"/>
              </a:rPr>
              <a:t>, sigma);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latin typeface="Courier New" pitchFamily="49" charset="0"/>
              </a:rPr>
              <a:t>	out = </a:t>
            </a:r>
            <a:r>
              <a:rPr lang="en-US" sz="1800" b="1" dirty="0" err="1">
                <a:latin typeface="Courier New" pitchFamily="49" charset="0"/>
              </a:rPr>
              <a:t>imfilter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im</a:t>
            </a:r>
            <a:r>
              <a:rPr lang="en-US" sz="1800" b="1" dirty="0">
                <a:latin typeface="Courier New" pitchFamily="49" charset="0"/>
              </a:rPr>
              <a:t>, h);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latin typeface="Courier New" pitchFamily="49" charset="0"/>
              </a:rPr>
              <a:t>	</a:t>
            </a:r>
            <a:r>
              <a:rPr lang="en-US" sz="1800" b="1" dirty="0" err="1">
                <a:latin typeface="Courier New" pitchFamily="49" charset="0"/>
              </a:rPr>
              <a:t>imshow</a:t>
            </a:r>
            <a:r>
              <a:rPr lang="en-US" sz="1800" b="1" dirty="0">
                <a:latin typeface="Courier New" pitchFamily="49" charset="0"/>
              </a:rPr>
              <a:t>(out);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latin typeface="Courier New" pitchFamily="49" charset="0"/>
              </a:rPr>
              <a:t>	pause;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800" b="1" dirty="0">
                <a:latin typeface="Courier New" pitchFamily="49" charset="0"/>
              </a:rPr>
              <a:t>end</a:t>
            </a:r>
          </a:p>
        </p:txBody>
      </p:sp>
      <p:pic>
        <p:nvPicPr>
          <p:cNvPr id="27654" name="Picture 21" descr="filter_sigma10_size30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9450" y="3794125"/>
            <a:ext cx="1449388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5" name="Picture 22" descr="blurred_sigma1.jpg"/>
          <p:cNvPicPr>
            <a:picLocks noChangeAspect="1"/>
          </p:cNvPicPr>
          <p:nvPr/>
        </p:nvPicPr>
        <p:blipFill>
          <a:blip r:embed="rId6" cstate="print"/>
          <a:srcRect l="12660" t="6389" r="12981" b="12152"/>
          <a:stretch>
            <a:fillRect/>
          </a:stretch>
        </p:blipFill>
        <p:spPr bwMode="auto">
          <a:xfrm>
            <a:off x="109538" y="2005013"/>
            <a:ext cx="2527300" cy="186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6" name="Picture 23" descr="blurred_sigma4.jpg"/>
          <p:cNvPicPr>
            <a:picLocks noChangeAspect="1"/>
          </p:cNvPicPr>
          <p:nvPr/>
        </p:nvPicPr>
        <p:blipFill>
          <a:blip r:embed="rId7" cstate="print"/>
          <a:srcRect l="12892" t="4791" r="11906" b="12152"/>
          <a:stretch>
            <a:fillRect/>
          </a:stretch>
        </p:blipFill>
        <p:spPr bwMode="auto">
          <a:xfrm>
            <a:off x="3148013" y="1968500"/>
            <a:ext cx="2555875" cy="189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7" name="Picture 25" descr="blurred_sigma10.jpg"/>
          <p:cNvPicPr>
            <a:picLocks noChangeAspect="1"/>
          </p:cNvPicPr>
          <p:nvPr/>
        </p:nvPicPr>
        <p:blipFill>
          <a:blip r:embed="rId8" cstate="print"/>
          <a:srcRect l="11816" t="4791" r="12981" b="12152"/>
          <a:stretch>
            <a:fillRect/>
          </a:stretch>
        </p:blipFill>
        <p:spPr bwMode="auto">
          <a:xfrm>
            <a:off x="6397625" y="1968500"/>
            <a:ext cx="2555875" cy="189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5630863" y="2625725"/>
            <a:ext cx="19081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…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482600" y="1092200"/>
            <a:ext cx="86407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800" b="0" dirty="0">
                <a:solidFill>
                  <a:srgbClr val="000000"/>
                </a:solidFill>
              </a:rPr>
              <a:t>高斯滤波核参数</a:t>
            </a:r>
            <a:r>
              <a:rPr lang="en-US" sz="2800" b="0" dirty="0">
                <a:solidFill>
                  <a:srgbClr val="000000"/>
                </a:solidFill>
              </a:rPr>
              <a:t> </a:t>
            </a:r>
            <a:r>
              <a:rPr lang="el-GR" sz="2800" b="0" dirty="0">
                <a:solidFill>
                  <a:srgbClr val="000000"/>
                </a:solidFill>
              </a:rPr>
              <a:t>σ</a:t>
            </a:r>
            <a:r>
              <a:rPr lang="en-US" sz="2800" b="0" dirty="0">
                <a:solidFill>
                  <a:srgbClr val="000000"/>
                </a:solidFill>
              </a:rPr>
              <a:t> </a:t>
            </a:r>
            <a:r>
              <a:rPr lang="zh-CN" altLang="en-US" sz="2800" b="0" dirty="0">
                <a:solidFill>
                  <a:srgbClr val="000000"/>
                </a:solidFill>
              </a:rPr>
              <a:t>的影响</a:t>
            </a:r>
            <a:endParaRPr lang="en-US" sz="28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84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65163" y="0"/>
            <a:ext cx="7772400" cy="1143000"/>
          </a:xfrm>
        </p:spPr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 模板匹配</a:t>
            </a:r>
            <a:endParaRPr lang="en-US" dirty="0"/>
          </a:p>
        </p:txBody>
      </p:sp>
      <p:sp>
        <p:nvSpPr>
          <p:cNvPr id="48131" name="TextBox 8"/>
          <p:cNvSpPr txBox="1">
            <a:spLocks noChangeArrowheads="1"/>
          </p:cNvSpPr>
          <p:nvPr/>
        </p:nvSpPr>
        <p:spPr bwMode="auto">
          <a:xfrm>
            <a:off x="1103313" y="4378325"/>
            <a:ext cx="3906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rgbClr val="000000"/>
                </a:solidFill>
              </a:rPr>
              <a:t>场景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8132" name="TextBox 9"/>
          <p:cNvSpPr txBox="1">
            <a:spLocks noChangeArrowheads="1"/>
          </p:cNvSpPr>
          <p:nvPr/>
        </p:nvSpPr>
        <p:spPr bwMode="auto">
          <a:xfrm>
            <a:off x="4572000" y="3794125"/>
            <a:ext cx="39068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rgbClr val="000000"/>
                </a:solidFill>
              </a:rPr>
              <a:t>模板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zh-CN" altLang="en-US" dirty="0">
                <a:solidFill>
                  <a:srgbClr val="000000"/>
                </a:solidFill>
              </a:rPr>
              <a:t>掩膜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8133" name="Picture 6" descr="toy_scene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51000" y="1347788"/>
            <a:ext cx="2862263" cy="3005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8134" name="Picture 12" descr="toy_template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5525" y="2333625"/>
            <a:ext cx="865188" cy="917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8135" name="TextBox 13"/>
          <p:cNvSpPr txBox="1">
            <a:spLocks noChangeArrowheads="1"/>
          </p:cNvSpPr>
          <p:nvPr/>
        </p:nvSpPr>
        <p:spPr bwMode="auto">
          <a:xfrm>
            <a:off x="3367088" y="5254625"/>
            <a:ext cx="5038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rgbClr val="000000"/>
                </a:solidFill>
              </a:rPr>
              <a:t>示例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694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endParaRPr lang="en-US" dirty="0"/>
          </a:p>
        </p:txBody>
      </p:sp>
      <p:pic>
        <p:nvPicPr>
          <p:cNvPr id="56323" name="Picture 6" descr="ut-tower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2388" y="1268413"/>
            <a:ext cx="3846512" cy="512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2414" name="Text Box 14"/>
          <p:cNvSpPr txBox="1">
            <a:spLocks noChangeArrowheads="1"/>
          </p:cNvSpPr>
          <p:nvPr/>
        </p:nvSpPr>
        <p:spPr bwMode="auto">
          <a:xfrm>
            <a:off x="6696075" y="1628775"/>
            <a:ext cx="244792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err="1"/>
              <a:t>深度不连续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>
              <a:spcBef>
                <a:spcPct val="50000"/>
              </a:spcBef>
            </a:pPr>
            <a:r>
              <a:rPr lang="zh-CN" altLang="en-US" sz="2000" dirty="0"/>
              <a:t>目标边界</a:t>
            </a:r>
            <a:endParaRPr lang="en-US" altLang="zh-CN" sz="2000" dirty="0"/>
          </a:p>
        </p:txBody>
      </p:sp>
      <p:sp>
        <p:nvSpPr>
          <p:cNvPr id="742415" name="Text Box 15"/>
          <p:cNvSpPr txBox="1">
            <a:spLocks noChangeArrowheads="1"/>
          </p:cNvSpPr>
          <p:nvPr/>
        </p:nvSpPr>
        <p:spPr bwMode="auto">
          <a:xfrm>
            <a:off x="287339" y="4456113"/>
            <a:ext cx="1825838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err="1"/>
              <a:t>表面方向变化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>
              <a:spcBef>
                <a:spcPct val="50000"/>
              </a:spcBef>
            </a:pPr>
            <a:r>
              <a:rPr lang="zh-CN" altLang="en-US" sz="2000" dirty="0"/>
              <a:t>形状</a:t>
            </a:r>
            <a:endParaRPr lang="en-US" altLang="zh-CN" sz="2000" dirty="0"/>
          </a:p>
        </p:txBody>
      </p:sp>
      <p:sp>
        <p:nvSpPr>
          <p:cNvPr id="742416" name="Text Box 16"/>
          <p:cNvSpPr txBox="1">
            <a:spLocks noChangeArrowheads="1"/>
          </p:cNvSpPr>
          <p:nvPr/>
        </p:nvSpPr>
        <p:spPr bwMode="auto">
          <a:xfrm>
            <a:off x="6705600" y="3875058"/>
            <a:ext cx="13962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err="1"/>
              <a:t>投射阴影</a:t>
            </a:r>
            <a:endParaRPr lang="en-US" altLang="zh-CN" sz="2000" dirty="0"/>
          </a:p>
        </p:txBody>
      </p:sp>
      <p:sp>
        <p:nvSpPr>
          <p:cNvPr id="742417" name="Text Box 17"/>
          <p:cNvSpPr txBox="1">
            <a:spLocks noChangeArrowheads="1"/>
          </p:cNvSpPr>
          <p:nvPr/>
        </p:nvSpPr>
        <p:spPr bwMode="auto">
          <a:xfrm>
            <a:off x="179388" y="1916113"/>
            <a:ext cx="262731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err="1"/>
              <a:t>反射率变化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>
              <a:spcBef>
                <a:spcPct val="50000"/>
              </a:spcBef>
            </a:pPr>
            <a:r>
              <a:rPr lang="zh-CN" altLang="en-US" sz="2000" dirty="0"/>
              <a:t>表面，纹理</a:t>
            </a:r>
            <a:endParaRPr lang="en-US" sz="2000" b="0" dirty="0"/>
          </a:p>
        </p:txBody>
      </p:sp>
      <p:sp>
        <p:nvSpPr>
          <p:cNvPr id="742418" name="Line 18"/>
          <p:cNvSpPr>
            <a:spLocks noChangeShapeType="1"/>
          </p:cNvSpPr>
          <p:nvPr/>
        </p:nvSpPr>
        <p:spPr bwMode="auto">
          <a:xfrm flipH="1">
            <a:off x="4895850" y="1989138"/>
            <a:ext cx="1871663" cy="1114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2419" name="Line 19"/>
          <p:cNvSpPr>
            <a:spLocks noChangeShapeType="1"/>
          </p:cNvSpPr>
          <p:nvPr/>
        </p:nvSpPr>
        <p:spPr bwMode="auto">
          <a:xfrm flipH="1">
            <a:off x="4751388" y="2024063"/>
            <a:ext cx="1981200" cy="2051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2420" name="Line 20"/>
          <p:cNvSpPr>
            <a:spLocks noChangeShapeType="1"/>
          </p:cNvSpPr>
          <p:nvPr/>
        </p:nvSpPr>
        <p:spPr bwMode="auto">
          <a:xfrm flipH="1">
            <a:off x="5508625" y="4184650"/>
            <a:ext cx="1258888" cy="973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2421" name="Line 21"/>
          <p:cNvSpPr>
            <a:spLocks noChangeShapeType="1"/>
          </p:cNvSpPr>
          <p:nvPr/>
        </p:nvSpPr>
        <p:spPr bwMode="auto">
          <a:xfrm>
            <a:off x="2016125" y="5121275"/>
            <a:ext cx="827088" cy="5762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2422" name="Line 22"/>
          <p:cNvSpPr>
            <a:spLocks noChangeShapeType="1"/>
          </p:cNvSpPr>
          <p:nvPr/>
        </p:nvSpPr>
        <p:spPr bwMode="auto">
          <a:xfrm>
            <a:off x="1692275" y="2924175"/>
            <a:ext cx="1979613" cy="23764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F6FEB4-5687-5641-B625-C429C52735A2}"/>
              </a:ext>
            </a:extLst>
          </p:cNvPr>
          <p:cNvSpPr/>
          <p:nvPr/>
        </p:nvSpPr>
        <p:spPr>
          <a:xfrm>
            <a:off x="145003" y="903465"/>
            <a:ext cx="2481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哪些地方是边缘</a:t>
            </a:r>
            <a:r>
              <a:rPr lang="en-US" altLang="zh-CN" sz="2400" dirty="0"/>
              <a:t>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951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14" grpId="0"/>
      <p:bldP spid="742415" grpId="0"/>
      <p:bldP spid="742416" grpId="0"/>
      <p:bldP spid="742417" grpId="0"/>
      <p:bldP spid="742418" grpId="0" animBg="1"/>
      <p:bldP spid="742419" grpId="0" animBg="1"/>
      <p:bldP spid="742420" grpId="0" animBg="1"/>
      <p:bldP spid="742421" grpId="0" animBg="1"/>
      <p:bldP spid="7424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2"/>
          <p:cNvPicPr>
            <a:picLocks noChangeAspect="1" noChangeArrowheads="1"/>
          </p:cNvPicPr>
          <p:nvPr/>
        </p:nvPicPr>
        <p:blipFill>
          <a:blip r:embed="rId4" cstate="print"/>
          <a:srcRect t="49619"/>
          <a:stretch>
            <a:fillRect/>
          </a:stretch>
        </p:blipFill>
        <p:spPr bwMode="auto">
          <a:xfrm>
            <a:off x="1816100" y="3429000"/>
            <a:ext cx="5614988" cy="251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Title 1"/>
          <p:cNvSpPr>
            <a:spLocks noGrp="1"/>
          </p:cNvSpPr>
          <p:nvPr>
            <p:ph type="title"/>
          </p:nvPr>
        </p:nvSpPr>
        <p:spPr>
          <a:xfrm>
            <a:off x="409575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endParaRPr lang="en-US" dirty="0"/>
          </a:p>
        </p:txBody>
      </p:sp>
      <p:pic>
        <p:nvPicPr>
          <p:cNvPr id="4102" name="Picture 2"/>
          <p:cNvPicPr>
            <a:picLocks noChangeAspect="1" noChangeArrowheads="1"/>
          </p:cNvPicPr>
          <p:nvPr/>
        </p:nvPicPr>
        <p:blipFill>
          <a:blip r:embed="rId4" cstate="print"/>
          <a:srcRect l="48772" t="2193" r="5710" b="50317"/>
          <a:stretch>
            <a:fillRect/>
          </a:stretch>
        </p:blipFill>
        <p:spPr bwMode="auto">
          <a:xfrm>
            <a:off x="9318625" y="1384300"/>
            <a:ext cx="2555875" cy="237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Box 4"/>
          <p:cNvSpPr txBox="1">
            <a:spLocks noChangeArrowheads="1"/>
          </p:cNvSpPr>
          <p:nvPr/>
        </p:nvSpPr>
        <p:spPr bwMode="auto">
          <a:xfrm>
            <a:off x="1704975" y="5838825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>
                <a:solidFill>
                  <a:srgbClr val="000000"/>
                </a:solidFill>
              </a:rPr>
              <a:t>   </a:t>
            </a:r>
            <a:r>
              <a:rPr lang="zh-CN" altLang="en-US" sz="2400" dirty="0">
                <a:solidFill>
                  <a:srgbClr val="00B050"/>
                </a:solidFill>
              </a:rPr>
              <a:t>哪一幅是</a:t>
            </a:r>
            <a:r>
              <a:rPr lang="en-US" altLang="zh-CN" sz="2400" dirty="0">
                <a:solidFill>
                  <a:srgbClr val="00B050"/>
                </a:solidFill>
              </a:rPr>
              <a:t>x</a:t>
            </a:r>
            <a:r>
              <a:rPr lang="zh-CN" altLang="en-US" sz="2400" dirty="0">
                <a:solidFill>
                  <a:srgbClr val="00B050"/>
                </a:solidFill>
              </a:rPr>
              <a:t>方向？</a:t>
            </a:r>
            <a:endParaRPr lang="en-US" sz="2400" b="0" dirty="0">
              <a:solidFill>
                <a:srgbClr val="00B050"/>
              </a:solidFill>
            </a:endParaRPr>
          </a:p>
        </p:txBody>
      </p:sp>
      <p:pic>
        <p:nvPicPr>
          <p:cNvPr id="4104" name="Picture 2"/>
          <p:cNvPicPr>
            <a:picLocks noChangeAspect="1" noChangeArrowheads="1"/>
          </p:cNvPicPr>
          <p:nvPr/>
        </p:nvPicPr>
        <p:blipFill>
          <a:blip r:embed="rId4" cstate="print"/>
          <a:srcRect t="2129" r="51144" b="50381"/>
          <a:stretch>
            <a:fillRect/>
          </a:stretch>
        </p:blipFill>
        <p:spPr bwMode="auto">
          <a:xfrm>
            <a:off x="3276600" y="982663"/>
            <a:ext cx="2743200" cy="237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7256463" y="4676775"/>
            <a:ext cx="547687" cy="1016000"/>
            <a:chOff x="4097330" y="1789047"/>
            <a:chExt cx="547696" cy="1015663"/>
          </a:xfrm>
        </p:grpSpPr>
        <p:sp>
          <p:nvSpPr>
            <p:cNvPr id="4115" name="TextBox 25"/>
            <p:cNvSpPr txBox="1">
              <a:spLocks noChangeArrowheads="1"/>
            </p:cNvSpPr>
            <p:nvPr/>
          </p:nvSpPr>
          <p:spPr bwMode="auto">
            <a:xfrm>
              <a:off x="4097331" y="1789047"/>
              <a:ext cx="547695" cy="1015663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000"/>
                <a:t>-1     1</a:t>
              </a:r>
            </a:p>
          </p:txBody>
        </p:sp>
        <p:cxnSp>
          <p:nvCxnSpPr>
            <p:cNvPr id="4116" name="Straight Connector 27"/>
            <p:cNvCxnSpPr>
              <a:cxnSpLocks noChangeShapeType="1"/>
              <a:stCxn id="4115" idx="1"/>
              <a:endCxn id="4115" idx="3"/>
            </p:cNvCxnSpPr>
            <p:nvPr/>
          </p:nvCxnSpPr>
          <p:spPr bwMode="auto">
            <a:xfrm rot="10800000" flipH="1">
              <a:off x="4097330" y="2296879"/>
              <a:ext cx="54769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05813" y="4676775"/>
            <a:ext cx="547687" cy="1016000"/>
            <a:chOff x="4097330" y="1789047"/>
            <a:chExt cx="547696" cy="1015663"/>
          </a:xfrm>
        </p:grpSpPr>
        <p:sp>
          <p:nvSpPr>
            <p:cNvPr id="4113" name="TextBox 25"/>
            <p:cNvSpPr txBox="1">
              <a:spLocks noChangeArrowheads="1"/>
            </p:cNvSpPr>
            <p:nvPr/>
          </p:nvSpPr>
          <p:spPr bwMode="auto">
            <a:xfrm>
              <a:off x="4097331" y="1789047"/>
              <a:ext cx="547695" cy="1015663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000"/>
                <a:t>1     -1</a:t>
              </a:r>
            </a:p>
          </p:txBody>
        </p:sp>
        <p:cxnSp>
          <p:nvCxnSpPr>
            <p:cNvPr id="4114" name="Straight Connector 27"/>
            <p:cNvCxnSpPr>
              <a:cxnSpLocks noChangeShapeType="1"/>
              <a:stCxn id="4113" idx="1"/>
              <a:endCxn id="4113" idx="3"/>
            </p:cNvCxnSpPr>
            <p:nvPr/>
          </p:nvCxnSpPr>
          <p:spPr bwMode="auto">
            <a:xfrm rot="10800000" flipH="1">
              <a:off x="4097330" y="2296879"/>
              <a:ext cx="54769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821613" y="5005388"/>
            <a:ext cx="8763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/>
              <a:t>或</a:t>
            </a:r>
            <a:endParaRPr lang="en-US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785100" y="4437063"/>
            <a:ext cx="11318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000"/>
              <a:t>?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36550" y="4999038"/>
            <a:ext cx="1168400" cy="554037"/>
            <a:chOff x="336492" y="4999059"/>
            <a:chExt cx="1168400" cy="554038"/>
          </a:xfrm>
        </p:grpSpPr>
        <p:sp>
          <p:nvSpPr>
            <p:cNvPr id="4111" name="TextBox 14"/>
            <p:cNvSpPr txBox="1">
              <a:spLocks noChangeArrowheads="1"/>
            </p:cNvSpPr>
            <p:nvPr/>
          </p:nvSpPr>
          <p:spPr bwMode="auto">
            <a:xfrm>
              <a:off x="336492" y="4999059"/>
              <a:ext cx="1168400" cy="554038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000"/>
                <a:t>-1    1</a:t>
              </a:r>
            </a:p>
          </p:txBody>
        </p:sp>
        <p:cxnSp>
          <p:nvCxnSpPr>
            <p:cNvPr id="4112" name="Straight Connector 15"/>
            <p:cNvCxnSpPr>
              <a:cxnSpLocks noChangeShapeType="1"/>
              <a:stCxn id="4111" idx="0"/>
              <a:endCxn id="4111" idx="2"/>
            </p:cNvCxnSpPr>
            <p:nvPr/>
          </p:nvCxnSpPr>
          <p:spPr bwMode="auto">
            <a:xfrm rot="16200000" flipH="1">
              <a:off x="644467" y="5275284"/>
              <a:ext cx="554038" cy="158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aphicFrame>
        <p:nvGraphicFramePr>
          <p:cNvPr id="107542" name="Object 22"/>
          <p:cNvGraphicFramePr>
            <a:graphicFrameLocks noChangeAspect="1"/>
          </p:cNvGraphicFramePr>
          <p:nvPr/>
        </p:nvGraphicFramePr>
        <p:xfrm>
          <a:off x="300038" y="2798763"/>
          <a:ext cx="14319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1075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8" y="2798763"/>
                        <a:ext cx="1431925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/>
        </p:nvGraphicFramePr>
        <p:xfrm>
          <a:off x="7346950" y="2808288"/>
          <a:ext cx="14319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" name="Equation" r:id="rId7" imgW="545760" imgH="419040" progId="Equation.3">
                  <p:embed/>
                </p:oleObj>
              </mc:Choice>
              <mc:Fallback>
                <p:oleObj name="Equation" r:id="rId7" imgW="545760" imgH="419040" progId="Equation.3">
                  <p:embed/>
                  <p:pic>
                    <p:nvPicPr>
                      <p:cNvPr id="1065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950" y="2808288"/>
                        <a:ext cx="1431925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5FC512C-553F-E048-862D-589656FA51F6}"/>
              </a:ext>
            </a:extLst>
          </p:cNvPr>
          <p:cNvSpPr/>
          <p:nvPr/>
        </p:nvSpPr>
        <p:spPr>
          <a:xfrm>
            <a:off x="321492" y="1107143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图像的偏导数</a:t>
            </a:r>
          </a:p>
        </p:txBody>
      </p:sp>
    </p:spTree>
    <p:extLst>
      <p:ext uri="{BB962C8B-B14F-4D97-AF65-F5344CB8AC3E}">
        <p14:creationId xmlns:p14="http://schemas.microsoft.com/office/powerpoint/2010/main" val="206783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46088" y="0"/>
            <a:ext cx="8229600" cy="1143000"/>
          </a:xfrm>
        </p:spPr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</a:t>
            </a:r>
            <a:r>
              <a:rPr lang="zh-CN" altLang="en-US" dirty="0"/>
              <a:t>组合检测子</a:t>
            </a:r>
            <a:endParaRPr lang="en-US" dirty="0"/>
          </a:p>
        </p:txBody>
      </p:sp>
      <p:pic>
        <p:nvPicPr>
          <p:cNvPr id="6041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981200"/>
            <a:ext cx="6276975" cy="313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908550" y="2333625"/>
            <a:ext cx="2373313" cy="1022350"/>
          </a:xfrm>
          <a:prstGeom prst="rect">
            <a:avLst/>
          </a:prstGeom>
          <a:noFill/>
          <a:ln w="9525" algn="ctr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65776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096000" y="2819400"/>
            <a:ext cx="2590800" cy="990600"/>
            <a:chOff x="3840" y="1776"/>
            <a:chExt cx="1632" cy="624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840" y="1776"/>
              <a:ext cx="1632" cy="624"/>
              <a:chOff x="3840" y="1776"/>
              <a:chExt cx="1632" cy="624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840" y="1776"/>
                <a:ext cx="624" cy="624"/>
                <a:chOff x="3840" y="1776"/>
                <a:chExt cx="624" cy="624"/>
              </a:xfrm>
            </p:grpSpPr>
            <p:sp>
              <p:nvSpPr>
                <p:cNvPr id="528389" name="Rectangle 5"/>
                <p:cNvSpPr>
                  <a:spLocks noChangeArrowheads="1"/>
                </p:cNvSpPr>
                <p:nvPr/>
              </p:nvSpPr>
              <p:spPr bwMode="auto">
                <a:xfrm>
                  <a:off x="3840" y="1776"/>
                  <a:ext cx="624" cy="62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tx1"/>
                    </a:gs>
                    <a:gs pos="100000">
                      <a:schemeClr val="tx1">
                        <a:gamma/>
                        <a:tint val="0"/>
                        <a:invGamma/>
                      </a:schemeClr>
                    </a:gs>
                  </a:gsLst>
                  <a:lin ang="189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0" hangingPunct="0">
                    <a:defRPr/>
                  </a:pPr>
                  <a:endParaRPr lang="en-US" b="0">
                    <a:latin typeface="Arial" charset="0"/>
                  </a:endParaRPr>
                </a:p>
              </p:txBody>
            </p:sp>
            <p:sp>
              <p:nvSpPr>
                <p:cNvPr id="61471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4161" y="1872"/>
                  <a:ext cx="207" cy="20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1469" name="Picture 7" descr="Edittex"/>
              <p:cNvPicPr>
                <a:picLocks noChangeAspect="1"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505" y="1824"/>
                <a:ext cx="967" cy="2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61467" name="Oval 8"/>
            <p:cNvSpPr>
              <a:spLocks noChangeArrowheads="1"/>
            </p:cNvSpPr>
            <p:nvPr/>
          </p:nvSpPr>
          <p:spPr bwMode="auto">
            <a:xfrm>
              <a:off x="4128" y="206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b="0"/>
            </a:p>
          </p:txBody>
        </p:sp>
      </p:grpSp>
      <p:sp>
        <p:nvSpPr>
          <p:cNvPr id="614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 </a:t>
            </a:r>
            <a:r>
              <a:rPr lang="zh-CN" altLang="en-US" dirty="0"/>
              <a:t>图像梯度</a:t>
            </a:r>
            <a:endParaRPr lang="en-US" dirty="0"/>
          </a:p>
        </p:txBody>
      </p:sp>
      <p:sp>
        <p:nvSpPr>
          <p:cNvPr id="61444" name="Rectangle 10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914400"/>
            <a:ext cx="8077200" cy="1600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zh-CN" altLang="en-US" sz="2000" dirty="0"/>
              <a:t>图像的梯度：</a:t>
            </a:r>
            <a:endParaRPr lang="en-US" sz="2000" dirty="0"/>
          </a:p>
          <a:p>
            <a:pPr eaLnBrk="1" hangingPunct="1">
              <a:buFontTx/>
              <a:buNone/>
            </a:pPr>
            <a:endParaRPr lang="en-US" sz="2000" dirty="0"/>
          </a:p>
          <a:p>
            <a:pPr eaLnBrk="1" hangingPunct="1">
              <a:buFontTx/>
              <a:buNone/>
            </a:pPr>
            <a:endParaRPr lang="en-US" dirty="0"/>
          </a:p>
          <a:p>
            <a:pPr eaLnBrk="1" hangingPunct="1">
              <a:buFontTx/>
              <a:buNone/>
            </a:pPr>
            <a:r>
              <a:rPr lang="zh-CN" altLang="en-US" sz="2000" dirty="0"/>
              <a:t>梯度方向为强度变化最剧烈的方向</a:t>
            </a:r>
            <a:endParaRPr lang="en-US" sz="2000" dirty="0"/>
          </a:p>
        </p:txBody>
      </p:sp>
      <p:pic>
        <p:nvPicPr>
          <p:cNvPr id="61445" name="Picture 11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590800" y="1371600"/>
            <a:ext cx="24685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8396" name="Rectangle 12"/>
          <p:cNvSpPr>
            <a:spLocks noChangeArrowheads="1"/>
          </p:cNvSpPr>
          <p:nvPr/>
        </p:nvSpPr>
        <p:spPr bwMode="auto">
          <a:xfrm>
            <a:off x="1066800" y="2819400"/>
            <a:ext cx="304800" cy="990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b="0">
              <a:latin typeface="Arial" charset="0"/>
            </a:endParaRPr>
          </a:p>
        </p:txBody>
      </p:sp>
      <p:sp>
        <p:nvSpPr>
          <p:cNvPr id="61447" name="Line 13"/>
          <p:cNvSpPr>
            <a:spLocks noChangeShapeType="1"/>
          </p:cNvSpPr>
          <p:nvPr/>
        </p:nvSpPr>
        <p:spPr bwMode="auto">
          <a:xfrm>
            <a:off x="1219200" y="3352800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48" name="Oval 14"/>
          <p:cNvSpPr>
            <a:spLocks noChangeArrowheads="1"/>
          </p:cNvSpPr>
          <p:nvPr/>
        </p:nvSpPr>
        <p:spPr bwMode="auto">
          <a:xfrm>
            <a:off x="1162050" y="33147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b="0"/>
          </a:p>
        </p:txBody>
      </p:sp>
      <p:pic>
        <p:nvPicPr>
          <p:cNvPr id="61449" name="Picture 15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524000" y="2894013"/>
            <a:ext cx="1408113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802063" y="2819400"/>
            <a:ext cx="1882775" cy="1157288"/>
            <a:chOff x="2395" y="1776"/>
            <a:chExt cx="1186" cy="729"/>
          </a:xfrm>
        </p:grpSpPr>
        <p:pic>
          <p:nvPicPr>
            <p:cNvPr id="61462" name="Picture 17" descr="Edittex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2688" y="2256"/>
              <a:ext cx="89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8402" name="Rectangle 18"/>
            <p:cNvSpPr>
              <a:spLocks noChangeArrowheads="1"/>
            </p:cNvSpPr>
            <p:nvPr/>
          </p:nvSpPr>
          <p:spPr bwMode="auto">
            <a:xfrm rot="5400000">
              <a:off x="2638" y="1533"/>
              <a:ext cx="192" cy="677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tx1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b="0">
                <a:latin typeface="Arial" charset="0"/>
              </a:endParaRPr>
            </a:p>
          </p:txBody>
        </p:sp>
        <p:sp>
          <p:nvSpPr>
            <p:cNvPr id="61464" name="Line 19"/>
            <p:cNvSpPr>
              <a:spLocks noChangeShapeType="1"/>
            </p:cNvSpPr>
            <p:nvPr/>
          </p:nvSpPr>
          <p:spPr bwMode="auto">
            <a:xfrm rot="5400000">
              <a:off x="2568" y="2040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465" name="Oval 20"/>
            <p:cNvSpPr>
              <a:spLocks noChangeArrowheads="1"/>
            </p:cNvSpPr>
            <p:nvPr/>
          </p:nvSpPr>
          <p:spPr bwMode="auto">
            <a:xfrm>
              <a:off x="2712" y="184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b="0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685800" y="2819400"/>
            <a:ext cx="8077200" cy="3886200"/>
            <a:chOff x="432" y="1776"/>
            <a:chExt cx="5088" cy="2448"/>
          </a:xfrm>
        </p:grpSpPr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4152" y="1776"/>
              <a:ext cx="306" cy="321"/>
              <a:chOff x="4152" y="1776"/>
              <a:chExt cx="306" cy="321"/>
            </a:xfrm>
          </p:grpSpPr>
          <p:sp>
            <p:nvSpPr>
              <p:cNvPr id="61458" name="Line 23"/>
              <p:cNvSpPr>
                <a:spLocks noChangeShapeType="1"/>
              </p:cNvSpPr>
              <p:nvPr/>
            </p:nvSpPr>
            <p:spPr bwMode="auto">
              <a:xfrm>
                <a:off x="4155" y="2088"/>
                <a:ext cx="3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59" name="Line 24"/>
              <p:cNvSpPr>
                <a:spLocks noChangeShapeType="1"/>
              </p:cNvSpPr>
              <p:nvPr/>
            </p:nvSpPr>
            <p:spPr bwMode="auto">
              <a:xfrm flipV="1">
                <a:off x="4152" y="1776"/>
                <a:ext cx="0" cy="3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60" name="Freeform 25"/>
              <p:cNvSpPr>
                <a:spLocks/>
              </p:cNvSpPr>
              <p:nvPr/>
            </p:nvSpPr>
            <p:spPr bwMode="auto">
              <a:xfrm flipV="1">
                <a:off x="4216" y="2032"/>
                <a:ext cx="27" cy="51"/>
              </a:xfrm>
              <a:custGeom>
                <a:avLst/>
                <a:gdLst>
                  <a:gd name="T0" fmla="*/ 18 w 27"/>
                  <a:gd name="T1" fmla="*/ 0 h 51"/>
                  <a:gd name="T2" fmla="*/ 24 w 27"/>
                  <a:gd name="T3" fmla="*/ 33 h 51"/>
                  <a:gd name="T4" fmla="*/ 0 w 27"/>
                  <a:gd name="T5" fmla="*/ 51 h 51"/>
                  <a:gd name="T6" fmla="*/ 0 60000 65536"/>
                  <a:gd name="T7" fmla="*/ 0 60000 65536"/>
                  <a:gd name="T8" fmla="*/ 0 60000 65536"/>
                  <a:gd name="T9" fmla="*/ 0 w 27"/>
                  <a:gd name="T10" fmla="*/ 0 h 51"/>
                  <a:gd name="T11" fmla="*/ 27 w 27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" h="51">
                    <a:moveTo>
                      <a:pt x="18" y="0"/>
                    </a:moveTo>
                    <a:cubicBezTo>
                      <a:pt x="22" y="12"/>
                      <a:pt x="27" y="25"/>
                      <a:pt x="24" y="33"/>
                    </a:cubicBezTo>
                    <a:cubicBezTo>
                      <a:pt x="21" y="41"/>
                      <a:pt x="10" y="46"/>
                      <a:pt x="0" y="51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 b="0"/>
              </a:p>
            </p:txBody>
          </p:sp>
          <p:pic>
            <p:nvPicPr>
              <p:cNvPr id="61461" name="Picture 26" descr="Edittex"/>
              <p:cNvPicPr>
                <a:picLocks noChangeAspect="1" noChangeArrowheads="1"/>
              </p:cNvPicPr>
              <p:nvPr>
                <p:custDataLst>
                  <p:tags r:id="rId5"/>
                </p:custDataLst>
              </p:nvPr>
            </p:nvPicPr>
            <p:blipFill>
              <a:blip r:embed="rId1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299" y="1968"/>
                <a:ext cx="69" cy="1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8" name="Group 27"/>
            <p:cNvGrpSpPr>
              <a:grpSpLocks/>
            </p:cNvGrpSpPr>
            <p:nvPr/>
          </p:nvGrpSpPr>
          <p:grpSpPr bwMode="auto">
            <a:xfrm>
              <a:off x="432" y="2592"/>
              <a:ext cx="5088" cy="1632"/>
              <a:chOff x="432" y="2592"/>
              <a:chExt cx="5088" cy="1632"/>
            </a:xfrm>
          </p:grpSpPr>
          <p:sp>
            <p:nvSpPr>
              <p:cNvPr id="61455" name="Rectangle 28"/>
              <p:cNvSpPr>
                <a:spLocks noChangeArrowheads="1"/>
              </p:cNvSpPr>
              <p:nvPr/>
            </p:nvSpPr>
            <p:spPr bwMode="auto">
              <a:xfrm>
                <a:off x="432" y="2592"/>
                <a:ext cx="5088" cy="16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zh-CN" altLang="en-US" sz="2000" b="0" dirty="0"/>
                  <a:t>边缘方向为梯度方向，可以表示为：</a:t>
                </a:r>
                <a:endParaRPr lang="en-US" sz="2000" b="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2000" b="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2000" b="0" dirty="0"/>
              </a:p>
              <a:p>
                <a:pPr marL="342900" indent="-342900">
                  <a:spcBef>
                    <a:spcPct val="20000"/>
                  </a:spcBef>
                </a:pPr>
                <a:r>
                  <a:rPr lang="zh-CN" altLang="en-US" sz="2000" b="0" dirty="0"/>
                  <a:t>边缘强度为梯度幅值：</a:t>
                </a:r>
                <a:endParaRPr lang="en-US" sz="2000" b="0" dirty="0"/>
              </a:p>
            </p:txBody>
          </p:sp>
          <p:pic>
            <p:nvPicPr>
              <p:cNvPr id="61456" name="Picture 29" descr="Edittex"/>
              <p:cNvPicPr>
                <a:picLocks noChangeAspect="1" noChangeArrowheads="1"/>
              </p:cNvPicPr>
              <p:nvPr>
                <p:custDataLst>
                  <p:tags r:id="rId3"/>
                </p:custDataLst>
              </p:nvPr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1269" y="2887"/>
                <a:ext cx="1762" cy="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1457" name="Picture 30" descr="Edittex"/>
              <p:cNvPicPr>
                <a:picLocks noChangeAspect="1"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1248" y="3600"/>
                <a:ext cx="2336" cy="4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61452" name="Text Box 31"/>
          <p:cNvSpPr txBox="1">
            <a:spLocks noChangeArrowheads="1"/>
          </p:cNvSpPr>
          <p:nvPr/>
        </p:nvSpPr>
        <p:spPr bwMode="auto">
          <a:xfrm>
            <a:off x="7239000" y="6583362"/>
            <a:ext cx="1905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200" b="0" dirty="0"/>
              <a:t>Slide credit S. Seitz</a:t>
            </a:r>
          </a:p>
        </p:txBody>
      </p:sp>
    </p:spTree>
    <p:extLst>
      <p:ext uri="{BB962C8B-B14F-4D97-AF65-F5344CB8AC3E}">
        <p14:creationId xmlns:p14="http://schemas.microsoft.com/office/powerpoint/2010/main" val="177256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</a:t>
            </a:r>
            <a:r>
              <a:rPr lang="zh-CN" altLang="en-US" dirty="0"/>
              <a:t>噪声影响</a:t>
            </a:r>
            <a:endParaRPr lang="en-US" dirty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772400" cy="914400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zh-CN" altLang="en-US" sz="2800" dirty="0"/>
              <a:t>考虑行或列单一方向</a:t>
            </a:r>
            <a:endParaRPr lang="en-US" sz="2800" dirty="0"/>
          </a:p>
          <a:p>
            <a:pPr lvl="1" eaLnBrk="1" hangingPunct="1"/>
            <a:r>
              <a:rPr lang="zh-CN" altLang="en-US" sz="2400" dirty="0"/>
              <a:t>图像强度函数</a:t>
            </a:r>
            <a:endParaRPr lang="en-US" sz="2400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144713" y="2171700"/>
          <a:ext cx="5018087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" name="Photo Editor Photo" r:id="rId6" imgW="5885714" imgH="2219635" progId="">
                  <p:embed/>
                </p:oleObj>
              </mc:Choice>
              <mc:Fallback>
                <p:oleObj name="Photo Editor Photo" r:id="rId6" imgW="5885714" imgH="2219635" progId="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2171700"/>
                        <a:ext cx="5018087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3" name="Object 3"/>
          <p:cNvGraphicFramePr>
            <a:graphicFrameLocks noChangeAspect="1"/>
          </p:cNvGraphicFramePr>
          <p:nvPr/>
        </p:nvGraphicFramePr>
        <p:xfrm>
          <a:off x="2049463" y="4292600"/>
          <a:ext cx="5037137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" name="Photo Editor Photo" r:id="rId8" imgW="5915851" imgH="2029108" progId="">
                  <p:embed/>
                </p:oleObj>
              </mc:Choice>
              <mc:Fallback>
                <p:oleObj name="Photo Editor Photo" r:id="rId8" imgW="5915851" imgH="2029108" progId="">
                  <p:embed/>
                  <p:pic>
                    <p:nvPicPr>
                      <p:cNvPr id="5294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4292600"/>
                        <a:ext cx="5037137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6" name="Picture 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101725" y="2520950"/>
            <a:ext cx="6508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62000" y="4584700"/>
            <a:ext cx="98742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9416" name="Rectangle 8"/>
          <p:cNvSpPr>
            <a:spLocks noChangeArrowheads="1"/>
          </p:cNvSpPr>
          <p:nvPr/>
        </p:nvSpPr>
        <p:spPr bwMode="auto">
          <a:xfrm>
            <a:off x="685800" y="60960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dirty="0" err="1"/>
              <a:t>边缘在哪里</a:t>
            </a:r>
            <a:r>
              <a:rPr lang="en-US" altLang="zh-CN" dirty="0"/>
              <a:t> </a:t>
            </a:r>
            <a:r>
              <a:rPr lang="zh-CN" altLang="en-US" dirty="0"/>
              <a:t>？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887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46088" y="0"/>
            <a:ext cx="8545512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—Gaussian-Laplace</a:t>
            </a:r>
            <a:r>
              <a:rPr lang="zh-CN" altLang="en-US" dirty="0"/>
              <a:t>检测子</a:t>
            </a:r>
            <a:endParaRPr lang="en-US" dirty="0"/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304800" y="1066800"/>
          <a:ext cx="2733675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" name="Photo Editor Photo" r:id="rId9" imgW="4133333" imgH="2905531" progId="">
                  <p:embed/>
                </p:oleObj>
              </mc:Choice>
              <mc:Fallback>
                <p:oleObj name="Photo Editor Photo" r:id="rId9" imgW="4133333" imgH="2905531" progId="">
                  <p:embed/>
                  <p:pic>
                    <p:nvPicPr>
                      <p:cNvPr id="1024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066800"/>
                        <a:ext cx="2733675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4"/>
          <p:cNvGraphicFramePr>
            <a:graphicFrameLocks noChangeAspect="1"/>
          </p:cNvGraphicFramePr>
          <p:nvPr/>
        </p:nvGraphicFramePr>
        <p:xfrm>
          <a:off x="3200400" y="1958975"/>
          <a:ext cx="30067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" name="Photo Editor Photo" r:id="rId11" imgW="6001588" imgH="2629267" progId="">
                  <p:embed/>
                </p:oleObj>
              </mc:Choice>
              <mc:Fallback>
                <p:oleObj name="Photo Editor Photo" r:id="rId11" imgW="6001588" imgH="2629267" progId="">
                  <p:embed/>
                  <p:pic>
                    <p:nvPicPr>
                      <p:cNvPr id="1024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58975"/>
                        <a:ext cx="3006725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6" name="Picture 5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15913" y="3592513"/>
            <a:ext cx="2747962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85800" y="4953000"/>
            <a:ext cx="7772400" cy="1223963"/>
            <a:chOff x="685800" y="4953000"/>
            <a:chExt cx="7772400" cy="1223963"/>
          </a:xfrm>
        </p:grpSpPr>
        <p:sp>
          <p:nvSpPr>
            <p:cNvPr id="10254" name="Rectangle 7"/>
            <p:cNvSpPr>
              <a:spLocks noChangeArrowheads="1"/>
            </p:cNvSpPr>
            <p:nvPr/>
          </p:nvSpPr>
          <p:spPr bwMode="auto">
            <a:xfrm>
              <a:off x="685800" y="4953000"/>
              <a:ext cx="7772400" cy="1219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zh-CN" altLang="en-US" sz="3200" dirty="0"/>
                <a:t>       为</a:t>
              </a:r>
              <a:r>
                <a:rPr lang="en-US" altLang="zh-CN" sz="3200" dirty="0" err="1"/>
                <a:t>laplace</a:t>
              </a:r>
              <a:r>
                <a:rPr lang="zh-CN" altLang="en-US" sz="3200" dirty="0"/>
                <a:t>检测子：</a:t>
              </a:r>
              <a:endParaRPr lang="en-US" sz="3200" b="0" dirty="0"/>
            </a:p>
          </p:txBody>
        </p:sp>
        <p:pic>
          <p:nvPicPr>
            <p:cNvPr id="10255" name="Picture 8" descr="Edittex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1246187" y="5029200"/>
              <a:ext cx="430213" cy="334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56" name="Picture 9" descr="Edittex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2908300" y="5576888"/>
              <a:ext cx="2578100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091238" y="1843088"/>
            <a:ext cx="2824162" cy="3033712"/>
            <a:chOff x="3837" y="1161"/>
            <a:chExt cx="1779" cy="1911"/>
          </a:xfrm>
        </p:grpSpPr>
        <p:graphicFrame>
          <p:nvGraphicFramePr>
            <p:cNvPr id="10244" name="Object 11"/>
            <p:cNvGraphicFramePr>
              <a:graphicFrameLocks noChangeAspect="1"/>
            </p:cNvGraphicFramePr>
            <p:nvPr/>
          </p:nvGraphicFramePr>
          <p:xfrm>
            <a:off x="3978" y="1410"/>
            <a:ext cx="1638" cy="1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3" name="Photo Editor Photo" r:id="rId16" imgW="2600000" imgH="2638095" progId="">
                    <p:embed/>
                  </p:oleObj>
                </mc:Choice>
                <mc:Fallback>
                  <p:oleObj name="Photo Editor Photo" r:id="rId16" imgW="2600000" imgH="2638095" progId="">
                    <p:embed/>
                    <p:pic>
                      <p:nvPicPr>
                        <p:cNvPr id="1024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8" y="1410"/>
                          <a:ext cx="1638" cy="1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52" name="Picture 12" descr="Edittex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837" y="2362"/>
              <a:ext cx="763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3" name="Text Box 13"/>
            <p:cNvSpPr txBox="1">
              <a:spLocks noChangeArrowheads="1"/>
            </p:cNvSpPr>
            <p:nvPr/>
          </p:nvSpPr>
          <p:spPr bwMode="auto">
            <a:xfrm>
              <a:off x="4284" y="1161"/>
              <a:ext cx="103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0" dirty="0">
                  <a:cs typeface="Arial" pitchFamily="34" charset="0"/>
                </a:rPr>
                <a:t>高斯</a:t>
              </a:r>
              <a:r>
                <a:rPr lang="en-US" altLang="zh-CN" b="0" dirty="0">
                  <a:cs typeface="Arial" pitchFamily="34" charset="0"/>
                </a:rPr>
                <a:t>-</a:t>
              </a:r>
              <a:r>
                <a:rPr lang="zh-CN" altLang="en-US" b="0" dirty="0">
                  <a:cs typeface="Arial" pitchFamily="34" charset="0"/>
                </a:rPr>
                <a:t>拉普拉斯</a:t>
              </a:r>
              <a:endParaRPr lang="en-US" b="0" dirty="0">
                <a:cs typeface="Arial" pitchFamily="34" charset="0"/>
              </a:endParaRPr>
            </a:p>
          </p:txBody>
        </p:sp>
      </p:grpSp>
      <p:sp>
        <p:nvSpPr>
          <p:cNvPr id="10249" name="Text Box 14"/>
          <p:cNvSpPr txBox="1">
            <a:spLocks noChangeArrowheads="1"/>
          </p:cNvSpPr>
          <p:nvPr/>
        </p:nvSpPr>
        <p:spPr bwMode="auto">
          <a:xfrm>
            <a:off x="1193339" y="3214688"/>
            <a:ext cx="883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b="0" dirty="0">
                <a:cs typeface="Arial" pitchFamily="34" charset="0"/>
              </a:rPr>
              <a:t>高斯核</a:t>
            </a:r>
            <a:endParaRPr lang="en-US" b="0" dirty="0">
              <a:cs typeface="Arial" pitchFamily="34" charset="0"/>
            </a:endParaRPr>
          </a:p>
        </p:txBody>
      </p:sp>
      <p:sp>
        <p:nvSpPr>
          <p:cNvPr id="10250" name="Text Box 15"/>
          <p:cNvSpPr txBox="1">
            <a:spLocks noChangeArrowheads="1"/>
          </p:cNvSpPr>
          <p:nvPr/>
        </p:nvSpPr>
        <p:spPr bwMode="auto">
          <a:xfrm>
            <a:off x="3937514" y="3214688"/>
            <a:ext cx="13388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b="0" dirty="0">
                <a:cs typeface="Arial" pitchFamily="34" charset="0"/>
              </a:rPr>
              <a:t>高斯核导数</a:t>
            </a:r>
            <a:endParaRPr lang="en-US" b="0" dirty="0">
              <a:cs typeface="Arial" pitchFamily="34" charset="0"/>
            </a:endParaRPr>
          </a:p>
        </p:txBody>
      </p:sp>
      <p:pic>
        <p:nvPicPr>
          <p:cNvPr id="10251" name="Picture 16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4224338" y="3649663"/>
            <a:ext cx="1187450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812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409575" y="0"/>
            <a:ext cx="8229600" cy="1143000"/>
          </a:xfrm>
        </p:spPr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088" y="1019175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3000" dirty="0"/>
              <a:t>检测子特性</a:t>
            </a:r>
            <a:endParaRPr lang="en-US" sz="3000" u="sng" dirty="0"/>
          </a:p>
          <a:p>
            <a:r>
              <a:rPr lang="en-US" altLang="zh-CN" sz="2800" u="sng" dirty="0" err="1"/>
              <a:t>平滑</a:t>
            </a:r>
            <a:endParaRPr lang="en-US" sz="2800" u="sng" dirty="0"/>
          </a:p>
          <a:p>
            <a:pPr lvl="1"/>
            <a:r>
              <a:rPr lang="en-US" altLang="zh-CN" sz="2000" dirty="0" err="1"/>
              <a:t>值为正</a:t>
            </a:r>
            <a:endParaRPr lang="en-US" sz="2000" dirty="0"/>
          </a:p>
          <a:p>
            <a:pPr lvl="1"/>
            <a:r>
              <a:rPr lang="en-US" altLang="zh-CN" sz="2000" dirty="0"/>
              <a:t>和为1</a:t>
            </a:r>
            <a:endParaRPr lang="en-US" sz="2000" dirty="0"/>
          </a:p>
          <a:p>
            <a:pPr lvl="1"/>
            <a:r>
              <a:rPr lang="en-US" altLang="zh-CN" sz="2000" dirty="0" err="1"/>
              <a:t>平滑程度正比于掩膜大小</a:t>
            </a:r>
            <a:endParaRPr lang="en-US" sz="2000" dirty="0"/>
          </a:p>
          <a:p>
            <a:pPr lvl="1"/>
            <a:r>
              <a:rPr lang="en-US" altLang="zh-CN" sz="2000" dirty="0" err="1"/>
              <a:t>减少高频成分</a:t>
            </a:r>
            <a:endParaRPr lang="en-US" sz="2000" dirty="0"/>
          </a:p>
          <a:p>
            <a:pPr eaLnBrk="1" hangingPunct="1">
              <a:buFontTx/>
              <a:buNone/>
            </a:pPr>
            <a:endParaRPr lang="en-US" sz="800" dirty="0"/>
          </a:p>
          <a:p>
            <a:r>
              <a:rPr lang="en-US" altLang="zh-CN" sz="2800" u="sng" dirty="0" err="1"/>
              <a:t>导数</a:t>
            </a:r>
            <a:endParaRPr lang="en-US" sz="2800" u="sng" dirty="0"/>
          </a:p>
          <a:p>
            <a:pPr lvl="1"/>
            <a:r>
              <a:rPr lang="en-US" altLang="zh-CN" sz="2000" dirty="0" err="1"/>
              <a:t>相反符号以便在边缘处获得高响应值</a:t>
            </a:r>
            <a:endParaRPr lang="en-US" altLang="zh-CN" sz="2000" dirty="0"/>
          </a:p>
          <a:p>
            <a:pPr lvl="1"/>
            <a:r>
              <a:rPr lang="en-US" altLang="zh-CN" sz="2000" dirty="0"/>
              <a:t>和为0</a:t>
            </a:r>
            <a:endParaRPr lang="en-US" sz="2000" dirty="0"/>
          </a:p>
          <a:p>
            <a:pPr lvl="1"/>
            <a:r>
              <a:rPr lang="en-US" altLang="zh-CN" sz="2000" dirty="0" err="1"/>
              <a:t>边缘点值大</a:t>
            </a:r>
            <a:endParaRPr lang="en-US" sz="2000" dirty="0"/>
          </a:p>
          <a:p>
            <a:pPr lvl="1" eaLnBrk="1" hangingPunct="1"/>
            <a:endParaRPr lang="en-US" sz="800" dirty="0"/>
          </a:p>
          <a:p>
            <a:r>
              <a:rPr lang="en-US" altLang="zh-CN" sz="2800" u="sng" dirty="0" err="1">
                <a:solidFill>
                  <a:srgbClr val="000000"/>
                </a:solidFill>
              </a:rPr>
              <a:t>模板</a:t>
            </a:r>
            <a:r>
              <a:rPr lang="zh-CN" altLang="en-US" sz="2800" u="sng" dirty="0">
                <a:solidFill>
                  <a:srgbClr val="000000"/>
                </a:solidFill>
              </a:rPr>
              <a:t>匹配</a:t>
            </a:r>
            <a:endParaRPr lang="en-US" sz="2800" u="sng" dirty="0">
              <a:solidFill>
                <a:srgbClr val="000000"/>
              </a:solidFill>
            </a:endParaRPr>
          </a:p>
          <a:p>
            <a:pPr lvl="1">
              <a:buFontTx/>
              <a:buChar char="•"/>
            </a:pPr>
            <a:r>
              <a:rPr lang="en-US" altLang="zh-CN" sz="2000" dirty="0" err="1">
                <a:solidFill>
                  <a:srgbClr val="000000"/>
                </a:solidFill>
              </a:rPr>
              <a:t>在模板相似区域响应值高</a:t>
            </a:r>
            <a:endParaRPr lang="en-US" sz="2000" dirty="0">
              <a:solidFill>
                <a:srgbClr val="000000"/>
              </a:solidFill>
            </a:endParaRPr>
          </a:p>
          <a:p>
            <a:pPr lvl="1">
              <a:buFontTx/>
              <a:buChar char="•"/>
            </a:pPr>
            <a:r>
              <a:rPr lang="en-US" altLang="zh-CN" sz="2000" dirty="0" err="1">
                <a:solidFill>
                  <a:srgbClr val="000000"/>
                </a:solidFill>
              </a:rPr>
              <a:t>相关计算</a:t>
            </a:r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600" dirty="0"/>
          </a:p>
          <a:p>
            <a:pPr lvl="1" eaLnBrk="1" hangingPunct="1">
              <a:buFontTx/>
              <a:buNone/>
            </a:pPr>
            <a:endParaRPr lang="en-US" dirty="0"/>
          </a:p>
          <a:p>
            <a:pPr lvl="1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3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</a:t>
            </a:r>
            <a:r>
              <a:rPr lang="en-US" dirty="0"/>
              <a:t>Canny</a:t>
            </a:r>
            <a:r>
              <a:rPr lang="zh-CN" altLang="en-US" dirty="0"/>
              <a:t>检测子</a:t>
            </a:r>
            <a:endParaRPr 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665163" y="1165225"/>
            <a:ext cx="7772400" cy="4114800"/>
          </a:xfrm>
        </p:spPr>
        <p:txBody>
          <a:bodyPr>
            <a:normAutofit/>
          </a:bodyPr>
          <a:lstStyle/>
          <a:p>
            <a:pPr marL="533400" indent="-533400"/>
            <a:r>
              <a:rPr lang="zh-CN" altLang="en-US" sz="2400" dirty="0"/>
              <a:t>使用高斯检测子计算</a:t>
            </a:r>
            <a:endParaRPr lang="en-US" altLang="zh-CN" sz="2400" dirty="0"/>
          </a:p>
          <a:p>
            <a:pPr marL="533400" indent="-533400"/>
            <a:r>
              <a:rPr lang="zh-CN" altLang="en-US" sz="2400" dirty="0"/>
              <a:t>确定梯度幅值和方向</a:t>
            </a:r>
            <a:endParaRPr lang="en-US" sz="2400" dirty="0"/>
          </a:p>
          <a:p>
            <a:pPr marL="533400" indent="-533400"/>
            <a:r>
              <a:rPr lang="zh-CN" altLang="en-US" sz="2400" dirty="0"/>
              <a:t>非最大化抑制：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b="1" dirty="0"/>
              <a:t>        </a:t>
            </a:r>
            <a:r>
              <a:rPr lang="zh-CN" altLang="en-US" sz="2400" dirty="0"/>
              <a:t>多像素宽度窄带边缘细化为单像素宽度</a:t>
            </a:r>
            <a:endParaRPr lang="en-US" sz="2400" dirty="0"/>
          </a:p>
          <a:p>
            <a:pPr marL="533400" indent="-533400"/>
            <a:r>
              <a:rPr lang="zh-CN" altLang="en-US" sz="2400" dirty="0"/>
              <a:t>边缘阈值和连接</a:t>
            </a:r>
            <a:r>
              <a:rPr lang="en-US" sz="2400" dirty="0"/>
              <a:t> (</a:t>
            </a:r>
            <a:r>
              <a:rPr lang="zh-CN" altLang="en-US" sz="2400" b="1" dirty="0"/>
              <a:t>滞后法</a:t>
            </a:r>
            <a:r>
              <a:rPr lang="en-US" sz="2400" dirty="0"/>
              <a:t>):</a:t>
            </a:r>
          </a:p>
          <a:p>
            <a:pPr marL="838200" lvl="1" indent="-381000"/>
            <a:r>
              <a:rPr lang="zh-CN" altLang="en-US" sz="2400" dirty="0"/>
              <a:t>定义双阈值：低和高</a:t>
            </a:r>
            <a:endParaRPr lang="en-US" sz="2400" dirty="0"/>
          </a:p>
          <a:p>
            <a:pPr marL="838200" lvl="1" indent="-381000"/>
            <a:r>
              <a:rPr lang="zh-CN" altLang="en-US" sz="2400" dirty="0"/>
              <a:t>高阈值确定边缘起始，低阈值进行边缘连接</a:t>
            </a:r>
            <a:endParaRPr lang="en-US" sz="2400" dirty="0"/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6705600" y="6553200"/>
            <a:ext cx="23415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1400" b="0">
                <a:cs typeface="Arial" pitchFamily="34" charset="0"/>
              </a:rPr>
              <a:t>Source: D. Lowe, L. Fei-Fei</a:t>
            </a:r>
          </a:p>
        </p:txBody>
      </p:sp>
    </p:spTree>
    <p:extLst>
      <p:ext uri="{BB962C8B-B14F-4D97-AF65-F5344CB8AC3E}">
        <p14:creationId xmlns:p14="http://schemas.microsoft.com/office/powerpoint/2010/main" val="3686965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FF40F-BA13-6B43-8B85-46AF691B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</a:t>
            </a:r>
            <a:r>
              <a:rPr lang="zh-CN" altLang="en-US" dirty="0"/>
              <a:t>性能评估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A501A6-0FE7-F24E-8B2E-DCD08C45C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混淆矩阵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roup 4">
                <a:extLst>
                  <a:ext uri="{FF2B5EF4-FFF2-40B4-BE49-F238E27FC236}">
                    <a16:creationId xmlns:a16="http://schemas.microsoft.com/office/drawing/2014/main" id="{7077B659-DC5F-7A45-BE5A-49C036C337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2552837"/>
              <a:ext cx="7012632" cy="1752326"/>
            </p:xfrm>
            <a:graphic>
              <a:graphicData uri="http://schemas.openxmlformats.org/drawingml/2006/table">
                <a:tbl>
                  <a:tblPr/>
                  <a:tblGrid>
                    <a:gridCol w="2337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4752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𝑡𝑝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𝑓𝑛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𝑡𝑛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roup 4">
                <a:extLst>
                  <a:ext uri="{FF2B5EF4-FFF2-40B4-BE49-F238E27FC236}">
                    <a16:creationId xmlns:a16="http://schemas.microsoft.com/office/drawing/2014/main" id="{7077B659-DC5F-7A45-BE5A-49C036C337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0490941"/>
                  </p:ext>
                </p:extLst>
              </p:nvPr>
            </p:nvGraphicFramePr>
            <p:xfrm>
              <a:off x="838200" y="2552837"/>
              <a:ext cx="7012632" cy="1752326"/>
            </p:xfrm>
            <a:graphic>
              <a:graphicData uri="http://schemas.openxmlformats.org/drawingml/2006/table">
                <a:tbl>
                  <a:tblPr/>
                  <a:tblGrid>
                    <a:gridCol w="2337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4752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0541" t="-125000" r="-100000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01630" t="-125000" r="-543" b="-1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0541" t="-225000" r="-100000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01630" t="-225000" r="-543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4188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边缘检测</a:t>
            </a:r>
            <a:r>
              <a:rPr lang="en-US" altLang="zh-CN" dirty="0"/>
              <a:t>—</a:t>
            </a:r>
            <a:r>
              <a:rPr lang="zh-CN" altLang="en-US" dirty="0"/>
              <a:t>性能评估</a:t>
            </a:r>
            <a:endParaRPr lang="en-US" dirty="0">
              <a:latin typeface="楷体" panose="02010609060101010101" pitchFamily="49" charset="-122"/>
              <a:cs typeface="ＭＳ Ｐゴシック" charset="0"/>
            </a:endParaRP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45611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楷体" panose="02010609060101010101" pitchFamily="49" charset="-122"/>
                <a:cs typeface="ＭＳ Ｐゴシック" charset="0"/>
              </a:rPr>
              <a:t>精确率：</a:t>
            </a:r>
            <a:r>
              <a:rPr lang="zh-CN" altLang="en-US" dirty="0">
                <a:latin typeface="楷体" panose="02010609060101010101" pitchFamily="49" charset="-122"/>
                <a:cs typeface="ＭＳ Ｐゴシック" charset="0"/>
              </a:rPr>
              <a:t>检测结果正向中正确像素的比率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zh-CN" altLang="en-US" b="1" dirty="0">
                <a:latin typeface="楷体" panose="02010609060101010101" pitchFamily="49" charset="-122"/>
                <a:cs typeface="ＭＳ Ｐゴシック" charset="0"/>
              </a:rPr>
              <a:t>召回率：</a:t>
            </a:r>
            <a:r>
              <a:rPr lang="zh-CN" altLang="en-US" dirty="0">
                <a:latin typeface="楷体" panose="02010609060101010101" pitchFamily="49" charset="-122"/>
                <a:cs typeface="ＭＳ Ｐゴシック" charset="0"/>
              </a:rPr>
              <a:t>标签为边缘像素中被正确检测的比率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2CEF0B1-9F22-42BD-9AE4-AD6C037E6444}"/>
                  </a:ext>
                </a:extLst>
              </p:cNvPr>
              <p:cNvSpPr txBox="1"/>
              <p:nvPr/>
            </p:nvSpPr>
            <p:spPr>
              <a:xfrm>
                <a:off x="2402207" y="2204864"/>
                <a:ext cx="3384376" cy="946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𝑡𝑝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𝑡𝑝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2CEF0B1-9F22-42BD-9AE4-AD6C037E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207" y="2204864"/>
                <a:ext cx="3384376" cy="946093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8D4F599-79CB-4CB3-9A28-B3B88FC7BB41}"/>
                  </a:ext>
                </a:extLst>
              </p:cNvPr>
              <p:cNvSpPr txBox="1"/>
              <p:nvPr/>
            </p:nvSpPr>
            <p:spPr>
              <a:xfrm>
                <a:off x="2435104" y="3972977"/>
                <a:ext cx="3384376" cy="946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𝑡𝑝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𝑡𝑝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8D4F599-79CB-4CB3-9A28-B3B88FC7B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104" y="3972977"/>
                <a:ext cx="3384376" cy="946093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Group 4">
                <a:extLst>
                  <a:ext uri="{FF2B5EF4-FFF2-40B4-BE49-F238E27FC236}">
                    <a16:creationId xmlns:a16="http://schemas.microsoft.com/office/drawing/2014/main" id="{71CC4588-4161-6A45-BE22-9605D9E28A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99592" y="5010351"/>
              <a:ext cx="7012632" cy="1752326"/>
            </p:xfrm>
            <a:graphic>
              <a:graphicData uri="http://schemas.openxmlformats.org/drawingml/2006/table">
                <a:tbl>
                  <a:tblPr/>
                  <a:tblGrid>
                    <a:gridCol w="2337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4752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𝑡𝑝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𝑓𝑛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ＭＳ Ｐゴシック" charset="0"/>
                                    <a:cs typeface="ＭＳ Ｐゴシック" charset="0"/>
                                  </a:rPr>
                                  <m:t>𝑡𝑛</m:t>
                                </m:r>
                              </m:oMath>
                            </m:oMathPara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ＭＳ Ｐゴシック" charset="0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Group 4">
                <a:extLst>
                  <a:ext uri="{FF2B5EF4-FFF2-40B4-BE49-F238E27FC236}">
                    <a16:creationId xmlns:a16="http://schemas.microsoft.com/office/drawing/2014/main" id="{71CC4588-4161-6A45-BE22-9605D9E28A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2117445"/>
                  </p:ext>
                </p:extLst>
              </p:nvPr>
            </p:nvGraphicFramePr>
            <p:xfrm>
              <a:off x="899592" y="5010351"/>
              <a:ext cx="7012632" cy="1752326"/>
            </p:xfrm>
            <a:graphic>
              <a:graphicData uri="http://schemas.openxmlformats.org/drawingml/2006/table">
                <a:tbl>
                  <a:tblPr/>
                  <a:tblGrid>
                    <a:gridCol w="2337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75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4752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标签负向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检测结果正向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01087" t="-122222" r="-101087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200000" t="-122222" r="-541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7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ＭＳ Ｐゴシック" charset="0"/>
                            </a:rPr>
                            <a:t>检测结果负向</a:t>
                          </a:r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ＭＳ Ｐゴシック" charset="0"/>
                          </a:endParaRPr>
                        </a:p>
                      </a:txBody>
                      <a:tcPr marT="34290" marB="34290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01087" t="-227273" r="-101087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4290" marB="34290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200000" t="-227273" r="-541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3900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59DBD8-7E5F-4BCF-B31A-1319E25A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/>
              <a:t>第四章</a:t>
            </a:r>
            <a:r>
              <a:rPr kumimoji="1" lang="en-US" altLang="zh-CN" dirty="0"/>
              <a:t>-</a:t>
            </a:r>
            <a:r>
              <a:rPr kumimoji="1" lang="zh-CN" altLang="en-US" dirty="0"/>
              <a:t>局部特征提取</a:t>
            </a:r>
            <a:endParaRPr lang="zh-CN" altLang="en-US" dirty="0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FB9E47A-35B0-416F-B133-81C1ABF6C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848600" cy="499715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Harris</a:t>
            </a:r>
            <a:r>
              <a:rPr lang="zh-CN" altLang="en-US" sz="2400" dirty="0"/>
              <a:t>角点检测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角点的定义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Harris</a:t>
            </a:r>
            <a:r>
              <a:rPr lang="zh-CN" altLang="en-US" sz="2000" dirty="0"/>
              <a:t>角点检测子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Harris</a:t>
            </a:r>
            <a:r>
              <a:rPr lang="zh-CN" altLang="en-US" sz="2000" dirty="0"/>
              <a:t>角点的不变特性</a:t>
            </a:r>
            <a:endParaRPr lang="en-US" altLang="zh-CN" sz="2000" dirty="0"/>
          </a:p>
          <a:p>
            <a:r>
              <a:rPr lang="zh-CN" altLang="en-US" sz="2400" dirty="0"/>
              <a:t>局部区域描述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方向直方图描述子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旋转不变性</a:t>
            </a:r>
            <a:endParaRPr lang="en-US" altLang="zh-CN" sz="2000" dirty="0"/>
          </a:p>
          <a:p>
            <a:r>
              <a:rPr lang="zh-CN" altLang="en-US" sz="2400" dirty="0"/>
              <a:t>特征匹配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SSD</a:t>
            </a:r>
            <a:r>
              <a:rPr lang="zh-CN" altLang="en-US" sz="2000" dirty="0"/>
              <a:t>距离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比值</a:t>
            </a:r>
            <a:r>
              <a:rPr lang="en-US" altLang="zh-CN" sz="2000" dirty="0"/>
              <a:t>SSD</a:t>
            </a:r>
            <a:r>
              <a:rPr lang="zh-CN" altLang="en-US" sz="2000" dirty="0"/>
              <a:t>距离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参数变换</a:t>
            </a:r>
            <a:endParaRPr lang="en-US" altLang="zh-CN" sz="2000" dirty="0"/>
          </a:p>
          <a:p>
            <a:r>
              <a:rPr lang="en-US" altLang="zh-CN" sz="2400" dirty="0"/>
              <a:t>SIFT</a:t>
            </a:r>
            <a:r>
              <a:rPr lang="zh-CN" altLang="en-US" sz="2400" dirty="0"/>
              <a:t>算法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SIFT</a:t>
            </a:r>
            <a:r>
              <a:rPr lang="zh-CN" altLang="en-US" sz="2000" dirty="0"/>
              <a:t>算法流程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SIFT</a:t>
            </a:r>
            <a:r>
              <a:rPr lang="zh-CN" altLang="en-US" sz="2000" dirty="0"/>
              <a:t>算法特性</a:t>
            </a:r>
            <a:endParaRPr lang="zh-CN" altLang="zh-CN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</p:txBody>
      </p:sp>
      <p:sp>
        <p:nvSpPr>
          <p:cNvPr id="158724" name="内容占位符 1">
            <a:extLst>
              <a:ext uri="{FF2B5EF4-FFF2-40B4-BE49-F238E27FC236}">
                <a16:creationId xmlns:a16="http://schemas.microsoft.com/office/drawing/2014/main" id="{F90EF2CC-4D83-4B45-999A-A2F7496B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9952" y="1600200"/>
            <a:ext cx="4038600" cy="4997152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33901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652" y="1442138"/>
            <a:ext cx="7467600" cy="14217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通过一个小的邻域窗很容易识别这种点</a:t>
            </a: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窗口沿着任意方向移动窗口强度都会发生很大的改变</a:t>
            </a:r>
            <a:endParaRPr lang="ru-RU" sz="28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429000" y="2895600"/>
            <a:ext cx="2438400" cy="3517901"/>
            <a:chOff x="2160" y="1824"/>
            <a:chExt cx="1536" cy="2216"/>
          </a:xfrm>
        </p:grpSpPr>
        <p:pic>
          <p:nvPicPr>
            <p:cNvPr id="82966" name="Picture 5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60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2967" name="Text Box 6"/>
            <p:cNvSpPr txBox="1">
              <a:spLocks noChangeArrowheads="1"/>
            </p:cNvSpPr>
            <p:nvPr/>
          </p:nvSpPr>
          <p:spPr bwMode="auto">
            <a:xfrm>
              <a:off x="2160" y="3284"/>
              <a:ext cx="1536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3399"/>
                  </a:solidFill>
                  <a:latin typeface="Arial Unicode MS" pitchFamily="34" charset="-128"/>
                  <a:cs typeface="Times New Roman" pitchFamily="18" charset="0"/>
                </a:rPr>
                <a:t>“edge”</a:t>
              </a:r>
              <a: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:</a:t>
              </a:r>
              <a:b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</a:b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沿着边缘方向移动没有变化</a:t>
              </a:r>
              <a:endParaRPr lang="ru-RU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2968" name="Rectangle 7"/>
            <p:cNvSpPr>
              <a:spLocks noChangeArrowheads="1"/>
            </p:cNvSpPr>
            <p:nvPr/>
          </p:nvSpPr>
          <p:spPr bwMode="auto">
            <a:xfrm>
              <a:off x="2496" y="249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9" name="Line 8"/>
            <p:cNvSpPr>
              <a:spLocks noChangeShapeType="1"/>
            </p:cNvSpPr>
            <p:nvPr/>
          </p:nvSpPr>
          <p:spPr bwMode="auto">
            <a:xfrm flipV="1">
              <a:off x="2352" y="254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019800" y="2895600"/>
            <a:ext cx="2667000" cy="3517901"/>
            <a:chOff x="3792" y="1824"/>
            <a:chExt cx="1680" cy="2216"/>
          </a:xfrm>
        </p:grpSpPr>
        <p:pic>
          <p:nvPicPr>
            <p:cNvPr id="82959" name="Picture 10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92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2960" name="Text Box 11"/>
            <p:cNvSpPr txBox="1">
              <a:spLocks noChangeArrowheads="1"/>
            </p:cNvSpPr>
            <p:nvPr/>
          </p:nvSpPr>
          <p:spPr bwMode="auto">
            <a:xfrm>
              <a:off x="3936" y="3284"/>
              <a:ext cx="1536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3399"/>
                  </a:solidFill>
                  <a:latin typeface="Arial Unicode MS" pitchFamily="34" charset="-128"/>
                  <a:cs typeface="Times New Roman" pitchFamily="18" charset="0"/>
                </a:rPr>
                <a:t>“corner”</a:t>
              </a:r>
              <a: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:</a:t>
              </a:r>
              <a:b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</a:b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沿着任何方向移动都有显著变化</a:t>
              </a:r>
              <a:endParaRPr lang="ru-RU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2961" name="Rectangle 12"/>
            <p:cNvSpPr>
              <a:spLocks noChangeArrowheads="1"/>
            </p:cNvSpPr>
            <p:nvPr/>
          </p:nvSpPr>
          <p:spPr bwMode="auto">
            <a:xfrm>
              <a:off x="4224" y="201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2" name="Line 13"/>
            <p:cNvSpPr>
              <a:spLocks noChangeShapeType="1"/>
            </p:cNvSpPr>
            <p:nvPr/>
          </p:nvSpPr>
          <p:spPr bwMode="auto">
            <a:xfrm flipH="1">
              <a:off x="4080" y="244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3" name="Line 14"/>
            <p:cNvSpPr>
              <a:spLocks noChangeShapeType="1"/>
            </p:cNvSpPr>
            <p:nvPr/>
          </p:nvSpPr>
          <p:spPr bwMode="auto">
            <a:xfrm flipH="1" flipV="1">
              <a:off x="4080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4" name="Line 15"/>
            <p:cNvSpPr>
              <a:spLocks noChangeShapeType="1"/>
            </p:cNvSpPr>
            <p:nvPr/>
          </p:nvSpPr>
          <p:spPr bwMode="auto">
            <a:xfrm>
              <a:off x="4656" y="244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5" name="Line 16"/>
            <p:cNvSpPr>
              <a:spLocks noChangeShapeType="1"/>
            </p:cNvSpPr>
            <p:nvPr/>
          </p:nvSpPr>
          <p:spPr bwMode="auto">
            <a:xfrm flipV="1">
              <a:off x="4656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762000" y="2895600"/>
            <a:ext cx="2362200" cy="3517901"/>
            <a:chOff x="480" y="1824"/>
            <a:chExt cx="1488" cy="2216"/>
          </a:xfrm>
        </p:grpSpPr>
        <p:pic>
          <p:nvPicPr>
            <p:cNvPr id="82952" name="Picture 18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8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2953" name="Text Box 19"/>
            <p:cNvSpPr txBox="1">
              <a:spLocks noChangeArrowheads="1"/>
            </p:cNvSpPr>
            <p:nvPr/>
          </p:nvSpPr>
          <p:spPr bwMode="auto">
            <a:xfrm>
              <a:off x="480" y="3284"/>
              <a:ext cx="1296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3399"/>
                  </a:solidFill>
                  <a:latin typeface="Arial Unicode MS" pitchFamily="34" charset="-128"/>
                  <a:cs typeface="Times New Roman" pitchFamily="18" charset="0"/>
                </a:rPr>
                <a:t>“flat”</a:t>
              </a:r>
              <a: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区域：</a:t>
              </a:r>
              <a:b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</a:b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在所有方向移动没有变化</a:t>
              </a:r>
              <a:endParaRPr lang="ru-RU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2954" name="Rectangle 20"/>
            <p:cNvSpPr>
              <a:spLocks noChangeArrowheads="1"/>
            </p:cNvSpPr>
            <p:nvPr/>
          </p:nvSpPr>
          <p:spPr bwMode="auto">
            <a:xfrm>
              <a:off x="1344" y="249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5" name="Line 21"/>
            <p:cNvSpPr>
              <a:spLocks noChangeShapeType="1"/>
            </p:cNvSpPr>
            <p:nvPr/>
          </p:nvSpPr>
          <p:spPr bwMode="auto">
            <a:xfrm>
              <a:off x="1776" y="292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6" name="Line 22"/>
            <p:cNvSpPr>
              <a:spLocks noChangeShapeType="1"/>
            </p:cNvSpPr>
            <p:nvPr/>
          </p:nvSpPr>
          <p:spPr bwMode="auto">
            <a:xfrm flipH="1">
              <a:off x="1200" y="292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7" name="Line 23"/>
            <p:cNvSpPr>
              <a:spLocks noChangeShapeType="1"/>
            </p:cNvSpPr>
            <p:nvPr/>
          </p:nvSpPr>
          <p:spPr bwMode="auto">
            <a:xfrm flipH="1" flipV="1">
              <a:off x="1200" y="2352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8" name="Line 24"/>
            <p:cNvSpPr>
              <a:spLocks noChangeShapeType="1"/>
            </p:cNvSpPr>
            <p:nvPr/>
          </p:nvSpPr>
          <p:spPr bwMode="auto">
            <a:xfrm flipV="1">
              <a:off x="1776" y="2352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82951" name="Text Box 25"/>
          <p:cNvSpPr txBox="1">
            <a:spLocks noChangeArrowheads="1"/>
          </p:cNvSpPr>
          <p:nvPr/>
        </p:nvSpPr>
        <p:spPr bwMode="auto">
          <a:xfrm>
            <a:off x="47625" y="6553200"/>
            <a:ext cx="1476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Source: A. Efros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955BCFE-AEA5-C648-AEF4-CBD834DD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</a:p>
        </p:txBody>
      </p:sp>
    </p:spTree>
    <p:extLst>
      <p:ext uri="{BB962C8B-B14F-4D97-AF65-F5344CB8AC3E}">
        <p14:creationId xmlns:p14="http://schemas.microsoft.com/office/powerpoint/2010/main" val="53259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ChangeArrowheads="1"/>
          </p:cNvSpPr>
          <p:nvPr/>
        </p:nvSpPr>
        <p:spPr bwMode="auto">
          <a:xfrm>
            <a:off x="2286000" y="1524000"/>
            <a:ext cx="4038600" cy="1295400"/>
          </a:xfrm>
          <a:prstGeom prst="rect">
            <a:avLst/>
          </a:prstGeom>
          <a:solidFill>
            <a:srgbClr val="62D86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ru-RU" dirty="0"/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304800" y="1101081"/>
            <a:ext cx="853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能量可以近似为：</a:t>
            </a:r>
            <a:endParaRPr lang="ru-RU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2286000" y="3505200"/>
          <a:ext cx="44227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" name="Equation" r:id="rId5" imgW="1765080" imgH="507960" progId="">
                  <p:embed/>
                </p:oleObj>
              </mc:Choice>
              <mc:Fallback>
                <p:oleObj name="Equation" r:id="rId5" imgW="1765080" imgH="507960" progId="">
                  <p:embed/>
                  <p:pic>
                    <p:nvPicPr>
                      <p:cNvPr id="30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0"/>
                        <a:ext cx="4422775" cy="1270000"/>
                      </a:xfrm>
                      <a:prstGeom prst="rect">
                        <a:avLst/>
                      </a:prstGeom>
                      <a:solidFill>
                        <a:srgbClr val="67D967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230187" y="3018400"/>
            <a:ext cx="853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是一个从图像梯度计算的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2 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矩阵：</a:t>
            </a:r>
            <a:endParaRPr lang="ru-RU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3075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2286000" y="1560513"/>
          <a:ext cx="4038600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8" name="Equation" r:id="rId7" imgW="1536480" imgH="457200" progId="Equation.3">
                  <p:embed/>
                </p:oleObj>
              </mc:Choice>
              <mc:Fallback>
                <p:oleObj name="Equation" r:id="rId7" imgW="1536480" imgH="457200" progId="Equation.3">
                  <p:embed/>
                  <p:pic>
                    <p:nvPicPr>
                      <p:cNvPr id="30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60513"/>
                        <a:ext cx="4038600" cy="1201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133600" y="5943600"/>
            <a:ext cx="5562600" cy="685800"/>
            <a:chOff x="528" y="3696"/>
            <a:chExt cx="3504" cy="432"/>
          </a:xfrm>
        </p:grpSpPr>
        <p:pic>
          <p:nvPicPr>
            <p:cNvPr id="3085" name="Picture 9" descr="Edittex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9" cstate="print"/>
            <a:srcRect r="25143" b="230"/>
            <a:stretch>
              <a:fillRect/>
            </a:stretch>
          </p:blipFill>
          <p:spPr bwMode="auto">
            <a:xfrm>
              <a:off x="528" y="3696"/>
              <a:ext cx="3504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6" name="Rectangle 10"/>
            <p:cNvSpPr>
              <a:spLocks noChangeArrowheads="1"/>
            </p:cNvSpPr>
            <p:nvPr/>
          </p:nvSpPr>
          <p:spPr bwMode="auto">
            <a:xfrm>
              <a:off x="528" y="3696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M</a:t>
              </a:r>
            </a:p>
          </p:txBody>
        </p:sp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286000" y="5177135"/>
            <a:ext cx="2133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</a:rPr>
              <a:t>在</a:t>
            </a:r>
            <a:r>
              <a:rPr lang="zh-CN" altLang="en-US" dirty="0">
                <a:solidFill>
                  <a:srgbClr val="000000"/>
                </a:solidFill>
              </a:rPr>
              <a:t>角点的窗口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</a:rPr>
              <a:t>区域中求和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rot="5400000" flipH="1" flipV="1">
            <a:off x="3048001" y="4875212"/>
            <a:ext cx="457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086600" y="3856038"/>
            <a:ext cx="1600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x </a:t>
            </a:r>
            <a:r>
              <a:rPr lang="en-US" altLang="zh-CN" dirty="0" err="1">
                <a:solidFill>
                  <a:srgbClr val="000000"/>
                </a:solidFill>
              </a:rPr>
              <a:t>方向梯度乘以</a:t>
            </a:r>
            <a:r>
              <a:rPr lang="en-US" altLang="zh-CN" dirty="0">
                <a:solidFill>
                  <a:srgbClr val="000000"/>
                </a:solidFill>
              </a:rPr>
              <a:t> y </a:t>
            </a:r>
            <a:r>
              <a:rPr lang="en-US" altLang="zh-CN" dirty="0" err="1">
                <a:solidFill>
                  <a:srgbClr val="000000"/>
                </a:solidFill>
              </a:rPr>
              <a:t>方向梯度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6" name="Straight Arrow Connector 15"/>
          <p:cNvCxnSpPr>
            <a:cxnSpLocks noChangeShapeType="1"/>
          </p:cNvCxnSpPr>
          <p:nvPr/>
        </p:nvCxnSpPr>
        <p:spPr bwMode="auto">
          <a:xfrm rot="10800000">
            <a:off x="6553200" y="38862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6453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 </a:t>
            </a:r>
            <a:r>
              <a:rPr lang="zh-CN" altLang="en-US" dirty="0"/>
              <a:t>角点响应函数</a:t>
            </a:r>
            <a:endParaRPr lang="en-US" dirty="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4038600" y="1752600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3" name="Freeform 4"/>
          <p:cNvSpPr>
            <a:spLocks/>
          </p:cNvSpPr>
          <p:nvPr/>
        </p:nvSpPr>
        <p:spPr bwMode="auto">
          <a:xfrm>
            <a:off x="4495800" y="1752600"/>
            <a:ext cx="3886200" cy="3937000"/>
          </a:xfrm>
          <a:custGeom>
            <a:avLst/>
            <a:gdLst>
              <a:gd name="T0" fmla="*/ 0 w 2448"/>
              <a:gd name="T1" fmla="*/ 1920 h 2480"/>
              <a:gd name="T2" fmla="*/ 672 w 2448"/>
              <a:gd name="T3" fmla="*/ 0 h 2480"/>
              <a:gd name="T4" fmla="*/ 2448 w 2448"/>
              <a:gd name="T5" fmla="*/ 0 h 2480"/>
              <a:gd name="T6" fmla="*/ 2448 w 2448"/>
              <a:gd name="T7" fmla="*/ 1872 h 2480"/>
              <a:gd name="T8" fmla="*/ 555 w 2448"/>
              <a:gd name="T9" fmla="*/ 2480 h 2480"/>
              <a:gd name="T10" fmla="*/ 0 w 2448"/>
              <a:gd name="T11" fmla="*/ 1920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4" name="AutoShape 5"/>
          <p:cNvSpPr>
            <a:spLocks noChangeArrowheads="1"/>
          </p:cNvSpPr>
          <p:nvPr/>
        </p:nvSpPr>
        <p:spPr bwMode="auto">
          <a:xfrm>
            <a:off x="4038600" y="4343400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5562600" y="2362200"/>
            <a:ext cx="2667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“Corner”</a:t>
            </a:r>
            <a:b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&gt; 0</a:t>
            </a:r>
            <a:endParaRPr lang="ru-RU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7162800" y="5105400"/>
            <a:ext cx="1295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&lt; 0</a:t>
            </a:r>
            <a:endParaRPr lang="ru-RU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auto">
          <a:xfrm>
            <a:off x="4114800" y="1905000"/>
            <a:ext cx="1295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&lt; 0</a:t>
            </a:r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8" name="Rectangle 9"/>
          <p:cNvSpPr>
            <a:spLocks noChangeArrowheads="1"/>
          </p:cNvSpPr>
          <p:nvPr/>
        </p:nvSpPr>
        <p:spPr bwMode="auto">
          <a:xfrm>
            <a:off x="3962400" y="5181600"/>
            <a:ext cx="121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“Flat” 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区域</a:t>
            </a:r>
            <a:endParaRPr lang="ru-RU" sz="2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9" name="Oval 10"/>
          <p:cNvSpPr>
            <a:spLocks noChangeArrowheads="1"/>
          </p:cNvSpPr>
          <p:nvPr/>
        </p:nvSpPr>
        <p:spPr bwMode="auto">
          <a:xfrm>
            <a:off x="6934200" y="2133600"/>
            <a:ext cx="609600" cy="638175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0" name="Oval 11"/>
          <p:cNvSpPr>
            <a:spLocks noChangeArrowheads="1"/>
          </p:cNvSpPr>
          <p:nvPr/>
        </p:nvSpPr>
        <p:spPr bwMode="auto">
          <a:xfrm>
            <a:off x="4184650" y="1828800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1" name="Oval 12"/>
          <p:cNvSpPr>
            <a:spLocks noChangeArrowheads="1"/>
          </p:cNvSpPr>
          <p:nvPr/>
        </p:nvSpPr>
        <p:spPr bwMode="auto">
          <a:xfrm>
            <a:off x="4267200" y="4953000"/>
            <a:ext cx="152400" cy="152400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2" name="Oval 13"/>
          <p:cNvSpPr>
            <a:spLocks noChangeArrowheads="1"/>
          </p:cNvSpPr>
          <p:nvPr/>
        </p:nvSpPr>
        <p:spPr bwMode="auto">
          <a:xfrm rot="5542000">
            <a:off x="6650832" y="5557043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3" name="Rectangle 14"/>
          <p:cNvSpPr>
            <a:spLocks noChangeArrowheads="1"/>
          </p:cNvSpPr>
          <p:nvPr/>
        </p:nvSpPr>
        <p:spPr bwMode="auto">
          <a:xfrm>
            <a:off x="4899025" y="4714875"/>
            <a:ext cx="9268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|R| 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小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sp>
        <p:nvSpPr>
          <p:cNvPr id="7184" name="Line 15"/>
          <p:cNvSpPr>
            <a:spLocks noChangeShapeType="1"/>
          </p:cNvSpPr>
          <p:nvPr/>
        </p:nvSpPr>
        <p:spPr bwMode="auto">
          <a:xfrm flipH="1">
            <a:off x="5029200" y="5181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170" name="Object 16"/>
          <p:cNvGraphicFramePr>
            <a:graphicFrameLocks noChangeAspect="1"/>
          </p:cNvGraphicFramePr>
          <p:nvPr/>
        </p:nvGraphicFramePr>
        <p:xfrm>
          <a:off x="979766" y="1130987"/>
          <a:ext cx="71231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7" name="Equation" r:id="rId4" imgW="2844720" imgH="228600" progId="Equation.3">
                  <p:embed/>
                </p:oleObj>
              </mc:Choice>
              <mc:Fallback>
                <p:oleObj name="Equation" r:id="rId4" imgW="2844720" imgH="228600" progId="Equation.3">
                  <p:embed/>
                  <p:pic>
                    <p:nvPicPr>
                      <p:cNvPr id="71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766" y="1130987"/>
                        <a:ext cx="71231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1006475" y="1828800"/>
            <a:ext cx="21973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i="1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rPr>
              <a:t>α</a:t>
            </a:r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: </a:t>
            </a:r>
            <a:r>
              <a:rPr lang="zh-CN" altLang="en-US" dirty="0">
                <a:solidFill>
                  <a:srgbClr val="000000"/>
                </a:solidFill>
                <a:cs typeface="Arial" pitchFamily="34" charset="0"/>
              </a:rPr>
              <a:t>常量</a:t>
            </a:r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 (0.04 to 0.06)</a:t>
            </a:r>
            <a:endParaRPr lang="el-GR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616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ru-RU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01763"/>
            <a:ext cx="8229600" cy="452596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dirty="0"/>
              <a:t>算法步骤：</a:t>
            </a:r>
            <a:endParaRPr lang="en-US" dirty="0"/>
          </a:p>
          <a:p>
            <a:pPr lvl="1"/>
            <a:r>
              <a:rPr lang="zh-CN" altLang="en-US" dirty="0"/>
              <a:t>计算边缘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设定窗口及权重，计算矩阵</a:t>
            </a:r>
            <a:r>
              <a:rPr lang="en-US" altLang="zh-CN" i="1" dirty="0"/>
              <a:t>M</a:t>
            </a:r>
            <a:r>
              <a:rPr lang="zh-CN" altLang="en-US" dirty="0"/>
              <a:t>得到整个图像的响应值</a:t>
            </a:r>
            <a:r>
              <a:rPr lang="en-US" altLang="zh-CN" i="1" dirty="0"/>
              <a:t>R</a:t>
            </a:r>
            <a:endParaRPr lang="en-US" dirty="0"/>
          </a:p>
          <a:p>
            <a:pPr marL="457200" lvl="1" indent="0" eaLnBrk="1" hangingPunct="1">
              <a:buNone/>
            </a:pPr>
            <a:endParaRPr lang="en-US" altLang="zh-CN" dirty="0"/>
          </a:p>
          <a:p>
            <a:pPr lvl="1" eaLnBrk="1" hangingPunct="1"/>
            <a:r>
              <a:rPr lang="zh-CN" altLang="en-US" dirty="0"/>
              <a:t>找出具有较大</a:t>
            </a:r>
            <a:r>
              <a:rPr lang="zh-CN" altLang="en-US"/>
              <a:t>响应值的点</a:t>
            </a:r>
            <a:r>
              <a:rPr lang="en-US" dirty="0"/>
              <a:t> (</a:t>
            </a:r>
            <a:r>
              <a:rPr lang="en-US" i="1" dirty="0"/>
              <a:t>R </a:t>
            </a:r>
            <a:r>
              <a:rPr lang="en-US" dirty="0"/>
              <a:t>&gt; threshold)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确定</a:t>
            </a:r>
            <a:r>
              <a:rPr lang="en-US" altLang="zh-CN" i="1" dirty="0"/>
              <a:t>R</a:t>
            </a:r>
            <a:r>
              <a:rPr lang="zh-CN" altLang="en-US" dirty="0"/>
              <a:t>局部极值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333910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3DD09-6B94-874F-978D-DD01540D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</a:t>
            </a:r>
            <a:r>
              <a:rPr kumimoji="1" lang="zh-CN" altLang="en-US" dirty="0"/>
              <a:t>多尺度空间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1BF3ED-8D1E-F54E-A107-8C9892623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高斯金字塔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高斯金字塔构建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C532B3-6D2C-D747-A202-8D576A8B5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67871"/>
            <a:ext cx="7070105" cy="390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13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4.4.</a:t>
            </a:r>
            <a:r>
              <a:rPr kumimoji="1" lang="zh-CN" altLang="en-US" dirty="0"/>
              <a:t> </a:t>
            </a:r>
            <a:r>
              <a:rPr lang="zh-CN" altLang="en-US" dirty="0"/>
              <a:t>图像匹配</a:t>
            </a:r>
            <a:endParaRPr lang="en-US" dirty="0"/>
          </a:p>
        </p:txBody>
      </p:sp>
      <p:pic>
        <p:nvPicPr>
          <p:cNvPr id="102403" name="Picture 4" descr="imag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82750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4" name="Picture 5" descr="image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1682750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05" name="TextBox 5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3916001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6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069975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7" name="Picture 7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1069975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730625"/>
            <a:ext cx="7772400" cy="2819400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dirty="0"/>
          </a:p>
        </p:txBody>
      </p:sp>
      <p:sp>
        <p:nvSpPr>
          <p:cNvPr id="103430" name="TextBox 6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3238310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6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995363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1" name="Picture 7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995363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733800"/>
            <a:ext cx="7772400" cy="3124200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2.</a:t>
            </a:r>
            <a:r>
              <a:rPr lang="zh-CN" altLang="en-US" dirty="0"/>
              <a:t>特征点匹配</a:t>
            </a:r>
            <a:endParaRPr lang="en-US" i="1" dirty="0"/>
          </a:p>
        </p:txBody>
      </p:sp>
      <p:sp>
        <p:nvSpPr>
          <p:cNvPr id="104454" name="Line 11"/>
          <p:cNvSpPr>
            <a:spLocks noChangeShapeType="1"/>
          </p:cNvSpPr>
          <p:nvPr/>
        </p:nvSpPr>
        <p:spPr bwMode="auto">
          <a:xfrm flipV="1">
            <a:off x="3289300" y="18288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55" name="Freeform 12"/>
          <p:cNvSpPr>
            <a:spLocks/>
          </p:cNvSpPr>
          <p:nvPr/>
        </p:nvSpPr>
        <p:spPr bwMode="auto">
          <a:xfrm>
            <a:off x="4232275" y="2046288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56" name="Line 13"/>
          <p:cNvSpPr>
            <a:spLocks noChangeShapeType="1"/>
          </p:cNvSpPr>
          <p:nvPr/>
        </p:nvSpPr>
        <p:spPr bwMode="auto">
          <a:xfrm flipV="1">
            <a:off x="3724275" y="3200400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57" name="Freeform 14"/>
          <p:cNvSpPr>
            <a:spLocks/>
          </p:cNvSpPr>
          <p:nvPr/>
        </p:nvSpPr>
        <p:spPr bwMode="auto">
          <a:xfrm>
            <a:off x="4154488" y="2608263"/>
            <a:ext cx="1733550" cy="47625"/>
          </a:xfrm>
          <a:custGeom>
            <a:avLst/>
            <a:gdLst>
              <a:gd name="T0" fmla="*/ 0 w 1092"/>
              <a:gd name="T1" fmla="*/ 2147483647 h 30"/>
              <a:gd name="T2" fmla="*/ 2147483647 w 1092"/>
              <a:gd name="T3" fmla="*/ 0 h 30"/>
              <a:gd name="T4" fmla="*/ 0 60000 65536"/>
              <a:gd name="T5" fmla="*/ 0 60000 65536"/>
              <a:gd name="T6" fmla="*/ 0 w 1092"/>
              <a:gd name="T7" fmla="*/ 0 h 30"/>
              <a:gd name="T8" fmla="*/ 1092 w 1092"/>
              <a:gd name="T9" fmla="*/ 30 h 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2" h="30">
                <a:moveTo>
                  <a:pt x="0" y="30"/>
                </a:moveTo>
                <a:lnTo>
                  <a:pt x="1092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58" name="Line 15"/>
          <p:cNvSpPr>
            <a:spLocks noChangeShapeType="1"/>
          </p:cNvSpPr>
          <p:nvPr/>
        </p:nvSpPr>
        <p:spPr bwMode="auto">
          <a:xfrm flipV="1">
            <a:off x="3444875" y="23241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59" name="Freeform 16"/>
          <p:cNvSpPr>
            <a:spLocks/>
          </p:cNvSpPr>
          <p:nvPr/>
        </p:nvSpPr>
        <p:spPr bwMode="auto">
          <a:xfrm>
            <a:off x="4016375" y="29289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0" name="Freeform 17"/>
          <p:cNvSpPr>
            <a:spLocks/>
          </p:cNvSpPr>
          <p:nvPr/>
        </p:nvSpPr>
        <p:spPr bwMode="auto">
          <a:xfrm>
            <a:off x="30480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1" name="Freeform 18"/>
          <p:cNvSpPr>
            <a:spLocks/>
          </p:cNvSpPr>
          <p:nvPr/>
        </p:nvSpPr>
        <p:spPr bwMode="auto">
          <a:xfrm>
            <a:off x="4168775" y="2714625"/>
            <a:ext cx="1709738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2" name="Freeform 19"/>
          <p:cNvSpPr>
            <a:spLocks/>
          </p:cNvSpPr>
          <p:nvPr/>
        </p:nvSpPr>
        <p:spPr bwMode="auto">
          <a:xfrm>
            <a:off x="4419600" y="21574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3" name="Line 20"/>
          <p:cNvSpPr>
            <a:spLocks noChangeShapeType="1"/>
          </p:cNvSpPr>
          <p:nvPr/>
        </p:nvSpPr>
        <p:spPr bwMode="auto">
          <a:xfrm flipV="1">
            <a:off x="3597275" y="24384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64" name="Freeform 21"/>
          <p:cNvSpPr>
            <a:spLocks/>
          </p:cNvSpPr>
          <p:nvPr/>
        </p:nvSpPr>
        <p:spPr bwMode="auto">
          <a:xfrm>
            <a:off x="4267200" y="23860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5" name="Freeform 22"/>
          <p:cNvSpPr>
            <a:spLocks/>
          </p:cNvSpPr>
          <p:nvPr/>
        </p:nvSpPr>
        <p:spPr bwMode="auto">
          <a:xfrm>
            <a:off x="3886200" y="3402013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6" name="Freeform 23"/>
          <p:cNvSpPr>
            <a:spLocks/>
          </p:cNvSpPr>
          <p:nvPr/>
        </p:nvSpPr>
        <p:spPr bwMode="auto">
          <a:xfrm>
            <a:off x="3657600" y="30813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7" name="Freeform 24"/>
          <p:cNvSpPr>
            <a:spLocks/>
          </p:cNvSpPr>
          <p:nvPr/>
        </p:nvSpPr>
        <p:spPr bwMode="auto">
          <a:xfrm>
            <a:off x="3776663" y="2819400"/>
            <a:ext cx="1709737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8" name="Freeform 25"/>
          <p:cNvSpPr>
            <a:spLocks/>
          </p:cNvSpPr>
          <p:nvPr/>
        </p:nvSpPr>
        <p:spPr bwMode="auto">
          <a:xfrm>
            <a:off x="3581400" y="22860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9" name="Freeform 26"/>
          <p:cNvSpPr>
            <a:spLocks/>
          </p:cNvSpPr>
          <p:nvPr/>
        </p:nvSpPr>
        <p:spPr bwMode="auto">
          <a:xfrm>
            <a:off x="3429000" y="21336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0" name="Freeform 27"/>
          <p:cNvSpPr>
            <a:spLocks/>
          </p:cNvSpPr>
          <p:nvPr/>
        </p:nvSpPr>
        <p:spPr bwMode="auto">
          <a:xfrm>
            <a:off x="37338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1" name="Freeform 28"/>
          <p:cNvSpPr>
            <a:spLocks/>
          </p:cNvSpPr>
          <p:nvPr/>
        </p:nvSpPr>
        <p:spPr bwMode="auto">
          <a:xfrm>
            <a:off x="2362200" y="2438400"/>
            <a:ext cx="3878263" cy="609600"/>
          </a:xfrm>
          <a:custGeom>
            <a:avLst/>
            <a:gdLst>
              <a:gd name="T0" fmla="*/ 0 w 2443"/>
              <a:gd name="T1" fmla="*/ 0 h 384"/>
              <a:gd name="T2" fmla="*/ 2147483647 w 2443"/>
              <a:gd name="T3" fmla="*/ 2147483647 h 384"/>
              <a:gd name="T4" fmla="*/ 0 60000 65536"/>
              <a:gd name="T5" fmla="*/ 0 60000 65536"/>
              <a:gd name="T6" fmla="*/ 0 w 2443"/>
              <a:gd name="T7" fmla="*/ 0 h 384"/>
              <a:gd name="T8" fmla="*/ 2443 w 2443"/>
              <a:gd name="T9" fmla="*/ 384 h 3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43" h="384">
                <a:moveTo>
                  <a:pt x="0" y="0"/>
                </a:moveTo>
                <a:lnTo>
                  <a:pt x="2443" y="384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2" name="Freeform 29"/>
          <p:cNvSpPr>
            <a:spLocks/>
          </p:cNvSpPr>
          <p:nvPr/>
        </p:nvSpPr>
        <p:spPr bwMode="auto">
          <a:xfrm>
            <a:off x="2286000" y="2786063"/>
            <a:ext cx="5392738" cy="414337"/>
          </a:xfrm>
          <a:custGeom>
            <a:avLst/>
            <a:gdLst>
              <a:gd name="T0" fmla="*/ 0 w 3397"/>
              <a:gd name="T1" fmla="*/ 2147483647 h 261"/>
              <a:gd name="T2" fmla="*/ 2147483647 w 3397"/>
              <a:gd name="T3" fmla="*/ 0 h 261"/>
              <a:gd name="T4" fmla="*/ 0 60000 65536"/>
              <a:gd name="T5" fmla="*/ 0 60000 65536"/>
              <a:gd name="T6" fmla="*/ 0 w 3397"/>
              <a:gd name="T7" fmla="*/ 0 h 261"/>
              <a:gd name="T8" fmla="*/ 3397 w 3397"/>
              <a:gd name="T9" fmla="*/ 261 h 2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97" h="261">
                <a:moveTo>
                  <a:pt x="0" y="261"/>
                </a:moveTo>
                <a:lnTo>
                  <a:pt x="339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3" name="Freeform 30"/>
          <p:cNvSpPr>
            <a:spLocks/>
          </p:cNvSpPr>
          <p:nvPr/>
        </p:nvSpPr>
        <p:spPr bwMode="auto">
          <a:xfrm>
            <a:off x="1335088" y="3149600"/>
            <a:ext cx="6124575" cy="246063"/>
          </a:xfrm>
          <a:custGeom>
            <a:avLst/>
            <a:gdLst>
              <a:gd name="T0" fmla="*/ 0 w 3858"/>
              <a:gd name="T1" fmla="*/ 0 h 155"/>
              <a:gd name="T2" fmla="*/ 2147483647 w 3858"/>
              <a:gd name="T3" fmla="*/ 2147483647 h 155"/>
              <a:gd name="T4" fmla="*/ 0 60000 65536"/>
              <a:gd name="T5" fmla="*/ 0 60000 65536"/>
              <a:gd name="T6" fmla="*/ 0 w 3858"/>
              <a:gd name="T7" fmla="*/ 0 h 155"/>
              <a:gd name="T8" fmla="*/ 3858 w 3858"/>
              <a:gd name="T9" fmla="*/ 155 h 1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58" h="155">
                <a:moveTo>
                  <a:pt x="0" y="0"/>
                </a:moveTo>
                <a:lnTo>
                  <a:pt x="3858" y="155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4" name="Freeform 31"/>
          <p:cNvSpPr>
            <a:spLocks/>
          </p:cNvSpPr>
          <p:nvPr/>
        </p:nvSpPr>
        <p:spPr bwMode="auto">
          <a:xfrm>
            <a:off x="1114425" y="2819400"/>
            <a:ext cx="5243513" cy="795338"/>
          </a:xfrm>
          <a:custGeom>
            <a:avLst/>
            <a:gdLst>
              <a:gd name="T0" fmla="*/ 0 w 3303"/>
              <a:gd name="T1" fmla="*/ 0 h 501"/>
              <a:gd name="T2" fmla="*/ 2147483647 w 3303"/>
              <a:gd name="T3" fmla="*/ 2147483647 h 501"/>
              <a:gd name="T4" fmla="*/ 0 60000 65536"/>
              <a:gd name="T5" fmla="*/ 0 60000 65536"/>
              <a:gd name="T6" fmla="*/ 0 w 3303"/>
              <a:gd name="T7" fmla="*/ 0 h 501"/>
              <a:gd name="T8" fmla="*/ 3303 w 3303"/>
              <a:gd name="T9" fmla="*/ 501 h 5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03" h="501">
                <a:moveTo>
                  <a:pt x="0" y="0"/>
                </a:moveTo>
                <a:lnTo>
                  <a:pt x="3303" y="501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5" name="Freeform 32"/>
          <p:cNvSpPr>
            <a:spLocks/>
          </p:cNvSpPr>
          <p:nvPr/>
        </p:nvSpPr>
        <p:spPr bwMode="auto">
          <a:xfrm>
            <a:off x="1770063" y="2627313"/>
            <a:ext cx="4949825" cy="203200"/>
          </a:xfrm>
          <a:custGeom>
            <a:avLst/>
            <a:gdLst>
              <a:gd name="T0" fmla="*/ 0 w 3118"/>
              <a:gd name="T1" fmla="*/ 2147483647 h 128"/>
              <a:gd name="T2" fmla="*/ 2147483647 w 3118"/>
              <a:gd name="T3" fmla="*/ 0 h 128"/>
              <a:gd name="T4" fmla="*/ 0 60000 65536"/>
              <a:gd name="T5" fmla="*/ 0 60000 65536"/>
              <a:gd name="T6" fmla="*/ 0 w 3118"/>
              <a:gd name="T7" fmla="*/ 0 h 128"/>
              <a:gd name="T8" fmla="*/ 3118 w 3118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18" h="128">
                <a:moveTo>
                  <a:pt x="0" y="128"/>
                </a:moveTo>
                <a:lnTo>
                  <a:pt x="311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6" name="Freeform 33"/>
          <p:cNvSpPr>
            <a:spLocks/>
          </p:cNvSpPr>
          <p:nvPr/>
        </p:nvSpPr>
        <p:spPr bwMode="auto">
          <a:xfrm>
            <a:off x="1447800" y="2278063"/>
            <a:ext cx="4154488" cy="1285875"/>
          </a:xfrm>
          <a:custGeom>
            <a:avLst/>
            <a:gdLst>
              <a:gd name="T0" fmla="*/ 0 w 2617"/>
              <a:gd name="T1" fmla="*/ 2147483647 h 810"/>
              <a:gd name="T2" fmla="*/ 2147483647 w 2617"/>
              <a:gd name="T3" fmla="*/ 0 h 810"/>
              <a:gd name="T4" fmla="*/ 0 60000 65536"/>
              <a:gd name="T5" fmla="*/ 0 60000 65536"/>
              <a:gd name="T6" fmla="*/ 0 w 2617"/>
              <a:gd name="T7" fmla="*/ 0 h 810"/>
              <a:gd name="T8" fmla="*/ 2617 w 2617"/>
              <a:gd name="T9" fmla="*/ 810 h 8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17" h="810">
                <a:moveTo>
                  <a:pt x="0" y="810"/>
                </a:moveTo>
                <a:lnTo>
                  <a:pt x="26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7" name="Freeform 34"/>
          <p:cNvSpPr>
            <a:spLocks/>
          </p:cNvSpPr>
          <p:nvPr/>
        </p:nvSpPr>
        <p:spPr bwMode="auto">
          <a:xfrm>
            <a:off x="3787775" y="1944688"/>
            <a:ext cx="1436688" cy="1568450"/>
          </a:xfrm>
          <a:custGeom>
            <a:avLst/>
            <a:gdLst>
              <a:gd name="T0" fmla="*/ 0 w 905"/>
              <a:gd name="T1" fmla="*/ 2147483647 h 988"/>
              <a:gd name="T2" fmla="*/ 2147483647 w 905"/>
              <a:gd name="T3" fmla="*/ 0 h 988"/>
              <a:gd name="T4" fmla="*/ 0 60000 65536"/>
              <a:gd name="T5" fmla="*/ 0 60000 65536"/>
              <a:gd name="T6" fmla="*/ 0 w 905"/>
              <a:gd name="T7" fmla="*/ 0 h 988"/>
              <a:gd name="T8" fmla="*/ 905 w 905"/>
              <a:gd name="T9" fmla="*/ 988 h 9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5" h="988">
                <a:moveTo>
                  <a:pt x="0" y="988"/>
                </a:moveTo>
                <a:lnTo>
                  <a:pt x="90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8" name="Freeform 35"/>
          <p:cNvSpPr>
            <a:spLocks/>
          </p:cNvSpPr>
          <p:nvPr/>
        </p:nvSpPr>
        <p:spPr bwMode="auto">
          <a:xfrm>
            <a:off x="990600" y="2481263"/>
            <a:ext cx="6688138" cy="795337"/>
          </a:xfrm>
          <a:custGeom>
            <a:avLst/>
            <a:gdLst>
              <a:gd name="T0" fmla="*/ 0 w 4213"/>
              <a:gd name="T1" fmla="*/ 2147483647 h 501"/>
              <a:gd name="T2" fmla="*/ 2147483647 w 4213"/>
              <a:gd name="T3" fmla="*/ 0 h 501"/>
              <a:gd name="T4" fmla="*/ 0 60000 65536"/>
              <a:gd name="T5" fmla="*/ 0 60000 65536"/>
              <a:gd name="T6" fmla="*/ 0 w 4213"/>
              <a:gd name="T7" fmla="*/ 0 h 501"/>
              <a:gd name="T8" fmla="*/ 4213 w 4213"/>
              <a:gd name="T9" fmla="*/ 501 h 5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13" h="501">
                <a:moveTo>
                  <a:pt x="0" y="501"/>
                </a:moveTo>
                <a:lnTo>
                  <a:pt x="4213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9" name="Freeform 36"/>
          <p:cNvSpPr>
            <a:spLocks/>
          </p:cNvSpPr>
          <p:nvPr/>
        </p:nvSpPr>
        <p:spPr bwMode="auto">
          <a:xfrm>
            <a:off x="1495425" y="3106738"/>
            <a:ext cx="6081713" cy="474662"/>
          </a:xfrm>
          <a:custGeom>
            <a:avLst/>
            <a:gdLst>
              <a:gd name="T0" fmla="*/ 0 w 3831"/>
              <a:gd name="T1" fmla="*/ 2147483647 h 299"/>
              <a:gd name="T2" fmla="*/ 2147483647 w 3831"/>
              <a:gd name="T3" fmla="*/ 0 h 299"/>
              <a:gd name="T4" fmla="*/ 0 60000 65536"/>
              <a:gd name="T5" fmla="*/ 0 60000 65536"/>
              <a:gd name="T6" fmla="*/ 0 w 3831"/>
              <a:gd name="T7" fmla="*/ 0 h 299"/>
              <a:gd name="T8" fmla="*/ 3831 w 3831"/>
              <a:gd name="T9" fmla="*/ 299 h 2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31" h="299">
                <a:moveTo>
                  <a:pt x="0" y="299"/>
                </a:moveTo>
                <a:lnTo>
                  <a:pt x="3831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0" name="Freeform 37"/>
          <p:cNvSpPr>
            <a:spLocks/>
          </p:cNvSpPr>
          <p:nvPr/>
        </p:nvSpPr>
        <p:spPr bwMode="auto">
          <a:xfrm>
            <a:off x="4354513" y="2903538"/>
            <a:ext cx="3556000" cy="623887"/>
          </a:xfrm>
          <a:custGeom>
            <a:avLst/>
            <a:gdLst>
              <a:gd name="T0" fmla="*/ 0 w 2240"/>
              <a:gd name="T1" fmla="*/ 2147483647 h 393"/>
              <a:gd name="T2" fmla="*/ 2147483647 w 2240"/>
              <a:gd name="T3" fmla="*/ 0 h 393"/>
              <a:gd name="T4" fmla="*/ 0 60000 65536"/>
              <a:gd name="T5" fmla="*/ 0 60000 65536"/>
              <a:gd name="T6" fmla="*/ 0 w 2240"/>
              <a:gd name="T7" fmla="*/ 0 h 393"/>
              <a:gd name="T8" fmla="*/ 2240 w 2240"/>
              <a:gd name="T9" fmla="*/ 393 h 39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40" h="393">
                <a:moveTo>
                  <a:pt x="0" y="393"/>
                </a:moveTo>
                <a:lnTo>
                  <a:pt x="2240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1" name="Freeform 38"/>
          <p:cNvSpPr>
            <a:spLocks/>
          </p:cNvSpPr>
          <p:nvPr/>
        </p:nvSpPr>
        <p:spPr bwMode="auto">
          <a:xfrm>
            <a:off x="4224338" y="2540000"/>
            <a:ext cx="3454400" cy="668338"/>
          </a:xfrm>
          <a:custGeom>
            <a:avLst/>
            <a:gdLst>
              <a:gd name="T0" fmla="*/ 0 w 2176"/>
              <a:gd name="T1" fmla="*/ 2147483647 h 421"/>
              <a:gd name="T2" fmla="*/ 2147483647 w 2176"/>
              <a:gd name="T3" fmla="*/ 0 h 421"/>
              <a:gd name="T4" fmla="*/ 0 60000 65536"/>
              <a:gd name="T5" fmla="*/ 0 60000 65536"/>
              <a:gd name="T6" fmla="*/ 0 w 2176"/>
              <a:gd name="T7" fmla="*/ 0 h 421"/>
              <a:gd name="T8" fmla="*/ 2176 w 2176"/>
              <a:gd name="T9" fmla="*/ 421 h 4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76" h="421">
                <a:moveTo>
                  <a:pt x="0" y="421"/>
                </a:moveTo>
                <a:lnTo>
                  <a:pt x="2176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2" name="Freeform 39"/>
          <p:cNvSpPr>
            <a:spLocks/>
          </p:cNvSpPr>
          <p:nvPr/>
        </p:nvSpPr>
        <p:spPr bwMode="auto">
          <a:xfrm>
            <a:off x="2590800" y="2362200"/>
            <a:ext cx="3694113" cy="33338"/>
          </a:xfrm>
          <a:custGeom>
            <a:avLst/>
            <a:gdLst>
              <a:gd name="T0" fmla="*/ 0 w 2327"/>
              <a:gd name="T1" fmla="*/ 0 h 21"/>
              <a:gd name="T2" fmla="*/ 2147483647 w 2327"/>
              <a:gd name="T3" fmla="*/ 2147483647 h 21"/>
              <a:gd name="T4" fmla="*/ 0 60000 65536"/>
              <a:gd name="T5" fmla="*/ 0 60000 65536"/>
              <a:gd name="T6" fmla="*/ 0 w 2327"/>
              <a:gd name="T7" fmla="*/ 0 h 21"/>
              <a:gd name="T8" fmla="*/ 2327 w 2327"/>
              <a:gd name="T9" fmla="*/ 21 h 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327" h="21">
                <a:moveTo>
                  <a:pt x="0" y="0"/>
                </a:moveTo>
                <a:lnTo>
                  <a:pt x="2327" y="21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3" name="Freeform 40"/>
          <p:cNvSpPr>
            <a:spLocks/>
          </p:cNvSpPr>
          <p:nvPr/>
        </p:nvSpPr>
        <p:spPr bwMode="auto">
          <a:xfrm>
            <a:off x="914400" y="2286000"/>
            <a:ext cx="6908800" cy="1095375"/>
          </a:xfrm>
          <a:custGeom>
            <a:avLst/>
            <a:gdLst>
              <a:gd name="T0" fmla="*/ 0 w 4352"/>
              <a:gd name="T1" fmla="*/ 0 h 690"/>
              <a:gd name="T2" fmla="*/ 2147483647 w 4352"/>
              <a:gd name="T3" fmla="*/ 2147483647 h 690"/>
              <a:gd name="T4" fmla="*/ 0 60000 65536"/>
              <a:gd name="T5" fmla="*/ 0 60000 65536"/>
              <a:gd name="T6" fmla="*/ 0 w 4352"/>
              <a:gd name="T7" fmla="*/ 0 h 690"/>
              <a:gd name="T8" fmla="*/ 4352 w 4352"/>
              <a:gd name="T9" fmla="*/ 690 h 6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52" h="690">
                <a:moveTo>
                  <a:pt x="0" y="0"/>
                </a:moveTo>
                <a:lnTo>
                  <a:pt x="4352" y="69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4" name="Freeform 41"/>
          <p:cNvSpPr>
            <a:spLocks/>
          </p:cNvSpPr>
          <p:nvPr/>
        </p:nvSpPr>
        <p:spPr bwMode="auto">
          <a:xfrm>
            <a:off x="2257425" y="2878138"/>
            <a:ext cx="5884863" cy="198437"/>
          </a:xfrm>
          <a:custGeom>
            <a:avLst/>
            <a:gdLst>
              <a:gd name="T0" fmla="*/ 0 w 3707"/>
              <a:gd name="T1" fmla="*/ 0 h 125"/>
              <a:gd name="T2" fmla="*/ 2147483647 w 3707"/>
              <a:gd name="T3" fmla="*/ 2147483647 h 125"/>
              <a:gd name="T4" fmla="*/ 0 60000 65536"/>
              <a:gd name="T5" fmla="*/ 0 60000 65536"/>
              <a:gd name="T6" fmla="*/ 0 w 3707"/>
              <a:gd name="T7" fmla="*/ 0 h 125"/>
              <a:gd name="T8" fmla="*/ 3707 w 3707"/>
              <a:gd name="T9" fmla="*/ 125 h 1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7" h="125">
                <a:moveTo>
                  <a:pt x="0" y="0"/>
                </a:moveTo>
                <a:lnTo>
                  <a:pt x="3707" y="125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5" name="TextBox 37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2547602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995363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499" name="Picture 3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995363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3733800"/>
            <a:ext cx="7772400" cy="3124200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altLang="zh-CN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2.</a:t>
            </a:r>
            <a:r>
              <a:rPr lang="zh-CN" altLang="en-US" dirty="0"/>
              <a:t>特征点匹配</a:t>
            </a:r>
            <a:endParaRPr lang="en-US" altLang="zh-CN" i="1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3.</a:t>
            </a:r>
            <a:r>
              <a:rPr lang="zh-CN" altLang="en-US" dirty="0"/>
              <a:t>匹配特征点筛选</a:t>
            </a:r>
            <a:endParaRPr lang="en-US" altLang="zh-CN" dirty="0"/>
          </a:p>
        </p:txBody>
      </p:sp>
      <p:sp>
        <p:nvSpPr>
          <p:cNvPr id="106502" name="Line 6"/>
          <p:cNvSpPr>
            <a:spLocks noChangeShapeType="1"/>
          </p:cNvSpPr>
          <p:nvPr/>
        </p:nvSpPr>
        <p:spPr bwMode="auto">
          <a:xfrm flipV="1">
            <a:off x="3289300" y="18288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03" name="Freeform 7"/>
          <p:cNvSpPr>
            <a:spLocks/>
          </p:cNvSpPr>
          <p:nvPr/>
        </p:nvSpPr>
        <p:spPr bwMode="auto">
          <a:xfrm>
            <a:off x="4232275" y="2046288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 flipV="1">
            <a:off x="3724275" y="3200400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05" name="Freeform 9"/>
          <p:cNvSpPr>
            <a:spLocks/>
          </p:cNvSpPr>
          <p:nvPr/>
        </p:nvSpPr>
        <p:spPr bwMode="auto">
          <a:xfrm>
            <a:off x="4154488" y="2608263"/>
            <a:ext cx="1733550" cy="47625"/>
          </a:xfrm>
          <a:custGeom>
            <a:avLst/>
            <a:gdLst>
              <a:gd name="T0" fmla="*/ 0 w 1092"/>
              <a:gd name="T1" fmla="*/ 2147483647 h 30"/>
              <a:gd name="T2" fmla="*/ 2147483647 w 1092"/>
              <a:gd name="T3" fmla="*/ 0 h 30"/>
              <a:gd name="T4" fmla="*/ 0 60000 65536"/>
              <a:gd name="T5" fmla="*/ 0 60000 65536"/>
              <a:gd name="T6" fmla="*/ 0 w 1092"/>
              <a:gd name="T7" fmla="*/ 0 h 30"/>
              <a:gd name="T8" fmla="*/ 1092 w 1092"/>
              <a:gd name="T9" fmla="*/ 30 h 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2" h="30">
                <a:moveTo>
                  <a:pt x="0" y="30"/>
                </a:moveTo>
                <a:lnTo>
                  <a:pt x="1092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6" name="Line 10"/>
          <p:cNvSpPr>
            <a:spLocks noChangeShapeType="1"/>
          </p:cNvSpPr>
          <p:nvPr/>
        </p:nvSpPr>
        <p:spPr bwMode="auto">
          <a:xfrm flipV="1">
            <a:off x="3444875" y="23241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07" name="Freeform 11"/>
          <p:cNvSpPr>
            <a:spLocks/>
          </p:cNvSpPr>
          <p:nvPr/>
        </p:nvSpPr>
        <p:spPr bwMode="auto">
          <a:xfrm>
            <a:off x="4016375" y="29289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8" name="Freeform 12"/>
          <p:cNvSpPr>
            <a:spLocks/>
          </p:cNvSpPr>
          <p:nvPr/>
        </p:nvSpPr>
        <p:spPr bwMode="auto">
          <a:xfrm>
            <a:off x="30480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9" name="Freeform 13"/>
          <p:cNvSpPr>
            <a:spLocks/>
          </p:cNvSpPr>
          <p:nvPr/>
        </p:nvSpPr>
        <p:spPr bwMode="auto">
          <a:xfrm>
            <a:off x="4168775" y="2714625"/>
            <a:ext cx="1709738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0" name="Freeform 14"/>
          <p:cNvSpPr>
            <a:spLocks/>
          </p:cNvSpPr>
          <p:nvPr/>
        </p:nvSpPr>
        <p:spPr bwMode="auto">
          <a:xfrm>
            <a:off x="4419600" y="21574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1" name="Line 15"/>
          <p:cNvSpPr>
            <a:spLocks noChangeShapeType="1"/>
          </p:cNvSpPr>
          <p:nvPr/>
        </p:nvSpPr>
        <p:spPr bwMode="auto">
          <a:xfrm flipV="1">
            <a:off x="3597275" y="24384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12" name="Freeform 16"/>
          <p:cNvSpPr>
            <a:spLocks/>
          </p:cNvSpPr>
          <p:nvPr/>
        </p:nvSpPr>
        <p:spPr bwMode="auto">
          <a:xfrm>
            <a:off x="4267200" y="23860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3" name="Freeform 17"/>
          <p:cNvSpPr>
            <a:spLocks/>
          </p:cNvSpPr>
          <p:nvPr/>
        </p:nvSpPr>
        <p:spPr bwMode="auto">
          <a:xfrm>
            <a:off x="3886200" y="3402013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4" name="Freeform 18"/>
          <p:cNvSpPr>
            <a:spLocks/>
          </p:cNvSpPr>
          <p:nvPr/>
        </p:nvSpPr>
        <p:spPr bwMode="auto">
          <a:xfrm>
            <a:off x="3657600" y="30813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5" name="Freeform 19"/>
          <p:cNvSpPr>
            <a:spLocks/>
          </p:cNvSpPr>
          <p:nvPr/>
        </p:nvSpPr>
        <p:spPr bwMode="auto">
          <a:xfrm>
            <a:off x="3776663" y="2819400"/>
            <a:ext cx="1709737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6" name="Freeform 20"/>
          <p:cNvSpPr>
            <a:spLocks/>
          </p:cNvSpPr>
          <p:nvPr/>
        </p:nvSpPr>
        <p:spPr bwMode="auto">
          <a:xfrm>
            <a:off x="3581400" y="22860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7" name="Freeform 21"/>
          <p:cNvSpPr>
            <a:spLocks/>
          </p:cNvSpPr>
          <p:nvPr/>
        </p:nvSpPr>
        <p:spPr bwMode="auto">
          <a:xfrm>
            <a:off x="3429000" y="21336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8" name="Freeform 22"/>
          <p:cNvSpPr>
            <a:spLocks/>
          </p:cNvSpPr>
          <p:nvPr/>
        </p:nvSpPr>
        <p:spPr bwMode="auto">
          <a:xfrm>
            <a:off x="37338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9" name="TextBox 23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3152481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3891492"/>
            <a:ext cx="7772400" cy="2753254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altLang="zh-CN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2.</a:t>
            </a:r>
            <a:r>
              <a:rPr lang="zh-CN" altLang="en-US" dirty="0"/>
              <a:t>特征点匹配</a:t>
            </a:r>
            <a:endParaRPr lang="en-US" altLang="zh-CN" i="1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3.</a:t>
            </a:r>
            <a:r>
              <a:rPr lang="zh-CN" altLang="en-US" dirty="0"/>
              <a:t>匹配特征点筛选</a:t>
            </a:r>
            <a:endParaRPr lang="en-US" altLang="zh-CN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4.</a:t>
            </a:r>
            <a:r>
              <a:rPr lang="zh-CN" altLang="en-US" dirty="0"/>
              <a:t>变换参数求解</a:t>
            </a:r>
            <a:endParaRPr lang="en-US" altLang="zh-CN" dirty="0"/>
          </a:p>
        </p:txBody>
      </p:sp>
      <p:pic>
        <p:nvPicPr>
          <p:cNvPr id="107524" name="Picture 23" descr="homo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8313" y="963613"/>
            <a:ext cx="5691187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5" name="TextBox 5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901146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9B327-D41C-3144-B73B-1BE6A3E7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4.6.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253CE-C791-0D4F-91E2-85DEC3A38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高斯金字塔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35BE6B-01DE-274E-9148-E1270F989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514600"/>
            <a:ext cx="41910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4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B3EB6-A4E1-4E4C-B7FA-F0C174F0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E9527-0FE1-7D49-AF36-4366D16DA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DoG</a:t>
            </a:r>
            <a:r>
              <a:rPr kumimoji="1" lang="zh-CN" altLang="en-US" dirty="0"/>
              <a:t>算子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2E4569-B927-5F41-A72D-26E072B1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65752"/>
            <a:ext cx="5670344" cy="408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10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A575A-26F4-AC47-951A-F9D04150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AC1A0-682F-3E42-9CDB-AD04BF1E6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DoG</a:t>
            </a:r>
            <a:r>
              <a:rPr kumimoji="1" lang="zh-CN" altLang="en-US" dirty="0"/>
              <a:t>尺度空间极值点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23DDF6-EAF3-DC4D-97BE-67C95C15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738" y="2286000"/>
            <a:ext cx="4126523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03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2F19A-8816-AF43-8026-FDD1B323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E05BEC-842D-A04D-B22E-662EC6DD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特征点尺度</a:t>
            </a:r>
            <a:endParaRPr kumimoji="1" lang="en-US" altLang="zh-CN" dirty="0"/>
          </a:p>
          <a:p>
            <a:r>
              <a:rPr kumimoji="1" lang="zh-CN" altLang="en-US" dirty="0"/>
              <a:t>特征点主方向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CF424F64-1A6C-7143-93E1-F197DA81CEB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048000"/>
            <a:ext cx="5275263" cy="2057400"/>
            <a:chOff x="1381" y="2880"/>
            <a:chExt cx="3323" cy="1296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BE4CC340-7CC0-3D45-9989-D44A7F372E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1" y="2880"/>
              <a:ext cx="3323" cy="1296"/>
              <a:chOff x="1056" y="2544"/>
              <a:chExt cx="4094" cy="1632"/>
            </a:xfrm>
          </p:grpSpPr>
          <p:pic>
            <p:nvPicPr>
              <p:cNvPr id="7" name="Picture 7" descr="descrip">
                <a:extLst>
                  <a:ext uri="{FF2B5EF4-FFF2-40B4-BE49-F238E27FC236}">
                    <a16:creationId xmlns:a16="http://schemas.microsoft.com/office/drawing/2014/main" id="{D8B03B38-F236-2A42-90E3-86DC5262D8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r="56557" b="8105"/>
              <a:stretch>
                <a:fillRect/>
              </a:stretch>
            </p:blipFill>
            <p:spPr bwMode="auto">
              <a:xfrm>
                <a:off x="1056" y="2544"/>
                <a:ext cx="1505" cy="1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8" name="Group 8">
                <a:extLst>
                  <a:ext uri="{FF2B5EF4-FFF2-40B4-BE49-F238E27FC236}">
                    <a16:creationId xmlns:a16="http://schemas.microsoft.com/office/drawing/2014/main" id="{6DDE3415-2B73-6141-A782-53E5F95DE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5" y="2782"/>
                <a:ext cx="2425" cy="1394"/>
                <a:chOff x="2725" y="2782"/>
                <a:chExt cx="2425" cy="1394"/>
              </a:xfrm>
            </p:grpSpPr>
            <p:grpSp>
              <p:nvGrpSpPr>
                <p:cNvPr id="9" name="Group 9">
                  <a:extLst>
                    <a:ext uri="{FF2B5EF4-FFF2-40B4-BE49-F238E27FC236}">
                      <a16:creationId xmlns:a16="http://schemas.microsoft.com/office/drawing/2014/main" id="{ABF34D82-152F-014F-864F-1D97A6237D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55" y="2782"/>
                  <a:ext cx="1695" cy="1394"/>
                  <a:chOff x="4080" y="3573"/>
                  <a:chExt cx="1075" cy="699"/>
                </a:xfrm>
              </p:grpSpPr>
              <p:sp>
                <p:nvSpPr>
                  <p:cNvPr id="11" name="Freeform 10">
                    <a:extLst>
                      <a:ext uri="{FF2B5EF4-FFF2-40B4-BE49-F238E27FC236}">
                        <a16:creationId xmlns:a16="http://schemas.microsoft.com/office/drawing/2014/main" id="{3075D371-892F-534A-9AC5-02A5C23E1C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9" y="3573"/>
                    <a:ext cx="958" cy="11"/>
                  </a:xfrm>
                  <a:custGeom>
                    <a:avLst/>
                    <a:gdLst>
                      <a:gd name="T0" fmla="*/ 8621 w 8621"/>
                      <a:gd name="T1" fmla="*/ 51 h 101"/>
                      <a:gd name="T2" fmla="*/ 8576 w 8621"/>
                      <a:gd name="T3" fmla="*/ 0 h 101"/>
                      <a:gd name="T4" fmla="*/ 0 w 8621"/>
                      <a:gd name="T5" fmla="*/ 0 h 101"/>
                      <a:gd name="T6" fmla="*/ 0 w 8621"/>
                      <a:gd name="T7" fmla="*/ 101 h 101"/>
                      <a:gd name="T8" fmla="*/ 8576 w 8621"/>
                      <a:gd name="T9" fmla="*/ 101 h 101"/>
                      <a:gd name="T10" fmla="*/ 8530 w 8621"/>
                      <a:gd name="T11" fmla="*/ 51 h 101"/>
                      <a:gd name="T12" fmla="*/ 8621 w 8621"/>
                      <a:gd name="T13" fmla="*/ 51 h 101"/>
                      <a:gd name="T14" fmla="*/ 8621 w 8621"/>
                      <a:gd name="T15" fmla="*/ 0 h 101"/>
                      <a:gd name="T16" fmla="*/ 8576 w 8621"/>
                      <a:gd name="T17" fmla="*/ 0 h 101"/>
                      <a:gd name="T18" fmla="*/ 8621 w 8621"/>
                      <a:gd name="T19" fmla="*/ 51 h 1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21"/>
                      <a:gd name="T31" fmla="*/ 0 h 101"/>
                      <a:gd name="T32" fmla="*/ 8621 w 8621"/>
                      <a:gd name="T33" fmla="*/ 101 h 1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21" h="101">
                        <a:moveTo>
                          <a:pt x="8621" y="51"/>
                        </a:moveTo>
                        <a:lnTo>
                          <a:pt x="8576" y="0"/>
                        </a:lnTo>
                        <a:lnTo>
                          <a:pt x="0" y="0"/>
                        </a:lnTo>
                        <a:lnTo>
                          <a:pt x="0" y="101"/>
                        </a:lnTo>
                        <a:lnTo>
                          <a:pt x="8576" y="101"/>
                        </a:lnTo>
                        <a:lnTo>
                          <a:pt x="8530" y="51"/>
                        </a:lnTo>
                        <a:lnTo>
                          <a:pt x="8621" y="51"/>
                        </a:lnTo>
                        <a:lnTo>
                          <a:pt x="8621" y="0"/>
                        </a:lnTo>
                        <a:lnTo>
                          <a:pt x="8576" y="0"/>
                        </a:lnTo>
                        <a:lnTo>
                          <a:pt x="8621" y="51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2BFC4185-A8D7-B443-8965-A6892B87A6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76" y="3579"/>
                    <a:ext cx="11" cy="545"/>
                  </a:xfrm>
                  <a:custGeom>
                    <a:avLst/>
                    <a:gdLst>
                      <a:gd name="T0" fmla="*/ 46 w 91"/>
                      <a:gd name="T1" fmla="*/ 5457 h 5457"/>
                      <a:gd name="T2" fmla="*/ 91 w 91"/>
                      <a:gd name="T3" fmla="*/ 5407 h 5457"/>
                      <a:gd name="T4" fmla="*/ 91 w 91"/>
                      <a:gd name="T5" fmla="*/ 0 h 5457"/>
                      <a:gd name="T6" fmla="*/ 0 w 91"/>
                      <a:gd name="T7" fmla="*/ 0 h 5457"/>
                      <a:gd name="T8" fmla="*/ 0 w 91"/>
                      <a:gd name="T9" fmla="*/ 5407 h 5457"/>
                      <a:gd name="T10" fmla="*/ 46 w 91"/>
                      <a:gd name="T11" fmla="*/ 5357 h 5457"/>
                      <a:gd name="T12" fmla="*/ 46 w 91"/>
                      <a:gd name="T13" fmla="*/ 5457 h 5457"/>
                      <a:gd name="T14" fmla="*/ 91 w 91"/>
                      <a:gd name="T15" fmla="*/ 5457 h 5457"/>
                      <a:gd name="T16" fmla="*/ 91 w 91"/>
                      <a:gd name="T17" fmla="*/ 5407 h 5457"/>
                      <a:gd name="T18" fmla="*/ 46 w 91"/>
                      <a:gd name="T19" fmla="*/ 5457 h 545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457"/>
                      <a:gd name="T32" fmla="*/ 91 w 91"/>
                      <a:gd name="T33" fmla="*/ 5457 h 545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457">
                        <a:moveTo>
                          <a:pt x="46" y="5457"/>
                        </a:moveTo>
                        <a:lnTo>
                          <a:pt x="91" y="5407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5407"/>
                        </a:lnTo>
                        <a:lnTo>
                          <a:pt x="46" y="5357"/>
                        </a:lnTo>
                        <a:lnTo>
                          <a:pt x="46" y="5457"/>
                        </a:lnTo>
                        <a:lnTo>
                          <a:pt x="91" y="5457"/>
                        </a:lnTo>
                        <a:lnTo>
                          <a:pt x="91" y="5407"/>
                        </a:lnTo>
                        <a:lnTo>
                          <a:pt x="46" y="5457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FC0A79E3-0890-9A46-BB5A-D2D1672152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4114"/>
                    <a:ext cx="958" cy="10"/>
                  </a:xfrm>
                  <a:custGeom>
                    <a:avLst/>
                    <a:gdLst>
                      <a:gd name="T0" fmla="*/ 0 w 8622"/>
                      <a:gd name="T1" fmla="*/ 50 h 100"/>
                      <a:gd name="T2" fmla="*/ 46 w 8622"/>
                      <a:gd name="T3" fmla="*/ 100 h 100"/>
                      <a:gd name="T4" fmla="*/ 8622 w 8622"/>
                      <a:gd name="T5" fmla="*/ 100 h 100"/>
                      <a:gd name="T6" fmla="*/ 8622 w 8622"/>
                      <a:gd name="T7" fmla="*/ 0 h 100"/>
                      <a:gd name="T8" fmla="*/ 46 w 8622"/>
                      <a:gd name="T9" fmla="*/ 0 h 100"/>
                      <a:gd name="T10" fmla="*/ 91 w 8622"/>
                      <a:gd name="T11" fmla="*/ 50 h 100"/>
                      <a:gd name="T12" fmla="*/ 0 w 8622"/>
                      <a:gd name="T13" fmla="*/ 50 h 100"/>
                      <a:gd name="T14" fmla="*/ 0 w 8622"/>
                      <a:gd name="T15" fmla="*/ 100 h 100"/>
                      <a:gd name="T16" fmla="*/ 46 w 8622"/>
                      <a:gd name="T17" fmla="*/ 100 h 100"/>
                      <a:gd name="T18" fmla="*/ 0 w 8622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22"/>
                      <a:gd name="T31" fmla="*/ 0 h 100"/>
                      <a:gd name="T32" fmla="*/ 8622 w 8622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22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8622" y="100"/>
                        </a:lnTo>
                        <a:lnTo>
                          <a:pt x="8622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4" name="Freeform 13">
                    <a:extLst>
                      <a:ext uri="{FF2B5EF4-FFF2-40B4-BE49-F238E27FC236}">
                        <a16:creationId xmlns:a16="http://schemas.microsoft.com/office/drawing/2014/main" id="{2C613C17-DEBA-A543-B66E-0738F8B0D0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3573"/>
                    <a:ext cx="10" cy="546"/>
                  </a:xfrm>
                  <a:custGeom>
                    <a:avLst/>
                    <a:gdLst>
                      <a:gd name="T0" fmla="*/ 46 w 91"/>
                      <a:gd name="T1" fmla="*/ 0 h 5458"/>
                      <a:gd name="T2" fmla="*/ 0 w 91"/>
                      <a:gd name="T3" fmla="*/ 51 h 5458"/>
                      <a:gd name="T4" fmla="*/ 0 w 91"/>
                      <a:gd name="T5" fmla="*/ 5458 h 5458"/>
                      <a:gd name="T6" fmla="*/ 91 w 91"/>
                      <a:gd name="T7" fmla="*/ 5458 h 5458"/>
                      <a:gd name="T8" fmla="*/ 91 w 91"/>
                      <a:gd name="T9" fmla="*/ 51 h 5458"/>
                      <a:gd name="T10" fmla="*/ 46 w 91"/>
                      <a:gd name="T11" fmla="*/ 101 h 5458"/>
                      <a:gd name="T12" fmla="*/ 46 w 91"/>
                      <a:gd name="T13" fmla="*/ 0 h 5458"/>
                      <a:gd name="T14" fmla="*/ 0 w 91"/>
                      <a:gd name="T15" fmla="*/ 0 h 5458"/>
                      <a:gd name="T16" fmla="*/ 0 w 91"/>
                      <a:gd name="T17" fmla="*/ 51 h 5458"/>
                      <a:gd name="T18" fmla="*/ 46 w 91"/>
                      <a:gd name="T19" fmla="*/ 0 h 545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458"/>
                      <a:gd name="T32" fmla="*/ 91 w 91"/>
                      <a:gd name="T33" fmla="*/ 5458 h 5458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458">
                        <a:moveTo>
                          <a:pt x="46" y="0"/>
                        </a:moveTo>
                        <a:lnTo>
                          <a:pt x="0" y="51"/>
                        </a:lnTo>
                        <a:lnTo>
                          <a:pt x="0" y="5458"/>
                        </a:lnTo>
                        <a:lnTo>
                          <a:pt x="91" y="5458"/>
                        </a:lnTo>
                        <a:lnTo>
                          <a:pt x="91" y="51"/>
                        </a:lnTo>
                        <a:lnTo>
                          <a:pt x="46" y="101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1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9C9C0B3-80C8-CF48-91B5-610185170F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29" y="3984"/>
                    <a:ext cx="136" cy="13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" name="Freeform 15">
                    <a:extLst>
                      <a:ext uri="{FF2B5EF4-FFF2-40B4-BE49-F238E27FC236}">
                        <a16:creationId xmlns:a16="http://schemas.microsoft.com/office/drawing/2014/main" id="{5350776C-8CF8-0E40-A19F-1871CD88BF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9" y="3979"/>
                    <a:ext cx="141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80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7" name="Freeform 16">
                    <a:extLst>
                      <a:ext uri="{FF2B5EF4-FFF2-40B4-BE49-F238E27FC236}">
                        <a16:creationId xmlns:a16="http://schemas.microsoft.com/office/drawing/2014/main" id="{0E1C6BB7-1E53-DE45-9AB8-C551CF165B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3984"/>
                    <a:ext cx="10" cy="140"/>
                  </a:xfrm>
                  <a:custGeom>
                    <a:avLst/>
                    <a:gdLst>
                      <a:gd name="T0" fmla="*/ 45 w 90"/>
                      <a:gd name="T1" fmla="*/ 1402 h 1402"/>
                      <a:gd name="T2" fmla="*/ 90 w 90"/>
                      <a:gd name="T3" fmla="*/ 1352 h 1402"/>
                      <a:gd name="T4" fmla="*/ 90 w 90"/>
                      <a:gd name="T5" fmla="*/ 0 h 1402"/>
                      <a:gd name="T6" fmla="*/ 0 w 90"/>
                      <a:gd name="T7" fmla="*/ 0 h 1402"/>
                      <a:gd name="T8" fmla="*/ 0 w 90"/>
                      <a:gd name="T9" fmla="*/ 1352 h 1402"/>
                      <a:gd name="T10" fmla="*/ 45 w 90"/>
                      <a:gd name="T11" fmla="*/ 1302 h 1402"/>
                      <a:gd name="T12" fmla="*/ 45 w 90"/>
                      <a:gd name="T13" fmla="*/ 1402 h 1402"/>
                      <a:gd name="T14" fmla="*/ 90 w 90"/>
                      <a:gd name="T15" fmla="*/ 1402 h 1402"/>
                      <a:gd name="T16" fmla="*/ 90 w 90"/>
                      <a:gd name="T17" fmla="*/ 1352 h 1402"/>
                      <a:gd name="T18" fmla="*/ 45 w 90"/>
                      <a:gd name="T19" fmla="*/ 1402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1402"/>
                      <a:gd name="T32" fmla="*/ 90 w 90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1402">
                        <a:moveTo>
                          <a:pt x="45" y="1402"/>
                        </a:moveTo>
                        <a:lnTo>
                          <a:pt x="90" y="1352"/>
                        </a:lnTo>
                        <a:lnTo>
                          <a:pt x="90" y="0"/>
                        </a:lnTo>
                        <a:lnTo>
                          <a:pt x="0" y="0"/>
                        </a:lnTo>
                        <a:lnTo>
                          <a:pt x="0" y="1352"/>
                        </a:lnTo>
                        <a:lnTo>
                          <a:pt x="45" y="1302"/>
                        </a:lnTo>
                        <a:lnTo>
                          <a:pt x="45" y="1402"/>
                        </a:lnTo>
                        <a:lnTo>
                          <a:pt x="90" y="1402"/>
                        </a:lnTo>
                        <a:lnTo>
                          <a:pt x="90" y="1352"/>
                        </a:lnTo>
                        <a:lnTo>
                          <a:pt x="45" y="140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3335089E-AC47-3A43-AECD-FA9201C54B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4114"/>
                    <a:ext cx="141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" name="Freeform 18">
                    <a:extLst>
                      <a:ext uri="{FF2B5EF4-FFF2-40B4-BE49-F238E27FC236}">
                        <a16:creationId xmlns:a16="http://schemas.microsoft.com/office/drawing/2014/main" id="{DCA12EFF-286F-AF4A-B61E-62BF015465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3979"/>
                    <a:ext cx="10" cy="140"/>
                  </a:xfrm>
                  <a:custGeom>
                    <a:avLst/>
                    <a:gdLst>
                      <a:gd name="T0" fmla="*/ 46 w 91"/>
                      <a:gd name="T1" fmla="*/ 0 h 1402"/>
                      <a:gd name="T2" fmla="*/ 0 w 91"/>
                      <a:gd name="T3" fmla="*/ 50 h 1402"/>
                      <a:gd name="T4" fmla="*/ 0 w 91"/>
                      <a:gd name="T5" fmla="*/ 1402 h 1402"/>
                      <a:gd name="T6" fmla="*/ 91 w 91"/>
                      <a:gd name="T7" fmla="*/ 1402 h 1402"/>
                      <a:gd name="T8" fmla="*/ 91 w 91"/>
                      <a:gd name="T9" fmla="*/ 50 h 1402"/>
                      <a:gd name="T10" fmla="*/ 46 w 91"/>
                      <a:gd name="T11" fmla="*/ 100 h 1402"/>
                      <a:gd name="T12" fmla="*/ 46 w 91"/>
                      <a:gd name="T13" fmla="*/ 0 h 1402"/>
                      <a:gd name="T14" fmla="*/ 0 w 91"/>
                      <a:gd name="T15" fmla="*/ 0 h 1402"/>
                      <a:gd name="T16" fmla="*/ 0 w 91"/>
                      <a:gd name="T17" fmla="*/ 50 h 1402"/>
                      <a:gd name="T18" fmla="*/ 46 w 91"/>
                      <a:gd name="T19" fmla="*/ 0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402"/>
                      <a:gd name="T32" fmla="*/ 91 w 91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40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1402"/>
                        </a:lnTo>
                        <a:lnTo>
                          <a:pt x="91" y="140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A9A7CE8-6F05-4B47-A406-502D5AF865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65" y="3714"/>
                    <a:ext cx="136" cy="40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1" name="Freeform 20">
                    <a:extLst>
                      <a:ext uri="{FF2B5EF4-FFF2-40B4-BE49-F238E27FC236}">
                        <a16:creationId xmlns:a16="http://schemas.microsoft.com/office/drawing/2014/main" id="{CFC0C12E-2254-1E46-9F57-5D9197F22F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5" y="3709"/>
                    <a:ext cx="141" cy="10"/>
                  </a:xfrm>
                  <a:custGeom>
                    <a:avLst/>
                    <a:gdLst>
                      <a:gd name="T0" fmla="*/ 1271 w 1271"/>
                      <a:gd name="T1" fmla="*/ 50 h 100"/>
                      <a:gd name="T2" fmla="*/ 1225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5 w 1271"/>
                      <a:gd name="T9" fmla="*/ 100 h 100"/>
                      <a:gd name="T10" fmla="*/ 1179 w 1271"/>
                      <a:gd name="T11" fmla="*/ 50 h 100"/>
                      <a:gd name="T12" fmla="*/ 1271 w 1271"/>
                      <a:gd name="T13" fmla="*/ 50 h 100"/>
                      <a:gd name="T14" fmla="*/ 1271 w 1271"/>
                      <a:gd name="T15" fmla="*/ 0 h 100"/>
                      <a:gd name="T16" fmla="*/ 1225 w 1271"/>
                      <a:gd name="T17" fmla="*/ 0 h 100"/>
                      <a:gd name="T18" fmla="*/ 127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271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79" y="50"/>
                        </a:lnTo>
                        <a:lnTo>
                          <a:pt x="1271" y="50"/>
                        </a:lnTo>
                        <a:lnTo>
                          <a:pt x="1271" y="0"/>
                        </a:lnTo>
                        <a:lnTo>
                          <a:pt x="1225" y="0"/>
                        </a:lnTo>
                        <a:lnTo>
                          <a:pt x="127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2" name="Freeform 21">
                    <a:extLst>
                      <a:ext uri="{FF2B5EF4-FFF2-40B4-BE49-F238E27FC236}">
                        <a16:creationId xmlns:a16="http://schemas.microsoft.com/office/drawing/2014/main" id="{58F0A209-1558-6447-8120-BCF8F9656B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6" y="3714"/>
                    <a:ext cx="10" cy="410"/>
                  </a:xfrm>
                  <a:custGeom>
                    <a:avLst/>
                    <a:gdLst>
                      <a:gd name="T0" fmla="*/ 46 w 92"/>
                      <a:gd name="T1" fmla="*/ 4106 h 4106"/>
                      <a:gd name="T2" fmla="*/ 92 w 92"/>
                      <a:gd name="T3" fmla="*/ 4056 h 4106"/>
                      <a:gd name="T4" fmla="*/ 92 w 92"/>
                      <a:gd name="T5" fmla="*/ 0 h 4106"/>
                      <a:gd name="T6" fmla="*/ 0 w 92"/>
                      <a:gd name="T7" fmla="*/ 0 h 4106"/>
                      <a:gd name="T8" fmla="*/ 0 w 92"/>
                      <a:gd name="T9" fmla="*/ 4056 h 4106"/>
                      <a:gd name="T10" fmla="*/ 46 w 92"/>
                      <a:gd name="T11" fmla="*/ 4006 h 4106"/>
                      <a:gd name="T12" fmla="*/ 46 w 92"/>
                      <a:gd name="T13" fmla="*/ 4106 h 4106"/>
                      <a:gd name="T14" fmla="*/ 92 w 92"/>
                      <a:gd name="T15" fmla="*/ 4106 h 4106"/>
                      <a:gd name="T16" fmla="*/ 92 w 92"/>
                      <a:gd name="T17" fmla="*/ 4056 h 4106"/>
                      <a:gd name="T18" fmla="*/ 46 w 92"/>
                      <a:gd name="T19" fmla="*/ 4106 h 410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2"/>
                      <a:gd name="T31" fmla="*/ 0 h 4106"/>
                      <a:gd name="T32" fmla="*/ 92 w 92"/>
                      <a:gd name="T33" fmla="*/ 4106 h 410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2" h="4106">
                        <a:moveTo>
                          <a:pt x="46" y="4106"/>
                        </a:moveTo>
                        <a:lnTo>
                          <a:pt x="92" y="4056"/>
                        </a:lnTo>
                        <a:lnTo>
                          <a:pt x="92" y="0"/>
                        </a:lnTo>
                        <a:lnTo>
                          <a:pt x="0" y="0"/>
                        </a:lnTo>
                        <a:lnTo>
                          <a:pt x="0" y="4056"/>
                        </a:lnTo>
                        <a:lnTo>
                          <a:pt x="46" y="4006"/>
                        </a:lnTo>
                        <a:lnTo>
                          <a:pt x="46" y="4106"/>
                        </a:lnTo>
                        <a:lnTo>
                          <a:pt x="92" y="4106"/>
                        </a:lnTo>
                        <a:lnTo>
                          <a:pt x="92" y="4056"/>
                        </a:lnTo>
                        <a:lnTo>
                          <a:pt x="46" y="4106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3" name="Freeform 22">
                    <a:extLst>
                      <a:ext uri="{FF2B5EF4-FFF2-40B4-BE49-F238E27FC236}">
                        <a16:creationId xmlns:a16="http://schemas.microsoft.com/office/drawing/2014/main" id="{C4367B21-BF62-5A48-B33E-BAA29BEB86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4114"/>
                    <a:ext cx="141" cy="10"/>
                  </a:xfrm>
                  <a:custGeom>
                    <a:avLst/>
                    <a:gdLst>
                      <a:gd name="T0" fmla="*/ 0 w 1270"/>
                      <a:gd name="T1" fmla="*/ 50 h 100"/>
                      <a:gd name="T2" fmla="*/ 45 w 1270"/>
                      <a:gd name="T3" fmla="*/ 100 h 100"/>
                      <a:gd name="T4" fmla="*/ 1270 w 1270"/>
                      <a:gd name="T5" fmla="*/ 100 h 100"/>
                      <a:gd name="T6" fmla="*/ 1270 w 1270"/>
                      <a:gd name="T7" fmla="*/ 0 h 100"/>
                      <a:gd name="T8" fmla="*/ 45 w 1270"/>
                      <a:gd name="T9" fmla="*/ 0 h 100"/>
                      <a:gd name="T10" fmla="*/ 90 w 1270"/>
                      <a:gd name="T11" fmla="*/ 50 h 100"/>
                      <a:gd name="T12" fmla="*/ 0 w 1270"/>
                      <a:gd name="T13" fmla="*/ 50 h 100"/>
                      <a:gd name="T14" fmla="*/ 0 w 1270"/>
                      <a:gd name="T15" fmla="*/ 100 h 100"/>
                      <a:gd name="T16" fmla="*/ 45 w 1270"/>
                      <a:gd name="T17" fmla="*/ 100 h 100"/>
                      <a:gd name="T18" fmla="*/ 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0" y="50"/>
                        </a:moveTo>
                        <a:lnTo>
                          <a:pt x="45" y="100"/>
                        </a:lnTo>
                        <a:lnTo>
                          <a:pt x="1270" y="100"/>
                        </a:lnTo>
                        <a:lnTo>
                          <a:pt x="1270" y="0"/>
                        </a:lnTo>
                        <a:lnTo>
                          <a:pt x="45" y="0"/>
                        </a:lnTo>
                        <a:lnTo>
                          <a:pt x="90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5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4" name="Freeform 23">
                    <a:extLst>
                      <a:ext uri="{FF2B5EF4-FFF2-40B4-BE49-F238E27FC236}">
                        <a16:creationId xmlns:a16="http://schemas.microsoft.com/office/drawing/2014/main" id="{3E18045F-A648-2647-B0ED-EA3FC84288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3709"/>
                    <a:ext cx="10" cy="410"/>
                  </a:xfrm>
                  <a:custGeom>
                    <a:avLst/>
                    <a:gdLst>
                      <a:gd name="T0" fmla="*/ 45 w 90"/>
                      <a:gd name="T1" fmla="*/ 0 h 4106"/>
                      <a:gd name="T2" fmla="*/ 0 w 90"/>
                      <a:gd name="T3" fmla="*/ 50 h 4106"/>
                      <a:gd name="T4" fmla="*/ 0 w 90"/>
                      <a:gd name="T5" fmla="*/ 4106 h 4106"/>
                      <a:gd name="T6" fmla="*/ 90 w 90"/>
                      <a:gd name="T7" fmla="*/ 4106 h 4106"/>
                      <a:gd name="T8" fmla="*/ 90 w 90"/>
                      <a:gd name="T9" fmla="*/ 50 h 4106"/>
                      <a:gd name="T10" fmla="*/ 45 w 90"/>
                      <a:gd name="T11" fmla="*/ 100 h 4106"/>
                      <a:gd name="T12" fmla="*/ 45 w 90"/>
                      <a:gd name="T13" fmla="*/ 0 h 4106"/>
                      <a:gd name="T14" fmla="*/ 0 w 90"/>
                      <a:gd name="T15" fmla="*/ 0 h 4106"/>
                      <a:gd name="T16" fmla="*/ 0 w 90"/>
                      <a:gd name="T17" fmla="*/ 50 h 4106"/>
                      <a:gd name="T18" fmla="*/ 45 w 90"/>
                      <a:gd name="T19" fmla="*/ 0 h 410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4106"/>
                      <a:gd name="T32" fmla="*/ 90 w 90"/>
                      <a:gd name="T33" fmla="*/ 4106 h 410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4106">
                        <a:moveTo>
                          <a:pt x="45" y="0"/>
                        </a:moveTo>
                        <a:lnTo>
                          <a:pt x="0" y="50"/>
                        </a:lnTo>
                        <a:lnTo>
                          <a:pt x="0" y="4106"/>
                        </a:lnTo>
                        <a:lnTo>
                          <a:pt x="90" y="4106"/>
                        </a:lnTo>
                        <a:lnTo>
                          <a:pt x="90" y="50"/>
                        </a:lnTo>
                        <a:lnTo>
                          <a:pt x="45" y="10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E91879B8-BEDA-004F-94C6-496EA70B67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3849"/>
                    <a:ext cx="136" cy="27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" name="Freeform 25">
                    <a:extLst>
                      <a:ext uri="{FF2B5EF4-FFF2-40B4-BE49-F238E27FC236}">
                        <a16:creationId xmlns:a16="http://schemas.microsoft.com/office/drawing/2014/main" id="{7EEA226A-EC5C-E248-A594-7BED78DE22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6" y="3844"/>
                    <a:ext cx="141" cy="10"/>
                  </a:xfrm>
                  <a:custGeom>
                    <a:avLst/>
                    <a:gdLst>
                      <a:gd name="T0" fmla="*/ 92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0 w 1271"/>
                      <a:gd name="T11" fmla="*/ 50 h 100"/>
                      <a:gd name="T12" fmla="*/ 46 w 1271"/>
                      <a:gd name="T13" fmla="*/ 0 h 100"/>
                      <a:gd name="T14" fmla="*/ 0 w 1271"/>
                      <a:gd name="T15" fmla="*/ 0 h 100"/>
                      <a:gd name="T16" fmla="*/ 0 w 1271"/>
                      <a:gd name="T17" fmla="*/ 50 h 100"/>
                      <a:gd name="T18" fmla="*/ 92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92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92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7" name="Freeform 26">
                    <a:extLst>
                      <a:ext uri="{FF2B5EF4-FFF2-40B4-BE49-F238E27FC236}">
                        <a16:creationId xmlns:a16="http://schemas.microsoft.com/office/drawing/2014/main" id="{B0DA75AC-5B3E-6A46-BD34-A11FB24D86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6" y="3849"/>
                    <a:ext cx="10" cy="275"/>
                  </a:xfrm>
                  <a:custGeom>
                    <a:avLst/>
                    <a:gdLst>
                      <a:gd name="T0" fmla="*/ 46 w 92"/>
                      <a:gd name="T1" fmla="*/ 2654 h 2754"/>
                      <a:gd name="T2" fmla="*/ 92 w 92"/>
                      <a:gd name="T3" fmla="*/ 2704 h 2754"/>
                      <a:gd name="T4" fmla="*/ 92 w 92"/>
                      <a:gd name="T5" fmla="*/ 0 h 2754"/>
                      <a:gd name="T6" fmla="*/ 0 w 92"/>
                      <a:gd name="T7" fmla="*/ 0 h 2754"/>
                      <a:gd name="T8" fmla="*/ 0 w 92"/>
                      <a:gd name="T9" fmla="*/ 2704 h 2754"/>
                      <a:gd name="T10" fmla="*/ 46 w 92"/>
                      <a:gd name="T11" fmla="*/ 2754 h 2754"/>
                      <a:gd name="T12" fmla="*/ 0 w 92"/>
                      <a:gd name="T13" fmla="*/ 2704 h 2754"/>
                      <a:gd name="T14" fmla="*/ 0 w 92"/>
                      <a:gd name="T15" fmla="*/ 2754 h 2754"/>
                      <a:gd name="T16" fmla="*/ 46 w 92"/>
                      <a:gd name="T17" fmla="*/ 2754 h 2754"/>
                      <a:gd name="T18" fmla="*/ 46 w 92"/>
                      <a:gd name="T19" fmla="*/ 2654 h 275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2"/>
                      <a:gd name="T31" fmla="*/ 0 h 2754"/>
                      <a:gd name="T32" fmla="*/ 92 w 92"/>
                      <a:gd name="T33" fmla="*/ 2754 h 275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2" h="2754">
                        <a:moveTo>
                          <a:pt x="46" y="2654"/>
                        </a:moveTo>
                        <a:lnTo>
                          <a:pt x="92" y="2704"/>
                        </a:lnTo>
                        <a:lnTo>
                          <a:pt x="92" y="0"/>
                        </a:lnTo>
                        <a:lnTo>
                          <a:pt x="0" y="0"/>
                        </a:lnTo>
                        <a:lnTo>
                          <a:pt x="0" y="2704"/>
                        </a:lnTo>
                        <a:lnTo>
                          <a:pt x="46" y="2754"/>
                        </a:lnTo>
                        <a:lnTo>
                          <a:pt x="0" y="2704"/>
                        </a:lnTo>
                        <a:lnTo>
                          <a:pt x="0" y="2754"/>
                        </a:lnTo>
                        <a:lnTo>
                          <a:pt x="46" y="2754"/>
                        </a:lnTo>
                        <a:lnTo>
                          <a:pt x="46" y="2654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8" name="Freeform 27">
                    <a:extLst>
                      <a:ext uri="{FF2B5EF4-FFF2-40B4-BE49-F238E27FC236}">
                        <a16:creationId xmlns:a16="http://schemas.microsoft.com/office/drawing/2014/main" id="{E4CBC3F0-8733-274E-BBB4-71A371E3CB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01" y="4114"/>
                    <a:ext cx="141" cy="10"/>
                  </a:xfrm>
                  <a:custGeom>
                    <a:avLst/>
                    <a:gdLst>
                      <a:gd name="T0" fmla="*/ 1179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270 w 1270"/>
                      <a:gd name="T11" fmla="*/ 50 h 100"/>
                      <a:gd name="T12" fmla="*/ 1225 w 1270"/>
                      <a:gd name="T13" fmla="*/ 100 h 100"/>
                      <a:gd name="T14" fmla="*/ 1270 w 1270"/>
                      <a:gd name="T15" fmla="*/ 100 h 100"/>
                      <a:gd name="T16" fmla="*/ 1270 w 1270"/>
                      <a:gd name="T17" fmla="*/ 50 h 100"/>
                      <a:gd name="T18" fmla="*/ 1179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179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270" y="50"/>
                        </a:lnTo>
                        <a:lnTo>
                          <a:pt x="1225" y="100"/>
                        </a:lnTo>
                        <a:lnTo>
                          <a:pt x="1270" y="100"/>
                        </a:lnTo>
                        <a:lnTo>
                          <a:pt x="1270" y="50"/>
                        </a:lnTo>
                        <a:lnTo>
                          <a:pt x="1179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9" name="Freeform 28">
                    <a:extLst>
                      <a:ext uri="{FF2B5EF4-FFF2-40B4-BE49-F238E27FC236}">
                        <a16:creationId xmlns:a16="http://schemas.microsoft.com/office/drawing/2014/main" id="{7ADD6722-49F4-7047-A391-4A92A27604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2" y="3844"/>
                    <a:ext cx="10" cy="275"/>
                  </a:xfrm>
                  <a:custGeom>
                    <a:avLst/>
                    <a:gdLst>
                      <a:gd name="T0" fmla="*/ 46 w 91"/>
                      <a:gd name="T1" fmla="*/ 100 h 2754"/>
                      <a:gd name="T2" fmla="*/ 0 w 91"/>
                      <a:gd name="T3" fmla="*/ 50 h 2754"/>
                      <a:gd name="T4" fmla="*/ 0 w 91"/>
                      <a:gd name="T5" fmla="*/ 2754 h 2754"/>
                      <a:gd name="T6" fmla="*/ 91 w 91"/>
                      <a:gd name="T7" fmla="*/ 2754 h 2754"/>
                      <a:gd name="T8" fmla="*/ 91 w 91"/>
                      <a:gd name="T9" fmla="*/ 50 h 2754"/>
                      <a:gd name="T10" fmla="*/ 46 w 91"/>
                      <a:gd name="T11" fmla="*/ 0 h 2754"/>
                      <a:gd name="T12" fmla="*/ 91 w 91"/>
                      <a:gd name="T13" fmla="*/ 50 h 2754"/>
                      <a:gd name="T14" fmla="*/ 91 w 91"/>
                      <a:gd name="T15" fmla="*/ 0 h 2754"/>
                      <a:gd name="T16" fmla="*/ 46 w 91"/>
                      <a:gd name="T17" fmla="*/ 0 h 2754"/>
                      <a:gd name="T18" fmla="*/ 46 w 91"/>
                      <a:gd name="T19" fmla="*/ 100 h 275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2754"/>
                      <a:gd name="T32" fmla="*/ 91 w 91"/>
                      <a:gd name="T33" fmla="*/ 2754 h 275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2754">
                        <a:moveTo>
                          <a:pt x="46" y="100"/>
                        </a:moveTo>
                        <a:lnTo>
                          <a:pt x="0" y="50"/>
                        </a:lnTo>
                        <a:lnTo>
                          <a:pt x="0" y="2754"/>
                        </a:lnTo>
                        <a:lnTo>
                          <a:pt x="91" y="2754"/>
                        </a:lnTo>
                        <a:lnTo>
                          <a:pt x="91" y="5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91" y="0"/>
                        </a:lnTo>
                        <a:lnTo>
                          <a:pt x="46" y="0"/>
                        </a:lnTo>
                        <a:lnTo>
                          <a:pt x="46" y="10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97744E95-57BE-264D-B2A1-3AC40E967E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37" y="4029"/>
                    <a:ext cx="136" cy="9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1" name="Freeform 30">
                    <a:extLst>
                      <a:ext uri="{FF2B5EF4-FFF2-40B4-BE49-F238E27FC236}">
                        <a16:creationId xmlns:a16="http://schemas.microsoft.com/office/drawing/2014/main" id="{0BB4D600-9603-BB44-824B-3BF4FDC987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7" y="4024"/>
                    <a:ext cx="141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80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2" name="Freeform 31">
                    <a:extLst>
                      <a:ext uri="{FF2B5EF4-FFF2-40B4-BE49-F238E27FC236}">
                        <a16:creationId xmlns:a16="http://schemas.microsoft.com/office/drawing/2014/main" id="{52526A3A-8E0B-744A-8546-72588E5EAE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8" y="4029"/>
                    <a:ext cx="10" cy="95"/>
                  </a:xfrm>
                  <a:custGeom>
                    <a:avLst/>
                    <a:gdLst>
                      <a:gd name="T0" fmla="*/ 45 w 90"/>
                      <a:gd name="T1" fmla="*/ 952 h 952"/>
                      <a:gd name="T2" fmla="*/ 90 w 90"/>
                      <a:gd name="T3" fmla="*/ 902 h 952"/>
                      <a:gd name="T4" fmla="*/ 90 w 90"/>
                      <a:gd name="T5" fmla="*/ 0 h 952"/>
                      <a:gd name="T6" fmla="*/ 0 w 90"/>
                      <a:gd name="T7" fmla="*/ 0 h 952"/>
                      <a:gd name="T8" fmla="*/ 0 w 90"/>
                      <a:gd name="T9" fmla="*/ 902 h 952"/>
                      <a:gd name="T10" fmla="*/ 45 w 90"/>
                      <a:gd name="T11" fmla="*/ 852 h 952"/>
                      <a:gd name="T12" fmla="*/ 45 w 90"/>
                      <a:gd name="T13" fmla="*/ 952 h 952"/>
                      <a:gd name="T14" fmla="*/ 90 w 90"/>
                      <a:gd name="T15" fmla="*/ 952 h 952"/>
                      <a:gd name="T16" fmla="*/ 90 w 90"/>
                      <a:gd name="T17" fmla="*/ 902 h 952"/>
                      <a:gd name="T18" fmla="*/ 45 w 90"/>
                      <a:gd name="T19" fmla="*/ 952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952"/>
                      <a:gd name="T32" fmla="*/ 90 w 90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952">
                        <a:moveTo>
                          <a:pt x="45" y="952"/>
                        </a:moveTo>
                        <a:lnTo>
                          <a:pt x="90" y="902"/>
                        </a:lnTo>
                        <a:lnTo>
                          <a:pt x="90" y="0"/>
                        </a:lnTo>
                        <a:lnTo>
                          <a:pt x="0" y="0"/>
                        </a:lnTo>
                        <a:lnTo>
                          <a:pt x="0" y="902"/>
                        </a:lnTo>
                        <a:lnTo>
                          <a:pt x="45" y="852"/>
                        </a:lnTo>
                        <a:lnTo>
                          <a:pt x="45" y="952"/>
                        </a:lnTo>
                        <a:lnTo>
                          <a:pt x="90" y="952"/>
                        </a:lnTo>
                        <a:lnTo>
                          <a:pt x="90" y="902"/>
                        </a:lnTo>
                        <a:lnTo>
                          <a:pt x="45" y="95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3" name="Freeform 32">
                    <a:extLst>
                      <a:ext uri="{FF2B5EF4-FFF2-40B4-BE49-F238E27FC236}">
                        <a16:creationId xmlns:a16="http://schemas.microsoft.com/office/drawing/2014/main" id="{AFDCB7D7-8873-0E47-AE8C-88E49CA48F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2" y="4114"/>
                    <a:ext cx="141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4" name="Freeform 33">
                    <a:extLst>
                      <a:ext uri="{FF2B5EF4-FFF2-40B4-BE49-F238E27FC236}">
                        <a16:creationId xmlns:a16="http://schemas.microsoft.com/office/drawing/2014/main" id="{8D869E34-87F7-F144-8DA1-96ACBA875C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2" y="4024"/>
                    <a:ext cx="10" cy="95"/>
                  </a:xfrm>
                  <a:custGeom>
                    <a:avLst/>
                    <a:gdLst>
                      <a:gd name="T0" fmla="*/ 46 w 91"/>
                      <a:gd name="T1" fmla="*/ 0 h 952"/>
                      <a:gd name="T2" fmla="*/ 0 w 91"/>
                      <a:gd name="T3" fmla="*/ 50 h 952"/>
                      <a:gd name="T4" fmla="*/ 0 w 91"/>
                      <a:gd name="T5" fmla="*/ 952 h 952"/>
                      <a:gd name="T6" fmla="*/ 91 w 91"/>
                      <a:gd name="T7" fmla="*/ 952 h 952"/>
                      <a:gd name="T8" fmla="*/ 91 w 91"/>
                      <a:gd name="T9" fmla="*/ 50 h 952"/>
                      <a:gd name="T10" fmla="*/ 46 w 91"/>
                      <a:gd name="T11" fmla="*/ 100 h 952"/>
                      <a:gd name="T12" fmla="*/ 46 w 91"/>
                      <a:gd name="T13" fmla="*/ 0 h 952"/>
                      <a:gd name="T14" fmla="*/ 0 w 91"/>
                      <a:gd name="T15" fmla="*/ 0 h 952"/>
                      <a:gd name="T16" fmla="*/ 0 w 91"/>
                      <a:gd name="T17" fmla="*/ 50 h 952"/>
                      <a:gd name="T18" fmla="*/ 46 w 91"/>
                      <a:gd name="T19" fmla="*/ 0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952"/>
                        </a:lnTo>
                        <a:lnTo>
                          <a:pt x="91" y="95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0560D493-BF52-C041-90F9-61FB90DFD2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3" y="3984"/>
                    <a:ext cx="136" cy="13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6" name="Freeform 35">
                    <a:extLst>
                      <a:ext uri="{FF2B5EF4-FFF2-40B4-BE49-F238E27FC236}">
                        <a16:creationId xmlns:a16="http://schemas.microsoft.com/office/drawing/2014/main" id="{A6ADA5C8-052F-2C41-A485-2B371F7AAF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73" y="3979"/>
                    <a:ext cx="141" cy="10"/>
                  </a:xfrm>
                  <a:custGeom>
                    <a:avLst/>
                    <a:gdLst>
                      <a:gd name="T0" fmla="*/ 1271 w 1271"/>
                      <a:gd name="T1" fmla="*/ 50 h 100"/>
                      <a:gd name="T2" fmla="*/ 1225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5 w 1271"/>
                      <a:gd name="T9" fmla="*/ 100 h 100"/>
                      <a:gd name="T10" fmla="*/ 1180 w 1271"/>
                      <a:gd name="T11" fmla="*/ 50 h 100"/>
                      <a:gd name="T12" fmla="*/ 1271 w 1271"/>
                      <a:gd name="T13" fmla="*/ 50 h 100"/>
                      <a:gd name="T14" fmla="*/ 1271 w 1271"/>
                      <a:gd name="T15" fmla="*/ 0 h 100"/>
                      <a:gd name="T16" fmla="*/ 1225 w 1271"/>
                      <a:gd name="T17" fmla="*/ 0 h 100"/>
                      <a:gd name="T18" fmla="*/ 127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271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1" y="50"/>
                        </a:lnTo>
                        <a:lnTo>
                          <a:pt x="1271" y="0"/>
                        </a:lnTo>
                        <a:lnTo>
                          <a:pt x="1225" y="0"/>
                        </a:lnTo>
                        <a:lnTo>
                          <a:pt x="127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7" name="Freeform 36">
                    <a:extLst>
                      <a:ext uri="{FF2B5EF4-FFF2-40B4-BE49-F238E27FC236}">
                        <a16:creationId xmlns:a16="http://schemas.microsoft.com/office/drawing/2014/main" id="{74CA4637-51E2-2245-82E4-C545B2DB0E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4" y="3984"/>
                    <a:ext cx="10" cy="140"/>
                  </a:xfrm>
                  <a:custGeom>
                    <a:avLst/>
                    <a:gdLst>
                      <a:gd name="T0" fmla="*/ 45 w 91"/>
                      <a:gd name="T1" fmla="*/ 1402 h 1402"/>
                      <a:gd name="T2" fmla="*/ 91 w 91"/>
                      <a:gd name="T3" fmla="*/ 1352 h 1402"/>
                      <a:gd name="T4" fmla="*/ 91 w 91"/>
                      <a:gd name="T5" fmla="*/ 0 h 1402"/>
                      <a:gd name="T6" fmla="*/ 0 w 91"/>
                      <a:gd name="T7" fmla="*/ 0 h 1402"/>
                      <a:gd name="T8" fmla="*/ 0 w 91"/>
                      <a:gd name="T9" fmla="*/ 1352 h 1402"/>
                      <a:gd name="T10" fmla="*/ 45 w 91"/>
                      <a:gd name="T11" fmla="*/ 1302 h 1402"/>
                      <a:gd name="T12" fmla="*/ 45 w 91"/>
                      <a:gd name="T13" fmla="*/ 1402 h 1402"/>
                      <a:gd name="T14" fmla="*/ 91 w 91"/>
                      <a:gd name="T15" fmla="*/ 1402 h 1402"/>
                      <a:gd name="T16" fmla="*/ 91 w 91"/>
                      <a:gd name="T17" fmla="*/ 1352 h 1402"/>
                      <a:gd name="T18" fmla="*/ 45 w 91"/>
                      <a:gd name="T19" fmla="*/ 1402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402"/>
                      <a:gd name="T32" fmla="*/ 91 w 91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402">
                        <a:moveTo>
                          <a:pt x="45" y="1402"/>
                        </a:moveTo>
                        <a:lnTo>
                          <a:pt x="91" y="1352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1352"/>
                        </a:lnTo>
                        <a:lnTo>
                          <a:pt x="45" y="1302"/>
                        </a:lnTo>
                        <a:lnTo>
                          <a:pt x="45" y="1402"/>
                        </a:lnTo>
                        <a:lnTo>
                          <a:pt x="91" y="1402"/>
                        </a:lnTo>
                        <a:lnTo>
                          <a:pt x="91" y="1352"/>
                        </a:lnTo>
                        <a:lnTo>
                          <a:pt x="45" y="140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8" name="Freeform 37">
                    <a:extLst>
                      <a:ext uri="{FF2B5EF4-FFF2-40B4-BE49-F238E27FC236}">
                        <a16:creationId xmlns:a16="http://schemas.microsoft.com/office/drawing/2014/main" id="{144E607F-72FD-4848-8B96-3E2445199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8" y="4114"/>
                    <a:ext cx="141" cy="10"/>
                  </a:xfrm>
                  <a:custGeom>
                    <a:avLst/>
                    <a:gdLst>
                      <a:gd name="T0" fmla="*/ 0 w 1270"/>
                      <a:gd name="T1" fmla="*/ 50 h 100"/>
                      <a:gd name="T2" fmla="*/ 45 w 1270"/>
                      <a:gd name="T3" fmla="*/ 100 h 100"/>
                      <a:gd name="T4" fmla="*/ 1270 w 1270"/>
                      <a:gd name="T5" fmla="*/ 100 h 100"/>
                      <a:gd name="T6" fmla="*/ 1270 w 1270"/>
                      <a:gd name="T7" fmla="*/ 0 h 100"/>
                      <a:gd name="T8" fmla="*/ 45 w 1270"/>
                      <a:gd name="T9" fmla="*/ 0 h 100"/>
                      <a:gd name="T10" fmla="*/ 90 w 1270"/>
                      <a:gd name="T11" fmla="*/ 50 h 100"/>
                      <a:gd name="T12" fmla="*/ 0 w 1270"/>
                      <a:gd name="T13" fmla="*/ 50 h 100"/>
                      <a:gd name="T14" fmla="*/ 0 w 1270"/>
                      <a:gd name="T15" fmla="*/ 100 h 100"/>
                      <a:gd name="T16" fmla="*/ 45 w 1270"/>
                      <a:gd name="T17" fmla="*/ 100 h 100"/>
                      <a:gd name="T18" fmla="*/ 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0" y="50"/>
                        </a:moveTo>
                        <a:lnTo>
                          <a:pt x="45" y="100"/>
                        </a:lnTo>
                        <a:lnTo>
                          <a:pt x="1270" y="100"/>
                        </a:lnTo>
                        <a:lnTo>
                          <a:pt x="1270" y="0"/>
                        </a:lnTo>
                        <a:lnTo>
                          <a:pt x="45" y="0"/>
                        </a:lnTo>
                        <a:lnTo>
                          <a:pt x="90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5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9" name="Freeform 38">
                    <a:extLst>
                      <a:ext uri="{FF2B5EF4-FFF2-40B4-BE49-F238E27FC236}">
                        <a16:creationId xmlns:a16="http://schemas.microsoft.com/office/drawing/2014/main" id="{47373B69-177D-0F4D-8F7B-BDBA4A41BB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8" y="3979"/>
                    <a:ext cx="10" cy="140"/>
                  </a:xfrm>
                  <a:custGeom>
                    <a:avLst/>
                    <a:gdLst>
                      <a:gd name="T0" fmla="*/ 45 w 90"/>
                      <a:gd name="T1" fmla="*/ 0 h 1402"/>
                      <a:gd name="T2" fmla="*/ 0 w 90"/>
                      <a:gd name="T3" fmla="*/ 50 h 1402"/>
                      <a:gd name="T4" fmla="*/ 0 w 90"/>
                      <a:gd name="T5" fmla="*/ 1402 h 1402"/>
                      <a:gd name="T6" fmla="*/ 90 w 90"/>
                      <a:gd name="T7" fmla="*/ 1402 h 1402"/>
                      <a:gd name="T8" fmla="*/ 90 w 90"/>
                      <a:gd name="T9" fmla="*/ 50 h 1402"/>
                      <a:gd name="T10" fmla="*/ 45 w 90"/>
                      <a:gd name="T11" fmla="*/ 100 h 1402"/>
                      <a:gd name="T12" fmla="*/ 45 w 90"/>
                      <a:gd name="T13" fmla="*/ 0 h 1402"/>
                      <a:gd name="T14" fmla="*/ 0 w 90"/>
                      <a:gd name="T15" fmla="*/ 0 h 1402"/>
                      <a:gd name="T16" fmla="*/ 0 w 90"/>
                      <a:gd name="T17" fmla="*/ 50 h 1402"/>
                      <a:gd name="T18" fmla="*/ 45 w 90"/>
                      <a:gd name="T19" fmla="*/ 0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1402"/>
                      <a:gd name="T32" fmla="*/ 90 w 90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1402">
                        <a:moveTo>
                          <a:pt x="45" y="0"/>
                        </a:moveTo>
                        <a:lnTo>
                          <a:pt x="0" y="50"/>
                        </a:lnTo>
                        <a:lnTo>
                          <a:pt x="0" y="1402"/>
                        </a:lnTo>
                        <a:lnTo>
                          <a:pt x="90" y="1402"/>
                        </a:lnTo>
                        <a:lnTo>
                          <a:pt x="90" y="50"/>
                        </a:lnTo>
                        <a:lnTo>
                          <a:pt x="45" y="10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D0B04BF-F0EC-5041-A8D5-334CDFE6B5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09" y="4074"/>
                    <a:ext cx="136" cy="4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1" name="Freeform 40">
                    <a:extLst>
                      <a:ext uri="{FF2B5EF4-FFF2-40B4-BE49-F238E27FC236}">
                        <a16:creationId xmlns:a16="http://schemas.microsoft.com/office/drawing/2014/main" id="{D00BA560-278F-3A43-BE0E-E63493F53B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4" y="4069"/>
                    <a:ext cx="141" cy="10"/>
                  </a:xfrm>
                  <a:custGeom>
                    <a:avLst/>
                    <a:gdLst>
                      <a:gd name="T0" fmla="*/ 91 w 1271"/>
                      <a:gd name="T1" fmla="*/ 50 h 100"/>
                      <a:gd name="T2" fmla="*/ 45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5 w 1271"/>
                      <a:gd name="T9" fmla="*/ 0 h 100"/>
                      <a:gd name="T10" fmla="*/ 0 w 1271"/>
                      <a:gd name="T11" fmla="*/ 50 h 100"/>
                      <a:gd name="T12" fmla="*/ 45 w 1271"/>
                      <a:gd name="T13" fmla="*/ 0 h 100"/>
                      <a:gd name="T14" fmla="*/ 0 w 1271"/>
                      <a:gd name="T15" fmla="*/ 0 h 100"/>
                      <a:gd name="T16" fmla="*/ 0 w 1271"/>
                      <a:gd name="T17" fmla="*/ 50 h 100"/>
                      <a:gd name="T18" fmla="*/ 9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91" y="50"/>
                        </a:moveTo>
                        <a:lnTo>
                          <a:pt x="45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5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9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2" name="Freeform 41">
                    <a:extLst>
                      <a:ext uri="{FF2B5EF4-FFF2-40B4-BE49-F238E27FC236}">
                        <a16:creationId xmlns:a16="http://schemas.microsoft.com/office/drawing/2014/main" id="{33136B54-D384-5140-84AC-F51047624F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4" y="4074"/>
                    <a:ext cx="10" cy="50"/>
                  </a:xfrm>
                  <a:custGeom>
                    <a:avLst/>
                    <a:gdLst>
                      <a:gd name="T0" fmla="*/ 45 w 91"/>
                      <a:gd name="T1" fmla="*/ 401 h 501"/>
                      <a:gd name="T2" fmla="*/ 91 w 91"/>
                      <a:gd name="T3" fmla="*/ 451 h 501"/>
                      <a:gd name="T4" fmla="*/ 91 w 91"/>
                      <a:gd name="T5" fmla="*/ 0 h 501"/>
                      <a:gd name="T6" fmla="*/ 0 w 91"/>
                      <a:gd name="T7" fmla="*/ 0 h 501"/>
                      <a:gd name="T8" fmla="*/ 0 w 91"/>
                      <a:gd name="T9" fmla="*/ 451 h 501"/>
                      <a:gd name="T10" fmla="*/ 45 w 91"/>
                      <a:gd name="T11" fmla="*/ 501 h 501"/>
                      <a:gd name="T12" fmla="*/ 0 w 91"/>
                      <a:gd name="T13" fmla="*/ 451 h 501"/>
                      <a:gd name="T14" fmla="*/ 0 w 91"/>
                      <a:gd name="T15" fmla="*/ 501 h 501"/>
                      <a:gd name="T16" fmla="*/ 45 w 91"/>
                      <a:gd name="T17" fmla="*/ 501 h 501"/>
                      <a:gd name="T18" fmla="*/ 45 w 91"/>
                      <a:gd name="T19" fmla="*/ 401 h 5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01"/>
                      <a:gd name="T32" fmla="*/ 91 w 91"/>
                      <a:gd name="T33" fmla="*/ 501 h 5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01">
                        <a:moveTo>
                          <a:pt x="45" y="401"/>
                        </a:moveTo>
                        <a:lnTo>
                          <a:pt x="91" y="451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451"/>
                        </a:lnTo>
                        <a:lnTo>
                          <a:pt x="45" y="501"/>
                        </a:lnTo>
                        <a:lnTo>
                          <a:pt x="0" y="451"/>
                        </a:lnTo>
                        <a:lnTo>
                          <a:pt x="0" y="501"/>
                        </a:lnTo>
                        <a:lnTo>
                          <a:pt x="45" y="501"/>
                        </a:lnTo>
                        <a:lnTo>
                          <a:pt x="45" y="401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C1895409-53F7-7946-9D83-9EA0EBD306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9" y="4114"/>
                    <a:ext cx="141" cy="10"/>
                  </a:xfrm>
                  <a:custGeom>
                    <a:avLst/>
                    <a:gdLst>
                      <a:gd name="T0" fmla="*/ 1180 w 1271"/>
                      <a:gd name="T1" fmla="*/ 50 h 100"/>
                      <a:gd name="T2" fmla="*/ 1226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6 w 1271"/>
                      <a:gd name="T9" fmla="*/ 100 h 100"/>
                      <a:gd name="T10" fmla="*/ 1271 w 1271"/>
                      <a:gd name="T11" fmla="*/ 50 h 100"/>
                      <a:gd name="T12" fmla="*/ 1226 w 1271"/>
                      <a:gd name="T13" fmla="*/ 100 h 100"/>
                      <a:gd name="T14" fmla="*/ 1271 w 1271"/>
                      <a:gd name="T15" fmla="*/ 100 h 100"/>
                      <a:gd name="T16" fmla="*/ 1271 w 1271"/>
                      <a:gd name="T17" fmla="*/ 50 h 100"/>
                      <a:gd name="T18" fmla="*/ 118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180" y="50"/>
                        </a:moveTo>
                        <a:lnTo>
                          <a:pt x="1226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6" y="100"/>
                        </a:lnTo>
                        <a:lnTo>
                          <a:pt x="1271" y="50"/>
                        </a:lnTo>
                        <a:lnTo>
                          <a:pt x="1226" y="100"/>
                        </a:lnTo>
                        <a:lnTo>
                          <a:pt x="1271" y="100"/>
                        </a:lnTo>
                        <a:lnTo>
                          <a:pt x="1271" y="50"/>
                        </a:lnTo>
                        <a:lnTo>
                          <a:pt x="118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4" name="Freeform 43">
                    <a:extLst>
                      <a:ext uri="{FF2B5EF4-FFF2-40B4-BE49-F238E27FC236}">
                        <a16:creationId xmlns:a16="http://schemas.microsoft.com/office/drawing/2014/main" id="{20BA2B42-1EF4-7C44-A606-77F289D135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0" y="4069"/>
                    <a:ext cx="10" cy="50"/>
                  </a:xfrm>
                  <a:custGeom>
                    <a:avLst/>
                    <a:gdLst>
                      <a:gd name="T0" fmla="*/ 46 w 91"/>
                      <a:gd name="T1" fmla="*/ 100 h 501"/>
                      <a:gd name="T2" fmla="*/ 0 w 91"/>
                      <a:gd name="T3" fmla="*/ 50 h 501"/>
                      <a:gd name="T4" fmla="*/ 0 w 91"/>
                      <a:gd name="T5" fmla="*/ 501 h 501"/>
                      <a:gd name="T6" fmla="*/ 91 w 91"/>
                      <a:gd name="T7" fmla="*/ 501 h 501"/>
                      <a:gd name="T8" fmla="*/ 91 w 91"/>
                      <a:gd name="T9" fmla="*/ 50 h 501"/>
                      <a:gd name="T10" fmla="*/ 46 w 91"/>
                      <a:gd name="T11" fmla="*/ 0 h 501"/>
                      <a:gd name="T12" fmla="*/ 91 w 91"/>
                      <a:gd name="T13" fmla="*/ 50 h 501"/>
                      <a:gd name="T14" fmla="*/ 91 w 91"/>
                      <a:gd name="T15" fmla="*/ 0 h 501"/>
                      <a:gd name="T16" fmla="*/ 46 w 91"/>
                      <a:gd name="T17" fmla="*/ 0 h 501"/>
                      <a:gd name="T18" fmla="*/ 46 w 91"/>
                      <a:gd name="T19" fmla="*/ 100 h 5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01"/>
                      <a:gd name="T32" fmla="*/ 91 w 91"/>
                      <a:gd name="T33" fmla="*/ 501 h 5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01">
                        <a:moveTo>
                          <a:pt x="46" y="100"/>
                        </a:moveTo>
                        <a:lnTo>
                          <a:pt x="0" y="50"/>
                        </a:lnTo>
                        <a:lnTo>
                          <a:pt x="0" y="501"/>
                        </a:lnTo>
                        <a:lnTo>
                          <a:pt x="91" y="501"/>
                        </a:lnTo>
                        <a:lnTo>
                          <a:pt x="91" y="5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91" y="0"/>
                        </a:lnTo>
                        <a:lnTo>
                          <a:pt x="46" y="0"/>
                        </a:lnTo>
                        <a:lnTo>
                          <a:pt x="46" y="10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6AC3F8D-1A47-374A-BC20-0778BD0197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5" y="4029"/>
                    <a:ext cx="137" cy="9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6" name="Freeform 45">
                    <a:extLst>
                      <a:ext uri="{FF2B5EF4-FFF2-40B4-BE49-F238E27FC236}">
                        <a16:creationId xmlns:a16="http://schemas.microsoft.com/office/drawing/2014/main" id="{BF264A21-FDFE-BE47-8554-58226D0EED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5" y="4024"/>
                    <a:ext cx="142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79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79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7" name="Freeform 46">
                    <a:extLst>
                      <a:ext uri="{FF2B5EF4-FFF2-40B4-BE49-F238E27FC236}">
                        <a16:creationId xmlns:a16="http://schemas.microsoft.com/office/drawing/2014/main" id="{E421AA71-6AD7-BC44-9BC5-75E67B490E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76" y="4029"/>
                    <a:ext cx="11" cy="95"/>
                  </a:xfrm>
                  <a:custGeom>
                    <a:avLst/>
                    <a:gdLst>
                      <a:gd name="T0" fmla="*/ 46 w 91"/>
                      <a:gd name="T1" fmla="*/ 952 h 952"/>
                      <a:gd name="T2" fmla="*/ 91 w 91"/>
                      <a:gd name="T3" fmla="*/ 902 h 952"/>
                      <a:gd name="T4" fmla="*/ 91 w 91"/>
                      <a:gd name="T5" fmla="*/ 0 h 952"/>
                      <a:gd name="T6" fmla="*/ 0 w 91"/>
                      <a:gd name="T7" fmla="*/ 0 h 952"/>
                      <a:gd name="T8" fmla="*/ 0 w 91"/>
                      <a:gd name="T9" fmla="*/ 902 h 952"/>
                      <a:gd name="T10" fmla="*/ 46 w 91"/>
                      <a:gd name="T11" fmla="*/ 852 h 952"/>
                      <a:gd name="T12" fmla="*/ 46 w 91"/>
                      <a:gd name="T13" fmla="*/ 952 h 952"/>
                      <a:gd name="T14" fmla="*/ 91 w 91"/>
                      <a:gd name="T15" fmla="*/ 952 h 952"/>
                      <a:gd name="T16" fmla="*/ 91 w 91"/>
                      <a:gd name="T17" fmla="*/ 902 h 952"/>
                      <a:gd name="T18" fmla="*/ 46 w 91"/>
                      <a:gd name="T19" fmla="*/ 952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952"/>
                        </a:moveTo>
                        <a:lnTo>
                          <a:pt x="91" y="902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902"/>
                        </a:lnTo>
                        <a:lnTo>
                          <a:pt x="46" y="852"/>
                        </a:lnTo>
                        <a:lnTo>
                          <a:pt x="46" y="952"/>
                        </a:lnTo>
                        <a:lnTo>
                          <a:pt x="91" y="952"/>
                        </a:lnTo>
                        <a:lnTo>
                          <a:pt x="91" y="902"/>
                        </a:lnTo>
                        <a:lnTo>
                          <a:pt x="46" y="95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CF419AB4-8881-0A47-A318-80BBEB96AF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0" y="4114"/>
                    <a:ext cx="142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9" name="Freeform 48">
                    <a:extLst>
                      <a:ext uri="{FF2B5EF4-FFF2-40B4-BE49-F238E27FC236}">
                        <a16:creationId xmlns:a16="http://schemas.microsoft.com/office/drawing/2014/main" id="{DF2021AC-D6C8-2143-AA15-73F74CF8C7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0" y="4024"/>
                    <a:ext cx="10" cy="95"/>
                  </a:xfrm>
                  <a:custGeom>
                    <a:avLst/>
                    <a:gdLst>
                      <a:gd name="T0" fmla="*/ 46 w 91"/>
                      <a:gd name="T1" fmla="*/ 0 h 952"/>
                      <a:gd name="T2" fmla="*/ 0 w 91"/>
                      <a:gd name="T3" fmla="*/ 50 h 952"/>
                      <a:gd name="T4" fmla="*/ 0 w 91"/>
                      <a:gd name="T5" fmla="*/ 952 h 952"/>
                      <a:gd name="T6" fmla="*/ 91 w 91"/>
                      <a:gd name="T7" fmla="*/ 952 h 952"/>
                      <a:gd name="T8" fmla="*/ 91 w 91"/>
                      <a:gd name="T9" fmla="*/ 50 h 952"/>
                      <a:gd name="T10" fmla="*/ 46 w 91"/>
                      <a:gd name="T11" fmla="*/ 100 h 952"/>
                      <a:gd name="T12" fmla="*/ 46 w 91"/>
                      <a:gd name="T13" fmla="*/ 0 h 952"/>
                      <a:gd name="T14" fmla="*/ 0 w 91"/>
                      <a:gd name="T15" fmla="*/ 0 h 952"/>
                      <a:gd name="T16" fmla="*/ 0 w 91"/>
                      <a:gd name="T17" fmla="*/ 50 h 952"/>
                      <a:gd name="T18" fmla="*/ 46 w 91"/>
                      <a:gd name="T19" fmla="*/ 0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952"/>
                        </a:lnTo>
                        <a:lnTo>
                          <a:pt x="91" y="95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94BE5D73-95BE-AC48-A3A6-109696325C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4160"/>
                    <a:ext cx="52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AvantGarde Bk BT"/>
                        <a:cs typeface="Arial" pitchFamily="34" charset="0"/>
                      </a:rPr>
                      <a:t>0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9B97BB03-5B2B-D94C-A7D4-91371556A3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36" y="4145"/>
                    <a:ext cx="53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AvantGarde Bk BT"/>
                        <a:cs typeface="Arial" pitchFamily="34" charset="0"/>
                      </a:rPr>
                      <a:t>2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76BA42EF-6B80-5346-B98A-E32181535C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4" y="4133"/>
                    <a:ext cx="51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Symbol" pitchFamily="18" charset="2"/>
                        <a:cs typeface="Arial" pitchFamily="34" charset="0"/>
                      </a:rPr>
                      <a:t>p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53" name="Freeform 52">
                    <a:extLst>
                      <a:ext uri="{FF2B5EF4-FFF2-40B4-BE49-F238E27FC236}">
                        <a16:creationId xmlns:a16="http://schemas.microsoft.com/office/drawing/2014/main" id="{CBD5E4E3-D71D-AE43-8204-7B5DD593E2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29" y="4153"/>
                    <a:ext cx="53" cy="47"/>
                  </a:xfrm>
                  <a:custGeom>
                    <a:avLst/>
                    <a:gdLst>
                      <a:gd name="T0" fmla="*/ 474 w 474"/>
                      <a:gd name="T1" fmla="*/ 476 h 476"/>
                      <a:gd name="T2" fmla="*/ 238 w 474"/>
                      <a:gd name="T3" fmla="*/ 0 h 476"/>
                      <a:gd name="T4" fmla="*/ 0 w 474"/>
                      <a:gd name="T5" fmla="*/ 476 h 476"/>
                      <a:gd name="T6" fmla="*/ 474 w 474"/>
                      <a:gd name="T7" fmla="*/ 476 h 476"/>
                      <a:gd name="T8" fmla="*/ 238 w 474"/>
                      <a:gd name="T9" fmla="*/ 0 h 476"/>
                      <a:gd name="T10" fmla="*/ 474 w 474"/>
                      <a:gd name="T11" fmla="*/ 476 h 47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474"/>
                      <a:gd name="T19" fmla="*/ 0 h 476"/>
                      <a:gd name="T20" fmla="*/ 474 w 474"/>
                      <a:gd name="T21" fmla="*/ 476 h 47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474" h="476">
                        <a:moveTo>
                          <a:pt x="474" y="476"/>
                        </a:moveTo>
                        <a:lnTo>
                          <a:pt x="238" y="0"/>
                        </a:lnTo>
                        <a:lnTo>
                          <a:pt x="0" y="476"/>
                        </a:lnTo>
                        <a:lnTo>
                          <a:pt x="474" y="476"/>
                        </a:lnTo>
                        <a:lnTo>
                          <a:pt x="238" y="0"/>
                        </a:lnTo>
                        <a:lnTo>
                          <a:pt x="474" y="476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4" name="Freeform 53">
                    <a:extLst>
                      <a:ext uri="{FF2B5EF4-FFF2-40B4-BE49-F238E27FC236}">
                        <a16:creationId xmlns:a16="http://schemas.microsoft.com/office/drawing/2014/main" id="{986F7AEF-E613-5644-B140-62AB416E04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50" y="4196"/>
                    <a:ext cx="11" cy="76"/>
                  </a:xfrm>
                  <a:custGeom>
                    <a:avLst/>
                    <a:gdLst>
                      <a:gd name="T0" fmla="*/ 46 w 91"/>
                      <a:gd name="T1" fmla="*/ 760 h 760"/>
                      <a:gd name="T2" fmla="*/ 91 w 91"/>
                      <a:gd name="T3" fmla="*/ 760 h 760"/>
                      <a:gd name="T4" fmla="*/ 91 w 91"/>
                      <a:gd name="T5" fmla="*/ 0 h 760"/>
                      <a:gd name="T6" fmla="*/ 0 w 91"/>
                      <a:gd name="T7" fmla="*/ 0 h 760"/>
                      <a:gd name="T8" fmla="*/ 0 w 91"/>
                      <a:gd name="T9" fmla="*/ 760 h 760"/>
                      <a:gd name="T10" fmla="*/ 46 w 91"/>
                      <a:gd name="T11" fmla="*/ 760 h 76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760"/>
                      <a:gd name="T20" fmla="*/ 91 w 91"/>
                      <a:gd name="T21" fmla="*/ 760 h 76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760">
                        <a:moveTo>
                          <a:pt x="46" y="760"/>
                        </a:moveTo>
                        <a:lnTo>
                          <a:pt x="91" y="760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760"/>
                        </a:lnTo>
                        <a:lnTo>
                          <a:pt x="46" y="76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0" name="AutoShape 54">
                  <a:extLst>
                    <a:ext uri="{FF2B5EF4-FFF2-40B4-BE49-F238E27FC236}">
                      <a16:creationId xmlns:a16="http://schemas.microsoft.com/office/drawing/2014/main" id="{7889418D-4E6A-9642-B79F-CAE98442E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5" y="3063"/>
                  <a:ext cx="539" cy="540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rgbClr val="FF9900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6" name="Rectangle 55">
              <a:extLst>
                <a:ext uri="{FF2B5EF4-FFF2-40B4-BE49-F238E27FC236}">
                  <a16:creationId xmlns:a16="http://schemas.microsoft.com/office/drawing/2014/main" id="{674DC2D9-6D1D-EC49-92D8-D9FC932F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975"/>
              <a:ext cx="221" cy="20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5" name="Group 46">
            <a:extLst>
              <a:ext uri="{FF2B5EF4-FFF2-40B4-BE49-F238E27FC236}">
                <a16:creationId xmlns:a16="http://schemas.microsoft.com/office/drawing/2014/main" id="{AF0D325E-2084-C647-A86C-E7CC6BC7A87C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3733800"/>
            <a:ext cx="1219200" cy="762000"/>
            <a:chOff x="6324600" y="4953000"/>
            <a:chExt cx="1219200" cy="762000"/>
          </a:xfrm>
        </p:grpSpPr>
        <p:cxnSp>
          <p:nvCxnSpPr>
            <p:cNvPr id="56" name="Straight Arrow Connector 31">
              <a:extLst>
                <a:ext uri="{FF2B5EF4-FFF2-40B4-BE49-F238E27FC236}">
                  <a16:creationId xmlns:a16="http://schemas.microsoft.com/office/drawing/2014/main" id="{07F81E8F-068F-2E43-AAF9-1F0E329FF3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05600" y="5334000"/>
              <a:ext cx="838200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57" name="Straight Arrow Connector 33">
              <a:extLst>
                <a:ext uri="{FF2B5EF4-FFF2-40B4-BE49-F238E27FC236}">
                  <a16:creationId xmlns:a16="http://schemas.microsoft.com/office/drawing/2014/main" id="{C0682788-D2E4-E34A-9AA4-5172CEE3B6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705600" y="4953000"/>
              <a:ext cx="381000" cy="3810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58" name="Straight Arrow Connector 35">
              <a:extLst>
                <a:ext uri="{FF2B5EF4-FFF2-40B4-BE49-F238E27FC236}">
                  <a16:creationId xmlns:a16="http://schemas.microsoft.com/office/drawing/2014/main" id="{29FA3CF3-2076-434D-8778-4E39F398C6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514306" y="5144294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59" name="Straight Arrow Connector 37">
              <a:extLst>
                <a:ext uri="{FF2B5EF4-FFF2-40B4-BE49-F238E27FC236}">
                  <a16:creationId xmlns:a16="http://schemas.microsoft.com/office/drawing/2014/main" id="{0A7F2B3D-42AF-3F44-9145-BC48CC9C02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550024" y="5181600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0" name="Straight Arrow Connector 39">
              <a:extLst>
                <a:ext uri="{FF2B5EF4-FFF2-40B4-BE49-F238E27FC236}">
                  <a16:creationId xmlns:a16="http://schemas.microsoft.com/office/drawing/2014/main" id="{288794BF-F962-B94D-8087-AF501AEF47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324600" y="5336382"/>
              <a:ext cx="380206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1" name="Straight Arrow Connector 42">
              <a:extLst>
                <a:ext uri="{FF2B5EF4-FFF2-40B4-BE49-F238E27FC236}">
                  <a16:creationId xmlns:a16="http://schemas.microsoft.com/office/drawing/2014/main" id="{80AC1007-E8C1-E54D-ACA2-9B07E10CD7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53200" y="5331618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2" name="Straight Arrow Connector 43">
              <a:extLst>
                <a:ext uri="{FF2B5EF4-FFF2-40B4-BE49-F238E27FC236}">
                  <a16:creationId xmlns:a16="http://schemas.microsoft.com/office/drawing/2014/main" id="{B9BBD54E-43DF-9141-A5C5-6F5FF11942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515100" y="5522912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3" name="Straight Arrow Connector 44">
              <a:extLst>
                <a:ext uri="{FF2B5EF4-FFF2-40B4-BE49-F238E27FC236}">
                  <a16:creationId xmlns:a16="http://schemas.microsoft.com/office/drawing/2014/main" id="{2E36667F-31C6-B84C-94A4-EB5F7E23C5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701632" y="5337969"/>
              <a:ext cx="312737" cy="3048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sp>
          <p:nvSpPr>
            <p:cNvPr id="64" name="Oval 27">
              <a:extLst>
                <a:ext uri="{FF2B5EF4-FFF2-40B4-BE49-F238E27FC236}">
                  <a16:creationId xmlns:a16="http://schemas.microsoft.com/office/drawing/2014/main" id="{1C65ABA6-E3B4-BB40-A3E7-B51DF5693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7976" y="5286376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810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4C83D-6D8A-A640-8066-3B93AA19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C96ED-55CE-FF40-B640-BAD15F28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特征描述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85E923-E6FD-3B48-8D66-5A2BF978E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8663" y="2286000"/>
            <a:ext cx="180975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sift1">
            <a:extLst>
              <a:ext uri="{FF2B5EF4-FFF2-40B4-BE49-F238E27FC236}">
                <a16:creationId xmlns:a16="http://schemas.microsoft.com/office/drawing/2014/main" id="{8EEBBBE0-881A-D849-B54B-1FCFC5884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2314575"/>
            <a:ext cx="1752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7" name="Group 6">
            <a:extLst>
              <a:ext uri="{FF2B5EF4-FFF2-40B4-BE49-F238E27FC236}">
                <a16:creationId xmlns:a16="http://schemas.microsoft.com/office/drawing/2014/main" id="{886B24CF-FAFD-F24D-B3B8-A192764A98A0}"/>
              </a:ext>
            </a:extLst>
          </p:cNvPr>
          <p:cNvGraphicFramePr>
            <a:graphicFrameLocks noGrp="1"/>
          </p:cNvGraphicFramePr>
          <p:nvPr/>
        </p:nvGraphicFramePr>
        <p:xfrm>
          <a:off x="1998663" y="2308225"/>
          <a:ext cx="1811337" cy="1758951"/>
        </p:xfrm>
        <a:graphic>
          <a:graphicData uri="http://schemas.openxmlformats.org/drawingml/2006/table">
            <a:tbl>
              <a:tblPr/>
              <a:tblGrid>
                <a:gridCol w="452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33">
            <a:extLst>
              <a:ext uri="{FF2B5EF4-FFF2-40B4-BE49-F238E27FC236}">
                <a16:creationId xmlns:a16="http://schemas.microsoft.com/office/drawing/2014/main" id="{67524580-77D6-9E47-A4D8-0CED4677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924175"/>
            <a:ext cx="758825" cy="603250"/>
          </a:xfrm>
          <a:prstGeom prst="rightArrow">
            <a:avLst>
              <a:gd name="adj1" fmla="val 50000"/>
              <a:gd name="adj2" fmla="val 31447"/>
            </a:avLst>
          </a:prstGeom>
          <a:solidFill>
            <a:srgbClr val="FF9900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8679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038BF-82DE-B043-A496-03005D95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36477-E16C-FE4B-A7C6-8930136B5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特征点匹配</a:t>
            </a:r>
            <a:endParaRPr kumimoji="1" lang="en-US" altLang="zh-CN" dirty="0"/>
          </a:p>
          <a:p>
            <a:r>
              <a:rPr kumimoji="1" lang="zh-CN" altLang="en-US" dirty="0"/>
              <a:t>变换参数求解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Picture 23" descr="homography">
            <a:extLst>
              <a:ext uri="{FF2B5EF4-FFF2-40B4-BE49-F238E27FC236}">
                <a16:creationId xmlns:a16="http://schemas.microsoft.com/office/drawing/2014/main" id="{BF65CFF5-BF0C-914B-B04C-EB4ED7307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6406" y="2971800"/>
            <a:ext cx="5691187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93667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D3E10-AD1E-314C-9948-A88B746B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第五章</a:t>
            </a:r>
            <a:r>
              <a:rPr kumimoji="1" lang="en-US" altLang="zh-CN" dirty="0"/>
              <a:t>-</a:t>
            </a:r>
            <a:r>
              <a:rPr lang="zh-CN" altLang="en-US" dirty="0"/>
              <a:t>机器学习与图像分类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48953-92B2-0546-B456-3E881B062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最近邻方法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最近邻分类方法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距离测度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超参数</a:t>
            </a:r>
            <a:endParaRPr lang="en-US" altLang="zh-CN" sz="2000" dirty="0"/>
          </a:p>
          <a:p>
            <a:r>
              <a:rPr lang="zh-CN" altLang="en-US" sz="2400" dirty="0"/>
              <a:t>线性分类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线性分类器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线性分类器的三种解释</a:t>
            </a:r>
            <a:endParaRPr lang="en-US" altLang="zh-CN" sz="2000" dirty="0"/>
          </a:p>
          <a:p>
            <a:r>
              <a:rPr lang="zh-CN" altLang="en-US" sz="2400" dirty="0"/>
              <a:t>损失函数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SVM</a:t>
            </a:r>
            <a:r>
              <a:rPr lang="zh-CN" altLang="en-US" sz="2000" dirty="0"/>
              <a:t>损失函数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交叉熵损失函数</a:t>
            </a:r>
            <a:endParaRPr lang="en-US" altLang="zh-CN" sz="2000" dirty="0"/>
          </a:p>
          <a:p>
            <a:r>
              <a:rPr lang="zh-CN" altLang="en-US" sz="2400" dirty="0"/>
              <a:t>最优化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梯度速降法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随机梯度速降法</a:t>
            </a:r>
          </a:p>
        </p:txBody>
      </p:sp>
    </p:spTree>
    <p:extLst>
      <p:ext uri="{BB962C8B-B14F-4D97-AF65-F5344CB8AC3E}">
        <p14:creationId xmlns:p14="http://schemas.microsoft.com/office/powerpoint/2010/main" val="1180680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最近邻分类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EECS 498-007 Lecture 2 - </a:t>
            </a:r>
            <a:fld id="{AC1089D3-84F4-7045-A571-C61BEF9B13BC}" type="slidenum">
              <a:rPr lang="en-US" smtClean="0"/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36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4401" y="1707989"/>
            <a:ext cx="4955198" cy="36416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0147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参数化方法：线性分类器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EECS 498-007 Lecture 2 - </a:t>
            </a:r>
            <a:fld id="{AC1089D3-84F4-7045-A571-C61BEF9B13BC}" type="slidenum">
              <a:rPr lang="en-US" smtClean="0"/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722;p66"/>
          <p:cNvPicPr preferRelativeResize="0"/>
          <p:nvPr/>
        </p:nvPicPr>
        <p:blipFill rotWithShape="1">
          <a:blip r:embed="rId2">
            <a:alphaModFix/>
          </a:blip>
          <a:srcRect l="13919" t="13185" b="34052"/>
          <a:stretch/>
        </p:blipFill>
        <p:spPr>
          <a:xfrm>
            <a:off x="472890" y="2524336"/>
            <a:ext cx="1177109" cy="11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23;p66"/>
          <p:cNvSpPr txBox="1"/>
          <p:nvPr/>
        </p:nvSpPr>
        <p:spPr>
          <a:xfrm>
            <a:off x="534923" y="2035238"/>
            <a:ext cx="1053026" cy="48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2399" dirty="0">
                <a:solidFill>
                  <a:srgbClr val="0000FF"/>
                </a:solidFill>
              </a:rPr>
              <a:t>图像</a:t>
            </a:r>
          </a:p>
        </p:txBody>
      </p:sp>
      <p:sp>
        <p:nvSpPr>
          <p:cNvPr id="7" name="Google Shape;724;p66"/>
          <p:cNvSpPr txBox="1"/>
          <p:nvPr/>
        </p:nvSpPr>
        <p:spPr>
          <a:xfrm>
            <a:off x="3279880" y="4535747"/>
            <a:ext cx="1680593" cy="81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2399" dirty="0">
                <a:solidFill>
                  <a:srgbClr val="FF0000"/>
                </a:solidFill>
              </a:rPr>
              <a:t>参数</a:t>
            </a:r>
          </a:p>
          <a:p>
            <a:pPr lvl="0" algn="ctr" defTabSz="685800">
              <a:defRPr/>
            </a:pPr>
            <a:r>
              <a:rPr lang="zh-CN" altLang="en-US" sz="2399" dirty="0">
                <a:solidFill>
                  <a:srgbClr val="FF0000"/>
                </a:solidFill>
              </a:rPr>
              <a:t>或 权重</a:t>
            </a:r>
          </a:p>
        </p:txBody>
      </p:sp>
      <p:sp>
        <p:nvSpPr>
          <p:cNvPr id="8" name="Google Shape;725;p66"/>
          <p:cNvSpPr txBox="1"/>
          <p:nvPr/>
        </p:nvSpPr>
        <p:spPr>
          <a:xfrm>
            <a:off x="3695787" y="3872591"/>
            <a:ext cx="848779" cy="71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799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endParaRPr kumimoji="0" sz="479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726;p66"/>
          <p:cNvSpPr txBox="1"/>
          <p:nvPr/>
        </p:nvSpPr>
        <p:spPr>
          <a:xfrm>
            <a:off x="3438754" y="2801164"/>
            <a:ext cx="1362845" cy="59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</a:t>
            </a: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kumimoji="0" lang="en" sz="2999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29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9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727;p66"/>
          <p:cNvCxnSpPr/>
          <p:nvPr/>
        </p:nvCxnSpPr>
        <p:spPr>
          <a:xfrm>
            <a:off x="1819175" y="3100636"/>
            <a:ext cx="1619579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728;p66"/>
          <p:cNvCxnSpPr/>
          <p:nvPr/>
        </p:nvCxnSpPr>
        <p:spPr>
          <a:xfrm rot="10800000">
            <a:off x="4120177" y="3400214"/>
            <a:ext cx="0" cy="47237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729;p66"/>
          <p:cNvCxnSpPr/>
          <p:nvPr/>
        </p:nvCxnSpPr>
        <p:spPr>
          <a:xfrm>
            <a:off x="4651064" y="3100636"/>
            <a:ext cx="1239877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730;p66"/>
          <p:cNvSpPr txBox="1"/>
          <p:nvPr/>
        </p:nvSpPr>
        <p:spPr>
          <a:xfrm>
            <a:off x="6061270" y="2602253"/>
            <a:ext cx="2538124" cy="99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lvl="0" defTabSz="685800">
              <a:defRPr/>
            </a:pPr>
            <a:r>
              <a:rPr lang="en-US" altLang="zh-CN" sz="2399" b="1" dirty="0">
                <a:solidFill>
                  <a:prstClr val="black"/>
                </a:solidFill>
              </a:rPr>
              <a:t>10</a:t>
            </a:r>
            <a:r>
              <a:rPr lang="zh-CN" altLang="en-US" sz="2399" dirty="0">
                <a:solidFill>
                  <a:prstClr val="black"/>
                </a:solidFill>
              </a:rPr>
              <a:t> 个数字对应各类别的响应分值</a:t>
            </a:r>
          </a:p>
        </p:txBody>
      </p:sp>
      <p:sp>
        <p:nvSpPr>
          <p:cNvPr id="15" name="Google Shape;732;p66"/>
          <p:cNvSpPr txBox="1"/>
          <p:nvPr/>
        </p:nvSpPr>
        <p:spPr>
          <a:xfrm>
            <a:off x="2768279" y="1732018"/>
            <a:ext cx="3292991" cy="67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5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</a:t>
            </a:r>
            <a:r>
              <a:rPr kumimoji="0" lang="en" sz="35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x,W</a:t>
            </a:r>
            <a:r>
              <a:rPr kumimoji="0" lang="en" sz="35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 </a:t>
            </a:r>
            <a:r>
              <a:rPr kumimoji="0" lang="en" sz="35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Wx</a:t>
            </a:r>
            <a:r>
              <a:rPr kumimoji="0" lang="en-US" sz="35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+ b</a:t>
            </a:r>
            <a:endParaRPr kumimoji="0" sz="35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750;p67"/>
          <p:cNvSpPr/>
          <p:nvPr/>
        </p:nvSpPr>
        <p:spPr>
          <a:xfrm>
            <a:off x="4829362" y="1977077"/>
            <a:ext cx="223142" cy="310119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751;p67"/>
          <p:cNvSpPr txBox="1"/>
          <p:nvPr/>
        </p:nvSpPr>
        <p:spPr>
          <a:xfrm>
            <a:off x="2993462" y="2385541"/>
            <a:ext cx="795302" cy="39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,)</a:t>
            </a:r>
            <a:endParaRPr kumimoji="0" sz="2399" b="1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752;p67"/>
          <p:cNvSpPr/>
          <p:nvPr/>
        </p:nvSpPr>
        <p:spPr>
          <a:xfrm>
            <a:off x="2768279" y="1873444"/>
            <a:ext cx="1245669" cy="491822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753;p67"/>
          <p:cNvSpPr txBox="1"/>
          <p:nvPr/>
        </p:nvSpPr>
        <p:spPr>
          <a:xfrm>
            <a:off x="4013948" y="2380763"/>
            <a:ext cx="1532560" cy="39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2399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754;p67"/>
          <p:cNvSpPr/>
          <p:nvPr/>
        </p:nvSpPr>
        <p:spPr>
          <a:xfrm>
            <a:off x="4339769" y="1860924"/>
            <a:ext cx="467187" cy="45768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755;p67"/>
          <p:cNvSpPr txBox="1"/>
          <p:nvPr/>
        </p:nvSpPr>
        <p:spPr>
          <a:xfrm>
            <a:off x="4780227" y="1463002"/>
            <a:ext cx="1435726" cy="39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,)</a:t>
            </a:r>
            <a:endParaRPr kumimoji="0" sz="2399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779;p68"/>
          <p:cNvSpPr/>
          <p:nvPr/>
        </p:nvSpPr>
        <p:spPr>
          <a:xfrm>
            <a:off x="5465883" y="1880594"/>
            <a:ext cx="482874" cy="457681"/>
          </a:xfrm>
          <a:prstGeom prst="rect">
            <a:avLst/>
          </a:prstGeom>
          <a:noFill/>
          <a:ln w="3810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780;p68"/>
          <p:cNvSpPr txBox="1"/>
          <p:nvPr/>
        </p:nvSpPr>
        <p:spPr>
          <a:xfrm>
            <a:off x="5992372" y="1903413"/>
            <a:ext cx="874310" cy="4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" sz="2399" b="1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,)</a:t>
            </a:r>
            <a:endParaRPr kumimoji="0" sz="2399" b="1" i="0" u="none" strike="noStrike" kern="1200" cap="none" spc="0" normalizeH="0" baseline="0" noProof="0" dirty="0">
              <a:ln>
                <a:noFill/>
              </a:ln>
              <a:solidFill>
                <a:srgbClr val="99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731;p66">
            <a:extLst>
              <a:ext uri="{FF2B5EF4-FFF2-40B4-BE49-F238E27FC236}">
                <a16:creationId xmlns:a16="http://schemas.microsoft.com/office/drawing/2014/main" id="{7486D9F0-ABAC-F94C-AB7E-B30359E2CE37}"/>
              </a:ext>
            </a:extLst>
          </p:cNvPr>
          <p:cNvSpPr txBox="1"/>
          <p:nvPr/>
        </p:nvSpPr>
        <p:spPr>
          <a:xfrm>
            <a:off x="381000" y="3703021"/>
            <a:ext cx="1581112" cy="69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32x32x3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矩阵</a:t>
            </a:r>
            <a:endParaRPr kumimoji="0" lang="en-US" altLang="zh-C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共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2261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线性分类器</a:t>
            </a:r>
            <a:r>
              <a:rPr lang="en-US" dirty="0"/>
              <a:t>: </a:t>
            </a:r>
            <a:r>
              <a:rPr lang="zh-CN" altLang="en-US" dirty="0"/>
              <a:t>三个角度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EECS 498-007 Lecture 2 - </a:t>
            </a:r>
            <a:fld id="{AC1089D3-84F4-7045-A571-C61BEF9B13BC}" type="slidenum">
              <a:rPr lang="en-US" smtClean="0"/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923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168" y="3569556"/>
            <a:ext cx="2912465" cy="11776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924;p77"/>
          <p:cNvGrpSpPr/>
          <p:nvPr/>
        </p:nvGrpSpPr>
        <p:grpSpPr>
          <a:xfrm>
            <a:off x="3448196" y="3609753"/>
            <a:ext cx="2591833" cy="1097303"/>
            <a:chOff x="2181723" y="3651475"/>
            <a:chExt cx="2705603" cy="1145350"/>
          </a:xfrm>
        </p:grpSpPr>
        <p:pic>
          <p:nvPicPr>
            <p:cNvPr id="7" name="Google Shape;925;p77"/>
            <p:cNvPicPr preferRelativeResize="0"/>
            <p:nvPr/>
          </p:nvPicPr>
          <p:blipFill rotWithShape="1">
            <a:blip r:embed="rId3">
              <a:alphaModFix/>
            </a:blip>
            <a:srcRect r="50027"/>
            <a:stretch/>
          </p:blipFill>
          <p:spPr>
            <a:xfrm>
              <a:off x="2181723" y="3651475"/>
              <a:ext cx="2705599" cy="572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26;p77"/>
            <p:cNvPicPr preferRelativeResize="0"/>
            <p:nvPr/>
          </p:nvPicPr>
          <p:blipFill rotWithShape="1">
            <a:blip r:embed="rId3">
              <a:alphaModFix/>
            </a:blip>
            <a:srcRect l="50027"/>
            <a:stretch/>
          </p:blipFill>
          <p:spPr>
            <a:xfrm>
              <a:off x="2181726" y="4224150"/>
              <a:ext cx="2705599" cy="572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927;p77"/>
          <p:cNvSpPr txBox="1"/>
          <p:nvPr/>
        </p:nvSpPr>
        <p:spPr>
          <a:xfrm>
            <a:off x="948920" y="2697930"/>
            <a:ext cx="1382940" cy="51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f(x,W) = Wx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928;p77"/>
          <p:cNvSpPr txBox="1"/>
          <p:nvPr/>
        </p:nvSpPr>
        <p:spPr>
          <a:xfrm>
            <a:off x="1119850" y="1914383"/>
            <a:ext cx="1616428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代数</a:t>
            </a:r>
            <a:r>
              <a:rPr kumimoji="0" lang="zh-CN" altLang="en-US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角度</a:t>
            </a:r>
            <a:endParaRPr kumimoji="0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oogle Shape;929;p77"/>
          <p:cNvSpPr txBox="1"/>
          <p:nvPr/>
        </p:nvSpPr>
        <p:spPr>
          <a:xfrm>
            <a:off x="4090800" y="1914383"/>
            <a:ext cx="1476892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可视化</a:t>
            </a:r>
            <a:r>
              <a:rPr kumimoji="0" lang="zh-CN" altLang="en-US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角度</a:t>
            </a:r>
            <a:endParaRPr kumimoji="0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Google Shape;930;p77"/>
          <p:cNvSpPr txBox="1"/>
          <p:nvPr/>
        </p:nvSpPr>
        <p:spPr>
          <a:xfrm>
            <a:off x="7196142" y="1914382"/>
            <a:ext cx="1319208" cy="44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几何</a:t>
            </a:r>
            <a:r>
              <a:rPr kumimoji="0" lang="zh-CN" altLang="en-US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角度</a:t>
            </a:r>
            <a:endParaRPr kumimoji="0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oogle Shape;93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632" y="3538714"/>
            <a:ext cx="2305076" cy="166241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932;p77"/>
          <p:cNvSpPr txBox="1"/>
          <p:nvPr/>
        </p:nvSpPr>
        <p:spPr>
          <a:xfrm>
            <a:off x="3920521" y="2663289"/>
            <a:ext cx="1647171" cy="63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每类一个模板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Google Shape;933;p77"/>
          <p:cNvCxnSpPr/>
          <p:nvPr/>
        </p:nvCxnSpPr>
        <p:spPr>
          <a:xfrm>
            <a:off x="3283887" y="2021458"/>
            <a:ext cx="0" cy="34107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934;p77"/>
          <p:cNvCxnSpPr/>
          <p:nvPr/>
        </p:nvCxnSpPr>
        <p:spPr>
          <a:xfrm>
            <a:off x="6254913" y="2021458"/>
            <a:ext cx="0" cy="34107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935;p77"/>
          <p:cNvSpPr txBox="1"/>
          <p:nvPr/>
        </p:nvSpPr>
        <p:spPr>
          <a:xfrm>
            <a:off x="6712494" y="2663277"/>
            <a:ext cx="2013376" cy="63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超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平面切割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041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773" y="490338"/>
            <a:ext cx="8172450" cy="800100"/>
          </a:xfrm>
        </p:spPr>
        <p:txBody>
          <a:bodyPr>
            <a:normAutofit/>
          </a:bodyPr>
          <a:lstStyle/>
          <a:p>
            <a:r>
              <a:rPr lang="zh-CN" altLang="en-US" dirty="0"/>
              <a:t>二元</a:t>
            </a:r>
            <a:r>
              <a:rPr lang="en-US" altLang="zh-CN" dirty="0"/>
              <a:t>Logistics</a:t>
            </a:r>
            <a:r>
              <a:rPr lang="zh-CN" altLang="en-US" dirty="0"/>
              <a:t>回归</a:t>
            </a:r>
            <a:endParaRPr lang="en-US" b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3DD8BE-556E-3440-9013-11CC5588178D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8" name="Oval 7"/>
          <p:cNvSpPr/>
          <p:nvPr/>
        </p:nvSpPr>
        <p:spPr bwMode="auto">
          <a:xfrm>
            <a:off x="4086252" y="3029129"/>
            <a:ext cx="381000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4904049" y="1962328"/>
            <a:ext cx="458554" cy="454432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 bwMode="auto">
          <a:xfrm flipV="1">
            <a:off x="3695701" y="1392004"/>
            <a:ext cx="703496" cy="1122596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Oval 19"/>
          <p:cNvSpPr/>
          <p:nvPr/>
        </p:nvSpPr>
        <p:spPr bwMode="auto">
          <a:xfrm>
            <a:off x="4467252" y="4857929"/>
            <a:ext cx="381000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562252" y="4476929"/>
            <a:ext cx="4572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6372253" y="4476929"/>
            <a:ext cx="457196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4848252" y="4485250"/>
            <a:ext cx="4572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3705252" y="4476929"/>
            <a:ext cx="4572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cxnSp>
        <p:nvCxnSpPr>
          <p:cNvPr id="26" name="Straight Arrow Connector 25"/>
          <p:cNvCxnSpPr>
            <a:cxnSpLocks/>
            <a:stCxn id="21" idx="0"/>
          </p:cNvCxnSpPr>
          <p:nvPr/>
        </p:nvCxnSpPr>
        <p:spPr bwMode="auto">
          <a:xfrm flipV="1">
            <a:off x="2790852" y="3354332"/>
            <a:ext cx="2417998" cy="1122596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Oval 33"/>
          <p:cNvSpPr/>
          <p:nvPr/>
        </p:nvSpPr>
        <p:spPr bwMode="auto">
          <a:xfrm>
            <a:off x="7839103" y="4476929"/>
            <a:ext cx="457196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cxnSp>
        <p:nvCxnSpPr>
          <p:cNvPr id="56" name="Straight Arrow Connector 55"/>
          <p:cNvCxnSpPr>
            <a:cxnSpLocks/>
            <a:stCxn id="34" idx="1"/>
            <a:endCxn id="13" idx="4"/>
          </p:cNvCxnSpPr>
          <p:nvPr/>
        </p:nvCxnSpPr>
        <p:spPr bwMode="auto">
          <a:xfrm flipH="1" flipV="1">
            <a:off x="5133326" y="2416761"/>
            <a:ext cx="2772732" cy="21298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cxnSpLocks/>
            <a:stCxn id="24" idx="0"/>
            <a:endCxn id="13" idx="4"/>
          </p:cNvCxnSpPr>
          <p:nvPr/>
        </p:nvCxnSpPr>
        <p:spPr bwMode="auto">
          <a:xfrm flipV="1">
            <a:off x="5076852" y="2416761"/>
            <a:ext cx="56474" cy="206848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920954" y="2966840"/>
                <a:ext cx="96650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590A0E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en-US" sz="3000" dirty="0">
                  <a:solidFill>
                    <a:srgbClr val="590A0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954" y="2966840"/>
                <a:ext cx="96650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391304" y="4476928"/>
                <a:ext cx="492251" cy="498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700" i="1" baseline="-25000" dirty="0" err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700" baseline="-250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304" y="4476928"/>
                <a:ext cx="492251" cy="4982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2562252" y="4419778"/>
                <a:ext cx="457200" cy="498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7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700" baseline="-250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252" y="4419778"/>
                <a:ext cx="457200" cy="498278"/>
              </a:xfrm>
              <a:prstGeom prst="rect">
                <a:avLst/>
              </a:prstGeom>
              <a:blipFill>
                <a:blip r:embed="rId5"/>
                <a:stretch>
                  <a:fillRect r="-2703"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/>
          <p:cNvCxnSpPr>
            <a:cxnSpLocks/>
            <a:stCxn id="23" idx="1"/>
            <a:endCxn id="13" idx="4"/>
          </p:cNvCxnSpPr>
          <p:nvPr/>
        </p:nvCxnSpPr>
        <p:spPr bwMode="auto">
          <a:xfrm flipH="1" flipV="1">
            <a:off x="5133326" y="2416761"/>
            <a:ext cx="1305882" cy="21298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5883B2-8B8A-1341-901C-859C80CFD51F}"/>
              </a:ext>
            </a:extLst>
          </p:cNvPr>
          <p:cNvCxnSpPr>
            <a:cxnSpLocks/>
            <a:stCxn id="21" idx="7"/>
            <a:endCxn id="13" idx="4"/>
          </p:cNvCxnSpPr>
          <p:nvPr/>
        </p:nvCxnSpPr>
        <p:spPr bwMode="auto">
          <a:xfrm flipV="1">
            <a:off x="2952498" y="2416761"/>
            <a:ext cx="2180829" cy="21298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B7B1FA-8A15-EA49-ADDB-7F99D5C557DE}"/>
              </a:ext>
            </a:extLst>
          </p:cNvPr>
          <p:cNvCxnSpPr>
            <a:cxnSpLocks/>
            <a:stCxn id="25" idx="0"/>
            <a:endCxn id="13" idx="4"/>
          </p:cNvCxnSpPr>
          <p:nvPr/>
        </p:nvCxnSpPr>
        <p:spPr bwMode="auto">
          <a:xfrm flipV="1">
            <a:off x="3933852" y="2416760"/>
            <a:ext cx="1199474" cy="206016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E0FE5A-562C-1745-8203-B330FA8CD5F1}"/>
                  </a:ext>
                </a:extLst>
              </p:cNvPr>
              <p:cNvSpPr txBox="1"/>
              <p:nvPr/>
            </p:nvSpPr>
            <p:spPr>
              <a:xfrm>
                <a:off x="5915052" y="1942262"/>
                <a:ext cx="2698698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E0FE5A-562C-1745-8203-B330FA8CD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052" y="1942262"/>
                <a:ext cx="2698698" cy="507831"/>
              </a:xfrm>
              <a:prstGeom prst="rect">
                <a:avLst/>
              </a:prstGeom>
              <a:blipFill>
                <a:blip r:embed="rId6"/>
                <a:stretch>
                  <a:fillRect r="-1408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FE8FC9BF-26E5-8A48-9452-B914E5937543}"/>
              </a:ext>
            </a:extLst>
          </p:cNvPr>
          <p:cNvSpPr txBox="1"/>
          <p:nvPr/>
        </p:nvSpPr>
        <p:spPr>
          <a:xfrm>
            <a:off x="7795251" y="4456391"/>
            <a:ext cx="58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+1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29CE29-AD6D-6043-B346-7998851EEA16}"/>
                  </a:ext>
                </a:extLst>
              </p:cNvPr>
              <p:cNvSpPr txBox="1"/>
              <p:nvPr/>
            </p:nvSpPr>
            <p:spPr>
              <a:xfrm>
                <a:off x="3537016" y="2976711"/>
                <a:ext cx="63388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590A0E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sz="3000" i="1" baseline="-25000" dirty="0" smtClean="0">
                          <a:solidFill>
                            <a:srgbClr val="590A0E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sz="3000" baseline="-25000" dirty="0">
                  <a:solidFill>
                    <a:srgbClr val="590A0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29CE29-AD6D-6043-B346-7998851EE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016" y="2976711"/>
                <a:ext cx="633884" cy="553998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5E4ECD-9FC9-6146-A571-981066646A08}"/>
                  </a:ext>
                </a:extLst>
              </p:cNvPr>
              <p:cNvSpPr txBox="1"/>
              <p:nvPr/>
            </p:nvSpPr>
            <p:spPr>
              <a:xfrm>
                <a:off x="5185918" y="2991027"/>
                <a:ext cx="63388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590A0E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sz="3000" i="1" baseline="-25000" dirty="0" err="1" smtClean="0">
                          <a:solidFill>
                            <a:srgbClr val="590A0E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US" sz="3000" baseline="-25000" dirty="0">
                  <a:solidFill>
                    <a:srgbClr val="590A0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5E4ECD-9FC9-6146-A571-981066646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918" y="2991027"/>
                <a:ext cx="633884" cy="553998"/>
              </a:xfrm>
              <a:prstGeom prst="rect">
                <a:avLst/>
              </a:prstGeom>
              <a:blipFill>
                <a:blip r:embed="rId8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84F1E1F-7708-504F-B469-E201D2446A1B}"/>
                  </a:ext>
                </a:extLst>
              </p:cNvPr>
              <p:cNvSpPr txBox="1"/>
              <p:nvPr/>
            </p:nvSpPr>
            <p:spPr>
              <a:xfrm>
                <a:off x="6500368" y="3005286"/>
                <a:ext cx="63388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590A0E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en-US" sz="3000" dirty="0">
                  <a:solidFill>
                    <a:srgbClr val="590A0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84F1E1F-7708-504F-B469-E201D2446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368" y="3005286"/>
                <a:ext cx="633884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DDDFAF8-C4D0-1042-B52B-54324A0ED22A}"/>
                  </a:ext>
                </a:extLst>
              </p:cNvPr>
              <p:cNvSpPr txBox="1"/>
              <p:nvPr/>
            </p:nvSpPr>
            <p:spPr>
              <a:xfrm>
                <a:off x="7607324" y="2340922"/>
                <a:ext cx="12318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tx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tx2"/>
                    </a:solidFill>
                  </a:rPr>
                  <a:t>标量</a:t>
                </a:r>
                <a:r>
                  <a:rPr lang="en-US" sz="2400" dirty="0">
                    <a:solidFill>
                      <a:schemeClr val="tx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DDDFAF8-C4D0-1042-B52B-54324A0ED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324" y="2340922"/>
                <a:ext cx="1231876" cy="461665"/>
              </a:xfrm>
              <a:prstGeom prst="rect">
                <a:avLst/>
              </a:prstGeom>
              <a:blipFill>
                <a:blip r:embed="rId10"/>
                <a:stretch>
                  <a:fillRect l="-7143" t="-13158" r="-6122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0CAD22C9-A380-5E4A-8716-B5AB33FE90F0}"/>
              </a:ext>
            </a:extLst>
          </p:cNvPr>
          <p:cNvSpPr txBox="1"/>
          <p:nvPr/>
        </p:nvSpPr>
        <p:spPr>
          <a:xfrm>
            <a:off x="4962553" y="185343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σ</a:t>
            </a:r>
            <a:endParaRPr lang="en-US" sz="1013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2E8BCC-9E48-D347-BC1E-41462CC698A2}"/>
              </a:ext>
            </a:extLst>
          </p:cNvPr>
          <p:cNvSpPr txBox="1"/>
          <p:nvPr/>
        </p:nvSpPr>
        <p:spPr>
          <a:xfrm>
            <a:off x="879916" y="1995537"/>
            <a:ext cx="2346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输出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/>
              <a:t>σ</a:t>
            </a:r>
            <a:r>
              <a:rPr lang="en-US" sz="2400" dirty="0"/>
              <a:t> </a:t>
            </a:r>
            <a:r>
              <a:rPr lang="zh-CN" altLang="en-US" sz="2400" dirty="0"/>
              <a:t>节点</a:t>
            </a:r>
            <a:r>
              <a:rPr lang="en-US" sz="2400" dirty="0"/>
              <a:t>)</a:t>
            </a:r>
            <a:endParaRPr lang="en-US" sz="24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042CEFD-59B9-1A48-93CC-B47462563843}"/>
                  </a:ext>
                </a:extLst>
              </p:cNvPr>
              <p:cNvSpPr txBox="1"/>
              <p:nvPr/>
            </p:nvSpPr>
            <p:spPr>
              <a:xfrm>
                <a:off x="733157" y="4439007"/>
                <a:ext cx="15985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2"/>
                    </a:solidFill>
                  </a:rPr>
                  <a:t>输入向量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042CEFD-59B9-1A48-93CC-B47462563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57" y="4439007"/>
                <a:ext cx="1598515" cy="461665"/>
              </a:xfrm>
              <a:prstGeom prst="rect">
                <a:avLst/>
              </a:prstGeom>
              <a:blipFill>
                <a:blip r:embed="rId11"/>
                <a:stretch>
                  <a:fillRect l="-5512" t="-16216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C8637CD-167A-B14E-9ED3-5FF1C283B8B1}"/>
              </a:ext>
            </a:extLst>
          </p:cNvPr>
          <p:cNvSpPr txBox="1"/>
          <p:nvPr/>
        </p:nvSpPr>
        <p:spPr>
          <a:xfrm>
            <a:off x="1775183" y="3508146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27152"/>
                </a:solidFill>
              </a:rPr>
              <a:t>(</a:t>
            </a:r>
            <a:r>
              <a:rPr lang="zh-CN" altLang="en-US" dirty="0">
                <a:solidFill>
                  <a:srgbClr val="627152"/>
                </a:solidFill>
              </a:rPr>
              <a:t>向量</a:t>
            </a:r>
            <a:r>
              <a:rPr lang="en-US" dirty="0">
                <a:solidFill>
                  <a:srgbClr val="627152"/>
                </a:solidFill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C32F93-92EF-1C4D-B1E2-13D7003508EB}"/>
              </a:ext>
            </a:extLst>
          </p:cNvPr>
          <p:cNvSpPr txBox="1"/>
          <p:nvPr/>
        </p:nvSpPr>
        <p:spPr>
          <a:xfrm>
            <a:off x="6883553" y="324217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27152"/>
                </a:solidFill>
              </a:rPr>
              <a:t>(</a:t>
            </a:r>
            <a:r>
              <a:rPr lang="zh-CN" altLang="en-US" dirty="0">
                <a:solidFill>
                  <a:srgbClr val="627152"/>
                </a:solidFill>
              </a:rPr>
              <a:t>标量</a:t>
            </a:r>
            <a:r>
              <a:rPr lang="en-US" dirty="0">
                <a:solidFill>
                  <a:srgbClr val="62715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42726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0011"/>
            <a:ext cx="8539968" cy="800100"/>
          </a:xfrm>
        </p:spPr>
        <p:txBody>
          <a:bodyPr>
            <a:noAutofit/>
          </a:bodyPr>
          <a:lstStyle/>
          <a:p>
            <a:r>
              <a:rPr lang="zh-CN" altLang="en" dirty="0"/>
              <a:t>多元</a:t>
            </a:r>
            <a:r>
              <a:rPr lang="en" altLang="zh-CN" dirty="0"/>
              <a:t>Logistics</a:t>
            </a:r>
            <a:r>
              <a:rPr lang="zh-CN" altLang="en-US" dirty="0"/>
              <a:t>回归</a:t>
            </a:r>
            <a:endParaRPr lang="en-US" sz="3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3DD8BE-556E-3440-9013-11CC5588178D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8" name="Oval 7"/>
          <p:cNvSpPr/>
          <p:nvPr/>
        </p:nvSpPr>
        <p:spPr bwMode="auto">
          <a:xfrm>
            <a:off x="3581400" y="3581403"/>
            <a:ext cx="381000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3505202" y="2514603"/>
            <a:ext cx="457199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5029202" y="2514603"/>
            <a:ext cx="457199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4343402" y="2514603"/>
            <a:ext cx="457199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cxnSp>
        <p:nvCxnSpPr>
          <p:cNvPr id="14" name="Straight Arrow Connector 13"/>
          <p:cNvCxnSpPr>
            <a:cxnSpLocks/>
            <a:stCxn id="9" idx="0"/>
          </p:cNvCxnSpPr>
          <p:nvPr/>
        </p:nvCxnSpPr>
        <p:spPr bwMode="auto">
          <a:xfrm flipV="1">
            <a:off x="3733801" y="1392006"/>
            <a:ext cx="665396" cy="1122596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Oval 19"/>
          <p:cNvSpPr/>
          <p:nvPr/>
        </p:nvSpPr>
        <p:spPr bwMode="auto">
          <a:xfrm>
            <a:off x="3962400" y="5410203"/>
            <a:ext cx="381000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057400" y="5029203"/>
            <a:ext cx="3810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5867400" y="5029203"/>
            <a:ext cx="3810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4572000" y="5029203"/>
            <a:ext cx="3810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3200400" y="5029203"/>
            <a:ext cx="3810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cxnSp>
        <p:nvCxnSpPr>
          <p:cNvPr id="26" name="Straight Arrow Connector 25"/>
          <p:cNvCxnSpPr>
            <a:stCxn id="21" idx="0"/>
          </p:cNvCxnSpPr>
          <p:nvPr/>
        </p:nvCxnSpPr>
        <p:spPr bwMode="auto">
          <a:xfrm flipV="1">
            <a:off x="2247900" y="3906606"/>
            <a:ext cx="2456098" cy="1122596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cxnSpLocks/>
            <a:stCxn id="25" idx="0"/>
            <a:endCxn id="9" idx="4"/>
          </p:cNvCxnSpPr>
          <p:nvPr/>
        </p:nvCxnSpPr>
        <p:spPr bwMode="auto">
          <a:xfrm flipV="1">
            <a:off x="3390901" y="2990674"/>
            <a:ext cx="342901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stCxn id="24" idx="0"/>
            <a:endCxn id="9" idx="4"/>
          </p:cNvCxnSpPr>
          <p:nvPr/>
        </p:nvCxnSpPr>
        <p:spPr bwMode="auto">
          <a:xfrm flipH="1" flipV="1">
            <a:off x="3733802" y="2990674"/>
            <a:ext cx="1028699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  <a:stCxn id="23" idx="0"/>
            <a:endCxn id="9" idx="4"/>
          </p:cNvCxnSpPr>
          <p:nvPr/>
        </p:nvCxnSpPr>
        <p:spPr bwMode="auto">
          <a:xfrm flipH="1" flipV="1">
            <a:off x="3733802" y="2990674"/>
            <a:ext cx="2324099" cy="203852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cxnSpLocks/>
            <a:stCxn id="21" idx="7"/>
            <a:endCxn id="9" idx="4"/>
          </p:cNvCxnSpPr>
          <p:nvPr/>
        </p:nvCxnSpPr>
        <p:spPr bwMode="auto">
          <a:xfrm flipV="1">
            <a:off x="2382605" y="2990673"/>
            <a:ext cx="1351197" cy="210824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 bwMode="auto">
          <a:xfrm>
            <a:off x="6813143" y="5029203"/>
            <a:ext cx="381000" cy="476071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55"/>
            <a:endParaRPr lang="en-US" sz="1600">
              <a:solidFill>
                <a:srgbClr val="009900"/>
              </a:solidFill>
              <a:latin typeface="Tahoma" charset="0"/>
            </a:endParaRPr>
          </a:p>
        </p:txBody>
      </p:sp>
      <p:cxnSp>
        <p:nvCxnSpPr>
          <p:cNvPr id="46" name="Straight Arrow Connector 45"/>
          <p:cNvCxnSpPr>
            <a:cxnSpLocks/>
            <a:stCxn id="34" idx="0"/>
            <a:endCxn id="9" idx="4"/>
          </p:cNvCxnSpPr>
          <p:nvPr/>
        </p:nvCxnSpPr>
        <p:spPr bwMode="auto">
          <a:xfrm flipH="1" flipV="1">
            <a:off x="3733801" y="2990674"/>
            <a:ext cx="3269842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  <a:stCxn id="21" idx="7"/>
            <a:endCxn id="13" idx="4"/>
          </p:cNvCxnSpPr>
          <p:nvPr/>
        </p:nvCxnSpPr>
        <p:spPr bwMode="auto">
          <a:xfrm flipV="1">
            <a:off x="2382605" y="2990673"/>
            <a:ext cx="2189397" cy="210824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  <a:stCxn id="21" idx="7"/>
            <a:endCxn id="12" idx="4"/>
          </p:cNvCxnSpPr>
          <p:nvPr/>
        </p:nvCxnSpPr>
        <p:spPr bwMode="auto">
          <a:xfrm flipV="1">
            <a:off x="2382605" y="2990673"/>
            <a:ext cx="2875197" cy="210824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  <a:stCxn id="34" idx="0"/>
            <a:endCxn id="12" idx="4"/>
          </p:cNvCxnSpPr>
          <p:nvPr/>
        </p:nvCxnSpPr>
        <p:spPr bwMode="auto">
          <a:xfrm flipH="1" flipV="1">
            <a:off x="5257801" y="2990674"/>
            <a:ext cx="1745842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  <a:stCxn id="34" idx="0"/>
            <a:endCxn id="13" idx="4"/>
          </p:cNvCxnSpPr>
          <p:nvPr/>
        </p:nvCxnSpPr>
        <p:spPr bwMode="auto">
          <a:xfrm flipH="1" flipV="1">
            <a:off x="4572001" y="2990674"/>
            <a:ext cx="2431642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  <a:stCxn id="23" idx="0"/>
            <a:endCxn id="9" idx="4"/>
          </p:cNvCxnSpPr>
          <p:nvPr/>
        </p:nvCxnSpPr>
        <p:spPr bwMode="auto">
          <a:xfrm flipH="1" flipV="1">
            <a:off x="3733802" y="2990674"/>
            <a:ext cx="2324099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stCxn id="23" idx="0"/>
            <a:endCxn id="12" idx="4"/>
          </p:cNvCxnSpPr>
          <p:nvPr/>
        </p:nvCxnSpPr>
        <p:spPr bwMode="auto">
          <a:xfrm flipH="1" flipV="1">
            <a:off x="5257802" y="2990674"/>
            <a:ext cx="800099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cxnSpLocks/>
            <a:stCxn id="24" idx="0"/>
            <a:endCxn id="13" idx="4"/>
          </p:cNvCxnSpPr>
          <p:nvPr/>
        </p:nvCxnSpPr>
        <p:spPr bwMode="auto">
          <a:xfrm flipH="1" flipV="1">
            <a:off x="4572002" y="2990674"/>
            <a:ext cx="190499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cxnSpLocks/>
            <a:stCxn id="24" idx="0"/>
            <a:endCxn id="12" idx="4"/>
          </p:cNvCxnSpPr>
          <p:nvPr/>
        </p:nvCxnSpPr>
        <p:spPr bwMode="auto">
          <a:xfrm flipV="1">
            <a:off x="4762501" y="2990674"/>
            <a:ext cx="495301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cxnSpLocks/>
            <a:stCxn id="25" idx="0"/>
            <a:endCxn id="13" idx="4"/>
          </p:cNvCxnSpPr>
          <p:nvPr/>
        </p:nvCxnSpPr>
        <p:spPr bwMode="auto">
          <a:xfrm flipV="1">
            <a:off x="3390901" y="2990674"/>
            <a:ext cx="1181101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cxnSpLocks/>
            <a:stCxn id="25" idx="0"/>
            <a:endCxn id="12" idx="4"/>
          </p:cNvCxnSpPr>
          <p:nvPr/>
        </p:nvCxnSpPr>
        <p:spPr bwMode="auto">
          <a:xfrm flipV="1">
            <a:off x="3390901" y="2990674"/>
            <a:ext cx="1866901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400300" y="3486150"/>
            <a:ext cx="45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i="1" dirty="0">
                <a:solidFill>
                  <a:srgbClr val="590A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6347" y="499067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057400" y="5029201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53" name="Straight Arrow Connector 52"/>
          <p:cNvCxnSpPr>
            <a:cxnSpLocks/>
            <a:stCxn id="23" idx="0"/>
            <a:endCxn id="13" idx="4"/>
          </p:cNvCxnSpPr>
          <p:nvPr/>
        </p:nvCxnSpPr>
        <p:spPr bwMode="auto">
          <a:xfrm flipH="1" flipV="1">
            <a:off x="4572002" y="2990674"/>
            <a:ext cx="1485899" cy="203852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AD1876A-19B5-AE49-83FA-946D46310282}"/>
              </a:ext>
            </a:extLst>
          </p:cNvPr>
          <p:cNvSpPr/>
          <p:nvPr/>
        </p:nvSpPr>
        <p:spPr>
          <a:xfrm>
            <a:off x="880047" y="3513143"/>
            <a:ext cx="1386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tx2"/>
                </a:solidFill>
              </a:rPr>
              <a:t>W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zh-CN" altLang="en-US" sz="2800" dirty="0">
                <a:solidFill>
                  <a:schemeClr val="tx2"/>
                </a:solidFill>
              </a:rPr>
              <a:t>矩阵</a:t>
            </a:r>
            <a:endParaRPr lang="en-US" sz="28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CB1F6F-E797-4A45-9FEC-24D5A0F3C4AD}"/>
                  </a:ext>
                </a:extLst>
              </p:cNvPr>
              <p:cNvSpPr txBox="1"/>
              <p:nvPr/>
            </p:nvSpPr>
            <p:spPr>
              <a:xfrm>
                <a:off x="5613211" y="2495912"/>
                <a:ext cx="383164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70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𝑊𝑥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CB1F6F-E797-4A45-9FEC-24D5A0F3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211" y="2495912"/>
                <a:ext cx="3831644" cy="507831"/>
              </a:xfrm>
              <a:prstGeom prst="rect">
                <a:avLst/>
              </a:prstGeom>
              <a:blipFill>
                <a:blip r:embed="rId3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4796DB7-1451-5C4F-81F0-C517963B035E}"/>
              </a:ext>
            </a:extLst>
          </p:cNvPr>
          <p:cNvSpPr txBox="1"/>
          <p:nvPr/>
        </p:nvSpPr>
        <p:spPr>
          <a:xfrm>
            <a:off x="6791326" y="5093985"/>
            <a:ext cx="4716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54A9EB-28FF-EA43-A179-8F72EEB6527A}"/>
              </a:ext>
            </a:extLst>
          </p:cNvPr>
          <p:cNvSpPr/>
          <p:nvPr/>
        </p:nvSpPr>
        <p:spPr>
          <a:xfrm>
            <a:off x="6705696" y="3022516"/>
            <a:ext cx="13226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tx2"/>
                </a:solidFill>
              </a:rPr>
              <a:t>y</a:t>
            </a:r>
            <a:r>
              <a:rPr lang="zh-CN" altLang="en-US" sz="2800" dirty="0">
                <a:solidFill>
                  <a:schemeClr val="tx2"/>
                </a:solidFill>
              </a:rPr>
              <a:t>矢量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94CF16-0514-2942-87BA-D958E5CAEC9F}"/>
              </a:ext>
            </a:extLst>
          </p:cNvPr>
          <p:cNvSpPr txBox="1"/>
          <p:nvPr/>
        </p:nvSpPr>
        <p:spPr>
          <a:xfrm>
            <a:off x="3494713" y="2029486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5C28FF-A703-5841-B938-401B16C08AA7}"/>
              </a:ext>
            </a:extLst>
          </p:cNvPr>
          <p:cNvSpPr txBox="1"/>
          <p:nvPr/>
        </p:nvSpPr>
        <p:spPr>
          <a:xfrm>
            <a:off x="4987437" y="2025022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76B418-2F6B-2347-AFE4-14E0484F474B}"/>
              </a:ext>
            </a:extLst>
          </p:cNvPr>
          <p:cNvSpPr/>
          <p:nvPr/>
        </p:nvSpPr>
        <p:spPr>
          <a:xfrm>
            <a:off x="6805269" y="3967815"/>
            <a:ext cx="231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tx2"/>
                </a:solidFill>
              </a:rPr>
              <a:t>b</a:t>
            </a:r>
            <a:r>
              <a:rPr lang="zh-CN" altLang="en-US" sz="2800" dirty="0">
                <a:solidFill>
                  <a:schemeClr val="tx2"/>
                </a:solidFill>
              </a:rPr>
              <a:t>矢量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79BA9-4A4C-D44C-9F2F-6A26E5C03DDA}"/>
              </a:ext>
            </a:extLst>
          </p:cNvPr>
          <p:cNvSpPr txBox="1"/>
          <p:nvPr/>
        </p:nvSpPr>
        <p:spPr>
          <a:xfrm>
            <a:off x="6214718" y="3459722"/>
            <a:ext cx="45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i="1" dirty="0">
                <a:solidFill>
                  <a:srgbClr val="590A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200C40-4EB3-8F46-BFD7-31EF0BEE1BEF}"/>
              </a:ext>
            </a:extLst>
          </p:cNvPr>
          <p:cNvSpPr txBox="1"/>
          <p:nvPr/>
        </p:nvSpPr>
        <p:spPr>
          <a:xfrm>
            <a:off x="3570952" y="2464968"/>
            <a:ext cx="3337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85E98C-6BF2-A94E-8903-EF3D15BA19E2}"/>
              </a:ext>
            </a:extLst>
          </p:cNvPr>
          <p:cNvSpPr txBox="1"/>
          <p:nvPr/>
        </p:nvSpPr>
        <p:spPr>
          <a:xfrm>
            <a:off x="4423224" y="2424469"/>
            <a:ext cx="3337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E35245-F3C6-3949-8C9B-586BFC3B8597}"/>
              </a:ext>
            </a:extLst>
          </p:cNvPr>
          <p:cNvSpPr txBox="1"/>
          <p:nvPr/>
        </p:nvSpPr>
        <p:spPr>
          <a:xfrm>
            <a:off x="5113408" y="2436147"/>
            <a:ext cx="3337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8FB66E-4013-FC4D-91B9-815E64B8DAE8}"/>
              </a:ext>
            </a:extLst>
          </p:cNvPr>
          <p:cNvSpPr txBox="1"/>
          <p:nvPr/>
        </p:nvSpPr>
        <p:spPr>
          <a:xfrm>
            <a:off x="1657290" y="2514600"/>
            <a:ext cx="800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输出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A69468-9096-A746-A14A-DAEFAC4EF5D6}"/>
              </a:ext>
            </a:extLst>
          </p:cNvPr>
          <p:cNvSpPr txBox="1"/>
          <p:nvPr/>
        </p:nvSpPr>
        <p:spPr>
          <a:xfrm>
            <a:off x="729710" y="499067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输入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7088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多类</a:t>
            </a:r>
            <a:r>
              <a:rPr lang="en-US" altLang="zh-CN" dirty="0"/>
              <a:t> SVM </a:t>
            </a:r>
            <a:r>
              <a:rPr lang="zh-CN" altLang="en-US" dirty="0"/>
              <a:t>损失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3 -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Google Shape;33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4604" y="1496274"/>
            <a:ext cx="921889" cy="390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925" y="2484786"/>
            <a:ext cx="1543683" cy="32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2968" y="3526438"/>
            <a:ext cx="3931728" cy="421504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22" name="Google Shape;184;p22"/>
          <p:cNvPicPr preferRelativeResize="0"/>
          <p:nvPr/>
        </p:nvPicPr>
        <p:blipFill rotWithShape="1">
          <a:blip r:embed="rId5">
            <a:alphaModFix/>
          </a:blip>
          <a:srcRect l="13919" t="13185" b="34052"/>
          <a:stretch/>
        </p:blipFill>
        <p:spPr>
          <a:xfrm>
            <a:off x="1019515" y="1917956"/>
            <a:ext cx="1177109" cy="11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85;p22"/>
          <p:cNvPicPr preferRelativeResize="0"/>
          <p:nvPr/>
        </p:nvPicPr>
        <p:blipFill rotWithShape="1">
          <a:blip r:embed="rId6">
            <a:alphaModFix/>
          </a:blip>
          <a:srcRect l="11760" r="15953"/>
          <a:stretch/>
        </p:blipFill>
        <p:spPr>
          <a:xfrm>
            <a:off x="2295969" y="1909060"/>
            <a:ext cx="1258223" cy="1154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86;p22"/>
          <p:cNvPicPr preferRelativeResize="0"/>
          <p:nvPr/>
        </p:nvPicPr>
        <p:blipFill rotWithShape="1">
          <a:blip r:embed="rId7">
            <a:alphaModFix/>
          </a:blip>
          <a:srcRect r="27262"/>
          <a:stretch/>
        </p:blipFill>
        <p:spPr>
          <a:xfrm>
            <a:off x="3685963" y="1913796"/>
            <a:ext cx="1119539" cy="115434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1268873" y="3222948"/>
            <a:ext cx="67839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721" y="3222948"/>
            <a:ext cx="652358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885" y="3823381"/>
            <a:ext cx="718029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87" y="4423813"/>
            <a:ext cx="81702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277" y="3823381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3858" y="4423813"/>
            <a:ext cx="790601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88288" y="3222948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85883" y="3823381"/>
            <a:ext cx="67839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88288" y="4423813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5300" y="3222948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5299" y="3824800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5475" y="4425350"/>
            <a:ext cx="795411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-3.1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0856" y="1482285"/>
            <a:ext cx="37921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给定一副图像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      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为图像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,     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为标签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令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                       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为响应分值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则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SVM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损失定义为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pic>
        <p:nvPicPr>
          <p:cNvPr id="45" name="Google Shape;338;p27"/>
          <p:cNvPicPr preferRelativeResize="0"/>
          <p:nvPr/>
        </p:nvPicPr>
        <p:blipFill rotWithShape="1">
          <a:blip r:embed="rId2">
            <a:alphaModFix/>
          </a:blip>
          <a:srcRect l="55307" r="11518"/>
          <a:stretch/>
        </p:blipFill>
        <p:spPr>
          <a:xfrm>
            <a:off x="6823600" y="1829648"/>
            <a:ext cx="310031" cy="39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339;p27"/>
          <p:cNvPicPr preferRelativeResize="0"/>
          <p:nvPr/>
        </p:nvPicPr>
        <p:blipFill rotWithShape="1">
          <a:blip r:embed="rId2">
            <a:alphaModFix/>
          </a:blip>
          <a:srcRect l="15513" r="51310"/>
          <a:stretch/>
        </p:blipFill>
        <p:spPr>
          <a:xfrm>
            <a:off x="5472081" y="1828228"/>
            <a:ext cx="310031" cy="39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71;p28"/>
          <p:cNvSpPr txBox="1"/>
          <p:nvPr/>
        </p:nvSpPr>
        <p:spPr>
          <a:xfrm>
            <a:off x="5478900" y="3914655"/>
            <a:ext cx="3376032" cy="172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max(0, 5.1 - 3.2 + 1) 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+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max(0, -1.7 - 3.2 + 1)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max(0, 2.9) + max(0, -3.9)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2.9 + 0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2.9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386" y="5024245"/>
            <a:ext cx="845708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</a:p>
        </p:txBody>
      </p:sp>
      <p:sp>
        <p:nvSpPr>
          <p:cNvPr id="34" name="Google Shape;372;p28"/>
          <p:cNvSpPr/>
          <p:nvPr/>
        </p:nvSpPr>
        <p:spPr>
          <a:xfrm>
            <a:off x="1059435" y="3225893"/>
            <a:ext cx="1155599" cy="234080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66693" y="5024246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2.9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8796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8312793" cy="513268"/>
          </a:xfrm>
        </p:spPr>
        <p:txBody>
          <a:bodyPr>
            <a:normAutofit fontScale="90000"/>
          </a:bodyPr>
          <a:lstStyle/>
          <a:p>
            <a:r>
              <a:rPr lang="zh-CN" altLang="en-US" b="1" dirty="0"/>
              <a:t>交叉熵损失</a:t>
            </a:r>
            <a:r>
              <a:rPr lang="en-US" altLang="zh-CN" dirty="0"/>
              <a:t>(</a:t>
            </a:r>
            <a:r>
              <a:rPr lang="zh-CN" altLang="en-US" dirty="0"/>
              <a:t>多元</a:t>
            </a:r>
            <a:r>
              <a:rPr lang="en-US" altLang="zh-CN" dirty="0"/>
              <a:t>Logistic</a:t>
            </a:r>
            <a:r>
              <a:rPr lang="zh-CN" altLang="en-US" dirty="0"/>
              <a:t>回归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3 -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oogle Shape;920;p54"/>
          <p:cNvPicPr preferRelativeResize="0"/>
          <p:nvPr/>
        </p:nvPicPr>
        <p:blipFill rotWithShape="1">
          <a:blip r:embed="rId2">
            <a:alphaModFix/>
          </a:blip>
          <a:srcRect l="13919" t="13185" b="34052"/>
          <a:stretch/>
        </p:blipFill>
        <p:spPr>
          <a:xfrm>
            <a:off x="1019513" y="2012371"/>
            <a:ext cx="1177109" cy="11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21;p54"/>
          <p:cNvSpPr txBox="1"/>
          <p:nvPr/>
        </p:nvSpPr>
        <p:spPr>
          <a:xfrm>
            <a:off x="2358036" y="1593086"/>
            <a:ext cx="6115414" cy="3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将分类器输出的分值解释为概率：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68873" y="3222948"/>
            <a:ext cx="67839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721" y="3222948"/>
            <a:ext cx="652358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885" y="3823381"/>
            <a:ext cx="718029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87" y="4423813"/>
            <a:ext cx="81702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277" y="3823381"/>
            <a:ext cx="67358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3858" y="4423813"/>
            <a:ext cx="790601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9762" y="3222948"/>
            <a:ext cx="919963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9762" y="3823380"/>
            <a:ext cx="106978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9762" y="4434022"/>
            <a:ext cx="919963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0016" y="3222948"/>
            <a:ext cx="919963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0016" y="3823381"/>
            <a:ext cx="10149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0016" y="4434022"/>
            <a:ext cx="919963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0.00</a:t>
            </a:r>
          </a:p>
        </p:txBody>
      </p:sp>
      <p:sp>
        <p:nvSpPr>
          <p:cNvPr id="28" name="Google Shape;1031;p58"/>
          <p:cNvSpPr/>
          <p:nvPr/>
        </p:nvSpPr>
        <p:spPr>
          <a:xfrm>
            <a:off x="1076755" y="3269228"/>
            <a:ext cx="1062623" cy="1669965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1014;p58"/>
          <p:cNvSpPr/>
          <p:nvPr/>
        </p:nvSpPr>
        <p:spPr>
          <a:xfrm>
            <a:off x="2853917" y="3272691"/>
            <a:ext cx="1062623" cy="166996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1018;p58"/>
          <p:cNvSpPr/>
          <p:nvPr/>
        </p:nvSpPr>
        <p:spPr>
          <a:xfrm>
            <a:off x="4702437" y="3272691"/>
            <a:ext cx="1062623" cy="1669965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Google Shape;1022;p58"/>
          <p:cNvCxnSpPr/>
          <p:nvPr/>
        </p:nvCxnSpPr>
        <p:spPr>
          <a:xfrm>
            <a:off x="2193096" y="4100379"/>
            <a:ext cx="588747" cy="0"/>
          </a:xfrm>
          <a:prstGeom prst="straightConnector1">
            <a:avLst/>
          </a:prstGeom>
          <a:noFill/>
          <a:ln w="6350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1022;p58"/>
          <p:cNvCxnSpPr/>
          <p:nvPr/>
        </p:nvCxnSpPr>
        <p:spPr>
          <a:xfrm>
            <a:off x="4000193" y="4107674"/>
            <a:ext cx="588747" cy="0"/>
          </a:xfrm>
          <a:prstGeom prst="straightConnector1">
            <a:avLst/>
          </a:prstGeom>
          <a:noFill/>
          <a:ln w="6350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" name="Google Shape;1027;p58"/>
          <p:cNvSpPr txBox="1"/>
          <p:nvPr/>
        </p:nvSpPr>
        <p:spPr>
          <a:xfrm>
            <a:off x="2649022" y="2597055"/>
            <a:ext cx="1438895" cy="6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概率必须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&gt;= 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Google Shape;1028;p58"/>
          <p:cNvSpPr txBox="1"/>
          <p:nvPr/>
        </p:nvSpPr>
        <p:spPr>
          <a:xfrm>
            <a:off x="4303877" y="2597055"/>
            <a:ext cx="1552061" cy="6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概率和为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20428" y="3638714"/>
            <a:ext cx="5732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79971" y="3754130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归一化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8" name="Google Shape;101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081" y="2153607"/>
            <a:ext cx="1784433" cy="355408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9" name="Google Shape;101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317" y="2105811"/>
            <a:ext cx="2885825" cy="492109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" name="TextBox 39"/>
          <p:cNvSpPr txBox="1"/>
          <p:nvPr/>
        </p:nvSpPr>
        <p:spPr>
          <a:xfrm>
            <a:off x="8032831" y="2024061"/>
            <a:ext cx="1145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函数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Google Shape;1105;p60"/>
          <p:cNvPicPr preferRelativeResize="0"/>
          <p:nvPr/>
        </p:nvPicPr>
        <p:blipFill rotWithShape="1">
          <a:blip r:embed="rId5">
            <a:alphaModFix/>
          </a:blip>
          <a:srcRect t="10" b="-10"/>
          <a:stretch/>
        </p:blipFill>
        <p:spPr>
          <a:xfrm>
            <a:off x="5798066" y="2774738"/>
            <a:ext cx="3268888" cy="380262"/>
          </a:xfrm>
          <a:prstGeom prst="rect">
            <a:avLst/>
          </a:prstGeom>
          <a:noFill/>
          <a:ln w="12700">
            <a:solidFill>
              <a:srgbClr val="666666"/>
            </a:solidFill>
          </a:ln>
        </p:spPr>
      </p:pic>
      <p:sp>
        <p:nvSpPr>
          <p:cNvPr id="42" name="Google Shape;1107;p60"/>
          <p:cNvSpPr txBox="1"/>
          <p:nvPr/>
        </p:nvSpPr>
        <p:spPr>
          <a:xfrm>
            <a:off x="5878556" y="3249985"/>
            <a:ext cx="2161537" cy="91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" sz="2400" b="0" i="0" u="none" strike="noStrike" kern="1200" cap="none" spc="0" normalizeH="0" baseline="-25000" noProof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" sz="2400" b="0" i="0" u="none" strike="noStrike" kern="1200" cap="none" spc="0" normalizeH="0" baseline="0" noProof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-log(0.13)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99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= </a:t>
            </a:r>
            <a:r>
              <a:rPr kumimoji="0" lang="en" sz="2400" b="1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99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Google Shape;1108;p60"/>
          <p:cNvSpPr txBox="1"/>
          <p:nvPr/>
        </p:nvSpPr>
        <p:spPr>
          <a:xfrm>
            <a:off x="5798066" y="4178256"/>
            <a:ext cx="3268888" cy="1289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最大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似然估计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选择权重对应</a:t>
            </a:r>
            <a:r>
              <a:rPr kumimoji="0" lang="zh-CN" alt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观察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数据的最大似然函数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Google Shape;1138;p61"/>
          <p:cNvSpPr txBox="1"/>
          <p:nvPr/>
        </p:nvSpPr>
        <p:spPr>
          <a:xfrm>
            <a:off x="2575738" y="4873343"/>
            <a:ext cx="1618979" cy="6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非归一化概率</a:t>
            </a:r>
          </a:p>
        </p:txBody>
      </p:sp>
      <p:sp>
        <p:nvSpPr>
          <p:cNvPr id="45" name="Google Shape;1141;p61"/>
          <p:cNvSpPr txBox="1"/>
          <p:nvPr/>
        </p:nvSpPr>
        <p:spPr>
          <a:xfrm>
            <a:off x="4509596" y="5019200"/>
            <a:ext cx="1340801" cy="43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概率</a:t>
            </a:r>
          </a:p>
        </p:txBody>
      </p:sp>
      <p:sp>
        <p:nvSpPr>
          <p:cNvPr id="46" name="Google Shape;1142;p61"/>
          <p:cNvSpPr txBox="1"/>
          <p:nvPr/>
        </p:nvSpPr>
        <p:spPr>
          <a:xfrm>
            <a:off x="669042" y="4907415"/>
            <a:ext cx="1878048" cy="6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非归一化 </a:t>
            </a:r>
            <a:r>
              <a:rPr kumimoji="0" lang="e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log-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概率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/ </a:t>
            </a:r>
            <a:r>
              <a:rPr kumimoji="0" lang="e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logits</a:t>
            </a:r>
          </a:p>
        </p:txBody>
      </p:sp>
    </p:spTree>
    <p:extLst>
      <p:ext uri="{BB962C8B-B14F-4D97-AF65-F5344CB8AC3E}">
        <p14:creationId xmlns:p14="http://schemas.microsoft.com/office/powerpoint/2010/main" val="23510189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随机梯度速降</a:t>
            </a:r>
            <a:r>
              <a:rPr lang="en-US" dirty="0"/>
              <a:t>(SGD)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4 -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649;p96"/>
          <p:cNvPicPr preferRelativeResize="0"/>
          <p:nvPr/>
        </p:nvPicPr>
        <p:blipFill rotWithShape="1">
          <a:blip r:embed="rId2">
            <a:alphaModFix/>
          </a:blip>
          <a:srcRect l="15421" r="12480" b="54683"/>
          <a:stretch/>
        </p:blipFill>
        <p:spPr>
          <a:xfrm>
            <a:off x="671541" y="1840585"/>
            <a:ext cx="4170567" cy="854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51;p96"/>
          <p:cNvPicPr preferRelativeResize="0"/>
          <p:nvPr/>
        </p:nvPicPr>
        <p:blipFill rotWithShape="1">
          <a:blip r:embed="rId2">
            <a:alphaModFix/>
          </a:blip>
          <a:srcRect l="3394" t="51196" r="1782" b="3484"/>
          <a:stretch/>
        </p:blipFill>
        <p:spPr>
          <a:xfrm>
            <a:off x="187250" y="2694663"/>
            <a:ext cx="5484974" cy="8540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52;p96"/>
          <p:cNvSpPr txBox="1"/>
          <p:nvPr/>
        </p:nvSpPr>
        <p:spPr>
          <a:xfrm>
            <a:off x="6328457" y="1514524"/>
            <a:ext cx="2465135" cy="1817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" sz="1799" dirty="0">
                <a:solidFill>
                  <a:prstClr val="black"/>
                </a:solidFill>
              </a:rPr>
              <a:t>当</a:t>
            </a:r>
            <a:r>
              <a:rPr lang="en" altLang="zh-CN" sz="1799" dirty="0">
                <a:solidFill>
                  <a:prstClr val="black"/>
                </a:solidFill>
              </a:rPr>
              <a:t> N </a:t>
            </a:r>
            <a:r>
              <a:rPr lang="zh-CN" altLang="en" sz="1799" dirty="0">
                <a:solidFill>
                  <a:prstClr val="black"/>
                </a:solidFill>
              </a:rPr>
              <a:t>很大</a:t>
            </a:r>
            <a:r>
              <a:rPr lang="zh-CN" altLang="en-US" sz="1799" dirty="0">
                <a:solidFill>
                  <a:prstClr val="black"/>
                </a:solidFill>
              </a:rPr>
              <a:t>时，</a:t>
            </a:r>
            <a:r>
              <a:rPr lang="zh-CN" altLang="en" sz="1799" dirty="0">
                <a:solidFill>
                  <a:prstClr val="black"/>
                </a:solidFill>
              </a:rPr>
              <a:t>全部</a:t>
            </a:r>
            <a:r>
              <a:rPr lang="zh-CN" altLang="en-US" sz="1799" dirty="0">
                <a:solidFill>
                  <a:prstClr val="black"/>
                </a:solidFill>
              </a:rPr>
              <a:t>求和代价高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使用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一个很小的批进行求和来近似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通常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 / 64 / 128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7746" y="3577245"/>
            <a:ext cx="17479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超参数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权重初始化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步数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学习率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批大小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数据采样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8" y="3577245"/>
            <a:ext cx="6097915" cy="187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940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59DBD8-7E5F-4BCF-B31A-1319E25A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/>
              <a:t>第六章</a:t>
            </a:r>
            <a:r>
              <a:rPr kumimoji="1" lang="en-US" altLang="zh-CN" dirty="0"/>
              <a:t>-</a:t>
            </a:r>
            <a:r>
              <a:rPr kumimoji="1" lang="zh-CN" altLang="en-US" dirty="0"/>
              <a:t>神经网络</a:t>
            </a:r>
            <a:endParaRPr lang="zh-CN" altLang="en-US" dirty="0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FB9E47A-35B0-416F-B133-81C1ABF6C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多层神经网络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线性分类器级联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神经网络的组成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激活函数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神经元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Sigmoid</a:t>
            </a:r>
            <a:r>
              <a:rPr lang="zh-CN" altLang="en-US" sz="2000" dirty="0"/>
              <a:t>激活函数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线性修正单元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en-US" altLang="zh-CN" sz="2000" dirty="0" err="1"/>
              <a:t>Softmax</a:t>
            </a:r>
            <a:r>
              <a:rPr lang="zh-CN" altLang="en-US" sz="2000" dirty="0"/>
              <a:t>函数</a:t>
            </a: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神经网络的训练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      后向传播算法</a:t>
            </a:r>
            <a:endParaRPr lang="zh-CN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181355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EECS 498-007 Lecture 2 - </a:t>
            </a:r>
            <a:fld id="{AC1089D3-84F4-7045-A571-C61BEF9B13BC}" type="slidenum">
              <a:rPr lang="en-US" smtClean="0"/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0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26699" y="1704374"/>
            <a:ext cx="1648738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0;p60"/>
          <p:cNvSpPr txBox="1"/>
          <p:nvPr/>
        </p:nvSpPr>
        <p:spPr>
          <a:xfrm>
            <a:off x="499620" y="166573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2399" dirty="0">
                <a:solidFill>
                  <a:prstClr val="black"/>
                </a:solidFill>
              </a:rPr>
              <a:t>(</a:t>
            </a:r>
            <a:r>
              <a:rPr lang="zh-CN" altLang="en" sz="2399" dirty="0">
                <a:solidFill>
                  <a:prstClr val="black"/>
                </a:solidFill>
              </a:rPr>
              <a:t>前面</a:t>
            </a:r>
            <a:r>
              <a:rPr lang="en" altLang="zh-CN" sz="2399" dirty="0">
                <a:solidFill>
                  <a:prstClr val="black"/>
                </a:solidFill>
              </a:rPr>
              <a:t>) </a:t>
            </a:r>
            <a:r>
              <a:rPr lang="zh-CN" altLang="en" sz="2399" dirty="0">
                <a:solidFill>
                  <a:prstClr val="black"/>
                </a:solidFill>
              </a:rPr>
              <a:t>线性</a:t>
            </a:r>
            <a:r>
              <a:rPr lang="zh-CN" altLang="en-US" sz="2399" dirty="0">
                <a:solidFill>
                  <a:prstClr val="black"/>
                </a:solidFill>
              </a:rPr>
              <a:t>响应函数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411;p60"/>
          <p:cNvSpPr txBox="1"/>
          <p:nvPr/>
        </p:nvSpPr>
        <p:spPr>
          <a:xfrm>
            <a:off x="497621" y="2242484"/>
            <a:ext cx="476995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-US" altLang="zh-CN" sz="2399" dirty="0">
                <a:solidFill>
                  <a:prstClr val="black"/>
                </a:solidFill>
              </a:rPr>
              <a:t>(</a:t>
            </a:r>
            <a:r>
              <a:rPr lang="zh-CN" altLang="en-US" sz="2399" b="1" dirty="0">
                <a:solidFill>
                  <a:prstClr val="black"/>
                </a:solidFill>
              </a:rPr>
              <a:t>现在</a:t>
            </a:r>
            <a:r>
              <a:rPr lang="en-US" altLang="zh-CN" sz="2399" dirty="0">
                <a:solidFill>
                  <a:prstClr val="black"/>
                </a:solidFill>
              </a:rPr>
              <a:t>) 2-</a:t>
            </a:r>
            <a:r>
              <a:rPr lang="zh-CN" altLang="en-US" sz="2399" dirty="0">
                <a:solidFill>
                  <a:prstClr val="black"/>
                </a:solidFill>
              </a:rPr>
              <a:t>层神经网络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4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09" y="2299894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414;p60"/>
          <p:cNvSpPr/>
          <p:nvPr/>
        </p:nvSpPr>
        <p:spPr>
          <a:xfrm>
            <a:off x="2787524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4135376" y="3314594"/>
            <a:ext cx="448083" cy="8562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 rot="10800000" flipH="1">
            <a:off x="3235636" y="4170880"/>
            <a:ext cx="904265" cy="272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>
            <a:off x="3235636" y="2986507"/>
            <a:ext cx="912362" cy="3281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418;p60"/>
          <p:cNvSpPr txBox="1"/>
          <p:nvPr/>
        </p:nvSpPr>
        <p:spPr>
          <a:xfrm>
            <a:off x="3363707" y="3485291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419;p60"/>
          <p:cNvSpPr/>
          <p:nvPr/>
        </p:nvSpPr>
        <p:spPr>
          <a:xfrm>
            <a:off x="5547236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4563990" y="3314593"/>
            <a:ext cx="1000240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rot="10800000" flipH="1">
            <a:off x="4579999" y="3970492"/>
            <a:ext cx="968448" cy="2003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22;p60"/>
          <p:cNvSpPr txBox="1"/>
          <p:nvPr/>
        </p:nvSpPr>
        <p:spPr>
          <a:xfrm>
            <a:off x="4737800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011604" y="3447418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67188" y="4249555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隐藏层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94081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45" y="2959108"/>
            <a:ext cx="189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W</a:t>
            </a:r>
            <a:r>
              <a:rPr lang="en-US" altLang="zh-CN" baseline="-25000" dirty="0">
                <a:solidFill>
                  <a:prstClr val="black"/>
                </a:solidFill>
              </a:rPr>
              <a:t>1</a:t>
            </a:r>
            <a:r>
              <a:rPr lang="zh-CN" altLang="en-US" dirty="0">
                <a:solidFill>
                  <a:prstClr val="black"/>
                </a:solidFill>
              </a:rPr>
              <a:t>元素</a:t>
            </a:r>
            <a:r>
              <a:rPr lang="en-US" altLang="zh-CN" dirty="0">
                <a:solidFill>
                  <a:prstClr val="black"/>
                </a:solidFill>
              </a:rPr>
              <a:t> (</a:t>
            </a:r>
            <a:r>
              <a:rPr lang="en-US" altLang="zh-CN" dirty="0" err="1">
                <a:solidFill>
                  <a:prstClr val="black"/>
                </a:solidFill>
              </a:rPr>
              <a:t>i</a:t>
            </a:r>
            <a:r>
              <a:rPr lang="en-US" altLang="zh-CN" dirty="0">
                <a:solidFill>
                  <a:prstClr val="black"/>
                </a:solidFill>
              </a:rPr>
              <a:t>, j) </a:t>
            </a:r>
            <a:r>
              <a:rPr lang="zh-CN" altLang="en-US" dirty="0">
                <a:solidFill>
                  <a:prstClr val="black"/>
                </a:solidFill>
              </a:rPr>
              <a:t>给出了</a:t>
            </a:r>
            <a:r>
              <a:rPr lang="en-US" altLang="zh-CN" dirty="0" err="1">
                <a:solidFill>
                  <a:prstClr val="black"/>
                </a:solidFill>
              </a:rPr>
              <a:t>x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lang="zh-CN" altLang="en-US" dirty="0">
                <a:solidFill>
                  <a:prstClr val="black"/>
                </a:solidFill>
              </a:rPr>
              <a:t>对</a:t>
            </a:r>
            <a:r>
              <a:rPr lang="en-US" altLang="zh-CN" dirty="0">
                <a:solidFill>
                  <a:prstClr val="black"/>
                </a:solidFill>
              </a:rPr>
              <a:t>h</a:t>
            </a:r>
            <a:r>
              <a:rPr lang="en-US" altLang="zh-CN" baseline="-25000" dirty="0">
                <a:solidFill>
                  <a:prstClr val="black"/>
                </a:solidFill>
              </a:rPr>
              <a:t>i</a:t>
            </a:r>
            <a:r>
              <a:rPr lang="zh-CN" altLang="en-US" dirty="0">
                <a:solidFill>
                  <a:prstClr val="black"/>
                </a:solidFill>
              </a:rPr>
              <a:t>的影响</a:t>
            </a:r>
            <a:endParaRPr lang="en-US" altLang="zh-CN" dirty="0">
              <a:solidFill>
                <a:prstClr val="black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003806" y="3150565"/>
            <a:ext cx="1348130" cy="8150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75437" y="2955318"/>
            <a:ext cx="189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W</a:t>
            </a:r>
            <a:r>
              <a:rPr lang="en-US" altLang="zh-CN" baseline="-25000" dirty="0">
                <a:solidFill>
                  <a:prstClr val="black"/>
                </a:solidFill>
              </a:rPr>
              <a:t>2</a:t>
            </a:r>
            <a:r>
              <a:rPr lang="zh-CN" altLang="en-US" dirty="0">
                <a:solidFill>
                  <a:prstClr val="black"/>
                </a:solidFill>
              </a:rPr>
              <a:t>元素</a:t>
            </a:r>
            <a:r>
              <a:rPr lang="en-US" altLang="zh-CN" dirty="0">
                <a:solidFill>
                  <a:prstClr val="black"/>
                </a:solidFill>
              </a:rPr>
              <a:t> (</a:t>
            </a:r>
            <a:r>
              <a:rPr lang="en-US" altLang="zh-CN" dirty="0" err="1">
                <a:solidFill>
                  <a:prstClr val="black"/>
                </a:solidFill>
              </a:rPr>
              <a:t>i</a:t>
            </a:r>
            <a:r>
              <a:rPr lang="en-US" altLang="zh-CN" dirty="0">
                <a:solidFill>
                  <a:prstClr val="black"/>
                </a:solidFill>
              </a:rPr>
              <a:t>, j)</a:t>
            </a:r>
            <a:r>
              <a:rPr lang="zh-CN" altLang="en-US" dirty="0">
                <a:solidFill>
                  <a:prstClr val="black"/>
                </a:solidFill>
              </a:rPr>
              <a:t>给出了</a:t>
            </a:r>
            <a:r>
              <a:rPr lang="en-US" altLang="zh-CN" dirty="0" err="1">
                <a:solidFill>
                  <a:prstClr val="black"/>
                </a:solidFill>
              </a:rPr>
              <a:t>h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lang="en-US" altLang="zh-CN" baseline="-25000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对</a:t>
            </a:r>
            <a:r>
              <a:rPr lang="en-US" altLang="zh-CN" dirty="0" err="1">
                <a:solidFill>
                  <a:prstClr val="black"/>
                </a:solidFill>
              </a:rPr>
              <a:t>s</a:t>
            </a:r>
            <a:r>
              <a:rPr lang="en-US" altLang="zh-CN" baseline="-25000" dirty="0" err="1">
                <a:solidFill>
                  <a:prstClr val="black"/>
                </a:solidFill>
              </a:rPr>
              <a:t>i</a:t>
            </a:r>
            <a:r>
              <a:rPr lang="zh-CN" altLang="en-US" dirty="0">
                <a:solidFill>
                  <a:prstClr val="black"/>
                </a:solidFill>
              </a:rPr>
              <a:t>影响</a:t>
            </a:r>
            <a:endParaRPr lang="en-US" altLang="zh-CN" dirty="0">
              <a:solidFill>
                <a:prstClr val="black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4341971" y="3598153"/>
            <a:ext cx="1467057" cy="36728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003806" y="3645863"/>
            <a:ext cx="1338166" cy="3246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981826" y="3970492"/>
            <a:ext cx="1377591" cy="1924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003805" y="3162040"/>
            <a:ext cx="1355612" cy="382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036514" y="3548432"/>
            <a:ext cx="1310232" cy="1054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993841" y="3548222"/>
            <a:ext cx="1352905" cy="6146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346746" y="3537425"/>
            <a:ext cx="1441682" cy="34851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374680" y="3558103"/>
            <a:ext cx="1413748" cy="5423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366970" y="3898465"/>
            <a:ext cx="1421457" cy="6392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9078" y="4066699"/>
            <a:ext cx="141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的所有元素影响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的所有元素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14213" y="4028193"/>
            <a:ext cx="141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h</a:t>
            </a:r>
            <a:r>
              <a:rPr lang="zh-CN" altLang="en-US" dirty="0">
                <a:solidFill>
                  <a:prstClr val="black"/>
                </a:solidFill>
              </a:rPr>
              <a:t>的所有元素影响</a:t>
            </a:r>
            <a:r>
              <a:rPr lang="en-US" altLang="zh-CN" dirty="0">
                <a:solidFill>
                  <a:prstClr val="black"/>
                </a:solidFill>
              </a:rPr>
              <a:t>s</a:t>
            </a:r>
            <a:r>
              <a:rPr lang="zh-CN" altLang="en-US" dirty="0">
                <a:solidFill>
                  <a:prstClr val="black"/>
                </a:solidFill>
              </a:rPr>
              <a:t>的所有元素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47181" y="4802630"/>
            <a:ext cx="3778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全连接神经网络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也称为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多层感知器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(MLP)</a:t>
            </a:r>
          </a:p>
        </p:txBody>
      </p:sp>
    </p:spTree>
    <p:extLst>
      <p:ext uri="{BB962C8B-B14F-4D97-AF65-F5344CB8AC3E}">
        <p14:creationId xmlns:p14="http://schemas.microsoft.com/office/powerpoint/2010/main" val="38811792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412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01013" y="1773709"/>
            <a:ext cx="3553949" cy="4946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58;p62"/>
          <p:cNvSpPr txBox="1"/>
          <p:nvPr/>
        </p:nvSpPr>
        <p:spPr>
          <a:xfrm>
            <a:off x="894145" y="1686899"/>
            <a:ext cx="3064397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</a:t>
            </a: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层神经网络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461;p62"/>
          <p:cNvSpPr/>
          <p:nvPr/>
        </p:nvSpPr>
        <p:spPr>
          <a:xfrm>
            <a:off x="5750923" y="1765076"/>
            <a:ext cx="1233279" cy="49457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8980" y="2296880"/>
            <a:ext cx="3847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函数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被称为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修正线性单元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(Rectified Linear Unit)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33" y="2349176"/>
            <a:ext cx="2437826" cy="270869"/>
          </a:xfrm>
          <a:prstGeom prst="rect">
            <a:avLst/>
          </a:prstGeom>
        </p:spPr>
      </p:pic>
      <p:pic>
        <p:nvPicPr>
          <p:cNvPr id="14" name="Google Shape;50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73" y="3040483"/>
            <a:ext cx="2734427" cy="2256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4457767" y="2343250"/>
            <a:ext cx="394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被称为神经网络的激活函数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35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深度神经网络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685800" rtl="0" eaLnBrk="1" latinLnBrk="0" hangingPunct="1">
              <a:defRPr sz="1500" kern="1200">
                <a:solidFill>
                  <a:srgbClr val="FFCB05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oogle Shape;414;p60"/>
          <p:cNvSpPr/>
          <p:nvPr/>
        </p:nvSpPr>
        <p:spPr>
          <a:xfrm>
            <a:off x="1337790" y="2978516"/>
            <a:ext cx="448083" cy="145642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Google Shape;415;p60"/>
          <p:cNvSpPr/>
          <p:nvPr/>
        </p:nvSpPr>
        <p:spPr>
          <a:xfrm>
            <a:off x="2249631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oogle Shape;416;p60"/>
          <p:cNvCxnSpPr/>
          <p:nvPr/>
        </p:nvCxnSpPr>
        <p:spPr>
          <a:xfrm>
            <a:off x="1798355" y="4455400"/>
            <a:ext cx="449079" cy="926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17;p60"/>
          <p:cNvCxnSpPr/>
          <p:nvPr/>
        </p:nvCxnSpPr>
        <p:spPr>
          <a:xfrm flipV="1">
            <a:off x="1834547" y="2877845"/>
            <a:ext cx="412887" cy="926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418;p60"/>
          <p:cNvSpPr txBox="1"/>
          <p:nvPr/>
        </p:nvSpPr>
        <p:spPr>
          <a:xfrm>
            <a:off x="1791460" y="3491479"/>
            <a:ext cx="559702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oogle Shape;419;p60"/>
          <p:cNvSpPr/>
          <p:nvPr/>
        </p:nvSpPr>
        <p:spPr>
          <a:xfrm>
            <a:off x="7786937" y="3504002"/>
            <a:ext cx="448083" cy="47747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9" name="Google Shape;420;p60"/>
          <p:cNvCxnSpPr/>
          <p:nvPr/>
        </p:nvCxnSpPr>
        <p:spPr>
          <a:xfrm>
            <a:off x="6819700" y="2898310"/>
            <a:ext cx="984231" cy="61663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21;p60"/>
          <p:cNvCxnSpPr/>
          <p:nvPr/>
        </p:nvCxnSpPr>
        <p:spPr>
          <a:xfrm flipV="1">
            <a:off x="6786585" y="3970492"/>
            <a:ext cx="1001563" cy="5571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22;p60"/>
          <p:cNvSpPr txBox="1"/>
          <p:nvPr/>
        </p:nvSpPr>
        <p:spPr>
          <a:xfrm>
            <a:off x="6977501" y="3491479"/>
            <a:ext cx="840381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1944" y="4468573"/>
            <a:ext cx="718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3072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782" y="4096662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10</a:t>
            </a:r>
          </a:p>
        </p:txBody>
      </p:sp>
      <p:sp>
        <p:nvSpPr>
          <p:cNvPr id="24" name="Google Shape;415;p60"/>
          <p:cNvSpPr/>
          <p:nvPr/>
        </p:nvSpPr>
        <p:spPr>
          <a:xfrm>
            <a:off x="3238619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415;p60"/>
          <p:cNvSpPr/>
          <p:nvPr/>
        </p:nvSpPr>
        <p:spPr>
          <a:xfrm>
            <a:off x="4352262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oogle Shape;415;p60"/>
          <p:cNvSpPr/>
          <p:nvPr/>
        </p:nvSpPr>
        <p:spPr>
          <a:xfrm>
            <a:off x="5385739" y="2877846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415;p60"/>
          <p:cNvSpPr/>
          <p:nvPr/>
        </p:nvSpPr>
        <p:spPr>
          <a:xfrm>
            <a:off x="6360507" y="2877845"/>
            <a:ext cx="448083" cy="16702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23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Google Shape;417;p60"/>
          <p:cNvCxnSpPr/>
          <p:nvPr/>
        </p:nvCxnSpPr>
        <p:spPr>
          <a:xfrm>
            <a:off x="2696503" y="2877845"/>
            <a:ext cx="54966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Google Shape;418;p60"/>
          <p:cNvSpPr txBox="1"/>
          <p:nvPr/>
        </p:nvSpPr>
        <p:spPr>
          <a:xfrm>
            <a:off x="2696503" y="3538493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Google Shape;418;p60"/>
          <p:cNvSpPr txBox="1"/>
          <p:nvPr/>
        </p:nvSpPr>
        <p:spPr>
          <a:xfrm>
            <a:off x="3790396" y="3538493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Google Shape;418;p60"/>
          <p:cNvSpPr txBox="1"/>
          <p:nvPr/>
        </p:nvSpPr>
        <p:spPr>
          <a:xfrm>
            <a:off x="4858079" y="3534166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Google Shape;418;p60"/>
          <p:cNvSpPr txBox="1"/>
          <p:nvPr/>
        </p:nvSpPr>
        <p:spPr>
          <a:xfrm>
            <a:off x="5875609" y="3534166"/>
            <a:ext cx="549665" cy="44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1799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sz="1799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5" name="Google Shape;417;p60"/>
          <p:cNvCxnSpPr/>
          <p:nvPr/>
        </p:nvCxnSpPr>
        <p:spPr>
          <a:xfrm>
            <a:off x="2696503" y="4548097"/>
            <a:ext cx="54966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417;p60"/>
          <p:cNvCxnSpPr/>
          <p:nvPr/>
        </p:nvCxnSpPr>
        <p:spPr>
          <a:xfrm>
            <a:off x="3699129" y="2877845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417;p60"/>
          <p:cNvCxnSpPr/>
          <p:nvPr/>
        </p:nvCxnSpPr>
        <p:spPr>
          <a:xfrm>
            <a:off x="3686702" y="4548097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417;p60"/>
          <p:cNvCxnSpPr/>
          <p:nvPr/>
        </p:nvCxnSpPr>
        <p:spPr>
          <a:xfrm>
            <a:off x="4766811" y="2877845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417;p60"/>
          <p:cNvCxnSpPr/>
          <p:nvPr/>
        </p:nvCxnSpPr>
        <p:spPr>
          <a:xfrm>
            <a:off x="4766811" y="4548097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417;p60"/>
          <p:cNvCxnSpPr/>
          <p:nvPr/>
        </p:nvCxnSpPr>
        <p:spPr>
          <a:xfrm>
            <a:off x="5784342" y="2877845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417;p60"/>
          <p:cNvCxnSpPr/>
          <p:nvPr/>
        </p:nvCxnSpPr>
        <p:spPr>
          <a:xfrm>
            <a:off x="5719575" y="4548097"/>
            <a:ext cx="6409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3" name="Picture 6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5" y="5425061"/>
            <a:ext cx="8673629" cy="264488"/>
          </a:xfrm>
          <a:prstGeom prst="rect">
            <a:avLst/>
          </a:prstGeom>
        </p:spPr>
      </p:pic>
      <p:sp>
        <p:nvSpPr>
          <p:cNvPr id="64" name="Right Brace 63"/>
          <p:cNvSpPr/>
          <p:nvPr/>
        </p:nvSpPr>
        <p:spPr>
          <a:xfrm rot="16200000">
            <a:off x="4238212" y="-898572"/>
            <a:ext cx="594481" cy="6867434"/>
          </a:xfrm>
          <a:prstGeom prst="rightBrace">
            <a:avLst>
              <a:gd name="adj1" fmla="val 33158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277054" y="186473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深度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层数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ight Brace 65"/>
          <p:cNvSpPr/>
          <p:nvPr/>
        </p:nvSpPr>
        <p:spPr>
          <a:xfrm rot="10800000">
            <a:off x="545745" y="2877844"/>
            <a:ext cx="594481" cy="1670252"/>
          </a:xfrm>
          <a:prstGeom prst="rightBrace">
            <a:avLst>
              <a:gd name="adj1" fmla="val 33158"/>
              <a:gd name="adj2" fmla="val 4464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9231" y="3145230"/>
            <a:ext cx="881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宽度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大小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1671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2840691" cy="69145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后向传播算法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en-US" dirty="0"/>
              <a:t>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809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8429" y="1309108"/>
            <a:ext cx="4509525" cy="20561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835;p87"/>
          <p:cNvSpPr txBox="1"/>
          <p:nvPr/>
        </p:nvSpPr>
        <p:spPr>
          <a:xfrm>
            <a:off x="330014" y="2558523"/>
            <a:ext cx="3621557" cy="59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3876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x = -2, y = 5, z = -4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3876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202522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1. </a:t>
            </a:r>
            <a:r>
              <a:rPr lang="zh-CN" altLang="en-US" sz="2100" b="1" dirty="0">
                <a:solidFill>
                  <a:prstClr val="black"/>
                </a:solidFill>
              </a:rPr>
              <a:t>前向传递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计算输出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4211844"/>
            <a:ext cx="27414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en-US" altLang="zh-CN" sz="2100" b="1" dirty="0">
                <a:solidFill>
                  <a:prstClr val="black"/>
                </a:solidFill>
              </a:rPr>
              <a:t>2. </a:t>
            </a: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计算导数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23" name="Google Shape;768;p83"/>
          <p:cNvCxnSpPr/>
          <p:nvPr/>
        </p:nvCxnSpPr>
        <p:spPr>
          <a:xfrm flipH="1" flipV="1">
            <a:off x="4642339" y="1859574"/>
            <a:ext cx="620026" cy="187029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5742886" y="34064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链式法则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0956" y="4941640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局部梯度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90122" y="49416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上游梯度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70576" y="49436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85800"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下游梯度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cxnSp>
        <p:nvCxnSpPr>
          <p:cNvPr id="29" name="Google Shape;768;p83"/>
          <p:cNvCxnSpPr/>
          <p:nvPr/>
        </p:nvCxnSpPr>
        <p:spPr>
          <a:xfrm flipV="1">
            <a:off x="5372159" y="4697730"/>
            <a:ext cx="17359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768;p83"/>
          <p:cNvCxnSpPr/>
          <p:nvPr/>
        </p:nvCxnSpPr>
        <p:spPr>
          <a:xfrm flipV="1">
            <a:off x="6377138" y="4697730"/>
            <a:ext cx="0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768;p83"/>
          <p:cNvCxnSpPr/>
          <p:nvPr/>
        </p:nvCxnSpPr>
        <p:spPr>
          <a:xfrm flipH="1" flipV="1">
            <a:off x="7030387" y="4697730"/>
            <a:ext cx="157325" cy="27432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262196" y="3725740"/>
            <a:ext cx="1925516" cy="89681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8" y="2118488"/>
            <a:ext cx="3421892" cy="410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83" y="3714796"/>
            <a:ext cx="1881293" cy="37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82" y="3713544"/>
            <a:ext cx="1127600" cy="3771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25" y="4724117"/>
            <a:ext cx="1680644" cy="7543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644546" y="3725740"/>
            <a:ext cx="1181864" cy="896816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379" y="3567479"/>
            <a:ext cx="2077769" cy="654703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15" y="3819734"/>
            <a:ext cx="1716535" cy="7543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520" y="3796958"/>
            <a:ext cx="1013915" cy="754380"/>
          </a:xfrm>
          <a:prstGeom prst="rect">
            <a:avLst/>
          </a:prstGeom>
        </p:spPr>
      </p:pic>
      <p:sp>
        <p:nvSpPr>
          <p:cNvPr id="33" name="Google Shape;1017;p95">
            <a:extLst>
              <a:ext uri="{FF2B5EF4-FFF2-40B4-BE49-F238E27FC236}">
                <a16:creationId xmlns:a16="http://schemas.microsoft.com/office/drawing/2014/main" id="{D7839488-B463-4A4D-B22C-BAB963A8770D}"/>
              </a:ext>
            </a:extLst>
          </p:cNvPr>
          <p:cNvSpPr txBox="1"/>
          <p:nvPr/>
        </p:nvSpPr>
        <p:spPr>
          <a:xfrm>
            <a:off x="533400" y="4816160"/>
            <a:ext cx="1264139" cy="5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399" dirty="0">
                <a:solidFill>
                  <a:prstClr val="black"/>
                </a:solidFill>
              </a:rPr>
              <a:t>想计算</a:t>
            </a:r>
            <a:r>
              <a:rPr lang="en-US" altLang="zh-CN" sz="2399" dirty="0">
                <a:solidFill>
                  <a:prstClr val="black"/>
                </a:solidFill>
              </a:rPr>
              <a:t>: </a:t>
            </a:r>
            <a:endParaRPr lang="zh-CN" altLang="en-US" sz="2399" dirty="0">
              <a:solidFill>
                <a:prstClr val="black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7726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另一个示例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Google Shape;123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499" y="1871752"/>
            <a:ext cx="8199002" cy="29491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/>
          <p:cNvSpPr txBox="1"/>
          <p:nvPr/>
        </p:nvSpPr>
        <p:spPr>
          <a:xfrm>
            <a:off x="4172118" y="1636558"/>
            <a:ext cx="24721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sz="2100" b="1" dirty="0">
                <a:solidFill>
                  <a:prstClr val="black"/>
                </a:solidFill>
              </a:rPr>
              <a:t>后向传递</a:t>
            </a:r>
            <a:r>
              <a:rPr lang="en-US" altLang="zh-CN" sz="2100" dirty="0">
                <a:solidFill>
                  <a:prstClr val="black"/>
                </a:solidFill>
              </a:rPr>
              <a:t>: </a:t>
            </a:r>
            <a:r>
              <a:rPr lang="zh-CN" altLang="en-US" sz="2100" dirty="0">
                <a:solidFill>
                  <a:prstClr val="black"/>
                </a:solidFill>
              </a:rPr>
              <a:t>计算梯度</a:t>
            </a:r>
            <a:endParaRPr lang="en-US" altLang="zh-CN" sz="2100" b="1" dirty="0">
              <a:solidFill>
                <a:prstClr val="black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55476" y="2038502"/>
            <a:ext cx="383625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31324" y="3285063"/>
            <a:ext cx="3743766" cy="10940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3269160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39" y="2294880"/>
            <a:ext cx="2169863" cy="713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91540" y="2305311"/>
            <a:ext cx="2740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sz="1500" dirty="0">
                <a:solidFill>
                  <a:prstClr val="black"/>
                </a:solidFill>
              </a:rPr>
              <a:t>计算图不唯一</a:t>
            </a:r>
            <a:r>
              <a:rPr lang="en-US" altLang="zh-CN" sz="1500" dirty="0">
                <a:solidFill>
                  <a:prstClr val="black"/>
                </a:solidFill>
              </a:rPr>
              <a:t>: </a:t>
            </a:r>
            <a:r>
              <a:rPr lang="zh-CN" altLang="en-US" sz="1500" dirty="0">
                <a:solidFill>
                  <a:prstClr val="black"/>
                </a:solidFill>
              </a:rPr>
              <a:t>可以使用简单梯度的基本单元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32" y="5035340"/>
            <a:ext cx="6330535" cy="5040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8722" y="4343817"/>
            <a:ext cx="4325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</a:rPr>
              <a:t>下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[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当前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*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上游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= (1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0.73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*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0.73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0301" y="3819623"/>
            <a:ext cx="391521" cy="24899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08133" y="3559297"/>
            <a:ext cx="391521" cy="24899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996549" y="3829139"/>
            <a:ext cx="391521" cy="2489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701" y="5021928"/>
            <a:ext cx="12229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Sigmoid local gradient: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396" y="1077125"/>
            <a:ext cx="1750290" cy="3769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99" y="972615"/>
            <a:ext cx="3630336" cy="61481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78" y="1168963"/>
            <a:ext cx="1842108" cy="19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35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59DBD8-7E5F-4BCF-B31A-1319E25A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kumimoji="1" lang="zh-CN" altLang="en-US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第六章</a:t>
            </a:r>
            <a:r>
              <a:rPr kumimoji="1" lang="en-US" altLang="zh-CN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-</a:t>
            </a:r>
            <a:r>
              <a:rPr kumimoji="1" lang="zh-CN" altLang="en-US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卷积神经网络</a:t>
            </a:r>
            <a:endParaRPr lang="zh-CN" altLang="en-US" dirty="0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FB9E47A-35B0-416F-B133-81C1ABF6C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卷积神经网络的成分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卷积网络目的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卷积网络组成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卷积层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卷积参数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感受野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池化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池化参数</a:t>
            </a:r>
          </a:p>
          <a:p>
            <a:pPr marL="0" indent="0">
              <a:buNone/>
            </a:pPr>
            <a:endParaRPr lang="zh-CN" altLang="zh-CN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</p:txBody>
      </p:sp>
      <p:sp>
        <p:nvSpPr>
          <p:cNvPr id="158724" name="内容占位符 1">
            <a:extLst>
              <a:ext uri="{FF2B5EF4-FFF2-40B4-BE49-F238E27FC236}">
                <a16:creationId xmlns:a16="http://schemas.microsoft.com/office/drawing/2014/main" id="{F90EF2CC-4D83-4B45-999A-A2F7496B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9952" y="1600200"/>
            <a:ext cx="4038600" cy="4997152"/>
          </a:xfrm>
        </p:spPr>
        <p:txBody>
          <a:bodyPr>
            <a:normAutofit/>
          </a:bodyPr>
          <a:lstStyle/>
          <a:p>
            <a:endParaRPr lang="en-US" altLang="zh-CN" sz="2400" dirty="0"/>
          </a:p>
          <a:p>
            <a:r>
              <a:rPr lang="zh-CN" altLang="en-US" sz="2400" dirty="0"/>
              <a:t>卷积神经网络的训练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数据增强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正则化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 err="1"/>
              <a:t>Droppout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学习速率</a:t>
            </a:r>
            <a:endParaRPr lang="en-US" altLang="zh-CN" sz="2000" dirty="0"/>
          </a:p>
          <a:p>
            <a:pPr marL="342900" lvl="1" indent="0" eaLnBrk="1" hangingPunct="1">
              <a:lnSpc>
                <a:spcPct val="90000"/>
              </a:lnSpc>
              <a:buNone/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8717175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卷积网络</a:t>
            </a:r>
            <a:r>
              <a:rPr lang="en-US" altLang="zh-CN" dirty="0"/>
              <a:t>LeNet-5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650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58" y="2665457"/>
            <a:ext cx="8217284" cy="249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1482347"/>
            <a:ext cx="687694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经典结构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[Conv,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Pool] x N, flatten, [FC,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x N, FC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举例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LeNet-5</a:t>
            </a:r>
          </a:p>
        </p:txBody>
      </p:sp>
    </p:spTree>
    <p:extLst>
      <p:ext uri="{BB962C8B-B14F-4D97-AF65-F5344CB8AC3E}">
        <p14:creationId xmlns:p14="http://schemas.microsoft.com/office/powerpoint/2010/main" val="6800170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536" y="640715"/>
            <a:ext cx="4165826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卷积层</a:t>
            </a:r>
            <a:r>
              <a:rPr lang="en-US" dirty="0"/>
              <a:t>Convolution Layer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483;p40"/>
          <p:cNvSpPr txBox="1"/>
          <p:nvPr/>
        </p:nvSpPr>
        <p:spPr>
          <a:xfrm>
            <a:off x="1602458" y="4582712"/>
            <a:ext cx="491572" cy="39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Google Shape;485;p40"/>
          <p:cNvSpPr txBox="1"/>
          <p:nvPr/>
        </p:nvSpPr>
        <p:spPr>
          <a:xfrm>
            <a:off x="1008201" y="4974243"/>
            <a:ext cx="460829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799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Google Shape;487;p40"/>
          <p:cNvSpPr txBox="1"/>
          <p:nvPr/>
        </p:nvSpPr>
        <p:spPr>
          <a:xfrm>
            <a:off x="219934" y="1464922"/>
            <a:ext cx="2157702" cy="9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399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批量图像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481;p40"/>
          <p:cNvSpPr/>
          <p:nvPr/>
        </p:nvSpPr>
        <p:spPr>
          <a:xfrm>
            <a:off x="1066172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Google Shape;484;p40"/>
          <p:cNvSpPr txBox="1"/>
          <p:nvPr/>
        </p:nvSpPr>
        <p:spPr>
          <a:xfrm>
            <a:off x="2022322" y="3850237"/>
            <a:ext cx="445619" cy="39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" name="Google Shape;564;p44"/>
          <p:cNvCxnSpPr/>
          <p:nvPr/>
        </p:nvCxnSpPr>
        <p:spPr>
          <a:xfrm>
            <a:off x="2467942" y="3427051"/>
            <a:ext cx="124227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566;p44"/>
          <p:cNvSpPr/>
          <p:nvPr/>
        </p:nvSpPr>
        <p:spPr>
          <a:xfrm>
            <a:off x="6300495" y="2048460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Google Shape;567;p44"/>
          <p:cNvSpPr txBox="1"/>
          <p:nvPr/>
        </p:nvSpPr>
        <p:spPr>
          <a:xfrm>
            <a:off x="6667906" y="1067700"/>
            <a:ext cx="2476094" cy="79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 x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H’ x W’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批量输出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645" y="1753365"/>
            <a:ext cx="333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-dim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偏置向量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33" name="Google Shape;550;p44"/>
          <p:cNvSpPr/>
          <p:nvPr/>
        </p:nvSpPr>
        <p:spPr>
          <a:xfrm>
            <a:off x="40382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Google Shape;550;p44"/>
          <p:cNvSpPr/>
          <p:nvPr/>
        </p:nvSpPr>
        <p:spPr>
          <a:xfrm>
            <a:off x="427332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Google Shape;611;p46"/>
          <p:cNvSpPr/>
          <p:nvPr/>
        </p:nvSpPr>
        <p:spPr>
          <a:xfrm>
            <a:off x="645112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Google Shape;617;p46"/>
          <p:cNvSpPr/>
          <p:nvPr/>
        </p:nvSpPr>
        <p:spPr>
          <a:xfrm>
            <a:off x="660348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Google Shape;618;p46"/>
          <p:cNvSpPr/>
          <p:nvPr/>
        </p:nvSpPr>
        <p:spPr>
          <a:xfrm>
            <a:off x="675584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Google Shape;619;p46"/>
          <p:cNvSpPr/>
          <p:nvPr/>
        </p:nvSpPr>
        <p:spPr>
          <a:xfrm>
            <a:off x="6908201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Google Shape;620;p46"/>
          <p:cNvSpPr/>
          <p:nvPr/>
        </p:nvSpPr>
        <p:spPr>
          <a:xfrm>
            <a:off x="7060562" y="2048728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Google Shape;550;p44"/>
          <p:cNvSpPr/>
          <p:nvPr/>
        </p:nvSpPr>
        <p:spPr>
          <a:xfrm>
            <a:off x="4512249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Google Shape;550;p44"/>
          <p:cNvSpPr/>
          <p:nvPr/>
        </p:nvSpPr>
        <p:spPr>
          <a:xfrm>
            <a:off x="47465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Google Shape;550;p44"/>
          <p:cNvSpPr/>
          <p:nvPr/>
        </p:nvSpPr>
        <p:spPr>
          <a:xfrm>
            <a:off x="498167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Google Shape;550;p44"/>
          <p:cNvSpPr/>
          <p:nvPr/>
        </p:nvSpPr>
        <p:spPr>
          <a:xfrm>
            <a:off x="5220593" y="4582713"/>
            <a:ext cx="282227" cy="813688"/>
          </a:xfrm>
          <a:prstGeom prst="cube">
            <a:avLst>
              <a:gd name="adj" fmla="val 53382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2990" y="3048670"/>
            <a:ext cx="1881234" cy="50783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卷积层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2" name="Google Shape;564;p44"/>
          <p:cNvCxnSpPr/>
          <p:nvPr/>
        </p:nvCxnSpPr>
        <p:spPr>
          <a:xfrm>
            <a:off x="5740125" y="3498794"/>
            <a:ext cx="514948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64;p44"/>
          <p:cNvCxnSpPr/>
          <p:nvPr/>
        </p:nvCxnSpPr>
        <p:spPr>
          <a:xfrm flipV="1">
            <a:off x="4713651" y="4005810"/>
            <a:ext cx="0" cy="48471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2055376" y="4671379"/>
            <a:ext cx="20186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滤波组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80044" y="2232862"/>
            <a:ext cx="216426" cy="216426"/>
          </a:xfrm>
          <a:prstGeom prst="rect">
            <a:avLst/>
          </a:prstGeom>
          <a:solidFill>
            <a:srgbClr val="C9DAF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96470" y="2232862"/>
            <a:ext cx="216426" cy="216426"/>
          </a:xfrm>
          <a:prstGeom prst="rect">
            <a:avLst/>
          </a:prstGeom>
          <a:solidFill>
            <a:srgbClr val="D9EAD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13165" y="2232862"/>
            <a:ext cx="216426" cy="216426"/>
          </a:xfrm>
          <a:prstGeom prst="rect">
            <a:avLst/>
          </a:prstGeom>
          <a:solidFill>
            <a:srgbClr val="F4CC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33176" y="2232862"/>
            <a:ext cx="216426" cy="216426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51722" y="2232862"/>
            <a:ext cx="216426" cy="216426"/>
          </a:xfrm>
          <a:prstGeom prst="rect">
            <a:avLst/>
          </a:prstGeom>
          <a:solidFill>
            <a:srgbClr val="D9D2E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155687" y="2232862"/>
            <a:ext cx="216426" cy="216426"/>
          </a:xfrm>
          <a:prstGeom prst="rect">
            <a:avLst/>
          </a:prstGeom>
          <a:solidFill>
            <a:srgbClr val="FCE5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Google Shape;564;p44"/>
          <p:cNvCxnSpPr/>
          <p:nvPr/>
        </p:nvCxnSpPr>
        <p:spPr>
          <a:xfrm>
            <a:off x="4709532" y="2493086"/>
            <a:ext cx="0" cy="51705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" name="Google Shape;481;p40"/>
          <p:cNvSpPr/>
          <p:nvPr/>
        </p:nvSpPr>
        <p:spPr>
          <a:xfrm>
            <a:off x="62630" y="2283311"/>
            <a:ext cx="956151" cy="2757182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Google Shape;566;p44"/>
          <p:cNvSpPr/>
          <p:nvPr/>
        </p:nvSpPr>
        <p:spPr>
          <a:xfrm>
            <a:off x="7769033" y="2058585"/>
            <a:ext cx="956151" cy="2757182"/>
          </a:xfrm>
          <a:prstGeom prst="cube">
            <a:avLst>
              <a:gd name="adj" fmla="val 90357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Google Shape;611;p46"/>
          <p:cNvSpPr/>
          <p:nvPr/>
        </p:nvSpPr>
        <p:spPr>
          <a:xfrm>
            <a:off x="791965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Google Shape;617;p46"/>
          <p:cNvSpPr/>
          <p:nvPr/>
        </p:nvSpPr>
        <p:spPr>
          <a:xfrm>
            <a:off x="8072018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Google Shape;618;p46"/>
          <p:cNvSpPr/>
          <p:nvPr/>
        </p:nvSpPr>
        <p:spPr>
          <a:xfrm>
            <a:off x="822437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FF2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Google Shape;619;p46"/>
          <p:cNvSpPr/>
          <p:nvPr/>
        </p:nvSpPr>
        <p:spPr>
          <a:xfrm>
            <a:off x="837673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D9D2E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Google Shape;620;p46"/>
          <p:cNvSpPr/>
          <p:nvPr/>
        </p:nvSpPr>
        <p:spPr>
          <a:xfrm>
            <a:off x="8529099" y="2058853"/>
            <a:ext cx="956151" cy="2757182"/>
          </a:xfrm>
          <a:prstGeom prst="cube">
            <a:avLst>
              <a:gd name="adj" fmla="val 90357"/>
            </a:avLst>
          </a:prstGeom>
          <a:solidFill>
            <a:srgbClr val="FCE5CD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Google Shape;485;p40"/>
          <p:cNvSpPr txBox="1"/>
          <p:nvPr/>
        </p:nvSpPr>
        <p:spPr>
          <a:xfrm>
            <a:off x="6409004" y="4788946"/>
            <a:ext cx="538712" cy="40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1799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33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743;p54"/>
          <p:cNvGraphicFramePr/>
          <p:nvPr/>
        </p:nvGraphicFramePr>
        <p:xfrm>
          <a:off x="211151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感受野</a:t>
            </a:r>
            <a:endParaRPr lang="en-US" dirty="0"/>
          </a:p>
        </p:txBody>
      </p:sp>
      <p:graphicFrame>
        <p:nvGraphicFramePr>
          <p:cNvPr id="12" name="Google Shape;743;p54"/>
          <p:cNvGraphicFramePr/>
          <p:nvPr/>
        </p:nvGraphicFramePr>
        <p:xfrm>
          <a:off x="2469662" y="2445875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Google Shape;743;p54"/>
          <p:cNvGraphicFramePr/>
          <p:nvPr/>
        </p:nvGraphicFramePr>
        <p:xfrm>
          <a:off x="472817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Google Shape;743;p54"/>
          <p:cNvGraphicFramePr/>
          <p:nvPr/>
        </p:nvGraphicFramePr>
        <p:xfrm>
          <a:off x="6986682" y="2445874"/>
          <a:ext cx="1889748" cy="18924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56029" marR="56029" marT="56029" marB="5602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269378" y="2970034"/>
            <a:ext cx="807335" cy="84414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91300" y="3245453"/>
            <a:ext cx="280513" cy="293302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229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0372" y="4427874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543300" y="2688301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094081" y="3531640"/>
            <a:ext cx="1744879" cy="282536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23166" y="2934384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71517" y="3491416"/>
            <a:ext cx="321530" cy="336188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55031" y="2694613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39374" y="3230462"/>
            <a:ext cx="807335" cy="844142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6193994" y="3093939"/>
            <a:ext cx="1711606" cy="265814"/>
          </a:xfrm>
          <a:prstGeom prst="line">
            <a:avLst/>
          </a:prstGeom>
          <a:ln w="635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549000" y="3246559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058805" y="3230168"/>
            <a:ext cx="1711606" cy="265814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064505" y="3788426"/>
            <a:ext cx="1744879" cy="282536"/>
          </a:xfrm>
          <a:prstGeom prst="line">
            <a:avLst/>
          </a:prstGeom>
          <a:ln w="635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12370" y="2655001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64219" y="3758937"/>
            <a:ext cx="321530" cy="33618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87592" y="3492340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2594" y="2417341"/>
            <a:ext cx="807335" cy="844142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013904" y="2415486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019604" y="2973744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057124" y="3502088"/>
            <a:ext cx="1711606" cy="265814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062824" y="4060346"/>
            <a:ext cx="1744879" cy="282536"/>
          </a:xfrm>
          <a:prstGeom prst="line">
            <a:avLst/>
          </a:prstGeom>
          <a:ln w="635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6821" y="1680012"/>
            <a:ext cx="3927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prstClr val="black"/>
                </a:solidFill>
              </a:rPr>
              <a:t>每个连续卷积加上</a:t>
            </a:r>
            <a:r>
              <a:rPr lang="en-US" altLang="zh-CN" dirty="0">
                <a:solidFill>
                  <a:prstClr val="black"/>
                </a:solidFill>
              </a:rPr>
              <a:t>K </a:t>
            </a:r>
            <a:r>
              <a:rPr lang="mr-IN" altLang="zh-CN" dirty="0">
                <a:solidFill>
                  <a:prstClr val="black"/>
                </a:solidFill>
              </a:rPr>
              <a:t>–</a:t>
            </a:r>
            <a:r>
              <a:rPr lang="en-US" altLang="zh-CN" dirty="0">
                <a:solidFill>
                  <a:prstClr val="black"/>
                </a:solidFill>
              </a:rPr>
              <a:t> 1 </a:t>
            </a:r>
            <a:r>
              <a:rPr lang="zh-CN" altLang="en-US" dirty="0">
                <a:solidFill>
                  <a:prstClr val="black"/>
                </a:solidFill>
              </a:rPr>
              <a:t>到感受野之中</a:t>
            </a:r>
            <a:endParaRPr lang="en-US" altLang="zh-CN" dirty="0">
              <a:solidFill>
                <a:prstClr val="black"/>
              </a:solidFill>
            </a:endParaRPr>
          </a:p>
          <a:p>
            <a:pPr lvl="0" defTabSz="685800">
              <a:defRPr/>
            </a:pPr>
            <a:r>
              <a:rPr lang="en-US" altLang="zh-CN" dirty="0">
                <a:solidFill>
                  <a:prstClr val="black"/>
                </a:solidFill>
              </a:rPr>
              <a:t>L </a:t>
            </a:r>
            <a:r>
              <a:rPr lang="zh-CN" altLang="en-US" dirty="0">
                <a:solidFill>
                  <a:prstClr val="black"/>
                </a:solidFill>
              </a:rPr>
              <a:t>层的感受野共 </a:t>
            </a:r>
            <a:r>
              <a:rPr lang="en-US" altLang="zh-CN" dirty="0">
                <a:solidFill>
                  <a:prstClr val="black"/>
                </a:solidFill>
              </a:rPr>
              <a:t>1 + L * (K </a:t>
            </a:r>
            <a:r>
              <a:rPr lang="mr-IN" altLang="zh-CN" dirty="0">
                <a:solidFill>
                  <a:prstClr val="black"/>
                </a:solidFill>
              </a:rPr>
              <a:t>–</a:t>
            </a:r>
            <a:r>
              <a:rPr lang="en-US" altLang="zh-CN" dirty="0">
                <a:solidFill>
                  <a:prstClr val="black"/>
                </a:solidFill>
              </a:rPr>
              <a:t>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3419" y="4522564"/>
            <a:ext cx="469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srgbClr val="C00000"/>
                </a:solidFill>
              </a:rPr>
              <a:t>问题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C00000"/>
                </a:solidFill>
              </a:rPr>
              <a:t>对于大图像，需要多层使得每个输出能够“看到”整个图像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19849" y="5156729"/>
            <a:ext cx="415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下采样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1886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77937" cy="513268"/>
          </a:xfrm>
        </p:spPr>
        <p:txBody>
          <a:bodyPr>
            <a:normAutofit fontScale="90000"/>
          </a:bodyPr>
          <a:lstStyle/>
          <a:p>
            <a:r>
              <a:rPr lang="zh-CN" altLang="en-US" u="sng" dirty="0"/>
              <a:t>卷积步长</a:t>
            </a:r>
            <a:endParaRPr lang="en-US" u="sng" dirty="0"/>
          </a:p>
        </p:txBody>
      </p:sp>
      <p:graphicFrame>
        <p:nvGraphicFramePr>
          <p:cNvPr id="21" name="Google Shape;743;p54"/>
          <p:cNvGraphicFramePr/>
          <p:nvPr/>
        </p:nvGraphicFramePr>
        <p:xfrm>
          <a:off x="628650" y="2019767"/>
          <a:ext cx="3083150" cy="3087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/>
                    </a:p>
                  </a:txBody>
                  <a:tcPr marL="91401" marR="91401" marT="91401" marB="9140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Google Shape;744;p54"/>
          <p:cNvSpPr txBox="1"/>
          <p:nvPr/>
        </p:nvSpPr>
        <p:spPr>
          <a:xfrm>
            <a:off x="4717093" y="1635435"/>
            <a:ext cx="1767214" cy="13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x7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</a:t>
            </a:r>
            <a:r>
              <a:rPr kumimoji="0" lang="en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x3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2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744;p54"/>
          <p:cNvSpPr txBox="1"/>
          <p:nvPr/>
        </p:nvSpPr>
        <p:spPr>
          <a:xfrm>
            <a:off x="6645724" y="2019766"/>
            <a:ext cx="1991883" cy="5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3x3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48023" y="3200450"/>
            <a:ext cx="3672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通常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滤波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P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步长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(W </a:t>
            </a:r>
            <a:r>
              <a:rPr kumimoji="0" lang="mr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</p:txBody>
      </p:sp>
    </p:spTree>
    <p:extLst>
      <p:ext uri="{BB962C8B-B14F-4D97-AF65-F5344CB8AC3E}">
        <p14:creationId xmlns:p14="http://schemas.microsoft.com/office/powerpoint/2010/main" val="9873979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1131094"/>
            <a:ext cx="3698984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253" y="1644361"/>
            <a:ext cx="42566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 x W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超参数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核大小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核数量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填充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P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步长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权重矩阵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个大小为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K</a:t>
            </a:r>
            <a:r>
              <a:rPr kumimoji="0" lang="en-US" altLang="zh-CN" sz="2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滤波核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偏置向量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输出大小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1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H’ x W’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这里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H’ = (H </a:t>
            </a:r>
            <a:r>
              <a:rPr kumimoji="0" lang="mr-IN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W’ = (W </a:t>
            </a:r>
            <a:r>
              <a:rPr kumimoji="0" lang="mr-IN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 + 2P) / S + 1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1838" y="1249513"/>
            <a:ext cx="442941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常用设置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K</a:t>
            </a:r>
            <a:r>
              <a:rPr kumimoji="0" lang="en-US" sz="21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等尺寸滤波核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 = (K </a:t>
            </a:r>
            <a:r>
              <a:rPr kumimoji="0" lang="mr-IN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Mangal" panose="02040503050203030202" pitchFamily="18" charset="0"/>
              </a:rPr>
              <a:t>–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1) / 2  (”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相同尺寸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”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填充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sz="2100" b="0" i="0" u="none" strike="noStrike" kern="1200" cap="none" spc="0" normalizeH="0" baseline="-2500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out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32, 64, 128, 256 (2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的幂次方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3, P = 1, S = 1 (3x3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5, P = 2, S = 1 (5x5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1, P = 0, S = 1 (1x1 conv)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 = 3, P = 1, S = 2 (2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倍下采样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86523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3545271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卷积举例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Google Shape;918;p70"/>
          <p:cNvSpPr txBox="1"/>
          <p:nvPr/>
        </p:nvSpPr>
        <p:spPr>
          <a:xfrm>
            <a:off x="202747" y="2150857"/>
            <a:ext cx="8941253" cy="335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滤波组步长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1,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填充</a:t>
            </a: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输出大小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 x 32 x 32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学习参数规模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760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乘法次数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768,000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10*32*32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10,240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输出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每个输出是两个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5x5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张量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(75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个元素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的点积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 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总计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75*10240 = 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768K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Google Shape;919;p70"/>
          <p:cNvSpPr/>
          <p:nvPr/>
        </p:nvSpPr>
        <p:spPr>
          <a:xfrm>
            <a:off x="6562695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F4CCCC">
              <a:alpha val="5192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920;p70"/>
          <p:cNvCxnSpPr/>
          <p:nvPr/>
        </p:nvCxnSpPr>
        <p:spPr>
          <a:xfrm>
            <a:off x="7383448" y="1951144"/>
            <a:ext cx="73660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921;p70"/>
          <p:cNvSpPr/>
          <p:nvPr/>
        </p:nvSpPr>
        <p:spPr>
          <a:xfrm>
            <a:off x="8285711" y="997533"/>
            <a:ext cx="713214" cy="2056865"/>
          </a:xfrm>
          <a:prstGeom prst="cube">
            <a:avLst>
              <a:gd name="adj" fmla="val 77711"/>
            </a:avLst>
          </a:prstGeom>
          <a:solidFill>
            <a:srgbClr val="C9DAF8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5113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最大池化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ctr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Google Shape;1122;p85"/>
          <p:cNvGraphicFramePr/>
          <p:nvPr/>
        </p:nvGraphicFramePr>
        <p:xfrm>
          <a:off x="1141440" y="2350025"/>
          <a:ext cx="2422868" cy="242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5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6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7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8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3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4</a:t>
                      </a:r>
                      <a:endParaRPr sz="2400" b="1" dirty="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Google Shape;1123;p85"/>
          <p:cNvSpPr txBox="1"/>
          <p:nvPr/>
        </p:nvSpPr>
        <p:spPr>
          <a:xfrm>
            <a:off x="1120796" y="1840582"/>
            <a:ext cx="2616518" cy="56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单</a:t>
            </a:r>
            <a:r>
              <a:rPr kumimoji="0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通道切片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" name="Google Shape;1124;p85"/>
          <p:cNvCxnSpPr/>
          <p:nvPr/>
        </p:nvCxnSpPr>
        <p:spPr>
          <a:xfrm rot="10800000">
            <a:off x="831946" y="2379767"/>
            <a:ext cx="0" cy="236338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125;p85"/>
          <p:cNvSpPr txBox="1"/>
          <p:nvPr/>
        </p:nvSpPr>
        <p:spPr>
          <a:xfrm>
            <a:off x="466641" y="2504109"/>
            <a:ext cx="389599" cy="467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x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Google Shape;1126;p85"/>
          <p:cNvCxnSpPr/>
          <p:nvPr/>
        </p:nvCxnSpPr>
        <p:spPr>
          <a:xfrm>
            <a:off x="1114947" y="5090285"/>
            <a:ext cx="247585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127;p85"/>
          <p:cNvSpPr txBox="1"/>
          <p:nvPr/>
        </p:nvSpPr>
        <p:spPr>
          <a:xfrm>
            <a:off x="3066714" y="5020653"/>
            <a:ext cx="389599" cy="3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</a:t>
            </a:r>
            <a:endParaRPr kumimoji="0" sz="2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Google Shape;1128;p85"/>
          <p:cNvCxnSpPr/>
          <p:nvPr/>
        </p:nvCxnSpPr>
        <p:spPr>
          <a:xfrm>
            <a:off x="3941911" y="3561458"/>
            <a:ext cx="2032271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129;p85"/>
          <p:cNvSpPr txBox="1"/>
          <p:nvPr/>
        </p:nvSpPr>
        <p:spPr>
          <a:xfrm>
            <a:off x="3849510" y="2728751"/>
            <a:ext cx="2675003" cy="7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2x2 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池化核步长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Google Shape;1130;p85"/>
          <p:cNvGraphicFramePr/>
          <p:nvPr/>
        </p:nvGraphicFramePr>
        <p:xfrm>
          <a:off x="6809713" y="2916802"/>
          <a:ext cx="1211434" cy="12114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6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8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L="91401" marR="91401" marT="91401" marB="91401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Google Shape;1115;p84"/>
          <p:cNvPicPr preferRelativeResize="0"/>
          <p:nvPr/>
        </p:nvPicPr>
        <p:blipFill rotWithShape="1">
          <a:blip r:embed="rId2">
            <a:alphaModFix/>
          </a:blip>
          <a:srcRect r="62018" b="49269"/>
          <a:stretch/>
        </p:blipFill>
        <p:spPr>
          <a:xfrm>
            <a:off x="4300171" y="991639"/>
            <a:ext cx="1315751" cy="138812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999DDA-6ADF-464D-9911-2A5F601A24B3}"/>
              </a:ext>
            </a:extLst>
          </p:cNvPr>
          <p:cNvSpPr txBox="1"/>
          <p:nvPr/>
        </p:nvSpPr>
        <p:spPr>
          <a:xfrm>
            <a:off x="3835919" y="4345062"/>
            <a:ext cx="3409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引入了空域微小移动不变性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不可学习参数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609479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33" y="1181082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dirty="0"/>
              <a:t>: LeNet-5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7 -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eCun 1998 convnet carto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007" y="1096355"/>
            <a:ext cx="4323549" cy="131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5489" y="1813256"/>
          <a:ext cx="446328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Weight Size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x 28</a:t>
                      </a:r>
                      <a:r>
                        <a:rPr lang="en-US" sz="1400" baseline="0" dirty="0"/>
                        <a:t> x 28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 (</a:t>
                      </a:r>
                      <a:r>
                        <a:rPr lang="en-US" sz="140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dirty="0"/>
                        <a:t>=20, K=5,</a:t>
                      </a:r>
                      <a:r>
                        <a:rPr lang="en-US" sz="1400" baseline="0" dirty="0"/>
                        <a:t>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28 x 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 S=2)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x 14</a:t>
                      </a:r>
                      <a:r>
                        <a:rPr lang="en-US" sz="1400" baseline="0" dirty="0"/>
                        <a:t>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Conv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C</a:t>
                      </a:r>
                      <a:r>
                        <a:rPr lang="en-US" sz="1400" baseline="-25000" dirty="0" err="1"/>
                        <a:t>out</a:t>
                      </a:r>
                      <a:r>
                        <a:rPr lang="en-US" sz="1400" baseline="0" dirty="0"/>
                        <a:t>=50, K=5, P=2, S=1)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14 x 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20 x 5 x 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1</a:t>
                      </a:r>
                      <a:r>
                        <a:rPr lang="en-US" sz="1400" baseline="0" dirty="0"/>
                        <a:t>4 x 14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MaxPool</a:t>
                      </a:r>
                      <a:r>
                        <a:rPr lang="en-US" sz="1400" dirty="0"/>
                        <a:t>(K=2,</a:t>
                      </a:r>
                      <a:r>
                        <a:rPr lang="en-US" sz="1400" baseline="0" dirty="0"/>
                        <a:t> S=2)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 x 7 x 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Flatten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Linear (2450</a:t>
                      </a:r>
                      <a:r>
                        <a:rPr lang="en-US" sz="1400" baseline="0" dirty="0"/>
                        <a:t> -&gt; 500)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2450 x 500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ReLU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Linear (500 -&gt; 10)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 x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-11825" y="5362247"/>
            <a:ext cx="44358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Lecun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al, “Gradient-based learning applied to document recognition”, 1998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5293" y="2692406"/>
            <a:ext cx="3403752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经过整个网络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空域大小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递减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通过池化和带步长的卷积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通道数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递增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整个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体积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不变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12876528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kumimoji="1" lang="zh-CN" altLang="en-US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第七章</a:t>
            </a:r>
            <a:r>
              <a:rPr kumimoji="1" lang="en-US" altLang="zh-CN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-</a:t>
            </a:r>
            <a:r>
              <a:rPr kumimoji="1" lang="zh-CN" altLang="en-US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第九章 </a:t>
            </a:r>
            <a:br>
              <a:rPr kumimoji="1" lang="en-US" altLang="zh-CN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</a:br>
            <a:r>
              <a:rPr kumimoji="1" lang="zh-CN" altLang="en-US" sz="44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图像分类、语义分割、目标检测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68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00;p14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69348" y="2558517"/>
            <a:ext cx="2093154" cy="1811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1;p14"/>
          <p:cNvSpPr txBox="1"/>
          <p:nvPr/>
        </p:nvSpPr>
        <p:spPr>
          <a:xfrm>
            <a:off x="120110" y="1689853"/>
            <a:ext cx="2006777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" sz="2000" b="1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r>
              <a:rPr lang="zh-CN" altLang="en-US" sz="2000" b="1" dirty="0">
                <a:solidFill>
                  <a:prstClr val="black"/>
                </a:solidFill>
                <a:latin typeface="Calibri" panose="020F0502020204030204"/>
              </a:rPr>
              <a:t>分类</a:t>
            </a:r>
            <a:r>
              <a:rPr lang="en" sz="20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02;p14"/>
          <p:cNvSpPr txBox="1"/>
          <p:nvPr/>
        </p:nvSpPr>
        <p:spPr>
          <a:xfrm>
            <a:off x="2313464" y="1689853"/>
            <a:ext cx="2141142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sz="2000" b="1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r>
              <a:rPr lang="zh-CN" altLang="en" sz="2000" b="1" dirty="0">
                <a:solidFill>
                  <a:prstClr val="black"/>
                </a:solidFill>
                <a:latin typeface="Calibri" panose="020F0502020204030204"/>
              </a:rPr>
              <a:t>语义</a:t>
            </a:r>
            <a:r>
              <a:rPr lang="zh-CN" altLang="en-US" sz="2000" b="1" dirty="0">
                <a:solidFill>
                  <a:prstClr val="black"/>
                </a:solidFill>
                <a:latin typeface="Calibri" panose="020F0502020204030204"/>
              </a:rPr>
              <a:t>分割</a:t>
            </a:r>
            <a:endParaRPr sz="20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7" name="Google Shape;103;p14"/>
          <p:cNvSpPr txBox="1"/>
          <p:nvPr/>
        </p:nvSpPr>
        <p:spPr>
          <a:xfrm>
            <a:off x="4561203" y="1748263"/>
            <a:ext cx="2226920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" sz="2000" b="1" dirty="0">
                <a:solidFill>
                  <a:prstClr val="black"/>
                </a:solidFill>
                <a:latin typeface="Calibri" panose="020F0502020204030204"/>
              </a:rPr>
              <a:t>目标</a:t>
            </a:r>
            <a:r>
              <a:rPr lang="zh-CN" altLang="en-US" sz="2000" b="1" dirty="0">
                <a:solidFill>
                  <a:prstClr val="black"/>
                </a:solidFill>
                <a:latin typeface="Calibri" panose="020F0502020204030204"/>
              </a:rPr>
              <a:t>检测</a:t>
            </a:r>
            <a:endParaRPr sz="20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8" name="Google Shape;104;p14"/>
          <p:cNvSpPr txBox="1"/>
          <p:nvPr/>
        </p:nvSpPr>
        <p:spPr>
          <a:xfrm>
            <a:off x="6806743" y="1669934"/>
            <a:ext cx="2226920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" sz="2000" b="1" dirty="0">
                <a:solidFill>
                  <a:prstClr val="black"/>
                </a:solidFill>
                <a:latin typeface="Calibri" panose="020F0502020204030204"/>
              </a:rPr>
              <a:t>实例</a:t>
            </a:r>
            <a:r>
              <a:rPr lang="zh-CN" altLang="en-US" sz="2000" b="1" dirty="0">
                <a:solidFill>
                  <a:prstClr val="black"/>
                </a:solidFill>
                <a:latin typeface="Calibri" panose="020F0502020204030204"/>
              </a:rPr>
              <a:t>分割</a:t>
            </a:r>
            <a:endParaRPr sz="20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9" name="Google Shape;105;p14"/>
          <p:cNvSpPr txBox="1"/>
          <p:nvPr/>
        </p:nvSpPr>
        <p:spPr>
          <a:xfrm>
            <a:off x="70323" y="4386627"/>
            <a:ext cx="2106351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799" b="1">
                <a:solidFill>
                  <a:prstClr val="black"/>
                </a:solidFill>
                <a:latin typeface="Calibri" panose="020F0502020204030204"/>
              </a:rPr>
              <a:t>CAT</a:t>
            </a:r>
            <a:endParaRPr sz="1799" b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759" y="2600641"/>
            <a:ext cx="2093155" cy="1798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07;p14"/>
          <p:cNvGrpSpPr/>
          <p:nvPr/>
        </p:nvGrpSpPr>
        <p:grpSpPr>
          <a:xfrm>
            <a:off x="6916814" y="2600643"/>
            <a:ext cx="2106327" cy="1811827"/>
            <a:chOff x="6917425" y="1743175"/>
            <a:chExt cx="2106876" cy="1812299"/>
          </a:xfrm>
        </p:grpSpPr>
        <p:pic>
          <p:nvPicPr>
            <p:cNvPr id="12" name="Google Shape;108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17425" y="1743175"/>
              <a:ext cx="2106876" cy="1812299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3" name="Google Shape;109;p14"/>
            <p:cNvSpPr/>
            <p:nvPr/>
          </p:nvSpPr>
          <p:spPr>
            <a:xfrm>
              <a:off x="7327080" y="2501842"/>
              <a:ext cx="705915" cy="1053130"/>
            </a:xfrm>
            <a:custGeom>
              <a:avLst/>
              <a:gdLst/>
              <a:ahLst/>
              <a:cxnLst/>
              <a:rect l="l" t="t" r="r" b="b"/>
              <a:pathLst>
                <a:path w="91916" h="119538" extrusionOk="0">
                  <a:moveTo>
                    <a:pt x="26194" y="15716"/>
                  </a:moveTo>
                  <a:lnTo>
                    <a:pt x="20003" y="34766"/>
                  </a:lnTo>
                  <a:lnTo>
                    <a:pt x="30004" y="44291"/>
                  </a:lnTo>
                  <a:lnTo>
                    <a:pt x="23575" y="57626"/>
                  </a:lnTo>
                  <a:lnTo>
                    <a:pt x="8096" y="43577"/>
                  </a:lnTo>
                  <a:lnTo>
                    <a:pt x="953" y="45005"/>
                  </a:lnTo>
                  <a:lnTo>
                    <a:pt x="0" y="65008"/>
                  </a:lnTo>
                  <a:lnTo>
                    <a:pt x="14050" y="71437"/>
                  </a:lnTo>
                  <a:lnTo>
                    <a:pt x="27146" y="69770"/>
                  </a:lnTo>
                  <a:lnTo>
                    <a:pt x="22622" y="87868"/>
                  </a:lnTo>
                  <a:lnTo>
                    <a:pt x="26432" y="108108"/>
                  </a:lnTo>
                  <a:lnTo>
                    <a:pt x="21670" y="119538"/>
                  </a:lnTo>
                  <a:lnTo>
                    <a:pt x="44291" y="119300"/>
                  </a:lnTo>
                  <a:lnTo>
                    <a:pt x="39291" y="98822"/>
                  </a:lnTo>
                  <a:lnTo>
                    <a:pt x="46673" y="92630"/>
                  </a:lnTo>
                  <a:lnTo>
                    <a:pt x="60722" y="91916"/>
                  </a:lnTo>
                  <a:lnTo>
                    <a:pt x="64532" y="99060"/>
                  </a:lnTo>
                  <a:lnTo>
                    <a:pt x="52388" y="118110"/>
                  </a:lnTo>
                  <a:lnTo>
                    <a:pt x="73105" y="118586"/>
                  </a:lnTo>
                  <a:lnTo>
                    <a:pt x="85963" y="90487"/>
                  </a:lnTo>
                  <a:lnTo>
                    <a:pt x="81915" y="78343"/>
                  </a:lnTo>
                  <a:lnTo>
                    <a:pt x="91916" y="67389"/>
                  </a:lnTo>
                  <a:lnTo>
                    <a:pt x="87392" y="59769"/>
                  </a:lnTo>
                  <a:lnTo>
                    <a:pt x="85963" y="40481"/>
                  </a:lnTo>
                  <a:lnTo>
                    <a:pt x="83106" y="38100"/>
                  </a:lnTo>
                  <a:lnTo>
                    <a:pt x="86201" y="29527"/>
                  </a:lnTo>
                  <a:lnTo>
                    <a:pt x="79772" y="23812"/>
                  </a:lnTo>
                  <a:lnTo>
                    <a:pt x="77629" y="16907"/>
                  </a:lnTo>
                  <a:lnTo>
                    <a:pt x="78820" y="7382"/>
                  </a:lnTo>
                  <a:lnTo>
                    <a:pt x="70961" y="2143"/>
                  </a:lnTo>
                  <a:lnTo>
                    <a:pt x="65485" y="6191"/>
                  </a:lnTo>
                  <a:lnTo>
                    <a:pt x="55245" y="0"/>
                  </a:lnTo>
                  <a:lnTo>
                    <a:pt x="42148" y="1428"/>
                  </a:lnTo>
                  <a:lnTo>
                    <a:pt x="38338" y="4286"/>
                  </a:lnTo>
                  <a:lnTo>
                    <a:pt x="26194" y="2619"/>
                  </a:lnTo>
                  <a:lnTo>
                    <a:pt x="22860" y="10715"/>
                  </a:lnTo>
                  <a:close/>
                </a:path>
              </a:pathLst>
            </a:cu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Google Shape;110;p14"/>
            <p:cNvSpPr/>
            <p:nvPr/>
          </p:nvSpPr>
          <p:spPr>
            <a:xfrm>
              <a:off x="7975570" y="2631128"/>
              <a:ext cx="372409" cy="819776"/>
            </a:xfrm>
            <a:custGeom>
              <a:avLst/>
              <a:gdLst/>
              <a:ahLst/>
              <a:cxnLst/>
              <a:rect l="l" t="t" r="r" b="b"/>
              <a:pathLst>
                <a:path w="46435" h="84058" extrusionOk="0">
                  <a:moveTo>
                    <a:pt x="6430" y="41672"/>
                  </a:moveTo>
                  <a:lnTo>
                    <a:pt x="13097" y="5477"/>
                  </a:lnTo>
                  <a:lnTo>
                    <a:pt x="22384" y="0"/>
                  </a:lnTo>
                  <a:lnTo>
                    <a:pt x="35719" y="2620"/>
                  </a:lnTo>
                  <a:lnTo>
                    <a:pt x="39529" y="10240"/>
                  </a:lnTo>
                  <a:lnTo>
                    <a:pt x="46435" y="14526"/>
                  </a:lnTo>
                  <a:lnTo>
                    <a:pt x="45720" y="26432"/>
                  </a:lnTo>
                  <a:lnTo>
                    <a:pt x="45720" y="42148"/>
                  </a:lnTo>
                  <a:lnTo>
                    <a:pt x="39053" y="53340"/>
                  </a:lnTo>
                  <a:lnTo>
                    <a:pt x="39053" y="65961"/>
                  </a:lnTo>
                  <a:lnTo>
                    <a:pt x="33814" y="73105"/>
                  </a:lnTo>
                  <a:lnTo>
                    <a:pt x="37148" y="81677"/>
                  </a:lnTo>
                  <a:lnTo>
                    <a:pt x="25956" y="84058"/>
                  </a:lnTo>
                  <a:lnTo>
                    <a:pt x="18812" y="80248"/>
                  </a:lnTo>
                  <a:lnTo>
                    <a:pt x="27147" y="64532"/>
                  </a:lnTo>
                  <a:lnTo>
                    <a:pt x="14764" y="62627"/>
                  </a:lnTo>
                  <a:lnTo>
                    <a:pt x="11907" y="64294"/>
                  </a:lnTo>
                  <a:lnTo>
                    <a:pt x="12859" y="75962"/>
                  </a:lnTo>
                  <a:lnTo>
                    <a:pt x="0" y="77629"/>
                  </a:lnTo>
                  <a:lnTo>
                    <a:pt x="4763" y="65247"/>
                  </a:lnTo>
                  <a:lnTo>
                    <a:pt x="3810" y="59770"/>
                  </a:lnTo>
                  <a:lnTo>
                    <a:pt x="7144" y="51912"/>
                  </a:lnTo>
                  <a:lnTo>
                    <a:pt x="11192" y="46673"/>
                  </a:lnTo>
                  <a:close/>
                </a:path>
              </a:pathLst>
            </a:custGeom>
            <a:solidFill>
              <a:srgbClr val="00FF00"/>
            </a:solidFill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11;p14"/>
            <p:cNvSpPr/>
            <p:nvPr/>
          </p:nvSpPr>
          <p:spPr>
            <a:xfrm>
              <a:off x="8313674" y="2512690"/>
              <a:ext cx="317023" cy="715268"/>
            </a:xfrm>
            <a:custGeom>
              <a:avLst/>
              <a:gdLst/>
              <a:ahLst/>
              <a:cxnLst/>
              <a:rect l="l" t="t" r="r" b="b"/>
              <a:pathLst>
                <a:path w="39529" h="73342" extrusionOk="0">
                  <a:moveTo>
                    <a:pt x="4048" y="20955"/>
                  </a:moveTo>
                  <a:lnTo>
                    <a:pt x="10954" y="5953"/>
                  </a:lnTo>
                  <a:lnTo>
                    <a:pt x="10954" y="0"/>
                  </a:lnTo>
                  <a:lnTo>
                    <a:pt x="17145" y="2857"/>
                  </a:lnTo>
                  <a:lnTo>
                    <a:pt x="27146" y="4048"/>
                  </a:lnTo>
                  <a:lnTo>
                    <a:pt x="32385" y="952"/>
                  </a:lnTo>
                  <a:lnTo>
                    <a:pt x="32623" y="8096"/>
                  </a:lnTo>
                  <a:lnTo>
                    <a:pt x="39529" y="28575"/>
                  </a:lnTo>
                  <a:lnTo>
                    <a:pt x="36433" y="45006"/>
                  </a:lnTo>
                  <a:lnTo>
                    <a:pt x="31671" y="60007"/>
                  </a:lnTo>
                  <a:lnTo>
                    <a:pt x="33338" y="70247"/>
                  </a:lnTo>
                  <a:lnTo>
                    <a:pt x="24289" y="73104"/>
                  </a:lnTo>
                  <a:lnTo>
                    <a:pt x="20955" y="72866"/>
                  </a:lnTo>
                  <a:lnTo>
                    <a:pt x="10954" y="73342"/>
                  </a:lnTo>
                  <a:lnTo>
                    <a:pt x="6191" y="71437"/>
                  </a:lnTo>
                  <a:lnTo>
                    <a:pt x="9525" y="67151"/>
                  </a:lnTo>
                  <a:lnTo>
                    <a:pt x="0" y="66675"/>
                  </a:lnTo>
                  <a:lnTo>
                    <a:pt x="4524" y="58341"/>
                  </a:lnTo>
                  <a:lnTo>
                    <a:pt x="8096" y="55959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" name="Google Shape;112;p14"/>
          <p:cNvSpPr/>
          <p:nvPr/>
        </p:nvSpPr>
        <p:spPr>
          <a:xfrm rot="-5400000">
            <a:off x="6681575" y="2941922"/>
            <a:ext cx="351809" cy="4123326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Google Shape;113;p14"/>
          <p:cNvSpPr/>
          <p:nvPr/>
        </p:nvSpPr>
        <p:spPr>
          <a:xfrm rot="-5400000">
            <a:off x="933423" y="3965550"/>
            <a:ext cx="351809" cy="2095254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Google Shape;114;p14"/>
          <p:cNvSpPr txBox="1"/>
          <p:nvPr/>
        </p:nvSpPr>
        <p:spPr>
          <a:xfrm>
            <a:off x="2400367" y="4310447"/>
            <a:ext cx="2006777" cy="65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799" b="1">
                <a:solidFill>
                  <a:srgbClr val="6AA84F"/>
                </a:solidFill>
                <a:latin typeface="Calibri" panose="020F0502020204030204"/>
              </a:rPr>
              <a:t>GRASS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F1C232"/>
                </a:solidFill>
                <a:latin typeface="Calibri" panose="020F0502020204030204"/>
              </a:rPr>
              <a:t>CAT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A64D79"/>
                </a:solidFill>
                <a:latin typeface="Calibri" panose="020F0502020204030204"/>
              </a:rPr>
              <a:t>TREE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4A86E8"/>
                </a:solidFill>
                <a:latin typeface="Calibri" panose="020F0502020204030204"/>
              </a:rPr>
              <a:t>SKY</a:t>
            </a:r>
            <a:endParaRPr sz="1799" b="1">
              <a:solidFill>
                <a:srgbClr val="4A86E8"/>
              </a:solidFill>
              <a:latin typeface="Calibri" panose="020F0502020204030204"/>
            </a:endParaRPr>
          </a:p>
        </p:txBody>
      </p:sp>
      <p:sp>
        <p:nvSpPr>
          <p:cNvPr id="19" name="Google Shape;115;p14"/>
          <p:cNvSpPr txBox="1"/>
          <p:nvPr/>
        </p:nvSpPr>
        <p:spPr>
          <a:xfrm>
            <a:off x="4724137" y="4386627"/>
            <a:ext cx="2006777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799" b="1">
                <a:solidFill>
                  <a:srgbClr val="FF0000"/>
                </a:solidFill>
                <a:latin typeface="Calibri" panose="020F0502020204030204"/>
              </a:rPr>
              <a:t>DOG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6AA84F"/>
                </a:solidFill>
                <a:latin typeface="Calibri" panose="020F0502020204030204"/>
              </a:rPr>
              <a:t>DOG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4A86E8"/>
                </a:solidFill>
                <a:latin typeface="Calibri" panose="020F0502020204030204"/>
              </a:rPr>
              <a:t>CAT</a:t>
            </a:r>
            <a:endParaRPr sz="1799" b="1">
              <a:solidFill>
                <a:srgbClr val="4A86E8"/>
              </a:solidFill>
              <a:latin typeface="Calibri" panose="020F0502020204030204"/>
            </a:endParaRPr>
          </a:p>
        </p:txBody>
      </p:sp>
      <p:sp>
        <p:nvSpPr>
          <p:cNvPr id="20" name="Google Shape;116;p14"/>
          <p:cNvSpPr txBox="1"/>
          <p:nvPr/>
        </p:nvSpPr>
        <p:spPr>
          <a:xfrm>
            <a:off x="7016365" y="4386627"/>
            <a:ext cx="2006777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>
              <a:buClr>
                <a:prstClr val="black"/>
              </a:buClr>
              <a:buSzPts val="1100"/>
            </a:pPr>
            <a:r>
              <a:rPr lang="en" sz="1799" b="1">
                <a:solidFill>
                  <a:srgbClr val="FF0000"/>
                </a:solidFill>
                <a:latin typeface="Calibri" panose="020F0502020204030204"/>
              </a:rPr>
              <a:t>DOG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6AA84F"/>
                </a:solidFill>
                <a:latin typeface="Calibri" panose="020F0502020204030204"/>
              </a:rPr>
              <a:t>DOG</a:t>
            </a:r>
            <a:r>
              <a:rPr lang="en" sz="1799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" sz="1799" b="1">
                <a:solidFill>
                  <a:srgbClr val="4A86E8"/>
                </a:solidFill>
                <a:latin typeface="Calibri" panose="020F0502020204030204"/>
              </a:rPr>
              <a:t>CAT</a:t>
            </a:r>
            <a:endParaRPr sz="1799" b="1">
              <a:solidFill>
                <a:srgbClr val="4A86E8"/>
              </a:solidFill>
              <a:latin typeface="Calibri" panose="020F0502020204030204"/>
            </a:endParaRPr>
          </a:p>
          <a:p>
            <a:pPr algn="ctr" defTabSz="685800"/>
            <a:endParaRPr sz="17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Google Shape;117;p14"/>
          <p:cNvSpPr txBox="1"/>
          <p:nvPr/>
        </p:nvSpPr>
        <p:spPr>
          <a:xfrm>
            <a:off x="174020" y="5124759"/>
            <a:ext cx="1883810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No spatial extent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Google Shape;118;p14"/>
          <p:cNvSpPr txBox="1"/>
          <p:nvPr/>
        </p:nvSpPr>
        <p:spPr>
          <a:xfrm>
            <a:off x="5862026" y="5124744"/>
            <a:ext cx="1852193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Multiple Object</a:t>
            </a:r>
            <a:r>
              <a:rPr lang="en-US" sz="1865" dirty="0">
                <a:solidFill>
                  <a:prstClr val="black"/>
                </a:solidFill>
                <a:latin typeface="Calibri" panose="020F0502020204030204"/>
              </a:rPr>
              <a:t>s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Google Shape;119;p14"/>
          <p:cNvSpPr/>
          <p:nvPr/>
        </p:nvSpPr>
        <p:spPr>
          <a:xfrm rot="-5400000">
            <a:off x="3241646" y="3978832"/>
            <a:ext cx="351809" cy="2066462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120;p14"/>
          <p:cNvSpPr txBox="1"/>
          <p:nvPr/>
        </p:nvSpPr>
        <p:spPr>
          <a:xfrm>
            <a:off x="2201388" y="5124744"/>
            <a:ext cx="2336366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No objects, just pixels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121;p14"/>
          <p:cNvSpPr txBox="1"/>
          <p:nvPr/>
        </p:nvSpPr>
        <p:spPr>
          <a:xfrm>
            <a:off x="7940462" y="5395273"/>
            <a:ext cx="1194623" cy="25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600" u="sng">
                <a:solidFill>
                  <a:srgbClr val="999999"/>
                </a:solidFill>
                <a:latin typeface="Calibri" panose="020F0502020204030204"/>
                <a:hlinkClick r:id="rId5"/>
              </a:rPr>
              <a:t>This image</a:t>
            </a:r>
            <a:r>
              <a:rPr lang="en" sz="600">
                <a:solidFill>
                  <a:srgbClr val="999999"/>
                </a:solidFill>
                <a:latin typeface="Calibri" panose="020F0502020204030204"/>
              </a:rPr>
              <a:t> is </a:t>
            </a:r>
            <a:r>
              <a:rPr lang="en" sz="600" u="sng">
                <a:solidFill>
                  <a:srgbClr val="999999"/>
                </a:solidFill>
                <a:latin typeface="Calibri" panose="020F0502020204030204"/>
                <a:hlinkClick r:id="rId6"/>
              </a:rPr>
              <a:t>CC0 public domain</a:t>
            </a:r>
            <a:endParaRPr sz="600" dirty="0">
              <a:solidFill>
                <a:srgbClr val="999999"/>
              </a:solidFill>
              <a:latin typeface="Calibri" panose="020F0502020204030204"/>
            </a:endParaRPr>
          </a:p>
        </p:txBody>
      </p:sp>
      <p:grpSp>
        <p:nvGrpSpPr>
          <p:cNvPr id="26" name="Google Shape;122;p14"/>
          <p:cNvGrpSpPr/>
          <p:nvPr/>
        </p:nvGrpSpPr>
        <p:grpSpPr>
          <a:xfrm>
            <a:off x="2301776" y="2555353"/>
            <a:ext cx="2141052" cy="1818140"/>
            <a:chOff x="2277225" y="713289"/>
            <a:chExt cx="3568755" cy="2932300"/>
          </a:xfrm>
        </p:grpSpPr>
        <p:grpSp>
          <p:nvGrpSpPr>
            <p:cNvPr id="27" name="Google Shape;123;p14"/>
            <p:cNvGrpSpPr/>
            <p:nvPr/>
          </p:nvGrpSpPr>
          <p:grpSpPr>
            <a:xfrm>
              <a:off x="2277225" y="713289"/>
              <a:ext cx="3562639" cy="2932300"/>
              <a:chOff x="2401325" y="1743175"/>
              <a:chExt cx="2093699" cy="1812299"/>
            </a:xfrm>
          </p:grpSpPr>
          <p:pic>
            <p:nvPicPr>
              <p:cNvPr id="31" name="Google Shape;124;p14"/>
              <p:cNvPicPr preferRelativeResize="0"/>
              <p:nvPr/>
            </p:nvPicPr>
            <p:blipFill rotWithShape="1">
              <a:blip r:embed="rId2">
                <a:alphaModFix/>
              </a:blip>
              <a:srcRect l="9279" r="25734"/>
              <a:stretch/>
            </p:blipFill>
            <p:spPr>
              <a:xfrm>
                <a:off x="2401325" y="1743175"/>
                <a:ext cx="2093699" cy="1812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125;p14"/>
              <p:cNvSpPr/>
              <p:nvPr/>
            </p:nvSpPr>
            <p:spPr>
              <a:xfrm>
                <a:off x="2466169" y="2111305"/>
                <a:ext cx="1608200" cy="1150000"/>
              </a:xfrm>
              <a:custGeom>
                <a:avLst/>
                <a:gdLst/>
                <a:ahLst/>
                <a:cxnLst/>
                <a:rect l="l" t="t" r="r" b="b"/>
                <a:pathLst>
                  <a:path w="64328" h="46000" extrusionOk="0">
                    <a:moveTo>
                      <a:pt x="2367" y="7601"/>
                    </a:moveTo>
                    <a:lnTo>
                      <a:pt x="14375" y="6468"/>
                    </a:lnTo>
                    <a:lnTo>
                      <a:pt x="27313" y="10422"/>
                    </a:lnTo>
                    <a:lnTo>
                      <a:pt x="36297" y="13297"/>
                    </a:lnTo>
                    <a:lnTo>
                      <a:pt x="39532" y="12218"/>
                    </a:lnTo>
                    <a:lnTo>
                      <a:pt x="38094" y="6110"/>
                    </a:lnTo>
                    <a:lnTo>
                      <a:pt x="38094" y="1438"/>
                    </a:lnTo>
                    <a:lnTo>
                      <a:pt x="40251" y="1078"/>
                    </a:lnTo>
                    <a:lnTo>
                      <a:pt x="46359" y="6110"/>
                    </a:lnTo>
                    <a:lnTo>
                      <a:pt x="56062" y="5391"/>
                    </a:lnTo>
                    <a:lnTo>
                      <a:pt x="61812" y="0"/>
                    </a:lnTo>
                    <a:lnTo>
                      <a:pt x="64328" y="1078"/>
                    </a:lnTo>
                    <a:lnTo>
                      <a:pt x="63968" y="10063"/>
                    </a:lnTo>
                    <a:lnTo>
                      <a:pt x="62532" y="18688"/>
                    </a:lnTo>
                    <a:lnTo>
                      <a:pt x="61093" y="21562"/>
                    </a:lnTo>
                    <a:lnTo>
                      <a:pt x="63609" y="24797"/>
                    </a:lnTo>
                    <a:lnTo>
                      <a:pt x="64328" y="29828"/>
                    </a:lnTo>
                    <a:lnTo>
                      <a:pt x="64328" y="34140"/>
                    </a:lnTo>
                    <a:lnTo>
                      <a:pt x="60735" y="37734"/>
                    </a:lnTo>
                    <a:lnTo>
                      <a:pt x="55703" y="35218"/>
                    </a:lnTo>
                    <a:lnTo>
                      <a:pt x="57141" y="28750"/>
                    </a:lnTo>
                    <a:lnTo>
                      <a:pt x="53187" y="31266"/>
                    </a:lnTo>
                    <a:lnTo>
                      <a:pt x="48515" y="32703"/>
                    </a:lnTo>
                    <a:lnTo>
                      <a:pt x="49235" y="35937"/>
                    </a:lnTo>
                    <a:lnTo>
                      <a:pt x="50476" y="39345"/>
                    </a:lnTo>
                    <a:lnTo>
                      <a:pt x="50312" y="43484"/>
                    </a:lnTo>
                    <a:lnTo>
                      <a:pt x="47438" y="46000"/>
                    </a:lnTo>
                    <a:lnTo>
                      <a:pt x="42406" y="42406"/>
                    </a:lnTo>
                    <a:lnTo>
                      <a:pt x="40251" y="36655"/>
                    </a:lnTo>
                    <a:lnTo>
                      <a:pt x="35219" y="37375"/>
                    </a:lnTo>
                    <a:lnTo>
                      <a:pt x="34142" y="33422"/>
                    </a:lnTo>
                    <a:lnTo>
                      <a:pt x="32345" y="25516"/>
                    </a:lnTo>
                    <a:lnTo>
                      <a:pt x="31625" y="19405"/>
                    </a:lnTo>
                    <a:lnTo>
                      <a:pt x="25156" y="15453"/>
                    </a:lnTo>
                    <a:lnTo>
                      <a:pt x="15453" y="12218"/>
                    </a:lnTo>
                    <a:lnTo>
                      <a:pt x="9703" y="10780"/>
                    </a:lnTo>
                    <a:lnTo>
                      <a:pt x="4313" y="11500"/>
                    </a:lnTo>
                    <a:lnTo>
                      <a:pt x="0" y="10422"/>
                    </a:lnTo>
                  </a:path>
                </a:pathLst>
              </a:custGeom>
              <a:solidFill>
                <a:srgbClr val="FFD966"/>
              </a:solidFill>
              <a:ln w="38100" cap="flat" cmpd="sng">
                <a:solidFill>
                  <a:srgbClr val="FFD9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" name="Google Shape;126;p14"/>
            <p:cNvSpPr/>
            <p:nvPr/>
          </p:nvSpPr>
          <p:spPr>
            <a:xfrm>
              <a:off x="2291955" y="1786552"/>
              <a:ext cx="3554025" cy="1835050"/>
            </a:xfrm>
            <a:custGeom>
              <a:avLst/>
              <a:gdLst/>
              <a:ahLst/>
              <a:cxnLst/>
              <a:rect l="l" t="t" r="r" b="b"/>
              <a:pathLst>
                <a:path w="142161" h="73402" extrusionOk="0">
                  <a:moveTo>
                    <a:pt x="0" y="12918"/>
                  </a:moveTo>
                  <a:lnTo>
                    <a:pt x="47387" y="7443"/>
                  </a:lnTo>
                  <a:lnTo>
                    <a:pt x="55959" y="15539"/>
                  </a:lnTo>
                  <a:lnTo>
                    <a:pt x="60960" y="41495"/>
                  </a:lnTo>
                  <a:lnTo>
                    <a:pt x="71806" y="41461"/>
                  </a:lnTo>
                  <a:lnTo>
                    <a:pt x="75247" y="51496"/>
                  </a:lnTo>
                  <a:lnTo>
                    <a:pt x="82391" y="56974"/>
                  </a:lnTo>
                  <a:lnTo>
                    <a:pt x="90963" y="54829"/>
                  </a:lnTo>
                  <a:lnTo>
                    <a:pt x="91678" y="47686"/>
                  </a:lnTo>
                  <a:lnTo>
                    <a:pt x="90248" y="40780"/>
                  </a:lnTo>
                  <a:lnTo>
                    <a:pt x="89535" y="35779"/>
                  </a:lnTo>
                  <a:lnTo>
                    <a:pt x="98107" y="32207"/>
                  </a:lnTo>
                  <a:lnTo>
                    <a:pt x="96441" y="40303"/>
                  </a:lnTo>
                  <a:lnTo>
                    <a:pt x="107870" y="44827"/>
                  </a:lnTo>
                  <a:lnTo>
                    <a:pt x="116206" y="37446"/>
                  </a:lnTo>
                  <a:lnTo>
                    <a:pt x="116681" y="27683"/>
                  </a:lnTo>
                  <a:lnTo>
                    <a:pt x="110728" y="15539"/>
                  </a:lnTo>
                  <a:lnTo>
                    <a:pt x="114018" y="0"/>
                  </a:lnTo>
                  <a:lnTo>
                    <a:pt x="122635" y="298"/>
                  </a:lnTo>
                  <a:lnTo>
                    <a:pt x="124891" y="5569"/>
                  </a:lnTo>
                  <a:lnTo>
                    <a:pt x="142161" y="3633"/>
                  </a:lnTo>
                  <a:lnTo>
                    <a:pt x="141208" y="73402"/>
                  </a:lnTo>
                  <a:lnTo>
                    <a:pt x="0" y="73402"/>
                  </a:lnTo>
                  <a:close/>
                </a:path>
              </a:pathLst>
            </a:custGeom>
            <a:solidFill>
              <a:srgbClr val="6AA84F"/>
            </a:solidFill>
            <a:ln w="381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Google Shape;127;p14"/>
            <p:cNvSpPr/>
            <p:nvPr/>
          </p:nvSpPr>
          <p:spPr>
            <a:xfrm>
              <a:off x="2285997" y="781997"/>
              <a:ext cx="3548025" cy="1279900"/>
            </a:xfrm>
            <a:custGeom>
              <a:avLst/>
              <a:gdLst/>
              <a:ahLst/>
              <a:cxnLst/>
              <a:rect l="l" t="t" r="r" b="b"/>
              <a:pathLst>
                <a:path w="141921" h="51196" extrusionOk="0">
                  <a:moveTo>
                    <a:pt x="42625" y="46672"/>
                  </a:moveTo>
                  <a:lnTo>
                    <a:pt x="0" y="51196"/>
                  </a:lnTo>
                  <a:lnTo>
                    <a:pt x="238" y="29528"/>
                  </a:lnTo>
                  <a:lnTo>
                    <a:pt x="32623" y="25955"/>
                  </a:lnTo>
                  <a:lnTo>
                    <a:pt x="45824" y="20998"/>
                  </a:lnTo>
                  <a:lnTo>
                    <a:pt x="60960" y="23097"/>
                  </a:lnTo>
                  <a:lnTo>
                    <a:pt x="71676" y="19765"/>
                  </a:lnTo>
                  <a:lnTo>
                    <a:pt x="114776" y="7859"/>
                  </a:lnTo>
                  <a:lnTo>
                    <a:pt x="127874" y="6667"/>
                  </a:lnTo>
                  <a:lnTo>
                    <a:pt x="134064" y="4761"/>
                  </a:lnTo>
                  <a:lnTo>
                    <a:pt x="141921" y="0"/>
                  </a:lnTo>
                  <a:lnTo>
                    <a:pt x="141208" y="42386"/>
                  </a:lnTo>
                  <a:lnTo>
                    <a:pt x="125731" y="42386"/>
                  </a:lnTo>
                  <a:lnTo>
                    <a:pt x="124778" y="39528"/>
                  </a:lnTo>
                  <a:lnTo>
                    <a:pt x="114896" y="38325"/>
                  </a:lnTo>
                  <a:lnTo>
                    <a:pt x="115014" y="22860"/>
                  </a:lnTo>
                  <a:lnTo>
                    <a:pt x="107155" y="19765"/>
                  </a:lnTo>
                  <a:lnTo>
                    <a:pt x="97869" y="28813"/>
                  </a:lnTo>
                  <a:lnTo>
                    <a:pt x="84296" y="29289"/>
                  </a:lnTo>
                  <a:lnTo>
                    <a:pt x="74294" y="22144"/>
                  </a:lnTo>
                  <a:lnTo>
                    <a:pt x="71200" y="21432"/>
                  </a:lnTo>
                  <a:lnTo>
                    <a:pt x="66929" y="26567"/>
                  </a:lnTo>
                  <a:lnTo>
                    <a:pt x="69293" y="39766"/>
                  </a:lnTo>
                  <a:lnTo>
                    <a:pt x="65722" y="40480"/>
                  </a:lnTo>
                  <a:lnTo>
                    <a:pt x="30003" y="30480"/>
                  </a:lnTo>
                  <a:lnTo>
                    <a:pt x="7859" y="31670"/>
                  </a:lnTo>
                  <a:lnTo>
                    <a:pt x="1666" y="38101"/>
                  </a:lnTo>
                  <a:lnTo>
                    <a:pt x="10955" y="41195"/>
                  </a:lnTo>
                  <a:lnTo>
                    <a:pt x="20002" y="40719"/>
                  </a:lnTo>
                  <a:close/>
                </a:path>
              </a:pathLst>
            </a:custGeom>
            <a:solidFill>
              <a:srgbClr val="C27BA0"/>
            </a:solidFill>
            <a:ln w="38100" cap="flat" cmpd="sng">
              <a:solidFill>
                <a:srgbClr val="C27B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Google Shape;128;p14"/>
            <p:cNvSpPr/>
            <p:nvPr/>
          </p:nvSpPr>
          <p:spPr>
            <a:xfrm>
              <a:off x="2297900" y="716500"/>
              <a:ext cx="3518300" cy="773900"/>
            </a:xfrm>
            <a:custGeom>
              <a:avLst/>
              <a:gdLst/>
              <a:ahLst/>
              <a:cxnLst/>
              <a:rect l="l" t="t" r="r" b="b"/>
              <a:pathLst>
                <a:path w="140732" h="30956" extrusionOk="0">
                  <a:moveTo>
                    <a:pt x="0" y="30956"/>
                  </a:moveTo>
                  <a:lnTo>
                    <a:pt x="0" y="0"/>
                  </a:lnTo>
                  <a:lnTo>
                    <a:pt x="140732" y="476"/>
                  </a:lnTo>
                  <a:lnTo>
                    <a:pt x="130731" y="6668"/>
                  </a:lnTo>
                  <a:lnTo>
                    <a:pt x="111919" y="8811"/>
                  </a:lnTo>
                  <a:lnTo>
                    <a:pt x="58103" y="24051"/>
                  </a:lnTo>
                  <a:lnTo>
                    <a:pt x="45244" y="21431"/>
                  </a:lnTo>
                  <a:lnTo>
                    <a:pt x="30956" y="27146"/>
                  </a:lnTo>
                  <a:close/>
                </a:path>
              </a:pathLst>
            </a:custGeom>
            <a:solidFill>
              <a:srgbClr val="4A86E8"/>
            </a:solidFill>
            <a:ln w="28575" cap="flat" cmpd="sng">
              <a:solidFill>
                <a:srgbClr val="4A86E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24290341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420EC-D9D1-6A46-A071-CA3A2B7A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prstClr val="black"/>
                </a:solidFill>
              </a:rPr>
              <a:t>第七章</a:t>
            </a:r>
            <a:r>
              <a:rPr kumimoji="1" lang="en-US" altLang="zh-CN" dirty="0">
                <a:solidFill>
                  <a:prstClr val="black"/>
                </a:solidFill>
              </a:rPr>
              <a:t>-</a:t>
            </a:r>
            <a:r>
              <a:rPr kumimoji="1" lang="zh-CN" altLang="en-US" dirty="0">
                <a:solidFill>
                  <a:prstClr val="black"/>
                </a:solidFill>
              </a:rPr>
              <a:t>第九章</a:t>
            </a:r>
            <a:br>
              <a:rPr kumimoji="1" lang="en-US" altLang="zh-CN" dirty="0">
                <a:solidFill>
                  <a:prstClr val="black"/>
                </a:solidFill>
              </a:rPr>
            </a:br>
            <a:r>
              <a:rPr kumimoji="1" lang="zh-CN" altLang="en-US" dirty="0">
                <a:solidFill>
                  <a:prstClr val="black"/>
                </a:solidFill>
              </a:rPr>
              <a:t>图像分类、语义分割、目标检测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B926D8-AEC7-674D-B4C1-16F21CC77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3500" dirty="0"/>
              <a:t>图像分类</a:t>
            </a:r>
            <a:endParaRPr kumimoji="1" lang="en-US" altLang="zh-CN" sz="3500" dirty="0"/>
          </a:p>
          <a:p>
            <a:pPr marL="0" indent="0">
              <a:buNone/>
            </a:pPr>
            <a:r>
              <a:rPr kumimoji="1" lang="zh-CN" altLang="en-US" sz="3000" dirty="0"/>
              <a:t>        </a:t>
            </a:r>
            <a:r>
              <a:rPr kumimoji="1" lang="en-US" altLang="zh-CN" sz="3000" dirty="0"/>
              <a:t>-</a:t>
            </a:r>
            <a:r>
              <a:rPr kumimoji="1" lang="zh-CN" altLang="en-US" sz="3000" dirty="0"/>
              <a:t>定义</a:t>
            </a:r>
            <a:endParaRPr kumimoji="1" lang="en-US" altLang="zh-CN" sz="3000" dirty="0"/>
          </a:p>
          <a:p>
            <a:pPr marL="0" indent="0">
              <a:buNone/>
            </a:pPr>
            <a:r>
              <a:rPr kumimoji="1" lang="zh-CN" altLang="en-US" sz="3000" dirty="0"/>
              <a:t>        </a:t>
            </a:r>
            <a:r>
              <a:rPr kumimoji="1" lang="en-US" altLang="zh-CN" sz="3000" dirty="0"/>
              <a:t>-</a:t>
            </a:r>
            <a:r>
              <a:rPr kumimoji="1" lang="zh-CN" altLang="en-US" sz="3000" dirty="0"/>
              <a:t>基本步骤</a:t>
            </a:r>
            <a:endParaRPr kumimoji="1" lang="en-US" altLang="zh-CN" sz="3000" dirty="0"/>
          </a:p>
          <a:p>
            <a:r>
              <a:rPr kumimoji="1" lang="zh-CN" altLang="en-US" sz="3500" dirty="0"/>
              <a:t>语义分割</a:t>
            </a:r>
            <a:endParaRPr kumimoji="1" lang="en-US" altLang="zh-CN" sz="3500" dirty="0"/>
          </a:p>
          <a:p>
            <a:pPr marL="0" indent="0">
              <a:buNone/>
            </a:pPr>
            <a:r>
              <a:rPr kumimoji="1" lang="zh-CN" altLang="en-US" sz="3000" dirty="0"/>
              <a:t>        </a:t>
            </a:r>
            <a:r>
              <a:rPr kumimoji="1" lang="en-US" altLang="zh-CN" sz="3000" dirty="0"/>
              <a:t>-</a:t>
            </a:r>
            <a:r>
              <a:rPr kumimoji="1" lang="zh-CN" altLang="en-US" sz="3000" dirty="0"/>
              <a:t>定义</a:t>
            </a:r>
            <a:endParaRPr kumimoji="1" lang="en-US" altLang="zh-CN" sz="3000" dirty="0"/>
          </a:p>
          <a:p>
            <a:pPr marL="0" indent="0">
              <a:buNone/>
            </a:pPr>
            <a:r>
              <a:rPr kumimoji="1" lang="zh-CN" altLang="en-US" sz="3000" dirty="0"/>
              <a:t>        </a:t>
            </a:r>
            <a:r>
              <a:rPr kumimoji="1" lang="en-US" altLang="zh-CN" sz="3000" dirty="0"/>
              <a:t>-</a:t>
            </a:r>
            <a:r>
              <a:rPr kumimoji="1" lang="zh-CN" altLang="en-US" sz="3000" dirty="0"/>
              <a:t>基本步骤</a:t>
            </a:r>
            <a:endParaRPr kumimoji="1" lang="en-US" altLang="zh-CN" sz="3000" dirty="0"/>
          </a:p>
          <a:p>
            <a:r>
              <a:rPr kumimoji="1" lang="zh-CN" altLang="en-US" sz="3500" dirty="0"/>
              <a:t>目标检测</a:t>
            </a:r>
            <a:endParaRPr kumimoji="1" lang="en-US" altLang="zh-CN" sz="3500" dirty="0"/>
          </a:p>
          <a:p>
            <a:pPr marL="0" indent="0">
              <a:buNone/>
            </a:pPr>
            <a:r>
              <a:rPr kumimoji="1" lang="zh-CN" altLang="en-US" sz="3000" dirty="0"/>
              <a:t>        </a:t>
            </a:r>
            <a:r>
              <a:rPr kumimoji="1" lang="en-US" altLang="zh-CN" sz="3000" dirty="0"/>
              <a:t>-</a:t>
            </a:r>
            <a:r>
              <a:rPr kumimoji="1" lang="zh-CN" altLang="en-US" sz="3000" dirty="0"/>
              <a:t>定义</a:t>
            </a:r>
            <a:endParaRPr kumimoji="1" lang="en-US" altLang="zh-CN" sz="3000" dirty="0"/>
          </a:p>
          <a:p>
            <a:pPr marL="0" indent="0">
              <a:buNone/>
            </a:pPr>
            <a:r>
              <a:rPr kumimoji="1" lang="zh-CN" altLang="en-US" sz="3000" dirty="0"/>
              <a:t>        </a:t>
            </a:r>
            <a:r>
              <a:rPr kumimoji="1" lang="en-US" altLang="zh-CN" sz="3000" dirty="0"/>
              <a:t>-</a:t>
            </a:r>
            <a:r>
              <a:rPr kumimoji="1" lang="zh-CN" altLang="en-US" sz="3000" dirty="0"/>
              <a:t>基本步骤</a:t>
            </a:r>
            <a:endParaRPr kumimoji="1" lang="en-US" altLang="zh-CN" sz="3000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6057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图像分类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78;p12"/>
          <p:cNvSpPr txBox="1"/>
          <p:nvPr/>
        </p:nvSpPr>
        <p:spPr>
          <a:xfrm>
            <a:off x="7622138" y="2719788"/>
            <a:ext cx="1420992" cy="158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类别分值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0;p12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6365" y="2853048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1;p12"/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1457273" y="2788680"/>
            <a:ext cx="3485842" cy="1258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2;p12"/>
          <p:cNvSpPr txBox="1"/>
          <p:nvPr/>
        </p:nvSpPr>
        <p:spPr>
          <a:xfrm>
            <a:off x="158934" y="3982606"/>
            <a:ext cx="1304960" cy="25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oogle Shape;83;p12"/>
          <p:cNvCxnSpPr/>
          <p:nvPr/>
        </p:nvCxnSpPr>
        <p:spPr>
          <a:xfrm>
            <a:off x="5146355" y="2915802"/>
            <a:ext cx="0" cy="879327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84;p12"/>
          <p:cNvSpPr txBox="1"/>
          <p:nvPr/>
        </p:nvSpPr>
        <p:spPr>
          <a:xfrm>
            <a:off x="4293271" y="3824397"/>
            <a:ext cx="1437226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85;p12"/>
          <p:cNvSpPr txBox="1"/>
          <p:nvPr/>
        </p:nvSpPr>
        <p:spPr>
          <a:xfrm>
            <a:off x="5541332" y="3448144"/>
            <a:ext cx="1846539" cy="7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全连接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Google Shape;86;p12"/>
          <p:cNvCxnSpPr/>
          <p:nvPr/>
        </p:nvCxnSpPr>
        <p:spPr>
          <a:xfrm>
            <a:off x="5600700" y="3396470"/>
            <a:ext cx="1727803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87;p12"/>
          <p:cNvSpPr txBox="1"/>
          <p:nvPr/>
        </p:nvSpPr>
        <p:spPr>
          <a:xfrm>
            <a:off x="2402776" y="4047417"/>
            <a:ext cx="1821725" cy="25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Figure copyright Alex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Krizhevsky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Ilya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Sutskever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Geoffrey Hinton, 2012. Reproduced with permission. 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41601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BDD85-9E78-9942-918B-7C95DFCB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图像分类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AB07C7-E71E-294A-A602-935C9CE46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EECS 498-007 Lecture 2 - </a:t>
            </a:r>
            <a:fld id="{AC1089D3-84F4-7045-A571-C61BEF9B13BC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3B5E6FB-5396-A545-AD12-709FF6091766}"/>
              </a:ext>
            </a:extLst>
          </p:cNvPr>
          <p:cNvSpPr txBox="1">
            <a:spLocks/>
          </p:cNvSpPr>
          <p:nvPr/>
        </p:nvSpPr>
        <p:spPr>
          <a:xfrm>
            <a:off x="610670" y="1371600"/>
            <a:ext cx="7886700" cy="441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经典的卷积神经网络分类架构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dirty="0" err="1"/>
              <a:t>AlexNet</a:t>
            </a:r>
            <a:endParaRPr kumimoji="1" lang="en-US" altLang="zh-CN" dirty="0"/>
          </a:p>
          <a:p>
            <a:r>
              <a:rPr lang="en-US" altLang="zh-CN" dirty="0"/>
              <a:t>VGG</a:t>
            </a:r>
            <a:endParaRPr kumimoji="1" lang="en-US" altLang="zh-CN" dirty="0"/>
          </a:p>
          <a:p>
            <a:r>
              <a:rPr lang="en-US" altLang="zh-CN" dirty="0" err="1"/>
              <a:t>GoogleNet</a:t>
            </a:r>
            <a:endParaRPr kumimoji="1" lang="en-US" altLang="zh-CN" dirty="0"/>
          </a:p>
          <a:p>
            <a:r>
              <a:rPr lang="en-US" altLang="zh-CN" dirty="0" err="1"/>
              <a:t>ResNet</a:t>
            </a:r>
            <a:endParaRPr lang="en-US" altLang="zh-CN" dirty="0"/>
          </a:p>
          <a:p>
            <a:r>
              <a:rPr kumimoji="1" lang="zh-CN" altLang="en-US" dirty="0"/>
              <a:t>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4898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 Scores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Vector: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827;p46"/>
          <p:cNvSpPr txBox="1"/>
          <p:nvPr/>
        </p:nvSpPr>
        <p:spPr>
          <a:xfrm>
            <a:off x="5180929" y="4025272"/>
            <a:ext cx="1856516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Box </a:t>
            </a:r>
            <a:b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Coordinates</a:t>
            </a:r>
            <a:endParaRPr kumimoji="0" sz="1865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w, h)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828;p46"/>
          <p:cNvCxnSpPr/>
          <p:nvPr/>
        </p:nvCxnSpPr>
        <p:spPr>
          <a:xfrm>
            <a:off x="4049989" y="3655634"/>
            <a:ext cx="1194049" cy="4674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829;p46"/>
          <p:cNvSpPr txBox="1"/>
          <p:nvPr/>
        </p:nvSpPr>
        <p:spPr>
          <a:xfrm>
            <a:off x="4238300" y="3869288"/>
            <a:ext cx="1050926" cy="7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4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31;p46"/>
          <p:cNvSpPr txBox="1"/>
          <p:nvPr/>
        </p:nvSpPr>
        <p:spPr>
          <a:xfrm>
            <a:off x="6737002" y="4183062"/>
            <a:ext cx="960950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832;p46"/>
          <p:cNvSpPr txBox="1"/>
          <p:nvPr/>
        </p:nvSpPr>
        <p:spPr>
          <a:xfrm>
            <a:off x="8183936" y="3160442"/>
            <a:ext cx="662828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834;p46"/>
          <p:cNvCxnSpPr/>
          <p:nvPr/>
        </p:nvCxnSpPr>
        <p:spPr>
          <a:xfrm flipV="1">
            <a:off x="6394450" y="4355333"/>
            <a:ext cx="342553" cy="76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 label: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837;p46"/>
          <p:cNvSpPr txBox="1"/>
          <p:nvPr/>
        </p:nvSpPr>
        <p:spPr>
          <a:xfrm>
            <a:off x="6577415" y="483953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 box</a:t>
            </a: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(x’, y’, w’, h’)</a:t>
            </a: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838;p46"/>
          <p:cNvCxnSpPr>
            <a:endCxn id="15" idx="2"/>
          </p:cNvCxnSpPr>
          <p:nvPr/>
        </p:nvCxnSpPr>
        <p:spPr>
          <a:xfrm flipV="1">
            <a:off x="7217477" y="4556165"/>
            <a:ext cx="0" cy="2833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839;p46"/>
          <p:cNvSpPr txBox="1"/>
          <p:nvPr/>
        </p:nvSpPr>
        <p:spPr>
          <a:xfrm>
            <a:off x="6737003" y="3056843"/>
            <a:ext cx="964209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Weighted Sum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Google Shape;840;p46"/>
          <p:cNvCxnSpPr>
            <a:stCxn id="14" idx="2"/>
            <a:endCxn id="23" idx="0"/>
          </p:cNvCxnSpPr>
          <p:nvPr/>
        </p:nvCxnSpPr>
        <p:spPr>
          <a:xfrm flipH="1">
            <a:off x="7219107" y="2593455"/>
            <a:ext cx="1" cy="4633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841;p46"/>
          <p:cNvCxnSpPr>
            <a:stCxn id="15" idx="0"/>
            <a:endCxn id="23" idx="2"/>
          </p:cNvCxnSpPr>
          <p:nvPr/>
        </p:nvCxnSpPr>
        <p:spPr>
          <a:xfrm flipV="1">
            <a:off x="7217478" y="3631792"/>
            <a:ext cx="1630" cy="5512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842;p46"/>
          <p:cNvCxnSpPr>
            <a:stCxn id="23" idx="3"/>
            <a:endCxn id="16" idx="1"/>
          </p:cNvCxnSpPr>
          <p:nvPr/>
        </p:nvCxnSpPr>
        <p:spPr>
          <a:xfrm>
            <a:off x="7701212" y="3344318"/>
            <a:ext cx="482725" cy="26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845;p46"/>
          <p:cNvSpPr txBox="1"/>
          <p:nvPr/>
        </p:nvSpPr>
        <p:spPr>
          <a:xfrm>
            <a:off x="7571193" y="2232434"/>
            <a:ext cx="1437053" cy="89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Multitask Loss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876;p47"/>
          <p:cNvSpPr/>
          <p:nvPr/>
        </p:nvSpPr>
        <p:spPr>
          <a:xfrm>
            <a:off x="1463893" y="2944777"/>
            <a:ext cx="2193707" cy="776324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877;p47"/>
          <p:cNvSpPr txBox="1"/>
          <p:nvPr/>
        </p:nvSpPr>
        <p:spPr>
          <a:xfrm>
            <a:off x="1622359" y="1922005"/>
            <a:ext cx="1978738" cy="98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骨干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网络</a:t>
            </a:r>
            <a:endParaRPr kumimoji="0" lang="en-US" altLang="zh-CN" sz="1865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(Transfer learning)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25217" y="4857728"/>
            <a:ext cx="116570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位置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0482" y="1159614"/>
            <a:ext cx="116570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类别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sp>
        <p:nvSpPr>
          <p:cNvPr id="35" name="Google Shape;844;p46"/>
          <p:cNvSpPr txBox="1"/>
          <p:nvPr/>
        </p:nvSpPr>
        <p:spPr>
          <a:xfrm>
            <a:off x="711795" y="4105453"/>
            <a:ext cx="2712494" cy="64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将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定位看成回归问题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8413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</a:t>
            </a:r>
            <a:r>
              <a:rPr lang="zh-CN" altLang="en-US" dirty="0"/>
              <a:t>测试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73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4255226" cy="3778247"/>
            <a:chOff x="522336" y="243022"/>
            <a:chExt cx="5608556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4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04782" y="1205413"/>
            <a:ext cx="4123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RGB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运行候选区域算法获取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~2000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候选区域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伸缩每个区域到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224x224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并各自独立的经过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CNN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预测类别分值和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bbox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变换参数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根据分值选择候选区域输出</a:t>
            </a:r>
            <a:br>
              <a:rPr lang="en-US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选择方法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阈值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或按类别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?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或取最大的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K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候选区域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?)</a:t>
            </a: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与真实分布框比较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59373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upload.wikimedia.org/wikipedia/commons/thumb/6/64/The_Puppy.jpg/640px-The_Pupp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643" y="1838487"/>
            <a:ext cx="5231602" cy="34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检测框比较</a:t>
            </a:r>
            <a:r>
              <a:rPr lang="en-US" altLang="zh-CN" dirty="0"/>
              <a:t>: </a:t>
            </a:r>
            <a:r>
              <a:rPr lang="zh-CN" altLang="en-US" dirty="0"/>
              <a:t>交叠率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0700" y="5481980"/>
            <a:ext cx="3487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Puppy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licensed under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CC-A 2.0 Generic license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. Bounding boxes and text added by Justin Johnson.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08" y="1930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srgbClr val="00B0F0"/>
                </a:solidFill>
              </a:rPr>
              <a:t>预测边框</a:t>
            </a:r>
            <a:endParaRPr lang="en-US" altLang="zh-CN" sz="2400" b="1" dirty="0">
              <a:solidFill>
                <a:srgbClr val="00B0F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1105" y="2541939"/>
            <a:ext cx="1035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2400" b="1" dirty="0">
                <a:solidFill>
                  <a:srgbClr val="00FF00"/>
                </a:solidFill>
              </a:rPr>
              <a:t>真实分布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zh-CN" altLang="en-US" dirty="0">
                    <a:solidFill>
                      <a:prstClr val="black"/>
                    </a:solidFill>
                  </a:rPr>
                  <a:t>如何计算检测边框和真实边框差异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?</a:t>
                </a:r>
              </a:p>
              <a:p>
                <a:pPr defTabSz="685800"/>
                <a:endParaRPr lang="en-US" altLang="zh-CN" dirty="0">
                  <a:solidFill>
                    <a:prstClr val="black"/>
                  </a:solidFill>
                </a:endParaRPr>
              </a:p>
              <a:p>
                <a:pPr defTabSz="685800"/>
                <a:r>
                  <a:rPr lang="en-US" altLang="zh-CN" b="1" dirty="0">
                    <a:solidFill>
                      <a:prstClr val="black"/>
                    </a:solidFill>
                  </a:rPr>
                  <a:t>Intersection over Union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en-US" altLang="zh-CN" dirty="0" err="1">
                    <a:solidFill>
                      <a:prstClr val="black"/>
                    </a:solidFill>
                  </a:rPr>
                  <a:t>IoU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)</a:t>
                </a:r>
              </a:p>
              <a:p>
                <a:pPr defTabSz="685800"/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也称为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相似系数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 or 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指数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”):</a:t>
                </a:r>
              </a:p>
              <a:p>
                <a:pPr defTabSz="685800"/>
                <a:endParaRPr lang="en-US" altLang="zh-CN" sz="2100" dirty="0">
                  <a:solidFill>
                    <a:prstClr val="black"/>
                  </a:solidFill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altLang="zh-CN" sz="21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相交的面积</m:t>
                          </m:r>
                        </m:num>
                        <m:den>
                          <m:r>
                            <a:rPr lang="en-US" altLang="zh-CN" sz="2100" b="1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合并的面积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blipFill>
                <a:blip r:embed="rId5"/>
                <a:stretch>
                  <a:fillRect l="-1465" t="-917" b="-1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730621" y="2627734"/>
            <a:ext cx="2757198" cy="2659865"/>
          </a:xfrm>
          <a:prstGeom prst="rect">
            <a:avLst/>
          </a:prstGeom>
          <a:solidFill>
            <a:srgbClr val="7030A0">
              <a:alpha val="50000"/>
            </a:srgb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95937" y="2665464"/>
            <a:ext cx="2600906" cy="25795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30620" y="2634732"/>
            <a:ext cx="2666222" cy="26032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938" y="2669722"/>
            <a:ext cx="2691881" cy="2617236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6136" y="3712882"/>
            <a:ext cx="1781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3000" dirty="0">
                <a:solidFill>
                  <a:prstClr val="black"/>
                </a:solidFill>
                <a:latin typeface="Calibri" panose="020F0502020204030204"/>
              </a:rPr>
              <a:t> = 0.91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206" y="4864059"/>
            <a:ext cx="2468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0.5</a:t>
            </a:r>
            <a:r>
              <a:rPr lang="zh-CN" altLang="en-US" dirty="0">
                <a:solidFill>
                  <a:prstClr val="black"/>
                </a:solidFill>
              </a:rPr>
              <a:t>是可接受的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0.7</a:t>
            </a:r>
            <a:r>
              <a:rPr lang="zh-CN" altLang="en-US" dirty="0">
                <a:solidFill>
                  <a:prstClr val="black"/>
                </a:solidFill>
              </a:rPr>
              <a:t>是足够好的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0.9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是几乎完美的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23695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ure group play puppy dog pet young mammal two dogs fun golden retriever animals vertebrate joy dog breed ret"/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42" y="1575698"/>
            <a:ext cx="5243803" cy="378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r>
              <a:rPr lang="en-US" altLang="zh-CN" dirty="0"/>
              <a:t>: </a:t>
            </a:r>
            <a:r>
              <a:rPr lang="zh-CN" altLang="en-US" b="1" dirty="0"/>
              <a:t>非最大化抑制</a:t>
            </a:r>
            <a:r>
              <a:rPr lang="en-US" b="1" dirty="0"/>
              <a:t>(NMS)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8" y="1632719"/>
            <a:ext cx="3625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问题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目标检测子经常出现许多重叠结果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方案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对粗检测结果进行非最大化抑制</a:t>
            </a:r>
            <a:r>
              <a:rPr lang="en-US" altLang="zh-CN" b="1" dirty="0">
                <a:solidFill>
                  <a:prstClr val="black"/>
                </a:solidFill>
              </a:rPr>
              <a:t>(NMS)</a:t>
            </a:r>
            <a:endParaRPr lang="en-US" altLang="zh-CN" dirty="0">
              <a:solidFill>
                <a:prstClr val="black"/>
              </a:solidFill>
            </a:endParaRPr>
          </a:p>
          <a:p>
            <a:pPr defTabSz="685800"/>
            <a:endParaRPr lang="en-US" altLang="zh-CN" b="1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选择下一个高分值边框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去除</a:t>
            </a:r>
            <a:r>
              <a:rPr lang="en-US" altLang="zh-CN" dirty="0" err="1">
                <a:solidFill>
                  <a:prstClr val="black"/>
                </a:solidFill>
              </a:rPr>
              <a:t>IoU</a:t>
            </a:r>
            <a:r>
              <a:rPr lang="en-US" altLang="zh-CN" dirty="0">
                <a:solidFill>
                  <a:prstClr val="black"/>
                </a:solidFill>
              </a:rPr>
              <a:t>&gt;</a:t>
            </a:r>
            <a:r>
              <a:rPr lang="zh-CN" altLang="en-US" dirty="0">
                <a:solidFill>
                  <a:prstClr val="black"/>
                </a:solidFill>
              </a:rPr>
              <a:t>阈值</a:t>
            </a:r>
            <a:r>
              <a:rPr lang="en-US" altLang="zh-CN" dirty="0">
                <a:solidFill>
                  <a:prstClr val="black"/>
                </a:solidFill>
              </a:rPr>
              <a:t>(e.g. 0.7)</a:t>
            </a:r>
            <a:r>
              <a:rPr lang="zh-CN" altLang="en-US" dirty="0">
                <a:solidFill>
                  <a:prstClr val="black"/>
                </a:solidFill>
              </a:rPr>
              <a:t>的低分值边框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如果仍然存在满足条件的边框</a:t>
            </a:r>
            <a:r>
              <a:rPr lang="en-US" altLang="zh-CN" dirty="0">
                <a:solidFill>
                  <a:prstClr val="black"/>
                </a:solidFill>
              </a:rPr>
              <a:t>, GOTO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488" y="1886839"/>
            <a:ext cx="22813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b="1" dirty="0">
                <a:solidFill>
                  <a:srgbClr val="7030A0"/>
                </a:solidFill>
                <a:latin typeface="Calibri" panose="020F0502020204030204"/>
              </a:rPr>
              <a:t>P(dog) = 0.75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366" y="376960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FFC000"/>
                </a:solidFill>
                <a:latin typeface="Calibri" panose="020F0502020204030204"/>
              </a:rPr>
              <a:t>P(dog) </a:t>
            </a:r>
            <a:r>
              <a:rPr lang="en-US" sz="2400" b="1">
                <a:solidFill>
                  <a:srgbClr val="FFC000"/>
                </a:solidFill>
                <a:latin typeface="Calibri" panose="020F0502020204030204"/>
              </a:rPr>
              <a:t>= 0.7</a:t>
            </a:r>
            <a:endParaRPr lang="en-US" sz="2400" b="1" dirty="0">
              <a:solidFill>
                <a:srgbClr val="FFC000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0405" y="4904334"/>
            <a:ext cx="1675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>
                <a:solidFill>
                  <a:srgbClr val="FFC000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 = </a:t>
            </a:r>
            <a:r>
              <a:rPr lang="en-US" b="1" dirty="0">
                <a:solidFill>
                  <a:srgbClr val="C00000"/>
                </a:solidFill>
                <a:latin typeface="Calibri" panose="020F0502020204030204"/>
              </a:rPr>
              <a:t>0.74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52464" y="2011392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4472C4"/>
                </a:solidFill>
                <a:latin typeface="Calibri" panose="020F0502020204030204"/>
              </a:rPr>
              <a:t>P(dog) = 0.9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5616" y="2501772"/>
            <a:ext cx="2789468" cy="2337317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82015" y="1878449"/>
            <a:ext cx="2815030" cy="2652730"/>
          </a:xfrm>
          <a:prstGeom prst="rect">
            <a:avLst/>
          </a:prstGeom>
          <a:noFill/>
          <a:ln w="1270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51864" y="1701887"/>
            <a:ext cx="2917292" cy="2570367"/>
          </a:xfrm>
          <a:prstGeom prst="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93698" y="5472474"/>
            <a:ext cx="124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Puppy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CC0 Public Domain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734069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360437" y="4034324"/>
            <a:ext cx="2442288" cy="1224643"/>
          </a:xfrm>
          <a:custGeom>
            <a:avLst/>
            <a:gdLst>
              <a:gd name="connsiteX0" fmla="*/ 0 w 3256384"/>
              <a:gd name="connsiteY0" fmla="*/ 1623526 h 1632857"/>
              <a:gd name="connsiteX1" fmla="*/ 0 w 3256384"/>
              <a:gd name="connsiteY1" fmla="*/ 9331 h 1632857"/>
              <a:gd name="connsiteX2" fmla="*/ 1026367 w 3256384"/>
              <a:gd name="connsiteY2" fmla="*/ 0 h 1632857"/>
              <a:gd name="connsiteX3" fmla="*/ 2090057 w 3256384"/>
              <a:gd name="connsiteY3" fmla="*/ 0 h 1632857"/>
              <a:gd name="connsiteX4" fmla="*/ 2062065 w 3256384"/>
              <a:gd name="connsiteY4" fmla="*/ 774441 h 1632857"/>
              <a:gd name="connsiteX5" fmla="*/ 3256384 w 3256384"/>
              <a:gd name="connsiteY5" fmla="*/ 625151 h 1632857"/>
              <a:gd name="connsiteX6" fmla="*/ 3256384 w 3256384"/>
              <a:gd name="connsiteY6" fmla="*/ 1632857 h 1632857"/>
              <a:gd name="connsiteX7" fmla="*/ 0 w 3256384"/>
              <a:gd name="connsiteY7" fmla="*/ 1623526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6384" h="1632857">
                <a:moveTo>
                  <a:pt x="0" y="1623526"/>
                </a:moveTo>
                <a:lnTo>
                  <a:pt x="0" y="9331"/>
                </a:lnTo>
                <a:lnTo>
                  <a:pt x="1026367" y="0"/>
                </a:lnTo>
                <a:lnTo>
                  <a:pt x="2090057" y="0"/>
                </a:lnTo>
                <a:lnTo>
                  <a:pt x="2062065" y="774441"/>
                </a:lnTo>
                <a:lnTo>
                  <a:pt x="3256384" y="625151"/>
                </a:lnTo>
                <a:lnTo>
                  <a:pt x="3256384" y="1632857"/>
                </a:lnTo>
                <a:lnTo>
                  <a:pt x="0" y="162352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20" name="Oval 19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833340" y="4530548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833340" y="421865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717992" y="443032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68433" y="4689171"/>
            <a:ext cx="20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Dog AP = 0.86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878" y="4603055"/>
            <a:ext cx="3571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如何得到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AP = 1.0: 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对于所有</a:t>
            </a:r>
            <a:r>
              <a:rPr lang="en-US" altLang="zh-CN" b="1" dirty="0" err="1">
                <a:solidFill>
                  <a:srgbClr val="70AD47"/>
                </a:solidFill>
              </a:rPr>
              <a:t>IoU</a:t>
            </a:r>
            <a:r>
              <a:rPr lang="en-US" altLang="zh-CN" b="1" dirty="0">
                <a:solidFill>
                  <a:srgbClr val="70AD47"/>
                </a:solidFill>
              </a:rPr>
              <a:t> &gt; 0.5</a:t>
            </a:r>
            <a:r>
              <a:rPr lang="zh-CN" altLang="en-US" b="1" dirty="0">
                <a:solidFill>
                  <a:srgbClr val="70AD47"/>
                </a:solidFill>
              </a:rPr>
              <a:t>的</a:t>
            </a:r>
            <a:r>
              <a:rPr lang="en-US" altLang="zh-CN" b="1" dirty="0">
                <a:solidFill>
                  <a:srgbClr val="70AD47"/>
                </a:solidFill>
              </a:rPr>
              <a:t>GT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边框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, 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没有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“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虚警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” 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分值高于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“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正确结果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50216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77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47928" y="2214856"/>
            <a:ext cx="26566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mAP@0.5 = 0.77</a:t>
            </a: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mAP@0.55 = 0.71</a:t>
            </a: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mAP@0.60 = 0.65</a:t>
            </a:r>
          </a:p>
          <a:p>
            <a:pPr defTabSz="685800"/>
            <a:r>
              <a:rPr lang="mr-IN" sz="2400" dirty="0">
                <a:solidFill>
                  <a:prstClr val="black"/>
                </a:solidFill>
                <a:latin typeface="Calibri" panose="020F0502020204030204"/>
                <a:cs typeface="Mangal" panose="02040503050203030202" pitchFamily="18" charset="0"/>
              </a:rPr>
              <a:t>…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mAP@0.95 = 0.2</a:t>
            </a:r>
          </a:p>
          <a:p>
            <a:pPr defTabSz="68580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COCO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= 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62" y="2214856"/>
            <a:ext cx="46135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</a:rPr>
              <a:t>GT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边框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标记其为正并且抑制这个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否则，标记其为负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</a:rPr>
              <a:t>PR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曲线下画一个点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均值平均精确率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) =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平均各个类别的</a:t>
            </a: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</a:rPr>
              <a:t>AP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对于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“COCO 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”: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在不同的</a:t>
            </a:r>
            <a:r>
              <a:rPr lang="en-US" altLang="zh-CN" sz="15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阈值</a:t>
            </a:r>
            <a:r>
              <a:rPr lang="en-US" altLang="zh-CN" sz="1500" dirty="0">
                <a:solidFill>
                  <a:prstClr val="black"/>
                </a:solidFill>
              </a:rPr>
              <a:t>(0.5, 0.55, 0.6, </a:t>
            </a:r>
            <a:r>
              <a:rPr lang="mr-IN" altLang="zh-CN" sz="1500" dirty="0">
                <a:solidFill>
                  <a:prstClr val="black"/>
                </a:solidFill>
              </a:rPr>
              <a:t>…</a:t>
            </a:r>
            <a:r>
              <a:rPr lang="en-US" altLang="zh-CN" sz="1500" dirty="0">
                <a:solidFill>
                  <a:prstClr val="black"/>
                </a:solidFill>
              </a:rPr>
              <a:t>, 0.95)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下分别计算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mAP@thresh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并取平均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224276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 vs “Slow”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78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8468" y="1864948"/>
            <a:ext cx="3345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Fast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使用可微的裁剪处理全局图像特征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63571" y="1860673"/>
            <a:ext cx="3491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“Slow”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  <a:r>
              <a:rPr lang="zh-CN" altLang="en-US" sz="1799" dirty="0">
                <a:solidFill>
                  <a:prstClr val="black"/>
                </a:solidFill>
              </a:rPr>
              <a:t>每个候选区域独立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sz="1799" dirty="0">
                <a:solidFill>
                  <a:prstClr val="black"/>
                </a:solidFill>
              </a:rPr>
              <a:t>处理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5B9A1B6-B62D-7448-8AC2-F637D61F1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07" y="2667000"/>
            <a:ext cx="4058765" cy="28525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ED9682B-B4C9-FD4D-A2E6-E37A1906E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07004"/>
            <a:ext cx="4400327" cy="29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634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79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</a:t>
            </a:r>
            <a:r>
              <a:rPr lang="en-US" b="1" u="sng" dirty="0"/>
              <a:t>er</a:t>
            </a:r>
            <a:r>
              <a:rPr lang="en-US" dirty="0"/>
              <a:t> R-CNN:</a:t>
            </a:r>
            <a:r>
              <a:rPr lang="zh-CN" altLang="en-US" dirty="0"/>
              <a:t>可学习的候选区域方法</a:t>
            </a:r>
            <a:endParaRPr lang="en-US" dirty="0"/>
          </a:p>
        </p:txBody>
      </p:sp>
      <p:pic>
        <p:nvPicPr>
          <p:cNvPr id="18" name="Google Shape;20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513" y="1604574"/>
            <a:ext cx="5075738" cy="400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043;p84"/>
          <p:cNvSpPr/>
          <p:nvPr/>
        </p:nvSpPr>
        <p:spPr>
          <a:xfrm>
            <a:off x="3400473" y="1570556"/>
            <a:ext cx="2200227" cy="567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Google Shape;2296;p94"/>
          <p:cNvSpPr txBox="1"/>
          <p:nvPr/>
        </p:nvSpPr>
        <p:spPr>
          <a:xfrm>
            <a:off x="120669" y="1768683"/>
            <a:ext cx="3841102" cy="352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Faster R-CNN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是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一个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1799" b="1" dirty="0">
                <a:solidFill>
                  <a:prstClr val="black"/>
                </a:solidFill>
                <a:latin typeface="Calibri" panose="020F0502020204030204"/>
              </a:rPr>
              <a:t>两步</a:t>
            </a:r>
            <a:r>
              <a:rPr lang="zh-CN" altLang="en-US" sz="1799" b="1" dirty="0">
                <a:solidFill>
                  <a:prstClr val="black"/>
                </a:solidFill>
                <a:latin typeface="Calibri" panose="020F0502020204030204"/>
              </a:rPr>
              <a:t>目标检测子</a:t>
            </a:r>
            <a:endParaRPr lang="en-US" altLang="zh-CN" sz="17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第一步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每张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图片执行一次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骨干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网络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候选网络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第二步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每个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区域执行一次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裁剪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" sz="1799" dirty="0" err="1">
                <a:solidFill>
                  <a:prstClr val="black"/>
                </a:solidFill>
                <a:latin typeface="Calibri" panose="020F0502020204030204"/>
              </a:rPr>
              <a:t>RoI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池化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 /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对齐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预测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目标类别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预测</a:t>
            </a:r>
            <a:r>
              <a:rPr lang="en" sz="1799" dirty="0" err="1">
                <a:solidFill>
                  <a:prstClr val="black"/>
                </a:solidFill>
                <a:latin typeface="Calibri" panose="020F0502020204030204"/>
              </a:rPr>
              <a:t>bbox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偏移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Google Shape;2297;p94"/>
          <p:cNvSpPr/>
          <p:nvPr/>
        </p:nvSpPr>
        <p:spPr>
          <a:xfrm>
            <a:off x="67582" y="2903587"/>
            <a:ext cx="3793412" cy="980744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Google Shape;2298;p94"/>
          <p:cNvSpPr/>
          <p:nvPr/>
        </p:nvSpPr>
        <p:spPr>
          <a:xfrm>
            <a:off x="4793701" y="2551853"/>
            <a:ext cx="3209764" cy="2746685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Google Shape;2299;p94"/>
          <p:cNvSpPr/>
          <p:nvPr/>
        </p:nvSpPr>
        <p:spPr>
          <a:xfrm>
            <a:off x="67582" y="4038492"/>
            <a:ext cx="3793412" cy="1194889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300;p94"/>
          <p:cNvSpPr/>
          <p:nvPr/>
        </p:nvSpPr>
        <p:spPr>
          <a:xfrm>
            <a:off x="5794049" y="1570556"/>
            <a:ext cx="3064202" cy="900108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68300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32FBF-3537-2E4B-8F0A-7D339E0B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区域分割定义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001A6-482F-0049-928A-FE32D8C10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令集合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代表整个图像区域，对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zh-CN" altLang="en-US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的分割可看作将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zh-CN" altLang="en-US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分成若干个满足以下条件的非空子集（子区域） 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en-US" altLang="zh-CN" sz="28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en-US" altLang="zh-CN" sz="28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en-US" altLang="zh-CN" sz="28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800" dirty="0">
                <a:latin typeface="KaiTi" panose="02010609060101010101" pitchFamily="49" charset="-122"/>
                <a:ea typeface="KaiTi" panose="02010609060101010101" pitchFamily="49" charset="-122"/>
              </a:rPr>
              <a:t>…</a:t>
            </a:r>
            <a:r>
              <a:rPr lang="zh-CN" altLang="en-US" sz="28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800" i="1" dirty="0">
                <a:latin typeface="KaiTi" panose="02010609060101010101" pitchFamily="49" charset="-122"/>
                <a:ea typeface="KaiTi" panose="02010609060101010101" pitchFamily="49" charset="-122"/>
              </a:rPr>
              <a:t>R</a:t>
            </a:r>
            <a:r>
              <a:rPr lang="en-US" altLang="zh-CN" sz="28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n</a:t>
            </a:r>
            <a:r>
              <a:rPr lang="en-US" altLang="zh-CN" sz="2800" dirty="0">
                <a:latin typeface="KaiTi" panose="02010609060101010101" pitchFamily="49" charset="-122"/>
                <a:ea typeface="KaiTi" panose="02010609060101010101" pitchFamily="49" charset="-122"/>
              </a:rPr>
              <a:t>: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8FFF2FF-D61E-F845-95CD-3243230B96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094244"/>
          <a:ext cx="5729287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Microsoft 公式 3.0" r:id="rId3" imgW="54711600" imgH="33350200" progId="Equation.3">
                  <p:embed/>
                </p:oleObj>
              </mc:Choice>
              <mc:Fallback>
                <p:oleObj name="Microsoft 公式 3.0" r:id="rId3" imgW="54711600" imgH="3335020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8FFF2FF-D61E-F845-95CD-3243230B96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094244"/>
                        <a:ext cx="5729287" cy="34559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92735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C5DC-F615-4347-A00D-4AB92D7E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dirty="0"/>
              <a:t>语义分割</a:t>
            </a:r>
            <a:r>
              <a:rPr lang="en-US" dirty="0"/>
              <a:t>: </a:t>
            </a:r>
            <a:r>
              <a:rPr lang="zh-CN" altLang="en-US" dirty="0"/>
              <a:t>滑动窗口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481FE-609B-F340-85F4-8C0BF37E7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16 -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81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201;p17">
            <a:extLst>
              <a:ext uri="{FF2B5EF4-FFF2-40B4-BE49-F238E27FC236}">
                <a16:creationId xmlns:a16="http://schemas.microsoft.com/office/drawing/2014/main" id="{A63BE2BC-677D-0E44-A604-BADD79A4E4A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4666" y="2940934"/>
            <a:ext cx="2469980" cy="16460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2;p17">
            <a:extLst>
              <a:ext uri="{FF2B5EF4-FFF2-40B4-BE49-F238E27FC236}">
                <a16:creationId xmlns:a16="http://schemas.microsoft.com/office/drawing/2014/main" id="{753806D7-8DF4-174D-87AA-90978AECBB16}"/>
              </a:ext>
            </a:extLst>
          </p:cNvPr>
          <p:cNvSpPr/>
          <p:nvPr/>
        </p:nvSpPr>
        <p:spPr>
          <a:xfrm>
            <a:off x="2440233" y="3600285"/>
            <a:ext cx="246536" cy="24653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" name="Google Shape;203;p17">
            <a:extLst>
              <a:ext uri="{FF2B5EF4-FFF2-40B4-BE49-F238E27FC236}">
                <a16:creationId xmlns:a16="http://schemas.microsoft.com/office/drawing/2014/main" id="{B40E819F-2DF3-A640-9D77-E5068EA9DAB4}"/>
              </a:ext>
            </a:extLst>
          </p:cNvPr>
          <p:cNvCxnSpPr/>
          <p:nvPr/>
        </p:nvCxnSpPr>
        <p:spPr>
          <a:xfrm rot="10800000" flipH="1">
            <a:off x="2740660" y="2604534"/>
            <a:ext cx="1283366" cy="97474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" name="Google Shape;204;p17">
            <a:extLst>
              <a:ext uri="{FF2B5EF4-FFF2-40B4-BE49-F238E27FC236}">
                <a16:creationId xmlns:a16="http://schemas.microsoft.com/office/drawing/2014/main" id="{8B0B64F3-CD7B-4E4A-9A9D-FFB651532F6B}"/>
              </a:ext>
            </a:extLst>
          </p:cNvPr>
          <p:cNvCxnSpPr/>
          <p:nvPr/>
        </p:nvCxnSpPr>
        <p:spPr>
          <a:xfrm rot="10800000" flipH="1">
            <a:off x="2770578" y="3343167"/>
            <a:ext cx="1262971" cy="55005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Google Shape;205;p17">
            <a:extLst>
              <a:ext uri="{FF2B5EF4-FFF2-40B4-BE49-F238E27FC236}">
                <a16:creationId xmlns:a16="http://schemas.microsoft.com/office/drawing/2014/main" id="{7E32600F-F64D-C643-AF02-15811E584B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6852" t="39886" r="21837" b="41464"/>
          <a:stretch/>
        </p:blipFill>
        <p:spPr>
          <a:xfrm>
            <a:off x="4063616" y="2601536"/>
            <a:ext cx="680885" cy="7481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06;p17">
            <a:extLst>
              <a:ext uri="{FF2B5EF4-FFF2-40B4-BE49-F238E27FC236}">
                <a16:creationId xmlns:a16="http://schemas.microsoft.com/office/drawing/2014/main" id="{F15993B8-71E6-CE43-B12F-FA36EF094AF8}"/>
              </a:ext>
            </a:extLst>
          </p:cNvPr>
          <p:cNvSpPr txBox="1"/>
          <p:nvPr/>
        </p:nvSpPr>
        <p:spPr>
          <a:xfrm>
            <a:off x="1356496" y="2535246"/>
            <a:ext cx="1679513" cy="32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Full image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207;p17">
            <a:extLst>
              <a:ext uri="{FF2B5EF4-FFF2-40B4-BE49-F238E27FC236}">
                <a16:creationId xmlns:a16="http://schemas.microsoft.com/office/drawing/2014/main" id="{B7B53BFB-0334-BD4B-A219-9F451FB352AB}"/>
              </a:ext>
            </a:extLst>
          </p:cNvPr>
          <p:cNvSpPr txBox="1"/>
          <p:nvPr/>
        </p:nvSpPr>
        <p:spPr>
          <a:xfrm>
            <a:off x="3979275" y="1834015"/>
            <a:ext cx="969223" cy="73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Extract patch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Google Shape;208;p17">
            <a:extLst>
              <a:ext uri="{FF2B5EF4-FFF2-40B4-BE49-F238E27FC236}">
                <a16:creationId xmlns:a16="http://schemas.microsoft.com/office/drawing/2014/main" id="{7954DC5E-D3DF-314D-AD47-94D3090611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4845014" y="3440174"/>
            <a:ext cx="2021946" cy="72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09;p17">
            <a:extLst>
              <a:ext uri="{FF2B5EF4-FFF2-40B4-BE49-F238E27FC236}">
                <a16:creationId xmlns:a16="http://schemas.microsoft.com/office/drawing/2014/main" id="{ADF43FF8-2509-8647-B6CD-7D544FFEADB3}"/>
              </a:ext>
            </a:extLst>
          </p:cNvPr>
          <p:cNvSpPr txBox="1"/>
          <p:nvPr/>
        </p:nvSpPr>
        <p:spPr>
          <a:xfrm>
            <a:off x="4980515" y="1976910"/>
            <a:ext cx="1750944" cy="47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Classify center pixel with 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Google Shape;210;p17">
            <a:extLst>
              <a:ext uri="{FF2B5EF4-FFF2-40B4-BE49-F238E27FC236}">
                <a16:creationId xmlns:a16="http://schemas.microsoft.com/office/drawing/2014/main" id="{BD9B0507-359C-F146-9A6B-E2140BFCB85A}"/>
              </a:ext>
            </a:extLst>
          </p:cNvPr>
          <p:cNvSpPr/>
          <p:nvPr/>
        </p:nvSpPr>
        <p:spPr>
          <a:xfrm>
            <a:off x="4344218" y="2915791"/>
            <a:ext cx="119669" cy="11966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Google Shape;211;p17">
            <a:extLst>
              <a:ext uri="{FF2B5EF4-FFF2-40B4-BE49-F238E27FC236}">
                <a16:creationId xmlns:a16="http://schemas.microsoft.com/office/drawing/2014/main" id="{BF97C04B-0258-DC4C-A5FA-3DF62B5054EA}"/>
              </a:ext>
            </a:extLst>
          </p:cNvPr>
          <p:cNvSpPr txBox="1"/>
          <p:nvPr/>
        </p:nvSpPr>
        <p:spPr>
          <a:xfrm>
            <a:off x="7114122" y="3447765"/>
            <a:ext cx="986743" cy="5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399">
                <a:solidFill>
                  <a:prstClr val="black"/>
                </a:solidFill>
                <a:latin typeface="Calibri" panose="020F0502020204030204"/>
              </a:rPr>
              <a:t>Cow</a:t>
            </a:r>
            <a:endParaRPr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Google Shape;212;p17">
            <a:extLst>
              <a:ext uri="{FF2B5EF4-FFF2-40B4-BE49-F238E27FC236}">
                <a16:creationId xmlns:a16="http://schemas.microsoft.com/office/drawing/2014/main" id="{9DFA2DC9-4592-9449-8EAD-D96EBB378ACE}"/>
              </a:ext>
            </a:extLst>
          </p:cNvPr>
          <p:cNvSpPr/>
          <p:nvPr/>
        </p:nvSpPr>
        <p:spPr>
          <a:xfrm>
            <a:off x="2592593" y="3752645"/>
            <a:ext cx="246536" cy="246536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Google Shape;213;p17">
            <a:extLst>
              <a:ext uri="{FF2B5EF4-FFF2-40B4-BE49-F238E27FC236}">
                <a16:creationId xmlns:a16="http://schemas.microsoft.com/office/drawing/2014/main" id="{EB37ADB1-896F-DE49-BE70-7B7F3B072114}"/>
              </a:ext>
            </a:extLst>
          </p:cNvPr>
          <p:cNvSpPr/>
          <p:nvPr/>
        </p:nvSpPr>
        <p:spPr>
          <a:xfrm>
            <a:off x="2744953" y="3905005"/>
            <a:ext cx="246536" cy="246536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Google Shape;214;p17">
            <a:extLst>
              <a:ext uri="{FF2B5EF4-FFF2-40B4-BE49-F238E27FC236}">
                <a16:creationId xmlns:a16="http://schemas.microsoft.com/office/drawing/2014/main" id="{1AF5D060-0A82-B442-9678-E6B74BD7A9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1933" t="47184" r="16757" b="34624"/>
          <a:stretch/>
        </p:blipFill>
        <p:spPr>
          <a:xfrm>
            <a:off x="4063616" y="3447914"/>
            <a:ext cx="680873" cy="72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15;p17">
            <a:extLst>
              <a:ext uri="{FF2B5EF4-FFF2-40B4-BE49-F238E27FC236}">
                <a16:creationId xmlns:a16="http://schemas.microsoft.com/office/drawing/2014/main" id="{7D671C17-F230-EC4B-A9A2-D9B8A9BA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8826" t="55848" r="10564" b="25960"/>
          <a:stretch/>
        </p:blipFill>
        <p:spPr>
          <a:xfrm>
            <a:off x="4063616" y="4254654"/>
            <a:ext cx="680873" cy="7298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216;p17">
            <a:extLst>
              <a:ext uri="{FF2B5EF4-FFF2-40B4-BE49-F238E27FC236}">
                <a16:creationId xmlns:a16="http://schemas.microsoft.com/office/drawing/2014/main" id="{CC6AFEB7-E6D8-6245-BEDC-3E8F1BC5175A}"/>
              </a:ext>
            </a:extLst>
          </p:cNvPr>
          <p:cNvCxnSpPr/>
          <p:nvPr/>
        </p:nvCxnSpPr>
        <p:spPr>
          <a:xfrm>
            <a:off x="2892122" y="4014667"/>
            <a:ext cx="1131905" cy="172755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" name="Google Shape;217;p17">
            <a:extLst>
              <a:ext uri="{FF2B5EF4-FFF2-40B4-BE49-F238E27FC236}">
                <a16:creationId xmlns:a16="http://schemas.microsoft.com/office/drawing/2014/main" id="{FB1F220F-C414-0347-BA3B-68C17B541692}"/>
              </a:ext>
            </a:extLst>
          </p:cNvPr>
          <p:cNvCxnSpPr/>
          <p:nvPr/>
        </p:nvCxnSpPr>
        <p:spPr>
          <a:xfrm rot="10800000" flipH="1">
            <a:off x="2853756" y="3468060"/>
            <a:ext cx="1160698" cy="26843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" name="Google Shape;218;p17">
            <a:extLst>
              <a:ext uri="{FF2B5EF4-FFF2-40B4-BE49-F238E27FC236}">
                <a16:creationId xmlns:a16="http://schemas.microsoft.com/office/drawing/2014/main" id="{38B1473C-265B-F444-BAAE-D54B8EF3D3EB}"/>
              </a:ext>
            </a:extLst>
          </p:cNvPr>
          <p:cNvCxnSpPr/>
          <p:nvPr/>
        </p:nvCxnSpPr>
        <p:spPr>
          <a:xfrm>
            <a:off x="3036009" y="3918742"/>
            <a:ext cx="978345" cy="335912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2" name="Google Shape;219;p17">
            <a:extLst>
              <a:ext uri="{FF2B5EF4-FFF2-40B4-BE49-F238E27FC236}">
                <a16:creationId xmlns:a16="http://schemas.microsoft.com/office/drawing/2014/main" id="{FBE13060-CAD3-6A46-8B5A-703ADCC30509}"/>
              </a:ext>
            </a:extLst>
          </p:cNvPr>
          <p:cNvCxnSpPr/>
          <p:nvPr/>
        </p:nvCxnSpPr>
        <p:spPr>
          <a:xfrm>
            <a:off x="3036009" y="4168152"/>
            <a:ext cx="978345" cy="815188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3" name="Google Shape;220;p17">
            <a:extLst>
              <a:ext uri="{FF2B5EF4-FFF2-40B4-BE49-F238E27FC236}">
                <a16:creationId xmlns:a16="http://schemas.microsoft.com/office/drawing/2014/main" id="{175021B1-EAAE-C14F-9608-81AFF77443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4845014" y="2567864"/>
            <a:ext cx="2021946" cy="72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21;p17">
            <a:extLst>
              <a:ext uri="{FF2B5EF4-FFF2-40B4-BE49-F238E27FC236}">
                <a16:creationId xmlns:a16="http://schemas.microsoft.com/office/drawing/2014/main" id="{2D14D2A4-2DB3-3D4F-A1E1-A47A265C13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4914509" y="4254662"/>
            <a:ext cx="2021946" cy="72981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22;p17">
            <a:extLst>
              <a:ext uri="{FF2B5EF4-FFF2-40B4-BE49-F238E27FC236}">
                <a16:creationId xmlns:a16="http://schemas.microsoft.com/office/drawing/2014/main" id="{25205346-5504-B546-A722-2F222150E211}"/>
              </a:ext>
            </a:extLst>
          </p:cNvPr>
          <p:cNvSpPr/>
          <p:nvPr/>
        </p:nvSpPr>
        <p:spPr>
          <a:xfrm>
            <a:off x="4344218" y="3752973"/>
            <a:ext cx="119669" cy="119669"/>
          </a:xfrm>
          <a:prstGeom prst="ellipse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Google Shape;223;p17">
            <a:extLst>
              <a:ext uri="{FF2B5EF4-FFF2-40B4-BE49-F238E27FC236}">
                <a16:creationId xmlns:a16="http://schemas.microsoft.com/office/drawing/2014/main" id="{AA460A5A-6661-C04D-9845-8808A33FCA06}"/>
              </a:ext>
            </a:extLst>
          </p:cNvPr>
          <p:cNvSpPr/>
          <p:nvPr/>
        </p:nvSpPr>
        <p:spPr>
          <a:xfrm>
            <a:off x="4344218" y="4559713"/>
            <a:ext cx="119669" cy="119669"/>
          </a:xfrm>
          <a:prstGeom prst="ellipse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Google Shape;224;p17">
            <a:extLst>
              <a:ext uri="{FF2B5EF4-FFF2-40B4-BE49-F238E27FC236}">
                <a16:creationId xmlns:a16="http://schemas.microsoft.com/office/drawing/2014/main" id="{9F1D7ED5-B3B8-F045-84BF-E10A82789346}"/>
              </a:ext>
            </a:extLst>
          </p:cNvPr>
          <p:cNvSpPr txBox="1"/>
          <p:nvPr/>
        </p:nvSpPr>
        <p:spPr>
          <a:xfrm>
            <a:off x="7114122" y="2656996"/>
            <a:ext cx="986743" cy="5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399">
                <a:solidFill>
                  <a:prstClr val="black"/>
                </a:solidFill>
                <a:latin typeface="Calibri" panose="020F0502020204030204"/>
              </a:rPr>
              <a:t>Cow</a:t>
            </a:r>
            <a:endParaRPr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Google Shape;225;p17">
            <a:extLst>
              <a:ext uri="{FF2B5EF4-FFF2-40B4-BE49-F238E27FC236}">
                <a16:creationId xmlns:a16="http://schemas.microsoft.com/office/drawing/2014/main" id="{E7A40C2E-3006-9249-A85D-5F90070943C6}"/>
              </a:ext>
            </a:extLst>
          </p:cNvPr>
          <p:cNvSpPr txBox="1"/>
          <p:nvPr/>
        </p:nvSpPr>
        <p:spPr>
          <a:xfrm>
            <a:off x="7114122" y="4299968"/>
            <a:ext cx="1101913" cy="5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2399">
                <a:solidFill>
                  <a:prstClr val="black"/>
                </a:solidFill>
                <a:latin typeface="Calibri" panose="020F0502020204030204"/>
              </a:rPr>
              <a:t>Grass</a:t>
            </a:r>
            <a:endParaRPr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226;p17">
            <a:extLst>
              <a:ext uri="{FF2B5EF4-FFF2-40B4-BE49-F238E27FC236}">
                <a16:creationId xmlns:a16="http://schemas.microsoft.com/office/drawing/2014/main" id="{81031862-62D6-564E-8595-9CF4F54CEF2D}"/>
              </a:ext>
            </a:extLst>
          </p:cNvPr>
          <p:cNvSpPr txBox="1"/>
          <p:nvPr/>
        </p:nvSpPr>
        <p:spPr>
          <a:xfrm>
            <a:off x="4792396" y="5231779"/>
            <a:ext cx="4351604" cy="41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>
              <a:lnSpc>
                <a:spcPct val="115000"/>
              </a:lnSpc>
            </a:pP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Farabet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“Learning Hierarchical Features for Scene Labeling,” TPAMI 2013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5000"/>
              </a:lnSpc>
            </a:pP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Pinheiro and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Collobert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“Recurrent Convolutional Neural Networks for Scene Labeling”, ICML 2014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92250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BFFE2C-71BD-7A41-A5CB-7004077AF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16 -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82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523DD1-ADE1-2140-9099-FDDBA31C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8342356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语义分割</a:t>
            </a:r>
            <a:r>
              <a:rPr lang="en-US" dirty="0"/>
              <a:t>: </a:t>
            </a:r>
            <a:r>
              <a:rPr lang="zh-CN" altLang="en-US" dirty="0"/>
              <a:t>全卷积网络</a:t>
            </a:r>
            <a:endParaRPr lang="en-US" dirty="0"/>
          </a:p>
        </p:txBody>
      </p:sp>
      <p:sp>
        <p:nvSpPr>
          <p:cNvPr id="6" name="Google Shape;332;p21">
            <a:extLst>
              <a:ext uri="{FF2B5EF4-FFF2-40B4-BE49-F238E27FC236}">
                <a16:creationId xmlns:a16="http://schemas.microsoft.com/office/drawing/2014/main" id="{86A963E3-D1BD-8048-B173-719D49EF5DA8}"/>
              </a:ext>
            </a:extLst>
          </p:cNvPr>
          <p:cNvSpPr/>
          <p:nvPr/>
        </p:nvSpPr>
        <p:spPr>
          <a:xfrm>
            <a:off x="2405473" y="2722063"/>
            <a:ext cx="389599" cy="1525103"/>
          </a:xfrm>
          <a:prstGeom prst="cube">
            <a:avLst>
              <a:gd name="adj" fmla="val 7878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333;p21">
            <a:extLst>
              <a:ext uri="{FF2B5EF4-FFF2-40B4-BE49-F238E27FC236}">
                <a16:creationId xmlns:a16="http://schemas.microsoft.com/office/drawing/2014/main" id="{3105CE40-BB16-684F-A58F-EF2C3B64057A}"/>
              </a:ext>
            </a:extLst>
          </p:cNvPr>
          <p:cNvSpPr/>
          <p:nvPr/>
        </p:nvSpPr>
        <p:spPr>
          <a:xfrm>
            <a:off x="2557833" y="2722063"/>
            <a:ext cx="389599" cy="1525103"/>
          </a:xfrm>
          <a:prstGeom prst="cube">
            <a:avLst>
              <a:gd name="adj" fmla="val 78785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337;p21">
            <a:extLst>
              <a:ext uri="{FF2B5EF4-FFF2-40B4-BE49-F238E27FC236}">
                <a16:creationId xmlns:a16="http://schemas.microsoft.com/office/drawing/2014/main" id="{6E65A717-553A-A942-A34B-25B67F3EC0F8}"/>
              </a:ext>
            </a:extLst>
          </p:cNvPr>
          <p:cNvSpPr txBox="1"/>
          <p:nvPr/>
        </p:nvSpPr>
        <p:spPr>
          <a:xfrm>
            <a:off x="666676" y="4145221"/>
            <a:ext cx="9598" cy="3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Google Shape;339;p21">
            <a:extLst>
              <a:ext uri="{FF2B5EF4-FFF2-40B4-BE49-F238E27FC236}">
                <a16:creationId xmlns:a16="http://schemas.microsoft.com/office/drawing/2014/main" id="{C6329A15-F07E-1D47-936F-A34623F3B758}"/>
              </a:ext>
            </a:extLst>
          </p:cNvPr>
          <p:cNvSpPr/>
          <p:nvPr/>
        </p:nvSpPr>
        <p:spPr>
          <a:xfrm>
            <a:off x="2755332" y="3094415"/>
            <a:ext cx="483474" cy="857177"/>
          </a:xfrm>
          <a:prstGeom prst="cube">
            <a:avLst>
              <a:gd name="adj" fmla="val 4876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Google Shape;346;p21">
            <a:extLst>
              <a:ext uri="{FF2B5EF4-FFF2-40B4-BE49-F238E27FC236}">
                <a16:creationId xmlns:a16="http://schemas.microsoft.com/office/drawing/2014/main" id="{81C38B5F-AE1D-B147-9F31-EAF97B0D7202}"/>
              </a:ext>
            </a:extLst>
          </p:cNvPr>
          <p:cNvSpPr txBox="1"/>
          <p:nvPr/>
        </p:nvSpPr>
        <p:spPr>
          <a:xfrm>
            <a:off x="2003378" y="1684497"/>
            <a:ext cx="5617638" cy="655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编译码模型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Google Shape;347;p21">
            <a:extLst>
              <a:ext uri="{FF2B5EF4-FFF2-40B4-BE49-F238E27FC236}">
                <a16:creationId xmlns:a16="http://schemas.microsoft.com/office/drawing/2014/main" id="{61147BEF-8290-8E46-B289-BE54D9B77FB6}"/>
              </a:ext>
            </a:extLst>
          </p:cNvPr>
          <p:cNvSpPr/>
          <p:nvPr/>
        </p:nvSpPr>
        <p:spPr>
          <a:xfrm>
            <a:off x="3060053" y="3094415"/>
            <a:ext cx="483474" cy="857177"/>
          </a:xfrm>
          <a:prstGeom prst="cube">
            <a:avLst>
              <a:gd name="adj" fmla="val 4876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Google Shape;348;p21">
            <a:extLst>
              <a:ext uri="{FF2B5EF4-FFF2-40B4-BE49-F238E27FC236}">
                <a16:creationId xmlns:a16="http://schemas.microsoft.com/office/drawing/2014/main" id="{A6303817-E4D2-1246-AEF1-2B84BE0467C3}"/>
              </a:ext>
            </a:extLst>
          </p:cNvPr>
          <p:cNvSpPr/>
          <p:nvPr/>
        </p:nvSpPr>
        <p:spPr>
          <a:xfrm>
            <a:off x="3364773" y="3094415"/>
            <a:ext cx="483474" cy="857177"/>
          </a:xfrm>
          <a:prstGeom prst="cube">
            <a:avLst>
              <a:gd name="adj" fmla="val 48764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Google Shape;349;p21">
            <a:extLst>
              <a:ext uri="{FF2B5EF4-FFF2-40B4-BE49-F238E27FC236}">
                <a16:creationId xmlns:a16="http://schemas.microsoft.com/office/drawing/2014/main" id="{3A135EDF-CA6B-6C4A-9E4E-96A06CA112DF}"/>
              </a:ext>
            </a:extLst>
          </p:cNvPr>
          <p:cNvSpPr/>
          <p:nvPr/>
        </p:nvSpPr>
        <p:spPr>
          <a:xfrm>
            <a:off x="3656135" y="3291390"/>
            <a:ext cx="650231" cy="526363"/>
          </a:xfrm>
          <a:prstGeom prst="cube">
            <a:avLst>
              <a:gd name="adj" fmla="val 3032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Google Shape;350;p21">
            <a:extLst>
              <a:ext uri="{FF2B5EF4-FFF2-40B4-BE49-F238E27FC236}">
                <a16:creationId xmlns:a16="http://schemas.microsoft.com/office/drawing/2014/main" id="{40E5A289-58B5-E140-AD15-68803935E01C}"/>
              </a:ext>
            </a:extLst>
          </p:cNvPr>
          <p:cNvSpPr/>
          <p:nvPr/>
        </p:nvSpPr>
        <p:spPr>
          <a:xfrm>
            <a:off x="4193320" y="3291390"/>
            <a:ext cx="650231" cy="526363"/>
          </a:xfrm>
          <a:prstGeom prst="cube">
            <a:avLst>
              <a:gd name="adj" fmla="val 3032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Google Shape;351;p21">
            <a:extLst>
              <a:ext uri="{FF2B5EF4-FFF2-40B4-BE49-F238E27FC236}">
                <a16:creationId xmlns:a16="http://schemas.microsoft.com/office/drawing/2014/main" id="{5866036E-8A66-6C41-802A-2E77DE1900FC}"/>
              </a:ext>
            </a:extLst>
          </p:cNvPr>
          <p:cNvSpPr/>
          <p:nvPr/>
        </p:nvSpPr>
        <p:spPr>
          <a:xfrm>
            <a:off x="4812197" y="3094415"/>
            <a:ext cx="483474" cy="857177"/>
          </a:xfrm>
          <a:prstGeom prst="cube">
            <a:avLst>
              <a:gd name="adj" fmla="val 48764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352;p21">
            <a:extLst>
              <a:ext uri="{FF2B5EF4-FFF2-40B4-BE49-F238E27FC236}">
                <a16:creationId xmlns:a16="http://schemas.microsoft.com/office/drawing/2014/main" id="{1AF6714B-391C-8944-9C54-733CA78A0257}"/>
              </a:ext>
            </a:extLst>
          </p:cNvPr>
          <p:cNvSpPr/>
          <p:nvPr/>
        </p:nvSpPr>
        <p:spPr>
          <a:xfrm>
            <a:off x="5116917" y="3094415"/>
            <a:ext cx="483474" cy="857177"/>
          </a:xfrm>
          <a:prstGeom prst="cube">
            <a:avLst>
              <a:gd name="adj" fmla="val 4876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353;p21">
            <a:extLst>
              <a:ext uri="{FF2B5EF4-FFF2-40B4-BE49-F238E27FC236}">
                <a16:creationId xmlns:a16="http://schemas.microsoft.com/office/drawing/2014/main" id="{15FB1E99-D712-5044-8A5E-367A876971E4}"/>
              </a:ext>
            </a:extLst>
          </p:cNvPr>
          <p:cNvSpPr/>
          <p:nvPr/>
        </p:nvSpPr>
        <p:spPr>
          <a:xfrm>
            <a:off x="5421638" y="3094415"/>
            <a:ext cx="483474" cy="857177"/>
          </a:xfrm>
          <a:prstGeom prst="cube">
            <a:avLst>
              <a:gd name="adj" fmla="val 4876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Google Shape;354;p21">
            <a:extLst>
              <a:ext uri="{FF2B5EF4-FFF2-40B4-BE49-F238E27FC236}">
                <a16:creationId xmlns:a16="http://schemas.microsoft.com/office/drawing/2014/main" id="{36385EAD-4F89-114E-BE78-DC00D51091BA}"/>
              </a:ext>
            </a:extLst>
          </p:cNvPr>
          <p:cNvSpPr/>
          <p:nvPr/>
        </p:nvSpPr>
        <p:spPr>
          <a:xfrm>
            <a:off x="5833581" y="2722063"/>
            <a:ext cx="389599" cy="1525103"/>
          </a:xfrm>
          <a:prstGeom prst="cube">
            <a:avLst>
              <a:gd name="adj" fmla="val 78785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Google Shape;355;p21">
            <a:extLst>
              <a:ext uri="{FF2B5EF4-FFF2-40B4-BE49-F238E27FC236}">
                <a16:creationId xmlns:a16="http://schemas.microsoft.com/office/drawing/2014/main" id="{6407BBF4-1BCF-0846-8642-5F97B6D2EC94}"/>
              </a:ext>
            </a:extLst>
          </p:cNvPr>
          <p:cNvSpPr/>
          <p:nvPr/>
        </p:nvSpPr>
        <p:spPr>
          <a:xfrm>
            <a:off x="5985941" y="2722063"/>
            <a:ext cx="389599" cy="1525103"/>
          </a:xfrm>
          <a:prstGeom prst="cube">
            <a:avLst>
              <a:gd name="adj" fmla="val 7878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Google Shape;356;p21">
            <a:extLst>
              <a:ext uri="{FF2B5EF4-FFF2-40B4-BE49-F238E27FC236}">
                <a16:creationId xmlns:a16="http://schemas.microsoft.com/office/drawing/2014/main" id="{9B6D2E5D-17EB-9C44-945D-681D539C4831}"/>
              </a:ext>
            </a:extLst>
          </p:cNvPr>
          <p:cNvSpPr txBox="1"/>
          <p:nvPr/>
        </p:nvSpPr>
        <p:spPr>
          <a:xfrm>
            <a:off x="1694184" y="4336871"/>
            <a:ext cx="1729075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High-res: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" baseline="-25000" dirty="0">
                <a:solidFill>
                  <a:prstClr val="black"/>
                </a:solidFill>
                <a:latin typeface="Calibri" panose="020F0502020204030204"/>
              </a:rPr>
              <a:t>1 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x H/2 x W/2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357;p21">
            <a:extLst>
              <a:ext uri="{FF2B5EF4-FFF2-40B4-BE49-F238E27FC236}">
                <a16:creationId xmlns:a16="http://schemas.microsoft.com/office/drawing/2014/main" id="{BCE8D8AF-53F5-3F40-BC93-60C125D3C636}"/>
              </a:ext>
            </a:extLst>
          </p:cNvPr>
          <p:cNvSpPr txBox="1"/>
          <p:nvPr/>
        </p:nvSpPr>
        <p:spPr>
          <a:xfrm>
            <a:off x="5180038" y="4382030"/>
            <a:ext cx="1696683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High-res: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" baseline="-25000" dirty="0">
                <a:solidFill>
                  <a:prstClr val="black"/>
                </a:solidFill>
                <a:latin typeface="Calibri" panose="020F0502020204030204"/>
              </a:rPr>
              <a:t>1 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x H/2 x W/2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358;p21">
            <a:extLst>
              <a:ext uri="{FF2B5EF4-FFF2-40B4-BE49-F238E27FC236}">
                <a16:creationId xmlns:a16="http://schemas.microsoft.com/office/drawing/2014/main" id="{9560E4F7-DC56-424D-AC11-67D96091FCB5}"/>
              </a:ext>
            </a:extLst>
          </p:cNvPr>
          <p:cNvSpPr txBox="1"/>
          <p:nvPr/>
        </p:nvSpPr>
        <p:spPr>
          <a:xfrm>
            <a:off x="2801831" y="2458985"/>
            <a:ext cx="1708607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Med-res: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" baseline="-25000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x H/4 x W/4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Google Shape;359;p21">
            <a:extLst>
              <a:ext uri="{FF2B5EF4-FFF2-40B4-BE49-F238E27FC236}">
                <a16:creationId xmlns:a16="http://schemas.microsoft.com/office/drawing/2014/main" id="{9CE2A542-56B6-3B40-984B-CC2B37A8BE89}"/>
              </a:ext>
            </a:extLst>
          </p:cNvPr>
          <p:cNvSpPr txBox="1"/>
          <p:nvPr/>
        </p:nvSpPr>
        <p:spPr>
          <a:xfrm>
            <a:off x="4359465" y="2449501"/>
            <a:ext cx="1708607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Med-res: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" baseline="-25000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x H/4 x W/4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Google Shape;360;p21">
            <a:extLst>
              <a:ext uri="{FF2B5EF4-FFF2-40B4-BE49-F238E27FC236}">
                <a16:creationId xmlns:a16="http://schemas.microsoft.com/office/drawing/2014/main" id="{97FCC1B6-D830-2340-9880-E98291E7DC5C}"/>
              </a:ext>
            </a:extLst>
          </p:cNvPr>
          <p:cNvSpPr txBox="1"/>
          <p:nvPr/>
        </p:nvSpPr>
        <p:spPr>
          <a:xfrm>
            <a:off x="3423259" y="3995097"/>
            <a:ext cx="1872412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Low-res: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" baseline="-25000" dirty="0">
                <a:solidFill>
                  <a:prstClr val="black"/>
                </a:solidFill>
                <a:latin typeface="Calibri" panose="020F0502020204030204"/>
              </a:rPr>
              <a:t>3 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x H/4 x W/4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Google Shape;361;p21">
            <a:extLst>
              <a:ext uri="{FF2B5EF4-FFF2-40B4-BE49-F238E27FC236}">
                <a16:creationId xmlns:a16="http://schemas.microsoft.com/office/drawing/2014/main" id="{A1D60410-6A93-BA49-BAE4-6798172E64E3}"/>
              </a:ext>
            </a:extLst>
          </p:cNvPr>
          <p:cNvSpPr txBox="1"/>
          <p:nvPr/>
        </p:nvSpPr>
        <p:spPr>
          <a:xfrm>
            <a:off x="-28893" y="5257282"/>
            <a:ext cx="5950150" cy="30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>
              <a:lnSpc>
                <a:spcPct val="115000"/>
              </a:lnSpc>
            </a:pP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Long,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Shelhamer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and Darrell, “Fully Convolutional Networks for Semantic Segmentation”, CVPR 2015</a:t>
            </a:r>
            <a:br>
              <a:rPr lang="en" sz="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Noh et al, “Learning Deconvolution Network for Semantic Segmentation”, ICCV 2015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4" name="Google Shape;266;p19">
            <a:extLst>
              <a:ext uri="{FF2B5EF4-FFF2-40B4-BE49-F238E27FC236}">
                <a16:creationId xmlns:a16="http://schemas.microsoft.com/office/drawing/2014/main" id="{A900C467-CA75-BF48-B67B-D485926865A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725" y="2895995"/>
            <a:ext cx="1794359" cy="119576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68;p19">
            <a:extLst>
              <a:ext uri="{FF2B5EF4-FFF2-40B4-BE49-F238E27FC236}">
                <a16:creationId xmlns:a16="http://schemas.microsoft.com/office/drawing/2014/main" id="{F9C30292-BC49-4F4F-890B-5D5230B3422E}"/>
              </a:ext>
            </a:extLst>
          </p:cNvPr>
          <p:cNvSpPr txBox="1"/>
          <p:nvPr/>
        </p:nvSpPr>
        <p:spPr>
          <a:xfrm>
            <a:off x="333033" y="4127762"/>
            <a:ext cx="1232133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Input: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3 x H x W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6" name="Google Shape;282;p19">
            <a:extLst>
              <a:ext uri="{FF2B5EF4-FFF2-40B4-BE49-F238E27FC236}">
                <a16:creationId xmlns:a16="http://schemas.microsoft.com/office/drawing/2014/main" id="{88AE2F03-F2C4-9C48-972B-755A695B1888}"/>
              </a:ext>
            </a:extLst>
          </p:cNvPr>
          <p:cNvGrpSpPr/>
          <p:nvPr/>
        </p:nvGrpSpPr>
        <p:grpSpPr>
          <a:xfrm>
            <a:off x="7153389" y="2662454"/>
            <a:ext cx="1935342" cy="1437587"/>
            <a:chOff x="3688175" y="943350"/>
            <a:chExt cx="5279100" cy="3521825"/>
          </a:xfrm>
        </p:grpSpPr>
        <p:sp>
          <p:nvSpPr>
            <p:cNvPr id="37" name="Google Shape;283;p19">
              <a:extLst>
                <a:ext uri="{FF2B5EF4-FFF2-40B4-BE49-F238E27FC236}">
                  <a16:creationId xmlns:a16="http://schemas.microsoft.com/office/drawing/2014/main" id="{A48DF554-068C-A245-8C25-7A7FCA4C881F}"/>
                </a:ext>
              </a:extLst>
            </p:cNvPr>
            <p:cNvSpPr/>
            <p:nvPr/>
          </p:nvSpPr>
          <p:spPr>
            <a:xfrm>
              <a:off x="3688175" y="952350"/>
              <a:ext cx="5279100" cy="34950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91401" tIns="91401" rIns="91401" bIns="91401" anchor="ctr" anchorCtr="0">
              <a:noAutofit/>
            </a:bodyPr>
            <a:lstStyle/>
            <a:p>
              <a:pPr defTabSz="685800"/>
              <a:endParaRPr sz="1865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Google Shape;284;p19">
              <a:extLst>
                <a:ext uri="{FF2B5EF4-FFF2-40B4-BE49-F238E27FC236}">
                  <a16:creationId xmlns:a16="http://schemas.microsoft.com/office/drawing/2014/main" id="{879C8A1A-9C4B-DD42-9962-FA90001AD202}"/>
                </a:ext>
              </a:extLst>
            </p:cNvPr>
            <p:cNvSpPr/>
            <p:nvPr/>
          </p:nvSpPr>
          <p:spPr>
            <a:xfrm>
              <a:off x="3693375" y="2273025"/>
              <a:ext cx="5264775" cy="2183175"/>
            </a:xfrm>
            <a:custGeom>
              <a:avLst/>
              <a:gdLst/>
              <a:ahLst/>
              <a:cxnLst/>
              <a:rect l="l" t="t" r="r" b="b"/>
              <a:pathLst>
                <a:path w="210591" h="87327" extrusionOk="0">
                  <a:moveTo>
                    <a:pt x="210232" y="22281"/>
                  </a:moveTo>
                  <a:lnTo>
                    <a:pt x="164951" y="19047"/>
                  </a:lnTo>
                  <a:lnTo>
                    <a:pt x="35937" y="6109"/>
                  </a:lnTo>
                  <a:lnTo>
                    <a:pt x="16890" y="719"/>
                  </a:lnTo>
                  <a:lnTo>
                    <a:pt x="19765" y="6828"/>
                  </a:lnTo>
                  <a:lnTo>
                    <a:pt x="3953" y="2875"/>
                  </a:lnTo>
                  <a:lnTo>
                    <a:pt x="6109" y="719"/>
                  </a:lnTo>
                  <a:lnTo>
                    <a:pt x="0" y="0"/>
                  </a:lnTo>
                  <a:lnTo>
                    <a:pt x="0" y="87327"/>
                  </a:lnTo>
                  <a:lnTo>
                    <a:pt x="210591" y="86968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</p:sp>
        <p:sp>
          <p:nvSpPr>
            <p:cNvPr id="39" name="Google Shape;285;p19">
              <a:extLst>
                <a:ext uri="{FF2B5EF4-FFF2-40B4-BE49-F238E27FC236}">
                  <a16:creationId xmlns:a16="http://schemas.microsoft.com/office/drawing/2014/main" id="{3DCEC88E-67B1-9F42-863E-68AEF7B5B8D2}"/>
                </a:ext>
              </a:extLst>
            </p:cNvPr>
            <p:cNvSpPr/>
            <p:nvPr/>
          </p:nvSpPr>
          <p:spPr>
            <a:xfrm>
              <a:off x="3702350" y="943350"/>
              <a:ext cx="5255800" cy="1922625"/>
            </a:xfrm>
            <a:custGeom>
              <a:avLst/>
              <a:gdLst/>
              <a:ahLst/>
              <a:cxnLst/>
              <a:rect l="l" t="t" r="r" b="b"/>
              <a:pathLst>
                <a:path w="210232" h="76905" extrusionOk="0">
                  <a:moveTo>
                    <a:pt x="210232" y="43843"/>
                  </a:moveTo>
                  <a:lnTo>
                    <a:pt x="202326" y="43843"/>
                  </a:lnTo>
                  <a:lnTo>
                    <a:pt x="196936" y="49593"/>
                  </a:lnTo>
                  <a:lnTo>
                    <a:pt x="191545" y="45999"/>
                  </a:lnTo>
                  <a:lnTo>
                    <a:pt x="186514" y="48156"/>
                  </a:lnTo>
                  <a:lnTo>
                    <a:pt x="183280" y="38093"/>
                  </a:lnTo>
                  <a:lnTo>
                    <a:pt x="181123" y="43125"/>
                  </a:lnTo>
                  <a:lnTo>
                    <a:pt x="168905" y="37015"/>
                  </a:lnTo>
                  <a:lnTo>
                    <a:pt x="152374" y="53906"/>
                  </a:lnTo>
                  <a:lnTo>
                    <a:pt x="155249" y="44562"/>
                  </a:lnTo>
                  <a:lnTo>
                    <a:pt x="152014" y="37015"/>
                  </a:lnTo>
                  <a:lnTo>
                    <a:pt x="148420" y="46718"/>
                  </a:lnTo>
                  <a:lnTo>
                    <a:pt x="145186" y="37734"/>
                  </a:lnTo>
                  <a:lnTo>
                    <a:pt x="141952" y="47437"/>
                  </a:lnTo>
                  <a:lnTo>
                    <a:pt x="142311" y="53187"/>
                  </a:lnTo>
                  <a:lnTo>
                    <a:pt x="107093" y="41687"/>
                  </a:lnTo>
                  <a:lnTo>
                    <a:pt x="103858" y="34140"/>
                  </a:lnTo>
                  <a:lnTo>
                    <a:pt x="117874" y="32343"/>
                  </a:lnTo>
                  <a:lnTo>
                    <a:pt x="120030" y="24437"/>
                  </a:lnTo>
                  <a:lnTo>
                    <a:pt x="123983" y="18687"/>
                  </a:lnTo>
                  <a:lnTo>
                    <a:pt x="131171" y="17969"/>
                  </a:lnTo>
                  <a:lnTo>
                    <a:pt x="126858" y="9703"/>
                  </a:lnTo>
                  <a:lnTo>
                    <a:pt x="125061" y="3594"/>
                  </a:lnTo>
                  <a:lnTo>
                    <a:pt x="126858" y="0"/>
                  </a:lnTo>
                  <a:lnTo>
                    <a:pt x="3594" y="0"/>
                  </a:lnTo>
                  <a:lnTo>
                    <a:pt x="4313" y="3594"/>
                  </a:lnTo>
                  <a:lnTo>
                    <a:pt x="0" y="7187"/>
                  </a:lnTo>
                  <a:lnTo>
                    <a:pt x="0" y="72593"/>
                  </a:lnTo>
                  <a:lnTo>
                    <a:pt x="210232" y="76905"/>
                  </a:ln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</p:sp>
        <p:sp>
          <p:nvSpPr>
            <p:cNvPr id="40" name="Google Shape;286;p19">
              <a:extLst>
                <a:ext uri="{FF2B5EF4-FFF2-40B4-BE49-F238E27FC236}">
                  <a16:creationId xmlns:a16="http://schemas.microsoft.com/office/drawing/2014/main" id="{C95290D1-D806-0247-A58C-7BBB9C9B9632}"/>
                </a:ext>
              </a:extLst>
            </p:cNvPr>
            <p:cNvSpPr/>
            <p:nvPr/>
          </p:nvSpPr>
          <p:spPr>
            <a:xfrm>
              <a:off x="4313275" y="970300"/>
              <a:ext cx="3764425" cy="3494875"/>
            </a:xfrm>
            <a:custGeom>
              <a:avLst/>
              <a:gdLst/>
              <a:ahLst/>
              <a:cxnLst/>
              <a:rect l="l" t="t" r="r" b="b"/>
              <a:pathLst>
                <a:path w="150577" h="139795" extrusionOk="0">
                  <a:moveTo>
                    <a:pt x="46359" y="0"/>
                  </a:moveTo>
                  <a:lnTo>
                    <a:pt x="34859" y="2156"/>
                  </a:lnTo>
                  <a:lnTo>
                    <a:pt x="28391" y="11141"/>
                  </a:lnTo>
                  <a:lnTo>
                    <a:pt x="25156" y="17609"/>
                  </a:lnTo>
                  <a:lnTo>
                    <a:pt x="14016" y="13656"/>
                  </a:lnTo>
                  <a:lnTo>
                    <a:pt x="4672" y="14016"/>
                  </a:lnTo>
                  <a:lnTo>
                    <a:pt x="0" y="18687"/>
                  </a:lnTo>
                  <a:lnTo>
                    <a:pt x="3954" y="25515"/>
                  </a:lnTo>
                  <a:lnTo>
                    <a:pt x="11500" y="32343"/>
                  </a:lnTo>
                  <a:lnTo>
                    <a:pt x="15453" y="33062"/>
                  </a:lnTo>
                  <a:lnTo>
                    <a:pt x="12219" y="37375"/>
                  </a:lnTo>
                  <a:lnTo>
                    <a:pt x="13657" y="46718"/>
                  </a:lnTo>
                  <a:lnTo>
                    <a:pt x="12578" y="52828"/>
                  </a:lnTo>
                  <a:lnTo>
                    <a:pt x="11860" y="64687"/>
                  </a:lnTo>
                  <a:lnTo>
                    <a:pt x="14735" y="78702"/>
                  </a:lnTo>
                  <a:lnTo>
                    <a:pt x="19406" y="83374"/>
                  </a:lnTo>
                  <a:lnTo>
                    <a:pt x="22641" y="97390"/>
                  </a:lnTo>
                  <a:lnTo>
                    <a:pt x="23000" y="109968"/>
                  </a:lnTo>
                  <a:lnTo>
                    <a:pt x="23360" y="119671"/>
                  </a:lnTo>
                  <a:lnTo>
                    <a:pt x="20485" y="130811"/>
                  </a:lnTo>
                  <a:lnTo>
                    <a:pt x="17969" y="138717"/>
                  </a:lnTo>
                  <a:lnTo>
                    <a:pt x="29828" y="139436"/>
                  </a:lnTo>
                  <a:lnTo>
                    <a:pt x="29469" y="129733"/>
                  </a:lnTo>
                  <a:lnTo>
                    <a:pt x="29469" y="117155"/>
                  </a:lnTo>
                  <a:lnTo>
                    <a:pt x="33781" y="118233"/>
                  </a:lnTo>
                  <a:lnTo>
                    <a:pt x="32344" y="112843"/>
                  </a:lnTo>
                  <a:lnTo>
                    <a:pt x="33422" y="104218"/>
                  </a:lnTo>
                  <a:lnTo>
                    <a:pt x="31984" y="94515"/>
                  </a:lnTo>
                  <a:lnTo>
                    <a:pt x="32703" y="89843"/>
                  </a:lnTo>
                  <a:lnTo>
                    <a:pt x="35578" y="96312"/>
                  </a:lnTo>
                  <a:lnTo>
                    <a:pt x="36297" y="105296"/>
                  </a:lnTo>
                  <a:lnTo>
                    <a:pt x="35938" y="112483"/>
                  </a:lnTo>
                  <a:lnTo>
                    <a:pt x="39172" y="113202"/>
                  </a:lnTo>
                  <a:lnTo>
                    <a:pt x="43484" y="111765"/>
                  </a:lnTo>
                  <a:lnTo>
                    <a:pt x="40969" y="102062"/>
                  </a:lnTo>
                  <a:lnTo>
                    <a:pt x="44203" y="104218"/>
                  </a:lnTo>
                  <a:lnTo>
                    <a:pt x="51031" y="93796"/>
                  </a:lnTo>
                  <a:lnTo>
                    <a:pt x="52828" y="108890"/>
                  </a:lnTo>
                  <a:lnTo>
                    <a:pt x="56781" y="122186"/>
                  </a:lnTo>
                  <a:lnTo>
                    <a:pt x="59297" y="139795"/>
                  </a:lnTo>
                  <a:lnTo>
                    <a:pt x="69359" y="139077"/>
                  </a:lnTo>
                  <a:lnTo>
                    <a:pt x="65765" y="129014"/>
                  </a:lnTo>
                  <a:lnTo>
                    <a:pt x="63609" y="120749"/>
                  </a:lnTo>
                  <a:lnTo>
                    <a:pt x="64687" y="114280"/>
                  </a:lnTo>
                  <a:lnTo>
                    <a:pt x="63250" y="106374"/>
                  </a:lnTo>
                  <a:lnTo>
                    <a:pt x="63609" y="88405"/>
                  </a:lnTo>
                  <a:lnTo>
                    <a:pt x="65765" y="104218"/>
                  </a:lnTo>
                  <a:lnTo>
                    <a:pt x="66125" y="114999"/>
                  </a:lnTo>
                  <a:lnTo>
                    <a:pt x="71156" y="113921"/>
                  </a:lnTo>
                  <a:lnTo>
                    <a:pt x="69000" y="98468"/>
                  </a:lnTo>
                  <a:lnTo>
                    <a:pt x="70437" y="91999"/>
                  </a:lnTo>
                  <a:lnTo>
                    <a:pt x="69359" y="87687"/>
                  </a:lnTo>
                  <a:lnTo>
                    <a:pt x="76906" y="88046"/>
                  </a:lnTo>
                  <a:lnTo>
                    <a:pt x="80859" y="107093"/>
                  </a:lnTo>
                  <a:lnTo>
                    <a:pt x="81218" y="111765"/>
                  </a:lnTo>
                  <a:lnTo>
                    <a:pt x="83015" y="113561"/>
                  </a:lnTo>
                  <a:lnTo>
                    <a:pt x="81937" y="126858"/>
                  </a:lnTo>
                  <a:lnTo>
                    <a:pt x="83375" y="131530"/>
                  </a:lnTo>
                  <a:lnTo>
                    <a:pt x="83734" y="136921"/>
                  </a:lnTo>
                  <a:lnTo>
                    <a:pt x="92359" y="137639"/>
                  </a:lnTo>
                  <a:lnTo>
                    <a:pt x="90562" y="129014"/>
                  </a:lnTo>
                  <a:lnTo>
                    <a:pt x="87328" y="116436"/>
                  </a:lnTo>
                  <a:lnTo>
                    <a:pt x="90562" y="107452"/>
                  </a:lnTo>
                  <a:lnTo>
                    <a:pt x="87328" y="93796"/>
                  </a:lnTo>
                  <a:lnTo>
                    <a:pt x="93437" y="102062"/>
                  </a:lnTo>
                  <a:lnTo>
                    <a:pt x="98828" y="103499"/>
                  </a:lnTo>
                  <a:lnTo>
                    <a:pt x="102781" y="98108"/>
                  </a:lnTo>
                  <a:lnTo>
                    <a:pt x="103140" y="110327"/>
                  </a:lnTo>
                  <a:lnTo>
                    <a:pt x="106015" y="118593"/>
                  </a:lnTo>
                  <a:lnTo>
                    <a:pt x="107452" y="131171"/>
                  </a:lnTo>
                  <a:lnTo>
                    <a:pt x="109968" y="136202"/>
                  </a:lnTo>
                  <a:lnTo>
                    <a:pt x="115359" y="136921"/>
                  </a:lnTo>
                  <a:lnTo>
                    <a:pt x="116796" y="132249"/>
                  </a:lnTo>
                  <a:lnTo>
                    <a:pt x="111046" y="118593"/>
                  </a:lnTo>
                  <a:lnTo>
                    <a:pt x="111406" y="108530"/>
                  </a:lnTo>
                  <a:lnTo>
                    <a:pt x="111765" y="93437"/>
                  </a:lnTo>
                  <a:lnTo>
                    <a:pt x="115718" y="95952"/>
                  </a:lnTo>
                  <a:lnTo>
                    <a:pt x="117155" y="91280"/>
                  </a:lnTo>
                  <a:lnTo>
                    <a:pt x="133327" y="97390"/>
                  </a:lnTo>
                  <a:lnTo>
                    <a:pt x="140155" y="101343"/>
                  </a:lnTo>
                  <a:lnTo>
                    <a:pt x="148421" y="97390"/>
                  </a:lnTo>
                  <a:lnTo>
                    <a:pt x="149858" y="93437"/>
                  </a:lnTo>
                  <a:lnTo>
                    <a:pt x="140515" y="70796"/>
                  </a:lnTo>
                  <a:lnTo>
                    <a:pt x="142311" y="64687"/>
                  </a:lnTo>
                  <a:lnTo>
                    <a:pt x="148780" y="63249"/>
                  </a:lnTo>
                  <a:lnTo>
                    <a:pt x="150577" y="57499"/>
                  </a:lnTo>
                  <a:lnTo>
                    <a:pt x="143390" y="53906"/>
                  </a:lnTo>
                  <a:lnTo>
                    <a:pt x="136921" y="54625"/>
                  </a:lnTo>
                  <a:lnTo>
                    <a:pt x="131171" y="43484"/>
                  </a:lnTo>
                  <a:lnTo>
                    <a:pt x="118952" y="49593"/>
                  </a:lnTo>
                  <a:lnTo>
                    <a:pt x="105296" y="42406"/>
                  </a:lnTo>
                  <a:lnTo>
                    <a:pt x="100265" y="37734"/>
                  </a:lnTo>
                  <a:lnTo>
                    <a:pt x="91640" y="34859"/>
                  </a:lnTo>
                  <a:lnTo>
                    <a:pt x="81218" y="40250"/>
                  </a:lnTo>
                  <a:lnTo>
                    <a:pt x="72234" y="40250"/>
                  </a:lnTo>
                  <a:lnTo>
                    <a:pt x="61812" y="43843"/>
                  </a:lnTo>
                  <a:lnTo>
                    <a:pt x="62172" y="37734"/>
                  </a:lnTo>
                  <a:lnTo>
                    <a:pt x="70437" y="36656"/>
                  </a:lnTo>
                  <a:lnTo>
                    <a:pt x="82296" y="26594"/>
                  </a:lnTo>
                  <a:lnTo>
                    <a:pt x="83734" y="22281"/>
                  </a:lnTo>
                  <a:lnTo>
                    <a:pt x="77984" y="17969"/>
                  </a:lnTo>
                  <a:lnTo>
                    <a:pt x="70437" y="16891"/>
                  </a:lnTo>
                  <a:lnTo>
                    <a:pt x="65047" y="20484"/>
                  </a:lnTo>
                  <a:lnTo>
                    <a:pt x="64328" y="15812"/>
                  </a:lnTo>
                  <a:lnTo>
                    <a:pt x="60734" y="11141"/>
                  </a:lnTo>
                  <a:lnTo>
                    <a:pt x="59297" y="6469"/>
                  </a:lnTo>
                  <a:lnTo>
                    <a:pt x="54625" y="719"/>
                  </a:lnTo>
                  <a:close/>
                </a:path>
              </a:pathLst>
            </a:custGeom>
            <a:solidFill>
              <a:srgbClr val="7F6000"/>
            </a:solidFill>
            <a:ln>
              <a:noFill/>
            </a:ln>
          </p:spPr>
        </p:sp>
      </p:grpSp>
      <p:sp>
        <p:nvSpPr>
          <p:cNvPr id="41" name="Google Shape;291;p19">
            <a:extLst>
              <a:ext uri="{FF2B5EF4-FFF2-40B4-BE49-F238E27FC236}">
                <a16:creationId xmlns:a16="http://schemas.microsoft.com/office/drawing/2014/main" id="{92909337-705A-1140-9A91-DE13C4FDAF6C}"/>
              </a:ext>
            </a:extLst>
          </p:cNvPr>
          <p:cNvSpPr txBox="1"/>
          <p:nvPr/>
        </p:nvSpPr>
        <p:spPr>
          <a:xfrm>
            <a:off x="7460680" y="4299289"/>
            <a:ext cx="1336752" cy="54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Predictions: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H x W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415847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772400" cy="20574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/>
              <a:t>计算机视觉</a:t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图像生成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343400"/>
            <a:ext cx="5105400" cy="12954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软件学院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 刘春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FB34AB-A8FA-AD43-A8C9-D27A719C2FEB}"/>
              </a:ext>
            </a:extLst>
          </p:cNvPr>
          <p:cNvSpPr txBox="1">
            <a:spLocks/>
          </p:cNvSpPr>
          <p:nvPr/>
        </p:nvSpPr>
        <p:spPr>
          <a:xfrm>
            <a:off x="1524000" y="5486400"/>
            <a:ext cx="6400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Ref:</a:t>
            </a:r>
            <a:r>
              <a:rPr lang="zh-CN" altLang="en-US" dirty="0"/>
              <a:t> </a:t>
            </a:r>
            <a:r>
              <a:rPr lang="en-US" altLang="zh-CN" dirty="0"/>
              <a:t>C280, Computer Vision</a:t>
            </a:r>
          </a:p>
          <a:p>
            <a:r>
              <a:rPr lang="en-US" altLang="zh-CN" dirty="0"/>
              <a:t>Prof. Trevor Darrell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1403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AFE4F-D235-4D46-B83B-A6B9D028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生成对抗网络（</a:t>
            </a:r>
            <a:r>
              <a:rPr kumimoji="1" lang="en-US" altLang="zh-CN" dirty="0"/>
              <a:t>GAN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2D6A7-FD24-D544-BD12-99F76042D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什么是生成对抗网络？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                   生成  </a:t>
            </a:r>
            <a:r>
              <a:rPr kumimoji="1" lang="en-US" altLang="zh-CN" dirty="0"/>
              <a:t>  </a:t>
            </a:r>
            <a:r>
              <a:rPr kumimoji="1" lang="zh-CN" altLang="en-US" dirty="0"/>
              <a:t> 对抗</a:t>
            </a:r>
            <a:r>
              <a:rPr kumimoji="1" lang="en-US" altLang="zh-CN" dirty="0"/>
              <a:t>   </a:t>
            </a:r>
            <a:r>
              <a:rPr kumimoji="1" lang="zh-CN" altLang="en-US" dirty="0"/>
              <a:t>  网络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11B804A-DF85-174B-A2C0-3A2024A23008}"/>
              </a:ext>
            </a:extLst>
          </p:cNvPr>
          <p:cNvSpPr/>
          <p:nvPr/>
        </p:nvSpPr>
        <p:spPr>
          <a:xfrm>
            <a:off x="2438400" y="2819400"/>
            <a:ext cx="1143000" cy="5334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FC05F8-592E-AB4E-82D4-58F38CF6552F}"/>
              </a:ext>
            </a:extLst>
          </p:cNvPr>
          <p:cNvSpPr txBox="1"/>
          <p:nvPr/>
        </p:nvSpPr>
        <p:spPr>
          <a:xfrm>
            <a:off x="1828800" y="3863181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尝试从数据学习未知分布模型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A03591B-0FA6-4343-B54E-7F447326A21E}"/>
              </a:ext>
            </a:extLst>
          </p:cNvPr>
          <p:cNvSpPr/>
          <p:nvPr/>
        </p:nvSpPr>
        <p:spPr>
          <a:xfrm>
            <a:off x="1752600" y="3724671"/>
            <a:ext cx="1905000" cy="87164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C71B943-8B58-5247-B8CA-078DF1B78796}"/>
              </a:ext>
            </a:extLst>
          </p:cNvPr>
          <p:cNvCxnSpPr>
            <a:stCxn id="4" idx="4"/>
            <a:endCxn id="7" idx="0"/>
          </p:cNvCxnSpPr>
          <p:nvPr/>
        </p:nvCxnSpPr>
        <p:spPr>
          <a:xfrm flipH="1">
            <a:off x="2705100" y="3352800"/>
            <a:ext cx="304800" cy="3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4DC729DC-3B50-2E4A-A83C-BE7BDCD19EC6}"/>
              </a:ext>
            </a:extLst>
          </p:cNvPr>
          <p:cNvSpPr/>
          <p:nvPr/>
        </p:nvSpPr>
        <p:spPr>
          <a:xfrm>
            <a:off x="3696970" y="2819400"/>
            <a:ext cx="1143000" cy="5334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0B30636-ADE6-5A4A-8939-9DA77426C0D2}"/>
              </a:ext>
            </a:extLst>
          </p:cNvPr>
          <p:cNvSpPr/>
          <p:nvPr/>
        </p:nvSpPr>
        <p:spPr>
          <a:xfrm>
            <a:off x="3489960" y="4364989"/>
            <a:ext cx="2133600" cy="136962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785E61-15E0-1646-B09A-40F40DABC2C5}"/>
              </a:ext>
            </a:extLst>
          </p:cNvPr>
          <p:cNvSpPr txBox="1"/>
          <p:nvPr/>
        </p:nvSpPr>
        <p:spPr>
          <a:xfrm>
            <a:off x="3657600" y="4454392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训练生成模型的一种方式，包含生成和鉴别两个对抗网络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1A47093-9279-4643-9675-6A26E2E8D5C0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4268470" y="3352800"/>
            <a:ext cx="288290" cy="1012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88FC08A-644C-A640-8172-B69520A93EA0}"/>
              </a:ext>
            </a:extLst>
          </p:cNvPr>
          <p:cNvSpPr txBox="1"/>
          <p:nvPr/>
        </p:nvSpPr>
        <p:spPr>
          <a:xfrm>
            <a:off x="2164080" y="4677859"/>
            <a:ext cx="11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生成模型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6D9C08-5366-D44E-872F-8DCC1E78A148}"/>
              </a:ext>
            </a:extLst>
          </p:cNvPr>
          <p:cNvSpPr txBox="1"/>
          <p:nvPr/>
        </p:nvSpPr>
        <p:spPr>
          <a:xfrm>
            <a:off x="3992880" y="5796780"/>
            <a:ext cx="11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对抗训练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B4366E2-1D1D-674E-A573-8767B6436929}"/>
              </a:ext>
            </a:extLst>
          </p:cNvPr>
          <p:cNvSpPr/>
          <p:nvPr/>
        </p:nvSpPr>
        <p:spPr>
          <a:xfrm>
            <a:off x="4914900" y="2741400"/>
            <a:ext cx="1143000" cy="5334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61DE4C-3F39-1441-A16E-6E36BD9AD59E}"/>
              </a:ext>
            </a:extLst>
          </p:cNvPr>
          <p:cNvSpPr txBox="1"/>
          <p:nvPr/>
        </p:nvSpPr>
        <p:spPr>
          <a:xfrm>
            <a:off x="6012180" y="40418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两个对抗网络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E712411-FD7B-044B-B93B-97F239FC53FF}"/>
              </a:ext>
            </a:extLst>
          </p:cNvPr>
          <p:cNvSpPr/>
          <p:nvPr/>
        </p:nvSpPr>
        <p:spPr>
          <a:xfrm>
            <a:off x="5791200" y="3962400"/>
            <a:ext cx="1905000" cy="58034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98C43E8-8E79-1B47-90DD-01348052506E}"/>
              </a:ext>
            </a:extLst>
          </p:cNvPr>
          <p:cNvSpPr txBox="1"/>
          <p:nvPr/>
        </p:nvSpPr>
        <p:spPr>
          <a:xfrm>
            <a:off x="6355080" y="4658332"/>
            <a:ext cx="11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神经网络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9F2B23D-2440-5C4A-8590-9DD1619DEAE0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>
            <a:off x="5486400" y="3274800"/>
            <a:ext cx="1257300" cy="68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9646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ED44C-3DFC-854A-B84F-7728227BF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生成对抗网络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84A11-D64B-D241-B5A0-195684174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定义一个纳什均衡目标函数进行联合训练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361A0-4854-A148-8057-F0A2F9EE6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8668"/>
            <a:ext cx="8105911" cy="76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42625D5-FA85-C045-8004-9E5F75BDC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4640262"/>
            <a:ext cx="7353300" cy="1943100"/>
          </a:xfrm>
          <a:prstGeom prst="rect">
            <a:avLst/>
          </a:prstGeom>
        </p:spPr>
      </p:pic>
      <p:sp>
        <p:nvSpPr>
          <p:cNvPr id="6" name="左大括号 5">
            <a:extLst>
              <a:ext uri="{FF2B5EF4-FFF2-40B4-BE49-F238E27FC236}">
                <a16:creationId xmlns:a16="http://schemas.microsoft.com/office/drawing/2014/main" id="{8D2D92C2-3CCC-A648-858A-B447019708FE}"/>
              </a:ext>
            </a:extLst>
          </p:cNvPr>
          <p:cNvSpPr/>
          <p:nvPr/>
        </p:nvSpPr>
        <p:spPr>
          <a:xfrm rot="5400000">
            <a:off x="2985214" y="1661162"/>
            <a:ext cx="354171" cy="2362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103E01-5911-6240-BD55-EF24FC872BF1}"/>
              </a:ext>
            </a:extLst>
          </p:cNvPr>
          <p:cNvSpPr txBox="1"/>
          <p:nvPr/>
        </p:nvSpPr>
        <p:spPr>
          <a:xfrm>
            <a:off x="2362200" y="209825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鉴别器希望对于真实数据</a:t>
            </a:r>
            <a:r>
              <a:rPr kumimoji="1" lang="en-US" altLang="zh-CN" dirty="0"/>
              <a:t>D(x)=1</a:t>
            </a:r>
            <a:endParaRPr kumimoji="1" lang="zh-CN" altLang="en-US" dirty="0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B12B4F39-2D90-064B-A923-F3CCDC8B5F99}"/>
              </a:ext>
            </a:extLst>
          </p:cNvPr>
          <p:cNvSpPr/>
          <p:nvPr/>
        </p:nvSpPr>
        <p:spPr>
          <a:xfrm rot="5400000">
            <a:off x="6846012" y="1700525"/>
            <a:ext cx="354171" cy="2362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8B8534-21BB-1243-94F8-D9D6BF27694C}"/>
              </a:ext>
            </a:extLst>
          </p:cNvPr>
          <p:cNvSpPr txBox="1"/>
          <p:nvPr/>
        </p:nvSpPr>
        <p:spPr>
          <a:xfrm>
            <a:off x="6248400" y="209825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鉴别器希望对于生成数据</a:t>
            </a:r>
            <a:r>
              <a:rPr kumimoji="1" lang="en-US" altLang="zh-CN" dirty="0"/>
              <a:t>D(x)=0</a:t>
            </a:r>
            <a:endParaRPr kumimoji="1" lang="zh-CN" altLang="en-US" dirty="0"/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EC989D66-A4A2-9943-B9D6-324D5B5ECE6A}"/>
              </a:ext>
            </a:extLst>
          </p:cNvPr>
          <p:cNvSpPr/>
          <p:nvPr/>
        </p:nvSpPr>
        <p:spPr>
          <a:xfrm rot="16200000">
            <a:off x="6846013" y="2618190"/>
            <a:ext cx="354171" cy="2362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39E080-3E6D-944F-B5DC-683811446132}"/>
              </a:ext>
            </a:extLst>
          </p:cNvPr>
          <p:cNvSpPr txBox="1"/>
          <p:nvPr/>
        </p:nvSpPr>
        <p:spPr>
          <a:xfrm>
            <a:off x="6261099" y="396323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生成器希望对于生成数据</a:t>
            </a:r>
            <a:r>
              <a:rPr kumimoji="1" lang="en-US" altLang="zh-CN" dirty="0"/>
              <a:t>D(x)=1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06267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27463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祝顺利通过考试！</a:t>
            </a:r>
            <a:br>
              <a:rPr lang="en-US" altLang="zh-CN" dirty="0"/>
            </a:br>
            <a:r>
              <a:rPr lang="zh-CN" altLang="en-US" dirty="0"/>
              <a:t>谢谢大家！</a:t>
            </a:r>
            <a:endParaRPr lang="zh-CN" altLang="en-US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153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G[x,y]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25"/>
  <p:tag name="PICTUREFILESIZE" val="27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,y]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25"/>
  <p:tag name="PICTUREFILESIZE" val="271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G = H \otimes F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40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[u,v]$&#10;\end{document}&#10;"/>
  <p:tag name="EXTERNALNAME" val="Edittex"/>
  <p:tag name="BLEND" val="False"/>
  <p:tag name="TRANSPARENT" val="False"/>
  <p:tag name="BITMAPFORMAT" val="bmpmono"/>
  <p:tag name="DEBUGINTERACTIVE" val="True"/>
  <p:tag name="ORIGWIDTH" val="235.7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G = H \otimes F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4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small&#10;\[ \frac{1}{9} &#10;\]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15"/>
  <p:tag name="BITMAPFORMAT" val="bmpmono"/>
  <p:tag name="DEBUGINTERACTIVE" val="True"/>
  <p:tag name="ORIGWIDTH" val="12"/>
  <p:tag name="PICTUREFILESIZE" val="126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79.7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0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41.8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theta = \tan^{-1} \left(\frac{\partial f}{\partial y}/\frac{\partial f}{\partial x}\right)$&#10;\end{document}&#10;"/>
  <p:tag name="EXTERNALNAME" val="Edittex"/>
  <p:tag name="BLEND" val="False"/>
  <p:tag name="TRANSPARENT" val="False"/>
  <p:tag name="BITMAPFORMAT" val="bmpmono"/>
  <p:tag name="DEBUGINTERACTIVE" val="True"/>
  <p:tag name="ORIGWIDTH" val="659.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|\nabla f\| = \sqrt{{(\frac{\partial f}{\partial x})}^2 + {(\frac{\partial f}{\partial y})}^2}$&#10;\end{document}&#10;"/>
  <p:tag name="EXTERNALNAME" val="Edittex"/>
  <p:tag name="BLEND" val="False"/>
  <p:tag name="TRANSPARENT" val="False"/>
  <p:tag name="BITMAPFORMAT" val="bmpmono"/>
  <p:tag name="DEBUGINTERACTIVE" val="True"/>
  <p:tag name="ORIGWIDTH" val="87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theta$&#10;\end{document}&#10;"/>
  <p:tag name="EXTERNALNAME" val="Edittex"/>
  <p:tag name="BLEND" val="False"/>
  <p:tag name="TRANSPARENT" val="True"/>
  <p:tag name="BITMAPFORMAT" val="bmpmono"/>
  <p:tag name="DEBUGINTERACTIVE" val="True"/>
  <p:tag name="ORIGWIDTH" val="33.2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0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41.87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79.7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53"/>
  <p:tag name="PICTUREFILESIZE" val="205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d}{dx}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32.25"/>
  <p:tag name="PICTUREFILESIZE" val="423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h_\sigma(u,v) = \frac{1}{2 \pi \sigma^2} e^{-\frac{u^2+v^2}{2\sigma^2}}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858.62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\partial}{\partial x} h_\sigma(u,v)&#10;\]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370.75"/>
  <p:tag name="PICTUREFILESIZE" val="957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nabla^2 h_\sigma (u,v)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37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nabla^2 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100.7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^2 f = \frac{\partial^2 f}{\partial x^2} + \frac{\partial^2 f}{\partial y^2}$&#10;\end{document}&#10;"/>
  <p:tag name="EXTERNALNAME" val="Edittex"/>
  <p:tag name="BLEND" val="False"/>
  <p:tag name="TRANSPARENT" val="False"/>
  <p:tag name="BITMAPFORMAT" val="bmpmono"/>
  <p:tag name="DEBUGINTERACTIVE" val="True"/>
  <p:tag name="ORIGWIDTH" val="611.12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A^T A = &#10;\left[&#10;\begin{array}{cc}&#10;\sum I_x I_x &amp; \sum I_x I_y \\&#10;\sum I_x I_y &amp; \sum I_y I_y&#10;\end{array}&#10;\right]&#10;=&#10;\sum&#10;\left[&#10;\begin{array}{c}&#10;I_x  \\&#10;I_y&#10;\end{array}&#10;\right]&#10;[I_x~I_y]&#10;=&#10;\sum \nabla I (\nabla I)^T&#10;\]&#10;\end{document}&#10;"/>
  <p:tag name="EXTERNALNAME" val="Edittex"/>
  <p:tag name="BLEND" val="False"/>
  <p:tag name="TRANSPARENT" val="False"/>
  <p:tag name="BITMAPFORMAT" val="bmp256"/>
  <p:tag name="DEBUGINTERACTIVE" val="True"/>
  <p:tag name="ORIGWIDTH" val="2141.1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Johnson NN clas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4278</Words>
  <Application>Microsoft Macintosh PowerPoint</Application>
  <PresentationFormat>全屏显示(4:3)</PresentationFormat>
  <Paragraphs>1067</Paragraphs>
  <Slides>86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86</vt:i4>
      </vt:variant>
    </vt:vector>
  </HeadingPairs>
  <TitlesOfParts>
    <vt:vector size="105" baseType="lpstr">
      <vt:lpstr>楷体</vt:lpstr>
      <vt:lpstr>Arial Unicode MS</vt:lpstr>
      <vt:lpstr>AvantGarde Bk BT</vt:lpstr>
      <vt:lpstr>KaiTi</vt:lpstr>
      <vt:lpstr>Arial</vt:lpstr>
      <vt:lpstr>Calibri</vt:lpstr>
      <vt:lpstr>Calibri Light</vt:lpstr>
      <vt:lpstr>Cambria Math</vt:lpstr>
      <vt:lpstr>Courier New</vt:lpstr>
      <vt:lpstr>Lucida Sans</vt:lpstr>
      <vt:lpstr>Monotype Sorts</vt:lpstr>
      <vt:lpstr>Symbol</vt:lpstr>
      <vt:lpstr>Tahoma</vt:lpstr>
      <vt:lpstr>Times New Roman</vt:lpstr>
      <vt:lpstr>Office Theme</vt:lpstr>
      <vt:lpstr>JJohnson NN class</vt:lpstr>
      <vt:lpstr>Equation</vt:lpstr>
      <vt:lpstr>Photo Editor Photo</vt:lpstr>
      <vt:lpstr>Microsoft 公式 3.0</vt:lpstr>
      <vt:lpstr>计算机视觉 课程内容总结</vt:lpstr>
      <vt:lpstr>第一章 绪论</vt:lpstr>
      <vt:lpstr>什么是计算机视觉?</vt:lpstr>
      <vt:lpstr>计算机视觉的主要应用</vt:lpstr>
      <vt:lpstr>课程目标</vt:lpstr>
      <vt:lpstr>第二章 图像形成</vt:lpstr>
      <vt:lpstr>2.1针孔相机</vt:lpstr>
      <vt:lpstr>2.3几何模型</vt:lpstr>
      <vt:lpstr>2.3几何模型-内部参数</vt:lpstr>
      <vt:lpstr>2.3几何模型-外部参数</vt:lpstr>
      <vt:lpstr>第三章 图像滤波与边缘检测</vt:lpstr>
      <vt:lpstr>3.3 图像滤波</vt:lpstr>
      <vt:lpstr>3.3 图像滤波—高斯滤波</vt:lpstr>
      <vt:lpstr>3.3 图像滤波—高斯滤波</vt:lpstr>
      <vt:lpstr>3.3 图像滤波—高斯滤波</vt:lpstr>
      <vt:lpstr>3.4 模板匹配</vt:lpstr>
      <vt:lpstr>3.5 边缘检测</vt:lpstr>
      <vt:lpstr>3.5 边缘检测</vt:lpstr>
      <vt:lpstr>3.5 边缘检测—组合检测子</vt:lpstr>
      <vt:lpstr>3.5 边缘检测— 图像梯度</vt:lpstr>
      <vt:lpstr>3.5 边缘检测—噪声影响</vt:lpstr>
      <vt:lpstr>3.5 边缘检测—Gaussian-Laplace检测子</vt:lpstr>
      <vt:lpstr>3.5 边缘检测 </vt:lpstr>
      <vt:lpstr>3.5 边缘检测—Canny检测子</vt:lpstr>
      <vt:lpstr>3.5 边缘检测—性能评估</vt:lpstr>
      <vt:lpstr>3.5 边缘检测—性能评估</vt:lpstr>
      <vt:lpstr>第四章-局部特征提取</vt:lpstr>
      <vt:lpstr>4.2.Harris角点检测</vt:lpstr>
      <vt:lpstr>4.2.Harris角点检测</vt:lpstr>
      <vt:lpstr>4.2.Harris角点检测— 角点响应函数</vt:lpstr>
      <vt:lpstr>4.2.Harris角点检测</vt:lpstr>
      <vt:lpstr>4.3.多尺度空间</vt:lpstr>
      <vt:lpstr>4.4. 图像匹配</vt:lpstr>
      <vt:lpstr>PowerPoint 演示文稿</vt:lpstr>
      <vt:lpstr>PowerPoint 演示文稿</vt:lpstr>
      <vt:lpstr>PowerPoint 演示文稿</vt:lpstr>
      <vt:lpstr>PowerPoint 演示文稿</vt:lpstr>
      <vt:lpstr>4.6. SIFT算法</vt:lpstr>
      <vt:lpstr>4.6. SIFT算法</vt:lpstr>
      <vt:lpstr>4.6. SIFT算法</vt:lpstr>
      <vt:lpstr>4.6. SIFT算法</vt:lpstr>
      <vt:lpstr>4.6. SIFT算法</vt:lpstr>
      <vt:lpstr>4.6. SIFT算法</vt:lpstr>
      <vt:lpstr>第五章-机器学习与图像分类</vt:lpstr>
      <vt:lpstr>最近邻分类</vt:lpstr>
      <vt:lpstr>参数化方法：线性分类器</vt:lpstr>
      <vt:lpstr>线性分类器: 三个角度</vt:lpstr>
      <vt:lpstr>二元Logistics回归</vt:lpstr>
      <vt:lpstr>多元Logistics回归</vt:lpstr>
      <vt:lpstr>多类 SVM 损失</vt:lpstr>
      <vt:lpstr>交叉熵损失(多元Logistic回归)</vt:lpstr>
      <vt:lpstr>随机梯度速降(SGD)</vt:lpstr>
      <vt:lpstr>第六章-神经网络</vt:lpstr>
      <vt:lpstr>神经网络</vt:lpstr>
      <vt:lpstr>激活函数</vt:lpstr>
      <vt:lpstr>深度神经网络</vt:lpstr>
      <vt:lpstr>后向传播算法: 举例</vt:lpstr>
      <vt:lpstr>另一个示例</vt:lpstr>
      <vt:lpstr>第六章-卷积神经网络</vt:lpstr>
      <vt:lpstr>卷积网络LeNet-5</vt:lpstr>
      <vt:lpstr>卷积层Convolution Layer</vt:lpstr>
      <vt:lpstr>感受野</vt:lpstr>
      <vt:lpstr>卷积步长</vt:lpstr>
      <vt:lpstr>卷积总结</vt:lpstr>
      <vt:lpstr>卷积举例</vt:lpstr>
      <vt:lpstr>最大池化</vt:lpstr>
      <vt:lpstr>举例: LeNet-5</vt:lpstr>
      <vt:lpstr>第七章-第九章  图像分类、语义分割、目标检测</vt:lpstr>
      <vt:lpstr>第七章-第九章 图像分类、语义分割、目标检测</vt:lpstr>
      <vt:lpstr>图像分类</vt:lpstr>
      <vt:lpstr>图像分类</vt:lpstr>
      <vt:lpstr>目标检测</vt:lpstr>
      <vt:lpstr>R-CNN: 测试</vt:lpstr>
      <vt:lpstr>检测框比较: 交叠率Intersection over Union (IoU)</vt:lpstr>
      <vt:lpstr>重叠框: 非最大化抑制(NMS)</vt:lpstr>
      <vt:lpstr>目标检测子评估:  均值平均精确率Mean Average Precision (mAP)</vt:lpstr>
      <vt:lpstr>目标检测子评估:  均值平均精确率Mean Average Precision (mAP)</vt:lpstr>
      <vt:lpstr>Fast R-CNN vs “Slow” R-CNN</vt:lpstr>
      <vt:lpstr>Faster R-CNN:可学习的候选区域方法</vt:lpstr>
      <vt:lpstr>区域分割定义</vt:lpstr>
      <vt:lpstr>语义分割: 滑动窗口</vt:lpstr>
      <vt:lpstr>语义分割: 全卷积网络</vt:lpstr>
      <vt:lpstr>计算机视觉 第9章 图像生成</vt:lpstr>
      <vt:lpstr>生成对抗网络（GAN）</vt:lpstr>
      <vt:lpstr>生成对抗网络</vt:lpstr>
      <vt:lpstr>祝顺利通过考试！ 谢谢大家！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parameters of image formation</dc:title>
  <dc:creator>trevor</dc:creator>
  <cp:lastModifiedBy>Microsoft Office User</cp:lastModifiedBy>
  <cp:revision>212</cp:revision>
  <dcterms:created xsi:type="dcterms:W3CDTF">2009-09-01T01:33:15Z</dcterms:created>
  <dcterms:modified xsi:type="dcterms:W3CDTF">2026-01-16T12:19:28Z</dcterms:modified>
</cp:coreProperties>
</file>