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3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4.xml" ContentType="application/vnd.openxmlformats-officedocument.drawingml.chartshapes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5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6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0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drawings/drawing7.xml" ContentType="application/vnd.openxmlformats-officedocument.drawingml.chartshapes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8.xml" ContentType="application/vnd.openxmlformats-officedocument.drawingml.chartshape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drawings/drawing9.xml" ContentType="application/vnd.openxmlformats-officedocument.drawingml.chartshapes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drawings/drawing10.xml" ContentType="application/vnd.openxmlformats-officedocument.drawingml.chartshape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87"/>
  </p:notesMasterIdLst>
  <p:sldIdLst>
    <p:sldId id="330" r:id="rId4"/>
    <p:sldId id="1850" r:id="rId5"/>
    <p:sldId id="261" r:id="rId6"/>
    <p:sldId id="262" r:id="rId7"/>
    <p:sldId id="266" r:id="rId8"/>
    <p:sldId id="264" r:id="rId9"/>
    <p:sldId id="263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57" r:id="rId21"/>
    <p:sldId id="278" r:id="rId22"/>
    <p:sldId id="279" r:id="rId23"/>
    <p:sldId id="280" r:id="rId24"/>
    <p:sldId id="281" r:id="rId25"/>
    <p:sldId id="286" r:id="rId26"/>
    <p:sldId id="287" r:id="rId27"/>
    <p:sldId id="283" r:id="rId28"/>
    <p:sldId id="284" r:id="rId29"/>
    <p:sldId id="285" r:id="rId30"/>
    <p:sldId id="359" r:id="rId31"/>
    <p:sldId id="288" r:id="rId32"/>
    <p:sldId id="682" r:id="rId33"/>
    <p:sldId id="289" r:id="rId34"/>
    <p:sldId id="291" r:id="rId35"/>
    <p:sldId id="290" r:id="rId36"/>
    <p:sldId id="292" r:id="rId37"/>
    <p:sldId id="293" r:id="rId38"/>
    <p:sldId id="295" r:id="rId39"/>
    <p:sldId id="304" r:id="rId40"/>
    <p:sldId id="302" r:id="rId41"/>
    <p:sldId id="299" r:id="rId42"/>
    <p:sldId id="300" r:id="rId43"/>
    <p:sldId id="683" r:id="rId44"/>
    <p:sldId id="1803" r:id="rId45"/>
    <p:sldId id="259" r:id="rId46"/>
    <p:sldId id="260" r:id="rId47"/>
    <p:sldId id="1804" r:id="rId48"/>
    <p:sldId id="1805" r:id="rId49"/>
    <p:sldId id="1806" r:id="rId50"/>
    <p:sldId id="269" r:id="rId51"/>
    <p:sldId id="1807" r:id="rId52"/>
    <p:sldId id="1808" r:id="rId53"/>
    <p:sldId id="1809" r:id="rId54"/>
    <p:sldId id="282" r:id="rId55"/>
    <p:sldId id="1810" r:id="rId56"/>
    <p:sldId id="1811" r:id="rId57"/>
    <p:sldId id="1812" r:id="rId58"/>
    <p:sldId id="1813" r:id="rId59"/>
    <p:sldId id="1814" r:id="rId60"/>
    <p:sldId id="1815" r:id="rId61"/>
    <p:sldId id="1816" r:id="rId62"/>
    <p:sldId id="1817" r:id="rId63"/>
    <p:sldId id="1818" r:id="rId64"/>
    <p:sldId id="1819" r:id="rId65"/>
    <p:sldId id="1820" r:id="rId66"/>
    <p:sldId id="1821" r:id="rId67"/>
    <p:sldId id="1822" r:id="rId68"/>
    <p:sldId id="1823" r:id="rId69"/>
    <p:sldId id="294" r:id="rId70"/>
    <p:sldId id="296" r:id="rId71"/>
    <p:sldId id="297" r:id="rId72"/>
    <p:sldId id="298" r:id="rId73"/>
    <p:sldId id="1824" r:id="rId74"/>
    <p:sldId id="1825" r:id="rId75"/>
    <p:sldId id="301" r:id="rId76"/>
    <p:sldId id="1826" r:id="rId77"/>
    <p:sldId id="303" r:id="rId78"/>
    <p:sldId id="1827" r:id="rId79"/>
    <p:sldId id="306" r:id="rId80"/>
    <p:sldId id="307" r:id="rId81"/>
    <p:sldId id="305" r:id="rId82"/>
    <p:sldId id="1840" r:id="rId83"/>
    <p:sldId id="1843" r:id="rId84"/>
    <p:sldId id="329" r:id="rId85"/>
    <p:sldId id="1849" r:id="rId86"/>
    <p:sldId id="332" r:id="rId87"/>
    <p:sldId id="331" r:id="rId88"/>
    <p:sldId id="333" r:id="rId89"/>
    <p:sldId id="336" r:id="rId90"/>
    <p:sldId id="335" r:id="rId91"/>
    <p:sldId id="1833" r:id="rId92"/>
    <p:sldId id="337" r:id="rId93"/>
    <p:sldId id="343" r:id="rId94"/>
    <p:sldId id="342" r:id="rId95"/>
    <p:sldId id="341" r:id="rId96"/>
    <p:sldId id="1834" r:id="rId97"/>
    <p:sldId id="340" r:id="rId98"/>
    <p:sldId id="1835" r:id="rId99"/>
    <p:sldId id="344" r:id="rId100"/>
    <p:sldId id="345" r:id="rId101"/>
    <p:sldId id="379" r:id="rId102"/>
    <p:sldId id="380" r:id="rId103"/>
    <p:sldId id="375" r:id="rId104"/>
    <p:sldId id="2015" r:id="rId105"/>
    <p:sldId id="2016" r:id="rId106"/>
    <p:sldId id="1852" r:id="rId107"/>
    <p:sldId id="1853" r:id="rId108"/>
    <p:sldId id="2002" r:id="rId109"/>
    <p:sldId id="381" r:id="rId110"/>
    <p:sldId id="382" r:id="rId111"/>
    <p:sldId id="2017" r:id="rId112"/>
    <p:sldId id="383" r:id="rId113"/>
    <p:sldId id="1964" r:id="rId114"/>
    <p:sldId id="1965" r:id="rId115"/>
    <p:sldId id="1966" r:id="rId116"/>
    <p:sldId id="1967" r:id="rId117"/>
    <p:sldId id="1968" r:id="rId118"/>
    <p:sldId id="1969" r:id="rId119"/>
    <p:sldId id="1970" r:id="rId120"/>
    <p:sldId id="1971" r:id="rId121"/>
    <p:sldId id="1972" r:id="rId122"/>
    <p:sldId id="1973" r:id="rId123"/>
    <p:sldId id="1974" r:id="rId124"/>
    <p:sldId id="1926" r:id="rId125"/>
    <p:sldId id="1927" r:id="rId126"/>
    <p:sldId id="1928" r:id="rId127"/>
    <p:sldId id="1975" r:id="rId128"/>
    <p:sldId id="1976" r:id="rId129"/>
    <p:sldId id="1977" r:id="rId130"/>
    <p:sldId id="1978" r:id="rId131"/>
    <p:sldId id="1979" r:id="rId132"/>
    <p:sldId id="1980" r:id="rId133"/>
    <p:sldId id="1981" r:id="rId134"/>
    <p:sldId id="1982" r:id="rId135"/>
    <p:sldId id="1983" r:id="rId136"/>
    <p:sldId id="1984" r:id="rId137"/>
    <p:sldId id="1929" r:id="rId138"/>
    <p:sldId id="1985" r:id="rId139"/>
    <p:sldId id="1986" r:id="rId140"/>
    <p:sldId id="1987" r:id="rId141"/>
    <p:sldId id="1988" r:id="rId142"/>
    <p:sldId id="2003" r:id="rId143"/>
    <p:sldId id="2004" r:id="rId144"/>
    <p:sldId id="2005" r:id="rId145"/>
    <p:sldId id="2006" r:id="rId146"/>
    <p:sldId id="1989" r:id="rId147"/>
    <p:sldId id="1930" r:id="rId148"/>
    <p:sldId id="1990" r:id="rId149"/>
    <p:sldId id="1931" r:id="rId150"/>
    <p:sldId id="1932" r:id="rId151"/>
    <p:sldId id="1991" r:id="rId152"/>
    <p:sldId id="1992" r:id="rId153"/>
    <p:sldId id="1933" r:id="rId154"/>
    <p:sldId id="1993" r:id="rId155"/>
    <p:sldId id="1934" r:id="rId156"/>
    <p:sldId id="1935" r:id="rId157"/>
    <p:sldId id="1936" r:id="rId158"/>
    <p:sldId id="1994" r:id="rId159"/>
    <p:sldId id="1995" r:id="rId160"/>
    <p:sldId id="1996" r:id="rId161"/>
    <p:sldId id="1997" r:id="rId162"/>
    <p:sldId id="1998" r:id="rId163"/>
    <p:sldId id="2007" r:id="rId164"/>
    <p:sldId id="2018" r:id="rId165"/>
    <p:sldId id="384" r:id="rId166"/>
    <p:sldId id="1999" r:id="rId167"/>
    <p:sldId id="2000" r:id="rId168"/>
    <p:sldId id="2001" r:id="rId169"/>
    <p:sldId id="314" r:id="rId170"/>
    <p:sldId id="1938" r:id="rId171"/>
    <p:sldId id="1939" r:id="rId172"/>
    <p:sldId id="317" r:id="rId173"/>
    <p:sldId id="1915" r:id="rId174"/>
    <p:sldId id="1916" r:id="rId175"/>
    <p:sldId id="320" r:id="rId176"/>
    <p:sldId id="321" r:id="rId177"/>
    <p:sldId id="1917" r:id="rId178"/>
    <p:sldId id="323" r:id="rId179"/>
    <p:sldId id="1940" r:id="rId180"/>
    <p:sldId id="386" r:id="rId181"/>
    <p:sldId id="325" r:id="rId182"/>
    <p:sldId id="326" r:id="rId183"/>
    <p:sldId id="327" r:id="rId184"/>
    <p:sldId id="1918" r:id="rId185"/>
    <p:sldId id="1919" r:id="rId186"/>
    <p:sldId id="1920" r:id="rId187"/>
    <p:sldId id="1921" r:id="rId188"/>
    <p:sldId id="2008" r:id="rId189"/>
    <p:sldId id="2009" r:id="rId190"/>
    <p:sldId id="334" r:id="rId191"/>
    <p:sldId id="369" r:id="rId192"/>
    <p:sldId id="2010" r:id="rId193"/>
    <p:sldId id="2011" r:id="rId194"/>
    <p:sldId id="2012" r:id="rId195"/>
    <p:sldId id="1922" r:id="rId196"/>
    <p:sldId id="2019" r:id="rId197"/>
    <p:sldId id="1906" r:id="rId198"/>
    <p:sldId id="1944" r:id="rId199"/>
    <p:sldId id="1954" r:id="rId200"/>
    <p:sldId id="2013" r:id="rId201"/>
    <p:sldId id="1958" r:id="rId202"/>
    <p:sldId id="1959" r:id="rId203"/>
    <p:sldId id="339" r:id="rId204"/>
    <p:sldId id="1960" r:id="rId205"/>
    <p:sldId id="1961" r:id="rId206"/>
    <p:sldId id="1962" r:id="rId207"/>
    <p:sldId id="1945" r:id="rId208"/>
    <p:sldId id="2075" r:id="rId209"/>
    <p:sldId id="2020" r:id="rId210"/>
    <p:sldId id="258" r:id="rId211"/>
    <p:sldId id="2021" r:id="rId212"/>
    <p:sldId id="2031" r:id="rId213"/>
    <p:sldId id="2032" r:id="rId214"/>
    <p:sldId id="2033" r:id="rId215"/>
    <p:sldId id="2034" r:id="rId216"/>
    <p:sldId id="2035" r:id="rId217"/>
    <p:sldId id="2036" r:id="rId218"/>
    <p:sldId id="2037" r:id="rId219"/>
    <p:sldId id="2038" r:id="rId220"/>
    <p:sldId id="2022" r:id="rId221"/>
    <p:sldId id="2023" r:id="rId222"/>
    <p:sldId id="2024" r:id="rId223"/>
    <p:sldId id="2025" r:id="rId224"/>
    <p:sldId id="2039" r:id="rId225"/>
    <p:sldId id="2040" r:id="rId226"/>
    <p:sldId id="2041" r:id="rId227"/>
    <p:sldId id="2042" r:id="rId228"/>
    <p:sldId id="2043" r:id="rId229"/>
    <p:sldId id="2027" r:id="rId230"/>
    <p:sldId id="2044" r:id="rId231"/>
    <p:sldId id="2045" r:id="rId232"/>
    <p:sldId id="2046" r:id="rId233"/>
    <p:sldId id="2047" r:id="rId234"/>
    <p:sldId id="2048" r:id="rId235"/>
    <p:sldId id="2028" r:id="rId236"/>
    <p:sldId id="2049" r:id="rId237"/>
    <p:sldId id="2050" r:id="rId238"/>
    <p:sldId id="2051" r:id="rId239"/>
    <p:sldId id="309" r:id="rId240"/>
    <p:sldId id="2052" r:id="rId241"/>
    <p:sldId id="2053" r:id="rId242"/>
    <p:sldId id="2054" r:id="rId243"/>
    <p:sldId id="2055" r:id="rId244"/>
    <p:sldId id="2056" r:id="rId245"/>
    <p:sldId id="308" r:id="rId246"/>
    <p:sldId id="310" r:id="rId247"/>
    <p:sldId id="2029" r:id="rId248"/>
    <p:sldId id="311" r:id="rId249"/>
    <p:sldId id="312" r:id="rId250"/>
    <p:sldId id="315" r:id="rId251"/>
    <p:sldId id="318" r:id="rId252"/>
    <p:sldId id="2057" r:id="rId253"/>
    <p:sldId id="319" r:id="rId254"/>
    <p:sldId id="2058" r:id="rId255"/>
    <p:sldId id="2059" r:id="rId256"/>
    <p:sldId id="322" r:id="rId257"/>
    <p:sldId id="2060" r:id="rId258"/>
    <p:sldId id="2026" r:id="rId259"/>
    <p:sldId id="1937" r:id="rId260"/>
    <p:sldId id="328" r:id="rId261"/>
    <p:sldId id="2061" r:id="rId262"/>
    <p:sldId id="2062" r:id="rId263"/>
    <p:sldId id="2063" r:id="rId264"/>
    <p:sldId id="2064" r:id="rId265"/>
    <p:sldId id="2065" r:id="rId266"/>
    <p:sldId id="2066" r:id="rId267"/>
    <p:sldId id="1941" r:id="rId268"/>
    <p:sldId id="1942" r:id="rId269"/>
    <p:sldId id="1943" r:id="rId270"/>
    <p:sldId id="2067" r:id="rId271"/>
    <p:sldId id="2030" r:id="rId272"/>
    <p:sldId id="2070" r:id="rId273"/>
    <p:sldId id="1946" r:id="rId274"/>
    <p:sldId id="2071" r:id="rId275"/>
    <p:sldId id="2072" r:id="rId276"/>
    <p:sldId id="2073" r:id="rId277"/>
    <p:sldId id="2074" r:id="rId278"/>
    <p:sldId id="415" r:id="rId279"/>
    <p:sldId id="360" r:id="rId280"/>
    <p:sldId id="361" r:id="rId281"/>
    <p:sldId id="394" r:id="rId282"/>
    <p:sldId id="376" r:id="rId283"/>
    <p:sldId id="2076" r:id="rId284"/>
    <p:sldId id="316" r:id="rId285"/>
    <p:sldId id="324" r:id="rId28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FD6D"/>
    <a:srgbClr val="00FF00"/>
    <a:srgbClr val="FF0000"/>
    <a:srgbClr val="FB1C05"/>
    <a:srgbClr val="FC6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03"/>
    <p:restoredTop sz="94700"/>
  </p:normalViewPr>
  <p:slideViewPr>
    <p:cSldViewPr>
      <p:cViewPr varScale="1">
        <p:scale>
          <a:sx n="144" d="100"/>
          <a:sy n="144" d="100"/>
        </p:scale>
        <p:origin x="21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4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63" Type="http://schemas.openxmlformats.org/officeDocument/2006/relationships/slide" Target="slides/slide60.xml"/><Relationship Id="rId159" Type="http://schemas.openxmlformats.org/officeDocument/2006/relationships/slide" Target="slides/slide156.xml"/><Relationship Id="rId170" Type="http://schemas.openxmlformats.org/officeDocument/2006/relationships/slide" Target="slides/slide167.xml"/><Relationship Id="rId226" Type="http://schemas.openxmlformats.org/officeDocument/2006/relationships/slide" Target="slides/slide223.xml"/><Relationship Id="rId268" Type="http://schemas.openxmlformats.org/officeDocument/2006/relationships/slide" Target="slides/slide265.xml"/><Relationship Id="rId32" Type="http://schemas.openxmlformats.org/officeDocument/2006/relationships/slide" Target="slides/slide29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5" Type="http://schemas.openxmlformats.org/officeDocument/2006/relationships/slide" Target="slides/slide2.xml"/><Relationship Id="rId181" Type="http://schemas.openxmlformats.org/officeDocument/2006/relationships/slide" Target="slides/slide178.xml"/><Relationship Id="rId237" Type="http://schemas.openxmlformats.org/officeDocument/2006/relationships/slide" Target="slides/slide234.xml"/><Relationship Id="rId279" Type="http://schemas.openxmlformats.org/officeDocument/2006/relationships/slide" Target="slides/slide276.xml"/><Relationship Id="rId43" Type="http://schemas.openxmlformats.org/officeDocument/2006/relationships/slide" Target="slides/slide40.xml"/><Relationship Id="rId139" Type="http://schemas.openxmlformats.org/officeDocument/2006/relationships/slide" Target="slides/slide136.xml"/><Relationship Id="rId290" Type="http://schemas.openxmlformats.org/officeDocument/2006/relationships/theme" Target="theme/theme1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92" Type="http://schemas.openxmlformats.org/officeDocument/2006/relationships/slide" Target="slides/slide189.xml"/><Relationship Id="rId206" Type="http://schemas.openxmlformats.org/officeDocument/2006/relationships/slide" Target="slides/slide203.xml"/><Relationship Id="rId248" Type="http://schemas.openxmlformats.org/officeDocument/2006/relationships/slide" Target="slides/slide245.xml"/><Relationship Id="rId269" Type="http://schemas.openxmlformats.org/officeDocument/2006/relationships/slide" Target="slides/slide266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280" Type="http://schemas.openxmlformats.org/officeDocument/2006/relationships/slide" Target="slides/slide277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slide" Target="slides/slide158.xml"/><Relationship Id="rId182" Type="http://schemas.openxmlformats.org/officeDocument/2006/relationships/slide" Target="slides/slide179.xml"/><Relationship Id="rId217" Type="http://schemas.openxmlformats.org/officeDocument/2006/relationships/slide" Target="slides/slide214.xml"/><Relationship Id="rId6" Type="http://schemas.openxmlformats.org/officeDocument/2006/relationships/slide" Target="slides/slide3.xml"/><Relationship Id="rId238" Type="http://schemas.openxmlformats.org/officeDocument/2006/relationships/slide" Target="slides/slide235.xml"/><Relationship Id="rId259" Type="http://schemas.openxmlformats.org/officeDocument/2006/relationships/slide" Target="slides/slide256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270" Type="http://schemas.openxmlformats.org/officeDocument/2006/relationships/slide" Target="slides/slide267.xml"/><Relationship Id="rId291" Type="http://schemas.openxmlformats.org/officeDocument/2006/relationships/tableStyles" Target="tableStyles.xml"/><Relationship Id="rId44" Type="http://schemas.openxmlformats.org/officeDocument/2006/relationships/slide" Target="slides/slide41.xml"/><Relationship Id="rId65" Type="http://schemas.openxmlformats.org/officeDocument/2006/relationships/slide" Target="slides/slide62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51" Type="http://schemas.openxmlformats.org/officeDocument/2006/relationships/slide" Target="slides/slide148.xml"/><Relationship Id="rId172" Type="http://schemas.openxmlformats.org/officeDocument/2006/relationships/slide" Target="slides/slide169.xml"/><Relationship Id="rId193" Type="http://schemas.openxmlformats.org/officeDocument/2006/relationships/slide" Target="slides/slide190.xml"/><Relationship Id="rId207" Type="http://schemas.openxmlformats.org/officeDocument/2006/relationships/slide" Target="slides/slide204.xml"/><Relationship Id="rId228" Type="http://schemas.openxmlformats.org/officeDocument/2006/relationships/slide" Target="slides/slide225.xml"/><Relationship Id="rId249" Type="http://schemas.openxmlformats.org/officeDocument/2006/relationships/slide" Target="slides/slide246.xml"/><Relationship Id="rId13" Type="http://schemas.openxmlformats.org/officeDocument/2006/relationships/slide" Target="slides/slide10.xml"/><Relationship Id="rId109" Type="http://schemas.openxmlformats.org/officeDocument/2006/relationships/slide" Target="slides/slide106.xml"/><Relationship Id="rId260" Type="http://schemas.openxmlformats.org/officeDocument/2006/relationships/slide" Target="slides/slide257.xml"/><Relationship Id="rId281" Type="http://schemas.openxmlformats.org/officeDocument/2006/relationships/slide" Target="slides/slide278.xml"/><Relationship Id="rId34" Type="http://schemas.openxmlformats.org/officeDocument/2006/relationships/slide" Target="slides/slide31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20" Type="http://schemas.openxmlformats.org/officeDocument/2006/relationships/slide" Target="slides/slide117.xml"/><Relationship Id="rId141" Type="http://schemas.openxmlformats.org/officeDocument/2006/relationships/slide" Target="slides/slide138.xml"/><Relationship Id="rId7" Type="http://schemas.openxmlformats.org/officeDocument/2006/relationships/slide" Target="slides/slide4.xml"/><Relationship Id="rId162" Type="http://schemas.openxmlformats.org/officeDocument/2006/relationships/slide" Target="slides/slide159.xml"/><Relationship Id="rId183" Type="http://schemas.openxmlformats.org/officeDocument/2006/relationships/slide" Target="slides/slide180.xml"/><Relationship Id="rId218" Type="http://schemas.openxmlformats.org/officeDocument/2006/relationships/slide" Target="slides/slide215.xml"/><Relationship Id="rId239" Type="http://schemas.openxmlformats.org/officeDocument/2006/relationships/slide" Target="slides/slide236.xml"/><Relationship Id="rId250" Type="http://schemas.openxmlformats.org/officeDocument/2006/relationships/slide" Target="slides/slide247.xml"/><Relationship Id="rId271" Type="http://schemas.openxmlformats.org/officeDocument/2006/relationships/slide" Target="slides/slide268.xml"/><Relationship Id="rId24" Type="http://schemas.openxmlformats.org/officeDocument/2006/relationships/slide" Target="slides/slide21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31" Type="http://schemas.openxmlformats.org/officeDocument/2006/relationships/slide" Target="slides/slide128.xml"/><Relationship Id="rId152" Type="http://schemas.openxmlformats.org/officeDocument/2006/relationships/slide" Target="slides/slide149.xml"/><Relationship Id="rId173" Type="http://schemas.openxmlformats.org/officeDocument/2006/relationships/slide" Target="slides/slide170.xml"/><Relationship Id="rId194" Type="http://schemas.openxmlformats.org/officeDocument/2006/relationships/slide" Target="slides/slide191.xml"/><Relationship Id="rId208" Type="http://schemas.openxmlformats.org/officeDocument/2006/relationships/slide" Target="slides/slide205.xml"/><Relationship Id="rId229" Type="http://schemas.openxmlformats.org/officeDocument/2006/relationships/slide" Target="slides/slide226.xml"/><Relationship Id="rId240" Type="http://schemas.openxmlformats.org/officeDocument/2006/relationships/slide" Target="slides/slide237.xml"/><Relationship Id="rId261" Type="http://schemas.openxmlformats.org/officeDocument/2006/relationships/slide" Target="slides/slide258.xml"/><Relationship Id="rId14" Type="http://schemas.openxmlformats.org/officeDocument/2006/relationships/slide" Target="slides/slide11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282" Type="http://schemas.openxmlformats.org/officeDocument/2006/relationships/slide" Target="slides/slide279.xml"/><Relationship Id="rId8" Type="http://schemas.openxmlformats.org/officeDocument/2006/relationships/slide" Target="slides/slide5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slide" Target="slides/slide160.xml"/><Relationship Id="rId184" Type="http://schemas.openxmlformats.org/officeDocument/2006/relationships/slide" Target="slides/slide181.xml"/><Relationship Id="rId219" Type="http://schemas.openxmlformats.org/officeDocument/2006/relationships/slide" Target="slides/slide216.xml"/><Relationship Id="rId230" Type="http://schemas.openxmlformats.org/officeDocument/2006/relationships/slide" Target="slides/slide227.xml"/><Relationship Id="rId251" Type="http://schemas.openxmlformats.org/officeDocument/2006/relationships/slide" Target="slides/slide248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72" Type="http://schemas.openxmlformats.org/officeDocument/2006/relationships/slide" Target="slides/slide269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slide" Target="slides/slide171.xml"/><Relationship Id="rId195" Type="http://schemas.openxmlformats.org/officeDocument/2006/relationships/slide" Target="slides/slide192.xml"/><Relationship Id="rId209" Type="http://schemas.openxmlformats.org/officeDocument/2006/relationships/slide" Target="slides/slide206.xml"/><Relationship Id="rId220" Type="http://schemas.openxmlformats.org/officeDocument/2006/relationships/slide" Target="slides/slide217.xml"/><Relationship Id="rId241" Type="http://schemas.openxmlformats.org/officeDocument/2006/relationships/slide" Target="slides/slide23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262" Type="http://schemas.openxmlformats.org/officeDocument/2006/relationships/slide" Target="slides/slide259.xml"/><Relationship Id="rId283" Type="http://schemas.openxmlformats.org/officeDocument/2006/relationships/slide" Target="slides/slide280.xml"/><Relationship Id="rId78" Type="http://schemas.openxmlformats.org/officeDocument/2006/relationships/slide" Target="slides/slide75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64" Type="http://schemas.openxmlformats.org/officeDocument/2006/relationships/slide" Target="slides/slide161.xml"/><Relationship Id="rId185" Type="http://schemas.openxmlformats.org/officeDocument/2006/relationships/slide" Target="slides/slide182.xml"/><Relationship Id="rId9" Type="http://schemas.openxmlformats.org/officeDocument/2006/relationships/slide" Target="slides/slide6.xml"/><Relationship Id="rId210" Type="http://schemas.openxmlformats.org/officeDocument/2006/relationships/slide" Target="slides/slide207.xml"/><Relationship Id="rId26" Type="http://schemas.openxmlformats.org/officeDocument/2006/relationships/slide" Target="slides/slide23.xml"/><Relationship Id="rId231" Type="http://schemas.openxmlformats.org/officeDocument/2006/relationships/slide" Target="slides/slide228.xml"/><Relationship Id="rId252" Type="http://schemas.openxmlformats.org/officeDocument/2006/relationships/slide" Target="slides/slide249.xml"/><Relationship Id="rId273" Type="http://schemas.openxmlformats.org/officeDocument/2006/relationships/slide" Target="slides/slide270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slide" Target="slides/slide172.xml"/><Relationship Id="rId196" Type="http://schemas.openxmlformats.org/officeDocument/2006/relationships/slide" Target="slides/slide193.xml"/><Relationship Id="rId200" Type="http://schemas.openxmlformats.org/officeDocument/2006/relationships/slide" Target="slides/slide197.xml"/><Relationship Id="rId16" Type="http://schemas.openxmlformats.org/officeDocument/2006/relationships/slide" Target="slides/slide13.xml"/><Relationship Id="rId221" Type="http://schemas.openxmlformats.org/officeDocument/2006/relationships/slide" Target="slides/slide218.xml"/><Relationship Id="rId242" Type="http://schemas.openxmlformats.org/officeDocument/2006/relationships/slide" Target="slides/slide239.xml"/><Relationship Id="rId263" Type="http://schemas.openxmlformats.org/officeDocument/2006/relationships/slide" Target="slides/slide260.xml"/><Relationship Id="rId284" Type="http://schemas.openxmlformats.org/officeDocument/2006/relationships/slide" Target="slides/slide281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slide" Target="slides/slide162.xml"/><Relationship Id="rId186" Type="http://schemas.openxmlformats.org/officeDocument/2006/relationships/slide" Target="slides/slide183.xml"/><Relationship Id="rId211" Type="http://schemas.openxmlformats.org/officeDocument/2006/relationships/slide" Target="slides/slide208.xml"/><Relationship Id="rId232" Type="http://schemas.openxmlformats.org/officeDocument/2006/relationships/slide" Target="slides/slide229.xml"/><Relationship Id="rId253" Type="http://schemas.openxmlformats.org/officeDocument/2006/relationships/slide" Target="slides/slide250.xml"/><Relationship Id="rId274" Type="http://schemas.openxmlformats.org/officeDocument/2006/relationships/slide" Target="slides/slide271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slide" Target="slides/slide173.xml"/><Relationship Id="rId197" Type="http://schemas.openxmlformats.org/officeDocument/2006/relationships/slide" Target="slides/slide194.xml"/><Relationship Id="rId201" Type="http://schemas.openxmlformats.org/officeDocument/2006/relationships/slide" Target="slides/slide198.xml"/><Relationship Id="rId222" Type="http://schemas.openxmlformats.org/officeDocument/2006/relationships/slide" Target="slides/slide219.xml"/><Relationship Id="rId243" Type="http://schemas.openxmlformats.org/officeDocument/2006/relationships/slide" Target="slides/slide240.xml"/><Relationship Id="rId264" Type="http://schemas.openxmlformats.org/officeDocument/2006/relationships/slide" Target="slides/slide261.xml"/><Relationship Id="rId285" Type="http://schemas.openxmlformats.org/officeDocument/2006/relationships/slide" Target="slides/slide282.xml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slide" Target="slides/slide163.xml"/><Relationship Id="rId187" Type="http://schemas.openxmlformats.org/officeDocument/2006/relationships/slide" Target="slides/slide184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9.xml"/><Relationship Id="rId233" Type="http://schemas.openxmlformats.org/officeDocument/2006/relationships/slide" Target="slides/slide230.xml"/><Relationship Id="rId254" Type="http://schemas.openxmlformats.org/officeDocument/2006/relationships/slide" Target="slides/slide251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275" Type="http://schemas.openxmlformats.org/officeDocument/2006/relationships/slide" Target="slides/slide272.xml"/><Relationship Id="rId60" Type="http://schemas.openxmlformats.org/officeDocument/2006/relationships/slide" Target="slides/slide57.xml"/><Relationship Id="rId81" Type="http://schemas.openxmlformats.org/officeDocument/2006/relationships/slide" Target="slides/slide78.xml"/><Relationship Id="rId135" Type="http://schemas.openxmlformats.org/officeDocument/2006/relationships/slide" Target="slides/slide132.xml"/><Relationship Id="rId156" Type="http://schemas.openxmlformats.org/officeDocument/2006/relationships/slide" Target="slides/slide153.xml"/><Relationship Id="rId177" Type="http://schemas.openxmlformats.org/officeDocument/2006/relationships/slide" Target="slides/slide174.xml"/><Relationship Id="rId198" Type="http://schemas.openxmlformats.org/officeDocument/2006/relationships/slide" Target="slides/slide195.xml"/><Relationship Id="rId202" Type="http://schemas.openxmlformats.org/officeDocument/2006/relationships/slide" Target="slides/slide199.xml"/><Relationship Id="rId223" Type="http://schemas.openxmlformats.org/officeDocument/2006/relationships/slide" Target="slides/slide220.xml"/><Relationship Id="rId244" Type="http://schemas.openxmlformats.org/officeDocument/2006/relationships/slide" Target="slides/slide241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265" Type="http://schemas.openxmlformats.org/officeDocument/2006/relationships/slide" Target="slides/slide262.xml"/><Relationship Id="rId286" Type="http://schemas.openxmlformats.org/officeDocument/2006/relationships/slide" Target="slides/slide283.xml"/><Relationship Id="rId50" Type="http://schemas.openxmlformats.org/officeDocument/2006/relationships/slide" Target="slides/slide47.xml"/><Relationship Id="rId104" Type="http://schemas.openxmlformats.org/officeDocument/2006/relationships/slide" Target="slides/slide101.xml"/><Relationship Id="rId125" Type="http://schemas.openxmlformats.org/officeDocument/2006/relationships/slide" Target="slides/slide122.xml"/><Relationship Id="rId146" Type="http://schemas.openxmlformats.org/officeDocument/2006/relationships/slide" Target="slides/slide143.xml"/><Relationship Id="rId167" Type="http://schemas.openxmlformats.org/officeDocument/2006/relationships/slide" Target="slides/slide164.xml"/><Relationship Id="rId188" Type="http://schemas.openxmlformats.org/officeDocument/2006/relationships/slide" Target="slides/slide185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13" Type="http://schemas.openxmlformats.org/officeDocument/2006/relationships/slide" Target="slides/slide210.xml"/><Relationship Id="rId234" Type="http://schemas.openxmlformats.org/officeDocument/2006/relationships/slide" Target="slides/slide23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55" Type="http://schemas.openxmlformats.org/officeDocument/2006/relationships/slide" Target="slides/slide252.xml"/><Relationship Id="rId276" Type="http://schemas.openxmlformats.org/officeDocument/2006/relationships/slide" Target="slides/slide273.xml"/><Relationship Id="rId40" Type="http://schemas.openxmlformats.org/officeDocument/2006/relationships/slide" Target="slides/slide37.xml"/><Relationship Id="rId115" Type="http://schemas.openxmlformats.org/officeDocument/2006/relationships/slide" Target="slides/slide112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slide" Target="slides/slide175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9" Type="http://schemas.openxmlformats.org/officeDocument/2006/relationships/slide" Target="slides/slide196.xml"/><Relationship Id="rId203" Type="http://schemas.openxmlformats.org/officeDocument/2006/relationships/slide" Target="slides/slide200.xml"/><Relationship Id="rId19" Type="http://schemas.openxmlformats.org/officeDocument/2006/relationships/slide" Target="slides/slide16.xml"/><Relationship Id="rId224" Type="http://schemas.openxmlformats.org/officeDocument/2006/relationships/slide" Target="slides/slide221.xml"/><Relationship Id="rId245" Type="http://schemas.openxmlformats.org/officeDocument/2006/relationships/slide" Target="slides/slide242.xml"/><Relationship Id="rId266" Type="http://schemas.openxmlformats.org/officeDocument/2006/relationships/slide" Target="slides/slide263.xml"/><Relationship Id="rId287" Type="http://schemas.openxmlformats.org/officeDocument/2006/relationships/notesMaster" Target="notesMasters/notesMaster1.xml"/><Relationship Id="rId30" Type="http://schemas.openxmlformats.org/officeDocument/2006/relationships/slide" Target="slides/slide2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slide" Target="slides/slide16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189" Type="http://schemas.openxmlformats.org/officeDocument/2006/relationships/slide" Target="slides/slide186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11.xml"/><Relationship Id="rId235" Type="http://schemas.openxmlformats.org/officeDocument/2006/relationships/slide" Target="slides/slide232.xml"/><Relationship Id="rId256" Type="http://schemas.openxmlformats.org/officeDocument/2006/relationships/slide" Target="slides/slide253.xml"/><Relationship Id="rId277" Type="http://schemas.openxmlformats.org/officeDocument/2006/relationships/slide" Target="slides/slide27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179" Type="http://schemas.openxmlformats.org/officeDocument/2006/relationships/slide" Target="slides/slide176.xml"/><Relationship Id="rId190" Type="http://schemas.openxmlformats.org/officeDocument/2006/relationships/slide" Target="slides/slide187.xml"/><Relationship Id="rId204" Type="http://schemas.openxmlformats.org/officeDocument/2006/relationships/slide" Target="slides/slide201.xml"/><Relationship Id="rId225" Type="http://schemas.openxmlformats.org/officeDocument/2006/relationships/slide" Target="slides/slide222.xml"/><Relationship Id="rId246" Type="http://schemas.openxmlformats.org/officeDocument/2006/relationships/slide" Target="slides/slide243.xml"/><Relationship Id="rId267" Type="http://schemas.openxmlformats.org/officeDocument/2006/relationships/slide" Target="slides/slide264.xml"/><Relationship Id="rId288" Type="http://schemas.openxmlformats.org/officeDocument/2006/relationships/presProps" Target="presProps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94" Type="http://schemas.openxmlformats.org/officeDocument/2006/relationships/slide" Target="slides/slide91.xml"/><Relationship Id="rId148" Type="http://schemas.openxmlformats.org/officeDocument/2006/relationships/slide" Target="slides/slide145.xml"/><Relationship Id="rId169" Type="http://schemas.openxmlformats.org/officeDocument/2006/relationships/slide" Target="slides/slide166.xml"/><Relationship Id="rId4" Type="http://schemas.openxmlformats.org/officeDocument/2006/relationships/slide" Target="slides/slide1.xml"/><Relationship Id="rId180" Type="http://schemas.openxmlformats.org/officeDocument/2006/relationships/slide" Target="slides/slide177.xml"/><Relationship Id="rId215" Type="http://schemas.openxmlformats.org/officeDocument/2006/relationships/slide" Target="slides/slide212.xml"/><Relationship Id="rId236" Type="http://schemas.openxmlformats.org/officeDocument/2006/relationships/slide" Target="slides/slide233.xml"/><Relationship Id="rId257" Type="http://schemas.openxmlformats.org/officeDocument/2006/relationships/slide" Target="slides/slide254.xml"/><Relationship Id="rId278" Type="http://schemas.openxmlformats.org/officeDocument/2006/relationships/slide" Target="slides/slide275.xml"/><Relationship Id="rId42" Type="http://schemas.openxmlformats.org/officeDocument/2006/relationships/slide" Target="slides/slide39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91" Type="http://schemas.openxmlformats.org/officeDocument/2006/relationships/slide" Target="slides/slide188.xml"/><Relationship Id="rId205" Type="http://schemas.openxmlformats.org/officeDocument/2006/relationships/slide" Target="slides/slide202.xml"/><Relationship Id="rId247" Type="http://schemas.openxmlformats.org/officeDocument/2006/relationships/slide" Target="slides/slide244.xml"/><Relationship Id="rId107" Type="http://schemas.openxmlformats.org/officeDocument/2006/relationships/slide" Target="slides/slide104.xml"/><Relationship Id="rId289" Type="http://schemas.openxmlformats.org/officeDocument/2006/relationships/viewProps" Target="viewProps.xml"/><Relationship Id="rId11" Type="http://schemas.openxmlformats.org/officeDocument/2006/relationships/slide" Target="slides/slide8.xml"/><Relationship Id="rId53" Type="http://schemas.openxmlformats.org/officeDocument/2006/relationships/slide" Target="slides/slide50.xml"/><Relationship Id="rId149" Type="http://schemas.openxmlformats.org/officeDocument/2006/relationships/slide" Target="slides/slide146.xml"/><Relationship Id="rId95" Type="http://schemas.openxmlformats.org/officeDocument/2006/relationships/slide" Target="slides/slide92.xml"/><Relationship Id="rId160" Type="http://schemas.openxmlformats.org/officeDocument/2006/relationships/slide" Target="slides/slide157.xml"/><Relationship Id="rId216" Type="http://schemas.openxmlformats.org/officeDocument/2006/relationships/slide" Target="slides/slide213.xml"/><Relationship Id="rId258" Type="http://schemas.openxmlformats.org/officeDocument/2006/relationships/slide" Target="slides/slide255.xml"/><Relationship Id="rId22" Type="http://schemas.openxmlformats.org/officeDocument/2006/relationships/slide" Target="slides/slide19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71" Type="http://schemas.openxmlformats.org/officeDocument/2006/relationships/slide" Target="slides/slide168.xml"/><Relationship Id="rId227" Type="http://schemas.openxmlformats.org/officeDocument/2006/relationships/slide" Target="slides/slide22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6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chartUserShapes" Target="../drawings/drawing7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8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chartUserShapes" Target="../drawings/drawing9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chartUserShapes" Target="../drawings/drawing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CF9-47D8-AED2-49EFEE2CEC55}"/>
              </c:ext>
            </c:extLst>
          </c:dPt>
          <c:dLbls>
            <c:dLbl>
              <c:idx val="0"/>
              <c:layout>
                <c:manualLayout>
                  <c:x val="-1.28205128205128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BAF-7449-A33D-4C7CA7ED964B}"/>
                </c:ext>
              </c:extLst>
            </c:dLbl>
            <c:dLbl>
              <c:idx val="1"/>
              <c:layout>
                <c:manualLayout>
                  <c:x val="-2.1367521367521392E-2"/>
                  <c:y val="-1.22685678010537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BAF-7449-A33D-4C7CA7ED96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F9-47D8-AED2-49EFEE2CE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795695152"/>
        <c:axId val="795697472"/>
      </c:barChart>
      <c:catAx>
        <c:axId val="79569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5697472"/>
        <c:crosses val="autoZero"/>
        <c:auto val="1"/>
        <c:lblAlgn val="ctr"/>
        <c:lblOffset val="100"/>
        <c:noMultiLvlLbl val="0"/>
      </c:catAx>
      <c:valAx>
        <c:axId val="795697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569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26-478B-B48C-3569A39FAA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26-478B-B48C-3569A39FAA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64092032"/>
        <c:axId val="1464094352"/>
      </c:barChart>
      <c:catAx>
        <c:axId val="1464092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64094352"/>
        <c:crosses val="autoZero"/>
        <c:auto val="1"/>
        <c:lblAlgn val="ctr"/>
        <c:lblOffset val="100"/>
        <c:noMultiLvlLbl val="0"/>
      </c:catAx>
      <c:valAx>
        <c:axId val="1464094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64092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Memory (KB)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AlexNet!$B$20:$B$27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AlexNet!$K$20:$K$27</c:f>
              <c:numCache>
                <c:formatCode>General</c:formatCode>
                <c:ptCount val="8"/>
                <c:pt idx="0">
                  <c:v>784</c:v>
                </c:pt>
                <c:pt idx="1">
                  <c:v>546.75</c:v>
                </c:pt>
                <c:pt idx="2">
                  <c:v>253.5</c:v>
                </c:pt>
                <c:pt idx="3">
                  <c:v>169</c:v>
                </c:pt>
                <c:pt idx="4">
                  <c:v>169</c:v>
                </c:pt>
                <c:pt idx="5">
                  <c:v>16</c:v>
                </c:pt>
                <c:pt idx="6">
                  <c:v>16</c:v>
                </c:pt>
                <c:pt idx="7">
                  <c:v>3.90625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7B-4B7E-B032-47C1ED995C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3877776"/>
        <c:axId val="1434430848"/>
      </c:barChart>
      <c:catAx>
        <c:axId val="143387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4430848"/>
        <c:crosses val="autoZero"/>
        <c:auto val="1"/>
        <c:lblAlgn val="ctr"/>
        <c:lblOffset val="100"/>
        <c:noMultiLvlLbl val="0"/>
      </c:catAx>
      <c:valAx>
        <c:axId val="1434430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3877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AlexNet!$L$19</c:f>
              <c:strCache>
                <c:ptCount val="1"/>
                <c:pt idx="0">
                  <c:v>Params (K)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AlexNet!$B$20:$B$27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AlexNet!$L$20:$L$27</c:f>
              <c:numCache>
                <c:formatCode>General</c:formatCode>
                <c:ptCount val="8"/>
                <c:pt idx="0">
                  <c:v>23.295999999999999</c:v>
                </c:pt>
                <c:pt idx="1">
                  <c:v>307.392</c:v>
                </c:pt>
                <c:pt idx="2">
                  <c:v>663.93599999999935</c:v>
                </c:pt>
                <c:pt idx="3">
                  <c:v>884.99199999999996</c:v>
                </c:pt>
                <c:pt idx="4">
                  <c:v>590.08000000000004</c:v>
                </c:pt>
                <c:pt idx="5">
                  <c:v>37752.832000000002</c:v>
                </c:pt>
                <c:pt idx="6">
                  <c:v>16781.312000000002</c:v>
                </c:pt>
                <c:pt idx="7">
                  <c:v>4097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02-4432-AF0D-A71E447F72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83081520"/>
        <c:axId val="1483083840"/>
      </c:barChart>
      <c:catAx>
        <c:axId val="148308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3083840"/>
        <c:crosses val="autoZero"/>
        <c:auto val="1"/>
        <c:lblAlgn val="ctr"/>
        <c:lblOffset val="100"/>
        <c:noMultiLvlLbl val="0"/>
      </c:catAx>
      <c:valAx>
        <c:axId val="1483083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3081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AlexNet!$M$19</c:f>
              <c:strCache>
                <c:ptCount val="1"/>
                <c:pt idx="0">
                  <c:v>MFLOP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AlexNet!$B$20:$B$27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AlexNet!$M$20:$M$27</c:f>
              <c:numCache>
                <c:formatCode>General</c:formatCode>
                <c:ptCount val="8"/>
                <c:pt idx="0">
                  <c:v>72.855551999999946</c:v>
                </c:pt>
                <c:pt idx="1">
                  <c:v>223.94880000000001</c:v>
                </c:pt>
                <c:pt idx="2">
                  <c:v>112.140288</c:v>
                </c:pt>
                <c:pt idx="3">
                  <c:v>149.52038400000001</c:v>
                </c:pt>
                <c:pt idx="4">
                  <c:v>99.680256</c:v>
                </c:pt>
                <c:pt idx="5">
                  <c:v>37.748736000000001</c:v>
                </c:pt>
                <c:pt idx="6">
                  <c:v>16.777215999999999</c:v>
                </c:pt>
                <c:pt idx="7">
                  <c:v>4.0960000000000001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4-4F9D-97AE-B89FF9A5EF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83036832"/>
        <c:axId val="1483039152"/>
      </c:barChart>
      <c:catAx>
        <c:axId val="1483036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3039152"/>
        <c:crosses val="autoZero"/>
        <c:auto val="1"/>
        <c:lblAlgn val="ctr"/>
        <c:lblOffset val="100"/>
        <c:noMultiLvlLbl val="0"/>
      </c:catAx>
      <c:valAx>
        <c:axId val="1483039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3036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Memory (KB)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AlexNet!$B$20:$B$27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AlexNet!$K$20:$K$27</c:f>
              <c:numCache>
                <c:formatCode>General</c:formatCode>
                <c:ptCount val="8"/>
                <c:pt idx="0">
                  <c:v>784</c:v>
                </c:pt>
                <c:pt idx="1">
                  <c:v>546.75</c:v>
                </c:pt>
                <c:pt idx="2">
                  <c:v>253.5</c:v>
                </c:pt>
                <c:pt idx="3">
                  <c:v>169</c:v>
                </c:pt>
                <c:pt idx="4">
                  <c:v>169</c:v>
                </c:pt>
                <c:pt idx="5">
                  <c:v>16</c:v>
                </c:pt>
                <c:pt idx="6">
                  <c:v>16</c:v>
                </c:pt>
                <c:pt idx="7">
                  <c:v>3.90625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3C-4309-86CF-908735825B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24294688"/>
        <c:axId val="1370206992"/>
      </c:barChart>
      <c:catAx>
        <c:axId val="1424294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0206992"/>
        <c:crosses val="autoZero"/>
        <c:auto val="1"/>
        <c:lblAlgn val="ctr"/>
        <c:lblOffset val="100"/>
        <c:noMultiLvlLbl val="0"/>
      </c:catAx>
      <c:valAx>
        <c:axId val="137020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4294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79-4D86-9633-18743CDE29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79-4D86-9633-18743CDE29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33858112"/>
        <c:axId val="1433860432"/>
      </c:barChart>
      <c:catAx>
        <c:axId val="1433858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3860432"/>
        <c:crosses val="autoZero"/>
        <c:auto val="1"/>
        <c:lblAlgn val="ctr"/>
        <c:lblOffset val="100"/>
        <c:noMultiLvlLbl val="0"/>
      </c:catAx>
      <c:valAx>
        <c:axId val="1433860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3858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AD8-48B4-8019-F971EE7FD11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D8-48B4-8019-F971EE7FD1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24360112"/>
        <c:axId val="1424362160"/>
      </c:barChart>
      <c:catAx>
        <c:axId val="142436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4362160"/>
        <c:crosses val="autoZero"/>
        <c:auto val="1"/>
        <c:lblAlgn val="ctr"/>
        <c:lblOffset val="100"/>
        <c:noMultiLvlLbl val="0"/>
      </c:catAx>
      <c:valAx>
        <c:axId val="1424362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4360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C9-498A-9841-37F084B312D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C9-498A-9841-37F084B31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34194848"/>
        <c:axId val="1434196624"/>
      </c:barChart>
      <c:catAx>
        <c:axId val="1434194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4196624"/>
        <c:crosses val="autoZero"/>
        <c:auto val="1"/>
        <c:lblAlgn val="ctr"/>
        <c:lblOffset val="100"/>
        <c:noMultiLvlLbl val="0"/>
      </c:catAx>
      <c:valAx>
        <c:axId val="1434196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4194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1DC-40F1-904A-7A76EFE3244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DC-40F1-904A-7A76EFE32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24489536"/>
        <c:axId val="1424491312"/>
      </c:barChart>
      <c:catAx>
        <c:axId val="142448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4491312"/>
        <c:crosses val="autoZero"/>
        <c:auto val="1"/>
        <c:lblAlgn val="ctr"/>
        <c:lblOffset val="100"/>
        <c:noMultiLvlLbl val="0"/>
      </c:catAx>
      <c:valAx>
        <c:axId val="1424491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448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 err="1"/>
              <a:t>AlexNet</a:t>
            </a:r>
            <a:r>
              <a:rPr lang="en-US" sz="2000" dirty="0"/>
              <a:t> vs VGG-16</a:t>
            </a:r>
          </a:p>
          <a:p>
            <a:pPr>
              <a:defRPr sz="2000"/>
            </a:pPr>
            <a:r>
              <a:rPr lang="en-US" sz="2000" dirty="0"/>
              <a:t> (Memory, KB)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'AlexNet vs VGG-16'!$C$6</c:f>
              <c:strCache>
                <c:ptCount val="1"/>
                <c:pt idx="0">
                  <c:v>AlexNet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'AlexNet vs VGG-16'!$B$7:$B$14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'AlexNet vs VGG-16'!$C$7:$C$14</c:f>
              <c:numCache>
                <c:formatCode>General</c:formatCode>
                <c:ptCount val="8"/>
                <c:pt idx="0">
                  <c:v>784</c:v>
                </c:pt>
                <c:pt idx="1">
                  <c:v>546.75</c:v>
                </c:pt>
                <c:pt idx="2">
                  <c:v>253.5</c:v>
                </c:pt>
                <c:pt idx="3">
                  <c:v>169</c:v>
                </c:pt>
                <c:pt idx="4">
                  <c:v>169</c:v>
                </c:pt>
                <c:pt idx="5">
                  <c:v>16</c:v>
                </c:pt>
                <c:pt idx="6">
                  <c:v>16</c:v>
                </c:pt>
                <c:pt idx="7">
                  <c:v>3.90625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5-4D1A-B85E-4929C7F01DA1}"/>
            </c:ext>
          </c:extLst>
        </c:ser>
        <c:ser>
          <c:idx val="1"/>
          <c:order val="1"/>
          <c:tx>
            <c:strRef>
              <c:f>'AlexNet vs VGG-16'!$D$6</c:f>
              <c:strCache>
                <c:ptCount val="1"/>
                <c:pt idx="0">
                  <c:v>VGG-16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'AlexNet vs VGG-16'!$B$7:$B$14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'AlexNet vs VGG-16'!$D$7:$D$14</c:f>
              <c:numCache>
                <c:formatCode>0</c:formatCode>
                <c:ptCount val="8"/>
                <c:pt idx="0">
                  <c:v>25088</c:v>
                </c:pt>
                <c:pt idx="1">
                  <c:v>12544</c:v>
                </c:pt>
                <c:pt idx="2">
                  <c:v>6272</c:v>
                </c:pt>
                <c:pt idx="3">
                  <c:v>4704</c:v>
                </c:pt>
                <c:pt idx="4">
                  <c:v>1176</c:v>
                </c:pt>
                <c:pt idx="5">
                  <c:v>16</c:v>
                </c:pt>
                <c:pt idx="6">
                  <c:v>16</c:v>
                </c:pt>
                <c:pt idx="7">
                  <c:v>3.90625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45-4D1A-B85E-4929C7F01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829666752"/>
        <c:axId val="1467886784"/>
      </c:barChart>
      <c:catAx>
        <c:axId val="82966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67886784"/>
        <c:crosses val="autoZero"/>
        <c:auto val="1"/>
        <c:lblAlgn val="ctr"/>
        <c:lblOffset val="100"/>
        <c:noMultiLvlLbl val="0"/>
      </c:catAx>
      <c:valAx>
        <c:axId val="1467886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966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 err="1"/>
              <a:t>AlexNet</a:t>
            </a:r>
            <a:r>
              <a:rPr lang="en-US" sz="2000" dirty="0"/>
              <a:t> vs VGG-16 </a:t>
            </a:r>
          </a:p>
          <a:p>
            <a:pPr>
              <a:defRPr sz="2000"/>
            </a:pPr>
            <a:r>
              <a:rPr lang="en-US" sz="2000" dirty="0"/>
              <a:t>(</a:t>
            </a:r>
            <a:r>
              <a:rPr lang="en-US" sz="2000" dirty="0" err="1"/>
              <a:t>Params</a:t>
            </a:r>
            <a:r>
              <a:rPr lang="en-US" sz="2000" dirty="0"/>
              <a:t>, 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'AlexNet vs VGG-16'!$E$6</c:f>
              <c:strCache>
                <c:ptCount val="1"/>
                <c:pt idx="0">
                  <c:v>AlexNet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'AlexNet vs VGG-16'!$B$7:$B$14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'AlexNet vs VGG-16'!$E$7:$E$14</c:f>
              <c:numCache>
                <c:formatCode>General</c:formatCode>
                <c:ptCount val="8"/>
                <c:pt idx="0">
                  <c:v>23.295999999999999</c:v>
                </c:pt>
                <c:pt idx="1">
                  <c:v>307.392</c:v>
                </c:pt>
                <c:pt idx="2">
                  <c:v>663.93599999999935</c:v>
                </c:pt>
                <c:pt idx="3">
                  <c:v>884.99199999999996</c:v>
                </c:pt>
                <c:pt idx="4">
                  <c:v>590.08000000000004</c:v>
                </c:pt>
                <c:pt idx="5">
                  <c:v>37752.832000000002</c:v>
                </c:pt>
                <c:pt idx="6">
                  <c:v>16781.312000000002</c:v>
                </c:pt>
                <c:pt idx="7">
                  <c:v>4097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67-4BC3-93F6-0F48069ED2F1}"/>
            </c:ext>
          </c:extLst>
        </c:ser>
        <c:ser>
          <c:idx val="1"/>
          <c:order val="1"/>
          <c:tx>
            <c:strRef>
              <c:f>'AlexNet vs VGG-16'!$F$6</c:f>
              <c:strCache>
                <c:ptCount val="1"/>
                <c:pt idx="0">
                  <c:v>VGG-16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'AlexNet vs VGG-16'!$B$7:$B$14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'AlexNet vs VGG-16'!$F$7:$F$14</c:f>
              <c:numCache>
                <c:formatCode>0</c:formatCode>
                <c:ptCount val="8"/>
                <c:pt idx="0">
                  <c:v>38.72</c:v>
                </c:pt>
                <c:pt idx="1">
                  <c:v>221.44</c:v>
                </c:pt>
                <c:pt idx="2">
                  <c:v>885.24800000000005</c:v>
                </c:pt>
                <c:pt idx="3">
                  <c:v>5899.7759999999998</c:v>
                </c:pt>
                <c:pt idx="4">
                  <c:v>7079.424</c:v>
                </c:pt>
                <c:pt idx="5">
                  <c:v>102760.448</c:v>
                </c:pt>
                <c:pt idx="6">
                  <c:v>16777.216</c:v>
                </c:pt>
                <c:pt idx="7">
                  <c:v>4096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7-4BC3-93F6-0F48069ED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483180592"/>
        <c:axId val="1483182912"/>
      </c:barChart>
      <c:catAx>
        <c:axId val="148318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3182912"/>
        <c:crosses val="autoZero"/>
        <c:auto val="1"/>
        <c:lblAlgn val="ctr"/>
        <c:lblOffset val="100"/>
        <c:noMultiLvlLbl val="0"/>
      </c:catAx>
      <c:valAx>
        <c:axId val="1483182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3180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 err="1"/>
              <a:t>AlexNet</a:t>
            </a:r>
            <a:r>
              <a:rPr lang="en-US" sz="2000" dirty="0"/>
              <a:t> vs VGG-16 </a:t>
            </a:r>
          </a:p>
          <a:p>
            <a:pPr>
              <a:defRPr sz="2000"/>
            </a:pPr>
            <a:r>
              <a:rPr lang="en-US" sz="2000" dirty="0"/>
              <a:t>(MFLOPs)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'AlexNet vs VGG-16'!$G$6</c:f>
              <c:strCache>
                <c:ptCount val="1"/>
                <c:pt idx="0">
                  <c:v>AlexNet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'AlexNet vs VGG-16'!$B$7:$B$14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'AlexNet vs VGG-16'!$G$7:$G$14</c:f>
              <c:numCache>
                <c:formatCode>General</c:formatCode>
                <c:ptCount val="8"/>
                <c:pt idx="0">
                  <c:v>72.855551999999946</c:v>
                </c:pt>
                <c:pt idx="1">
                  <c:v>223.94880000000001</c:v>
                </c:pt>
                <c:pt idx="2">
                  <c:v>112.140288</c:v>
                </c:pt>
                <c:pt idx="3">
                  <c:v>149.52038400000001</c:v>
                </c:pt>
                <c:pt idx="4">
                  <c:v>99.680256</c:v>
                </c:pt>
                <c:pt idx="5">
                  <c:v>37.748736000000001</c:v>
                </c:pt>
                <c:pt idx="6">
                  <c:v>16.777215999999999</c:v>
                </c:pt>
                <c:pt idx="7">
                  <c:v>4.0960000000000001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42-4233-AB7F-319FB513AFDE}"/>
            </c:ext>
          </c:extLst>
        </c:ser>
        <c:ser>
          <c:idx val="1"/>
          <c:order val="1"/>
          <c:tx>
            <c:strRef>
              <c:f>'AlexNet vs VGG-16'!$H$6</c:f>
              <c:strCache>
                <c:ptCount val="1"/>
                <c:pt idx="0">
                  <c:v>VGG-16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'AlexNet vs VGG-16'!$B$7:$B$14</c:f>
              <c:strCache>
                <c:ptCount val="8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  <c:pt idx="7">
                  <c:v>fc8</c:v>
                </c:pt>
              </c:strCache>
            </c:strRef>
          </c:cat>
          <c:val>
            <c:numRef>
              <c:f>'AlexNet vs VGG-16'!$H$7:$H$14</c:f>
              <c:numCache>
                <c:formatCode>0</c:formatCode>
                <c:ptCount val="8"/>
                <c:pt idx="0">
                  <c:v>1936.392192</c:v>
                </c:pt>
                <c:pt idx="1">
                  <c:v>2774.5320959999999</c:v>
                </c:pt>
                <c:pt idx="2">
                  <c:v>2774.5320959999999</c:v>
                </c:pt>
                <c:pt idx="3">
                  <c:v>4624.2201599999999</c:v>
                </c:pt>
                <c:pt idx="4">
                  <c:v>1387.266048</c:v>
                </c:pt>
                <c:pt idx="5">
                  <c:v>102.760448</c:v>
                </c:pt>
                <c:pt idx="6">
                  <c:v>16.777215999999999</c:v>
                </c:pt>
                <c:pt idx="7">
                  <c:v>4.0960000000000001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42-4233-AB7F-319FB513AF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467720000"/>
        <c:axId val="1422358336"/>
      </c:barChart>
      <c:catAx>
        <c:axId val="1467720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2358336"/>
        <c:crosses val="autoZero"/>
        <c:auto val="1"/>
        <c:lblAlgn val="ctr"/>
        <c:lblOffset val="100"/>
        <c:noMultiLvlLbl val="0"/>
      </c:catAx>
      <c:valAx>
        <c:axId val="142235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67720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3E-4D40-86B8-201AEDB3EA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3E-4D40-86B8-201AEDB3EA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34061296"/>
        <c:axId val="1434063616"/>
      </c:barChart>
      <c:catAx>
        <c:axId val="143406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4063616"/>
        <c:crosses val="autoZero"/>
        <c:auto val="1"/>
        <c:lblAlgn val="ctr"/>
        <c:lblOffset val="100"/>
        <c:noMultiLvlLbl val="0"/>
      </c:catAx>
      <c:valAx>
        <c:axId val="143406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406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93E-48B8-B792-7E6E5B4D32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3E-48B8-B792-7E6E5B4D3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33783840"/>
        <c:axId val="1433786160"/>
      </c:barChart>
      <c:catAx>
        <c:axId val="1433783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3786160"/>
        <c:crosses val="autoZero"/>
        <c:auto val="1"/>
        <c:lblAlgn val="ctr"/>
        <c:lblOffset val="100"/>
        <c:noMultiLvlLbl val="0"/>
      </c:catAx>
      <c:valAx>
        <c:axId val="1433786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33783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93F-4A23-8394-43748CD6AF3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3F-4A23-8394-43748CD6AF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80544576"/>
        <c:axId val="1480539072"/>
      </c:barChart>
      <c:catAx>
        <c:axId val="1480544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0539072"/>
        <c:crosses val="autoZero"/>
        <c:auto val="1"/>
        <c:lblAlgn val="ctr"/>
        <c:lblOffset val="100"/>
        <c:noMultiLvlLbl val="0"/>
      </c:catAx>
      <c:valAx>
        <c:axId val="1480539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0544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F0B-4D73-BADD-51006AD955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ILSVRC!$B$4:$B$13</c:f>
              <c:strCach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Human</c:v>
                </c:pt>
              </c:strCache>
            </c:strRef>
          </c:cat>
          <c:val>
            <c:numRef>
              <c:f>ILSVRC!$C$4:$C$13</c:f>
              <c:numCache>
                <c:formatCode>General</c:formatCode>
                <c:ptCount val="10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7.3</c:v>
                </c:pt>
                <c:pt idx="5">
                  <c:v>6.7</c:v>
                </c:pt>
                <c:pt idx="6">
                  <c:v>3.6</c:v>
                </c:pt>
                <c:pt idx="7">
                  <c:v>3</c:v>
                </c:pt>
                <c:pt idx="8">
                  <c:v>2.2999999999999998</c:v>
                </c:pt>
                <c:pt idx="9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0B-4D73-BADD-51006AD95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480423232"/>
        <c:axId val="1480418816"/>
      </c:barChart>
      <c:catAx>
        <c:axId val="1480423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0418816"/>
        <c:crosses val="autoZero"/>
        <c:auto val="1"/>
        <c:lblAlgn val="ctr"/>
        <c:lblOffset val="100"/>
        <c:noMultiLvlLbl val="0"/>
      </c:catAx>
      <c:valAx>
        <c:axId val="148041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dirty="0"/>
                  <a:t>Error</a:t>
                </a:r>
                <a:r>
                  <a:rPr lang="en-US" sz="2800" baseline="0" dirty="0"/>
                  <a:t> Rate</a:t>
                </a:r>
                <a:endParaRPr lang="en-US" sz="2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0423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0.11269</cdr:x>
      <cdr:y>0.65959</cdr:y>
    </cdr:from>
    <cdr:to>
      <cdr:x>0.28445</cdr:x>
      <cdr:y>0.74634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004672" y="2376245"/>
          <a:ext cx="1531309" cy="31252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 dirty="0"/>
            <a:t>Shallow</a:t>
          </a:r>
          <a:endParaRPr sz="2000" dirty="0"/>
        </a:p>
      </cdr:txBody>
    </cdr:sp>
  </cdr:relSizeAnchor>
  <cdr:relSizeAnchor xmlns:cdr="http://schemas.openxmlformats.org/drawingml/2006/chartDrawing">
    <cdr:from>
      <cdr:x>0.27827</cdr:x>
      <cdr:y>0.62169</cdr:y>
    </cdr:from>
    <cdr:to>
      <cdr:x>0.36611</cdr:x>
      <cdr:y>0.71178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3307820" y="2986269"/>
          <a:ext cx="1044262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8 layers</a:t>
          </a:r>
          <a:endParaRPr sz="2000"/>
        </a:p>
      </cdr:txBody>
    </cdr:sp>
  </cdr:relSizeAnchor>
  <cdr:relSizeAnchor xmlns:cdr="http://schemas.openxmlformats.org/drawingml/2006/chartDrawing">
    <cdr:from>
      <cdr:x>0.37407</cdr:x>
      <cdr:y>0.62021</cdr:y>
    </cdr:from>
    <cdr:to>
      <cdr:x>0.46563</cdr:x>
      <cdr:y>0.71031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4446639" y="2979196"/>
          <a:ext cx="1088381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0.46462</cdr:x>
      <cdr:y>0.4321</cdr:y>
    </cdr:from>
    <cdr:to>
      <cdr:x>0.5396</cdr:x>
      <cdr:y>0.55663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5523007" y="2075604"/>
          <a:ext cx="891342" cy="59814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19 </a:t>
          </a:r>
          <a:r>
            <a:rPr lang="en-US" sz="2000" dirty="0"/>
            <a:t>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0.10833</cdr:x>
      <cdr:y>0.67105</cdr:y>
    </cdr:from>
    <cdr:to>
      <cdr:x>0.29262</cdr:x>
      <cdr:y>0.7578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965827" y="2417528"/>
          <a:ext cx="1643036" cy="31252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 dirty="0"/>
            <a:t>Shallow</a:t>
          </a:r>
          <a:endParaRPr sz="2000" dirty="0"/>
        </a:p>
      </cdr:txBody>
    </cdr:sp>
  </cdr:relSizeAnchor>
  <cdr:relSizeAnchor xmlns:cdr="http://schemas.openxmlformats.org/drawingml/2006/chartDrawing">
    <cdr:from>
      <cdr:x>0.29913</cdr:x>
      <cdr:y>0.66919</cdr:y>
    </cdr:from>
    <cdr:to>
      <cdr:x>0.41181</cdr:x>
      <cdr:y>0.75928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2666837" y="2410823"/>
          <a:ext cx="1004579" cy="324561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800" dirty="0"/>
            <a:t>8 layers</a:t>
          </a:r>
          <a:endParaRPr sz="1800" dirty="0"/>
        </a:p>
      </cdr:txBody>
    </cdr:sp>
  </cdr:relSizeAnchor>
  <cdr:relSizeAnchor xmlns:cdr="http://schemas.openxmlformats.org/drawingml/2006/chartDrawing">
    <cdr:from>
      <cdr:x>0.39886</cdr:x>
      <cdr:y>0.63865</cdr:y>
    </cdr:from>
    <cdr:to>
      <cdr:x>0.49042</cdr:x>
      <cdr:y>0.72875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3555968" y="2300817"/>
          <a:ext cx="816294" cy="324596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0.47654</cdr:x>
      <cdr:y>0.42689</cdr:y>
    </cdr:from>
    <cdr:to>
      <cdr:x>0.55152</cdr:x>
      <cdr:y>0.55142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4248539" y="1537915"/>
          <a:ext cx="668477" cy="448634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19 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0.14167</cdr:x>
      <cdr:y>0.68047</cdr:y>
    </cdr:from>
    <cdr:to>
      <cdr:x>0.28476</cdr:x>
      <cdr:y>0.76722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295400" y="2451475"/>
          <a:ext cx="1308414" cy="31252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 dirty="0"/>
            <a:t>Shallow</a:t>
          </a:r>
          <a:endParaRPr sz="2000" dirty="0"/>
        </a:p>
      </cdr:txBody>
    </cdr:sp>
  </cdr:relSizeAnchor>
  <cdr:relSizeAnchor xmlns:cdr="http://schemas.openxmlformats.org/drawingml/2006/chartDrawing">
    <cdr:from>
      <cdr:x>0.29475</cdr:x>
      <cdr:y>0.65828</cdr:y>
    </cdr:from>
    <cdr:to>
      <cdr:x>0.3826</cdr:x>
      <cdr:y>0.79487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2695175" y="2371539"/>
          <a:ext cx="803331" cy="492080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600" dirty="0"/>
            <a:t>8 layers</a:t>
          </a:r>
          <a:endParaRPr sz="1600" dirty="0"/>
        </a:p>
      </cdr:txBody>
    </cdr:sp>
  </cdr:relSizeAnchor>
  <cdr:relSizeAnchor xmlns:cdr="http://schemas.openxmlformats.org/drawingml/2006/chartDrawing">
    <cdr:from>
      <cdr:x>0.38769</cdr:x>
      <cdr:y>0.62095</cdr:y>
    </cdr:from>
    <cdr:to>
      <cdr:x>0.47925</cdr:x>
      <cdr:y>0.71105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3545027" y="2237049"/>
          <a:ext cx="837225" cy="324596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0.46462</cdr:x>
      <cdr:y>0.4321</cdr:y>
    </cdr:from>
    <cdr:to>
      <cdr:x>0.5396</cdr:x>
      <cdr:y>0.55663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5523007" y="2075604"/>
          <a:ext cx="891342" cy="59814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19 </a:t>
          </a:r>
          <a:r>
            <a:rPr lang="en-US" sz="2000" dirty="0"/>
            <a:t>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0.14837</cdr:x>
      <cdr:y>0.57865</cdr:y>
    </cdr:from>
    <cdr:to>
      <cdr:x>0.29353</cdr:x>
      <cdr:y>0.6654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322734" y="2084649"/>
          <a:ext cx="1294209" cy="31252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1800" dirty="0"/>
            <a:t>Shallow</a:t>
          </a:r>
          <a:endParaRPr sz="1800" dirty="0"/>
        </a:p>
      </cdr:txBody>
    </cdr:sp>
  </cdr:relSizeAnchor>
  <cdr:relSizeAnchor xmlns:cdr="http://schemas.openxmlformats.org/drawingml/2006/chartDrawing">
    <cdr:from>
      <cdr:x>0.29698</cdr:x>
      <cdr:y>0.65828</cdr:y>
    </cdr:from>
    <cdr:to>
      <cdr:x>0.39062</cdr:x>
      <cdr:y>0.74837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2647708" y="2371539"/>
          <a:ext cx="834838" cy="324560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800" dirty="0"/>
            <a:t>8 layers</a:t>
          </a:r>
          <a:endParaRPr sz="1800" dirty="0"/>
        </a:p>
      </cdr:txBody>
    </cdr:sp>
  </cdr:relSizeAnchor>
  <cdr:relSizeAnchor xmlns:cdr="http://schemas.openxmlformats.org/drawingml/2006/chartDrawing">
    <cdr:from>
      <cdr:x>0.3929</cdr:x>
      <cdr:y>0.65061</cdr:y>
    </cdr:from>
    <cdr:to>
      <cdr:x>0.48309</cdr:x>
      <cdr:y>0.74071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3502827" y="2343896"/>
          <a:ext cx="804080" cy="324596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800" dirty="0"/>
            <a:t>8 layers</a:t>
          </a:r>
          <a:endParaRPr sz="1800" dirty="0"/>
        </a:p>
      </cdr:txBody>
    </cdr:sp>
  </cdr:relSizeAnchor>
  <cdr:relSizeAnchor xmlns:cdr="http://schemas.openxmlformats.org/drawingml/2006/chartDrawing">
    <cdr:from>
      <cdr:x>0.46462</cdr:x>
      <cdr:y>0.4321</cdr:y>
    </cdr:from>
    <cdr:to>
      <cdr:x>0.5396</cdr:x>
      <cdr:y>0.55663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5523007" y="2075604"/>
          <a:ext cx="891342" cy="59814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19 </a:t>
          </a:r>
          <a:r>
            <a:rPr lang="en-US" sz="2000" dirty="0"/>
            <a:t>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0.14992</cdr:x>
      <cdr:y>0.57865</cdr:y>
    </cdr:from>
    <cdr:to>
      <cdr:x>0.29301</cdr:x>
      <cdr:y>0.6654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336628" y="2084649"/>
          <a:ext cx="1275710" cy="31252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 dirty="0"/>
            <a:t>Shallow</a:t>
          </a:r>
          <a:endParaRPr sz="2000" dirty="0"/>
        </a:p>
      </cdr:txBody>
    </cdr:sp>
  </cdr:relSizeAnchor>
  <cdr:relSizeAnchor xmlns:cdr="http://schemas.openxmlformats.org/drawingml/2006/chartDrawing">
    <cdr:from>
      <cdr:x>0.29486</cdr:x>
      <cdr:y>0.55099</cdr:y>
    </cdr:from>
    <cdr:to>
      <cdr:x>0.39514</cdr:x>
      <cdr:y>0.64108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2628823" y="1984995"/>
          <a:ext cx="893965" cy="324561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0.38745</cdr:x>
      <cdr:y>0.44917</cdr:y>
    </cdr:from>
    <cdr:to>
      <cdr:x>0.48368</cdr:x>
      <cdr:y>0.53927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3454253" y="1618205"/>
          <a:ext cx="857944" cy="324596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0.46462</cdr:x>
      <cdr:y>0.4321</cdr:y>
    </cdr:from>
    <cdr:to>
      <cdr:x>0.5396</cdr:x>
      <cdr:y>0.55663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5523007" y="2075604"/>
          <a:ext cx="891342" cy="59814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19 </a:t>
          </a:r>
          <a:r>
            <a:rPr lang="en-US" sz="2000" dirty="0"/>
            <a:t>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0.1038</cdr:x>
      <cdr:y>0.74217</cdr:y>
    </cdr:from>
    <cdr:to>
      <cdr:x>0.27556</cdr:x>
      <cdr:y>0.82892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233882" y="3565003"/>
          <a:ext cx="2041723" cy="416689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/>
            <a:t>Shallow</a:t>
          </a:r>
          <a:endParaRPr sz="2000"/>
        </a:p>
      </cdr:txBody>
    </cdr:sp>
  </cdr:relSizeAnchor>
  <cdr:relSizeAnchor xmlns:cdr="http://schemas.openxmlformats.org/drawingml/2006/chartDrawing">
    <cdr:from>
      <cdr:x>0.27827</cdr:x>
      <cdr:y>0.62169</cdr:y>
    </cdr:from>
    <cdr:to>
      <cdr:x>0.36611</cdr:x>
      <cdr:y>0.71178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3307820" y="2986269"/>
          <a:ext cx="1044262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8 layers</a:t>
          </a:r>
          <a:endParaRPr sz="2000"/>
        </a:p>
      </cdr:txBody>
    </cdr:sp>
  </cdr:relSizeAnchor>
  <cdr:relSizeAnchor xmlns:cdr="http://schemas.openxmlformats.org/drawingml/2006/chartDrawing">
    <cdr:from>
      <cdr:x>0.37407</cdr:x>
      <cdr:y>0.62021</cdr:y>
    </cdr:from>
    <cdr:to>
      <cdr:x>0.46563</cdr:x>
      <cdr:y>0.71031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4446639" y="2979196"/>
          <a:ext cx="1088381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0.47654</cdr:x>
      <cdr:y>0.60727</cdr:y>
    </cdr:from>
    <cdr:to>
      <cdr:x>0.55152</cdr:x>
      <cdr:y>0.7318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4248539" y="2187781"/>
          <a:ext cx="668477" cy="448634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19 </a:t>
          </a:r>
          <a:r>
            <a:rPr lang="en-US" sz="2000" dirty="0"/>
            <a:t>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0.1038</cdr:x>
      <cdr:y>0.74217</cdr:y>
    </cdr:from>
    <cdr:to>
      <cdr:x>0.27556</cdr:x>
      <cdr:y>0.82892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233882" y="3565003"/>
          <a:ext cx="2041723" cy="416689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/>
            <a:t>Shallow</a:t>
          </a:r>
          <a:endParaRPr sz="2000"/>
        </a:p>
      </cdr:txBody>
    </cdr:sp>
  </cdr:relSizeAnchor>
  <cdr:relSizeAnchor xmlns:cdr="http://schemas.openxmlformats.org/drawingml/2006/chartDrawing">
    <cdr:from>
      <cdr:x>0.27827</cdr:x>
      <cdr:y>0.62169</cdr:y>
    </cdr:from>
    <cdr:to>
      <cdr:x>0.36611</cdr:x>
      <cdr:y>0.71178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3307820" y="2986269"/>
          <a:ext cx="1044262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8 layers</a:t>
          </a:r>
          <a:endParaRPr sz="2000"/>
        </a:p>
      </cdr:txBody>
    </cdr:sp>
  </cdr:relSizeAnchor>
  <cdr:relSizeAnchor xmlns:cdr="http://schemas.openxmlformats.org/drawingml/2006/chartDrawing">
    <cdr:from>
      <cdr:x>0.37407</cdr:x>
      <cdr:y>0.62021</cdr:y>
    </cdr:from>
    <cdr:to>
      <cdr:x>0.46563</cdr:x>
      <cdr:y>0.71031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4446639" y="2979196"/>
          <a:ext cx="1088381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0.47825</cdr:x>
      <cdr:y>0.57865</cdr:y>
    </cdr:from>
    <cdr:to>
      <cdr:x>0.55323</cdr:x>
      <cdr:y>0.70318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4263779" y="2084649"/>
          <a:ext cx="668477" cy="448634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19 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0.1038</cdr:x>
      <cdr:y>0.74217</cdr:y>
    </cdr:from>
    <cdr:to>
      <cdr:x>0.27556</cdr:x>
      <cdr:y>0.82892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233882" y="3565003"/>
          <a:ext cx="2041723" cy="416689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/>
            <a:t>Shallow</a:t>
          </a:r>
          <a:endParaRPr sz="2000"/>
        </a:p>
      </cdr:txBody>
    </cdr:sp>
  </cdr:relSizeAnchor>
  <cdr:relSizeAnchor xmlns:cdr="http://schemas.openxmlformats.org/drawingml/2006/chartDrawing">
    <cdr:from>
      <cdr:x>0.27827</cdr:x>
      <cdr:y>0.62169</cdr:y>
    </cdr:from>
    <cdr:to>
      <cdr:x>0.36611</cdr:x>
      <cdr:y>0.71178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3307820" y="2986269"/>
          <a:ext cx="1044262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8 layers</a:t>
          </a:r>
          <a:endParaRPr sz="2000"/>
        </a:p>
      </cdr:txBody>
    </cdr:sp>
  </cdr:relSizeAnchor>
  <cdr:relSizeAnchor xmlns:cdr="http://schemas.openxmlformats.org/drawingml/2006/chartDrawing">
    <cdr:from>
      <cdr:x>0.37407</cdr:x>
      <cdr:y>0.62021</cdr:y>
    </cdr:from>
    <cdr:to>
      <cdr:x>0.46563</cdr:x>
      <cdr:y>0.71031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4446639" y="2979196"/>
          <a:ext cx="1088381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0.4728</cdr:x>
      <cdr:y>0.60046</cdr:y>
    </cdr:from>
    <cdr:to>
      <cdr:x>0.54778</cdr:x>
      <cdr:y>0.72499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4215221" y="2163223"/>
          <a:ext cx="668477" cy="448634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19 </a:t>
          </a:r>
          <a:r>
            <a:rPr lang="en-US" sz="2000" dirty="0"/>
            <a:t>layers</a:t>
          </a:r>
          <a:endParaRPr sz="2000" dirty="0"/>
        </a:p>
      </cdr:txBody>
    </cdr:sp>
  </cdr:relSizeAnchor>
  <cdr:relSizeAnchor xmlns:cdr="http://schemas.openxmlformats.org/drawingml/2006/chartDrawing">
    <cdr:from>
      <cdr:x>0.56303</cdr:x>
      <cdr:y>0.60747</cdr:y>
    </cdr:from>
    <cdr:to>
      <cdr:x>0.63956</cdr:x>
      <cdr:y>0.74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5019682" y="2188470"/>
          <a:ext cx="682207" cy="477456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0.1038</cdr:x>
      <cdr:y>0.74217</cdr:y>
    </cdr:from>
    <cdr:to>
      <cdr:x>0.27556</cdr:x>
      <cdr:y>0.82892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233882" y="3565003"/>
          <a:ext cx="2041723" cy="416689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/>
            <a:t>Shallow</a:t>
          </a:r>
          <a:endParaRPr sz="2000"/>
        </a:p>
      </cdr:txBody>
    </cdr:sp>
  </cdr:relSizeAnchor>
  <cdr:relSizeAnchor xmlns:cdr="http://schemas.openxmlformats.org/drawingml/2006/chartDrawing">
    <cdr:from>
      <cdr:x>0.27827</cdr:x>
      <cdr:y>0.62169</cdr:y>
    </cdr:from>
    <cdr:to>
      <cdr:x>0.36611</cdr:x>
      <cdr:y>0.71178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3307820" y="2986269"/>
          <a:ext cx="1044262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8 layers</a:t>
          </a:r>
          <a:endParaRPr sz="2000"/>
        </a:p>
      </cdr:txBody>
    </cdr:sp>
  </cdr:relSizeAnchor>
  <cdr:relSizeAnchor xmlns:cdr="http://schemas.openxmlformats.org/drawingml/2006/chartDrawing">
    <cdr:from>
      <cdr:x>0.37407</cdr:x>
      <cdr:y>0.62021</cdr:y>
    </cdr:from>
    <cdr:to>
      <cdr:x>0.46563</cdr:x>
      <cdr:y>0.71031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4446639" y="2979196"/>
          <a:ext cx="1088381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0.46462</cdr:x>
      <cdr:y>0.4321</cdr:y>
    </cdr:from>
    <cdr:to>
      <cdr:x>0.5396</cdr:x>
      <cdr:y>0.55663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5523007" y="2075604"/>
          <a:ext cx="891342" cy="59814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19 </a:t>
          </a:r>
          <a:r>
            <a:rPr lang="en-US" sz="2000" dirty="0"/>
            <a:t>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0.64044</cdr:x>
      <cdr:y>0</cdr:y>
    </cdr:from>
    <cdr:to>
      <cdr:x>0.71696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7613034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0.1038</cdr:x>
      <cdr:y>0.74217</cdr:y>
    </cdr:from>
    <cdr:to>
      <cdr:x>0.27556</cdr:x>
      <cdr:y>0.82892</cdr:y>
    </cdr:to>
    <cdr:sp macro="" textlink="">
      <cdr:nvSpPr>
        <cdr:cNvPr id="2" name="Google Shape;579;p41"/>
        <cdr:cNvSpPr txBox="1"/>
      </cdr:nvSpPr>
      <cdr:spPr>
        <a:xfrm xmlns:a="http://schemas.openxmlformats.org/drawingml/2006/main">
          <a:off x="1233882" y="3565003"/>
          <a:ext cx="2041723" cy="416689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n-US" sz="2000"/>
            <a:t>Shallow</a:t>
          </a:r>
          <a:endParaRPr sz="2000"/>
        </a:p>
      </cdr:txBody>
    </cdr:sp>
  </cdr:relSizeAnchor>
  <cdr:relSizeAnchor xmlns:cdr="http://schemas.openxmlformats.org/drawingml/2006/chartDrawing">
    <cdr:from>
      <cdr:x>0.27827</cdr:x>
      <cdr:y>0.62169</cdr:y>
    </cdr:from>
    <cdr:to>
      <cdr:x>0.36611</cdr:x>
      <cdr:y>0.71178</cdr:y>
    </cdr:to>
    <cdr:sp macro="" textlink="">
      <cdr:nvSpPr>
        <cdr:cNvPr id="3" name="Google Shape;579;p41"/>
        <cdr:cNvSpPr txBox="1"/>
      </cdr:nvSpPr>
      <cdr:spPr>
        <a:xfrm xmlns:a="http://schemas.openxmlformats.org/drawingml/2006/main">
          <a:off x="3307820" y="2986269"/>
          <a:ext cx="1044262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8 layers</a:t>
          </a:r>
          <a:endParaRPr sz="2000"/>
        </a:p>
      </cdr:txBody>
    </cdr:sp>
  </cdr:relSizeAnchor>
  <cdr:relSizeAnchor xmlns:cdr="http://schemas.openxmlformats.org/drawingml/2006/chartDrawing">
    <cdr:from>
      <cdr:x>0.37407</cdr:x>
      <cdr:y>0.62021</cdr:y>
    </cdr:from>
    <cdr:to>
      <cdr:x>0.46563</cdr:x>
      <cdr:y>0.71031</cdr:y>
    </cdr:to>
    <cdr:sp macro="" textlink="">
      <cdr:nvSpPr>
        <cdr:cNvPr id="4" name="Google Shape;579;p41"/>
        <cdr:cNvSpPr txBox="1"/>
      </cdr:nvSpPr>
      <cdr:spPr>
        <a:xfrm xmlns:a="http://schemas.openxmlformats.org/drawingml/2006/main">
          <a:off x="4446639" y="2979196"/>
          <a:ext cx="1088381" cy="43276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8 layers</a:t>
          </a:r>
          <a:endParaRPr sz="2000" dirty="0"/>
        </a:p>
      </cdr:txBody>
    </cdr:sp>
  </cdr:relSizeAnchor>
  <cdr:relSizeAnchor xmlns:cdr="http://schemas.openxmlformats.org/drawingml/2006/chartDrawing">
    <cdr:from>
      <cdr:x>0.46462</cdr:x>
      <cdr:y>0.4321</cdr:y>
    </cdr:from>
    <cdr:to>
      <cdr:x>0.5396</cdr:x>
      <cdr:y>0.55663</cdr:y>
    </cdr:to>
    <cdr:sp macro="" textlink="">
      <cdr:nvSpPr>
        <cdr:cNvPr id="5" name="Google Shape;579;p41"/>
        <cdr:cNvSpPr txBox="1"/>
      </cdr:nvSpPr>
      <cdr:spPr>
        <a:xfrm xmlns:a="http://schemas.openxmlformats.org/drawingml/2006/main">
          <a:off x="5523007" y="2075604"/>
          <a:ext cx="891342" cy="598148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19 </a:t>
          </a:r>
          <a:r>
            <a:rPr lang="en-US" sz="2000" dirty="0"/>
            <a:t>layers</a:t>
          </a:r>
          <a:endParaRPr sz="2000" dirty="0"/>
        </a:p>
      </cdr:txBody>
    </cdr:sp>
  </cdr:relSizeAnchor>
  <cdr:relSizeAnchor xmlns:cdr="http://schemas.openxmlformats.org/drawingml/2006/chartDrawing">
    <cdr:from>
      <cdr:x>0.55152</cdr:x>
      <cdr:y>0.42892</cdr:y>
    </cdr:from>
    <cdr:to>
      <cdr:x>0.62804</cdr:x>
      <cdr:y>0.56145</cdr:y>
    </cdr:to>
    <cdr:sp macro="" textlink="">
      <cdr:nvSpPr>
        <cdr:cNvPr id="6" name="Google Shape;579;p41"/>
        <cdr:cNvSpPr txBox="1"/>
      </cdr:nvSpPr>
      <cdr:spPr>
        <a:xfrm xmlns:a="http://schemas.openxmlformats.org/drawingml/2006/main">
          <a:off x="6556022" y="2060295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22 layers</a:t>
          </a:r>
          <a:endParaRPr sz="2000" dirty="0"/>
        </a:p>
      </cdr:txBody>
    </cdr:sp>
  </cdr:relSizeAnchor>
  <cdr:relSizeAnchor xmlns:cdr="http://schemas.openxmlformats.org/drawingml/2006/chartDrawing">
    <cdr:from>
      <cdr:x>0.62506</cdr:x>
      <cdr:y>0</cdr:y>
    </cdr:from>
    <cdr:to>
      <cdr:x>0.72264</cdr:x>
      <cdr:y>0.13253</cdr:y>
    </cdr:to>
    <cdr:sp macro="" textlink="">
      <cdr:nvSpPr>
        <cdr:cNvPr id="7" name="Google Shape;579;p41"/>
        <cdr:cNvSpPr txBox="1"/>
      </cdr:nvSpPr>
      <cdr:spPr>
        <a:xfrm xmlns:a="http://schemas.openxmlformats.org/drawingml/2006/main">
          <a:off x="5572670" y="0"/>
          <a:ext cx="869981" cy="477455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 dirty="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0.72884</cdr:x>
      <cdr:y>0</cdr:y>
    </cdr:from>
    <cdr:to>
      <cdr:x>0.80536</cdr:x>
      <cdr:y>0.13253</cdr:y>
    </cdr:to>
    <cdr:sp macro="" textlink="">
      <cdr:nvSpPr>
        <cdr:cNvPr id="8" name="Google Shape;579;p41"/>
        <cdr:cNvSpPr txBox="1"/>
      </cdr:nvSpPr>
      <cdr:spPr>
        <a:xfrm xmlns:a="http://schemas.openxmlformats.org/drawingml/2006/main">
          <a:off x="8663859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  <cdr:relSizeAnchor xmlns:cdr="http://schemas.openxmlformats.org/drawingml/2006/chartDrawing">
    <cdr:from>
      <cdr:x>0.81365</cdr:x>
      <cdr:y>0</cdr:y>
    </cdr:from>
    <cdr:to>
      <cdr:x>0.89017</cdr:x>
      <cdr:y>0.13253</cdr:y>
    </cdr:to>
    <cdr:sp macro="" textlink="">
      <cdr:nvSpPr>
        <cdr:cNvPr id="9" name="Google Shape;579;p41"/>
        <cdr:cNvSpPr txBox="1"/>
      </cdr:nvSpPr>
      <cdr:spPr>
        <a:xfrm xmlns:a="http://schemas.openxmlformats.org/drawingml/2006/main">
          <a:off x="9672030" y="0"/>
          <a:ext cx="909648" cy="636607"/>
        </a:xfrm>
        <a:prstGeom xmlns:a="http://schemas.openxmlformats.org/drawingml/2006/main" prst="rect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121868" tIns="121868" rIns="121868" bIns="121868" anchor="ctr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2000"/>
            <a:t>152 layers</a:t>
          </a:r>
          <a:endParaRPr sz="20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1D9AC-C4DC-4626-BD9E-860ADBEBE25E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B2A92-AD47-4AF8-BBA5-94641E995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4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马可能向前也可能向后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B2A92-AD47-4AF8-BBA5-94641E9951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076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05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387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394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in the lecture is a little different from the book, because Justin Johnson’s lectures follow a different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1D4ED9-1B63-4229-8F06-FCD43E3C53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517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649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050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192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63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随着网络层数的增加，出现梯度消失，梯度爆炸现象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57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先归一化，然后进行缩放和平移，进行还原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44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为什么要学习恒等映射？我的理解是能达到去除异常数据，将整体数据规范化了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06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9614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173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810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698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004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852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类似多尺度方法，不同大小核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B2A92-AD47-4AF8-BBA5-94641E9951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93650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Inception</a:t>
            </a:r>
            <a:r>
              <a:rPr kumimoji="1" lang="zh-CN" altLang="en-US" dirty="0"/>
              <a:t>模块重复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B2A92-AD47-4AF8-BBA5-94641E9951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8968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末端直接全局平均池化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B2A92-AD47-4AF8-BBA5-94641E9951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0466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这样参数规模，存储空间，消耗大大减小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B2A92-AD47-4AF8-BBA5-94641E9951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927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0205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412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50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2F23-04BC-174D-975B-EA52EAFD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7F4B8-8373-BC4A-8421-8BD78F92E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60A5D-2670-46FB-9F71-125129B3C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2262" cy="126673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171876-96D7-40D9-B5A9-E47ED4ADD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478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EFD5-305F-3C4E-B5C5-B78BD3A7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4F126-98FF-6B4D-94F9-975ED7B51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4EA1D-3BB7-425E-A2D4-396EA92A0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30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771B-1A74-4C45-B6AF-47D374D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148F0-52BC-7748-9157-69DC4A773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10DCD-E7F0-45F1-889B-9273A2954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2262" cy="12667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C9234-F65F-489C-8BF6-2D58A516B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738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7107-386C-1641-9CD9-0EC991B1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DF79-BAF5-EB47-8AC9-CDF09BA2B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049E3-C1F5-CC4A-AC46-C057EFD00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1EEE-07E2-4433-89F0-A485480FA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201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362D-E980-D946-9FCF-611BCF4E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56468-B094-734F-B799-EBFFA6535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A95BD-C379-1647-A664-F00FED3CE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7818D-C5DD-3949-AF73-EA9BC14A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3B6B6-0AE2-F441-A704-ED8394DD9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DCD080-62AD-41B4-98C7-11051E670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044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863E-F1DC-634D-8382-33C14251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0696A53-1420-4DC0-802A-0E01355FA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821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DF79AB-86D9-428D-B986-520040056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39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1AFD-80A6-6549-AD56-7A92D9BC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F5DC-D4BA-BD47-ACE3-F8A98BC7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DE935-FB9D-544B-BC4D-29D041A70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5D744-9BE6-4760-9BB6-4D3999EE8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217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D920-4F51-D640-B8F1-07E31B2B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4BEF5-1B11-FA44-96F2-FA7B0DC11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CBEFB-77FD-AB47-8634-5B508E791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03F69-4475-457D-8C25-BE3EFFAAD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66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6919-1AE4-084C-916B-607FA50E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6BDEF-CA8F-6C48-8CFE-1DDCD148B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7C19E0A-E39D-4563-8C0A-EBB531534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548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05CC2-D948-264B-A9D4-D4CF09ADC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6F8B9-534E-594B-AA27-53CF50564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D03756-7836-4D15-AC3E-416BEA074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9818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3470-BF52-4DBC-86FE-F7EB7802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55EE2-0DF5-4EE1-B5DB-E8764985E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BDF1-2FB9-477A-874D-346EC2DC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09C67-34DB-45A7-9502-22566D9A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26764-D310-43D0-A858-E8869E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4052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7F8E-1D34-4868-BF8B-4E9763C3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u="sng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DCF43-776A-4B65-8BAE-460550A0E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8C9FA-C981-4663-A128-3B487A1B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79C60-BAD1-4957-9DBB-13372B728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nl-NL"/>
              <a:t>UW CSE 576 - Deep Neural Networks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74F89-9777-40F1-8286-685DA751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0B2D1479-DF4D-48DC-965E-2EAAECBF71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424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8B69-FB78-4189-A4CD-669FBA14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3F167-C22A-4F2A-8601-50F62AD79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076C0-4778-4C54-AD06-C183C605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59327-F71B-4DEA-A63A-E7A99830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F08EB-9083-4822-9C6D-836E165E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013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D4A3-2DC9-48EF-B824-88675178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u="sng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0D69-3812-4CF9-9AF6-8C50348C3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227FE-E1E1-47EA-9FBF-F7D53E882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4D25A-91F3-495A-BEDC-643E261E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A6405-1981-439C-8B73-510C0859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5C4BD-5BAE-4AE3-93B8-969B6C1F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470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067B-E91B-41F7-91D7-DE15F235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 u="sng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162EE-7F8B-4927-BFB0-DC85C7B04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501E7-E1DB-4662-B5B9-D654C774C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99CA7-C87D-4D86-951D-579C91E02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7AF3B-BBE6-4D5F-BB06-86F6D6C75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AF6D22-C4B5-4612-AD5D-4E92ACE1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C3E928-E5B8-4FCE-8E8A-79A842F8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D1B47-24BD-4330-941B-A173803F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733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F341-12C2-4D7A-89DE-1FB169E3D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u="sng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49F61-B677-4397-9572-E22CD0CF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A06CE-CFD7-483B-A213-B373DFADB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7520C-556D-46AA-9428-6D28FC22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63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B9F19-F8FD-4046-AF66-D9BDE723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7EF89-95A2-4B58-BD9D-1F6173B8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4BF0-8869-4CC8-A834-228DE161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749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7738-6A12-4FB5-9ED1-93EF67D3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80F27-0162-4715-962C-94C357A15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967F1-9A23-4AB4-82FB-B69D19441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51034-FE72-4A0A-B143-0E12D510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E314F-2EE8-421F-8DD7-43167DB0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5CCCA-3501-4FFF-B6A5-ABD181B5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937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454E-67BA-4977-A1F9-4E09C0D7D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3FC2FB-991B-4C5A-BFBB-97C5FF157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DB0D6-1649-4CAF-825B-4CFB099E9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805DD-9590-4FE5-BC2E-75490207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FED12-549C-4D68-BF5B-16E540CE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129FF-8BAE-4E95-94B8-9ED78DC2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707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8FAB-62A8-4EAC-813F-844B71AFA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71E8F-3E87-4001-B66C-2DEE66767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A9AC-89DE-4D8C-A9F8-CECA542C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97520-4E43-4BDD-8A99-938D20F9A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017EA-ED72-4DFB-9C41-D633D912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156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B2686-4D85-4289-A550-DB486360B4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BDA2-BBB5-4429-80AA-CB6806F56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7E956-E68B-482E-B88E-77B3E4BF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C31B4-1A6A-4FF3-9E23-72FCFDD1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UW CSE 576 - Deep Neural Networks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140B0-FBB1-48F7-9815-00AF3DA2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1479-DF4D-48DC-965E-2EAAECBF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A3C84-B78A-4974-AD61-9619B9242517}" type="datetimeFigureOut">
              <a:rPr lang="en-US" smtClean="0"/>
              <a:pPr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A112F1-0439-894A-84D1-2EC63A591433}"/>
              </a:ext>
            </a:extLst>
          </p:cNvPr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27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972C9-ACB3-E341-B4E5-2D6626D2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D0A5B-105D-DE45-A0A8-CB0E7B30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83937"/>
            <a:ext cx="7886700" cy="5120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AAF8-7122-C84B-B6BE-14153B0B7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2x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87CA8-D8A2-484C-BCF7-8D63AD7E53F8}"/>
              </a:ext>
            </a:extLst>
          </p:cNvPr>
          <p:cNvSpPr txBox="1"/>
          <p:nvPr userDrawn="1"/>
        </p:nvSpPr>
        <p:spPr>
          <a:xfrm>
            <a:off x="628650" y="6429346"/>
            <a:ext cx="13138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CB05"/>
                </a:solidFill>
              </a:rPr>
              <a:t>Justin Johnson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82331-011A-BB4A-90CA-EBA3BA780B6B}"/>
              </a:ext>
            </a:extLst>
          </p:cNvPr>
          <p:cNvSpPr txBox="1"/>
          <p:nvPr userDrawn="1"/>
        </p:nvSpPr>
        <p:spPr>
          <a:xfrm>
            <a:off x="6700707" y="6429345"/>
            <a:ext cx="18146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0" i="0" u="none" kern="1200" dirty="0">
                <a:solidFill>
                  <a:srgbClr val="FFCB05"/>
                </a:solidFill>
                <a:effectLst/>
                <a:latin typeface="+mn-lt"/>
                <a:ea typeface="+mn-ea"/>
                <a:cs typeface="+mn-cs"/>
              </a:rPr>
              <a:t>Fall 2019</a:t>
            </a:r>
            <a:endParaRPr lang="en-US" sz="1500" u="none" dirty="0">
              <a:solidFill>
                <a:srgbClr val="FFCB0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678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2E124-DD79-4F40-9EC1-98852E67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40ACC-BBDF-4FDB-BD05-2A266ABCC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EFE5E-97A8-4F23-AE26-054F979CD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Richard Szeliski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E208F-400C-4E4E-9585-7D0E84026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UW CSE 576 - Deep Neural Networks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1448B-BF43-48F8-ABF5-223187EF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D1479-DF4D-48DC-965E-2EAAECBF71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41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en.wikipedia.org/wiki/File:Red_eyed_tree_frog_edit2.jpg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5" Type="http://schemas.openxmlformats.org/officeDocument/2006/relationships/hyperlink" Target="https://creativecommons.org/publicdomain/zero/1.0/" TargetMode="External"/><Relationship Id="rId4" Type="http://schemas.openxmlformats.org/officeDocument/2006/relationships/hyperlink" Target="https://www.pexels.com/photo/audi-cabriolet-car-red-2568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gif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2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2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png"/><Relationship Id="rId5" Type="http://schemas.openxmlformats.org/officeDocument/2006/relationships/hyperlink" Target="https://creativecommons.org/licenses/by/3.0/us/" TargetMode="External"/><Relationship Id="rId4" Type="http://schemas.openxmlformats.org/officeDocument/2006/relationships/hyperlink" Target="https://thenounproject.com/term/neuron/214105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cs.stanford.edu/people/karpathy/convnetjs/demo/classify2d.html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1.gif"/><Relationship Id="rId4" Type="http://schemas.openxmlformats.org/officeDocument/2006/relationships/image" Target="../media/image50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2.gif"/><Relationship Id="rId5" Type="http://schemas.openxmlformats.org/officeDocument/2006/relationships/image" Target="../media/image49.gif"/><Relationship Id="rId4" Type="http://schemas.openxmlformats.org/officeDocument/2006/relationships/image" Target="../media/image51.gi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3.gif"/><Relationship Id="rId5" Type="http://schemas.openxmlformats.org/officeDocument/2006/relationships/image" Target="../media/image51.gif"/><Relationship Id="rId4" Type="http://schemas.openxmlformats.org/officeDocument/2006/relationships/image" Target="../media/image50.gi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gif"/><Relationship Id="rId3" Type="http://schemas.openxmlformats.org/officeDocument/2006/relationships/image" Target="../media/image56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gif"/><Relationship Id="rId3" Type="http://schemas.openxmlformats.org/officeDocument/2006/relationships/image" Target="../media/image56.gif"/><Relationship Id="rId7" Type="http://schemas.openxmlformats.org/officeDocument/2006/relationships/image" Target="../media/image52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gif"/><Relationship Id="rId3" Type="http://schemas.openxmlformats.org/officeDocument/2006/relationships/image" Target="../media/image49.gif"/><Relationship Id="rId7" Type="http://schemas.openxmlformats.org/officeDocument/2006/relationships/image" Target="../media/image58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2.gif"/><Relationship Id="rId5" Type="http://schemas.openxmlformats.org/officeDocument/2006/relationships/image" Target="../media/image51.gif"/><Relationship Id="rId4" Type="http://schemas.openxmlformats.org/officeDocument/2006/relationships/image" Target="../media/image50.gi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gif"/><Relationship Id="rId3" Type="http://schemas.openxmlformats.org/officeDocument/2006/relationships/image" Target="../media/image49.gif"/><Relationship Id="rId7" Type="http://schemas.openxmlformats.org/officeDocument/2006/relationships/image" Target="../media/image58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2.gif"/><Relationship Id="rId5" Type="http://schemas.openxmlformats.org/officeDocument/2006/relationships/image" Target="../media/image51.gif"/><Relationship Id="rId4" Type="http://schemas.openxmlformats.org/officeDocument/2006/relationships/image" Target="../media/image50.gi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3.gif"/><Relationship Id="rId4" Type="http://schemas.openxmlformats.org/officeDocument/2006/relationships/image" Target="../media/image62.gi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7" Type="http://schemas.openxmlformats.org/officeDocument/2006/relationships/image" Target="../media/image65.gif"/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4.gif"/><Relationship Id="rId5" Type="http://schemas.openxmlformats.org/officeDocument/2006/relationships/image" Target="../media/image63.gif"/><Relationship Id="rId4" Type="http://schemas.openxmlformats.org/officeDocument/2006/relationships/image" Target="../media/image62.gi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7" Type="http://schemas.openxmlformats.org/officeDocument/2006/relationships/image" Target="../media/image65.gif"/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4.gif"/><Relationship Id="rId5" Type="http://schemas.openxmlformats.org/officeDocument/2006/relationships/image" Target="../media/image63.gif"/><Relationship Id="rId4" Type="http://schemas.openxmlformats.org/officeDocument/2006/relationships/image" Target="../media/image62.gi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gi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gi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gi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gi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gi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gi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gi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7.gi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5.gif"/><Relationship Id="rId4" Type="http://schemas.openxmlformats.org/officeDocument/2006/relationships/image" Target="../media/image67.gi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5.gif"/><Relationship Id="rId5" Type="http://schemas.openxmlformats.org/officeDocument/2006/relationships/image" Target="../media/image67.gif"/><Relationship Id="rId4" Type="http://schemas.openxmlformats.org/officeDocument/2006/relationships/image" Target="../media/image76.gi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gi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5.gif"/><Relationship Id="rId5" Type="http://schemas.openxmlformats.org/officeDocument/2006/relationships/image" Target="../media/image67.gif"/><Relationship Id="rId4" Type="http://schemas.openxmlformats.org/officeDocument/2006/relationships/image" Target="../media/image76.gi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2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ctivation-functions-neural-networks-1cbd9f8d91d6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7.png"/><Relationship Id="rId4" Type="http://schemas.openxmlformats.org/officeDocument/2006/relationships/image" Target="../media/image76.gi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3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8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92.png"/><Relationship Id="rId7" Type="http://schemas.openxmlformats.org/officeDocument/2006/relationships/image" Target="../media/image8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gif"/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gif"/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gif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9.png"/><Relationship Id="rId4" Type="http://schemas.openxmlformats.org/officeDocument/2006/relationships/image" Target="../media/image98.e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9.png"/><Relationship Id="rId4" Type="http://schemas.openxmlformats.org/officeDocument/2006/relationships/image" Target="../media/image98.emf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4.png"/><Relationship Id="rId5" Type="http://schemas.openxmlformats.org/officeDocument/2006/relationships/image" Target="../media/image20.png"/><Relationship Id="rId4" Type="http://schemas.openxmlformats.org/officeDocument/2006/relationships/image" Target="../media/image101.e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4.png"/><Relationship Id="rId5" Type="http://schemas.openxmlformats.org/officeDocument/2006/relationships/image" Target="../media/image20.png"/><Relationship Id="rId4" Type="http://schemas.openxmlformats.org/officeDocument/2006/relationships/image" Target="../media/image101.emf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4.png"/><Relationship Id="rId5" Type="http://schemas.openxmlformats.org/officeDocument/2006/relationships/image" Target="../media/image20.png"/><Relationship Id="rId4" Type="http://schemas.openxmlformats.org/officeDocument/2006/relationships/image" Target="../media/image101.emf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5" Type="http://schemas.openxmlformats.org/officeDocument/2006/relationships/image" Target="../media/image101.emf"/><Relationship Id="rId4" Type="http://schemas.openxmlformats.org/officeDocument/2006/relationships/image" Target="../media/image103.png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7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7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7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0.png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7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7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7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7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7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17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7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7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5.png"/><Relationship Id="rId5" Type="http://schemas.openxmlformats.org/officeDocument/2006/relationships/image" Target="../media/image124.emf"/><Relationship Id="rId4" Type="http://schemas.openxmlformats.org/officeDocument/2006/relationships/image" Target="../media/image123.emf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7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7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7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7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7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7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7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7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7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7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7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7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7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7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7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7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7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7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13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7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7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7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7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7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7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3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3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4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7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7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orchvision/models.html" TargetMode="External"/><Relationship Id="rId1" Type="http://schemas.openxmlformats.org/officeDocument/2006/relationships/slideLayout" Target="../slideLayouts/slideLayout17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orchvision/models.html" TargetMode="External"/><Relationship Id="rId1" Type="http://schemas.openxmlformats.org/officeDocument/2006/relationships/slideLayout" Target="../slideLayouts/slideLayout17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orchvision/models.html" TargetMode="External"/><Relationship Id="rId1" Type="http://schemas.openxmlformats.org/officeDocument/2006/relationships/slideLayout" Target="../slideLayouts/slideLayout17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orchvision/models.html" TargetMode="External"/><Relationship Id="rId1" Type="http://schemas.openxmlformats.org/officeDocument/2006/relationships/slideLayout" Target="../slideLayouts/slideLayout17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orchvision/models.html" TargetMode="External"/><Relationship Id="rId1" Type="http://schemas.openxmlformats.org/officeDocument/2006/relationships/slideLayout" Target="../slideLayouts/slideLayout17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orchvision/models.html" TargetMode="External"/><Relationship Id="rId1" Type="http://schemas.openxmlformats.org/officeDocument/2006/relationships/slideLayout" Target="../slideLayouts/slideLayout17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7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7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7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7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7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7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7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17.xml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17.xml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4.png"/><Relationship Id="rId5" Type="http://schemas.openxmlformats.org/officeDocument/2006/relationships/image" Target="../media/image20.png"/><Relationship Id="rId4" Type="http://schemas.openxmlformats.org/officeDocument/2006/relationships/image" Target="../media/image101.emf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7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828800"/>
            <a:ext cx="7772400" cy="20574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/>
              <a:t>计算机视觉</a:t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06</a:t>
            </a:r>
            <a:r>
              <a:rPr lang="zh-CN" altLang="en-US" dirty="0"/>
              <a:t>章 神经网络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343400"/>
            <a:ext cx="5105400" cy="12954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软件学院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 刘春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FB34AB-A8FA-AD43-A8C9-D27A719C2FEB}"/>
              </a:ext>
            </a:extLst>
          </p:cNvPr>
          <p:cNvSpPr txBox="1">
            <a:spLocks/>
          </p:cNvSpPr>
          <p:nvPr/>
        </p:nvSpPr>
        <p:spPr>
          <a:xfrm>
            <a:off x="1524000" y="5486400"/>
            <a:ext cx="6400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Ref:</a:t>
            </a:r>
            <a:r>
              <a:rPr lang="zh-CN" altLang="en-US" dirty="0"/>
              <a:t> </a:t>
            </a:r>
            <a:r>
              <a:rPr lang="en-US" altLang="zh-CN" dirty="0"/>
              <a:t>EECS 498-007, Deep Learning for Computer Vision</a:t>
            </a:r>
          </a:p>
          <a:p>
            <a:r>
              <a:rPr lang="en-US" altLang="zh-CN" dirty="0"/>
              <a:t>Prof. Justin Johnson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</a:rPr>
              <a:t>6.1.</a:t>
            </a:r>
            <a:r>
              <a:rPr lang="zh-CN" altLang="en-US" dirty="0">
                <a:solidFill>
                  <a:srgbClr val="00B050"/>
                </a:solidFill>
              </a:rPr>
              <a:t>神经网络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6.2.</a:t>
            </a:r>
            <a:r>
              <a:rPr lang="zh-CN" altLang="en-US" dirty="0"/>
              <a:t>卷积神经网络</a:t>
            </a:r>
            <a:endParaRPr lang="en-US" dirty="0"/>
          </a:p>
          <a:p>
            <a:r>
              <a:rPr lang="en-US" altLang="zh-CN" dirty="0"/>
              <a:t>6.3.</a:t>
            </a:r>
            <a:r>
              <a:rPr lang="zh-CN" altLang="en-US" dirty="0"/>
              <a:t>神经网络图像分类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749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dirty="0"/>
              <a:t>: </a:t>
            </a:r>
            <a:r>
              <a:rPr lang="zh-CN" altLang="en-US" dirty="0"/>
              <a:t>线性分类器无法工作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1731;p100"/>
          <p:cNvCxnSpPr/>
          <p:nvPr/>
        </p:nvCxnSpPr>
        <p:spPr>
          <a:xfrm>
            <a:off x="2363825" y="2435056"/>
            <a:ext cx="0" cy="259385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1732;p100"/>
          <p:cNvCxnSpPr/>
          <p:nvPr/>
        </p:nvCxnSpPr>
        <p:spPr>
          <a:xfrm flipH="1">
            <a:off x="965790" y="3706838"/>
            <a:ext cx="282251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733;p100"/>
          <p:cNvSpPr/>
          <p:nvPr/>
        </p:nvSpPr>
        <p:spPr>
          <a:xfrm>
            <a:off x="2091022" y="33643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1734;p100"/>
          <p:cNvSpPr/>
          <p:nvPr/>
        </p:nvSpPr>
        <p:spPr>
          <a:xfrm>
            <a:off x="2430083" y="337563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735;p100"/>
          <p:cNvSpPr/>
          <p:nvPr/>
        </p:nvSpPr>
        <p:spPr>
          <a:xfrm>
            <a:off x="2204816" y="383271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1736;p100"/>
          <p:cNvSpPr/>
          <p:nvPr/>
        </p:nvSpPr>
        <p:spPr>
          <a:xfrm>
            <a:off x="2443280" y="389235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1737;p100"/>
          <p:cNvSpPr/>
          <p:nvPr/>
        </p:nvSpPr>
        <p:spPr>
          <a:xfrm>
            <a:off x="2423459" y="36406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1738;p100"/>
          <p:cNvSpPr/>
          <p:nvPr/>
        </p:nvSpPr>
        <p:spPr>
          <a:xfrm>
            <a:off x="2065753" y="361243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1739;p100"/>
          <p:cNvSpPr/>
          <p:nvPr/>
        </p:nvSpPr>
        <p:spPr>
          <a:xfrm>
            <a:off x="2273396" y="346838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1740;p100"/>
          <p:cNvSpPr/>
          <p:nvPr/>
        </p:nvSpPr>
        <p:spPr>
          <a:xfrm>
            <a:off x="1880276" y="3084163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741;p100"/>
          <p:cNvSpPr/>
          <p:nvPr/>
        </p:nvSpPr>
        <p:spPr>
          <a:xfrm>
            <a:off x="2118739" y="2905309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742;p100"/>
          <p:cNvSpPr/>
          <p:nvPr/>
        </p:nvSpPr>
        <p:spPr>
          <a:xfrm>
            <a:off x="2608961" y="300465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743;p100"/>
          <p:cNvSpPr/>
          <p:nvPr/>
        </p:nvSpPr>
        <p:spPr>
          <a:xfrm>
            <a:off x="2860671" y="350812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744;p100"/>
          <p:cNvSpPr/>
          <p:nvPr/>
        </p:nvSpPr>
        <p:spPr>
          <a:xfrm>
            <a:off x="2787815" y="403806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1745;p100"/>
          <p:cNvSpPr/>
          <p:nvPr/>
        </p:nvSpPr>
        <p:spPr>
          <a:xfrm>
            <a:off x="2522834" y="419704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746;p100"/>
          <p:cNvSpPr/>
          <p:nvPr/>
        </p:nvSpPr>
        <p:spPr>
          <a:xfrm>
            <a:off x="2078999" y="41904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747;p100"/>
          <p:cNvSpPr/>
          <p:nvPr/>
        </p:nvSpPr>
        <p:spPr>
          <a:xfrm>
            <a:off x="1847135" y="398507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1748;p100"/>
          <p:cNvSpPr/>
          <p:nvPr/>
        </p:nvSpPr>
        <p:spPr>
          <a:xfrm>
            <a:off x="1681528" y="366048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1749;p100"/>
          <p:cNvSpPr/>
          <p:nvPr/>
        </p:nvSpPr>
        <p:spPr>
          <a:xfrm>
            <a:off x="1761032" y="338226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1750;p100"/>
          <p:cNvSpPr/>
          <p:nvPr/>
        </p:nvSpPr>
        <p:spPr>
          <a:xfrm>
            <a:off x="2854047" y="321003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1751;p100"/>
          <p:cNvSpPr/>
          <p:nvPr/>
        </p:nvSpPr>
        <p:spPr>
          <a:xfrm>
            <a:off x="2999759" y="39983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1752;p100"/>
          <p:cNvSpPr/>
          <p:nvPr/>
        </p:nvSpPr>
        <p:spPr>
          <a:xfrm>
            <a:off x="2237983" y="442891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1753;p100"/>
          <p:cNvSpPr/>
          <p:nvPr/>
        </p:nvSpPr>
        <p:spPr>
          <a:xfrm>
            <a:off x="2979914" y="37267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1754;p100"/>
          <p:cNvSpPr/>
          <p:nvPr/>
        </p:nvSpPr>
        <p:spPr>
          <a:xfrm>
            <a:off x="2761297" y="440904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1755;p100"/>
          <p:cNvSpPr txBox="1"/>
          <p:nvPr/>
        </p:nvSpPr>
        <p:spPr>
          <a:xfrm>
            <a:off x="879464" y="3717850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1756;p100"/>
          <p:cNvSpPr txBox="1"/>
          <p:nvPr/>
        </p:nvSpPr>
        <p:spPr>
          <a:xfrm>
            <a:off x="2377047" y="2365081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929;p77"/>
          <p:cNvSpPr txBox="1"/>
          <p:nvPr/>
        </p:nvSpPr>
        <p:spPr>
          <a:xfrm>
            <a:off x="783577" y="1956070"/>
            <a:ext cx="2979638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几何角度</a:t>
            </a:r>
            <a:endParaRPr kumimoji="0" sz="2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6" name="Google Shape;924;p77"/>
          <p:cNvGrpSpPr/>
          <p:nvPr/>
        </p:nvGrpSpPr>
        <p:grpSpPr>
          <a:xfrm>
            <a:off x="4796264" y="3515898"/>
            <a:ext cx="3611510" cy="1529004"/>
            <a:chOff x="2181723" y="3651475"/>
            <a:chExt cx="2705603" cy="1145350"/>
          </a:xfrm>
        </p:grpSpPr>
        <p:pic>
          <p:nvPicPr>
            <p:cNvPr id="37" name="Google Shape;925;p77"/>
            <p:cNvPicPr preferRelativeResize="0"/>
            <p:nvPr/>
          </p:nvPicPr>
          <p:blipFill rotWithShape="1">
            <a:blip r:embed="rId3">
              <a:alphaModFix/>
            </a:blip>
            <a:srcRect r="50027"/>
            <a:stretch/>
          </p:blipFill>
          <p:spPr>
            <a:xfrm>
              <a:off x="2181723" y="3651475"/>
              <a:ext cx="2705599" cy="572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926;p77"/>
            <p:cNvPicPr preferRelativeResize="0"/>
            <p:nvPr/>
          </p:nvPicPr>
          <p:blipFill rotWithShape="1">
            <a:blip r:embed="rId3">
              <a:alphaModFix/>
            </a:blip>
            <a:srcRect l="50027"/>
            <a:stretch/>
          </p:blipFill>
          <p:spPr>
            <a:xfrm>
              <a:off x="2181726" y="4224150"/>
              <a:ext cx="2705599" cy="572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" name="Google Shape;929;p77"/>
          <p:cNvSpPr txBox="1"/>
          <p:nvPr/>
        </p:nvSpPr>
        <p:spPr>
          <a:xfrm>
            <a:off x="5226463" y="1957328"/>
            <a:ext cx="2523998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可视化角度</a:t>
            </a:r>
            <a:endParaRPr kumimoji="0" sz="2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932;p77"/>
          <p:cNvSpPr txBox="1"/>
          <p:nvPr/>
        </p:nvSpPr>
        <p:spPr>
          <a:xfrm>
            <a:off x="5224045" y="2435055"/>
            <a:ext cx="2755939" cy="899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每类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一个模板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b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不能识别一个类别的多种模式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98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一种解决方案</a:t>
            </a:r>
            <a:r>
              <a:rPr lang="en-US" dirty="0"/>
              <a:t>: </a:t>
            </a:r>
            <a:r>
              <a:rPr lang="zh-CN" altLang="en-US" b="1" dirty="0"/>
              <a:t>特征变换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1731;p100"/>
          <p:cNvCxnSpPr/>
          <p:nvPr/>
        </p:nvCxnSpPr>
        <p:spPr>
          <a:xfrm>
            <a:off x="2363825" y="2435056"/>
            <a:ext cx="0" cy="259385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1732;p100"/>
          <p:cNvCxnSpPr/>
          <p:nvPr/>
        </p:nvCxnSpPr>
        <p:spPr>
          <a:xfrm flipH="1">
            <a:off x="965790" y="3706838"/>
            <a:ext cx="282251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733;p100"/>
          <p:cNvSpPr/>
          <p:nvPr/>
        </p:nvSpPr>
        <p:spPr>
          <a:xfrm>
            <a:off x="2091022" y="33643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1734;p100"/>
          <p:cNvSpPr/>
          <p:nvPr/>
        </p:nvSpPr>
        <p:spPr>
          <a:xfrm>
            <a:off x="2430083" y="337563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735;p100"/>
          <p:cNvSpPr/>
          <p:nvPr/>
        </p:nvSpPr>
        <p:spPr>
          <a:xfrm>
            <a:off x="2204816" y="383271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1736;p100"/>
          <p:cNvSpPr/>
          <p:nvPr/>
        </p:nvSpPr>
        <p:spPr>
          <a:xfrm>
            <a:off x="2443280" y="389235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1737;p100"/>
          <p:cNvSpPr/>
          <p:nvPr/>
        </p:nvSpPr>
        <p:spPr>
          <a:xfrm>
            <a:off x="2423459" y="36406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1738;p100"/>
          <p:cNvSpPr/>
          <p:nvPr/>
        </p:nvSpPr>
        <p:spPr>
          <a:xfrm>
            <a:off x="2065753" y="361243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1739;p100"/>
          <p:cNvSpPr/>
          <p:nvPr/>
        </p:nvSpPr>
        <p:spPr>
          <a:xfrm>
            <a:off x="2273396" y="346838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1740;p100"/>
          <p:cNvSpPr/>
          <p:nvPr/>
        </p:nvSpPr>
        <p:spPr>
          <a:xfrm>
            <a:off x="1880276" y="3084163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741;p100"/>
          <p:cNvSpPr/>
          <p:nvPr/>
        </p:nvSpPr>
        <p:spPr>
          <a:xfrm>
            <a:off x="2118739" y="2905309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742;p100"/>
          <p:cNvSpPr/>
          <p:nvPr/>
        </p:nvSpPr>
        <p:spPr>
          <a:xfrm>
            <a:off x="2608961" y="300465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743;p100"/>
          <p:cNvSpPr/>
          <p:nvPr/>
        </p:nvSpPr>
        <p:spPr>
          <a:xfrm>
            <a:off x="2860671" y="350812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744;p100"/>
          <p:cNvSpPr/>
          <p:nvPr/>
        </p:nvSpPr>
        <p:spPr>
          <a:xfrm>
            <a:off x="2787815" y="403806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1745;p100"/>
          <p:cNvSpPr/>
          <p:nvPr/>
        </p:nvSpPr>
        <p:spPr>
          <a:xfrm>
            <a:off x="2522834" y="419704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746;p100"/>
          <p:cNvSpPr/>
          <p:nvPr/>
        </p:nvSpPr>
        <p:spPr>
          <a:xfrm>
            <a:off x="2078999" y="41904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747;p100"/>
          <p:cNvSpPr/>
          <p:nvPr/>
        </p:nvSpPr>
        <p:spPr>
          <a:xfrm>
            <a:off x="1847135" y="398507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1748;p100"/>
          <p:cNvSpPr/>
          <p:nvPr/>
        </p:nvSpPr>
        <p:spPr>
          <a:xfrm>
            <a:off x="1681528" y="366048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1749;p100"/>
          <p:cNvSpPr/>
          <p:nvPr/>
        </p:nvSpPr>
        <p:spPr>
          <a:xfrm>
            <a:off x="1761032" y="338226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1750;p100"/>
          <p:cNvSpPr/>
          <p:nvPr/>
        </p:nvSpPr>
        <p:spPr>
          <a:xfrm>
            <a:off x="2854047" y="321003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1751;p100"/>
          <p:cNvSpPr/>
          <p:nvPr/>
        </p:nvSpPr>
        <p:spPr>
          <a:xfrm>
            <a:off x="2999759" y="39983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1752;p100"/>
          <p:cNvSpPr/>
          <p:nvPr/>
        </p:nvSpPr>
        <p:spPr>
          <a:xfrm>
            <a:off x="2237983" y="442891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1753;p100"/>
          <p:cNvSpPr/>
          <p:nvPr/>
        </p:nvSpPr>
        <p:spPr>
          <a:xfrm>
            <a:off x="2979914" y="37267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1754;p100"/>
          <p:cNvSpPr/>
          <p:nvPr/>
        </p:nvSpPr>
        <p:spPr>
          <a:xfrm>
            <a:off x="2761297" y="440904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1755;p100"/>
          <p:cNvSpPr txBox="1"/>
          <p:nvPr/>
        </p:nvSpPr>
        <p:spPr>
          <a:xfrm>
            <a:off x="879464" y="3717850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1756;p100"/>
          <p:cNvSpPr txBox="1"/>
          <p:nvPr/>
        </p:nvSpPr>
        <p:spPr>
          <a:xfrm>
            <a:off x="2377047" y="2365081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929;p77"/>
          <p:cNvSpPr txBox="1"/>
          <p:nvPr/>
        </p:nvSpPr>
        <p:spPr>
          <a:xfrm>
            <a:off x="1427768" y="1837777"/>
            <a:ext cx="1872115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原始空间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7295" y="2574347"/>
            <a:ext cx="1829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= (x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y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1/2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tan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(y/x)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054033" y="3706838"/>
            <a:ext cx="1390409" cy="0"/>
          </a:xfrm>
          <a:prstGeom prst="straightConnector1">
            <a:avLst/>
          </a:prstGeom>
          <a:ln w="889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929;p77"/>
          <p:cNvSpPr txBox="1"/>
          <p:nvPr/>
        </p:nvSpPr>
        <p:spPr>
          <a:xfrm>
            <a:off x="4028317" y="3726721"/>
            <a:ext cx="1327829" cy="81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特征变换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1748;p100"/>
          <p:cNvSpPr/>
          <p:nvPr/>
        </p:nvSpPr>
        <p:spPr>
          <a:xfrm>
            <a:off x="14735277" y="43601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121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一种解决方案</a:t>
            </a:r>
            <a:r>
              <a:rPr lang="en-US" altLang="zh-CN" dirty="0"/>
              <a:t>: </a:t>
            </a:r>
            <a:r>
              <a:rPr lang="zh-CN" altLang="en-US" b="1" dirty="0"/>
              <a:t>特征变换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1731;p100"/>
          <p:cNvCxnSpPr/>
          <p:nvPr/>
        </p:nvCxnSpPr>
        <p:spPr>
          <a:xfrm>
            <a:off x="2363825" y="2435056"/>
            <a:ext cx="0" cy="259385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1732;p100"/>
          <p:cNvCxnSpPr/>
          <p:nvPr/>
        </p:nvCxnSpPr>
        <p:spPr>
          <a:xfrm flipH="1">
            <a:off x="965790" y="3706838"/>
            <a:ext cx="282251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733;p100"/>
          <p:cNvSpPr/>
          <p:nvPr/>
        </p:nvSpPr>
        <p:spPr>
          <a:xfrm>
            <a:off x="2091022" y="33643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1734;p100"/>
          <p:cNvSpPr/>
          <p:nvPr/>
        </p:nvSpPr>
        <p:spPr>
          <a:xfrm>
            <a:off x="2430083" y="337563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735;p100"/>
          <p:cNvSpPr/>
          <p:nvPr/>
        </p:nvSpPr>
        <p:spPr>
          <a:xfrm>
            <a:off x="2204816" y="383271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1736;p100"/>
          <p:cNvSpPr/>
          <p:nvPr/>
        </p:nvSpPr>
        <p:spPr>
          <a:xfrm>
            <a:off x="2443280" y="389235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1737;p100"/>
          <p:cNvSpPr/>
          <p:nvPr/>
        </p:nvSpPr>
        <p:spPr>
          <a:xfrm>
            <a:off x="2423459" y="36406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1738;p100"/>
          <p:cNvSpPr/>
          <p:nvPr/>
        </p:nvSpPr>
        <p:spPr>
          <a:xfrm>
            <a:off x="2065753" y="361243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1739;p100"/>
          <p:cNvSpPr/>
          <p:nvPr/>
        </p:nvSpPr>
        <p:spPr>
          <a:xfrm>
            <a:off x="2273396" y="346838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1740;p100"/>
          <p:cNvSpPr/>
          <p:nvPr/>
        </p:nvSpPr>
        <p:spPr>
          <a:xfrm>
            <a:off x="1880276" y="3084163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741;p100"/>
          <p:cNvSpPr/>
          <p:nvPr/>
        </p:nvSpPr>
        <p:spPr>
          <a:xfrm>
            <a:off x="2118739" y="2905309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742;p100"/>
          <p:cNvSpPr/>
          <p:nvPr/>
        </p:nvSpPr>
        <p:spPr>
          <a:xfrm>
            <a:off x="2608961" y="300465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743;p100"/>
          <p:cNvSpPr/>
          <p:nvPr/>
        </p:nvSpPr>
        <p:spPr>
          <a:xfrm>
            <a:off x="2860671" y="350812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744;p100"/>
          <p:cNvSpPr/>
          <p:nvPr/>
        </p:nvSpPr>
        <p:spPr>
          <a:xfrm>
            <a:off x="2787815" y="403806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1745;p100"/>
          <p:cNvSpPr/>
          <p:nvPr/>
        </p:nvSpPr>
        <p:spPr>
          <a:xfrm>
            <a:off x="2522834" y="419704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746;p100"/>
          <p:cNvSpPr/>
          <p:nvPr/>
        </p:nvSpPr>
        <p:spPr>
          <a:xfrm>
            <a:off x="2078999" y="41904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747;p100"/>
          <p:cNvSpPr/>
          <p:nvPr/>
        </p:nvSpPr>
        <p:spPr>
          <a:xfrm>
            <a:off x="1847135" y="398507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1748;p100"/>
          <p:cNvSpPr/>
          <p:nvPr/>
        </p:nvSpPr>
        <p:spPr>
          <a:xfrm>
            <a:off x="1681528" y="366048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1749;p100"/>
          <p:cNvSpPr/>
          <p:nvPr/>
        </p:nvSpPr>
        <p:spPr>
          <a:xfrm>
            <a:off x="1761032" y="338226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1750;p100"/>
          <p:cNvSpPr/>
          <p:nvPr/>
        </p:nvSpPr>
        <p:spPr>
          <a:xfrm>
            <a:off x="2854047" y="321003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1751;p100"/>
          <p:cNvSpPr/>
          <p:nvPr/>
        </p:nvSpPr>
        <p:spPr>
          <a:xfrm>
            <a:off x="2999759" y="39983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1752;p100"/>
          <p:cNvSpPr/>
          <p:nvPr/>
        </p:nvSpPr>
        <p:spPr>
          <a:xfrm>
            <a:off x="2237983" y="442891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1753;p100"/>
          <p:cNvSpPr/>
          <p:nvPr/>
        </p:nvSpPr>
        <p:spPr>
          <a:xfrm>
            <a:off x="2979914" y="37267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1754;p100"/>
          <p:cNvSpPr/>
          <p:nvPr/>
        </p:nvSpPr>
        <p:spPr>
          <a:xfrm>
            <a:off x="2761297" y="440904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1755;p100"/>
          <p:cNvSpPr txBox="1"/>
          <p:nvPr/>
        </p:nvSpPr>
        <p:spPr>
          <a:xfrm>
            <a:off x="879464" y="3717850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1756;p100"/>
          <p:cNvSpPr txBox="1"/>
          <p:nvPr/>
        </p:nvSpPr>
        <p:spPr>
          <a:xfrm>
            <a:off x="2377047" y="2365081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929;p77"/>
          <p:cNvSpPr txBox="1"/>
          <p:nvPr/>
        </p:nvSpPr>
        <p:spPr>
          <a:xfrm>
            <a:off x="1427768" y="1837777"/>
            <a:ext cx="1872115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原始空间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7295" y="2574347"/>
            <a:ext cx="1829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= (x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y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1/2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tan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(y/x)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054033" y="3706838"/>
            <a:ext cx="1390409" cy="0"/>
          </a:xfrm>
          <a:prstGeom prst="straightConnector1">
            <a:avLst/>
          </a:prstGeom>
          <a:ln w="889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oogle Shape;1731;p100"/>
          <p:cNvCxnSpPr/>
          <p:nvPr/>
        </p:nvCxnSpPr>
        <p:spPr>
          <a:xfrm>
            <a:off x="7269847" y="2435056"/>
            <a:ext cx="0" cy="259385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1732;p100"/>
          <p:cNvCxnSpPr/>
          <p:nvPr/>
        </p:nvCxnSpPr>
        <p:spPr>
          <a:xfrm flipH="1">
            <a:off x="5871811" y="3706838"/>
            <a:ext cx="282251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Google Shape;929;p77"/>
          <p:cNvSpPr txBox="1"/>
          <p:nvPr/>
        </p:nvSpPr>
        <p:spPr>
          <a:xfrm>
            <a:off x="6333789" y="1837777"/>
            <a:ext cx="1872115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特征空间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929;p77"/>
          <p:cNvSpPr txBox="1"/>
          <p:nvPr/>
        </p:nvSpPr>
        <p:spPr>
          <a:xfrm>
            <a:off x="4028317" y="3726721"/>
            <a:ext cx="1327829" cy="81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特征变换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oogle Shape;1756;p100"/>
          <p:cNvSpPr txBox="1"/>
          <p:nvPr/>
        </p:nvSpPr>
        <p:spPr>
          <a:xfrm>
            <a:off x="5750619" y="3704253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1756;p100"/>
          <p:cNvSpPr txBox="1"/>
          <p:nvPr/>
        </p:nvSpPr>
        <p:spPr>
          <a:xfrm>
            <a:off x="6940355" y="2279375"/>
            <a:ext cx="318266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θ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Google Shape;1740;p100"/>
          <p:cNvSpPr/>
          <p:nvPr/>
        </p:nvSpPr>
        <p:spPr>
          <a:xfrm>
            <a:off x="8411987" y="332914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Google Shape;1741;p100"/>
          <p:cNvSpPr/>
          <p:nvPr/>
        </p:nvSpPr>
        <p:spPr>
          <a:xfrm>
            <a:off x="8323355" y="3078905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Google Shape;1748;p100"/>
          <p:cNvSpPr/>
          <p:nvPr/>
        </p:nvSpPr>
        <p:spPr>
          <a:xfrm>
            <a:off x="8239182" y="390916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Google Shape;1749;p100"/>
          <p:cNvSpPr/>
          <p:nvPr/>
        </p:nvSpPr>
        <p:spPr>
          <a:xfrm>
            <a:off x="8343407" y="369555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Google Shape;1746;p100"/>
          <p:cNvSpPr/>
          <p:nvPr/>
        </p:nvSpPr>
        <p:spPr>
          <a:xfrm>
            <a:off x="8241030" y="460000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1747;p100"/>
          <p:cNvSpPr/>
          <p:nvPr/>
        </p:nvSpPr>
        <p:spPr>
          <a:xfrm>
            <a:off x="8274827" y="427188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1752;p100"/>
          <p:cNvSpPr/>
          <p:nvPr/>
        </p:nvSpPr>
        <p:spPr>
          <a:xfrm>
            <a:off x="8337331" y="486652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1748;p100"/>
          <p:cNvSpPr/>
          <p:nvPr/>
        </p:nvSpPr>
        <p:spPr>
          <a:xfrm>
            <a:off x="14735277" y="43601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Google Shape;1742;p100"/>
          <p:cNvSpPr/>
          <p:nvPr/>
        </p:nvSpPr>
        <p:spPr>
          <a:xfrm>
            <a:off x="8436659" y="251125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1743;p100"/>
          <p:cNvSpPr/>
          <p:nvPr/>
        </p:nvSpPr>
        <p:spPr>
          <a:xfrm>
            <a:off x="8299499" y="266934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Google Shape;1744;p100"/>
          <p:cNvSpPr/>
          <p:nvPr/>
        </p:nvSpPr>
        <p:spPr>
          <a:xfrm>
            <a:off x="8419018" y="40835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Google Shape;1745;p100"/>
          <p:cNvSpPr/>
          <p:nvPr/>
        </p:nvSpPr>
        <p:spPr>
          <a:xfrm>
            <a:off x="8411987" y="4425165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1750;p100"/>
          <p:cNvSpPr/>
          <p:nvPr/>
        </p:nvSpPr>
        <p:spPr>
          <a:xfrm>
            <a:off x="8186195" y="232740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1751;p100"/>
          <p:cNvSpPr/>
          <p:nvPr/>
        </p:nvSpPr>
        <p:spPr>
          <a:xfrm>
            <a:off x="8186195" y="323135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1753;p100"/>
          <p:cNvSpPr/>
          <p:nvPr/>
        </p:nvSpPr>
        <p:spPr>
          <a:xfrm>
            <a:off x="8418742" y="2887939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Google Shape;1754;p100"/>
          <p:cNvSpPr/>
          <p:nvPr/>
        </p:nvSpPr>
        <p:spPr>
          <a:xfrm>
            <a:off x="8200124" y="3570261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Google Shape;1733;p100"/>
          <p:cNvSpPr/>
          <p:nvPr/>
        </p:nvSpPr>
        <p:spPr>
          <a:xfrm>
            <a:off x="7625231" y="327519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Google Shape;1734;p100"/>
          <p:cNvSpPr/>
          <p:nvPr/>
        </p:nvSpPr>
        <p:spPr>
          <a:xfrm>
            <a:off x="7616042" y="2331670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Google Shape;1735;p100"/>
          <p:cNvSpPr/>
          <p:nvPr/>
        </p:nvSpPr>
        <p:spPr>
          <a:xfrm>
            <a:off x="7538120" y="407300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Google Shape;1736;p100"/>
          <p:cNvSpPr/>
          <p:nvPr/>
        </p:nvSpPr>
        <p:spPr>
          <a:xfrm>
            <a:off x="7531757" y="481366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Google Shape;1737;p100"/>
          <p:cNvSpPr/>
          <p:nvPr/>
        </p:nvSpPr>
        <p:spPr>
          <a:xfrm>
            <a:off x="7628019" y="440904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Google Shape;1738;p100"/>
          <p:cNvSpPr/>
          <p:nvPr/>
        </p:nvSpPr>
        <p:spPr>
          <a:xfrm>
            <a:off x="7572959" y="3652814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Google Shape;1739;p100"/>
          <p:cNvSpPr/>
          <p:nvPr/>
        </p:nvSpPr>
        <p:spPr>
          <a:xfrm>
            <a:off x="7548996" y="285937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39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一种解决方案</a:t>
            </a:r>
            <a:r>
              <a:rPr lang="en-US" altLang="zh-CN" dirty="0"/>
              <a:t>: </a:t>
            </a:r>
            <a:r>
              <a:rPr lang="zh-CN" altLang="en-US" b="1" dirty="0"/>
              <a:t>特征变换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1731;p100"/>
          <p:cNvCxnSpPr/>
          <p:nvPr/>
        </p:nvCxnSpPr>
        <p:spPr>
          <a:xfrm>
            <a:off x="2363825" y="2435056"/>
            <a:ext cx="0" cy="259385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1732;p100"/>
          <p:cNvCxnSpPr/>
          <p:nvPr/>
        </p:nvCxnSpPr>
        <p:spPr>
          <a:xfrm flipH="1">
            <a:off x="965790" y="3706838"/>
            <a:ext cx="282251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733;p100"/>
          <p:cNvSpPr/>
          <p:nvPr/>
        </p:nvSpPr>
        <p:spPr>
          <a:xfrm>
            <a:off x="2091022" y="33643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1734;p100"/>
          <p:cNvSpPr/>
          <p:nvPr/>
        </p:nvSpPr>
        <p:spPr>
          <a:xfrm>
            <a:off x="2430083" y="337563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735;p100"/>
          <p:cNvSpPr/>
          <p:nvPr/>
        </p:nvSpPr>
        <p:spPr>
          <a:xfrm>
            <a:off x="2204816" y="383271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1736;p100"/>
          <p:cNvSpPr/>
          <p:nvPr/>
        </p:nvSpPr>
        <p:spPr>
          <a:xfrm>
            <a:off x="2443280" y="389235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1737;p100"/>
          <p:cNvSpPr/>
          <p:nvPr/>
        </p:nvSpPr>
        <p:spPr>
          <a:xfrm>
            <a:off x="2423459" y="36406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1738;p100"/>
          <p:cNvSpPr/>
          <p:nvPr/>
        </p:nvSpPr>
        <p:spPr>
          <a:xfrm>
            <a:off x="2065753" y="361243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1739;p100"/>
          <p:cNvSpPr/>
          <p:nvPr/>
        </p:nvSpPr>
        <p:spPr>
          <a:xfrm>
            <a:off x="2273396" y="346838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1740;p100"/>
          <p:cNvSpPr/>
          <p:nvPr/>
        </p:nvSpPr>
        <p:spPr>
          <a:xfrm>
            <a:off x="1880276" y="3084163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741;p100"/>
          <p:cNvSpPr/>
          <p:nvPr/>
        </p:nvSpPr>
        <p:spPr>
          <a:xfrm>
            <a:off x="2118739" y="2905309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742;p100"/>
          <p:cNvSpPr/>
          <p:nvPr/>
        </p:nvSpPr>
        <p:spPr>
          <a:xfrm>
            <a:off x="2608961" y="300465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743;p100"/>
          <p:cNvSpPr/>
          <p:nvPr/>
        </p:nvSpPr>
        <p:spPr>
          <a:xfrm>
            <a:off x="2860671" y="350812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744;p100"/>
          <p:cNvSpPr/>
          <p:nvPr/>
        </p:nvSpPr>
        <p:spPr>
          <a:xfrm>
            <a:off x="2787815" y="403806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1745;p100"/>
          <p:cNvSpPr/>
          <p:nvPr/>
        </p:nvSpPr>
        <p:spPr>
          <a:xfrm>
            <a:off x="2522834" y="419704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746;p100"/>
          <p:cNvSpPr/>
          <p:nvPr/>
        </p:nvSpPr>
        <p:spPr>
          <a:xfrm>
            <a:off x="2078999" y="41904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747;p100"/>
          <p:cNvSpPr/>
          <p:nvPr/>
        </p:nvSpPr>
        <p:spPr>
          <a:xfrm>
            <a:off x="1847135" y="398507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1748;p100"/>
          <p:cNvSpPr/>
          <p:nvPr/>
        </p:nvSpPr>
        <p:spPr>
          <a:xfrm>
            <a:off x="1681528" y="366048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1749;p100"/>
          <p:cNvSpPr/>
          <p:nvPr/>
        </p:nvSpPr>
        <p:spPr>
          <a:xfrm>
            <a:off x="1761032" y="338226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1750;p100"/>
          <p:cNvSpPr/>
          <p:nvPr/>
        </p:nvSpPr>
        <p:spPr>
          <a:xfrm>
            <a:off x="2854047" y="321003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1751;p100"/>
          <p:cNvSpPr/>
          <p:nvPr/>
        </p:nvSpPr>
        <p:spPr>
          <a:xfrm>
            <a:off x="2999759" y="39983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1752;p100"/>
          <p:cNvSpPr/>
          <p:nvPr/>
        </p:nvSpPr>
        <p:spPr>
          <a:xfrm>
            <a:off x="2237983" y="442891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1753;p100"/>
          <p:cNvSpPr/>
          <p:nvPr/>
        </p:nvSpPr>
        <p:spPr>
          <a:xfrm>
            <a:off x="2979914" y="37267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1754;p100"/>
          <p:cNvSpPr/>
          <p:nvPr/>
        </p:nvSpPr>
        <p:spPr>
          <a:xfrm>
            <a:off x="2761297" y="440904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1755;p100"/>
          <p:cNvSpPr txBox="1"/>
          <p:nvPr/>
        </p:nvSpPr>
        <p:spPr>
          <a:xfrm>
            <a:off x="879464" y="3717850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1756;p100"/>
          <p:cNvSpPr txBox="1"/>
          <p:nvPr/>
        </p:nvSpPr>
        <p:spPr>
          <a:xfrm>
            <a:off x="2377047" y="2365081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929;p77"/>
          <p:cNvSpPr txBox="1"/>
          <p:nvPr/>
        </p:nvSpPr>
        <p:spPr>
          <a:xfrm>
            <a:off x="1427768" y="1837777"/>
            <a:ext cx="1872115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原始空间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7295" y="2574347"/>
            <a:ext cx="1829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= (x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y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1/2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tan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(y/x)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054033" y="3706838"/>
            <a:ext cx="1390409" cy="0"/>
          </a:xfrm>
          <a:prstGeom prst="straightConnector1">
            <a:avLst/>
          </a:prstGeom>
          <a:ln w="889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oogle Shape;1731;p100"/>
          <p:cNvCxnSpPr/>
          <p:nvPr/>
        </p:nvCxnSpPr>
        <p:spPr>
          <a:xfrm>
            <a:off x="7269847" y="2435056"/>
            <a:ext cx="0" cy="259385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1732;p100"/>
          <p:cNvCxnSpPr/>
          <p:nvPr/>
        </p:nvCxnSpPr>
        <p:spPr>
          <a:xfrm flipH="1">
            <a:off x="5871811" y="3706838"/>
            <a:ext cx="282251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Google Shape;929;p77"/>
          <p:cNvSpPr txBox="1"/>
          <p:nvPr/>
        </p:nvSpPr>
        <p:spPr>
          <a:xfrm>
            <a:off x="6333789" y="1837777"/>
            <a:ext cx="1872115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特征空间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929;p77"/>
          <p:cNvSpPr txBox="1"/>
          <p:nvPr/>
        </p:nvSpPr>
        <p:spPr>
          <a:xfrm>
            <a:off x="4028317" y="3726721"/>
            <a:ext cx="1327829" cy="81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特征变换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oogle Shape;1756;p100"/>
          <p:cNvSpPr txBox="1"/>
          <p:nvPr/>
        </p:nvSpPr>
        <p:spPr>
          <a:xfrm>
            <a:off x="5750619" y="3704253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1756;p100"/>
          <p:cNvSpPr txBox="1"/>
          <p:nvPr/>
        </p:nvSpPr>
        <p:spPr>
          <a:xfrm>
            <a:off x="6940355" y="2279375"/>
            <a:ext cx="318266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θ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Google Shape;1740;p100"/>
          <p:cNvSpPr/>
          <p:nvPr/>
        </p:nvSpPr>
        <p:spPr>
          <a:xfrm>
            <a:off x="8411987" y="332914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Google Shape;1741;p100"/>
          <p:cNvSpPr/>
          <p:nvPr/>
        </p:nvSpPr>
        <p:spPr>
          <a:xfrm>
            <a:off x="8323355" y="3078905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Google Shape;1748;p100"/>
          <p:cNvSpPr/>
          <p:nvPr/>
        </p:nvSpPr>
        <p:spPr>
          <a:xfrm>
            <a:off x="8239182" y="390916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Google Shape;1749;p100"/>
          <p:cNvSpPr/>
          <p:nvPr/>
        </p:nvSpPr>
        <p:spPr>
          <a:xfrm>
            <a:off x="8343407" y="369555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Google Shape;1746;p100"/>
          <p:cNvSpPr/>
          <p:nvPr/>
        </p:nvSpPr>
        <p:spPr>
          <a:xfrm>
            <a:off x="8241030" y="460000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1747;p100"/>
          <p:cNvSpPr/>
          <p:nvPr/>
        </p:nvSpPr>
        <p:spPr>
          <a:xfrm>
            <a:off x="8274827" y="427188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1752;p100"/>
          <p:cNvSpPr/>
          <p:nvPr/>
        </p:nvSpPr>
        <p:spPr>
          <a:xfrm>
            <a:off x="8337331" y="486652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1748;p100"/>
          <p:cNvSpPr/>
          <p:nvPr/>
        </p:nvSpPr>
        <p:spPr>
          <a:xfrm>
            <a:off x="14735277" y="43601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Google Shape;1742;p100"/>
          <p:cNvSpPr/>
          <p:nvPr/>
        </p:nvSpPr>
        <p:spPr>
          <a:xfrm>
            <a:off x="8436659" y="251125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1743;p100"/>
          <p:cNvSpPr/>
          <p:nvPr/>
        </p:nvSpPr>
        <p:spPr>
          <a:xfrm>
            <a:off x="8299499" y="266934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Google Shape;1744;p100"/>
          <p:cNvSpPr/>
          <p:nvPr/>
        </p:nvSpPr>
        <p:spPr>
          <a:xfrm>
            <a:off x="8419018" y="40835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Google Shape;1745;p100"/>
          <p:cNvSpPr/>
          <p:nvPr/>
        </p:nvSpPr>
        <p:spPr>
          <a:xfrm>
            <a:off x="8411987" y="4425165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1750;p100"/>
          <p:cNvSpPr/>
          <p:nvPr/>
        </p:nvSpPr>
        <p:spPr>
          <a:xfrm>
            <a:off x="8186195" y="232740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1751;p100"/>
          <p:cNvSpPr/>
          <p:nvPr/>
        </p:nvSpPr>
        <p:spPr>
          <a:xfrm>
            <a:off x="8186195" y="323135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1753;p100"/>
          <p:cNvSpPr/>
          <p:nvPr/>
        </p:nvSpPr>
        <p:spPr>
          <a:xfrm>
            <a:off x="8418742" y="2887939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Google Shape;1754;p100"/>
          <p:cNvSpPr/>
          <p:nvPr/>
        </p:nvSpPr>
        <p:spPr>
          <a:xfrm>
            <a:off x="8200124" y="3570261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Google Shape;1733;p100"/>
          <p:cNvSpPr/>
          <p:nvPr/>
        </p:nvSpPr>
        <p:spPr>
          <a:xfrm>
            <a:off x="7625231" y="327519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Google Shape;1734;p100"/>
          <p:cNvSpPr/>
          <p:nvPr/>
        </p:nvSpPr>
        <p:spPr>
          <a:xfrm>
            <a:off x="7616042" y="2331670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Google Shape;1735;p100"/>
          <p:cNvSpPr/>
          <p:nvPr/>
        </p:nvSpPr>
        <p:spPr>
          <a:xfrm>
            <a:off x="7538120" y="407300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Google Shape;1736;p100"/>
          <p:cNvSpPr/>
          <p:nvPr/>
        </p:nvSpPr>
        <p:spPr>
          <a:xfrm>
            <a:off x="7531757" y="481366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Google Shape;1737;p100"/>
          <p:cNvSpPr/>
          <p:nvPr/>
        </p:nvSpPr>
        <p:spPr>
          <a:xfrm>
            <a:off x="7628019" y="440904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Google Shape;1738;p100"/>
          <p:cNvSpPr/>
          <p:nvPr/>
        </p:nvSpPr>
        <p:spPr>
          <a:xfrm>
            <a:off x="7572959" y="3652814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Google Shape;1739;p100"/>
          <p:cNvSpPr/>
          <p:nvPr/>
        </p:nvSpPr>
        <p:spPr>
          <a:xfrm>
            <a:off x="7548996" y="285937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0" name="Straight Connector 69"/>
          <p:cNvCxnSpPr/>
          <p:nvPr/>
        </p:nvCxnSpPr>
        <p:spPr>
          <a:xfrm flipH="1">
            <a:off x="7977929" y="2298068"/>
            <a:ext cx="3284" cy="28678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447606" y="5026348"/>
            <a:ext cx="14239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特征空间中的线性分类器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47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一种解决方案</a:t>
            </a:r>
            <a:r>
              <a:rPr lang="en-US" altLang="zh-CN" dirty="0"/>
              <a:t>: </a:t>
            </a:r>
            <a:r>
              <a:rPr lang="zh-CN" altLang="en-US" b="1" dirty="0"/>
              <a:t>特征变换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1731;p100"/>
          <p:cNvCxnSpPr/>
          <p:nvPr/>
        </p:nvCxnSpPr>
        <p:spPr>
          <a:xfrm>
            <a:off x="2363825" y="2435056"/>
            <a:ext cx="0" cy="259385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1732;p100"/>
          <p:cNvCxnSpPr/>
          <p:nvPr/>
        </p:nvCxnSpPr>
        <p:spPr>
          <a:xfrm flipH="1">
            <a:off x="965790" y="3706838"/>
            <a:ext cx="282251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733;p100"/>
          <p:cNvSpPr/>
          <p:nvPr/>
        </p:nvSpPr>
        <p:spPr>
          <a:xfrm>
            <a:off x="2091022" y="33643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1734;p100"/>
          <p:cNvSpPr/>
          <p:nvPr/>
        </p:nvSpPr>
        <p:spPr>
          <a:xfrm>
            <a:off x="2430083" y="337563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735;p100"/>
          <p:cNvSpPr/>
          <p:nvPr/>
        </p:nvSpPr>
        <p:spPr>
          <a:xfrm>
            <a:off x="2204816" y="383271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1736;p100"/>
          <p:cNvSpPr/>
          <p:nvPr/>
        </p:nvSpPr>
        <p:spPr>
          <a:xfrm>
            <a:off x="2443280" y="389235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1737;p100"/>
          <p:cNvSpPr/>
          <p:nvPr/>
        </p:nvSpPr>
        <p:spPr>
          <a:xfrm>
            <a:off x="2423459" y="364064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1738;p100"/>
          <p:cNvSpPr/>
          <p:nvPr/>
        </p:nvSpPr>
        <p:spPr>
          <a:xfrm>
            <a:off x="2065753" y="361243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1739;p100"/>
          <p:cNvSpPr/>
          <p:nvPr/>
        </p:nvSpPr>
        <p:spPr>
          <a:xfrm>
            <a:off x="2273396" y="346838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1740;p100"/>
          <p:cNvSpPr/>
          <p:nvPr/>
        </p:nvSpPr>
        <p:spPr>
          <a:xfrm>
            <a:off x="1880276" y="3084163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741;p100"/>
          <p:cNvSpPr/>
          <p:nvPr/>
        </p:nvSpPr>
        <p:spPr>
          <a:xfrm>
            <a:off x="2118739" y="2905309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742;p100"/>
          <p:cNvSpPr/>
          <p:nvPr/>
        </p:nvSpPr>
        <p:spPr>
          <a:xfrm>
            <a:off x="2608961" y="300465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743;p100"/>
          <p:cNvSpPr/>
          <p:nvPr/>
        </p:nvSpPr>
        <p:spPr>
          <a:xfrm>
            <a:off x="2860671" y="350812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744;p100"/>
          <p:cNvSpPr/>
          <p:nvPr/>
        </p:nvSpPr>
        <p:spPr>
          <a:xfrm>
            <a:off x="2787815" y="403806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1745;p100"/>
          <p:cNvSpPr/>
          <p:nvPr/>
        </p:nvSpPr>
        <p:spPr>
          <a:xfrm>
            <a:off x="2522834" y="419704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746;p100"/>
          <p:cNvSpPr/>
          <p:nvPr/>
        </p:nvSpPr>
        <p:spPr>
          <a:xfrm>
            <a:off x="2078999" y="41904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747;p100"/>
          <p:cNvSpPr/>
          <p:nvPr/>
        </p:nvSpPr>
        <p:spPr>
          <a:xfrm>
            <a:off x="1847135" y="398507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1748;p100"/>
          <p:cNvSpPr/>
          <p:nvPr/>
        </p:nvSpPr>
        <p:spPr>
          <a:xfrm>
            <a:off x="1681528" y="3660488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1749;p100"/>
          <p:cNvSpPr/>
          <p:nvPr/>
        </p:nvSpPr>
        <p:spPr>
          <a:xfrm>
            <a:off x="1761032" y="338226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1750;p100"/>
          <p:cNvSpPr/>
          <p:nvPr/>
        </p:nvSpPr>
        <p:spPr>
          <a:xfrm>
            <a:off x="2854047" y="321003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1751;p100"/>
          <p:cNvSpPr/>
          <p:nvPr/>
        </p:nvSpPr>
        <p:spPr>
          <a:xfrm>
            <a:off x="2999759" y="39983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1752;p100"/>
          <p:cNvSpPr/>
          <p:nvPr/>
        </p:nvSpPr>
        <p:spPr>
          <a:xfrm>
            <a:off x="2237983" y="442891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1753;p100"/>
          <p:cNvSpPr/>
          <p:nvPr/>
        </p:nvSpPr>
        <p:spPr>
          <a:xfrm>
            <a:off x="2979914" y="37267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1754;p100"/>
          <p:cNvSpPr/>
          <p:nvPr/>
        </p:nvSpPr>
        <p:spPr>
          <a:xfrm>
            <a:off x="2761297" y="440904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1755;p100"/>
          <p:cNvSpPr txBox="1"/>
          <p:nvPr/>
        </p:nvSpPr>
        <p:spPr>
          <a:xfrm>
            <a:off x="879464" y="3717850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1756;p100"/>
          <p:cNvSpPr txBox="1"/>
          <p:nvPr/>
        </p:nvSpPr>
        <p:spPr>
          <a:xfrm>
            <a:off x="2377047" y="2365081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929;p77"/>
          <p:cNvSpPr txBox="1"/>
          <p:nvPr/>
        </p:nvSpPr>
        <p:spPr>
          <a:xfrm>
            <a:off x="1427768" y="1837777"/>
            <a:ext cx="1872115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原始空间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7295" y="2574347"/>
            <a:ext cx="1829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= (x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y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1/2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tan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(y/x)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054033" y="3706838"/>
            <a:ext cx="1390409" cy="0"/>
          </a:xfrm>
          <a:prstGeom prst="straightConnector1">
            <a:avLst/>
          </a:prstGeom>
          <a:ln w="889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oogle Shape;1731;p100"/>
          <p:cNvCxnSpPr/>
          <p:nvPr/>
        </p:nvCxnSpPr>
        <p:spPr>
          <a:xfrm>
            <a:off x="7269847" y="2435056"/>
            <a:ext cx="0" cy="259385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1732;p100"/>
          <p:cNvCxnSpPr/>
          <p:nvPr/>
        </p:nvCxnSpPr>
        <p:spPr>
          <a:xfrm flipH="1">
            <a:off x="5871811" y="3706838"/>
            <a:ext cx="282251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Google Shape;929;p77"/>
          <p:cNvSpPr txBox="1"/>
          <p:nvPr/>
        </p:nvSpPr>
        <p:spPr>
          <a:xfrm>
            <a:off x="6333789" y="1837777"/>
            <a:ext cx="1872115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特征空间</a:t>
            </a:r>
          </a:p>
        </p:txBody>
      </p:sp>
      <p:sp>
        <p:nvSpPr>
          <p:cNvPr id="44" name="Google Shape;929;p77"/>
          <p:cNvSpPr txBox="1"/>
          <p:nvPr/>
        </p:nvSpPr>
        <p:spPr>
          <a:xfrm>
            <a:off x="4028317" y="3726721"/>
            <a:ext cx="1327829" cy="81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特征变换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oogle Shape;1756;p100"/>
          <p:cNvSpPr txBox="1"/>
          <p:nvPr/>
        </p:nvSpPr>
        <p:spPr>
          <a:xfrm>
            <a:off x="5750619" y="3704253"/>
            <a:ext cx="261532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1756;p100"/>
          <p:cNvSpPr txBox="1"/>
          <p:nvPr/>
        </p:nvSpPr>
        <p:spPr>
          <a:xfrm>
            <a:off x="6940355" y="2279375"/>
            <a:ext cx="318266" cy="27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θ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Google Shape;1740;p100"/>
          <p:cNvSpPr/>
          <p:nvPr/>
        </p:nvSpPr>
        <p:spPr>
          <a:xfrm>
            <a:off x="8411987" y="332914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Google Shape;1741;p100"/>
          <p:cNvSpPr/>
          <p:nvPr/>
        </p:nvSpPr>
        <p:spPr>
          <a:xfrm>
            <a:off x="8323355" y="3078905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Google Shape;1748;p100"/>
          <p:cNvSpPr/>
          <p:nvPr/>
        </p:nvSpPr>
        <p:spPr>
          <a:xfrm>
            <a:off x="8239182" y="390916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Google Shape;1749;p100"/>
          <p:cNvSpPr/>
          <p:nvPr/>
        </p:nvSpPr>
        <p:spPr>
          <a:xfrm>
            <a:off x="8343407" y="369555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Google Shape;1746;p100"/>
          <p:cNvSpPr/>
          <p:nvPr/>
        </p:nvSpPr>
        <p:spPr>
          <a:xfrm>
            <a:off x="8241030" y="460000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1747;p100"/>
          <p:cNvSpPr/>
          <p:nvPr/>
        </p:nvSpPr>
        <p:spPr>
          <a:xfrm>
            <a:off x="8274827" y="4271882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1752;p100"/>
          <p:cNvSpPr/>
          <p:nvPr/>
        </p:nvSpPr>
        <p:spPr>
          <a:xfrm>
            <a:off x="8337331" y="486652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1748;p100"/>
          <p:cNvSpPr/>
          <p:nvPr/>
        </p:nvSpPr>
        <p:spPr>
          <a:xfrm>
            <a:off x="14735277" y="4360120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Google Shape;1742;p100"/>
          <p:cNvSpPr/>
          <p:nvPr/>
        </p:nvSpPr>
        <p:spPr>
          <a:xfrm>
            <a:off x="8436659" y="251125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1743;p100"/>
          <p:cNvSpPr/>
          <p:nvPr/>
        </p:nvSpPr>
        <p:spPr>
          <a:xfrm>
            <a:off x="8299499" y="266934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Google Shape;1744;p100"/>
          <p:cNvSpPr/>
          <p:nvPr/>
        </p:nvSpPr>
        <p:spPr>
          <a:xfrm>
            <a:off x="8419018" y="4083524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Google Shape;1745;p100"/>
          <p:cNvSpPr/>
          <p:nvPr/>
        </p:nvSpPr>
        <p:spPr>
          <a:xfrm>
            <a:off x="8411987" y="4425165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1750;p100"/>
          <p:cNvSpPr/>
          <p:nvPr/>
        </p:nvSpPr>
        <p:spPr>
          <a:xfrm>
            <a:off x="8186195" y="2327407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1751;p100"/>
          <p:cNvSpPr/>
          <p:nvPr/>
        </p:nvSpPr>
        <p:spPr>
          <a:xfrm>
            <a:off x="8186195" y="3231356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1753;p100"/>
          <p:cNvSpPr/>
          <p:nvPr/>
        </p:nvSpPr>
        <p:spPr>
          <a:xfrm>
            <a:off x="8418742" y="2887939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Google Shape;1754;p100"/>
          <p:cNvSpPr/>
          <p:nvPr/>
        </p:nvSpPr>
        <p:spPr>
          <a:xfrm>
            <a:off x="8200124" y="3570261"/>
            <a:ext cx="137160" cy="13716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Google Shape;1733;p100"/>
          <p:cNvSpPr/>
          <p:nvPr/>
        </p:nvSpPr>
        <p:spPr>
          <a:xfrm>
            <a:off x="7625231" y="3275198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Google Shape;1734;p100"/>
          <p:cNvSpPr/>
          <p:nvPr/>
        </p:nvSpPr>
        <p:spPr>
          <a:xfrm>
            <a:off x="7616042" y="2331670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Google Shape;1735;p100"/>
          <p:cNvSpPr/>
          <p:nvPr/>
        </p:nvSpPr>
        <p:spPr>
          <a:xfrm>
            <a:off x="7538120" y="4073003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Google Shape;1736;p100"/>
          <p:cNvSpPr/>
          <p:nvPr/>
        </p:nvSpPr>
        <p:spPr>
          <a:xfrm>
            <a:off x="7531757" y="481366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Google Shape;1737;p100"/>
          <p:cNvSpPr/>
          <p:nvPr/>
        </p:nvSpPr>
        <p:spPr>
          <a:xfrm>
            <a:off x="7628019" y="4409042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Google Shape;1738;p100"/>
          <p:cNvSpPr/>
          <p:nvPr/>
        </p:nvSpPr>
        <p:spPr>
          <a:xfrm>
            <a:off x="7572959" y="3652814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Google Shape;1739;p100"/>
          <p:cNvSpPr/>
          <p:nvPr/>
        </p:nvSpPr>
        <p:spPr>
          <a:xfrm>
            <a:off x="7548996" y="2859377"/>
            <a:ext cx="137160" cy="13716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0" name="Straight Connector 69"/>
          <p:cNvCxnSpPr/>
          <p:nvPr/>
        </p:nvCxnSpPr>
        <p:spPr>
          <a:xfrm flipH="1">
            <a:off x="7977929" y="2298068"/>
            <a:ext cx="3284" cy="28678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924409" y="3205558"/>
            <a:ext cx="847796" cy="926675"/>
          </a:xfrm>
          <a:prstGeom prst="ellipse">
            <a:avLst/>
          </a:prstGeom>
          <a:noFill/>
          <a:ln w="38100"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47606" y="5026348"/>
            <a:ext cx="14239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特征空间中的线性分类器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536698" y="5027173"/>
            <a:ext cx="16232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原始空间的非线性分类器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3993266" y="5244020"/>
            <a:ext cx="1390409" cy="0"/>
          </a:xfrm>
          <a:prstGeom prst="straightConnector1">
            <a:avLst/>
          </a:prstGeom>
          <a:ln w="889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32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图像特征</a:t>
            </a:r>
            <a:r>
              <a:rPr lang="en-US" dirty="0"/>
              <a:t>: </a:t>
            </a:r>
            <a:r>
              <a:rPr lang="zh-CN" altLang="en-US" dirty="0"/>
              <a:t>彩色直方图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826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83573" y="2144283"/>
            <a:ext cx="4790477" cy="1814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1827;p102"/>
          <p:cNvCxnSpPr/>
          <p:nvPr/>
        </p:nvCxnSpPr>
        <p:spPr>
          <a:xfrm>
            <a:off x="3591982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828;p102"/>
          <p:cNvCxnSpPr/>
          <p:nvPr/>
        </p:nvCxnSpPr>
        <p:spPr>
          <a:xfrm>
            <a:off x="4070225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1829;p102"/>
          <p:cNvCxnSpPr/>
          <p:nvPr/>
        </p:nvCxnSpPr>
        <p:spPr>
          <a:xfrm>
            <a:off x="4548470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1830;p102"/>
          <p:cNvCxnSpPr/>
          <p:nvPr/>
        </p:nvCxnSpPr>
        <p:spPr>
          <a:xfrm>
            <a:off x="5026713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1831;p102"/>
          <p:cNvCxnSpPr/>
          <p:nvPr/>
        </p:nvCxnSpPr>
        <p:spPr>
          <a:xfrm>
            <a:off x="5504957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1832;p102"/>
          <p:cNvCxnSpPr/>
          <p:nvPr/>
        </p:nvCxnSpPr>
        <p:spPr>
          <a:xfrm>
            <a:off x="5983201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833;p102"/>
          <p:cNvCxnSpPr/>
          <p:nvPr/>
        </p:nvCxnSpPr>
        <p:spPr>
          <a:xfrm>
            <a:off x="6461444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834;p102"/>
          <p:cNvCxnSpPr/>
          <p:nvPr/>
        </p:nvCxnSpPr>
        <p:spPr>
          <a:xfrm>
            <a:off x="6939689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35;p102"/>
          <p:cNvCxnSpPr/>
          <p:nvPr/>
        </p:nvCxnSpPr>
        <p:spPr>
          <a:xfrm>
            <a:off x="7417932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36;p102"/>
          <p:cNvCxnSpPr/>
          <p:nvPr/>
        </p:nvCxnSpPr>
        <p:spPr>
          <a:xfrm>
            <a:off x="7896176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37;p102"/>
          <p:cNvCxnSpPr/>
          <p:nvPr/>
        </p:nvCxnSpPr>
        <p:spPr>
          <a:xfrm>
            <a:off x="8374420" y="2061920"/>
            <a:ext cx="0" cy="197938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838;p102"/>
          <p:cNvCxnSpPr/>
          <p:nvPr/>
        </p:nvCxnSpPr>
        <p:spPr>
          <a:xfrm>
            <a:off x="3583486" y="5188865"/>
            <a:ext cx="480670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839;p102"/>
          <p:cNvSpPr/>
          <p:nvPr/>
        </p:nvSpPr>
        <p:spPr>
          <a:xfrm>
            <a:off x="3655080" y="5148026"/>
            <a:ext cx="359606" cy="4079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Google Shape;1840;p102"/>
          <p:cNvPicPr preferRelativeResize="0"/>
          <p:nvPr/>
        </p:nvPicPr>
        <p:blipFill rotWithShape="1">
          <a:blip r:embed="rId3">
            <a:alphaModFix/>
          </a:blip>
          <a:srcRect r="27262"/>
          <a:stretch/>
        </p:blipFill>
        <p:spPr>
          <a:xfrm>
            <a:off x="677527" y="2239883"/>
            <a:ext cx="1574512" cy="162347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841;p102"/>
          <p:cNvSpPr/>
          <p:nvPr/>
        </p:nvSpPr>
        <p:spPr>
          <a:xfrm>
            <a:off x="4138979" y="4909439"/>
            <a:ext cx="359606" cy="279527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842;p102"/>
          <p:cNvSpPr/>
          <p:nvPr/>
        </p:nvSpPr>
        <p:spPr>
          <a:xfrm>
            <a:off x="4604558" y="4844381"/>
            <a:ext cx="359606" cy="34461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843;p102"/>
          <p:cNvSpPr/>
          <p:nvPr/>
        </p:nvSpPr>
        <p:spPr>
          <a:xfrm>
            <a:off x="5086033" y="4687146"/>
            <a:ext cx="359606" cy="50177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844;p102"/>
          <p:cNvSpPr/>
          <p:nvPr/>
        </p:nvSpPr>
        <p:spPr>
          <a:xfrm>
            <a:off x="5563958" y="4226266"/>
            <a:ext cx="359606" cy="96275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1845;p102"/>
          <p:cNvSpPr/>
          <p:nvPr/>
        </p:nvSpPr>
        <p:spPr>
          <a:xfrm>
            <a:off x="6042533" y="4161208"/>
            <a:ext cx="359606" cy="1027832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846;p102"/>
          <p:cNvSpPr/>
          <p:nvPr/>
        </p:nvSpPr>
        <p:spPr>
          <a:xfrm>
            <a:off x="6520783" y="4470253"/>
            <a:ext cx="359606" cy="718613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847;p102"/>
          <p:cNvSpPr/>
          <p:nvPr/>
        </p:nvSpPr>
        <p:spPr>
          <a:xfrm>
            <a:off x="6999009" y="4616315"/>
            <a:ext cx="359606" cy="572551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1848;p102"/>
          <p:cNvSpPr/>
          <p:nvPr/>
        </p:nvSpPr>
        <p:spPr>
          <a:xfrm>
            <a:off x="7477259" y="4969097"/>
            <a:ext cx="359606" cy="219843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1849;p102"/>
          <p:cNvSpPr/>
          <p:nvPr/>
        </p:nvSpPr>
        <p:spPr>
          <a:xfrm>
            <a:off x="7955510" y="5148076"/>
            <a:ext cx="359606" cy="4079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Google Shape;1850;p102"/>
          <p:cNvCxnSpPr/>
          <p:nvPr/>
        </p:nvCxnSpPr>
        <p:spPr>
          <a:xfrm>
            <a:off x="1860535" y="2949774"/>
            <a:ext cx="3867493" cy="0"/>
          </a:xfrm>
          <a:prstGeom prst="straightConnector1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1851;p102"/>
          <p:cNvCxnSpPr/>
          <p:nvPr/>
        </p:nvCxnSpPr>
        <p:spPr>
          <a:xfrm>
            <a:off x="5717243" y="2962920"/>
            <a:ext cx="0" cy="1577889"/>
          </a:xfrm>
          <a:prstGeom prst="straightConnector1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1852;p102"/>
          <p:cNvSpPr txBox="1"/>
          <p:nvPr/>
        </p:nvSpPr>
        <p:spPr>
          <a:xfrm>
            <a:off x="5535340" y="4525439"/>
            <a:ext cx="447861" cy="364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3846" y="4375522"/>
            <a:ext cx="1701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忽略纹理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空域位置信息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144;p20"/>
          <p:cNvSpPr txBox="1"/>
          <p:nvPr/>
        </p:nvSpPr>
        <p:spPr>
          <a:xfrm>
            <a:off x="-26767" y="5402289"/>
            <a:ext cx="1310834" cy="21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Frog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image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in the public domain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460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图像特征</a:t>
            </a:r>
            <a:r>
              <a:rPr lang="en-US" dirty="0"/>
              <a:t>: </a:t>
            </a:r>
            <a:r>
              <a:rPr lang="zh-CN" altLang="en-US" dirty="0"/>
              <a:t>方向梯度直方图</a:t>
            </a:r>
            <a:r>
              <a:rPr lang="en-US" altLang="zh-CN" dirty="0"/>
              <a:t>( </a:t>
            </a:r>
            <a:r>
              <a:rPr lang="en-US" dirty="0"/>
              <a:t>Histogram of Oriented Gradients</a:t>
            </a:r>
            <a:r>
              <a:rPr lang="zh-CN" altLang="en-US" dirty="0"/>
              <a:t>，</a:t>
            </a:r>
            <a:r>
              <a:rPr lang="en-US" dirty="0" err="1"/>
              <a:t>HoG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859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483" y="1728645"/>
            <a:ext cx="3041134" cy="228133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865;p103"/>
          <p:cNvSpPr txBox="1"/>
          <p:nvPr/>
        </p:nvSpPr>
        <p:spPr>
          <a:xfrm>
            <a:off x="390672" y="4006536"/>
            <a:ext cx="3196754" cy="158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计算各像素点边缘方向</a:t>
            </a:r>
            <a:r>
              <a:rPr kumimoji="0" lang="en-US" altLang="zh-C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/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强度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将图像分为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8x8 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子区域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在每个区域计算边缘方向直方图，边缘强度作为权重</a:t>
            </a:r>
            <a:endParaRPr kumimoji="0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867;p103"/>
          <p:cNvSpPr txBox="1"/>
          <p:nvPr/>
        </p:nvSpPr>
        <p:spPr>
          <a:xfrm>
            <a:off x="5818489" y="5343407"/>
            <a:ext cx="3268496" cy="298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Lowe, “Object recognition from local scale-invariant features”, ICCV 1999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Dalal</a:t>
            </a:r>
            <a:r>
              <a:rPr kumimoji="0" lang="e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Triggs</a:t>
            </a:r>
            <a:r>
              <a:rPr kumimoji="0" lang="e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"Histograms of oriented gradients for human detection," CVPR 2005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8945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图像特征</a:t>
            </a:r>
            <a:r>
              <a:rPr lang="en-US" altLang="zh-CN" dirty="0"/>
              <a:t>: </a:t>
            </a:r>
            <a:r>
              <a:rPr lang="zh-CN" altLang="en-US" dirty="0"/>
              <a:t>方向梯度直方图</a:t>
            </a:r>
            <a:r>
              <a:rPr lang="en-US" altLang="zh-CN" dirty="0"/>
              <a:t>( Histogram of Oriented Gradients</a:t>
            </a:r>
            <a:r>
              <a:rPr lang="zh-CN" altLang="en-US" dirty="0"/>
              <a:t>，</a:t>
            </a:r>
            <a:r>
              <a:rPr lang="en-US" altLang="zh-CN" dirty="0" err="1"/>
              <a:t>HoG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859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483" y="1728645"/>
            <a:ext cx="3041134" cy="2281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60;p103"/>
          <p:cNvPicPr preferRelativeResize="0"/>
          <p:nvPr/>
        </p:nvPicPr>
        <p:blipFill rotWithShape="1">
          <a:blip r:embed="rId3">
            <a:alphaModFix/>
          </a:blip>
          <a:srcRect l="2637" t="2911" r="2133" b="3482"/>
          <a:stretch/>
        </p:blipFill>
        <p:spPr>
          <a:xfrm>
            <a:off x="5489416" y="1725706"/>
            <a:ext cx="3041133" cy="228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865;p103"/>
          <p:cNvSpPr txBox="1"/>
          <p:nvPr/>
        </p:nvSpPr>
        <p:spPr>
          <a:xfrm>
            <a:off x="390672" y="4006536"/>
            <a:ext cx="3196754" cy="158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计算各像素点边缘方向</a:t>
            </a:r>
            <a:r>
              <a:rPr kumimoji="0" lang="en-US" altLang="zh-C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/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强度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将图像分为 </a:t>
            </a:r>
            <a:r>
              <a:rPr kumimoji="0" lang="en-US" altLang="zh-C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8</a:t>
            </a:r>
            <a:r>
              <a:rPr kumimoji="0" lang="en" altLang="zh-C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x8 </a:t>
            </a:r>
            <a:r>
              <a:rPr kumimoji="0" lang="zh-CN" altLang="e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子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区域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在每个区域计算边缘方向直方图，边缘强度作为权重</a:t>
            </a:r>
          </a:p>
        </p:txBody>
      </p:sp>
      <p:sp>
        <p:nvSpPr>
          <p:cNvPr id="11" name="Google Shape;1866;p103"/>
          <p:cNvSpPr txBox="1"/>
          <p:nvPr/>
        </p:nvSpPr>
        <p:spPr>
          <a:xfrm>
            <a:off x="5312845" y="4033192"/>
            <a:ext cx="3394276" cy="12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举例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320x240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图像分成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40x30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每块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方向</a:t>
            </a: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向量维度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30*40*9 = 10,800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867;p103"/>
          <p:cNvSpPr txBox="1"/>
          <p:nvPr/>
        </p:nvSpPr>
        <p:spPr>
          <a:xfrm>
            <a:off x="5818489" y="5343407"/>
            <a:ext cx="3268496" cy="298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Lowe, “Object recognition from local scale-invariant features”, ICCV 1999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Dalal</a:t>
            </a:r>
            <a:r>
              <a:rPr kumimoji="0" lang="e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Triggs</a:t>
            </a:r>
            <a:r>
              <a:rPr kumimoji="0" lang="e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"Histograms of oriented gradients for human detection," CVPR 2005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802284" y="2916866"/>
            <a:ext cx="1390409" cy="0"/>
          </a:xfrm>
          <a:prstGeom prst="straightConnector1">
            <a:avLst/>
          </a:prstGeom>
          <a:ln w="889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34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图像特征</a:t>
            </a:r>
            <a:r>
              <a:rPr lang="en-US" altLang="zh-CN" dirty="0"/>
              <a:t>: </a:t>
            </a:r>
            <a:r>
              <a:rPr lang="zh-CN" altLang="en-US" dirty="0"/>
              <a:t>方向梯度直方图</a:t>
            </a:r>
            <a:r>
              <a:rPr lang="en-US" altLang="zh-CN" dirty="0"/>
              <a:t>( Histogram of Oriented Gradients</a:t>
            </a:r>
            <a:r>
              <a:rPr lang="zh-CN" altLang="en-US" dirty="0"/>
              <a:t>，</a:t>
            </a:r>
            <a:r>
              <a:rPr lang="en-US" altLang="zh-CN" dirty="0" err="1"/>
              <a:t>HoG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859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483" y="1728645"/>
            <a:ext cx="3041134" cy="2281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60;p103"/>
          <p:cNvPicPr preferRelativeResize="0"/>
          <p:nvPr/>
        </p:nvPicPr>
        <p:blipFill rotWithShape="1">
          <a:blip r:embed="rId3">
            <a:alphaModFix/>
          </a:blip>
          <a:srcRect l="2637" t="2911" r="2133" b="3482"/>
          <a:stretch/>
        </p:blipFill>
        <p:spPr>
          <a:xfrm>
            <a:off x="5489416" y="1725706"/>
            <a:ext cx="3041133" cy="22808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861;p103"/>
          <p:cNvSpPr/>
          <p:nvPr/>
        </p:nvSpPr>
        <p:spPr>
          <a:xfrm>
            <a:off x="6810583" y="2145428"/>
            <a:ext cx="219962" cy="230999"/>
          </a:xfrm>
          <a:prstGeom prst="rect">
            <a:avLst/>
          </a:prstGeom>
          <a:noFill/>
          <a:ln w="635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1865;p103"/>
          <p:cNvSpPr txBox="1"/>
          <p:nvPr/>
        </p:nvSpPr>
        <p:spPr>
          <a:xfrm>
            <a:off x="390672" y="4006536"/>
            <a:ext cx="3196754" cy="158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计算各像素点边缘方向</a:t>
            </a:r>
            <a:r>
              <a:rPr kumimoji="0" lang="en-US" altLang="zh-C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/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强度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将图像分为 </a:t>
            </a:r>
            <a:r>
              <a:rPr kumimoji="0" lang="en-US" altLang="zh-C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8</a:t>
            </a:r>
            <a:r>
              <a:rPr kumimoji="0" lang="en" altLang="zh-C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x8 </a:t>
            </a:r>
            <a:r>
              <a:rPr kumimoji="0" lang="zh-CN" altLang="en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子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区域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在每个区域计算边缘方向直方图，边缘强度作为权重</a:t>
            </a:r>
          </a:p>
        </p:txBody>
      </p:sp>
      <p:sp>
        <p:nvSpPr>
          <p:cNvPr id="11" name="Google Shape;1866;p103"/>
          <p:cNvSpPr txBox="1"/>
          <p:nvPr/>
        </p:nvSpPr>
        <p:spPr>
          <a:xfrm>
            <a:off x="5312845" y="4033192"/>
            <a:ext cx="3394276" cy="12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举例</a:t>
            </a: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320</a:t>
            </a:r>
            <a:r>
              <a:rPr kumimoji="0" lang="en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x240 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图像分成</a:t>
            </a: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40</a:t>
            </a:r>
            <a:r>
              <a:rPr kumimoji="0" lang="en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x30 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</a:t>
            </a: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; 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每块 </a:t>
            </a: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8 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方向</a:t>
            </a: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; 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特征向量维度 </a:t>
            </a: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30*40*9 = 10,800</a:t>
            </a:r>
            <a:endParaRPr kumimoji="0" lang="zh-CN" altLang="en-US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Google Shape;1867;p103"/>
          <p:cNvSpPr txBox="1"/>
          <p:nvPr/>
        </p:nvSpPr>
        <p:spPr>
          <a:xfrm>
            <a:off x="5818489" y="5343407"/>
            <a:ext cx="3268496" cy="298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Lowe, “Object recognition from local scale-invariant features”, ICCV 1999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Dalal</a:t>
            </a:r>
            <a:r>
              <a:rPr kumimoji="0" lang="e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Triggs</a:t>
            </a:r>
            <a:r>
              <a:rPr kumimoji="0" lang="e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"Histograms of oriented gradients for human detection," CVPR 2005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861;p103"/>
          <p:cNvSpPr/>
          <p:nvPr/>
        </p:nvSpPr>
        <p:spPr>
          <a:xfrm>
            <a:off x="1879067" y="2145428"/>
            <a:ext cx="219962" cy="230999"/>
          </a:xfrm>
          <a:prstGeom prst="rect">
            <a:avLst/>
          </a:prstGeom>
          <a:noFill/>
          <a:ln w="635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802284" y="2916866"/>
            <a:ext cx="1390409" cy="0"/>
          </a:xfrm>
          <a:prstGeom prst="straightConnector1">
            <a:avLst/>
          </a:prstGeom>
          <a:ln w="889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91599" y="2194900"/>
            <a:ext cx="168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强对角边缘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861;p103"/>
          <p:cNvSpPr/>
          <p:nvPr/>
        </p:nvSpPr>
        <p:spPr>
          <a:xfrm>
            <a:off x="6213040" y="2299397"/>
            <a:ext cx="219962" cy="230999"/>
          </a:xfrm>
          <a:prstGeom prst="rect">
            <a:avLst/>
          </a:prstGeom>
          <a:noFill/>
          <a:ln w="635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861;p103"/>
          <p:cNvSpPr/>
          <p:nvPr/>
        </p:nvSpPr>
        <p:spPr>
          <a:xfrm>
            <a:off x="1197436" y="2299397"/>
            <a:ext cx="219962" cy="230999"/>
          </a:xfrm>
          <a:prstGeom prst="rect">
            <a:avLst/>
          </a:prstGeom>
          <a:noFill/>
          <a:ln w="635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83919" y="3070087"/>
            <a:ext cx="1231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各个方向边缘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1861;p103"/>
          <p:cNvSpPr/>
          <p:nvPr/>
        </p:nvSpPr>
        <p:spPr>
          <a:xfrm>
            <a:off x="8305162" y="1738867"/>
            <a:ext cx="219962" cy="230999"/>
          </a:xfrm>
          <a:prstGeom prst="rect">
            <a:avLst/>
          </a:prstGeom>
          <a:noFill/>
          <a:ln w="635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1861;p103"/>
          <p:cNvSpPr/>
          <p:nvPr/>
        </p:nvSpPr>
        <p:spPr>
          <a:xfrm>
            <a:off x="3285598" y="1738867"/>
            <a:ext cx="219962" cy="230999"/>
          </a:xfrm>
          <a:prstGeom prst="rect">
            <a:avLst/>
          </a:prstGeom>
          <a:noFill/>
          <a:ln w="635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61696" y="1681242"/>
            <a:ext cx="154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弱边缘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70581" y="3779187"/>
            <a:ext cx="1402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捕获了纹理和位置信息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对小图像变化稳健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60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图像特征</a:t>
            </a:r>
            <a:r>
              <a:rPr lang="en-US" dirty="0"/>
              <a:t>: </a:t>
            </a:r>
            <a:r>
              <a:rPr lang="zh-CN" altLang="en-US" dirty="0"/>
              <a:t>词袋</a:t>
            </a:r>
            <a:r>
              <a:rPr lang="en-US" dirty="0"/>
              <a:t>(</a:t>
            </a:r>
            <a:r>
              <a:rPr lang="zh-CN" altLang="en-US" dirty="0"/>
              <a:t>数据驱动</a:t>
            </a:r>
            <a:r>
              <a:rPr lang="en-US" dirty="0"/>
              <a:t>!)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872;p104"/>
          <p:cNvSpPr/>
          <p:nvPr/>
        </p:nvSpPr>
        <p:spPr>
          <a:xfrm>
            <a:off x="116519" y="1659441"/>
            <a:ext cx="8908580" cy="209336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1875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43765" y="1942389"/>
            <a:ext cx="1637825" cy="165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77;p104"/>
          <p:cNvPicPr preferRelativeResize="0"/>
          <p:nvPr/>
        </p:nvPicPr>
        <p:blipFill rotWithShape="1">
          <a:blip r:embed="rId3">
            <a:alphaModFix/>
          </a:blip>
          <a:srcRect t="14420" r="27262"/>
          <a:stretch/>
        </p:blipFill>
        <p:spPr>
          <a:xfrm>
            <a:off x="311619" y="2906991"/>
            <a:ext cx="878297" cy="77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82;p104"/>
          <p:cNvPicPr preferRelativeResize="0"/>
          <p:nvPr/>
        </p:nvPicPr>
        <p:blipFill rotWithShape="1">
          <a:blip r:embed="rId3">
            <a:alphaModFix/>
          </a:blip>
          <a:srcRect t="80855" r="81139"/>
          <a:stretch/>
        </p:blipFill>
        <p:spPr>
          <a:xfrm>
            <a:off x="3518946" y="3079796"/>
            <a:ext cx="227741" cy="17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83;p104"/>
          <p:cNvPicPr preferRelativeResize="0"/>
          <p:nvPr/>
        </p:nvPicPr>
        <p:blipFill rotWithShape="1">
          <a:blip r:embed="rId3">
            <a:alphaModFix/>
          </a:blip>
          <a:srcRect l="42205" t="80855" r="40129"/>
          <a:stretch/>
        </p:blipFill>
        <p:spPr>
          <a:xfrm>
            <a:off x="3954607" y="2772801"/>
            <a:ext cx="213320" cy="17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884;p104"/>
          <p:cNvPicPr preferRelativeResize="0"/>
          <p:nvPr/>
        </p:nvPicPr>
        <p:blipFill rotWithShape="1">
          <a:blip r:embed="rId3">
            <a:alphaModFix/>
          </a:blip>
          <a:srcRect t="80855" r="81139"/>
          <a:stretch/>
        </p:blipFill>
        <p:spPr>
          <a:xfrm>
            <a:off x="3841999" y="3355149"/>
            <a:ext cx="227741" cy="17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85;p104"/>
          <p:cNvPicPr preferRelativeResize="0"/>
          <p:nvPr/>
        </p:nvPicPr>
        <p:blipFill rotWithShape="1">
          <a:blip r:embed="rId3">
            <a:alphaModFix/>
          </a:blip>
          <a:srcRect l="56473" t="15389" r="21844" b="61201"/>
          <a:stretch/>
        </p:blipFill>
        <p:spPr>
          <a:xfrm>
            <a:off x="3501901" y="2482463"/>
            <a:ext cx="261807" cy="211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886;p104"/>
          <p:cNvCxnSpPr/>
          <p:nvPr/>
        </p:nvCxnSpPr>
        <p:spPr>
          <a:xfrm>
            <a:off x="1410882" y="2877773"/>
            <a:ext cx="154909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887;p104"/>
          <p:cNvCxnSpPr/>
          <p:nvPr/>
        </p:nvCxnSpPr>
        <p:spPr>
          <a:xfrm>
            <a:off x="4953085" y="2877773"/>
            <a:ext cx="154909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1888;p104"/>
          <p:cNvSpPr txBox="1"/>
          <p:nvPr/>
        </p:nvSpPr>
        <p:spPr>
          <a:xfrm>
            <a:off x="1257830" y="2111962"/>
            <a:ext cx="1812304" cy="737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提取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随机块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889;p104"/>
          <p:cNvSpPr txBox="1"/>
          <p:nvPr/>
        </p:nvSpPr>
        <p:spPr>
          <a:xfrm>
            <a:off x="4829574" y="2111962"/>
            <a:ext cx="1938796" cy="50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块聚类形成可视化块的码书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890;p104"/>
          <p:cNvSpPr txBox="1"/>
          <p:nvPr/>
        </p:nvSpPr>
        <p:spPr>
          <a:xfrm>
            <a:off x="210520" y="1587076"/>
            <a:ext cx="2550042" cy="40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1: </a:t>
            </a: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建立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码书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Google Shape;1937;p104"/>
          <p:cNvSpPr txBox="1"/>
          <p:nvPr/>
        </p:nvSpPr>
        <p:spPr>
          <a:xfrm>
            <a:off x="90002" y="5360681"/>
            <a:ext cx="3811707" cy="17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Fei-Fei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Perona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“A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bayesian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hierarchical model for learning natural scene categories”, CVPR 2005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Google Shape;144;p20"/>
          <p:cNvSpPr txBox="1"/>
          <p:nvPr/>
        </p:nvSpPr>
        <p:spPr>
          <a:xfrm>
            <a:off x="7838954" y="5387023"/>
            <a:ext cx="1294919" cy="190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Car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image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CC0 1.0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 domain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" name="Google Shape;163;p21"/>
          <p:cNvPicPr preferRelativeResize="0"/>
          <p:nvPr/>
        </p:nvPicPr>
        <p:blipFill rotWithShape="1">
          <a:blip r:embed="rId6">
            <a:alphaModFix/>
          </a:blip>
          <a:srcRect l="11760" r="15953"/>
          <a:stretch/>
        </p:blipFill>
        <p:spPr>
          <a:xfrm>
            <a:off x="311619" y="1996070"/>
            <a:ext cx="879344" cy="806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163;p21"/>
          <p:cNvPicPr preferRelativeResize="0"/>
          <p:nvPr/>
        </p:nvPicPr>
        <p:blipFill rotWithShape="1">
          <a:blip r:embed="rId6">
            <a:alphaModFix/>
          </a:blip>
          <a:srcRect l="24516" t="58375" r="56216" b="13648"/>
          <a:stretch/>
        </p:blipFill>
        <p:spPr>
          <a:xfrm>
            <a:off x="3319535" y="2064087"/>
            <a:ext cx="234388" cy="225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163;p21"/>
          <p:cNvPicPr preferRelativeResize="0"/>
          <p:nvPr/>
        </p:nvPicPr>
        <p:blipFill rotWithShape="1">
          <a:blip r:embed="rId6">
            <a:alphaModFix/>
          </a:blip>
          <a:srcRect l="51678" t="61998" r="24771" b="14295"/>
          <a:stretch/>
        </p:blipFill>
        <p:spPr>
          <a:xfrm>
            <a:off x="3954607" y="2194109"/>
            <a:ext cx="286474" cy="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163;p21"/>
          <p:cNvPicPr preferRelativeResize="0"/>
          <p:nvPr/>
        </p:nvPicPr>
        <p:blipFill rotWithShape="1">
          <a:blip r:embed="rId6">
            <a:alphaModFix/>
          </a:blip>
          <a:srcRect l="45364" t="44434" r="38222" b="35121"/>
          <a:stretch/>
        </p:blipFill>
        <p:spPr>
          <a:xfrm>
            <a:off x="4310666" y="2480705"/>
            <a:ext cx="199664" cy="16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163;p21"/>
          <p:cNvPicPr preferRelativeResize="0"/>
          <p:nvPr/>
        </p:nvPicPr>
        <p:blipFill rotWithShape="1">
          <a:blip r:embed="rId6">
            <a:alphaModFix/>
          </a:blip>
          <a:srcRect l="46225" t="20488" r="37362" b="54729"/>
          <a:stretch/>
        </p:blipFill>
        <p:spPr>
          <a:xfrm>
            <a:off x="4371145" y="2979830"/>
            <a:ext cx="199664" cy="199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3847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图像特征</a:t>
            </a:r>
            <a:r>
              <a:rPr lang="en-US" altLang="zh-CN" dirty="0"/>
              <a:t>: </a:t>
            </a:r>
            <a:r>
              <a:rPr lang="zh-CN" altLang="en-US" dirty="0"/>
              <a:t>词袋</a:t>
            </a:r>
            <a:r>
              <a:rPr lang="en-US" altLang="zh-CN" dirty="0"/>
              <a:t>(</a:t>
            </a:r>
            <a:r>
              <a:rPr lang="zh-CN" altLang="en-US" dirty="0"/>
              <a:t>数据驱动</a:t>
            </a:r>
            <a:r>
              <a:rPr lang="en-US" altLang="zh-CN" dirty="0"/>
              <a:t>!)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872;p104"/>
          <p:cNvSpPr/>
          <p:nvPr/>
        </p:nvSpPr>
        <p:spPr>
          <a:xfrm>
            <a:off x="116519" y="1659441"/>
            <a:ext cx="8908580" cy="209336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1875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43765" y="1942389"/>
            <a:ext cx="1637825" cy="165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77;p104"/>
          <p:cNvPicPr preferRelativeResize="0"/>
          <p:nvPr/>
        </p:nvPicPr>
        <p:blipFill rotWithShape="1">
          <a:blip r:embed="rId3">
            <a:alphaModFix/>
          </a:blip>
          <a:srcRect t="14420" r="27262"/>
          <a:stretch/>
        </p:blipFill>
        <p:spPr>
          <a:xfrm>
            <a:off x="311619" y="2906991"/>
            <a:ext cx="878297" cy="77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82;p104"/>
          <p:cNvPicPr preferRelativeResize="0"/>
          <p:nvPr/>
        </p:nvPicPr>
        <p:blipFill rotWithShape="1">
          <a:blip r:embed="rId3">
            <a:alphaModFix/>
          </a:blip>
          <a:srcRect t="80855" r="81139"/>
          <a:stretch/>
        </p:blipFill>
        <p:spPr>
          <a:xfrm>
            <a:off x="3518946" y="3079796"/>
            <a:ext cx="227741" cy="17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83;p104"/>
          <p:cNvPicPr preferRelativeResize="0"/>
          <p:nvPr/>
        </p:nvPicPr>
        <p:blipFill rotWithShape="1">
          <a:blip r:embed="rId3">
            <a:alphaModFix/>
          </a:blip>
          <a:srcRect l="42205" t="80855" r="40129"/>
          <a:stretch/>
        </p:blipFill>
        <p:spPr>
          <a:xfrm>
            <a:off x="3954607" y="2772801"/>
            <a:ext cx="213320" cy="17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884;p104"/>
          <p:cNvPicPr preferRelativeResize="0"/>
          <p:nvPr/>
        </p:nvPicPr>
        <p:blipFill rotWithShape="1">
          <a:blip r:embed="rId3">
            <a:alphaModFix/>
          </a:blip>
          <a:srcRect t="80855" r="81139"/>
          <a:stretch/>
        </p:blipFill>
        <p:spPr>
          <a:xfrm>
            <a:off x="3841999" y="3355149"/>
            <a:ext cx="227741" cy="17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85;p104"/>
          <p:cNvPicPr preferRelativeResize="0"/>
          <p:nvPr/>
        </p:nvPicPr>
        <p:blipFill rotWithShape="1">
          <a:blip r:embed="rId3">
            <a:alphaModFix/>
          </a:blip>
          <a:srcRect l="56473" t="15389" r="21844" b="61201"/>
          <a:stretch/>
        </p:blipFill>
        <p:spPr>
          <a:xfrm>
            <a:off x="3501901" y="2482463"/>
            <a:ext cx="261807" cy="211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886;p104"/>
          <p:cNvCxnSpPr/>
          <p:nvPr/>
        </p:nvCxnSpPr>
        <p:spPr>
          <a:xfrm>
            <a:off x="1410882" y="2877773"/>
            <a:ext cx="154909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887;p104"/>
          <p:cNvCxnSpPr/>
          <p:nvPr/>
        </p:nvCxnSpPr>
        <p:spPr>
          <a:xfrm>
            <a:off x="4953085" y="2877773"/>
            <a:ext cx="154909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1888;p104"/>
          <p:cNvSpPr txBox="1"/>
          <p:nvPr/>
        </p:nvSpPr>
        <p:spPr>
          <a:xfrm>
            <a:off x="1257830" y="2111962"/>
            <a:ext cx="1812304" cy="737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提取随机块</a:t>
            </a:r>
          </a:p>
        </p:txBody>
      </p:sp>
      <p:sp>
        <p:nvSpPr>
          <p:cNvPr id="19" name="Google Shape;1889;p104"/>
          <p:cNvSpPr txBox="1"/>
          <p:nvPr/>
        </p:nvSpPr>
        <p:spPr>
          <a:xfrm>
            <a:off x="4814596" y="2043858"/>
            <a:ext cx="1938796" cy="50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图像块聚类形成可视化块的码书</a:t>
            </a:r>
          </a:p>
        </p:txBody>
      </p:sp>
      <p:sp>
        <p:nvSpPr>
          <p:cNvPr id="20" name="Google Shape;1890;p104"/>
          <p:cNvSpPr txBox="1"/>
          <p:nvPr/>
        </p:nvSpPr>
        <p:spPr>
          <a:xfrm>
            <a:off x="210520" y="1587076"/>
            <a:ext cx="2550042" cy="40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1: </a:t>
            </a: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建立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码书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891;p104"/>
          <p:cNvSpPr/>
          <p:nvPr/>
        </p:nvSpPr>
        <p:spPr>
          <a:xfrm>
            <a:off x="116519" y="3814390"/>
            <a:ext cx="8908580" cy="174797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892;p104"/>
          <p:cNvSpPr txBox="1"/>
          <p:nvPr/>
        </p:nvSpPr>
        <p:spPr>
          <a:xfrm>
            <a:off x="210520" y="3874762"/>
            <a:ext cx="2550042" cy="378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2: 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图像编码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Google Shape;1893;p104"/>
          <p:cNvPicPr preferRelativeResize="0"/>
          <p:nvPr/>
        </p:nvPicPr>
        <p:blipFill rotWithShape="1">
          <a:blip r:embed="rId2">
            <a:alphaModFix/>
          </a:blip>
          <a:srcRect b="84128"/>
          <a:stretch/>
        </p:blipFill>
        <p:spPr>
          <a:xfrm>
            <a:off x="4301635" y="4278723"/>
            <a:ext cx="1390184" cy="223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894;p104"/>
          <p:cNvPicPr preferRelativeResize="0"/>
          <p:nvPr/>
        </p:nvPicPr>
        <p:blipFill rotWithShape="1">
          <a:blip r:embed="rId2">
            <a:alphaModFix/>
          </a:blip>
          <a:srcRect t="15870" b="66538"/>
          <a:stretch/>
        </p:blipFill>
        <p:spPr>
          <a:xfrm>
            <a:off x="5703064" y="4266632"/>
            <a:ext cx="1390184" cy="247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895;p104"/>
          <p:cNvPicPr preferRelativeResize="0"/>
          <p:nvPr/>
        </p:nvPicPr>
        <p:blipFill rotWithShape="1">
          <a:blip r:embed="rId2">
            <a:alphaModFix/>
          </a:blip>
          <a:srcRect t="33000" b="50607"/>
          <a:stretch/>
        </p:blipFill>
        <p:spPr>
          <a:xfrm>
            <a:off x="7104490" y="4275054"/>
            <a:ext cx="1390184" cy="23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896;p104"/>
          <p:cNvPicPr preferRelativeResize="0"/>
          <p:nvPr/>
        </p:nvPicPr>
        <p:blipFill rotWithShape="1">
          <a:blip r:embed="rId2">
            <a:alphaModFix/>
          </a:blip>
          <a:srcRect t="49332" b="33475"/>
          <a:stretch/>
        </p:blipFill>
        <p:spPr>
          <a:xfrm>
            <a:off x="4302362" y="5084229"/>
            <a:ext cx="1390185" cy="241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897;p104"/>
          <p:cNvPicPr preferRelativeResize="0"/>
          <p:nvPr/>
        </p:nvPicPr>
        <p:blipFill rotWithShape="1">
          <a:blip r:embed="rId2">
            <a:alphaModFix/>
          </a:blip>
          <a:srcRect t="66487" b="16084"/>
          <a:stretch/>
        </p:blipFill>
        <p:spPr>
          <a:xfrm>
            <a:off x="5703065" y="5089177"/>
            <a:ext cx="1390187" cy="245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898;p104"/>
          <p:cNvPicPr preferRelativeResize="0"/>
          <p:nvPr/>
        </p:nvPicPr>
        <p:blipFill rotWithShape="1">
          <a:blip r:embed="rId2">
            <a:alphaModFix/>
          </a:blip>
          <a:srcRect t="83290" b="222"/>
          <a:stretch/>
        </p:blipFill>
        <p:spPr>
          <a:xfrm>
            <a:off x="7103774" y="5095792"/>
            <a:ext cx="1390187" cy="231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899;p104"/>
          <p:cNvPicPr preferRelativeResize="0"/>
          <p:nvPr/>
        </p:nvPicPr>
        <p:blipFill rotWithShape="1">
          <a:blip r:embed="rId3">
            <a:alphaModFix/>
          </a:blip>
          <a:srcRect t="14420" r="27262"/>
          <a:stretch/>
        </p:blipFill>
        <p:spPr>
          <a:xfrm>
            <a:off x="1221532" y="4304200"/>
            <a:ext cx="1139189" cy="1005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1900;p104"/>
          <p:cNvCxnSpPr/>
          <p:nvPr/>
        </p:nvCxnSpPr>
        <p:spPr>
          <a:xfrm>
            <a:off x="2543637" y="4806819"/>
            <a:ext cx="154909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1901;p104"/>
          <p:cNvSpPr/>
          <p:nvPr/>
        </p:nvSpPr>
        <p:spPr>
          <a:xfrm>
            <a:off x="4342093" y="3940995"/>
            <a:ext cx="131066" cy="32571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1902;p104"/>
          <p:cNvSpPr/>
          <p:nvPr/>
        </p:nvSpPr>
        <p:spPr>
          <a:xfrm>
            <a:off x="4573108" y="4164486"/>
            <a:ext cx="131066" cy="10227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1903;p104"/>
          <p:cNvSpPr/>
          <p:nvPr/>
        </p:nvSpPr>
        <p:spPr>
          <a:xfrm>
            <a:off x="4814596" y="3976911"/>
            <a:ext cx="131066" cy="289724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1904;p104"/>
          <p:cNvSpPr/>
          <p:nvPr/>
        </p:nvSpPr>
        <p:spPr>
          <a:xfrm>
            <a:off x="5056083" y="3940920"/>
            <a:ext cx="131066" cy="32571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905;p104"/>
          <p:cNvSpPr/>
          <p:nvPr/>
        </p:nvSpPr>
        <p:spPr>
          <a:xfrm>
            <a:off x="5287097" y="4093255"/>
            <a:ext cx="131066" cy="17335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906;p104"/>
          <p:cNvSpPr/>
          <p:nvPr/>
        </p:nvSpPr>
        <p:spPr>
          <a:xfrm>
            <a:off x="5495093" y="3874762"/>
            <a:ext cx="131066" cy="391998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907;p104"/>
          <p:cNvSpPr/>
          <p:nvPr/>
        </p:nvSpPr>
        <p:spPr>
          <a:xfrm>
            <a:off x="5745003" y="4199352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908;p104"/>
          <p:cNvSpPr/>
          <p:nvPr/>
        </p:nvSpPr>
        <p:spPr>
          <a:xfrm>
            <a:off x="5976868" y="4164362"/>
            <a:ext cx="131066" cy="10227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909;p104"/>
          <p:cNvSpPr/>
          <p:nvPr/>
        </p:nvSpPr>
        <p:spPr>
          <a:xfrm>
            <a:off x="6208732" y="4019224"/>
            <a:ext cx="131066" cy="247436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910;p104"/>
          <p:cNvSpPr/>
          <p:nvPr/>
        </p:nvSpPr>
        <p:spPr>
          <a:xfrm>
            <a:off x="6440597" y="4199452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1911;p104"/>
          <p:cNvSpPr/>
          <p:nvPr/>
        </p:nvSpPr>
        <p:spPr>
          <a:xfrm>
            <a:off x="6672462" y="4199452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Google Shape;1912;p104"/>
          <p:cNvSpPr/>
          <p:nvPr/>
        </p:nvSpPr>
        <p:spPr>
          <a:xfrm>
            <a:off x="6904326" y="4164362"/>
            <a:ext cx="131066" cy="10227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Google Shape;1913;p104"/>
          <p:cNvSpPr/>
          <p:nvPr/>
        </p:nvSpPr>
        <p:spPr>
          <a:xfrm>
            <a:off x="7136191" y="4133119"/>
            <a:ext cx="131066" cy="133466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1914;p104"/>
          <p:cNvSpPr/>
          <p:nvPr/>
        </p:nvSpPr>
        <p:spPr>
          <a:xfrm>
            <a:off x="7368055" y="4199452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oogle Shape;1915;p104"/>
          <p:cNvSpPr/>
          <p:nvPr/>
        </p:nvSpPr>
        <p:spPr>
          <a:xfrm>
            <a:off x="7599920" y="4133169"/>
            <a:ext cx="131066" cy="133466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1916;p104"/>
          <p:cNvSpPr/>
          <p:nvPr/>
        </p:nvSpPr>
        <p:spPr>
          <a:xfrm>
            <a:off x="7831785" y="4232468"/>
            <a:ext cx="131066" cy="34191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Google Shape;1917;p104"/>
          <p:cNvSpPr/>
          <p:nvPr/>
        </p:nvSpPr>
        <p:spPr>
          <a:xfrm>
            <a:off x="8092143" y="4051891"/>
            <a:ext cx="131066" cy="214744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Google Shape;1918;p104"/>
          <p:cNvSpPr/>
          <p:nvPr/>
        </p:nvSpPr>
        <p:spPr>
          <a:xfrm>
            <a:off x="8308760" y="4133169"/>
            <a:ext cx="131066" cy="133466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Google Shape;1919;p104"/>
          <p:cNvSpPr/>
          <p:nvPr/>
        </p:nvSpPr>
        <p:spPr>
          <a:xfrm>
            <a:off x="4335470" y="4907318"/>
            <a:ext cx="131066" cy="17335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Google Shape;1920;p104"/>
          <p:cNvSpPr/>
          <p:nvPr/>
        </p:nvSpPr>
        <p:spPr>
          <a:xfrm>
            <a:off x="4566489" y="4978476"/>
            <a:ext cx="131066" cy="10227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Google Shape;1921;p104"/>
          <p:cNvSpPr/>
          <p:nvPr/>
        </p:nvSpPr>
        <p:spPr>
          <a:xfrm>
            <a:off x="4807972" y="5013441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1922;p104"/>
          <p:cNvSpPr/>
          <p:nvPr/>
        </p:nvSpPr>
        <p:spPr>
          <a:xfrm>
            <a:off x="5049460" y="4688624"/>
            <a:ext cx="131066" cy="391998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1923;p104"/>
          <p:cNvSpPr/>
          <p:nvPr/>
        </p:nvSpPr>
        <p:spPr>
          <a:xfrm>
            <a:off x="5280474" y="4947132"/>
            <a:ext cx="131066" cy="133466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1924;p104"/>
          <p:cNvSpPr/>
          <p:nvPr/>
        </p:nvSpPr>
        <p:spPr>
          <a:xfrm>
            <a:off x="5488470" y="5013567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Google Shape;1925;p104"/>
          <p:cNvSpPr/>
          <p:nvPr/>
        </p:nvSpPr>
        <p:spPr>
          <a:xfrm>
            <a:off x="5738384" y="5013342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Google Shape;1926;p104"/>
          <p:cNvSpPr/>
          <p:nvPr/>
        </p:nvSpPr>
        <p:spPr>
          <a:xfrm>
            <a:off x="5970244" y="4907266"/>
            <a:ext cx="131066" cy="17335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Google Shape;1927;p104"/>
          <p:cNvSpPr/>
          <p:nvPr/>
        </p:nvSpPr>
        <p:spPr>
          <a:xfrm>
            <a:off x="6202109" y="4907293"/>
            <a:ext cx="131066" cy="17335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Google Shape;1928;p104"/>
          <p:cNvSpPr/>
          <p:nvPr/>
        </p:nvSpPr>
        <p:spPr>
          <a:xfrm>
            <a:off x="6433974" y="4868623"/>
            <a:ext cx="131066" cy="21204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Google Shape;1929;p104"/>
          <p:cNvSpPr/>
          <p:nvPr/>
        </p:nvSpPr>
        <p:spPr>
          <a:xfrm>
            <a:off x="6665839" y="4857401"/>
            <a:ext cx="131066" cy="223142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1930;p104"/>
          <p:cNvSpPr/>
          <p:nvPr/>
        </p:nvSpPr>
        <p:spPr>
          <a:xfrm>
            <a:off x="6897703" y="5013441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1931;p104"/>
          <p:cNvSpPr/>
          <p:nvPr/>
        </p:nvSpPr>
        <p:spPr>
          <a:xfrm>
            <a:off x="7129567" y="4907192"/>
            <a:ext cx="131066" cy="17335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Google Shape;1932;p104"/>
          <p:cNvSpPr/>
          <p:nvPr/>
        </p:nvSpPr>
        <p:spPr>
          <a:xfrm>
            <a:off x="7361436" y="5013442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Google Shape;1933;p104"/>
          <p:cNvSpPr/>
          <p:nvPr/>
        </p:nvSpPr>
        <p:spPr>
          <a:xfrm>
            <a:off x="7593297" y="4907267"/>
            <a:ext cx="131066" cy="173355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Google Shape;1934;p104"/>
          <p:cNvSpPr/>
          <p:nvPr/>
        </p:nvSpPr>
        <p:spPr>
          <a:xfrm>
            <a:off x="7825162" y="5013462"/>
            <a:ext cx="131066" cy="6718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Google Shape;1935;p104"/>
          <p:cNvSpPr/>
          <p:nvPr/>
        </p:nvSpPr>
        <p:spPr>
          <a:xfrm>
            <a:off x="8085525" y="4865881"/>
            <a:ext cx="131066" cy="214744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Google Shape;1936;p104"/>
          <p:cNvSpPr/>
          <p:nvPr/>
        </p:nvSpPr>
        <p:spPr>
          <a:xfrm>
            <a:off x="8302137" y="4978349"/>
            <a:ext cx="131066" cy="102273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Google Shape;1937;p104"/>
          <p:cNvSpPr txBox="1"/>
          <p:nvPr/>
        </p:nvSpPr>
        <p:spPr>
          <a:xfrm>
            <a:off x="90002" y="5360681"/>
            <a:ext cx="3811707" cy="17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Fei-Fei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Perona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“A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bayesian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hierarchical model for learning natural scene categories”, CVPR 2005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8" name="Google Shape;163;p21"/>
          <p:cNvPicPr preferRelativeResize="0"/>
          <p:nvPr/>
        </p:nvPicPr>
        <p:blipFill rotWithShape="1">
          <a:blip r:embed="rId4">
            <a:alphaModFix/>
          </a:blip>
          <a:srcRect l="11760" r="15953"/>
          <a:stretch/>
        </p:blipFill>
        <p:spPr>
          <a:xfrm>
            <a:off x="311619" y="1996070"/>
            <a:ext cx="879344" cy="806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163;p21"/>
          <p:cNvPicPr preferRelativeResize="0"/>
          <p:nvPr/>
        </p:nvPicPr>
        <p:blipFill rotWithShape="1">
          <a:blip r:embed="rId4">
            <a:alphaModFix/>
          </a:blip>
          <a:srcRect l="24516" t="58375" r="56216" b="13648"/>
          <a:stretch/>
        </p:blipFill>
        <p:spPr>
          <a:xfrm>
            <a:off x="3319535" y="2064087"/>
            <a:ext cx="234388" cy="225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163;p21"/>
          <p:cNvPicPr preferRelativeResize="0"/>
          <p:nvPr/>
        </p:nvPicPr>
        <p:blipFill rotWithShape="1">
          <a:blip r:embed="rId4">
            <a:alphaModFix/>
          </a:blip>
          <a:srcRect l="51678" t="61998" r="24771" b="14295"/>
          <a:stretch/>
        </p:blipFill>
        <p:spPr>
          <a:xfrm>
            <a:off x="3954607" y="2194109"/>
            <a:ext cx="286474" cy="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163;p21"/>
          <p:cNvPicPr preferRelativeResize="0"/>
          <p:nvPr/>
        </p:nvPicPr>
        <p:blipFill rotWithShape="1">
          <a:blip r:embed="rId4">
            <a:alphaModFix/>
          </a:blip>
          <a:srcRect l="45364" t="44434" r="38222" b="35121"/>
          <a:stretch/>
        </p:blipFill>
        <p:spPr>
          <a:xfrm>
            <a:off x="4310666" y="2480705"/>
            <a:ext cx="199664" cy="16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163;p21"/>
          <p:cNvPicPr preferRelativeResize="0"/>
          <p:nvPr/>
        </p:nvPicPr>
        <p:blipFill rotWithShape="1">
          <a:blip r:embed="rId4">
            <a:alphaModFix/>
          </a:blip>
          <a:srcRect l="46225" t="20488" r="37362" b="54729"/>
          <a:stretch/>
        </p:blipFill>
        <p:spPr>
          <a:xfrm>
            <a:off x="4371145" y="2979830"/>
            <a:ext cx="199664" cy="199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0903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图像特征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oogle Shape;1944;p105"/>
          <p:cNvGrpSpPr/>
          <p:nvPr/>
        </p:nvGrpSpPr>
        <p:grpSpPr>
          <a:xfrm>
            <a:off x="3277225" y="1910171"/>
            <a:ext cx="1764926" cy="734534"/>
            <a:chOff x="3582850" y="1204925"/>
            <a:chExt cx="1379100" cy="734725"/>
          </a:xfrm>
        </p:grpSpPr>
        <p:cxnSp>
          <p:nvCxnSpPr>
            <p:cNvPr id="5" name="Google Shape;1945;p105"/>
            <p:cNvCxnSpPr/>
            <p:nvPr/>
          </p:nvCxnSpPr>
          <p:spPr>
            <a:xfrm>
              <a:off x="3582850" y="1939625"/>
              <a:ext cx="137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1946;p105"/>
            <p:cNvSpPr/>
            <p:nvPr/>
          </p:nvSpPr>
          <p:spPr>
            <a:xfrm>
              <a:off x="3627950" y="1204925"/>
              <a:ext cx="103200" cy="7347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Google Shape;1947;p105"/>
            <p:cNvSpPr/>
            <p:nvPr/>
          </p:nvSpPr>
          <p:spPr>
            <a:xfrm>
              <a:off x="3793250" y="1456350"/>
              <a:ext cx="103200" cy="4833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Google Shape;1948;p105"/>
            <p:cNvSpPr/>
            <p:nvPr/>
          </p:nvSpPr>
          <p:spPr>
            <a:xfrm>
              <a:off x="3958550" y="1669000"/>
              <a:ext cx="103200" cy="270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Google Shape;1949;p105"/>
            <p:cNvSpPr/>
            <p:nvPr/>
          </p:nvSpPr>
          <p:spPr>
            <a:xfrm>
              <a:off x="4123850" y="1456325"/>
              <a:ext cx="103200" cy="4833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Google Shape;1950;p105"/>
            <p:cNvSpPr/>
            <p:nvPr/>
          </p:nvSpPr>
          <p:spPr>
            <a:xfrm>
              <a:off x="4289150" y="1366925"/>
              <a:ext cx="103200" cy="5727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Google Shape;1951;p105"/>
            <p:cNvSpPr/>
            <p:nvPr/>
          </p:nvSpPr>
          <p:spPr>
            <a:xfrm>
              <a:off x="4454450" y="1804325"/>
              <a:ext cx="103200" cy="1353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Google Shape;1952;p105"/>
            <p:cNvSpPr/>
            <p:nvPr/>
          </p:nvSpPr>
          <p:spPr>
            <a:xfrm>
              <a:off x="4619750" y="1525850"/>
              <a:ext cx="103200" cy="4137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Google Shape;1953;p105"/>
            <p:cNvSpPr/>
            <p:nvPr/>
          </p:nvSpPr>
          <p:spPr>
            <a:xfrm>
              <a:off x="4785050" y="1733425"/>
              <a:ext cx="103200" cy="2061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oogle Shape;1954;p105"/>
          <p:cNvGrpSpPr/>
          <p:nvPr/>
        </p:nvGrpSpPr>
        <p:grpSpPr>
          <a:xfrm>
            <a:off x="3277657" y="3069881"/>
            <a:ext cx="1765340" cy="1004423"/>
            <a:chOff x="3582686" y="2246600"/>
            <a:chExt cx="1765800" cy="1004684"/>
          </a:xfrm>
        </p:grpSpPr>
        <p:cxnSp>
          <p:nvCxnSpPr>
            <p:cNvPr id="15" name="Google Shape;1955;p105"/>
            <p:cNvCxnSpPr/>
            <p:nvPr/>
          </p:nvCxnSpPr>
          <p:spPr>
            <a:xfrm>
              <a:off x="3582686" y="2981300"/>
              <a:ext cx="1765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1956;p105"/>
            <p:cNvSpPr/>
            <p:nvPr/>
          </p:nvSpPr>
          <p:spPr>
            <a:xfrm>
              <a:off x="3611555" y="2246600"/>
              <a:ext cx="66058" cy="7347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Google Shape;1957;p105"/>
            <p:cNvSpPr/>
            <p:nvPr/>
          </p:nvSpPr>
          <p:spPr>
            <a:xfrm rot="10800000" flipH="1">
              <a:off x="3717375" y="2981637"/>
              <a:ext cx="66000" cy="135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Google Shape;1958;p105"/>
            <p:cNvSpPr/>
            <p:nvPr/>
          </p:nvSpPr>
          <p:spPr>
            <a:xfrm rot="10800000" flipH="1">
              <a:off x="3823175" y="2975481"/>
              <a:ext cx="66000" cy="270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Google Shape;1959;p105"/>
            <p:cNvSpPr/>
            <p:nvPr/>
          </p:nvSpPr>
          <p:spPr>
            <a:xfrm>
              <a:off x="3928975" y="2429700"/>
              <a:ext cx="66000" cy="5517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Google Shape;1960;p105"/>
            <p:cNvSpPr/>
            <p:nvPr/>
          </p:nvSpPr>
          <p:spPr>
            <a:xfrm rot="10800000" flipH="1">
              <a:off x="4034800" y="2980377"/>
              <a:ext cx="66000" cy="135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Google Shape;1961;p105"/>
            <p:cNvSpPr/>
            <p:nvPr/>
          </p:nvSpPr>
          <p:spPr>
            <a:xfrm>
              <a:off x="4140597" y="2846000"/>
              <a:ext cx="66058" cy="135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2;p105"/>
            <p:cNvSpPr/>
            <p:nvPr/>
          </p:nvSpPr>
          <p:spPr>
            <a:xfrm rot="10800000" flipH="1">
              <a:off x="4246400" y="2980684"/>
              <a:ext cx="66000" cy="270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3;p105"/>
            <p:cNvSpPr/>
            <p:nvPr/>
          </p:nvSpPr>
          <p:spPr>
            <a:xfrm>
              <a:off x="4352225" y="2664825"/>
              <a:ext cx="66000" cy="316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4;p105"/>
            <p:cNvSpPr/>
            <p:nvPr/>
          </p:nvSpPr>
          <p:spPr>
            <a:xfrm>
              <a:off x="4458025" y="2532545"/>
              <a:ext cx="66000" cy="448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Google Shape;1965;p105"/>
            <p:cNvSpPr/>
            <p:nvPr/>
          </p:nvSpPr>
          <p:spPr>
            <a:xfrm rot="10800000" flipH="1">
              <a:off x="4563850" y="2981315"/>
              <a:ext cx="66000" cy="114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Google Shape;1966;p105"/>
            <p:cNvSpPr/>
            <p:nvPr/>
          </p:nvSpPr>
          <p:spPr>
            <a:xfrm>
              <a:off x="4669650" y="2370916"/>
              <a:ext cx="66000" cy="610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Google Shape;1967;p105"/>
            <p:cNvSpPr/>
            <p:nvPr/>
          </p:nvSpPr>
          <p:spPr>
            <a:xfrm>
              <a:off x="4775450" y="2710695"/>
              <a:ext cx="66000" cy="270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Google Shape;1968;p105"/>
            <p:cNvSpPr/>
            <p:nvPr/>
          </p:nvSpPr>
          <p:spPr>
            <a:xfrm>
              <a:off x="4881275" y="2775192"/>
              <a:ext cx="66000" cy="206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Google Shape;1969;p105"/>
            <p:cNvSpPr/>
            <p:nvPr/>
          </p:nvSpPr>
          <p:spPr>
            <a:xfrm>
              <a:off x="5092881" y="2567513"/>
              <a:ext cx="66000" cy="4137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Google Shape;1970;p105"/>
            <p:cNvSpPr/>
            <p:nvPr/>
          </p:nvSpPr>
          <p:spPr>
            <a:xfrm>
              <a:off x="5198689" y="2775088"/>
              <a:ext cx="66000" cy="206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Google Shape;1971;p105"/>
            <p:cNvSpPr/>
            <p:nvPr/>
          </p:nvSpPr>
          <p:spPr>
            <a:xfrm>
              <a:off x="4982497" y="2981300"/>
              <a:ext cx="66000" cy="135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2" name="Google Shape;1972;p105"/>
          <p:cNvGrpSpPr/>
          <p:nvPr/>
        </p:nvGrpSpPr>
        <p:grpSpPr>
          <a:xfrm>
            <a:off x="3277225" y="4300324"/>
            <a:ext cx="1764926" cy="827099"/>
            <a:chOff x="3582878" y="3595700"/>
            <a:chExt cx="1765386" cy="827315"/>
          </a:xfrm>
        </p:grpSpPr>
        <p:cxnSp>
          <p:nvCxnSpPr>
            <p:cNvPr id="33" name="Google Shape;1973;p105"/>
            <p:cNvCxnSpPr/>
            <p:nvPr/>
          </p:nvCxnSpPr>
          <p:spPr>
            <a:xfrm>
              <a:off x="3582878" y="4147400"/>
              <a:ext cx="1765386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" name="Google Shape;1974;p105"/>
            <p:cNvSpPr/>
            <p:nvPr/>
          </p:nvSpPr>
          <p:spPr>
            <a:xfrm>
              <a:off x="3640600" y="3595700"/>
              <a:ext cx="132106" cy="5517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Google Shape;1975;p105"/>
            <p:cNvSpPr/>
            <p:nvPr/>
          </p:nvSpPr>
          <p:spPr>
            <a:xfrm>
              <a:off x="3852200" y="3855162"/>
              <a:ext cx="132106" cy="2922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Google Shape;1976;p105"/>
            <p:cNvSpPr/>
            <p:nvPr/>
          </p:nvSpPr>
          <p:spPr>
            <a:xfrm rot="10800000" flipH="1">
              <a:off x="4063800" y="4142981"/>
              <a:ext cx="132106" cy="1146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Google Shape;1977;p105"/>
            <p:cNvSpPr/>
            <p:nvPr/>
          </p:nvSpPr>
          <p:spPr>
            <a:xfrm rot="10800000" flipH="1">
              <a:off x="4275400" y="4152415"/>
              <a:ext cx="132106" cy="2706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Google Shape;1978;p105"/>
            <p:cNvSpPr/>
            <p:nvPr/>
          </p:nvSpPr>
          <p:spPr>
            <a:xfrm>
              <a:off x="4487025" y="3899275"/>
              <a:ext cx="132106" cy="2481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Google Shape;1979;p105"/>
            <p:cNvSpPr/>
            <p:nvPr/>
          </p:nvSpPr>
          <p:spPr>
            <a:xfrm>
              <a:off x="4698614" y="4012100"/>
              <a:ext cx="132106" cy="1353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Google Shape;1980;p105"/>
            <p:cNvSpPr/>
            <p:nvPr/>
          </p:nvSpPr>
          <p:spPr>
            <a:xfrm rot="10800000" flipH="1">
              <a:off x="4910225" y="4149039"/>
              <a:ext cx="132106" cy="2061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Google Shape;1981;p105"/>
            <p:cNvSpPr/>
            <p:nvPr/>
          </p:nvSpPr>
          <p:spPr>
            <a:xfrm>
              <a:off x="5121815" y="3941200"/>
              <a:ext cx="132106" cy="206100"/>
            </a:xfrm>
            <a:prstGeom prst="rect">
              <a:avLst/>
            </a:prstGeom>
            <a:solidFill>
              <a:srgbClr val="D9D2E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Google Shape;1982;p105"/>
          <p:cNvGrpSpPr/>
          <p:nvPr/>
        </p:nvGrpSpPr>
        <p:grpSpPr>
          <a:xfrm>
            <a:off x="5797039" y="3285842"/>
            <a:ext cx="2972153" cy="572508"/>
            <a:chOff x="4469303" y="2277720"/>
            <a:chExt cx="5262749" cy="1013732"/>
          </a:xfrm>
        </p:grpSpPr>
        <p:grpSp>
          <p:nvGrpSpPr>
            <p:cNvPr id="43" name="Google Shape;1983;p105"/>
            <p:cNvGrpSpPr/>
            <p:nvPr/>
          </p:nvGrpSpPr>
          <p:grpSpPr>
            <a:xfrm>
              <a:off x="4469303" y="2278250"/>
              <a:ext cx="1765386" cy="734725"/>
              <a:chOff x="3582850" y="1204925"/>
              <a:chExt cx="1379100" cy="734725"/>
            </a:xfrm>
          </p:grpSpPr>
          <p:cxnSp>
            <p:nvCxnSpPr>
              <p:cNvPr id="72" name="Google Shape;1984;p105"/>
              <p:cNvCxnSpPr/>
              <p:nvPr/>
            </p:nvCxnSpPr>
            <p:spPr>
              <a:xfrm>
                <a:off x="3582850" y="1939625"/>
                <a:ext cx="1379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" name="Google Shape;1985;p105"/>
              <p:cNvSpPr/>
              <p:nvPr/>
            </p:nvSpPr>
            <p:spPr>
              <a:xfrm>
                <a:off x="3627950" y="1204925"/>
                <a:ext cx="103200" cy="734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Google Shape;1986;p105"/>
              <p:cNvSpPr/>
              <p:nvPr/>
            </p:nvSpPr>
            <p:spPr>
              <a:xfrm>
                <a:off x="3793250" y="1456350"/>
                <a:ext cx="103200" cy="483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Google Shape;1987;p105"/>
              <p:cNvSpPr/>
              <p:nvPr/>
            </p:nvSpPr>
            <p:spPr>
              <a:xfrm>
                <a:off x="3958550" y="1669000"/>
                <a:ext cx="103200" cy="2706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Google Shape;1988;p105"/>
              <p:cNvSpPr/>
              <p:nvPr/>
            </p:nvSpPr>
            <p:spPr>
              <a:xfrm>
                <a:off x="4123850" y="1456325"/>
                <a:ext cx="103200" cy="483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Google Shape;1989;p105"/>
              <p:cNvSpPr/>
              <p:nvPr/>
            </p:nvSpPr>
            <p:spPr>
              <a:xfrm>
                <a:off x="4289150" y="1366925"/>
                <a:ext cx="103200" cy="572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Google Shape;1990;p105"/>
              <p:cNvSpPr/>
              <p:nvPr/>
            </p:nvSpPr>
            <p:spPr>
              <a:xfrm>
                <a:off x="4454450" y="1804325"/>
                <a:ext cx="103200" cy="135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Google Shape;1991;p105"/>
              <p:cNvSpPr/>
              <p:nvPr/>
            </p:nvSpPr>
            <p:spPr>
              <a:xfrm>
                <a:off x="4619750" y="1525850"/>
                <a:ext cx="103200" cy="413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Google Shape;1992;p105"/>
              <p:cNvSpPr/>
              <p:nvPr/>
            </p:nvSpPr>
            <p:spPr>
              <a:xfrm>
                <a:off x="4785050" y="1733425"/>
                <a:ext cx="103200" cy="2061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oogle Shape;1993;p105"/>
            <p:cNvGrpSpPr/>
            <p:nvPr/>
          </p:nvGrpSpPr>
          <p:grpSpPr>
            <a:xfrm>
              <a:off x="6234711" y="2277720"/>
              <a:ext cx="1765800" cy="1004684"/>
              <a:chOff x="3582686" y="2246600"/>
              <a:chExt cx="1765800" cy="1004684"/>
            </a:xfrm>
          </p:grpSpPr>
          <p:cxnSp>
            <p:nvCxnSpPr>
              <p:cNvPr id="55" name="Google Shape;1994;p105"/>
              <p:cNvCxnSpPr/>
              <p:nvPr/>
            </p:nvCxnSpPr>
            <p:spPr>
              <a:xfrm>
                <a:off x="3582686" y="2981300"/>
                <a:ext cx="1765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" name="Google Shape;1995;p105"/>
              <p:cNvSpPr/>
              <p:nvPr/>
            </p:nvSpPr>
            <p:spPr>
              <a:xfrm>
                <a:off x="3611555" y="2246600"/>
                <a:ext cx="66000" cy="734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Google Shape;1996;p105"/>
              <p:cNvSpPr/>
              <p:nvPr/>
            </p:nvSpPr>
            <p:spPr>
              <a:xfrm rot="10800000" flipH="1">
                <a:off x="3717375" y="2981637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Google Shape;1997;p105"/>
              <p:cNvSpPr/>
              <p:nvPr/>
            </p:nvSpPr>
            <p:spPr>
              <a:xfrm rot="10800000" flipH="1">
                <a:off x="3823175" y="2975481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Google Shape;1998;p105"/>
              <p:cNvSpPr/>
              <p:nvPr/>
            </p:nvSpPr>
            <p:spPr>
              <a:xfrm>
                <a:off x="3928975" y="2429700"/>
                <a:ext cx="66000" cy="551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Google Shape;1999;p105"/>
              <p:cNvSpPr/>
              <p:nvPr/>
            </p:nvSpPr>
            <p:spPr>
              <a:xfrm rot="10800000" flipH="1">
                <a:off x="4034800" y="2980377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Google Shape;2000;p105"/>
              <p:cNvSpPr/>
              <p:nvPr/>
            </p:nvSpPr>
            <p:spPr>
              <a:xfrm>
                <a:off x="4140597" y="2846000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Google Shape;2001;p105"/>
              <p:cNvSpPr/>
              <p:nvPr/>
            </p:nvSpPr>
            <p:spPr>
              <a:xfrm rot="10800000" flipH="1">
                <a:off x="4246400" y="2980684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Google Shape;2002;p105"/>
              <p:cNvSpPr/>
              <p:nvPr/>
            </p:nvSpPr>
            <p:spPr>
              <a:xfrm>
                <a:off x="4352225" y="2664825"/>
                <a:ext cx="66000" cy="3165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Google Shape;2003;p105"/>
              <p:cNvSpPr/>
              <p:nvPr/>
            </p:nvSpPr>
            <p:spPr>
              <a:xfrm>
                <a:off x="4458025" y="2532545"/>
                <a:ext cx="66000" cy="4488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Google Shape;2004;p105"/>
              <p:cNvSpPr/>
              <p:nvPr/>
            </p:nvSpPr>
            <p:spPr>
              <a:xfrm rot="10800000" flipH="1">
                <a:off x="4563850" y="2981315"/>
                <a:ext cx="66000" cy="114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Google Shape;2005;p105"/>
              <p:cNvSpPr/>
              <p:nvPr/>
            </p:nvSpPr>
            <p:spPr>
              <a:xfrm>
                <a:off x="4669650" y="2370916"/>
                <a:ext cx="66000" cy="6105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Google Shape;2006;p105"/>
              <p:cNvSpPr/>
              <p:nvPr/>
            </p:nvSpPr>
            <p:spPr>
              <a:xfrm>
                <a:off x="4775450" y="2710695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Google Shape;2007;p105"/>
              <p:cNvSpPr/>
              <p:nvPr/>
            </p:nvSpPr>
            <p:spPr>
              <a:xfrm>
                <a:off x="4881275" y="2775192"/>
                <a:ext cx="66000" cy="2061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Google Shape;2008;p105"/>
              <p:cNvSpPr/>
              <p:nvPr/>
            </p:nvSpPr>
            <p:spPr>
              <a:xfrm>
                <a:off x="5092881" y="2567513"/>
                <a:ext cx="66000" cy="413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Google Shape;2009;p105"/>
              <p:cNvSpPr/>
              <p:nvPr/>
            </p:nvSpPr>
            <p:spPr>
              <a:xfrm>
                <a:off x="5198689" y="2775088"/>
                <a:ext cx="66000" cy="2061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Google Shape;2010;p105"/>
              <p:cNvSpPr/>
              <p:nvPr/>
            </p:nvSpPr>
            <p:spPr>
              <a:xfrm>
                <a:off x="4982497" y="2981300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oogle Shape;2011;p105"/>
            <p:cNvGrpSpPr/>
            <p:nvPr/>
          </p:nvGrpSpPr>
          <p:grpSpPr>
            <a:xfrm>
              <a:off x="7966552" y="2464136"/>
              <a:ext cx="1765500" cy="827315"/>
              <a:chOff x="3582878" y="3595700"/>
              <a:chExt cx="1765500" cy="827315"/>
            </a:xfrm>
          </p:grpSpPr>
          <p:cxnSp>
            <p:nvCxnSpPr>
              <p:cNvPr id="46" name="Google Shape;2012;p105"/>
              <p:cNvCxnSpPr/>
              <p:nvPr/>
            </p:nvCxnSpPr>
            <p:spPr>
              <a:xfrm>
                <a:off x="3582878" y="4147400"/>
                <a:ext cx="17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" name="Google Shape;2013;p105"/>
              <p:cNvSpPr/>
              <p:nvPr/>
            </p:nvSpPr>
            <p:spPr>
              <a:xfrm>
                <a:off x="3640600" y="3595700"/>
                <a:ext cx="132000" cy="5517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Google Shape;2014;p105"/>
              <p:cNvSpPr/>
              <p:nvPr/>
            </p:nvSpPr>
            <p:spPr>
              <a:xfrm>
                <a:off x="3852200" y="3855162"/>
                <a:ext cx="132000" cy="2922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Google Shape;2015;p105"/>
              <p:cNvSpPr/>
              <p:nvPr/>
            </p:nvSpPr>
            <p:spPr>
              <a:xfrm rot="10800000" flipH="1">
                <a:off x="4063800" y="4142981"/>
                <a:ext cx="132000" cy="1146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Google Shape;2016;p105"/>
              <p:cNvSpPr/>
              <p:nvPr/>
            </p:nvSpPr>
            <p:spPr>
              <a:xfrm rot="10800000" flipH="1">
                <a:off x="4275400" y="4152415"/>
                <a:ext cx="132000" cy="2706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Google Shape;2017;p105"/>
              <p:cNvSpPr/>
              <p:nvPr/>
            </p:nvSpPr>
            <p:spPr>
              <a:xfrm>
                <a:off x="4487025" y="3899275"/>
                <a:ext cx="132000" cy="248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Google Shape;2018;p105"/>
              <p:cNvSpPr/>
              <p:nvPr/>
            </p:nvSpPr>
            <p:spPr>
              <a:xfrm>
                <a:off x="4698614" y="4012100"/>
                <a:ext cx="132000" cy="1353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Google Shape;2019;p105"/>
              <p:cNvSpPr/>
              <p:nvPr/>
            </p:nvSpPr>
            <p:spPr>
              <a:xfrm rot="10800000" flipH="1">
                <a:off x="4910225" y="4149039"/>
                <a:ext cx="132000" cy="206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Google Shape;2020;p105"/>
              <p:cNvSpPr/>
              <p:nvPr/>
            </p:nvSpPr>
            <p:spPr>
              <a:xfrm>
                <a:off x="5121815" y="3941200"/>
                <a:ext cx="132000" cy="206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81" name="Google Shape;2021;p105"/>
          <p:cNvCxnSpPr/>
          <p:nvPr/>
        </p:nvCxnSpPr>
        <p:spPr>
          <a:xfrm rot="10800000" flipH="1">
            <a:off x="2066661" y="2467451"/>
            <a:ext cx="1020635" cy="58934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2022;p105"/>
          <p:cNvCxnSpPr/>
          <p:nvPr/>
        </p:nvCxnSpPr>
        <p:spPr>
          <a:xfrm>
            <a:off x="2080471" y="4159234"/>
            <a:ext cx="1027232" cy="59324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2023;p105"/>
          <p:cNvCxnSpPr/>
          <p:nvPr/>
        </p:nvCxnSpPr>
        <p:spPr>
          <a:xfrm>
            <a:off x="2080471" y="3572088"/>
            <a:ext cx="995141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2024;p105"/>
          <p:cNvCxnSpPr/>
          <p:nvPr/>
        </p:nvCxnSpPr>
        <p:spPr>
          <a:xfrm>
            <a:off x="5113343" y="2499518"/>
            <a:ext cx="621138" cy="62113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2025;p105"/>
          <p:cNvCxnSpPr/>
          <p:nvPr/>
        </p:nvCxnSpPr>
        <p:spPr>
          <a:xfrm>
            <a:off x="5113331" y="3572088"/>
            <a:ext cx="493971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2026;p105"/>
          <p:cNvCxnSpPr/>
          <p:nvPr/>
        </p:nvCxnSpPr>
        <p:spPr>
          <a:xfrm rot="10800000" flipH="1">
            <a:off x="5113330" y="4019846"/>
            <a:ext cx="698219" cy="69821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7" name="Google Shape;2027;p105"/>
          <p:cNvPicPr preferRelativeResize="0"/>
          <p:nvPr/>
        </p:nvPicPr>
        <p:blipFill rotWithShape="1">
          <a:blip r:embed="rId2">
            <a:alphaModFix/>
          </a:blip>
          <a:srcRect r="27262"/>
          <a:stretch/>
        </p:blipFill>
        <p:spPr>
          <a:xfrm>
            <a:off x="387796" y="2691117"/>
            <a:ext cx="1574512" cy="1623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869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2011 ImageNet</a:t>
            </a:r>
            <a:r>
              <a:rPr lang="zh-CN" altLang="en-US" dirty="0"/>
              <a:t>分类挑战赛获胜者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780" y="1494148"/>
            <a:ext cx="4790439" cy="3517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768" y="5417025"/>
            <a:ext cx="5020926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F. </a:t>
            </a:r>
            <a:r>
              <a:rPr kumimoji="0" lang="en-US" sz="82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Perronnin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J. Sánchez, “Compressed Fisher vectors for LSVRC”, PASCAL VOC / ImageNet workshop, ICCV, 2011.</a:t>
            </a:r>
          </a:p>
        </p:txBody>
      </p:sp>
    </p:spTree>
    <p:extLst>
      <p:ext uri="{BB962C8B-B14F-4D97-AF65-F5344CB8AC3E}">
        <p14:creationId xmlns:p14="http://schemas.microsoft.com/office/powerpoint/2010/main" val="1745311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图像特征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032;p106"/>
          <p:cNvSpPr/>
          <p:nvPr/>
        </p:nvSpPr>
        <p:spPr>
          <a:xfrm>
            <a:off x="2957367" y="1806494"/>
            <a:ext cx="2856456" cy="1240177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特征提取</a:t>
            </a:r>
            <a:endParaRPr kumimoji="0" lang="en-US" altLang="zh-CN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2036;p106"/>
          <p:cNvCxnSpPr/>
          <p:nvPr/>
        </p:nvCxnSpPr>
        <p:spPr>
          <a:xfrm>
            <a:off x="2008890" y="2426590"/>
            <a:ext cx="78009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037;p106"/>
          <p:cNvCxnSpPr/>
          <p:nvPr/>
        </p:nvCxnSpPr>
        <p:spPr>
          <a:xfrm>
            <a:off x="5879393" y="2153711"/>
            <a:ext cx="784596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038;p106"/>
          <p:cNvSpPr txBox="1"/>
          <p:nvPr/>
        </p:nvSpPr>
        <p:spPr>
          <a:xfrm>
            <a:off x="6068785" y="1554646"/>
            <a:ext cx="405794" cy="524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2039;p106"/>
          <p:cNvSpPr txBox="1"/>
          <p:nvPr/>
        </p:nvSpPr>
        <p:spPr>
          <a:xfrm>
            <a:off x="6742088" y="2182745"/>
            <a:ext cx="1984332" cy="65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b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数字给出各类别的响应分值</a:t>
            </a:r>
            <a:endParaRPr kumimoji="0" lang="en-US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2040;p106"/>
          <p:cNvCxnSpPr/>
          <p:nvPr/>
        </p:nvCxnSpPr>
        <p:spPr>
          <a:xfrm>
            <a:off x="5879393" y="2834934"/>
            <a:ext cx="771399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" name="Google Shape;2041;p106"/>
          <p:cNvSpPr txBox="1"/>
          <p:nvPr/>
        </p:nvSpPr>
        <p:spPr>
          <a:xfrm>
            <a:off x="5879393" y="2854621"/>
            <a:ext cx="1036530" cy="32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训练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Google Shape;2043;p106"/>
          <p:cNvCxnSpPr/>
          <p:nvPr/>
        </p:nvCxnSpPr>
        <p:spPr>
          <a:xfrm>
            <a:off x="-1" y="3285238"/>
            <a:ext cx="9165613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" name="Google Shape;2049;p106"/>
          <p:cNvGrpSpPr/>
          <p:nvPr/>
        </p:nvGrpSpPr>
        <p:grpSpPr>
          <a:xfrm>
            <a:off x="3392000" y="2520847"/>
            <a:ext cx="1987223" cy="382787"/>
            <a:chOff x="4469303" y="2277720"/>
            <a:chExt cx="5262749" cy="1013732"/>
          </a:xfrm>
        </p:grpSpPr>
        <p:grpSp>
          <p:nvGrpSpPr>
            <p:cNvPr id="20" name="Google Shape;2050;p106"/>
            <p:cNvGrpSpPr/>
            <p:nvPr/>
          </p:nvGrpSpPr>
          <p:grpSpPr>
            <a:xfrm>
              <a:off x="4469303" y="2278250"/>
              <a:ext cx="1765386" cy="734725"/>
              <a:chOff x="3582850" y="1204925"/>
              <a:chExt cx="1379100" cy="734725"/>
            </a:xfrm>
          </p:grpSpPr>
          <p:cxnSp>
            <p:nvCxnSpPr>
              <p:cNvPr id="49" name="Google Shape;2051;p106"/>
              <p:cNvCxnSpPr/>
              <p:nvPr/>
            </p:nvCxnSpPr>
            <p:spPr>
              <a:xfrm>
                <a:off x="3582850" y="1939625"/>
                <a:ext cx="1379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" name="Google Shape;2052;p106"/>
              <p:cNvSpPr/>
              <p:nvPr/>
            </p:nvSpPr>
            <p:spPr>
              <a:xfrm>
                <a:off x="3627950" y="1204925"/>
                <a:ext cx="103200" cy="734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Google Shape;2053;p106"/>
              <p:cNvSpPr/>
              <p:nvPr/>
            </p:nvSpPr>
            <p:spPr>
              <a:xfrm>
                <a:off x="3793250" y="1456350"/>
                <a:ext cx="103200" cy="483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Google Shape;2054;p106"/>
              <p:cNvSpPr/>
              <p:nvPr/>
            </p:nvSpPr>
            <p:spPr>
              <a:xfrm>
                <a:off x="3958550" y="1669000"/>
                <a:ext cx="103200" cy="2706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Google Shape;2055;p106"/>
              <p:cNvSpPr/>
              <p:nvPr/>
            </p:nvSpPr>
            <p:spPr>
              <a:xfrm>
                <a:off x="4123850" y="1456325"/>
                <a:ext cx="103200" cy="483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Google Shape;2056;p106"/>
              <p:cNvSpPr/>
              <p:nvPr/>
            </p:nvSpPr>
            <p:spPr>
              <a:xfrm>
                <a:off x="4289150" y="1366925"/>
                <a:ext cx="103200" cy="572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Google Shape;2057;p106"/>
              <p:cNvSpPr/>
              <p:nvPr/>
            </p:nvSpPr>
            <p:spPr>
              <a:xfrm>
                <a:off x="4454450" y="1804325"/>
                <a:ext cx="103200" cy="135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Google Shape;2058;p106"/>
              <p:cNvSpPr/>
              <p:nvPr/>
            </p:nvSpPr>
            <p:spPr>
              <a:xfrm>
                <a:off x="4619750" y="1525850"/>
                <a:ext cx="103200" cy="413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Google Shape;2059;p106"/>
              <p:cNvSpPr/>
              <p:nvPr/>
            </p:nvSpPr>
            <p:spPr>
              <a:xfrm>
                <a:off x="4785050" y="1733425"/>
                <a:ext cx="103200" cy="2061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oogle Shape;2060;p106"/>
            <p:cNvGrpSpPr/>
            <p:nvPr/>
          </p:nvGrpSpPr>
          <p:grpSpPr>
            <a:xfrm>
              <a:off x="6234711" y="2277720"/>
              <a:ext cx="1765800" cy="1004684"/>
              <a:chOff x="3582686" y="2246600"/>
              <a:chExt cx="1765800" cy="1004684"/>
            </a:xfrm>
          </p:grpSpPr>
          <p:cxnSp>
            <p:nvCxnSpPr>
              <p:cNvPr id="32" name="Google Shape;2061;p106"/>
              <p:cNvCxnSpPr/>
              <p:nvPr/>
            </p:nvCxnSpPr>
            <p:spPr>
              <a:xfrm>
                <a:off x="3582686" y="2981300"/>
                <a:ext cx="1765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" name="Google Shape;2062;p106"/>
              <p:cNvSpPr/>
              <p:nvPr/>
            </p:nvSpPr>
            <p:spPr>
              <a:xfrm>
                <a:off x="3611555" y="2246600"/>
                <a:ext cx="66000" cy="734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Google Shape;2063;p106"/>
              <p:cNvSpPr/>
              <p:nvPr/>
            </p:nvSpPr>
            <p:spPr>
              <a:xfrm rot="10800000" flipH="1">
                <a:off x="3717375" y="2981637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Google Shape;2064;p106"/>
              <p:cNvSpPr/>
              <p:nvPr/>
            </p:nvSpPr>
            <p:spPr>
              <a:xfrm rot="10800000" flipH="1">
                <a:off x="3823175" y="2975481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Google Shape;2065;p106"/>
              <p:cNvSpPr/>
              <p:nvPr/>
            </p:nvSpPr>
            <p:spPr>
              <a:xfrm>
                <a:off x="3928975" y="2429700"/>
                <a:ext cx="66000" cy="551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Google Shape;2066;p106"/>
              <p:cNvSpPr/>
              <p:nvPr/>
            </p:nvSpPr>
            <p:spPr>
              <a:xfrm rot="10800000" flipH="1">
                <a:off x="4034800" y="2980377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Google Shape;2067;p106"/>
              <p:cNvSpPr/>
              <p:nvPr/>
            </p:nvSpPr>
            <p:spPr>
              <a:xfrm>
                <a:off x="4140597" y="2846000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Google Shape;2068;p106"/>
              <p:cNvSpPr/>
              <p:nvPr/>
            </p:nvSpPr>
            <p:spPr>
              <a:xfrm rot="10800000" flipH="1">
                <a:off x="4246400" y="2980684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Google Shape;2069;p106"/>
              <p:cNvSpPr/>
              <p:nvPr/>
            </p:nvSpPr>
            <p:spPr>
              <a:xfrm>
                <a:off x="4352225" y="2664825"/>
                <a:ext cx="66000" cy="3165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Google Shape;2070;p106"/>
              <p:cNvSpPr/>
              <p:nvPr/>
            </p:nvSpPr>
            <p:spPr>
              <a:xfrm>
                <a:off x="4458025" y="2532545"/>
                <a:ext cx="66000" cy="4488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Google Shape;2071;p106"/>
              <p:cNvSpPr/>
              <p:nvPr/>
            </p:nvSpPr>
            <p:spPr>
              <a:xfrm rot="10800000" flipH="1">
                <a:off x="4563850" y="2981315"/>
                <a:ext cx="66000" cy="114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Google Shape;2072;p106"/>
              <p:cNvSpPr/>
              <p:nvPr/>
            </p:nvSpPr>
            <p:spPr>
              <a:xfrm>
                <a:off x="4669650" y="2370916"/>
                <a:ext cx="66000" cy="6105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Google Shape;2073;p106"/>
              <p:cNvSpPr/>
              <p:nvPr/>
            </p:nvSpPr>
            <p:spPr>
              <a:xfrm>
                <a:off x="4775450" y="2710695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Google Shape;2074;p106"/>
              <p:cNvSpPr/>
              <p:nvPr/>
            </p:nvSpPr>
            <p:spPr>
              <a:xfrm>
                <a:off x="4881275" y="2775192"/>
                <a:ext cx="66000" cy="2061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Google Shape;2075;p106"/>
              <p:cNvSpPr/>
              <p:nvPr/>
            </p:nvSpPr>
            <p:spPr>
              <a:xfrm>
                <a:off x="5092881" y="2567513"/>
                <a:ext cx="66000" cy="413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Google Shape;2076;p106"/>
              <p:cNvSpPr/>
              <p:nvPr/>
            </p:nvSpPr>
            <p:spPr>
              <a:xfrm>
                <a:off x="5198689" y="2775088"/>
                <a:ext cx="66000" cy="2061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Google Shape;2077;p106"/>
              <p:cNvSpPr/>
              <p:nvPr/>
            </p:nvSpPr>
            <p:spPr>
              <a:xfrm>
                <a:off x="4982497" y="2981300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oogle Shape;2078;p106"/>
            <p:cNvGrpSpPr/>
            <p:nvPr/>
          </p:nvGrpSpPr>
          <p:grpSpPr>
            <a:xfrm>
              <a:off x="7966552" y="2464136"/>
              <a:ext cx="1765500" cy="827315"/>
              <a:chOff x="3582878" y="3595700"/>
              <a:chExt cx="1765500" cy="827315"/>
            </a:xfrm>
          </p:grpSpPr>
          <p:cxnSp>
            <p:nvCxnSpPr>
              <p:cNvPr id="23" name="Google Shape;2079;p106"/>
              <p:cNvCxnSpPr/>
              <p:nvPr/>
            </p:nvCxnSpPr>
            <p:spPr>
              <a:xfrm>
                <a:off x="3582878" y="4147400"/>
                <a:ext cx="17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" name="Google Shape;2080;p106"/>
              <p:cNvSpPr/>
              <p:nvPr/>
            </p:nvSpPr>
            <p:spPr>
              <a:xfrm>
                <a:off x="3640600" y="3595700"/>
                <a:ext cx="132000" cy="5517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Google Shape;2081;p106"/>
              <p:cNvSpPr/>
              <p:nvPr/>
            </p:nvSpPr>
            <p:spPr>
              <a:xfrm>
                <a:off x="3852200" y="3855162"/>
                <a:ext cx="132000" cy="2922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Google Shape;2082;p106"/>
              <p:cNvSpPr/>
              <p:nvPr/>
            </p:nvSpPr>
            <p:spPr>
              <a:xfrm rot="10800000" flipH="1">
                <a:off x="4063800" y="4142981"/>
                <a:ext cx="132000" cy="1146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Google Shape;2083;p106"/>
              <p:cNvSpPr/>
              <p:nvPr/>
            </p:nvSpPr>
            <p:spPr>
              <a:xfrm rot="10800000" flipH="1">
                <a:off x="4275400" y="4152415"/>
                <a:ext cx="132000" cy="2706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Google Shape;2084;p106"/>
              <p:cNvSpPr/>
              <p:nvPr/>
            </p:nvSpPr>
            <p:spPr>
              <a:xfrm>
                <a:off x="4487025" y="3899275"/>
                <a:ext cx="132000" cy="248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Google Shape;2085;p106"/>
              <p:cNvSpPr/>
              <p:nvPr/>
            </p:nvSpPr>
            <p:spPr>
              <a:xfrm>
                <a:off x="4698614" y="4012100"/>
                <a:ext cx="132000" cy="1353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Google Shape;2086;p106"/>
              <p:cNvSpPr/>
              <p:nvPr/>
            </p:nvSpPr>
            <p:spPr>
              <a:xfrm rot="10800000" flipH="1">
                <a:off x="4910225" y="4149039"/>
                <a:ext cx="132000" cy="206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Google Shape;2087;p106"/>
              <p:cNvSpPr/>
              <p:nvPr/>
            </p:nvSpPr>
            <p:spPr>
              <a:xfrm>
                <a:off x="5121815" y="3941200"/>
                <a:ext cx="132000" cy="206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60" name="Google Shape;2027;p105"/>
          <p:cNvPicPr preferRelativeResize="0"/>
          <p:nvPr/>
        </p:nvPicPr>
        <p:blipFill rotWithShape="1">
          <a:blip r:embed="rId2">
            <a:alphaModFix/>
          </a:blip>
          <a:srcRect r="27262"/>
          <a:stretch/>
        </p:blipFill>
        <p:spPr>
          <a:xfrm>
            <a:off x="629574" y="1806493"/>
            <a:ext cx="1205662" cy="12431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8247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图像特征 </a:t>
            </a:r>
            <a:r>
              <a:rPr lang="en-US" dirty="0"/>
              <a:t>vs </a:t>
            </a:r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032;p106"/>
          <p:cNvSpPr/>
          <p:nvPr/>
        </p:nvSpPr>
        <p:spPr>
          <a:xfrm>
            <a:off x="2957367" y="1806494"/>
            <a:ext cx="2856456" cy="1240177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特征提取</a:t>
            </a:r>
            <a:endParaRPr kumimoji="0" lang="en-US" altLang="zh-CN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2036;p106"/>
          <p:cNvCxnSpPr/>
          <p:nvPr/>
        </p:nvCxnSpPr>
        <p:spPr>
          <a:xfrm>
            <a:off x="2008890" y="2426590"/>
            <a:ext cx="78009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037;p106"/>
          <p:cNvCxnSpPr/>
          <p:nvPr/>
        </p:nvCxnSpPr>
        <p:spPr>
          <a:xfrm>
            <a:off x="5879393" y="2153711"/>
            <a:ext cx="784596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038;p106"/>
          <p:cNvSpPr txBox="1"/>
          <p:nvPr/>
        </p:nvSpPr>
        <p:spPr>
          <a:xfrm>
            <a:off x="6068785" y="1554646"/>
            <a:ext cx="405794" cy="524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2040;p106"/>
          <p:cNvCxnSpPr/>
          <p:nvPr/>
        </p:nvCxnSpPr>
        <p:spPr>
          <a:xfrm>
            <a:off x="5879393" y="2834934"/>
            <a:ext cx="771399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" name="Google Shape;2041;p106"/>
          <p:cNvSpPr txBox="1"/>
          <p:nvPr/>
        </p:nvSpPr>
        <p:spPr>
          <a:xfrm>
            <a:off x="5879393" y="2854621"/>
            <a:ext cx="1036530" cy="32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训练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Google Shape;2042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6004" y="3576412"/>
            <a:ext cx="3819206" cy="1194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2043;p106"/>
          <p:cNvCxnSpPr/>
          <p:nvPr/>
        </p:nvCxnSpPr>
        <p:spPr>
          <a:xfrm>
            <a:off x="-1" y="3285238"/>
            <a:ext cx="9165613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045;p106"/>
          <p:cNvCxnSpPr/>
          <p:nvPr/>
        </p:nvCxnSpPr>
        <p:spPr>
          <a:xfrm>
            <a:off x="1956041" y="4829919"/>
            <a:ext cx="4655087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046;p106"/>
          <p:cNvCxnSpPr/>
          <p:nvPr/>
        </p:nvCxnSpPr>
        <p:spPr>
          <a:xfrm>
            <a:off x="1956041" y="5161133"/>
            <a:ext cx="4655087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" name="Google Shape;2047;p106"/>
          <p:cNvSpPr txBox="1"/>
          <p:nvPr/>
        </p:nvSpPr>
        <p:spPr>
          <a:xfrm>
            <a:off x="5682220" y="5141580"/>
            <a:ext cx="965449" cy="32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训练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2048;p106"/>
          <p:cNvSpPr txBox="1"/>
          <p:nvPr/>
        </p:nvSpPr>
        <p:spPr>
          <a:xfrm>
            <a:off x="6748767" y="4709230"/>
            <a:ext cx="1984332" cy="71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10</a:t>
            </a:r>
            <a:r>
              <a:rPr kumimoji="0" lang="en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数字给出各类别的响应分值</a:t>
            </a:r>
            <a:endParaRPr kumimoji="0" lang="en-US" altLang="zh-CN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9" name="Google Shape;2049;p106"/>
          <p:cNvGrpSpPr/>
          <p:nvPr/>
        </p:nvGrpSpPr>
        <p:grpSpPr>
          <a:xfrm>
            <a:off x="3392000" y="2520847"/>
            <a:ext cx="1987223" cy="382787"/>
            <a:chOff x="4469303" y="2277720"/>
            <a:chExt cx="5262749" cy="1013732"/>
          </a:xfrm>
        </p:grpSpPr>
        <p:grpSp>
          <p:nvGrpSpPr>
            <p:cNvPr id="20" name="Google Shape;2050;p106"/>
            <p:cNvGrpSpPr/>
            <p:nvPr/>
          </p:nvGrpSpPr>
          <p:grpSpPr>
            <a:xfrm>
              <a:off x="4469303" y="2278250"/>
              <a:ext cx="1765386" cy="734725"/>
              <a:chOff x="3582850" y="1204925"/>
              <a:chExt cx="1379100" cy="734725"/>
            </a:xfrm>
          </p:grpSpPr>
          <p:cxnSp>
            <p:nvCxnSpPr>
              <p:cNvPr id="49" name="Google Shape;2051;p106"/>
              <p:cNvCxnSpPr/>
              <p:nvPr/>
            </p:nvCxnSpPr>
            <p:spPr>
              <a:xfrm>
                <a:off x="3582850" y="1939625"/>
                <a:ext cx="1379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" name="Google Shape;2052;p106"/>
              <p:cNvSpPr/>
              <p:nvPr/>
            </p:nvSpPr>
            <p:spPr>
              <a:xfrm>
                <a:off x="3627950" y="1204925"/>
                <a:ext cx="103200" cy="734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Google Shape;2053;p106"/>
              <p:cNvSpPr/>
              <p:nvPr/>
            </p:nvSpPr>
            <p:spPr>
              <a:xfrm>
                <a:off x="3793250" y="1456350"/>
                <a:ext cx="103200" cy="483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Google Shape;2054;p106"/>
              <p:cNvSpPr/>
              <p:nvPr/>
            </p:nvSpPr>
            <p:spPr>
              <a:xfrm>
                <a:off x="3958550" y="1669000"/>
                <a:ext cx="103200" cy="2706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Google Shape;2055;p106"/>
              <p:cNvSpPr/>
              <p:nvPr/>
            </p:nvSpPr>
            <p:spPr>
              <a:xfrm>
                <a:off x="4123850" y="1456325"/>
                <a:ext cx="103200" cy="483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Google Shape;2056;p106"/>
              <p:cNvSpPr/>
              <p:nvPr/>
            </p:nvSpPr>
            <p:spPr>
              <a:xfrm>
                <a:off x="4289150" y="1366925"/>
                <a:ext cx="103200" cy="572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Google Shape;2057;p106"/>
              <p:cNvSpPr/>
              <p:nvPr/>
            </p:nvSpPr>
            <p:spPr>
              <a:xfrm>
                <a:off x="4454450" y="1804325"/>
                <a:ext cx="103200" cy="135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Google Shape;2058;p106"/>
              <p:cNvSpPr/>
              <p:nvPr/>
            </p:nvSpPr>
            <p:spPr>
              <a:xfrm>
                <a:off x="4619750" y="1525850"/>
                <a:ext cx="103200" cy="4137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Google Shape;2059;p106"/>
              <p:cNvSpPr/>
              <p:nvPr/>
            </p:nvSpPr>
            <p:spPr>
              <a:xfrm>
                <a:off x="4785050" y="1733425"/>
                <a:ext cx="103200" cy="2061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oogle Shape;2060;p106"/>
            <p:cNvGrpSpPr/>
            <p:nvPr/>
          </p:nvGrpSpPr>
          <p:grpSpPr>
            <a:xfrm>
              <a:off x="6234711" y="2277720"/>
              <a:ext cx="1765800" cy="1004684"/>
              <a:chOff x="3582686" y="2246600"/>
              <a:chExt cx="1765800" cy="1004684"/>
            </a:xfrm>
          </p:grpSpPr>
          <p:cxnSp>
            <p:nvCxnSpPr>
              <p:cNvPr id="32" name="Google Shape;2061;p106"/>
              <p:cNvCxnSpPr/>
              <p:nvPr/>
            </p:nvCxnSpPr>
            <p:spPr>
              <a:xfrm>
                <a:off x="3582686" y="2981300"/>
                <a:ext cx="1765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" name="Google Shape;2062;p106"/>
              <p:cNvSpPr/>
              <p:nvPr/>
            </p:nvSpPr>
            <p:spPr>
              <a:xfrm>
                <a:off x="3611555" y="2246600"/>
                <a:ext cx="66000" cy="734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Google Shape;2063;p106"/>
              <p:cNvSpPr/>
              <p:nvPr/>
            </p:nvSpPr>
            <p:spPr>
              <a:xfrm rot="10800000" flipH="1">
                <a:off x="3717375" y="2981637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Google Shape;2064;p106"/>
              <p:cNvSpPr/>
              <p:nvPr/>
            </p:nvSpPr>
            <p:spPr>
              <a:xfrm rot="10800000" flipH="1">
                <a:off x="3823175" y="2975481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Google Shape;2065;p106"/>
              <p:cNvSpPr/>
              <p:nvPr/>
            </p:nvSpPr>
            <p:spPr>
              <a:xfrm>
                <a:off x="3928975" y="2429700"/>
                <a:ext cx="66000" cy="551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Google Shape;2066;p106"/>
              <p:cNvSpPr/>
              <p:nvPr/>
            </p:nvSpPr>
            <p:spPr>
              <a:xfrm rot="10800000" flipH="1">
                <a:off x="4034800" y="2980377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Google Shape;2067;p106"/>
              <p:cNvSpPr/>
              <p:nvPr/>
            </p:nvSpPr>
            <p:spPr>
              <a:xfrm>
                <a:off x="4140597" y="2846000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Google Shape;2068;p106"/>
              <p:cNvSpPr/>
              <p:nvPr/>
            </p:nvSpPr>
            <p:spPr>
              <a:xfrm rot="10800000" flipH="1">
                <a:off x="4246400" y="2980684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Google Shape;2069;p106"/>
              <p:cNvSpPr/>
              <p:nvPr/>
            </p:nvSpPr>
            <p:spPr>
              <a:xfrm>
                <a:off x="4352225" y="2664825"/>
                <a:ext cx="66000" cy="3165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Google Shape;2070;p106"/>
              <p:cNvSpPr/>
              <p:nvPr/>
            </p:nvSpPr>
            <p:spPr>
              <a:xfrm>
                <a:off x="4458025" y="2532545"/>
                <a:ext cx="66000" cy="4488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Google Shape;2071;p106"/>
              <p:cNvSpPr/>
              <p:nvPr/>
            </p:nvSpPr>
            <p:spPr>
              <a:xfrm rot="10800000" flipH="1">
                <a:off x="4563850" y="2981315"/>
                <a:ext cx="66000" cy="114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Google Shape;2072;p106"/>
              <p:cNvSpPr/>
              <p:nvPr/>
            </p:nvSpPr>
            <p:spPr>
              <a:xfrm>
                <a:off x="4669650" y="2370916"/>
                <a:ext cx="66000" cy="6105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Google Shape;2073;p106"/>
              <p:cNvSpPr/>
              <p:nvPr/>
            </p:nvSpPr>
            <p:spPr>
              <a:xfrm>
                <a:off x="4775450" y="2710695"/>
                <a:ext cx="66000" cy="270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Google Shape;2074;p106"/>
              <p:cNvSpPr/>
              <p:nvPr/>
            </p:nvSpPr>
            <p:spPr>
              <a:xfrm>
                <a:off x="4881275" y="2775192"/>
                <a:ext cx="66000" cy="2061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Google Shape;2075;p106"/>
              <p:cNvSpPr/>
              <p:nvPr/>
            </p:nvSpPr>
            <p:spPr>
              <a:xfrm>
                <a:off x="5092881" y="2567513"/>
                <a:ext cx="66000" cy="4137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Google Shape;2076;p106"/>
              <p:cNvSpPr/>
              <p:nvPr/>
            </p:nvSpPr>
            <p:spPr>
              <a:xfrm>
                <a:off x="5198689" y="2775088"/>
                <a:ext cx="66000" cy="2061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Google Shape;2077;p106"/>
              <p:cNvSpPr/>
              <p:nvPr/>
            </p:nvSpPr>
            <p:spPr>
              <a:xfrm>
                <a:off x="4982497" y="2981300"/>
                <a:ext cx="66000" cy="135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oogle Shape;2078;p106"/>
            <p:cNvGrpSpPr/>
            <p:nvPr/>
          </p:nvGrpSpPr>
          <p:grpSpPr>
            <a:xfrm>
              <a:off x="7966552" y="2464136"/>
              <a:ext cx="1765500" cy="827315"/>
              <a:chOff x="3582878" y="3595700"/>
              <a:chExt cx="1765500" cy="827315"/>
            </a:xfrm>
          </p:grpSpPr>
          <p:cxnSp>
            <p:nvCxnSpPr>
              <p:cNvPr id="23" name="Google Shape;2079;p106"/>
              <p:cNvCxnSpPr/>
              <p:nvPr/>
            </p:nvCxnSpPr>
            <p:spPr>
              <a:xfrm>
                <a:off x="3582878" y="4147400"/>
                <a:ext cx="17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" name="Google Shape;2080;p106"/>
              <p:cNvSpPr/>
              <p:nvPr/>
            </p:nvSpPr>
            <p:spPr>
              <a:xfrm>
                <a:off x="3640600" y="3595700"/>
                <a:ext cx="132000" cy="5517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Google Shape;2081;p106"/>
              <p:cNvSpPr/>
              <p:nvPr/>
            </p:nvSpPr>
            <p:spPr>
              <a:xfrm>
                <a:off x="3852200" y="3855162"/>
                <a:ext cx="132000" cy="2922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Google Shape;2082;p106"/>
              <p:cNvSpPr/>
              <p:nvPr/>
            </p:nvSpPr>
            <p:spPr>
              <a:xfrm rot="10800000" flipH="1">
                <a:off x="4063800" y="4142981"/>
                <a:ext cx="132000" cy="1146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Google Shape;2083;p106"/>
              <p:cNvSpPr/>
              <p:nvPr/>
            </p:nvSpPr>
            <p:spPr>
              <a:xfrm rot="10800000" flipH="1">
                <a:off x="4275400" y="4152415"/>
                <a:ext cx="132000" cy="2706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Google Shape;2084;p106"/>
              <p:cNvSpPr/>
              <p:nvPr/>
            </p:nvSpPr>
            <p:spPr>
              <a:xfrm>
                <a:off x="4487025" y="3899275"/>
                <a:ext cx="132000" cy="248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Google Shape;2085;p106"/>
              <p:cNvSpPr/>
              <p:nvPr/>
            </p:nvSpPr>
            <p:spPr>
              <a:xfrm>
                <a:off x="4698614" y="4012100"/>
                <a:ext cx="132000" cy="1353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Google Shape;2086;p106"/>
              <p:cNvSpPr/>
              <p:nvPr/>
            </p:nvSpPr>
            <p:spPr>
              <a:xfrm rot="10800000" flipH="1">
                <a:off x="4910225" y="4149039"/>
                <a:ext cx="132000" cy="206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Google Shape;2087;p106"/>
              <p:cNvSpPr/>
              <p:nvPr/>
            </p:nvSpPr>
            <p:spPr>
              <a:xfrm>
                <a:off x="5121815" y="3941200"/>
                <a:ext cx="132000" cy="206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58" name="Google Shape;2088;p106"/>
          <p:cNvCxnSpPr/>
          <p:nvPr/>
        </p:nvCxnSpPr>
        <p:spPr>
          <a:xfrm>
            <a:off x="8585163" y="2911460"/>
            <a:ext cx="0" cy="874572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" name="Google Shape;2089;p106"/>
          <p:cNvSpPr txBox="1"/>
          <p:nvPr/>
        </p:nvSpPr>
        <p:spPr>
          <a:xfrm>
            <a:off x="6335600" y="3509804"/>
            <a:ext cx="2037669" cy="524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Krizhevsky, Sutskever, and Hinton, “Imagenet classification with deep convolutional neural networks”, NIPS 2012.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Figure copyright Krizhevsky, Sutskever, and Hinton, 2012. Reproduced with permission.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2039;p106"/>
          <p:cNvSpPr txBox="1"/>
          <p:nvPr/>
        </p:nvSpPr>
        <p:spPr>
          <a:xfrm>
            <a:off x="6742088" y="2182745"/>
            <a:ext cx="1984332" cy="65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b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10</a:t>
            </a:r>
            <a:r>
              <a:rPr kumimoji="0" lang="en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数字给出各类别的响应分值</a:t>
            </a:r>
            <a:endParaRPr kumimoji="0" lang="en-US" altLang="zh-CN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1" name="Google Shape;2027;p105"/>
          <p:cNvPicPr preferRelativeResize="0"/>
          <p:nvPr/>
        </p:nvPicPr>
        <p:blipFill rotWithShape="1">
          <a:blip r:embed="rId3">
            <a:alphaModFix/>
          </a:blip>
          <a:srcRect r="27262"/>
          <a:stretch/>
        </p:blipFill>
        <p:spPr>
          <a:xfrm>
            <a:off x="629574" y="1806493"/>
            <a:ext cx="1205662" cy="124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2027;p105"/>
          <p:cNvPicPr preferRelativeResize="0"/>
          <p:nvPr/>
        </p:nvPicPr>
        <p:blipFill rotWithShape="1">
          <a:blip r:embed="rId3">
            <a:alphaModFix/>
          </a:blip>
          <a:srcRect r="27262"/>
          <a:stretch/>
        </p:blipFill>
        <p:spPr>
          <a:xfrm>
            <a:off x="629574" y="3559597"/>
            <a:ext cx="1205662" cy="12431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1268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</a:rPr>
              <a:t>6.1.1.</a:t>
            </a:r>
            <a:r>
              <a:rPr lang="zh-CN" altLang="en-US" dirty="0">
                <a:solidFill>
                  <a:srgbClr val="00B050"/>
                </a:solidFill>
              </a:rPr>
              <a:t>多层神经网络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6.1.2.</a:t>
            </a:r>
            <a:r>
              <a:rPr lang="zh-CN" altLang="en-US" dirty="0"/>
              <a:t>激活函数</a:t>
            </a:r>
            <a:endParaRPr lang="en-US" dirty="0"/>
          </a:p>
          <a:p>
            <a:r>
              <a:rPr lang="en-US" altLang="zh-CN" dirty="0"/>
              <a:t>6.1.3.</a:t>
            </a:r>
            <a:r>
              <a:rPr lang="zh-CN" altLang="en-US" dirty="0"/>
              <a:t>后向传播算法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2684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363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26699" y="2209643"/>
            <a:ext cx="1648738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64;p56"/>
          <p:cNvSpPr txBox="1"/>
          <p:nvPr/>
        </p:nvSpPr>
        <p:spPr>
          <a:xfrm>
            <a:off x="499620" y="2171003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前面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线性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oogle Shape;36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219" y="2799240"/>
            <a:ext cx="2815604" cy="57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787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363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26699" y="2209643"/>
            <a:ext cx="1648738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64;p56"/>
          <p:cNvSpPr txBox="1"/>
          <p:nvPr/>
        </p:nvSpPr>
        <p:spPr>
          <a:xfrm>
            <a:off x="499620" y="2171003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373;p57"/>
          <p:cNvSpPr txBox="1"/>
          <p:nvPr/>
        </p:nvSpPr>
        <p:spPr>
          <a:xfrm>
            <a:off x="497621" y="2747753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现在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2-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层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神经网络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Google Shape;3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809" y="2805163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76;p57"/>
          <p:cNvSpPr txBox="1"/>
          <p:nvPr/>
        </p:nvSpPr>
        <p:spPr>
          <a:xfrm>
            <a:off x="2420741" y="5181736"/>
            <a:ext cx="6780408" cy="4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实际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中每层有一个偏置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Google Shape;377;p57"/>
          <p:cNvPicPr preferRelativeResize="0"/>
          <p:nvPr/>
        </p:nvPicPr>
        <p:blipFill rotWithShape="1">
          <a:blip r:embed="rId4">
            <a:alphaModFix/>
          </a:blip>
          <a:srcRect r="78121"/>
          <a:stretch/>
        </p:blipFill>
        <p:spPr>
          <a:xfrm>
            <a:off x="7862620" y="3400683"/>
            <a:ext cx="1052780" cy="63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77;p57"/>
          <p:cNvPicPr preferRelativeResize="0"/>
          <p:nvPr/>
        </p:nvPicPr>
        <p:blipFill rotWithShape="1">
          <a:blip r:embed="rId4">
            <a:alphaModFix/>
          </a:blip>
          <a:srcRect l="24194" r="40446"/>
          <a:stretch/>
        </p:blipFill>
        <p:spPr>
          <a:xfrm>
            <a:off x="5986043" y="3400683"/>
            <a:ext cx="1701479" cy="63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77;p57"/>
          <p:cNvPicPr preferRelativeResize="0"/>
          <p:nvPr/>
        </p:nvPicPr>
        <p:blipFill rotWithShape="1">
          <a:blip r:embed="rId4">
            <a:alphaModFix/>
          </a:blip>
          <a:srcRect l="62379" r="2511"/>
          <a:stretch/>
        </p:blipFill>
        <p:spPr>
          <a:xfrm>
            <a:off x="4121495" y="3400683"/>
            <a:ext cx="1689450" cy="6365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1502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396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74798" y="3613927"/>
            <a:ext cx="5422847" cy="494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9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699" y="2209643"/>
            <a:ext cx="1648738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9;p59"/>
          <p:cNvSpPr txBox="1"/>
          <p:nvPr/>
        </p:nvSpPr>
        <p:spPr>
          <a:xfrm>
            <a:off x="499620" y="2171003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00;p59"/>
          <p:cNvSpPr txBox="1"/>
          <p:nvPr/>
        </p:nvSpPr>
        <p:spPr>
          <a:xfrm>
            <a:off x="497621" y="2747753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现在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2-</a:t>
            </a:r>
            <a:r>
              <a:rPr lang="zh-CN" altLang="en" sz="2399" dirty="0">
                <a:solidFill>
                  <a:prstClr val="black"/>
                </a:solidFill>
              </a:rPr>
              <a:t>层</a:t>
            </a:r>
            <a:r>
              <a:rPr lang="zh-CN" altLang="en-US" sz="2399" dirty="0">
                <a:solidFill>
                  <a:prstClr val="black"/>
                </a:solidFill>
              </a:rPr>
              <a:t>神经网络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  <a:p>
            <a:pPr lvl="0" defTabSz="685800"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或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</a:t>
            </a:r>
            <a:r>
              <a:rPr lang="zh-CN" altLang="en" sz="2399" dirty="0">
                <a:solidFill>
                  <a:prstClr val="black"/>
                </a:solidFill>
              </a:rPr>
              <a:t>层</a:t>
            </a:r>
            <a:r>
              <a:rPr lang="zh-CN" altLang="en-US" sz="2399" dirty="0">
                <a:solidFill>
                  <a:prstClr val="black"/>
                </a:solidFill>
              </a:rPr>
              <a:t>神经网络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oogle Shape;40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9809" y="2805163"/>
            <a:ext cx="3553949" cy="494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03;p59"/>
          <p:cNvPicPr preferRelativeResize="0"/>
          <p:nvPr/>
        </p:nvPicPr>
        <p:blipFill rotWithShape="1">
          <a:blip r:embed="rId5">
            <a:alphaModFix/>
          </a:blip>
          <a:srcRect r="85213"/>
          <a:stretch/>
        </p:blipFill>
        <p:spPr>
          <a:xfrm>
            <a:off x="7685500" y="4372972"/>
            <a:ext cx="1004195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76;p57"/>
          <p:cNvSpPr txBox="1"/>
          <p:nvPr/>
        </p:nvSpPr>
        <p:spPr>
          <a:xfrm>
            <a:off x="2420741" y="5181736"/>
            <a:ext cx="6780408" cy="4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" sz="1865" dirty="0">
                <a:solidFill>
                  <a:prstClr val="black"/>
                </a:solidFill>
              </a:rPr>
              <a:t>实际</a:t>
            </a:r>
            <a:r>
              <a:rPr lang="zh-CN" altLang="en-US" sz="1865" dirty="0">
                <a:solidFill>
                  <a:prstClr val="black"/>
                </a:solidFill>
              </a:rPr>
              <a:t>中每层有一个偏置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Google Shape;403;p59"/>
          <p:cNvPicPr preferRelativeResize="0"/>
          <p:nvPr/>
        </p:nvPicPr>
        <p:blipFill rotWithShape="1">
          <a:blip r:embed="rId5">
            <a:alphaModFix/>
          </a:blip>
          <a:srcRect l="16812" r="57366"/>
          <a:stretch/>
        </p:blipFill>
        <p:spPr>
          <a:xfrm>
            <a:off x="5599757" y="4372971"/>
            <a:ext cx="1753564" cy="494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03;p59"/>
          <p:cNvPicPr preferRelativeResize="0"/>
          <p:nvPr/>
        </p:nvPicPr>
        <p:blipFill rotWithShape="1">
          <a:blip r:embed="rId5">
            <a:alphaModFix/>
          </a:blip>
          <a:srcRect l="44509" r="28391"/>
          <a:stretch/>
        </p:blipFill>
        <p:spPr>
          <a:xfrm>
            <a:off x="3427203" y="4372972"/>
            <a:ext cx="1840375" cy="494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403;p59"/>
          <p:cNvPicPr preferRelativeResize="0"/>
          <p:nvPr/>
        </p:nvPicPr>
        <p:blipFill rotWithShape="1">
          <a:blip r:embed="rId5">
            <a:alphaModFix/>
          </a:blip>
          <a:srcRect l="74031" r="403"/>
          <a:stretch/>
        </p:blipFill>
        <p:spPr>
          <a:xfrm>
            <a:off x="1524911" y="4397832"/>
            <a:ext cx="1736203" cy="4946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2486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0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26699" y="1704374"/>
            <a:ext cx="1648738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0;p60"/>
          <p:cNvSpPr txBox="1"/>
          <p:nvPr/>
        </p:nvSpPr>
        <p:spPr>
          <a:xfrm>
            <a:off x="499620" y="166573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411;p60"/>
          <p:cNvSpPr txBox="1"/>
          <p:nvPr/>
        </p:nvSpPr>
        <p:spPr>
          <a:xfrm>
            <a:off x="497621" y="224248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b="1" dirty="0">
                <a:solidFill>
                  <a:prstClr val="black"/>
                </a:solidFill>
              </a:rPr>
              <a:t>现在</a:t>
            </a:r>
            <a:r>
              <a:rPr lang="en" altLang="zh-CN" sz="2399" dirty="0">
                <a:solidFill>
                  <a:prstClr val="black"/>
                </a:solidFill>
              </a:rPr>
              <a:t>) 2-</a:t>
            </a:r>
            <a:r>
              <a:rPr lang="zh-CN" altLang="en" sz="2399" dirty="0">
                <a:solidFill>
                  <a:prstClr val="black"/>
                </a:solidFill>
              </a:rPr>
              <a:t>层</a:t>
            </a:r>
            <a:r>
              <a:rPr lang="zh-CN" altLang="en-US" sz="2399" dirty="0">
                <a:solidFill>
                  <a:prstClr val="black"/>
                </a:solidFill>
              </a:rPr>
              <a:t>神经网络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oogle Shape;4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809" y="2299894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414;p60"/>
          <p:cNvSpPr/>
          <p:nvPr/>
        </p:nvSpPr>
        <p:spPr>
          <a:xfrm>
            <a:off x="2787524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4135376" y="3314594"/>
            <a:ext cx="448083" cy="8562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 rot="10800000" flipH="1">
            <a:off x="3235636" y="4170880"/>
            <a:ext cx="904265" cy="272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>
            <a:off x="3235636" y="2986507"/>
            <a:ext cx="912362" cy="3281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418;p60"/>
          <p:cNvSpPr txBox="1"/>
          <p:nvPr/>
        </p:nvSpPr>
        <p:spPr>
          <a:xfrm>
            <a:off x="3363707" y="3485291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419;p60"/>
          <p:cNvSpPr/>
          <p:nvPr/>
        </p:nvSpPr>
        <p:spPr>
          <a:xfrm>
            <a:off x="5547236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4563990" y="3314593"/>
            <a:ext cx="1000240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rot="10800000" flipH="1">
            <a:off x="4579999" y="3970492"/>
            <a:ext cx="968448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22;p60"/>
          <p:cNvSpPr txBox="1"/>
          <p:nvPr/>
        </p:nvSpPr>
        <p:spPr>
          <a:xfrm>
            <a:off x="4737800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Google Shape;42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3002" y="4821861"/>
            <a:ext cx="4811723" cy="63654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2011604" y="3447418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67188" y="4249555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94081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</p:spTree>
    <p:extLst>
      <p:ext uri="{BB962C8B-B14F-4D97-AF65-F5344CB8AC3E}">
        <p14:creationId xmlns:p14="http://schemas.microsoft.com/office/powerpoint/2010/main" val="1184744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0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26699" y="1704374"/>
            <a:ext cx="1648738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0;p60"/>
          <p:cNvSpPr txBox="1"/>
          <p:nvPr/>
        </p:nvSpPr>
        <p:spPr>
          <a:xfrm>
            <a:off x="499620" y="166573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411;p60"/>
          <p:cNvSpPr txBox="1"/>
          <p:nvPr/>
        </p:nvSpPr>
        <p:spPr>
          <a:xfrm>
            <a:off x="497621" y="224248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(</a:t>
            </a:r>
            <a:r>
              <a:rPr lang="zh-CN" altLang="en-US" sz="2399" b="1" dirty="0">
                <a:solidFill>
                  <a:prstClr val="black"/>
                </a:solidFill>
              </a:rPr>
              <a:t>现在</a:t>
            </a:r>
            <a:r>
              <a:rPr lang="en-US" altLang="zh-CN" sz="2399" dirty="0">
                <a:solidFill>
                  <a:prstClr val="black"/>
                </a:solidFill>
              </a:rPr>
              <a:t>) 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oogle Shape;4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809" y="2299894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414;p60"/>
          <p:cNvSpPr/>
          <p:nvPr/>
        </p:nvSpPr>
        <p:spPr>
          <a:xfrm>
            <a:off x="2787524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4135376" y="3314594"/>
            <a:ext cx="448083" cy="8562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 rot="10800000" flipH="1">
            <a:off x="3235636" y="4170880"/>
            <a:ext cx="904265" cy="272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>
            <a:off x="3235636" y="2986507"/>
            <a:ext cx="912362" cy="3281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419;p60"/>
          <p:cNvSpPr/>
          <p:nvPr/>
        </p:nvSpPr>
        <p:spPr>
          <a:xfrm>
            <a:off x="5547236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4563990" y="3314593"/>
            <a:ext cx="1000240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rot="10800000" flipH="1">
            <a:off x="4579999" y="3970492"/>
            <a:ext cx="968448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" name="Google Shape;42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3002" y="4821861"/>
            <a:ext cx="4811723" cy="63654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2011604" y="3447418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67188" y="4249555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94081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831" y="3124350"/>
            <a:ext cx="1412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W</a:t>
            </a:r>
            <a:r>
              <a:rPr lang="en-US" altLang="zh-CN" baseline="-25000" dirty="0">
                <a:solidFill>
                  <a:prstClr val="black"/>
                </a:solidFill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元素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j)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给出了</a:t>
            </a:r>
            <a:r>
              <a:rPr lang="en-US" altLang="zh-CN" dirty="0" err="1">
                <a:solidFill>
                  <a:prstClr val="black"/>
                </a:solidFill>
              </a:rPr>
              <a:t>x</a:t>
            </a:r>
            <a:r>
              <a:rPr lang="en-US" altLang="zh-CN" baseline="-25000" dirty="0" err="1">
                <a:solidFill>
                  <a:prstClr val="black"/>
                </a:solidFill>
              </a:rPr>
              <a:t>j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</a:t>
            </a:r>
            <a:r>
              <a:rPr lang="en-US" altLang="zh-CN" dirty="0">
                <a:solidFill>
                  <a:prstClr val="black"/>
                </a:solidFill>
              </a:rPr>
              <a:t>h</a:t>
            </a:r>
            <a:r>
              <a:rPr lang="en-US" altLang="zh-CN" baseline="-25000" dirty="0">
                <a:solidFill>
                  <a:prstClr val="black"/>
                </a:solidFill>
              </a:rPr>
              <a:t>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的影响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003806" y="3150565"/>
            <a:ext cx="1348130" cy="8150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03751" y="3118104"/>
            <a:ext cx="1406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W</a:t>
            </a:r>
            <a:r>
              <a:rPr lang="en-US" altLang="zh-CN" baseline="-25000" dirty="0">
                <a:solidFill>
                  <a:prstClr val="black"/>
                </a:solidFill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元素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j)</a:t>
            </a:r>
            <a:r>
              <a:rPr lang="zh-CN" altLang="en-US" dirty="0">
                <a:solidFill>
                  <a:prstClr val="black"/>
                </a:solidFill>
              </a:rPr>
              <a:t>给出了</a:t>
            </a:r>
            <a:r>
              <a:rPr lang="en-US" altLang="zh-CN" dirty="0" err="1">
                <a:solidFill>
                  <a:prstClr val="black"/>
                </a:solidFill>
              </a:rPr>
              <a:t>h</a:t>
            </a:r>
            <a:r>
              <a:rPr lang="en-US" altLang="zh-CN" baseline="-25000" dirty="0" err="1">
                <a:solidFill>
                  <a:prstClr val="black"/>
                </a:solidFill>
              </a:rPr>
              <a:t>j</a:t>
            </a:r>
            <a:r>
              <a:rPr lang="en-US" altLang="zh-CN" baseline="-25000" dirty="0">
                <a:solidFill>
                  <a:prstClr val="black"/>
                </a:solidFill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lang="zh-CN" altLang="en-US" dirty="0">
                <a:solidFill>
                  <a:prstClr val="black"/>
                </a:solidFill>
              </a:rPr>
              <a:t>影响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4341971" y="3598153"/>
            <a:ext cx="1467057" cy="36728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oogle Shape;418;p60"/>
          <p:cNvSpPr txBox="1"/>
          <p:nvPr/>
        </p:nvSpPr>
        <p:spPr>
          <a:xfrm>
            <a:off x="3363707" y="3485291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422;p60"/>
          <p:cNvSpPr txBox="1"/>
          <p:nvPr/>
        </p:nvSpPr>
        <p:spPr>
          <a:xfrm>
            <a:off x="4737800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498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0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26699" y="1704374"/>
            <a:ext cx="1648738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0;p60"/>
          <p:cNvSpPr txBox="1"/>
          <p:nvPr/>
        </p:nvSpPr>
        <p:spPr>
          <a:xfrm>
            <a:off x="499620" y="166573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411;p60"/>
          <p:cNvSpPr txBox="1"/>
          <p:nvPr/>
        </p:nvSpPr>
        <p:spPr>
          <a:xfrm>
            <a:off x="497621" y="224248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(</a:t>
            </a:r>
            <a:r>
              <a:rPr lang="zh-CN" altLang="en-US" sz="2399" b="1" dirty="0">
                <a:solidFill>
                  <a:prstClr val="black"/>
                </a:solidFill>
              </a:rPr>
              <a:t>现在</a:t>
            </a:r>
            <a:r>
              <a:rPr lang="en-US" altLang="zh-CN" sz="2399" dirty="0">
                <a:solidFill>
                  <a:prstClr val="black"/>
                </a:solidFill>
              </a:rPr>
              <a:t>) 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oogle Shape;4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809" y="2299894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414;p60"/>
          <p:cNvSpPr/>
          <p:nvPr/>
        </p:nvSpPr>
        <p:spPr>
          <a:xfrm>
            <a:off x="2787524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4135376" y="3314594"/>
            <a:ext cx="448083" cy="8562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 rot="10800000" flipH="1">
            <a:off x="3235636" y="4170880"/>
            <a:ext cx="904265" cy="272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>
            <a:off x="3235636" y="2986507"/>
            <a:ext cx="912362" cy="3281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418;p60"/>
          <p:cNvSpPr txBox="1"/>
          <p:nvPr/>
        </p:nvSpPr>
        <p:spPr>
          <a:xfrm>
            <a:off x="3363707" y="3485291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419;p60"/>
          <p:cNvSpPr/>
          <p:nvPr/>
        </p:nvSpPr>
        <p:spPr>
          <a:xfrm>
            <a:off x="5547236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4563990" y="3314593"/>
            <a:ext cx="1000240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rot="10800000" flipH="1">
            <a:off x="4579999" y="3970492"/>
            <a:ext cx="968448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22;p60"/>
          <p:cNvSpPr txBox="1"/>
          <p:nvPr/>
        </p:nvSpPr>
        <p:spPr>
          <a:xfrm>
            <a:off x="4737800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011604" y="3447418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67188" y="4249555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94081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45" y="2959108"/>
            <a:ext cx="1894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W</a:t>
            </a:r>
            <a:r>
              <a:rPr lang="en-US" altLang="zh-CN" baseline="-25000" dirty="0">
                <a:solidFill>
                  <a:prstClr val="black"/>
                </a:solidFill>
              </a:rPr>
              <a:t>1</a:t>
            </a:r>
            <a:r>
              <a:rPr lang="zh-CN" altLang="en-US" dirty="0">
                <a:solidFill>
                  <a:prstClr val="black"/>
                </a:solidFill>
              </a:rPr>
              <a:t>元素</a:t>
            </a:r>
            <a:r>
              <a:rPr lang="en-US" altLang="zh-CN" dirty="0">
                <a:solidFill>
                  <a:prstClr val="black"/>
                </a:solidFill>
              </a:rPr>
              <a:t> (</a:t>
            </a:r>
            <a:r>
              <a:rPr lang="en-US" altLang="zh-CN" dirty="0" err="1">
                <a:solidFill>
                  <a:prstClr val="black"/>
                </a:solidFill>
              </a:rPr>
              <a:t>i</a:t>
            </a:r>
            <a:r>
              <a:rPr lang="en-US" altLang="zh-CN" dirty="0">
                <a:solidFill>
                  <a:prstClr val="black"/>
                </a:solidFill>
              </a:rPr>
              <a:t>, j) </a:t>
            </a:r>
            <a:r>
              <a:rPr lang="zh-CN" altLang="en-US" dirty="0">
                <a:solidFill>
                  <a:prstClr val="black"/>
                </a:solidFill>
              </a:rPr>
              <a:t>给出了</a:t>
            </a:r>
            <a:r>
              <a:rPr lang="en-US" altLang="zh-CN" dirty="0" err="1">
                <a:solidFill>
                  <a:prstClr val="black"/>
                </a:solidFill>
              </a:rPr>
              <a:t>x</a:t>
            </a:r>
            <a:r>
              <a:rPr lang="en-US" altLang="zh-CN" baseline="-25000" dirty="0" err="1">
                <a:solidFill>
                  <a:prstClr val="black"/>
                </a:solidFill>
              </a:rPr>
              <a:t>j</a:t>
            </a:r>
            <a:r>
              <a:rPr lang="zh-CN" altLang="en-US" dirty="0">
                <a:solidFill>
                  <a:prstClr val="black"/>
                </a:solidFill>
              </a:rPr>
              <a:t>对</a:t>
            </a:r>
            <a:r>
              <a:rPr lang="en-US" altLang="zh-CN" dirty="0">
                <a:solidFill>
                  <a:prstClr val="black"/>
                </a:solidFill>
              </a:rPr>
              <a:t>h</a:t>
            </a:r>
            <a:r>
              <a:rPr lang="en-US" altLang="zh-CN" baseline="-25000" dirty="0">
                <a:solidFill>
                  <a:prstClr val="black"/>
                </a:solidFill>
              </a:rPr>
              <a:t>i</a:t>
            </a:r>
            <a:r>
              <a:rPr lang="zh-CN" altLang="en-US" dirty="0">
                <a:solidFill>
                  <a:prstClr val="black"/>
                </a:solidFill>
              </a:rPr>
              <a:t>的影响</a:t>
            </a:r>
            <a:endParaRPr lang="en-US" altLang="zh-CN" dirty="0">
              <a:solidFill>
                <a:prstClr val="black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003806" y="3150565"/>
            <a:ext cx="1348130" cy="8150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75437" y="2955318"/>
            <a:ext cx="189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W</a:t>
            </a:r>
            <a:r>
              <a:rPr lang="en-US" altLang="zh-CN" baseline="-25000" dirty="0">
                <a:solidFill>
                  <a:prstClr val="black"/>
                </a:solidFill>
              </a:rPr>
              <a:t>2</a:t>
            </a:r>
            <a:r>
              <a:rPr lang="zh-CN" altLang="en-US" dirty="0">
                <a:solidFill>
                  <a:prstClr val="black"/>
                </a:solidFill>
              </a:rPr>
              <a:t>元素</a:t>
            </a:r>
            <a:r>
              <a:rPr lang="en-US" altLang="zh-CN" dirty="0">
                <a:solidFill>
                  <a:prstClr val="black"/>
                </a:solidFill>
              </a:rPr>
              <a:t> (</a:t>
            </a:r>
            <a:r>
              <a:rPr lang="en-US" altLang="zh-CN" dirty="0" err="1">
                <a:solidFill>
                  <a:prstClr val="black"/>
                </a:solidFill>
              </a:rPr>
              <a:t>i</a:t>
            </a:r>
            <a:r>
              <a:rPr lang="en-US" altLang="zh-CN" dirty="0">
                <a:solidFill>
                  <a:prstClr val="black"/>
                </a:solidFill>
              </a:rPr>
              <a:t>, j)</a:t>
            </a:r>
            <a:r>
              <a:rPr lang="zh-CN" altLang="en-US" dirty="0">
                <a:solidFill>
                  <a:prstClr val="black"/>
                </a:solidFill>
              </a:rPr>
              <a:t>给出了</a:t>
            </a:r>
            <a:r>
              <a:rPr lang="en-US" altLang="zh-CN" dirty="0" err="1">
                <a:solidFill>
                  <a:prstClr val="black"/>
                </a:solidFill>
              </a:rPr>
              <a:t>h</a:t>
            </a:r>
            <a:r>
              <a:rPr lang="en-US" altLang="zh-CN" baseline="-25000" dirty="0" err="1">
                <a:solidFill>
                  <a:prstClr val="black"/>
                </a:solidFill>
              </a:rPr>
              <a:t>j</a:t>
            </a:r>
            <a:r>
              <a:rPr lang="en-US" altLang="zh-CN" baseline="-25000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对</a:t>
            </a:r>
            <a:r>
              <a:rPr lang="en-US" altLang="zh-CN" dirty="0" err="1">
                <a:solidFill>
                  <a:prstClr val="black"/>
                </a:solidFill>
              </a:rPr>
              <a:t>s</a:t>
            </a:r>
            <a:r>
              <a:rPr lang="en-US" altLang="zh-CN" baseline="-25000" dirty="0" err="1">
                <a:solidFill>
                  <a:prstClr val="black"/>
                </a:solidFill>
              </a:rPr>
              <a:t>i</a:t>
            </a:r>
            <a:r>
              <a:rPr lang="zh-CN" altLang="en-US" dirty="0">
                <a:solidFill>
                  <a:prstClr val="black"/>
                </a:solidFill>
              </a:rPr>
              <a:t>影响</a:t>
            </a:r>
            <a:endParaRPr lang="en-US" altLang="zh-CN" dirty="0">
              <a:solidFill>
                <a:prstClr val="black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4341971" y="3598153"/>
            <a:ext cx="1467057" cy="36728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003806" y="3645863"/>
            <a:ext cx="1338166" cy="32462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981826" y="3970492"/>
            <a:ext cx="1377591" cy="1924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003805" y="3162040"/>
            <a:ext cx="1355612" cy="382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036514" y="3548432"/>
            <a:ext cx="1310232" cy="1054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993841" y="3548222"/>
            <a:ext cx="1352905" cy="6146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346746" y="3537425"/>
            <a:ext cx="1441682" cy="34851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374680" y="3558103"/>
            <a:ext cx="1413748" cy="5423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4366970" y="3898465"/>
            <a:ext cx="1421457" cy="6392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9078" y="4066699"/>
            <a:ext cx="141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的所有元素影响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的所有元素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14213" y="4028193"/>
            <a:ext cx="141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h</a:t>
            </a:r>
            <a:r>
              <a:rPr lang="zh-CN" altLang="en-US" dirty="0">
                <a:solidFill>
                  <a:prstClr val="black"/>
                </a:solidFill>
              </a:rPr>
              <a:t>的所有元素影响</a:t>
            </a:r>
            <a:r>
              <a:rPr lang="en-US" altLang="zh-CN" dirty="0">
                <a:solidFill>
                  <a:prstClr val="black"/>
                </a:solidFill>
              </a:rPr>
              <a:t>s</a:t>
            </a:r>
            <a:r>
              <a:rPr lang="zh-CN" altLang="en-US" dirty="0">
                <a:solidFill>
                  <a:prstClr val="black"/>
                </a:solidFill>
              </a:rPr>
              <a:t>的所有元素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47181" y="4802630"/>
            <a:ext cx="37785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全连接神经网络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也称为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多层感知器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(MLP)</a:t>
            </a:r>
          </a:p>
        </p:txBody>
      </p:sp>
    </p:spTree>
    <p:extLst>
      <p:ext uri="{BB962C8B-B14F-4D97-AF65-F5344CB8AC3E}">
        <p14:creationId xmlns:p14="http://schemas.microsoft.com/office/powerpoint/2010/main" val="156592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414;p60"/>
          <p:cNvSpPr/>
          <p:nvPr/>
        </p:nvSpPr>
        <p:spPr>
          <a:xfrm>
            <a:off x="5027225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6375077" y="3314594"/>
            <a:ext cx="448083" cy="8562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 rot="10800000" flipH="1">
            <a:off x="5475337" y="4170880"/>
            <a:ext cx="904265" cy="272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>
            <a:off x="5475337" y="2986507"/>
            <a:ext cx="912362" cy="3281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418;p60"/>
          <p:cNvSpPr txBox="1"/>
          <p:nvPr/>
        </p:nvSpPr>
        <p:spPr>
          <a:xfrm>
            <a:off x="5603408" y="3485291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419;p60"/>
          <p:cNvSpPr/>
          <p:nvPr/>
        </p:nvSpPr>
        <p:spPr>
          <a:xfrm>
            <a:off x="7786937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6803691" y="3314593"/>
            <a:ext cx="1000240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rot="10800000" flipH="1">
            <a:off x="6819700" y="3970492"/>
            <a:ext cx="968448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22;p60"/>
          <p:cNvSpPr txBox="1"/>
          <p:nvPr/>
        </p:nvSpPr>
        <p:spPr>
          <a:xfrm>
            <a:off x="6977501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Google Shape;42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02703" y="4821861"/>
            <a:ext cx="4811723" cy="63654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4251305" y="3447418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6889" y="4249555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3782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pic>
        <p:nvPicPr>
          <p:cNvPr id="21" name="Google Shape;449;p61"/>
          <p:cNvPicPr preferRelativeResize="0"/>
          <p:nvPr/>
        </p:nvPicPr>
        <p:blipFill rotWithShape="1">
          <a:blip r:embed="rId3">
            <a:alphaModFix/>
          </a:blip>
          <a:srcRect r="50136"/>
          <a:stretch/>
        </p:blipFill>
        <p:spPr>
          <a:xfrm>
            <a:off x="195496" y="2863521"/>
            <a:ext cx="3749591" cy="795418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pic>
        <p:nvPicPr>
          <p:cNvPr id="22" name="Google Shape;449;p61"/>
          <p:cNvPicPr preferRelativeResize="0"/>
          <p:nvPr/>
        </p:nvPicPr>
        <p:blipFill rotWithShape="1">
          <a:blip r:embed="rId3">
            <a:alphaModFix/>
          </a:blip>
          <a:srcRect l="49899" r="-15"/>
          <a:stretch/>
        </p:blipFill>
        <p:spPr>
          <a:xfrm>
            <a:off x="177575" y="3753483"/>
            <a:ext cx="3768543" cy="795418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8" name="TextBox 7"/>
          <p:cNvSpPr txBox="1"/>
          <p:nvPr/>
        </p:nvSpPr>
        <p:spPr>
          <a:xfrm>
            <a:off x="185084" y="2493638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线性分类器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每类一个模板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410;p60"/>
          <p:cNvSpPr txBox="1"/>
          <p:nvPr/>
        </p:nvSpPr>
        <p:spPr>
          <a:xfrm>
            <a:off x="4553656" y="166573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11;p60"/>
          <p:cNvSpPr txBox="1"/>
          <p:nvPr/>
        </p:nvSpPr>
        <p:spPr>
          <a:xfrm>
            <a:off x="4551657" y="224248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(</a:t>
            </a:r>
            <a:r>
              <a:rPr lang="zh-CN" altLang="en-US" sz="2399" b="1" dirty="0">
                <a:solidFill>
                  <a:prstClr val="black"/>
                </a:solidFill>
              </a:rPr>
              <a:t>现在</a:t>
            </a:r>
            <a:r>
              <a:rPr lang="en-US" altLang="zh-CN" sz="2399" dirty="0">
                <a:solidFill>
                  <a:prstClr val="black"/>
                </a:solidFill>
              </a:rPr>
              <a:t>) 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265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10;p60"/>
          <p:cNvSpPr txBox="1"/>
          <p:nvPr/>
        </p:nvSpPr>
        <p:spPr>
          <a:xfrm>
            <a:off x="4527613" y="1665734"/>
            <a:ext cx="3987738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411;p60"/>
          <p:cNvSpPr txBox="1"/>
          <p:nvPr/>
        </p:nvSpPr>
        <p:spPr>
          <a:xfrm>
            <a:off x="4525614" y="2242484"/>
            <a:ext cx="3987738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(</a:t>
            </a:r>
            <a:r>
              <a:rPr lang="zh-CN" altLang="en-US" sz="2399" b="1" dirty="0">
                <a:solidFill>
                  <a:prstClr val="black"/>
                </a:solidFill>
              </a:rPr>
              <a:t>现在</a:t>
            </a:r>
            <a:r>
              <a:rPr lang="en-US" altLang="zh-CN" sz="2399" dirty="0">
                <a:solidFill>
                  <a:prstClr val="black"/>
                </a:solidFill>
              </a:rPr>
              <a:t>) 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414;p60"/>
          <p:cNvSpPr/>
          <p:nvPr/>
        </p:nvSpPr>
        <p:spPr>
          <a:xfrm>
            <a:off x="5027225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6375077" y="3314594"/>
            <a:ext cx="448083" cy="8562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 rot="10800000" flipH="1">
            <a:off x="5475337" y="4170880"/>
            <a:ext cx="904265" cy="272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>
            <a:off x="5475337" y="2986507"/>
            <a:ext cx="912362" cy="3281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419;p60"/>
          <p:cNvSpPr/>
          <p:nvPr/>
        </p:nvSpPr>
        <p:spPr>
          <a:xfrm>
            <a:off x="7786937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6803691" y="3314593"/>
            <a:ext cx="1000240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rot="10800000" flipH="1">
            <a:off x="6819700" y="3970492"/>
            <a:ext cx="968448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" name="Google Shape;42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02703" y="4821861"/>
            <a:ext cx="4811723" cy="63654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4251305" y="3447418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6889" y="4249555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3782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582" y="1628149"/>
            <a:ext cx="2993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神经网络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第一层是模板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第二层是第一层模板的组合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7" t="1618" r="1061" b="4910"/>
          <a:stretch/>
        </p:blipFill>
        <p:spPr>
          <a:xfrm>
            <a:off x="430598" y="2251047"/>
            <a:ext cx="3373835" cy="3366834"/>
          </a:xfrm>
          <a:prstGeom prst="rect">
            <a:avLst/>
          </a:prstGeom>
        </p:spPr>
      </p:pic>
      <p:sp>
        <p:nvSpPr>
          <p:cNvPr id="24" name="Google Shape;418;p60"/>
          <p:cNvSpPr txBox="1"/>
          <p:nvPr/>
        </p:nvSpPr>
        <p:spPr>
          <a:xfrm>
            <a:off x="5603408" y="3485291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22;p60"/>
          <p:cNvSpPr txBox="1"/>
          <p:nvPr/>
        </p:nvSpPr>
        <p:spPr>
          <a:xfrm>
            <a:off x="6977501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578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10;p60"/>
          <p:cNvSpPr txBox="1"/>
          <p:nvPr/>
        </p:nvSpPr>
        <p:spPr>
          <a:xfrm>
            <a:off x="4527613" y="1665734"/>
            <a:ext cx="3987738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411;p60"/>
          <p:cNvSpPr txBox="1"/>
          <p:nvPr/>
        </p:nvSpPr>
        <p:spPr>
          <a:xfrm>
            <a:off x="4525614" y="2242484"/>
            <a:ext cx="3987738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(</a:t>
            </a:r>
            <a:r>
              <a:rPr lang="zh-CN" altLang="en-US" sz="2399" b="1" dirty="0">
                <a:solidFill>
                  <a:prstClr val="black"/>
                </a:solidFill>
              </a:rPr>
              <a:t>现在</a:t>
            </a:r>
            <a:r>
              <a:rPr lang="en-US" altLang="zh-CN" sz="2399" dirty="0">
                <a:solidFill>
                  <a:prstClr val="black"/>
                </a:solidFill>
              </a:rPr>
              <a:t>) 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414;p60"/>
          <p:cNvSpPr/>
          <p:nvPr/>
        </p:nvSpPr>
        <p:spPr>
          <a:xfrm>
            <a:off x="5027225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6375077" y="3314594"/>
            <a:ext cx="448083" cy="8562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 rot="10800000" flipH="1">
            <a:off x="5475337" y="4170880"/>
            <a:ext cx="904265" cy="272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>
            <a:off x="5475337" y="2986507"/>
            <a:ext cx="912362" cy="3281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419;p60"/>
          <p:cNvSpPr/>
          <p:nvPr/>
        </p:nvSpPr>
        <p:spPr>
          <a:xfrm>
            <a:off x="7786937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6803691" y="3314593"/>
            <a:ext cx="1000240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rot="10800000" flipH="1">
            <a:off x="6819700" y="3970492"/>
            <a:ext cx="968448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" name="Google Shape;42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02703" y="4821861"/>
            <a:ext cx="4811723" cy="63654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4251305" y="3447418"/>
            <a:ext cx="716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6889" y="4249555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3782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275" y="1432609"/>
            <a:ext cx="3250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能使用不同模板去建模图像的多种模式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7" t="1618" r="1061" b="4910"/>
          <a:stretch/>
        </p:blipFill>
        <p:spPr>
          <a:xfrm>
            <a:off x="430598" y="2251047"/>
            <a:ext cx="3373835" cy="33668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94674" y="2671581"/>
            <a:ext cx="423494" cy="41668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954868" y="2681709"/>
            <a:ext cx="423494" cy="41668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418;p60"/>
          <p:cNvSpPr txBox="1"/>
          <p:nvPr/>
        </p:nvSpPr>
        <p:spPr>
          <a:xfrm>
            <a:off x="5603408" y="3485291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22;p60"/>
          <p:cNvSpPr txBox="1"/>
          <p:nvPr/>
        </p:nvSpPr>
        <p:spPr>
          <a:xfrm>
            <a:off x="6977501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90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10;p60"/>
          <p:cNvSpPr txBox="1"/>
          <p:nvPr/>
        </p:nvSpPr>
        <p:spPr>
          <a:xfrm>
            <a:off x="4527613" y="1665734"/>
            <a:ext cx="3987738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411;p60"/>
          <p:cNvSpPr txBox="1"/>
          <p:nvPr/>
        </p:nvSpPr>
        <p:spPr>
          <a:xfrm>
            <a:off x="4525614" y="2242484"/>
            <a:ext cx="3987738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(</a:t>
            </a:r>
            <a:r>
              <a:rPr lang="zh-CN" altLang="en-US" sz="2399" b="1" dirty="0">
                <a:solidFill>
                  <a:prstClr val="black"/>
                </a:solidFill>
              </a:rPr>
              <a:t>现在</a:t>
            </a:r>
            <a:r>
              <a:rPr lang="en-US" altLang="zh-CN" sz="2399" dirty="0">
                <a:solidFill>
                  <a:prstClr val="black"/>
                </a:solidFill>
              </a:rPr>
              <a:t>) 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414;p60"/>
          <p:cNvSpPr/>
          <p:nvPr/>
        </p:nvSpPr>
        <p:spPr>
          <a:xfrm>
            <a:off x="5027225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6375077" y="3314594"/>
            <a:ext cx="448083" cy="8562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 rot="10800000" flipH="1">
            <a:off x="5475337" y="4170880"/>
            <a:ext cx="904265" cy="272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>
            <a:off x="5475337" y="2986507"/>
            <a:ext cx="912362" cy="3281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419;p60"/>
          <p:cNvSpPr/>
          <p:nvPr/>
        </p:nvSpPr>
        <p:spPr>
          <a:xfrm>
            <a:off x="7786937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6803691" y="3314593"/>
            <a:ext cx="1000240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rot="10800000" flipH="1">
            <a:off x="6819700" y="3970492"/>
            <a:ext cx="968448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" name="Google Shape;42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02703" y="4821861"/>
            <a:ext cx="4811723" cy="63654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4251305" y="3447418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6889" y="4249555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3782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047" y="1618585"/>
            <a:ext cx="3373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分布式表示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大部分模板无法解释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7" t="1618" r="1061" b="4910"/>
          <a:stretch/>
        </p:blipFill>
        <p:spPr>
          <a:xfrm>
            <a:off x="430598" y="2251047"/>
            <a:ext cx="3373835" cy="33668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94892" y="3092862"/>
            <a:ext cx="423494" cy="41668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960184" y="4361654"/>
            <a:ext cx="423494" cy="41668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418;p60"/>
          <p:cNvSpPr txBox="1"/>
          <p:nvPr/>
        </p:nvSpPr>
        <p:spPr>
          <a:xfrm>
            <a:off x="5603408" y="3485291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22;p60"/>
          <p:cNvSpPr txBox="1"/>
          <p:nvPr/>
        </p:nvSpPr>
        <p:spPr>
          <a:xfrm>
            <a:off x="6977501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388126" y="5206083"/>
            <a:ext cx="423494" cy="41668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965482" y="2258207"/>
            <a:ext cx="423494" cy="41668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22852" y="3935493"/>
            <a:ext cx="423494" cy="41668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9852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深度神经网络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414;p60"/>
          <p:cNvSpPr/>
          <p:nvPr/>
        </p:nvSpPr>
        <p:spPr>
          <a:xfrm>
            <a:off x="1337790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2249631" y="2877846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>
            <a:off x="1798355" y="4455400"/>
            <a:ext cx="449079" cy="926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 flipV="1">
            <a:off x="1834547" y="2877845"/>
            <a:ext cx="412887" cy="926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418;p60"/>
          <p:cNvSpPr txBox="1"/>
          <p:nvPr/>
        </p:nvSpPr>
        <p:spPr>
          <a:xfrm>
            <a:off x="1791460" y="3491479"/>
            <a:ext cx="559702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419;p60"/>
          <p:cNvSpPr/>
          <p:nvPr/>
        </p:nvSpPr>
        <p:spPr>
          <a:xfrm>
            <a:off x="7786937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6819700" y="2898310"/>
            <a:ext cx="984231" cy="61663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flipV="1">
            <a:off x="6786585" y="3970492"/>
            <a:ext cx="1001563" cy="5571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22;p60"/>
          <p:cNvSpPr txBox="1"/>
          <p:nvPr/>
        </p:nvSpPr>
        <p:spPr>
          <a:xfrm>
            <a:off x="6977501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01944" y="4468573"/>
            <a:ext cx="718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3782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24" name="Google Shape;415;p60"/>
          <p:cNvSpPr/>
          <p:nvPr/>
        </p:nvSpPr>
        <p:spPr>
          <a:xfrm>
            <a:off x="3238619" y="2877846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15;p60"/>
          <p:cNvSpPr/>
          <p:nvPr/>
        </p:nvSpPr>
        <p:spPr>
          <a:xfrm>
            <a:off x="4352262" y="2877846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415;p60"/>
          <p:cNvSpPr/>
          <p:nvPr/>
        </p:nvSpPr>
        <p:spPr>
          <a:xfrm>
            <a:off x="5385739" y="2877846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415;p60"/>
          <p:cNvSpPr/>
          <p:nvPr/>
        </p:nvSpPr>
        <p:spPr>
          <a:xfrm>
            <a:off x="6360507" y="2877845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Google Shape;417;p60"/>
          <p:cNvCxnSpPr/>
          <p:nvPr/>
        </p:nvCxnSpPr>
        <p:spPr>
          <a:xfrm>
            <a:off x="2696503" y="2877845"/>
            <a:ext cx="54966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Google Shape;418;p60"/>
          <p:cNvSpPr txBox="1"/>
          <p:nvPr/>
        </p:nvSpPr>
        <p:spPr>
          <a:xfrm>
            <a:off x="2696503" y="3538493"/>
            <a:ext cx="549665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418;p60"/>
          <p:cNvSpPr txBox="1"/>
          <p:nvPr/>
        </p:nvSpPr>
        <p:spPr>
          <a:xfrm>
            <a:off x="3790396" y="3538493"/>
            <a:ext cx="549665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418;p60"/>
          <p:cNvSpPr txBox="1"/>
          <p:nvPr/>
        </p:nvSpPr>
        <p:spPr>
          <a:xfrm>
            <a:off x="4858079" y="3534166"/>
            <a:ext cx="549665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418;p60"/>
          <p:cNvSpPr txBox="1"/>
          <p:nvPr/>
        </p:nvSpPr>
        <p:spPr>
          <a:xfrm>
            <a:off x="5875609" y="3534166"/>
            <a:ext cx="549665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5" name="Google Shape;417;p60"/>
          <p:cNvCxnSpPr/>
          <p:nvPr/>
        </p:nvCxnSpPr>
        <p:spPr>
          <a:xfrm>
            <a:off x="2696503" y="4548097"/>
            <a:ext cx="54966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417;p60"/>
          <p:cNvCxnSpPr/>
          <p:nvPr/>
        </p:nvCxnSpPr>
        <p:spPr>
          <a:xfrm>
            <a:off x="3699129" y="2877845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417;p60"/>
          <p:cNvCxnSpPr/>
          <p:nvPr/>
        </p:nvCxnSpPr>
        <p:spPr>
          <a:xfrm>
            <a:off x="3686702" y="4548097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417;p60"/>
          <p:cNvCxnSpPr/>
          <p:nvPr/>
        </p:nvCxnSpPr>
        <p:spPr>
          <a:xfrm>
            <a:off x="4766811" y="2877845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417;p60"/>
          <p:cNvCxnSpPr/>
          <p:nvPr/>
        </p:nvCxnSpPr>
        <p:spPr>
          <a:xfrm>
            <a:off x="4766811" y="4548097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417;p60"/>
          <p:cNvCxnSpPr/>
          <p:nvPr/>
        </p:nvCxnSpPr>
        <p:spPr>
          <a:xfrm>
            <a:off x="5784342" y="2877845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417;p60"/>
          <p:cNvCxnSpPr/>
          <p:nvPr/>
        </p:nvCxnSpPr>
        <p:spPr>
          <a:xfrm>
            <a:off x="5719575" y="4548097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3" name="Picture 6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5" y="5425061"/>
            <a:ext cx="8673629" cy="264488"/>
          </a:xfrm>
          <a:prstGeom prst="rect">
            <a:avLst/>
          </a:prstGeom>
        </p:spPr>
      </p:pic>
      <p:sp>
        <p:nvSpPr>
          <p:cNvPr id="64" name="Right Brace 63"/>
          <p:cNvSpPr/>
          <p:nvPr/>
        </p:nvSpPr>
        <p:spPr>
          <a:xfrm rot="16200000">
            <a:off x="4238212" y="-898572"/>
            <a:ext cx="594481" cy="6867434"/>
          </a:xfrm>
          <a:prstGeom prst="rightBrace">
            <a:avLst>
              <a:gd name="adj1" fmla="val 33158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277054" y="186473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深度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层数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ight Brace 65"/>
          <p:cNvSpPr/>
          <p:nvPr/>
        </p:nvSpPr>
        <p:spPr>
          <a:xfrm rot="10800000">
            <a:off x="545745" y="2877844"/>
            <a:ext cx="594481" cy="1670252"/>
          </a:xfrm>
          <a:prstGeom prst="rightBrace">
            <a:avLst>
              <a:gd name="adj1" fmla="val 33158"/>
              <a:gd name="adj2" fmla="val 4464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9231" y="3145230"/>
            <a:ext cx="881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宽度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729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6.1.1.</a:t>
            </a:r>
            <a:r>
              <a:rPr lang="zh-CN" altLang="en-US" dirty="0"/>
              <a:t>多层神经网络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6.1.2.</a:t>
            </a:r>
            <a:r>
              <a:rPr lang="zh-CN" altLang="en-US" dirty="0">
                <a:solidFill>
                  <a:srgbClr val="00B050"/>
                </a:solidFill>
              </a:rPr>
              <a:t>激活函数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altLang="zh-CN" dirty="0"/>
              <a:t>6.1.3.</a:t>
            </a:r>
            <a:r>
              <a:rPr lang="zh-CN" altLang="en-US" dirty="0"/>
              <a:t>后向传播算法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9937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激活函数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12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01013" y="1773709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58;p62"/>
          <p:cNvSpPr txBox="1"/>
          <p:nvPr/>
        </p:nvSpPr>
        <p:spPr>
          <a:xfrm>
            <a:off x="894145" y="1686899"/>
            <a:ext cx="306439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2-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层神经网络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61;p62"/>
          <p:cNvSpPr/>
          <p:nvPr/>
        </p:nvSpPr>
        <p:spPr>
          <a:xfrm>
            <a:off x="5750923" y="1765076"/>
            <a:ext cx="1233279" cy="49457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8980" y="2296880"/>
            <a:ext cx="3847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函数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被称为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修正线性单元</a:t>
            </a:r>
            <a:r>
              <a:rPr lang="en-US" altLang="zh-CN" dirty="0">
                <a:solidFill>
                  <a:prstClr val="black"/>
                </a:solidFill>
              </a:rPr>
              <a:t>(Rectified Linear Unit)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33" y="2349176"/>
            <a:ext cx="2437826" cy="270869"/>
          </a:xfrm>
          <a:prstGeom prst="rect">
            <a:avLst/>
          </a:prstGeom>
        </p:spPr>
      </p:pic>
      <p:pic>
        <p:nvPicPr>
          <p:cNvPr id="14" name="Google Shape;50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73" y="3040483"/>
            <a:ext cx="2734427" cy="2256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4457767" y="2343250"/>
            <a:ext cx="394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被称为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神经网络的激活函数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6115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激活函数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12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01013" y="1773709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58;p62"/>
          <p:cNvSpPr txBox="1"/>
          <p:nvPr/>
        </p:nvSpPr>
        <p:spPr>
          <a:xfrm>
            <a:off x="894145" y="1686899"/>
            <a:ext cx="306439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61;p62"/>
          <p:cNvSpPr/>
          <p:nvPr/>
        </p:nvSpPr>
        <p:spPr>
          <a:xfrm>
            <a:off x="5750923" y="1765076"/>
            <a:ext cx="1233279" cy="49457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8980" y="2296880"/>
            <a:ext cx="3847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函数</a:t>
            </a:r>
            <a:r>
              <a:rPr lang="en-US" altLang="zh-CN" dirty="0">
                <a:solidFill>
                  <a:prstClr val="black"/>
                </a:solidFill>
              </a:rPr>
              <a:t>                                                </a:t>
            </a:r>
            <a:r>
              <a:rPr lang="zh-CN" altLang="en-US" dirty="0">
                <a:solidFill>
                  <a:prstClr val="black"/>
                </a:solidFill>
              </a:rPr>
              <a:t>被称为</a:t>
            </a:r>
            <a:r>
              <a:rPr lang="en-US" altLang="zh-CN" dirty="0">
                <a:solidFill>
                  <a:prstClr val="black"/>
                </a:solidFill>
              </a:rPr>
              <a:t> “</a:t>
            </a:r>
            <a:r>
              <a:rPr lang="zh-CN" altLang="en-US" dirty="0">
                <a:solidFill>
                  <a:prstClr val="black"/>
                </a:solidFill>
              </a:rPr>
              <a:t>修正线性单元</a:t>
            </a:r>
            <a:r>
              <a:rPr lang="en-US" altLang="zh-CN" dirty="0">
                <a:solidFill>
                  <a:prstClr val="black"/>
                </a:solidFill>
              </a:rPr>
              <a:t>(Rectified Linear Unit)”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72" y="2349176"/>
            <a:ext cx="2437826" cy="270869"/>
          </a:xfrm>
          <a:prstGeom prst="rect">
            <a:avLst/>
          </a:prstGeom>
        </p:spPr>
      </p:pic>
      <p:pic>
        <p:nvPicPr>
          <p:cNvPr id="14" name="Google Shape;50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73" y="3040483"/>
            <a:ext cx="2734427" cy="2256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4457767" y="2343250"/>
            <a:ext cx="3943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被称为神经网络的激活函数</a:t>
            </a:r>
            <a:endParaRPr lang="en-US" altLang="zh-CN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建立神经网络没有激活函数如何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300" y="3938146"/>
            <a:ext cx="2111777" cy="37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056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激活函数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12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01013" y="1773709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58;p62"/>
          <p:cNvSpPr txBox="1"/>
          <p:nvPr/>
        </p:nvSpPr>
        <p:spPr>
          <a:xfrm>
            <a:off x="808874" y="1758197"/>
            <a:ext cx="2856638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61;p62"/>
          <p:cNvSpPr/>
          <p:nvPr/>
        </p:nvSpPr>
        <p:spPr>
          <a:xfrm>
            <a:off x="5750923" y="1765076"/>
            <a:ext cx="1233279" cy="49457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8980" y="2296880"/>
            <a:ext cx="3847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函数</a:t>
            </a:r>
            <a:r>
              <a:rPr lang="en-US" altLang="zh-CN" dirty="0">
                <a:solidFill>
                  <a:prstClr val="black"/>
                </a:solidFill>
              </a:rPr>
              <a:t>                                                </a:t>
            </a:r>
            <a:r>
              <a:rPr lang="zh-CN" altLang="en-US" dirty="0">
                <a:solidFill>
                  <a:prstClr val="black"/>
                </a:solidFill>
              </a:rPr>
              <a:t>被称为</a:t>
            </a:r>
            <a:r>
              <a:rPr lang="en-US" altLang="zh-CN" dirty="0">
                <a:solidFill>
                  <a:prstClr val="black"/>
                </a:solidFill>
              </a:rPr>
              <a:t> “</a:t>
            </a:r>
            <a:r>
              <a:rPr lang="zh-CN" altLang="en-US" dirty="0">
                <a:solidFill>
                  <a:prstClr val="black"/>
                </a:solidFill>
              </a:rPr>
              <a:t>修正线性单元</a:t>
            </a:r>
            <a:r>
              <a:rPr lang="en-US" altLang="zh-CN" dirty="0">
                <a:solidFill>
                  <a:prstClr val="black"/>
                </a:solidFill>
              </a:rPr>
              <a:t>(Rectified Linear Unit)”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362200"/>
            <a:ext cx="2437826" cy="270869"/>
          </a:xfrm>
          <a:prstGeom prst="rect">
            <a:avLst/>
          </a:prstGeom>
        </p:spPr>
      </p:pic>
      <p:pic>
        <p:nvPicPr>
          <p:cNvPr id="14" name="Google Shape;50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73" y="3040483"/>
            <a:ext cx="2734427" cy="2256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4457767" y="2343250"/>
            <a:ext cx="3943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被称为神经网络的激活函数</a:t>
            </a:r>
            <a:endParaRPr lang="en-US" altLang="zh-CN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85800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lang="zh-CN" altLang="en-US" dirty="0">
                <a:solidFill>
                  <a:prstClr val="black"/>
                </a:solidFill>
              </a:rPr>
              <a:t>建立神经网络没有激活函数如何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300" y="3938146"/>
            <a:ext cx="2111777" cy="37215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305" y="4496382"/>
            <a:ext cx="4825364" cy="37776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95888" y="5060222"/>
            <a:ext cx="355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仍然是一个线性分类器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119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激活函数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508;p65"/>
          <p:cNvSpPr txBox="1"/>
          <p:nvPr/>
        </p:nvSpPr>
        <p:spPr>
          <a:xfrm>
            <a:off x="337912" y="1836922"/>
            <a:ext cx="151160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</a:t>
            </a:r>
            <a:endParaRPr kumimoji="0" sz="23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509;p65"/>
          <p:cNvSpPr txBox="1"/>
          <p:nvPr/>
        </p:nvSpPr>
        <p:spPr>
          <a:xfrm>
            <a:off x="337912" y="3052081"/>
            <a:ext cx="2963528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510;p65"/>
          <p:cNvSpPr txBox="1"/>
          <p:nvPr/>
        </p:nvSpPr>
        <p:spPr>
          <a:xfrm>
            <a:off x="337912" y="4341820"/>
            <a:ext cx="312698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511;p65"/>
          <p:cNvSpPr txBox="1"/>
          <p:nvPr/>
        </p:nvSpPr>
        <p:spPr>
          <a:xfrm>
            <a:off x="4742389" y="1774913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Leaky </a:t>
            </a:r>
            <a:r>
              <a:rPr kumimoji="0" lang="en" sz="2399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512;p65"/>
          <p:cNvSpPr txBox="1"/>
          <p:nvPr/>
        </p:nvSpPr>
        <p:spPr>
          <a:xfrm>
            <a:off x="4818544" y="3180872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Maxout</a:t>
            </a:r>
            <a:endParaRPr kumimoji="0" sz="2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513;p65"/>
          <p:cNvSpPr txBox="1"/>
          <p:nvPr/>
        </p:nvSpPr>
        <p:spPr>
          <a:xfrm>
            <a:off x="4863583" y="4265864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ELU</a:t>
            </a:r>
            <a:endParaRPr kumimoji="0" sz="2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Google Shape;51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087" y="2359811"/>
            <a:ext cx="1649645" cy="38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51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86" y="3543338"/>
            <a:ext cx="1077275" cy="34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51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86" y="4833067"/>
            <a:ext cx="1335129" cy="34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51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3583" y="2235793"/>
            <a:ext cx="1649645" cy="32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519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0680" y="4718446"/>
            <a:ext cx="1897181" cy="71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520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0664" y="3607885"/>
            <a:ext cx="2963528" cy="306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521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94091" y="1824710"/>
            <a:ext cx="1451882" cy="1142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522;p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4102" y="3101218"/>
            <a:ext cx="1451872" cy="110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523;p6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43488" y="4287958"/>
            <a:ext cx="1385000" cy="1142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524;p6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92753" y="1824711"/>
            <a:ext cx="1451872" cy="114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525;p6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92756" y="4287966"/>
            <a:ext cx="1451872" cy="1142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3510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激活函数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508;p65"/>
          <p:cNvSpPr txBox="1"/>
          <p:nvPr/>
        </p:nvSpPr>
        <p:spPr>
          <a:xfrm>
            <a:off x="337912" y="1836922"/>
            <a:ext cx="151160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</a:t>
            </a:r>
            <a:endParaRPr kumimoji="0" sz="2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509;p65"/>
          <p:cNvSpPr txBox="1"/>
          <p:nvPr/>
        </p:nvSpPr>
        <p:spPr>
          <a:xfrm>
            <a:off x="337912" y="3052081"/>
            <a:ext cx="2963528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510;p65"/>
          <p:cNvSpPr txBox="1"/>
          <p:nvPr/>
        </p:nvSpPr>
        <p:spPr>
          <a:xfrm>
            <a:off x="337912" y="4341820"/>
            <a:ext cx="312698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511;p65"/>
          <p:cNvSpPr txBox="1"/>
          <p:nvPr/>
        </p:nvSpPr>
        <p:spPr>
          <a:xfrm>
            <a:off x="4742389" y="1774913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Leaky </a:t>
            </a:r>
            <a:r>
              <a:rPr kumimoji="0" lang="en" sz="2399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512;p65"/>
          <p:cNvSpPr txBox="1"/>
          <p:nvPr/>
        </p:nvSpPr>
        <p:spPr>
          <a:xfrm>
            <a:off x="4818544" y="3180872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Maxout</a:t>
            </a:r>
            <a:endParaRPr kumimoji="0" sz="2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513;p65"/>
          <p:cNvSpPr txBox="1"/>
          <p:nvPr/>
        </p:nvSpPr>
        <p:spPr>
          <a:xfrm>
            <a:off x="4863583" y="4265864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ELU</a:t>
            </a:r>
            <a:endParaRPr kumimoji="0" sz="2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Google Shape;51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087" y="2359811"/>
            <a:ext cx="1649645" cy="38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51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86" y="3543338"/>
            <a:ext cx="1077275" cy="34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51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86" y="4833067"/>
            <a:ext cx="1335129" cy="34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51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3583" y="2235793"/>
            <a:ext cx="1649645" cy="32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519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0680" y="4718446"/>
            <a:ext cx="1897181" cy="71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520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0664" y="3607885"/>
            <a:ext cx="2963528" cy="306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521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94091" y="1824710"/>
            <a:ext cx="1451882" cy="1142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522;p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4102" y="3101218"/>
            <a:ext cx="1451872" cy="110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523;p6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43488" y="4287958"/>
            <a:ext cx="1385000" cy="1142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524;p6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92753" y="1824711"/>
            <a:ext cx="1451872" cy="114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525;p6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92756" y="4287966"/>
            <a:ext cx="1451872" cy="114273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526;p65"/>
          <p:cNvSpPr/>
          <p:nvPr/>
        </p:nvSpPr>
        <p:spPr>
          <a:xfrm>
            <a:off x="362756" y="4238247"/>
            <a:ext cx="3569670" cy="126956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527;p65"/>
          <p:cNvSpPr txBox="1"/>
          <p:nvPr/>
        </p:nvSpPr>
        <p:spPr>
          <a:xfrm>
            <a:off x="5581096" y="1123583"/>
            <a:ext cx="2963528" cy="487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大部分问题，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很好的默认选择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3106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r>
              <a:rPr lang="en-US" dirty="0"/>
              <a:t> &lt;20 </a:t>
            </a:r>
            <a:r>
              <a:rPr lang="zh-CN" altLang="en-US" dirty="0"/>
              <a:t>行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oogle Shape;533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890" y="2504284"/>
            <a:ext cx="2548796" cy="174575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Left Brace 9"/>
          <p:cNvSpPr/>
          <p:nvPr/>
        </p:nvSpPr>
        <p:spPr>
          <a:xfrm>
            <a:off x="4395591" y="1841888"/>
            <a:ext cx="276346" cy="794970"/>
          </a:xfrm>
          <a:prstGeom prst="leftBrace">
            <a:avLst>
              <a:gd name="adj1" fmla="val 30555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43134" y="1973369"/>
            <a:ext cx="14977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初始权重和数据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eft Brace 11"/>
          <p:cNvSpPr/>
          <p:nvPr/>
        </p:nvSpPr>
        <p:spPr>
          <a:xfrm>
            <a:off x="4395590" y="2948149"/>
            <a:ext cx="276346" cy="808559"/>
          </a:xfrm>
          <a:prstGeom prst="leftBrace">
            <a:avLst>
              <a:gd name="adj1" fmla="val 30555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616" y="1013702"/>
            <a:ext cx="4386805" cy="43775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43135" y="3006180"/>
            <a:ext cx="15524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计算损失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(sigmoid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L2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损失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6" name="Left Brace 15"/>
          <p:cNvSpPr/>
          <p:nvPr/>
        </p:nvSpPr>
        <p:spPr>
          <a:xfrm>
            <a:off x="4395590" y="3814738"/>
            <a:ext cx="276346" cy="1001054"/>
          </a:xfrm>
          <a:prstGeom prst="leftBrace">
            <a:avLst>
              <a:gd name="adj1" fmla="val 30555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92762" y="4072891"/>
            <a:ext cx="89100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计算梯度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Left Brace 17"/>
          <p:cNvSpPr/>
          <p:nvPr/>
        </p:nvSpPr>
        <p:spPr>
          <a:xfrm>
            <a:off x="4395589" y="4873823"/>
            <a:ext cx="276346" cy="517448"/>
          </a:xfrm>
          <a:prstGeom prst="leftBrace">
            <a:avLst>
              <a:gd name="adj1" fmla="val 30555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86003" y="4890172"/>
            <a:ext cx="14977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随机梯度速降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(SGD)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步骤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18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5" grpId="0"/>
      <p:bldP spid="16" grpId="0" animBg="1"/>
      <p:bldP spid="17" grpId="0"/>
      <p:bldP spid="18" grpId="0" animBg="1"/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大脑由神经元构成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614;p73" descr="noun_214105_cc.png"/>
          <p:cNvPicPr preferRelativeResize="0"/>
          <p:nvPr/>
        </p:nvPicPr>
        <p:blipFill rotWithShape="1">
          <a:blip r:embed="rId2">
            <a:alphaModFix/>
          </a:blip>
          <a:srcRect l="32132" r="31613" b="12640"/>
          <a:stretch/>
        </p:blipFill>
        <p:spPr>
          <a:xfrm rot="16200000" flipH="1">
            <a:off x="3271289" y="626100"/>
            <a:ext cx="2360157" cy="568719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18;p73"/>
          <p:cNvSpPr txBox="1"/>
          <p:nvPr/>
        </p:nvSpPr>
        <p:spPr>
          <a:xfrm>
            <a:off x="3997331" y="4080704"/>
            <a:ext cx="742502" cy="7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神经元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606;p73"/>
          <p:cNvCxnSpPr/>
          <p:nvPr/>
        </p:nvCxnSpPr>
        <p:spPr>
          <a:xfrm flipH="1" flipV="1">
            <a:off x="3585370" y="3721985"/>
            <a:ext cx="515501" cy="425369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618;p73"/>
          <p:cNvSpPr txBox="1"/>
          <p:nvPr/>
        </p:nvSpPr>
        <p:spPr>
          <a:xfrm>
            <a:off x="4276753" y="3029836"/>
            <a:ext cx="842058" cy="38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轴突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618;p73"/>
          <p:cNvSpPr txBox="1"/>
          <p:nvPr/>
        </p:nvSpPr>
        <p:spPr>
          <a:xfrm>
            <a:off x="2898215" y="5107651"/>
            <a:ext cx="1179171" cy="38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树突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Google Shape;606;p73"/>
          <p:cNvCxnSpPr>
            <a:stCxn id="11" idx="0"/>
          </p:cNvCxnSpPr>
          <p:nvPr/>
        </p:nvCxnSpPr>
        <p:spPr>
          <a:xfrm flipH="1" flipV="1">
            <a:off x="3314766" y="4525826"/>
            <a:ext cx="173034" cy="58182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618;p73"/>
          <p:cNvSpPr txBox="1"/>
          <p:nvPr/>
        </p:nvSpPr>
        <p:spPr>
          <a:xfrm>
            <a:off x="5764193" y="1789210"/>
            <a:ext cx="1604540" cy="70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神经末梢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Google Shape;614;p73" descr="noun_214105_cc.png"/>
          <p:cNvPicPr preferRelativeResize="0"/>
          <p:nvPr/>
        </p:nvPicPr>
        <p:blipFill rotWithShape="1">
          <a:blip r:embed="rId2">
            <a:alphaModFix/>
          </a:blip>
          <a:srcRect l="32132" r="31613" b="12640"/>
          <a:stretch/>
        </p:blipFill>
        <p:spPr>
          <a:xfrm rot="18131747" flipH="1">
            <a:off x="-1268777" y="-1487506"/>
            <a:ext cx="2360157" cy="568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14;p73" descr="noun_214105_cc.png"/>
          <p:cNvPicPr preferRelativeResize="0"/>
          <p:nvPr/>
        </p:nvPicPr>
        <p:blipFill rotWithShape="1">
          <a:blip r:embed="rId2">
            <a:alphaModFix/>
          </a:blip>
          <a:srcRect l="32132" r="31613" b="12640"/>
          <a:stretch/>
        </p:blipFill>
        <p:spPr>
          <a:xfrm rot="14997081" flipH="1">
            <a:off x="-1519840" y="2639807"/>
            <a:ext cx="2360157" cy="568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614;p73" descr="noun_214105_cc.png"/>
          <p:cNvPicPr preferRelativeResize="0"/>
          <p:nvPr/>
        </p:nvPicPr>
        <p:blipFill rotWithShape="1">
          <a:blip r:embed="rId2">
            <a:alphaModFix/>
          </a:blip>
          <a:srcRect l="32132" r="31613" b="12640"/>
          <a:stretch/>
        </p:blipFill>
        <p:spPr>
          <a:xfrm rot="16425874" flipH="1">
            <a:off x="-2450435" y="423207"/>
            <a:ext cx="2360157" cy="568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614;p73" descr="noun_214105_cc.png"/>
          <p:cNvPicPr preferRelativeResize="0"/>
          <p:nvPr/>
        </p:nvPicPr>
        <p:blipFill rotWithShape="1">
          <a:blip r:embed="rId2">
            <a:alphaModFix/>
          </a:blip>
          <a:srcRect l="32132" r="31613" b="12640"/>
          <a:stretch/>
        </p:blipFill>
        <p:spPr>
          <a:xfrm rot="16952290" flipH="1">
            <a:off x="8813912" y="1510611"/>
            <a:ext cx="2360157" cy="568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614;p73" descr="noun_214105_cc.png"/>
          <p:cNvPicPr preferRelativeResize="0"/>
          <p:nvPr/>
        </p:nvPicPr>
        <p:blipFill rotWithShape="1">
          <a:blip r:embed="rId2">
            <a:alphaModFix/>
          </a:blip>
          <a:srcRect l="32132" r="31613" b="12640"/>
          <a:stretch/>
        </p:blipFill>
        <p:spPr>
          <a:xfrm rot="13851131" flipH="1">
            <a:off x="8462571" y="-1762849"/>
            <a:ext cx="2360157" cy="56871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618;p73"/>
          <p:cNvSpPr txBox="1"/>
          <p:nvPr/>
        </p:nvSpPr>
        <p:spPr>
          <a:xfrm>
            <a:off x="325395" y="3756565"/>
            <a:ext cx="1092389" cy="474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突触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Google Shape;606;p73"/>
          <p:cNvCxnSpPr/>
          <p:nvPr/>
        </p:nvCxnSpPr>
        <p:spPr>
          <a:xfrm flipV="1">
            <a:off x="1329597" y="3271266"/>
            <a:ext cx="247743" cy="51988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" name="Google Shape;605;p73"/>
          <p:cNvSpPr txBox="1"/>
          <p:nvPr/>
        </p:nvSpPr>
        <p:spPr>
          <a:xfrm>
            <a:off x="1129498" y="4585833"/>
            <a:ext cx="1901745" cy="110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输入脉冲信号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Google Shape;606;p73"/>
          <p:cNvCxnSpPr/>
          <p:nvPr/>
        </p:nvCxnSpPr>
        <p:spPr>
          <a:xfrm flipV="1">
            <a:off x="2230445" y="4341469"/>
            <a:ext cx="257624" cy="382634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" name="Google Shape;605;p73"/>
          <p:cNvSpPr txBox="1"/>
          <p:nvPr/>
        </p:nvSpPr>
        <p:spPr>
          <a:xfrm>
            <a:off x="4789274" y="3721522"/>
            <a:ext cx="2482937" cy="89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输出脉冲信号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3" name="Google Shape;606;p73"/>
          <p:cNvCxnSpPr/>
          <p:nvPr/>
        </p:nvCxnSpPr>
        <p:spPr>
          <a:xfrm flipV="1">
            <a:off x="4967682" y="3348702"/>
            <a:ext cx="1650923" cy="336992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6" name="Google Shape;63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4498" y="4669757"/>
            <a:ext cx="1206660" cy="83929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Box 36"/>
          <p:cNvSpPr txBox="1"/>
          <p:nvPr/>
        </p:nvSpPr>
        <p:spPr>
          <a:xfrm>
            <a:off x="6134367" y="4639278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激活率是输入的非线性函数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982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32" grpId="0"/>
      <p:bldP spid="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614;p73" descr="noun_214105_cc.png"/>
          <p:cNvPicPr preferRelativeResize="0"/>
          <p:nvPr/>
        </p:nvPicPr>
        <p:blipFill rotWithShape="1">
          <a:blip r:embed="rId2">
            <a:alphaModFix/>
          </a:blip>
          <a:srcRect l="32132" r="31613" b="12640"/>
          <a:stretch/>
        </p:blipFill>
        <p:spPr>
          <a:xfrm rot="16200000" flipH="1">
            <a:off x="1380186" y="-14472"/>
            <a:ext cx="1844795" cy="444534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60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7960" y="2858670"/>
            <a:ext cx="4729652" cy="26985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607;p73"/>
          <p:cNvCxnSpPr/>
          <p:nvPr/>
        </p:nvCxnSpPr>
        <p:spPr>
          <a:xfrm flipV="1">
            <a:off x="79912" y="992871"/>
            <a:ext cx="7134010" cy="351908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613;p73"/>
          <p:cNvSpPr txBox="1"/>
          <p:nvPr/>
        </p:nvSpPr>
        <p:spPr>
          <a:xfrm>
            <a:off x="-47403" y="5389579"/>
            <a:ext cx="1211384" cy="21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sng" strike="noStrike" kern="1200" cap="none" spc="0" normalizeH="0" baseline="0" noProof="0" dirty="0">
                <a:ln>
                  <a:noFill/>
                </a:ln>
                <a:solidFill>
                  <a:srgbClr val="0097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Neuron i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097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mage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by Felipe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Perucho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licensed under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CC-BY 3.0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616;p73"/>
          <p:cNvSpPr txBox="1"/>
          <p:nvPr/>
        </p:nvSpPr>
        <p:spPr>
          <a:xfrm>
            <a:off x="1730483" y="1172723"/>
            <a:ext cx="936456" cy="2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树突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618;p73"/>
          <p:cNvSpPr txBox="1"/>
          <p:nvPr/>
        </p:nvSpPr>
        <p:spPr>
          <a:xfrm>
            <a:off x="1591840" y="2237029"/>
            <a:ext cx="770359" cy="573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神经元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619;p73"/>
          <p:cNvSpPr txBox="1"/>
          <p:nvPr/>
        </p:nvSpPr>
        <p:spPr>
          <a:xfrm>
            <a:off x="2684758" y="1755231"/>
            <a:ext cx="632835" cy="2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轴突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620;p73"/>
          <p:cNvSpPr txBox="1"/>
          <p:nvPr/>
        </p:nvSpPr>
        <p:spPr>
          <a:xfrm>
            <a:off x="3671543" y="887593"/>
            <a:ext cx="1090001" cy="62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神经末梢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Google Shape;676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7184" y="1670303"/>
            <a:ext cx="2977059" cy="146029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79912" y="44683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生物神经元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22393" y="115121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人工神经元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891362" y="2002969"/>
            <a:ext cx="330053" cy="330053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271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层数和大小设置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563;p69"/>
          <p:cNvPicPr preferRelativeResize="0"/>
          <p:nvPr/>
        </p:nvPicPr>
        <p:blipFill rotWithShape="1">
          <a:blip r:embed="rId2">
            <a:alphaModFix/>
          </a:blip>
          <a:srcRect t="8294"/>
          <a:stretch/>
        </p:blipFill>
        <p:spPr>
          <a:xfrm>
            <a:off x="588342" y="2149106"/>
            <a:ext cx="7544264" cy="2456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4;p69"/>
          <p:cNvCxnSpPr/>
          <p:nvPr/>
        </p:nvCxnSpPr>
        <p:spPr>
          <a:xfrm rot="10800000">
            <a:off x="6552993" y="4704618"/>
            <a:ext cx="0" cy="353008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Google Shape;565;p69"/>
          <p:cNvSpPr txBox="1"/>
          <p:nvPr/>
        </p:nvSpPr>
        <p:spPr>
          <a:xfrm>
            <a:off x="4226698" y="4974298"/>
            <a:ext cx="4751963" cy="89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更多隐藏单元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更大容量（非线性程度）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6940" y="1849023"/>
            <a:ext cx="10951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隐藏单元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33379" y="1849023"/>
            <a:ext cx="10951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隐藏单元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9817" y="1849023"/>
            <a:ext cx="11929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隐藏单元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4015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正则项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571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653" y="1633069"/>
            <a:ext cx="8390315" cy="30694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72;p70"/>
          <p:cNvSpPr txBox="1"/>
          <p:nvPr/>
        </p:nvSpPr>
        <p:spPr>
          <a:xfrm>
            <a:off x="1027055" y="4740238"/>
            <a:ext cx="7738913" cy="82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(Web demo with </a:t>
            </a:r>
            <a:r>
              <a:rPr kumimoji="0" lang="en" sz="186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ConvNetJS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" sz="1865" b="0" i="0" u="sng" strike="noStrike" kern="1200" cap="none" spc="0" normalizeH="0" baseline="0" noProof="0" dirty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http://cs.stanford.edu/people/karpathy/convnetjs/demo/classify2d.html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4642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6.1.1.</a:t>
            </a:r>
            <a:r>
              <a:rPr lang="zh-CN" altLang="en-US" dirty="0"/>
              <a:t>多层神经网络</a:t>
            </a:r>
            <a:endParaRPr lang="en-US" altLang="zh-CN" dirty="0"/>
          </a:p>
          <a:p>
            <a:r>
              <a:rPr lang="en-US" altLang="zh-CN" dirty="0"/>
              <a:t>6.1.2.</a:t>
            </a:r>
            <a:r>
              <a:rPr lang="zh-CN" altLang="en-US" dirty="0"/>
              <a:t>激活函数</a:t>
            </a:r>
            <a:endParaRPr lang="en-US" dirty="0"/>
          </a:p>
          <a:p>
            <a:r>
              <a:rPr lang="en-US" altLang="zh-CN" dirty="0">
                <a:solidFill>
                  <a:srgbClr val="00B050"/>
                </a:solidFill>
              </a:rPr>
              <a:t>6.1.3.</a:t>
            </a:r>
            <a:r>
              <a:rPr lang="zh-CN" altLang="en-US" dirty="0">
                <a:solidFill>
                  <a:srgbClr val="00B050"/>
                </a:solidFill>
              </a:rPr>
              <a:t>后向传播算法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8162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</a:t>
            </a:r>
            <a:r>
              <a:rPr lang="en-US" dirty="0"/>
              <a:t>: </a:t>
            </a:r>
            <a:r>
              <a:rPr lang="zh-CN" altLang="en-US" dirty="0"/>
              <a:t>如何计算梯度</a:t>
            </a:r>
            <a:r>
              <a:rPr lang="en-US" dirty="0"/>
              <a:t>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701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580" y="1908681"/>
            <a:ext cx="4792528" cy="27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2;p79"/>
          <p:cNvSpPr txBox="1"/>
          <p:nvPr/>
        </p:nvSpPr>
        <p:spPr>
          <a:xfrm>
            <a:off x="981944" y="4647868"/>
            <a:ext cx="7274006" cy="74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 err="1">
                <a:solidFill>
                  <a:prstClr val="black"/>
                </a:solidFill>
                <a:latin typeface="Calibri" panose="020F0502020204030204"/>
              </a:rPr>
              <a:t>如果我们能计算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那么我们能学习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</a:t>
            </a:r>
            <a:r>
              <a:rPr kumimoji="0" lang="en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和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</a:t>
            </a:r>
            <a:r>
              <a:rPr kumimoji="0" lang="en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705;p79"/>
          <p:cNvSpPr txBox="1"/>
          <p:nvPr/>
        </p:nvSpPr>
        <p:spPr>
          <a:xfrm>
            <a:off x="5049235" y="1873916"/>
            <a:ext cx="2805470" cy="54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非线性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响应函数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706;p79"/>
          <p:cNvSpPr txBox="1"/>
          <p:nvPr/>
        </p:nvSpPr>
        <p:spPr>
          <a:xfrm>
            <a:off x="4277361" y="2330297"/>
            <a:ext cx="2805470" cy="54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SVM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损失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707;p79"/>
          <p:cNvSpPr txBox="1"/>
          <p:nvPr/>
        </p:nvSpPr>
        <p:spPr>
          <a:xfrm>
            <a:off x="2262111" y="3054783"/>
            <a:ext cx="1698758" cy="54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正则项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708;p79"/>
          <p:cNvSpPr txBox="1"/>
          <p:nvPr/>
        </p:nvSpPr>
        <p:spPr>
          <a:xfrm>
            <a:off x="4830717" y="3939903"/>
            <a:ext cx="3933176" cy="54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总共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损失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数据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损失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正则</a:t>
            </a:r>
            <a:r>
              <a:rPr lang="zh-CN" altLang="en-US" sz="1799" dirty="0">
                <a:solidFill>
                  <a:srgbClr val="0000FF"/>
                </a:solidFill>
                <a:latin typeface="Calibri" panose="020F0502020204030204"/>
              </a:rPr>
              <a:t>项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oogle Shape;70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087" y="4575587"/>
            <a:ext cx="1239302" cy="660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636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(</a:t>
            </a:r>
            <a:r>
              <a:rPr lang="zh-CN" altLang="en-US" dirty="0"/>
              <a:t>不好</a:t>
            </a:r>
            <a:r>
              <a:rPr lang="en-US" dirty="0"/>
              <a:t>)</a:t>
            </a:r>
            <a:r>
              <a:rPr lang="zh-CN" altLang="en-US" dirty="0"/>
              <a:t>想法</a:t>
            </a:r>
            <a:r>
              <a:rPr lang="en-US" dirty="0"/>
              <a:t>: </a:t>
            </a:r>
            <a:r>
              <a:rPr lang="zh-CN" altLang="en-US" dirty="0"/>
              <a:t>显示推导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716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540" y="1628556"/>
            <a:ext cx="5854444" cy="360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1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22944"/>
            <a:ext cx="1121858" cy="51271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18;p80"/>
          <p:cNvSpPr txBox="1"/>
          <p:nvPr/>
        </p:nvSpPr>
        <p:spPr>
          <a:xfrm>
            <a:off x="5313716" y="2180325"/>
            <a:ext cx="3592464" cy="124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" sz="1799" b="1" dirty="0">
                <a:solidFill>
                  <a:srgbClr val="FF0000"/>
                </a:solidFill>
              </a:rPr>
              <a:t>问题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如何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改变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损失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函数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 E.g.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使用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替代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SVM?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需要重新推导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719;p80"/>
          <p:cNvSpPr txBox="1"/>
          <p:nvPr/>
        </p:nvSpPr>
        <p:spPr>
          <a:xfrm>
            <a:off x="5313715" y="1511050"/>
            <a:ext cx="3758921" cy="44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非常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枯燥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很多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矩阵微积分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720;p80"/>
          <p:cNvSpPr txBox="1"/>
          <p:nvPr/>
        </p:nvSpPr>
        <p:spPr>
          <a:xfrm>
            <a:off x="5313715" y="3345523"/>
            <a:ext cx="3758921" cy="84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" sz="1799" b="1" dirty="0">
                <a:solidFill>
                  <a:srgbClr val="FF0000"/>
                </a:solidFill>
              </a:rPr>
              <a:t>问题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模型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复杂时没法显示推导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0530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更好的方法</a:t>
            </a:r>
            <a:r>
              <a:rPr lang="en-US" dirty="0"/>
              <a:t>: </a:t>
            </a:r>
            <a:r>
              <a:rPr lang="zh-CN" altLang="en-US" b="1" dirty="0"/>
              <a:t>计算图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726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19312" y="2248195"/>
            <a:ext cx="1495036" cy="49517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727;p81"/>
          <p:cNvSpPr/>
          <p:nvPr/>
        </p:nvSpPr>
        <p:spPr>
          <a:xfrm>
            <a:off x="1071295" y="2443794"/>
            <a:ext cx="374903" cy="957351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oogle Shape;728;p81"/>
          <p:cNvCxnSpPr/>
          <p:nvPr/>
        </p:nvCxnSpPr>
        <p:spPr>
          <a:xfrm>
            <a:off x="1675163" y="2882530"/>
            <a:ext cx="592646" cy="3350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729;p81"/>
          <p:cNvSpPr/>
          <p:nvPr/>
        </p:nvSpPr>
        <p:spPr>
          <a:xfrm>
            <a:off x="512916" y="3529461"/>
            <a:ext cx="933357" cy="957351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730;p81"/>
          <p:cNvCxnSpPr/>
          <p:nvPr/>
        </p:nvCxnSpPr>
        <p:spPr>
          <a:xfrm rot="10800000" flipH="1">
            <a:off x="1621640" y="3528611"/>
            <a:ext cx="678123" cy="5185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731;p81"/>
          <p:cNvSpPr/>
          <p:nvPr/>
        </p:nvSpPr>
        <p:spPr>
          <a:xfrm>
            <a:off x="2419419" y="3071206"/>
            <a:ext cx="622338" cy="622338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732;p81"/>
          <p:cNvCxnSpPr/>
          <p:nvPr/>
        </p:nvCxnSpPr>
        <p:spPr>
          <a:xfrm>
            <a:off x="3170188" y="3382375"/>
            <a:ext cx="124617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" name="Google Shape;73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009" y="2245158"/>
            <a:ext cx="4458664" cy="478001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" name="Google Shape;734;p81"/>
          <p:cNvSpPr/>
          <p:nvPr/>
        </p:nvSpPr>
        <p:spPr>
          <a:xfrm>
            <a:off x="4489230" y="3071206"/>
            <a:ext cx="622338" cy="622338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hinge loss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Google Shape;735;p81"/>
          <p:cNvCxnSpPr/>
          <p:nvPr/>
        </p:nvCxnSpPr>
        <p:spPr>
          <a:xfrm>
            <a:off x="5303856" y="3382375"/>
            <a:ext cx="81098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736;p81"/>
          <p:cNvCxnSpPr/>
          <p:nvPr/>
        </p:nvCxnSpPr>
        <p:spPr>
          <a:xfrm rot="10800000" flipH="1">
            <a:off x="1684161" y="3585122"/>
            <a:ext cx="4796951" cy="725211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738;p81"/>
          <p:cNvSpPr/>
          <p:nvPr/>
        </p:nvSpPr>
        <p:spPr>
          <a:xfrm>
            <a:off x="4675032" y="3965423"/>
            <a:ext cx="622338" cy="622338"/>
          </a:xfrm>
          <a:prstGeom prst="ellipse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Google Shape;73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392" y="4492883"/>
            <a:ext cx="810989" cy="405494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Google Shape;737;p81"/>
          <p:cNvSpPr/>
          <p:nvPr/>
        </p:nvSpPr>
        <p:spPr>
          <a:xfrm>
            <a:off x="6278365" y="3179628"/>
            <a:ext cx="405494" cy="405494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Google Shape;740;p81"/>
          <p:cNvCxnSpPr/>
          <p:nvPr/>
        </p:nvCxnSpPr>
        <p:spPr>
          <a:xfrm>
            <a:off x="6735758" y="3382375"/>
            <a:ext cx="81098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741;p81"/>
          <p:cNvSpPr txBox="1"/>
          <p:nvPr/>
        </p:nvSpPr>
        <p:spPr>
          <a:xfrm>
            <a:off x="7663853" y="3179628"/>
            <a:ext cx="326915" cy="263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742;p81"/>
          <p:cNvSpPr txBox="1"/>
          <p:nvPr/>
        </p:nvSpPr>
        <p:spPr>
          <a:xfrm>
            <a:off x="3300540" y="3026736"/>
            <a:ext cx="1198788" cy="18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(scores)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744;p81"/>
          <p:cNvSpPr txBox="1"/>
          <p:nvPr/>
        </p:nvSpPr>
        <p:spPr>
          <a:xfrm>
            <a:off x="2552984" y="3130990"/>
            <a:ext cx="352709" cy="3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867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dirty="0"/>
              <a:t>:</a:t>
            </a:r>
            <a:br>
              <a:rPr lang="en-US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812;p86"/>
          <p:cNvSpPr/>
          <p:nvPr/>
        </p:nvSpPr>
        <p:spPr>
          <a:xfrm>
            <a:off x="6284473" y="2010800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813;p86"/>
          <p:cNvSpPr/>
          <p:nvPr/>
        </p:nvSpPr>
        <p:spPr>
          <a:xfrm>
            <a:off x="8112022" y="2554033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14;p86"/>
          <p:cNvSpPr/>
          <p:nvPr/>
        </p:nvSpPr>
        <p:spPr>
          <a:xfrm>
            <a:off x="4344478" y="3172598"/>
            <a:ext cx="374903" cy="158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812;p86"/>
          <p:cNvSpPr/>
          <p:nvPr/>
        </p:nvSpPr>
        <p:spPr>
          <a:xfrm>
            <a:off x="6313765" y="1690881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812;p86"/>
          <p:cNvSpPr/>
          <p:nvPr/>
        </p:nvSpPr>
        <p:spPr>
          <a:xfrm>
            <a:off x="8203077" y="2250515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814;p86"/>
          <p:cNvSpPr/>
          <p:nvPr/>
        </p:nvSpPr>
        <p:spPr>
          <a:xfrm>
            <a:off x="4421590" y="2817365"/>
            <a:ext cx="374903" cy="260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814;p86"/>
          <p:cNvSpPr/>
          <p:nvPr/>
        </p:nvSpPr>
        <p:spPr>
          <a:xfrm>
            <a:off x="4417084" y="2053651"/>
            <a:ext cx="374903" cy="260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814;p86"/>
          <p:cNvSpPr/>
          <p:nvPr/>
        </p:nvSpPr>
        <p:spPr>
          <a:xfrm>
            <a:off x="4419910" y="1322878"/>
            <a:ext cx="374903" cy="23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429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812;p86"/>
          <p:cNvSpPr/>
          <p:nvPr/>
        </p:nvSpPr>
        <p:spPr>
          <a:xfrm>
            <a:off x="6284473" y="2010800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813;p86"/>
          <p:cNvSpPr/>
          <p:nvPr/>
        </p:nvSpPr>
        <p:spPr>
          <a:xfrm>
            <a:off x="8112022" y="2554033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14;p86"/>
          <p:cNvSpPr/>
          <p:nvPr/>
        </p:nvSpPr>
        <p:spPr>
          <a:xfrm>
            <a:off x="4344478" y="3172598"/>
            <a:ext cx="374903" cy="158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812;p86"/>
          <p:cNvSpPr/>
          <p:nvPr/>
        </p:nvSpPr>
        <p:spPr>
          <a:xfrm>
            <a:off x="6313765" y="1690881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812;p86"/>
          <p:cNvSpPr/>
          <p:nvPr/>
        </p:nvSpPr>
        <p:spPr>
          <a:xfrm>
            <a:off x="8203077" y="2250515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885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812;p86"/>
          <p:cNvSpPr/>
          <p:nvPr/>
        </p:nvSpPr>
        <p:spPr>
          <a:xfrm>
            <a:off x="6284473" y="2010800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813;p86"/>
          <p:cNvSpPr/>
          <p:nvPr/>
        </p:nvSpPr>
        <p:spPr>
          <a:xfrm>
            <a:off x="8112022" y="2554033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14;p86"/>
          <p:cNvSpPr/>
          <p:nvPr/>
        </p:nvSpPr>
        <p:spPr>
          <a:xfrm>
            <a:off x="4344478" y="3172598"/>
            <a:ext cx="374903" cy="158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前向传递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计算输出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460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812;p86"/>
          <p:cNvSpPr/>
          <p:nvPr/>
        </p:nvSpPr>
        <p:spPr>
          <a:xfrm>
            <a:off x="6284473" y="2010800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813;p86"/>
          <p:cNvSpPr/>
          <p:nvPr/>
        </p:nvSpPr>
        <p:spPr>
          <a:xfrm>
            <a:off x="8112022" y="2554033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14;p86"/>
          <p:cNvSpPr/>
          <p:nvPr/>
        </p:nvSpPr>
        <p:spPr>
          <a:xfrm>
            <a:off x="4344478" y="3172598"/>
            <a:ext cx="374903" cy="158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后向传递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计算导数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017;p95"/>
          <p:cNvSpPr txBox="1"/>
          <p:nvPr/>
        </p:nvSpPr>
        <p:spPr>
          <a:xfrm>
            <a:off x="533400" y="4800600"/>
            <a:ext cx="1255770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想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03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812;p86"/>
          <p:cNvSpPr/>
          <p:nvPr/>
        </p:nvSpPr>
        <p:spPr>
          <a:xfrm>
            <a:off x="6284473" y="2010800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813;p86"/>
          <p:cNvSpPr/>
          <p:nvPr/>
        </p:nvSpPr>
        <p:spPr>
          <a:xfrm>
            <a:off x="8112022" y="2554033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14;p86"/>
          <p:cNvSpPr/>
          <p:nvPr/>
        </p:nvSpPr>
        <p:spPr>
          <a:xfrm>
            <a:off x="4344478" y="3172598"/>
            <a:ext cx="374903" cy="158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20" name="Google Shape;1017;p95"/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Google Shape;768;p83"/>
          <p:cNvCxnSpPr/>
          <p:nvPr/>
        </p:nvCxnSpPr>
        <p:spPr>
          <a:xfrm flipV="1">
            <a:off x="8273129" y="2855303"/>
            <a:ext cx="2631" cy="713392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905" y="3634278"/>
            <a:ext cx="383583" cy="7543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972659" y="3568694"/>
            <a:ext cx="600076" cy="87785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39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812;p86"/>
          <p:cNvSpPr/>
          <p:nvPr/>
        </p:nvSpPr>
        <p:spPr>
          <a:xfrm>
            <a:off x="6284473" y="2010800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14;p86"/>
          <p:cNvSpPr/>
          <p:nvPr/>
        </p:nvSpPr>
        <p:spPr>
          <a:xfrm>
            <a:off x="4344478" y="3172598"/>
            <a:ext cx="374903" cy="158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V="1">
            <a:off x="8273129" y="2855303"/>
            <a:ext cx="2631" cy="713392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905" y="3634278"/>
            <a:ext cx="383583" cy="7543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972659" y="3568694"/>
            <a:ext cx="600076" cy="87785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21" name="Google Shape;1017;p95">
            <a:extLst>
              <a:ext uri="{FF2B5EF4-FFF2-40B4-BE49-F238E27FC236}">
                <a16:creationId xmlns:a16="http://schemas.microsoft.com/office/drawing/2014/main" id="{11A150C4-4F02-FB41-B2A9-091561064D9F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922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812;p86"/>
          <p:cNvSpPr/>
          <p:nvPr/>
        </p:nvSpPr>
        <p:spPr>
          <a:xfrm>
            <a:off x="6284473" y="2010800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5" name="Google Shape;768;p83"/>
          <p:cNvCxnSpPr/>
          <p:nvPr/>
        </p:nvCxnSpPr>
        <p:spPr>
          <a:xfrm flipH="1" flipV="1">
            <a:off x="4529260" y="3383312"/>
            <a:ext cx="268940" cy="733235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4791987" y="4117170"/>
            <a:ext cx="608688" cy="90763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58"/>
          <a:stretch/>
        </p:blipFill>
        <p:spPr>
          <a:xfrm>
            <a:off x="4876559" y="4187227"/>
            <a:ext cx="491145" cy="75438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2516643" y="3573315"/>
            <a:ext cx="1316278" cy="6576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21" name="Google Shape;1017;p95">
            <a:extLst>
              <a:ext uri="{FF2B5EF4-FFF2-40B4-BE49-F238E27FC236}">
                <a16:creationId xmlns:a16="http://schemas.microsoft.com/office/drawing/2014/main" id="{D133414F-2C93-BE4F-95CD-80AEF92779EA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45757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812;p86"/>
          <p:cNvSpPr/>
          <p:nvPr/>
        </p:nvSpPr>
        <p:spPr>
          <a:xfrm>
            <a:off x="6284473" y="2010800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5" name="Google Shape;768;p83"/>
          <p:cNvCxnSpPr/>
          <p:nvPr/>
        </p:nvCxnSpPr>
        <p:spPr>
          <a:xfrm flipH="1" flipV="1">
            <a:off x="4529260" y="3383312"/>
            <a:ext cx="268940" cy="733235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4791987" y="4117170"/>
            <a:ext cx="1206638" cy="90763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558" y="4187227"/>
            <a:ext cx="1048520" cy="75438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516643" y="3573315"/>
            <a:ext cx="1316278" cy="6576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21" name="Google Shape;1017;p95">
            <a:extLst>
              <a:ext uri="{FF2B5EF4-FFF2-40B4-BE49-F238E27FC236}">
                <a16:creationId xmlns:a16="http://schemas.microsoft.com/office/drawing/2014/main" id="{AF3A11D9-2A2F-F446-B8FD-647CDD98D93A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9893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V="1">
            <a:off x="6422069" y="2233305"/>
            <a:ext cx="0" cy="138611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6168173" y="3619415"/>
            <a:ext cx="577725" cy="87785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90"/>
          <a:stretch/>
        </p:blipFill>
        <p:spPr>
          <a:xfrm>
            <a:off x="6259710" y="3683987"/>
            <a:ext cx="446623" cy="75438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18" name="Google Shape;1017;p95">
            <a:extLst>
              <a:ext uri="{FF2B5EF4-FFF2-40B4-BE49-F238E27FC236}">
                <a16:creationId xmlns:a16="http://schemas.microsoft.com/office/drawing/2014/main" id="{7E2E3060-7D95-8A41-8C71-5B103265F75F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3202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V="1">
            <a:off x="6422069" y="2233305"/>
            <a:ext cx="0" cy="138611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6168173" y="3619415"/>
            <a:ext cx="1171206" cy="87785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516643" y="3573315"/>
            <a:ext cx="1316278" cy="6576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710" y="3683987"/>
            <a:ext cx="974940" cy="75438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21" name="Google Shape;1017;p95">
            <a:extLst>
              <a:ext uri="{FF2B5EF4-FFF2-40B4-BE49-F238E27FC236}">
                <a16:creationId xmlns:a16="http://schemas.microsoft.com/office/drawing/2014/main" id="{A68BD713-244E-3F49-9F07-F93A3C44E81D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8988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262196" y="3725740"/>
            <a:ext cx="573698" cy="89681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31"/>
          <a:stretch/>
        </p:blipFill>
        <p:spPr>
          <a:xfrm>
            <a:off x="5385004" y="3810448"/>
            <a:ext cx="424514" cy="754380"/>
          </a:xfrm>
          <a:prstGeom prst="rect">
            <a:avLst/>
          </a:prstGeom>
        </p:spPr>
      </p:pic>
      <p:cxnSp>
        <p:nvCxnSpPr>
          <p:cNvPr id="30" name="Google Shape;768;p83"/>
          <p:cNvCxnSpPr/>
          <p:nvPr/>
        </p:nvCxnSpPr>
        <p:spPr>
          <a:xfrm flipH="1" flipV="1">
            <a:off x="4542726" y="2558523"/>
            <a:ext cx="719639" cy="117134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18" name="Google Shape;1017;p95">
            <a:extLst>
              <a:ext uri="{FF2B5EF4-FFF2-40B4-BE49-F238E27FC236}">
                <a16:creationId xmlns:a16="http://schemas.microsoft.com/office/drawing/2014/main" id="{42D9818D-0ECF-494C-BA4B-E3074056E73C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18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H="1" flipV="1">
            <a:off x="4542726" y="2558523"/>
            <a:ext cx="719639" cy="117134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5742886" y="34064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链式法则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262196" y="3725740"/>
            <a:ext cx="1925516" cy="89681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04" y="3810448"/>
            <a:ext cx="1693376" cy="75438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21" name="Google Shape;1017;p95">
            <a:extLst>
              <a:ext uri="{FF2B5EF4-FFF2-40B4-BE49-F238E27FC236}">
                <a16:creationId xmlns:a16="http://schemas.microsoft.com/office/drawing/2014/main" id="{182CF1A9-62CD-8340-B6D2-03FA4CD6FC7D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387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811;p86"/>
          <p:cNvSpPr/>
          <p:nvPr/>
        </p:nvSpPr>
        <p:spPr>
          <a:xfrm>
            <a:off x="4417084" y="2368956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H="1" flipV="1">
            <a:off x="4542726" y="2558523"/>
            <a:ext cx="719639" cy="117134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5742886" y="34064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链式法则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0958" y="49416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局部梯度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90126" y="49416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上游梯度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70580" y="49436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下游梯度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Google Shape;768;p83"/>
          <p:cNvCxnSpPr/>
          <p:nvPr/>
        </p:nvCxnSpPr>
        <p:spPr>
          <a:xfrm flipV="1">
            <a:off x="5372159" y="4697730"/>
            <a:ext cx="17359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768;p83"/>
          <p:cNvCxnSpPr/>
          <p:nvPr/>
        </p:nvCxnSpPr>
        <p:spPr>
          <a:xfrm flipV="1">
            <a:off x="6377138" y="4697730"/>
            <a:ext cx="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768;p83"/>
          <p:cNvCxnSpPr/>
          <p:nvPr/>
        </p:nvCxnSpPr>
        <p:spPr>
          <a:xfrm flipH="1" flipV="1">
            <a:off x="7030387" y="4697730"/>
            <a:ext cx="157325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5262196" y="3725740"/>
            <a:ext cx="1925516" cy="89681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04" y="3810448"/>
            <a:ext cx="1693376" cy="75438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983" y="3810448"/>
            <a:ext cx="919898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44546" y="3725740"/>
            <a:ext cx="1181864" cy="896816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379" y="3567479"/>
            <a:ext cx="2077769" cy="654703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017;p95">
            <a:extLst>
              <a:ext uri="{FF2B5EF4-FFF2-40B4-BE49-F238E27FC236}">
                <a16:creationId xmlns:a16="http://schemas.microsoft.com/office/drawing/2014/main" id="{63E2EC8B-AA9C-9644-9523-39FEC9183321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0335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H="1" flipV="1">
            <a:off x="4542726" y="2558523"/>
            <a:ext cx="719639" cy="117134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5742886" y="34064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链式法则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0956" y="4941640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局部梯度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90122" y="49416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上游梯度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70576" y="49436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下游梯度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cxnSp>
        <p:nvCxnSpPr>
          <p:cNvPr id="29" name="Google Shape;768;p83"/>
          <p:cNvCxnSpPr/>
          <p:nvPr/>
        </p:nvCxnSpPr>
        <p:spPr>
          <a:xfrm flipV="1">
            <a:off x="5372159" y="4697730"/>
            <a:ext cx="17359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768;p83"/>
          <p:cNvCxnSpPr/>
          <p:nvPr/>
        </p:nvCxnSpPr>
        <p:spPr>
          <a:xfrm flipV="1">
            <a:off x="6377138" y="4697730"/>
            <a:ext cx="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768;p83"/>
          <p:cNvCxnSpPr/>
          <p:nvPr/>
        </p:nvCxnSpPr>
        <p:spPr>
          <a:xfrm flipH="1" flipV="1">
            <a:off x="7030387" y="4697730"/>
            <a:ext cx="157325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5262196" y="3725740"/>
            <a:ext cx="1925516" cy="89681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04" y="3810448"/>
            <a:ext cx="1693376" cy="75438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983" y="3810448"/>
            <a:ext cx="919898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44546" y="3725740"/>
            <a:ext cx="1181864" cy="896816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379" y="3567479"/>
            <a:ext cx="2077769" cy="654703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017;p95">
            <a:extLst>
              <a:ext uri="{FF2B5EF4-FFF2-40B4-BE49-F238E27FC236}">
                <a16:creationId xmlns:a16="http://schemas.microsoft.com/office/drawing/2014/main" id="{59267EE7-8DEB-1B44-8F08-95F7D5EC57B9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197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10;p86"/>
          <p:cNvSpPr/>
          <p:nvPr/>
        </p:nvSpPr>
        <p:spPr>
          <a:xfrm>
            <a:off x="4344478" y="1610354"/>
            <a:ext cx="374903" cy="263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H="1" flipV="1">
            <a:off x="4642339" y="1859574"/>
            <a:ext cx="620026" cy="187029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5742886" y="34064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链式法则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0956" y="4941640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局部梯度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90122" y="49416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上游梯度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70576" y="49436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下游梯度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cxnSp>
        <p:nvCxnSpPr>
          <p:cNvPr id="29" name="Google Shape;768;p83"/>
          <p:cNvCxnSpPr/>
          <p:nvPr/>
        </p:nvCxnSpPr>
        <p:spPr>
          <a:xfrm flipV="1">
            <a:off x="5372159" y="4697730"/>
            <a:ext cx="17359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768;p83"/>
          <p:cNvCxnSpPr/>
          <p:nvPr/>
        </p:nvCxnSpPr>
        <p:spPr>
          <a:xfrm flipV="1">
            <a:off x="6377138" y="4697730"/>
            <a:ext cx="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768;p83"/>
          <p:cNvCxnSpPr/>
          <p:nvPr/>
        </p:nvCxnSpPr>
        <p:spPr>
          <a:xfrm flipH="1" flipV="1">
            <a:off x="7030387" y="4697730"/>
            <a:ext cx="157325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5262196" y="3725740"/>
            <a:ext cx="1925516" cy="89681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44546" y="3725740"/>
            <a:ext cx="1181864" cy="896816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379" y="3567479"/>
            <a:ext cx="2077769" cy="654703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15" y="3819734"/>
            <a:ext cx="1716535" cy="7543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520" y="3796958"/>
            <a:ext cx="1013915" cy="754380"/>
          </a:xfrm>
          <a:prstGeom prst="rect">
            <a:avLst/>
          </a:prstGeom>
        </p:spPr>
      </p:pic>
      <p:sp>
        <p:nvSpPr>
          <p:cNvPr id="33" name="Google Shape;1017;p95">
            <a:extLst>
              <a:ext uri="{FF2B5EF4-FFF2-40B4-BE49-F238E27FC236}">
                <a16:creationId xmlns:a16="http://schemas.microsoft.com/office/drawing/2014/main" id="{F5A6CA58-22A5-3449-8905-C507A9331E77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526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H="1" flipV="1">
            <a:off x="4642339" y="1859574"/>
            <a:ext cx="620026" cy="187029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5742886" y="34064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链式法则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0956" y="4941640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局部梯度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90122" y="49416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上游梯度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70576" y="49436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下游梯度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cxnSp>
        <p:nvCxnSpPr>
          <p:cNvPr id="29" name="Google Shape;768;p83"/>
          <p:cNvCxnSpPr/>
          <p:nvPr/>
        </p:nvCxnSpPr>
        <p:spPr>
          <a:xfrm flipV="1">
            <a:off x="5372159" y="4697730"/>
            <a:ext cx="17359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768;p83"/>
          <p:cNvCxnSpPr/>
          <p:nvPr/>
        </p:nvCxnSpPr>
        <p:spPr>
          <a:xfrm flipV="1">
            <a:off x="6377138" y="4697730"/>
            <a:ext cx="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768;p83"/>
          <p:cNvCxnSpPr/>
          <p:nvPr/>
        </p:nvCxnSpPr>
        <p:spPr>
          <a:xfrm flipH="1" flipV="1">
            <a:off x="7030387" y="4697730"/>
            <a:ext cx="157325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5262196" y="3725740"/>
            <a:ext cx="1925516" cy="89681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44546" y="3725740"/>
            <a:ext cx="1181864" cy="896816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379" y="3567479"/>
            <a:ext cx="2077769" cy="654703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15" y="3819734"/>
            <a:ext cx="1716535" cy="7543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520" y="3796958"/>
            <a:ext cx="1013915" cy="754380"/>
          </a:xfrm>
          <a:prstGeom prst="rect">
            <a:avLst/>
          </a:prstGeom>
        </p:spPr>
      </p:pic>
      <p:sp>
        <p:nvSpPr>
          <p:cNvPr id="33" name="Google Shape;1017;p95">
            <a:extLst>
              <a:ext uri="{FF2B5EF4-FFF2-40B4-BE49-F238E27FC236}">
                <a16:creationId xmlns:a16="http://schemas.microsoft.com/office/drawing/2014/main" id="{D7839488-B463-4A4D-B22C-BAB963A8770D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5068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209;p104"/>
          <p:cNvSpPr/>
          <p:nvPr/>
        </p:nvSpPr>
        <p:spPr>
          <a:xfrm>
            <a:off x="2975425" y="1352542"/>
            <a:ext cx="3493790" cy="3493790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1210;p104"/>
          <p:cNvCxnSpPr/>
          <p:nvPr/>
        </p:nvCxnSpPr>
        <p:spPr>
          <a:xfrm rot="10800000" flipH="1">
            <a:off x="701992" y="3833320"/>
            <a:ext cx="2409272" cy="813688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1211;p104"/>
          <p:cNvCxnSpPr/>
          <p:nvPr/>
        </p:nvCxnSpPr>
        <p:spPr>
          <a:xfrm>
            <a:off x="989167" y="1328572"/>
            <a:ext cx="2193629" cy="93335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1212;p104"/>
          <p:cNvCxnSpPr/>
          <p:nvPr/>
        </p:nvCxnSpPr>
        <p:spPr>
          <a:xfrm>
            <a:off x="6469214" y="3099436"/>
            <a:ext cx="2273708" cy="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826" b="25783"/>
          <a:stretch/>
        </p:blipFill>
        <p:spPr>
          <a:xfrm rot="1357009">
            <a:off x="1214639" y="1053868"/>
            <a:ext cx="380583" cy="3429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86" t="-1" r="34391" b="-3838"/>
          <a:stretch/>
        </p:blipFill>
        <p:spPr>
          <a:xfrm rot="20428583">
            <a:off x="1228245" y="3908485"/>
            <a:ext cx="353371" cy="40734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70" r="-1772" b="-3838"/>
          <a:stretch/>
        </p:blipFill>
        <p:spPr>
          <a:xfrm>
            <a:off x="7201837" y="2596354"/>
            <a:ext cx="290147" cy="407345"/>
          </a:xfrm>
          <a:prstGeom prst="rect">
            <a:avLst/>
          </a:prstGeom>
        </p:spPr>
      </p:pic>
      <p:sp>
        <p:nvSpPr>
          <p:cNvPr id="38" name="Google Shape;1222;p104"/>
          <p:cNvSpPr/>
          <p:nvPr/>
        </p:nvSpPr>
        <p:spPr>
          <a:xfrm>
            <a:off x="7050758" y="2456976"/>
            <a:ext cx="590183" cy="546724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22;p104"/>
          <p:cNvSpPr/>
          <p:nvPr/>
        </p:nvSpPr>
        <p:spPr>
          <a:xfrm rot="1351013">
            <a:off x="1162247" y="993997"/>
            <a:ext cx="526365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22;p104"/>
          <p:cNvSpPr/>
          <p:nvPr/>
        </p:nvSpPr>
        <p:spPr>
          <a:xfrm rot="20460419">
            <a:off x="1169310" y="3875066"/>
            <a:ext cx="446042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9308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209;p104"/>
          <p:cNvSpPr/>
          <p:nvPr/>
        </p:nvSpPr>
        <p:spPr>
          <a:xfrm>
            <a:off x="2975425" y="1352542"/>
            <a:ext cx="3493790" cy="3493790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1210;p104"/>
          <p:cNvCxnSpPr/>
          <p:nvPr/>
        </p:nvCxnSpPr>
        <p:spPr>
          <a:xfrm rot="10800000" flipH="1">
            <a:off x="701992" y="3833320"/>
            <a:ext cx="2409272" cy="813688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1211;p104"/>
          <p:cNvCxnSpPr/>
          <p:nvPr/>
        </p:nvCxnSpPr>
        <p:spPr>
          <a:xfrm>
            <a:off x="989167" y="1328572"/>
            <a:ext cx="2193629" cy="93335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1212;p104"/>
          <p:cNvCxnSpPr/>
          <p:nvPr/>
        </p:nvCxnSpPr>
        <p:spPr>
          <a:xfrm>
            <a:off x="6469214" y="3099436"/>
            <a:ext cx="2273708" cy="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216;p104"/>
          <p:cNvCxnSpPr/>
          <p:nvPr/>
        </p:nvCxnSpPr>
        <p:spPr>
          <a:xfrm rot="10800000">
            <a:off x="6469428" y="3290911"/>
            <a:ext cx="22254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1229;p104"/>
          <p:cNvSpPr txBox="1"/>
          <p:nvPr/>
        </p:nvSpPr>
        <p:spPr>
          <a:xfrm>
            <a:off x="6421490" y="4337138"/>
            <a:ext cx="1848719" cy="93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上游梯度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826" b="25783"/>
          <a:stretch/>
        </p:blipFill>
        <p:spPr>
          <a:xfrm rot="1357009">
            <a:off x="1214639" y="1053868"/>
            <a:ext cx="380583" cy="3429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86" t="-1" r="34391" b="-3838"/>
          <a:stretch/>
        </p:blipFill>
        <p:spPr>
          <a:xfrm rot="20428583">
            <a:off x="1228245" y="3908485"/>
            <a:ext cx="353371" cy="40734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70" r="-1772" b="-3838"/>
          <a:stretch/>
        </p:blipFill>
        <p:spPr>
          <a:xfrm>
            <a:off x="7201837" y="2596354"/>
            <a:ext cx="290147" cy="40734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830" y="3421276"/>
            <a:ext cx="483206" cy="822960"/>
          </a:xfrm>
          <a:prstGeom prst="rect">
            <a:avLst/>
          </a:prstGeom>
        </p:spPr>
      </p:pic>
      <p:sp>
        <p:nvSpPr>
          <p:cNvPr id="36" name="Google Shape;1222;p104"/>
          <p:cNvSpPr/>
          <p:nvPr/>
        </p:nvSpPr>
        <p:spPr>
          <a:xfrm>
            <a:off x="7050758" y="3365754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22;p104"/>
          <p:cNvSpPr/>
          <p:nvPr/>
        </p:nvSpPr>
        <p:spPr>
          <a:xfrm>
            <a:off x="7050758" y="2456976"/>
            <a:ext cx="590183" cy="546724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22;p104"/>
          <p:cNvSpPr/>
          <p:nvPr/>
        </p:nvSpPr>
        <p:spPr>
          <a:xfrm rot="1351013">
            <a:off x="1162247" y="993997"/>
            <a:ext cx="526365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22;p104"/>
          <p:cNvSpPr/>
          <p:nvPr/>
        </p:nvSpPr>
        <p:spPr>
          <a:xfrm rot="20460419">
            <a:off x="1169310" y="3875066"/>
            <a:ext cx="446042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92489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209;p104"/>
          <p:cNvSpPr/>
          <p:nvPr/>
        </p:nvSpPr>
        <p:spPr>
          <a:xfrm>
            <a:off x="2975425" y="1352542"/>
            <a:ext cx="3493790" cy="3493790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1210;p104"/>
          <p:cNvCxnSpPr/>
          <p:nvPr/>
        </p:nvCxnSpPr>
        <p:spPr>
          <a:xfrm rot="10800000" flipH="1">
            <a:off x="701992" y="3833320"/>
            <a:ext cx="2409272" cy="813688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1211;p104"/>
          <p:cNvCxnSpPr/>
          <p:nvPr/>
        </p:nvCxnSpPr>
        <p:spPr>
          <a:xfrm>
            <a:off x="989167" y="1328572"/>
            <a:ext cx="2193629" cy="93335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1212;p104"/>
          <p:cNvCxnSpPr/>
          <p:nvPr/>
        </p:nvCxnSpPr>
        <p:spPr>
          <a:xfrm>
            <a:off x="6469214" y="3099436"/>
            <a:ext cx="2273708" cy="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216;p104"/>
          <p:cNvCxnSpPr/>
          <p:nvPr/>
        </p:nvCxnSpPr>
        <p:spPr>
          <a:xfrm rot="10800000">
            <a:off x="6469428" y="3290911"/>
            <a:ext cx="22254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1220;p104"/>
          <p:cNvSpPr txBox="1"/>
          <p:nvPr/>
        </p:nvSpPr>
        <p:spPr>
          <a:xfrm>
            <a:off x="4010254" y="3365754"/>
            <a:ext cx="1432178" cy="880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局部梯度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229;p104"/>
          <p:cNvSpPr txBox="1"/>
          <p:nvPr/>
        </p:nvSpPr>
        <p:spPr>
          <a:xfrm>
            <a:off x="6421490" y="4337138"/>
            <a:ext cx="1848719" cy="93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上游梯度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826" b="25783"/>
          <a:stretch/>
        </p:blipFill>
        <p:spPr>
          <a:xfrm rot="1357009">
            <a:off x="1214639" y="1053868"/>
            <a:ext cx="380583" cy="3429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86" t="-1" r="34391" b="-3838"/>
          <a:stretch/>
        </p:blipFill>
        <p:spPr>
          <a:xfrm rot="20428583">
            <a:off x="1228245" y="3908485"/>
            <a:ext cx="353371" cy="40734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70" r="-1772" b="-3838"/>
          <a:stretch/>
        </p:blipFill>
        <p:spPr>
          <a:xfrm>
            <a:off x="7201837" y="2596354"/>
            <a:ext cx="290147" cy="40734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830" y="3421276"/>
            <a:ext cx="483206" cy="82296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684" y="2135795"/>
            <a:ext cx="441680" cy="82296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169" y="3278277"/>
            <a:ext cx="392382" cy="822960"/>
          </a:xfrm>
          <a:prstGeom prst="rect">
            <a:avLst/>
          </a:prstGeom>
          <a:noFill/>
        </p:spPr>
      </p:pic>
      <p:sp>
        <p:nvSpPr>
          <p:cNvPr id="34" name="Google Shape;1222;p104"/>
          <p:cNvSpPr/>
          <p:nvPr/>
        </p:nvSpPr>
        <p:spPr>
          <a:xfrm>
            <a:off x="3375025" y="2083548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22;p104"/>
          <p:cNvSpPr/>
          <p:nvPr/>
        </p:nvSpPr>
        <p:spPr>
          <a:xfrm>
            <a:off x="3375574" y="3205295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22;p104"/>
          <p:cNvSpPr/>
          <p:nvPr/>
        </p:nvSpPr>
        <p:spPr>
          <a:xfrm>
            <a:off x="7050758" y="3365754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22;p104"/>
          <p:cNvSpPr/>
          <p:nvPr/>
        </p:nvSpPr>
        <p:spPr>
          <a:xfrm>
            <a:off x="7050758" y="2456976"/>
            <a:ext cx="590183" cy="546724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22;p104"/>
          <p:cNvSpPr/>
          <p:nvPr/>
        </p:nvSpPr>
        <p:spPr>
          <a:xfrm rot="1351013">
            <a:off x="1162247" y="993997"/>
            <a:ext cx="526365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22;p104"/>
          <p:cNvSpPr/>
          <p:nvPr/>
        </p:nvSpPr>
        <p:spPr>
          <a:xfrm rot="20460419">
            <a:off x="1169310" y="3875066"/>
            <a:ext cx="446042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6410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209;p104"/>
          <p:cNvSpPr/>
          <p:nvPr/>
        </p:nvSpPr>
        <p:spPr>
          <a:xfrm>
            <a:off x="2975425" y="1352542"/>
            <a:ext cx="3493790" cy="3493790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1210;p104"/>
          <p:cNvCxnSpPr/>
          <p:nvPr/>
        </p:nvCxnSpPr>
        <p:spPr>
          <a:xfrm rot="10800000" flipH="1">
            <a:off x="701992" y="3833320"/>
            <a:ext cx="2409272" cy="813688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1211;p104"/>
          <p:cNvCxnSpPr/>
          <p:nvPr/>
        </p:nvCxnSpPr>
        <p:spPr>
          <a:xfrm>
            <a:off x="989167" y="1328572"/>
            <a:ext cx="2193629" cy="93335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1212;p104"/>
          <p:cNvCxnSpPr/>
          <p:nvPr/>
        </p:nvCxnSpPr>
        <p:spPr>
          <a:xfrm>
            <a:off x="6469214" y="3099436"/>
            <a:ext cx="2273708" cy="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216;p104"/>
          <p:cNvCxnSpPr/>
          <p:nvPr/>
        </p:nvCxnSpPr>
        <p:spPr>
          <a:xfrm rot="10800000">
            <a:off x="6469428" y="3290911"/>
            <a:ext cx="22254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1220;p104"/>
          <p:cNvSpPr txBox="1"/>
          <p:nvPr/>
        </p:nvSpPr>
        <p:spPr>
          <a:xfrm>
            <a:off x="4010254" y="3365754"/>
            <a:ext cx="1432178" cy="880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局部梯度</a:t>
            </a:r>
          </a:p>
        </p:txBody>
      </p:sp>
      <p:sp>
        <p:nvSpPr>
          <p:cNvPr id="19" name="Google Shape;1224;p104"/>
          <p:cNvSpPr/>
          <p:nvPr/>
        </p:nvSpPr>
        <p:spPr>
          <a:xfrm rot="-1146435">
            <a:off x="1276451" y="4615108"/>
            <a:ext cx="590063" cy="945653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1227;p104"/>
          <p:cNvCxnSpPr/>
          <p:nvPr/>
        </p:nvCxnSpPr>
        <p:spPr>
          <a:xfrm rot="10800000">
            <a:off x="948653" y="1466212"/>
            <a:ext cx="2154339" cy="931557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1228;p104"/>
          <p:cNvCxnSpPr/>
          <p:nvPr/>
        </p:nvCxnSpPr>
        <p:spPr>
          <a:xfrm flipH="1">
            <a:off x="742182" y="3962212"/>
            <a:ext cx="2417071" cy="83288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1229;p104"/>
          <p:cNvSpPr txBox="1"/>
          <p:nvPr/>
        </p:nvSpPr>
        <p:spPr>
          <a:xfrm>
            <a:off x="6421490" y="4337138"/>
            <a:ext cx="1848719" cy="93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上游梯度</a:t>
            </a:r>
          </a:p>
        </p:txBody>
      </p:sp>
      <p:sp>
        <p:nvSpPr>
          <p:cNvPr id="25" name="Google Shape;1230;p104"/>
          <p:cNvSpPr txBox="1"/>
          <p:nvPr/>
        </p:nvSpPr>
        <p:spPr>
          <a:xfrm>
            <a:off x="23928" y="2800085"/>
            <a:ext cx="2003778" cy="93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下游梯度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826" b="25783"/>
          <a:stretch/>
        </p:blipFill>
        <p:spPr>
          <a:xfrm rot="1357009">
            <a:off x="1214639" y="1053868"/>
            <a:ext cx="380583" cy="3429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86" t="-1" r="34391" b="-3838"/>
          <a:stretch/>
        </p:blipFill>
        <p:spPr>
          <a:xfrm rot="20428583">
            <a:off x="1228245" y="3908485"/>
            <a:ext cx="353371" cy="40734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70" r="-1772" b="-3838"/>
          <a:stretch/>
        </p:blipFill>
        <p:spPr>
          <a:xfrm>
            <a:off x="7201837" y="2596354"/>
            <a:ext cx="290147" cy="40734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830" y="3421276"/>
            <a:ext cx="483206" cy="82296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684" y="2135795"/>
            <a:ext cx="441680" cy="82296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169" y="3278277"/>
            <a:ext cx="392382" cy="822960"/>
          </a:xfrm>
          <a:prstGeom prst="rect">
            <a:avLst/>
          </a:prstGeom>
          <a:noFill/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50299">
            <a:off x="1306955" y="4423646"/>
            <a:ext cx="1963901" cy="84935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4160">
            <a:off x="729313" y="1992640"/>
            <a:ext cx="2089421" cy="823678"/>
          </a:xfrm>
          <a:prstGeom prst="rect">
            <a:avLst/>
          </a:prstGeom>
        </p:spPr>
      </p:pic>
      <p:sp>
        <p:nvSpPr>
          <p:cNvPr id="17" name="Google Shape;1222;p104"/>
          <p:cNvSpPr/>
          <p:nvPr/>
        </p:nvSpPr>
        <p:spPr>
          <a:xfrm rot="1454931">
            <a:off x="730726" y="1608939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1222;p104"/>
          <p:cNvSpPr/>
          <p:nvPr/>
        </p:nvSpPr>
        <p:spPr>
          <a:xfrm>
            <a:off x="3375025" y="2083548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22;p104"/>
          <p:cNvSpPr/>
          <p:nvPr/>
        </p:nvSpPr>
        <p:spPr>
          <a:xfrm>
            <a:off x="3375574" y="3205295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22;p104"/>
          <p:cNvSpPr/>
          <p:nvPr/>
        </p:nvSpPr>
        <p:spPr>
          <a:xfrm>
            <a:off x="7050758" y="3365754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22;p104"/>
          <p:cNvSpPr/>
          <p:nvPr/>
        </p:nvSpPr>
        <p:spPr>
          <a:xfrm>
            <a:off x="7050758" y="2456976"/>
            <a:ext cx="590183" cy="546724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22;p104"/>
          <p:cNvSpPr/>
          <p:nvPr/>
        </p:nvSpPr>
        <p:spPr>
          <a:xfrm rot="1351013">
            <a:off x="1162247" y="993997"/>
            <a:ext cx="526365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22;p104"/>
          <p:cNvSpPr/>
          <p:nvPr/>
        </p:nvSpPr>
        <p:spPr>
          <a:xfrm rot="20460419">
            <a:off x="1169310" y="3875066"/>
            <a:ext cx="446042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4694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209;p104"/>
          <p:cNvSpPr/>
          <p:nvPr/>
        </p:nvSpPr>
        <p:spPr>
          <a:xfrm>
            <a:off x="2975425" y="1352542"/>
            <a:ext cx="3493790" cy="3493790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1210;p104"/>
          <p:cNvCxnSpPr/>
          <p:nvPr/>
        </p:nvCxnSpPr>
        <p:spPr>
          <a:xfrm rot="10800000" flipH="1">
            <a:off x="701992" y="3833320"/>
            <a:ext cx="2409272" cy="813688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1211;p104"/>
          <p:cNvCxnSpPr/>
          <p:nvPr/>
        </p:nvCxnSpPr>
        <p:spPr>
          <a:xfrm>
            <a:off x="989167" y="1328572"/>
            <a:ext cx="2193629" cy="93335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1212;p104"/>
          <p:cNvCxnSpPr/>
          <p:nvPr/>
        </p:nvCxnSpPr>
        <p:spPr>
          <a:xfrm>
            <a:off x="6469214" y="3099436"/>
            <a:ext cx="2273708" cy="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216;p104"/>
          <p:cNvCxnSpPr/>
          <p:nvPr/>
        </p:nvCxnSpPr>
        <p:spPr>
          <a:xfrm rot="10800000">
            <a:off x="6469428" y="3290911"/>
            <a:ext cx="22254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1220;p104"/>
          <p:cNvSpPr txBox="1"/>
          <p:nvPr/>
        </p:nvSpPr>
        <p:spPr>
          <a:xfrm>
            <a:off x="4010254" y="3365754"/>
            <a:ext cx="1432178" cy="880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局部梯度</a:t>
            </a:r>
          </a:p>
        </p:txBody>
      </p:sp>
      <p:sp>
        <p:nvSpPr>
          <p:cNvPr id="19" name="Google Shape;1224;p104"/>
          <p:cNvSpPr/>
          <p:nvPr/>
        </p:nvSpPr>
        <p:spPr>
          <a:xfrm rot="-1146435">
            <a:off x="1276451" y="4615108"/>
            <a:ext cx="590063" cy="945653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225;p104"/>
          <p:cNvSpPr/>
          <p:nvPr/>
        </p:nvSpPr>
        <p:spPr>
          <a:xfrm>
            <a:off x="-2291603" y="-1423935"/>
            <a:ext cx="3493790" cy="3493790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226;p104"/>
          <p:cNvSpPr/>
          <p:nvPr/>
        </p:nvSpPr>
        <p:spPr>
          <a:xfrm>
            <a:off x="-2791798" y="3483536"/>
            <a:ext cx="3493790" cy="3493790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1227;p104"/>
          <p:cNvCxnSpPr/>
          <p:nvPr/>
        </p:nvCxnSpPr>
        <p:spPr>
          <a:xfrm rot="10800000">
            <a:off x="948653" y="1466212"/>
            <a:ext cx="2154339" cy="931557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1228;p104"/>
          <p:cNvCxnSpPr/>
          <p:nvPr/>
        </p:nvCxnSpPr>
        <p:spPr>
          <a:xfrm flipH="1">
            <a:off x="742182" y="3962212"/>
            <a:ext cx="2417071" cy="832883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1229;p104"/>
          <p:cNvSpPr txBox="1"/>
          <p:nvPr/>
        </p:nvSpPr>
        <p:spPr>
          <a:xfrm>
            <a:off x="6421490" y="4337138"/>
            <a:ext cx="1848719" cy="93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上游梯度</a:t>
            </a:r>
          </a:p>
        </p:txBody>
      </p:sp>
      <p:sp>
        <p:nvSpPr>
          <p:cNvPr id="25" name="Google Shape;1230;p104"/>
          <p:cNvSpPr txBox="1"/>
          <p:nvPr/>
        </p:nvSpPr>
        <p:spPr>
          <a:xfrm>
            <a:off x="23928" y="2800085"/>
            <a:ext cx="2003778" cy="93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2399" dirty="0">
                <a:solidFill>
                  <a:srgbClr val="FF0000"/>
                </a:solidFill>
              </a:rPr>
              <a:t>下游梯度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826" b="25783"/>
          <a:stretch/>
        </p:blipFill>
        <p:spPr>
          <a:xfrm rot="1357009">
            <a:off x="1214639" y="1053868"/>
            <a:ext cx="380583" cy="3429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86" t="-1" r="34391" b="-3838"/>
          <a:stretch/>
        </p:blipFill>
        <p:spPr>
          <a:xfrm rot="20428583">
            <a:off x="1228245" y="3908485"/>
            <a:ext cx="353371" cy="40734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70" r="-1772" b="-3838"/>
          <a:stretch/>
        </p:blipFill>
        <p:spPr>
          <a:xfrm>
            <a:off x="7201837" y="2596354"/>
            <a:ext cx="290147" cy="40734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830" y="3421276"/>
            <a:ext cx="483206" cy="82296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684" y="2135795"/>
            <a:ext cx="441680" cy="82296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169" y="3278277"/>
            <a:ext cx="392382" cy="822960"/>
          </a:xfrm>
          <a:prstGeom prst="rect">
            <a:avLst/>
          </a:prstGeom>
          <a:noFill/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50299">
            <a:off x="1306955" y="4423646"/>
            <a:ext cx="1963901" cy="84935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4160">
            <a:off x="729313" y="1992640"/>
            <a:ext cx="2089421" cy="823678"/>
          </a:xfrm>
          <a:prstGeom prst="rect">
            <a:avLst/>
          </a:prstGeom>
        </p:spPr>
      </p:pic>
      <p:sp>
        <p:nvSpPr>
          <p:cNvPr id="17" name="Google Shape;1222;p104"/>
          <p:cNvSpPr/>
          <p:nvPr/>
        </p:nvSpPr>
        <p:spPr>
          <a:xfrm rot="1454931">
            <a:off x="730726" y="1608939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1222;p104"/>
          <p:cNvSpPr/>
          <p:nvPr/>
        </p:nvSpPr>
        <p:spPr>
          <a:xfrm>
            <a:off x="3375025" y="2083548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22;p104"/>
          <p:cNvSpPr/>
          <p:nvPr/>
        </p:nvSpPr>
        <p:spPr>
          <a:xfrm>
            <a:off x="3375574" y="3205295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22;p104"/>
          <p:cNvSpPr/>
          <p:nvPr/>
        </p:nvSpPr>
        <p:spPr>
          <a:xfrm>
            <a:off x="7050758" y="3365754"/>
            <a:ext cx="590183" cy="94376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22;p104"/>
          <p:cNvSpPr/>
          <p:nvPr/>
        </p:nvSpPr>
        <p:spPr>
          <a:xfrm>
            <a:off x="7050758" y="2456976"/>
            <a:ext cx="590183" cy="546724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22;p104"/>
          <p:cNvSpPr/>
          <p:nvPr/>
        </p:nvSpPr>
        <p:spPr>
          <a:xfrm rot="1351013">
            <a:off x="1162247" y="993997"/>
            <a:ext cx="526365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22;p104"/>
          <p:cNvSpPr/>
          <p:nvPr/>
        </p:nvSpPr>
        <p:spPr>
          <a:xfrm rot="20460419">
            <a:off x="1169310" y="3875066"/>
            <a:ext cx="446042" cy="451310"/>
          </a:xfrm>
          <a:prstGeom prst="rect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44656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472499" y="1773397"/>
            <a:ext cx="8199002" cy="3066770"/>
            <a:chOff x="1787167" y="1039822"/>
            <a:chExt cx="8781313" cy="3284578"/>
          </a:xfrm>
        </p:grpSpPr>
        <p:pic>
          <p:nvPicPr>
            <p:cNvPr id="33" name="Google Shape;1238;p10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787167" y="1145162"/>
              <a:ext cx="8781313" cy="31586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Google Shape;1239;p105"/>
            <p:cNvSpPr/>
            <p:nvPr/>
          </p:nvSpPr>
          <p:spPr>
            <a:xfrm>
              <a:off x="2120580" y="1438952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Google Shape;1240;p105"/>
            <p:cNvSpPr/>
            <p:nvPr/>
          </p:nvSpPr>
          <p:spPr>
            <a:xfrm>
              <a:off x="2102552" y="2098313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Google Shape;1241;p105"/>
            <p:cNvSpPr/>
            <p:nvPr/>
          </p:nvSpPr>
          <p:spPr>
            <a:xfrm>
              <a:off x="2120614" y="2775737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Google Shape;1242;p105"/>
            <p:cNvSpPr/>
            <p:nvPr/>
          </p:nvSpPr>
          <p:spPr>
            <a:xfrm>
              <a:off x="2147007" y="3436871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Google Shape;1243;p105"/>
            <p:cNvSpPr/>
            <p:nvPr/>
          </p:nvSpPr>
          <p:spPr>
            <a:xfrm>
              <a:off x="2147007" y="4116054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Google Shape;1244;p105"/>
            <p:cNvSpPr/>
            <p:nvPr/>
          </p:nvSpPr>
          <p:spPr>
            <a:xfrm>
              <a:off x="3247554" y="3089422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Google Shape;1245;p105"/>
            <p:cNvSpPr/>
            <p:nvPr/>
          </p:nvSpPr>
          <p:spPr>
            <a:xfrm>
              <a:off x="3247554" y="1791873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Google Shape;1246;p105"/>
            <p:cNvSpPr/>
            <p:nvPr/>
          </p:nvSpPr>
          <p:spPr>
            <a:xfrm>
              <a:off x="4387757" y="2454354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Google Shape;1247;p105"/>
            <p:cNvSpPr/>
            <p:nvPr/>
          </p:nvSpPr>
          <p:spPr>
            <a:xfrm>
              <a:off x="5582645" y="3277933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Google Shape;1248;p105"/>
            <p:cNvSpPr/>
            <p:nvPr/>
          </p:nvSpPr>
          <p:spPr>
            <a:xfrm>
              <a:off x="6737911" y="3277939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Google Shape;1249;p105"/>
            <p:cNvSpPr/>
            <p:nvPr/>
          </p:nvSpPr>
          <p:spPr>
            <a:xfrm>
              <a:off x="7893177" y="3277939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Google Shape;1250;p105"/>
            <p:cNvSpPr/>
            <p:nvPr/>
          </p:nvSpPr>
          <p:spPr>
            <a:xfrm>
              <a:off x="9048443" y="3277939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Google Shape;1251;p105"/>
            <p:cNvSpPr/>
            <p:nvPr/>
          </p:nvSpPr>
          <p:spPr>
            <a:xfrm>
              <a:off x="10142191" y="3277939"/>
              <a:ext cx="426289" cy="208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Google Shape;1252;p105"/>
            <p:cNvSpPr/>
            <p:nvPr/>
          </p:nvSpPr>
          <p:spPr>
            <a:xfrm>
              <a:off x="2147007" y="1039822"/>
              <a:ext cx="499870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Google Shape;1253;p105"/>
            <p:cNvSpPr/>
            <p:nvPr/>
          </p:nvSpPr>
          <p:spPr>
            <a:xfrm>
              <a:off x="2128945" y="1697251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Google Shape;1254;p105"/>
            <p:cNvSpPr/>
            <p:nvPr/>
          </p:nvSpPr>
          <p:spPr>
            <a:xfrm>
              <a:off x="2147007" y="2356612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Google Shape;1255;p105"/>
            <p:cNvSpPr/>
            <p:nvPr/>
          </p:nvSpPr>
          <p:spPr>
            <a:xfrm>
              <a:off x="2116848" y="3035802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Google Shape;1256;p105"/>
            <p:cNvSpPr/>
            <p:nvPr/>
          </p:nvSpPr>
          <p:spPr>
            <a:xfrm>
              <a:off x="2147007" y="3705079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Google Shape;1257;p105"/>
            <p:cNvSpPr/>
            <p:nvPr/>
          </p:nvSpPr>
          <p:spPr>
            <a:xfrm>
              <a:off x="3247554" y="2704355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Google Shape;1258;p105"/>
            <p:cNvSpPr/>
            <p:nvPr/>
          </p:nvSpPr>
          <p:spPr>
            <a:xfrm>
              <a:off x="3307205" y="1367570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Google Shape;1259;p105"/>
            <p:cNvSpPr/>
            <p:nvPr/>
          </p:nvSpPr>
          <p:spPr>
            <a:xfrm>
              <a:off x="4387757" y="2026932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Google Shape;1260;p105"/>
            <p:cNvSpPr/>
            <p:nvPr/>
          </p:nvSpPr>
          <p:spPr>
            <a:xfrm>
              <a:off x="5582645" y="2857449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Google Shape;1261;p105"/>
            <p:cNvSpPr/>
            <p:nvPr/>
          </p:nvSpPr>
          <p:spPr>
            <a:xfrm>
              <a:off x="6737911" y="2857449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Google Shape;1262;p105"/>
            <p:cNvSpPr/>
            <p:nvPr/>
          </p:nvSpPr>
          <p:spPr>
            <a:xfrm>
              <a:off x="7801667" y="2857449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Google Shape;1263;p105"/>
            <p:cNvSpPr/>
            <p:nvPr/>
          </p:nvSpPr>
          <p:spPr>
            <a:xfrm>
              <a:off x="8959366" y="2857449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Google Shape;1264;p105"/>
            <p:cNvSpPr/>
            <p:nvPr/>
          </p:nvSpPr>
          <p:spPr>
            <a:xfrm>
              <a:off x="10117064" y="2857449"/>
              <a:ext cx="426289" cy="3511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612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9;p105"/>
          <p:cNvSpPr/>
          <p:nvPr/>
        </p:nvSpPr>
        <p:spPr>
          <a:xfrm>
            <a:off x="783802" y="214606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40;p105"/>
          <p:cNvSpPr/>
          <p:nvPr/>
        </p:nvSpPr>
        <p:spPr>
          <a:xfrm>
            <a:off x="766969" y="276169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43;p105"/>
          <p:cNvSpPr/>
          <p:nvPr/>
        </p:nvSpPr>
        <p:spPr>
          <a:xfrm>
            <a:off x="808477" y="464563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44;p105"/>
          <p:cNvSpPr/>
          <p:nvPr/>
        </p:nvSpPr>
        <p:spPr>
          <a:xfrm>
            <a:off x="1836043" y="3687083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45;p105"/>
          <p:cNvSpPr/>
          <p:nvPr/>
        </p:nvSpPr>
        <p:spPr>
          <a:xfrm>
            <a:off x="1836043" y="247557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1246;p105"/>
          <p:cNvSpPr/>
          <p:nvPr/>
        </p:nvSpPr>
        <p:spPr>
          <a:xfrm>
            <a:off x="2900637" y="309412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Google Shape;1247;p105"/>
          <p:cNvSpPr/>
          <p:nvPr/>
        </p:nvSpPr>
        <p:spPr>
          <a:xfrm>
            <a:off x="4016289" y="3863094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Google Shape;1248;p105"/>
          <p:cNvSpPr/>
          <p:nvPr/>
        </p:nvSpPr>
        <p:spPr>
          <a:xfrm>
            <a:off x="5094946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1249;p105"/>
          <p:cNvSpPr/>
          <p:nvPr/>
        </p:nvSpPr>
        <p:spPr>
          <a:xfrm>
            <a:off x="6173604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oogle Shape;1250;p105"/>
          <p:cNvSpPr/>
          <p:nvPr/>
        </p:nvSpPr>
        <p:spPr>
          <a:xfrm>
            <a:off x="7252261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Google Shape;1251;p105"/>
          <p:cNvSpPr/>
          <p:nvPr/>
        </p:nvSpPr>
        <p:spPr>
          <a:xfrm>
            <a:off x="8273480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335672" y="1629226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前向传递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计算输出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884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9;p105"/>
          <p:cNvSpPr/>
          <p:nvPr/>
        </p:nvSpPr>
        <p:spPr>
          <a:xfrm>
            <a:off x="783802" y="214606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40;p105"/>
          <p:cNvSpPr/>
          <p:nvPr/>
        </p:nvSpPr>
        <p:spPr>
          <a:xfrm>
            <a:off x="766969" y="276169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43;p105"/>
          <p:cNvSpPr/>
          <p:nvPr/>
        </p:nvSpPr>
        <p:spPr>
          <a:xfrm>
            <a:off x="808477" y="464563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44;p105"/>
          <p:cNvSpPr/>
          <p:nvPr/>
        </p:nvSpPr>
        <p:spPr>
          <a:xfrm>
            <a:off x="1836043" y="3687083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45;p105"/>
          <p:cNvSpPr/>
          <p:nvPr/>
        </p:nvSpPr>
        <p:spPr>
          <a:xfrm>
            <a:off x="1836043" y="247557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1246;p105"/>
          <p:cNvSpPr/>
          <p:nvPr/>
        </p:nvSpPr>
        <p:spPr>
          <a:xfrm>
            <a:off x="2900637" y="309412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Google Shape;1247;p105"/>
          <p:cNvSpPr/>
          <p:nvPr/>
        </p:nvSpPr>
        <p:spPr>
          <a:xfrm>
            <a:off x="4016289" y="3863094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Google Shape;1248;p105"/>
          <p:cNvSpPr/>
          <p:nvPr/>
        </p:nvSpPr>
        <p:spPr>
          <a:xfrm>
            <a:off x="5094946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1249;p105"/>
          <p:cNvSpPr/>
          <p:nvPr/>
        </p:nvSpPr>
        <p:spPr>
          <a:xfrm>
            <a:off x="6173604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oogle Shape;1250;p105"/>
          <p:cNvSpPr/>
          <p:nvPr/>
        </p:nvSpPr>
        <p:spPr>
          <a:xfrm>
            <a:off x="7252261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768;p83"/>
          <p:cNvCxnSpPr/>
          <p:nvPr/>
        </p:nvCxnSpPr>
        <p:spPr>
          <a:xfrm flipV="1">
            <a:off x="8466102" y="4123630"/>
            <a:ext cx="2631" cy="713392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8028156" y="4820908"/>
            <a:ext cx="846736" cy="35449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后向传递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计算梯度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817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9;p105"/>
          <p:cNvSpPr/>
          <p:nvPr/>
        </p:nvSpPr>
        <p:spPr>
          <a:xfrm>
            <a:off x="783802" y="214606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40;p105"/>
          <p:cNvSpPr/>
          <p:nvPr/>
        </p:nvSpPr>
        <p:spPr>
          <a:xfrm>
            <a:off x="766969" y="276169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43;p105"/>
          <p:cNvSpPr/>
          <p:nvPr/>
        </p:nvSpPr>
        <p:spPr>
          <a:xfrm>
            <a:off x="808477" y="464563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44;p105"/>
          <p:cNvSpPr/>
          <p:nvPr/>
        </p:nvSpPr>
        <p:spPr>
          <a:xfrm>
            <a:off x="1836043" y="3687083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45;p105"/>
          <p:cNvSpPr/>
          <p:nvPr/>
        </p:nvSpPr>
        <p:spPr>
          <a:xfrm>
            <a:off x="1836043" y="247557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1246;p105"/>
          <p:cNvSpPr/>
          <p:nvPr/>
        </p:nvSpPr>
        <p:spPr>
          <a:xfrm>
            <a:off x="2900637" y="309412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Google Shape;1247;p105"/>
          <p:cNvSpPr/>
          <p:nvPr/>
        </p:nvSpPr>
        <p:spPr>
          <a:xfrm>
            <a:off x="4016289" y="3863094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Google Shape;1248;p105"/>
          <p:cNvSpPr/>
          <p:nvPr/>
        </p:nvSpPr>
        <p:spPr>
          <a:xfrm>
            <a:off x="5094946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1249;p105"/>
          <p:cNvSpPr/>
          <p:nvPr/>
        </p:nvSpPr>
        <p:spPr>
          <a:xfrm>
            <a:off x="6173604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2" name="Google Shape;768;p83"/>
          <p:cNvCxnSpPr/>
          <p:nvPr/>
        </p:nvCxnSpPr>
        <p:spPr>
          <a:xfrm flipV="1">
            <a:off x="8475328" y="4156602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8153400" y="4487033"/>
            <a:ext cx="941469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上游梯度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76016" y="3499674"/>
            <a:ext cx="1621775" cy="64974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338" y="2596102"/>
            <a:ext cx="1589977" cy="60892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989942" y="2173955"/>
            <a:ext cx="1808769" cy="10940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当前梯度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Google Shape;768;p83"/>
          <p:cNvCxnSpPr/>
          <p:nvPr/>
        </p:nvCxnSpPr>
        <p:spPr>
          <a:xfrm flipV="1">
            <a:off x="7356506" y="4145611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768;p83"/>
          <p:cNvCxnSpPr/>
          <p:nvPr/>
        </p:nvCxnSpPr>
        <p:spPr>
          <a:xfrm>
            <a:off x="7926238" y="3290521"/>
            <a:ext cx="0" cy="20970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6828893" y="4487033"/>
            <a:ext cx="1114500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下游梯度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083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9;p105"/>
          <p:cNvSpPr/>
          <p:nvPr/>
        </p:nvSpPr>
        <p:spPr>
          <a:xfrm>
            <a:off x="783802" y="214606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40;p105"/>
          <p:cNvSpPr/>
          <p:nvPr/>
        </p:nvSpPr>
        <p:spPr>
          <a:xfrm>
            <a:off x="766969" y="276169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43;p105"/>
          <p:cNvSpPr/>
          <p:nvPr/>
        </p:nvSpPr>
        <p:spPr>
          <a:xfrm>
            <a:off x="808477" y="464563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44;p105"/>
          <p:cNvSpPr/>
          <p:nvPr/>
        </p:nvSpPr>
        <p:spPr>
          <a:xfrm>
            <a:off x="1836043" y="3687083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45;p105"/>
          <p:cNvSpPr/>
          <p:nvPr/>
        </p:nvSpPr>
        <p:spPr>
          <a:xfrm>
            <a:off x="1836043" y="247557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1246;p105"/>
          <p:cNvSpPr/>
          <p:nvPr/>
        </p:nvSpPr>
        <p:spPr>
          <a:xfrm>
            <a:off x="2900637" y="309412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Google Shape;1247;p105"/>
          <p:cNvSpPr/>
          <p:nvPr/>
        </p:nvSpPr>
        <p:spPr>
          <a:xfrm>
            <a:off x="4016289" y="3863094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Google Shape;1248;p105"/>
          <p:cNvSpPr/>
          <p:nvPr/>
        </p:nvSpPr>
        <p:spPr>
          <a:xfrm>
            <a:off x="5094946" y="3863099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2" name="Google Shape;768;p83"/>
          <p:cNvCxnSpPr/>
          <p:nvPr/>
        </p:nvCxnSpPr>
        <p:spPr>
          <a:xfrm flipV="1">
            <a:off x="7446628" y="4156602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7219433" y="4487033"/>
            <a:ext cx="846736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zh-CN" altLang="en-US" sz="1350" dirty="0">
                <a:solidFill>
                  <a:prstClr val="black"/>
                </a:solidFill>
              </a:rPr>
              <a:t>上游梯度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47316" y="3499674"/>
            <a:ext cx="1621775" cy="64974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82053" y="2173955"/>
            <a:ext cx="1978270" cy="10940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当前梯度</a:t>
            </a:r>
            <a:endParaRPr lang="en-US" altLang="zh-CN" sz="1350" dirty="0">
              <a:solidFill>
                <a:prstClr val="black"/>
              </a:solidFill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Google Shape;768;p83"/>
          <p:cNvCxnSpPr/>
          <p:nvPr/>
        </p:nvCxnSpPr>
        <p:spPr>
          <a:xfrm flipV="1">
            <a:off x="6327806" y="4145611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768;p83"/>
          <p:cNvCxnSpPr/>
          <p:nvPr/>
        </p:nvCxnSpPr>
        <p:spPr>
          <a:xfrm>
            <a:off x="6897538" y="3290521"/>
            <a:ext cx="0" cy="20970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5800193" y="4487033"/>
            <a:ext cx="1114500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下游梯度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739" y="2541194"/>
            <a:ext cx="1797775" cy="61722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931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9;p105"/>
          <p:cNvSpPr/>
          <p:nvPr/>
        </p:nvSpPr>
        <p:spPr>
          <a:xfrm>
            <a:off x="783802" y="214606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40;p105"/>
          <p:cNvSpPr/>
          <p:nvPr/>
        </p:nvSpPr>
        <p:spPr>
          <a:xfrm>
            <a:off x="766969" y="276169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43;p105"/>
          <p:cNvSpPr/>
          <p:nvPr/>
        </p:nvSpPr>
        <p:spPr>
          <a:xfrm>
            <a:off x="808477" y="464563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44;p105"/>
          <p:cNvSpPr/>
          <p:nvPr/>
        </p:nvSpPr>
        <p:spPr>
          <a:xfrm>
            <a:off x="1836043" y="3687083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45;p105"/>
          <p:cNvSpPr/>
          <p:nvPr/>
        </p:nvSpPr>
        <p:spPr>
          <a:xfrm>
            <a:off x="1836043" y="247557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1246;p105"/>
          <p:cNvSpPr/>
          <p:nvPr/>
        </p:nvSpPr>
        <p:spPr>
          <a:xfrm>
            <a:off x="2900637" y="309412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Google Shape;1247;p105"/>
          <p:cNvSpPr/>
          <p:nvPr/>
        </p:nvSpPr>
        <p:spPr>
          <a:xfrm>
            <a:off x="4016289" y="3863094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2" name="Google Shape;768;p83"/>
          <p:cNvCxnSpPr/>
          <p:nvPr/>
        </p:nvCxnSpPr>
        <p:spPr>
          <a:xfrm flipV="1">
            <a:off x="6417926" y="4156602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6190731" y="4487033"/>
            <a:ext cx="846736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上游梯度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18614" y="3499674"/>
            <a:ext cx="1621775" cy="64974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853352" y="2173955"/>
            <a:ext cx="1978270" cy="10940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350" dirty="0">
                <a:solidFill>
                  <a:prstClr val="black"/>
                </a:solidFill>
                <a:latin typeface="Calibri" panose="020F0502020204030204"/>
              </a:rPr>
              <a:t>当前梯度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Google Shape;768;p83"/>
          <p:cNvCxnSpPr/>
          <p:nvPr/>
        </p:nvCxnSpPr>
        <p:spPr>
          <a:xfrm flipV="1">
            <a:off x="5299105" y="4145611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768;p83"/>
          <p:cNvCxnSpPr/>
          <p:nvPr/>
        </p:nvCxnSpPr>
        <p:spPr>
          <a:xfrm>
            <a:off x="5868836" y="3290521"/>
            <a:ext cx="0" cy="20970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4771492" y="4487033"/>
            <a:ext cx="1114500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下游梯度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223" y="2534438"/>
            <a:ext cx="1518557" cy="61722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164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9;p105"/>
          <p:cNvSpPr/>
          <p:nvPr/>
        </p:nvSpPr>
        <p:spPr>
          <a:xfrm>
            <a:off x="783802" y="214606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40;p105"/>
          <p:cNvSpPr/>
          <p:nvPr/>
        </p:nvSpPr>
        <p:spPr>
          <a:xfrm>
            <a:off x="766969" y="276169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1243;p105"/>
          <p:cNvSpPr/>
          <p:nvPr/>
        </p:nvSpPr>
        <p:spPr>
          <a:xfrm>
            <a:off x="808477" y="464563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44;p105"/>
          <p:cNvSpPr/>
          <p:nvPr/>
        </p:nvSpPr>
        <p:spPr>
          <a:xfrm>
            <a:off x="1836043" y="3687083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45;p105"/>
          <p:cNvSpPr/>
          <p:nvPr/>
        </p:nvSpPr>
        <p:spPr>
          <a:xfrm>
            <a:off x="1836043" y="247557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oogle Shape;1246;p105"/>
          <p:cNvSpPr/>
          <p:nvPr/>
        </p:nvSpPr>
        <p:spPr>
          <a:xfrm>
            <a:off x="2900637" y="309412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2" name="Google Shape;768;p83"/>
          <p:cNvCxnSpPr/>
          <p:nvPr/>
        </p:nvCxnSpPr>
        <p:spPr>
          <a:xfrm flipV="1">
            <a:off x="5336474" y="4156602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5109279" y="4487033"/>
            <a:ext cx="846736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上游梯度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37162" y="3499674"/>
            <a:ext cx="1621775" cy="64974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71900" y="2173955"/>
            <a:ext cx="2057401" cy="10940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当前梯度</a:t>
            </a:r>
            <a:endParaRPr lang="en-US" altLang="zh-CN" sz="1350" dirty="0">
              <a:solidFill>
                <a:prstClr val="black"/>
              </a:solidFill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Google Shape;768;p83"/>
          <p:cNvCxnSpPr/>
          <p:nvPr/>
        </p:nvCxnSpPr>
        <p:spPr>
          <a:xfrm flipV="1">
            <a:off x="4217653" y="4145611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768;p83"/>
          <p:cNvCxnSpPr/>
          <p:nvPr/>
        </p:nvCxnSpPr>
        <p:spPr>
          <a:xfrm>
            <a:off x="4787384" y="3290521"/>
            <a:ext cx="0" cy="20970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3690040" y="4487033"/>
            <a:ext cx="1114500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下游梯度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846" y="2534438"/>
            <a:ext cx="1885950" cy="61722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246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9;p105"/>
          <p:cNvSpPr/>
          <p:nvPr/>
        </p:nvSpPr>
        <p:spPr>
          <a:xfrm>
            <a:off x="783802" y="214606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40;p105"/>
          <p:cNvSpPr/>
          <p:nvPr/>
        </p:nvSpPr>
        <p:spPr>
          <a:xfrm>
            <a:off x="766969" y="276169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oogle Shape;1244;p105"/>
          <p:cNvSpPr/>
          <p:nvPr/>
        </p:nvSpPr>
        <p:spPr>
          <a:xfrm>
            <a:off x="1836043" y="3687083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1245;p105"/>
          <p:cNvSpPr/>
          <p:nvPr/>
        </p:nvSpPr>
        <p:spPr>
          <a:xfrm>
            <a:off x="1836043" y="2475578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65307" y="2201408"/>
            <a:ext cx="3771900" cy="10940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当前梯度</a:t>
            </a:r>
            <a:endParaRPr lang="en-US" altLang="zh-CN" sz="1350" dirty="0">
              <a:solidFill>
                <a:prstClr val="black"/>
              </a:solidFill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Google Shape;768;p83"/>
          <p:cNvCxnSpPr/>
          <p:nvPr/>
        </p:nvCxnSpPr>
        <p:spPr>
          <a:xfrm flipH="1" flipV="1">
            <a:off x="1107831" y="4988963"/>
            <a:ext cx="728213" cy="49637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768;p83"/>
          <p:cNvCxnSpPr/>
          <p:nvPr/>
        </p:nvCxnSpPr>
        <p:spPr>
          <a:xfrm flipH="1">
            <a:off x="3699364" y="3289346"/>
            <a:ext cx="65915" cy="185814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1836044" y="5153939"/>
            <a:ext cx="1114500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下游梯度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830874" y="2756389"/>
            <a:ext cx="3574073" cy="2176096"/>
          </a:xfrm>
          <a:custGeom>
            <a:avLst/>
            <a:gdLst>
              <a:gd name="connsiteX0" fmla="*/ 0 w 4765431"/>
              <a:gd name="connsiteY0" fmla="*/ 2039815 h 2901461"/>
              <a:gd name="connsiteX1" fmla="*/ 0 w 4765431"/>
              <a:gd name="connsiteY1" fmla="*/ 2901461 h 2901461"/>
              <a:gd name="connsiteX2" fmla="*/ 870438 w 4765431"/>
              <a:gd name="connsiteY2" fmla="*/ 2901461 h 2901461"/>
              <a:gd name="connsiteX3" fmla="*/ 3411415 w 4765431"/>
              <a:gd name="connsiteY3" fmla="*/ 1890346 h 2901461"/>
              <a:gd name="connsiteX4" fmla="*/ 4765431 w 4765431"/>
              <a:gd name="connsiteY4" fmla="*/ 1890346 h 2901461"/>
              <a:gd name="connsiteX5" fmla="*/ 4765431 w 4765431"/>
              <a:gd name="connsiteY5" fmla="*/ 984738 h 2901461"/>
              <a:gd name="connsiteX6" fmla="*/ 3666392 w 4765431"/>
              <a:gd name="connsiteY6" fmla="*/ 984738 h 2901461"/>
              <a:gd name="connsiteX7" fmla="*/ 3472961 w 4765431"/>
              <a:gd name="connsiteY7" fmla="*/ 0 h 2901461"/>
              <a:gd name="connsiteX8" fmla="*/ 2655277 w 4765431"/>
              <a:gd name="connsiteY8" fmla="*/ 0 h 2901461"/>
              <a:gd name="connsiteX9" fmla="*/ 2655277 w 4765431"/>
              <a:gd name="connsiteY9" fmla="*/ 1327638 h 2901461"/>
              <a:gd name="connsiteX10" fmla="*/ 404446 w 4765431"/>
              <a:gd name="connsiteY10" fmla="*/ 2039815 h 2901461"/>
              <a:gd name="connsiteX11" fmla="*/ 0 w 4765431"/>
              <a:gd name="connsiteY11" fmla="*/ 2039815 h 2901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65431" h="2901461">
                <a:moveTo>
                  <a:pt x="0" y="2039815"/>
                </a:moveTo>
                <a:lnTo>
                  <a:pt x="0" y="2901461"/>
                </a:lnTo>
                <a:lnTo>
                  <a:pt x="870438" y="2901461"/>
                </a:lnTo>
                <a:lnTo>
                  <a:pt x="3411415" y="1890346"/>
                </a:lnTo>
                <a:lnTo>
                  <a:pt x="4765431" y="1890346"/>
                </a:lnTo>
                <a:lnTo>
                  <a:pt x="4765431" y="984738"/>
                </a:lnTo>
                <a:lnTo>
                  <a:pt x="3666392" y="984738"/>
                </a:lnTo>
                <a:lnTo>
                  <a:pt x="3472961" y="0"/>
                </a:lnTo>
                <a:lnTo>
                  <a:pt x="2655277" y="0"/>
                </a:lnTo>
                <a:lnTo>
                  <a:pt x="2655277" y="1327638"/>
                </a:lnTo>
                <a:lnTo>
                  <a:pt x="404446" y="2039815"/>
                </a:lnTo>
                <a:lnTo>
                  <a:pt x="0" y="2039815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Google Shape;768;p83"/>
          <p:cNvCxnSpPr/>
          <p:nvPr/>
        </p:nvCxnSpPr>
        <p:spPr>
          <a:xfrm flipV="1">
            <a:off x="4195672" y="4156602"/>
            <a:ext cx="0" cy="32325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3968477" y="4487033"/>
            <a:ext cx="846736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上游梯度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213" y="2588334"/>
            <a:ext cx="3571707" cy="617220"/>
          </a:xfrm>
          <a:prstGeom prst="rect">
            <a:avLst/>
          </a:prstGeom>
        </p:spPr>
      </p:pic>
      <p:cxnSp>
        <p:nvCxnSpPr>
          <p:cNvPr id="42" name="Google Shape;768;p83"/>
          <p:cNvCxnSpPr/>
          <p:nvPr/>
        </p:nvCxnSpPr>
        <p:spPr>
          <a:xfrm flipV="1">
            <a:off x="2946563" y="3346330"/>
            <a:ext cx="152726" cy="1828832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024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9;p105"/>
          <p:cNvSpPr/>
          <p:nvPr/>
        </p:nvSpPr>
        <p:spPr>
          <a:xfrm>
            <a:off x="783802" y="214606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1240;p105"/>
          <p:cNvSpPr/>
          <p:nvPr/>
        </p:nvSpPr>
        <p:spPr>
          <a:xfrm>
            <a:off x="766969" y="2761697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65307" y="2201408"/>
            <a:ext cx="3771900" cy="10940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当前梯度</a:t>
            </a:r>
            <a:endParaRPr lang="en-US" altLang="zh-CN" sz="1350" dirty="0">
              <a:solidFill>
                <a:prstClr val="black"/>
              </a:solidFill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Google Shape;768;p83"/>
          <p:cNvCxnSpPr/>
          <p:nvPr/>
        </p:nvCxnSpPr>
        <p:spPr>
          <a:xfrm flipH="1" flipV="1">
            <a:off x="2035616" y="3974829"/>
            <a:ext cx="8595" cy="48287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768;p83"/>
          <p:cNvCxnSpPr/>
          <p:nvPr/>
        </p:nvCxnSpPr>
        <p:spPr>
          <a:xfrm flipH="1">
            <a:off x="2776921" y="2492619"/>
            <a:ext cx="972005" cy="366342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1657375" y="4454690"/>
            <a:ext cx="1114500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下游梯度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oogle Shape;768;p83"/>
          <p:cNvCxnSpPr/>
          <p:nvPr/>
        </p:nvCxnSpPr>
        <p:spPr>
          <a:xfrm flipH="1" flipV="1">
            <a:off x="3114776" y="3295448"/>
            <a:ext cx="241688" cy="1168182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3302460" y="4487033"/>
            <a:ext cx="846736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上游梯度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213" y="2588334"/>
            <a:ext cx="3571707" cy="617220"/>
          </a:xfrm>
          <a:prstGeom prst="rect">
            <a:avLst/>
          </a:prstGeom>
        </p:spPr>
      </p:pic>
      <p:cxnSp>
        <p:nvCxnSpPr>
          <p:cNvPr id="42" name="Google Shape;768;p83"/>
          <p:cNvCxnSpPr/>
          <p:nvPr/>
        </p:nvCxnSpPr>
        <p:spPr>
          <a:xfrm flipV="1">
            <a:off x="1670071" y="2675790"/>
            <a:ext cx="365546" cy="1793523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1781897" y="2146060"/>
            <a:ext cx="1574567" cy="179729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281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1241;p105"/>
          <p:cNvSpPr/>
          <p:nvPr/>
        </p:nvSpPr>
        <p:spPr>
          <a:xfrm>
            <a:off x="783834" y="3394200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1242;p105"/>
          <p:cNvSpPr/>
          <p:nvPr/>
        </p:nvSpPr>
        <p:spPr>
          <a:xfrm>
            <a:off x="808477" y="4011492"/>
            <a:ext cx="398021" cy="194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48926" y="2262958"/>
            <a:ext cx="3771900" cy="10940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当前梯度</a:t>
            </a:r>
            <a:endParaRPr lang="en-US" altLang="zh-CN" sz="1350" dirty="0">
              <a:solidFill>
                <a:prstClr val="black"/>
              </a:solidFill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Google Shape;768;p83"/>
          <p:cNvCxnSpPr>
            <a:stCxn id="27" idx="2"/>
          </p:cNvCxnSpPr>
          <p:nvPr/>
        </p:nvCxnSpPr>
        <p:spPr>
          <a:xfrm flipH="1">
            <a:off x="1233122" y="1745725"/>
            <a:ext cx="34161" cy="403994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226584" y="1550658"/>
            <a:ext cx="2081397" cy="19506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下游梯度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479066" y="1564629"/>
            <a:ext cx="846736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上游梯度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5817" y="1894470"/>
            <a:ext cx="1482164" cy="115206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Elbow Connector 10"/>
          <p:cNvCxnSpPr/>
          <p:nvPr/>
        </p:nvCxnSpPr>
        <p:spPr>
          <a:xfrm rot="16200000" flipH="1">
            <a:off x="-22134" y="2090976"/>
            <a:ext cx="1151219" cy="460717"/>
          </a:xfrm>
          <a:prstGeom prst="bentConnector3">
            <a:avLst>
              <a:gd name="adj1" fmla="val 99834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rot="5400000">
            <a:off x="2171283" y="2186559"/>
            <a:ext cx="545125" cy="189060"/>
          </a:xfrm>
          <a:prstGeom prst="bentConnector3">
            <a:avLst>
              <a:gd name="adj1" fmla="val 100806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740" y="2615201"/>
            <a:ext cx="2949949" cy="617220"/>
          </a:xfrm>
          <a:prstGeom prst="rect">
            <a:avLst/>
          </a:prstGeom>
        </p:spPr>
      </p:pic>
      <p:cxnSp>
        <p:nvCxnSpPr>
          <p:cNvPr id="38" name="Elbow Connector 37"/>
          <p:cNvCxnSpPr>
            <a:stCxn id="24" idx="1"/>
          </p:cNvCxnSpPr>
          <p:nvPr/>
        </p:nvCxnSpPr>
        <p:spPr>
          <a:xfrm rot="10800000">
            <a:off x="1569428" y="2690426"/>
            <a:ext cx="2179499" cy="119552"/>
          </a:xfrm>
          <a:prstGeom prst="bentConnector3">
            <a:avLst>
              <a:gd name="adj1" fmla="val 100225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457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48926" y="2262958"/>
            <a:ext cx="3771900" cy="109404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当前梯度</a:t>
            </a:r>
            <a:endParaRPr lang="en-US" altLang="zh-CN" sz="1350" dirty="0">
              <a:solidFill>
                <a:prstClr val="black"/>
              </a:solidFill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6584" y="1550658"/>
            <a:ext cx="2081397" cy="19506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下游梯度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479066" y="1564629"/>
            <a:ext cx="846736" cy="443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85800">
              <a:defRPr/>
            </a:pPr>
            <a:r>
              <a:rPr lang="zh-CN" altLang="en-US" sz="1350" dirty="0">
                <a:solidFill>
                  <a:prstClr val="black"/>
                </a:solidFill>
              </a:rPr>
              <a:t>上游梯度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5817" y="3074836"/>
            <a:ext cx="1482164" cy="115206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Elbow Connector 10"/>
          <p:cNvCxnSpPr/>
          <p:nvPr/>
        </p:nvCxnSpPr>
        <p:spPr>
          <a:xfrm rot="16200000" flipH="1">
            <a:off x="-678889" y="2651198"/>
            <a:ext cx="2322916" cy="511969"/>
          </a:xfrm>
          <a:prstGeom prst="bentConnector3">
            <a:avLst>
              <a:gd name="adj1" fmla="val 99962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rot="5400000">
            <a:off x="1684364" y="2681925"/>
            <a:ext cx="1843613" cy="490729"/>
          </a:xfrm>
          <a:prstGeom prst="bentConnector3">
            <a:avLst>
              <a:gd name="adj1" fmla="val 99718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740" y="2615201"/>
            <a:ext cx="2949949" cy="617220"/>
          </a:xfrm>
          <a:prstGeom prst="rect">
            <a:avLst/>
          </a:prstGeom>
        </p:spPr>
      </p:pic>
      <p:cxnSp>
        <p:nvCxnSpPr>
          <p:cNvPr id="38" name="Elbow Connector 37"/>
          <p:cNvCxnSpPr>
            <a:stCxn id="24" idx="1"/>
          </p:cNvCxnSpPr>
          <p:nvPr/>
        </p:nvCxnSpPr>
        <p:spPr>
          <a:xfrm rot="10800000" flipV="1">
            <a:off x="1576021" y="2809978"/>
            <a:ext cx="2172905" cy="612428"/>
          </a:xfrm>
          <a:prstGeom prst="bentConnector3">
            <a:avLst>
              <a:gd name="adj1" fmla="val 100073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6200000" flipH="1">
            <a:off x="-332660" y="2410541"/>
            <a:ext cx="1736031" cy="406394"/>
          </a:xfrm>
          <a:prstGeom prst="bentConnector3">
            <a:avLst>
              <a:gd name="adj1" fmla="val 9976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894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290" y="640867"/>
            <a:ext cx="291465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431324" y="3285063"/>
            <a:ext cx="3743766" cy="10940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34396" y="1077125"/>
            <a:ext cx="1750290" cy="37692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326916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39" y="2294880"/>
            <a:ext cx="2169863" cy="713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91540" y="2305311"/>
            <a:ext cx="2740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计算图不唯一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可以使用简单梯度的基本单元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678" y="1168963"/>
            <a:ext cx="1842108" cy="19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46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431324" y="3285063"/>
            <a:ext cx="3743766" cy="10940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326916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39" y="2294880"/>
            <a:ext cx="2169863" cy="713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91540" y="2305311"/>
            <a:ext cx="2740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sz="1500" dirty="0">
                <a:solidFill>
                  <a:prstClr val="black"/>
                </a:solidFill>
              </a:rPr>
              <a:t>计算图不唯一</a:t>
            </a:r>
            <a:r>
              <a:rPr lang="en-US" altLang="zh-CN" sz="1500" dirty="0">
                <a:solidFill>
                  <a:prstClr val="black"/>
                </a:solidFill>
              </a:rPr>
              <a:t>: </a:t>
            </a:r>
            <a:r>
              <a:rPr lang="zh-CN" altLang="en-US" sz="1500" dirty="0">
                <a:solidFill>
                  <a:prstClr val="black"/>
                </a:solidFill>
              </a:rPr>
              <a:t>可以使用简单梯度的基本单元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32" y="5035340"/>
            <a:ext cx="6330535" cy="5040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701" y="5021928"/>
            <a:ext cx="12229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 local gradient: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4396" y="1077125"/>
            <a:ext cx="1750290" cy="37692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678" y="1168963"/>
            <a:ext cx="1842108" cy="19125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AE51B22-A803-4345-BA32-6E0449CB7620}"/>
              </a:ext>
            </a:extLst>
          </p:cNvPr>
          <p:cNvSpPr/>
          <p:nvPr/>
        </p:nvSpPr>
        <p:spPr>
          <a:xfrm>
            <a:off x="6416040" y="4986248"/>
            <a:ext cx="1379220" cy="585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ACBBF6-E767-4EBF-9C84-C89B966FFC67}"/>
              </a:ext>
            </a:extLst>
          </p:cNvPr>
          <p:cNvSpPr/>
          <p:nvPr/>
        </p:nvSpPr>
        <p:spPr>
          <a:xfrm>
            <a:off x="1358512" y="4937504"/>
            <a:ext cx="919868" cy="585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28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431324" y="3285063"/>
            <a:ext cx="3743766" cy="10940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326916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39" y="2294880"/>
            <a:ext cx="2169863" cy="713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91540" y="2305311"/>
            <a:ext cx="2740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sz="1500" dirty="0">
                <a:solidFill>
                  <a:prstClr val="black"/>
                </a:solidFill>
              </a:rPr>
              <a:t>计算图不唯一</a:t>
            </a:r>
            <a:r>
              <a:rPr lang="en-US" altLang="zh-CN" sz="1500" dirty="0">
                <a:solidFill>
                  <a:prstClr val="black"/>
                </a:solidFill>
              </a:rPr>
              <a:t>: </a:t>
            </a:r>
            <a:r>
              <a:rPr lang="zh-CN" altLang="en-US" sz="1500" dirty="0">
                <a:solidFill>
                  <a:prstClr val="black"/>
                </a:solidFill>
              </a:rPr>
              <a:t>可以使用简单梯度的基本单元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32" y="5035340"/>
            <a:ext cx="6330535" cy="5040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58722" y="4343817"/>
            <a:ext cx="4325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</a:rPr>
              <a:t>下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[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*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上游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= (1 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0.73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*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0.73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0301" y="3819623"/>
            <a:ext cx="391521" cy="24899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08133" y="3559297"/>
            <a:ext cx="391521" cy="24899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996549" y="3829139"/>
            <a:ext cx="391521" cy="2489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701" y="5021928"/>
            <a:ext cx="12229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 local gradient: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4396" y="1077125"/>
            <a:ext cx="1750290" cy="37692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678" y="1168963"/>
            <a:ext cx="1842108" cy="19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962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其他激活函数的梯度</a:t>
            </a:r>
            <a:r>
              <a:rPr lang="en-US" dirty="0"/>
              <a:t>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508;p65"/>
          <p:cNvSpPr txBox="1"/>
          <p:nvPr/>
        </p:nvSpPr>
        <p:spPr>
          <a:xfrm>
            <a:off x="337912" y="1836922"/>
            <a:ext cx="151160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</a:t>
            </a:r>
            <a:endParaRPr kumimoji="0" sz="2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509;p65"/>
          <p:cNvSpPr txBox="1"/>
          <p:nvPr/>
        </p:nvSpPr>
        <p:spPr>
          <a:xfrm>
            <a:off x="337912" y="3052081"/>
            <a:ext cx="2963528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510;p65"/>
          <p:cNvSpPr txBox="1"/>
          <p:nvPr/>
        </p:nvSpPr>
        <p:spPr>
          <a:xfrm>
            <a:off x="337912" y="4341820"/>
            <a:ext cx="312698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511;p65"/>
          <p:cNvSpPr txBox="1"/>
          <p:nvPr/>
        </p:nvSpPr>
        <p:spPr>
          <a:xfrm>
            <a:off x="4742389" y="1774913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Leaky </a:t>
            </a:r>
            <a:r>
              <a:rPr kumimoji="0" lang="en" sz="2399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512;p65"/>
          <p:cNvSpPr txBox="1"/>
          <p:nvPr/>
        </p:nvSpPr>
        <p:spPr>
          <a:xfrm>
            <a:off x="4818544" y="3180872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Maxout</a:t>
            </a:r>
            <a:endParaRPr kumimoji="0" sz="2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513;p65"/>
          <p:cNvSpPr txBox="1"/>
          <p:nvPr/>
        </p:nvSpPr>
        <p:spPr>
          <a:xfrm>
            <a:off x="4863583" y="4265864"/>
            <a:ext cx="2285105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ELU</a:t>
            </a:r>
            <a:endParaRPr kumimoji="0" sz="2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Google Shape;51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087" y="2359811"/>
            <a:ext cx="1649645" cy="38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51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86" y="3543338"/>
            <a:ext cx="1077275" cy="34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51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86" y="4833067"/>
            <a:ext cx="1335129" cy="34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51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3583" y="2235793"/>
            <a:ext cx="1649645" cy="32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519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0680" y="4718446"/>
            <a:ext cx="1897181" cy="71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520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0664" y="3607885"/>
            <a:ext cx="2963528" cy="306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521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94091" y="1824710"/>
            <a:ext cx="1451882" cy="1142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522;p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4102" y="3101218"/>
            <a:ext cx="1451872" cy="110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523;p6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43488" y="4287958"/>
            <a:ext cx="1385000" cy="1142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524;p6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92753" y="1824711"/>
            <a:ext cx="1451872" cy="114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525;p6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92756" y="4287966"/>
            <a:ext cx="1451872" cy="1142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86469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8842-19A4-4D05-8323-CE0A67CF5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其他激活函数的梯度</a:t>
            </a:r>
            <a:r>
              <a:rPr lang="en-US" dirty="0"/>
              <a:t>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A533A17-A9FA-4F44-BDB8-22280413D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500" dirty="0">
                <a:hlinkClick r:id="rId3"/>
              </a:rPr>
              <a:t>https://towardsdatascience.com/activation-functions-neural-networks-1cbd9f8d91d6</a:t>
            </a:r>
            <a:endParaRPr lang="en-US" sz="15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6858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Richard Szeliski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UW CSE 576 - Deep Neural Networks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6858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2D1479-DF4D-48DC-965E-2EAAECBF715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8CB34-669F-49AC-AD34-8EE3197734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682" y="2200700"/>
            <a:ext cx="6330535" cy="504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8CE0AE-C26D-4F47-AD8F-F9ED8A646E01}"/>
              </a:ext>
            </a:extLst>
          </p:cNvPr>
          <p:cNvSpPr txBox="1"/>
          <p:nvPr/>
        </p:nvSpPr>
        <p:spPr>
          <a:xfrm>
            <a:off x="628650" y="2187288"/>
            <a:ext cx="12229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当前梯度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787DE35-0163-4CAC-8EB3-B4F3C9C197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178"/>
          <a:stretch/>
        </p:blipFill>
        <p:spPr bwMode="auto">
          <a:xfrm>
            <a:off x="1217244" y="2826741"/>
            <a:ext cx="7088354" cy="59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338B9CF4-C107-4607-8BB7-770710CB38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58" b="51880"/>
          <a:stretch/>
        </p:blipFill>
        <p:spPr bwMode="auto">
          <a:xfrm>
            <a:off x="1219200" y="3419658"/>
            <a:ext cx="7088354" cy="50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5D415151-951F-45B0-AC68-5D08017ECE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54" b="19298"/>
          <a:stretch/>
        </p:blipFill>
        <p:spPr bwMode="auto">
          <a:xfrm>
            <a:off x="1217244" y="3836671"/>
            <a:ext cx="7088354" cy="133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96A9570-0C4F-41A7-A5AE-F6AFAF73FB2C}"/>
              </a:ext>
            </a:extLst>
          </p:cNvPr>
          <p:cNvSpPr/>
          <p:nvPr/>
        </p:nvSpPr>
        <p:spPr>
          <a:xfrm>
            <a:off x="5881519" y="3897980"/>
            <a:ext cx="1793390" cy="12208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65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045;p142"/>
          <p:cNvSpPr txBox="1"/>
          <p:nvPr/>
        </p:nvSpPr>
        <p:spPr>
          <a:xfrm>
            <a:off x="1041179" y="2529385"/>
            <a:ext cx="7059261" cy="179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目前</a:t>
            </a:r>
            <a:r>
              <a:rPr kumimoji="0" lang="zh-CN" altLang="en-US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为止</a:t>
            </a:r>
            <a:r>
              <a:rPr kumimoji="0" 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全是</a:t>
            </a:r>
            <a:r>
              <a:rPr kumimoji="0" lang="zh-CN" altLang="en-US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有关</a:t>
            </a:r>
            <a:r>
              <a:rPr kumimoji="0" lang="zh-CN" alt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标量</a:t>
            </a:r>
            <a:r>
              <a:rPr kumimoji="0" lang="zh-CN" altLang="en-US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</a:t>
            </a:r>
            <a:r>
              <a:rPr kumimoji="0" lang="zh-CN" alt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后向</a:t>
            </a:r>
            <a:r>
              <a:rPr kumimoji="0" lang="zh-CN" altLang="en-US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传播</a:t>
            </a:r>
            <a:endParaRPr kumimoji="0" sz="29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999" dirty="0">
                <a:solidFill>
                  <a:prstClr val="black"/>
                </a:solidFill>
                <a:latin typeface="Calibri" panose="020F0502020204030204"/>
              </a:rPr>
              <a:t>如果是矢量值函数会怎样</a:t>
            </a:r>
            <a:r>
              <a:rPr kumimoji="0" 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sz="29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5772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回顾</a:t>
            </a:r>
            <a:r>
              <a:rPr lang="en-US" dirty="0"/>
              <a:t>: </a:t>
            </a:r>
            <a:r>
              <a:rPr lang="zh-CN" altLang="en-US" dirty="0"/>
              <a:t>矢量导数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081;p1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761" y="1915226"/>
            <a:ext cx="2075909" cy="48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82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078" y="2943346"/>
            <a:ext cx="1056771" cy="7265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83;p145"/>
          <p:cNvSpPr txBox="1"/>
          <p:nvPr/>
        </p:nvSpPr>
        <p:spPr>
          <a:xfrm>
            <a:off x="294748" y="2380567"/>
            <a:ext cx="2113850" cy="43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常规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导数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2084;p145"/>
          <p:cNvSpPr txBox="1"/>
          <p:nvPr/>
        </p:nvSpPr>
        <p:spPr>
          <a:xfrm>
            <a:off x="209870" y="3802272"/>
            <a:ext cx="2245815" cy="91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变化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一个微小变量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y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如何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改变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3330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回顾</a:t>
            </a:r>
            <a:r>
              <a:rPr lang="en-US" altLang="zh-CN" dirty="0"/>
              <a:t>: </a:t>
            </a:r>
            <a:r>
              <a:rPr lang="zh-CN" altLang="en-US" dirty="0"/>
              <a:t>矢量导数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081;p1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761" y="1915226"/>
            <a:ext cx="2075909" cy="48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82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078" y="2943346"/>
            <a:ext cx="1056771" cy="7265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83;p145"/>
          <p:cNvSpPr txBox="1"/>
          <p:nvPr/>
        </p:nvSpPr>
        <p:spPr>
          <a:xfrm>
            <a:off x="294748" y="2380567"/>
            <a:ext cx="2113850" cy="43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常规导数</a:t>
            </a:r>
            <a:r>
              <a:rPr lang="en-US" altLang="zh-CN" sz="1799" dirty="0">
                <a:solidFill>
                  <a:prstClr val="black"/>
                </a:solidFill>
              </a:rPr>
              <a:t>:</a:t>
            </a:r>
            <a:endParaRPr lang="zh-CN" altLang="en-US" sz="1799" dirty="0">
              <a:solidFill>
                <a:prstClr val="black"/>
              </a:solidFill>
            </a:endParaRPr>
          </a:p>
        </p:txBody>
      </p:sp>
      <p:sp>
        <p:nvSpPr>
          <p:cNvPr id="7" name="Google Shape;2084;p145"/>
          <p:cNvSpPr txBox="1"/>
          <p:nvPr/>
        </p:nvSpPr>
        <p:spPr>
          <a:xfrm>
            <a:off x="209870" y="3802272"/>
            <a:ext cx="2245815" cy="91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如果 </a:t>
            </a:r>
            <a:r>
              <a:rPr lang="en" altLang="zh-CN" sz="1799" dirty="0">
                <a:solidFill>
                  <a:prstClr val="black"/>
                </a:solidFill>
              </a:rPr>
              <a:t>x </a:t>
            </a:r>
            <a:r>
              <a:rPr lang="zh-CN" altLang="en-US" sz="1799" dirty="0">
                <a:solidFill>
                  <a:prstClr val="black"/>
                </a:solidFill>
              </a:rPr>
              <a:t>变化一个微小变量</a:t>
            </a:r>
            <a:r>
              <a:rPr lang="en-US" altLang="zh-CN" sz="1799" dirty="0">
                <a:solidFill>
                  <a:prstClr val="black"/>
                </a:solidFill>
              </a:rPr>
              <a:t>, </a:t>
            </a:r>
            <a:r>
              <a:rPr lang="en" altLang="zh-CN" sz="1799" dirty="0">
                <a:solidFill>
                  <a:prstClr val="black"/>
                </a:solidFill>
              </a:rPr>
              <a:t>y </a:t>
            </a:r>
            <a:r>
              <a:rPr lang="zh-CN" altLang="en-US" sz="1799" dirty="0">
                <a:solidFill>
                  <a:prstClr val="black"/>
                </a:solidFill>
              </a:rPr>
              <a:t>如何改变</a:t>
            </a:r>
            <a:r>
              <a:rPr lang="en-US" altLang="zh-CN" sz="1799" dirty="0">
                <a:solidFill>
                  <a:prstClr val="black"/>
                </a:solidFill>
              </a:rPr>
              <a:t>?</a:t>
            </a:r>
            <a:endParaRPr lang="zh-CN" altLang="en-US" sz="17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oogle Shape;2086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9594" y="1922055"/>
            <a:ext cx="2075909" cy="474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087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5274" y="2907372"/>
            <a:ext cx="1210906" cy="72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88;p145"/>
          <p:cNvSpPr txBox="1"/>
          <p:nvPr/>
        </p:nvSpPr>
        <p:spPr>
          <a:xfrm>
            <a:off x="2336241" y="2406261"/>
            <a:ext cx="3402614" cy="43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导数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为梯度：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2089;p145"/>
          <p:cNvSpPr txBox="1"/>
          <p:nvPr/>
        </p:nvSpPr>
        <p:spPr>
          <a:xfrm>
            <a:off x="2746073" y="3802272"/>
            <a:ext cx="2582927" cy="122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对于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每一个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x,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果其变化一个微小变量</a:t>
            </a:r>
            <a:r>
              <a:rPr lang="en" altLang="zh-CN" sz="1799" dirty="0">
                <a:solidFill>
                  <a:prstClr val="black"/>
                </a:solidFill>
              </a:rPr>
              <a:t>, y </a:t>
            </a:r>
            <a:r>
              <a:rPr lang="zh-CN" altLang="en" sz="1799" dirty="0">
                <a:solidFill>
                  <a:prstClr val="black"/>
                </a:solidFill>
              </a:rPr>
              <a:t>如何</a:t>
            </a:r>
            <a:r>
              <a:rPr lang="zh-CN" altLang="en-US" sz="1799" dirty="0">
                <a:solidFill>
                  <a:prstClr val="black"/>
                </a:solidFill>
              </a:rPr>
              <a:t>变化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Google Shape;2091;p1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1132" y="2960020"/>
            <a:ext cx="1438691" cy="621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245669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回顾</a:t>
            </a:r>
            <a:r>
              <a:rPr lang="en-US" altLang="zh-CN" dirty="0"/>
              <a:t>: </a:t>
            </a:r>
            <a:r>
              <a:rPr lang="zh-CN" altLang="en-US" dirty="0"/>
              <a:t>矢量导数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081;p1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761" y="1915226"/>
            <a:ext cx="2075909" cy="48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82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078" y="2943346"/>
            <a:ext cx="1056771" cy="7265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83;p145"/>
          <p:cNvSpPr txBox="1"/>
          <p:nvPr/>
        </p:nvSpPr>
        <p:spPr>
          <a:xfrm>
            <a:off x="294748" y="2380567"/>
            <a:ext cx="2113850" cy="43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常规导数</a:t>
            </a:r>
            <a:r>
              <a:rPr lang="en-US" altLang="zh-CN" sz="1799" dirty="0">
                <a:solidFill>
                  <a:prstClr val="black"/>
                </a:solidFill>
              </a:rPr>
              <a:t>:</a:t>
            </a:r>
            <a:endParaRPr lang="zh-CN" altLang="en-US" sz="17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2084;p145"/>
          <p:cNvSpPr txBox="1"/>
          <p:nvPr/>
        </p:nvSpPr>
        <p:spPr>
          <a:xfrm>
            <a:off x="209870" y="3802272"/>
            <a:ext cx="2245815" cy="91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如果 </a:t>
            </a:r>
            <a:r>
              <a:rPr lang="en" altLang="zh-CN" sz="1799" dirty="0">
                <a:solidFill>
                  <a:prstClr val="black"/>
                </a:solidFill>
              </a:rPr>
              <a:t>x </a:t>
            </a:r>
            <a:r>
              <a:rPr lang="zh-CN" altLang="en-US" sz="1799" dirty="0">
                <a:solidFill>
                  <a:prstClr val="black"/>
                </a:solidFill>
              </a:rPr>
              <a:t>变化一个微小变量</a:t>
            </a:r>
            <a:r>
              <a:rPr lang="en-US" altLang="zh-CN" sz="1799" dirty="0">
                <a:solidFill>
                  <a:prstClr val="black"/>
                </a:solidFill>
              </a:rPr>
              <a:t>, </a:t>
            </a:r>
            <a:r>
              <a:rPr lang="en" altLang="zh-CN" sz="1799" dirty="0">
                <a:solidFill>
                  <a:prstClr val="black"/>
                </a:solidFill>
              </a:rPr>
              <a:t>y </a:t>
            </a:r>
            <a:r>
              <a:rPr lang="zh-CN" altLang="en-US" sz="1799" dirty="0">
                <a:solidFill>
                  <a:prstClr val="black"/>
                </a:solidFill>
              </a:rPr>
              <a:t>如何改变</a:t>
            </a:r>
            <a:r>
              <a:rPr lang="en-US" altLang="zh-CN" sz="1799" dirty="0">
                <a:solidFill>
                  <a:prstClr val="black"/>
                </a:solidFill>
              </a:rPr>
              <a:t>?</a:t>
            </a:r>
            <a:endParaRPr lang="zh-CN" altLang="en-US" sz="17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oogle Shape;2086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9594" y="1922055"/>
            <a:ext cx="2075909" cy="474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087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5274" y="2907372"/>
            <a:ext cx="1210906" cy="72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88;p145"/>
          <p:cNvSpPr txBox="1"/>
          <p:nvPr/>
        </p:nvSpPr>
        <p:spPr>
          <a:xfrm>
            <a:off x="2336241" y="2406261"/>
            <a:ext cx="3402614" cy="43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导数为梯度：</a:t>
            </a:r>
            <a:endParaRPr lang="zh-CN" altLang="en-US" sz="2399" dirty="0">
              <a:solidFill>
                <a:prstClr val="black"/>
              </a:solidFill>
            </a:endParaRPr>
          </a:p>
        </p:txBody>
      </p:sp>
      <p:sp>
        <p:nvSpPr>
          <p:cNvPr id="11" name="Google Shape;2089;p145"/>
          <p:cNvSpPr txBox="1"/>
          <p:nvPr/>
        </p:nvSpPr>
        <p:spPr>
          <a:xfrm>
            <a:off x="2746073" y="3802272"/>
            <a:ext cx="2582927" cy="122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对于</a:t>
            </a:r>
            <a:r>
              <a:rPr lang="en" altLang="zh-CN" sz="1799" dirty="0">
                <a:solidFill>
                  <a:prstClr val="black"/>
                </a:solidFill>
              </a:rPr>
              <a:t>x</a:t>
            </a:r>
            <a:r>
              <a:rPr lang="zh-CN" altLang="en" sz="1799" dirty="0">
                <a:solidFill>
                  <a:prstClr val="black"/>
                </a:solidFill>
              </a:rPr>
              <a:t>中</a:t>
            </a:r>
            <a:r>
              <a:rPr lang="zh-CN" altLang="en-US" sz="1799" dirty="0">
                <a:solidFill>
                  <a:prstClr val="black"/>
                </a:solidFill>
              </a:rPr>
              <a:t>的每一个元素</a:t>
            </a:r>
            <a:r>
              <a:rPr lang="en" altLang="zh-CN" sz="1799" dirty="0">
                <a:solidFill>
                  <a:prstClr val="black"/>
                </a:solidFill>
              </a:rPr>
              <a:t>, </a:t>
            </a:r>
            <a:r>
              <a:rPr lang="zh-CN" altLang="en-US" sz="1799" dirty="0">
                <a:solidFill>
                  <a:prstClr val="black"/>
                </a:solidFill>
              </a:rPr>
              <a:t>如果它变化一个微小变量</a:t>
            </a:r>
            <a:r>
              <a:rPr lang="en-US" altLang="zh-CN" sz="1799" dirty="0">
                <a:solidFill>
                  <a:prstClr val="black"/>
                </a:solidFill>
              </a:rPr>
              <a:t>, </a:t>
            </a:r>
            <a:r>
              <a:rPr lang="en" altLang="zh-CN" sz="1799" dirty="0">
                <a:solidFill>
                  <a:prstClr val="black"/>
                </a:solidFill>
              </a:rPr>
              <a:t>y </a:t>
            </a:r>
            <a:r>
              <a:rPr lang="zh-CN" altLang="en-US" sz="1799" dirty="0">
                <a:solidFill>
                  <a:prstClr val="black"/>
                </a:solidFill>
              </a:rPr>
              <a:t>如何变化</a:t>
            </a:r>
            <a:r>
              <a:rPr lang="en-US" altLang="zh-CN" sz="1799" dirty="0">
                <a:solidFill>
                  <a:prstClr val="black"/>
                </a:solidFill>
              </a:rPr>
              <a:t>?</a:t>
            </a:r>
            <a:endParaRPr lang="zh-CN" altLang="en-US" sz="1799" dirty="0">
              <a:solidFill>
                <a:prstClr val="black"/>
              </a:solidFill>
            </a:endParaRPr>
          </a:p>
        </p:txBody>
      </p:sp>
      <p:pic>
        <p:nvPicPr>
          <p:cNvPr id="12" name="Google Shape;2091;p1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1132" y="2960020"/>
            <a:ext cx="1438691" cy="62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092;p1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7841" y="1915214"/>
            <a:ext cx="2245809" cy="4879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093;p145"/>
          <p:cNvSpPr txBox="1"/>
          <p:nvPr/>
        </p:nvSpPr>
        <p:spPr>
          <a:xfrm>
            <a:off x="5892640" y="2406249"/>
            <a:ext cx="2918240" cy="43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导数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为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Jacobian</a:t>
            </a:r>
            <a:r>
              <a:rPr kumimoji="0" lang="zh-CN" alt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矩阵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Google Shape;2094;p1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0785" y="2957685"/>
            <a:ext cx="1366752" cy="61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095;p1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73836" y="2849559"/>
            <a:ext cx="1808900" cy="70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096;p145"/>
          <p:cNvSpPr txBox="1"/>
          <p:nvPr/>
        </p:nvSpPr>
        <p:spPr>
          <a:xfrm>
            <a:off x="5853501" y="3794137"/>
            <a:ext cx="2996519" cy="123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对于</a:t>
            </a:r>
            <a:r>
              <a:rPr lang="en" altLang="zh-CN" sz="1799" dirty="0">
                <a:solidFill>
                  <a:prstClr val="black"/>
                </a:solidFill>
              </a:rPr>
              <a:t>x</a:t>
            </a:r>
            <a:r>
              <a:rPr lang="zh-CN" altLang="en" sz="1799" dirty="0">
                <a:solidFill>
                  <a:prstClr val="black"/>
                </a:solidFill>
              </a:rPr>
              <a:t>中</a:t>
            </a:r>
            <a:r>
              <a:rPr lang="zh-CN" altLang="en-US" sz="1799" dirty="0">
                <a:solidFill>
                  <a:prstClr val="black"/>
                </a:solidFill>
              </a:rPr>
              <a:t>的每一个元素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lang="zh-CN" altLang="en-US" sz="1799">
                <a:solidFill>
                  <a:prstClr val="black"/>
                </a:solidFill>
              </a:rPr>
              <a:t>如果其变化</a:t>
            </a:r>
            <a:r>
              <a:rPr lang="zh-CN" altLang="en-US" sz="1799" dirty="0">
                <a:solidFill>
                  <a:prstClr val="black"/>
                </a:solidFill>
              </a:rPr>
              <a:t>一个微小变量</a:t>
            </a:r>
            <a:r>
              <a:rPr lang="en-US" altLang="zh-CN" sz="1799" dirty="0">
                <a:solidFill>
                  <a:prstClr val="black"/>
                </a:solidFill>
              </a:rPr>
              <a:t>, </a:t>
            </a:r>
            <a:r>
              <a:rPr lang="en" altLang="zh-CN" sz="1799" dirty="0">
                <a:solidFill>
                  <a:prstClr val="black"/>
                </a:solidFill>
              </a:rPr>
              <a:t>y </a:t>
            </a:r>
            <a:r>
              <a:rPr lang="zh-CN" altLang="en" sz="1799" dirty="0">
                <a:solidFill>
                  <a:prstClr val="black"/>
                </a:solidFill>
              </a:rPr>
              <a:t>中</a:t>
            </a:r>
            <a:r>
              <a:rPr lang="zh-CN" altLang="en-US" sz="1799" dirty="0">
                <a:solidFill>
                  <a:prstClr val="black"/>
                </a:solidFill>
              </a:rPr>
              <a:t>单个变量如何变化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8108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095" y="355029"/>
            <a:ext cx="366505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209;p149"/>
          <p:cNvSpPr/>
          <p:nvPr/>
        </p:nvSpPr>
        <p:spPr>
          <a:xfrm>
            <a:off x="23718" y="3929269"/>
            <a:ext cx="954052" cy="648431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2211;p149"/>
          <p:cNvSpPr/>
          <p:nvPr/>
        </p:nvSpPr>
        <p:spPr>
          <a:xfrm>
            <a:off x="7302672" y="2562774"/>
            <a:ext cx="1244676" cy="7693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2213;p149"/>
          <p:cNvSpPr/>
          <p:nvPr/>
        </p:nvSpPr>
        <p:spPr>
          <a:xfrm>
            <a:off x="3280145" y="1894848"/>
            <a:ext cx="2977925" cy="2977925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2214;p149"/>
          <p:cNvCxnSpPr/>
          <p:nvPr/>
        </p:nvCxnSpPr>
        <p:spPr>
          <a:xfrm rot="10800000" flipH="1">
            <a:off x="996890" y="3800177"/>
            <a:ext cx="2170535" cy="533261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2215;p149"/>
          <p:cNvCxnSpPr/>
          <p:nvPr/>
        </p:nvCxnSpPr>
        <p:spPr>
          <a:xfrm>
            <a:off x="1174689" y="2052723"/>
            <a:ext cx="2175333" cy="648431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2216;p149"/>
          <p:cNvCxnSpPr/>
          <p:nvPr/>
        </p:nvCxnSpPr>
        <p:spPr>
          <a:xfrm>
            <a:off x="6258070" y="3435990"/>
            <a:ext cx="2273708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" name="Google Shape;2217;p1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9348" y="1911034"/>
            <a:ext cx="352334" cy="304721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2218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94" y="4122745"/>
            <a:ext cx="295198" cy="361856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Google Shape;2219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591" y="2795064"/>
            <a:ext cx="352334" cy="304721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" name="Google Shape;2230;p149"/>
          <p:cNvSpPr txBox="1"/>
          <p:nvPr/>
        </p:nvSpPr>
        <p:spPr>
          <a:xfrm>
            <a:off x="92226" y="1800124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2231;p149"/>
          <p:cNvSpPr txBox="1"/>
          <p:nvPr/>
        </p:nvSpPr>
        <p:spPr>
          <a:xfrm>
            <a:off x="47763" y="4001200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2232;p149"/>
          <p:cNvSpPr txBox="1"/>
          <p:nvPr/>
        </p:nvSpPr>
        <p:spPr>
          <a:xfrm>
            <a:off x="7872900" y="2647203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2234;p149"/>
          <p:cNvSpPr/>
          <p:nvPr/>
        </p:nvSpPr>
        <p:spPr>
          <a:xfrm>
            <a:off x="138064" y="1689677"/>
            <a:ext cx="1006838" cy="7693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531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041" y="404506"/>
            <a:ext cx="366505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209;p149"/>
          <p:cNvSpPr/>
          <p:nvPr/>
        </p:nvSpPr>
        <p:spPr>
          <a:xfrm>
            <a:off x="23718" y="3929269"/>
            <a:ext cx="954052" cy="648431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2211;p149"/>
          <p:cNvSpPr/>
          <p:nvPr/>
        </p:nvSpPr>
        <p:spPr>
          <a:xfrm>
            <a:off x="7302672" y="2562774"/>
            <a:ext cx="1244676" cy="7693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2213;p149"/>
          <p:cNvSpPr/>
          <p:nvPr/>
        </p:nvSpPr>
        <p:spPr>
          <a:xfrm>
            <a:off x="3280145" y="1894848"/>
            <a:ext cx="2977925" cy="2977925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2214;p149"/>
          <p:cNvCxnSpPr/>
          <p:nvPr/>
        </p:nvCxnSpPr>
        <p:spPr>
          <a:xfrm rot="10800000" flipH="1">
            <a:off x="996890" y="3800177"/>
            <a:ext cx="2170535" cy="533261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2215;p149"/>
          <p:cNvCxnSpPr/>
          <p:nvPr/>
        </p:nvCxnSpPr>
        <p:spPr>
          <a:xfrm>
            <a:off x="1174689" y="2052723"/>
            <a:ext cx="2175333" cy="648431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2216;p149"/>
          <p:cNvCxnSpPr/>
          <p:nvPr/>
        </p:nvCxnSpPr>
        <p:spPr>
          <a:xfrm>
            <a:off x="6258070" y="3435990"/>
            <a:ext cx="2273708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" name="Google Shape;2217;p1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9348" y="1911034"/>
            <a:ext cx="352334" cy="304721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2218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94" y="4122745"/>
            <a:ext cx="295198" cy="361856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Google Shape;2219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591" y="2795064"/>
            <a:ext cx="352334" cy="304721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4" name="Google Shape;2220;p149"/>
          <p:cNvCxnSpPr/>
          <p:nvPr/>
        </p:nvCxnSpPr>
        <p:spPr>
          <a:xfrm rot="10800000">
            <a:off x="6363431" y="3577448"/>
            <a:ext cx="222542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" name="Google Shape;2221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1663" y="3743706"/>
            <a:ext cx="514216" cy="676099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" name="Google Shape;2228;p149"/>
          <p:cNvSpPr txBox="1"/>
          <p:nvPr/>
        </p:nvSpPr>
        <p:spPr>
          <a:xfrm>
            <a:off x="6426389" y="4465254"/>
            <a:ext cx="2648310" cy="36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799" dirty="0">
                <a:solidFill>
                  <a:srgbClr val="C00000"/>
                </a:solidFill>
              </a:rPr>
              <a:t>上游梯度</a:t>
            </a:r>
          </a:p>
        </p:txBody>
      </p:sp>
      <p:sp>
        <p:nvSpPr>
          <p:cNvPr id="24" name="Google Shape;2230;p149"/>
          <p:cNvSpPr txBox="1"/>
          <p:nvPr/>
        </p:nvSpPr>
        <p:spPr>
          <a:xfrm>
            <a:off x="92226" y="1800124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2231;p149"/>
          <p:cNvSpPr txBox="1"/>
          <p:nvPr/>
        </p:nvSpPr>
        <p:spPr>
          <a:xfrm>
            <a:off x="47763" y="4001200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2232;p149"/>
          <p:cNvSpPr txBox="1"/>
          <p:nvPr/>
        </p:nvSpPr>
        <p:spPr>
          <a:xfrm>
            <a:off x="7872900" y="2647203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2233;p149"/>
          <p:cNvSpPr txBox="1"/>
          <p:nvPr/>
        </p:nvSpPr>
        <p:spPr>
          <a:xfrm>
            <a:off x="7998816" y="3855463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2234;p149"/>
          <p:cNvSpPr/>
          <p:nvPr/>
        </p:nvSpPr>
        <p:spPr>
          <a:xfrm>
            <a:off x="138064" y="1689677"/>
            <a:ext cx="1006838" cy="7693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2235;p149"/>
          <p:cNvSpPr/>
          <p:nvPr/>
        </p:nvSpPr>
        <p:spPr>
          <a:xfrm>
            <a:off x="7255885" y="3671024"/>
            <a:ext cx="1338251" cy="821486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2236;p149"/>
          <p:cNvSpPr/>
          <p:nvPr/>
        </p:nvSpPr>
        <p:spPr>
          <a:xfrm>
            <a:off x="6719525" y="1682729"/>
            <a:ext cx="2225420" cy="589946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损失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仍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为标量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2240;p149"/>
          <p:cNvSpPr/>
          <p:nvPr/>
        </p:nvSpPr>
        <p:spPr>
          <a:xfrm>
            <a:off x="6126504" y="4796518"/>
            <a:ext cx="2977925" cy="67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defTabSz="685800">
              <a:defRPr/>
            </a:pPr>
            <a:r>
              <a:rPr lang="zh-CN" altLang="en" sz="1799" dirty="0">
                <a:solidFill>
                  <a:srgbClr val="4472C4"/>
                </a:solidFill>
              </a:rPr>
              <a:t>对于</a:t>
            </a:r>
            <a:r>
              <a:rPr lang="en" altLang="zh-CN" sz="1799" dirty="0">
                <a:solidFill>
                  <a:srgbClr val="4472C4"/>
                </a:solidFill>
              </a:rPr>
              <a:t>z</a:t>
            </a:r>
            <a:r>
              <a:rPr lang="zh-CN" altLang="en" sz="1799" dirty="0">
                <a:solidFill>
                  <a:srgbClr val="4472C4"/>
                </a:solidFill>
              </a:rPr>
              <a:t>中</a:t>
            </a:r>
            <a:r>
              <a:rPr lang="zh-CN" altLang="en-US" sz="1799" dirty="0">
                <a:solidFill>
                  <a:srgbClr val="4472C4"/>
                </a:solidFill>
              </a:rPr>
              <a:t>的各个元素</a:t>
            </a:r>
            <a:r>
              <a:rPr lang="en" altLang="zh-CN" sz="1799" dirty="0">
                <a:solidFill>
                  <a:srgbClr val="4472C4"/>
                </a:solidFill>
              </a:rPr>
              <a:t>, </a:t>
            </a:r>
            <a:r>
              <a:rPr lang="zh-CN" altLang="en" sz="1799" dirty="0">
                <a:solidFill>
                  <a:srgbClr val="4472C4"/>
                </a:solidFill>
              </a:rPr>
              <a:t>其</a:t>
            </a:r>
            <a:r>
              <a:rPr lang="zh-CN" altLang="en-US" sz="1799" dirty="0">
                <a:solidFill>
                  <a:srgbClr val="4472C4"/>
                </a:solidFill>
              </a:rPr>
              <a:t>如何影响</a:t>
            </a:r>
            <a:r>
              <a:rPr lang="en" altLang="zh-CN" sz="1799" dirty="0">
                <a:solidFill>
                  <a:srgbClr val="4472C4"/>
                </a:solidFill>
              </a:rPr>
              <a:t>L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2551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041" y="417356"/>
            <a:ext cx="366505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209;p149"/>
          <p:cNvSpPr/>
          <p:nvPr/>
        </p:nvSpPr>
        <p:spPr>
          <a:xfrm>
            <a:off x="23718" y="3929269"/>
            <a:ext cx="954052" cy="648431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2211;p149"/>
          <p:cNvSpPr/>
          <p:nvPr/>
        </p:nvSpPr>
        <p:spPr>
          <a:xfrm>
            <a:off x="7302672" y="2562774"/>
            <a:ext cx="1244676" cy="7693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2213;p149"/>
          <p:cNvSpPr/>
          <p:nvPr/>
        </p:nvSpPr>
        <p:spPr>
          <a:xfrm>
            <a:off x="3280145" y="1894848"/>
            <a:ext cx="2977925" cy="2977925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2214;p149"/>
          <p:cNvCxnSpPr/>
          <p:nvPr/>
        </p:nvCxnSpPr>
        <p:spPr>
          <a:xfrm rot="10800000" flipH="1">
            <a:off x="996890" y="3800177"/>
            <a:ext cx="2170535" cy="533261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2215;p149"/>
          <p:cNvCxnSpPr/>
          <p:nvPr/>
        </p:nvCxnSpPr>
        <p:spPr>
          <a:xfrm>
            <a:off x="1174689" y="2052723"/>
            <a:ext cx="2175333" cy="648431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2216;p149"/>
          <p:cNvCxnSpPr/>
          <p:nvPr/>
        </p:nvCxnSpPr>
        <p:spPr>
          <a:xfrm>
            <a:off x="6258070" y="3435990"/>
            <a:ext cx="2273708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" name="Google Shape;2217;p1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9348" y="1911034"/>
            <a:ext cx="352334" cy="304721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2218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94" y="4122745"/>
            <a:ext cx="295198" cy="361856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Google Shape;2219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591" y="2795064"/>
            <a:ext cx="352334" cy="304721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4" name="Google Shape;2220;p149"/>
          <p:cNvCxnSpPr/>
          <p:nvPr/>
        </p:nvCxnSpPr>
        <p:spPr>
          <a:xfrm rot="10800000">
            <a:off x="6363431" y="3577448"/>
            <a:ext cx="222542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" name="Google Shape;2221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1663" y="3743706"/>
            <a:ext cx="514216" cy="676099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" name="Google Shape;2222;p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345" y="2701152"/>
            <a:ext cx="485648" cy="638009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" name="Google Shape;2223;p1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4524" y="3453231"/>
            <a:ext cx="409469" cy="704666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" name="Google Shape;2228;p149"/>
          <p:cNvSpPr txBox="1"/>
          <p:nvPr/>
        </p:nvSpPr>
        <p:spPr>
          <a:xfrm>
            <a:off x="6426389" y="4465254"/>
            <a:ext cx="2648310" cy="36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上游梯度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2230;p149"/>
          <p:cNvSpPr txBox="1"/>
          <p:nvPr/>
        </p:nvSpPr>
        <p:spPr>
          <a:xfrm>
            <a:off x="92226" y="1800124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2231;p149"/>
          <p:cNvSpPr txBox="1"/>
          <p:nvPr/>
        </p:nvSpPr>
        <p:spPr>
          <a:xfrm>
            <a:off x="47763" y="4001200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2232;p149"/>
          <p:cNvSpPr txBox="1"/>
          <p:nvPr/>
        </p:nvSpPr>
        <p:spPr>
          <a:xfrm>
            <a:off x="7872900" y="2647203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2233;p149"/>
          <p:cNvSpPr txBox="1"/>
          <p:nvPr/>
        </p:nvSpPr>
        <p:spPr>
          <a:xfrm>
            <a:off x="7998816" y="3855463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2234;p149"/>
          <p:cNvSpPr/>
          <p:nvPr/>
        </p:nvSpPr>
        <p:spPr>
          <a:xfrm>
            <a:off x="138064" y="1689677"/>
            <a:ext cx="1006838" cy="7693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2235;p149"/>
          <p:cNvSpPr/>
          <p:nvPr/>
        </p:nvSpPr>
        <p:spPr>
          <a:xfrm>
            <a:off x="7255885" y="3671024"/>
            <a:ext cx="1338251" cy="821486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2236;p149"/>
          <p:cNvSpPr/>
          <p:nvPr/>
        </p:nvSpPr>
        <p:spPr>
          <a:xfrm>
            <a:off x="6719525" y="1682729"/>
            <a:ext cx="2225420" cy="589946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defTabSz="685800">
              <a:defRPr/>
            </a:pPr>
            <a:r>
              <a:rPr lang="zh-CN" altLang="en" sz="1799" dirty="0">
                <a:solidFill>
                  <a:srgbClr val="4472C4"/>
                </a:solidFill>
              </a:rPr>
              <a:t>损失</a:t>
            </a:r>
            <a:r>
              <a:rPr lang="en" altLang="zh-CN" sz="1799" dirty="0">
                <a:solidFill>
                  <a:srgbClr val="4472C4"/>
                </a:solidFill>
              </a:rPr>
              <a:t> L </a:t>
            </a:r>
            <a:r>
              <a:rPr lang="zh-CN" altLang="en" sz="1799" dirty="0">
                <a:solidFill>
                  <a:srgbClr val="4472C4"/>
                </a:solidFill>
              </a:rPr>
              <a:t>仍</a:t>
            </a:r>
            <a:r>
              <a:rPr lang="zh-CN" altLang="en-US" sz="1799" dirty="0">
                <a:solidFill>
                  <a:srgbClr val="4472C4"/>
                </a:solidFill>
              </a:rPr>
              <a:t>为标量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2237;p149"/>
          <p:cNvSpPr txBox="1"/>
          <p:nvPr/>
        </p:nvSpPr>
        <p:spPr>
          <a:xfrm>
            <a:off x="4038722" y="3624623"/>
            <a:ext cx="1427928" cy="64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</a:t>
            </a:r>
            <a:endParaRPr kumimoji="0" sz="2599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2238;p149"/>
          <p:cNvSpPr txBox="1"/>
          <p:nvPr/>
        </p:nvSpPr>
        <p:spPr>
          <a:xfrm>
            <a:off x="4097457" y="2549278"/>
            <a:ext cx="1427928" cy="64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</a:t>
            </a:r>
            <a:endParaRPr kumimoji="0" sz="2599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2240;p149"/>
          <p:cNvSpPr/>
          <p:nvPr/>
        </p:nvSpPr>
        <p:spPr>
          <a:xfrm>
            <a:off x="6126504" y="4796518"/>
            <a:ext cx="2977925" cy="67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对于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的各个元素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其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如何影响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L?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2224;p149"/>
          <p:cNvSpPr txBox="1"/>
          <p:nvPr/>
        </p:nvSpPr>
        <p:spPr>
          <a:xfrm>
            <a:off x="3779552" y="1939613"/>
            <a:ext cx="1946269" cy="66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当前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Jacobian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矩阵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0298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07" y="490087"/>
            <a:ext cx="366505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209;p149"/>
          <p:cNvSpPr/>
          <p:nvPr/>
        </p:nvSpPr>
        <p:spPr>
          <a:xfrm>
            <a:off x="23718" y="3929269"/>
            <a:ext cx="954052" cy="648431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2210;p1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899990">
            <a:off x="1400842" y="4375301"/>
            <a:ext cx="1564877" cy="7090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11;p149"/>
          <p:cNvSpPr/>
          <p:nvPr/>
        </p:nvSpPr>
        <p:spPr>
          <a:xfrm>
            <a:off x="7302672" y="2562774"/>
            <a:ext cx="1244676" cy="7693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2213;p149"/>
          <p:cNvSpPr/>
          <p:nvPr/>
        </p:nvSpPr>
        <p:spPr>
          <a:xfrm>
            <a:off x="3280145" y="1894848"/>
            <a:ext cx="2977925" cy="2977925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2214;p149"/>
          <p:cNvCxnSpPr/>
          <p:nvPr/>
        </p:nvCxnSpPr>
        <p:spPr>
          <a:xfrm rot="10800000" flipH="1">
            <a:off x="996890" y="3800177"/>
            <a:ext cx="2170535" cy="533261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2215;p149"/>
          <p:cNvCxnSpPr/>
          <p:nvPr/>
        </p:nvCxnSpPr>
        <p:spPr>
          <a:xfrm>
            <a:off x="1174689" y="2052723"/>
            <a:ext cx="2175333" cy="648431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2216;p149"/>
          <p:cNvCxnSpPr/>
          <p:nvPr/>
        </p:nvCxnSpPr>
        <p:spPr>
          <a:xfrm>
            <a:off x="6258070" y="3435990"/>
            <a:ext cx="2273708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" name="Google Shape;2217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348" y="1911034"/>
            <a:ext cx="352334" cy="304721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2218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294" y="4122745"/>
            <a:ext cx="295198" cy="361856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Google Shape;2219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591" y="2795064"/>
            <a:ext cx="352334" cy="304721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4" name="Google Shape;2220;p149"/>
          <p:cNvCxnSpPr/>
          <p:nvPr/>
        </p:nvCxnSpPr>
        <p:spPr>
          <a:xfrm rot="10800000">
            <a:off x="6363431" y="3577448"/>
            <a:ext cx="222542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" name="Google Shape;2221;p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1663" y="3743706"/>
            <a:ext cx="514216" cy="676099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" name="Google Shape;2222;p1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8345" y="2701152"/>
            <a:ext cx="485648" cy="638009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" name="Google Shape;2223;p1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04524" y="3453231"/>
            <a:ext cx="409469" cy="704666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" name="Google Shape;2225;p149"/>
          <p:cNvSpPr/>
          <p:nvPr/>
        </p:nvSpPr>
        <p:spPr>
          <a:xfrm rot="-898497">
            <a:off x="1366092" y="4466116"/>
            <a:ext cx="559460" cy="757931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2226;p149"/>
          <p:cNvCxnSpPr/>
          <p:nvPr/>
        </p:nvCxnSpPr>
        <p:spPr>
          <a:xfrm rot="10800000">
            <a:off x="1144921" y="2252695"/>
            <a:ext cx="2125247" cy="58424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2227;p149"/>
          <p:cNvCxnSpPr/>
          <p:nvPr/>
        </p:nvCxnSpPr>
        <p:spPr>
          <a:xfrm flipH="1">
            <a:off x="1033721" y="3955626"/>
            <a:ext cx="2141142" cy="555455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2228;p149"/>
          <p:cNvSpPr txBox="1"/>
          <p:nvPr/>
        </p:nvSpPr>
        <p:spPr>
          <a:xfrm>
            <a:off x="6426389" y="4465254"/>
            <a:ext cx="2648310" cy="36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799" dirty="0">
                <a:solidFill>
                  <a:srgbClr val="C00000"/>
                </a:solidFill>
              </a:rPr>
              <a:t>上游梯度</a:t>
            </a:r>
          </a:p>
        </p:txBody>
      </p:sp>
      <p:sp>
        <p:nvSpPr>
          <p:cNvPr id="23" name="Google Shape;2229;p149"/>
          <p:cNvSpPr txBox="1"/>
          <p:nvPr/>
        </p:nvSpPr>
        <p:spPr>
          <a:xfrm>
            <a:off x="-108322" y="3196785"/>
            <a:ext cx="1575190" cy="7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下游梯度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2230;p149"/>
          <p:cNvSpPr txBox="1"/>
          <p:nvPr/>
        </p:nvSpPr>
        <p:spPr>
          <a:xfrm>
            <a:off x="92226" y="1800124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2231;p149"/>
          <p:cNvSpPr txBox="1"/>
          <p:nvPr/>
        </p:nvSpPr>
        <p:spPr>
          <a:xfrm>
            <a:off x="47763" y="4001200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2232;p149"/>
          <p:cNvSpPr txBox="1"/>
          <p:nvPr/>
        </p:nvSpPr>
        <p:spPr>
          <a:xfrm>
            <a:off x="7872900" y="2647203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2233;p149"/>
          <p:cNvSpPr txBox="1"/>
          <p:nvPr/>
        </p:nvSpPr>
        <p:spPr>
          <a:xfrm>
            <a:off x="7998816" y="3855463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2234;p149"/>
          <p:cNvSpPr/>
          <p:nvPr/>
        </p:nvSpPr>
        <p:spPr>
          <a:xfrm>
            <a:off x="138064" y="1689677"/>
            <a:ext cx="1006838" cy="7693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2235;p149"/>
          <p:cNvSpPr/>
          <p:nvPr/>
        </p:nvSpPr>
        <p:spPr>
          <a:xfrm>
            <a:off x="7255885" y="3671024"/>
            <a:ext cx="1338251" cy="821486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2236;p149"/>
          <p:cNvSpPr/>
          <p:nvPr/>
        </p:nvSpPr>
        <p:spPr>
          <a:xfrm>
            <a:off x="6719525" y="1682729"/>
            <a:ext cx="2225420" cy="589946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defTabSz="685800">
              <a:defRPr/>
            </a:pPr>
            <a:r>
              <a:rPr lang="zh-CN" altLang="en" sz="1799" dirty="0">
                <a:solidFill>
                  <a:srgbClr val="4472C4"/>
                </a:solidFill>
              </a:rPr>
              <a:t>损失</a:t>
            </a:r>
            <a:r>
              <a:rPr lang="en" altLang="zh-CN" sz="1799" dirty="0">
                <a:solidFill>
                  <a:srgbClr val="4472C4"/>
                </a:solidFill>
              </a:rPr>
              <a:t> L </a:t>
            </a:r>
            <a:r>
              <a:rPr lang="zh-CN" altLang="en" sz="1799" dirty="0">
                <a:solidFill>
                  <a:srgbClr val="4472C4"/>
                </a:solidFill>
              </a:rPr>
              <a:t>仍</a:t>
            </a:r>
            <a:r>
              <a:rPr lang="zh-CN" altLang="en-US" sz="1799" dirty="0">
                <a:solidFill>
                  <a:srgbClr val="4472C4"/>
                </a:solidFill>
              </a:rPr>
              <a:t>为标量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2237;p149"/>
          <p:cNvSpPr txBox="1"/>
          <p:nvPr/>
        </p:nvSpPr>
        <p:spPr>
          <a:xfrm>
            <a:off x="4038722" y="3624623"/>
            <a:ext cx="1427928" cy="64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</a:t>
            </a:r>
            <a:endParaRPr kumimoji="0" sz="2599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oogle Shape;2238;p149"/>
          <p:cNvSpPr txBox="1"/>
          <p:nvPr/>
        </p:nvSpPr>
        <p:spPr>
          <a:xfrm>
            <a:off x="4097457" y="2549278"/>
            <a:ext cx="1427928" cy="64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</a:t>
            </a:r>
            <a:endParaRPr kumimoji="0" sz="2599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2240;p149"/>
          <p:cNvSpPr/>
          <p:nvPr/>
        </p:nvSpPr>
        <p:spPr>
          <a:xfrm>
            <a:off x="6126504" y="4796518"/>
            <a:ext cx="2977925" cy="67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defTabSz="685800">
              <a:defRPr/>
            </a:pPr>
            <a:r>
              <a:rPr lang="zh-CN" altLang="en" sz="1799" dirty="0">
                <a:solidFill>
                  <a:srgbClr val="4472C4"/>
                </a:solidFill>
              </a:rPr>
              <a:t>对于</a:t>
            </a:r>
            <a:r>
              <a:rPr lang="en" altLang="zh-CN" sz="1799" dirty="0">
                <a:solidFill>
                  <a:srgbClr val="4472C4"/>
                </a:solidFill>
              </a:rPr>
              <a:t>z</a:t>
            </a:r>
            <a:r>
              <a:rPr lang="zh-CN" altLang="en" sz="1799" dirty="0">
                <a:solidFill>
                  <a:srgbClr val="4472C4"/>
                </a:solidFill>
              </a:rPr>
              <a:t>中</a:t>
            </a:r>
            <a:r>
              <a:rPr lang="zh-CN" altLang="en-US" sz="1799" dirty="0">
                <a:solidFill>
                  <a:srgbClr val="4472C4"/>
                </a:solidFill>
              </a:rPr>
              <a:t>的各个元素</a:t>
            </a:r>
            <a:r>
              <a:rPr lang="en" altLang="zh-CN" sz="1799" dirty="0">
                <a:solidFill>
                  <a:srgbClr val="4472C4"/>
                </a:solidFill>
              </a:rPr>
              <a:t>, </a:t>
            </a:r>
            <a:r>
              <a:rPr lang="zh-CN" altLang="en" sz="1799" dirty="0">
                <a:solidFill>
                  <a:srgbClr val="4472C4"/>
                </a:solidFill>
              </a:rPr>
              <a:t>其</a:t>
            </a:r>
            <a:r>
              <a:rPr lang="zh-CN" altLang="en-US" sz="1799" dirty="0">
                <a:solidFill>
                  <a:srgbClr val="4472C4"/>
                </a:solidFill>
              </a:rPr>
              <a:t>如何影响</a:t>
            </a:r>
            <a:r>
              <a:rPr lang="en" altLang="zh-CN" sz="1799" dirty="0">
                <a:solidFill>
                  <a:srgbClr val="4472C4"/>
                </a:solidFill>
              </a:rPr>
              <a:t>L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oogle Shape;2241;p149"/>
          <p:cNvSpPr txBox="1"/>
          <p:nvPr/>
        </p:nvSpPr>
        <p:spPr>
          <a:xfrm>
            <a:off x="861276" y="4760677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sz="2599" b="0" i="0" u="none" strike="noStrike" kern="1200" cap="none" spc="0" normalizeH="0" baseline="-2500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2242;p149"/>
          <p:cNvSpPr txBox="1"/>
          <p:nvPr/>
        </p:nvSpPr>
        <p:spPr>
          <a:xfrm>
            <a:off x="561679" y="2522748"/>
            <a:ext cx="548557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599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599" b="0" i="0" u="none" strike="noStrike" kern="1200" cap="none" spc="0" normalizeH="0" baseline="-2500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599" b="0" i="0" u="none" strike="noStrike" kern="1200" cap="none" spc="0" normalizeH="0" baseline="-2500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Google Shape;2243;p149"/>
          <p:cNvSpPr txBox="1"/>
          <p:nvPr/>
        </p:nvSpPr>
        <p:spPr>
          <a:xfrm>
            <a:off x="1398336" y="3339172"/>
            <a:ext cx="1461220" cy="63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Matrix-vector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4472C4"/>
                </a:solidFill>
                <a:latin typeface="Calibri" panose="020F0502020204030204"/>
              </a:rPr>
              <a:t>相乘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Google Shape;2245;p1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900020">
            <a:off x="1292392" y="2638844"/>
            <a:ext cx="1679569" cy="67834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2246;p149"/>
          <p:cNvSpPr/>
          <p:nvPr/>
        </p:nvSpPr>
        <p:spPr>
          <a:xfrm rot="900390">
            <a:off x="1189898" y="2447632"/>
            <a:ext cx="648658" cy="701111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oogle Shape;2224;p149"/>
          <p:cNvSpPr txBox="1"/>
          <p:nvPr/>
        </p:nvSpPr>
        <p:spPr>
          <a:xfrm>
            <a:off x="3779552" y="1939613"/>
            <a:ext cx="1946269" cy="66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799" dirty="0">
                <a:solidFill>
                  <a:srgbClr val="4472C4"/>
                </a:solidFill>
              </a:rPr>
              <a:t>当前 </a:t>
            </a:r>
          </a:p>
          <a:p>
            <a:pPr lvl="0" algn="ctr" defTabSz="685800">
              <a:defRPr/>
            </a:pPr>
            <a:r>
              <a:rPr lang="en" altLang="zh-CN" sz="1799" dirty="0">
                <a:solidFill>
                  <a:srgbClr val="4472C4"/>
                </a:solidFill>
              </a:rPr>
              <a:t>Jacobian</a:t>
            </a:r>
            <a:r>
              <a:rPr lang="zh-CN" altLang="en-US" sz="1799" dirty="0">
                <a:solidFill>
                  <a:srgbClr val="4472C4"/>
                </a:solidFill>
              </a:rPr>
              <a:t>矩阵</a:t>
            </a:r>
          </a:p>
        </p:txBody>
      </p:sp>
    </p:spTree>
    <p:extLst>
      <p:ext uri="{BB962C8B-B14F-4D97-AF65-F5344CB8AC3E}">
        <p14:creationId xmlns:p14="http://schemas.microsoft.com/office/powerpoint/2010/main" val="293213470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381;p155"/>
          <p:cNvSpPr/>
          <p:nvPr/>
        </p:nvSpPr>
        <p:spPr>
          <a:xfrm>
            <a:off x="3571795" y="2237149"/>
            <a:ext cx="2040068" cy="126836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= max(0,x)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各个</a:t>
            </a:r>
            <a:r>
              <a:rPr kumimoji="0" lang="zh-CN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元素</a:t>
            </a: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2382;p155"/>
          <p:cNvCxnSpPr/>
          <p:nvPr/>
        </p:nvCxnSpPr>
        <p:spPr>
          <a:xfrm>
            <a:off x="2820315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2383;p155"/>
          <p:cNvCxnSpPr/>
          <p:nvPr/>
        </p:nvCxnSpPr>
        <p:spPr>
          <a:xfrm>
            <a:off x="2820315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384;p155"/>
          <p:cNvCxnSpPr/>
          <p:nvPr/>
        </p:nvCxnSpPr>
        <p:spPr>
          <a:xfrm>
            <a:off x="2820315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385;p155"/>
          <p:cNvCxnSpPr/>
          <p:nvPr/>
        </p:nvCxnSpPr>
        <p:spPr>
          <a:xfrm>
            <a:off x="2820315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86;p155"/>
          <p:cNvSpPr txBox="1"/>
          <p:nvPr/>
        </p:nvSpPr>
        <p:spPr>
          <a:xfrm>
            <a:off x="1665016" y="1769470"/>
            <a:ext cx="1469618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-2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2388;p155"/>
          <p:cNvSpPr txBox="1"/>
          <p:nvPr/>
        </p:nvSpPr>
        <p:spPr>
          <a:xfrm>
            <a:off x="5966045" y="1769470"/>
            <a:ext cx="165287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Google Shape;2392;p155"/>
          <p:cNvCxnSpPr/>
          <p:nvPr/>
        </p:nvCxnSpPr>
        <p:spPr>
          <a:xfrm>
            <a:off x="5715162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393;p155"/>
          <p:cNvCxnSpPr/>
          <p:nvPr/>
        </p:nvCxnSpPr>
        <p:spPr>
          <a:xfrm>
            <a:off x="5715162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394;p155"/>
          <p:cNvCxnSpPr/>
          <p:nvPr/>
        </p:nvCxnSpPr>
        <p:spPr>
          <a:xfrm>
            <a:off x="5715162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2395;p155"/>
          <p:cNvCxnSpPr/>
          <p:nvPr/>
        </p:nvCxnSpPr>
        <p:spPr>
          <a:xfrm>
            <a:off x="5715162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3510749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381;p155"/>
          <p:cNvSpPr/>
          <p:nvPr/>
        </p:nvSpPr>
        <p:spPr>
          <a:xfrm>
            <a:off x="3571795" y="2237149"/>
            <a:ext cx="2040068" cy="126836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= max(0,x)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" sz="2200" i="1" dirty="0">
                <a:solidFill>
                  <a:prstClr val="black"/>
                </a:solidFill>
              </a:rPr>
              <a:t>各个</a:t>
            </a:r>
            <a:r>
              <a:rPr lang="zh-CN" altLang="en-US" sz="2200" i="1" dirty="0">
                <a:solidFill>
                  <a:prstClr val="black"/>
                </a:solidFill>
              </a:rPr>
              <a:t>元素</a:t>
            </a: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2382;p155"/>
          <p:cNvCxnSpPr/>
          <p:nvPr/>
        </p:nvCxnSpPr>
        <p:spPr>
          <a:xfrm>
            <a:off x="2820315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2383;p155"/>
          <p:cNvCxnSpPr/>
          <p:nvPr/>
        </p:nvCxnSpPr>
        <p:spPr>
          <a:xfrm>
            <a:off x="2820315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384;p155"/>
          <p:cNvCxnSpPr/>
          <p:nvPr/>
        </p:nvCxnSpPr>
        <p:spPr>
          <a:xfrm>
            <a:off x="2820315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385;p155"/>
          <p:cNvCxnSpPr/>
          <p:nvPr/>
        </p:nvCxnSpPr>
        <p:spPr>
          <a:xfrm>
            <a:off x="2820315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86;p155"/>
          <p:cNvSpPr txBox="1"/>
          <p:nvPr/>
        </p:nvSpPr>
        <p:spPr>
          <a:xfrm>
            <a:off x="1665016" y="1769470"/>
            <a:ext cx="1469618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lang="zh-CN" altLang="en" sz="20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-2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2388;p155"/>
          <p:cNvSpPr txBox="1"/>
          <p:nvPr/>
        </p:nvSpPr>
        <p:spPr>
          <a:xfrm>
            <a:off x="5966045" y="1769470"/>
            <a:ext cx="165287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lang="zh-CN" altLang="en" sz="2000" dirty="0">
                <a:solidFill>
                  <a:prstClr val="black"/>
                </a:solidFill>
                <a:latin typeface="Calibri" panose="020F0502020204030204"/>
              </a:rPr>
              <a:t>输出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2389;p155"/>
          <p:cNvSpPr txBox="1"/>
          <p:nvPr/>
        </p:nvSpPr>
        <p:spPr>
          <a:xfrm>
            <a:off x="5851325" y="3574425"/>
            <a:ext cx="188231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4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5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9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2391;p155"/>
          <p:cNvSpPr txBox="1"/>
          <p:nvPr/>
        </p:nvSpPr>
        <p:spPr>
          <a:xfrm>
            <a:off x="7889895" y="4183816"/>
            <a:ext cx="1322356" cy="697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上游梯度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Google Shape;2392;p155"/>
          <p:cNvCxnSpPr/>
          <p:nvPr/>
        </p:nvCxnSpPr>
        <p:spPr>
          <a:xfrm>
            <a:off x="5715162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393;p155"/>
          <p:cNvCxnSpPr/>
          <p:nvPr/>
        </p:nvCxnSpPr>
        <p:spPr>
          <a:xfrm>
            <a:off x="5715162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394;p155"/>
          <p:cNvCxnSpPr/>
          <p:nvPr/>
        </p:nvCxnSpPr>
        <p:spPr>
          <a:xfrm>
            <a:off x="5715162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2395;p155"/>
          <p:cNvCxnSpPr/>
          <p:nvPr/>
        </p:nvCxnSpPr>
        <p:spPr>
          <a:xfrm>
            <a:off x="5715162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2396;p155"/>
          <p:cNvCxnSpPr/>
          <p:nvPr/>
        </p:nvCxnSpPr>
        <p:spPr>
          <a:xfrm>
            <a:off x="7162584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" name="Google Shape;2397;p155"/>
          <p:cNvCxnSpPr/>
          <p:nvPr/>
        </p:nvCxnSpPr>
        <p:spPr>
          <a:xfrm>
            <a:off x="7162584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" name="Google Shape;2398;p155"/>
          <p:cNvCxnSpPr/>
          <p:nvPr/>
        </p:nvCxnSpPr>
        <p:spPr>
          <a:xfrm>
            <a:off x="7162584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1" name="Google Shape;2399;p155"/>
          <p:cNvCxnSpPr/>
          <p:nvPr/>
        </p:nvCxnSpPr>
        <p:spPr>
          <a:xfrm>
            <a:off x="7162584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656884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381;p155"/>
          <p:cNvSpPr/>
          <p:nvPr/>
        </p:nvSpPr>
        <p:spPr>
          <a:xfrm>
            <a:off x="3571795" y="2237149"/>
            <a:ext cx="2040068" cy="126836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= max(0,x)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" sz="2200" i="1" dirty="0">
                <a:solidFill>
                  <a:prstClr val="black"/>
                </a:solidFill>
              </a:rPr>
              <a:t>各个</a:t>
            </a:r>
            <a:r>
              <a:rPr lang="zh-CN" altLang="en-US" sz="2200" i="1" dirty="0">
                <a:solidFill>
                  <a:prstClr val="black"/>
                </a:solidFill>
              </a:rPr>
              <a:t>元素</a:t>
            </a: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2382;p155"/>
          <p:cNvCxnSpPr/>
          <p:nvPr/>
        </p:nvCxnSpPr>
        <p:spPr>
          <a:xfrm>
            <a:off x="2820315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2383;p155"/>
          <p:cNvCxnSpPr/>
          <p:nvPr/>
        </p:nvCxnSpPr>
        <p:spPr>
          <a:xfrm>
            <a:off x="2820315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384;p155"/>
          <p:cNvCxnSpPr/>
          <p:nvPr/>
        </p:nvCxnSpPr>
        <p:spPr>
          <a:xfrm>
            <a:off x="2820315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385;p155"/>
          <p:cNvCxnSpPr/>
          <p:nvPr/>
        </p:nvCxnSpPr>
        <p:spPr>
          <a:xfrm>
            <a:off x="2820315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86;p155"/>
          <p:cNvSpPr txBox="1"/>
          <p:nvPr/>
        </p:nvSpPr>
        <p:spPr>
          <a:xfrm>
            <a:off x="1665016" y="1769470"/>
            <a:ext cx="1469618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-2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2388;p155"/>
          <p:cNvSpPr txBox="1"/>
          <p:nvPr/>
        </p:nvSpPr>
        <p:spPr>
          <a:xfrm>
            <a:off x="5966045" y="1769470"/>
            <a:ext cx="165287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2389;p155"/>
          <p:cNvSpPr txBox="1"/>
          <p:nvPr/>
        </p:nvSpPr>
        <p:spPr>
          <a:xfrm>
            <a:off x="5851325" y="3574425"/>
            <a:ext cx="188231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4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5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9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2390;p155"/>
          <p:cNvSpPr txBox="1"/>
          <p:nvPr/>
        </p:nvSpPr>
        <p:spPr>
          <a:xfrm>
            <a:off x="3621881" y="3574425"/>
            <a:ext cx="1939895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Jacobian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/dx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[ 1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0 0 0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0 0 0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2391;p155"/>
          <p:cNvSpPr txBox="1"/>
          <p:nvPr/>
        </p:nvSpPr>
        <p:spPr>
          <a:xfrm>
            <a:off x="7889895" y="4183816"/>
            <a:ext cx="1322356" cy="697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799" dirty="0">
                <a:solidFill>
                  <a:srgbClr val="C00000"/>
                </a:solidFill>
              </a:rPr>
              <a:t>上游梯度</a:t>
            </a:r>
          </a:p>
        </p:txBody>
      </p:sp>
      <p:cxnSp>
        <p:nvCxnSpPr>
          <p:cNvPr id="14" name="Google Shape;2392;p155"/>
          <p:cNvCxnSpPr/>
          <p:nvPr/>
        </p:nvCxnSpPr>
        <p:spPr>
          <a:xfrm>
            <a:off x="5715162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393;p155"/>
          <p:cNvCxnSpPr/>
          <p:nvPr/>
        </p:nvCxnSpPr>
        <p:spPr>
          <a:xfrm>
            <a:off x="5715162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394;p155"/>
          <p:cNvCxnSpPr/>
          <p:nvPr/>
        </p:nvCxnSpPr>
        <p:spPr>
          <a:xfrm>
            <a:off x="5715162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2395;p155"/>
          <p:cNvCxnSpPr/>
          <p:nvPr/>
        </p:nvCxnSpPr>
        <p:spPr>
          <a:xfrm>
            <a:off x="5715162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2396;p155"/>
          <p:cNvCxnSpPr/>
          <p:nvPr/>
        </p:nvCxnSpPr>
        <p:spPr>
          <a:xfrm>
            <a:off x="7162584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" name="Google Shape;2397;p155"/>
          <p:cNvCxnSpPr/>
          <p:nvPr/>
        </p:nvCxnSpPr>
        <p:spPr>
          <a:xfrm>
            <a:off x="7162584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" name="Google Shape;2398;p155"/>
          <p:cNvCxnSpPr/>
          <p:nvPr/>
        </p:nvCxnSpPr>
        <p:spPr>
          <a:xfrm>
            <a:off x="7162584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1" name="Google Shape;2399;p155"/>
          <p:cNvCxnSpPr/>
          <p:nvPr/>
        </p:nvCxnSpPr>
        <p:spPr>
          <a:xfrm>
            <a:off x="7162584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" name="Google Shape;2400;p155"/>
          <p:cNvCxnSpPr/>
          <p:nvPr/>
        </p:nvCxnSpPr>
        <p:spPr>
          <a:xfrm>
            <a:off x="5715162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3" name="Google Shape;2401;p155"/>
          <p:cNvCxnSpPr/>
          <p:nvPr/>
        </p:nvCxnSpPr>
        <p:spPr>
          <a:xfrm>
            <a:off x="5715162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4" name="Google Shape;2402;p155"/>
          <p:cNvCxnSpPr/>
          <p:nvPr/>
        </p:nvCxnSpPr>
        <p:spPr>
          <a:xfrm>
            <a:off x="5715162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5" name="Google Shape;2403;p155"/>
          <p:cNvCxnSpPr/>
          <p:nvPr/>
        </p:nvCxnSpPr>
        <p:spPr>
          <a:xfrm>
            <a:off x="5715162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057799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381;p155"/>
          <p:cNvSpPr/>
          <p:nvPr/>
        </p:nvSpPr>
        <p:spPr>
          <a:xfrm>
            <a:off x="3571795" y="2237149"/>
            <a:ext cx="2040068" cy="126836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= max(0,x)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" sz="2200" i="1" dirty="0">
                <a:solidFill>
                  <a:prstClr val="black"/>
                </a:solidFill>
              </a:rPr>
              <a:t>各个</a:t>
            </a:r>
            <a:r>
              <a:rPr lang="zh-CN" altLang="en-US" sz="2200" i="1" dirty="0">
                <a:solidFill>
                  <a:prstClr val="black"/>
                </a:solidFill>
              </a:rPr>
              <a:t>元素</a:t>
            </a: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2382;p155"/>
          <p:cNvCxnSpPr/>
          <p:nvPr/>
        </p:nvCxnSpPr>
        <p:spPr>
          <a:xfrm>
            <a:off x="2820315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2383;p155"/>
          <p:cNvCxnSpPr/>
          <p:nvPr/>
        </p:nvCxnSpPr>
        <p:spPr>
          <a:xfrm>
            <a:off x="2820315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384;p155"/>
          <p:cNvCxnSpPr/>
          <p:nvPr/>
        </p:nvCxnSpPr>
        <p:spPr>
          <a:xfrm>
            <a:off x="2820315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385;p155"/>
          <p:cNvCxnSpPr/>
          <p:nvPr/>
        </p:nvCxnSpPr>
        <p:spPr>
          <a:xfrm>
            <a:off x="2820315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86;p155"/>
          <p:cNvSpPr txBox="1"/>
          <p:nvPr/>
        </p:nvSpPr>
        <p:spPr>
          <a:xfrm>
            <a:off x="1665016" y="1769470"/>
            <a:ext cx="1469618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-2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2388;p155"/>
          <p:cNvSpPr txBox="1"/>
          <p:nvPr/>
        </p:nvSpPr>
        <p:spPr>
          <a:xfrm>
            <a:off x="5966045" y="1769470"/>
            <a:ext cx="165287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2389;p155"/>
          <p:cNvSpPr txBox="1"/>
          <p:nvPr/>
        </p:nvSpPr>
        <p:spPr>
          <a:xfrm>
            <a:off x="5851325" y="3574425"/>
            <a:ext cx="188231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4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5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9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2390;p155"/>
          <p:cNvSpPr txBox="1"/>
          <p:nvPr/>
        </p:nvSpPr>
        <p:spPr>
          <a:xfrm>
            <a:off x="3621881" y="3574425"/>
            <a:ext cx="1939895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[dy/dx] [dL/dy]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[ 1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0 0 0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[ 4  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-1 ]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[ 5  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0 0 0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0 ] [ 9  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2391;p155"/>
          <p:cNvSpPr txBox="1"/>
          <p:nvPr/>
        </p:nvSpPr>
        <p:spPr>
          <a:xfrm>
            <a:off x="7889895" y="4183816"/>
            <a:ext cx="1322356" cy="697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799" dirty="0">
                <a:solidFill>
                  <a:srgbClr val="C00000"/>
                </a:solidFill>
              </a:rPr>
              <a:t>上游梯度</a:t>
            </a:r>
          </a:p>
        </p:txBody>
      </p:sp>
      <p:cxnSp>
        <p:nvCxnSpPr>
          <p:cNvPr id="14" name="Google Shape;2392;p155"/>
          <p:cNvCxnSpPr/>
          <p:nvPr/>
        </p:nvCxnSpPr>
        <p:spPr>
          <a:xfrm>
            <a:off x="5715162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393;p155"/>
          <p:cNvCxnSpPr/>
          <p:nvPr/>
        </p:nvCxnSpPr>
        <p:spPr>
          <a:xfrm>
            <a:off x="5715162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394;p155"/>
          <p:cNvCxnSpPr/>
          <p:nvPr/>
        </p:nvCxnSpPr>
        <p:spPr>
          <a:xfrm>
            <a:off x="5715162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2395;p155"/>
          <p:cNvCxnSpPr/>
          <p:nvPr/>
        </p:nvCxnSpPr>
        <p:spPr>
          <a:xfrm>
            <a:off x="5715162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2396;p155"/>
          <p:cNvCxnSpPr/>
          <p:nvPr/>
        </p:nvCxnSpPr>
        <p:spPr>
          <a:xfrm>
            <a:off x="7162584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" name="Google Shape;2397;p155"/>
          <p:cNvCxnSpPr/>
          <p:nvPr/>
        </p:nvCxnSpPr>
        <p:spPr>
          <a:xfrm>
            <a:off x="7162584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" name="Google Shape;2398;p155"/>
          <p:cNvCxnSpPr/>
          <p:nvPr/>
        </p:nvCxnSpPr>
        <p:spPr>
          <a:xfrm>
            <a:off x="7162584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1" name="Google Shape;2399;p155"/>
          <p:cNvCxnSpPr/>
          <p:nvPr/>
        </p:nvCxnSpPr>
        <p:spPr>
          <a:xfrm>
            <a:off x="7162584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" name="Google Shape;2400;p155"/>
          <p:cNvCxnSpPr/>
          <p:nvPr/>
        </p:nvCxnSpPr>
        <p:spPr>
          <a:xfrm>
            <a:off x="5715162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3" name="Google Shape;2401;p155"/>
          <p:cNvCxnSpPr/>
          <p:nvPr/>
        </p:nvCxnSpPr>
        <p:spPr>
          <a:xfrm>
            <a:off x="5715162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4" name="Google Shape;2402;p155"/>
          <p:cNvCxnSpPr/>
          <p:nvPr/>
        </p:nvCxnSpPr>
        <p:spPr>
          <a:xfrm>
            <a:off x="5715162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5" name="Google Shape;2403;p155"/>
          <p:cNvCxnSpPr/>
          <p:nvPr/>
        </p:nvCxnSpPr>
        <p:spPr>
          <a:xfrm>
            <a:off x="5715162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720985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381;p155"/>
          <p:cNvSpPr/>
          <p:nvPr/>
        </p:nvSpPr>
        <p:spPr>
          <a:xfrm>
            <a:off x="3571795" y="2237149"/>
            <a:ext cx="2040068" cy="126836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= max(0,x)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" sz="2200" i="1" dirty="0">
                <a:solidFill>
                  <a:prstClr val="black"/>
                </a:solidFill>
              </a:rPr>
              <a:t>各个</a:t>
            </a:r>
            <a:r>
              <a:rPr lang="zh-CN" altLang="en-US" sz="2200" i="1" dirty="0">
                <a:solidFill>
                  <a:prstClr val="black"/>
                </a:solidFill>
              </a:rPr>
              <a:t>元素</a:t>
            </a: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2382;p155"/>
          <p:cNvCxnSpPr/>
          <p:nvPr/>
        </p:nvCxnSpPr>
        <p:spPr>
          <a:xfrm>
            <a:off x="2820315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2383;p155"/>
          <p:cNvCxnSpPr/>
          <p:nvPr/>
        </p:nvCxnSpPr>
        <p:spPr>
          <a:xfrm>
            <a:off x="2820315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384;p155"/>
          <p:cNvCxnSpPr/>
          <p:nvPr/>
        </p:nvCxnSpPr>
        <p:spPr>
          <a:xfrm>
            <a:off x="2820315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385;p155"/>
          <p:cNvCxnSpPr/>
          <p:nvPr/>
        </p:nvCxnSpPr>
        <p:spPr>
          <a:xfrm>
            <a:off x="2820315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86;p155"/>
          <p:cNvSpPr txBox="1"/>
          <p:nvPr/>
        </p:nvSpPr>
        <p:spPr>
          <a:xfrm>
            <a:off x="1665016" y="1769470"/>
            <a:ext cx="1469618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-2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2388;p155"/>
          <p:cNvSpPr txBox="1"/>
          <p:nvPr/>
        </p:nvSpPr>
        <p:spPr>
          <a:xfrm>
            <a:off x="5966045" y="1769470"/>
            <a:ext cx="165287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2389;p155"/>
          <p:cNvSpPr txBox="1"/>
          <p:nvPr/>
        </p:nvSpPr>
        <p:spPr>
          <a:xfrm>
            <a:off x="5851325" y="3574425"/>
            <a:ext cx="188231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4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5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9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2390;p155"/>
          <p:cNvSpPr txBox="1"/>
          <p:nvPr/>
        </p:nvSpPr>
        <p:spPr>
          <a:xfrm>
            <a:off x="3621881" y="3574425"/>
            <a:ext cx="1939895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/dx] [dL/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[ 1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0 0 0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[ 4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[ 5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0 0 0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0 ] [ 9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2391;p155"/>
          <p:cNvSpPr txBox="1"/>
          <p:nvPr/>
        </p:nvSpPr>
        <p:spPr>
          <a:xfrm>
            <a:off x="7889895" y="4183816"/>
            <a:ext cx="1322356" cy="697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799" dirty="0">
                <a:solidFill>
                  <a:srgbClr val="C00000"/>
                </a:solidFill>
              </a:rPr>
              <a:t>上游梯度</a:t>
            </a:r>
          </a:p>
        </p:txBody>
      </p:sp>
      <p:cxnSp>
        <p:nvCxnSpPr>
          <p:cNvPr id="14" name="Google Shape;2392;p155"/>
          <p:cNvCxnSpPr/>
          <p:nvPr/>
        </p:nvCxnSpPr>
        <p:spPr>
          <a:xfrm>
            <a:off x="5715162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393;p155"/>
          <p:cNvCxnSpPr/>
          <p:nvPr/>
        </p:nvCxnSpPr>
        <p:spPr>
          <a:xfrm>
            <a:off x="5715162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394;p155"/>
          <p:cNvCxnSpPr/>
          <p:nvPr/>
        </p:nvCxnSpPr>
        <p:spPr>
          <a:xfrm>
            <a:off x="5715162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2395;p155"/>
          <p:cNvCxnSpPr/>
          <p:nvPr/>
        </p:nvCxnSpPr>
        <p:spPr>
          <a:xfrm>
            <a:off x="5715162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2396;p155"/>
          <p:cNvCxnSpPr/>
          <p:nvPr/>
        </p:nvCxnSpPr>
        <p:spPr>
          <a:xfrm>
            <a:off x="7162584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" name="Google Shape;2397;p155"/>
          <p:cNvCxnSpPr/>
          <p:nvPr/>
        </p:nvCxnSpPr>
        <p:spPr>
          <a:xfrm>
            <a:off x="7162584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" name="Google Shape;2398;p155"/>
          <p:cNvCxnSpPr/>
          <p:nvPr/>
        </p:nvCxnSpPr>
        <p:spPr>
          <a:xfrm>
            <a:off x="7162584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1" name="Google Shape;2399;p155"/>
          <p:cNvCxnSpPr/>
          <p:nvPr/>
        </p:nvCxnSpPr>
        <p:spPr>
          <a:xfrm>
            <a:off x="7162584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" name="Google Shape;2400;p155"/>
          <p:cNvCxnSpPr/>
          <p:nvPr/>
        </p:nvCxnSpPr>
        <p:spPr>
          <a:xfrm>
            <a:off x="5715162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3" name="Google Shape;2401;p155"/>
          <p:cNvCxnSpPr/>
          <p:nvPr/>
        </p:nvCxnSpPr>
        <p:spPr>
          <a:xfrm>
            <a:off x="5715162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4" name="Google Shape;2402;p155"/>
          <p:cNvCxnSpPr/>
          <p:nvPr/>
        </p:nvCxnSpPr>
        <p:spPr>
          <a:xfrm>
            <a:off x="5715162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5" name="Google Shape;2403;p155"/>
          <p:cNvCxnSpPr/>
          <p:nvPr/>
        </p:nvCxnSpPr>
        <p:spPr>
          <a:xfrm>
            <a:off x="5715162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6" name="Google Shape;2404;p155"/>
          <p:cNvCxnSpPr/>
          <p:nvPr/>
        </p:nvCxnSpPr>
        <p:spPr>
          <a:xfrm>
            <a:off x="2896496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" name="Google Shape;2405;p155"/>
          <p:cNvCxnSpPr/>
          <p:nvPr/>
        </p:nvCxnSpPr>
        <p:spPr>
          <a:xfrm>
            <a:off x="2896496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" name="Google Shape;2406;p155"/>
          <p:cNvCxnSpPr/>
          <p:nvPr/>
        </p:nvCxnSpPr>
        <p:spPr>
          <a:xfrm>
            <a:off x="2896496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9" name="Google Shape;2407;p155"/>
          <p:cNvCxnSpPr/>
          <p:nvPr/>
        </p:nvCxnSpPr>
        <p:spPr>
          <a:xfrm>
            <a:off x="2896496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1" name="Google Shape;2409;p155"/>
          <p:cNvSpPr txBox="1"/>
          <p:nvPr/>
        </p:nvSpPr>
        <p:spPr>
          <a:xfrm>
            <a:off x="1698008" y="3574425"/>
            <a:ext cx="1403635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/dx: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[ 4 ]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[ 0 ]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[ 5 ]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[ 0 ]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75437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381;p155"/>
          <p:cNvSpPr/>
          <p:nvPr/>
        </p:nvSpPr>
        <p:spPr>
          <a:xfrm>
            <a:off x="3571795" y="2237149"/>
            <a:ext cx="2040068" cy="126836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= max(0,x)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" sz="2200" i="1" dirty="0">
                <a:solidFill>
                  <a:prstClr val="black"/>
                </a:solidFill>
              </a:rPr>
              <a:t>各个</a:t>
            </a:r>
            <a:r>
              <a:rPr lang="zh-CN" altLang="en-US" sz="2200" i="1" dirty="0">
                <a:solidFill>
                  <a:prstClr val="black"/>
                </a:solidFill>
              </a:rPr>
              <a:t>元素</a:t>
            </a: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2382;p155"/>
          <p:cNvCxnSpPr/>
          <p:nvPr/>
        </p:nvCxnSpPr>
        <p:spPr>
          <a:xfrm>
            <a:off x="2820315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2383;p155"/>
          <p:cNvCxnSpPr/>
          <p:nvPr/>
        </p:nvCxnSpPr>
        <p:spPr>
          <a:xfrm>
            <a:off x="2820315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384;p155"/>
          <p:cNvCxnSpPr/>
          <p:nvPr/>
        </p:nvCxnSpPr>
        <p:spPr>
          <a:xfrm>
            <a:off x="2820315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385;p155"/>
          <p:cNvCxnSpPr/>
          <p:nvPr/>
        </p:nvCxnSpPr>
        <p:spPr>
          <a:xfrm>
            <a:off x="2820315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86;p155"/>
          <p:cNvSpPr txBox="1"/>
          <p:nvPr/>
        </p:nvSpPr>
        <p:spPr>
          <a:xfrm>
            <a:off x="1665016" y="1769470"/>
            <a:ext cx="1469618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lang="zh-CN" altLang="en" sz="2000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-2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2388;p155"/>
          <p:cNvSpPr txBox="1"/>
          <p:nvPr/>
        </p:nvSpPr>
        <p:spPr>
          <a:xfrm>
            <a:off x="5966045" y="1769470"/>
            <a:ext cx="165287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lang="zh-CN" altLang="en" sz="2000">
                <a:solidFill>
                  <a:prstClr val="black"/>
                </a:solidFill>
                <a:latin typeface="Calibri" panose="020F0502020204030204"/>
              </a:rPr>
              <a:t>输出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2389;p155"/>
          <p:cNvSpPr txBox="1"/>
          <p:nvPr/>
        </p:nvSpPr>
        <p:spPr>
          <a:xfrm>
            <a:off x="5851325" y="3574425"/>
            <a:ext cx="188231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4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5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9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2390;p155"/>
          <p:cNvSpPr txBox="1"/>
          <p:nvPr/>
        </p:nvSpPr>
        <p:spPr>
          <a:xfrm>
            <a:off x="3621881" y="3574425"/>
            <a:ext cx="1939895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[dy/dx] [dL/dy]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[ 1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0 0 0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[ 4  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-1 ]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] [ 5  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0 0 0</a:t>
            </a: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0 ] [ 9  ]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2391;p155"/>
          <p:cNvSpPr txBox="1"/>
          <p:nvPr/>
        </p:nvSpPr>
        <p:spPr>
          <a:xfrm>
            <a:off x="7889895" y="4183816"/>
            <a:ext cx="1322356" cy="697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799" dirty="0">
                <a:solidFill>
                  <a:srgbClr val="C00000"/>
                </a:solidFill>
              </a:rPr>
              <a:t>上游梯度</a:t>
            </a:r>
          </a:p>
        </p:txBody>
      </p:sp>
      <p:cxnSp>
        <p:nvCxnSpPr>
          <p:cNvPr id="14" name="Google Shape;2392;p155"/>
          <p:cNvCxnSpPr/>
          <p:nvPr/>
        </p:nvCxnSpPr>
        <p:spPr>
          <a:xfrm>
            <a:off x="5715162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393;p155"/>
          <p:cNvCxnSpPr/>
          <p:nvPr/>
        </p:nvCxnSpPr>
        <p:spPr>
          <a:xfrm>
            <a:off x="5715162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394;p155"/>
          <p:cNvCxnSpPr/>
          <p:nvPr/>
        </p:nvCxnSpPr>
        <p:spPr>
          <a:xfrm>
            <a:off x="5715162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2395;p155"/>
          <p:cNvCxnSpPr/>
          <p:nvPr/>
        </p:nvCxnSpPr>
        <p:spPr>
          <a:xfrm>
            <a:off x="5715162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2396;p155"/>
          <p:cNvCxnSpPr/>
          <p:nvPr/>
        </p:nvCxnSpPr>
        <p:spPr>
          <a:xfrm>
            <a:off x="7162584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" name="Google Shape;2397;p155"/>
          <p:cNvCxnSpPr/>
          <p:nvPr/>
        </p:nvCxnSpPr>
        <p:spPr>
          <a:xfrm>
            <a:off x="7162584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" name="Google Shape;2398;p155"/>
          <p:cNvCxnSpPr/>
          <p:nvPr/>
        </p:nvCxnSpPr>
        <p:spPr>
          <a:xfrm>
            <a:off x="7162584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1" name="Google Shape;2399;p155"/>
          <p:cNvCxnSpPr/>
          <p:nvPr/>
        </p:nvCxnSpPr>
        <p:spPr>
          <a:xfrm>
            <a:off x="7162584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" name="Google Shape;2400;p155"/>
          <p:cNvCxnSpPr/>
          <p:nvPr/>
        </p:nvCxnSpPr>
        <p:spPr>
          <a:xfrm>
            <a:off x="5715162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3" name="Google Shape;2401;p155"/>
          <p:cNvCxnSpPr/>
          <p:nvPr/>
        </p:nvCxnSpPr>
        <p:spPr>
          <a:xfrm>
            <a:off x="5715162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4" name="Google Shape;2402;p155"/>
          <p:cNvCxnSpPr/>
          <p:nvPr/>
        </p:nvCxnSpPr>
        <p:spPr>
          <a:xfrm>
            <a:off x="5715162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5" name="Google Shape;2403;p155"/>
          <p:cNvCxnSpPr/>
          <p:nvPr/>
        </p:nvCxnSpPr>
        <p:spPr>
          <a:xfrm>
            <a:off x="5715162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6" name="Google Shape;2404;p155"/>
          <p:cNvCxnSpPr/>
          <p:nvPr/>
        </p:nvCxnSpPr>
        <p:spPr>
          <a:xfrm>
            <a:off x="2896496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" name="Google Shape;2405;p155"/>
          <p:cNvCxnSpPr/>
          <p:nvPr/>
        </p:nvCxnSpPr>
        <p:spPr>
          <a:xfrm>
            <a:off x="2896496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" name="Google Shape;2406;p155"/>
          <p:cNvCxnSpPr/>
          <p:nvPr/>
        </p:nvCxnSpPr>
        <p:spPr>
          <a:xfrm>
            <a:off x="2896496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9" name="Google Shape;2407;p155"/>
          <p:cNvCxnSpPr/>
          <p:nvPr/>
        </p:nvCxnSpPr>
        <p:spPr>
          <a:xfrm>
            <a:off x="2896496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0" name="Google Shape;2408;p155"/>
          <p:cNvSpPr txBox="1"/>
          <p:nvPr/>
        </p:nvSpPr>
        <p:spPr>
          <a:xfrm>
            <a:off x="4964546" y="884446"/>
            <a:ext cx="4070124" cy="105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Jacobian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稀疏的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非对角线元素都为</a:t>
            </a: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显示计算矩阵成分</a:t>
            </a: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计算单个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元素相乘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2409;p155"/>
          <p:cNvSpPr txBox="1"/>
          <p:nvPr/>
        </p:nvSpPr>
        <p:spPr>
          <a:xfrm>
            <a:off x="1698008" y="3574425"/>
            <a:ext cx="1403635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/dx: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[ 4 ]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[ 0 ]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[ 5 ]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[ 0 ]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35692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矢量函数后向传播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2381;p155"/>
          <p:cNvSpPr/>
          <p:nvPr/>
        </p:nvSpPr>
        <p:spPr>
          <a:xfrm>
            <a:off x="3571795" y="2237149"/>
            <a:ext cx="2040068" cy="126836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= max(0,x)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" sz="2200" i="1" dirty="0">
                <a:solidFill>
                  <a:prstClr val="black"/>
                </a:solidFill>
              </a:rPr>
              <a:t>各个</a:t>
            </a:r>
            <a:r>
              <a:rPr lang="zh-CN" altLang="en-US" sz="2200" i="1" dirty="0">
                <a:solidFill>
                  <a:prstClr val="black"/>
                </a:solidFill>
              </a:rPr>
              <a:t>元素</a:t>
            </a:r>
            <a:r>
              <a:rPr kumimoji="0" lang="e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Google Shape;2382;p155"/>
          <p:cNvCxnSpPr/>
          <p:nvPr/>
        </p:nvCxnSpPr>
        <p:spPr>
          <a:xfrm>
            <a:off x="2820315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2383;p155"/>
          <p:cNvCxnSpPr/>
          <p:nvPr/>
        </p:nvCxnSpPr>
        <p:spPr>
          <a:xfrm>
            <a:off x="2820315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384;p155"/>
          <p:cNvCxnSpPr/>
          <p:nvPr/>
        </p:nvCxnSpPr>
        <p:spPr>
          <a:xfrm>
            <a:off x="2820315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385;p155"/>
          <p:cNvCxnSpPr/>
          <p:nvPr/>
        </p:nvCxnSpPr>
        <p:spPr>
          <a:xfrm>
            <a:off x="2820315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86;p155"/>
          <p:cNvSpPr txBox="1"/>
          <p:nvPr/>
        </p:nvSpPr>
        <p:spPr>
          <a:xfrm>
            <a:off x="1665016" y="1769470"/>
            <a:ext cx="1469618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-2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2388;p155"/>
          <p:cNvSpPr txBox="1"/>
          <p:nvPr/>
        </p:nvSpPr>
        <p:spPr>
          <a:xfrm>
            <a:off x="5966045" y="1769470"/>
            <a:ext cx="165287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1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3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0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2389;p155"/>
          <p:cNvSpPr txBox="1"/>
          <p:nvPr/>
        </p:nvSpPr>
        <p:spPr>
          <a:xfrm>
            <a:off x="5851325" y="3574425"/>
            <a:ext cx="1882310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4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-1 ]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5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 9 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2390;p155"/>
          <p:cNvSpPr txBox="1"/>
          <p:nvPr/>
        </p:nvSpPr>
        <p:spPr>
          <a:xfrm>
            <a:off x="3621881" y="3574425"/>
            <a:ext cx="1939895" cy="47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/dx] [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2391;p155"/>
          <p:cNvSpPr txBox="1"/>
          <p:nvPr/>
        </p:nvSpPr>
        <p:spPr>
          <a:xfrm>
            <a:off x="7889895" y="4183816"/>
            <a:ext cx="1322356" cy="697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上游梯度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Google Shape;2392;p155"/>
          <p:cNvCxnSpPr/>
          <p:nvPr/>
        </p:nvCxnSpPr>
        <p:spPr>
          <a:xfrm>
            <a:off x="5715162" y="2359831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393;p155"/>
          <p:cNvCxnSpPr/>
          <p:nvPr/>
        </p:nvCxnSpPr>
        <p:spPr>
          <a:xfrm>
            <a:off x="5715162" y="2642042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394;p155"/>
          <p:cNvCxnSpPr/>
          <p:nvPr/>
        </p:nvCxnSpPr>
        <p:spPr>
          <a:xfrm>
            <a:off x="5715162" y="2965975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2395;p155"/>
          <p:cNvCxnSpPr/>
          <p:nvPr/>
        </p:nvCxnSpPr>
        <p:spPr>
          <a:xfrm>
            <a:off x="5715162" y="3279319"/>
            <a:ext cx="67542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2396;p155"/>
          <p:cNvCxnSpPr/>
          <p:nvPr/>
        </p:nvCxnSpPr>
        <p:spPr>
          <a:xfrm>
            <a:off x="7162584" y="4111975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" name="Google Shape;2397;p155"/>
          <p:cNvCxnSpPr/>
          <p:nvPr/>
        </p:nvCxnSpPr>
        <p:spPr>
          <a:xfrm>
            <a:off x="7162584" y="4394186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" name="Google Shape;2398;p155"/>
          <p:cNvCxnSpPr/>
          <p:nvPr/>
        </p:nvCxnSpPr>
        <p:spPr>
          <a:xfrm>
            <a:off x="7162584" y="4718119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1" name="Google Shape;2399;p155"/>
          <p:cNvCxnSpPr/>
          <p:nvPr/>
        </p:nvCxnSpPr>
        <p:spPr>
          <a:xfrm>
            <a:off x="7162584" y="5031462"/>
            <a:ext cx="675424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2" name="Google Shape;2400;p155"/>
          <p:cNvCxnSpPr/>
          <p:nvPr/>
        </p:nvCxnSpPr>
        <p:spPr>
          <a:xfrm>
            <a:off x="6222056" y="4111975"/>
            <a:ext cx="20574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3" name="Google Shape;2401;p155"/>
          <p:cNvCxnSpPr/>
          <p:nvPr/>
        </p:nvCxnSpPr>
        <p:spPr>
          <a:xfrm>
            <a:off x="6222056" y="4394186"/>
            <a:ext cx="20574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4" name="Google Shape;2402;p155"/>
          <p:cNvCxnSpPr/>
          <p:nvPr/>
        </p:nvCxnSpPr>
        <p:spPr>
          <a:xfrm>
            <a:off x="6222056" y="4718119"/>
            <a:ext cx="20574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5" name="Google Shape;2403;p155"/>
          <p:cNvCxnSpPr/>
          <p:nvPr/>
        </p:nvCxnSpPr>
        <p:spPr>
          <a:xfrm>
            <a:off x="6222056" y="5031462"/>
            <a:ext cx="20574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6" name="Google Shape;2404;p155"/>
          <p:cNvCxnSpPr/>
          <p:nvPr/>
        </p:nvCxnSpPr>
        <p:spPr>
          <a:xfrm>
            <a:off x="2896496" y="4111975"/>
            <a:ext cx="20574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" name="Google Shape;2405;p155"/>
          <p:cNvCxnSpPr/>
          <p:nvPr/>
        </p:nvCxnSpPr>
        <p:spPr>
          <a:xfrm>
            <a:off x="2896496" y="4394186"/>
            <a:ext cx="20574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" name="Google Shape;2406;p155"/>
          <p:cNvCxnSpPr/>
          <p:nvPr/>
        </p:nvCxnSpPr>
        <p:spPr>
          <a:xfrm>
            <a:off x="2896496" y="4718119"/>
            <a:ext cx="20574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9" name="Google Shape;2407;p155"/>
          <p:cNvCxnSpPr/>
          <p:nvPr/>
        </p:nvCxnSpPr>
        <p:spPr>
          <a:xfrm>
            <a:off x="2896496" y="5031462"/>
            <a:ext cx="20574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0" name="Google Shape;2408;p155"/>
          <p:cNvSpPr txBox="1"/>
          <p:nvPr/>
        </p:nvSpPr>
        <p:spPr>
          <a:xfrm>
            <a:off x="4964546" y="884446"/>
            <a:ext cx="4070124" cy="105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1865" dirty="0">
                <a:solidFill>
                  <a:srgbClr val="4472C4"/>
                </a:solidFill>
              </a:rPr>
              <a:t>Jacobian</a:t>
            </a:r>
            <a:r>
              <a:rPr lang="zh-CN" altLang="en-US" sz="1865" dirty="0">
                <a:solidFill>
                  <a:srgbClr val="4472C4"/>
                </a:solidFill>
              </a:rPr>
              <a:t>是稀疏的</a:t>
            </a:r>
            <a:r>
              <a:rPr lang="en-US" altLang="zh-CN" sz="1865" dirty="0">
                <a:solidFill>
                  <a:srgbClr val="4472C4"/>
                </a:solidFill>
              </a:rPr>
              <a:t>: </a:t>
            </a:r>
            <a:r>
              <a:rPr lang="zh-CN" altLang="en-US" sz="1865" dirty="0">
                <a:solidFill>
                  <a:srgbClr val="4472C4"/>
                </a:solidFill>
              </a:rPr>
              <a:t>非对角线元素都为</a:t>
            </a:r>
            <a:r>
              <a:rPr lang="en-US" altLang="zh-CN" sz="1865" dirty="0">
                <a:solidFill>
                  <a:srgbClr val="4472C4"/>
                </a:solidFill>
              </a:rPr>
              <a:t>0! </a:t>
            </a:r>
            <a:r>
              <a:rPr lang="zh-CN" altLang="en-US" sz="1865" dirty="0">
                <a:solidFill>
                  <a:srgbClr val="4472C4"/>
                </a:solidFill>
              </a:rPr>
              <a:t>不显示计算矩阵成分</a:t>
            </a:r>
            <a:r>
              <a:rPr lang="en-US" altLang="zh-CN" sz="1865" dirty="0">
                <a:solidFill>
                  <a:srgbClr val="4472C4"/>
                </a:solidFill>
              </a:rPr>
              <a:t>;</a:t>
            </a:r>
            <a:r>
              <a:rPr lang="zh-CN" altLang="en-US" sz="1865" dirty="0">
                <a:solidFill>
                  <a:srgbClr val="4472C4"/>
                </a:solidFill>
              </a:rPr>
              <a:t> 计算单个元素相乘</a:t>
            </a:r>
          </a:p>
        </p:txBody>
      </p:sp>
      <p:sp>
        <p:nvSpPr>
          <p:cNvPr id="31" name="Google Shape;2409;p155"/>
          <p:cNvSpPr txBox="1"/>
          <p:nvPr/>
        </p:nvSpPr>
        <p:spPr>
          <a:xfrm>
            <a:off x="1698008" y="3574425"/>
            <a:ext cx="1403635" cy="173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4D </a:t>
            </a: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/dx: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[ 4 ]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[ 0 ]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[ 5 ]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[ 0 ]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Google Shape;2414;p156"/>
          <p:cNvPicPr preferRelativeResize="0"/>
          <p:nvPr/>
        </p:nvPicPr>
        <p:blipFill rotWithShape="1">
          <a:blip r:embed="rId2">
            <a:alphaModFix/>
          </a:blip>
          <a:srcRect r="3175"/>
          <a:stretch/>
        </p:blipFill>
        <p:spPr>
          <a:xfrm>
            <a:off x="3179995" y="4180178"/>
            <a:ext cx="3026057" cy="806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3811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矩阵函数后向传播</a:t>
            </a:r>
            <a:r>
              <a:rPr lang="en-US" dirty="0"/>
              <a:t>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2490;p158"/>
          <p:cNvSpPr/>
          <p:nvPr/>
        </p:nvSpPr>
        <p:spPr>
          <a:xfrm>
            <a:off x="3280145" y="1812851"/>
            <a:ext cx="2977925" cy="2977925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Google Shape;2491;p158"/>
          <p:cNvCxnSpPr/>
          <p:nvPr/>
        </p:nvCxnSpPr>
        <p:spPr>
          <a:xfrm rot="10800000" flipH="1">
            <a:off x="1523603" y="3718081"/>
            <a:ext cx="1643872" cy="407294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492;p158"/>
          <p:cNvCxnSpPr/>
          <p:nvPr/>
        </p:nvCxnSpPr>
        <p:spPr>
          <a:xfrm>
            <a:off x="1599009" y="2149964"/>
            <a:ext cx="1731149" cy="517065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2493;p158"/>
          <p:cNvCxnSpPr/>
          <p:nvPr/>
        </p:nvCxnSpPr>
        <p:spPr>
          <a:xfrm>
            <a:off x="6258070" y="3301814"/>
            <a:ext cx="151970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" name="Google Shape;2494;p1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98343" y="1816453"/>
            <a:ext cx="352334" cy="304721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2495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718" y="3888388"/>
            <a:ext cx="295198" cy="361856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2496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5873" y="2773839"/>
            <a:ext cx="352334" cy="304721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" name="Google Shape;2508;p158"/>
          <p:cNvSpPr txBox="1"/>
          <p:nvPr/>
        </p:nvSpPr>
        <p:spPr>
          <a:xfrm>
            <a:off x="101573" y="1697382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" sz="2200" b="0" i="0" u="none" strike="noStrike" kern="1200" cap="none" spc="0" normalizeH="0" baseline="-2500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×M</a:t>
            </a:r>
            <a:r>
              <a:rPr kumimoji="0" lang="en" sz="2200" b="0" i="0" u="none" strike="noStrike" kern="1200" cap="none" spc="0" normalizeH="0" baseline="-2500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2516;p158"/>
          <p:cNvSpPr txBox="1"/>
          <p:nvPr/>
        </p:nvSpPr>
        <p:spPr>
          <a:xfrm>
            <a:off x="-35195" y="3784981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[D</a:t>
            </a:r>
            <a:r>
              <a:rPr kumimoji="0" lang="en" sz="2200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" sz="22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×M</a:t>
            </a:r>
            <a:r>
              <a:rPr kumimoji="0" lang="en" sz="2200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" sz="22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2517;p158"/>
          <p:cNvSpPr txBox="1"/>
          <p:nvPr/>
        </p:nvSpPr>
        <p:spPr>
          <a:xfrm>
            <a:off x="7748582" y="2639125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[D</a:t>
            </a:r>
            <a:r>
              <a:rPr kumimoji="0" lang="en" sz="2200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r>
              <a:rPr kumimoji="0" lang="en" sz="22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×M</a:t>
            </a:r>
            <a:r>
              <a:rPr kumimoji="0" lang="en" sz="2200" b="0" i="0" u="none" strike="noStrike" kern="1200" cap="none" spc="0" normalizeH="0" baseline="-2500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  <a:r>
              <a:rPr kumimoji="0" lang="en" sz="22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3641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矩阵函数后向传播</a:t>
            </a:r>
            <a:r>
              <a:rPr lang="en-US" altLang="zh-CN" dirty="0"/>
              <a:t>: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6 -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98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2487;p1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9998">
            <a:off x="1592658" y="2548713"/>
            <a:ext cx="1561698" cy="711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88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99994">
            <a:off x="1828026" y="4202760"/>
            <a:ext cx="1402855" cy="6356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490;p158"/>
          <p:cNvSpPr/>
          <p:nvPr/>
        </p:nvSpPr>
        <p:spPr>
          <a:xfrm>
            <a:off x="3280145" y="1812851"/>
            <a:ext cx="2977925" cy="2977925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4799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" name="Google Shape;2491;p158"/>
          <p:cNvCxnSpPr/>
          <p:nvPr/>
        </p:nvCxnSpPr>
        <p:spPr>
          <a:xfrm rot="10800000" flipH="1">
            <a:off x="1523603" y="3718081"/>
            <a:ext cx="1643872" cy="407294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492;p158"/>
          <p:cNvCxnSpPr/>
          <p:nvPr/>
        </p:nvCxnSpPr>
        <p:spPr>
          <a:xfrm>
            <a:off x="1599009" y="2149964"/>
            <a:ext cx="1731149" cy="517065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2493;p158"/>
          <p:cNvCxnSpPr/>
          <p:nvPr/>
        </p:nvCxnSpPr>
        <p:spPr>
          <a:xfrm>
            <a:off x="6258070" y="3301814"/>
            <a:ext cx="1519704" cy="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" name="Google Shape;2494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8343" y="1816453"/>
            <a:ext cx="352334" cy="304721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2495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7718" y="3888388"/>
            <a:ext cx="295198" cy="361856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2496;p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5873" y="2773839"/>
            <a:ext cx="352334" cy="304721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3" name="Google Shape;2497;p158"/>
          <p:cNvCxnSpPr/>
          <p:nvPr/>
        </p:nvCxnSpPr>
        <p:spPr>
          <a:xfrm rot="10800000">
            <a:off x="6393209" y="3540176"/>
            <a:ext cx="1348149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" name="Google Shape;2498;p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22482" y="3623669"/>
            <a:ext cx="514216" cy="676099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" name="Google Shape;2499;p1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85553" y="2596465"/>
            <a:ext cx="409469" cy="537929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" name="Google Shape;2500;p1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14108" y="3389740"/>
            <a:ext cx="352334" cy="606341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Google Shape;2501;p158"/>
          <p:cNvSpPr txBox="1"/>
          <p:nvPr/>
        </p:nvSpPr>
        <p:spPr>
          <a:xfrm>
            <a:off x="3840346" y="1834562"/>
            <a:ext cx="1857524" cy="63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799" dirty="0">
                <a:solidFill>
                  <a:srgbClr val="4472C4"/>
                </a:solidFill>
                <a:latin typeface="Calibri" panose="020F0502020204030204"/>
              </a:rPr>
              <a:t>当前</a:t>
            </a:r>
            <a:r>
              <a:rPr lang="en-US" sz="1799" dirty="0">
                <a:solidFill>
                  <a:srgbClr val="4472C4"/>
                </a:solidFill>
                <a:latin typeface="Calibri" panose="020F0502020204030204"/>
              </a:rPr>
              <a:t> </a:t>
            </a:r>
          </a:p>
          <a:p>
            <a:pPr algn="ctr" defTabSz="685800"/>
            <a:r>
              <a:rPr lang="en-US" sz="1799" dirty="0">
                <a:solidFill>
                  <a:srgbClr val="4472C4"/>
                </a:solidFill>
                <a:latin typeface="Calibri" panose="020F0502020204030204"/>
              </a:rPr>
              <a:t>Jacobian </a:t>
            </a:r>
            <a:r>
              <a:rPr lang="zh-CN" altLang="en-US" sz="1799" dirty="0">
                <a:solidFill>
                  <a:srgbClr val="4472C4"/>
                </a:solidFill>
                <a:latin typeface="Calibri" panose="020F0502020204030204"/>
              </a:rPr>
              <a:t>矩阵</a:t>
            </a:r>
            <a:endParaRPr sz="1799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18" name="Google Shape;2502;p158"/>
          <p:cNvSpPr/>
          <p:nvPr/>
        </p:nvSpPr>
        <p:spPr>
          <a:xfrm rot="-899066">
            <a:off x="1790886" y="4324233"/>
            <a:ext cx="501113" cy="678779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9" name="Google Shape;2503;p158"/>
          <p:cNvCxnSpPr/>
          <p:nvPr/>
        </p:nvCxnSpPr>
        <p:spPr>
          <a:xfrm rot="10800000">
            <a:off x="1596334" y="2253437"/>
            <a:ext cx="1697558" cy="486173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2504;p158"/>
          <p:cNvCxnSpPr/>
          <p:nvPr/>
        </p:nvCxnSpPr>
        <p:spPr>
          <a:xfrm flipH="1">
            <a:off x="1523493" y="3873628"/>
            <a:ext cx="1651370" cy="4330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2505;p158"/>
          <p:cNvSpPr txBox="1"/>
          <p:nvPr/>
        </p:nvSpPr>
        <p:spPr>
          <a:xfrm>
            <a:off x="6426389" y="4383257"/>
            <a:ext cx="2648310" cy="36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1799" dirty="0">
                <a:solidFill>
                  <a:srgbClr val="C00000"/>
                </a:solidFill>
                <a:latin typeface="Calibri" panose="020F0502020204030204"/>
              </a:rPr>
              <a:t>上游</a:t>
            </a:r>
            <a:r>
              <a:rPr lang="zh-CN" altLang="en-US" sz="1799" dirty="0">
                <a:solidFill>
                  <a:srgbClr val="C00000"/>
                </a:solidFill>
                <a:latin typeface="Calibri" panose="020F0502020204030204"/>
              </a:rPr>
              <a:t>梯度</a:t>
            </a:r>
            <a:endParaRPr sz="1799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22" name="Google Shape;2508;p158"/>
          <p:cNvSpPr txBox="1"/>
          <p:nvPr/>
        </p:nvSpPr>
        <p:spPr>
          <a:xfrm>
            <a:off x="101573" y="1697382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200" dirty="0">
                <a:solidFill>
                  <a:srgbClr val="4472C4"/>
                </a:solidFill>
                <a:latin typeface="Calibri" panose="020F0502020204030204"/>
              </a:rPr>
              <a:t>[</a:t>
            </a:r>
            <a:r>
              <a:rPr lang="en" sz="2200" dirty="0" err="1">
                <a:solidFill>
                  <a:srgbClr val="4472C4"/>
                </a:solidFill>
                <a:latin typeface="Calibri" panose="020F0502020204030204"/>
              </a:rPr>
              <a:t>D</a:t>
            </a:r>
            <a:r>
              <a:rPr lang="en" sz="2200" baseline="-25000" dirty="0" err="1">
                <a:solidFill>
                  <a:srgbClr val="4472C4"/>
                </a:solidFill>
                <a:latin typeface="Calibri" panose="020F0502020204030204"/>
              </a:rPr>
              <a:t>x</a:t>
            </a:r>
            <a:r>
              <a:rPr lang="en" sz="2200" dirty="0" err="1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200" baseline="-25000" dirty="0" err="1">
                <a:solidFill>
                  <a:srgbClr val="4472C4"/>
                </a:solidFill>
                <a:latin typeface="Calibri" panose="020F0502020204030204"/>
              </a:rPr>
              <a:t>x</a:t>
            </a:r>
            <a:r>
              <a:rPr lang="en" sz="2200" dirty="0">
                <a:solidFill>
                  <a:srgbClr val="4472C4"/>
                </a:solidFill>
                <a:latin typeface="Calibri" panose="020F0502020204030204"/>
              </a:rPr>
              <a:t>]</a:t>
            </a:r>
            <a:endParaRPr sz="2200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23" name="Google Shape;2509;p158"/>
          <p:cNvSpPr/>
          <p:nvPr/>
        </p:nvSpPr>
        <p:spPr>
          <a:xfrm>
            <a:off x="6637846" y="1017734"/>
            <a:ext cx="2225420" cy="589946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zh-CN" altLang="en" sz="1799" dirty="0">
                <a:solidFill>
                  <a:srgbClr val="4472C4"/>
                </a:solidFill>
                <a:latin typeface="Calibri" panose="020F0502020204030204"/>
              </a:rPr>
              <a:t>损失</a:t>
            </a:r>
            <a:r>
              <a:rPr lang="en" sz="1799" dirty="0">
                <a:solidFill>
                  <a:srgbClr val="4472C4"/>
                </a:solidFill>
                <a:latin typeface="Calibri" panose="020F0502020204030204"/>
              </a:rPr>
              <a:t> L </a:t>
            </a:r>
            <a:r>
              <a:rPr lang="zh-CN" altLang="en" sz="1799" dirty="0">
                <a:solidFill>
                  <a:srgbClr val="4472C4"/>
                </a:solidFill>
                <a:latin typeface="Calibri" panose="020F0502020204030204"/>
              </a:rPr>
              <a:t>仍为</a:t>
            </a:r>
            <a:r>
              <a:rPr lang="zh-CN" altLang="en-US" sz="1799" dirty="0">
                <a:solidFill>
                  <a:srgbClr val="4472C4"/>
                </a:solidFill>
                <a:latin typeface="Calibri" panose="020F0502020204030204"/>
              </a:rPr>
              <a:t>标量</a:t>
            </a:r>
            <a:r>
              <a:rPr lang="en" sz="1799" dirty="0">
                <a:solidFill>
                  <a:srgbClr val="4472C4"/>
                </a:solidFill>
                <a:latin typeface="Calibri" panose="020F0502020204030204"/>
              </a:rPr>
              <a:t>!</a:t>
            </a:r>
            <a:endParaRPr sz="1799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24" name="Google Shape;2510;p158"/>
          <p:cNvSpPr txBox="1"/>
          <p:nvPr/>
        </p:nvSpPr>
        <p:spPr>
          <a:xfrm>
            <a:off x="3894999" y="2545336"/>
            <a:ext cx="2537339" cy="64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000" dirty="0">
                <a:solidFill>
                  <a:srgbClr val="4472C4"/>
                </a:solidFill>
                <a:latin typeface="Calibri" panose="020F0502020204030204"/>
              </a:rPr>
              <a:t>[(</a:t>
            </a:r>
            <a:r>
              <a:rPr lang="en" sz="2000" dirty="0" err="1">
                <a:solidFill>
                  <a:srgbClr val="4472C4"/>
                </a:solidFill>
                <a:latin typeface="Calibri" panose="020F0502020204030204"/>
              </a:rPr>
              <a:t>D</a:t>
            </a:r>
            <a:r>
              <a:rPr lang="en" sz="2000" baseline="-25000" dirty="0" err="1">
                <a:solidFill>
                  <a:srgbClr val="4472C4"/>
                </a:solidFill>
                <a:latin typeface="Calibri" panose="020F0502020204030204"/>
              </a:rPr>
              <a:t>x</a:t>
            </a:r>
            <a:r>
              <a:rPr lang="en" sz="2000" dirty="0" err="1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000" baseline="-25000" dirty="0" err="1">
                <a:solidFill>
                  <a:srgbClr val="4472C4"/>
                </a:solidFill>
                <a:latin typeface="Calibri" panose="020F0502020204030204"/>
              </a:rPr>
              <a:t>x</a:t>
            </a:r>
            <a:r>
              <a:rPr lang="en" sz="2000" dirty="0">
                <a:solidFill>
                  <a:srgbClr val="4472C4"/>
                </a:solidFill>
                <a:latin typeface="Calibri" panose="020F0502020204030204"/>
              </a:rPr>
              <a:t>)×(</a:t>
            </a:r>
            <a:r>
              <a:rPr lang="en" sz="2000" dirty="0" err="1">
                <a:solidFill>
                  <a:srgbClr val="4472C4"/>
                </a:solidFill>
                <a:latin typeface="Calibri" panose="020F0502020204030204"/>
              </a:rPr>
              <a:t>D</a:t>
            </a:r>
            <a:r>
              <a:rPr lang="en" sz="2000" baseline="-25000" dirty="0" err="1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en" sz="2000" dirty="0" err="1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000" baseline="-25000" dirty="0" err="1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en" sz="2000" dirty="0">
                <a:solidFill>
                  <a:srgbClr val="4472C4"/>
                </a:solidFill>
                <a:latin typeface="Calibri" panose="020F0502020204030204"/>
              </a:rPr>
              <a:t>)] </a:t>
            </a:r>
            <a:endParaRPr sz="2000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26" name="Google Shape;2512;p158"/>
          <p:cNvSpPr/>
          <p:nvPr/>
        </p:nvSpPr>
        <p:spPr>
          <a:xfrm>
            <a:off x="6126504" y="4714521"/>
            <a:ext cx="2977925" cy="67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799" dirty="0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zh-CN" altLang="en" sz="1799" dirty="0">
                <a:solidFill>
                  <a:srgbClr val="4472C4"/>
                </a:solidFill>
                <a:latin typeface="Calibri" panose="020F0502020204030204"/>
              </a:rPr>
              <a:t>中</a:t>
            </a:r>
            <a:r>
              <a:rPr lang="zh-CN" altLang="en-US" sz="1799" dirty="0">
                <a:solidFill>
                  <a:srgbClr val="4472C4"/>
                </a:solidFill>
                <a:latin typeface="Calibri" panose="020F0502020204030204"/>
              </a:rPr>
              <a:t>每个元素</a:t>
            </a:r>
            <a:r>
              <a:rPr lang="en" sz="1799" dirty="0">
                <a:solidFill>
                  <a:srgbClr val="4472C4"/>
                </a:solidFill>
                <a:latin typeface="Calibri" panose="020F0502020204030204"/>
              </a:rPr>
              <a:t>, </a:t>
            </a:r>
            <a:r>
              <a:rPr lang="zh-CN" altLang="en" sz="1799" dirty="0">
                <a:solidFill>
                  <a:srgbClr val="4472C4"/>
                </a:solidFill>
                <a:latin typeface="Calibri" panose="020F0502020204030204"/>
              </a:rPr>
              <a:t>如何</a:t>
            </a:r>
            <a:r>
              <a:rPr lang="zh-CN" altLang="en-US" sz="1799" dirty="0">
                <a:solidFill>
                  <a:srgbClr val="4472C4"/>
                </a:solidFill>
                <a:latin typeface="Calibri" panose="020F0502020204030204"/>
              </a:rPr>
              <a:t>影响</a:t>
            </a:r>
            <a:r>
              <a:rPr lang="en" sz="1799" dirty="0">
                <a:solidFill>
                  <a:srgbClr val="4472C4"/>
                </a:solidFill>
                <a:latin typeface="Calibri" panose="020F0502020204030204"/>
              </a:rPr>
              <a:t>L?</a:t>
            </a:r>
            <a:endParaRPr sz="1799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27" name="Google Shape;2513;p158"/>
          <p:cNvSpPr/>
          <p:nvPr/>
        </p:nvSpPr>
        <p:spPr>
          <a:xfrm>
            <a:off x="2614819" y="4794175"/>
            <a:ext cx="3452101" cy="67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altLang="zh-CN" sz="1600" dirty="0">
                <a:solidFill>
                  <a:srgbClr val="4472C4"/>
                </a:solidFill>
                <a:latin typeface="Calibri" panose="020F0502020204030204"/>
              </a:rPr>
              <a:t>y</a:t>
            </a:r>
            <a:r>
              <a:rPr lang="zh-CN" altLang="en" sz="1600" dirty="0">
                <a:solidFill>
                  <a:srgbClr val="4472C4"/>
                </a:solidFill>
                <a:latin typeface="Calibri" panose="020F0502020204030204"/>
              </a:rPr>
              <a:t>中</a:t>
            </a:r>
            <a:r>
              <a:rPr lang="zh-CN" altLang="en-US" sz="1600" dirty="0">
                <a:solidFill>
                  <a:srgbClr val="4472C4"/>
                </a:solidFill>
                <a:latin typeface="Calibri" panose="020F0502020204030204"/>
              </a:rPr>
              <a:t>每个元素</a:t>
            </a:r>
            <a:r>
              <a:rPr lang="en" sz="1600" dirty="0">
                <a:solidFill>
                  <a:srgbClr val="4472C4"/>
                </a:solidFill>
                <a:latin typeface="Calibri" panose="020F0502020204030204"/>
              </a:rPr>
              <a:t>, </a:t>
            </a:r>
            <a:r>
              <a:rPr lang="zh-CN" altLang="en" sz="1600" dirty="0">
                <a:solidFill>
                  <a:srgbClr val="4472C4"/>
                </a:solidFill>
                <a:latin typeface="Calibri" panose="020F0502020204030204"/>
              </a:rPr>
              <a:t>如何</a:t>
            </a:r>
            <a:r>
              <a:rPr lang="zh-CN" altLang="en-US" sz="1600" dirty="0">
                <a:solidFill>
                  <a:srgbClr val="4472C4"/>
                </a:solidFill>
                <a:latin typeface="Calibri" panose="020F0502020204030204"/>
              </a:rPr>
              <a:t>影响</a:t>
            </a:r>
            <a:r>
              <a:rPr lang="en" sz="1600" dirty="0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zh-CN" altLang="en" sz="1600" dirty="0">
                <a:solidFill>
                  <a:srgbClr val="4472C4"/>
                </a:solidFill>
                <a:latin typeface="Calibri" panose="020F0502020204030204"/>
              </a:rPr>
              <a:t>中</a:t>
            </a:r>
            <a:r>
              <a:rPr lang="zh-CN" altLang="en-US" sz="1600" dirty="0">
                <a:solidFill>
                  <a:srgbClr val="4472C4"/>
                </a:solidFill>
                <a:latin typeface="Calibri" panose="020F0502020204030204"/>
              </a:rPr>
              <a:t>单个元素</a:t>
            </a:r>
            <a:r>
              <a:rPr lang="en" sz="1600" dirty="0">
                <a:solidFill>
                  <a:srgbClr val="4472C4"/>
                </a:solidFill>
                <a:latin typeface="Calibri" panose="020F0502020204030204"/>
              </a:rPr>
              <a:t>?</a:t>
            </a:r>
            <a:endParaRPr sz="1600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28" name="Google Shape;2514;p158"/>
          <p:cNvSpPr/>
          <p:nvPr/>
        </p:nvSpPr>
        <p:spPr>
          <a:xfrm rot="900535">
            <a:off x="1511816" y="2390155"/>
            <a:ext cx="557064" cy="701111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2515;p158"/>
          <p:cNvSpPr txBox="1"/>
          <p:nvPr/>
        </p:nvSpPr>
        <p:spPr>
          <a:xfrm>
            <a:off x="1398336" y="3257176"/>
            <a:ext cx="1461220" cy="63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" sz="1600" dirty="0">
                <a:solidFill>
                  <a:srgbClr val="4472C4"/>
                </a:solidFill>
                <a:latin typeface="Calibri" panose="020F0502020204030204"/>
              </a:rPr>
              <a:t>Matrix-vector</a:t>
            </a:r>
            <a:endParaRPr sz="1600" dirty="0">
              <a:solidFill>
                <a:srgbClr val="4472C4"/>
              </a:solidFill>
              <a:latin typeface="Calibri" panose="020F0502020204030204"/>
            </a:endParaRPr>
          </a:p>
          <a:p>
            <a:pPr algn="ctr" defTabSz="685800"/>
            <a:r>
              <a:rPr lang="zh-CN" altLang="en" sz="1600" dirty="0">
                <a:solidFill>
                  <a:srgbClr val="4472C4"/>
                </a:solidFill>
                <a:latin typeface="Calibri" panose="020F0502020204030204"/>
              </a:rPr>
              <a:t>相乘</a:t>
            </a:r>
            <a:endParaRPr sz="1600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30" name="Google Shape;2516;p158"/>
          <p:cNvSpPr txBox="1"/>
          <p:nvPr/>
        </p:nvSpPr>
        <p:spPr>
          <a:xfrm>
            <a:off x="-35195" y="3784981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[D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y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y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]</a:t>
            </a:r>
            <a:endParaRPr sz="220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31" name="Google Shape;2517;p158"/>
          <p:cNvSpPr txBox="1"/>
          <p:nvPr/>
        </p:nvSpPr>
        <p:spPr>
          <a:xfrm>
            <a:off x="7748582" y="2639125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[D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]</a:t>
            </a:r>
            <a:endParaRPr sz="220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32" name="Google Shape;2518;p158"/>
          <p:cNvSpPr txBox="1"/>
          <p:nvPr/>
        </p:nvSpPr>
        <p:spPr>
          <a:xfrm>
            <a:off x="7830035" y="3735439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[D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]</a:t>
            </a:r>
            <a:endParaRPr sz="220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33" name="Google Shape;2519;p158"/>
          <p:cNvSpPr txBox="1"/>
          <p:nvPr/>
        </p:nvSpPr>
        <p:spPr>
          <a:xfrm>
            <a:off x="3894999" y="3368697"/>
            <a:ext cx="2537339" cy="64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000">
                <a:solidFill>
                  <a:srgbClr val="4472C4"/>
                </a:solidFill>
                <a:latin typeface="Calibri" panose="020F0502020204030204"/>
              </a:rPr>
              <a:t>[(D</a:t>
            </a:r>
            <a:r>
              <a:rPr lang="en" sz="2000" baseline="-25000">
                <a:solidFill>
                  <a:srgbClr val="4472C4"/>
                </a:solidFill>
                <a:latin typeface="Calibri" panose="020F0502020204030204"/>
              </a:rPr>
              <a:t>y</a:t>
            </a:r>
            <a:r>
              <a:rPr lang="en" sz="2000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000" baseline="-25000">
                <a:solidFill>
                  <a:srgbClr val="4472C4"/>
                </a:solidFill>
                <a:latin typeface="Calibri" panose="020F0502020204030204"/>
              </a:rPr>
              <a:t>y</a:t>
            </a:r>
            <a:r>
              <a:rPr lang="en" sz="2000">
                <a:solidFill>
                  <a:srgbClr val="4472C4"/>
                </a:solidFill>
                <a:latin typeface="Calibri" panose="020F0502020204030204"/>
              </a:rPr>
              <a:t>)×(D</a:t>
            </a:r>
            <a:r>
              <a:rPr lang="en" sz="2000" baseline="-25000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en" sz="2000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000" baseline="-25000">
                <a:solidFill>
                  <a:srgbClr val="4472C4"/>
                </a:solidFill>
                <a:latin typeface="Calibri" panose="020F0502020204030204"/>
              </a:rPr>
              <a:t>z</a:t>
            </a:r>
            <a:r>
              <a:rPr lang="en" sz="2000">
                <a:solidFill>
                  <a:srgbClr val="4472C4"/>
                </a:solidFill>
                <a:latin typeface="Calibri" panose="020F0502020204030204"/>
              </a:rPr>
              <a:t>)] </a:t>
            </a:r>
            <a:endParaRPr sz="200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34" name="Google Shape;2520;p158"/>
          <p:cNvSpPr txBox="1"/>
          <p:nvPr/>
        </p:nvSpPr>
        <p:spPr>
          <a:xfrm>
            <a:off x="253934" y="2383003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[D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x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x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]</a:t>
            </a:r>
            <a:endParaRPr sz="220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35" name="Google Shape;2521;p158"/>
          <p:cNvSpPr txBox="1"/>
          <p:nvPr/>
        </p:nvSpPr>
        <p:spPr>
          <a:xfrm>
            <a:off x="498066" y="4546783"/>
            <a:ext cx="1244676" cy="4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[D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y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×M</a:t>
            </a:r>
            <a:r>
              <a:rPr lang="en" sz="2200" baseline="-25000">
                <a:solidFill>
                  <a:srgbClr val="4472C4"/>
                </a:solidFill>
                <a:latin typeface="Calibri" panose="020F0502020204030204"/>
              </a:rPr>
              <a:t>y</a:t>
            </a:r>
            <a:r>
              <a:rPr lang="en" sz="2200">
                <a:solidFill>
                  <a:srgbClr val="4472C4"/>
                </a:solidFill>
                <a:latin typeface="Calibri" panose="020F0502020204030204"/>
              </a:rPr>
              <a:t>]</a:t>
            </a:r>
            <a:endParaRPr sz="220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36" name="Google Shape;2522;p158"/>
          <p:cNvSpPr/>
          <p:nvPr/>
        </p:nvSpPr>
        <p:spPr>
          <a:xfrm>
            <a:off x="6533173" y="1636223"/>
            <a:ext cx="2434766" cy="67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799" dirty="0">
                <a:solidFill>
                  <a:srgbClr val="4472C4"/>
                </a:solidFill>
                <a:latin typeface="Calibri" panose="020F0502020204030204"/>
              </a:rPr>
              <a:t>dL/dx </a:t>
            </a:r>
            <a:r>
              <a:rPr lang="zh-CN" altLang="en" sz="1799" dirty="0">
                <a:solidFill>
                  <a:srgbClr val="4472C4"/>
                </a:solidFill>
                <a:latin typeface="Calibri" panose="020F0502020204030204"/>
              </a:rPr>
              <a:t>和</a:t>
            </a:r>
            <a:r>
              <a:rPr lang="zh-CN" altLang="en-US" sz="1799" dirty="0">
                <a:solidFill>
                  <a:srgbClr val="4472C4"/>
                </a:solidFill>
                <a:latin typeface="Calibri" panose="020F0502020204030204"/>
              </a:rPr>
              <a:t> </a:t>
            </a:r>
            <a:r>
              <a:rPr lang="en" sz="1799" dirty="0">
                <a:solidFill>
                  <a:srgbClr val="4472C4"/>
                </a:solidFill>
                <a:latin typeface="Calibri" panose="020F0502020204030204"/>
              </a:rPr>
              <a:t>x</a:t>
            </a:r>
            <a:r>
              <a:rPr lang="zh-CN" altLang="en-US" sz="1799" dirty="0">
                <a:solidFill>
                  <a:srgbClr val="4472C4"/>
                </a:solidFill>
                <a:latin typeface="Calibri" panose="020F0502020204030204"/>
              </a:rPr>
              <a:t> </a:t>
            </a:r>
            <a:r>
              <a:rPr lang="zh-CN" altLang="en" sz="1799" dirty="0">
                <a:solidFill>
                  <a:srgbClr val="4472C4"/>
                </a:solidFill>
                <a:latin typeface="Calibri" panose="020F0502020204030204"/>
              </a:rPr>
              <a:t>维度</a:t>
            </a:r>
            <a:r>
              <a:rPr lang="zh-CN" altLang="en-US" sz="1799" dirty="0">
                <a:solidFill>
                  <a:srgbClr val="4472C4"/>
                </a:solidFill>
                <a:latin typeface="Calibri" panose="020F0502020204030204"/>
              </a:rPr>
              <a:t>一致</a:t>
            </a:r>
            <a:r>
              <a:rPr lang="en" sz="1799" dirty="0">
                <a:solidFill>
                  <a:srgbClr val="4472C4"/>
                </a:solidFill>
                <a:latin typeface="Calibri" panose="020F0502020204030204"/>
              </a:rPr>
              <a:t>!</a:t>
            </a:r>
            <a:endParaRPr sz="1799" dirty="0">
              <a:solidFill>
                <a:srgbClr val="4472C4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750214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后向传播</a:t>
            </a:r>
            <a:r>
              <a:rPr lang="en-US" dirty="0"/>
              <a:t>: </a:t>
            </a:r>
            <a:r>
              <a:rPr lang="zh-CN" altLang="en-US" dirty="0"/>
              <a:t>另一个角度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8843" y="1843228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95288" y="1843227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8250" y="1843225"/>
            <a:ext cx="800219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标量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1734" y="1843226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58673" y="1843225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/>
          <p:cNvCxnSpPr>
            <a:stCxn id="4" idx="3"/>
            <a:endCxn id="5" idx="1"/>
          </p:cNvCxnSpPr>
          <p:nvPr/>
        </p:nvCxnSpPr>
        <p:spPr>
          <a:xfrm flipV="1">
            <a:off x="1229377" y="2351059"/>
            <a:ext cx="1265911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  <a:endCxn id="9" idx="1"/>
          </p:cNvCxnSpPr>
          <p:nvPr/>
        </p:nvCxnSpPr>
        <p:spPr>
          <a:xfrm flipV="1">
            <a:off x="3035822" y="2351058"/>
            <a:ext cx="1265912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3"/>
            <a:endCxn id="10" idx="1"/>
          </p:cNvCxnSpPr>
          <p:nvPr/>
        </p:nvCxnSpPr>
        <p:spPr>
          <a:xfrm flipV="1">
            <a:off x="4842268" y="2351057"/>
            <a:ext cx="131640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3"/>
            <a:endCxn id="8" idx="1"/>
          </p:cNvCxnSpPr>
          <p:nvPr/>
        </p:nvCxnSpPr>
        <p:spPr>
          <a:xfrm>
            <a:off x="6699207" y="2351057"/>
            <a:ext cx="107904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81874" y="1791242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88319" y="1791241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20012" y="1791241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96493" y="1791950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518" y="4004633"/>
            <a:ext cx="5702965" cy="8565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4001" y="4129042"/>
            <a:ext cx="744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链式法则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91505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后向传播</a:t>
            </a:r>
            <a:r>
              <a:rPr lang="en-US" altLang="zh-CN" dirty="0"/>
              <a:t>: </a:t>
            </a:r>
            <a:r>
              <a:rPr lang="zh-CN" altLang="en-US" dirty="0"/>
              <a:t>另一个角度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8843" y="1843228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95288" y="1843227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8250" y="1843225"/>
            <a:ext cx="800219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标量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1734" y="1843226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58673" y="1843225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/>
          <p:cNvCxnSpPr>
            <a:stCxn id="4" idx="3"/>
            <a:endCxn id="5" idx="1"/>
          </p:cNvCxnSpPr>
          <p:nvPr/>
        </p:nvCxnSpPr>
        <p:spPr>
          <a:xfrm flipV="1">
            <a:off x="1229377" y="2351059"/>
            <a:ext cx="1265911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  <a:endCxn id="9" idx="1"/>
          </p:cNvCxnSpPr>
          <p:nvPr/>
        </p:nvCxnSpPr>
        <p:spPr>
          <a:xfrm flipV="1">
            <a:off x="3035822" y="2351058"/>
            <a:ext cx="1265912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3"/>
            <a:endCxn id="10" idx="1"/>
          </p:cNvCxnSpPr>
          <p:nvPr/>
        </p:nvCxnSpPr>
        <p:spPr>
          <a:xfrm flipV="1">
            <a:off x="4842268" y="2351057"/>
            <a:ext cx="131640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3"/>
            <a:endCxn id="8" idx="1"/>
          </p:cNvCxnSpPr>
          <p:nvPr/>
        </p:nvCxnSpPr>
        <p:spPr>
          <a:xfrm>
            <a:off x="6699207" y="2351057"/>
            <a:ext cx="107904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81874" y="1791242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88319" y="1791241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20012" y="1791241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96493" y="1791950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518" y="4004633"/>
            <a:ext cx="5702965" cy="8565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43900" y="4932864"/>
            <a:ext cx="478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61229" y="4932864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1742" y="4932864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8181" y="4931673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6459" y="328240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矩阵乘法具有结合性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4001" y="4129042"/>
            <a:ext cx="744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链式法则</a:t>
            </a:r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1285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8843" y="1843228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95288" y="1843227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8250" y="1843225"/>
            <a:ext cx="800219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标量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1734" y="1843226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58673" y="1843225"/>
            <a:ext cx="54053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3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/>
          <p:cNvCxnSpPr>
            <a:stCxn id="4" idx="3"/>
            <a:endCxn id="5" idx="1"/>
          </p:cNvCxnSpPr>
          <p:nvPr/>
        </p:nvCxnSpPr>
        <p:spPr>
          <a:xfrm flipV="1">
            <a:off x="1229377" y="2351059"/>
            <a:ext cx="1265911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  <a:endCxn id="9" idx="1"/>
          </p:cNvCxnSpPr>
          <p:nvPr/>
        </p:nvCxnSpPr>
        <p:spPr>
          <a:xfrm flipV="1">
            <a:off x="3035822" y="2351058"/>
            <a:ext cx="1265912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3"/>
            <a:endCxn id="10" idx="1"/>
          </p:cNvCxnSpPr>
          <p:nvPr/>
        </p:nvCxnSpPr>
        <p:spPr>
          <a:xfrm flipV="1">
            <a:off x="4842268" y="2351057"/>
            <a:ext cx="131640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3"/>
            <a:endCxn id="8" idx="1"/>
          </p:cNvCxnSpPr>
          <p:nvPr/>
        </p:nvCxnSpPr>
        <p:spPr>
          <a:xfrm>
            <a:off x="6699207" y="2351057"/>
            <a:ext cx="107904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81874" y="1791242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88319" y="1791241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20012" y="1791241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96493" y="1791950"/>
            <a:ext cx="4074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7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518" y="4004633"/>
            <a:ext cx="5702965" cy="8565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43900" y="4932864"/>
            <a:ext cx="478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61229" y="4932864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1742" y="4932864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8181" y="4931673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2629414" y="3836960"/>
            <a:ext cx="479406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03028" y="3084239"/>
            <a:ext cx="3486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矩阵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矩阵乘法从右至左依次计算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4001" y="4129042"/>
            <a:ext cx="744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链式法则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503104" y="682667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微分逆向计算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848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6.1.</a:t>
            </a:r>
            <a:r>
              <a:rPr lang="zh-CN" altLang="en-US" dirty="0"/>
              <a:t>神经网络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6.2.</a:t>
            </a:r>
            <a:r>
              <a:rPr lang="zh-CN" altLang="en-US" dirty="0">
                <a:solidFill>
                  <a:srgbClr val="00B050"/>
                </a:solidFill>
              </a:rPr>
              <a:t>卷积神经网络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altLang="zh-CN" dirty="0"/>
              <a:t>6.3.</a:t>
            </a:r>
            <a:r>
              <a:rPr lang="zh-CN" altLang="en-US" dirty="0"/>
              <a:t>神经网络图像分类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94531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</a:rPr>
              <a:t>6.2.1.</a:t>
            </a:r>
            <a:r>
              <a:rPr lang="zh-CN" altLang="en-US" dirty="0">
                <a:solidFill>
                  <a:srgbClr val="00B050"/>
                </a:solidFill>
              </a:rPr>
              <a:t>卷积神经网络的组成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6.2.2.</a:t>
            </a:r>
            <a:r>
              <a:rPr lang="zh-CN" altLang="en-US" dirty="0"/>
              <a:t>卷积层</a:t>
            </a:r>
            <a:endParaRPr lang="en-US" dirty="0"/>
          </a:p>
          <a:p>
            <a:r>
              <a:rPr lang="en-US" altLang="zh-CN" dirty="0"/>
              <a:t>6.2.3.</a:t>
            </a:r>
            <a:r>
              <a:rPr lang="zh-CN" altLang="en-US" dirty="0"/>
              <a:t>池化与归一化</a:t>
            </a:r>
            <a:endParaRPr lang="en-US" altLang="zh-CN" dirty="0"/>
          </a:p>
          <a:p>
            <a:r>
              <a:rPr lang="en-US" altLang="zh-CN" dirty="0"/>
              <a:t>6.2.4.</a:t>
            </a:r>
            <a:r>
              <a:rPr lang="zh-CN" altLang="en-US" dirty="0"/>
              <a:t>卷积神经网络的训练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9808569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970" y="1141175"/>
            <a:ext cx="4767380" cy="3330155"/>
          </a:xfrm>
          <a:prstGeom prst="rect">
            <a:avLst/>
          </a:prstGeom>
        </p:spPr>
      </p:pic>
      <p:pic>
        <p:nvPicPr>
          <p:cNvPr id="5" name="Google Shape;4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11" y="3567065"/>
            <a:ext cx="2288620" cy="318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4" y="3992379"/>
            <a:ext cx="3232754" cy="1434491"/>
          </a:xfrm>
          <a:prstGeom prst="rect">
            <a:avLst/>
          </a:prstGeom>
        </p:spPr>
      </p:pic>
      <p:sp>
        <p:nvSpPr>
          <p:cNvPr id="7" name="Google Shape;927;p77"/>
          <p:cNvSpPr txBox="1"/>
          <p:nvPr/>
        </p:nvSpPr>
        <p:spPr>
          <a:xfrm>
            <a:off x="948940" y="1137202"/>
            <a:ext cx="1382940" cy="51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x,W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=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Wx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oogle Shape;93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979" y="1588370"/>
            <a:ext cx="1946807" cy="14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296990" y="2125297"/>
            <a:ext cx="241009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目前为止分类器都未考虑图像的空域结构信息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5917380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970" y="1141175"/>
            <a:ext cx="4767380" cy="3330155"/>
          </a:xfrm>
          <a:prstGeom prst="rect">
            <a:avLst/>
          </a:prstGeom>
        </p:spPr>
      </p:pic>
      <p:pic>
        <p:nvPicPr>
          <p:cNvPr id="5" name="Google Shape;4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11" y="3567065"/>
            <a:ext cx="2288620" cy="318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4" y="3992379"/>
            <a:ext cx="3232754" cy="1434491"/>
          </a:xfrm>
          <a:prstGeom prst="rect">
            <a:avLst/>
          </a:prstGeom>
        </p:spPr>
      </p:pic>
      <p:sp>
        <p:nvSpPr>
          <p:cNvPr id="7" name="Google Shape;927;p77"/>
          <p:cNvSpPr txBox="1"/>
          <p:nvPr/>
        </p:nvSpPr>
        <p:spPr>
          <a:xfrm>
            <a:off x="948940" y="1137202"/>
            <a:ext cx="1382940" cy="51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x,W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=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Wx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oogle Shape;93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979" y="1588370"/>
            <a:ext cx="1946807" cy="14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296990" y="2125297"/>
            <a:ext cx="241009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srgbClr val="FF0000"/>
                </a:solidFill>
              </a:rPr>
              <a:t>问题</a:t>
            </a:r>
            <a:r>
              <a:rPr lang="en-US" altLang="zh-CN" sz="2100" dirty="0">
                <a:solidFill>
                  <a:srgbClr val="FF0000"/>
                </a:solidFill>
              </a:rPr>
              <a:t>: </a:t>
            </a:r>
            <a:r>
              <a:rPr lang="zh-CN" altLang="en-US" sz="2100" dirty="0">
                <a:solidFill>
                  <a:srgbClr val="FF0000"/>
                </a:solidFill>
              </a:rPr>
              <a:t>目前为止分类器都未考虑图像的空域结构信息</a:t>
            </a:r>
            <a:r>
              <a:rPr lang="en-US" altLang="zh-CN" sz="2100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7729" y="3726324"/>
            <a:ext cx="276861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/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方案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定义</a:t>
            </a:r>
            <a:r>
              <a:rPr lang="zh-CN" altLang="en-US" sz="2100" dirty="0">
                <a:solidFill>
                  <a:srgbClr val="70AD47"/>
                </a:solidFill>
              </a:rPr>
              <a:t>在图像局部区域处理的新计算节点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47440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卷积网络</a:t>
            </a:r>
            <a:r>
              <a:rPr lang="en-US" altLang="zh-CN" dirty="0"/>
              <a:t>LeNet-5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650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58" y="2665457"/>
            <a:ext cx="8217284" cy="249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82347"/>
            <a:ext cx="687694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经典结构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[Conv,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Pool] x N, flatten, [FC,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x N, FC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举例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LeNet-5</a:t>
            </a:r>
          </a:p>
        </p:txBody>
      </p:sp>
    </p:spTree>
    <p:extLst>
      <p:ext uri="{BB962C8B-B14F-4D97-AF65-F5344CB8AC3E}">
        <p14:creationId xmlns:p14="http://schemas.microsoft.com/office/powerpoint/2010/main" val="328221054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全连接网络的构成成分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979" y="2269919"/>
            <a:ext cx="2248728" cy="1019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84656" y="1722902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全连接层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Google Shape;50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407" y="2142499"/>
            <a:ext cx="1446995" cy="119390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605821" y="1676400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激活函数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569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卷积神经网络的构成成分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87" y="4009019"/>
            <a:ext cx="1379507" cy="1555274"/>
          </a:xfrm>
          <a:prstGeom prst="rect">
            <a:avLst/>
          </a:prstGeom>
        </p:spPr>
      </p:pic>
      <p:pic>
        <p:nvPicPr>
          <p:cNvPr id="12" name="Google Shape;111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906" y="4054862"/>
            <a:ext cx="1802664" cy="142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443927" y="3553621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49334" y="3546016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池化层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979" y="2269919"/>
            <a:ext cx="2248728" cy="1019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3297" y="1721176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全连接层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Google Shape;500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1407" y="2142499"/>
            <a:ext cx="1446995" cy="119390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253111" y="1718146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激活函数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Google Shape;861;p80"/>
          <p:cNvPicPr preferRelativeResize="0"/>
          <p:nvPr/>
        </p:nvPicPr>
        <p:blipFill rotWithShape="1">
          <a:blip r:embed="rId6">
            <a:alphaModFix/>
          </a:blip>
          <a:srcRect t="58386" r="31776" b="12523"/>
          <a:stretch/>
        </p:blipFill>
        <p:spPr>
          <a:xfrm>
            <a:off x="6154283" y="4267840"/>
            <a:ext cx="2248728" cy="102324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389528" y="3546016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71704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6.2.1.</a:t>
            </a:r>
            <a:r>
              <a:rPr lang="zh-CN" altLang="en-US" dirty="0"/>
              <a:t>卷积神经网络的组成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6.2.2.</a:t>
            </a:r>
            <a:r>
              <a:rPr lang="zh-CN" altLang="en-US" dirty="0">
                <a:solidFill>
                  <a:srgbClr val="00B050"/>
                </a:solidFill>
              </a:rPr>
              <a:t>卷积层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altLang="zh-CN" dirty="0"/>
              <a:t>6.2.3.</a:t>
            </a:r>
            <a:r>
              <a:rPr lang="zh-CN" altLang="en-US" dirty="0"/>
              <a:t>池化与归一化</a:t>
            </a:r>
            <a:endParaRPr lang="en-US" altLang="zh-CN" dirty="0"/>
          </a:p>
          <a:p>
            <a:r>
              <a:rPr lang="en-US" altLang="zh-CN" dirty="0"/>
              <a:t>6.2.4.</a:t>
            </a:r>
            <a:r>
              <a:rPr lang="zh-CN" altLang="en-US" dirty="0"/>
              <a:t>卷积神经网络的训练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101293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卷积网络的组成成分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87" y="4009019"/>
            <a:ext cx="1379507" cy="1555274"/>
          </a:xfrm>
          <a:prstGeom prst="rect">
            <a:avLst/>
          </a:prstGeom>
        </p:spPr>
      </p:pic>
      <p:pic>
        <p:nvPicPr>
          <p:cNvPr id="12" name="Google Shape;111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906" y="4054862"/>
            <a:ext cx="1802664" cy="142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443927" y="3553621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49334" y="3546016"/>
            <a:ext cx="174374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Pooling Layers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979" y="2269919"/>
            <a:ext cx="2248728" cy="1019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3297" y="1721176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全连接层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Google Shape;500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1407" y="2142499"/>
            <a:ext cx="1446995" cy="119390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253111" y="1718146"/>
            <a:ext cx="230216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Activation Function</a:t>
            </a:r>
          </a:p>
        </p:txBody>
      </p:sp>
      <p:pic>
        <p:nvPicPr>
          <p:cNvPr id="19" name="Google Shape;861;p80"/>
          <p:cNvPicPr preferRelativeResize="0"/>
          <p:nvPr/>
        </p:nvPicPr>
        <p:blipFill rotWithShape="1">
          <a:blip r:embed="rId6">
            <a:alphaModFix/>
          </a:blip>
          <a:srcRect t="58386" r="31776" b="12523"/>
          <a:stretch/>
        </p:blipFill>
        <p:spPr>
          <a:xfrm>
            <a:off x="6154283" y="4267840"/>
            <a:ext cx="2248728" cy="102324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389528" y="3546016"/>
            <a:ext cx="17261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75552" y="3491599"/>
            <a:ext cx="5339798" cy="215573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35385" y="1698780"/>
            <a:ext cx="2939037" cy="1776452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46161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全连接层</a:t>
            </a:r>
            <a:r>
              <a:rPr lang="en-US" dirty="0"/>
              <a:t>Fully-Connected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460;p39"/>
          <p:cNvSpPr txBox="1"/>
          <p:nvPr/>
        </p:nvSpPr>
        <p:spPr>
          <a:xfrm>
            <a:off x="1399635" y="3385936"/>
            <a:ext cx="86167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3072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Google Shape;461;p39"/>
          <p:cNvSpPr txBox="1"/>
          <p:nvPr/>
        </p:nvSpPr>
        <p:spPr>
          <a:xfrm>
            <a:off x="100387" y="3114153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Google Shape;463;p39"/>
          <p:cNvSpPr txBox="1"/>
          <p:nvPr/>
        </p:nvSpPr>
        <p:spPr>
          <a:xfrm>
            <a:off x="751029" y="1701726"/>
            <a:ext cx="7827661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32x32x3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-&gt; 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向量化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3072 x 1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Google Shape;464;p39"/>
          <p:cNvSpPr txBox="1"/>
          <p:nvPr/>
        </p:nvSpPr>
        <p:spPr>
          <a:xfrm>
            <a:off x="3449690" y="3257669"/>
            <a:ext cx="2506747" cy="35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x 3072 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权重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465;p39"/>
          <p:cNvSpPr txBox="1"/>
          <p:nvPr/>
        </p:nvSpPr>
        <p:spPr>
          <a:xfrm>
            <a:off x="6861726" y="2745901"/>
            <a:ext cx="925932" cy="29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466;p39"/>
          <p:cNvSpPr/>
          <p:nvPr/>
        </p:nvSpPr>
        <p:spPr>
          <a:xfrm>
            <a:off x="6448770" y="3140250"/>
            <a:ext cx="1751844" cy="282227"/>
          </a:xfrm>
          <a:prstGeom prst="cube">
            <a:avLst>
              <a:gd name="adj" fmla="val 25000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467;p39"/>
          <p:cNvSpPr/>
          <p:nvPr/>
        </p:nvSpPr>
        <p:spPr>
          <a:xfrm>
            <a:off x="6524975" y="3233302"/>
            <a:ext cx="150261" cy="15266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68;p39"/>
          <p:cNvSpPr/>
          <p:nvPr/>
        </p:nvSpPr>
        <p:spPr>
          <a:xfrm>
            <a:off x="388824" y="3140250"/>
            <a:ext cx="2783575" cy="282227"/>
          </a:xfrm>
          <a:prstGeom prst="cube">
            <a:avLst>
              <a:gd name="adj" fmla="val 25000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6" name="Google Shape;46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28347" y="2924383"/>
            <a:ext cx="542783" cy="2571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470;p39"/>
          <p:cNvSpPr txBox="1"/>
          <p:nvPr/>
        </p:nvSpPr>
        <p:spPr>
          <a:xfrm>
            <a:off x="1425890" y="2709950"/>
            <a:ext cx="709440" cy="36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472;p39"/>
          <p:cNvSpPr txBox="1"/>
          <p:nvPr/>
        </p:nvSpPr>
        <p:spPr>
          <a:xfrm>
            <a:off x="6096525" y="3114153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473;p39"/>
          <p:cNvSpPr txBox="1"/>
          <p:nvPr/>
        </p:nvSpPr>
        <p:spPr>
          <a:xfrm>
            <a:off x="7113147" y="3385936"/>
            <a:ext cx="86167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2" name="Google Shape;475;p39"/>
          <p:cNvCxnSpPr/>
          <p:nvPr/>
        </p:nvCxnSpPr>
        <p:spPr>
          <a:xfrm>
            <a:off x="3345516" y="3281363"/>
            <a:ext cx="607642" cy="1199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476;p39"/>
          <p:cNvCxnSpPr/>
          <p:nvPr/>
        </p:nvCxnSpPr>
        <p:spPr>
          <a:xfrm>
            <a:off x="5393095" y="3272691"/>
            <a:ext cx="614240" cy="869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543340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全连接层</a:t>
            </a:r>
            <a:r>
              <a:rPr lang="en-US" dirty="0"/>
              <a:t>Fully-Connected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460;p39"/>
          <p:cNvSpPr txBox="1"/>
          <p:nvPr/>
        </p:nvSpPr>
        <p:spPr>
          <a:xfrm>
            <a:off x="1399635" y="3385936"/>
            <a:ext cx="86167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3072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Google Shape;461;p39"/>
          <p:cNvSpPr txBox="1"/>
          <p:nvPr/>
        </p:nvSpPr>
        <p:spPr>
          <a:xfrm>
            <a:off x="100387" y="3114153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Google Shape;463;p39"/>
          <p:cNvSpPr txBox="1"/>
          <p:nvPr/>
        </p:nvSpPr>
        <p:spPr>
          <a:xfrm>
            <a:off x="751029" y="1701726"/>
            <a:ext cx="7827661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32x32x3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-&gt; 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向量化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3072 x 1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Google Shape;464;p39"/>
          <p:cNvSpPr txBox="1"/>
          <p:nvPr/>
        </p:nvSpPr>
        <p:spPr>
          <a:xfrm>
            <a:off x="3449690" y="3257669"/>
            <a:ext cx="2506747" cy="35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x 3072 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权重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465;p39"/>
          <p:cNvSpPr txBox="1"/>
          <p:nvPr/>
        </p:nvSpPr>
        <p:spPr>
          <a:xfrm>
            <a:off x="6861726" y="2745901"/>
            <a:ext cx="925932" cy="29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466;p39"/>
          <p:cNvSpPr/>
          <p:nvPr/>
        </p:nvSpPr>
        <p:spPr>
          <a:xfrm>
            <a:off x="6448770" y="3140250"/>
            <a:ext cx="1751844" cy="282227"/>
          </a:xfrm>
          <a:prstGeom prst="cube">
            <a:avLst>
              <a:gd name="adj" fmla="val 25000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467;p39"/>
          <p:cNvSpPr/>
          <p:nvPr/>
        </p:nvSpPr>
        <p:spPr>
          <a:xfrm>
            <a:off x="6524975" y="3233302"/>
            <a:ext cx="150261" cy="15266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68;p39"/>
          <p:cNvSpPr/>
          <p:nvPr/>
        </p:nvSpPr>
        <p:spPr>
          <a:xfrm>
            <a:off x="388824" y="3140250"/>
            <a:ext cx="2783575" cy="282227"/>
          </a:xfrm>
          <a:prstGeom prst="cube">
            <a:avLst>
              <a:gd name="adj" fmla="val 25000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6" name="Google Shape;46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28347" y="2924383"/>
            <a:ext cx="542783" cy="2571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470;p39"/>
          <p:cNvSpPr txBox="1"/>
          <p:nvPr/>
        </p:nvSpPr>
        <p:spPr>
          <a:xfrm>
            <a:off x="1425890" y="2709950"/>
            <a:ext cx="709440" cy="36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Google Shape;471;p39"/>
          <p:cNvSpPr txBox="1"/>
          <p:nvPr/>
        </p:nvSpPr>
        <p:spPr>
          <a:xfrm>
            <a:off x="5840054" y="3879433"/>
            <a:ext cx="3020513" cy="76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 </a:t>
            </a: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向量和</a:t>
            </a:r>
            <a:r>
              <a:rPr kumimoji="0" lang="en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的一行点积结果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(3072-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维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点积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472;p39"/>
          <p:cNvSpPr txBox="1"/>
          <p:nvPr/>
        </p:nvSpPr>
        <p:spPr>
          <a:xfrm>
            <a:off x="6096525" y="3114153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473;p39"/>
          <p:cNvSpPr txBox="1"/>
          <p:nvPr/>
        </p:nvSpPr>
        <p:spPr>
          <a:xfrm>
            <a:off x="7113147" y="3385936"/>
            <a:ext cx="861676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1" name="Google Shape;474;p39"/>
          <p:cNvCxnSpPr/>
          <p:nvPr/>
        </p:nvCxnSpPr>
        <p:spPr>
          <a:xfrm rot="10800000" flipH="1">
            <a:off x="6172417" y="3467641"/>
            <a:ext cx="349709" cy="4525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475;p39"/>
          <p:cNvCxnSpPr/>
          <p:nvPr/>
        </p:nvCxnSpPr>
        <p:spPr>
          <a:xfrm>
            <a:off x="3345516" y="3281363"/>
            <a:ext cx="607642" cy="1199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476;p39"/>
          <p:cNvCxnSpPr/>
          <p:nvPr/>
        </p:nvCxnSpPr>
        <p:spPr>
          <a:xfrm>
            <a:off x="5393095" y="3272691"/>
            <a:ext cx="614240" cy="869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9823669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6796529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保持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空域结构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Google Shape;488;p40"/>
          <p:cNvSpPr txBox="1"/>
          <p:nvPr/>
        </p:nvSpPr>
        <p:spPr>
          <a:xfrm>
            <a:off x="2012451" y="4578181"/>
            <a:ext cx="722663" cy="39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宽度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Google Shape;490;p40"/>
          <p:cNvSpPr txBox="1"/>
          <p:nvPr/>
        </p:nvSpPr>
        <p:spPr>
          <a:xfrm>
            <a:off x="1292402" y="4924991"/>
            <a:ext cx="1132656" cy="69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深度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/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通道数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Google Shape;489;p40"/>
          <p:cNvSpPr txBox="1"/>
          <p:nvPr/>
        </p:nvSpPr>
        <p:spPr>
          <a:xfrm>
            <a:off x="2432354" y="3868190"/>
            <a:ext cx="856815" cy="37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高度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31597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Google Shape;488;p40"/>
          <p:cNvSpPr txBox="1"/>
          <p:nvPr/>
        </p:nvSpPr>
        <p:spPr>
          <a:xfrm>
            <a:off x="2012451" y="4578181"/>
            <a:ext cx="722663" cy="39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宽度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Google Shape;490;p40"/>
          <p:cNvSpPr txBox="1"/>
          <p:nvPr/>
        </p:nvSpPr>
        <p:spPr>
          <a:xfrm>
            <a:off x="1292402" y="4924991"/>
            <a:ext cx="1132656" cy="69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深度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/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通道数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Google Shape;515;p42"/>
          <p:cNvSpPr/>
          <p:nvPr/>
        </p:nvSpPr>
        <p:spPr>
          <a:xfrm>
            <a:off x="4144820" y="3162058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3919080" y="2482585"/>
            <a:ext cx="1949064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核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18;p42"/>
          <p:cNvSpPr txBox="1"/>
          <p:nvPr/>
        </p:nvSpPr>
        <p:spPr>
          <a:xfrm>
            <a:off x="5196447" y="3516677"/>
            <a:ext cx="3772742" cy="97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核和图像卷积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Google Shape;489;p40"/>
          <p:cNvSpPr txBox="1"/>
          <p:nvPr/>
        </p:nvSpPr>
        <p:spPr>
          <a:xfrm>
            <a:off x="2432354" y="3868190"/>
            <a:ext cx="856815" cy="37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高度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53722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Google Shape;488;p40"/>
          <p:cNvSpPr txBox="1"/>
          <p:nvPr/>
        </p:nvSpPr>
        <p:spPr>
          <a:xfrm>
            <a:off x="2012451" y="4578181"/>
            <a:ext cx="722663" cy="39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宽度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Google Shape;489;p40"/>
          <p:cNvSpPr txBox="1"/>
          <p:nvPr/>
        </p:nvSpPr>
        <p:spPr>
          <a:xfrm>
            <a:off x="2432354" y="3868190"/>
            <a:ext cx="856815" cy="37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高度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Google Shape;490;p40"/>
          <p:cNvSpPr txBox="1"/>
          <p:nvPr/>
        </p:nvSpPr>
        <p:spPr>
          <a:xfrm>
            <a:off x="1292402" y="4924991"/>
            <a:ext cx="1132656" cy="69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深度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/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通道数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Google Shape;515;p42"/>
          <p:cNvSpPr/>
          <p:nvPr/>
        </p:nvSpPr>
        <p:spPr>
          <a:xfrm>
            <a:off x="4144820" y="3162058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3919079" y="2482585"/>
            <a:ext cx="2024521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核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Google Shape;519;p42"/>
          <p:cNvSpPr txBox="1"/>
          <p:nvPr/>
        </p:nvSpPr>
        <p:spPr>
          <a:xfrm>
            <a:off x="4779980" y="1369637"/>
            <a:ext cx="3282645" cy="68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对不同通道</a:t>
            </a:r>
            <a:r>
              <a:rPr lang="zh-CN" altLang="en-US" sz="1799" dirty="0">
                <a:solidFill>
                  <a:srgbClr val="C00000"/>
                </a:solidFill>
              </a:rPr>
              <a:t>同时滤波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Google Shape;520;p42"/>
          <p:cNvCxnSpPr/>
          <p:nvPr/>
        </p:nvCxnSpPr>
        <p:spPr>
          <a:xfrm flipH="1">
            <a:off x="4132224" y="1970384"/>
            <a:ext cx="589646" cy="525763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521;p42"/>
          <p:cNvCxnSpPr/>
          <p:nvPr/>
        </p:nvCxnSpPr>
        <p:spPr>
          <a:xfrm flipH="1">
            <a:off x="1008201" y="1585831"/>
            <a:ext cx="3673230" cy="201893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518;p42"/>
          <p:cNvSpPr txBox="1"/>
          <p:nvPr/>
        </p:nvSpPr>
        <p:spPr>
          <a:xfrm>
            <a:off x="5196447" y="3516677"/>
            <a:ext cx="3772742" cy="97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滤波核和图像卷积</a:t>
            </a:r>
            <a:endParaRPr kumimoji="0" lang="zh-CN" alt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67714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2053569" y="2491612"/>
            <a:ext cx="1614386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1637973" y="3020207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Google Shape;551;p44"/>
          <p:cNvSpPr/>
          <p:nvPr/>
        </p:nvSpPr>
        <p:spPr>
          <a:xfrm>
            <a:off x="3233807" y="3285937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" name="Google Shape;553;p44"/>
          <p:cNvCxnSpPr/>
          <p:nvPr/>
        </p:nvCxnSpPr>
        <p:spPr>
          <a:xfrm>
            <a:off x="1764190" y="3189812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554;p44"/>
          <p:cNvCxnSpPr/>
          <p:nvPr/>
        </p:nvCxnSpPr>
        <p:spPr>
          <a:xfrm>
            <a:off x="1900355" y="3040451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555;p44"/>
          <p:cNvCxnSpPr/>
          <p:nvPr/>
        </p:nvCxnSpPr>
        <p:spPr>
          <a:xfrm rot="10800000" flipH="1">
            <a:off x="1926448" y="3427051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6" name="Google Shape;541;p43"/>
          <p:cNvCxnSpPr/>
          <p:nvPr/>
        </p:nvCxnSpPr>
        <p:spPr>
          <a:xfrm flipH="1" flipV="1">
            <a:off x="3602377" y="3538888"/>
            <a:ext cx="460337" cy="20045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542;p43"/>
          <p:cNvSpPr txBox="1"/>
          <p:nvPr/>
        </p:nvSpPr>
        <p:spPr>
          <a:xfrm>
            <a:off x="4069915" y="3606454"/>
            <a:ext cx="5014694" cy="128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 </a:t>
            </a:r>
            <a:r>
              <a:rPr kumimoji="0" lang="zh-CN" alt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</a:t>
            </a:r>
            <a:r>
              <a:rPr kumimoji="0" lang="zh-CN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向量和</a:t>
            </a:r>
            <a:r>
              <a:rPr kumimoji="0" lang="en-US" altLang="zh-C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altLang="zh-C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</a:t>
            </a: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点积结果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(i.e.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3*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5*5 = 75-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维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点积 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偏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置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8" name="Google Shape;544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15602" y="4892689"/>
            <a:ext cx="1225321" cy="393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559543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2053569" y="2491612"/>
            <a:ext cx="1614386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1637973" y="3020207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Google Shape;551;p44"/>
          <p:cNvSpPr/>
          <p:nvPr/>
        </p:nvSpPr>
        <p:spPr>
          <a:xfrm>
            <a:off x="3233807" y="3285937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" name="Google Shape;553;p44"/>
          <p:cNvCxnSpPr/>
          <p:nvPr/>
        </p:nvCxnSpPr>
        <p:spPr>
          <a:xfrm>
            <a:off x="1764190" y="3189812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554;p44"/>
          <p:cNvCxnSpPr/>
          <p:nvPr/>
        </p:nvCxnSpPr>
        <p:spPr>
          <a:xfrm>
            <a:off x="1900355" y="3040451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555;p44"/>
          <p:cNvCxnSpPr/>
          <p:nvPr/>
        </p:nvCxnSpPr>
        <p:spPr>
          <a:xfrm rot="10800000" flipH="1">
            <a:off x="1926448" y="3427051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3667955" y="3427051"/>
            <a:ext cx="3289677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565;p44"/>
          <p:cNvSpPr txBox="1"/>
          <p:nvPr/>
        </p:nvSpPr>
        <p:spPr>
          <a:xfrm>
            <a:off x="4189958" y="3545576"/>
            <a:ext cx="2183591" cy="813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对整幅图像做卷积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373548" y="1159445"/>
            <a:ext cx="2302907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1x28x28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激活图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Google Shape;568;p44"/>
          <p:cNvSpPr txBox="1"/>
          <p:nvPr/>
        </p:nvSpPr>
        <p:spPr>
          <a:xfrm>
            <a:off x="6957631" y="4761232"/>
            <a:ext cx="328115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Google Shape;569;p44"/>
          <p:cNvSpPr txBox="1"/>
          <p:nvPr/>
        </p:nvSpPr>
        <p:spPr>
          <a:xfrm>
            <a:off x="7624967" y="430567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570;p44"/>
          <p:cNvSpPr txBox="1"/>
          <p:nvPr/>
        </p:nvSpPr>
        <p:spPr>
          <a:xfrm>
            <a:off x="8029262" y="289505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10565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Google Shape;516;p42"/>
          <p:cNvSpPr txBox="1"/>
          <p:nvPr/>
        </p:nvSpPr>
        <p:spPr>
          <a:xfrm>
            <a:off x="2053569" y="2491612"/>
            <a:ext cx="1614386" cy="46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1637973" y="3020207"/>
            <a:ext cx="282227" cy="813688"/>
          </a:xfrm>
          <a:prstGeom prst="cube">
            <a:avLst>
              <a:gd name="adj" fmla="val 53382"/>
            </a:avLst>
          </a:prstGeom>
          <a:solidFill>
            <a:schemeClr val="accent6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Google Shape;551;p44"/>
          <p:cNvSpPr/>
          <p:nvPr/>
        </p:nvSpPr>
        <p:spPr>
          <a:xfrm>
            <a:off x="3233807" y="3285937"/>
            <a:ext cx="282227" cy="28222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" name="Google Shape;553;p44"/>
          <p:cNvCxnSpPr/>
          <p:nvPr/>
        </p:nvCxnSpPr>
        <p:spPr>
          <a:xfrm>
            <a:off x="1764190" y="3189812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554;p44"/>
          <p:cNvCxnSpPr/>
          <p:nvPr/>
        </p:nvCxnSpPr>
        <p:spPr>
          <a:xfrm>
            <a:off x="1900355" y="3040451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555;p44"/>
          <p:cNvCxnSpPr/>
          <p:nvPr/>
        </p:nvCxnSpPr>
        <p:spPr>
          <a:xfrm rot="10800000" flipH="1">
            <a:off x="1926448" y="3427051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3667955" y="3427051"/>
            <a:ext cx="3289677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565;p44"/>
          <p:cNvSpPr txBox="1"/>
          <p:nvPr/>
        </p:nvSpPr>
        <p:spPr>
          <a:xfrm>
            <a:off x="4189958" y="3545576"/>
            <a:ext cx="2183591" cy="813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卷积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578203" y="1163650"/>
            <a:ext cx="217084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两个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1x28x28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激活图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Google Shape;568;p44"/>
          <p:cNvSpPr txBox="1"/>
          <p:nvPr/>
        </p:nvSpPr>
        <p:spPr>
          <a:xfrm>
            <a:off x="6957631" y="4761232"/>
            <a:ext cx="328115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570;p44"/>
          <p:cNvSpPr txBox="1"/>
          <p:nvPr/>
        </p:nvSpPr>
        <p:spPr>
          <a:xfrm>
            <a:off x="8029262" y="289505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592;p45"/>
          <p:cNvSpPr/>
          <p:nvPr/>
        </p:nvSpPr>
        <p:spPr>
          <a:xfrm>
            <a:off x="7450987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Google Shape;594;p45"/>
          <p:cNvSpPr txBox="1"/>
          <p:nvPr/>
        </p:nvSpPr>
        <p:spPr>
          <a:xfrm>
            <a:off x="7335511" y="4761232"/>
            <a:ext cx="328115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595;p45"/>
          <p:cNvSpPr txBox="1"/>
          <p:nvPr/>
        </p:nvSpPr>
        <p:spPr>
          <a:xfrm>
            <a:off x="8002845" y="430567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Google Shape;596;p45"/>
          <p:cNvSpPr txBox="1"/>
          <p:nvPr/>
        </p:nvSpPr>
        <p:spPr>
          <a:xfrm>
            <a:off x="8407140" y="2895052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16571" y="1687700"/>
            <a:ext cx="3179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考虑第二个滤波核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6086423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62884"/>
            <a:ext cx="4353023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578203" y="116365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激活图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1x28x28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4972" y="1904554"/>
            <a:ext cx="2317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考虑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6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个滤波核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3x5x5 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722373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737609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752845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768081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83317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卷积层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6" y="3498794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695537" y="4588487"/>
            <a:ext cx="1225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6x3x5x5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Google Shape;567;p44"/>
          <p:cNvSpPr txBox="1"/>
          <p:nvPr/>
        </p:nvSpPr>
        <p:spPr>
          <a:xfrm>
            <a:off x="5864879" y="4805642"/>
            <a:ext cx="3314171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组合得到输出图像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6x28x28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50910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1310"/>
            <a:ext cx="4353023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578203" y="116365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激活图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每个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1x28x28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4644" y="1753365"/>
            <a:ext cx="3040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6-dim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偏置向量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722373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737609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752845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768081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83317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卷积层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6" y="3498794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695537" y="4588487"/>
            <a:ext cx="1225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6x3x5x5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Google Shape;567;p44"/>
          <p:cNvSpPr txBox="1"/>
          <p:nvPr/>
        </p:nvSpPr>
        <p:spPr>
          <a:xfrm>
            <a:off x="5864879" y="4805642"/>
            <a:ext cx="3314171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组合得到输出图像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r>
              <a:rPr kumimoji="0" lang="e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x28x28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071862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24" y="597345"/>
            <a:ext cx="4165826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751030" y="1701726"/>
            <a:ext cx="2087663" cy="4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567;p44"/>
          <p:cNvSpPr txBox="1"/>
          <p:nvPr/>
        </p:nvSpPr>
        <p:spPr>
          <a:xfrm>
            <a:off x="6107100" y="1020741"/>
            <a:ext cx="2682225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28x28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网格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每一个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维向量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6406" y="1731730"/>
            <a:ext cx="228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6-dim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偏置向量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卷积层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6" y="3498794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695537" y="4588487"/>
            <a:ext cx="1225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6x3x5x5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Google Shape;567;p44"/>
          <p:cNvSpPr txBox="1"/>
          <p:nvPr/>
        </p:nvSpPr>
        <p:spPr>
          <a:xfrm>
            <a:off x="5864879" y="4805642"/>
            <a:ext cx="3314171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组合得到输出图像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r>
              <a:rPr kumimoji="0" lang="e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x28x28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Google Shape;566;p44"/>
          <p:cNvSpPr/>
          <p:nvPr/>
        </p:nvSpPr>
        <p:spPr>
          <a:xfrm>
            <a:off x="7073108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Google Shape;611;p46"/>
          <p:cNvSpPr/>
          <p:nvPr/>
        </p:nvSpPr>
        <p:spPr>
          <a:xfrm>
            <a:off x="722373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Google Shape;617;p46"/>
          <p:cNvSpPr/>
          <p:nvPr/>
        </p:nvSpPr>
        <p:spPr>
          <a:xfrm>
            <a:off x="7376093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Google Shape;618;p46"/>
          <p:cNvSpPr/>
          <p:nvPr/>
        </p:nvSpPr>
        <p:spPr>
          <a:xfrm>
            <a:off x="752845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Google Shape;619;p46"/>
          <p:cNvSpPr/>
          <p:nvPr/>
        </p:nvSpPr>
        <p:spPr>
          <a:xfrm>
            <a:off x="768081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" name="Google Shape;620;p46"/>
          <p:cNvSpPr/>
          <p:nvPr/>
        </p:nvSpPr>
        <p:spPr>
          <a:xfrm>
            <a:off x="7833174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4534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367" y="543852"/>
            <a:ext cx="4080882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29685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219934" y="1464922"/>
            <a:ext cx="2157702" cy="9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2x3x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32x32</a:t>
            </a:r>
            <a:endParaRPr kumimoji="0" lang="en-US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批量图像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6300495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667906" y="106770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2x6x28x28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批量输出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14644" y="1753365"/>
            <a:ext cx="3040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6-dim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偏置向量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645112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660348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675584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690820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060562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卷积层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5" y="3498794"/>
            <a:ext cx="51494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695537" y="4588487"/>
            <a:ext cx="1225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6x3x5x5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" name="Google Shape;481;p40"/>
          <p:cNvSpPr/>
          <p:nvPr/>
        </p:nvSpPr>
        <p:spPr>
          <a:xfrm>
            <a:off x="62630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Google Shape;566;p44"/>
          <p:cNvSpPr/>
          <p:nvPr/>
        </p:nvSpPr>
        <p:spPr>
          <a:xfrm>
            <a:off x="7769033" y="2058585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Google Shape;611;p46"/>
          <p:cNvSpPr/>
          <p:nvPr/>
        </p:nvSpPr>
        <p:spPr>
          <a:xfrm>
            <a:off x="791965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Google Shape;617;p46"/>
          <p:cNvSpPr/>
          <p:nvPr/>
        </p:nvSpPr>
        <p:spPr>
          <a:xfrm>
            <a:off x="807201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Google Shape;618;p46"/>
          <p:cNvSpPr/>
          <p:nvPr/>
        </p:nvSpPr>
        <p:spPr>
          <a:xfrm>
            <a:off x="822437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Google Shape;619;p46"/>
          <p:cNvSpPr/>
          <p:nvPr/>
        </p:nvSpPr>
        <p:spPr>
          <a:xfrm>
            <a:off x="837673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Google Shape;620;p46"/>
          <p:cNvSpPr/>
          <p:nvPr/>
        </p:nvSpPr>
        <p:spPr>
          <a:xfrm>
            <a:off x="852909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80892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536" y="640715"/>
            <a:ext cx="4165826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46082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799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219934" y="1464922"/>
            <a:ext cx="2157702" cy="9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399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批量图像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6300495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667906" y="106770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H’ x W’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批量输出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4645" y="1753365"/>
            <a:ext cx="3331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-dim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偏置向量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645112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660348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675584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690820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060562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卷积层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5" y="3498794"/>
            <a:ext cx="51494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055376" y="4671379"/>
            <a:ext cx="20186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滤波组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" name="Google Shape;481;p40"/>
          <p:cNvSpPr/>
          <p:nvPr/>
        </p:nvSpPr>
        <p:spPr>
          <a:xfrm>
            <a:off x="62630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Google Shape;566;p44"/>
          <p:cNvSpPr/>
          <p:nvPr/>
        </p:nvSpPr>
        <p:spPr>
          <a:xfrm>
            <a:off x="7769033" y="2058585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Google Shape;611;p46"/>
          <p:cNvSpPr/>
          <p:nvPr/>
        </p:nvSpPr>
        <p:spPr>
          <a:xfrm>
            <a:off x="791965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Google Shape;617;p46"/>
          <p:cNvSpPr/>
          <p:nvPr/>
        </p:nvSpPr>
        <p:spPr>
          <a:xfrm>
            <a:off x="807201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Google Shape;618;p46"/>
          <p:cNvSpPr/>
          <p:nvPr/>
        </p:nvSpPr>
        <p:spPr>
          <a:xfrm>
            <a:off x="822437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Google Shape;619;p46"/>
          <p:cNvSpPr/>
          <p:nvPr/>
        </p:nvSpPr>
        <p:spPr>
          <a:xfrm>
            <a:off x="837673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Google Shape;620;p46"/>
          <p:cNvSpPr/>
          <p:nvPr/>
        </p:nvSpPr>
        <p:spPr>
          <a:xfrm>
            <a:off x="852909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Google Shape;485;p40"/>
          <p:cNvSpPr txBox="1"/>
          <p:nvPr/>
        </p:nvSpPr>
        <p:spPr>
          <a:xfrm>
            <a:off x="6409004" y="4788946"/>
            <a:ext cx="538712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799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53502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6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656;p48"/>
          <p:cNvSpPr/>
          <p:nvPr/>
        </p:nvSpPr>
        <p:spPr>
          <a:xfrm>
            <a:off x="5702571" y="1912529"/>
            <a:ext cx="956151" cy="2757182"/>
          </a:xfrm>
          <a:prstGeom prst="cube">
            <a:avLst>
              <a:gd name="adj" fmla="val 77711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Google Shape;660;p48"/>
          <p:cNvSpPr txBox="1"/>
          <p:nvPr/>
        </p:nvSpPr>
        <p:spPr>
          <a:xfrm>
            <a:off x="5568420" y="4603461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Google Shape;661;p48"/>
          <p:cNvSpPr txBox="1"/>
          <p:nvPr/>
        </p:nvSpPr>
        <p:spPr>
          <a:xfrm>
            <a:off x="6315037" y="4211931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Google Shape;662;p48"/>
          <p:cNvSpPr txBox="1"/>
          <p:nvPr/>
        </p:nvSpPr>
        <p:spPr>
          <a:xfrm>
            <a:off x="6679242" y="213929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Google Shape;659;p48"/>
          <p:cNvSpPr txBox="1"/>
          <p:nvPr/>
        </p:nvSpPr>
        <p:spPr>
          <a:xfrm>
            <a:off x="8435714" y="2809363"/>
            <a:ext cx="628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….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410914" y="1065415"/>
            <a:ext cx="564907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卷积层级联</a:t>
            </a:r>
            <a:r>
              <a:rPr lang="en-US" dirty="0"/>
              <a:t>Stacking Convolutions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6 x 28 x 28</a:t>
            </a:r>
          </a:p>
        </p:txBody>
      </p:sp>
      <p:sp>
        <p:nvSpPr>
          <p:cNvPr id="44" name="Google Shape;649;p48"/>
          <p:cNvSpPr txBox="1"/>
          <p:nvPr/>
        </p:nvSpPr>
        <p:spPr>
          <a:xfrm>
            <a:off x="4022483" y="3740022"/>
            <a:ext cx="1562454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10x6x3x3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4285" y="4940782"/>
            <a:ext cx="165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第二隐藏层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10 x 26 x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33782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47" name="Google Shape;657;p48"/>
          <p:cNvCxnSpPr>
            <a:endCxn id="46" idx="1"/>
          </p:cNvCxnSpPr>
          <p:nvPr/>
        </p:nvCxnSpPr>
        <p:spPr>
          <a:xfrm>
            <a:off x="1406325" y="3192443"/>
            <a:ext cx="427457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" name="Google Shape;657;p48"/>
          <p:cNvCxnSpPr>
            <a:stCxn id="46" idx="3"/>
          </p:cNvCxnSpPr>
          <p:nvPr/>
        </p:nvCxnSpPr>
        <p:spPr>
          <a:xfrm flipV="1">
            <a:off x="2563790" y="3192443"/>
            <a:ext cx="361711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stCxn id="27" idx="0"/>
            <a:endCxn id="46" idx="2"/>
          </p:cNvCxnSpPr>
          <p:nvPr/>
        </p:nvCxnSpPr>
        <p:spPr>
          <a:xfrm flipV="1">
            <a:off x="2174981" y="3408745"/>
            <a:ext cx="23805" cy="33127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4472876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8" name="Google Shape;657;p48"/>
          <p:cNvCxnSpPr>
            <a:endCxn id="57" idx="1"/>
          </p:cNvCxnSpPr>
          <p:nvPr/>
        </p:nvCxnSpPr>
        <p:spPr>
          <a:xfrm>
            <a:off x="4045420" y="3192443"/>
            <a:ext cx="427456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" name="Google Shape;657;p48"/>
          <p:cNvCxnSpPr>
            <a:stCxn id="57" idx="3"/>
          </p:cNvCxnSpPr>
          <p:nvPr/>
        </p:nvCxnSpPr>
        <p:spPr>
          <a:xfrm flipV="1">
            <a:off x="5202884" y="3192443"/>
            <a:ext cx="361712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657;p48"/>
          <p:cNvCxnSpPr>
            <a:endCxn id="57" idx="2"/>
          </p:cNvCxnSpPr>
          <p:nvPr/>
        </p:nvCxnSpPr>
        <p:spPr>
          <a:xfrm flipV="1">
            <a:off x="4814075" y="3408745"/>
            <a:ext cx="23805" cy="33127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7206019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66" name="Google Shape;657;p48"/>
          <p:cNvCxnSpPr/>
          <p:nvPr/>
        </p:nvCxnSpPr>
        <p:spPr>
          <a:xfrm flipV="1">
            <a:off x="6778562" y="3189455"/>
            <a:ext cx="427457" cy="29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657;p48"/>
          <p:cNvCxnSpPr/>
          <p:nvPr/>
        </p:nvCxnSpPr>
        <p:spPr>
          <a:xfrm>
            <a:off x="7888417" y="3189455"/>
            <a:ext cx="409322" cy="29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657;p48"/>
          <p:cNvCxnSpPr/>
          <p:nvPr/>
        </p:nvCxnSpPr>
        <p:spPr>
          <a:xfrm flipV="1">
            <a:off x="7547218" y="3385662"/>
            <a:ext cx="0" cy="35436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49;p48"/>
          <p:cNvSpPr txBox="1"/>
          <p:nvPr/>
        </p:nvSpPr>
        <p:spPr>
          <a:xfrm>
            <a:off x="6881355" y="3740022"/>
            <a:ext cx="1712848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12x10x3x3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12</a:t>
            </a:r>
          </a:p>
        </p:txBody>
      </p:sp>
    </p:spTree>
    <p:extLst>
      <p:ext uri="{BB962C8B-B14F-4D97-AF65-F5344CB8AC3E}">
        <p14:creationId xmlns:p14="http://schemas.microsoft.com/office/powerpoint/2010/main" val="276490057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6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656;p48"/>
          <p:cNvSpPr/>
          <p:nvPr/>
        </p:nvSpPr>
        <p:spPr>
          <a:xfrm>
            <a:off x="5702571" y="1912529"/>
            <a:ext cx="956151" cy="2757182"/>
          </a:xfrm>
          <a:prstGeom prst="cube">
            <a:avLst>
              <a:gd name="adj" fmla="val 77711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Google Shape;660;p48"/>
          <p:cNvSpPr txBox="1"/>
          <p:nvPr/>
        </p:nvSpPr>
        <p:spPr>
          <a:xfrm>
            <a:off x="5568420" y="4603461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Google Shape;661;p48"/>
          <p:cNvSpPr txBox="1"/>
          <p:nvPr/>
        </p:nvSpPr>
        <p:spPr>
          <a:xfrm>
            <a:off x="6315037" y="4211931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Google Shape;662;p48"/>
          <p:cNvSpPr txBox="1"/>
          <p:nvPr/>
        </p:nvSpPr>
        <p:spPr>
          <a:xfrm>
            <a:off x="6679242" y="213929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Google Shape;659;p48"/>
          <p:cNvSpPr txBox="1"/>
          <p:nvPr/>
        </p:nvSpPr>
        <p:spPr>
          <a:xfrm>
            <a:off x="8435714" y="2809363"/>
            <a:ext cx="628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….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13130" y="399351"/>
            <a:ext cx="6052388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卷积层级联</a:t>
            </a:r>
            <a:r>
              <a:rPr lang="en-US" dirty="0"/>
              <a:t>Stacking Convolutions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6 x 28 x 28</a:t>
            </a:r>
          </a:p>
        </p:txBody>
      </p:sp>
      <p:sp>
        <p:nvSpPr>
          <p:cNvPr id="44" name="Google Shape;649;p48"/>
          <p:cNvSpPr txBox="1"/>
          <p:nvPr/>
        </p:nvSpPr>
        <p:spPr>
          <a:xfrm>
            <a:off x="4022483" y="3740022"/>
            <a:ext cx="1562454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10x6x3x3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4285" y="4940782"/>
            <a:ext cx="165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第二隐藏层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10 x 26 x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33782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47" name="Google Shape;657;p48"/>
          <p:cNvCxnSpPr>
            <a:endCxn id="46" idx="1"/>
          </p:cNvCxnSpPr>
          <p:nvPr/>
        </p:nvCxnSpPr>
        <p:spPr>
          <a:xfrm>
            <a:off x="1406325" y="3192443"/>
            <a:ext cx="427457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" name="Google Shape;657;p48"/>
          <p:cNvCxnSpPr>
            <a:stCxn id="46" idx="3"/>
          </p:cNvCxnSpPr>
          <p:nvPr/>
        </p:nvCxnSpPr>
        <p:spPr>
          <a:xfrm flipV="1">
            <a:off x="2563790" y="3192443"/>
            <a:ext cx="361711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stCxn id="27" idx="0"/>
            <a:endCxn id="46" idx="2"/>
          </p:cNvCxnSpPr>
          <p:nvPr/>
        </p:nvCxnSpPr>
        <p:spPr>
          <a:xfrm flipV="1">
            <a:off x="2174981" y="3408745"/>
            <a:ext cx="23805" cy="33127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4472876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8" name="Google Shape;657;p48"/>
          <p:cNvCxnSpPr>
            <a:endCxn id="57" idx="1"/>
          </p:cNvCxnSpPr>
          <p:nvPr/>
        </p:nvCxnSpPr>
        <p:spPr>
          <a:xfrm>
            <a:off x="4045420" y="3192443"/>
            <a:ext cx="427456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" name="Google Shape;657;p48"/>
          <p:cNvCxnSpPr>
            <a:stCxn id="57" idx="3"/>
          </p:cNvCxnSpPr>
          <p:nvPr/>
        </p:nvCxnSpPr>
        <p:spPr>
          <a:xfrm flipV="1">
            <a:off x="5202884" y="3192443"/>
            <a:ext cx="361712" cy="8553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657;p48"/>
          <p:cNvCxnSpPr>
            <a:endCxn id="57" idx="2"/>
          </p:cNvCxnSpPr>
          <p:nvPr/>
        </p:nvCxnSpPr>
        <p:spPr>
          <a:xfrm flipV="1">
            <a:off x="4814075" y="3408745"/>
            <a:ext cx="23805" cy="33127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7206019" y="2993247"/>
            <a:ext cx="730008" cy="4154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66" name="Google Shape;657;p48"/>
          <p:cNvCxnSpPr/>
          <p:nvPr/>
        </p:nvCxnSpPr>
        <p:spPr>
          <a:xfrm flipV="1">
            <a:off x="6778562" y="3189455"/>
            <a:ext cx="427457" cy="29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657;p48"/>
          <p:cNvCxnSpPr/>
          <p:nvPr/>
        </p:nvCxnSpPr>
        <p:spPr>
          <a:xfrm>
            <a:off x="7888417" y="3189455"/>
            <a:ext cx="409322" cy="29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657;p48"/>
          <p:cNvCxnSpPr/>
          <p:nvPr/>
        </p:nvCxnSpPr>
        <p:spPr>
          <a:xfrm flipV="1">
            <a:off x="7547218" y="3385662"/>
            <a:ext cx="0" cy="35436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49;p48"/>
          <p:cNvSpPr txBox="1"/>
          <p:nvPr/>
        </p:nvSpPr>
        <p:spPr>
          <a:xfrm>
            <a:off x="6881355" y="3740022"/>
            <a:ext cx="1712848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12x10x3x3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2E646E-E7B2-4DD6-9A73-B3C878FA1020}"/>
              </a:ext>
            </a:extLst>
          </p:cNvPr>
          <p:cNvSpPr txBox="1"/>
          <p:nvPr/>
        </p:nvSpPr>
        <p:spPr>
          <a:xfrm>
            <a:off x="4392351" y="951348"/>
            <a:ext cx="3154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多个卷积直接级联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?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一个卷积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!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Q: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如何修正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8E394B-7738-4901-8FE2-8FFE8506FAFC}"/>
              </a:ext>
            </a:extLst>
          </p:cNvPr>
          <p:cNvSpPr txBox="1"/>
          <p:nvPr/>
        </p:nvSpPr>
        <p:spPr>
          <a:xfrm>
            <a:off x="7206019" y="930634"/>
            <a:ext cx="1903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(y=W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等效为一个线性分类器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338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656;p48"/>
          <p:cNvSpPr/>
          <p:nvPr/>
        </p:nvSpPr>
        <p:spPr>
          <a:xfrm>
            <a:off x="5702571" y="1912529"/>
            <a:ext cx="956151" cy="2757182"/>
          </a:xfrm>
          <a:prstGeom prst="cube">
            <a:avLst>
              <a:gd name="adj" fmla="val 77711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Google Shape;660;p48"/>
          <p:cNvSpPr txBox="1"/>
          <p:nvPr/>
        </p:nvSpPr>
        <p:spPr>
          <a:xfrm>
            <a:off x="5568420" y="4603461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Google Shape;661;p48"/>
          <p:cNvSpPr txBox="1"/>
          <p:nvPr/>
        </p:nvSpPr>
        <p:spPr>
          <a:xfrm>
            <a:off x="6315037" y="4211931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Google Shape;662;p48"/>
          <p:cNvSpPr txBox="1"/>
          <p:nvPr/>
        </p:nvSpPr>
        <p:spPr>
          <a:xfrm>
            <a:off x="6679242" y="213929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Google Shape;659;p48"/>
          <p:cNvSpPr txBox="1"/>
          <p:nvPr/>
        </p:nvSpPr>
        <p:spPr>
          <a:xfrm>
            <a:off x="8435714" y="2809363"/>
            <a:ext cx="628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….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347463"/>
            <a:ext cx="659500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卷积层级联</a:t>
            </a:r>
            <a:r>
              <a:rPr lang="en-US" dirty="0"/>
              <a:t>Stacking Convolutions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6 x 28 x 28</a:t>
            </a:r>
          </a:p>
        </p:txBody>
      </p:sp>
      <p:sp>
        <p:nvSpPr>
          <p:cNvPr id="44" name="Google Shape;649;p48"/>
          <p:cNvSpPr txBox="1"/>
          <p:nvPr/>
        </p:nvSpPr>
        <p:spPr>
          <a:xfrm>
            <a:off x="4022483" y="3740022"/>
            <a:ext cx="1562454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10x6x3x3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4285" y="4940782"/>
            <a:ext cx="165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第二隐藏层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10 x 26 x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49;p48"/>
          <p:cNvSpPr txBox="1"/>
          <p:nvPr/>
        </p:nvSpPr>
        <p:spPr>
          <a:xfrm>
            <a:off x="6881355" y="3740022"/>
            <a:ext cx="1712848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12x10x3x3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6018" y="930634"/>
            <a:ext cx="1937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y=W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等效为一个线性分类器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" name="TextBox 53"/>
          <p:cNvSpPr txBox="1"/>
          <p:nvPr/>
        </p:nvSpPr>
        <p:spPr>
          <a:xfrm>
            <a:off x="4144375" y="2994694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5" name="Google Shape;657;p48"/>
          <p:cNvCxnSpPr/>
          <p:nvPr/>
        </p:nvCxnSpPr>
        <p:spPr>
          <a:xfrm>
            <a:off x="4749253" y="3167819"/>
            <a:ext cx="9889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" name="Google Shape;657;p48"/>
          <p:cNvCxnSpPr/>
          <p:nvPr/>
        </p:nvCxnSpPr>
        <p:spPr>
          <a:xfrm flipV="1">
            <a:off x="4444283" y="3340943"/>
            <a:ext cx="2531" cy="40052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4848146" y="2994694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2" name="Google Shape;657;p48"/>
          <p:cNvCxnSpPr/>
          <p:nvPr/>
        </p:nvCxnSpPr>
        <p:spPr>
          <a:xfrm>
            <a:off x="3974209" y="3167819"/>
            <a:ext cx="172987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57;p48"/>
          <p:cNvCxnSpPr/>
          <p:nvPr/>
        </p:nvCxnSpPr>
        <p:spPr>
          <a:xfrm flipV="1">
            <a:off x="5463556" y="3167819"/>
            <a:ext cx="170422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6923749" y="2996139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70" name="Google Shape;657;p48"/>
          <p:cNvCxnSpPr/>
          <p:nvPr/>
        </p:nvCxnSpPr>
        <p:spPr>
          <a:xfrm>
            <a:off x="7528627" y="3169264"/>
            <a:ext cx="9889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657;p48"/>
          <p:cNvCxnSpPr/>
          <p:nvPr/>
        </p:nvCxnSpPr>
        <p:spPr>
          <a:xfrm flipV="1">
            <a:off x="7223657" y="3342388"/>
            <a:ext cx="2531" cy="40052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TextBox 71"/>
          <p:cNvSpPr txBox="1"/>
          <p:nvPr/>
        </p:nvSpPr>
        <p:spPr>
          <a:xfrm>
            <a:off x="7627520" y="2996139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3" name="Google Shape;657;p48"/>
          <p:cNvCxnSpPr/>
          <p:nvPr/>
        </p:nvCxnSpPr>
        <p:spPr>
          <a:xfrm>
            <a:off x="6753583" y="3169264"/>
            <a:ext cx="172987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657;p48"/>
          <p:cNvCxnSpPr/>
          <p:nvPr/>
        </p:nvCxnSpPr>
        <p:spPr>
          <a:xfrm flipV="1">
            <a:off x="8242930" y="3169264"/>
            <a:ext cx="170422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4F09D96-86FC-41E0-AE3C-72098BF8B459}"/>
              </a:ext>
            </a:extLst>
          </p:cNvPr>
          <p:cNvSpPr txBox="1"/>
          <p:nvPr/>
        </p:nvSpPr>
        <p:spPr>
          <a:xfrm>
            <a:off x="4392351" y="951348"/>
            <a:ext cx="3154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多个卷积直接级联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?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一个卷积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!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Q: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如何修正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?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非线性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82564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656;p48"/>
          <p:cNvSpPr/>
          <p:nvPr/>
        </p:nvSpPr>
        <p:spPr>
          <a:xfrm>
            <a:off x="5702571" y="1912529"/>
            <a:ext cx="956151" cy="2757182"/>
          </a:xfrm>
          <a:prstGeom prst="cube">
            <a:avLst>
              <a:gd name="adj" fmla="val 77711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Google Shape;660;p48"/>
          <p:cNvSpPr txBox="1"/>
          <p:nvPr/>
        </p:nvSpPr>
        <p:spPr>
          <a:xfrm>
            <a:off x="5568420" y="4603461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Google Shape;661;p48"/>
          <p:cNvSpPr txBox="1"/>
          <p:nvPr/>
        </p:nvSpPr>
        <p:spPr>
          <a:xfrm>
            <a:off x="6315037" y="4211931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Google Shape;662;p48"/>
          <p:cNvSpPr txBox="1"/>
          <p:nvPr/>
        </p:nvSpPr>
        <p:spPr>
          <a:xfrm>
            <a:off x="6679242" y="213929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Google Shape;659;p48"/>
          <p:cNvSpPr txBox="1"/>
          <p:nvPr/>
        </p:nvSpPr>
        <p:spPr>
          <a:xfrm>
            <a:off x="8435714" y="2809363"/>
            <a:ext cx="628798" cy="5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….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卷积核可视化</a:t>
            </a:r>
            <a:r>
              <a:rPr lang="en-US" dirty="0"/>
              <a:t>?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6 x 28 x 28</a:t>
            </a:r>
          </a:p>
        </p:txBody>
      </p:sp>
      <p:sp>
        <p:nvSpPr>
          <p:cNvPr id="44" name="Google Shape;649;p48"/>
          <p:cNvSpPr txBox="1"/>
          <p:nvPr/>
        </p:nvSpPr>
        <p:spPr>
          <a:xfrm>
            <a:off x="4022483" y="3740022"/>
            <a:ext cx="1562454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10x6x3x3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4285" y="4940782"/>
            <a:ext cx="1651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第二隐藏层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10 x 26 x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49;p48"/>
          <p:cNvSpPr txBox="1"/>
          <p:nvPr/>
        </p:nvSpPr>
        <p:spPr>
          <a:xfrm>
            <a:off x="6881355" y="3740022"/>
            <a:ext cx="1712848" cy="77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12x10x3x3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" name="TextBox 53"/>
          <p:cNvSpPr txBox="1"/>
          <p:nvPr/>
        </p:nvSpPr>
        <p:spPr>
          <a:xfrm>
            <a:off x="4144375" y="2994694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5" name="Google Shape;657;p48"/>
          <p:cNvCxnSpPr/>
          <p:nvPr/>
        </p:nvCxnSpPr>
        <p:spPr>
          <a:xfrm>
            <a:off x="4749253" y="3167819"/>
            <a:ext cx="9889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" name="Google Shape;657;p48"/>
          <p:cNvCxnSpPr/>
          <p:nvPr/>
        </p:nvCxnSpPr>
        <p:spPr>
          <a:xfrm flipV="1">
            <a:off x="4444283" y="3340943"/>
            <a:ext cx="2531" cy="40052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4848146" y="2994694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2" name="Google Shape;657;p48"/>
          <p:cNvCxnSpPr/>
          <p:nvPr/>
        </p:nvCxnSpPr>
        <p:spPr>
          <a:xfrm>
            <a:off x="3974209" y="3167819"/>
            <a:ext cx="172987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57;p48"/>
          <p:cNvCxnSpPr/>
          <p:nvPr/>
        </p:nvCxnSpPr>
        <p:spPr>
          <a:xfrm flipV="1">
            <a:off x="5463556" y="3167819"/>
            <a:ext cx="170422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6923749" y="2996139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70" name="Google Shape;657;p48"/>
          <p:cNvCxnSpPr/>
          <p:nvPr/>
        </p:nvCxnSpPr>
        <p:spPr>
          <a:xfrm>
            <a:off x="7528627" y="3169264"/>
            <a:ext cx="9889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657;p48"/>
          <p:cNvCxnSpPr/>
          <p:nvPr/>
        </p:nvCxnSpPr>
        <p:spPr>
          <a:xfrm flipV="1">
            <a:off x="7223657" y="3342388"/>
            <a:ext cx="2531" cy="40052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TextBox 71"/>
          <p:cNvSpPr txBox="1"/>
          <p:nvPr/>
        </p:nvSpPr>
        <p:spPr>
          <a:xfrm>
            <a:off x="7627520" y="2996139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3" name="Google Shape;657;p48"/>
          <p:cNvCxnSpPr/>
          <p:nvPr/>
        </p:nvCxnSpPr>
        <p:spPr>
          <a:xfrm>
            <a:off x="6753583" y="3169264"/>
            <a:ext cx="172987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657;p48"/>
          <p:cNvCxnSpPr/>
          <p:nvPr/>
        </p:nvCxnSpPr>
        <p:spPr>
          <a:xfrm flipV="1">
            <a:off x="8242930" y="3169264"/>
            <a:ext cx="170422" cy="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1467092" y="3782751"/>
            <a:ext cx="1406324" cy="3819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88501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卷积核可视化</a:t>
            </a:r>
            <a:r>
              <a:rPr lang="en-US" dirty="0"/>
              <a:t>?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6 x 28 x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1467092" y="3782751"/>
            <a:ext cx="1406324" cy="3819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Google Shape;449;p61"/>
          <p:cNvPicPr preferRelativeResize="0"/>
          <p:nvPr/>
        </p:nvPicPr>
        <p:blipFill rotWithShape="1">
          <a:blip r:embed="rId2">
            <a:alphaModFix/>
          </a:blip>
          <a:srcRect r="50136"/>
          <a:stretch/>
        </p:blipFill>
        <p:spPr>
          <a:xfrm>
            <a:off x="4567037" y="2665829"/>
            <a:ext cx="4322364" cy="91692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pic>
        <p:nvPicPr>
          <p:cNvPr id="49" name="Google Shape;449;p61"/>
          <p:cNvPicPr preferRelativeResize="0"/>
          <p:nvPr/>
        </p:nvPicPr>
        <p:blipFill rotWithShape="1">
          <a:blip r:embed="rId2">
            <a:alphaModFix/>
          </a:blip>
          <a:srcRect l="49899" r="-15"/>
          <a:stretch/>
        </p:blipFill>
        <p:spPr>
          <a:xfrm>
            <a:off x="4556113" y="3676607"/>
            <a:ext cx="4344212" cy="91692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57" name="TextBox 56"/>
          <p:cNvSpPr txBox="1"/>
          <p:nvPr/>
        </p:nvSpPr>
        <p:spPr>
          <a:xfrm>
            <a:off x="4805433" y="2214751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线性分类器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每个类别一个模板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2842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卷积核可视化</a:t>
            </a:r>
            <a:r>
              <a:rPr lang="en-US" dirty="0"/>
              <a:t>?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6 x 28 x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1467092" y="3782751"/>
            <a:ext cx="1406324" cy="3819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48244" y="1645019"/>
            <a:ext cx="279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MLP: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整个图像的特征模板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7" t="1618" r="1061" b="4910"/>
          <a:stretch/>
        </p:blipFill>
        <p:spPr>
          <a:xfrm>
            <a:off x="5097192" y="1991267"/>
            <a:ext cx="3529445" cy="352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53917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卷积核可视化</a:t>
            </a:r>
            <a:r>
              <a:rPr lang="en-US" dirty="0"/>
              <a:t>?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6 x 28 x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1467092" y="3782751"/>
            <a:ext cx="1406324" cy="3819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227765" y="1646541"/>
            <a:ext cx="3300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第一卷积层权重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局部图像模板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有方向的边缘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相反的颜色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</p:txBody>
      </p:sp>
      <p:pic>
        <p:nvPicPr>
          <p:cNvPr id="1026" name="Picture 2" descr="https://lh3.googleusercontent.com/6SDufmNatRKAaxNJWGsaWdSAGFtPthQHMADKkjtW7g-cNaC__eQc0rV3ejOPA7SQmL9WFAkZrj6eb4Z81j5PzqqxLFWHXK5mZxrdciJaHjwpaQgzQvY5lB_8QcirvXGGU1GvMuXO6A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723" y="2292253"/>
            <a:ext cx="2803801" cy="280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94293" y="5120697"/>
            <a:ext cx="352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AlexNet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64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每个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3x11x11</a:t>
            </a:r>
          </a:p>
        </p:txBody>
      </p:sp>
    </p:spTree>
    <p:extLst>
      <p:ext uri="{BB962C8B-B14F-4D97-AF65-F5344CB8AC3E}">
        <p14:creationId xmlns:p14="http://schemas.microsoft.com/office/powerpoint/2010/main" val="175184966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Google Shape;644;p48"/>
          <p:cNvSpPr/>
          <p:nvPr/>
        </p:nvSpPr>
        <p:spPr>
          <a:xfrm>
            <a:off x="446141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Google Shape;645;p48"/>
          <p:cNvSpPr txBox="1"/>
          <p:nvPr/>
        </p:nvSpPr>
        <p:spPr>
          <a:xfrm>
            <a:off x="1058607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Google Shape;646;p48"/>
          <p:cNvSpPr txBox="1"/>
          <p:nvPr/>
        </p:nvSpPr>
        <p:spPr>
          <a:xfrm>
            <a:off x="1422812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647;p48"/>
          <p:cNvSpPr txBox="1"/>
          <p:nvPr/>
        </p:nvSpPr>
        <p:spPr>
          <a:xfrm>
            <a:off x="388169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Google Shape;649;p48"/>
          <p:cNvSpPr txBox="1"/>
          <p:nvPr/>
        </p:nvSpPr>
        <p:spPr>
          <a:xfrm>
            <a:off x="1447847" y="3740022"/>
            <a:ext cx="1454267" cy="79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6x3x5x5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sz="195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6</a:t>
            </a:r>
          </a:p>
        </p:txBody>
      </p:sp>
      <p:sp>
        <p:nvSpPr>
          <p:cNvPr id="28" name="Google Shape;650;p48"/>
          <p:cNvSpPr/>
          <p:nvPr/>
        </p:nvSpPr>
        <p:spPr>
          <a:xfrm>
            <a:off x="2960086" y="1836349"/>
            <a:ext cx="956151" cy="2757182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Google Shape;651;p48"/>
          <p:cNvSpPr txBox="1"/>
          <p:nvPr/>
        </p:nvSpPr>
        <p:spPr>
          <a:xfrm>
            <a:off x="3572552" y="4135750"/>
            <a:ext cx="49157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Google Shape;652;p48"/>
          <p:cNvSpPr txBox="1"/>
          <p:nvPr/>
        </p:nvSpPr>
        <p:spPr>
          <a:xfrm>
            <a:off x="3936756" y="2063115"/>
            <a:ext cx="491572" cy="2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28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653;p48"/>
          <p:cNvSpPr txBox="1"/>
          <p:nvPr/>
        </p:nvSpPr>
        <p:spPr>
          <a:xfrm>
            <a:off x="2902114" y="4527280"/>
            <a:ext cx="491572" cy="1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-1524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3 x 32 x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6490" y="4940782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6 x 28 x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5219" y="2993247"/>
            <a:ext cx="652102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Conv</a:t>
            </a:r>
          </a:p>
        </p:txBody>
      </p:sp>
      <p:cxnSp>
        <p:nvCxnSpPr>
          <p:cNvPr id="50" name="Google Shape;657;p48"/>
          <p:cNvCxnSpPr>
            <a:stCxn id="46" idx="3"/>
            <a:endCxn id="48" idx="1"/>
          </p:cNvCxnSpPr>
          <p:nvPr/>
        </p:nvCxnSpPr>
        <p:spPr>
          <a:xfrm>
            <a:off x="2147321" y="3177913"/>
            <a:ext cx="51670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657;p48"/>
          <p:cNvCxnSpPr>
            <a:endCxn id="46" idx="2"/>
          </p:cNvCxnSpPr>
          <p:nvPr/>
        </p:nvCxnSpPr>
        <p:spPr>
          <a:xfrm flipV="1">
            <a:off x="1795128" y="3362579"/>
            <a:ext cx="26142" cy="37744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198991" y="2993247"/>
            <a:ext cx="661400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ReLU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1" name="Google Shape;657;p48"/>
          <p:cNvCxnSpPr/>
          <p:nvPr/>
        </p:nvCxnSpPr>
        <p:spPr>
          <a:xfrm flipV="1">
            <a:off x="1415744" y="3166372"/>
            <a:ext cx="82296" cy="144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657;p48"/>
          <p:cNvCxnSpPr>
            <a:stCxn id="48" idx="3"/>
          </p:cNvCxnSpPr>
          <p:nvPr/>
        </p:nvCxnSpPr>
        <p:spPr>
          <a:xfrm flipV="1">
            <a:off x="2860391" y="3166372"/>
            <a:ext cx="61261" cy="1154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616175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767214" cy="9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3x3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7489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767214" cy="9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</p:txBody>
      </p:sp>
    </p:spTree>
    <p:extLst>
      <p:ext uri="{BB962C8B-B14F-4D97-AF65-F5344CB8AC3E}">
        <p14:creationId xmlns:p14="http://schemas.microsoft.com/office/powerpoint/2010/main" val="133370790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767214" cy="9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</p:txBody>
      </p:sp>
    </p:spTree>
    <p:extLst>
      <p:ext uri="{BB962C8B-B14F-4D97-AF65-F5344CB8AC3E}">
        <p14:creationId xmlns:p14="http://schemas.microsoft.com/office/powerpoint/2010/main" val="249587080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767214" cy="9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</p:txBody>
      </p:sp>
    </p:spTree>
    <p:extLst>
      <p:ext uri="{BB962C8B-B14F-4D97-AF65-F5344CB8AC3E}">
        <p14:creationId xmlns:p14="http://schemas.microsoft.com/office/powerpoint/2010/main" val="33955374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975559" cy="13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29930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745;p54"/>
          <p:cNvSpPr txBox="1"/>
          <p:nvPr/>
        </p:nvSpPr>
        <p:spPr>
          <a:xfrm>
            <a:off x="1897830" y="512210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Google Shape;745;p54"/>
          <p:cNvSpPr txBox="1"/>
          <p:nvPr/>
        </p:nvSpPr>
        <p:spPr>
          <a:xfrm>
            <a:off x="3711797" y="3334689"/>
            <a:ext cx="548557" cy="45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975559" cy="13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744;p54"/>
          <p:cNvSpPr txBox="1"/>
          <p:nvPr/>
        </p:nvSpPr>
        <p:spPr>
          <a:xfrm>
            <a:off x="4652756" y="3194893"/>
            <a:ext cx="3285669" cy="1441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6586" y="3150137"/>
            <a:ext cx="210876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问题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尺寸变小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14250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743;p54"/>
          <p:cNvGraphicFramePr/>
          <p:nvPr/>
        </p:nvGraphicFramePr>
        <p:xfrm>
          <a:off x="185918" y="1578734"/>
          <a:ext cx="3963609" cy="39769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13706" y="906528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975559" cy="13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744;p54"/>
          <p:cNvSpPr txBox="1"/>
          <p:nvPr/>
        </p:nvSpPr>
        <p:spPr>
          <a:xfrm>
            <a:off x="4652756" y="3194893"/>
            <a:ext cx="3285669" cy="1441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06586" y="3150137"/>
            <a:ext cx="212781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问题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尺寸变小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17291" y="4831192"/>
            <a:ext cx="13949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方法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12959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743;p54"/>
          <p:cNvGraphicFramePr/>
          <p:nvPr/>
        </p:nvGraphicFramePr>
        <p:xfrm>
          <a:off x="185918" y="1578734"/>
          <a:ext cx="3963609" cy="39769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4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/>
                    </a:p>
                  </a:txBody>
                  <a:tcPr marL="91401" marR="91401" marT="91401" marB="91401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/>
                        <a:t>0</a:t>
                      </a:r>
                      <a:endParaRPr sz="1700" dirty="0"/>
                    </a:p>
                  </a:txBody>
                  <a:tcPr marL="91401" marR="91401" marT="91401" marB="91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941482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空域维度处理</a:t>
            </a:r>
            <a:endParaRPr lang="en-US" dirty="0"/>
          </a:p>
        </p:txBody>
      </p:sp>
      <p:sp>
        <p:nvSpPr>
          <p:cNvPr id="34" name="Google Shape;744;p54"/>
          <p:cNvSpPr txBox="1"/>
          <p:nvPr/>
        </p:nvSpPr>
        <p:spPr>
          <a:xfrm>
            <a:off x="5307811" y="1706178"/>
            <a:ext cx="1975559" cy="13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5x5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744;p54"/>
          <p:cNvSpPr txBox="1"/>
          <p:nvPr/>
        </p:nvSpPr>
        <p:spPr>
          <a:xfrm>
            <a:off x="4652755" y="3194893"/>
            <a:ext cx="3871999" cy="189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P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+ 1 + 2P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6587" y="3194893"/>
            <a:ext cx="2524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通常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设置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P = (K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1) / 2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使得输出尺寸与输入尺寸一致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26102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感受野</a:t>
            </a:r>
            <a:endParaRPr lang="en-US" dirty="0"/>
          </a:p>
        </p:txBody>
      </p:sp>
      <p:graphicFrame>
        <p:nvGraphicFramePr>
          <p:cNvPr id="12" name="Google Shape;743;p54"/>
          <p:cNvGraphicFramePr/>
          <p:nvPr/>
        </p:nvGraphicFramePr>
        <p:xfrm>
          <a:off x="2469662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Google Shape;743;p54"/>
          <p:cNvGraphicFramePr/>
          <p:nvPr/>
        </p:nvGraphicFramePr>
        <p:xfrm>
          <a:off x="472817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53739" y="4427875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08881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33932" y="1702886"/>
            <a:ext cx="5357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对于核大小为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的卷积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输出中的每个元素依赖于输入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x K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感受野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区域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3543300" y="2688301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223166" y="2934384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55031" y="2694613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3549000" y="3246559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32767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743;p54"/>
          <p:cNvGraphicFramePr/>
          <p:nvPr/>
        </p:nvGraphicFramePr>
        <p:xfrm>
          <a:off x="211151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感受野</a:t>
            </a:r>
            <a:endParaRPr lang="en-US" dirty="0"/>
          </a:p>
        </p:txBody>
      </p:sp>
      <p:graphicFrame>
        <p:nvGraphicFramePr>
          <p:cNvPr id="12" name="Google Shape;743;p54"/>
          <p:cNvGraphicFramePr/>
          <p:nvPr/>
        </p:nvGraphicFramePr>
        <p:xfrm>
          <a:off x="2469662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Google Shape;743;p54"/>
          <p:cNvGraphicFramePr/>
          <p:nvPr/>
        </p:nvGraphicFramePr>
        <p:xfrm>
          <a:off x="472817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Google Shape;743;p54"/>
          <p:cNvGraphicFramePr/>
          <p:nvPr/>
        </p:nvGraphicFramePr>
        <p:xfrm>
          <a:off x="698668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269378" y="2970034"/>
            <a:ext cx="807335" cy="844142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91300" y="3245453"/>
            <a:ext cx="280513" cy="293302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229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70372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543300" y="2688301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094081" y="3531640"/>
            <a:ext cx="1744879" cy="282536"/>
          </a:xfrm>
          <a:prstGeom prst="line">
            <a:avLst/>
          </a:prstGeom>
          <a:ln w="635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23166" y="2934384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71517" y="3491416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55031" y="2694613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39374" y="3230462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6193994" y="3093939"/>
            <a:ext cx="1711606" cy="265814"/>
          </a:xfrm>
          <a:prstGeom prst="line">
            <a:avLst/>
          </a:prstGeom>
          <a:ln w="635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549000" y="3246559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058805" y="3230168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064505" y="3788426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12370" y="2655001"/>
            <a:ext cx="321530" cy="33618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64219" y="3758937"/>
            <a:ext cx="321530" cy="33618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287592" y="3492340"/>
            <a:ext cx="807335" cy="844142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2594" y="2417341"/>
            <a:ext cx="807335" cy="844142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013904" y="2415486"/>
            <a:ext cx="1711606" cy="265814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019604" y="2973744"/>
            <a:ext cx="1744879" cy="282536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057124" y="3502088"/>
            <a:ext cx="1711606" cy="265814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2062824" y="4060346"/>
            <a:ext cx="1744879" cy="282536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6821" y="1680012"/>
            <a:ext cx="3927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每个连续卷积加上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 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到感受野之中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层的感受野共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+ L * (K 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5777" y="4885416"/>
            <a:ext cx="34988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注意 </a:t>
            </a:r>
            <a:r>
              <a:rPr kumimoji="0" lang="mr-I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”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输入感受野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vs “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前一层感受野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”!</a:t>
            </a:r>
          </a:p>
        </p:txBody>
      </p:sp>
    </p:spTree>
    <p:extLst>
      <p:ext uri="{BB962C8B-B14F-4D97-AF65-F5344CB8AC3E}">
        <p14:creationId xmlns:p14="http://schemas.microsoft.com/office/powerpoint/2010/main" val="264246135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743;p54"/>
          <p:cNvGraphicFramePr/>
          <p:nvPr/>
        </p:nvGraphicFramePr>
        <p:xfrm>
          <a:off x="211151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感受野</a:t>
            </a:r>
            <a:endParaRPr lang="en-US" dirty="0"/>
          </a:p>
        </p:txBody>
      </p:sp>
      <p:graphicFrame>
        <p:nvGraphicFramePr>
          <p:cNvPr id="12" name="Google Shape;743;p54"/>
          <p:cNvGraphicFramePr/>
          <p:nvPr/>
        </p:nvGraphicFramePr>
        <p:xfrm>
          <a:off x="2469662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Google Shape;743;p54"/>
          <p:cNvGraphicFramePr/>
          <p:nvPr/>
        </p:nvGraphicFramePr>
        <p:xfrm>
          <a:off x="472817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Google Shape;743;p54"/>
          <p:cNvGraphicFramePr/>
          <p:nvPr/>
        </p:nvGraphicFramePr>
        <p:xfrm>
          <a:off x="698668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269378" y="2970034"/>
            <a:ext cx="807335" cy="844142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91300" y="3245453"/>
            <a:ext cx="280513" cy="293302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229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70372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543300" y="2688301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094081" y="3531640"/>
            <a:ext cx="1744879" cy="282536"/>
          </a:xfrm>
          <a:prstGeom prst="line">
            <a:avLst/>
          </a:prstGeom>
          <a:ln w="635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23166" y="2934384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71517" y="3491416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55031" y="2694613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39374" y="3230462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6193994" y="3093939"/>
            <a:ext cx="1711606" cy="265814"/>
          </a:xfrm>
          <a:prstGeom prst="line">
            <a:avLst/>
          </a:prstGeom>
          <a:ln w="635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549000" y="3246559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058805" y="3230168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064505" y="3788426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12370" y="2655001"/>
            <a:ext cx="321530" cy="33618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64219" y="3758937"/>
            <a:ext cx="321530" cy="33618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287592" y="3492340"/>
            <a:ext cx="807335" cy="844142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2594" y="2417341"/>
            <a:ext cx="807335" cy="844142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013904" y="2415486"/>
            <a:ext cx="1711606" cy="265814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019604" y="2973744"/>
            <a:ext cx="1744879" cy="282536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057124" y="3502088"/>
            <a:ext cx="1711606" cy="265814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2062824" y="4060346"/>
            <a:ext cx="1744879" cy="282536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6821" y="1680012"/>
            <a:ext cx="3927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每个连续卷积加上</a:t>
            </a:r>
            <a:r>
              <a:rPr lang="en-US" altLang="zh-CN" dirty="0">
                <a:solidFill>
                  <a:prstClr val="black"/>
                </a:solidFill>
              </a:rPr>
              <a:t>K </a:t>
            </a:r>
            <a:r>
              <a:rPr lang="mr-IN" altLang="zh-CN" dirty="0">
                <a:solidFill>
                  <a:prstClr val="black"/>
                </a:solidFill>
              </a:rPr>
              <a:t>–</a:t>
            </a:r>
            <a:r>
              <a:rPr lang="en-US" altLang="zh-CN" dirty="0">
                <a:solidFill>
                  <a:prstClr val="black"/>
                </a:solidFill>
              </a:rPr>
              <a:t> 1 </a:t>
            </a:r>
            <a:r>
              <a:rPr lang="zh-CN" altLang="en-US" dirty="0">
                <a:solidFill>
                  <a:prstClr val="black"/>
                </a:solidFill>
              </a:rPr>
              <a:t>到感受野之中</a:t>
            </a:r>
            <a:endParaRPr lang="en-US" altLang="zh-CN" dirty="0">
              <a:solidFill>
                <a:prstClr val="black"/>
              </a:solidFill>
            </a:endParaRPr>
          </a:p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L </a:t>
            </a:r>
            <a:r>
              <a:rPr lang="zh-CN" altLang="en-US" dirty="0">
                <a:solidFill>
                  <a:prstClr val="black"/>
                </a:solidFill>
              </a:rPr>
              <a:t>层的感受野共 </a:t>
            </a:r>
            <a:r>
              <a:rPr lang="en-US" altLang="zh-CN" dirty="0">
                <a:solidFill>
                  <a:prstClr val="black"/>
                </a:solidFill>
              </a:rPr>
              <a:t>1 + L * (K </a:t>
            </a:r>
            <a:r>
              <a:rPr lang="mr-IN" altLang="zh-CN" dirty="0">
                <a:solidFill>
                  <a:prstClr val="black"/>
                </a:solidFill>
              </a:rPr>
              <a:t>–</a:t>
            </a:r>
            <a:r>
              <a:rPr lang="en-US" altLang="zh-CN" dirty="0">
                <a:solidFill>
                  <a:prstClr val="black"/>
                </a:solidFill>
              </a:rPr>
              <a:t>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3419" y="4522564"/>
            <a:ext cx="469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对于大图像，需要多层使得每个输出能够“看到”整个图像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45717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743;p54"/>
          <p:cNvGraphicFramePr/>
          <p:nvPr/>
        </p:nvGraphicFramePr>
        <p:xfrm>
          <a:off x="211151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感受野</a:t>
            </a:r>
            <a:endParaRPr lang="en-US" dirty="0"/>
          </a:p>
        </p:txBody>
      </p:sp>
      <p:graphicFrame>
        <p:nvGraphicFramePr>
          <p:cNvPr id="12" name="Google Shape;743;p54"/>
          <p:cNvGraphicFramePr/>
          <p:nvPr/>
        </p:nvGraphicFramePr>
        <p:xfrm>
          <a:off x="2469662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Google Shape;743;p54"/>
          <p:cNvGraphicFramePr/>
          <p:nvPr/>
        </p:nvGraphicFramePr>
        <p:xfrm>
          <a:off x="472817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Google Shape;743;p54"/>
          <p:cNvGraphicFramePr/>
          <p:nvPr/>
        </p:nvGraphicFramePr>
        <p:xfrm>
          <a:off x="698668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269378" y="2970034"/>
            <a:ext cx="807335" cy="844142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91300" y="3245453"/>
            <a:ext cx="280513" cy="293302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229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70372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543300" y="2688301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094081" y="3531640"/>
            <a:ext cx="1744879" cy="282536"/>
          </a:xfrm>
          <a:prstGeom prst="line">
            <a:avLst/>
          </a:prstGeom>
          <a:ln w="635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23166" y="2934384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71517" y="3491416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55031" y="2694613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39374" y="3230462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6193994" y="3093939"/>
            <a:ext cx="1711606" cy="265814"/>
          </a:xfrm>
          <a:prstGeom prst="line">
            <a:avLst/>
          </a:prstGeom>
          <a:ln w="635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549000" y="3246559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058805" y="3230168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064505" y="3788426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12370" y="2655001"/>
            <a:ext cx="321530" cy="33618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64219" y="3758937"/>
            <a:ext cx="321530" cy="33618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287592" y="3492340"/>
            <a:ext cx="807335" cy="844142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2594" y="2417341"/>
            <a:ext cx="807335" cy="844142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013904" y="2415486"/>
            <a:ext cx="1711606" cy="265814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019604" y="2973744"/>
            <a:ext cx="1744879" cy="282536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057124" y="3502088"/>
            <a:ext cx="1711606" cy="265814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2062824" y="4060346"/>
            <a:ext cx="1744879" cy="282536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6821" y="1680012"/>
            <a:ext cx="3927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每个连续卷积加上</a:t>
            </a:r>
            <a:r>
              <a:rPr lang="en-US" altLang="zh-CN" dirty="0">
                <a:solidFill>
                  <a:prstClr val="black"/>
                </a:solidFill>
              </a:rPr>
              <a:t>K </a:t>
            </a:r>
            <a:r>
              <a:rPr lang="mr-IN" altLang="zh-CN" dirty="0">
                <a:solidFill>
                  <a:prstClr val="black"/>
                </a:solidFill>
              </a:rPr>
              <a:t>–</a:t>
            </a:r>
            <a:r>
              <a:rPr lang="en-US" altLang="zh-CN" dirty="0">
                <a:solidFill>
                  <a:prstClr val="black"/>
                </a:solidFill>
              </a:rPr>
              <a:t> 1 </a:t>
            </a:r>
            <a:r>
              <a:rPr lang="zh-CN" altLang="en-US" dirty="0">
                <a:solidFill>
                  <a:prstClr val="black"/>
                </a:solidFill>
              </a:rPr>
              <a:t>到感受野之中</a:t>
            </a:r>
            <a:endParaRPr lang="en-US" altLang="zh-CN" dirty="0">
              <a:solidFill>
                <a:prstClr val="black"/>
              </a:solidFill>
            </a:endParaRPr>
          </a:p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L </a:t>
            </a:r>
            <a:r>
              <a:rPr lang="zh-CN" altLang="en-US" dirty="0">
                <a:solidFill>
                  <a:prstClr val="black"/>
                </a:solidFill>
              </a:rPr>
              <a:t>层的感受野共 </a:t>
            </a:r>
            <a:r>
              <a:rPr lang="en-US" altLang="zh-CN" dirty="0">
                <a:solidFill>
                  <a:prstClr val="black"/>
                </a:solidFill>
              </a:rPr>
              <a:t>1 + L * (K </a:t>
            </a:r>
            <a:r>
              <a:rPr lang="mr-IN" altLang="zh-CN" dirty="0">
                <a:solidFill>
                  <a:prstClr val="black"/>
                </a:solidFill>
              </a:rPr>
              <a:t>–</a:t>
            </a:r>
            <a:r>
              <a:rPr lang="en-US" altLang="zh-CN" dirty="0">
                <a:solidFill>
                  <a:prstClr val="black"/>
                </a:solidFill>
              </a:rPr>
              <a:t>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3419" y="4522564"/>
            <a:ext cx="469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srgbClr val="C00000"/>
                </a:solidFill>
              </a:rPr>
              <a:t>问题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zh-CN" altLang="en-US" dirty="0">
                <a:solidFill>
                  <a:srgbClr val="C00000"/>
                </a:solidFill>
              </a:rPr>
              <a:t>对于大图像，需要多层使得每个输出能够“看到”整个图像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19849" y="5156729"/>
            <a:ext cx="415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方案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下采样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51464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2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88166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步长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2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63551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步长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2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Google Shape;744;p54"/>
          <p:cNvSpPr txBox="1"/>
          <p:nvPr/>
        </p:nvSpPr>
        <p:spPr>
          <a:xfrm>
            <a:off x="6645724" y="2019766"/>
            <a:ext cx="1991883" cy="5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3x3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74656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步长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2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Google Shape;744;p54"/>
          <p:cNvSpPr txBox="1"/>
          <p:nvPr/>
        </p:nvSpPr>
        <p:spPr>
          <a:xfrm>
            <a:off x="6645724" y="2019766"/>
            <a:ext cx="1991883" cy="5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3x3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48023" y="3200450"/>
            <a:ext cx="3672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P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步长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(W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+ 2P) / S + 1</a:t>
            </a:r>
          </a:p>
        </p:txBody>
      </p:sp>
    </p:spTree>
    <p:extLst>
      <p:ext uri="{BB962C8B-B14F-4D97-AF65-F5344CB8AC3E}">
        <p14:creationId xmlns:p14="http://schemas.microsoft.com/office/powerpoint/2010/main" val="182562752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6555392" cy="29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5x5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组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步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长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1,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2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输出大小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?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73293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6555392" cy="29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组步长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大小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+2*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-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)/</a:t>
            </a:r>
            <a:r>
              <a:rPr kumimoji="0" lang="en" sz="27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+1 = 32, </a:t>
            </a:r>
            <a:r>
              <a:rPr kumimoji="0" lang="zh-CN" alt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所以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83849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5397953" cy="29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5x5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滤波组步长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?</a:t>
            </a: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78554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8082964" cy="335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滤波组步长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760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每个滤波核参数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+ 1 (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偏置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=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个滤波核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所以总共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*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76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760</a:t>
            </a: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70972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8082964" cy="335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5x5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滤波组步长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10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760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乘法次数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?</a:t>
            </a: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7294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8941253" cy="335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滤波组步长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填充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760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乘法次数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768,000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10*32*32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10,240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每个输出是两个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张量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(75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个元素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的点积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75*10240 =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768K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71695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1x1 </a:t>
            </a:r>
            <a:r>
              <a:rPr lang="zh-CN" altLang="en-US" dirty="0"/>
              <a:t>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62;p75"/>
          <p:cNvSpPr/>
          <p:nvPr/>
        </p:nvSpPr>
        <p:spPr>
          <a:xfrm>
            <a:off x="1074524" y="2051951"/>
            <a:ext cx="1685561" cy="2701997"/>
          </a:xfrm>
          <a:prstGeom prst="cube">
            <a:avLst>
              <a:gd name="adj" fmla="val 41438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963;p75"/>
          <p:cNvSpPr txBox="1"/>
          <p:nvPr/>
        </p:nvSpPr>
        <p:spPr>
          <a:xfrm>
            <a:off x="1328708" y="4717982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64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Google Shape;964;p75"/>
          <p:cNvSpPr txBox="1"/>
          <p:nvPr/>
        </p:nvSpPr>
        <p:spPr>
          <a:xfrm>
            <a:off x="2362264" y="4328959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965;p75"/>
          <p:cNvSpPr txBox="1"/>
          <p:nvPr/>
        </p:nvSpPr>
        <p:spPr>
          <a:xfrm>
            <a:off x="2765384" y="2893420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Google Shape;966;p75"/>
          <p:cNvCxnSpPr/>
          <p:nvPr/>
        </p:nvCxnSpPr>
        <p:spPr>
          <a:xfrm>
            <a:off x="3936879" y="3430242"/>
            <a:ext cx="155629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967;p75"/>
          <p:cNvSpPr txBox="1"/>
          <p:nvPr/>
        </p:nvSpPr>
        <p:spPr>
          <a:xfrm>
            <a:off x="3990564" y="2664892"/>
            <a:ext cx="1780037" cy="42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1x1 CONV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滤波核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Google Shape;968;p75"/>
          <p:cNvSpPr/>
          <p:nvPr/>
        </p:nvSpPr>
        <p:spPr>
          <a:xfrm>
            <a:off x="6244953" y="2051951"/>
            <a:ext cx="1149001" cy="2701997"/>
          </a:xfrm>
          <a:prstGeom prst="cube">
            <a:avLst>
              <a:gd name="adj" fmla="val 49731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Google Shape;969;p75"/>
          <p:cNvSpPr txBox="1"/>
          <p:nvPr/>
        </p:nvSpPr>
        <p:spPr>
          <a:xfrm>
            <a:off x="6267146" y="4717982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Google Shape;970;p75"/>
          <p:cNvSpPr txBox="1"/>
          <p:nvPr/>
        </p:nvSpPr>
        <p:spPr>
          <a:xfrm>
            <a:off x="7224522" y="4405139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Google Shape;971;p75"/>
          <p:cNvSpPr txBox="1"/>
          <p:nvPr/>
        </p:nvSpPr>
        <p:spPr>
          <a:xfrm>
            <a:off x="7600499" y="3072374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Google Shape;972;p75"/>
          <p:cNvSpPr txBox="1"/>
          <p:nvPr/>
        </p:nvSpPr>
        <p:spPr>
          <a:xfrm>
            <a:off x="3587769" y="3447688"/>
            <a:ext cx="2853457" cy="60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每个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滤波核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1x1x64,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执行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64-dimensional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点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积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981679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举例</a:t>
            </a:r>
            <a:r>
              <a:rPr lang="en-US" altLang="zh-CN" dirty="0"/>
              <a:t>: 1x1 </a:t>
            </a:r>
            <a:r>
              <a:rPr lang="zh-CN" altLang="en-US" dirty="0"/>
              <a:t>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62;p75"/>
          <p:cNvSpPr/>
          <p:nvPr/>
        </p:nvSpPr>
        <p:spPr>
          <a:xfrm>
            <a:off x="1074524" y="2051951"/>
            <a:ext cx="1685561" cy="2701997"/>
          </a:xfrm>
          <a:prstGeom prst="cube">
            <a:avLst>
              <a:gd name="adj" fmla="val 41438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963;p75"/>
          <p:cNvSpPr txBox="1"/>
          <p:nvPr/>
        </p:nvSpPr>
        <p:spPr>
          <a:xfrm>
            <a:off x="1328708" y="4717982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64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Google Shape;964;p75"/>
          <p:cNvSpPr txBox="1"/>
          <p:nvPr/>
        </p:nvSpPr>
        <p:spPr>
          <a:xfrm>
            <a:off x="2362264" y="4328959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965;p75"/>
          <p:cNvSpPr txBox="1"/>
          <p:nvPr/>
        </p:nvSpPr>
        <p:spPr>
          <a:xfrm>
            <a:off x="2765384" y="2893420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Google Shape;966;p75"/>
          <p:cNvCxnSpPr/>
          <p:nvPr/>
        </p:nvCxnSpPr>
        <p:spPr>
          <a:xfrm>
            <a:off x="3936879" y="3430242"/>
            <a:ext cx="155629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967;p75"/>
          <p:cNvSpPr txBox="1"/>
          <p:nvPr/>
        </p:nvSpPr>
        <p:spPr>
          <a:xfrm>
            <a:off x="3990564" y="2664892"/>
            <a:ext cx="1780037" cy="42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1x1 CONV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个滤波核</a:t>
            </a:r>
          </a:p>
        </p:txBody>
      </p:sp>
      <p:sp>
        <p:nvSpPr>
          <p:cNvPr id="10" name="Google Shape;968;p75"/>
          <p:cNvSpPr/>
          <p:nvPr/>
        </p:nvSpPr>
        <p:spPr>
          <a:xfrm>
            <a:off x="6244953" y="2051951"/>
            <a:ext cx="1149001" cy="2701997"/>
          </a:xfrm>
          <a:prstGeom prst="cube">
            <a:avLst>
              <a:gd name="adj" fmla="val 49731"/>
            </a:avLst>
          </a:prstGeom>
          <a:solidFill>
            <a:srgbClr val="C9DAF8">
              <a:alpha val="4269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Google Shape;969;p75"/>
          <p:cNvSpPr txBox="1"/>
          <p:nvPr/>
        </p:nvSpPr>
        <p:spPr>
          <a:xfrm>
            <a:off x="6267146" y="4717982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32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Google Shape;970;p75"/>
          <p:cNvSpPr txBox="1"/>
          <p:nvPr/>
        </p:nvSpPr>
        <p:spPr>
          <a:xfrm>
            <a:off x="7224522" y="4405139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Google Shape;971;p75"/>
          <p:cNvSpPr txBox="1"/>
          <p:nvPr/>
        </p:nvSpPr>
        <p:spPr>
          <a:xfrm>
            <a:off x="7600499" y="3072374"/>
            <a:ext cx="482874" cy="34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56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Google Shape;972;p75"/>
          <p:cNvSpPr txBox="1"/>
          <p:nvPr/>
        </p:nvSpPr>
        <p:spPr>
          <a:xfrm>
            <a:off x="3587769" y="3447688"/>
            <a:ext cx="2853457" cy="60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每个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滤波核</a:t>
            </a:r>
            <a:r>
              <a:rPr kumimoji="0" lang="en" altLang="zh-C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1x1x64,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执行</a:t>
            </a:r>
            <a:r>
              <a:rPr kumimoji="0" lang="en" altLang="zh-C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64-dimensional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点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积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55696" y="5341290"/>
            <a:ext cx="31418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Lin et al, “Network in Network”, ICLR 2014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1315" y="4526182"/>
            <a:ext cx="27973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1x1 conv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层压缩输入通道数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64298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1131094"/>
            <a:ext cx="369898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9253" y="1644361"/>
            <a:ext cx="42566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超参数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核大小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核数量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P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步长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权重矩阵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个大小为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滤波核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偏置向量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输出大小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H’ x W’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这里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H’ = (H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+ 2P) / S + 1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W’ = (W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+ 2P) / S + 1</a:t>
            </a:r>
          </a:p>
        </p:txBody>
      </p:sp>
    </p:spTree>
    <p:extLst>
      <p:ext uri="{BB962C8B-B14F-4D97-AF65-F5344CB8AC3E}">
        <p14:creationId xmlns:p14="http://schemas.microsoft.com/office/powerpoint/2010/main" val="92857422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1131094"/>
            <a:ext cx="369898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9253" y="1644361"/>
            <a:ext cx="42566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超参数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核大小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核数量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填充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P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步长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权重矩阵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个大小为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滤波核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偏置向量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输出大小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H’ x W’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这里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H’ = (H </a:t>
            </a:r>
            <a:r>
              <a:rPr kumimoji="0" lang="mr-IN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+ 2P) / S + 1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W’ = (W </a:t>
            </a:r>
            <a:r>
              <a:rPr kumimoji="0" lang="mr-IN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+ 2P) / S + 1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1838" y="1249513"/>
            <a:ext cx="442941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常用设置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等尺寸滤波核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 = (K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1) / 2  (”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相同尺寸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”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32, 64, 128, 256 (2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的幂次方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 = 3, P = 1, S = 1 (3x3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 = 5, P = 2, S = 1 (5x5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 = 1, P = 0, S = 1 (1x1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 = 3, P = 1, S = 2 (2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倍下采样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634556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不同类型卷积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550;p44"/>
          <p:cNvSpPr/>
          <p:nvPr/>
        </p:nvSpPr>
        <p:spPr>
          <a:xfrm>
            <a:off x="1339034" y="3204846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551;p44"/>
          <p:cNvSpPr/>
          <p:nvPr/>
        </p:nvSpPr>
        <p:spPr>
          <a:xfrm>
            <a:off x="2934868" y="3470576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553;p44"/>
          <p:cNvCxnSpPr/>
          <p:nvPr/>
        </p:nvCxnSpPr>
        <p:spPr>
          <a:xfrm>
            <a:off x="1465251" y="3374451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554;p44"/>
          <p:cNvCxnSpPr/>
          <p:nvPr/>
        </p:nvCxnSpPr>
        <p:spPr>
          <a:xfrm>
            <a:off x="1601416" y="3225090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55;p44"/>
          <p:cNvCxnSpPr/>
          <p:nvPr/>
        </p:nvCxnSpPr>
        <p:spPr>
          <a:xfrm rot="10800000" flipH="1">
            <a:off x="1627509" y="3611690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481;p40"/>
          <p:cNvSpPr/>
          <p:nvPr/>
        </p:nvSpPr>
        <p:spPr>
          <a:xfrm>
            <a:off x="767233" y="2467950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1909" y="1760708"/>
            <a:ext cx="17572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目前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2D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卷积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8215" y="5191858"/>
            <a:ext cx="4651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0903" y="4839931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504" y="4008676"/>
            <a:ext cx="352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402" y="2308050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权重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 x K</a:t>
            </a:r>
          </a:p>
        </p:txBody>
      </p:sp>
    </p:spTree>
    <p:extLst>
      <p:ext uri="{BB962C8B-B14F-4D97-AF65-F5344CB8AC3E}">
        <p14:creationId xmlns:p14="http://schemas.microsoft.com/office/powerpoint/2010/main" val="351740452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不同类型卷积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550;p44"/>
          <p:cNvSpPr/>
          <p:nvPr/>
        </p:nvSpPr>
        <p:spPr>
          <a:xfrm>
            <a:off x="1339034" y="3204846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551;p44"/>
          <p:cNvSpPr/>
          <p:nvPr/>
        </p:nvSpPr>
        <p:spPr>
          <a:xfrm>
            <a:off x="2934868" y="3470576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553;p44"/>
          <p:cNvCxnSpPr/>
          <p:nvPr/>
        </p:nvCxnSpPr>
        <p:spPr>
          <a:xfrm>
            <a:off x="1465251" y="3374451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554;p44"/>
          <p:cNvCxnSpPr/>
          <p:nvPr/>
        </p:nvCxnSpPr>
        <p:spPr>
          <a:xfrm>
            <a:off x="1601416" y="3225090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55;p44"/>
          <p:cNvCxnSpPr/>
          <p:nvPr/>
        </p:nvCxnSpPr>
        <p:spPr>
          <a:xfrm rot="10800000" flipH="1">
            <a:off x="1627509" y="3611690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481;p40"/>
          <p:cNvSpPr/>
          <p:nvPr/>
        </p:nvSpPr>
        <p:spPr>
          <a:xfrm>
            <a:off x="767233" y="2467950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1909" y="1760708"/>
            <a:ext cx="17572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目前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2D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卷积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0917" y="1761139"/>
            <a:ext cx="10855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1D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卷积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63951" y="3470576"/>
            <a:ext cx="3578469" cy="1676918"/>
          </a:xfrm>
          <a:prstGeom prst="rect">
            <a:avLst/>
          </a:prstGeom>
          <a:solidFill>
            <a:srgbClr val="F4CCCC">
              <a:alpha val="5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8215" y="5191858"/>
            <a:ext cx="4651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0903" y="4839931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504" y="4008676"/>
            <a:ext cx="352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402" y="2308050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权重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 x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3890" y="4112827"/>
            <a:ext cx="4651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64311" y="5147494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4137" y="3470576"/>
            <a:ext cx="910674" cy="1676918"/>
          </a:xfrm>
          <a:prstGeom prst="rect">
            <a:avLst/>
          </a:prstGeom>
          <a:solidFill>
            <a:srgbClr val="C9DAF8">
              <a:alpha val="5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34967" y="2308050"/>
            <a:ext cx="1867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权重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</a:p>
        </p:txBody>
      </p:sp>
    </p:spTree>
    <p:extLst>
      <p:ext uri="{BB962C8B-B14F-4D97-AF65-F5344CB8AC3E}">
        <p14:creationId xmlns:p14="http://schemas.microsoft.com/office/powerpoint/2010/main" val="259580844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550;p44"/>
          <p:cNvSpPr/>
          <p:nvPr/>
        </p:nvSpPr>
        <p:spPr>
          <a:xfrm>
            <a:off x="6393277" y="3831495"/>
            <a:ext cx="630542" cy="657429"/>
          </a:xfrm>
          <a:prstGeom prst="cube">
            <a:avLst>
              <a:gd name="adj" fmla="val 38575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不同类型卷积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550;p44"/>
          <p:cNvSpPr/>
          <p:nvPr/>
        </p:nvSpPr>
        <p:spPr>
          <a:xfrm>
            <a:off x="1339034" y="3204846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551;p44"/>
          <p:cNvSpPr/>
          <p:nvPr/>
        </p:nvSpPr>
        <p:spPr>
          <a:xfrm>
            <a:off x="2934868" y="3470576"/>
            <a:ext cx="282227" cy="282227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553;p44"/>
          <p:cNvCxnSpPr/>
          <p:nvPr/>
        </p:nvCxnSpPr>
        <p:spPr>
          <a:xfrm>
            <a:off x="1465251" y="3374451"/>
            <a:ext cx="1469618" cy="2372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554;p44"/>
          <p:cNvCxnSpPr/>
          <p:nvPr/>
        </p:nvCxnSpPr>
        <p:spPr>
          <a:xfrm>
            <a:off x="1601416" y="3225090"/>
            <a:ext cx="1333453" cy="38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55;p44"/>
          <p:cNvCxnSpPr/>
          <p:nvPr/>
        </p:nvCxnSpPr>
        <p:spPr>
          <a:xfrm rot="10800000" flipH="1">
            <a:off x="1627509" y="3611690"/>
            <a:ext cx="1307360" cy="2495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481;p40"/>
          <p:cNvSpPr/>
          <p:nvPr/>
        </p:nvSpPr>
        <p:spPr>
          <a:xfrm>
            <a:off x="767233" y="2467950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1909" y="1760708"/>
            <a:ext cx="17572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目前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2D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卷积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0917" y="1761139"/>
            <a:ext cx="10855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3D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卷积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8215" y="5191858"/>
            <a:ext cx="4651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0903" y="4839931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504" y="4008676"/>
            <a:ext cx="352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402" y="2308050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权重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 x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18" y="3863709"/>
            <a:ext cx="17943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-dim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3031" y="5194399"/>
            <a:ext cx="4235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</a:p>
        </p:txBody>
      </p:sp>
      <p:sp>
        <p:nvSpPr>
          <p:cNvPr id="22" name="Google Shape;481;p40"/>
          <p:cNvSpPr/>
          <p:nvPr/>
        </p:nvSpPr>
        <p:spPr>
          <a:xfrm>
            <a:off x="5857602" y="3050603"/>
            <a:ext cx="1937071" cy="2060856"/>
          </a:xfrm>
          <a:prstGeom prst="cube">
            <a:avLst>
              <a:gd name="adj" fmla="val 30960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3567" y="4719044"/>
            <a:ext cx="3497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71637" y="3690382"/>
            <a:ext cx="352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90329" y="2308050"/>
            <a:ext cx="2518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 x D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权重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 x K x K</a:t>
            </a:r>
          </a:p>
        </p:txBody>
      </p:sp>
    </p:spTree>
    <p:extLst>
      <p:ext uri="{BB962C8B-B14F-4D97-AF65-F5344CB8AC3E}">
        <p14:creationId xmlns:p14="http://schemas.microsoft.com/office/powerpoint/2010/main" val="4995825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Mindspore</a:t>
            </a:r>
            <a:r>
              <a:rPr lang="en-US" dirty="0"/>
              <a:t> </a:t>
            </a:r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B6065F8-BF2A-7941-9253-992D32E02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2600"/>
            <a:ext cx="9144000" cy="311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8003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6.2.1.</a:t>
            </a:r>
            <a:r>
              <a:rPr lang="zh-CN" altLang="en-US" dirty="0"/>
              <a:t>卷积神经网络的组成</a:t>
            </a:r>
            <a:endParaRPr lang="en-US" altLang="zh-CN" dirty="0"/>
          </a:p>
          <a:p>
            <a:r>
              <a:rPr lang="en-US" altLang="zh-CN" dirty="0"/>
              <a:t>6.2.2.</a:t>
            </a:r>
            <a:r>
              <a:rPr lang="zh-CN" altLang="en-US" dirty="0"/>
              <a:t>卷积层</a:t>
            </a:r>
            <a:endParaRPr lang="en-US" dirty="0"/>
          </a:p>
          <a:p>
            <a:r>
              <a:rPr lang="en-US" altLang="zh-CN" dirty="0">
                <a:solidFill>
                  <a:srgbClr val="00B050"/>
                </a:solidFill>
              </a:rPr>
              <a:t>6.2.3.</a:t>
            </a:r>
            <a:r>
              <a:rPr lang="zh-CN" altLang="en-US" dirty="0">
                <a:solidFill>
                  <a:srgbClr val="00B050"/>
                </a:solidFill>
              </a:rPr>
              <a:t>池化与归一化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6.2.4.</a:t>
            </a:r>
            <a:r>
              <a:rPr lang="zh-CN" altLang="en-US" dirty="0"/>
              <a:t>卷积神经网络的训练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370923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卷积网络的成分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87" y="4009019"/>
            <a:ext cx="1379507" cy="1555274"/>
          </a:xfrm>
          <a:prstGeom prst="rect">
            <a:avLst/>
          </a:prstGeom>
        </p:spPr>
      </p:pic>
      <p:pic>
        <p:nvPicPr>
          <p:cNvPr id="12" name="Google Shape;111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906" y="4054862"/>
            <a:ext cx="1802664" cy="142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443927" y="3553621"/>
            <a:ext cx="225670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Convolution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334" y="3546016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池化层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979" y="2269919"/>
            <a:ext cx="2248728" cy="1019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3297" y="1721176"/>
            <a:ext cx="2698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Fully-Connected Layers</a:t>
            </a:r>
          </a:p>
        </p:txBody>
      </p:sp>
      <p:pic>
        <p:nvPicPr>
          <p:cNvPr id="17" name="Google Shape;500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1407" y="2142499"/>
            <a:ext cx="1446995" cy="119390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253111" y="1718146"/>
            <a:ext cx="230216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Activation Function</a:t>
            </a:r>
          </a:p>
        </p:txBody>
      </p:sp>
      <p:pic>
        <p:nvPicPr>
          <p:cNvPr id="19" name="Google Shape;861;p80"/>
          <p:cNvPicPr preferRelativeResize="0"/>
          <p:nvPr/>
        </p:nvPicPr>
        <p:blipFill rotWithShape="1">
          <a:blip r:embed="rId6">
            <a:alphaModFix/>
          </a:blip>
          <a:srcRect t="58386" r="31776" b="12523"/>
          <a:stretch/>
        </p:blipFill>
        <p:spPr>
          <a:xfrm>
            <a:off x="6154283" y="4267840"/>
            <a:ext cx="2248728" cy="102324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389528" y="3546016"/>
            <a:ext cx="17261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542" y="3491599"/>
            <a:ext cx="2855015" cy="215573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8650" y="1698780"/>
            <a:ext cx="7145772" cy="1776452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00952" y="3475232"/>
            <a:ext cx="2855015" cy="215573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2309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池化层</a:t>
            </a:r>
            <a:r>
              <a:rPr lang="en-US" dirty="0"/>
              <a:t>: </a:t>
            </a:r>
            <a:r>
              <a:rPr lang="zh-CN" altLang="en-US" dirty="0"/>
              <a:t>另一种下采样的方法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Google Shape;1115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34207" y="1945003"/>
            <a:ext cx="4366493" cy="344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063765" y="289622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超参数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内核尺寸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步长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池化函数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440973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最大池化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Google Shape;1122;p85"/>
          <p:cNvGraphicFramePr/>
          <p:nvPr/>
        </p:nvGraphicFramePr>
        <p:xfrm>
          <a:off x="1141440" y="2350025"/>
          <a:ext cx="2422868" cy="242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4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5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6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7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8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3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3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4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Google Shape;1123;p85"/>
          <p:cNvSpPr txBox="1"/>
          <p:nvPr/>
        </p:nvSpPr>
        <p:spPr>
          <a:xfrm>
            <a:off x="1120796" y="1840582"/>
            <a:ext cx="2616518" cy="56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单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通道切片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1124;p85"/>
          <p:cNvCxnSpPr/>
          <p:nvPr/>
        </p:nvCxnSpPr>
        <p:spPr>
          <a:xfrm rot="10800000">
            <a:off x="831946" y="2379767"/>
            <a:ext cx="0" cy="236338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125;p85"/>
          <p:cNvSpPr txBox="1"/>
          <p:nvPr/>
        </p:nvSpPr>
        <p:spPr>
          <a:xfrm>
            <a:off x="466641" y="2504109"/>
            <a:ext cx="389599" cy="467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Google Shape;1126;p85"/>
          <p:cNvCxnSpPr/>
          <p:nvPr/>
        </p:nvCxnSpPr>
        <p:spPr>
          <a:xfrm>
            <a:off x="1114947" y="5090285"/>
            <a:ext cx="2475855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127;p85"/>
          <p:cNvSpPr txBox="1"/>
          <p:nvPr/>
        </p:nvSpPr>
        <p:spPr>
          <a:xfrm>
            <a:off x="3066714" y="5020653"/>
            <a:ext cx="389599" cy="3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Google Shape;1128;p85"/>
          <p:cNvCxnSpPr/>
          <p:nvPr/>
        </p:nvCxnSpPr>
        <p:spPr>
          <a:xfrm>
            <a:off x="3941911" y="3561458"/>
            <a:ext cx="2032271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1129;p85"/>
          <p:cNvSpPr txBox="1"/>
          <p:nvPr/>
        </p:nvSpPr>
        <p:spPr>
          <a:xfrm>
            <a:off x="3849510" y="2728751"/>
            <a:ext cx="2675003" cy="7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2x2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池化核步长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Google Shape;1130;p85"/>
          <p:cNvGraphicFramePr/>
          <p:nvPr/>
        </p:nvGraphicFramePr>
        <p:xfrm>
          <a:off x="6809713" y="2916802"/>
          <a:ext cx="1211434" cy="12114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6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8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3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4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Google Shape;1115;p84"/>
          <p:cNvPicPr preferRelativeResize="0"/>
          <p:nvPr/>
        </p:nvPicPr>
        <p:blipFill rotWithShape="1">
          <a:blip r:embed="rId2">
            <a:alphaModFix/>
          </a:blip>
          <a:srcRect r="62018" b="49269"/>
          <a:stretch/>
        </p:blipFill>
        <p:spPr>
          <a:xfrm>
            <a:off x="4300171" y="991639"/>
            <a:ext cx="1315751" cy="138812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999DDA-6ADF-464D-9911-2A5F601A24B3}"/>
              </a:ext>
            </a:extLst>
          </p:cNvPr>
          <p:cNvSpPr txBox="1"/>
          <p:nvPr/>
        </p:nvSpPr>
        <p:spPr>
          <a:xfrm>
            <a:off x="3835919" y="4345062"/>
            <a:ext cx="3936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引入了空域微小移动不变性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不可学习参数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1471545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池化总结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1" y="1765142"/>
            <a:ext cx="438675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C x H x W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超参数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428625" marR="0" lvl="0" indent="-42862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内核尺寸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</a:p>
          <a:p>
            <a:pPr marL="428625" marR="0" lvl="0" indent="-42862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步长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S</a:t>
            </a:r>
          </a:p>
          <a:p>
            <a:pPr marL="428625" marR="0" lvl="0" indent="-42862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池化函数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(max, avg)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C x H’ x W’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这里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28625" marR="0" lvl="0" indent="-42862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H’ = (H </a:t>
            </a:r>
            <a:r>
              <a:rPr kumimoji="0" lang="mr-I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K) / S + 1</a:t>
            </a:r>
          </a:p>
          <a:p>
            <a:pPr marL="428625" marR="0" lvl="0" indent="-428625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W’ = (W </a:t>
            </a:r>
            <a:r>
              <a:rPr kumimoji="0" lang="mr-I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K) / S + 1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可学习的参数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None!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5455" y="2699250"/>
            <a:ext cx="34343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常用设置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max, K = 2, S = 2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max, K = 3, S = 2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AlexNet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237985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卷积网络</a:t>
            </a:r>
            <a:r>
              <a:rPr lang="en-US" altLang="zh-CN" sz="3600" dirty="0">
                <a:solidFill>
                  <a:prstClr val="black"/>
                </a:solidFill>
                <a:latin typeface="Calibri" panose="020F0502020204030204"/>
              </a:rPr>
              <a:t>LeNet-5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650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58" y="2665457"/>
            <a:ext cx="8217284" cy="249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504768"/>
            <a:ext cx="687694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经典结构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[Conv,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Pool] x N, flatten, [FC,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x N, FC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举例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LeNet-5</a:t>
            </a:r>
          </a:p>
        </p:txBody>
      </p:sp>
    </p:spTree>
    <p:extLst>
      <p:ext uri="{BB962C8B-B14F-4D97-AF65-F5344CB8AC3E}">
        <p14:creationId xmlns:p14="http://schemas.microsoft.com/office/powerpoint/2010/main" val="155849051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2370740"/>
            <a:ext cx="4532588" cy="3109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51838" y="1188326"/>
            <a:ext cx="811925" cy="9695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</p:spTree>
    <p:extLst>
      <p:ext uri="{BB962C8B-B14F-4D97-AF65-F5344CB8AC3E}">
        <p14:creationId xmlns:p14="http://schemas.microsoft.com/office/powerpoint/2010/main" val="391500941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LeNet-5*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=20*,K=5,</a:t>
                      </a:r>
                      <a:r>
                        <a:rPr lang="en-US" sz="1400" baseline="0" dirty="0"/>
                        <a:t>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r>
                        <a:rPr lang="en-US" sz="1400" dirty="0"/>
                        <a:t>**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2938298"/>
            <a:ext cx="4532588" cy="25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22603" y="1181082"/>
            <a:ext cx="1822562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924BD-F070-4AA0-BAE4-BB2438C15014}"/>
              </a:ext>
            </a:extLst>
          </p:cNvPr>
          <p:cNvSpPr txBox="1"/>
          <p:nvPr/>
        </p:nvSpPr>
        <p:spPr>
          <a:xfrm>
            <a:off x="5143500" y="2563957"/>
            <a:ext cx="273540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Original paper: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35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** Original paper: sigmoid</a:t>
            </a:r>
          </a:p>
        </p:txBody>
      </p:sp>
    </p:spTree>
    <p:extLst>
      <p:ext uri="{BB962C8B-B14F-4D97-AF65-F5344CB8AC3E}">
        <p14:creationId xmlns:p14="http://schemas.microsoft.com/office/powerpoint/2010/main" val="334518129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3233902"/>
            <a:ext cx="4532588" cy="2246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50293" y="1204730"/>
            <a:ext cx="1479663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52010-35B9-4DCF-AC27-A155FB3A7D38}"/>
              </a:ext>
            </a:extLst>
          </p:cNvPr>
          <p:cNvSpPr txBox="1"/>
          <p:nvPr/>
        </p:nvSpPr>
        <p:spPr>
          <a:xfrm>
            <a:off x="5143500" y="2930239"/>
            <a:ext cx="27354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2x2 strided convolution</a:t>
            </a:r>
          </a:p>
        </p:txBody>
      </p:sp>
    </p:spTree>
    <p:extLst>
      <p:ext uri="{BB962C8B-B14F-4D97-AF65-F5344CB8AC3E}">
        <p14:creationId xmlns:p14="http://schemas.microsoft.com/office/powerpoint/2010/main" val="174250244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=50*,K=5,P=2,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r>
                        <a:rPr lang="en-US" sz="1400" dirty="0"/>
                        <a:t>**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3825109"/>
            <a:ext cx="4532588" cy="1655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62396" y="1204730"/>
            <a:ext cx="1052348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2C151-CF6E-4CEE-867E-2675E1BA885B}"/>
              </a:ext>
            </a:extLst>
          </p:cNvPr>
          <p:cNvSpPr txBox="1"/>
          <p:nvPr/>
        </p:nvSpPr>
        <p:spPr>
          <a:xfrm>
            <a:off x="5143500" y="3273139"/>
            <a:ext cx="354589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Original paper: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35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16, grouped convolutions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** Original paper: sigmoid</a:t>
            </a:r>
          </a:p>
        </p:txBody>
      </p:sp>
    </p:spTree>
    <p:extLst>
      <p:ext uri="{BB962C8B-B14F-4D97-AF65-F5344CB8AC3E}">
        <p14:creationId xmlns:p14="http://schemas.microsoft.com/office/powerpoint/2010/main" val="249221104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S=2)*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4108888"/>
            <a:ext cx="4532588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35362" y="1192906"/>
            <a:ext cx="780392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5C993-D4A0-4266-A9F7-FE5EA286AB60}"/>
              </a:ext>
            </a:extLst>
          </p:cNvPr>
          <p:cNvSpPr txBox="1"/>
          <p:nvPr/>
        </p:nvSpPr>
        <p:spPr>
          <a:xfrm>
            <a:off x="5143500" y="3826457"/>
            <a:ext cx="27354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2x2 strided convolution</a:t>
            </a:r>
          </a:p>
        </p:txBody>
      </p:sp>
    </p:spTree>
    <p:extLst>
      <p:ext uri="{BB962C8B-B14F-4D97-AF65-F5344CB8AC3E}">
        <p14:creationId xmlns:p14="http://schemas.microsoft.com/office/powerpoint/2010/main" val="357716722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4392668"/>
            <a:ext cx="4532588" cy="1087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1911" y="1169258"/>
            <a:ext cx="744919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</p:spTree>
    <p:extLst>
      <p:ext uri="{BB962C8B-B14F-4D97-AF65-F5344CB8AC3E}">
        <p14:creationId xmlns:p14="http://schemas.microsoft.com/office/powerpoint/2010/main" val="97880445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r>
                        <a:rPr lang="en-US" sz="1400" dirty="0"/>
                        <a:t>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1661" y="4960226"/>
            <a:ext cx="4532588" cy="520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73865" y="1169258"/>
            <a:ext cx="744919" cy="10950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E1D5D-65D5-49C7-9412-3F0F13D920F6}"/>
              </a:ext>
            </a:extLst>
          </p:cNvPr>
          <p:cNvSpPr txBox="1"/>
          <p:nvPr/>
        </p:nvSpPr>
        <p:spPr>
          <a:xfrm>
            <a:off x="5143500" y="4223907"/>
            <a:ext cx="35458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Original paper has different 1x1 convolutions,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sigmoid non-linearities</a:t>
            </a:r>
          </a:p>
        </p:txBody>
      </p:sp>
    </p:spTree>
    <p:extLst>
      <p:ext uri="{BB962C8B-B14F-4D97-AF65-F5344CB8AC3E}">
        <p14:creationId xmlns:p14="http://schemas.microsoft.com/office/powerpoint/2010/main" val="770049855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LeNet-5*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10)*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75886" y="1342039"/>
            <a:ext cx="744919" cy="7567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0AF71-3013-471C-A377-6226BCC57100}"/>
              </a:ext>
            </a:extLst>
          </p:cNvPr>
          <p:cNvSpPr txBox="1"/>
          <p:nvPr/>
        </p:nvSpPr>
        <p:spPr>
          <a:xfrm>
            <a:off x="5143500" y="4223907"/>
            <a:ext cx="35458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Original paper uses RBF (radial basis function) kernels instead of a softmax</a:t>
            </a:r>
          </a:p>
        </p:txBody>
      </p:sp>
    </p:spTree>
    <p:extLst>
      <p:ext uri="{BB962C8B-B14F-4D97-AF65-F5344CB8AC3E}">
        <p14:creationId xmlns:p14="http://schemas.microsoft.com/office/powerpoint/2010/main" val="68742638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5293" y="2692406"/>
            <a:ext cx="3403752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经过整个网络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空域大小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递减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通过池化和带步长的卷积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通道数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递增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整个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体积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不变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317998893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70253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问题</a:t>
            </a:r>
            <a:r>
              <a:rPr lang="en-US" dirty="0"/>
              <a:t>: </a:t>
            </a:r>
            <a:r>
              <a:rPr lang="zh-CN" altLang="en-US" dirty="0"/>
              <a:t>深度网络非常难于训练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89215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卷积网络的成分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87" y="4009019"/>
            <a:ext cx="1379507" cy="1555274"/>
          </a:xfrm>
          <a:prstGeom prst="rect">
            <a:avLst/>
          </a:prstGeom>
        </p:spPr>
      </p:pic>
      <p:pic>
        <p:nvPicPr>
          <p:cNvPr id="12" name="Google Shape;111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3906" y="4054862"/>
            <a:ext cx="1802664" cy="142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443927" y="3553621"/>
            <a:ext cx="225670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Convolution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334" y="3546016"/>
            <a:ext cx="174374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Pooling Layers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979" y="2269919"/>
            <a:ext cx="2248728" cy="1019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3297" y="1721176"/>
            <a:ext cx="26989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Fully-Connected Layers</a:t>
            </a:r>
          </a:p>
        </p:txBody>
      </p:sp>
      <p:pic>
        <p:nvPicPr>
          <p:cNvPr id="17" name="Google Shape;500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1407" y="2142499"/>
            <a:ext cx="1446995" cy="119390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253111" y="1718146"/>
            <a:ext cx="230216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Activation Function</a:t>
            </a:r>
          </a:p>
        </p:txBody>
      </p:sp>
      <p:pic>
        <p:nvPicPr>
          <p:cNvPr id="19" name="Google Shape;861;p80"/>
          <p:cNvPicPr preferRelativeResize="0"/>
          <p:nvPr/>
        </p:nvPicPr>
        <p:blipFill rotWithShape="1">
          <a:blip r:embed="rId7">
            <a:alphaModFix/>
          </a:blip>
          <a:srcRect t="58386" r="31776" b="12523"/>
          <a:stretch/>
        </p:blipFill>
        <p:spPr>
          <a:xfrm>
            <a:off x="6154283" y="4267840"/>
            <a:ext cx="2248728" cy="102324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6389528" y="3546016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6542" y="3491599"/>
            <a:ext cx="5055835" cy="215573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8650" y="1698780"/>
            <a:ext cx="7145772" cy="1776452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963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批归一化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5907329"/>
            <a:ext cx="6994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Ioffe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“Batch normalization: Accelerating deep network training by reducing internal covariate shift”, ICML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428" y="1769588"/>
            <a:ext cx="8548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想法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“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一层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的输出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，使得其具有零均值和单位方差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为什么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为什么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帮助减少“内部变量变化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改进优化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按以下公式归一化批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pic>
        <p:nvPicPr>
          <p:cNvPr id="8" name="Google Shape;852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7428" y="4573552"/>
            <a:ext cx="3542461" cy="11612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210776" y="4558531"/>
            <a:ext cx="4649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这是一个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可导函数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所以是后向传播的一个可操作节点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926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批归一化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8995" y="5409543"/>
            <a:ext cx="6994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Ioffe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“Batch normalization: Accelerating deep network training by reducing internal covariate shift”, ICML 2015</a:t>
            </a:r>
          </a:p>
        </p:txBody>
      </p:sp>
      <p:pic>
        <p:nvPicPr>
          <p:cNvPr id="5" name="Google Shape;859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27942" y="1871951"/>
            <a:ext cx="1809279" cy="4927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60;p80"/>
          <p:cNvSpPr txBox="1"/>
          <p:nvPr/>
        </p:nvSpPr>
        <p:spPr>
          <a:xfrm>
            <a:off x="479491" y="1794778"/>
            <a:ext cx="1166696" cy="505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oogle Shape;861;p80"/>
          <p:cNvPicPr preferRelativeResize="0"/>
          <p:nvPr/>
        </p:nvPicPr>
        <p:blipFill rotWithShape="1">
          <a:blip r:embed="rId3">
            <a:alphaModFix/>
          </a:blip>
          <a:srcRect b="13201"/>
          <a:stretch/>
        </p:blipFill>
        <p:spPr>
          <a:xfrm>
            <a:off x="3955060" y="1693878"/>
            <a:ext cx="3296093" cy="30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62;p80"/>
          <p:cNvSpPr txBox="1"/>
          <p:nvPr/>
        </p:nvSpPr>
        <p:spPr>
          <a:xfrm>
            <a:off x="6402397" y="1871958"/>
            <a:ext cx="2112953" cy="6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每通道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均值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大小是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64;p80"/>
          <p:cNvSpPr txBox="1"/>
          <p:nvPr/>
        </p:nvSpPr>
        <p:spPr>
          <a:xfrm>
            <a:off x="6402397" y="3837321"/>
            <a:ext cx="2112953" cy="6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x,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大小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D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867;p80"/>
          <p:cNvSpPr/>
          <p:nvPr/>
        </p:nvSpPr>
        <p:spPr>
          <a:xfrm>
            <a:off x="1050866" y="2609716"/>
            <a:ext cx="2039469" cy="206676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868;p80"/>
          <p:cNvSpPr txBox="1"/>
          <p:nvPr/>
        </p:nvSpPr>
        <p:spPr>
          <a:xfrm>
            <a:off x="468142" y="3301685"/>
            <a:ext cx="500870" cy="50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869;p80"/>
          <p:cNvSpPr txBox="1"/>
          <p:nvPr/>
        </p:nvSpPr>
        <p:spPr>
          <a:xfrm>
            <a:off x="1820165" y="4746958"/>
            <a:ext cx="500870" cy="50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Google Shape;870;p80"/>
          <p:cNvCxnSpPr/>
          <p:nvPr/>
        </p:nvCxnSpPr>
        <p:spPr>
          <a:xfrm rot="10800000">
            <a:off x="2924128" y="2646182"/>
            <a:ext cx="0" cy="20121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" name="Google Shape;871;p80"/>
          <p:cNvCxnSpPr/>
          <p:nvPr/>
        </p:nvCxnSpPr>
        <p:spPr>
          <a:xfrm rot="10800000">
            <a:off x="2619407" y="2646182"/>
            <a:ext cx="0" cy="20121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" name="Google Shape;872;p80"/>
          <p:cNvCxnSpPr/>
          <p:nvPr/>
        </p:nvCxnSpPr>
        <p:spPr>
          <a:xfrm rot="10800000">
            <a:off x="2314687" y="2646182"/>
            <a:ext cx="0" cy="20121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" name="Google Shape;862;p80"/>
          <p:cNvSpPr txBox="1"/>
          <p:nvPr/>
        </p:nvSpPr>
        <p:spPr>
          <a:xfrm>
            <a:off x="7221218" y="2805309"/>
            <a:ext cx="1905359" cy="76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每通道</a:t>
            </a:r>
            <a:endParaRPr lang="en-US" altLang="zh-CN" sz="2100" dirty="0">
              <a:solidFill>
                <a:prstClr val="black"/>
              </a:solidFill>
              <a:latin typeface="Calibri" panose="020F0502020204030204"/>
            </a:endParaRPr>
          </a:p>
          <a:p>
            <a:pPr lvl="0" defTabSz="685800"/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std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lang="zh-CN" altLang="en-US" sz="2100" dirty="0">
                <a:solidFill>
                  <a:prstClr val="black"/>
                </a:solidFill>
              </a:rPr>
              <a:t>大小是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03289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批归一化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8995" y="5409543"/>
            <a:ext cx="6994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Ioffe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“Batch normalization: Accelerating deep network training by reducing internal covariate shift”, ICML 2015</a:t>
            </a:r>
          </a:p>
        </p:txBody>
      </p:sp>
      <p:pic>
        <p:nvPicPr>
          <p:cNvPr id="5" name="Google Shape;859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27942" y="1871951"/>
            <a:ext cx="1809279" cy="4927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60;p80"/>
          <p:cNvSpPr txBox="1"/>
          <p:nvPr/>
        </p:nvSpPr>
        <p:spPr>
          <a:xfrm>
            <a:off x="479491" y="1794778"/>
            <a:ext cx="1166696" cy="505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" sz="2399" b="1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oogle Shape;861;p80"/>
          <p:cNvPicPr preferRelativeResize="0"/>
          <p:nvPr/>
        </p:nvPicPr>
        <p:blipFill rotWithShape="1">
          <a:blip r:embed="rId3">
            <a:alphaModFix/>
          </a:blip>
          <a:srcRect b="13201"/>
          <a:stretch/>
        </p:blipFill>
        <p:spPr>
          <a:xfrm>
            <a:off x="3955060" y="1693878"/>
            <a:ext cx="3296093" cy="30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62;p80"/>
          <p:cNvSpPr txBox="1"/>
          <p:nvPr/>
        </p:nvSpPr>
        <p:spPr>
          <a:xfrm>
            <a:off x="6402397" y="1871958"/>
            <a:ext cx="2112953" cy="6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均值</a:t>
            </a:r>
            <a:r>
              <a:rPr lang="en-US" altLang="zh-CN" sz="2100" dirty="0">
                <a:solidFill>
                  <a:prstClr val="black"/>
                </a:solidFill>
              </a:rPr>
              <a:t>, </a:t>
            </a:r>
            <a:r>
              <a:rPr lang="zh-CN" altLang="en-US" sz="2100" dirty="0">
                <a:solidFill>
                  <a:prstClr val="black"/>
                </a:solidFill>
              </a:rPr>
              <a:t>大小是 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9" name="Google Shape;864;p80"/>
          <p:cNvSpPr txBox="1"/>
          <p:nvPr/>
        </p:nvSpPr>
        <p:spPr>
          <a:xfrm>
            <a:off x="6402397" y="3837321"/>
            <a:ext cx="2112953" cy="6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归一化 </a:t>
            </a:r>
            <a:r>
              <a:rPr lang="en" altLang="zh-CN" sz="2100" dirty="0">
                <a:solidFill>
                  <a:prstClr val="black"/>
                </a:solidFill>
              </a:rPr>
              <a:t>x,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大小</a:t>
            </a:r>
            <a:r>
              <a:rPr lang="en" altLang="zh-CN" sz="2100" dirty="0">
                <a:solidFill>
                  <a:prstClr val="black"/>
                </a:solidFill>
              </a:rPr>
              <a:t>N x D</a:t>
            </a:r>
          </a:p>
        </p:txBody>
      </p:sp>
      <p:sp>
        <p:nvSpPr>
          <p:cNvPr id="10" name="Google Shape;867;p80"/>
          <p:cNvSpPr/>
          <p:nvPr/>
        </p:nvSpPr>
        <p:spPr>
          <a:xfrm>
            <a:off x="1050866" y="2609716"/>
            <a:ext cx="2039469" cy="206676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868;p80"/>
          <p:cNvSpPr txBox="1"/>
          <p:nvPr/>
        </p:nvSpPr>
        <p:spPr>
          <a:xfrm>
            <a:off x="468142" y="3301685"/>
            <a:ext cx="500870" cy="50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869;p80"/>
          <p:cNvSpPr txBox="1"/>
          <p:nvPr/>
        </p:nvSpPr>
        <p:spPr>
          <a:xfrm>
            <a:off x="1820165" y="4746958"/>
            <a:ext cx="500870" cy="50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Google Shape;870;p80"/>
          <p:cNvCxnSpPr/>
          <p:nvPr/>
        </p:nvCxnSpPr>
        <p:spPr>
          <a:xfrm rot="10800000">
            <a:off x="2924128" y="2646182"/>
            <a:ext cx="0" cy="20121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" name="Google Shape;871;p80"/>
          <p:cNvCxnSpPr/>
          <p:nvPr/>
        </p:nvCxnSpPr>
        <p:spPr>
          <a:xfrm rot="10800000">
            <a:off x="2619407" y="2646182"/>
            <a:ext cx="0" cy="20121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" name="Google Shape;872;p80"/>
          <p:cNvCxnSpPr/>
          <p:nvPr/>
        </p:nvCxnSpPr>
        <p:spPr>
          <a:xfrm rot="10800000">
            <a:off x="2314687" y="2646182"/>
            <a:ext cx="0" cy="20121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" name="Google Shape;892;p81"/>
          <p:cNvSpPr txBox="1"/>
          <p:nvPr/>
        </p:nvSpPr>
        <p:spPr>
          <a:xfrm>
            <a:off x="4074809" y="4770672"/>
            <a:ext cx="3949071" cy="63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零均值，单位方差限制太强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862;p80"/>
          <p:cNvSpPr txBox="1"/>
          <p:nvPr/>
        </p:nvSpPr>
        <p:spPr>
          <a:xfrm>
            <a:off x="7221218" y="2805309"/>
            <a:ext cx="1905359" cy="76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/>
            <a:r>
              <a:rPr lang="en" altLang="zh-CN" sz="2100" dirty="0">
                <a:solidFill>
                  <a:prstClr val="black"/>
                </a:solidFill>
              </a:rPr>
              <a:t>std,</a:t>
            </a:r>
            <a:r>
              <a:rPr lang="zh-CN" altLang="en-US" sz="2100" dirty="0">
                <a:solidFill>
                  <a:prstClr val="black"/>
                </a:solidFill>
              </a:rPr>
              <a:t>大小是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2936083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61;p80"/>
          <p:cNvPicPr preferRelativeResize="0"/>
          <p:nvPr/>
        </p:nvPicPr>
        <p:blipFill rotWithShape="1">
          <a:blip r:embed="rId2">
            <a:alphaModFix/>
          </a:blip>
          <a:srcRect t="1" b="-1267"/>
          <a:stretch/>
        </p:blipFill>
        <p:spPr>
          <a:xfrm>
            <a:off x="3955060" y="1693878"/>
            <a:ext cx="3296093" cy="35619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批归一化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0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45" y="3460930"/>
            <a:ext cx="1486137" cy="4927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07;p82"/>
          <p:cNvSpPr txBox="1"/>
          <p:nvPr/>
        </p:nvSpPr>
        <p:spPr>
          <a:xfrm>
            <a:off x="181203" y="2589144"/>
            <a:ext cx="3198667" cy="87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可学习</a:t>
            </a:r>
            <a:r>
              <a:rPr kumimoji="0" lang="zh-CN" altLang="en-US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的尺度和平移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908;p82"/>
          <p:cNvSpPr txBox="1"/>
          <p:nvPr/>
        </p:nvSpPr>
        <p:spPr>
          <a:xfrm>
            <a:off x="6402397" y="4650128"/>
            <a:ext cx="1839028" cy="78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85800"/>
            <a:r>
              <a:rPr lang="zh-CN" altLang="en-US" sz="2100" dirty="0">
                <a:solidFill>
                  <a:prstClr val="black"/>
                </a:solidFill>
              </a:rPr>
              <a:t>大小 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x D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909;p82"/>
          <p:cNvSpPr txBox="1"/>
          <p:nvPr/>
        </p:nvSpPr>
        <p:spPr>
          <a:xfrm>
            <a:off x="91176" y="4091953"/>
            <a:ext cx="3198667" cy="87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学习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=    ,</a:t>
            </a:r>
            <a:r>
              <a:rPr lang="zh-CN" altLang="en-US" sz="2399" dirty="0">
                <a:solidFill>
                  <a:prstClr val="black"/>
                </a:solidFill>
                <a:latin typeface="Calibri" panose="020F0502020204030204"/>
              </a:rPr>
              <a:t>     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    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可以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实现恒等映射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oogle Shape;85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7942" y="1871951"/>
            <a:ext cx="1809279" cy="49277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60;p80"/>
          <p:cNvSpPr txBox="1"/>
          <p:nvPr/>
        </p:nvSpPr>
        <p:spPr>
          <a:xfrm>
            <a:off x="479491" y="1794778"/>
            <a:ext cx="1166696" cy="505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862;p80"/>
          <p:cNvSpPr txBox="1"/>
          <p:nvPr/>
        </p:nvSpPr>
        <p:spPr>
          <a:xfrm>
            <a:off x="6402397" y="1871958"/>
            <a:ext cx="2112953" cy="6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均值</a:t>
            </a:r>
            <a:r>
              <a:rPr lang="en-US" altLang="zh-CN" sz="2100" dirty="0">
                <a:solidFill>
                  <a:prstClr val="black"/>
                </a:solidFill>
              </a:rPr>
              <a:t>, </a:t>
            </a:r>
            <a:r>
              <a:rPr lang="zh-CN" altLang="en-US" sz="2100" dirty="0">
                <a:solidFill>
                  <a:prstClr val="black"/>
                </a:solidFill>
              </a:rPr>
              <a:t>大小是 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12" name="Google Shape;864;p80"/>
          <p:cNvSpPr txBox="1"/>
          <p:nvPr/>
        </p:nvSpPr>
        <p:spPr>
          <a:xfrm>
            <a:off x="6265433" y="3772659"/>
            <a:ext cx="2112953" cy="69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归一化 </a:t>
            </a:r>
            <a:r>
              <a:rPr lang="en" altLang="zh-CN" sz="2100" dirty="0">
                <a:solidFill>
                  <a:prstClr val="black"/>
                </a:solidFill>
              </a:rPr>
              <a:t>x,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大小 </a:t>
            </a:r>
            <a:r>
              <a:rPr lang="en" altLang="zh-CN" sz="2100" dirty="0">
                <a:solidFill>
                  <a:prstClr val="black"/>
                </a:solidFill>
              </a:rPr>
              <a:t>N x D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862;p80"/>
          <p:cNvSpPr txBox="1"/>
          <p:nvPr/>
        </p:nvSpPr>
        <p:spPr>
          <a:xfrm>
            <a:off x="7221218" y="2805309"/>
            <a:ext cx="1905359" cy="76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/>
            <a:r>
              <a:rPr lang="en" altLang="zh-CN" sz="2100" dirty="0">
                <a:solidFill>
                  <a:prstClr val="black"/>
                </a:solidFill>
              </a:rPr>
              <a:t>std,</a:t>
            </a:r>
            <a:r>
              <a:rPr lang="zh-CN" altLang="en-US" sz="2100" dirty="0">
                <a:solidFill>
                  <a:prstClr val="black"/>
                </a:solidFill>
              </a:rPr>
              <a:t>大小是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pic>
        <p:nvPicPr>
          <p:cNvPr id="14" name="Google Shape;910;p82"/>
          <p:cNvPicPr preferRelativeResize="0"/>
          <p:nvPr/>
        </p:nvPicPr>
        <p:blipFill rotWithShape="1">
          <a:blip r:embed="rId3">
            <a:alphaModFix/>
          </a:blip>
          <a:srcRect r="79287" b="15304"/>
          <a:stretch/>
        </p:blipFill>
        <p:spPr>
          <a:xfrm>
            <a:off x="764739" y="4091953"/>
            <a:ext cx="307820" cy="417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11;p82"/>
          <p:cNvPicPr preferRelativeResize="0"/>
          <p:nvPr/>
        </p:nvPicPr>
        <p:blipFill rotWithShape="1">
          <a:blip r:embed="rId2">
            <a:alphaModFix/>
          </a:blip>
          <a:srcRect l="4506" t="36391" r="89819" b="49369"/>
          <a:stretch/>
        </p:blipFill>
        <p:spPr>
          <a:xfrm>
            <a:off x="1313250" y="4122353"/>
            <a:ext cx="187001" cy="500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912;p82"/>
          <p:cNvPicPr preferRelativeResize="0"/>
          <p:nvPr/>
        </p:nvPicPr>
        <p:blipFill rotWithShape="1">
          <a:blip r:embed="rId3">
            <a:alphaModFix/>
          </a:blip>
          <a:srcRect l="28171" r="53654" b="11079"/>
          <a:stretch/>
        </p:blipFill>
        <p:spPr>
          <a:xfrm>
            <a:off x="1658710" y="4129460"/>
            <a:ext cx="270105" cy="43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913;p82"/>
          <p:cNvPicPr preferRelativeResize="0"/>
          <p:nvPr/>
        </p:nvPicPr>
        <p:blipFill rotWithShape="1">
          <a:blip r:embed="rId2">
            <a:alphaModFix/>
          </a:blip>
          <a:srcRect l="5558" t="10206" r="88348" b="80737"/>
          <a:stretch/>
        </p:blipFill>
        <p:spPr>
          <a:xfrm>
            <a:off x="2198384" y="4213504"/>
            <a:ext cx="200822" cy="318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236584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61;p80"/>
          <p:cNvPicPr preferRelativeResize="0"/>
          <p:nvPr/>
        </p:nvPicPr>
        <p:blipFill rotWithShape="1">
          <a:blip r:embed="rId3">
            <a:alphaModFix/>
          </a:blip>
          <a:srcRect t="1" b="-1267"/>
          <a:stretch/>
        </p:blipFill>
        <p:spPr>
          <a:xfrm>
            <a:off x="3955060" y="1693878"/>
            <a:ext cx="3296093" cy="35619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045" y="720210"/>
            <a:ext cx="5283419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批归一化</a:t>
            </a:r>
            <a:r>
              <a:rPr lang="en-US" dirty="0"/>
              <a:t>: </a:t>
            </a:r>
            <a:r>
              <a:rPr lang="zh-CN" altLang="en-US" dirty="0"/>
              <a:t>测试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0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45" y="3460930"/>
            <a:ext cx="1486137" cy="4927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07;p82"/>
          <p:cNvSpPr txBox="1"/>
          <p:nvPr/>
        </p:nvSpPr>
        <p:spPr>
          <a:xfrm>
            <a:off x="181203" y="2589144"/>
            <a:ext cx="3198667" cy="87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2399" b="1" dirty="0">
                <a:solidFill>
                  <a:prstClr val="black"/>
                </a:solidFill>
              </a:rPr>
              <a:t>可学习</a:t>
            </a:r>
            <a:r>
              <a:rPr lang="zh-CN" altLang="en-US" sz="2399" b="1" dirty="0">
                <a:solidFill>
                  <a:prstClr val="black"/>
                </a:solidFill>
              </a:rPr>
              <a:t>的尺度和平移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908;p82"/>
          <p:cNvSpPr txBox="1"/>
          <p:nvPr/>
        </p:nvSpPr>
        <p:spPr>
          <a:xfrm>
            <a:off x="6402397" y="4650128"/>
            <a:ext cx="1839028" cy="78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归一化 </a:t>
            </a:r>
            <a:r>
              <a:rPr lang="en" altLang="zh-CN" sz="2100" dirty="0">
                <a:solidFill>
                  <a:prstClr val="black"/>
                </a:solidFill>
              </a:rPr>
              <a:t>x,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大小</a:t>
            </a:r>
            <a:r>
              <a:rPr lang="en" altLang="zh-CN" sz="2100" dirty="0">
                <a:solidFill>
                  <a:prstClr val="black"/>
                </a:solidFill>
              </a:rPr>
              <a:t>N x D</a:t>
            </a:r>
          </a:p>
        </p:txBody>
      </p:sp>
      <p:sp>
        <p:nvSpPr>
          <p:cNvPr id="7" name="Google Shape;909;p82"/>
          <p:cNvSpPr txBox="1"/>
          <p:nvPr/>
        </p:nvSpPr>
        <p:spPr>
          <a:xfrm>
            <a:off x="91176" y="4091953"/>
            <a:ext cx="3198667" cy="87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399" dirty="0">
                <a:solidFill>
                  <a:prstClr val="black"/>
                </a:solidFill>
              </a:rPr>
              <a:t>学习     </a:t>
            </a:r>
            <a:r>
              <a:rPr lang="en-US" altLang="zh-CN" sz="2399" dirty="0">
                <a:solidFill>
                  <a:prstClr val="black"/>
                </a:solidFill>
              </a:rPr>
              <a:t>=    ,</a:t>
            </a:r>
            <a:r>
              <a:rPr lang="zh-CN" altLang="en-US" sz="2399" dirty="0">
                <a:solidFill>
                  <a:prstClr val="black"/>
                </a:solidFill>
              </a:rPr>
              <a:t>     </a:t>
            </a:r>
            <a:r>
              <a:rPr lang="en-US" altLang="zh-CN" sz="2399" dirty="0">
                <a:solidFill>
                  <a:prstClr val="black"/>
                </a:solidFill>
              </a:rPr>
              <a:t>=      </a:t>
            </a:r>
            <a:r>
              <a:rPr lang="zh-CN" altLang="en-US" sz="2399" dirty="0">
                <a:solidFill>
                  <a:prstClr val="black"/>
                </a:solidFill>
              </a:rPr>
              <a:t>可以实现恒等映射</a:t>
            </a:r>
            <a:r>
              <a:rPr lang="en-US" altLang="zh-CN" sz="2399" dirty="0">
                <a:solidFill>
                  <a:prstClr val="black"/>
                </a:solidFill>
              </a:rPr>
              <a:t>!</a:t>
            </a:r>
            <a:endParaRPr lang="zh-CN" altLang="en-US" sz="2399" dirty="0">
              <a:solidFill>
                <a:prstClr val="black"/>
              </a:solidFill>
            </a:endParaRPr>
          </a:p>
        </p:txBody>
      </p:sp>
      <p:pic>
        <p:nvPicPr>
          <p:cNvPr id="8" name="Google Shape;85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7942" y="1871951"/>
            <a:ext cx="1809279" cy="49277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60;p80"/>
          <p:cNvSpPr txBox="1"/>
          <p:nvPr/>
        </p:nvSpPr>
        <p:spPr>
          <a:xfrm>
            <a:off x="479491" y="1794778"/>
            <a:ext cx="1166696" cy="505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2399" b="1" dirty="0">
                <a:solidFill>
                  <a:prstClr val="black"/>
                </a:solidFill>
              </a:rPr>
              <a:t>输入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862;p80"/>
          <p:cNvSpPr txBox="1"/>
          <p:nvPr/>
        </p:nvSpPr>
        <p:spPr>
          <a:xfrm>
            <a:off x="6402397" y="1871958"/>
            <a:ext cx="2112953" cy="6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均值</a:t>
            </a:r>
            <a:r>
              <a:rPr lang="en-US" altLang="zh-CN" sz="2100" dirty="0">
                <a:solidFill>
                  <a:prstClr val="black"/>
                </a:solidFill>
              </a:rPr>
              <a:t>, </a:t>
            </a:r>
            <a:r>
              <a:rPr lang="zh-CN" altLang="en-US" sz="2100" dirty="0">
                <a:solidFill>
                  <a:prstClr val="black"/>
                </a:solidFill>
              </a:rPr>
              <a:t>大小是 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12" name="Google Shape;864;p80"/>
          <p:cNvSpPr txBox="1"/>
          <p:nvPr/>
        </p:nvSpPr>
        <p:spPr>
          <a:xfrm>
            <a:off x="6265433" y="3772659"/>
            <a:ext cx="2112953" cy="69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归一化 </a:t>
            </a:r>
            <a:r>
              <a:rPr lang="en" altLang="zh-CN" sz="2100" dirty="0">
                <a:solidFill>
                  <a:prstClr val="black"/>
                </a:solidFill>
              </a:rPr>
              <a:t>x,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大小 </a:t>
            </a:r>
            <a:r>
              <a:rPr lang="en" altLang="zh-CN" sz="2100" dirty="0">
                <a:solidFill>
                  <a:prstClr val="black"/>
                </a:solidFill>
              </a:rPr>
              <a:t>N x D</a:t>
            </a:r>
          </a:p>
        </p:txBody>
      </p:sp>
      <p:sp>
        <p:nvSpPr>
          <p:cNvPr id="13" name="Google Shape;862;p80"/>
          <p:cNvSpPr txBox="1"/>
          <p:nvPr/>
        </p:nvSpPr>
        <p:spPr>
          <a:xfrm>
            <a:off x="7221218" y="2805309"/>
            <a:ext cx="1905359" cy="76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/>
            <a:r>
              <a:rPr lang="en" altLang="zh-CN" sz="2100" dirty="0">
                <a:solidFill>
                  <a:prstClr val="black"/>
                </a:solidFill>
              </a:rPr>
              <a:t>std,</a:t>
            </a:r>
            <a:r>
              <a:rPr lang="zh-CN" altLang="en-US" sz="2100" dirty="0">
                <a:solidFill>
                  <a:prstClr val="black"/>
                </a:solidFill>
              </a:rPr>
              <a:t>大小是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pic>
        <p:nvPicPr>
          <p:cNvPr id="14" name="Google Shape;910;p82"/>
          <p:cNvPicPr preferRelativeResize="0"/>
          <p:nvPr/>
        </p:nvPicPr>
        <p:blipFill rotWithShape="1">
          <a:blip r:embed="rId4">
            <a:alphaModFix/>
          </a:blip>
          <a:srcRect r="79287" b="15304"/>
          <a:stretch/>
        </p:blipFill>
        <p:spPr>
          <a:xfrm>
            <a:off x="795662" y="4091953"/>
            <a:ext cx="307820" cy="417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11;p82"/>
          <p:cNvPicPr preferRelativeResize="0"/>
          <p:nvPr/>
        </p:nvPicPr>
        <p:blipFill rotWithShape="1">
          <a:blip r:embed="rId3">
            <a:alphaModFix/>
          </a:blip>
          <a:srcRect l="4506" t="36391" r="89819" b="49369"/>
          <a:stretch/>
        </p:blipFill>
        <p:spPr>
          <a:xfrm>
            <a:off x="1315355" y="4115122"/>
            <a:ext cx="187001" cy="500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912;p82"/>
          <p:cNvPicPr preferRelativeResize="0"/>
          <p:nvPr/>
        </p:nvPicPr>
        <p:blipFill rotWithShape="1">
          <a:blip r:embed="rId4">
            <a:alphaModFix/>
          </a:blip>
          <a:srcRect l="28171" r="53654" b="11079"/>
          <a:stretch/>
        </p:blipFill>
        <p:spPr>
          <a:xfrm>
            <a:off x="1682943" y="4146477"/>
            <a:ext cx="270105" cy="43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913;p82"/>
          <p:cNvPicPr preferRelativeResize="0"/>
          <p:nvPr/>
        </p:nvPicPr>
        <p:blipFill rotWithShape="1">
          <a:blip r:embed="rId3">
            <a:alphaModFix/>
          </a:blip>
          <a:srcRect l="5558" t="10206" r="88348" b="80737"/>
          <a:stretch/>
        </p:blipFill>
        <p:spPr>
          <a:xfrm>
            <a:off x="2166838" y="4266071"/>
            <a:ext cx="200822" cy="31856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934;p83"/>
          <p:cNvSpPr/>
          <p:nvPr/>
        </p:nvSpPr>
        <p:spPr>
          <a:xfrm>
            <a:off x="3854669" y="1634760"/>
            <a:ext cx="5143500" cy="2129146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935;p83"/>
          <p:cNvSpPr txBox="1"/>
          <p:nvPr/>
        </p:nvSpPr>
        <p:spPr>
          <a:xfrm>
            <a:off x="5536464" y="900163"/>
            <a:ext cx="3570890" cy="67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估计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依赖于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minibatch; </a:t>
            </a: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测试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过程没有分批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41931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61;p80"/>
          <p:cNvPicPr preferRelativeResize="0"/>
          <p:nvPr/>
        </p:nvPicPr>
        <p:blipFill rotWithShape="1">
          <a:blip r:embed="rId3">
            <a:alphaModFix/>
          </a:blip>
          <a:srcRect t="1" b="-1267"/>
          <a:stretch/>
        </p:blipFill>
        <p:spPr>
          <a:xfrm>
            <a:off x="3955060" y="1693878"/>
            <a:ext cx="3296093" cy="35619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36" y="763179"/>
            <a:ext cx="5283419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批归一化</a:t>
            </a:r>
            <a:r>
              <a:rPr lang="en-US" dirty="0"/>
              <a:t>: </a:t>
            </a:r>
            <a:r>
              <a:rPr lang="zh-CN" altLang="en-US" dirty="0"/>
              <a:t>测试时间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0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45" y="3460930"/>
            <a:ext cx="1486137" cy="4927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07;p82"/>
          <p:cNvSpPr txBox="1"/>
          <p:nvPr/>
        </p:nvSpPr>
        <p:spPr>
          <a:xfrm>
            <a:off x="181203" y="2589144"/>
            <a:ext cx="3198667" cy="87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2399" b="1" dirty="0">
                <a:solidFill>
                  <a:prstClr val="black"/>
                </a:solidFill>
              </a:rPr>
              <a:t>可学习</a:t>
            </a:r>
            <a:r>
              <a:rPr lang="zh-CN" altLang="en-US" sz="2399" b="1" dirty="0">
                <a:solidFill>
                  <a:prstClr val="black"/>
                </a:solidFill>
              </a:rPr>
              <a:t>的尺度和平移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908;p82"/>
          <p:cNvSpPr txBox="1"/>
          <p:nvPr/>
        </p:nvSpPr>
        <p:spPr>
          <a:xfrm>
            <a:off x="6402397" y="4650128"/>
            <a:ext cx="1839028" cy="78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归一化 </a:t>
            </a:r>
            <a:r>
              <a:rPr lang="en" altLang="zh-CN" sz="2100" dirty="0">
                <a:solidFill>
                  <a:prstClr val="black"/>
                </a:solidFill>
              </a:rPr>
              <a:t>x,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大小</a:t>
            </a:r>
            <a:r>
              <a:rPr lang="en" altLang="zh-CN" sz="2100" dirty="0">
                <a:solidFill>
                  <a:prstClr val="black"/>
                </a:solidFill>
              </a:rPr>
              <a:t>N x D</a:t>
            </a:r>
          </a:p>
        </p:txBody>
      </p:sp>
      <p:sp>
        <p:nvSpPr>
          <p:cNvPr id="7" name="Google Shape;909;p82"/>
          <p:cNvSpPr txBox="1"/>
          <p:nvPr/>
        </p:nvSpPr>
        <p:spPr>
          <a:xfrm>
            <a:off x="91176" y="4091953"/>
            <a:ext cx="3198667" cy="87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399" dirty="0">
                <a:solidFill>
                  <a:prstClr val="black"/>
                </a:solidFill>
              </a:rPr>
              <a:t>学习     </a:t>
            </a:r>
            <a:r>
              <a:rPr lang="en-US" altLang="zh-CN" sz="2399" dirty="0">
                <a:solidFill>
                  <a:prstClr val="black"/>
                </a:solidFill>
              </a:rPr>
              <a:t>=    ,</a:t>
            </a:r>
            <a:r>
              <a:rPr lang="zh-CN" altLang="en-US" sz="2399" dirty="0">
                <a:solidFill>
                  <a:prstClr val="black"/>
                </a:solidFill>
              </a:rPr>
              <a:t>     </a:t>
            </a:r>
            <a:r>
              <a:rPr lang="en-US" altLang="zh-CN" sz="2399" dirty="0">
                <a:solidFill>
                  <a:prstClr val="black"/>
                </a:solidFill>
              </a:rPr>
              <a:t>=      </a:t>
            </a:r>
            <a:r>
              <a:rPr lang="zh-CN" altLang="en-US" sz="2399" dirty="0">
                <a:solidFill>
                  <a:prstClr val="black"/>
                </a:solidFill>
              </a:rPr>
              <a:t>可以实现恒等映射</a:t>
            </a:r>
            <a:r>
              <a:rPr lang="en-US" altLang="zh-CN" sz="2399" dirty="0">
                <a:solidFill>
                  <a:prstClr val="black"/>
                </a:solidFill>
              </a:rPr>
              <a:t>!</a:t>
            </a:r>
            <a:endParaRPr lang="zh-CN" altLang="en-US" sz="2399" dirty="0">
              <a:solidFill>
                <a:prstClr val="black"/>
              </a:solidFill>
            </a:endParaRPr>
          </a:p>
        </p:txBody>
      </p:sp>
      <p:pic>
        <p:nvPicPr>
          <p:cNvPr id="8" name="Google Shape;85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7942" y="1871951"/>
            <a:ext cx="1809279" cy="49277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60;p80"/>
          <p:cNvSpPr txBox="1"/>
          <p:nvPr/>
        </p:nvSpPr>
        <p:spPr>
          <a:xfrm>
            <a:off x="479491" y="1794778"/>
            <a:ext cx="1166696" cy="505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2399" b="1" dirty="0">
                <a:solidFill>
                  <a:prstClr val="black"/>
                </a:solidFill>
              </a:rPr>
              <a:t>输入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862;p80"/>
          <p:cNvSpPr txBox="1"/>
          <p:nvPr/>
        </p:nvSpPr>
        <p:spPr>
          <a:xfrm>
            <a:off x="7117421" y="1735237"/>
            <a:ext cx="2112953" cy="6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均值</a:t>
            </a:r>
            <a:r>
              <a:rPr lang="en-US" altLang="zh-CN" sz="2100" dirty="0">
                <a:solidFill>
                  <a:prstClr val="black"/>
                </a:solidFill>
              </a:rPr>
              <a:t>, </a:t>
            </a:r>
            <a:r>
              <a:rPr lang="zh-CN" altLang="en-US" sz="2100" dirty="0">
                <a:solidFill>
                  <a:prstClr val="black"/>
                </a:solidFill>
              </a:rPr>
              <a:t>大小是 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12" name="Google Shape;864;p80"/>
          <p:cNvSpPr txBox="1"/>
          <p:nvPr/>
        </p:nvSpPr>
        <p:spPr>
          <a:xfrm>
            <a:off x="6265433" y="3772659"/>
            <a:ext cx="2112953" cy="69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归一化 </a:t>
            </a:r>
            <a:r>
              <a:rPr lang="en" altLang="zh-CN" sz="2100" dirty="0">
                <a:solidFill>
                  <a:prstClr val="black"/>
                </a:solidFill>
              </a:rPr>
              <a:t>x,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大小 </a:t>
            </a:r>
            <a:r>
              <a:rPr lang="en" altLang="zh-CN" sz="2100" dirty="0">
                <a:solidFill>
                  <a:prstClr val="black"/>
                </a:solidFill>
              </a:rPr>
              <a:t>N x D</a:t>
            </a:r>
          </a:p>
        </p:txBody>
      </p:sp>
      <p:sp>
        <p:nvSpPr>
          <p:cNvPr id="13" name="Google Shape;862;p80"/>
          <p:cNvSpPr txBox="1"/>
          <p:nvPr/>
        </p:nvSpPr>
        <p:spPr>
          <a:xfrm>
            <a:off x="7221218" y="2805309"/>
            <a:ext cx="1905359" cy="76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/>
            <a:r>
              <a:rPr lang="en" altLang="zh-CN" sz="2100" dirty="0">
                <a:solidFill>
                  <a:prstClr val="black"/>
                </a:solidFill>
              </a:rPr>
              <a:t>std,</a:t>
            </a:r>
            <a:r>
              <a:rPr lang="zh-CN" altLang="en-US" sz="2100" dirty="0">
                <a:solidFill>
                  <a:prstClr val="black"/>
                </a:solidFill>
              </a:rPr>
              <a:t>大小是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pic>
        <p:nvPicPr>
          <p:cNvPr id="14" name="Google Shape;910;p82"/>
          <p:cNvPicPr preferRelativeResize="0"/>
          <p:nvPr/>
        </p:nvPicPr>
        <p:blipFill rotWithShape="1">
          <a:blip r:embed="rId4">
            <a:alphaModFix/>
          </a:blip>
          <a:srcRect r="79287" b="15304"/>
          <a:stretch/>
        </p:blipFill>
        <p:spPr>
          <a:xfrm>
            <a:off x="787570" y="4087918"/>
            <a:ext cx="307820" cy="417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11;p82"/>
          <p:cNvPicPr preferRelativeResize="0"/>
          <p:nvPr/>
        </p:nvPicPr>
        <p:blipFill rotWithShape="1">
          <a:blip r:embed="rId3">
            <a:alphaModFix/>
          </a:blip>
          <a:srcRect l="4506" t="36391" r="89819" b="49369"/>
          <a:stretch/>
        </p:blipFill>
        <p:spPr>
          <a:xfrm>
            <a:off x="1315824" y="4130729"/>
            <a:ext cx="187001" cy="500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912;p82"/>
          <p:cNvPicPr preferRelativeResize="0"/>
          <p:nvPr/>
        </p:nvPicPr>
        <p:blipFill rotWithShape="1">
          <a:blip r:embed="rId4">
            <a:alphaModFix/>
          </a:blip>
          <a:srcRect l="28171" r="53654" b="11079"/>
          <a:stretch/>
        </p:blipFill>
        <p:spPr>
          <a:xfrm>
            <a:off x="1700381" y="4146477"/>
            <a:ext cx="270105" cy="43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913;p82"/>
          <p:cNvPicPr preferRelativeResize="0"/>
          <p:nvPr/>
        </p:nvPicPr>
        <p:blipFill rotWithShape="1">
          <a:blip r:embed="rId3">
            <a:alphaModFix/>
          </a:blip>
          <a:srcRect l="5558" t="10206" r="88348" b="80737"/>
          <a:stretch/>
        </p:blipFill>
        <p:spPr>
          <a:xfrm>
            <a:off x="2131759" y="4206273"/>
            <a:ext cx="200822" cy="31856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951;p84"/>
          <p:cNvSpPr/>
          <p:nvPr/>
        </p:nvSpPr>
        <p:spPr>
          <a:xfrm>
            <a:off x="4817266" y="1735238"/>
            <a:ext cx="2205565" cy="9468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运行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整个训练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样本的均值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952;p84"/>
          <p:cNvSpPr/>
          <p:nvPr/>
        </p:nvSpPr>
        <p:spPr>
          <a:xfrm>
            <a:off x="4827730" y="2754781"/>
            <a:ext cx="2444963" cy="9468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defTabSz="685800"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运行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lang="zh-CN" altLang="en" sz="1865" dirty="0">
                <a:solidFill>
                  <a:prstClr val="black"/>
                </a:solidFill>
              </a:rPr>
              <a:t>整个训练</a:t>
            </a:r>
            <a:r>
              <a:rPr lang="zh-CN" altLang="en-US" sz="1865" dirty="0">
                <a:solidFill>
                  <a:prstClr val="black"/>
                </a:solidFill>
              </a:rPr>
              <a:t>样本的方差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74291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61;p80"/>
          <p:cNvPicPr preferRelativeResize="0"/>
          <p:nvPr/>
        </p:nvPicPr>
        <p:blipFill rotWithShape="1">
          <a:blip r:embed="rId2">
            <a:alphaModFix/>
          </a:blip>
          <a:srcRect t="1" b="-1267"/>
          <a:stretch/>
        </p:blipFill>
        <p:spPr>
          <a:xfrm>
            <a:off x="3955060" y="1693878"/>
            <a:ext cx="3296093" cy="35619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947" y="972140"/>
            <a:ext cx="5283419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批归一化</a:t>
            </a:r>
            <a:r>
              <a:rPr lang="en-US" altLang="zh-CN" dirty="0"/>
              <a:t>: </a:t>
            </a:r>
            <a:r>
              <a:rPr lang="zh-CN" altLang="en-US" dirty="0"/>
              <a:t>测试时间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0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45" y="3460930"/>
            <a:ext cx="1486137" cy="4927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07;p82"/>
          <p:cNvSpPr txBox="1"/>
          <p:nvPr/>
        </p:nvSpPr>
        <p:spPr>
          <a:xfrm>
            <a:off x="181203" y="2589144"/>
            <a:ext cx="3198667" cy="87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2399" b="1" dirty="0">
                <a:solidFill>
                  <a:prstClr val="black"/>
                </a:solidFill>
              </a:rPr>
              <a:t>可学习</a:t>
            </a:r>
            <a:r>
              <a:rPr lang="zh-CN" altLang="en-US" sz="2399" b="1" dirty="0">
                <a:solidFill>
                  <a:prstClr val="black"/>
                </a:solidFill>
              </a:rPr>
              <a:t>的尺度和平移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908;p82"/>
          <p:cNvSpPr txBox="1"/>
          <p:nvPr/>
        </p:nvSpPr>
        <p:spPr>
          <a:xfrm>
            <a:off x="6402397" y="4650128"/>
            <a:ext cx="1839028" cy="78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归一化 </a:t>
            </a:r>
            <a:r>
              <a:rPr lang="en" altLang="zh-CN" sz="2100" dirty="0">
                <a:solidFill>
                  <a:prstClr val="black"/>
                </a:solidFill>
              </a:rPr>
              <a:t>x,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大小</a:t>
            </a:r>
            <a:r>
              <a:rPr lang="en" altLang="zh-CN" sz="2100" dirty="0">
                <a:solidFill>
                  <a:prstClr val="black"/>
                </a:solidFill>
              </a:rPr>
              <a:t>N x D</a:t>
            </a:r>
          </a:p>
        </p:txBody>
      </p:sp>
      <p:pic>
        <p:nvPicPr>
          <p:cNvPr id="8" name="Google Shape;85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7942" y="1871951"/>
            <a:ext cx="1809279" cy="49277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60;p80"/>
          <p:cNvSpPr txBox="1"/>
          <p:nvPr/>
        </p:nvSpPr>
        <p:spPr>
          <a:xfrm>
            <a:off x="479491" y="1794778"/>
            <a:ext cx="1166696" cy="505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2399" b="1" dirty="0">
                <a:solidFill>
                  <a:prstClr val="black"/>
                </a:solidFill>
              </a:rPr>
              <a:t>输入</a:t>
            </a: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862;p80"/>
          <p:cNvSpPr txBox="1"/>
          <p:nvPr/>
        </p:nvSpPr>
        <p:spPr>
          <a:xfrm>
            <a:off x="7117421" y="1735237"/>
            <a:ext cx="2112953" cy="6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均值</a:t>
            </a:r>
            <a:r>
              <a:rPr lang="en-US" altLang="zh-CN" sz="2100" dirty="0">
                <a:solidFill>
                  <a:prstClr val="black"/>
                </a:solidFill>
              </a:rPr>
              <a:t>, </a:t>
            </a:r>
            <a:r>
              <a:rPr lang="zh-CN" altLang="en-US" sz="2100" dirty="0">
                <a:solidFill>
                  <a:prstClr val="black"/>
                </a:solidFill>
              </a:rPr>
              <a:t>大小是 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12" name="Google Shape;864;p80"/>
          <p:cNvSpPr txBox="1"/>
          <p:nvPr/>
        </p:nvSpPr>
        <p:spPr>
          <a:xfrm>
            <a:off x="6265433" y="3772659"/>
            <a:ext cx="2112953" cy="69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归一化 </a:t>
            </a:r>
            <a:r>
              <a:rPr lang="en" altLang="zh-CN" sz="2100" dirty="0">
                <a:solidFill>
                  <a:prstClr val="black"/>
                </a:solidFill>
              </a:rPr>
              <a:t>x,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大小 </a:t>
            </a:r>
            <a:r>
              <a:rPr lang="en" altLang="zh-CN" sz="2100" dirty="0">
                <a:solidFill>
                  <a:prstClr val="black"/>
                </a:solidFill>
              </a:rPr>
              <a:t>N x D</a:t>
            </a:r>
          </a:p>
        </p:txBody>
      </p:sp>
      <p:sp>
        <p:nvSpPr>
          <p:cNvPr id="13" name="Google Shape;862;p80"/>
          <p:cNvSpPr txBox="1"/>
          <p:nvPr/>
        </p:nvSpPr>
        <p:spPr>
          <a:xfrm>
            <a:off x="7221218" y="2805309"/>
            <a:ext cx="1905359" cy="769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每通道</a:t>
            </a:r>
          </a:p>
          <a:p>
            <a:pPr lvl="0" defTabSz="685800"/>
            <a:r>
              <a:rPr lang="en" altLang="zh-CN" sz="2100" dirty="0">
                <a:solidFill>
                  <a:prstClr val="black"/>
                </a:solidFill>
              </a:rPr>
              <a:t>std,</a:t>
            </a:r>
            <a:r>
              <a:rPr lang="zh-CN" altLang="en-US" sz="2100" dirty="0">
                <a:solidFill>
                  <a:prstClr val="black"/>
                </a:solidFill>
              </a:rPr>
              <a:t>大小是</a:t>
            </a:r>
            <a:r>
              <a:rPr lang="en" altLang="zh-CN" sz="2100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20" name="Google Shape;951;p84"/>
          <p:cNvSpPr/>
          <p:nvPr/>
        </p:nvSpPr>
        <p:spPr>
          <a:xfrm>
            <a:off x="4817266" y="1735238"/>
            <a:ext cx="2205565" cy="9468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defTabSz="685800">
              <a:defRPr/>
            </a:pPr>
            <a:r>
              <a:rPr lang="en-US" altLang="zh-CN" sz="1865" dirty="0">
                <a:solidFill>
                  <a:prstClr val="black"/>
                </a:solidFill>
              </a:rPr>
              <a:t>(</a:t>
            </a:r>
            <a:r>
              <a:rPr lang="zh-CN" altLang="en-US" sz="1865" dirty="0">
                <a:solidFill>
                  <a:prstClr val="black"/>
                </a:solidFill>
              </a:rPr>
              <a:t>运行</a:t>
            </a:r>
            <a:r>
              <a:rPr lang="en-US" altLang="zh-CN" sz="1865" dirty="0">
                <a:solidFill>
                  <a:prstClr val="black"/>
                </a:solidFill>
              </a:rPr>
              <a:t>) </a:t>
            </a:r>
            <a:r>
              <a:rPr lang="zh-CN" altLang="en-US" sz="1865" dirty="0">
                <a:solidFill>
                  <a:prstClr val="black"/>
                </a:solidFill>
              </a:rPr>
              <a:t>整个训练样本的均值</a:t>
            </a:r>
          </a:p>
        </p:txBody>
      </p:sp>
      <p:sp>
        <p:nvSpPr>
          <p:cNvPr id="21" name="Google Shape;952;p84"/>
          <p:cNvSpPr/>
          <p:nvPr/>
        </p:nvSpPr>
        <p:spPr>
          <a:xfrm>
            <a:off x="4827730" y="2754781"/>
            <a:ext cx="2444963" cy="9468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defTabSz="685800">
              <a:defRPr/>
            </a:pPr>
            <a:r>
              <a:rPr lang="en-US" altLang="zh-CN" sz="1865" dirty="0">
                <a:solidFill>
                  <a:prstClr val="black"/>
                </a:solidFill>
              </a:rPr>
              <a:t>(</a:t>
            </a:r>
            <a:r>
              <a:rPr lang="zh-CN" altLang="en-US" sz="1865" dirty="0">
                <a:solidFill>
                  <a:prstClr val="black"/>
                </a:solidFill>
              </a:rPr>
              <a:t>运行</a:t>
            </a:r>
            <a:r>
              <a:rPr lang="en-US" altLang="zh-CN" sz="1865" dirty="0">
                <a:solidFill>
                  <a:prstClr val="black"/>
                </a:solidFill>
              </a:rPr>
              <a:t>)</a:t>
            </a:r>
            <a:r>
              <a:rPr lang="zh-CN" altLang="en-US" sz="1865" dirty="0">
                <a:solidFill>
                  <a:prstClr val="black"/>
                </a:solidFill>
              </a:rPr>
              <a:t>整个训练样本的方差</a:t>
            </a:r>
          </a:p>
        </p:txBody>
      </p:sp>
      <p:sp>
        <p:nvSpPr>
          <p:cNvPr id="22" name="Google Shape;953;p84"/>
          <p:cNvSpPr txBox="1"/>
          <p:nvPr/>
        </p:nvSpPr>
        <p:spPr>
          <a:xfrm>
            <a:off x="168897" y="4045115"/>
            <a:ext cx="3613883" cy="13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en" altLang="zh-CN" sz="2100" dirty="0" err="1">
                <a:solidFill>
                  <a:srgbClr val="6AA84F"/>
                </a:solidFill>
              </a:rPr>
              <a:t>batchnorm</a:t>
            </a:r>
            <a:r>
              <a:rPr lang="en" altLang="zh-CN" sz="2100" dirty="0">
                <a:solidFill>
                  <a:srgbClr val="6AA84F"/>
                </a:solidFill>
              </a:rPr>
              <a:t> </a:t>
            </a:r>
            <a:r>
              <a:rPr lang="zh-CN" altLang="en" sz="2100" dirty="0">
                <a:solidFill>
                  <a:srgbClr val="6AA84F"/>
                </a:solidFill>
              </a:rPr>
              <a:t>在</a:t>
            </a:r>
            <a:r>
              <a:rPr lang="zh-CN" altLang="en-US" sz="2100" dirty="0">
                <a:solidFill>
                  <a:srgbClr val="6AA84F"/>
                </a:solidFill>
              </a:rPr>
              <a:t>测试过程中是一个线性操作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 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可以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与前一层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fully-connected or conv layer</a:t>
            </a: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混合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6AA8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79342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ConvNets</a:t>
            </a:r>
            <a:r>
              <a:rPr lang="zh-CN" altLang="en-US" dirty="0"/>
              <a:t>的批归一化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982;p86"/>
          <p:cNvSpPr txBox="1"/>
          <p:nvPr/>
        </p:nvSpPr>
        <p:spPr>
          <a:xfrm>
            <a:off x="450432" y="2891238"/>
            <a:ext cx="3703436" cy="246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 x: N × D</a:t>
            </a:r>
            <a:endParaRPr kumimoji="0" sz="29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𝞵,𝝈: 1 × D</a:t>
            </a:r>
            <a:endParaRPr kumimoji="0" sz="29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ɣ</a:t>
            </a:r>
            <a:r>
              <a:rPr kumimoji="0" lang="en" sz="29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,β: 1 × D</a:t>
            </a:r>
            <a:endParaRPr kumimoji="0" sz="29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y = </a:t>
            </a:r>
            <a:r>
              <a:rPr kumimoji="0" lang="en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ɣ</a:t>
            </a:r>
            <a:r>
              <a:rPr kumimoji="0" lang="en" sz="29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(x-𝞵)/𝝈+β</a:t>
            </a:r>
            <a:endParaRPr kumimoji="0" sz="29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983;p86"/>
          <p:cNvSpPr txBox="1"/>
          <p:nvPr/>
        </p:nvSpPr>
        <p:spPr>
          <a:xfrm>
            <a:off x="4900323" y="2891238"/>
            <a:ext cx="3751123" cy="246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 x: N×C×H×W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𝞵,𝝈: 1×C×1×1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ɣ,β: 1×C×1×1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y = ɣ(x-𝞵)/𝝈+β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" name="Google Shape;984;p86"/>
          <p:cNvCxnSpPr/>
          <p:nvPr/>
        </p:nvCxnSpPr>
        <p:spPr>
          <a:xfrm>
            <a:off x="1784960" y="3453217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85;p86"/>
          <p:cNvSpPr txBox="1"/>
          <p:nvPr/>
        </p:nvSpPr>
        <p:spPr>
          <a:xfrm>
            <a:off x="125117" y="3432372"/>
            <a:ext cx="1418031" cy="458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986;p86"/>
          <p:cNvCxnSpPr/>
          <p:nvPr/>
        </p:nvCxnSpPr>
        <p:spPr>
          <a:xfrm>
            <a:off x="6241224" y="3453217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987;p86"/>
          <p:cNvCxnSpPr/>
          <p:nvPr/>
        </p:nvCxnSpPr>
        <p:spPr>
          <a:xfrm>
            <a:off x="7160934" y="3453217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988;p86"/>
          <p:cNvCxnSpPr/>
          <p:nvPr/>
        </p:nvCxnSpPr>
        <p:spPr>
          <a:xfrm>
            <a:off x="7621914" y="3432372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989;p86"/>
          <p:cNvSpPr txBox="1"/>
          <p:nvPr/>
        </p:nvSpPr>
        <p:spPr>
          <a:xfrm>
            <a:off x="4522971" y="3453216"/>
            <a:ext cx="1418031" cy="458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990;p86"/>
          <p:cNvSpPr txBox="1"/>
          <p:nvPr/>
        </p:nvSpPr>
        <p:spPr>
          <a:xfrm>
            <a:off x="450432" y="1807748"/>
            <a:ext cx="3211264" cy="81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kumimoji="0" lang="e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fully-connected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网络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</a:t>
            </a:r>
            <a:r>
              <a:rPr lang="zh-CN" altLang="en-US" sz="2000" dirty="0"/>
              <a:t>批归一化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991;p86"/>
          <p:cNvSpPr txBox="1"/>
          <p:nvPr/>
        </p:nvSpPr>
        <p:spPr>
          <a:xfrm>
            <a:off x="4730480" y="1702897"/>
            <a:ext cx="4090808" cy="101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kumimoji="0" lang="e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Convolutional</a:t>
            </a:r>
            <a:r>
              <a:rPr lang="zh-CN" altLang="en-US" sz="2100" dirty="0">
                <a:solidFill>
                  <a:prstClr val="black"/>
                </a:solidFill>
              </a:rPr>
              <a:t>网络的批归一化</a:t>
            </a:r>
            <a:endParaRPr kumimoji="0" sz="2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空域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Batchnorm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BatchNorm2D)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02519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批归一化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999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58482" y="3937332"/>
            <a:ext cx="2875801" cy="94273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1000;p87"/>
          <p:cNvSpPr/>
          <p:nvPr/>
        </p:nvSpPr>
        <p:spPr>
          <a:xfrm>
            <a:off x="755728" y="1991825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1001;p87"/>
          <p:cNvSpPr/>
          <p:nvPr/>
        </p:nvSpPr>
        <p:spPr>
          <a:xfrm>
            <a:off x="755728" y="2528995"/>
            <a:ext cx="1547897" cy="336812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1002;p87"/>
          <p:cNvCxnSpPr/>
          <p:nvPr/>
        </p:nvCxnSpPr>
        <p:spPr>
          <a:xfrm>
            <a:off x="1529676" y="2328637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003;p87"/>
          <p:cNvSpPr/>
          <p:nvPr/>
        </p:nvSpPr>
        <p:spPr>
          <a:xfrm>
            <a:off x="755728" y="3031602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1004;p87"/>
          <p:cNvCxnSpPr/>
          <p:nvPr/>
        </p:nvCxnSpPr>
        <p:spPr>
          <a:xfrm>
            <a:off x="1529676" y="1620822"/>
            <a:ext cx="0" cy="37100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005;p87"/>
          <p:cNvCxnSpPr/>
          <p:nvPr/>
        </p:nvCxnSpPr>
        <p:spPr>
          <a:xfrm>
            <a:off x="1529676" y="2861898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06;p87"/>
          <p:cNvSpPr/>
          <p:nvPr/>
        </p:nvSpPr>
        <p:spPr>
          <a:xfrm>
            <a:off x="755728" y="3613802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007;p87"/>
          <p:cNvSpPr/>
          <p:nvPr/>
        </p:nvSpPr>
        <p:spPr>
          <a:xfrm>
            <a:off x="755728" y="4150972"/>
            <a:ext cx="1547897" cy="336812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Google Shape;1008;p87"/>
          <p:cNvCxnSpPr/>
          <p:nvPr/>
        </p:nvCxnSpPr>
        <p:spPr>
          <a:xfrm>
            <a:off x="1529676" y="3950614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009;p87"/>
          <p:cNvCxnSpPr/>
          <p:nvPr/>
        </p:nvCxnSpPr>
        <p:spPr>
          <a:xfrm>
            <a:off x="1529676" y="3386054"/>
            <a:ext cx="0" cy="23064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010;p87"/>
          <p:cNvCxnSpPr/>
          <p:nvPr/>
        </p:nvCxnSpPr>
        <p:spPr>
          <a:xfrm>
            <a:off x="1529676" y="4483875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011;p87"/>
          <p:cNvSpPr/>
          <p:nvPr/>
        </p:nvSpPr>
        <p:spPr>
          <a:xfrm>
            <a:off x="755728" y="4653580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Google Shape;1012;p87"/>
          <p:cNvCxnSpPr/>
          <p:nvPr/>
        </p:nvCxnSpPr>
        <p:spPr>
          <a:xfrm>
            <a:off x="1529676" y="4990392"/>
            <a:ext cx="0" cy="2381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1014;p87"/>
          <p:cNvSpPr txBox="1"/>
          <p:nvPr/>
        </p:nvSpPr>
        <p:spPr>
          <a:xfrm>
            <a:off x="3205940" y="1891676"/>
            <a:ext cx="5208143" cy="175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通常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插在全连接层或卷积层之后，非线性层之前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Google Shape;1015;p87"/>
          <p:cNvCxnSpPr/>
          <p:nvPr/>
        </p:nvCxnSpPr>
        <p:spPr>
          <a:xfrm rot="10800000">
            <a:off x="2531315" y="2697166"/>
            <a:ext cx="436986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" name="Google Shape;1016;p87"/>
          <p:cNvCxnSpPr/>
          <p:nvPr/>
        </p:nvCxnSpPr>
        <p:spPr>
          <a:xfrm flipH="1">
            <a:off x="2476454" y="2897489"/>
            <a:ext cx="519165" cy="13475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0" y="5390359"/>
            <a:ext cx="2409584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Ioffe</a:t>
            </a: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6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“Batch normalization: Accelerating deep network training by reducing internal covariate shift”, ICML 2015</a:t>
            </a:r>
          </a:p>
        </p:txBody>
      </p:sp>
    </p:spTree>
    <p:extLst>
      <p:ext uri="{BB962C8B-B14F-4D97-AF65-F5344CB8AC3E}">
        <p14:creationId xmlns:p14="http://schemas.microsoft.com/office/powerpoint/2010/main" val="153500906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批归一化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1000;p87"/>
          <p:cNvSpPr/>
          <p:nvPr/>
        </p:nvSpPr>
        <p:spPr>
          <a:xfrm>
            <a:off x="755728" y="1991825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1001;p87"/>
          <p:cNvSpPr/>
          <p:nvPr/>
        </p:nvSpPr>
        <p:spPr>
          <a:xfrm>
            <a:off x="755728" y="2528995"/>
            <a:ext cx="1547897" cy="336812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1002;p87"/>
          <p:cNvCxnSpPr/>
          <p:nvPr/>
        </p:nvCxnSpPr>
        <p:spPr>
          <a:xfrm>
            <a:off x="1529676" y="2328637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003;p87"/>
          <p:cNvSpPr/>
          <p:nvPr/>
        </p:nvSpPr>
        <p:spPr>
          <a:xfrm>
            <a:off x="755728" y="3031602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1004;p87"/>
          <p:cNvCxnSpPr/>
          <p:nvPr/>
        </p:nvCxnSpPr>
        <p:spPr>
          <a:xfrm>
            <a:off x="1529676" y="1620822"/>
            <a:ext cx="0" cy="37100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005;p87"/>
          <p:cNvCxnSpPr/>
          <p:nvPr/>
        </p:nvCxnSpPr>
        <p:spPr>
          <a:xfrm>
            <a:off x="1529676" y="2861898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06;p87"/>
          <p:cNvSpPr/>
          <p:nvPr/>
        </p:nvSpPr>
        <p:spPr>
          <a:xfrm>
            <a:off x="755728" y="3613802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007;p87"/>
          <p:cNvSpPr/>
          <p:nvPr/>
        </p:nvSpPr>
        <p:spPr>
          <a:xfrm>
            <a:off x="755728" y="4150972"/>
            <a:ext cx="1547897" cy="336812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Google Shape;1008;p87"/>
          <p:cNvCxnSpPr/>
          <p:nvPr/>
        </p:nvCxnSpPr>
        <p:spPr>
          <a:xfrm>
            <a:off x="1529676" y="3950614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009;p87"/>
          <p:cNvCxnSpPr/>
          <p:nvPr/>
        </p:nvCxnSpPr>
        <p:spPr>
          <a:xfrm>
            <a:off x="1529676" y="3386054"/>
            <a:ext cx="0" cy="23064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010;p87"/>
          <p:cNvCxnSpPr/>
          <p:nvPr/>
        </p:nvCxnSpPr>
        <p:spPr>
          <a:xfrm>
            <a:off x="1529676" y="4483875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011;p87"/>
          <p:cNvSpPr/>
          <p:nvPr/>
        </p:nvSpPr>
        <p:spPr>
          <a:xfrm>
            <a:off x="755728" y="4653580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Google Shape;1012;p87"/>
          <p:cNvCxnSpPr/>
          <p:nvPr/>
        </p:nvCxnSpPr>
        <p:spPr>
          <a:xfrm>
            <a:off x="1529676" y="4990392"/>
            <a:ext cx="0" cy="2381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1038;p88"/>
          <p:cNvSpPr txBox="1"/>
          <p:nvPr/>
        </p:nvSpPr>
        <p:spPr>
          <a:xfrm>
            <a:off x="2375187" y="1722990"/>
            <a:ext cx="6635018" cy="175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Tx/>
              <a:buChar char="-"/>
              <a:tabLst/>
              <a:defRPr/>
            </a:pPr>
            <a:r>
              <a:rPr lang="zh-CN" altLang="en-US" dirty="0">
                <a:solidFill>
                  <a:srgbClr val="38761D"/>
                </a:solidFill>
                <a:latin typeface="Calibri" panose="020F0502020204030204"/>
              </a:rPr>
              <a:t>使得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深度网络更容易训练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Tx/>
              <a:buChar char="-"/>
              <a:tabLst/>
              <a:defRPr/>
            </a:pP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允许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高的学习速率，快速收敛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Tx/>
              <a:buChar char="-"/>
              <a:tabLst/>
              <a:defRPr/>
            </a:pP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初始化更鲁棒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Tx/>
              <a:buChar char="-"/>
              <a:tabLst/>
              <a:defRPr/>
            </a:pP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类似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于训练过程中的正则化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Tx/>
              <a:buChar char="-"/>
              <a:tabLst/>
              <a:defRPr/>
            </a:pP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测试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过程中没有开销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与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融为一体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516" y="3288963"/>
            <a:ext cx="3750172" cy="214227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13207" y="5292737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训练迭代次数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40793" y="4158509"/>
            <a:ext cx="89872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 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精确率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5390359"/>
            <a:ext cx="2409584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Ioffe</a:t>
            </a: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6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“Batch normalization: Accelerating deep network training by reducing internal covariate shift”, ICML 2015</a:t>
            </a:r>
          </a:p>
        </p:txBody>
      </p:sp>
    </p:spTree>
    <p:extLst>
      <p:ext uri="{BB962C8B-B14F-4D97-AF65-F5344CB8AC3E}">
        <p14:creationId xmlns:p14="http://schemas.microsoft.com/office/powerpoint/2010/main" val="1903477528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批归一化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1000;p87"/>
          <p:cNvSpPr/>
          <p:nvPr/>
        </p:nvSpPr>
        <p:spPr>
          <a:xfrm>
            <a:off x="755728" y="1991825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1001;p87"/>
          <p:cNvSpPr/>
          <p:nvPr/>
        </p:nvSpPr>
        <p:spPr>
          <a:xfrm>
            <a:off x="755728" y="2528995"/>
            <a:ext cx="1547897" cy="336812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1002;p87"/>
          <p:cNvCxnSpPr/>
          <p:nvPr/>
        </p:nvCxnSpPr>
        <p:spPr>
          <a:xfrm>
            <a:off x="1529676" y="2328637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003;p87"/>
          <p:cNvSpPr/>
          <p:nvPr/>
        </p:nvSpPr>
        <p:spPr>
          <a:xfrm>
            <a:off x="755728" y="3031602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1004;p87"/>
          <p:cNvCxnSpPr/>
          <p:nvPr/>
        </p:nvCxnSpPr>
        <p:spPr>
          <a:xfrm>
            <a:off x="1529676" y="1620822"/>
            <a:ext cx="0" cy="37100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005;p87"/>
          <p:cNvCxnSpPr/>
          <p:nvPr/>
        </p:nvCxnSpPr>
        <p:spPr>
          <a:xfrm>
            <a:off x="1529676" y="2861898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06;p87"/>
          <p:cNvSpPr/>
          <p:nvPr/>
        </p:nvSpPr>
        <p:spPr>
          <a:xfrm>
            <a:off x="755728" y="3613802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007;p87"/>
          <p:cNvSpPr/>
          <p:nvPr/>
        </p:nvSpPr>
        <p:spPr>
          <a:xfrm>
            <a:off x="755728" y="4150972"/>
            <a:ext cx="1547897" cy="336812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Google Shape;1008;p87"/>
          <p:cNvCxnSpPr/>
          <p:nvPr/>
        </p:nvCxnSpPr>
        <p:spPr>
          <a:xfrm>
            <a:off x="1529676" y="3950614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009;p87"/>
          <p:cNvCxnSpPr/>
          <p:nvPr/>
        </p:nvCxnSpPr>
        <p:spPr>
          <a:xfrm>
            <a:off x="1529676" y="3386054"/>
            <a:ext cx="0" cy="23064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010;p87"/>
          <p:cNvCxnSpPr/>
          <p:nvPr/>
        </p:nvCxnSpPr>
        <p:spPr>
          <a:xfrm>
            <a:off x="1529676" y="4483875"/>
            <a:ext cx="0" cy="182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011;p87"/>
          <p:cNvSpPr/>
          <p:nvPr/>
        </p:nvSpPr>
        <p:spPr>
          <a:xfrm>
            <a:off x="755728" y="4653580"/>
            <a:ext cx="1547897" cy="33681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tanh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Google Shape;1012;p87"/>
          <p:cNvCxnSpPr/>
          <p:nvPr/>
        </p:nvCxnSpPr>
        <p:spPr>
          <a:xfrm>
            <a:off x="1529676" y="4990392"/>
            <a:ext cx="0" cy="2381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1038;p88"/>
          <p:cNvSpPr txBox="1"/>
          <p:nvPr/>
        </p:nvSpPr>
        <p:spPr>
          <a:xfrm>
            <a:off x="2375187" y="1722990"/>
            <a:ext cx="5508531" cy="24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457086" lvl="0" indent="-355511" defTabSz="685800">
              <a:buClr>
                <a:srgbClr val="38761D"/>
              </a:buClr>
              <a:buSzPts val="2000"/>
              <a:buFontTx/>
              <a:buChar char="-"/>
              <a:defRPr/>
            </a:pPr>
            <a:r>
              <a:rPr lang="zh-CN" altLang="en-US" dirty="0">
                <a:solidFill>
                  <a:srgbClr val="38761D"/>
                </a:solidFill>
              </a:rPr>
              <a:t>使得深度网络更容易训练</a:t>
            </a:r>
            <a:r>
              <a:rPr lang="en-US" altLang="zh-CN" dirty="0">
                <a:solidFill>
                  <a:srgbClr val="38761D"/>
                </a:solidFill>
              </a:rPr>
              <a:t>!</a:t>
            </a:r>
            <a:endParaRPr lang="zh-CN" altLang="en-US" dirty="0">
              <a:solidFill>
                <a:srgbClr val="38761D"/>
              </a:solidFill>
            </a:endParaRPr>
          </a:p>
          <a:p>
            <a:pPr marL="457086" lvl="0" indent="-355511" defTabSz="685800">
              <a:buClr>
                <a:srgbClr val="38761D"/>
              </a:buClr>
              <a:buSzPts val="2000"/>
              <a:buFontTx/>
              <a:buChar char="-"/>
              <a:defRPr/>
            </a:pPr>
            <a:r>
              <a:rPr lang="zh-CN" altLang="en-US" dirty="0">
                <a:solidFill>
                  <a:srgbClr val="38761D"/>
                </a:solidFill>
              </a:rPr>
              <a:t>允许高的学习速率，快速收敛</a:t>
            </a:r>
          </a:p>
          <a:p>
            <a:pPr marL="457086" lvl="0" indent="-355511" defTabSz="685800">
              <a:buClr>
                <a:srgbClr val="38761D"/>
              </a:buClr>
              <a:buSzPts val="2000"/>
              <a:buFontTx/>
              <a:buChar char="-"/>
              <a:defRPr/>
            </a:pPr>
            <a:r>
              <a:rPr lang="zh-CN" altLang="en-US" dirty="0">
                <a:solidFill>
                  <a:srgbClr val="38761D"/>
                </a:solidFill>
              </a:rPr>
              <a:t>网络初始化更鲁棒</a:t>
            </a:r>
          </a:p>
          <a:p>
            <a:pPr marL="457086" lvl="0" indent="-355511" defTabSz="685800">
              <a:buClr>
                <a:srgbClr val="38761D"/>
              </a:buClr>
              <a:buSzPts val="2000"/>
              <a:buFontTx/>
              <a:buChar char="-"/>
              <a:defRPr/>
            </a:pPr>
            <a:r>
              <a:rPr lang="zh-CN" altLang="en-US" dirty="0">
                <a:solidFill>
                  <a:srgbClr val="38761D"/>
                </a:solidFill>
              </a:rPr>
              <a:t>类似于训练过程中的正则化</a:t>
            </a:r>
          </a:p>
          <a:p>
            <a:pPr marL="457086" lvl="0" indent="-355511" defTabSz="685800">
              <a:buClr>
                <a:srgbClr val="38761D"/>
              </a:buClr>
              <a:buSzPts val="2000"/>
              <a:buFontTx/>
              <a:buChar char="-"/>
              <a:defRPr/>
            </a:pPr>
            <a:r>
              <a:rPr lang="zh-CN" altLang="en-US" dirty="0">
                <a:solidFill>
                  <a:srgbClr val="38761D"/>
                </a:solidFill>
              </a:rPr>
              <a:t>测试过程中没有开销</a:t>
            </a:r>
            <a:r>
              <a:rPr lang="en-US" altLang="zh-CN" dirty="0">
                <a:solidFill>
                  <a:srgbClr val="38761D"/>
                </a:solidFill>
              </a:rPr>
              <a:t>: </a:t>
            </a:r>
            <a:r>
              <a:rPr lang="zh-CN" altLang="en-US" dirty="0">
                <a:solidFill>
                  <a:srgbClr val="38761D"/>
                </a:solidFill>
              </a:rPr>
              <a:t>与 </a:t>
            </a:r>
            <a:r>
              <a:rPr lang="en" altLang="zh-CN" dirty="0">
                <a:solidFill>
                  <a:srgbClr val="38761D"/>
                </a:solidFill>
              </a:rPr>
              <a:t>conv </a:t>
            </a:r>
            <a:r>
              <a:rPr lang="zh-CN" altLang="en-US" dirty="0">
                <a:solidFill>
                  <a:srgbClr val="38761D"/>
                </a:solidFill>
              </a:rPr>
              <a:t>融为一体</a:t>
            </a:r>
            <a:r>
              <a:rPr lang="en-US" altLang="zh-CN" dirty="0">
                <a:solidFill>
                  <a:srgbClr val="38761D"/>
                </a:solidFill>
              </a:rPr>
              <a:t>!</a:t>
            </a:r>
            <a:endParaRPr lang="zh-CN" altLang="en-US" dirty="0">
              <a:solidFill>
                <a:srgbClr val="38761D"/>
              </a:solidFill>
            </a:endParaRPr>
          </a:p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Tx/>
              <a:buChar char="-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没有易于理解的理论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Tx/>
              <a:buChar char="-"/>
              <a:tabLst/>
              <a:defRPr/>
            </a:pPr>
            <a:r>
              <a:rPr lang="zh-CN" altLang="en-US" dirty="0">
                <a:solidFill>
                  <a:srgbClr val="CC0000"/>
                </a:solidFill>
                <a:latin typeface="Calibri" panose="020F0502020204030204"/>
              </a:rPr>
              <a:t>训练和测试过程中操作不一样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是一个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bugs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操作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390359"/>
            <a:ext cx="2409584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Ioffe</a:t>
            </a: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6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“Batch normalization: Accelerating deep network training by reducing internal covariate shift”, ICML 2015</a:t>
            </a:r>
          </a:p>
        </p:txBody>
      </p:sp>
    </p:spTree>
    <p:extLst>
      <p:ext uri="{BB962C8B-B14F-4D97-AF65-F5344CB8AC3E}">
        <p14:creationId xmlns:p14="http://schemas.microsoft.com/office/powerpoint/2010/main" val="395402242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层归一化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045;p89"/>
          <p:cNvSpPr txBox="1"/>
          <p:nvPr/>
        </p:nvSpPr>
        <p:spPr>
          <a:xfrm>
            <a:off x="450432" y="2735076"/>
            <a:ext cx="3703436" cy="246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 x: N × D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𝞵,𝝈: 1 × D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ɣ,β: 1 × D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y = ɣ(x-𝞵)/𝝈+β</a:t>
            </a: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1046;p89"/>
          <p:cNvSpPr txBox="1"/>
          <p:nvPr/>
        </p:nvSpPr>
        <p:spPr>
          <a:xfrm>
            <a:off x="4900323" y="2735076"/>
            <a:ext cx="3751123" cy="246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 x: N × D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𝞵,𝝈: N × 1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ɣ,β: 1 × D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y = ɣ(x-𝞵)/𝝈+β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" name="Google Shape;1047;p89"/>
          <p:cNvCxnSpPr/>
          <p:nvPr/>
        </p:nvCxnSpPr>
        <p:spPr>
          <a:xfrm>
            <a:off x="1784960" y="3297055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048;p89"/>
          <p:cNvSpPr txBox="1"/>
          <p:nvPr/>
        </p:nvSpPr>
        <p:spPr>
          <a:xfrm>
            <a:off x="125117" y="3276210"/>
            <a:ext cx="1418031" cy="458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1049;p89"/>
          <p:cNvCxnSpPr/>
          <p:nvPr/>
        </p:nvCxnSpPr>
        <p:spPr>
          <a:xfrm>
            <a:off x="7160934" y="3297055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050;p89"/>
          <p:cNvSpPr txBox="1"/>
          <p:nvPr/>
        </p:nvSpPr>
        <p:spPr>
          <a:xfrm>
            <a:off x="4522971" y="3297054"/>
            <a:ext cx="1418031" cy="458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1051;p89"/>
          <p:cNvSpPr txBox="1"/>
          <p:nvPr/>
        </p:nvSpPr>
        <p:spPr>
          <a:xfrm>
            <a:off x="4572001" y="1320619"/>
            <a:ext cx="4213271" cy="145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en" altLang="zh-CN" sz="2100" b="1" dirty="0">
                <a:solidFill>
                  <a:prstClr val="black"/>
                </a:solidFill>
              </a:rPr>
              <a:t>fully-connected</a:t>
            </a:r>
            <a:r>
              <a:rPr lang="en" altLang="zh-CN" sz="2100" dirty="0">
                <a:solidFill>
                  <a:prstClr val="black"/>
                </a:solidFill>
              </a:rPr>
              <a:t> </a:t>
            </a:r>
            <a:r>
              <a:rPr lang="zh-CN" altLang="en-US" sz="2100" dirty="0">
                <a:solidFill>
                  <a:prstClr val="black"/>
                </a:solidFill>
              </a:rPr>
              <a:t>网络的</a:t>
            </a:r>
            <a:r>
              <a:rPr kumimoji="0" lang="zh-CN" altLang="e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层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和测试过程相同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在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RNNs, Transformers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中使用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1052;p89"/>
          <p:cNvSpPr txBox="1"/>
          <p:nvPr/>
        </p:nvSpPr>
        <p:spPr>
          <a:xfrm>
            <a:off x="450432" y="1901029"/>
            <a:ext cx="3217496" cy="77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en" altLang="zh-CN" sz="2100" b="1" dirty="0">
                <a:solidFill>
                  <a:prstClr val="black"/>
                </a:solidFill>
              </a:rPr>
              <a:t>fully-connected</a:t>
            </a:r>
            <a:r>
              <a:rPr lang="en" altLang="zh-CN" sz="2100" dirty="0">
                <a:solidFill>
                  <a:prstClr val="black"/>
                </a:solidFill>
              </a:rPr>
              <a:t> </a:t>
            </a:r>
            <a:r>
              <a:rPr lang="zh-CN" altLang="en-US" sz="2100" dirty="0">
                <a:solidFill>
                  <a:prstClr val="black"/>
                </a:solidFill>
              </a:rPr>
              <a:t>网络的</a:t>
            </a:r>
            <a:r>
              <a:rPr lang="zh-CN" altLang="en-US" sz="2000" b="1" dirty="0"/>
              <a:t>批归一化</a:t>
            </a:r>
            <a:endParaRPr lang="zh-CN" altLang="en-US" sz="2100" b="1" dirty="0">
              <a:solidFill>
                <a:prstClr val="black"/>
              </a:solidFill>
            </a:endParaRPr>
          </a:p>
        </p:txBody>
      </p:sp>
      <p:sp>
        <p:nvSpPr>
          <p:cNvPr id="12" name="Google Shape;1053;p89"/>
          <p:cNvSpPr/>
          <p:nvPr/>
        </p:nvSpPr>
        <p:spPr>
          <a:xfrm>
            <a:off x="4522972" y="3276210"/>
            <a:ext cx="2794372" cy="980444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054;p89"/>
          <p:cNvSpPr/>
          <p:nvPr/>
        </p:nvSpPr>
        <p:spPr>
          <a:xfrm>
            <a:off x="125118" y="3276210"/>
            <a:ext cx="2794372" cy="980444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1055;p89"/>
          <p:cNvSpPr txBox="1"/>
          <p:nvPr/>
        </p:nvSpPr>
        <p:spPr>
          <a:xfrm>
            <a:off x="-12247" y="5376183"/>
            <a:ext cx="3771901" cy="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Ba, </a:t>
            </a:r>
            <a:r>
              <a:rPr kumimoji="0" lang="e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Kiros</a:t>
            </a: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Hinton, “Layer Normalization”, </a:t>
            </a:r>
            <a:r>
              <a:rPr kumimoji="0" lang="e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arXiv</a:t>
            </a: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2016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30767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实例归一化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072;p90"/>
          <p:cNvSpPr txBox="1"/>
          <p:nvPr/>
        </p:nvSpPr>
        <p:spPr>
          <a:xfrm>
            <a:off x="12247" y="5376182"/>
            <a:ext cx="8021411" cy="25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Ulyanov et al, Improved Texture Networks: Maximizing Quality and Diversity in Feed-forward Stylization and Texture Synthesis, CVPR 2017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1060;p90"/>
          <p:cNvSpPr/>
          <p:nvPr/>
        </p:nvSpPr>
        <p:spPr>
          <a:xfrm>
            <a:off x="4522972" y="2819379"/>
            <a:ext cx="3500988" cy="1411733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1061;p90"/>
          <p:cNvSpPr/>
          <p:nvPr/>
        </p:nvSpPr>
        <p:spPr>
          <a:xfrm>
            <a:off x="125117" y="2819379"/>
            <a:ext cx="3403214" cy="1411733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1064;p90"/>
          <p:cNvSpPr txBox="1"/>
          <p:nvPr/>
        </p:nvSpPr>
        <p:spPr>
          <a:xfrm>
            <a:off x="450432" y="2722830"/>
            <a:ext cx="3703436" cy="246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 x: N×C×H×W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𝞵,𝝈: 1×C×1×1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ɣ,β: 1×C×1×1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y = ɣ(x-𝞵)/𝝈+β</a:t>
            </a: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1065;p90"/>
          <p:cNvSpPr txBox="1"/>
          <p:nvPr/>
        </p:nvSpPr>
        <p:spPr>
          <a:xfrm>
            <a:off x="4900323" y="2722830"/>
            <a:ext cx="3751123" cy="246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 x: N×C×H×W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𝞵,𝝈: N×C×1×1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ɣ,β: 1×C×1×1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y = ɣ(x-𝞵)/𝝈+β</a:t>
            </a:r>
            <a:endParaRPr kumimoji="0" sz="29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" name="Google Shape;1066;p90"/>
          <p:cNvCxnSpPr/>
          <p:nvPr/>
        </p:nvCxnSpPr>
        <p:spPr>
          <a:xfrm>
            <a:off x="1784960" y="3284809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1067;p90"/>
          <p:cNvSpPr txBox="1"/>
          <p:nvPr/>
        </p:nvSpPr>
        <p:spPr>
          <a:xfrm>
            <a:off x="125117" y="3263964"/>
            <a:ext cx="1418031" cy="458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Google Shape;1068;p90"/>
          <p:cNvCxnSpPr/>
          <p:nvPr/>
        </p:nvCxnSpPr>
        <p:spPr>
          <a:xfrm>
            <a:off x="7160934" y="3284809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069;p90"/>
          <p:cNvSpPr txBox="1"/>
          <p:nvPr/>
        </p:nvSpPr>
        <p:spPr>
          <a:xfrm>
            <a:off x="4522971" y="3284808"/>
            <a:ext cx="1418031" cy="458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070;p90"/>
          <p:cNvSpPr txBox="1"/>
          <p:nvPr/>
        </p:nvSpPr>
        <p:spPr>
          <a:xfrm>
            <a:off x="4655692" y="1606221"/>
            <a:ext cx="3368268" cy="98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en" altLang="zh-CN" sz="2100" dirty="0">
                <a:solidFill>
                  <a:prstClr val="black"/>
                </a:solidFill>
              </a:rPr>
              <a:t>convolutional</a:t>
            </a:r>
            <a:r>
              <a:rPr lang="zh-CN" altLang="en-US" sz="2100" dirty="0">
                <a:solidFill>
                  <a:prstClr val="black"/>
                </a:solidFill>
              </a:rPr>
              <a:t>网络的</a:t>
            </a:r>
            <a:r>
              <a:rPr lang="zh-CN" altLang="en" sz="2100" b="1" dirty="0">
                <a:solidFill>
                  <a:prstClr val="black"/>
                </a:solidFill>
                <a:latin typeface="Calibri" panose="020F0502020204030204"/>
              </a:rPr>
              <a:t>实例</a:t>
            </a:r>
            <a:r>
              <a:rPr kumimoji="0" lang="zh-CN" altLang="e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lvl="0" defTabSz="685800">
              <a:defRPr/>
            </a:pPr>
            <a:r>
              <a:rPr lang="zh-CN" altLang="en-US" sz="2100" dirty="0">
                <a:solidFill>
                  <a:prstClr val="black"/>
                </a:solidFill>
              </a:rPr>
              <a:t>训练和测试过程相同</a:t>
            </a:r>
            <a:r>
              <a:rPr lang="en-US" altLang="zh-CN" sz="2100" dirty="0">
                <a:solidFill>
                  <a:prstClr val="black"/>
                </a:solidFill>
              </a:rPr>
              <a:t>!</a:t>
            </a:r>
            <a:endParaRPr lang="zh-CN" altLang="en-US" sz="2100" dirty="0">
              <a:solidFill>
                <a:prstClr val="black"/>
              </a:solidFill>
            </a:endParaRPr>
          </a:p>
        </p:txBody>
      </p:sp>
      <p:sp>
        <p:nvSpPr>
          <p:cNvPr id="14" name="Google Shape;1071;p90"/>
          <p:cNvSpPr txBox="1"/>
          <p:nvPr/>
        </p:nvSpPr>
        <p:spPr>
          <a:xfrm>
            <a:off x="353383" y="1865003"/>
            <a:ext cx="2946683" cy="78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en" altLang="zh-CN" sz="2100" dirty="0">
                <a:solidFill>
                  <a:prstClr val="black"/>
                </a:solidFill>
              </a:rPr>
              <a:t>convolutional</a:t>
            </a:r>
            <a:r>
              <a:rPr lang="zh-CN" altLang="en-US" sz="2100" dirty="0">
                <a:solidFill>
                  <a:prstClr val="black"/>
                </a:solidFill>
              </a:rPr>
              <a:t>网络的</a:t>
            </a:r>
            <a:r>
              <a:rPr lang="zh-CN" altLang="en-US" sz="2000" dirty="0"/>
              <a:t>批归一化</a:t>
            </a:r>
            <a:endParaRPr lang="zh-CN" altLang="en-US" sz="2100" dirty="0">
              <a:solidFill>
                <a:prstClr val="black"/>
              </a:solidFill>
            </a:endParaRPr>
          </a:p>
        </p:txBody>
      </p:sp>
      <p:cxnSp>
        <p:nvCxnSpPr>
          <p:cNvPr id="15" name="Google Shape;1073;p90"/>
          <p:cNvCxnSpPr/>
          <p:nvPr/>
        </p:nvCxnSpPr>
        <p:spPr>
          <a:xfrm>
            <a:off x="2704695" y="3284809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074;p90"/>
          <p:cNvCxnSpPr/>
          <p:nvPr/>
        </p:nvCxnSpPr>
        <p:spPr>
          <a:xfrm>
            <a:off x="3165650" y="3284809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075;p90"/>
          <p:cNvCxnSpPr/>
          <p:nvPr/>
        </p:nvCxnSpPr>
        <p:spPr>
          <a:xfrm>
            <a:off x="7621889" y="3284809"/>
            <a:ext cx="0" cy="41719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3712341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归一化层的比较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081;p91"/>
          <p:cNvPicPr preferRelativeResize="0"/>
          <p:nvPr/>
        </p:nvPicPr>
        <p:blipFill rotWithShape="1">
          <a:blip r:embed="rId2">
            <a:alphaModFix/>
          </a:blip>
          <a:srcRect r="25573"/>
          <a:stretch/>
        </p:blipFill>
        <p:spPr>
          <a:xfrm>
            <a:off x="53069" y="2199378"/>
            <a:ext cx="6687771" cy="25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83;p91"/>
          <p:cNvSpPr txBox="1"/>
          <p:nvPr/>
        </p:nvSpPr>
        <p:spPr>
          <a:xfrm>
            <a:off x="0" y="5337532"/>
            <a:ext cx="2951390" cy="2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Wu and He, “Group Normalization”, ECCV 2018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33250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组归一化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081;p91"/>
          <p:cNvPicPr preferRelativeResize="0"/>
          <p:nvPr/>
        </p:nvPicPr>
        <p:blipFill rotWithShape="1">
          <a:blip r:embed="rId2">
            <a:alphaModFix/>
          </a:blip>
          <a:srcRect l="-1" r="283"/>
          <a:stretch/>
        </p:blipFill>
        <p:spPr>
          <a:xfrm>
            <a:off x="53068" y="2199378"/>
            <a:ext cx="8960303" cy="25831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83;p91"/>
          <p:cNvSpPr txBox="1"/>
          <p:nvPr/>
        </p:nvSpPr>
        <p:spPr>
          <a:xfrm>
            <a:off x="0" y="5337532"/>
            <a:ext cx="2951390" cy="2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Wu and He, “Group Normalization”, ECCV 2018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38347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6.2.1.</a:t>
            </a:r>
            <a:r>
              <a:rPr lang="zh-CN" altLang="en-US" dirty="0"/>
              <a:t>卷积神经网络的组成</a:t>
            </a:r>
            <a:endParaRPr lang="en-US" altLang="zh-CN" dirty="0"/>
          </a:p>
          <a:p>
            <a:r>
              <a:rPr lang="en-US" altLang="zh-CN" dirty="0"/>
              <a:t>6.2.2.</a:t>
            </a:r>
            <a:r>
              <a:rPr lang="zh-CN" altLang="en-US" dirty="0"/>
              <a:t>卷积层</a:t>
            </a:r>
            <a:endParaRPr lang="en-US" dirty="0"/>
          </a:p>
          <a:p>
            <a:r>
              <a:rPr lang="en-US" altLang="zh-CN" dirty="0"/>
              <a:t>6.2.3.</a:t>
            </a:r>
            <a:r>
              <a:rPr lang="zh-CN" altLang="en-US" dirty="0"/>
              <a:t>池化与归一化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6.2.4.</a:t>
            </a:r>
            <a:r>
              <a:rPr lang="zh-CN" altLang="en-US" dirty="0">
                <a:solidFill>
                  <a:srgbClr val="00B050"/>
                </a:solidFill>
              </a:rPr>
              <a:t>卷积神经网络的训练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59772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总括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10 -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3778" y="1933014"/>
            <a:ext cx="78564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alibri" panose="020F0502020204030204"/>
              </a:rPr>
              <a:t>直接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设置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激活函数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数据预处理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权重初始化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正则化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训练过程中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学习速率计划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批次大小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超参数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训练后设置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模型集成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迁移学习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344029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数据预处理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11 -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55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849" y="2217193"/>
            <a:ext cx="7472303" cy="2572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685774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08174-1BC2-1A44-ABE8-32C91BD5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623B7C1-2EF1-1241-90C6-3E698573D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993F69-B8F8-3843-9F20-504775771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74" y="2209800"/>
            <a:ext cx="3781654" cy="3429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6F9C53-2144-1144-876E-7C092B177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133600"/>
            <a:ext cx="4000500" cy="30513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1D60FDC-ECF6-974F-B6AF-A7FFF25AE201}"/>
              </a:ext>
            </a:extLst>
          </p:cNvPr>
          <p:cNvSpPr txBox="1"/>
          <p:nvPr/>
        </p:nvSpPr>
        <p:spPr>
          <a:xfrm>
            <a:off x="776056" y="13335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归一化之前：损失对权重矩阵变化敏感；难于优化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2F86D5-FE00-B14F-9ADC-6FFE4A04BDE1}"/>
              </a:ext>
            </a:extLst>
          </p:cNvPr>
          <p:cNvSpPr txBox="1"/>
          <p:nvPr/>
        </p:nvSpPr>
        <p:spPr>
          <a:xfrm>
            <a:off x="4972050" y="131108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归一化之后：对权重矩阵变化敏感程度降低；易于优化</a:t>
            </a:r>
          </a:p>
        </p:txBody>
      </p:sp>
    </p:spTree>
    <p:extLst>
      <p:ext uri="{BB962C8B-B14F-4D97-AF65-F5344CB8AC3E}">
        <p14:creationId xmlns:p14="http://schemas.microsoft.com/office/powerpoint/2010/main" val="22527330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权重初始化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11 -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198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766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9559" y="3671339"/>
            <a:ext cx="8722529" cy="1704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6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1" y="1927545"/>
            <a:ext cx="5424586" cy="16286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69;p72"/>
          <p:cNvSpPr txBox="1"/>
          <p:nvPr/>
        </p:nvSpPr>
        <p:spPr>
          <a:xfrm>
            <a:off x="2637764" y="1775180"/>
            <a:ext cx="2858555" cy="78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endParaRPr sz="170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7" name="Google Shape;770;p72"/>
          <p:cNvSpPr txBox="1"/>
          <p:nvPr/>
        </p:nvSpPr>
        <p:spPr>
          <a:xfrm>
            <a:off x="5561902" y="1775180"/>
            <a:ext cx="3102392" cy="78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endParaRPr sz="1799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8" name="Google Shape;771;p72"/>
          <p:cNvSpPr txBox="1"/>
          <p:nvPr/>
        </p:nvSpPr>
        <p:spPr>
          <a:xfrm>
            <a:off x="5634157" y="1845325"/>
            <a:ext cx="3297941" cy="162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</a:rPr>
              <a:t>/sqrt(Din)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</a:rPr>
              <a:t>目的</a:t>
            </a:r>
            <a:r>
              <a:rPr lang="en" sz="20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" sz="2000" dirty="0">
                <a:solidFill>
                  <a:prstClr val="black"/>
                </a:solidFill>
                <a:latin typeface="Calibri" panose="020F0502020204030204"/>
              </a:rPr>
              <a:t>使得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</a:rPr>
              <a:t>初始情况下每层的权重分布相当</a:t>
            </a:r>
            <a:r>
              <a:rPr lang="en" sz="2000" dirty="0">
                <a:solidFill>
                  <a:prstClr val="black"/>
                </a:solidFill>
                <a:latin typeface="Calibri" panose="020F0502020204030204"/>
              </a:rPr>
              <a:t>!</a:t>
            </a:r>
            <a:endParaRPr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773;p72"/>
          <p:cNvSpPr txBox="1"/>
          <p:nvPr/>
        </p:nvSpPr>
        <p:spPr>
          <a:xfrm>
            <a:off x="2875502" y="1845325"/>
            <a:ext cx="2191529" cy="78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700" dirty="0">
                <a:solidFill>
                  <a:srgbClr val="0000FF"/>
                </a:solidFill>
                <a:latin typeface="Calibri" panose="020F0502020204030204"/>
              </a:rPr>
              <a:t>“Xavier” </a:t>
            </a:r>
            <a:r>
              <a:rPr lang="zh-CN" altLang="en" sz="1700" dirty="0">
                <a:solidFill>
                  <a:srgbClr val="0000FF"/>
                </a:solidFill>
                <a:latin typeface="Calibri" panose="020F0502020204030204"/>
              </a:rPr>
              <a:t>初始化</a:t>
            </a:r>
            <a:r>
              <a:rPr lang="en" sz="1700" dirty="0">
                <a:solidFill>
                  <a:srgbClr val="0000FF"/>
                </a:solidFill>
                <a:latin typeface="Calibri" panose="020F0502020204030204"/>
              </a:rPr>
              <a:t>: </a:t>
            </a:r>
            <a:br>
              <a:rPr lang="en" sz="1700" dirty="0">
                <a:solidFill>
                  <a:srgbClr val="0000FF"/>
                </a:solidFill>
                <a:latin typeface="Calibri" panose="020F0502020204030204"/>
              </a:rPr>
            </a:br>
            <a:r>
              <a:rPr lang="en" sz="1700" dirty="0">
                <a:solidFill>
                  <a:srgbClr val="0000FF"/>
                </a:solidFill>
                <a:latin typeface="Calibri" panose="020F0502020204030204"/>
              </a:rPr>
              <a:t>std = 1/sqrt(Din)</a:t>
            </a:r>
            <a:endParaRPr sz="1700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0" name="Google Shape;772;p72"/>
          <p:cNvSpPr/>
          <p:nvPr/>
        </p:nvSpPr>
        <p:spPr>
          <a:xfrm>
            <a:off x="517090" y="2842029"/>
            <a:ext cx="4979303" cy="263332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Google Shape;774;p72"/>
          <p:cNvSpPr txBox="1"/>
          <p:nvPr/>
        </p:nvSpPr>
        <p:spPr>
          <a:xfrm>
            <a:off x="-1" y="5405465"/>
            <a:ext cx="6839419" cy="23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00" dirty="0" err="1">
                <a:solidFill>
                  <a:prstClr val="black"/>
                </a:solidFill>
                <a:latin typeface="Calibri" panose="020F0502020204030204"/>
              </a:rPr>
              <a:t>Glorot</a:t>
            </a:r>
            <a:r>
              <a:rPr lang="en" sz="1000" dirty="0">
                <a:solidFill>
                  <a:prstClr val="black"/>
                </a:solidFill>
                <a:latin typeface="Calibri" panose="020F0502020204030204"/>
              </a:rPr>
              <a:t> and </a:t>
            </a:r>
            <a:r>
              <a:rPr lang="en" sz="1000" dirty="0" err="1">
                <a:solidFill>
                  <a:prstClr val="black"/>
                </a:solidFill>
                <a:latin typeface="Calibri" panose="020F0502020204030204"/>
              </a:rPr>
              <a:t>Bengio</a:t>
            </a:r>
            <a:r>
              <a:rPr lang="en" sz="1000" dirty="0">
                <a:solidFill>
                  <a:prstClr val="black"/>
                </a:solidFill>
                <a:latin typeface="Calibri" panose="020F0502020204030204"/>
              </a:rPr>
              <a:t>, “Understanding the difficulty of training deep feedforward neural networks”, AISTAT 2010</a:t>
            </a:r>
            <a:endParaRPr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1421438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8B6D7B-447D-1A4C-99EF-CCFBAD069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F98CB2-F9DE-0F4B-B2E6-85567D9D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权重初始化</a:t>
            </a:r>
            <a:endParaRPr lang="en-US" dirty="0"/>
          </a:p>
        </p:txBody>
      </p:sp>
      <p:sp>
        <p:nvSpPr>
          <p:cNvPr id="6" name="Google Shape;773;p72">
            <a:extLst>
              <a:ext uri="{FF2B5EF4-FFF2-40B4-BE49-F238E27FC236}">
                <a16:creationId xmlns:a16="http://schemas.microsoft.com/office/drawing/2014/main" id="{C347ADDA-AC3A-E14A-9AE6-32F18FF6B5FF}"/>
              </a:ext>
            </a:extLst>
          </p:cNvPr>
          <p:cNvSpPr txBox="1"/>
          <p:nvPr/>
        </p:nvSpPr>
        <p:spPr>
          <a:xfrm>
            <a:off x="6781800" y="1524000"/>
            <a:ext cx="2191529" cy="78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700" dirty="0">
                <a:solidFill>
                  <a:srgbClr val="0000FF"/>
                </a:solidFill>
                <a:latin typeface="Calibri" panose="020F0502020204030204"/>
              </a:rPr>
              <a:t>“Xavier” </a:t>
            </a:r>
            <a:r>
              <a:rPr lang="zh-CN" altLang="en" sz="1700" dirty="0">
                <a:solidFill>
                  <a:srgbClr val="0000FF"/>
                </a:solidFill>
                <a:latin typeface="Calibri" panose="020F0502020204030204"/>
              </a:rPr>
              <a:t>初始化</a:t>
            </a:r>
            <a:r>
              <a:rPr lang="en" sz="1700" dirty="0">
                <a:solidFill>
                  <a:srgbClr val="0000FF"/>
                </a:solidFill>
                <a:latin typeface="Calibri" panose="020F0502020204030204"/>
              </a:rPr>
              <a:t>: </a:t>
            </a:r>
            <a:br>
              <a:rPr lang="en" sz="1700" dirty="0">
                <a:solidFill>
                  <a:srgbClr val="0000FF"/>
                </a:solidFill>
                <a:latin typeface="Calibri" panose="020F0502020204030204"/>
              </a:rPr>
            </a:br>
            <a:r>
              <a:rPr lang="en" sz="1700" dirty="0">
                <a:solidFill>
                  <a:srgbClr val="0000FF"/>
                </a:solidFill>
                <a:latin typeface="Calibri" panose="020F0502020204030204"/>
              </a:rPr>
              <a:t>std = 1/sqrt(Din)</a:t>
            </a:r>
            <a:endParaRPr sz="1700" dirty="0">
              <a:solidFill>
                <a:srgbClr val="0000FF"/>
              </a:solidFill>
              <a:latin typeface="Calibri" panose="020F0502020204030204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1D02A50-CF1F-5842-9F84-338F3DC5B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" y="2209800"/>
            <a:ext cx="9144000" cy="33426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DABF4AC-CC75-4B48-8817-44981CD4CA47}"/>
              </a:ext>
            </a:extLst>
          </p:cNvPr>
          <p:cNvSpPr txBox="1"/>
          <p:nvPr/>
        </p:nvSpPr>
        <p:spPr>
          <a:xfrm>
            <a:off x="628650" y="1524000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输出方差 </a:t>
            </a:r>
            <a:r>
              <a:rPr kumimoji="1" lang="en-US" altLang="zh-CN" dirty="0"/>
              <a:t>=</a:t>
            </a:r>
            <a:r>
              <a:rPr kumimoji="1" lang="zh-CN" altLang="en-US" dirty="0"/>
              <a:t> 输入方差 推导</a:t>
            </a:r>
          </a:p>
        </p:txBody>
      </p:sp>
    </p:spTree>
    <p:extLst>
      <p:ext uri="{BB962C8B-B14F-4D97-AF65-F5344CB8AC3E}">
        <p14:creationId xmlns:p14="http://schemas.microsoft.com/office/powerpoint/2010/main" val="365376335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数据增强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11 -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Google Shape;1321;p91"/>
          <p:cNvCxnSpPr/>
          <p:nvPr/>
        </p:nvCxnSpPr>
        <p:spPr>
          <a:xfrm rot="-5400000" flipH="1">
            <a:off x="3676392" y="4050658"/>
            <a:ext cx="600" cy="1155299"/>
          </a:xfrm>
          <a:prstGeom prst="curvedConnector3">
            <a:avLst>
              <a:gd name="adj1" fmla="val 39688562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Google Shape;1324;p91"/>
          <p:cNvSpPr txBox="1"/>
          <p:nvPr/>
        </p:nvSpPr>
        <p:spPr>
          <a:xfrm>
            <a:off x="2718874" y="4887333"/>
            <a:ext cx="2030968" cy="3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图像变换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oogle Shape;1323;p91"/>
          <p:cNvPicPr preferRelativeResize="0"/>
          <p:nvPr/>
        </p:nvPicPr>
        <p:blipFill rotWithShape="1">
          <a:blip r:embed="rId2">
            <a:alphaModFix/>
          </a:blip>
          <a:srcRect t="13186"/>
          <a:stretch/>
        </p:blipFill>
        <p:spPr>
          <a:xfrm flipH="1">
            <a:off x="3758750" y="3253571"/>
            <a:ext cx="991092" cy="13744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90;p90"/>
          <p:cNvSpPr/>
          <p:nvPr/>
        </p:nvSpPr>
        <p:spPr>
          <a:xfrm>
            <a:off x="303498" y="3549827"/>
            <a:ext cx="1068922" cy="857177"/>
          </a:xfrm>
          <a:prstGeom prst="can">
            <a:avLst>
              <a:gd name="adj" fmla="val 25000"/>
            </a:avLst>
          </a:prstGeom>
          <a:solidFill>
            <a:srgbClr val="CC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1291;p90"/>
          <p:cNvCxnSpPr/>
          <p:nvPr/>
        </p:nvCxnSpPr>
        <p:spPr>
          <a:xfrm>
            <a:off x="1586164" y="3997760"/>
            <a:ext cx="753404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292;p90"/>
          <p:cNvSpPr txBox="1"/>
          <p:nvPr/>
        </p:nvSpPr>
        <p:spPr>
          <a:xfrm>
            <a:off x="1064508" y="2284665"/>
            <a:ext cx="1422184" cy="786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原始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图片和标签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1293;p90"/>
          <p:cNvSpPr txBox="1"/>
          <p:nvPr/>
        </p:nvSpPr>
        <p:spPr>
          <a:xfrm>
            <a:off x="3168778" y="2409425"/>
            <a:ext cx="728210" cy="3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猫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Google Shape;1294;p90"/>
          <p:cNvCxnSpPr/>
          <p:nvPr/>
        </p:nvCxnSpPr>
        <p:spPr>
          <a:xfrm rot="10800000" flipH="1">
            <a:off x="1535403" y="2606173"/>
            <a:ext cx="1633375" cy="963949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1295;p90"/>
          <p:cNvSpPr/>
          <p:nvPr/>
        </p:nvSpPr>
        <p:spPr>
          <a:xfrm rot="5399177">
            <a:off x="5657222" y="3442003"/>
            <a:ext cx="1252174" cy="111151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Google Shape;1296;p90"/>
          <p:cNvCxnSpPr/>
          <p:nvPr/>
        </p:nvCxnSpPr>
        <p:spPr>
          <a:xfrm>
            <a:off x="4855221" y="3978416"/>
            <a:ext cx="745479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1297;p90"/>
          <p:cNvSpPr txBox="1"/>
          <p:nvPr/>
        </p:nvSpPr>
        <p:spPr>
          <a:xfrm>
            <a:off x="5834036" y="3801013"/>
            <a:ext cx="898566" cy="3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1298;p90"/>
          <p:cNvSpPr txBox="1"/>
          <p:nvPr/>
        </p:nvSpPr>
        <p:spPr>
          <a:xfrm>
            <a:off x="7708575" y="3071302"/>
            <a:ext cx="1435426" cy="72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计算损失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Google Shape;1299;p90"/>
          <p:cNvCxnSpPr/>
          <p:nvPr/>
        </p:nvCxnSpPr>
        <p:spPr>
          <a:xfrm>
            <a:off x="3896988" y="2606173"/>
            <a:ext cx="3603861" cy="638234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300;p90"/>
          <p:cNvCxnSpPr/>
          <p:nvPr/>
        </p:nvCxnSpPr>
        <p:spPr>
          <a:xfrm rot="10800000" flipH="1">
            <a:off x="6951017" y="3733179"/>
            <a:ext cx="508967" cy="111871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8" name="Google Shape;1302;p90"/>
          <p:cNvPicPr preferRelativeResize="0"/>
          <p:nvPr/>
        </p:nvPicPr>
        <p:blipFill rotWithShape="1">
          <a:blip r:embed="rId3">
            <a:alphaModFix/>
          </a:blip>
          <a:srcRect t="13186"/>
          <a:stretch/>
        </p:blipFill>
        <p:spPr>
          <a:xfrm>
            <a:off x="2375184" y="3196429"/>
            <a:ext cx="1029387" cy="1427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213096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数据增强</a:t>
            </a:r>
            <a:r>
              <a:rPr lang="en-US" dirty="0"/>
              <a:t>: </a:t>
            </a:r>
            <a:r>
              <a:rPr lang="zh-CN" altLang="en-US" dirty="0"/>
              <a:t>随机裁剪和缩放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10 -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1356;p94"/>
          <p:cNvSpPr txBox="1"/>
          <p:nvPr/>
        </p:nvSpPr>
        <p:spPr>
          <a:xfrm>
            <a:off x="381625" y="2069680"/>
            <a:ext cx="5068361" cy="19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随机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裁剪和缩放</a:t>
            </a:r>
            <a:b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lvl="0" indent="-355511" defTabSz="685800">
              <a:buSzPts val="2000"/>
              <a:buFontTx/>
              <a:buAutoNum type="arabicPeriod"/>
              <a:defRPr/>
            </a:pP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在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[256, 480]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中随机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</a:rPr>
              <a:t>选择</a:t>
            </a:r>
            <a:r>
              <a:rPr lang="en" altLang="zh-CN" sz="2000" dirty="0">
                <a:solidFill>
                  <a:prstClr val="black"/>
                </a:solidFill>
              </a:rPr>
              <a:t>L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</a:rPr>
              <a:t>个数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Tx/>
              <a:buAutoNum type="arabicPeriod"/>
              <a:tabLst/>
              <a:defRPr/>
            </a:pP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调整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训练图像尺寸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短边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L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55511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Tx/>
              <a:buAutoNum type="arabicPeriod"/>
              <a:tabLst/>
              <a:defRPr/>
            </a:pPr>
            <a:r>
              <a:rPr kumimoji="0" lang="zh-CN" alt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随机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224 x 224 </a:t>
            </a:r>
            <a:r>
              <a:rPr lang="zh-CN" altLang="en" sz="2000" dirty="0">
                <a:solidFill>
                  <a:prstClr val="black"/>
                </a:solidFill>
                <a:latin typeface="Calibri" panose="020F0502020204030204"/>
              </a:rPr>
              <a:t>块</a:t>
            </a: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</a:rPr>
              <a:t>抽样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oogle Shape;1338;p93"/>
          <p:cNvPicPr preferRelativeResize="0"/>
          <p:nvPr/>
        </p:nvPicPr>
        <p:blipFill rotWithShape="1">
          <a:blip r:embed="rId2">
            <a:alphaModFix/>
          </a:blip>
          <a:srcRect t="13186"/>
          <a:stretch/>
        </p:blipFill>
        <p:spPr>
          <a:xfrm>
            <a:off x="6870785" y="1658548"/>
            <a:ext cx="1699283" cy="260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340;p93"/>
          <p:cNvSpPr/>
          <p:nvPr/>
        </p:nvSpPr>
        <p:spPr>
          <a:xfrm>
            <a:off x="6946965" y="1768519"/>
            <a:ext cx="1508907" cy="169335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1341;p93"/>
          <p:cNvSpPr/>
          <p:nvPr/>
        </p:nvSpPr>
        <p:spPr>
          <a:xfrm>
            <a:off x="7073885" y="1658560"/>
            <a:ext cx="1508907" cy="169335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1342;p93"/>
          <p:cNvSpPr/>
          <p:nvPr/>
        </p:nvSpPr>
        <p:spPr>
          <a:xfrm>
            <a:off x="7023146" y="1827881"/>
            <a:ext cx="1508907" cy="169335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1343;p93"/>
          <p:cNvSpPr/>
          <p:nvPr/>
        </p:nvSpPr>
        <p:spPr>
          <a:xfrm>
            <a:off x="6870785" y="1751701"/>
            <a:ext cx="1508907" cy="169335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1344;p93"/>
          <p:cNvSpPr/>
          <p:nvPr/>
        </p:nvSpPr>
        <p:spPr>
          <a:xfrm>
            <a:off x="7023137" y="2571964"/>
            <a:ext cx="1508907" cy="169335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1345;p93"/>
          <p:cNvSpPr/>
          <p:nvPr/>
        </p:nvSpPr>
        <p:spPr>
          <a:xfrm>
            <a:off x="6890925" y="2640417"/>
            <a:ext cx="1328054" cy="1490312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84900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正则化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11 -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1476;p99"/>
          <p:cNvSpPr txBox="1"/>
          <p:nvPr/>
        </p:nvSpPr>
        <p:spPr>
          <a:xfrm>
            <a:off x="147537" y="2433485"/>
            <a:ext cx="2215219" cy="104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举例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批归一化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数据</a:t>
            </a:r>
            <a:r>
              <a:rPr lang="zh-CN" altLang="en-US" sz="1900" dirty="0">
                <a:solidFill>
                  <a:prstClr val="black"/>
                </a:solidFill>
                <a:latin typeface="Calibri" panose="020F0502020204030204"/>
              </a:rPr>
              <a:t>增强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537" y="1748504"/>
            <a:ext cx="24721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增加随机性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测试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边缘化随机性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oogle Shape;1067;p78"/>
          <p:cNvGrpSpPr/>
          <p:nvPr/>
        </p:nvGrpSpPr>
        <p:grpSpPr>
          <a:xfrm>
            <a:off x="2746376" y="3624328"/>
            <a:ext cx="1697974" cy="1906581"/>
            <a:chOff x="5092556" y="1428881"/>
            <a:chExt cx="2442345" cy="2800379"/>
          </a:xfrm>
        </p:grpSpPr>
        <p:cxnSp>
          <p:nvCxnSpPr>
            <p:cNvPr id="14" name="Google Shape;1068;p78"/>
            <p:cNvCxnSpPr/>
            <p:nvPr/>
          </p:nvCxnSpPr>
          <p:spPr>
            <a:xfrm rot="10800000" flipH="1">
              <a:off x="5446150" y="3275363"/>
              <a:ext cx="179760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1071;p78"/>
            <p:cNvCxnSpPr/>
            <p:nvPr/>
          </p:nvCxnSpPr>
          <p:spPr>
            <a:xfrm rot="10800000" flipH="1">
              <a:off x="5396197" y="3275365"/>
              <a:ext cx="4551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Google Shape;1073;p78"/>
            <p:cNvCxnSpPr/>
            <p:nvPr/>
          </p:nvCxnSpPr>
          <p:spPr>
            <a:xfrm rot="10800000">
              <a:off x="7364350" y="3325313"/>
              <a:ext cx="0" cy="54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Google Shape;1075;p78"/>
            <p:cNvCxnSpPr/>
            <p:nvPr/>
          </p:nvCxnSpPr>
          <p:spPr>
            <a:xfrm rot="10800000">
              <a:off x="6092653" y="3275365"/>
              <a:ext cx="11511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Google Shape;1076;p78"/>
            <p:cNvCxnSpPr/>
            <p:nvPr/>
          </p:nvCxnSpPr>
          <p:spPr>
            <a:xfrm rot="10800000">
              <a:off x="7019050" y="2564188"/>
              <a:ext cx="345300" cy="42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1078;p78"/>
            <p:cNvCxnSpPr/>
            <p:nvPr/>
          </p:nvCxnSpPr>
          <p:spPr>
            <a:xfrm rot="10800000">
              <a:off x="5747053" y="2514540"/>
              <a:ext cx="1496700" cy="519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1080;p78"/>
            <p:cNvCxnSpPr/>
            <p:nvPr/>
          </p:nvCxnSpPr>
          <p:spPr>
            <a:xfrm rot="10800000" flipH="1">
              <a:off x="6092447" y="2514540"/>
              <a:ext cx="805800" cy="519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1081;p78"/>
            <p:cNvCxnSpPr/>
            <p:nvPr/>
          </p:nvCxnSpPr>
          <p:spPr>
            <a:xfrm rot="10800000">
              <a:off x="5626253" y="2564340"/>
              <a:ext cx="225000" cy="46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Google Shape;1082;p78"/>
            <p:cNvCxnSpPr/>
            <p:nvPr/>
          </p:nvCxnSpPr>
          <p:spPr>
            <a:xfrm rot="10800000">
              <a:off x="6443311" y="1720156"/>
              <a:ext cx="575700" cy="503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Google Shape;1084;p78"/>
            <p:cNvCxnSpPr/>
            <p:nvPr/>
          </p:nvCxnSpPr>
          <p:spPr>
            <a:xfrm rot="10800000" flipH="1">
              <a:off x="5747108" y="1720009"/>
              <a:ext cx="455100" cy="553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" name="Google Shape;1085;p78"/>
            <p:cNvSpPr/>
            <p:nvPr/>
          </p:nvSpPr>
          <p:spPr>
            <a:xfrm>
              <a:off x="5105050" y="2984188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Google Shape;1072;p78"/>
            <p:cNvSpPr/>
            <p:nvPr/>
          </p:nvSpPr>
          <p:spPr>
            <a:xfrm>
              <a:off x="5801300" y="298418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Google Shape;1086;p78"/>
            <p:cNvSpPr/>
            <p:nvPr/>
          </p:nvSpPr>
          <p:spPr>
            <a:xfrm>
              <a:off x="6497550" y="2984188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Google Shape;1070;p78"/>
            <p:cNvSpPr/>
            <p:nvPr/>
          </p:nvSpPr>
          <p:spPr>
            <a:xfrm>
              <a:off x="7193800" y="298418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Google Shape;1069;p78"/>
            <p:cNvSpPr/>
            <p:nvPr/>
          </p:nvSpPr>
          <p:spPr>
            <a:xfrm>
              <a:off x="5105050" y="3874013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Google Shape;1087;p78"/>
            <p:cNvSpPr/>
            <p:nvPr/>
          </p:nvSpPr>
          <p:spPr>
            <a:xfrm>
              <a:off x="5801300" y="3874013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Google Shape;1088;p78"/>
            <p:cNvSpPr/>
            <p:nvPr/>
          </p:nvSpPr>
          <p:spPr>
            <a:xfrm>
              <a:off x="6497550" y="3874013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Google Shape;1074;p78"/>
            <p:cNvSpPr/>
            <p:nvPr/>
          </p:nvSpPr>
          <p:spPr>
            <a:xfrm>
              <a:off x="7193800" y="3874013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Google Shape;1079;p78"/>
            <p:cNvSpPr/>
            <p:nvPr/>
          </p:nvSpPr>
          <p:spPr>
            <a:xfrm>
              <a:off x="5455961" y="2223256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Google Shape;1089;p78"/>
            <p:cNvSpPr/>
            <p:nvPr/>
          </p:nvSpPr>
          <p:spPr>
            <a:xfrm>
              <a:off x="6152211" y="2223256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Google Shape;1077;p78"/>
            <p:cNvSpPr/>
            <p:nvPr/>
          </p:nvSpPr>
          <p:spPr>
            <a:xfrm>
              <a:off x="6848461" y="2223256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Google Shape;1083;p78"/>
            <p:cNvSpPr/>
            <p:nvPr/>
          </p:nvSpPr>
          <p:spPr>
            <a:xfrm>
              <a:off x="6152211" y="1428881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Google Shape;1090;p78"/>
            <p:cNvSpPr/>
            <p:nvPr/>
          </p:nvSpPr>
          <p:spPr>
            <a:xfrm rot="2700000">
              <a:off x="6194380" y="2274803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Google Shape;1091;p78"/>
            <p:cNvSpPr/>
            <p:nvPr/>
          </p:nvSpPr>
          <p:spPr>
            <a:xfrm rot="2700000">
              <a:off x="5144573" y="30363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Google Shape;1092;p78"/>
            <p:cNvSpPr/>
            <p:nvPr/>
          </p:nvSpPr>
          <p:spPr>
            <a:xfrm rot="2700000">
              <a:off x="6542505" y="30363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Google Shape;1093;p78"/>
            <p:cNvSpPr/>
            <p:nvPr/>
          </p:nvSpPr>
          <p:spPr>
            <a:xfrm rot="2700000">
              <a:off x="6542505" y="39260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Google Shape;1094;p78"/>
            <p:cNvSpPr/>
            <p:nvPr/>
          </p:nvSpPr>
          <p:spPr>
            <a:xfrm rot="2700000">
              <a:off x="5846255" y="39260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37" name="Google Shape;1598;p102"/>
          <p:cNvPicPr preferRelativeResize="0"/>
          <p:nvPr/>
        </p:nvPicPr>
        <p:blipFill rotWithShape="1">
          <a:blip r:embed="rId2">
            <a:alphaModFix/>
          </a:blip>
          <a:srcRect t="13186"/>
          <a:stretch/>
        </p:blipFill>
        <p:spPr>
          <a:xfrm>
            <a:off x="5090380" y="1655594"/>
            <a:ext cx="1346564" cy="126257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599;p102"/>
          <p:cNvSpPr/>
          <p:nvPr/>
        </p:nvSpPr>
        <p:spPr>
          <a:xfrm>
            <a:off x="5207491" y="1756742"/>
            <a:ext cx="729110" cy="72911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3008116" y="3115254"/>
            <a:ext cx="12264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7275801" y="95548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随机深度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5266603" y="1204622"/>
            <a:ext cx="10360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Cutout</a:t>
            </a:r>
          </a:p>
        </p:txBody>
      </p:sp>
      <p:pic>
        <p:nvPicPr>
          <p:cNvPr id="142" name="Google Shape;1484;p100"/>
          <p:cNvPicPr preferRelativeResize="0"/>
          <p:nvPr/>
        </p:nvPicPr>
        <p:blipFill rotWithShape="1">
          <a:blip r:embed="rId3">
            <a:alphaModFix/>
          </a:blip>
          <a:srcRect r="69449"/>
          <a:stretch/>
        </p:blipFill>
        <p:spPr>
          <a:xfrm>
            <a:off x="363416" y="3869741"/>
            <a:ext cx="1748803" cy="17423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Rectangle 142"/>
          <p:cNvSpPr/>
          <p:nvPr/>
        </p:nvSpPr>
        <p:spPr>
          <a:xfrm>
            <a:off x="397397" y="349673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分数池化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336" y="3638212"/>
            <a:ext cx="1666812" cy="1902821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xfrm>
            <a:off x="4631391" y="3118391"/>
            <a:ext cx="1835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DropConnect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6" name="Picture 1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785" y="1387728"/>
            <a:ext cx="1005829" cy="2065159"/>
          </a:xfrm>
          <a:prstGeom prst="rect">
            <a:avLst/>
          </a:prstGeom>
        </p:spPr>
      </p:pic>
      <p:pic>
        <p:nvPicPr>
          <p:cNvPr id="147" name="Google Shape;1617;p103"/>
          <p:cNvPicPr preferRelativeResize="0"/>
          <p:nvPr/>
        </p:nvPicPr>
        <p:blipFill rotWithShape="1">
          <a:blip r:embed="rId2">
            <a:alphaModFix amt="60000"/>
          </a:blip>
          <a:srcRect t="13186"/>
          <a:stretch/>
        </p:blipFill>
        <p:spPr>
          <a:xfrm>
            <a:off x="7201980" y="4188229"/>
            <a:ext cx="1453793" cy="136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618;p103"/>
          <p:cNvPicPr preferRelativeResize="0"/>
          <p:nvPr/>
        </p:nvPicPr>
        <p:blipFill rotWithShape="1">
          <a:blip r:embed="rId6">
            <a:alphaModFix amt="40000"/>
          </a:blip>
          <a:srcRect l="18446" t="3633" r="4470"/>
          <a:stretch/>
        </p:blipFill>
        <p:spPr>
          <a:xfrm>
            <a:off x="7201992" y="4188227"/>
            <a:ext cx="1453793" cy="13631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Rectangle 148"/>
          <p:cNvSpPr/>
          <p:nvPr/>
        </p:nvSpPr>
        <p:spPr>
          <a:xfrm>
            <a:off x="7419702" y="3740443"/>
            <a:ext cx="971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Mixup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35858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(</a:t>
            </a:r>
            <a:r>
              <a:rPr lang="zh-CN" altLang="en-US" dirty="0"/>
              <a:t>旧形式</a:t>
            </a:r>
            <a:r>
              <a:rPr lang="en-US" dirty="0"/>
              <a:t>) </a:t>
            </a:r>
            <a:r>
              <a:rPr lang="zh-CN" altLang="en-US" dirty="0"/>
              <a:t>正则化</a:t>
            </a:r>
            <a:r>
              <a:rPr lang="en-US" dirty="0"/>
              <a:t>: </a:t>
            </a:r>
            <a:r>
              <a:rPr lang="zh-CN" altLang="en-US" dirty="0"/>
              <a:t>损失函数增加正则项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10 -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08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934" y="2020967"/>
            <a:ext cx="8563761" cy="4933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09;p75"/>
          <p:cNvSpPr/>
          <p:nvPr/>
        </p:nvSpPr>
        <p:spPr>
          <a:xfrm>
            <a:off x="7825287" y="1969531"/>
            <a:ext cx="1069222" cy="54465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910;p75"/>
          <p:cNvSpPr txBox="1"/>
          <p:nvPr/>
        </p:nvSpPr>
        <p:spPr>
          <a:xfrm>
            <a:off x="288925" y="2932955"/>
            <a:ext cx="8227157" cy="207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9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常用</a:t>
            </a:r>
            <a:r>
              <a:rPr kumimoji="0" lang="en" sz="29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9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</a:t>
            </a:r>
            <a:r>
              <a:rPr kumimoji="0" lang="zh-CN" altLang="en" sz="29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正则</a:t>
            </a:r>
            <a:r>
              <a:rPr kumimoji="0" lang="zh-CN" alt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项</a:t>
            </a:r>
            <a:endParaRPr kumimoji="0" sz="29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L1 </a:t>
            </a:r>
            <a:r>
              <a:rPr kumimoji="0" lang="zh-CN" alt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正则</a:t>
            </a:r>
            <a:endParaRPr kumimoji="0" sz="29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弹性</a:t>
            </a:r>
            <a:r>
              <a:rPr kumimoji="0" lang="zh-CN" altLang="en-US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组合</a:t>
            </a:r>
            <a:r>
              <a:rPr kumimoji="0" lang="en" sz="29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(L1 + L2)</a:t>
            </a:r>
            <a:endParaRPr kumimoji="0" sz="29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914;p75"/>
          <p:cNvSpPr txBox="1"/>
          <p:nvPr/>
        </p:nvSpPr>
        <p:spPr>
          <a:xfrm>
            <a:off x="6681134" y="3398808"/>
            <a:ext cx="2304000" cy="49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惩罚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oogle Shape;91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236" y="3426326"/>
            <a:ext cx="2561383" cy="438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1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897" y="3940213"/>
            <a:ext cx="2548058" cy="39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13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224" y="4409295"/>
            <a:ext cx="3780431" cy="4383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86822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正则化</a:t>
            </a:r>
            <a:r>
              <a:rPr lang="en-US" dirty="0"/>
              <a:t>: Dropout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10 -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oogle Shape;921;p76"/>
          <p:cNvGrpSpPr/>
          <p:nvPr/>
        </p:nvGrpSpPr>
        <p:grpSpPr>
          <a:xfrm>
            <a:off x="1388473" y="2762022"/>
            <a:ext cx="2122650" cy="2433975"/>
            <a:chOff x="1388825" y="1388193"/>
            <a:chExt cx="2429850" cy="2786232"/>
          </a:xfrm>
        </p:grpSpPr>
        <p:cxnSp>
          <p:nvCxnSpPr>
            <p:cNvPr id="6" name="Google Shape;922;p76"/>
            <p:cNvCxnSpPr/>
            <p:nvPr/>
          </p:nvCxnSpPr>
          <p:spPr>
            <a:xfrm rot="10800000">
              <a:off x="1559375" y="3284625"/>
              <a:ext cx="0" cy="54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" name="Google Shape;925;p76"/>
            <p:cNvCxnSpPr/>
            <p:nvPr/>
          </p:nvCxnSpPr>
          <p:spPr>
            <a:xfrm rot="10800000" flipH="1">
              <a:off x="1729925" y="3234375"/>
              <a:ext cx="1797600" cy="76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" name="Google Shape;927;p76"/>
            <p:cNvCxnSpPr/>
            <p:nvPr/>
          </p:nvCxnSpPr>
          <p:spPr>
            <a:xfrm rot="10800000">
              <a:off x="1679975" y="3234375"/>
              <a:ext cx="1797600" cy="76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Google Shape;929;p76"/>
            <p:cNvCxnSpPr/>
            <p:nvPr/>
          </p:nvCxnSpPr>
          <p:spPr>
            <a:xfrm rot="10800000" flipH="1">
              <a:off x="1679972" y="3234678"/>
              <a:ext cx="11511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931;p76"/>
            <p:cNvCxnSpPr/>
            <p:nvPr/>
          </p:nvCxnSpPr>
          <p:spPr>
            <a:xfrm rot="10800000" flipH="1">
              <a:off x="1679972" y="3234678"/>
              <a:ext cx="4548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933;p76"/>
            <p:cNvCxnSpPr/>
            <p:nvPr/>
          </p:nvCxnSpPr>
          <p:spPr>
            <a:xfrm rot="10800000">
              <a:off x="2255625" y="3284625"/>
              <a:ext cx="0" cy="54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935;p76"/>
            <p:cNvCxnSpPr/>
            <p:nvPr/>
          </p:nvCxnSpPr>
          <p:spPr>
            <a:xfrm rot="10800000">
              <a:off x="2951875" y="3284625"/>
              <a:ext cx="0" cy="54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937;p76"/>
            <p:cNvCxnSpPr/>
            <p:nvPr/>
          </p:nvCxnSpPr>
          <p:spPr>
            <a:xfrm rot="10800000">
              <a:off x="3648125" y="3284625"/>
              <a:ext cx="0" cy="54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Google Shape;938;p76"/>
            <p:cNvCxnSpPr/>
            <p:nvPr/>
          </p:nvCxnSpPr>
          <p:spPr>
            <a:xfrm rot="10800000">
              <a:off x="3072728" y="3234678"/>
              <a:ext cx="4548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939;p76"/>
            <p:cNvCxnSpPr/>
            <p:nvPr/>
          </p:nvCxnSpPr>
          <p:spPr>
            <a:xfrm rot="10800000">
              <a:off x="2376428" y="3234678"/>
              <a:ext cx="11511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Google Shape;940;p76"/>
            <p:cNvCxnSpPr/>
            <p:nvPr/>
          </p:nvCxnSpPr>
          <p:spPr>
            <a:xfrm rot="10800000" flipH="1">
              <a:off x="3072472" y="3234678"/>
              <a:ext cx="4548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Google Shape;941;p76"/>
            <p:cNvCxnSpPr/>
            <p:nvPr/>
          </p:nvCxnSpPr>
          <p:spPr>
            <a:xfrm rot="10800000">
              <a:off x="2376478" y="3234678"/>
              <a:ext cx="4548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Google Shape;942;p76"/>
            <p:cNvCxnSpPr/>
            <p:nvPr/>
          </p:nvCxnSpPr>
          <p:spPr>
            <a:xfrm rot="10800000">
              <a:off x="1680025" y="3234375"/>
              <a:ext cx="1101300" cy="76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943;p76"/>
            <p:cNvCxnSpPr/>
            <p:nvPr/>
          </p:nvCxnSpPr>
          <p:spPr>
            <a:xfrm rot="10800000">
              <a:off x="1680228" y="3234678"/>
              <a:ext cx="4548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944;p76"/>
            <p:cNvCxnSpPr/>
            <p:nvPr/>
          </p:nvCxnSpPr>
          <p:spPr>
            <a:xfrm rot="10800000" flipH="1">
              <a:off x="2376222" y="3234678"/>
              <a:ext cx="4548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945;p76"/>
            <p:cNvCxnSpPr/>
            <p:nvPr/>
          </p:nvCxnSpPr>
          <p:spPr>
            <a:xfrm rot="10800000" flipH="1">
              <a:off x="2426175" y="3234375"/>
              <a:ext cx="1101300" cy="76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Google Shape;946;p76"/>
            <p:cNvCxnSpPr/>
            <p:nvPr/>
          </p:nvCxnSpPr>
          <p:spPr>
            <a:xfrm rot="10800000">
              <a:off x="3302825" y="2523500"/>
              <a:ext cx="345300" cy="42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Google Shape;948;p76"/>
            <p:cNvCxnSpPr/>
            <p:nvPr/>
          </p:nvCxnSpPr>
          <p:spPr>
            <a:xfrm rot="10800000">
              <a:off x="2727128" y="2473553"/>
              <a:ext cx="800400" cy="51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Google Shape;950;p76"/>
            <p:cNvCxnSpPr/>
            <p:nvPr/>
          </p:nvCxnSpPr>
          <p:spPr>
            <a:xfrm rot="10800000">
              <a:off x="2030828" y="2473553"/>
              <a:ext cx="1496700" cy="51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952;p76"/>
            <p:cNvCxnSpPr/>
            <p:nvPr/>
          </p:nvCxnSpPr>
          <p:spPr>
            <a:xfrm rot="10800000">
              <a:off x="2606575" y="2523500"/>
              <a:ext cx="345300" cy="42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Google Shape;953;p76"/>
            <p:cNvCxnSpPr/>
            <p:nvPr/>
          </p:nvCxnSpPr>
          <p:spPr>
            <a:xfrm rot="10800000">
              <a:off x="2030878" y="2473553"/>
              <a:ext cx="800400" cy="51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" name="Google Shape;954;p76"/>
            <p:cNvCxnSpPr/>
            <p:nvPr/>
          </p:nvCxnSpPr>
          <p:spPr>
            <a:xfrm rot="10800000" flipH="1">
              <a:off x="2376222" y="2473553"/>
              <a:ext cx="806100" cy="51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" name="Google Shape;955;p76"/>
            <p:cNvCxnSpPr/>
            <p:nvPr/>
          </p:nvCxnSpPr>
          <p:spPr>
            <a:xfrm rot="10800000" flipH="1">
              <a:off x="2255625" y="2523500"/>
              <a:ext cx="351000" cy="42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Google Shape;956;p76"/>
            <p:cNvCxnSpPr/>
            <p:nvPr/>
          </p:nvCxnSpPr>
          <p:spPr>
            <a:xfrm rot="10800000">
              <a:off x="1910028" y="2523653"/>
              <a:ext cx="225000" cy="46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" name="Google Shape;957;p76"/>
            <p:cNvCxnSpPr/>
            <p:nvPr/>
          </p:nvCxnSpPr>
          <p:spPr>
            <a:xfrm rot="10800000" flipH="1">
              <a:off x="3072472" y="2523653"/>
              <a:ext cx="230400" cy="46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" name="Google Shape;958;p76"/>
            <p:cNvCxnSpPr/>
            <p:nvPr/>
          </p:nvCxnSpPr>
          <p:spPr>
            <a:xfrm rot="10800000" flipH="1">
              <a:off x="1559375" y="2523500"/>
              <a:ext cx="351000" cy="42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Google Shape;959;p76"/>
            <p:cNvCxnSpPr/>
            <p:nvPr/>
          </p:nvCxnSpPr>
          <p:spPr>
            <a:xfrm rot="10800000" flipH="1">
              <a:off x="1679972" y="2473553"/>
              <a:ext cx="806100" cy="51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" name="Google Shape;960;p76"/>
            <p:cNvCxnSpPr/>
            <p:nvPr/>
          </p:nvCxnSpPr>
          <p:spPr>
            <a:xfrm rot="10800000" flipH="1">
              <a:off x="1679972" y="2473553"/>
              <a:ext cx="1502100" cy="51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" name="Google Shape;961;p76"/>
            <p:cNvCxnSpPr/>
            <p:nvPr/>
          </p:nvCxnSpPr>
          <p:spPr>
            <a:xfrm rot="10800000">
              <a:off x="2727086" y="1679168"/>
              <a:ext cx="575700" cy="503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Google Shape;963;p76"/>
            <p:cNvCxnSpPr/>
            <p:nvPr/>
          </p:nvCxnSpPr>
          <p:spPr>
            <a:xfrm rot="10800000">
              <a:off x="2606536" y="1729268"/>
              <a:ext cx="0" cy="45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964;p76"/>
            <p:cNvCxnSpPr/>
            <p:nvPr/>
          </p:nvCxnSpPr>
          <p:spPr>
            <a:xfrm rot="10800000" flipH="1">
              <a:off x="2030883" y="1679321"/>
              <a:ext cx="454800" cy="553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7" name="Google Shape;924;p76"/>
            <p:cNvSpPr/>
            <p:nvPr/>
          </p:nvSpPr>
          <p:spPr>
            <a:xfrm>
              <a:off x="1388825" y="2943500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Google Shape;932;p76"/>
            <p:cNvSpPr/>
            <p:nvPr/>
          </p:nvSpPr>
          <p:spPr>
            <a:xfrm>
              <a:off x="2085075" y="2943500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Google Shape;930;p76"/>
            <p:cNvSpPr/>
            <p:nvPr/>
          </p:nvSpPr>
          <p:spPr>
            <a:xfrm>
              <a:off x="2781325" y="2943500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Google Shape;926;p76"/>
            <p:cNvSpPr/>
            <p:nvPr/>
          </p:nvSpPr>
          <p:spPr>
            <a:xfrm>
              <a:off x="3477575" y="2943500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Google Shape;923;p76"/>
            <p:cNvSpPr/>
            <p:nvPr/>
          </p:nvSpPr>
          <p:spPr>
            <a:xfrm>
              <a:off x="1388825" y="3833325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Google Shape;934;p76"/>
            <p:cNvSpPr/>
            <p:nvPr/>
          </p:nvSpPr>
          <p:spPr>
            <a:xfrm>
              <a:off x="2085075" y="3833325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Google Shape;936;p76"/>
            <p:cNvSpPr/>
            <p:nvPr/>
          </p:nvSpPr>
          <p:spPr>
            <a:xfrm>
              <a:off x="2781325" y="3833325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Google Shape;928;p76"/>
            <p:cNvSpPr/>
            <p:nvPr/>
          </p:nvSpPr>
          <p:spPr>
            <a:xfrm>
              <a:off x="3477575" y="3833325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Google Shape;951;p76"/>
            <p:cNvSpPr/>
            <p:nvPr/>
          </p:nvSpPr>
          <p:spPr>
            <a:xfrm>
              <a:off x="1739736" y="218256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Google Shape;949;p76"/>
            <p:cNvSpPr/>
            <p:nvPr/>
          </p:nvSpPr>
          <p:spPr>
            <a:xfrm>
              <a:off x="2435986" y="218256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Google Shape;947;p76"/>
            <p:cNvSpPr/>
            <p:nvPr/>
          </p:nvSpPr>
          <p:spPr>
            <a:xfrm>
              <a:off x="3132236" y="218256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Google Shape;962;p76"/>
            <p:cNvSpPr/>
            <p:nvPr/>
          </p:nvSpPr>
          <p:spPr>
            <a:xfrm>
              <a:off x="2435986" y="1388193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" name="Google Shape;965;p76"/>
          <p:cNvGrpSpPr/>
          <p:nvPr/>
        </p:nvGrpSpPr>
        <p:grpSpPr>
          <a:xfrm>
            <a:off x="5233390" y="2797566"/>
            <a:ext cx="2133566" cy="2446334"/>
            <a:chOff x="5092556" y="1428881"/>
            <a:chExt cx="2442345" cy="2800379"/>
          </a:xfrm>
        </p:grpSpPr>
        <p:cxnSp>
          <p:nvCxnSpPr>
            <p:cNvPr id="50" name="Google Shape;966;p76"/>
            <p:cNvCxnSpPr/>
            <p:nvPr/>
          </p:nvCxnSpPr>
          <p:spPr>
            <a:xfrm rot="10800000" flipH="1">
              <a:off x="5446150" y="3275063"/>
              <a:ext cx="1797600" cy="769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969;p76"/>
            <p:cNvCxnSpPr/>
            <p:nvPr/>
          </p:nvCxnSpPr>
          <p:spPr>
            <a:xfrm rot="10800000" flipH="1">
              <a:off x="5396197" y="3275365"/>
              <a:ext cx="4548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971;p76"/>
            <p:cNvCxnSpPr/>
            <p:nvPr/>
          </p:nvCxnSpPr>
          <p:spPr>
            <a:xfrm rot="10800000">
              <a:off x="7364350" y="3325313"/>
              <a:ext cx="0" cy="54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Google Shape;973;p76"/>
            <p:cNvCxnSpPr/>
            <p:nvPr/>
          </p:nvCxnSpPr>
          <p:spPr>
            <a:xfrm rot="10800000">
              <a:off x="6092653" y="3275365"/>
              <a:ext cx="11511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Google Shape;974;p76"/>
            <p:cNvCxnSpPr/>
            <p:nvPr/>
          </p:nvCxnSpPr>
          <p:spPr>
            <a:xfrm rot="10800000">
              <a:off x="7019050" y="2564188"/>
              <a:ext cx="345300" cy="42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976;p76"/>
            <p:cNvCxnSpPr/>
            <p:nvPr/>
          </p:nvCxnSpPr>
          <p:spPr>
            <a:xfrm rot="10800000">
              <a:off x="5747053" y="2514240"/>
              <a:ext cx="1496700" cy="51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" name="Google Shape;978;p76"/>
            <p:cNvCxnSpPr/>
            <p:nvPr/>
          </p:nvCxnSpPr>
          <p:spPr>
            <a:xfrm rot="10800000" flipH="1">
              <a:off x="6092447" y="2514240"/>
              <a:ext cx="806100" cy="51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979;p76"/>
            <p:cNvCxnSpPr/>
            <p:nvPr/>
          </p:nvCxnSpPr>
          <p:spPr>
            <a:xfrm rot="10800000">
              <a:off x="5626253" y="2564340"/>
              <a:ext cx="225000" cy="46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980;p76"/>
            <p:cNvCxnSpPr/>
            <p:nvPr/>
          </p:nvCxnSpPr>
          <p:spPr>
            <a:xfrm rot="10800000">
              <a:off x="6443311" y="1719856"/>
              <a:ext cx="575700" cy="503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" name="Google Shape;982;p76"/>
            <p:cNvCxnSpPr/>
            <p:nvPr/>
          </p:nvCxnSpPr>
          <p:spPr>
            <a:xfrm rot="10800000" flipH="1">
              <a:off x="5747108" y="1720009"/>
              <a:ext cx="454800" cy="553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" name="Google Shape;983;p76"/>
            <p:cNvSpPr/>
            <p:nvPr/>
          </p:nvSpPr>
          <p:spPr>
            <a:xfrm>
              <a:off x="5105050" y="2984188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Google Shape;970;p76"/>
            <p:cNvSpPr/>
            <p:nvPr/>
          </p:nvSpPr>
          <p:spPr>
            <a:xfrm>
              <a:off x="5801300" y="298418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Google Shape;984;p76"/>
            <p:cNvSpPr/>
            <p:nvPr/>
          </p:nvSpPr>
          <p:spPr>
            <a:xfrm>
              <a:off x="6497550" y="2984188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Google Shape;968;p76"/>
            <p:cNvSpPr/>
            <p:nvPr/>
          </p:nvSpPr>
          <p:spPr>
            <a:xfrm>
              <a:off x="7193800" y="298418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Google Shape;967;p76"/>
            <p:cNvSpPr/>
            <p:nvPr/>
          </p:nvSpPr>
          <p:spPr>
            <a:xfrm>
              <a:off x="5105050" y="3874013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Google Shape;985;p76"/>
            <p:cNvSpPr/>
            <p:nvPr/>
          </p:nvSpPr>
          <p:spPr>
            <a:xfrm>
              <a:off x="5801300" y="3874013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Google Shape;986;p76"/>
            <p:cNvSpPr/>
            <p:nvPr/>
          </p:nvSpPr>
          <p:spPr>
            <a:xfrm>
              <a:off x="6497550" y="3874013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Google Shape;972;p76"/>
            <p:cNvSpPr/>
            <p:nvPr/>
          </p:nvSpPr>
          <p:spPr>
            <a:xfrm>
              <a:off x="7193800" y="3874013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Google Shape;977;p76"/>
            <p:cNvSpPr/>
            <p:nvPr/>
          </p:nvSpPr>
          <p:spPr>
            <a:xfrm>
              <a:off x="5455961" y="2223256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Google Shape;987;p76"/>
            <p:cNvSpPr/>
            <p:nvPr/>
          </p:nvSpPr>
          <p:spPr>
            <a:xfrm>
              <a:off x="6152211" y="2223256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Google Shape;975;p76"/>
            <p:cNvSpPr/>
            <p:nvPr/>
          </p:nvSpPr>
          <p:spPr>
            <a:xfrm>
              <a:off x="6848461" y="2223256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Google Shape;981;p76"/>
            <p:cNvSpPr/>
            <p:nvPr/>
          </p:nvSpPr>
          <p:spPr>
            <a:xfrm>
              <a:off x="6152211" y="1428881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Google Shape;988;p76"/>
            <p:cNvSpPr/>
            <p:nvPr/>
          </p:nvSpPr>
          <p:spPr>
            <a:xfrm rot="2700000">
              <a:off x="6194380" y="2274803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Google Shape;989;p76"/>
            <p:cNvSpPr/>
            <p:nvPr/>
          </p:nvSpPr>
          <p:spPr>
            <a:xfrm rot="2700000">
              <a:off x="5144573" y="30363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Google Shape;990;p76"/>
            <p:cNvSpPr/>
            <p:nvPr/>
          </p:nvSpPr>
          <p:spPr>
            <a:xfrm rot="2700000">
              <a:off x="6542505" y="30363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Google Shape;991;p76"/>
            <p:cNvSpPr/>
            <p:nvPr/>
          </p:nvSpPr>
          <p:spPr>
            <a:xfrm rot="2700000">
              <a:off x="6542505" y="39260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Google Shape;992;p76"/>
            <p:cNvSpPr/>
            <p:nvPr/>
          </p:nvSpPr>
          <p:spPr>
            <a:xfrm rot="2700000">
              <a:off x="5846255" y="39260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7" name="Google Shape;994;p76"/>
          <p:cNvSpPr txBox="1"/>
          <p:nvPr/>
        </p:nvSpPr>
        <p:spPr>
          <a:xfrm>
            <a:off x="6523" y="5394823"/>
            <a:ext cx="4868932" cy="212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Srivastava et al, “Dropout: A simple way to prevent neural networks from overfitting”, JMLR 2014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Google Shape;993;p76"/>
          <p:cNvSpPr txBox="1"/>
          <p:nvPr/>
        </p:nvSpPr>
        <p:spPr>
          <a:xfrm>
            <a:off x="755791" y="1562780"/>
            <a:ext cx="7632417" cy="94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在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每个前向传递过程中，随机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设置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一些神经元的值为</a:t>
            </a:r>
            <a:r>
              <a:rPr kumimoji="0" lang="en-US" altLang="zh-C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比例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为超参数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通常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设置为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75361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正则化</a:t>
            </a:r>
            <a:r>
              <a:rPr lang="en-US" dirty="0"/>
              <a:t>: Dropout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10 -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Google Shape;1067;p78"/>
          <p:cNvGrpSpPr/>
          <p:nvPr/>
        </p:nvGrpSpPr>
        <p:grpSpPr>
          <a:xfrm>
            <a:off x="217401" y="2323173"/>
            <a:ext cx="2488590" cy="2794330"/>
            <a:chOff x="5092556" y="1428881"/>
            <a:chExt cx="2442345" cy="2800379"/>
          </a:xfrm>
        </p:grpSpPr>
        <p:cxnSp>
          <p:nvCxnSpPr>
            <p:cNvPr id="34" name="Google Shape;1068;p78"/>
            <p:cNvCxnSpPr/>
            <p:nvPr/>
          </p:nvCxnSpPr>
          <p:spPr>
            <a:xfrm rot="10800000" flipH="1">
              <a:off x="5446150" y="3275363"/>
              <a:ext cx="1797600" cy="76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Google Shape;1071;p78"/>
            <p:cNvCxnSpPr/>
            <p:nvPr/>
          </p:nvCxnSpPr>
          <p:spPr>
            <a:xfrm rot="10800000" flipH="1">
              <a:off x="5396197" y="3275365"/>
              <a:ext cx="4551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1073;p78"/>
            <p:cNvCxnSpPr/>
            <p:nvPr/>
          </p:nvCxnSpPr>
          <p:spPr>
            <a:xfrm rot="10800000">
              <a:off x="7364350" y="3325313"/>
              <a:ext cx="0" cy="54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Google Shape;1075;p78"/>
            <p:cNvCxnSpPr/>
            <p:nvPr/>
          </p:nvCxnSpPr>
          <p:spPr>
            <a:xfrm rot="10800000">
              <a:off x="6092653" y="3275365"/>
              <a:ext cx="1151100" cy="648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" name="Google Shape;1076;p78"/>
            <p:cNvCxnSpPr/>
            <p:nvPr/>
          </p:nvCxnSpPr>
          <p:spPr>
            <a:xfrm rot="10800000">
              <a:off x="7019050" y="2564188"/>
              <a:ext cx="345300" cy="42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Google Shape;1078;p78"/>
            <p:cNvCxnSpPr/>
            <p:nvPr/>
          </p:nvCxnSpPr>
          <p:spPr>
            <a:xfrm rot="10800000">
              <a:off x="5747053" y="2514540"/>
              <a:ext cx="1496700" cy="519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1080;p78"/>
            <p:cNvCxnSpPr/>
            <p:nvPr/>
          </p:nvCxnSpPr>
          <p:spPr>
            <a:xfrm rot="10800000" flipH="1">
              <a:off x="6092447" y="2514540"/>
              <a:ext cx="805800" cy="519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Google Shape;1081;p78"/>
            <p:cNvCxnSpPr/>
            <p:nvPr/>
          </p:nvCxnSpPr>
          <p:spPr>
            <a:xfrm rot="10800000">
              <a:off x="5626253" y="2564340"/>
              <a:ext cx="225000" cy="46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1082;p78"/>
            <p:cNvCxnSpPr/>
            <p:nvPr/>
          </p:nvCxnSpPr>
          <p:spPr>
            <a:xfrm rot="10800000">
              <a:off x="6443311" y="1720156"/>
              <a:ext cx="575700" cy="503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" name="Google Shape;1084;p78"/>
            <p:cNvCxnSpPr/>
            <p:nvPr/>
          </p:nvCxnSpPr>
          <p:spPr>
            <a:xfrm rot="10800000" flipH="1">
              <a:off x="5747108" y="1720009"/>
              <a:ext cx="455100" cy="553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" name="Google Shape;1085;p78"/>
            <p:cNvSpPr/>
            <p:nvPr/>
          </p:nvSpPr>
          <p:spPr>
            <a:xfrm>
              <a:off x="5105050" y="2984188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Google Shape;1072;p78"/>
            <p:cNvSpPr/>
            <p:nvPr/>
          </p:nvSpPr>
          <p:spPr>
            <a:xfrm>
              <a:off x="5801300" y="298418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Google Shape;1086;p78"/>
            <p:cNvSpPr/>
            <p:nvPr/>
          </p:nvSpPr>
          <p:spPr>
            <a:xfrm>
              <a:off x="6497550" y="2984188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Google Shape;1070;p78"/>
            <p:cNvSpPr/>
            <p:nvPr/>
          </p:nvSpPr>
          <p:spPr>
            <a:xfrm>
              <a:off x="7193800" y="2984188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Google Shape;1069;p78"/>
            <p:cNvSpPr/>
            <p:nvPr/>
          </p:nvSpPr>
          <p:spPr>
            <a:xfrm>
              <a:off x="5105050" y="3874013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Google Shape;1087;p78"/>
            <p:cNvSpPr/>
            <p:nvPr/>
          </p:nvSpPr>
          <p:spPr>
            <a:xfrm>
              <a:off x="5801300" y="3874013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Google Shape;1088;p78"/>
            <p:cNvSpPr/>
            <p:nvPr/>
          </p:nvSpPr>
          <p:spPr>
            <a:xfrm>
              <a:off x="6497550" y="3874013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Google Shape;1074;p78"/>
            <p:cNvSpPr/>
            <p:nvPr/>
          </p:nvSpPr>
          <p:spPr>
            <a:xfrm>
              <a:off x="7193800" y="3874013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Google Shape;1079;p78"/>
            <p:cNvSpPr/>
            <p:nvPr/>
          </p:nvSpPr>
          <p:spPr>
            <a:xfrm>
              <a:off x="5455961" y="2223256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Google Shape;1089;p78"/>
            <p:cNvSpPr/>
            <p:nvPr/>
          </p:nvSpPr>
          <p:spPr>
            <a:xfrm>
              <a:off x="6152211" y="2223256"/>
              <a:ext cx="341100" cy="341100"/>
            </a:xfrm>
            <a:prstGeom prst="ellipse">
              <a:avLst/>
            </a:prstGeom>
            <a:solidFill>
              <a:srgbClr val="D9D9D9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Google Shape;1077;p78"/>
            <p:cNvSpPr/>
            <p:nvPr/>
          </p:nvSpPr>
          <p:spPr>
            <a:xfrm>
              <a:off x="6848461" y="2223256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Google Shape;1083;p78"/>
            <p:cNvSpPr/>
            <p:nvPr/>
          </p:nvSpPr>
          <p:spPr>
            <a:xfrm>
              <a:off x="6152211" y="1428881"/>
              <a:ext cx="341100" cy="341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Google Shape;1090;p78"/>
            <p:cNvSpPr/>
            <p:nvPr/>
          </p:nvSpPr>
          <p:spPr>
            <a:xfrm rot="2700000">
              <a:off x="6194380" y="2274803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Google Shape;1091;p78"/>
            <p:cNvSpPr/>
            <p:nvPr/>
          </p:nvSpPr>
          <p:spPr>
            <a:xfrm rot="2700000">
              <a:off x="5144573" y="30363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Google Shape;1092;p78"/>
            <p:cNvSpPr/>
            <p:nvPr/>
          </p:nvSpPr>
          <p:spPr>
            <a:xfrm rot="2700000">
              <a:off x="6542505" y="30363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Google Shape;1093;p78"/>
            <p:cNvSpPr/>
            <p:nvPr/>
          </p:nvSpPr>
          <p:spPr>
            <a:xfrm rot="2700000">
              <a:off x="6542505" y="39260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Google Shape;1094;p78"/>
            <p:cNvSpPr/>
            <p:nvPr/>
          </p:nvSpPr>
          <p:spPr>
            <a:xfrm rot="2700000">
              <a:off x="5846255" y="3926078"/>
              <a:ext cx="251164" cy="251164"/>
            </a:xfrm>
            <a:prstGeom prst="plus">
              <a:avLst>
                <a:gd name="adj" fmla="val 4072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" name="Google Shape;1129;p79"/>
          <p:cNvSpPr txBox="1"/>
          <p:nvPr/>
        </p:nvSpPr>
        <p:spPr>
          <a:xfrm>
            <a:off x="3701411" y="2010920"/>
            <a:ext cx="5231237" cy="343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另外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一种解释</a:t>
            </a: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 </a:t>
            </a:r>
            <a:r>
              <a:rPr kumimoji="0" lang="zh-CN" alt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训练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过程中多个模型的集成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节点二进制掩膜对应一个模型</a:t>
            </a: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685800">
              <a:defRPr/>
            </a:pPr>
            <a:r>
              <a:rPr kumimoji="0" lang="zh-CN" alt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一个</a:t>
            </a:r>
            <a:r>
              <a:rPr lang="zh-CN" altLang="en" sz="2200" dirty="0">
                <a:solidFill>
                  <a:srgbClr val="0000FF"/>
                </a:solidFill>
              </a:rPr>
              <a:t>有</a:t>
            </a:r>
            <a:r>
              <a:rPr lang="en" altLang="zh-CN" sz="2200" dirty="0">
                <a:solidFill>
                  <a:srgbClr val="0000FF"/>
                </a:solidFill>
              </a:rPr>
              <a:t>4096</a:t>
            </a:r>
            <a:r>
              <a:rPr lang="zh-CN" altLang="en" sz="2200" dirty="0">
                <a:solidFill>
                  <a:srgbClr val="0000FF"/>
                </a:solidFill>
              </a:rPr>
              <a:t>个</a:t>
            </a:r>
            <a:r>
              <a:rPr lang="zh-CN" altLang="en-US" sz="2200" dirty="0">
                <a:solidFill>
                  <a:srgbClr val="0000FF"/>
                </a:solidFill>
              </a:rPr>
              <a:t>输出单元的</a:t>
            </a: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 </a:t>
            </a:r>
            <a:r>
              <a:rPr kumimoji="0" lang="zh-CN" alt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层有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" sz="22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~ 10</a:t>
            </a:r>
            <a:r>
              <a:rPr kumimoji="0" lang="en" sz="22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1233 </a:t>
            </a:r>
            <a:r>
              <a:rPr kumimoji="0" lang="zh-CN" alt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可能的掩膜</a:t>
            </a: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solidFill>
                  <a:srgbClr val="0000FF"/>
                </a:solidFill>
                <a:latin typeface="Calibri" panose="020F0502020204030204"/>
              </a:rPr>
              <a:t>一共有</a:t>
            </a: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~ 10</a:t>
            </a:r>
            <a:r>
              <a:rPr kumimoji="0" lang="en" sz="22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82</a:t>
            </a:r>
            <a:r>
              <a:rPr kumimoji="0" 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组合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447875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6.1.</a:t>
            </a:r>
            <a:r>
              <a:rPr lang="zh-CN" altLang="en-US" dirty="0"/>
              <a:t>神经网络</a:t>
            </a:r>
            <a:endParaRPr lang="en-US" altLang="zh-CN" dirty="0"/>
          </a:p>
          <a:p>
            <a:r>
              <a:rPr lang="en-US" altLang="zh-CN" dirty="0"/>
              <a:t>6.2.</a:t>
            </a:r>
            <a:r>
              <a:rPr lang="zh-CN" altLang="en-US" dirty="0"/>
              <a:t>卷积神经网络</a:t>
            </a:r>
            <a:endParaRPr lang="en-US" dirty="0"/>
          </a:p>
          <a:p>
            <a:r>
              <a:rPr lang="en-US" altLang="zh-CN" dirty="0">
                <a:solidFill>
                  <a:srgbClr val="00B050"/>
                </a:solidFill>
              </a:rPr>
              <a:t>6.3.</a:t>
            </a:r>
            <a:r>
              <a:rPr lang="zh-CN" altLang="en-US" dirty="0">
                <a:solidFill>
                  <a:srgbClr val="00B050"/>
                </a:solidFill>
              </a:rPr>
              <a:t>神经网络图像分类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57352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6.3.1.ImageNet</a:t>
            </a:r>
            <a:r>
              <a:rPr lang="zh-CN" altLang="en-US" dirty="0"/>
              <a:t>分类挑战</a:t>
            </a:r>
            <a:endParaRPr lang="en-US" altLang="zh-CN" dirty="0"/>
          </a:p>
          <a:p>
            <a:r>
              <a:rPr lang="en-US" altLang="zh-CN" dirty="0"/>
              <a:t>6.3.2.AlexNet</a:t>
            </a:r>
            <a:endParaRPr lang="en-US" dirty="0"/>
          </a:p>
          <a:p>
            <a:r>
              <a:rPr lang="en-US" altLang="zh-CN" dirty="0"/>
              <a:t>6.3.3.VGG</a:t>
            </a:r>
          </a:p>
          <a:p>
            <a:r>
              <a:rPr lang="en-US" altLang="zh-CN" dirty="0"/>
              <a:t>6.3.4.GoogleNet</a:t>
            </a:r>
          </a:p>
          <a:p>
            <a:r>
              <a:rPr lang="en-US" altLang="zh-CN" dirty="0"/>
              <a:t>6.3.5.Residual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  <a:p>
            <a:r>
              <a:rPr lang="en-US" altLang="zh-CN" dirty="0"/>
              <a:t>6.3.6.</a:t>
            </a:r>
            <a:r>
              <a:rPr lang="zh-CN" altLang="en-US" dirty="0"/>
              <a:t>不同网络比较及改进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35242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69580" y="1621180"/>
            <a:ext cx="6510760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36225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81400" y="1623426"/>
            <a:ext cx="5592096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8617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6.3.1.ImageNet</a:t>
            </a:r>
            <a:r>
              <a:rPr lang="zh-CN" altLang="en-US" dirty="0"/>
              <a:t>分类挑战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6.3.2.AlexNet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altLang="zh-CN" dirty="0"/>
              <a:t>6.3.3.VGG</a:t>
            </a:r>
          </a:p>
          <a:p>
            <a:r>
              <a:rPr lang="en-US" altLang="zh-CN" dirty="0"/>
              <a:t>6.3.4.GoogleNet</a:t>
            </a:r>
          </a:p>
          <a:p>
            <a:r>
              <a:rPr lang="en-US" altLang="zh-CN" dirty="0"/>
              <a:t>6.3.5.Residual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  <a:p>
            <a:r>
              <a:rPr lang="en-US" altLang="zh-CN" dirty="0"/>
              <a:t>6.3.6.</a:t>
            </a:r>
            <a:r>
              <a:rPr lang="zh-CN" altLang="en-US" dirty="0"/>
              <a:t>不同网络比较及改进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56759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4357"/>
          </a:xfrm>
        </p:spPr>
        <p:txBody>
          <a:bodyPr>
            <a:normAutofit/>
          </a:bodyPr>
          <a:lstStyle/>
          <a:p>
            <a:r>
              <a:rPr lang="en-US" altLang="zh-CN" dirty="0"/>
              <a:t>9.1</a:t>
            </a:r>
            <a:r>
              <a:rPr lang="zh-CN" altLang="en-US" dirty="0"/>
              <a:t> </a:t>
            </a:r>
            <a:r>
              <a:rPr lang="en-US" dirty="0" err="1"/>
              <a:t>AlexNet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92;p35"/>
          <p:cNvSpPr txBox="1"/>
          <p:nvPr/>
        </p:nvSpPr>
        <p:spPr>
          <a:xfrm>
            <a:off x="4622746" y="5423463"/>
            <a:ext cx="4544405" cy="20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Figure copyright Alex </a:t>
            </a:r>
            <a:r>
              <a:rPr kumimoji="0" lang="e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Ilya </a:t>
            </a:r>
            <a:r>
              <a:rPr kumimoji="0" lang="e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Sutskever</a:t>
            </a: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and Geoffrey Hinton, 2012. Reproduced with permission. 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489;p35"/>
          <p:cNvPicPr preferRelativeResize="0"/>
          <p:nvPr/>
        </p:nvPicPr>
        <p:blipFill rotWithShape="1">
          <a:blip r:embed="rId2">
            <a:alphaModFix/>
          </a:blip>
          <a:srcRect t="9321"/>
          <a:stretch/>
        </p:blipFill>
        <p:spPr>
          <a:xfrm>
            <a:off x="5062268" y="857250"/>
            <a:ext cx="4020965" cy="12195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448462" y="2711555"/>
            <a:ext cx="20730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227 x 227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卷积层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最大池化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全连接层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激活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719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AlexNet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Google Shape;492;p35"/>
          <p:cNvSpPr txBox="1"/>
          <p:nvPr/>
        </p:nvSpPr>
        <p:spPr>
          <a:xfrm>
            <a:off x="4622746" y="5423463"/>
            <a:ext cx="4544405" cy="20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Figure copyright Alex </a:t>
            </a:r>
            <a:r>
              <a:rPr kumimoji="0" lang="e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Ilya </a:t>
            </a:r>
            <a:r>
              <a:rPr kumimoji="0" lang="e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Sutskever</a:t>
            </a: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and Geoffrey Hinton, 2012. Reproduced with permission. 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489;p35"/>
          <p:cNvPicPr preferRelativeResize="0"/>
          <p:nvPr/>
        </p:nvPicPr>
        <p:blipFill rotWithShape="1">
          <a:blip r:embed="rId2">
            <a:alphaModFix/>
          </a:blip>
          <a:srcRect t="9321"/>
          <a:stretch/>
        </p:blipFill>
        <p:spPr>
          <a:xfrm>
            <a:off x="5062268" y="857250"/>
            <a:ext cx="4020965" cy="12195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448462" y="2711555"/>
            <a:ext cx="20730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227 x 227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5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卷积层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最大池化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全连接层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ReLU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激活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1183" y="2526889"/>
            <a:ext cx="49083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局部响应归一化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目前已经不使用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使用两块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GTX 580 GPUs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训练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仅仅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3GB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存储空间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模型分割到两块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GPUs</a:t>
            </a:r>
          </a:p>
        </p:txBody>
      </p:sp>
    </p:spTree>
    <p:extLst>
      <p:ext uri="{BB962C8B-B14F-4D97-AF65-F5344CB8AC3E}">
        <p14:creationId xmlns:p14="http://schemas.microsoft.com/office/powerpoint/2010/main" val="317143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1F249-B44E-8141-ACAC-0D1AEEE5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6A5F7F-E60D-834A-AC26-3E0B4D06F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3912FF-EA12-6F46-9272-F55C6953B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9144000" cy="48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8766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FE31C-7496-4740-8D7C-E15B92CB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CD7D7BD-4AA9-234A-B91A-D8E712ECE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4A66A8-55F3-1D40-BB70-A3C56EB7D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981"/>
            <a:ext cx="9144000" cy="48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78353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7AA9E-F8BC-3B44-8C23-57550DCB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4B3C2E-597E-3B42-AC48-29995D343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15A625-7F7D-414A-9408-98D40FD72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365126"/>
            <a:ext cx="9144000" cy="479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8612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7AA9E-F8BC-3B44-8C23-57550DCB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4B3C2E-597E-3B42-AC48-29995D343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D182ED-F813-7A44-A871-62BEE9337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27" y="838200"/>
            <a:ext cx="9144000" cy="480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21678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7AA9E-F8BC-3B44-8C23-57550DCB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4B3C2E-597E-3B42-AC48-29995D343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0CFD667-8688-C849-946B-23E61E76A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9144000" cy="479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71248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7AA9E-F8BC-3B44-8C23-57550DCB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4B3C2E-597E-3B42-AC48-29995D343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77F36C-C194-7548-A8DA-390EA748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304"/>
            <a:ext cx="9144000" cy="480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4767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7AA9E-F8BC-3B44-8C23-57550DCB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4B3C2E-597E-3B42-AC48-29995D343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149527-256F-9F4B-8633-459BC2583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144000" cy="480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02976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7AA9E-F8BC-3B44-8C23-57550DCB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4B3C2E-597E-3B42-AC48-29995D343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C145D2-838D-8547-A168-3959F7FD8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144000" cy="478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40787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A4D2A-47AE-9841-8519-8117E9D3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B841039-FD7D-9E44-81A3-1E308FEF3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EECS 498-007 Lecture 2 - </a:t>
            </a:r>
            <a:fld id="{AC1089D3-84F4-7045-A571-C61BEF9B13BC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B7AFE5-B56F-4844-AD31-1DDB19EF2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709" y="707304"/>
            <a:ext cx="9144000" cy="480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26546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AlexNet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89;p35"/>
          <p:cNvPicPr preferRelativeResize="0"/>
          <p:nvPr/>
        </p:nvPicPr>
        <p:blipFill rotWithShape="1">
          <a:blip r:embed="rId2">
            <a:alphaModFix/>
          </a:blip>
          <a:srcRect t="9321"/>
          <a:stretch/>
        </p:blipFill>
        <p:spPr>
          <a:xfrm>
            <a:off x="5062268" y="857250"/>
            <a:ext cx="4020965" cy="121959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1136" y="2087633"/>
          <a:ext cx="8403221" cy="32670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2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2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6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83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73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154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63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718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b="1" u="none" strike="noStrike" dirty="0">
                          <a:effectLst/>
                        </a:rPr>
                        <a:t>Input size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500" b="1" u="none" strike="noStrike" dirty="0">
                          <a:effectLst/>
                        </a:rPr>
                        <a:t>Layer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b="1" u="none" strike="noStrike" dirty="0">
                          <a:effectLst/>
                        </a:rPr>
                        <a:t>Output size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u="none" strike="noStrike" dirty="0">
                          <a:effectLst/>
                        </a:rPr>
                        <a:t>Layer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 / 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filters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kernel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stride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pad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 / 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memory (KB)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params (k)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flop (M)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conv1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227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64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500" u="none" strike="noStrike" dirty="0">
                          <a:effectLst/>
                        </a:rPr>
                        <a:t>11</a:t>
                      </a:r>
                      <a:endParaRPr lang="cs-CZ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64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56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784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73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pool1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64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56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64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27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182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conv2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64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27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192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192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27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547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307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224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pool2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192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27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192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r-TR" sz="1500" u="none" strike="noStrike" dirty="0">
                          <a:effectLst/>
                        </a:rPr>
                        <a:t>127</a:t>
                      </a:r>
                      <a:endParaRPr lang="tr-T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conv3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192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384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384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254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664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112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conv4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384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256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169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885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500" u="none" strike="noStrike" dirty="0">
                          <a:effectLst/>
                        </a:rPr>
                        <a:t>145</a:t>
                      </a:r>
                      <a:endParaRPr lang="cs-CZ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conv5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256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256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169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590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100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pool5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13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500" u="none" strike="noStrike" dirty="0">
                          <a:effectLst/>
                        </a:rPr>
                        <a:t>36</a:t>
                      </a:r>
                      <a:endParaRPr lang="cs-CZ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flatten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500" u="none" strike="noStrike">
                          <a:effectLst/>
                        </a:rPr>
                        <a:t>9216</a:t>
                      </a:r>
                      <a:endParaRPr lang="cs-CZ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500" u="none" strike="noStrike" dirty="0">
                          <a:effectLst/>
                        </a:rPr>
                        <a:t>36</a:t>
                      </a:r>
                      <a:endParaRPr lang="cs-CZ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</a:t>
                      </a: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fc6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500" u="none" strike="noStrike">
                          <a:effectLst/>
                        </a:rPr>
                        <a:t>9216</a:t>
                      </a:r>
                      <a:endParaRPr lang="cs-CZ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37,749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 dirty="0">
                          <a:effectLst/>
                        </a:rPr>
                        <a:t>38</a:t>
                      </a:r>
                      <a:endParaRPr lang="fi-FI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500" u="none" strike="noStrike" dirty="0">
                          <a:effectLst/>
                        </a:rPr>
                        <a:t>16,777</a:t>
                      </a:r>
                      <a:endParaRPr lang="nb-NO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17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1000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1000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4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4,096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500" u="none" strike="noStrike" dirty="0">
                          <a:effectLst/>
                        </a:rPr>
                        <a:t>4</a:t>
                      </a:r>
                      <a:endParaRPr lang="hr-H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 flipH="1">
            <a:off x="5896336" y="2098635"/>
            <a:ext cx="2942864" cy="3272742"/>
          </a:xfrm>
          <a:prstGeom prst="rect">
            <a:avLst/>
          </a:prstGeom>
          <a:noFill/>
          <a:ln w="508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37099" y="1453549"/>
            <a:ext cx="188865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注意变化趋势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21408616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AlexNet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89;p35"/>
          <p:cNvPicPr preferRelativeResize="0"/>
          <p:nvPr/>
        </p:nvPicPr>
        <p:blipFill rotWithShape="1">
          <a:blip r:embed="rId2">
            <a:alphaModFix/>
          </a:blip>
          <a:srcRect t="9321"/>
          <a:stretch/>
        </p:blipFill>
        <p:spPr>
          <a:xfrm>
            <a:off x="5029200" y="761607"/>
            <a:ext cx="4020965" cy="121959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-4262438" y="2400300"/>
          <a:ext cx="3429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3063240" y="2790944"/>
          <a:ext cx="3017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6080760" y="2790944"/>
          <a:ext cx="3017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/>
        </p:nvGraphicFramePr>
        <p:xfrm>
          <a:off x="45720" y="2790944"/>
          <a:ext cx="3017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2997" y="2041616"/>
            <a:ext cx="2253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存储主要在卷积层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45887" y="2071608"/>
            <a:ext cx="2814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参数主要在全连接层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9885" y="2071608"/>
            <a:ext cx="211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运算主要在卷积层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64489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0" y="1725351"/>
          <a:ext cx="91440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26667" y="1619701"/>
            <a:ext cx="5493872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685959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92239" y="1621180"/>
            <a:ext cx="4688100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27652" y="3139082"/>
            <a:ext cx="434051" cy="733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055479" y="5284567"/>
            <a:ext cx="434051" cy="355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886012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ZFNet</a:t>
            </a:r>
            <a:r>
              <a:rPr lang="en-US" dirty="0"/>
              <a:t>: </a:t>
            </a:r>
            <a:r>
              <a:rPr lang="zh-CN" altLang="en-US" dirty="0"/>
              <a:t>一个大型</a:t>
            </a:r>
            <a:r>
              <a:rPr lang="en-US" dirty="0" err="1"/>
              <a:t>AlexNet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7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8550" y="1893391"/>
            <a:ext cx="8789437" cy="20720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23;p44"/>
          <p:cNvSpPr txBox="1"/>
          <p:nvPr/>
        </p:nvSpPr>
        <p:spPr>
          <a:xfrm>
            <a:off x="1457512" y="4050570"/>
            <a:ext cx="6940792" cy="120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但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CONV1: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从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(11x11 stride 4)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修改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为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(7x7 stride 2)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CONV3,4,5: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" altLang="zh-C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512, 1024, 512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替换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384, 384, 256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核</a:t>
            </a: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724;p44"/>
          <p:cNvSpPr txBox="1"/>
          <p:nvPr/>
        </p:nvSpPr>
        <p:spPr>
          <a:xfrm>
            <a:off x="5064463" y="1163529"/>
            <a:ext cx="4079537" cy="37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 top 5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错误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16.4% -&gt; 11.7%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733" y="5377074"/>
            <a:ext cx="49455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Zeiler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Fergus, “Visualizing and Understanding Convolutional Networks”, ECCV 2014</a:t>
            </a:r>
          </a:p>
        </p:txBody>
      </p:sp>
    </p:spTree>
    <p:extLst>
      <p:ext uri="{BB962C8B-B14F-4D97-AF65-F5344CB8AC3E}">
        <p14:creationId xmlns:p14="http://schemas.microsoft.com/office/powerpoint/2010/main" val="35775681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6.3.1.ImageNet</a:t>
            </a:r>
            <a:r>
              <a:rPr lang="zh-CN" altLang="en-US" dirty="0"/>
              <a:t>分类挑战</a:t>
            </a:r>
            <a:endParaRPr lang="en-US" altLang="zh-CN" dirty="0"/>
          </a:p>
          <a:p>
            <a:r>
              <a:rPr lang="en-US" altLang="zh-CN" dirty="0"/>
              <a:t>6.3.2.AlexNet</a:t>
            </a:r>
            <a:endParaRPr lang="en-US" dirty="0"/>
          </a:p>
          <a:p>
            <a:r>
              <a:rPr lang="en-US" altLang="zh-CN" dirty="0">
                <a:solidFill>
                  <a:srgbClr val="00B050"/>
                </a:solidFill>
              </a:rPr>
              <a:t>6.3.3.VGG</a:t>
            </a:r>
          </a:p>
          <a:p>
            <a:r>
              <a:rPr lang="en-US" altLang="zh-CN" dirty="0"/>
              <a:t>6.3.4.GoogleNet</a:t>
            </a:r>
          </a:p>
          <a:p>
            <a:r>
              <a:rPr lang="en-US" altLang="zh-CN" dirty="0"/>
              <a:t>6.3.5.Residual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  <a:p>
            <a:r>
              <a:rPr lang="en-US" altLang="zh-CN" dirty="0"/>
              <a:t>6.3.6.</a:t>
            </a:r>
            <a:r>
              <a:rPr lang="zh-CN" altLang="en-US" dirty="0"/>
              <a:t>不同网络比较及改进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766520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92239" y="1621180"/>
            <a:ext cx="4688100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27652" y="3139082"/>
            <a:ext cx="434051" cy="733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055479" y="5284567"/>
            <a:ext cx="434051" cy="355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118462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00264" y="1621180"/>
            <a:ext cx="4080075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686919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VGG: </a:t>
            </a:r>
            <a:r>
              <a:rPr lang="zh-CN" altLang="en-US" dirty="0"/>
              <a:t>更深的网络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784;p46"/>
          <p:cNvSpPr/>
          <p:nvPr/>
        </p:nvSpPr>
        <p:spPr>
          <a:xfrm>
            <a:off x="6936118" y="4153759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Google Shape;785;p46"/>
          <p:cNvSpPr/>
          <p:nvPr/>
        </p:nvSpPr>
        <p:spPr>
          <a:xfrm>
            <a:off x="6936118" y="4312893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Google Shape;786;p46"/>
          <p:cNvSpPr/>
          <p:nvPr/>
        </p:nvSpPr>
        <p:spPr>
          <a:xfrm>
            <a:off x="6936118" y="4472026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" name="Google Shape;787;p46"/>
          <p:cNvSpPr/>
          <p:nvPr/>
        </p:nvSpPr>
        <p:spPr>
          <a:xfrm>
            <a:off x="6936118" y="4631158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788;p46"/>
          <p:cNvSpPr/>
          <p:nvPr/>
        </p:nvSpPr>
        <p:spPr>
          <a:xfrm>
            <a:off x="6936118" y="4790291"/>
            <a:ext cx="830475" cy="108899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" name="Google Shape;789;p46"/>
          <p:cNvSpPr/>
          <p:nvPr/>
        </p:nvSpPr>
        <p:spPr>
          <a:xfrm>
            <a:off x="6936118" y="3994627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" name="Google Shape;790;p46"/>
          <p:cNvSpPr/>
          <p:nvPr/>
        </p:nvSpPr>
        <p:spPr>
          <a:xfrm>
            <a:off x="6936118" y="3835495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" name="Google Shape;791;p46"/>
          <p:cNvSpPr/>
          <p:nvPr/>
        </p:nvSpPr>
        <p:spPr>
          <a:xfrm>
            <a:off x="6936118" y="3676362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256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" name="Google Shape;792;p46"/>
          <p:cNvSpPr/>
          <p:nvPr/>
        </p:nvSpPr>
        <p:spPr>
          <a:xfrm>
            <a:off x="6936118" y="3517229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256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" name="Google Shape;793;p46"/>
          <p:cNvSpPr/>
          <p:nvPr/>
        </p:nvSpPr>
        <p:spPr>
          <a:xfrm>
            <a:off x="6936118" y="3358097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" name="Google Shape;794;p46"/>
          <p:cNvSpPr/>
          <p:nvPr/>
        </p:nvSpPr>
        <p:spPr>
          <a:xfrm>
            <a:off x="6936118" y="3032199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" name="Google Shape;795;p46"/>
          <p:cNvSpPr/>
          <p:nvPr/>
        </p:nvSpPr>
        <p:spPr>
          <a:xfrm>
            <a:off x="6936118" y="2873066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" name="Google Shape;796;p46"/>
          <p:cNvSpPr/>
          <p:nvPr/>
        </p:nvSpPr>
        <p:spPr>
          <a:xfrm>
            <a:off x="6936118" y="2715187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" name="Google Shape;797;p46"/>
          <p:cNvSpPr/>
          <p:nvPr/>
        </p:nvSpPr>
        <p:spPr>
          <a:xfrm>
            <a:off x="6936118" y="2395669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" name="Google Shape;798;p46"/>
          <p:cNvSpPr/>
          <p:nvPr/>
        </p:nvSpPr>
        <p:spPr>
          <a:xfrm>
            <a:off x="6936118" y="2236535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" name="Google Shape;799;p46"/>
          <p:cNvSpPr/>
          <p:nvPr/>
        </p:nvSpPr>
        <p:spPr>
          <a:xfrm>
            <a:off x="6936118" y="2077402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" name="Google Shape;800;p46"/>
          <p:cNvSpPr/>
          <p:nvPr/>
        </p:nvSpPr>
        <p:spPr>
          <a:xfrm>
            <a:off x="6936118" y="1759138"/>
            <a:ext cx="830475" cy="108899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4096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" name="Google Shape;801;p46"/>
          <p:cNvSpPr/>
          <p:nvPr/>
        </p:nvSpPr>
        <p:spPr>
          <a:xfrm>
            <a:off x="6936118" y="1600005"/>
            <a:ext cx="830475" cy="108899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2" name="Google Shape;802;p46"/>
          <p:cNvSpPr/>
          <p:nvPr/>
        </p:nvSpPr>
        <p:spPr>
          <a:xfrm>
            <a:off x="6936118" y="1440871"/>
            <a:ext cx="830475" cy="108899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3" name="Google Shape;803;p46"/>
          <p:cNvSpPr/>
          <p:nvPr/>
        </p:nvSpPr>
        <p:spPr>
          <a:xfrm>
            <a:off x="6936118" y="1918270"/>
            <a:ext cx="830475" cy="108899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4096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" name="Google Shape;804;p46"/>
          <p:cNvSpPr/>
          <p:nvPr/>
        </p:nvSpPr>
        <p:spPr>
          <a:xfrm>
            <a:off x="6939491" y="2554810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" name="Google Shape;805;p46"/>
          <p:cNvSpPr/>
          <p:nvPr/>
        </p:nvSpPr>
        <p:spPr>
          <a:xfrm>
            <a:off x="6936118" y="3198964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26" name="Google Shape;806;p46"/>
          <p:cNvGrpSpPr/>
          <p:nvPr/>
        </p:nvGrpSpPr>
        <p:grpSpPr>
          <a:xfrm>
            <a:off x="5550512" y="2879435"/>
            <a:ext cx="833874" cy="2019755"/>
            <a:chOff x="3572521" y="2326841"/>
            <a:chExt cx="834091" cy="2020281"/>
          </a:xfrm>
        </p:grpSpPr>
        <p:sp>
          <p:nvSpPr>
            <p:cNvPr id="27" name="Google Shape;807;p46"/>
            <p:cNvSpPr/>
            <p:nvPr/>
          </p:nvSpPr>
          <p:spPr>
            <a:xfrm>
              <a:off x="3575921" y="3601498"/>
              <a:ext cx="830691" cy="108927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384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8" name="Google Shape;808;p46"/>
            <p:cNvSpPr/>
            <p:nvPr/>
          </p:nvSpPr>
          <p:spPr>
            <a:xfrm>
              <a:off x="3575921" y="3760673"/>
              <a:ext cx="830691" cy="108927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9" name="Google Shape;809;p46"/>
            <p:cNvSpPr/>
            <p:nvPr/>
          </p:nvSpPr>
          <p:spPr>
            <a:xfrm>
              <a:off x="3575921" y="3919847"/>
              <a:ext cx="830691" cy="108927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5x5 conv, 256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0" name="Google Shape;810;p46"/>
            <p:cNvSpPr/>
            <p:nvPr/>
          </p:nvSpPr>
          <p:spPr>
            <a:xfrm>
              <a:off x="3575921" y="4079021"/>
              <a:ext cx="830691" cy="108927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11x11 conv, 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1" name="Google Shape;811;p46"/>
            <p:cNvSpPr/>
            <p:nvPr/>
          </p:nvSpPr>
          <p:spPr>
            <a:xfrm>
              <a:off x="3575921" y="4238195"/>
              <a:ext cx="830691" cy="108927"/>
            </a:xfrm>
            <a:prstGeom prst="rect">
              <a:avLst/>
            </a:prstGeom>
            <a:solidFill>
              <a:srgbClr val="D9D9D9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Input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2" name="Google Shape;812;p46"/>
            <p:cNvSpPr/>
            <p:nvPr/>
          </p:nvSpPr>
          <p:spPr>
            <a:xfrm>
              <a:off x="3572521" y="3441063"/>
              <a:ext cx="830700" cy="1089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3" name="Google Shape;813;p46"/>
            <p:cNvSpPr/>
            <p:nvPr/>
          </p:nvSpPr>
          <p:spPr>
            <a:xfrm>
              <a:off x="3572521" y="3281888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384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4" name="Google Shape;814;p46"/>
            <p:cNvSpPr/>
            <p:nvPr/>
          </p:nvSpPr>
          <p:spPr>
            <a:xfrm>
              <a:off x="3572521" y="312271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256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5" name="Google Shape;815;p46"/>
            <p:cNvSpPr/>
            <p:nvPr/>
          </p:nvSpPr>
          <p:spPr>
            <a:xfrm>
              <a:off x="3572521" y="2963540"/>
              <a:ext cx="830700" cy="1089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6" name="Google Shape;816;p46"/>
            <p:cNvSpPr/>
            <p:nvPr/>
          </p:nvSpPr>
          <p:spPr>
            <a:xfrm>
              <a:off x="3572521" y="2804364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4096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7" name="Google Shape;817;p46"/>
            <p:cNvSpPr/>
            <p:nvPr/>
          </p:nvSpPr>
          <p:spPr>
            <a:xfrm>
              <a:off x="3572521" y="2645190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4096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8" name="Google Shape;818;p46"/>
            <p:cNvSpPr/>
            <p:nvPr/>
          </p:nvSpPr>
          <p:spPr>
            <a:xfrm>
              <a:off x="3572521" y="2326841"/>
              <a:ext cx="830700" cy="1089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Softmax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9" name="Google Shape;819;p46"/>
            <p:cNvSpPr/>
            <p:nvPr/>
          </p:nvSpPr>
          <p:spPr>
            <a:xfrm>
              <a:off x="3572521" y="2486015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1000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grpSp>
        <p:nvGrpSpPr>
          <p:cNvPr id="40" name="Google Shape;820;p46"/>
          <p:cNvGrpSpPr/>
          <p:nvPr/>
        </p:nvGrpSpPr>
        <p:grpSpPr>
          <a:xfrm>
            <a:off x="7964924" y="1130227"/>
            <a:ext cx="838070" cy="3768962"/>
            <a:chOff x="6254796" y="577178"/>
            <a:chExt cx="838288" cy="3769943"/>
          </a:xfrm>
        </p:grpSpPr>
        <p:sp>
          <p:nvSpPr>
            <p:cNvPr id="41" name="Google Shape;821;p46"/>
            <p:cNvSpPr/>
            <p:nvPr/>
          </p:nvSpPr>
          <p:spPr>
            <a:xfrm>
              <a:off x="6258221" y="3760673"/>
              <a:ext cx="830691" cy="108927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2" name="Google Shape;822;p46"/>
            <p:cNvSpPr/>
            <p:nvPr/>
          </p:nvSpPr>
          <p:spPr>
            <a:xfrm>
              <a:off x="6258221" y="4238195"/>
              <a:ext cx="830691" cy="108927"/>
            </a:xfrm>
            <a:prstGeom prst="rect">
              <a:avLst/>
            </a:prstGeom>
            <a:solidFill>
              <a:srgbClr val="D9D9D9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Input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3" name="Google Shape;823;p46"/>
            <p:cNvSpPr/>
            <p:nvPr/>
          </p:nvSpPr>
          <p:spPr>
            <a:xfrm>
              <a:off x="6258221" y="3283150"/>
              <a:ext cx="830691" cy="108927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4" name="Google Shape;824;p46"/>
            <p:cNvSpPr/>
            <p:nvPr/>
          </p:nvSpPr>
          <p:spPr>
            <a:xfrm>
              <a:off x="6258221" y="2805628"/>
              <a:ext cx="830691" cy="108927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5" name="Google Shape;825;p46"/>
            <p:cNvSpPr/>
            <p:nvPr/>
          </p:nvSpPr>
          <p:spPr>
            <a:xfrm>
              <a:off x="6256509" y="2006563"/>
              <a:ext cx="830700" cy="1089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6" name="Google Shape;826;p46"/>
            <p:cNvSpPr/>
            <p:nvPr/>
          </p:nvSpPr>
          <p:spPr>
            <a:xfrm>
              <a:off x="6259046" y="1213875"/>
              <a:ext cx="830700" cy="1089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7" name="Google Shape;827;p46"/>
            <p:cNvSpPr/>
            <p:nvPr/>
          </p:nvSpPr>
          <p:spPr>
            <a:xfrm>
              <a:off x="6259046" y="577178"/>
              <a:ext cx="830700" cy="1089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Softmax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8" name="Google Shape;828;p46"/>
            <p:cNvSpPr/>
            <p:nvPr/>
          </p:nvSpPr>
          <p:spPr>
            <a:xfrm>
              <a:off x="6260696" y="137182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9" name="Google Shape;829;p46"/>
            <p:cNvSpPr/>
            <p:nvPr/>
          </p:nvSpPr>
          <p:spPr>
            <a:xfrm>
              <a:off x="6258209" y="2163196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0" name="Google Shape;830;p46"/>
            <p:cNvSpPr/>
            <p:nvPr/>
          </p:nvSpPr>
          <p:spPr>
            <a:xfrm>
              <a:off x="6256496" y="3123988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256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1" name="Google Shape;831;p46"/>
            <p:cNvSpPr/>
            <p:nvPr/>
          </p:nvSpPr>
          <p:spPr>
            <a:xfrm>
              <a:off x="6256496" y="296481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256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2" name="Google Shape;832;p46"/>
            <p:cNvSpPr/>
            <p:nvPr/>
          </p:nvSpPr>
          <p:spPr>
            <a:xfrm>
              <a:off x="6256496" y="3601511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128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3" name="Google Shape;833;p46"/>
            <p:cNvSpPr/>
            <p:nvPr/>
          </p:nvSpPr>
          <p:spPr>
            <a:xfrm>
              <a:off x="6256496" y="3442337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128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4" name="Google Shape;834;p46"/>
            <p:cNvSpPr/>
            <p:nvPr/>
          </p:nvSpPr>
          <p:spPr>
            <a:xfrm>
              <a:off x="6256496" y="3919859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64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5" name="Google Shape;835;p46"/>
            <p:cNvSpPr/>
            <p:nvPr/>
          </p:nvSpPr>
          <p:spPr>
            <a:xfrm>
              <a:off x="6256496" y="407903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64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6" name="Google Shape;836;p46"/>
            <p:cNvSpPr/>
            <p:nvPr/>
          </p:nvSpPr>
          <p:spPr>
            <a:xfrm>
              <a:off x="6259009" y="1689199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7" name="Google Shape;837;p46"/>
            <p:cNvSpPr/>
            <p:nvPr/>
          </p:nvSpPr>
          <p:spPr>
            <a:xfrm>
              <a:off x="6259009" y="153002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8" name="Google Shape;838;p46"/>
            <p:cNvSpPr/>
            <p:nvPr/>
          </p:nvSpPr>
          <p:spPr>
            <a:xfrm>
              <a:off x="6262384" y="1848382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9" name="Google Shape;839;p46"/>
            <p:cNvSpPr/>
            <p:nvPr/>
          </p:nvSpPr>
          <p:spPr>
            <a:xfrm>
              <a:off x="6254809" y="2484411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0" name="Google Shape;840;p46"/>
            <p:cNvSpPr/>
            <p:nvPr/>
          </p:nvSpPr>
          <p:spPr>
            <a:xfrm>
              <a:off x="6254809" y="2325237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1" name="Google Shape;841;p46"/>
            <p:cNvSpPr/>
            <p:nvPr/>
          </p:nvSpPr>
          <p:spPr>
            <a:xfrm>
              <a:off x="6258184" y="2643595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2" name="Google Shape;842;p46"/>
            <p:cNvSpPr/>
            <p:nvPr/>
          </p:nvSpPr>
          <p:spPr>
            <a:xfrm>
              <a:off x="6254796" y="895527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4096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3" name="Google Shape;843;p46"/>
            <p:cNvSpPr/>
            <p:nvPr/>
          </p:nvSpPr>
          <p:spPr>
            <a:xfrm>
              <a:off x="6254796" y="736353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1000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4" name="Google Shape;844;p46"/>
            <p:cNvSpPr/>
            <p:nvPr/>
          </p:nvSpPr>
          <p:spPr>
            <a:xfrm>
              <a:off x="6254796" y="1054701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4096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65" name="Google Shape;848;p46"/>
          <p:cNvSpPr txBox="1"/>
          <p:nvPr/>
        </p:nvSpPr>
        <p:spPr>
          <a:xfrm>
            <a:off x="5459954" y="4864736"/>
            <a:ext cx="1011600" cy="43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Google Shape;849;p46"/>
          <p:cNvSpPr txBox="1"/>
          <p:nvPr/>
        </p:nvSpPr>
        <p:spPr>
          <a:xfrm>
            <a:off x="6971462" y="4903391"/>
            <a:ext cx="874572" cy="43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VGG16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Google Shape;850;p46"/>
          <p:cNvSpPr txBox="1"/>
          <p:nvPr/>
        </p:nvSpPr>
        <p:spPr>
          <a:xfrm>
            <a:off x="8037984" y="4903391"/>
            <a:ext cx="874572" cy="43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VGG19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-26043" y="5388739"/>
            <a:ext cx="61991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Simonyan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Zissermann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“Very Deep Convolutional Networks for Large-Scale Image Recognition”, ICLR 2015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8650" y="1696282"/>
            <a:ext cx="38377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 </a:t>
            </a:r>
            <a:r>
              <a:rPr kumimoji="0" lang="zh-CN" alt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设计规则</a:t>
            </a:r>
            <a:r>
              <a:rPr kumimoji="0" 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所有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3x3 stride 1 pad 1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所有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max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池化使用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2x2 stride 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池化后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双倍输出通道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15687" y="3093003"/>
            <a:ext cx="351673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网络包含5个卷积段: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阶段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1: conv-conv-pool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阶段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2: conv-conv-pool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阶段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3: conv-conv-pool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阶段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4: conv-conv-conv-[conv]-pool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阶段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5: conv-conv-conv-[conv]-pool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(VGG-19在阶段4和5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有4conv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145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VGG:</a:t>
            </a:r>
            <a:r>
              <a:rPr lang="zh-CN" altLang="en-US" dirty="0"/>
              <a:t>更深的网络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784;p46"/>
          <p:cNvSpPr/>
          <p:nvPr/>
        </p:nvSpPr>
        <p:spPr>
          <a:xfrm>
            <a:off x="6936118" y="4153759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Google Shape;785;p46"/>
          <p:cNvSpPr/>
          <p:nvPr/>
        </p:nvSpPr>
        <p:spPr>
          <a:xfrm>
            <a:off x="6936118" y="4312893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Google Shape;786;p46"/>
          <p:cNvSpPr/>
          <p:nvPr/>
        </p:nvSpPr>
        <p:spPr>
          <a:xfrm>
            <a:off x="6936118" y="4472026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" name="Google Shape;787;p46"/>
          <p:cNvSpPr/>
          <p:nvPr/>
        </p:nvSpPr>
        <p:spPr>
          <a:xfrm>
            <a:off x="6936118" y="4631158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788;p46"/>
          <p:cNvSpPr/>
          <p:nvPr/>
        </p:nvSpPr>
        <p:spPr>
          <a:xfrm>
            <a:off x="6936118" y="4790291"/>
            <a:ext cx="830475" cy="108899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" name="Google Shape;789;p46"/>
          <p:cNvSpPr/>
          <p:nvPr/>
        </p:nvSpPr>
        <p:spPr>
          <a:xfrm>
            <a:off x="6936118" y="3994627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" name="Google Shape;790;p46"/>
          <p:cNvSpPr/>
          <p:nvPr/>
        </p:nvSpPr>
        <p:spPr>
          <a:xfrm>
            <a:off x="6936118" y="3835495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" name="Google Shape;791;p46"/>
          <p:cNvSpPr/>
          <p:nvPr/>
        </p:nvSpPr>
        <p:spPr>
          <a:xfrm>
            <a:off x="6936118" y="3676362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256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" name="Google Shape;792;p46"/>
          <p:cNvSpPr/>
          <p:nvPr/>
        </p:nvSpPr>
        <p:spPr>
          <a:xfrm>
            <a:off x="6936118" y="3517229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256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" name="Google Shape;793;p46"/>
          <p:cNvSpPr/>
          <p:nvPr/>
        </p:nvSpPr>
        <p:spPr>
          <a:xfrm>
            <a:off x="6936118" y="3358097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" name="Google Shape;794;p46"/>
          <p:cNvSpPr/>
          <p:nvPr/>
        </p:nvSpPr>
        <p:spPr>
          <a:xfrm>
            <a:off x="6936118" y="3032199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" name="Google Shape;795;p46"/>
          <p:cNvSpPr/>
          <p:nvPr/>
        </p:nvSpPr>
        <p:spPr>
          <a:xfrm>
            <a:off x="6936118" y="2873066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" name="Google Shape;796;p46"/>
          <p:cNvSpPr/>
          <p:nvPr/>
        </p:nvSpPr>
        <p:spPr>
          <a:xfrm>
            <a:off x="6936118" y="2715187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" name="Google Shape;797;p46"/>
          <p:cNvSpPr/>
          <p:nvPr/>
        </p:nvSpPr>
        <p:spPr>
          <a:xfrm>
            <a:off x="6936118" y="2395669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" name="Google Shape;798;p46"/>
          <p:cNvSpPr/>
          <p:nvPr/>
        </p:nvSpPr>
        <p:spPr>
          <a:xfrm>
            <a:off x="6936118" y="2236535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" name="Google Shape;799;p46"/>
          <p:cNvSpPr/>
          <p:nvPr/>
        </p:nvSpPr>
        <p:spPr>
          <a:xfrm>
            <a:off x="6936118" y="2077402"/>
            <a:ext cx="830475" cy="108899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" name="Google Shape;800;p46"/>
          <p:cNvSpPr/>
          <p:nvPr/>
        </p:nvSpPr>
        <p:spPr>
          <a:xfrm>
            <a:off x="6936118" y="1759138"/>
            <a:ext cx="830475" cy="108899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4096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" name="Google Shape;801;p46"/>
          <p:cNvSpPr/>
          <p:nvPr/>
        </p:nvSpPr>
        <p:spPr>
          <a:xfrm>
            <a:off x="6936118" y="1600005"/>
            <a:ext cx="830475" cy="108899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2" name="Google Shape;802;p46"/>
          <p:cNvSpPr/>
          <p:nvPr/>
        </p:nvSpPr>
        <p:spPr>
          <a:xfrm>
            <a:off x="6936118" y="1440871"/>
            <a:ext cx="830475" cy="108899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3" name="Google Shape;803;p46"/>
          <p:cNvSpPr/>
          <p:nvPr/>
        </p:nvSpPr>
        <p:spPr>
          <a:xfrm>
            <a:off x="6936118" y="1918270"/>
            <a:ext cx="830475" cy="108899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4096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" name="Google Shape;804;p46"/>
          <p:cNvSpPr/>
          <p:nvPr/>
        </p:nvSpPr>
        <p:spPr>
          <a:xfrm>
            <a:off x="6939491" y="2554810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" name="Google Shape;805;p46"/>
          <p:cNvSpPr/>
          <p:nvPr/>
        </p:nvSpPr>
        <p:spPr>
          <a:xfrm>
            <a:off x="6936118" y="3198964"/>
            <a:ext cx="830475" cy="10889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26" name="Google Shape;806;p46"/>
          <p:cNvGrpSpPr/>
          <p:nvPr/>
        </p:nvGrpSpPr>
        <p:grpSpPr>
          <a:xfrm>
            <a:off x="5550512" y="2879435"/>
            <a:ext cx="833874" cy="2019755"/>
            <a:chOff x="3572521" y="2326841"/>
            <a:chExt cx="834091" cy="2020281"/>
          </a:xfrm>
        </p:grpSpPr>
        <p:sp>
          <p:nvSpPr>
            <p:cNvPr id="27" name="Google Shape;807;p46"/>
            <p:cNvSpPr/>
            <p:nvPr/>
          </p:nvSpPr>
          <p:spPr>
            <a:xfrm>
              <a:off x="3575921" y="3601498"/>
              <a:ext cx="830691" cy="108927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384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8" name="Google Shape;808;p46"/>
            <p:cNvSpPr/>
            <p:nvPr/>
          </p:nvSpPr>
          <p:spPr>
            <a:xfrm>
              <a:off x="3575921" y="3760673"/>
              <a:ext cx="830691" cy="108927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9" name="Google Shape;809;p46"/>
            <p:cNvSpPr/>
            <p:nvPr/>
          </p:nvSpPr>
          <p:spPr>
            <a:xfrm>
              <a:off x="3575921" y="3919847"/>
              <a:ext cx="830691" cy="108927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5x5 conv, 256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0" name="Google Shape;810;p46"/>
            <p:cNvSpPr/>
            <p:nvPr/>
          </p:nvSpPr>
          <p:spPr>
            <a:xfrm>
              <a:off x="3575921" y="4079021"/>
              <a:ext cx="830691" cy="108927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11x11 conv, 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1" name="Google Shape;811;p46"/>
            <p:cNvSpPr/>
            <p:nvPr/>
          </p:nvSpPr>
          <p:spPr>
            <a:xfrm>
              <a:off x="3575921" y="4238195"/>
              <a:ext cx="830691" cy="108927"/>
            </a:xfrm>
            <a:prstGeom prst="rect">
              <a:avLst/>
            </a:prstGeom>
            <a:solidFill>
              <a:srgbClr val="D9D9D9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Input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2" name="Google Shape;812;p46"/>
            <p:cNvSpPr/>
            <p:nvPr/>
          </p:nvSpPr>
          <p:spPr>
            <a:xfrm>
              <a:off x="3572521" y="3441063"/>
              <a:ext cx="830700" cy="1089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3" name="Google Shape;813;p46"/>
            <p:cNvSpPr/>
            <p:nvPr/>
          </p:nvSpPr>
          <p:spPr>
            <a:xfrm>
              <a:off x="3572521" y="3281888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384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4" name="Google Shape;814;p46"/>
            <p:cNvSpPr/>
            <p:nvPr/>
          </p:nvSpPr>
          <p:spPr>
            <a:xfrm>
              <a:off x="3572521" y="312271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256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5" name="Google Shape;815;p46"/>
            <p:cNvSpPr/>
            <p:nvPr/>
          </p:nvSpPr>
          <p:spPr>
            <a:xfrm>
              <a:off x="3572521" y="2963540"/>
              <a:ext cx="830700" cy="1089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6" name="Google Shape;816;p46"/>
            <p:cNvSpPr/>
            <p:nvPr/>
          </p:nvSpPr>
          <p:spPr>
            <a:xfrm>
              <a:off x="3572521" y="2804364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4096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7" name="Google Shape;817;p46"/>
            <p:cNvSpPr/>
            <p:nvPr/>
          </p:nvSpPr>
          <p:spPr>
            <a:xfrm>
              <a:off x="3572521" y="2645190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4096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8" name="Google Shape;818;p46"/>
            <p:cNvSpPr/>
            <p:nvPr/>
          </p:nvSpPr>
          <p:spPr>
            <a:xfrm>
              <a:off x="3572521" y="2326841"/>
              <a:ext cx="830700" cy="1089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Softmax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9" name="Google Shape;819;p46"/>
            <p:cNvSpPr/>
            <p:nvPr/>
          </p:nvSpPr>
          <p:spPr>
            <a:xfrm>
              <a:off x="3572521" y="2486015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1000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grpSp>
        <p:nvGrpSpPr>
          <p:cNvPr id="40" name="Google Shape;820;p46"/>
          <p:cNvGrpSpPr/>
          <p:nvPr/>
        </p:nvGrpSpPr>
        <p:grpSpPr>
          <a:xfrm>
            <a:off x="7964924" y="1130227"/>
            <a:ext cx="838070" cy="3768962"/>
            <a:chOff x="6254796" y="577178"/>
            <a:chExt cx="838288" cy="3769943"/>
          </a:xfrm>
        </p:grpSpPr>
        <p:sp>
          <p:nvSpPr>
            <p:cNvPr id="41" name="Google Shape;821;p46"/>
            <p:cNvSpPr/>
            <p:nvPr/>
          </p:nvSpPr>
          <p:spPr>
            <a:xfrm>
              <a:off x="6258221" y="3760673"/>
              <a:ext cx="830691" cy="108927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2" name="Google Shape;822;p46"/>
            <p:cNvSpPr/>
            <p:nvPr/>
          </p:nvSpPr>
          <p:spPr>
            <a:xfrm>
              <a:off x="6258221" y="4238195"/>
              <a:ext cx="830691" cy="108927"/>
            </a:xfrm>
            <a:prstGeom prst="rect">
              <a:avLst/>
            </a:prstGeom>
            <a:solidFill>
              <a:srgbClr val="D9D9D9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Input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3" name="Google Shape;823;p46"/>
            <p:cNvSpPr/>
            <p:nvPr/>
          </p:nvSpPr>
          <p:spPr>
            <a:xfrm>
              <a:off x="6258221" y="3283150"/>
              <a:ext cx="830691" cy="108927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4" name="Google Shape;824;p46"/>
            <p:cNvSpPr/>
            <p:nvPr/>
          </p:nvSpPr>
          <p:spPr>
            <a:xfrm>
              <a:off x="6258221" y="2805628"/>
              <a:ext cx="830691" cy="108927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5" name="Google Shape;825;p46"/>
            <p:cNvSpPr/>
            <p:nvPr/>
          </p:nvSpPr>
          <p:spPr>
            <a:xfrm>
              <a:off x="6256509" y="2006563"/>
              <a:ext cx="830700" cy="1089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6" name="Google Shape;826;p46"/>
            <p:cNvSpPr/>
            <p:nvPr/>
          </p:nvSpPr>
          <p:spPr>
            <a:xfrm>
              <a:off x="6259046" y="1213875"/>
              <a:ext cx="830700" cy="1089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4A86E8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Pool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7" name="Google Shape;827;p46"/>
            <p:cNvSpPr/>
            <p:nvPr/>
          </p:nvSpPr>
          <p:spPr>
            <a:xfrm>
              <a:off x="6259046" y="577178"/>
              <a:ext cx="830700" cy="1089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Softmax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8" name="Google Shape;828;p46"/>
            <p:cNvSpPr/>
            <p:nvPr/>
          </p:nvSpPr>
          <p:spPr>
            <a:xfrm>
              <a:off x="6260696" y="137182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49" name="Google Shape;829;p46"/>
            <p:cNvSpPr/>
            <p:nvPr/>
          </p:nvSpPr>
          <p:spPr>
            <a:xfrm>
              <a:off x="6258209" y="2163196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0" name="Google Shape;830;p46"/>
            <p:cNvSpPr/>
            <p:nvPr/>
          </p:nvSpPr>
          <p:spPr>
            <a:xfrm>
              <a:off x="6256496" y="3123988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256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1" name="Google Shape;831;p46"/>
            <p:cNvSpPr/>
            <p:nvPr/>
          </p:nvSpPr>
          <p:spPr>
            <a:xfrm>
              <a:off x="6256496" y="296481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256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2" name="Google Shape;832;p46"/>
            <p:cNvSpPr/>
            <p:nvPr/>
          </p:nvSpPr>
          <p:spPr>
            <a:xfrm>
              <a:off x="6256496" y="3601511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128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3" name="Google Shape;833;p46"/>
            <p:cNvSpPr/>
            <p:nvPr/>
          </p:nvSpPr>
          <p:spPr>
            <a:xfrm>
              <a:off x="6256496" y="3442337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128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4" name="Google Shape;834;p46"/>
            <p:cNvSpPr/>
            <p:nvPr/>
          </p:nvSpPr>
          <p:spPr>
            <a:xfrm>
              <a:off x="6256496" y="3919859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64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5" name="Google Shape;835;p46"/>
            <p:cNvSpPr/>
            <p:nvPr/>
          </p:nvSpPr>
          <p:spPr>
            <a:xfrm>
              <a:off x="6256496" y="407903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64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6" name="Google Shape;836;p46"/>
            <p:cNvSpPr/>
            <p:nvPr/>
          </p:nvSpPr>
          <p:spPr>
            <a:xfrm>
              <a:off x="6259009" y="1689199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7" name="Google Shape;837;p46"/>
            <p:cNvSpPr/>
            <p:nvPr/>
          </p:nvSpPr>
          <p:spPr>
            <a:xfrm>
              <a:off x="6259009" y="1530024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8" name="Google Shape;838;p46"/>
            <p:cNvSpPr/>
            <p:nvPr/>
          </p:nvSpPr>
          <p:spPr>
            <a:xfrm>
              <a:off x="6262384" y="1848382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59" name="Google Shape;839;p46"/>
            <p:cNvSpPr/>
            <p:nvPr/>
          </p:nvSpPr>
          <p:spPr>
            <a:xfrm>
              <a:off x="6254809" y="2484411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0" name="Google Shape;840;p46"/>
            <p:cNvSpPr/>
            <p:nvPr/>
          </p:nvSpPr>
          <p:spPr>
            <a:xfrm>
              <a:off x="6254809" y="2325237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1" name="Google Shape;841;p46"/>
            <p:cNvSpPr/>
            <p:nvPr/>
          </p:nvSpPr>
          <p:spPr>
            <a:xfrm>
              <a:off x="6258184" y="2643595"/>
              <a:ext cx="830700" cy="1089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conv, 512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2" name="Google Shape;842;p46"/>
            <p:cNvSpPr/>
            <p:nvPr/>
          </p:nvSpPr>
          <p:spPr>
            <a:xfrm>
              <a:off x="6254796" y="895527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4096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3" name="Google Shape;843;p46"/>
            <p:cNvSpPr/>
            <p:nvPr/>
          </p:nvSpPr>
          <p:spPr>
            <a:xfrm>
              <a:off x="6254796" y="736353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1000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4" name="Google Shape;844;p46"/>
            <p:cNvSpPr/>
            <p:nvPr/>
          </p:nvSpPr>
          <p:spPr>
            <a:xfrm>
              <a:off x="6254796" y="1054701"/>
              <a:ext cx="830700" cy="1089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srgbClr val="38761D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FC 4096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65" name="Google Shape;848;p46"/>
          <p:cNvSpPr txBox="1"/>
          <p:nvPr/>
        </p:nvSpPr>
        <p:spPr>
          <a:xfrm>
            <a:off x="5459954" y="4864736"/>
            <a:ext cx="1011600" cy="43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Google Shape;849;p46"/>
          <p:cNvSpPr txBox="1"/>
          <p:nvPr/>
        </p:nvSpPr>
        <p:spPr>
          <a:xfrm>
            <a:off x="6971462" y="4903391"/>
            <a:ext cx="874572" cy="43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VGG16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Google Shape;850;p46"/>
          <p:cNvSpPr txBox="1"/>
          <p:nvPr/>
        </p:nvSpPr>
        <p:spPr>
          <a:xfrm>
            <a:off x="8037984" y="4903391"/>
            <a:ext cx="874572" cy="43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VGG19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-26043" y="5388739"/>
            <a:ext cx="61991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Simonyan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Zissermann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“Very Deep Convolutional Networks for Large-Scale Image Recognition”, ICLR 2015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8651" y="1696282"/>
            <a:ext cx="38377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VGG </a:t>
            </a:r>
            <a:r>
              <a:rPr kumimoji="0" lang="zh-CN" alt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设计规则</a:t>
            </a:r>
            <a:r>
              <a:rPr kumimoji="0" lang="en-US" altLang="zh-CN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所有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conv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3x3 stride 1 pad 1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所有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max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池化使用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2x2 stride 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池化后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,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双倍输出通道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94292" y="3288682"/>
            <a:ext cx="20380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选项</a:t>
            </a:r>
            <a:r>
              <a:rPr kumimoji="0" 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Conv(5x5, C -&gt; C)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Params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25C</a:t>
            </a:r>
            <a:r>
              <a:rPr kumimoji="0" lang="en-US" sz="21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25C</a:t>
            </a:r>
            <a:r>
              <a:rPr kumimoji="0" lang="en-US" sz="21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01706" y="3287068"/>
            <a:ext cx="20380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选项</a:t>
            </a:r>
            <a:r>
              <a:rPr kumimoji="0" lang="en-US" sz="2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Conv(3x3, C -&gt; C)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Conv(3x3, C -&gt; C)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Params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18C</a:t>
            </a:r>
            <a:r>
              <a:rPr kumimoji="0" lang="en-US" sz="21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18C</a:t>
            </a:r>
            <a:r>
              <a:rPr kumimoji="0" lang="en-US" sz="21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97982" y="1633790"/>
            <a:ext cx="225778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两个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3x3 conv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和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一个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5x5 conv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有相同的感受野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但参数和计算都变少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702199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AlexNet</a:t>
            </a:r>
            <a:r>
              <a:rPr lang="en-US" dirty="0"/>
              <a:t> vs VGG-16!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22860" y="1611719"/>
          <a:ext cx="30175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3063240" y="1611719"/>
          <a:ext cx="30175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6126480" y="1611719"/>
          <a:ext cx="30175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9843" y="4971270"/>
            <a:ext cx="2850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1.9 MB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VGG-16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48.6 MB (25x)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7363" y="4971270"/>
            <a:ext cx="2672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61M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VGG-16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138M (2.3x)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8331" y="4971270"/>
            <a:ext cx="3318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0.7 GFLOP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VGG-16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13.6 GFLOP (19.4x)</a:t>
            </a:r>
          </a:p>
        </p:txBody>
      </p:sp>
    </p:spTree>
    <p:extLst>
      <p:ext uri="{BB962C8B-B14F-4D97-AF65-F5344CB8AC3E}">
        <p14:creationId xmlns:p14="http://schemas.microsoft.com/office/powerpoint/2010/main" val="342878631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6.3.1.ImageNet</a:t>
            </a:r>
            <a:r>
              <a:rPr lang="zh-CN" altLang="en-US" dirty="0"/>
              <a:t>分类挑战</a:t>
            </a:r>
            <a:endParaRPr lang="en-US" altLang="zh-CN" dirty="0"/>
          </a:p>
          <a:p>
            <a:r>
              <a:rPr lang="en-US" altLang="zh-CN" dirty="0"/>
              <a:t>6.3.2.AlexNet</a:t>
            </a:r>
            <a:endParaRPr lang="en-US" dirty="0"/>
          </a:p>
          <a:p>
            <a:r>
              <a:rPr lang="en-US" altLang="zh-CN" dirty="0"/>
              <a:t>6.3.3.VGG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6.3.4.GoogleNet</a:t>
            </a:r>
          </a:p>
          <a:p>
            <a:r>
              <a:rPr lang="en-US" altLang="zh-CN" dirty="0"/>
              <a:t>6.3.5.Residual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  <a:p>
            <a:r>
              <a:rPr lang="en-US" altLang="zh-CN" dirty="0"/>
              <a:t>6.3.6.</a:t>
            </a:r>
            <a:r>
              <a:rPr lang="zh-CN" altLang="en-US" dirty="0"/>
              <a:t>不同网络比较及改进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294263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00264" y="1621180"/>
            <a:ext cx="4080075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339025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38150" y="1621180"/>
            <a:ext cx="3342189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71868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9.3</a:t>
            </a:r>
            <a:r>
              <a:rPr lang="zh-CN" altLang="en-US" dirty="0"/>
              <a:t> </a:t>
            </a:r>
            <a:r>
              <a:rPr lang="en-US" dirty="0" err="1"/>
              <a:t>GoogLeNet</a:t>
            </a:r>
            <a:r>
              <a:rPr lang="en-US" dirty="0"/>
              <a:t>: </a:t>
            </a:r>
            <a:r>
              <a:rPr lang="zh-CN" altLang="en-US" dirty="0"/>
              <a:t>聚焦在效率提升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0" y="5388739"/>
            <a:ext cx="34804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“Going deeper with convolutions”, CVPR 2015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435" y="2973515"/>
            <a:ext cx="4981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主要创新点在于效率提升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减少参数规模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存储空间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697429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GoogLeNet</a:t>
            </a:r>
            <a:r>
              <a:rPr lang="en-US" dirty="0"/>
              <a:t>: </a:t>
            </a:r>
            <a:r>
              <a:rPr lang="zh-CN" altLang="en-US" dirty="0"/>
              <a:t>主干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0" y="5388739"/>
            <a:ext cx="34804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“Going deeper with convolutions”, CVPR 2015</a:t>
            </a:r>
          </a:p>
        </p:txBody>
      </p:sp>
      <p:sp>
        <p:nvSpPr>
          <p:cNvPr id="10" name="Google Shape;1443;p58"/>
          <p:cNvSpPr/>
          <p:nvPr/>
        </p:nvSpPr>
        <p:spPr>
          <a:xfrm>
            <a:off x="8038618" y="4607448"/>
            <a:ext cx="408008" cy="68580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2323" y="1775535"/>
            <a:ext cx="6031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主干网络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起始位置快速下采样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回想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VGG-16: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大部分计算在起始层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60D03-0B89-47B8-8DF2-800547140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590" y="2756048"/>
            <a:ext cx="583678" cy="257175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619828286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GoogLeNet</a:t>
            </a:r>
            <a:r>
              <a:rPr lang="en-US" dirty="0"/>
              <a:t>: </a:t>
            </a:r>
            <a:r>
              <a:rPr lang="zh-CN" altLang="en-US" dirty="0"/>
              <a:t>主干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0" y="5625730"/>
            <a:ext cx="34804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“Going deeper with convolutions”, CVPR 2015</a:t>
            </a:r>
          </a:p>
        </p:txBody>
      </p:sp>
      <p:sp>
        <p:nvSpPr>
          <p:cNvPr id="10" name="Google Shape;1443;p58"/>
          <p:cNvSpPr/>
          <p:nvPr/>
        </p:nvSpPr>
        <p:spPr>
          <a:xfrm>
            <a:off x="8038618" y="4607448"/>
            <a:ext cx="408008" cy="68580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7135792" y="4019732"/>
            <a:ext cx="881897" cy="6231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5959" y="2523355"/>
          <a:ext cx="7038905" cy="18200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31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5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14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4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07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3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51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1949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Input size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Layer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Output size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35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Layer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400" u="none" strike="noStrike" dirty="0" err="1">
                          <a:effectLst/>
                        </a:rPr>
                        <a:t>H</a:t>
                      </a:r>
                      <a:r>
                        <a:rPr lang="mr-IN" sz="1400" u="none" strike="noStrike" dirty="0">
                          <a:effectLst/>
                        </a:rPr>
                        <a:t> / </a:t>
                      </a:r>
                      <a:r>
                        <a:rPr lang="mr-IN" sz="1400" u="none" strike="noStrike" dirty="0" err="1">
                          <a:effectLst/>
                        </a:rPr>
                        <a:t>W</a:t>
                      </a:r>
                      <a:endParaRPr lang="mr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filters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kernel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stride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pad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400" u="none" strike="noStrike" dirty="0" err="1">
                          <a:effectLst/>
                        </a:rPr>
                        <a:t>H</a:t>
                      </a:r>
                      <a:r>
                        <a:rPr lang="mr-IN" sz="1400" u="none" strike="noStrike" dirty="0">
                          <a:effectLst/>
                        </a:rPr>
                        <a:t>/</a:t>
                      </a:r>
                      <a:r>
                        <a:rPr lang="mr-IN" sz="1400" u="none" strike="noStrike" dirty="0" err="1">
                          <a:effectLst/>
                        </a:rPr>
                        <a:t>W</a:t>
                      </a:r>
                      <a:endParaRPr lang="mr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memory (KB)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effectLst/>
                        </a:rPr>
                        <a:t>params</a:t>
                      </a:r>
                      <a:r>
                        <a:rPr lang="en-US" sz="1400" u="none" strike="noStrike" dirty="0">
                          <a:effectLst/>
                        </a:rPr>
                        <a:t> (K)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flop (M)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conv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224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>
                          <a:effectLst/>
                        </a:rPr>
                        <a:t>3136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>
                          <a:effectLst/>
                        </a:rPr>
                        <a:t>118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max-pool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112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784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conv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784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13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conv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192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192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2352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 dirty="0">
                          <a:effectLst/>
                        </a:rPr>
                        <a:t>111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>
                          <a:effectLst/>
                        </a:rPr>
                        <a:t>347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max-pool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192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192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28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588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66695" y="4425401"/>
            <a:ext cx="26068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空间分辨率从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224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28 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Memory: 7.5 MB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124K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MFLOP: 418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23" y="1775535"/>
            <a:ext cx="6031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主干网络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起始位置快速下采样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回想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VGG-16: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大部分计算在起始层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7034306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GoogLeNet</a:t>
            </a:r>
            <a:r>
              <a:rPr lang="en-US" dirty="0"/>
              <a:t>:</a:t>
            </a:r>
            <a:r>
              <a:rPr lang="zh-CN" altLang="en-US" dirty="0"/>
              <a:t>主干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0" y="5739823"/>
            <a:ext cx="34804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“Going deeper with convolutions”, CVPR 2015</a:t>
            </a:r>
          </a:p>
        </p:txBody>
      </p:sp>
      <p:sp>
        <p:nvSpPr>
          <p:cNvPr id="10" name="Google Shape;1443;p58"/>
          <p:cNvSpPr/>
          <p:nvPr/>
        </p:nvSpPr>
        <p:spPr>
          <a:xfrm>
            <a:off x="8038618" y="4607448"/>
            <a:ext cx="408008" cy="68580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7135792" y="4019732"/>
            <a:ext cx="881897" cy="6231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5959" y="2523355"/>
          <a:ext cx="7059836" cy="1755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0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27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66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35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26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71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Input size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Layer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Output size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Layer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400" u="none" strike="noStrike" dirty="0" err="1">
                          <a:effectLst/>
                        </a:rPr>
                        <a:t>H</a:t>
                      </a:r>
                      <a:r>
                        <a:rPr lang="mr-IN" sz="1400" u="none" strike="noStrike" dirty="0">
                          <a:effectLst/>
                        </a:rPr>
                        <a:t> / </a:t>
                      </a:r>
                      <a:r>
                        <a:rPr lang="mr-IN" sz="1400" u="none" strike="noStrike" dirty="0" err="1">
                          <a:effectLst/>
                        </a:rPr>
                        <a:t>W</a:t>
                      </a:r>
                      <a:endParaRPr lang="mr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filters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kernel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stride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pad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400" u="none" strike="noStrike" dirty="0" err="1">
                          <a:effectLst/>
                        </a:rPr>
                        <a:t>H</a:t>
                      </a:r>
                      <a:r>
                        <a:rPr lang="mr-IN" sz="1400" u="none" strike="noStrike" dirty="0">
                          <a:effectLst/>
                        </a:rPr>
                        <a:t>/</a:t>
                      </a:r>
                      <a:r>
                        <a:rPr lang="mr-IN" sz="1400" u="none" strike="noStrike" dirty="0" err="1">
                          <a:effectLst/>
                        </a:rPr>
                        <a:t>W</a:t>
                      </a:r>
                      <a:endParaRPr lang="mr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memory (KB)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effectLst/>
                        </a:rPr>
                        <a:t>params</a:t>
                      </a:r>
                      <a:r>
                        <a:rPr lang="en-US" sz="1400" u="none" strike="noStrike" dirty="0">
                          <a:effectLst/>
                        </a:rPr>
                        <a:t> (K)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flop (M)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conv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224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>
                          <a:effectLst/>
                        </a:rPr>
                        <a:t>3136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>
                          <a:effectLst/>
                        </a:rPr>
                        <a:t>118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max-pool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112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784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conv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784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13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conv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192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192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2352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 dirty="0">
                          <a:effectLst/>
                        </a:rPr>
                        <a:t>111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>
                          <a:effectLst/>
                        </a:rPr>
                        <a:t>347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max-pool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192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192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28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588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27181" y="4350183"/>
            <a:ext cx="26068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空间分辨率从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224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28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Memory: 7.5 MB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124K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MFLOP: 418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2190" y="4366808"/>
            <a:ext cx="24733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与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VGG-16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比较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Memory: 42.9 MB (5.7x)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1.1M (8.9x)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MFLOP: 7485 (17.8x)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23" y="1775535"/>
            <a:ext cx="6031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主干网络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起始位置快速下采样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回想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VGG-16: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大部分计算在起始层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4951328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GoogLeNet</a:t>
            </a:r>
            <a:r>
              <a:rPr lang="en-US" dirty="0"/>
              <a:t>: Inception</a:t>
            </a:r>
            <a:r>
              <a:rPr lang="zh-CN" altLang="en-US" dirty="0"/>
              <a:t>模块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0" y="5388739"/>
            <a:ext cx="34804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“Going deeper with convolutions”, CVPR 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56" y="1697519"/>
            <a:ext cx="1919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Inception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模块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带并行分支的局部单元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整个网络中局部结构重复多次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oogle Shape;142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9599" y="2540471"/>
            <a:ext cx="4334534" cy="204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443;p58"/>
          <p:cNvSpPr/>
          <p:nvPr/>
        </p:nvSpPr>
        <p:spPr>
          <a:xfrm>
            <a:off x="7759785" y="4294932"/>
            <a:ext cx="944454" cy="41301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7161836" y="4043182"/>
            <a:ext cx="597950" cy="2517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024407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GoogLeNet</a:t>
            </a:r>
            <a:r>
              <a:rPr lang="en-US" dirty="0"/>
              <a:t>: </a:t>
            </a:r>
            <a:r>
              <a:rPr lang="en-US" altLang="zh-CN" dirty="0"/>
              <a:t>Inception</a:t>
            </a:r>
            <a:r>
              <a:rPr lang="zh-CN" altLang="en-US" dirty="0"/>
              <a:t>模块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0" y="5388739"/>
            <a:ext cx="34804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Szegedy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“Going deeper with convolutions”, CVPR 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56" y="1697520"/>
            <a:ext cx="23376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Inception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模块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带并行分支的局部单元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整个网络中局部结构重复多次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1x1 “Bottleneck”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层减少输入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conv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之前通道数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oogle Shape;142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9599" y="2540471"/>
            <a:ext cx="4334534" cy="204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443;p58"/>
          <p:cNvSpPr/>
          <p:nvPr/>
        </p:nvSpPr>
        <p:spPr>
          <a:xfrm>
            <a:off x="7759785" y="4294932"/>
            <a:ext cx="944454" cy="41301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7161836" y="4043182"/>
            <a:ext cx="597950" cy="2517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1443;p58"/>
          <p:cNvSpPr/>
          <p:nvPr/>
        </p:nvSpPr>
        <p:spPr>
          <a:xfrm>
            <a:off x="3976310" y="3631061"/>
            <a:ext cx="945824" cy="368715"/>
          </a:xfrm>
          <a:prstGeom prst="rect">
            <a:avLst/>
          </a:prstGeom>
          <a:solidFill>
            <a:srgbClr val="FF0000">
              <a:alpha val="35000"/>
            </a:srgb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1443;p58"/>
          <p:cNvSpPr/>
          <p:nvPr/>
        </p:nvSpPr>
        <p:spPr>
          <a:xfrm>
            <a:off x="5062883" y="3649871"/>
            <a:ext cx="945824" cy="368715"/>
          </a:xfrm>
          <a:prstGeom prst="rect">
            <a:avLst/>
          </a:prstGeom>
          <a:solidFill>
            <a:srgbClr val="FF0000">
              <a:alpha val="35000"/>
            </a:srgb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1443;p58"/>
          <p:cNvSpPr/>
          <p:nvPr/>
        </p:nvSpPr>
        <p:spPr>
          <a:xfrm>
            <a:off x="6149456" y="3095732"/>
            <a:ext cx="945824" cy="368715"/>
          </a:xfrm>
          <a:prstGeom prst="rect">
            <a:avLst/>
          </a:prstGeom>
          <a:solidFill>
            <a:srgbClr val="FF0000">
              <a:alpha val="35000"/>
            </a:srgb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1443;p58"/>
          <p:cNvSpPr/>
          <p:nvPr/>
        </p:nvSpPr>
        <p:spPr>
          <a:xfrm>
            <a:off x="2834756" y="3131903"/>
            <a:ext cx="945824" cy="368715"/>
          </a:xfrm>
          <a:prstGeom prst="rect">
            <a:avLst/>
          </a:prstGeom>
          <a:solidFill>
            <a:srgbClr val="FF0000">
              <a:alpha val="35000"/>
            </a:srgb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BF38FB-520A-40EC-B2D9-9B01C0C044CA}"/>
              </a:ext>
            </a:extLst>
          </p:cNvPr>
          <p:cNvSpPr txBox="1"/>
          <p:nvPr/>
        </p:nvSpPr>
        <p:spPr>
          <a:xfrm>
            <a:off x="3735360" y="4898540"/>
            <a:ext cx="352375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涉及到分离滤波器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Perona, “Deformable kernels for early vision”. PAMI 1995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36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GoogLeNet</a:t>
            </a:r>
            <a:r>
              <a:rPr lang="en-US" dirty="0"/>
              <a:t>: </a:t>
            </a:r>
            <a:r>
              <a:rPr lang="zh-CN" altLang="en-US" dirty="0"/>
              <a:t>全局平均池化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42083" y="1744585"/>
            <a:ext cx="698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末端没有全连接层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average pooling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坍塌空间尺寸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最后有一个线性层计算输出类别响应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回想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VGG-16: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大部分参数在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!)</a:t>
            </a:r>
          </a:p>
        </p:txBody>
      </p:sp>
      <p:sp>
        <p:nvSpPr>
          <p:cNvPr id="16" name="Google Shape;1443;p58"/>
          <p:cNvSpPr/>
          <p:nvPr/>
        </p:nvSpPr>
        <p:spPr>
          <a:xfrm>
            <a:off x="7543799" y="1030871"/>
            <a:ext cx="442733" cy="52086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42083" y="2822414"/>
          <a:ext cx="7090264" cy="258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8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75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43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9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Input size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Layer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Output</a:t>
                      </a:r>
                      <a:r>
                        <a:rPr lang="en-US" sz="1500" u="none" strike="noStrike" baseline="0" dirty="0">
                          <a:effectLst/>
                        </a:rPr>
                        <a:t> </a:t>
                      </a:r>
                      <a:r>
                        <a:rPr lang="en-US" sz="1500" u="none" strike="noStrike" dirty="0">
                          <a:effectLst/>
                        </a:rPr>
                        <a:t>size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Layer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filters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kernel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stride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pad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memory (KB)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effectLst/>
                        </a:rPr>
                        <a:t>params</a:t>
                      </a:r>
                      <a:r>
                        <a:rPr lang="en-US" sz="1500" u="none" strike="noStrike" dirty="0">
                          <a:effectLst/>
                        </a:rPr>
                        <a:t> (k)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flop (M)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effectLst/>
                        </a:rPr>
                        <a:t>avg</a:t>
                      </a:r>
                      <a:r>
                        <a:rPr lang="en-US" sz="1500" u="none" strike="noStrike" dirty="0">
                          <a:effectLst/>
                        </a:rPr>
                        <a:t>-pool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1024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1024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1024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1000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1000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1025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981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Layer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filters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kernel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stride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pad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memory (KB)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params (K)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flop (M)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flatten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512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25088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98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25088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102760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103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uk-UA" sz="1500" u="none" strike="noStrike">
                          <a:effectLst/>
                        </a:rPr>
                        <a:t>16777</a:t>
                      </a:r>
                      <a:endParaRPr lang="uk-UA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1000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1000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588892" y="3822884"/>
            <a:ext cx="234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Compare with VGG-16: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069" y="3804530"/>
            <a:ext cx="7214379" cy="1782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67FC0-9A63-42F0-91C1-77A1EB507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369" y="1535282"/>
            <a:ext cx="856587" cy="195976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5184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GoogLeNet</a:t>
            </a:r>
            <a:r>
              <a:rPr lang="en-US" dirty="0"/>
              <a:t>:</a:t>
            </a:r>
            <a:r>
              <a:rPr lang="zh-CN" altLang="en-US" dirty="0"/>
              <a:t>全局平均池化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42083" y="1744585"/>
            <a:ext cx="698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末端没有全连接层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!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global average pooling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坍塌空间尺寸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最后有一个线性层计算输出类别响应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回想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VGG-16: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大部分参数在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FC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!)</a:t>
            </a:r>
          </a:p>
        </p:txBody>
      </p:sp>
      <p:sp>
        <p:nvSpPr>
          <p:cNvPr id="16" name="Google Shape;1443;p58"/>
          <p:cNvSpPr/>
          <p:nvPr/>
        </p:nvSpPr>
        <p:spPr>
          <a:xfrm>
            <a:off x="7543799" y="1030871"/>
            <a:ext cx="442733" cy="52086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42083" y="2822414"/>
          <a:ext cx="7090264" cy="258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8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0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75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43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9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Input size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Layer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Output</a:t>
                      </a:r>
                      <a:r>
                        <a:rPr lang="en-US" sz="1500" u="none" strike="noStrike" baseline="0" dirty="0">
                          <a:effectLst/>
                        </a:rPr>
                        <a:t> </a:t>
                      </a:r>
                      <a:r>
                        <a:rPr lang="en-US" sz="1500" u="none" strike="noStrike" dirty="0">
                          <a:effectLst/>
                        </a:rPr>
                        <a:t>size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Layer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filters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kernel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stride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pad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memory (KB)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effectLst/>
                        </a:rPr>
                        <a:t>params</a:t>
                      </a:r>
                      <a:r>
                        <a:rPr lang="en-US" sz="1500" u="none" strike="noStrike" dirty="0">
                          <a:effectLst/>
                        </a:rPr>
                        <a:t> (k)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flop (M)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effectLst/>
                        </a:rPr>
                        <a:t>avg</a:t>
                      </a:r>
                      <a:r>
                        <a:rPr lang="en-US" sz="1500" u="none" strike="noStrike" dirty="0">
                          <a:effectLst/>
                        </a:rPr>
                        <a:t>-pool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1024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1024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1024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1000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1000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1025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981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Layer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filters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kernel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stride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pad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memory (KB)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params (K)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flop (M)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flatten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512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25088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98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25088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500" u="none" strike="noStrike">
                          <a:effectLst/>
                        </a:rPr>
                        <a:t>102760</a:t>
                      </a:r>
                      <a:endParaRPr lang="fi-FI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103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uk-UA" sz="1500" u="none" strike="noStrike">
                          <a:effectLst/>
                        </a:rPr>
                        <a:t>16777</a:t>
                      </a:r>
                      <a:endParaRPr lang="uk-UA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fc8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1000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1000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>
                          <a:effectLst/>
                        </a:rPr>
                        <a:t>4096</a:t>
                      </a:r>
                      <a:endParaRPr lang="is-I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588892" y="3822884"/>
            <a:ext cx="234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Compare with VGG-16:</a:t>
            </a:r>
          </a:p>
        </p:txBody>
      </p:sp>
    </p:spTree>
    <p:extLst>
      <p:ext uri="{BB962C8B-B14F-4D97-AF65-F5344CB8AC3E}">
        <p14:creationId xmlns:p14="http://schemas.microsoft.com/office/powerpoint/2010/main" val="2943689691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GoogLeNet</a:t>
            </a:r>
            <a:r>
              <a:rPr lang="en-US" dirty="0"/>
              <a:t>: </a:t>
            </a:r>
            <a:r>
              <a:rPr lang="zh-CN" altLang="en-US" dirty="0"/>
              <a:t>辅助分类器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43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6384" y="1024955"/>
            <a:ext cx="1392162" cy="434882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443;p58"/>
          <p:cNvSpPr/>
          <p:nvPr/>
        </p:nvSpPr>
        <p:spPr>
          <a:xfrm>
            <a:off x="8220919" y="1872929"/>
            <a:ext cx="442733" cy="65975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1443;p58"/>
          <p:cNvSpPr/>
          <p:nvPr/>
        </p:nvSpPr>
        <p:spPr>
          <a:xfrm>
            <a:off x="8387305" y="2881373"/>
            <a:ext cx="442733" cy="65975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1412" y="2255687"/>
            <a:ext cx="66062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在末端使用损失函数进行训练性能不佳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网络太深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梯度传播失效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因此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增加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辅助分类层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在网络的中间点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GoogLeNet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是在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normalization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（批归一化）出现之前的网络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有了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BatchNorm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之后不需要在使用辅助分类层了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004337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6.3.1.ImageNet</a:t>
            </a:r>
            <a:r>
              <a:rPr lang="zh-CN" altLang="en-US" dirty="0"/>
              <a:t>分类挑战</a:t>
            </a:r>
            <a:endParaRPr lang="en-US" altLang="zh-CN" dirty="0"/>
          </a:p>
          <a:p>
            <a:r>
              <a:rPr lang="en-US" altLang="zh-CN" dirty="0"/>
              <a:t>6.3.2.AlexNet</a:t>
            </a:r>
            <a:endParaRPr lang="en-US" dirty="0"/>
          </a:p>
          <a:p>
            <a:r>
              <a:rPr lang="en-US" altLang="zh-CN" dirty="0"/>
              <a:t>6.3.3.VGG</a:t>
            </a:r>
          </a:p>
          <a:p>
            <a:r>
              <a:rPr lang="en-US" altLang="zh-CN" dirty="0"/>
              <a:t>6.3.4.GoogleNet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6.3.5.Residual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Network</a:t>
            </a:r>
          </a:p>
          <a:p>
            <a:r>
              <a:rPr lang="en-US" altLang="zh-CN" dirty="0"/>
              <a:t>6.3.6.</a:t>
            </a:r>
            <a:r>
              <a:rPr lang="zh-CN" altLang="en-US" dirty="0"/>
              <a:t>不同网络比较及改进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472024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29469" y="1621180"/>
            <a:ext cx="3350870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1765434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ImageNet</a:t>
            </a:r>
            <a:r>
              <a:rPr lang="zh-CN" altLang="en-US" dirty="0"/>
              <a:t>分类挑战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5492" y="1725351"/>
          <a:ext cx="8915400" cy="360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569;p41"/>
          <p:cNvSpPr txBox="1"/>
          <p:nvPr/>
        </p:nvSpPr>
        <p:spPr>
          <a:xfrm>
            <a:off x="1100164" y="5291649"/>
            <a:ext cx="603197" cy="22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70;p41"/>
          <p:cNvSpPr txBox="1"/>
          <p:nvPr/>
        </p:nvSpPr>
        <p:spPr>
          <a:xfrm>
            <a:off x="1823306" y="5235712"/>
            <a:ext cx="728889" cy="3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Sanchez &amp;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Perronnin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71;p41"/>
          <p:cNvSpPr txBox="1"/>
          <p:nvPr/>
        </p:nvSpPr>
        <p:spPr>
          <a:xfrm>
            <a:off x="2494910" y="5269660"/>
            <a:ext cx="979179" cy="3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72;p41"/>
          <p:cNvSpPr txBox="1"/>
          <p:nvPr/>
        </p:nvSpPr>
        <p:spPr>
          <a:xfrm>
            <a:off x="3470345" y="5264838"/>
            <a:ext cx="593126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Zeiler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Fergus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73;p41"/>
          <p:cNvSpPr txBox="1"/>
          <p:nvPr/>
        </p:nvSpPr>
        <p:spPr>
          <a:xfrm>
            <a:off x="3963640" y="5239655"/>
            <a:ext cx="1048868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Simonyan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&amp; Zisserman (VGG)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74;p41"/>
          <p:cNvSpPr txBox="1"/>
          <p:nvPr/>
        </p:nvSpPr>
        <p:spPr>
          <a:xfrm>
            <a:off x="4888706" y="5230337"/>
            <a:ext cx="869981" cy="33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Szegedy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GoogLeNet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5;p41"/>
          <p:cNvSpPr txBox="1"/>
          <p:nvPr/>
        </p:nvSpPr>
        <p:spPr>
          <a:xfrm>
            <a:off x="5758687" y="5228106"/>
            <a:ext cx="665340" cy="37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 et al 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76;p41"/>
          <p:cNvSpPr txBox="1"/>
          <p:nvPr/>
        </p:nvSpPr>
        <p:spPr>
          <a:xfrm>
            <a:off x="7916328" y="5269660"/>
            <a:ext cx="1104211" cy="24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Russakovsky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77;p41"/>
          <p:cNvSpPr txBox="1"/>
          <p:nvPr/>
        </p:nvSpPr>
        <p:spPr>
          <a:xfrm>
            <a:off x="6558584" y="5296404"/>
            <a:ext cx="688596" cy="25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Shao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78;p41"/>
          <p:cNvSpPr txBox="1"/>
          <p:nvPr/>
        </p:nvSpPr>
        <p:spPr>
          <a:xfrm>
            <a:off x="7342177" y="5221792"/>
            <a:ext cx="689573" cy="3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Hu et al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SENet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54165" y="1621180"/>
            <a:ext cx="2526174" cy="401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1827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421" y="1716672"/>
            <a:ext cx="724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一旦我们有了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Normalization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（批归一化）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我们能训练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10+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层的网络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网络层数更深会发生什么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089156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421" y="1716672"/>
            <a:ext cx="724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一旦我们有了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Batch Normalization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（批归一化）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我们能训练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10+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层的网络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网络层数更深会发生什么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434" y="2596748"/>
            <a:ext cx="3177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深层模型性能不如浅层模型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最初猜测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由于模型规模变大，深度模型会导致过拟合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Google Shape;2281;p88"/>
          <p:cNvCxnSpPr/>
          <p:nvPr/>
        </p:nvCxnSpPr>
        <p:spPr>
          <a:xfrm>
            <a:off x="5296745" y="2858890"/>
            <a:ext cx="0" cy="135294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2282;p88"/>
          <p:cNvCxnSpPr/>
          <p:nvPr/>
        </p:nvCxnSpPr>
        <p:spPr>
          <a:xfrm rot="10800000">
            <a:off x="5183499" y="4124436"/>
            <a:ext cx="1832223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2284;p88"/>
          <p:cNvSpPr txBox="1"/>
          <p:nvPr/>
        </p:nvSpPr>
        <p:spPr>
          <a:xfrm>
            <a:off x="5455829" y="4093814"/>
            <a:ext cx="1473516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迭代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数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7" name="Google Shape;2285;p88"/>
          <p:cNvSpPr txBox="1"/>
          <p:nvPr/>
        </p:nvSpPr>
        <p:spPr>
          <a:xfrm>
            <a:off x="6647518" y="2807854"/>
            <a:ext cx="839182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E06666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56-layer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E06666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" name="Google Shape;2286;p88"/>
          <p:cNvSpPr txBox="1"/>
          <p:nvPr/>
        </p:nvSpPr>
        <p:spPr>
          <a:xfrm>
            <a:off x="6609578" y="3450837"/>
            <a:ext cx="839182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6FA8DC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20-layer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6FA8DC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9" name="Google Shape;2287;p88"/>
          <p:cNvSpPr/>
          <p:nvPr/>
        </p:nvSpPr>
        <p:spPr>
          <a:xfrm>
            <a:off x="5399044" y="2910203"/>
            <a:ext cx="1781128" cy="552167"/>
          </a:xfrm>
          <a:custGeom>
            <a:avLst/>
            <a:gdLst/>
            <a:ahLst/>
            <a:cxnLst/>
            <a:rect l="l" t="t" r="r" b="b"/>
            <a:pathLst>
              <a:path w="62699" h="21721" extrusionOk="0">
                <a:moveTo>
                  <a:pt x="0" y="0"/>
                </a:moveTo>
                <a:cubicBezTo>
                  <a:pt x="4275" y="1709"/>
                  <a:pt x="7451" y="6096"/>
                  <a:pt x="11992" y="6852"/>
                </a:cubicBezTo>
                <a:cubicBezTo>
                  <a:pt x="18530" y="7940"/>
                  <a:pt x="25491" y="5718"/>
                  <a:pt x="31864" y="7538"/>
                </a:cubicBezTo>
                <a:cubicBezTo>
                  <a:pt x="36101" y="8748"/>
                  <a:pt x="34998" y="16478"/>
                  <a:pt x="38716" y="18844"/>
                </a:cubicBezTo>
                <a:cubicBezTo>
                  <a:pt x="45495" y="23157"/>
                  <a:pt x="54665" y="21242"/>
                  <a:pt x="62699" y="21242"/>
                </a:cubicBezTo>
              </a:path>
            </a:pathLst>
          </a:custGeom>
          <a:noFill/>
          <a:ln w="19050" cap="flat" cmpd="sng">
            <a:solidFill>
              <a:srgbClr val="9FC5E8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" name="Google Shape;2288;p88"/>
          <p:cNvSpPr/>
          <p:nvPr/>
        </p:nvSpPr>
        <p:spPr>
          <a:xfrm>
            <a:off x="5887142" y="2773388"/>
            <a:ext cx="1293038" cy="414417"/>
          </a:xfrm>
          <a:custGeom>
            <a:avLst/>
            <a:gdLst/>
            <a:ahLst/>
            <a:cxnLst/>
            <a:rect l="l" t="t" r="r" b="b"/>
            <a:pathLst>
              <a:path w="51735" h="16581" extrusionOk="0">
                <a:moveTo>
                  <a:pt x="0" y="0"/>
                </a:moveTo>
                <a:cubicBezTo>
                  <a:pt x="7062" y="4120"/>
                  <a:pt x="17598" y="33"/>
                  <a:pt x="23983" y="5139"/>
                </a:cubicBezTo>
                <a:cubicBezTo>
                  <a:pt x="26103" y="6835"/>
                  <a:pt x="24119" y="11100"/>
                  <a:pt x="26039" y="13020"/>
                </a:cubicBezTo>
                <a:cubicBezTo>
                  <a:pt x="32122" y="19103"/>
                  <a:pt x="43132" y="15418"/>
                  <a:pt x="51735" y="15418"/>
                </a:cubicBezTo>
              </a:path>
            </a:pathLst>
          </a:cu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" name="Google Shape;2277;p88"/>
          <p:cNvSpPr txBox="1"/>
          <p:nvPr/>
        </p:nvSpPr>
        <p:spPr>
          <a:xfrm>
            <a:off x="5748730" y="2487930"/>
            <a:ext cx="887714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测试错误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76025159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421" y="1716672"/>
            <a:ext cx="724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一旦我们有了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Batch Normalization,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我们能训练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10+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层的网络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网络层数更深会发生什么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cxnSp>
        <p:nvCxnSpPr>
          <p:cNvPr id="7" name="Google Shape;2273;p88"/>
          <p:cNvCxnSpPr/>
          <p:nvPr/>
        </p:nvCxnSpPr>
        <p:spPr>
          <a:xfrm>
            <a:off x="1821875" y="2858890"/>
            <a:ext cx="0" cy="135294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2274;p88"/>
          <p:cNvCxnSpPr/>
          <p:nvPr/>
        </p:nvCxnSpPr>
        <p:spPr>
          <a:xfrm rot="10800000">
            <a:off x="1708629" y="4124436"/>
            <a:ext cx="1832223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2275;p88"/>
          <p:cNvSpPr/>
          <p:nvPr/>
        </p:nvSpPr>
        <p:spPr>
          <a:xfrm>
            <a:off x="1890382" y="3021524"/>
            <a:ext cx="1344400" cy="813513"/>
          </a:xfrm>
          <a:custGeom>
            <a:avLst/>
            <a:gdLst/>
            <a:ahLst/>
            <a:cxnLst/>
            <a:rect l="l" t="t" r="r" b="b"/>
            <a:pathLst>
              <a:path w="53790" h="32549" extrusionOk="0">
                <a:moveTo>
                  <a:pt x="0" y="0"/>
                </a:moveTo>
                <a:cubicBezTo>
                  <a:pt x="4966" y="8941"/>
                  <a:pt x="16695" y="13067"/>
                  <a:pt x="26724" y="15075"/>
                </a:cubicBezTo>
                <a:cubicBezTo>
                  <a:pt x="31154" y="15962"/>
                  <a:pt x="26451" y="26074"/>
                  <a:pt x="30492" y="28095"/>
                </a:cubicBezTo>
                <a:cubicBezTo>
                  <a:pt x="37564" y="31631"/>
                  <a:pt x="46718" y="29013"/>
                  <a:pt x="53790" y="32549"/>
                </a:cubicBezTo>
              </a:path>
            </a:pathLst>
          </a:custGeom>
          <a:noFill/>
          <a:ln w="19050" cap="flat" cmpd="sng">
            <a:solidFill>
              <a:srgbClr val="9FC5E8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Google Shape;2276;p88"/>
          <p:cNvSpPr/>
          <p:nvPr/>
        </p:nvSpPr>
        <p:spPr>
          <a:xfrm>
            <a:off x="2393401" y="2918775"/>
            <a:ext cx="1010437" cy="582299"/>
          </a:xfrm>
          <a:custGeom>
            <a:avLst/>
            <a:gdLst/>
            <a:ahLst/>
            <a:cxnLst/>
            <a:rect l="l" t="t" r="r" b="b"/>
            <a:pathLst>
              <a:path w="40428" h="23298" extrusionOk="0">
                <a:moveTo>
                  <a:pt x="0" y="0"/>
                </a:moveTo>
                <a:cubicBezTo>
                  <a:pt x="4605" y="3839"/>
                  <a:pt x="11768" y="2801"/>
                  <a:pt x="17130" y="5482"/>
                </a:cubicBezTo>
                <a:cubicBezTo>
                  <a:pt x="21045" y="7439"/>
                  <a:pt x="17462" y="15063"/>
                  <a:pt x="20557" y="18158"/>
                </a:cubicBezTo>
                <a:cubicBezTo>
                  <a:pt x="21713" y="19314"/>
                  <a:pt x="23802" y="18669"/>
                  <a:pt x="25353" y="19186"/>
                </a:cubicBezTo>
                <a:cubicBezTo>
                  <a:pt x="30295" y="20832"/>
                  <a:pt x="35219" y="23298"/>
                  <a:pt x="40428" y="23298"/>
                </a:cubicBezTo>
              </a:path>
            </a:pathLst>
          </a:cu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" name="Google Shape;2277;p88"/>
          <p:cNvSpPr txBox="1"/>
          <p:nvPr/>
        </p:nvSpPr>
        <p:spPr>
          <a:xfrm>
            <a:off x="1980958" y="2484105"/>
            <a:ext cx="1473517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训练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错误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" name="Google Shape;2278;p88"/>
          <p:cNvSpPr txBox="1"/>
          <p:nvPr/>
        </p:nvSpPr>
        <p:spPr>
          <a:xfrm>
            <a:off x="1980959" y="4093815"/>
            <a:ext cx="1473517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迭代数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" name="Google Shape;2279;p88"/>
          <p:cNvSpPr txBox="1"/>
          <p:nvPr/>
        </p:nvSpPr>
        <p:spPr>
          <a:xfrm>
            <a:off x="3061327" y="3073310"/>
            <a:ext cx="839182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E06666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56-layer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E06666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" name="Google Shape;2280;p88"/>
          <p:cNvSpPr txBox="1"/>
          <p:nvPr/>
        </p:nvSpPr>
        <p:spPr>
          <a:xfrm>
            <a:off x="3006242" y="3803658"/>
            <a:ext cx="839182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6FA8DC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20-layer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6FA8DC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5" name="Google Shape;2281;p88"/>
          <p:cNvCxnSpPr/>
          <p:nvPr/>
        </p:nvCxnSpPr>
        <p:spPr>
          <a:xfrm>
            <a:off x="5296745" y="2858890"/>
            <a:ext cx="0" cy="135294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282;p88"/>
          <p:cNvCxnSpPr/>
          <p:nvPr/>
        </p:nvCxnSpPr>
        <p:spPr>
          <a:xfrm rot="10800000">
            <a:off x="5183499" y="4124436"/>
            <a:ext cx="1832223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2284;p88"/>
          <p:cNvSpPr txBox="1"/>
          <p:nvPr/>
        </p:nvSpPr>
        <p:spPr>
          <a:xfrm>
            <a:off x="5455829" y="4093814"/>
            <a:ext cx="1473516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迭代数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" name="Google Shape;2285;p88"/>
          <p:cNvSpPr txBox="1"/>
          <p:nvPr/>
        </p:nvSpPr>
        <p:spPr>
          <a:xfrm>
            <a:off x="6647518" y="2807854"/>
            <a:ext cx="839182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E06666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56-layer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E06666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" name="Google Shape;2286;p88"/>
          <p:cNvSpPr txBox="1"/>
          <p:nvPr/>
        </p:nvSpPr>
        <p:spPr>
          <a:xfrm>
            <a:off x="6609578" y="3450837"/>
            <a:ext cx="839182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6FA8DC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20-layer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6FA8DC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" name="Google Shape;2287;p88"/>
          <p:cNvSpPr/>
          <p:nvPr/>
        </p:nvSpPr>
        <p:spPr>
          <a:xfrm>
            <a:off x="5399044" y="2910203"/>
            <a:ext cx="1781128" cy="552167"/>
          </a:xfrm>
          <a:custGeom>
            <a:avLst/>
            <a:gdLst/>
            <a:ahLst/>
            <a:cxnLst/>
            <a:rect l="l" t="t" r="r" b="b"/>
            <a:pathLst>
              <a:path w="62699" h="21721" extrusionOk="0">
                <a:moveTo>
                  <a:pt x="0" y="0"/>
                </a:moveTo>
                <a:cubicBezTo>
                  <a:pt x="4275" y="1709"/>
                  <a:pt x="7451" y="6096"/>
                  <a:pt x="11992" y="6852"/>
                </a:cubicBezTo>
                <a:cubicBezTo>
                  <a:pt x="18530" y="7940"/>
                  <a:pt x="25491" y="5718"/>
                  <a:pt x="31864" y="7538"/>
                </a:cubicBezTo>
                <a:cubicBezTo>
                  <a:pt x="36101" y="8748"/>
                  <a:pt x="34998" y="16478"/>
                  <a:pt x="38716" y="18844"/>
                </a:cubicBezTo>
                <a:cubicBezTo>
                  <a:pt x="45495" y="23157"/>
                  <a:pt x="54665" y="21242"/>
                  <a:pt x="62699" y="21242"/>
                </a:cubicBezTo>
              </a:path>
            </a:pathLst>
          </a:custGeom>
          <a:noFill/>
          <a:ln w="19050" cap="flat" cmpd="sng">
            <a:solidFill>
              <a:srgbClr val="9FC5E8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" name="Google Shape;2288;p88"/>
          <p:cNvSpPr/>
          <p:nvPr/>
        </p:nvSpPr>
        <p:spPr>
          <a:xfrm>
            <a:off x="5887142" y="2773388"/>
            <a:ext cx="1293038" cy="414417"/>
          </a:xfrm>
          <a:custGeom>
            <a:avLst/>
            <a:gdLst/>
            <a:ahLst/>
            <a:cxnLst/>
            <a:rect l="l" t="t" r="r" b="b"/>
            <a:pathLst>
              <a:path w="51735" h="16581" extrusionOk="0">
                <a:moveTo>
                  <a:pt x="0" y="0"/>
                </a:moveTo>
                <a:cubicBezTo>
                  <a:pt x="7062" y="4120"/>
                  <a:pt x="17598" y="33"/>
                  <a:pt x="23983" y="5139"/>
                </a:cubicBezTo>
                <a:cubicBezTo>
                  <a:pt x="26103" y="6835"/>
                  <a:pt x="24119" y="11100"/>
                  <a:pt x="26039" y="13020"/>
                </a:cubicBezTo>
                <a:cubicBezTo>
                  <a:pt x="32122" y="19103"/>
                  <a:pt x="43132" y="15418"/>
                  <a:pt x="51735" y="15418"/>
                </a:cubicBezTo>
              </a:path>
            </a:pathLst>
          </a:cu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" name="Google Shape;2277;p88"/>
          <p:cNvSpPr txBox="1"/>
          <p:nvPr/>
        </p:nvSpPr>
        <p:spPr>
          <a:xfrm>
            <a:off x="5748730" y="2487930"/>
            <a:ext cx="887714" cy="27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测试错误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17287" y="4510993"/>
            <a:ext cx="670942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实际上深度模型是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欠拟合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的因为不管怎样其性能都不如浅层模型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341834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9304" y="1873787"/>
            <a:ext cx="6606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深层模型能模拟浅层模型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直接复制浅层模型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将额外增加的层设置为恒等映射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因此深层模型性能至少好于浅层模型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假设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这是一个优化问题。深层模型是难于优化的，实际中无法学习到恒等映射模拟浅层模型。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320384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9304" y="1873787"/>
            <a:ext cx="66066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深层模型能模拟浅层模型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直接复制浅层模型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将额外增加的层设置为恒等映射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因此深层模型性能至少好于浅层模型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假设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这是一个优化问题。深层模型是难于优化的，实际中无法学习到恒等映射模拟浅层模型。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方案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改变网络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来使得额外的层学习恒等函数变得容易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754590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6" name="Google Shape;2316;p91"/>
          <p:cNvSpPr/>
          <p:nvPr/>
        </p:nvSpPr>
        <p:spPr>
          <a:xfrm>
            <a:off x="1687892" y="3944770"/>
            <a:ext cx="865874" cy="31101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conv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" name="Google Shape;2317;p91"/>
          <p:cNvSpPr/>
          <p:nvPr/>
        </p:nvSpPr>
        <p:spPr>
          <a:xfrm>
            <a:off x="1687975" y="3244119"/>
            <a:ext cx="865874" cy="31101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conv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" name="Google Shape;2318;p91"/>
          <p:cNvCxnSpPr/>
          <p:nvPr/>
        </p:nvCxnSpPr>
        <p:spPr>
          <a:xfrm rot="10800000">
            <a:off x="2120840" y="4255739"/>
            <a:ext cx="0" cy="2372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19;p91"/>
          <p:cNvSpPr txBox="1"/>
          <p:nvPr/>
        </p:nvSpPr>
        <p:spPr>
          <a:xfrm>
            <a:off x="2075951" y="3607339"/>
            <a:ext cx="651131" cy="26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2320;p91"/>
          <p:cNvCxnSpPr/>
          <p:nvPr/>
        </p:nvCxnSpPr>
        <p:spPr>
          <a:xfrm rot="10800000">
            <a:off x="2099384" y="3555171"/>
            <a:ext cx="0" cy="3895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2321;p91"/>
          <p:cNvCxnSpPr/>
          <p:nvPr/>
        </p:nvCxnSpPr>
        <p:spPr>
          <a:xfrm rot="10800000">
            <a:off x="2099384" y="2869550"/>
            <a:ext cx="0" cy="3895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2322;p91"/>
          <p:cNvSpPr txBox="1"/>
          <p:nvPr/>
        </p:nvSpPr>
        <p:spPr>
          <a:xfrm>
            <a:off x="1387300" y="4926515"/>
            <a:ext cx="1467056" cy="30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“Plain” 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2323;p91"/>
          <p:cNvSpPr txBox="1"/>
          <p:nvPr/>
        </p:nvSpPr>
        <p:spPr>
          <a:xfrm>
            <a:off x="1725022" y="4467702"/>
            <a:ext cx="791794" cy="3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2324;p91"/>
          <p:cNvSpPr txBox="1"/>
          <p:nvPr/>
        </p:nvSpPr>
        <p:spPr>
          <a:xfrm>
            <a:off x="1687882" y="2454269"/>
            <a:ext cx="791794" cy="3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H(x)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2326;p91"/>
          <p:cNvSpPr txBox="1"/>
          <p:nvPr/>
        </p:nvSpPr>
        <p:spPr>
          <a:xfrm>
            <a:off x="5817460" y="3539842"/>
            <a:ext cx="651131" cy="26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2327;p91"/>
          <p:cNvSpPr txBox="1"/>
          <p:nvPr/>
        </p:nvSpPr>
        <p:spPr>
          <a:xfrm>
            <a:off x="5040531" y="4950211"/>
            <a:ext cx="1626243" cy="35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残差块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2328;p91"/>
          <p:cNvSpPr/>
          <p:nvPr/>
        </p:nvSpPr>
        <p:spPr>
          <a:xfrm>
            <a:off x="5420720" y="3868590"/>
            <a:ext cx="865874" cy="31101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conv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" name="Google Shape;2329;p91"/>
          <p:cNvSpPr/>
          <p:nvPr/>
        </p:nvSpPr>
        <p:spPr>
          <a:xfrm>
            <a:off x="5420803" y="3167940"/>
            <a:ext cx="865874" cy="31101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conv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20" name="Google Shape;2330;p91"/>
          <p:cNvCxnSpPr/>
          <p:nvPr/>
        </p:nvCxnSpPr>
        <p:spPr>
          <a:xfrm rot="10800000">
            <a:off x="5853657" y="3478992"/>
            <a:ext cx="0" cy="3895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2331;p91"/>
          <p:cNvCxnSpPr>
            <a:endCxn id="33" idx="4"/>
          </p:cNvCxnSpPr>
          <p:nvPr/>
        </p:nvCxnSpPr>
        <p:spPr>
          <a:xfrm flipV="1">
            <a:off x="5853740" y="2930680"/>
            <a:ext cx="2" cy="2372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2333;p91"/>
          <p:cNvSpPr/>
          <p:nvPr/>
        </p:nvSpPr>
        <p:spPr>
          <a:xfrm>
            <a:off x="5792019" y="4416882"/>
            <a:ext cx="123268" cy="12326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2334;p91"/>
          <p:cNvCxnSpPr/>
          <p:nvPr/>
        </p:nvCxnSpPr>
        <p:spPr>
          <a:xfrm rot="10800000">
            <a:off x="5853668" y="4179560"/>
            <a:ext cx="0" cy="2372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2335;p91"/>
          <p:cNvCxnSpPr/>
          <p:nvPr/>
        </p:nvCxnSpPr>
        <p:spPr>
          <a:xfrm rot="10800000" flipH="1">
            <a:off x="5915287" y="2807351"/>
            <a:ext cx="61784" cy="1671164"/>
          </a:xfrm>
          <a:prstGeom prst="curvedConnector3">
            <a:avLst>
              <a:gd name="adj1" fmla="val 134594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337;p91"/>
          <p:cNvSpPr txBox="1"/>
          <p:nvPr/>
        </p:nvSpPr>
        <p:spPr>
          <a:xfrm>
            <a:off x="6759024" y="3375245"/>
            <a:ext cx="1111090" cy="72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加性</a:t>
            </a: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短路</a:t>
            </a: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2338;p91"/>
          <p:cNvSpPr txBox="1"/>
          <p:nvPr/>
        </p:nvSpPr>
        <p:spPr>
          <a:xfrm>
            <a:off x="4680028" y="2564195"/>
            <a:ext cx="925652" cy="36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+ x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2339;p91"/>
          <p:cNvSpPr txBox="1"/>
          <p:nvPr/>
        </p:nvSpPr>
        <p:spPr>
          <a:xfrm>
            <a:off x="4680028" y="3445465"/>
            <a:ext cx="671225" cy="51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2340;p91"/>
          <p:cNvSpPr txBox="1"/>
          <p:nvPr/>
        </p:nvSpPr>
        <p:spPr>
          <a:xfrm>
            <a:off x="5806830" y="2397139"/>
            <a:ext cx="651131" cy="26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Google Shape;2341;p91"/>
          <p:cNvCxnSpPr/>
          <p:nvPr/>
        </p:nvCxnSpPr>
        <p:spPr>
          <a:xfrm rot="10800000">
            <a:off x="5853740" y="2352752"/>
            <a:ext cx="0" cy="28192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2342;p91"/>
          <p:cNvSpPr txBox="1"/>
          <p:nvPr/>
        </p:nvSpPr>
        <p:spPr>
          <a:xfrm>
            <a:off x="5441829" y="4499694"/>
            <a:ext cx="791794" cy="3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oogle Shape;2343;p91"/>
          <p:cNvGrpSpPr/>
          <p:nvPr/>
        </p:nvGrpSpPr>
        <p:grpSpPr>
          <a:xfrm>
            <a:off x="5730518" y="2684232"/>
            <a:ext cx="246448" cy="246448"/>
            <a:chOff x="4843325" y="3597375"/>
            <a:chExt cx="393600" cy="393600"/>
          </a:xfrm>
        </p:grpSpPr>
        <p:sp>
          <p:nvSpPr>
            <p:cNvPr id="33" name="Google Shape;2336;p91"/>
            <p:cNvSpPr/>
            <p:nvPr/>
          </p:nvSpPr>
          <p:spPr>
            <a:xfrm>
              <a:off x="4843325" y="3597375"/>
              <a:ext cx="393600" cy="39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Google Shape;2344;p91"/>
            <p:cNvSpPr/>
            <p:nvPr/>
          </p:nvSpPr>
          <p:spPr>
            <a:xfrm>
              <a:off x="4932725" y="3686775"/>
              <a:ext cx="214800" cy="214800"/>
            </a:xfrm>
            <a:prstGeom prst="plus">
              <a:avLst>
                <a:gd name="adj" fmla="val 3743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628650" y="1823762"/>
            <a:ext cx="8005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方案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改变网络来使得额外的层学习恒等函数变得容易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507999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6" name="Google Shape;2316;p91"/>
          <p:cNvSpPr/>
          <p:nvPr/>
        </p:nvSpPr>
        <p:spPr>
          <a:xfrm>
            <a:off x="1687892" y="3944770"/>
            <a:ext cx="865874" cy="31101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conv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" name="Google Shape;2317;p91"/>
          <p:cNvSpPr/>
          <p:nvPr/>
        </p:nvSpPr>
        <p:spPr>
          <a:xfrm>
            <a:off x="1687975" y="3244119"/>
            <a:ext cx="865874" cy="31101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conv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" name="Google Shape;2318;p91"/>
          <p:cNvCxnSpPr/>
          <p:nvPr/>
        </p:nvCxnSpPr>
        <p:spPr>
          <a:xfrm rot="10800000">
            <a:off x="2120840" y="4255739"/>
            <a:ext cx="0" cy="2372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319;p91"/>
          <p:cNvSpPr txBox="1"/>
          <p:nvPr/>
        </p:nvSpPr>
        <p:spPr>
          <a:xfrm>
            <a:off x="2075951" y="3607339"/>
            <a:ext cx="651131" cy="26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2320;p91"/>
          <p:cNvCxnSpPr/>
          <p:nvPr/>
        </p:nvCxnSpPr>
        <p:spPr>
          <a:xfrm rot="10800000">
            <a:off x="2099384" y="3555171"/>
            <a:ext cx="0" cy="3895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2321;p91"/>
          <p:cNvCxnSpPr/>
          <p:nvPr/>
        </p:nvCxnSpPr>
        <p:spPr>
          <a:xfrm rot="10800000">
            <a:off x="2099384" y="2869550"/>
            <a:ext cx="0" cy="3895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2322;p91"/>
          <p:cNvSpPr txBox="1"/>
          <p:nvPr/>
        </p:nvSpPr>
        <p:spPr>
          <a:xfrm>
            <a:off x="1387300" y="4926515"/>
            <a:ext cx="1467056" cy="30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“Plain” </a:t>
            </a:r>
            <a:r>
              <a: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2323;p91"/>
          <p:cNvSpPr txBox="1"/>
          <p:nvPr/>
        </p:nvSpPr>
        <p:spPr>
          <a:xfrm>
            <a:off x="1725022" y="4467702"/>
            <a:ext cx="791794" cy="3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2324;p91"/>
          <p:cNvSpPr txBox="1"/>
          <p:nvPr/>
        </p:nvSpPr>
        <p:spPr>
          <a:xfrm>
            <a:off x="1687882" y="2454269"/>
            <a:ext cx="791794" cy="3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H(x)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2326;p91"/>
          <p:cNvSpPr txBox="1"/>
          <p:nvPr/>
        </p:nvSpPr>
        <p:spPr>
          <a:xfrm>
            <a:off x="5817460" y="3539842"/>
            <a:ext cx="651131" cy="26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2327;p91"/>
          <p:cNvSpPr txBox="1"/>
          <p:nvPr/>
        </p:nvSpPr>
        <p:spPr>
          <a:xfrm>
            <a:off x="5040531" y="4950211"/>
            <a:ext cx="1626243" cy="35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残差块</a:t>
            </a:r>
          </a:p>
        </p:txBody>
      </p:sp>
      <p:sp>
        <p:nvSpPr>
          <p:cNvPr id="18" name="Google Shape;2328;p91"/>
          <p:cNvSpPr/>
          <p:nvPr/>
        </p:nvSpPr>
        <p:spPr>
          <a:xfrm>
            <a:off x="5420720" y="3868590"/>
            <a:ext cx="865874" cy="31101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conv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" name="Google Shape;2329;p91"/>
          <p:cNvSpPr/>
          <p:nvPr/>
        </p:nvSpPr>
        <p:spPr>
          <a:xfrm>
            <a:off x="5420803" y="3167940"/>
            <a:ext cx="865874" cy="311019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conv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20" name="Google Shape;2330;p91"/>
          <p:cNvCxnSpPr/>
          <p:nvPr/>
        </p:nvCxnSpPr>
        <p:spPr>
          <a:xfrm rot="10800000">
            <a:off x="5853657" y="3478992"/>
            <a:ext cx="0" cy="3895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2331;p91"/>
          <p:cNvCxnSpPr>
            <a:endCxn id="33" idx="4"/>
          </p:cNvCxnSpPr>
          <p:nvPr/>
        </p:nvCxnSpPr>
        <p:spPr>
          <a:xfrm flipV="1">
            <a:off x="5853740" y="2930680"/>
            <a:ext cx="2" cy="2372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2333;p91"/>
          <p:cNvSpPr/>
          <p:nvPr/>
        </p:nvSpPr>
        <p:spPr>
          <a:xfrm>
            <a:off x="5792019" y="4416882"/>
            <a:ext cx="123268" cy="12326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Google Shape;2334;p91"/>
          <p:cNvCxnSpPr/>
          <p:nvPr/>
        </p:nvCxnSpPr>
        <p:spPr>
          <a:xfrm rot="10800000">
            <a:off x="5853668" y="4179560"/>
            <a:ext cx="0" cy="23723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2335;p91"/>
          <p:cNvCxnSpPr/>
          <p:nvPr/>
        </p:nvCxnSpPr>
        <p:spPr>
          <a:xfrm rot="10800000" flipH="1">
            <a:off x="5915287" y="2807351"/>
            <a:ext cx="61784" cy="1671164"/>
          </a:xfrm>
          <a:prstGeom prst="curvedConnector3">
            <a:avLst>
              <a:gd name="adj1" fmla="val 134594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337;p91"/>
          <p:cNvSpPr txBox="1"/>
          <p:nvPr/>
        </p:nvSpPr>
        <p:spPr>
          <a:xfrm>
            <a:off x="6759023" y="3375245"/>
            <a:ext cx="1253551" cy="72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加性 “短路”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2338;p91"/>
          <p:cNvSpPr txBox="1"/>
          <p:nvPr/>
        </p:nvSpPr>
        <p:spPr>
          <a:xfrm>
            <a:off x="4680028" y="2564195"/>
            <a:ext cx="925652" cy="36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 + x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Google Shape;2339;p91"/>
          <p:cNvSpPr txBox="1"/>
          <p:nvPr/>
        </p:nvSpPr>
        <p:spPr>
          <a:xfrm>
            <a:off x="4680028" y="3445465"/>
            <a:ext cx="671225" cy="51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F(x)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2340;p91"/>
          <p:cNvSpPr txBox="1"/>
          <p:nvPr/>
        </p:nvSpPr>
        <p:spPr>
          <a:xfrm>
            <a:off x="5806830" y="2397139"/>
            <a:ext cx="651131" cy="26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Google Shape;2341;p91"/>
          <p:cNvCxnSpPr/>
          <p:nvPr/>
        </p:nvCxnSpPr>
        <p:spPr>
          <a:xfrm rot="10800000">
            <a:off x="5853740" y="2352752"/>
            <a:ext cx="0" cy="28192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2342;p91"/>
          <p:cNvSpPr txBox="1"/>
          <p:nvPr/>
        </p:nvSpPr>
        <p:spPr>
          <a:xfrm>
            <a:off x="5441829" y="4499694"/>
            <a:ext cx="791794" cy="3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oogle Shape;2343;p91"/>
          <p:cNvGrpSpPr/>
          <p:nvPr/>
        </p:nvGrpSpPr>
        <p:grpSpPr>
          <a:xfrm>
            <a:off x="5730518" y="2684232"/>
            <a:ext cx="246448" cy="246448"/>
            <a:chOff x="4843325" y="3597375"/>
            <a:chExt cx="393600" cy="393600"/>
          </a:xfrm>
        </p:grpSpPr>
        <p:sp>
          <p:nvSpPr>
            <p:cNvPr id="33" name="Google Shape;2336;p91"/>
            <p:cNvSpPr/>
            <p:nvPr/>
          </p:nvSpPr>
          <p:spPr>
            <a:xfrm>
              <a:off x="4843325" y="3597375"/>
              <a:ext cx="393600" cy="39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Google Shape;2344;p91"/>
            <p:cNvSpPr/>
            <p:nvPr/>
          </p:nvSpPr>
          <p:spPr>
            <a:xfrm>
              <a:off x="4932725" y="3686775"/>
              <a:ext cx="214800" cy="214800"/>
            </a:xfrm>
            <a:prstGeom prst="plus">
              <a:avLst>
                <a:gd name="adj" fmla="val 3743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628650" y="1823762"/>
            <a:ext cx="8005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方案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改变网络来使得额外的层学习恒等函数变得容易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!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20821" y="3146642"/>
            <a:ext cx="16351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如果设置为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整个块将学习恒等映射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cxnSp>
        <p:nvCxnSpPr>
          <p:cNvPr id="36" name="Google Shape;2331;p91"/>
          <p:cNvCxnSpPr/>
          <p:nvPr/>
        </p:nvCxnSpPr>
        <p:spPr>
          <a:xfrm flipV="1">
            <a:off x="4478878" y="3288055"/>
            <a:ext cx="816097" cy="81764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2331;p91"/>
          <p:cNvCxnSpPr/>
          <p:nvPr/>
        </p:nvCxnSpPr>
        <p:spPr>
          <a:xfrm>
            <a:off x="4467256" y="3969201"/>
            <a:ext cx="800498" cy="55237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54120848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38" name="Google Shape;2390;p93"/>
          <p:cNvSpPr/>
          <p:nvPr/>
        </p:nvSpPr>
        <p:spPr>
          <a:xfrm>
            <a:off x="7048335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051477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048321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046527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047025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048321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048321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7483358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7463130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7483358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7483375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7463119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7483358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7503608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046514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046514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7481551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7481565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7461714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7481551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7481959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7502110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046514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046514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7481551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7481659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7461714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7481551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7502204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047418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047418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7482455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7481959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7462417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7482455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7502306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045612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045612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7480649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7480563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7461011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7480649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7481256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7501408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045612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045612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7480649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7480656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7461011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7480649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7501501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7482759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7365155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7483477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049224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049224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7484261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7463832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7484077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7463821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7483961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7504311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047418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047418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7482455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7482568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7462417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7482455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7482662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7502812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047418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047418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7482455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7482362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7502908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7463842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7482456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7484087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049251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17" name="Google Shape;2471;p93"/>
          <p:cNvGrpSpPr/>
          <p:nvPr/>
        </p:nvGrpSpPr>
        <p:grpSpPr>
          <a:xfrm>
            <a:off x="4256794" y="2086653"/>
            <a:ext cx="1957443" cy="2794015"/>
            <a:chOff x="4290500" y="1686253"/>
            <a:chExt cx="1957953" cy="2794743"/>
          </a:xfrm>
        </p:grpSpPr>
        <p:sp>
          <p:nvSpPr>
            <p:cNvPr id="118" name="Google Shape;2472;p93"/>
            <p:cNvSpPr txBox="1"/>
            <p:nvPr/>
          </p:nvSpPr>
          <p:spPr>
            <a:xfrm>
              <a:off x="5463837" y="2873686"/>
              <a:ext cx="6513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relu</a:t>
              </a: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Google Shape;2473;p93"/>
            <p:cNvSpPr txBox="1"/>
            <p:nvPr/>
          </p:nvSpPr>
          <p:spPr>
            <a:xfrm>
              <a:off x="4648546" y="4121900"/>
              <a:ext cx="1599907" cy="359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Residual block</a:t>
              </a: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Google Shape;2474;p93"/>
            <p:cNvSpPr/>
            <p:nvPr/>
          </p:nvSpPr>
          <p:spPr>
            <a:xfrm>
              <a:off x="5031385" y="3202486"/>
              <a:ext cx="866100" cy="3111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</a:t>
              </a: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21" name="Google Shape;2475;p93"/>
            <p:cNvSpPr/>
            <p:nvPr/>
          </p:nvSpPr>
          <p:spPr>
            <a:xfrm>
              <a:off x="5031468" y="2501653"/>
              <a:ext cx="866100" cy="311100"/>
            </a:xfrm>
            <a:prstGeom prst="rect">
              <a:avLst/>
            </a:prstGeom>
            <a:solidFill>
              <a:srgbClr val="FCE5CD"/>
            </a:solidFill>
            <a:ln w="19050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3x3 conv</a:t>
              </a: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cxnSp>
          <p:nvCxnSpPr>
            <p:cNvPr id="122" name="Google Shape;2476;p93"/>
            <p:cNvCxnSpPr/>
            <p:nvPr/>
          </p:nvCxnSpPr>
          <p:spPr>
            <a:xfrm rot="10800000">
              <a:off x="5464435" y="2812786"/>
              <a:ext cx="0" cy="389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3" name="Google Shape;2477;p93"/>
            <p:cNvCxnSpPr>
              <a:endCxn id="134" idx="4"/>
            </p:cNvCxnSpPr>
            <p:nvPr/>
          </p:nvCxnSpPr>
          <p:spPr>
            <a:xfrm flipV="1">
              <a:off x="5464518" y="2264331"/>
              <a:ext cx="2" cy="237322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4" name="Google Shape;2478;p93"/>
            <p:cNvSpPr/>
            <p:nvPr/>
          </p:nvSpPr>
          <p:spPr>
            <a:xfrm>
              <a:off x="5402781" y="3750920"/>
              <a:ext cx="123300" cy="1233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5" name="Google Shape;2479;p93"/>
            <p:cNvCxnSpPr/>
            <p:nvPr/>
          </p:nvCxnSpPr>
          <p:spPr>
            <a:xfrm rot="10800000">
              <a:off x="5464446" y="3513537"/>
              <a:ext cx="0" cy="23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6" name="Google Shape;2480;p93"/>
            <p:cNvCxnSpPr/>
            <p:nvPr/>
          </p:nvCxnSpPr>
          <p:spPr>
            <a:xfrm rot="10800000" flipH="1">
              <a:off x="5526081" y="2140970"/>
              <a:ext cx="61800" cy="1671600"/>
            </a:xfrm>
            <a:prstGeom prst="curvedConnector3">
              <a:avLst>
                <a:gd name="adj1" fmla="val 1444812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8" name="Google Shape;2483;p93"/>
            <p:cNvSpPr txBox="1"/>
            <p:nvPr/>
          </p:nvSpPr>
          <p:spPr>
            <a:xfrm>
              <a:off x="4432590" y="1897750"/>
              <a:ext cx="933587" cy="2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91401" rIns="91401" bIns="91401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F(x) + x</a:t>
              </a: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Google Shape;2484;p93"/>
            <p:cNvSpPr txBox="1"/>
            <p:nvPr/>
          </p:nvSpPr>
          <p:spPr>
            <a:xfrm>
              <a:off x="4290500" y="2779250"/>
              <a:ext cx="6714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91401" rIns="91401" bIns="91401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F(x)</a:t>
              </a: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Google Shape;2485;p93"/>
            <p:cNvSpPr txBox="1"/>
            <p:nvPr/>
          </p:nvSpPr>
          <p:spPr>
            <a:xfrm>
              <a:off x="5417596" y="1730651"/>
              <a:ext cx="651300" cy="2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relu</a:t>
              </a: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1" name="Google Shape;2486;p93"/>
            <p:cNvCxnSpPr/>
            <p:nvPr/>
          </p:nvCxnSpPr>
          <p:spPr>
            <a:xfrm rot="10800000">
              <a:off x="5464518" y="1686253"/>
              <a:ext cx="0" cy="282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2" name="Google Shape;2487;p93"/>
            <p:cNvSpPr txBox="1"/>
            <p:nvPr/>
          </p:nvSpPr>
          <p:spPr>
            <a:xfrm>
              <a:off x="5052500" y="3833754"/>
              <a:ext cx="7920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91401" rIns="91401" bIns="91401" anchor="t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</a:t>
              </a: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3" name="Google Shape;2488;p93"/>
            <p:cNvGrpSpPr/>
            <p:nvPr/>
          </p:nvGrpSpPr>
          <p:grpSpPr>
            <a:xfrm>
              <a:off x="5341263" y="2017819"/>
              <a:ext cx="246512" cy="246512"/>
              <a:chOff x="4843325" y="3597375"/>
              <a:chExt cx="393600" cy="393600"/>
            </a:xfrm>
          </p:grpSpPr>
          <p:sp>
            <p:nvSpPr>
              <p:cNvPr id="134" name="Google Shape;2481;p93"/>
              <p:cNvSpPr/>
              <p:nvPr/>
            </p:nvSpPr>
            <p:spPr>
              <a:xfrm>
                <a:off x="4843325" y="3597375"/>
                <a:ext cx="393600" cy="393600"/>
              </a:xfrm>
              <a:prstGeom prst="ellipse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Google Shape;2489;p93"/>
              <p:cNvSpPr/>
              <p:nvPr/>
            </p:nvSpPr>
            <p:spPr>
              <a:xfrm>
                <a:off x="4932725" y="3686775"/>
                <a:ext cx="214800" cy="214800"/>
              </a:xfrm>
              <a:prstGeom prst="plus">
                <a:avLst>
                  <a:gd name="adj" fmla="val 3743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01" tIns="91401" rIns="91401" bIns="91401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6" name="Google Shape;2491;p93"/>
          <p:cNvSpPr/>
          <p:nvPr/>
        </p:nvSpPr>
        <p:spPr>
          <a:xfrm flipH="1">
            <a:off x="6405428" y="2102596"/>
            <a:ext cx="218643" cy="2824064"/>
          </a:xfrm>
          <a:prstGeom prst="leftBracket">
            <a:avLst>
              <a:gd name="adj" fmla="val 8333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7" name="Google Shape;2492;p93"/>
          <p:cNvCxnSpPr/>
          <p:nvPr/>
        </p:nvCxnSpPr>
        <p:spPr>
          <a:xfrm rot="10800000">
            <a:off x="6624071" y="3726823"/>
            <a:ext cx="391098" cy="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415448" y="1890688"/>
            <a:ext cx="3450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残差网络由若干残差块堆叠而成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常规设计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类似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VGG: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每一个残差块有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两个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3x3 conv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网络被分为多个阶段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每一阶段第一个块通过设置步长为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来降低两倍分辨率并加倍输出通道数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322285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38" name="Google Shape;2390;p93"/>
          <p:cNvSpPr/>
          <p:nvPr/>
        </p:nvSpPr>
        <p:spPr>
          <a:xfrm>
            <a:off x="7048335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051477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048321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046527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047025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048321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048321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7483358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7463130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7483358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7483375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7463119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7483358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7503608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046514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046514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7481551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7481565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7461714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7481551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7481959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7502110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046514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046514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7481551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7481659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7461714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7481551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7502204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047418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047418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7482455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7481959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7462417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7482455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7502306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045612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045612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7480649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7480563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7461011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7480649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7481256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7501408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045612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045612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7480649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7480656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7461011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7480649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7501501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7482759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7365155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7483477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049224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049224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7484261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7463832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7484077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7463821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7483961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7504311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047418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047418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7482455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7482568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7462417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7482455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7482662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7502812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047418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047418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7482455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7482362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7502908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7463842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7482456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7484087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049251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8713" y="2138609"/>
            <a:ext cx="5503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使用和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GoogleNet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一样的主干网络，在残差块之前将输入下采样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倍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4388" y="3148065"/>
          <a:ext cx="6532417" cy="1390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3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0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9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23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11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439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56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32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Input size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Layer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Output size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Layer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filters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kernel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stride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pad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mr-IN" sz="1500" u="none" strike="noStrike" dirty="0" err="1">
                          <a:effectLst/>
                        </a:rPr>
                        <a:t>H</a:t>
                      </a:r>
                      <a:r>
                        <a:rPr lang="mr-IN" sz="1500" u="none" strike="noStrike" dirty="0">
                          <a:effectLst/>
                        </a:rPr>
                        <a:t>/</a:t>
                      </a:r>
                      <a:r>
                        <a:rPr lang="mr-IN" sz="1500" u="none" strike="noStrike" dirty="0" err="1">
                          <a:effectLst/>
                        </a:rPr>
                        <a:t>W</a:t>
                      </a:r>
                      <a:endParaRPr lang="mr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memory (KB)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params (k)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</a:rPr>
                        <a:t>flop (M)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conv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224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64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64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112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500" u="none" strike="noStrike" dirty="0">
                          <a:effectLst/>
                        </a:rPr>
                        <a:t>3136</a:t>
                      </a:r>
                      <a:endParaRPr lang="cs-CZ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500" u="none" strike="noStrike">
                          <a:effectLst/>
                        </a:rPr>
                        <a:t>118</a:t>
                      </a:r>
                      <a:endParaRPr lang="cs-CZ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63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max-pool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64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112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64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56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784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500" u="none" strike="noStrike" dirty="0">
                          <a:effectLst/>
                        </a:rPr>
                        <a:t>2</a:t>
                      </a:r>
                      <a:endParaRPr lang="is-I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7" name="Google Shape;1443;p58"/>
          <p:cNvSpPr/>
          <p:nvPr/>
        </p:nvSpPr>
        <p:spPr>
          <a:xfrm>
            <a:off x="6954938" y="4938773"/>
            <a:ext cx="1048956" cy="5020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021626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88738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</p:txBody>
      </p:sp>
      <p:sp>
        <p:nvSpPr>
          <p:cNvPr id="38" name="Google Shape;2390;p93"/>
          <p:cNvSpPr/>
          <p:nvPr/>
        </p:nvSpPr>
        <p:spPr>
          <a:xfrm>
            <a:off x="7048335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051477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048321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046527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047025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048321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048321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7483358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7463130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7483358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7483375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7463119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7483358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7503608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046514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046514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7481551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7481565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7461714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7481551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7481959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7502110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046514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046514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7481551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7481659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7461714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7481551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7502204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047418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047418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7482455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7481959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7462417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7482455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7502306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045612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045612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7480649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7480563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7461011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7480649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7481256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7501408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045612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045612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7480649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7480656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7461011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7480649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7501501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7482759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7365155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7483477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049224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049224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7484261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7463832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7484077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7463821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7483961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7504311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047418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047418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7482455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7482568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7462417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7482455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7482662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7502812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047418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047418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7482455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7482362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7502908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7463842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7482456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7484087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049251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6689" y="2628583"/>
            <a:ext cx="5722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类似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GoogLeNet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没用大的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fully-connected-layers: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average pooling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（全局平均池化）和一个线性层作为输出层替代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Google Shape;1443;p58"/>
          <p:cNvSpPr/>
          <p:nvPr/>
        </p:nvSpPr>
        <p:spPr>
          <a:xfrm>
            <a:off x="6962172" y="997594"/>
            <a:ext cx="1102489" cy="5020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132639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224363"/>
            <a:ext cx="39581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rates are 224x224 single-crop testing, reported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torchvision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2390;p93"/>
          <p:cNvSpPr/>
          <p:nvPr/>
        </p:nvSpPr>
        <p:spPr>
          <a:xfrm>
            <a:off x="7048335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051477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048321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046527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047025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048321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048321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7483358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7463130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7483358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7483375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7463119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7483358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7503608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046514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046514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7481551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7481565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7461714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7481551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7481959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7502110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046514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046514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7481551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7481659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7461714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7481551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7502204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047418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047418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7482455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7481959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7462417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7482455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7502306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045612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045612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7480649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7480563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7461011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7480649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7481256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7501408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045612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045612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7480649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7480656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7461011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7480649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7501501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7482759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7365155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7483477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049224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049224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7484261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7463832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7484077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7463821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7483961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7504311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047418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047418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7482455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7482568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7462417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7482455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7482662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7502812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047418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047418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7482455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7482362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7502908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7463842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7482456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7484087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049251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367" y="1687156"/>
            <a:ext cx="36592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ResNet-18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Stem: 1 conv layer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1 (C=64):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2 (C=128):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3 (C=256):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4 (C=512):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 top-5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错误率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10.92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GFLOP: 1.8</a:t>
            </a:r>
          </a:p>
        </p:txBody>
      </p:sp>
    </p:spTree>
    <p:extLst>
      <p:ext uri="{BB962C8B-B14F-4D97-AF65-F5344CB8AC3E}">
        <p14:creationId xmlns:p14="http://schemas.microsoft.com/office/powerpoint/2010/main" val="2201136855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224363"/>
            <a:ext cx="39581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rates are 224x224 single-crop testing, reported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torchvision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2390;p93"/>
          <p:cNvSpPr/>
          <p:nvPr/>
        </p:nvSpPr>
        <p:spPr>
          <a:xfrm>
            <a:off x="7048335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051477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048321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046527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047025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048321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048321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7483358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7463130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7483358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7483375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7463119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7483358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7503608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046514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046514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7481551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7481565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7461714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7481551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7481959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7502110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046514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046514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7481551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7481659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7461714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7481551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7502204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047418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047418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7482455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7481959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7462417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7482455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7502306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045612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045612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7480649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7480563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7461011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7480649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7481256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7501408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045612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045612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7480649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7480656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7461011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7480649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7501501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7482759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7365155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7483477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049224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049224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7484261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7463832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7484077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7463821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7483961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7504311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047418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047418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7482455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7482568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7462417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7482455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7482662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7502812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047418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047418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7482455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7482362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7502908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7463842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7482456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7484087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049251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367" y="1687156"/>
            <a:ext cx="36592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ResNet-18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Stem: 1 conv layer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1 (C=64):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2 (C=128):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3 (C=256):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4 (C=512):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 top-5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错误率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10.92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GFLOP: 1.8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96001" y="1687156"/>
            <a:ext cx="29924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ResNet-34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Stem: 1 conv layer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1: 3 res. block = 6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2: 4 res. block = 8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3: 6 res. block = 12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4: 3 res. block = 6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 top-5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错误率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8.58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GFLOP: 3.6</a:t>
            </a:r>
          </a:p>
        </p:txBody>
      </p:sp>
    </p:spTree>
    <p:extLst>
      <p:ext uri="{BB962C8B-B14F-4D97-AF65-F5344CB8AC3E}">
        <p14:creationId xmlns:p14="http://schemas.microsoft.com/office/powerpoint/2010/main" val="1278403040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224363"/>
            <a:ext cx="39581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rates are 224x224 single-crop testing, reported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torchvision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2390;p93"/>
          <p:cNvSpPr/>
          <p:nvPr/>
        </p:nvSpPr>
        <p:spPr>
          <a:xfrm>
            <a:off x="7048335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051477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048321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046527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047025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048321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048321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7483358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7463130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7483358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7483375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7463119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7483358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7503608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046514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046514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7481551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7481565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7461714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7481551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7481959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7502110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046514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046514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7481551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7481659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7461714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7481551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7502204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047418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047418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7482455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7481959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7462417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7482455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7502306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045612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045612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7480649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7480563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7461011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7480649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7481256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7501408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045612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045612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7480649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7480656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7461011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7480649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7501501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7482759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7365155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7483477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049224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049224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7484261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7463832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7484077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7463821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7483961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7504311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047418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047418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7482455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7482568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7462417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7482455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7482662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7502812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047418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047418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7482455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7482362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7502908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7463842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7482456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7484087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049251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367" y="1687156"/>
            <a:ext cx="36592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ResNet-18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Stem: 1 conv layer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1 (C=64):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2 (C=128):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3 (C=256):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4 (C=512): 2 res. block = 4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 top-5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错误率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10.92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GFLOP: 1.8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96001" y="1687156"/>
            <a:ext cx="29924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ResNet-34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Stem: 1 conv layer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1: 3 res. block = 6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2: 4 res. block = 8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3: 6 res. block = 12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4: 3 res. block = 6 conv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 top-5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错误率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8.58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GFLOP: 3.6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00539" y="4674422"/>
            <a:ext cx="29284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VGG-16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 top-5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错误率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9.62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GFLOP: 13.6</a:t>
            </a:r>
          </a:p>
        </p:txBody>
      </p:sp>
    </p:spTree>
    <p:extLst>
      <p:ext uri="{BB962C8B-B14F-4D97-AF65-F5344CB8AC3E}">
        <p14:creationId xmlns:p14="http://schemas.microsoft.com/office/powerpoint/2010/main" val="3210340706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r>
              <a:rPr lang="en-US" dirty="0"/>
              <a:t>: </a:t>
            </a:r>
            <a:r>
              <a:rPr lang="zh-CN" altLang="en-US" dirty="0"/>
              <a:t>基本块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409527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CVPR 2016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Google Shape;2473;p93"/>
          <p:cNvSpPr txBox="1"/>
          <p:nvPr/>
        </p:nvSpPr>
        <p:spPr>
          <a:xfrm>
            <a:off x="902158" y="4497751"/>
            <a:ext cx="1599491" cy="60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“Basic”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Google Shape;2474;p93"/>
          <p:cNvSpPr/>
          <p:nvPr/>
        </p:nvSpPr>
        <p:spPr>
          <a:xfrm>
            <a:off x="849776" y="3466382"/>
            <a:ext cx="1704270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3" name="Google Shape;2475;p93"/>
          <p:cNvSpPr/>
          <p:nvPr/>
        </p:nvSpPr>
        <p:spPr>
          <a:xfrm>
            <a:off x="849857" y="2852542"/>
            <a:ext cx="1704175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24" name="Google Shape;2476;p93"/>
          <p:cNvCxnSpPr>
            <a:stCxn id="122" idx="0"/>
            <a:endCxn id="123" idx="2"/>
          </p:cNvCxnSpPr>
          <p:nvPr/>
        </p:nvCxnSpPr>
        <p:spPr>
          <a:xfrm flipV="1">
            <a:off x="1701911" y="3293313"/>
            <a:ext cx="34" cy="17306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2477;p93"/>
          <p:cNvCxnSpPr>
            <a:stCxn id="123" idx="0"/>
            <a:endCxn id="136" idx="4"/>
          </p:cNvCxnSpPr>
          <p:nvPr/>
        </p:nvCxnSpPr>
        <p:spPr>
          <a:xfrm flipH="1" flipV="1">
            <a:off x="1701905" y="2554072"/>
            <a:ext cx="40" cy="29847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2478;p93"/>
          <p:cNvSpPr/>
          <p:nvPr/>
        </p:nvSpPr>
        <p:spPr>
          <a:xfrm>
            <a:off x="1640271" y="4171635"/>
            <a:ext cx="123268" cy="12326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8" name="Google Shape;2479;p93"/>
          <p:cNvCxnSpPr>
            <a:stCxn id="126" idx="0"/>
            <a:endCxn id="122" idx="2"/>
          </p:cNvCxnSpPr>
          <p:nvPr/>
        </p:nvCxnSpPr>
        <p:spPr>
          <a:xfrm flipV="1">
            <a:off x="1701906" y="3907153"/>
            <a:ext cx="5" cy="264482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2480;p93"/>
          <p:cNvCxnSpPr>
            <a:stCxn id="126" idx="2"/>
            <a:endCxn id="136" idx="2"/>
          </p:cNvCxnSpPr>
          <p:nvPr/>
        </p:nvCxnSpPr>
        <p:spPr>
          <a:xfrm rot="10800000">
            <a:off x="1578681" y="2430850"/>
            <a:ext cx="61591" cy="1802420"/>
          </a:xfrm>
          <a:prstGeom prst="curvedConnector3">
            <a:avLst>
              <a:gd name="adj1" fmla="val 208382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2486;p93"/>
          <p:cNvCxnSpPr>
            <a:stCxn id="136" idx="0"/>
          </p:cNvCxnSpPr>
          <p:nvPr/>
        </p:nvCxnSpPr>
        <p:spPr>
          <a:xfrm flipV="1">
            <a:off x="1701905" y="2055229"/>
            <a:ext cx="1390" cy="25239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5" name="Google Shape;2488;p93"/>
          <p:cNvGrpSpPr/>
          <p:nvPr/>
        </p:nvGrpSpPr>
        <p:grpSpPr>
          <a:xfrm>
            <a:off x="1578681" y="2307624"/>
            <a:ext cx="246448" cy="246448"/>
            <a:chOff x="4843325" y="3597375"/>
            <a:chExt cx="393600" cy="393600"/>
          </a:xfrm>
        </p:grpSpPr>
        <p:sp>
          <p:nvSpPr>
            <p:cNvPr id="136" name="Google Shape;2481;p93"/>
            <p:cNvSpPr/>
            <p:nvPr/>
          </p:nvSpPr>
          <p:spPr>
            <a:xfrm>
              <a:off x="4843325" y="3597375"/>
              <a:ext cx="393600" cy="39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Google Shape;2489;p93"/>
            <p:cNvSpPr/>
            <p:nvPr/>
          </p:nvSpPr>
          <p:spPr>
            <a:xfrm>
              <a:off x="4932725" y="3686775"/>
              <a:ext cx="214800" cy="214800"/>
            </a:xfrm>
            <a:prstGeom prst="plus">
              <a:avLst>
                <a:gd name="adj" fmla="val 3743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03727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r>
              <a:rPr lang="en-US" altLang="zh-CN" dirty="0"/>
              <a:t>: </a:t>
            </a:r>
            <a:r>
              <a:rPr lang="zh-CN" altLang="en-US" dirty="0"/>
              <a:t>基本块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409527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CVPR 2016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Google Shape;2473;p93"/>
          <p:cNvSpPr txBox="1"/>
          <p:nvPr/>
        </p:nvSpPr>
        <p:spPr>
          <a:xfrm>
            <a:off x="902158" y="4497751"/>
            <a:ext cx="1599491" cy="60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“Basic”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残差块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Google Shape;2474;p93"/>
          <p:cNvSpPr/>
          <p:nvPr/>
        </p:nvSpPr>
        <p:spPr>
          <a:xfrm>
            <a:off x="849776" y="3466382"/>
            <a:ext cx="1704270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3" name="Google Shape;2475;p93"/>
          <p:cNvSpPr/>
          <p:nvPr/>
        </p:nvSpPr>
        <p:spPr>
          <a:xfrm>
            <a:off x="849857" y="2852542"/>
            <a:ext cx="1704175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24" name="Google Shape;2476;p93"/>
          <p:cNvCxnSpPr>
            <a:stCxn id="122" idx="0"/>
            <a:endCxn id="123" idx="2"/>
          </p:cNvCxnSpPr>
          <p:nvPr/>
        </p:nvCxnSpPr>
        <p:spPr>
          <a:xfrm flipV="1">
            <a:off x="1701911" y="3293313"/>
            <a:ext cx="34" cy="17306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2477;p93"/>
          <p:cNvCxnSpPr>
            <a:stCxn id="123" idx="0"/>
            <a:endCxn id="136" idx="4"/>
          </p:cNvCxnSpPr>
          <p:nvPr/>
        </p:nvCxnSpPr>
        <p:spPr>
          <a:xfrm flipH="1" flipV="1">
            <a:off x="1701905" y="2554072"/>
            <a:ext cx="40" cy="29847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2478;p93"/>
          <p:cNvSpPr/>
          <p:nvPr/>
        </p:nvSpPr>
        <p:spPr>
          <a:xfrm>
            <a:off x="1640271" y="4171635"/>
            <a:ext cx="123268" cy="12326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8" name="Google Shape;2479;p93"/>
          <p:cNvCxnSpPr>
            <a:stCxn id="126" idx="0"/>
            <a:endCxn id="122" idx="2"/>
          </p:cNvCxnSpPr>
          <p:nvPr/>
        </p:nvCxnSpPr>
        <p:spPr>
          <a:xfrm flipV="1">
            <a:off x="1701906" y="3907153"/>
            <a:ext cx="5" cy="264482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2480;p93"/>
          <p:cNvCxnSpPr>
            <a:stCxn id="126" idx="2"/>
            <a:endCxn id="136" idx="2"/>
          </p:cNvCxnSpPr>
          <p:nvPr/>
        </p:nvCxnSpPr>
        <p:spPr>
          <a:xfrm rot="10800000">
            <a:off x="1578681" y="2430850"/>
            <a:ext cx="61591" cy="1802420"/>
          </a:xfrm>
          <a:prstGeom prst="curvedConnector3">
            <a:avLst>
              <a:gd name="adj1" fmla="val 208382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2486;p93"/>
          <p:cNvCxnSpPr>
            <a:stCxn id="136" idx="0"/>
          </p:cNvCxnSpPr>
          <p:nvPr/>
        </p:nvCxnSpPr>
        <p:spPr>
          <a:xfrm flipV="1">
            <a:off x="1701905" y="2055229"/>
            <a:ext cx="1390" cy="25239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5" name="Google Shape;2488;p93"/>
          <p:cNvGrpSpPr/>
          <p:nvPr/>
        </p:nvGrpSpPr>
        <p:grpSpPr>
          <a:xfrm>
            <a:off x="1578681" y="2307624"/>
            <a:ext cx="246448" cy="246448"/>
            <a:chOff x="4843325" y="3597375"/>
            <a:chExt cx="393600" cy="393600"/>
          </a:xfrm>
        </p:grpSpPr>
        <p:sp>
          <p:nvSpPr>
            <p:cNvPr id="136" name="Google Shape;2481;p93"/>
            <p:cNvSpPr/>
            <p:nvPr/>
          </p:nvSpPr>
          <p:spPr>
            <a:xfrm>
              <a:off x="4843325" y="3597375"/>
              <a:ext cx="393600" cy="39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Google Shape;2489;p93"/>
            <p:cNvSpPr/>
            <p:nvPr/>
          </p:nvSpPr>
          <p:spPr>
            <a:xfrm>
              <a:off x="4932725" y="3686775"/>
              <a:ext cx="214800" cy="214800"/>
            </a:xfrm>
            <a:prstGeom prst="plus">
              <a:avLst>
                <a:gd name="adj" fmla="val 3743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682913" y="2922886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9HWC</a:t>
            </a:r>
            <a:r>
              <a:rPr kumimoji="0" lang="en-US" sz="15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682913" y="3524860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9HWC</a:t>
            </a:r>
            <a:r>
              <a:rPr kumimoji="0" lang="en-US" sz="15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2611777" y="4487798"/>
            <a:ext cx="1317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FLOPs: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18HWC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303403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r>
              <a:rPr lang="en-US" dirty="0"/>
              <a:t>: Bottleneck </a:t>
            </a:r>
            <a:r>
              <a:rPr lang="zh-CN" altLang="en-US" dirty="0"/>
              <a:t>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409527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CVPR 2016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Google Shape;2473;p93"/>
          <p:cNvSpPr txBox="1"/>
          <p:nvPr/>
        </p:nvSpPr>
        <p:spPr>
          <a:xfrm>
            <a:off x="902158" y="4497751"/>
            <a:ext cx="1599491" cy="60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“Basic”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残差块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Google Shape;2474;p93"/>
          <p:cNvSpPr/>
          <p:nvPr/>
        </p:nvSpPr>
        <p:spPr>
          <a:xfrm>
            <a:off x="849776" y="3466382"/>
            <a:ext cx="1704270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3" name="Google Shape;2475;p93"/>
          <p:cNvSpPr/>
          <p:nvPr/>
        </p:nvSpPr>
        <p:spPr>
          <a:xfrm>
            <a:off x="849857" y="2852542"/>
            <a:ext cx="1704175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24" name="Google Shape;2476;p93"/>
          <p:cNvCxnSpPr>
            <a:stCxn id="122" idx="0"/>
            <a:endCxn id="123" idx="2"/>
          </p:cNvCxnSpPr>
          <p:nvPr/>
        </p:nvCxnSpPr>
        <p:spPr>
          <a:xfrm flipV="1">
            <a:off x="1701911" y="3293313"/>
            <a:ext cx="34" cy="17306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2477;p93"/>
          <p:cNvCxnSpPr>
            <a:stCxn id="123" idx="0"/>
            <a:endCxn id="136" idx="4"/>
          </p:cNvCxnSpPr>
          <p:nvPr/>
        </p:nvCxnSpPr>
        <p:spPr>
          <a:xfrm flipH="1" flipV="1">
            <a:off x="1701905" y="2554072"/>
            <a:ext cx="40" cy="29847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2478;p93"/>
          <p:cNvSpPr/>
          <p:nvPr/>
        </p:nvSpPr>
        <p:spPr>
          <a:xfrm>
            <a:off x="1640271" y="4171635"/>
            <a:ext cx="123268" cy="12326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8" name="Google Shape;2479;p93"/>
          <p:cNvCxnSpPr>
            <a:stCxn id="126" idx="0"/>
            <a:endCxn id="122" idx="2"/>
          </p:cNvCxnSpPr>
          <p:nvPr/>
        </p:nvCxnSpPr>
        <p:spPr>
          <a:xfrm flipV="1">
            <a:off x="1701906" y="3907153"/>
            <a:ext cx="5" cy="264482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2480;p93"/>
          <p:cNvCxnSpPr>
            <a:stCxn id="126" idx="2"/>
            <a:endCxn id="136" idx="2"/>
          </p:cNvCxnSpPr>
          <p:nvPr/>
        </p:nvCxnSpPr>
        <p:spPr>
          <a:xfrm rot="10800000">
            <a:off x="1578681" y="2430850"/>
            <a:ext cx="61591" cy="1802420"/>
          </a:xfrm>
          <a:prstGeom prst="curvedConnector3">
            <a:avLst>
              <a:gd name="adj1" fmla="val 208382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2486;p93"/>
          <p:cNvCxnSpPr>
            <a:stCxn id="136" idx="0"/>
          </p:cNvCxnSpPr>
          <p:nvPr/>
        </p:nvCxnSpPr>
        <p:spPr>
          <a:xfrm flipV="1">
            <a:off x="1701905" y="2055229"/>
            <a:ext cx="1390" cy="25239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5" name="Google Shape;2488;p93"/>
          <p:cNvGrpSpPr/>
          <p:nvPr/>
        </p:nvGrpSpPr>
        <p:grpSpPr>
          <a:xfrm>
            <a:off x="1578681" y="2307624"/>
            <a:ext cx="246448" cy="246448"/>
            <a:chOff x="4843325" y="3597375"/>
            <a:chExt cx="393600" cy="393600"/>
          </a:xfrm>
        </p:grpSpPr>
        <p:sp>
          <p:nvSpPr>
            <p:cNvPr id="136" name="Google Shape;2481;p93"/>
            <p:cNvSpPr/>
            <p:nvPr/>
          </p:nvSpPr>
          <p:spPr>
            <a:xfrm>
              <a:off x="4843325" y="3597375"/>
              <a:ext cx="393600" cy="39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Google Shape;2489;p93"/>
            <p:cNvSpPr/>
            <p:nvPr/>
          </p:nvSpPr>
          <p:spPr>
            <a:xfrm>
              <a:off x="4932725" y="3686775"/>
              <a:ext cx="214800" cy="214800"/>
            </a:xfrm>
            <a:prstGeom prst="plus">
              <a:avLst>
                <a:gd name="adj" fmla="val 3743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8" name="Google Shape;2474;p93"/>
          <p:cNvSpPr/>
          <p:nvPr/>
        </p:nvSpPr>
        <p:spPr>
          <a:xfrm>
            <a:off x="6177458" y="3761436"/>
            <a:ext cx="1885238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Conv(1x1, 4C-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9" name="Google Shape;2474;p93"/>
          <p:cNvSpPr/>
          <p:nvPr/>
        </p:nvSpPr>
        <p:spPr>
          <a:xfrm>
            <a:off x="6177458" y="3147596"/>
            <a:ext cx="1885238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0" name="Google Shape;2474;p93"/>
          <p:cNvSpPr/>
          <p:nvPr/>
        </p:nvSpPr>
        <p:spPr>
          <a:xfrm>
            <a:off x="6177458" y="2533756"/>
            <a:ext cx="1885238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Conv(1x1, C-&gt;4C)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41" name="Google Shape;2476;p93"/>
          <p:cNvCxnSpPr>
            <a:stCxn id="138" idx="0"/>
            <a:endCxn id="139" idx="2"/>
          </p:cNvCxnSpPr>
          <p:nvPr/>
        </p:nvCxnSpPr>
        <p:spPr>
          <a:xfrm flipV="1">
            <a:off x="7120077" y="3588367"/>
            <a:ext cx="0" cy="17306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2476;p93"/>
          <p:cNvCxnSpPr>
            <a:stCxn id="139" idx="0"/>
            <a:endCxn id="140" idx="2"/>
          </p:cNvCxnSpPr>
          <p:nvPr/>
        </p:nvCxnSpPr>
        <p:spPr>
          <a:xfrm flipV="1">
            <a:off x="7120077" y="2974527"/>
            <a:ext cx="0" cy="17306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" name="Google Shape;2478;p93"/>
          <p:cNvSpPr/>
          <p:nvPr/>
        </p:nvSpPr>
        <p:spPr>
          <a:xfrm>
            <a:off x="7058442" y="4567435"/>
            <a:ext cx="123268" cy="12326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4" name="Google Shape;2479;p93"/>
          <p:cNvCxnSpPr>
            <a:stCxn id="143" idx="0"/>
            <a:endCxn id="138" idx="2"/>
          </p:cNvCxnSpPr>
          <p:nvPr/>
        </p:nvCxnSpPr>
        <p:spPr>
          <a:xfrm flipV="1">
            <a:off x="7120077" y="4202207"/>
            <a:ext cx="1" cy="365228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5" name="Google Shape;2488;p93"/>
          <p:cNvGrpSpPr/>
          <p:nvPr/>
        </p:nvGrpSpPr>
        <p:grpSpPr>
          <a:xfrm>
            <a:off x="6996852" y="2077551"/>
            <a:ext cx="246448" cy="246448"/>
            <a:chOff x="4843325" y="3597375"/>
            <a:chExt cx="393600" cy="393600"/>
          </a:xfrm>
        </p:grpSpPr>
        <p:sp>
          <p:nvSpPr>
            <p:cNvPr id="146" name="Google Shape;2481;p93"/>
            <p:cNvSpPr/>
            <p:nvPr/>
          </p:nvSpPr>
          <p:spPr>
            <a:xfrm>
              <a:off x="4843325" y="3597375"/>
              <a:ext cx="393600" cy="39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Google Shape;2489;p93"/>
            <p:cNvSpPr/>
            <p:nvPr/>
          </p:nvSpPr>
          <p:spPr>
            <a:xfrm>
              <a:off x="4932725" y="3686775"/>
              <a:ext cx="214800" cy="214800"/>
            </a:xfrm>
            <a:prstGeom prst="plus">
              <a:avLst>
                <a:gd name="adj" fmla="val 3743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8" name="Google Shape;2479;p93"/>
          <p:cNvCxnSpPr>
            <a:stCxn id="140" idx="0"/>
            <a:endCxn id="146" idx="4"/>
          </p:cNvCxnSpPr>
          <p:nvPr/>
        </p:nvCxnSpPr>
        <p:spPr>
          <a:xfrm flipH="1" flipV="1">
            <a:off x="7120075" y="2323998"/>
            <a:ext cx="2" cy="209758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" name="Google Shape;2480;p93"/>
          <p:cNvCxnSpPr>
            <a:stCxn id="143" idx="6"/>
            <a:endCxn id="146" idx="6"/>
          </p:cNvCxnSpPr>
          <p:nvPr/>
        </p:nvCxnSpPr>
        <p:spPr>
          <a:xfrm flipV="1">
            <a:off x="7181710" y="2200774"/>
            <a:ext cx="61589" cy="2428295"/>
          </a:xfrm>
          <a:prstGeom prst="curvedConnector3">
            <a:avLst>
              <a:gd name="adj1" fmla="val 274710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TextBox 152"/>
          <p:cNvSpPr txBox="1"/>
          <p:nvPr/>
        </p:nvSpPr>
        <p:spPr>
          <a:xfrm>
            <a:off x="2682913" y="2922886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9HWC</a:t>
            </a:r>
            <a:r>
              <a:rPr kumimoji="0" lang="en-US" sz="15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682913" y="3524860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9HWC</a:t>
            </a:r>
            <a:r>
              <a:rPr kumimoji="0" lang="en-US" sz="15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2611776" y="4487798"/>
            <a:ext cx="1317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FLOPs: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18HWC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Google Shape;2473;p93"/>
          <p:cNvSpPr txBox="1"/>
          <p:nvPr/>
        </p:nvSpPr>
        <p:spPr>
          <a:xfrm>
            <a:off x="6253083" y="4799422"/>
            <a:ext cx="1599491" cy="60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“Bottleneck”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残差块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890861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r>
              <a:rPr lang="en-US" altLang="zh-CN" dirty="0"/>
              <a:t>: Bottleneck </a:t>
            </a:r>
            <a:r>
              <a:rPr lang="zh-CN" altLang="en-US" dirty="0"/>
              <a:t>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409527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CVPR 2016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Google Shape;2473;p93"/>
          <p:cNvSpPr txBox="1"/>
          <p:nvPr/>
        </p:nvSpPr>
        <p:spPr>
          <a:xfrm>
            <a:off x="902158" y="4497751"/>
            <a:ext cx="1599491" cy="60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“Basic”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残差块</a:t>
            </a:r>
          </a:p>
        </p:txBody>
      </p:sp>
      <p:sp>
        <p:nvSpPr>
          <p:cNvPr id="122" name="Google Shape;2474;p93"/>
          <p:cNvSpPr/>
          <p:nvPr/>
        </p:nvSpPr>
        <p:spPr>
          <a:xfrm>
            <a:off x="849776" y="3466382"/>
            <a:ext cx="1704270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3" name="Google Shape;2475;p93"/>
          <p:cNvSpPr/>
          <p:nvPr/>
        </p:nvSpPr>
        <p:spPr>
          <a:xfrm>
            <a:off x="849857" y="2852542"/>
            <a:ext cx="1704175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24" name="Google Shape;2476;p93"/>
          <p:cNvCxnSpPr>
            <a:stCxn id="122" idx="0"/>
            <a:endCxn id="123" idx="2"/>
          </p:cNvCxnSpPr>
          <p:nvPr/>
        </p:nvCxnSpPr>
        <p:spPr>
          <a:xfrm flipV="1">
            <a:off x="1701911" y="3293313"/>
            <a:ext cx="34" cy="17306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2477;p93"/>
          <p:cNvCxnSpPr>
            <a:stCxn id="123" idx="0"/>
            <a:endCxn id="136" idx="4"/>
          </p:cNvCxnSpPr>
          <p:nvPr/>
        </p:nvCxnSpPr>
        <p:spPr>
          <a:xfrm flipH="1" flipV="1">
            <a:off x="1701905" y="2554072"/>
            <a:ext cx="40" cy="29847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2478;p93"/>
          <p:cNvSpPr/>
          <p:nvPr/>
        </p:nvSpPr>
        <p:spPr>
          <a:xfrm>
            <a:off x="1640271" y="4171635"/>
            <a:ext cx="123268" cy="12326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8" name="Google Shape;2479;p93"/>
          <p:cNvCxnSpPr>
            <a:stCxn id="126" idx="0"/>
            <a:endCxn id="122" idx="2"/>
          </p:cNvCxnSpPr>
          <p:nvPr/>
        </p:nvCxnSpPr>
        <p:spPr>
          <a:xfrm flipV="1">
            <a:off x="1701906" y="3907153"/>
            <a:ext cx="5" cy="264482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2480;p93"/>
          <p:cNvCxnSpPr>
            <a:stCxn id="126" idx="2"/>
            <a:endCxn id="136" idx="2"/>
          </p:cNvCxnSpPr>
          <p:nvPr/>
        </p:nvCxnSpPr>
        <p:spPr>
          <a:xfrm rot="10800000">
            <a:off x="1578681" y="2430850"/>
            <a:ext cx="61591" cy="1802420"/>
          </a:xfrm>
          <a:prstGeom prst="curvedConnector3">
            <a:avLst>
              <a:gd name="adj1" fmla="val 208382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2486;p93"/>
          <p:cNvCxnSpPr>
            <a:stCxn id="136" idx="0"/>
          </p:cNvCxnSpPr>
          <p:nvPr/>
        </p:nvCxnSpPr>
        <p:spPr>
          <a:xfrm flipV="1">
            <a:off x="1701905" y="2055229"/>
            <a:ext cx="1390" cy="252395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5" name="Google Shape;2488;p93"/>
          <p:cNvGrpSpPr/>
          <p:nvPr/>
        </p:nvGrpSpPr>
        <p:grpSpPr>
          <a:xfrm>
            <a:off x="1578681" y="2307624"/>
            <a:ext cx="246448" cy="246448"/>
            <a:chOff x="4843325" y="3597375"/>
            <a:chExt cx="393600" cy="393600"/>
          </a:xfrm>
        </p:grpSpPr>
        <p:sp>
          <p:nvSpPr>
            <p:cNvPr id="136" name="Google Shape;2481;p93"/>
            <p:cNvSpPr/>
            <p:nvPr/>
          </p:nvSpPr>
          <p:spPr>
            <a:xfrm>
              <a:off x="4843325" y="3597375"/>
              <a:ext cx="393600" cy="39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Google Shape;2489;p93"/>
            <p:cNvSpPr/>
            <p:nvPr/>
          </p:nvSpPr>
          <p:spPr>
            <a:xfrm>
              <a:off x="4932725" y="3686775"/>
              <a:ext cx="214800" cy="214800"/>
            </a:xfrm>
            <a:prstGeom prst="plus">
              <a:avLst>
                <a:gd name="adj" fmla="val 3743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8" name="Google Shape;2474;p93"/>
          <p:cNvSpPr/>
          <p:nvPr/>
        </p:nvSpPr>
        <p:spPr>
          <a:xfrm>
            <a:off x="6177458" y="3761436"/>
            <a:ext cx="1885238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Conv(1x1, 4C-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9" name="Google Shape;2474;p93"/>
          <p:cNvSpPr/>
          <p:nvPr/>
        </p:nvSpPr>
        <p:spPr>
          <a:xfrm>
            <a:off x="6177458" y="3147596"/>
            <a:ext cx="1885238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Conv(3x3, C-&gt;C)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0" name="Google Shape;2474;p93"/>
          <p:cNvSpPr/>
          <p:nvPr/>
        </p:nvSpPr>
        <p:spPr>
          <a:xfrm>
            <a:off x="6177458" y="2533756"/>
            <a:ext cx="1885238" cy="440771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Helvetica Neue Light"/>
                <a:cs typeface="Helvetica Neue Light"/>
                <a:sym typeface="Helvetica Neue Light"/>
              </a:rPr>
              <a:t>Conv(1x1, C-&gt;4C)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41" name="Google Shape;2476;p93"/>
          <p:cNvCxnSpPr>
            <a:stCxn id="138" idx="0"/>
            <a:endCxn id="139" idx="2"/>
          </p:cNvCxnSpPr>
          <p:nvPr/>
        </p:nvCxnSpPr>
        <p:spPr>
          <a:xfrm flipV="1">
            <a:off x="7120077" y="3588367"/>
            <a:ext cx="0" cy="17306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2476;p93"/>
          <p:cNvCxnSpPr>
            <a:stCxn id="139" idx="0"/>
            <a:endCxn id="140" idx="2"/>
          </p:cNvCxnSpPr>
          <p:nvPr/>
        </p:nvCxnSpPr>
        <p:spPr>
          <a:xfrm flipV="1">
            <a:off x="7120077" y="2974527"/>
            <a:ext cx="0" cy="173069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" name="Google Shape;2478;p93"/>
          <p:cNvSpPr/>
          <p:nvPr/>
        </p:nvSpPr>
        <p:spPr>
          <a:xfrm>
            <a:off x="7058442" y="4567435"/>
            <a:ext cx="123268" cy="12326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4" name="Google Shape;2479;p93"/>
          <p:cNvCxnSpPr>
            <a:stCxn id="143" idx="0"/>
            <a:endCxn id="138" idx="2"/>
          </p:cNvCxnSpPr>
          <p:nvPr/>
        </p:nvCxnSpPr>
        <p:spPr>
          <a:xfrm flipV="1">
            <a:off x="7120077" y="4202207"/>
            <a:ext cx="1" cy="365228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5" name="Google Shape;2488;p93"/>
          <p:cNvGrpSpPr/>
          <p:nvPr/>
        </p:nvGrpSpPr>
        <p:grpSpPr>
          <a:xfrm>
            <a:off x="6996852" y="2077551"/>
            <a:ext cx="246448" cy="246448"/>
            <a:chOff x="4843325" y="3597375"/>
            <a:chExt cx="393600" cy="393600"/>
          </a:xfrm>
        </p:grpSpPr>
        <p:sp>
          <p:nvSpPr>
            <p:cNvPr id="146" name="Google Shape;2481;p93"/>
            <p:cNvSpPr/>
            <p:nvPr/>
          </p:nvSpPr>
          <p:spPr>
            <a:xfrm>
              <a:off x="4843325" y="3597375"/>
              <a:ext cx="393600" cy="393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Google Shape;2489;p93"/>
            <p:cNvSpPr/>
            <p:nvPr/>
          </p:nvSpPr>
          <p:spPr>
            <a:xfrm>
              <a:off x="4932725" y="3686775"/>
              <a:ext cx="214800" cy="214800"/>
            </a:xfrm>
            <a:prstGeom prst="plus">
              <a:avLst>
                <a:gd name="adj" fmla="val 3743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8" name="Google Shape;2479;p93"/>
          <p:cNvCxnSpPr>
            <a:stCxn id="140" idx="0"/>
            <a:endCxn id="146" idx="4"/>
          </p:cNvCxnSpPr>
          <p:nvPr/>
        </p:nvCxnSpPr>
        <p:spPr>
          <a:xfrm flipH="1" flipV="1">
            <a:off x="7120075" y="2323998"/>
            <a:ext cx="2" cy="209758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" name="Google Shape;2480;p93"/>
          <p:cNvCxnSpPr>
            <a:stCxn id="143" idx="6"/>
            <a:endCxn id="146" idx="6"/>
          </p:cNvCxnSpPr>
          <p:nvPr/>
        </p:nvCxnSpPr>
        <p:spPr>
          <a:xfrm flipV="1">
            <a:off x="7181710" y="2200774"/>
            <a:ext cx="61589" cy="2428295"/>
          </a:xfrm>
          <a:prstGeom prst="curvedConnector3">
            <a:avLst>
              <a:gd name="adj1" fmla="val 274710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TextBox 152"/>
          <p:cNvSpPr txBox="1"/>
          <p:nvPr/>
        </p:nvSpPr>
        <p:spPr>
          <a:xfrm>
            <a:off x="2682913" y="2922886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9HWC</a:t>
            </a:r>
            <a:r>
              <a:rPr kumimoji="0" lang="en-US" sz="15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682913" y="3524860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9HWC</a:t>
            </a:r>
            <a:r>
              <a:rPr kumimoji="0" lang="en-US" sz="15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4780427" y="3831780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4HWC</a:t>
            </a:r>
            <a:r>
              <a:rPr kumimoji="0" lang="en-US" sz="15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4780426" y="3213995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9HWC</a:t>
            </a:r>
            <a:r>
              <a:rPr kumimoji="0" lang="en-US" sz="15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780426" y="2604100"/>
            <a:ext cx="1297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 4HWC</a:t>
            </a:r>
            <a:r>
              <a:rPr kumimoji="0" lang="en-US" sz="15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2617033" y="4487798"/>
            <a:ext cx="1306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18HWC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757038" y="4799422"/>
            <a:ext cx="1306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FLOPs: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17HWC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Google Shape;2473;p93"/>
          <p:cNvSpPr txBox="1"/>
          <p:nvPr/>
        </p:nvSpPr>
        <p:spPr>
          <a:xfrm>
            <a:off x="6253083" y="4799422"/>
            <a:ext cx="1599491" cy="60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“Bottleneck”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残差块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305246" y="1794592"/>
            <a:ext cx="309411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更多层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更少的计算开销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442851045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224363"/>
            <a:ext cx="39581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rates are 224x224 single-crop testing, reported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torchvision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2390;p93"/>
          <p:cNvSpPr/>
          <p:nvPr/>
        </p:nvSpPr>
        <p:spPr>
          <a:xfrm>
            <a:off x="7774500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777642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774486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772692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773190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774486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774486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8209523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8189295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8209523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8209540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8189284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8209523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8229773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772679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772679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8207716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8207730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8187879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8207716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8208124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8228275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772679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772679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8207716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8207824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8187879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8207716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8228369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773583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773583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8208620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8208124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8188582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8208620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8228471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771777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771777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8206814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8206728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8187176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8206814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8207421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8227573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771777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771777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8206814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8206821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8187176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8206814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8227666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8208924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8091320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8209642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775389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775389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8210426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8189997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8210242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8189986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8210126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8230476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773583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773583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8208620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8208733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8188582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8208620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8208827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8228977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773583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773583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8208620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8208527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8229073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8190007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8208621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8210252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775416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612" y="2571058"/>
          <a:ext cx="7479256" cy="19535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55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59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355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0503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243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 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Stem layers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FC 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GFLOP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ImageNet top-5 error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1.8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10.92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>
                          <a:effectLst/>
                        </a:rPr>
                        <a:t>3.6</a:t>
                      </a:r>
                      <a:endParaRPr lang="hr-HR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8.58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400" u="none" strike="noStrike" dirty="0">
                          <a:effectLst/>
                        </a:rPr>
                        <a:t>18</a:t>
                      </a:r>
                      <a:endParaRPr lang="fi-FI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>
                          <a:effectLst/>
                        </a:rPr>
                        <a:t>3.8</a:t>
                      </a:r>
                      <a:endParaRPr lang="hr-HR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7.13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23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7.6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6.44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24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>
                          <a:effectLst/>
                        </a:rPr>
                        <a:t>36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108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11.3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5.94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9" name="Rectangle 118"/>
          <p:cNvSpPr/>
          <p:nvPr/>
        </p:nvSpPr>
        <p:spPr>
          <a:xfrm>
            <a:off x="63521" y="3610260"/>
            <a:ext cx="7569029" cy="1112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320120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224363"/>
            <a:ext cx="39581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rates are 224x224 single-crop testing, reported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torchvision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2390;p93"/>
          <p:cNvSpPr/>
          <p:nvPr/>
        </p:nvSpPr>
        <p:spPr>
          <a:xfrm>
            <a:off x="7774500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777642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774486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772692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773190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774486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774486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8209523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8189295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8209523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8209540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8189284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8209523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8229773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772679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772679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8207716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8207730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8187879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8207716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8208124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8228275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772679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772679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8207716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8207824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8187879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8207716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8228369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773583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773583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8208620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8208124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8188582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8208620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8228471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771777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771777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8206814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8206728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8187176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8206814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8207421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8227573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771777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771777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8206814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8206821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8187176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8206814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8227666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8208924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8091320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8209642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775389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775389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8210426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8189997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8210242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8189986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8210126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8230476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773583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773583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8208620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8208733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8188582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8208620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8208827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8228977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773583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773583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8208620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8208527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8229073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8190007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8208621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8210252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775416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612" y="2571058"/>
          <a:ext cx="7479256" cy="19535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55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59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355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0503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243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 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Stem layers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FC 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GFLOP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ImageNet top-5 error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1.8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>
                          <a:effectLst/>
                        </a:rPr>
                        <a:t>10.92</a:t>
                      </a:r>
                      <a:endParaRPr lang="nb-NO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>
                          <a:effectLst/>
                        </a:rPr>
                        <a:t>3.6</a:t>
                      </a:r>
                      <a:endParaRPr lang="hr-HR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8.58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400" u="none" strike="noStrike" dirty="0">
                          <a:effectLst/>
                        </a:rPr>
                        <a:t>18</a:t>
                      </a:r>
                      <a:endParaRPr lang="fi-FI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>
                          <a:effectLst/>
                        </a:rPr>
                        <a:t>3.8</a:t>
                      </a:r>
                      <a:endParaRPr lang="hr-HR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7.13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23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7.6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6.44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24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>
                          <a:effectLst/>
                        </a:rPr>
                        <a:t>36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108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11.3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5.94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9" name="Rectangle 118"/>
          <p:cNvSpPr/>
          <p:nvPr/>
        </p:nvSpPr>
        <p:spPr>
          <a:xfrm>
            <a:off x="63521" y="3810225"/>
            <a:ext cx="7569029" cy="91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4072" y="1905805"/>
            <a:ext cx="54143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ResNet-50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和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ResNet-34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一样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但是将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Basic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块替换为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Bottleneck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块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对于许多任务而言，这是一个最好的基线结果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71062198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224363"/>
            <a:ext cx="39581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CVPR 2016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rates are 224x224 single-crop testing, reported by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torchvision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2390;p93"/>
          <p:cNvSpPr/>
          <p:nvPr/>
        </p:nvSpPr>
        <p:spPr>
          <a:xfrm>
            <a:off x="7774500" y="5259798"/>
            <a:ext cx="870074" cy="92676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Input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2391;p93"/>
          <p:cNvSpPr/>
          <p:nvPr/>
        </p:nvSpPr>
        <p:spPr>
          <a:xfrm>
            <a:off x="7777642" y="1060867"/>
            <a:ext cx="870074" cy="92676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Softmax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2392;p93"/>
          <p:cNvSpPr/>
          <p:nvPr/>
        </p:nvSpPr>
        <p:spPr>
          <a:xfrm>
            <a:off x="7774486" y="464023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" name="Google Shape;2393;p93"/>
          <p:cNvSpPr/>
          <p:nvPr/>
        </p:nvSpPr>
        <p:spPr>
          <a:xfrm>
            <a:off x="7772692" y="5124546"/>
            <a:ext cx="870074" cy="92676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7x7 conv, 64, / 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" name="Google Shape;2394;p93"/>
          <p:cNvSpPr/>
          <p:nvPr/>
        </p:nvSpPr>
        <p:spPr>
          <a:xfrm>
            <a:off x="7773190" y="1196129"/>
            <a:ext cx="870074" cy="9267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FC 1000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" name="Google Shape;2395;p93"/>
          <p:cNvSpPr/>
          <p:nvPr/>
        </p:nvSpPr>
        <p:spPr>
          <a:xfrm>
            <a:off x="7774486" y="4989677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" name="Google Shape;2396;p93"/>
          <p:cNvSpPr/>
          <p:nvPr/>
        </p:nvSpPr>
        <p:spPr>
          <a:xfrm>
            <a:off x="7774486" y="477086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45" name="Google Shape;2397;p93"/>
          <p:cNvCxnSpPr/>
          <p:nvPr/>
        </p:nvCxnSpPr>
        <p:spPr>
          <a:xfrm rot="10800000">
            <a:off x="8209523" y="473277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2398;p93"/>
          <p:cNvSpPr/>
          <p:nvPr/>
        </p:nvSpPr>
        <p:spPr>
          <a:xfrm>
            <a:off x="8189295" y="4905377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Google Shape;2399;p93"/>
          <p:cNvCxnSpPr/>
          <p:nvPr/>
        </p:nvCxnSpPr>
        <p:spPr>
          <a:xfrm rot="10800000">
            <a:off x="8209523" y="4947689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2400;p93"/>
          <p:cNvCxnSpPr/>
          <p:nvPr/>
        </p:nvCxnSpPr>
        <p:spPr>
          <a:xfrm rot="10800000">
            <a:off x="8209540" y="4863388"/>
            <a:ext cx="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401;p93"/>
          <p:cNvSpPr/>
          <p:nvPr/>
        </p:nvSpPr>
        <p:spPr>
          <a:xfrm>
            <a:off x="8189284" y="4562236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0" name="Google Shape;2402;p93"/>
          <p:cNvCxnSpPr/>
          <p:nvPr/>
        </p:nvCxnSpPr>
        <p:spPr>
          <a:xfrm rot="10800000">
            <a:off x="8209523" y="4604548"/>
            <a:ext cx="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2403;p93"/>
          <p:cNvCxnSpPr/>
          <p:nvPr/>
        </p:nvCxnSpPr>
        <p:spPr>
          <a:xfrm>
            <a:off x="8229773" y="4583381"/>
            <a:ext cx="600" cy="343111"/>
          </a:xfrm>
          <a:prstGeom prst="curvedConnector3">
            <a:avLst>
              <a:gd name="adj1" fmla="val 132880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404;p93"/>
          <p:cNvSpPr/>
          <p:nvPr/>
        </p:nvSpPr>
        <p:spPr>
          <a:xfrm>
            <a:off x="7772679" y="430034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" name="Google Shape;2405;p93"/>
          <p:cNvSpPr/>
          <p:nvPr/>
        </p:nvSpPr>
        <p:spPr>
          <a:xfrm>
            <a:off x="7772679" y="4430970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54" name="Google Shape;2406;p93"/>
          <p:cNvCxnSpPr/>
          <p:nvPr/>
        </p:nvCxnSpPr>
        <p:spPr>
          <a:xfrm rot="10800000">
            <a:off x="8207716" y="4392880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2407;p93"/>
          <p:cNvCxnSpPr/>
          <p:nvPr/>
        </p:nvCxnSpPr>
        <p:spPr>
          <a:xfrm rot="10800000">
            <a:off x="8207730" y="4523546"/>
            <a:ext cx="17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408;p93"/>
          <p:cNvSpPr/>
          <p:nvPr/>
        </p:nvSpPr>
        <p:spPr>
          <a:xfrm>
            <a:off x="8187879" y="421743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oogle Shape;2409;p93"/>
          <p:cNvCxnSpPr/>
          <p:nvPr/>
        </p:nvCxnSpPr>
        <p:spPr>
          <a:xfrm rot="10800000" flipH="1">
            <a:off x="8207716" y="4259860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2410;p93"/>
          <p:cNvCxnSpPr/>
          <p:nvPr/>
        </p:nvCxnSpPr>
        <p:spPr>
          <a:xfrm>
            <a:off x="8208124" y="421743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2411;p93"/>
          <p:cNvCxnSpPr/>
          <p:nvPr/>
        </p:nvCxnSpPr>
        <p:spPr>
          <a:xfrm rot="10800000">
            <a:off x="8228275" y="4238471"/>
            <a:ext cx="1499" cy="344910"/>
          </a:xfrm>
          <a:prstGeom prst="curvedConnector3">
            <a:avLst>
              <a:gd name="adj1" fmla="val -531523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2412;p93"/>
          <p:cNvSpPr/>
          <p:nvPr/>
        </p:nvSpPr>
        <p:spPr>
          <a:xfrm>
            <a:off x="7772679" y="3955488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" name="Google Shape;2413;p93"/>
          <p:cNvSpPr/>
          <p:nvPr/>
        </p:nvSpPr>
        <p:spPr>
          <a:xfrm>
            <a:off x="7772679" y="4086109"/>
            <a:ext cx="870074" cy="92676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741B47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64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741B47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2" name="Google Shape;2414;p93"/>
          <p:cNvCxnSpPr/>
          <p:nvPr/>
        </p:nvCxnSpPr>
        <p:spPr>
          <a:xfrm rot="10800000">
            <a:off x="8207716" y="404801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415;p93"/>
          <p:cNvCxnSpPr/>
          <p:nvPr/>
        </p:nvCxnSpPr>
        <p:spPr>
          <a:xfrm rot="10800000">
            <a:off x="8207824" y="4178749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2416;p93"/>
          <p:cNvSpPr/>
          <p:nvPr/>
        </p:nvSpPr>
        <p:spPr>
          <a:xfrm>
            <a:off x="8187879" y="387735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5" name="Google Shape;2417;p93"/>
          <p:cNvCxnSpPr/>
          <p:nvPr/>
        </p:nvCxnSpPr>
        <p:spPr>
          <a:xfrm rot="10800000" flipH="1">
            <a:off x="8207716" y="3919497"/>
            <a:ext cx="3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8;p93"/>
          <p:cNvCxnSpPr/>
          <p:nvPr/>
        </p:nvCxnSpPr>
        <p:spPr>
          <a:xfrm rot="10800000" flipH="1">
            <a:off x="8228369" y="3898471"/>
            <a:ext cx="600" cy="340112"/>
          </a:xfrm>
          <a:prstGeom prst="curvedConnector3">
            <a:avLst>
              <a:gd name="adj1" fmla="val 130260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2419;p93"/>
          <p:cNvSpPr/>
          <p:nvPr/>
        </p:nvSpPr>
        <p:spPr>
          <a:xfrm>
            <a:off x="7773583" y="361196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" name="Google Shape;2420;p93"/>
          <p:cNvSpPr/>
          <p:nvPr/>
        </p:nvSpPr>
        <p:spPr>
          <a:xfrm>
            <a:off x="7773583" y="3742587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128, / 2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69" name="Google Shape;2421;p93"/>
          <p:cNvCxnSpPr/>
          <p:nvPr/>
        </p:nvCxnSpPr>
        <p:spPr>
          <a:xfrm rot="10800000">
            <a:off x="8208620" y="3704498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22;p93"/>
          <p:cNvCxnSpPr/>
          <p:nvPr/>
        </p:nvCxnSpPr>
        <p:spPr>
          <a:xfrm rot="10800000" flipH="1">
            <a:off x="8208124" y="3835368"/>
            <a:ext cx="600" cy="41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2423;p93"/>
          <p:cNvSpPr/>
          <p:nvPr/>
        </p:nvSpPr>
        <p:spPr>
          <a:xfrm>
            <a:off x="8188582" y="353396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Google Shape;2424;p93"/>
          <p:cNvCxnSpPr/>
          <p:nvPr/>
        </p:nvCxnSpPr>
        <p:spPr>
          <a:xfrm rot="10800000" flipH="1">
            <a:off x="8208620" y="3576275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425;p93"/>
          <p:cNvCxnSpPr/>
          <p:nvPr/>
        </p:nvCxnSpPr>
        <p:spPr>
          <a:xfrm flipH="1">
            <a:off x="8228471" y="3555106"/>
            <a:ext cx="600" cy="343411"/>
          </a:xfrm>
          <a:prstGeom prst="curvedConnector3">
            <a:avLst>
              <a:gd name="adj1" fmla="val -13299804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26;p93"/>
          <p:cNvSpPr/>
          <p:nvPr/>
        </p:nvSpPr>
        <p:spPr>
          <a:xfrm>
            <a:off x="7771777" y="327207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2427;p93"/>
          <p:cNvSpPr/>
          <p:nvPr/>
        </p:nvSpPr>
        <p:spPr>
          <a:xfrm>
            <a:off x="7771777" y="3402698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76" name="Google Shape;2428;p93"/>
          <p:cNvCxnSpPr/>
          <p:nvPr/>
        </p:nvCxnSpPr>
        <p:spPr>
          <a:xfrm rot="10800000">
            <a:off x="8206814" y="3364609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2429;p93"/>
          <p:cNvCxnSpPr/>
          <p:nvPr/>
        </p:nvCxnSpPr>
        <p:spPr>
          <a:xfrm rot="10800000">
            <a:off x="8206728" y="3495272"/>
            <a:ext cx="20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2430;p93"/>
          <p:cNvSpPr/>
          <p:nvPr/>
        </p:nvSpPr>
        <p:spPr>
          <a:xfrm>
            <a:off x="8187176" y="3189164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Google Shape;2431;p93"/>
          <p:cNvCxnSpPr/>
          <p:nvPr/>
        </p:nvCxnSpPr>
        <p:spPr>
          <a:xfrm rot="10800000" flipH="1">
            <a:off x="8206814" y="3231586"/>
            <a:ext cx="6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2432;p93"/>
          <p:cNvCxnSpPr/>
          <p:nvPr/>
        </p:nvCxnSpPr>
        <p:spPr>
          <a:xfrm>
            <a:off x="8207421" y="318916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433;p93"/>
          <p:cNvCxnSpPr/>
          <p:nvPr/>
        </p:nvCxnSpPr>
        <p:spPr>
          <a:xfrm rot="10800000">
            <a:off x="8227573" y="3210196"/>
            <a:ext cx="1499" cy="344910"/>
          </a:xfrm>
          <a:prstGeom prst="curvedConnector3">
            <a:avLst>
              <a:gd name="adj1" fmla="val -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2434;p93"/>
          <p:cNvSpPr/>
          <p:nvPr/>
        </p:nvSpPr>
        <p:spPr>
          <a:xfrm>
            <a:off x="7771777" y="292721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3" name="Google Shape;2435;p93"/>
          <p:cNvSpPr/>
          <p:nvPr/>
        </p:nvSpPr>
        <p:spPr>
          <a:xfrm>
            <a:off x="7771777" y="3057836"/>
            <a:ext cx="870074" cy="9267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128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84" name="Google Shape;2436;p93"/>
          <p:cNvCxnSpPr/>
          <p:nvPr/>
        </p:nvCxnSpPr>
        <p:spPr>
          <a:xfrm rot="10800000">
            <a:off x="8206814" y="301974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437;p93"/>
          <p:cNvCxnSpPr/>
          <p:nvPr/>
        </p:nvCxnSpPr>
        <p:spPr>
          <a:xfrm rot="10800000">
            <a:off x="8206821" y="3150474"/>
            <a:ext cx="6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438;p93"/>
          <p:cNvSpPr/>
          <p:nvPr/>
        </p:nvSpPr>
        <p:spPr>
          <a:xfrm>
            <a:off x="8187176" y="284908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Google Shape;2439;p93"/>
          <p:cNvCxnSpPr/>
          <p:nvPr/>
        </p:nvCxnSpPr>
        <p:spPr>
          <a:xfrm rot="10800000" flipH="1">
            <a:off x="8206814" y="2891225"/>
            <a:ext cx="600" cy="359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2440;p93"/>
          <p:cNvCxnSpPr/>
          <p:nvPr/>
        </p:nvCxnSpPr>
        <p:spPr>
          <a:xfrm rot="10800000" flipH="1">
            <a:off x="8227666" y="2870197"/>
            <a:ext cx="600" cy="340112"/>
          </a:xfrm>
          <a:prstGeom prst="curvedConnector3">
            <a:avLst>
              <a:gd name="adj1" fmla="val 1332322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441;p93"/>
          <p:cNvCxnSpPr/>
          <p:nvPr/>
        </p:nvCxnSpPr>
        <p:spPr>
          <a:xfrm rot="10800000" flipH="1">
            <a:off x="8208924" y="2735599"/>
            <a:ext cx="300" cy="117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2442;p93"/>
          <p:cNvSpPr txBox="1"/>
          <p:nvPr/>
        </p:nvSpPr>
        <p:spPr>
          <a:xfrm>
            <a:off x="8091320" y="2528906"/>
            <a:ext cx="258833" cy="1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Google Shape;2443;p93"/>
          <p:cNvCxnSpPr/>
          <p:nvPr/>
        </p:nvCxnSpPr>
        <p:spPr>
          <a:xfrm rot="10800000" flipH="1">
            <a:off x="8209642" y="2553118"/>
            <a:ext cx="600" cy="12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2445;p93"/>
          <p:cNvSpPr/>
          <p:nvPr/>
        </p:nvSpPr>
        <p:spPr>
          <a:xfrm>
            <a:off x="7775389" y="224569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3" name="Google Shape;2446;p93"/>
          <p:cNvSpPr/>
          <p:nvPr/>
        </p:nvSpPr>
        <p:spPr>
          <a:xfrm>
            <a:off x="7775389" y="237631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512, /2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4" name="Google Shape;2447;p93"/>
          <p:cNvCxnSpPr/>
          <p:nvPr/>
        </p:nvCxnSpPr>
        <p:spPr>
          <a:xfrm rot="10800000">
            <a:off x="8210426" y="233822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2444;p93"/>
          <p:cNvSpPr/>
          <p:nvPr/>
        </p:nvSpPr>
        <p:spPr>
          <a:xfrm>
            <a:off x="8189997" y="2510829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Google Shape;2448;p93"/>
          <p:cNvCxnSpPr/>
          <p:nvPr/>
        </p:nvCxnSpPr>
        <p:spPr>
          <a:xfrm rot="10800000" flipH="1">
            <a:off x="8210242" y="2469139"/>
            <a:ext cx="300" cy="4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2449;p93"/>
          <p:cNvSpPr/>
          <p:nvPr/>
        </p:nvSpPr>
        <p:spPr>
          <a:xfrm>
            <a:off x="8189986" y="2167688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Google Shape;2450;p93"/>
          <p:cNvCxnSpPr/>
          <p:nvPr/>
        </p:nvCxnSpPr>
        <p:spPr>
          <a:xfrm rot="10800000">
            <a:off x="8210126" y="2210003"/>
            <a:ext cx="300" cy="3569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2451;p93"/>
          <p:cNvCxnSpPr/>
          <p:nvPr/>
        </p:nvCxnSpPr>
        <p:spPr>
          <a:xfrm>
            <a:off x="8230476" y="2188833"/>
            <a:ext cx="600" cy="343111"/>
          </a:xfrm>
          <a:prstGeom prst="curvedConnector3">
            <a:avLst>
              <a:gd name="adj1" fmla="val 12987048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2452;p93"/>
          <p:cNvSpPr/>
          <p:nvPr/>
        </p:nvSpPr>
        <p:spPr>
          <a:xfrm>
            <a:off x="7773583" y="1905805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2453;p93"/>
          <p:cNvSpPr/>
          <p:nvPr/>
        </p:nvSpPr>
        <p:spPr>
          <a:xfrm>
            <a:off x="7773583" y="2036427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2" name="Google Shape;2454;p93"/>
          <p:cNvCxnSpPr/>
          <p:nvPr/>
        </p:nvCxnSpPr>
        <p:spPr>
          <a:xfrm rot="10800000">
            <a:off x="8208620" y="1998337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2455;p93"/>
          <p:cNvCxnSpPr/>
          <p:nvPr/>
        </p:nvCxnSpPr>
        <p:spPr>
          <a:xfrm rot="10800000">
            <a:off x="8208733" y="2128998"/>
            <a:ext cx="1499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2456;p93"/>
          <p:cNvSpPr/>
          <p:nvPr/>
        </p:nvSpPr>
        <p:spPr>
          <a:xfrm>
            <a:off x="8188582" y="1822890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Google Shape;2457;p93"/>
          <p:cNvCxnSpPr/>
          <p:nvPr/>
        </p:nvCxnSpPr>
        <p:spPr>
          <a:xfrm rot="10800000" flipH="1">
            <a:off x="8208620" y="1865315"/>
            <a:ext cx="300" cy="404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2458;p93"/>
          <p:cNvCxnSpPr/>
          <p:nvPr/>
        </p:nvCxnSpPr>
        <p:spPr>
          <a:xfrm>
            <a:off x="8208827" y="182288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2459;p93"/>
          <p:cNvCxnSpPr/>
          <p:nvPr/>
        </p:nvCxnSpPr>
        <p:spPr>
          <a:xfrm rot="10800000">
            <a:off x="8228977" y="1843922"/>
            <a:ext cx="1499" cy="344910"/>
          </a:xfrm>
          <a:prstGeom prst="curvedConnector3">
            <a:avLst>
              <a:gd name="adj1" fmla="val -519638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2460;p93"/>
          <p:cNvSpPr/>
          <p:nvPr/>
        </p:nvSpPr>
        <p:spPr>
          <a:xfrm>
            <a:off x="7773583" y="1560944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" name="Google Shape;2461;p93"/>
          <p:cNvSpPr/>
          <p:nvPr/>
        </p:nvSpPr>
        <p:spPr>
          <a:xfrm>
            <a:off x="7773583" y="1691566"/>
            <a:ext cx="870074" cy="9267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3x3 conv, 512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0" name="Google Shape;2462;p93"/>
          <p:cNvCxnSpPr/>
          <p:nvPr/>
        </p:nvCxnSpPr>
        <p:spPr>
          <a:xfrm rot="10800000">
            <a:off x="8208620" y="1653476"/>
            <a:ext cx="0" cy="380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2463;p93"/>
          <p:cNvCxnSpPr/>
          <p:nvPr/>
        </p:nvCxnSpPr>
        <p:spPr>
          <a:xfrm rot="10800000">
            <a:off x="8208527" y="1784200"/>
            <a:ext cx="300" cy="38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2464;p93"/>
          <p:cNvCxnSpPr/>
          <p:nvPr/>
        </p:nvCxnSpPr>
        <p:spPr>
          <a:xfrm rot="10800000" flipH="1">
            <a:off x="8229073" y="1492225"/>
            <a:ext cx="1499" cy="351809"/>
          </a:xfrm>
          <a:prstGeom prst="curvedConnector3">
            <a:avLst>
              <a:gd name="adj1" fmla="val 520575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2465;p93"/>
          <p:cNvSpPr/>
          <p:nvPr/>
        </p:nvSpPr>
        <p:spPr>
          <a:xfrm>
            <a:off x="8190007" y="1471102"/>
            <a:ext cx="40490" cy="4228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Google Shape;2466;p93"/>
          <p:cNvCxnSpPr/>
          <p:nvPr/>
        </p:nvCxnSpPr>
        <p:spPr>
          <a:xfrm rot="10800000" flipH="1">
            <a:off x="8208621" y="1513258"/>
            <a:ext cx="1499" cy="47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2467;p93"/>
          <p:cNvCxnSpPr/>
          <p:nvPr/>
        </p:nvCxnSpPr>
        <p:spPr>
          <a:xfrm rot="10800000" flipH="1">
            <a:off x="8210252" y="1423715"/>
            <a:ext cx="300" cy="473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2468;p93"/>
          <p:cNvSpPr/>
          <p:nvPr/>
        </p:nvSpPr>
        <p:spPr>
          <a:xfrm>
            <a:off x="7775416" y="1331069"/>
            <a:ext cx="870074" cy="92676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Pool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612" y="2571058"/>
          <a:ext cx="7479256" cy="19535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6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8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55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59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355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0503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Stage 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243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 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Stem layers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Blocks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FC layers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GFLOP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ImageNet top-5 error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1.8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>
                          <a:effectLst/>
                        </a:rPr>
                        <a:t>10.92</a:t>
                      </a:r>
                      <a:endParaRPr lang="nb-NO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Basic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>
                          <a:effectLst/>
                        </a:rPr>
                        <a:t>3.6</a:t>
                      </a:r>
                      <a:endParaRPr lang="hr-HR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8.58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i-FI" sz="1400" u="none" strike="noStrike" dirty="0">
                          <a:effectLst/>
                        </a:rPr>
                        <a:t>18</a:t>
                      </a:r>
                      <a:endParaRPr lang="fi-FI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>
                          <a:effectLst/>
                        </a:rPr>
                        <a:t>3.8</a:t>
                      </a:r>
                      <a:endParaRPr lang="hr-HR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7.13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>
                          <a:effectLst/>
                        </a:rPr>
                        <a:t>23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7.6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400" u="none" strike="noStrike" dirty="0">
                          <a:effectLst/>
                        </a:rPr>
                        <a:t>6.44</a:t>
                      </a:r>
                      <a:endParaRPr lang="hr-H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5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ResNet-152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Bottle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24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400" u="none" strike="noStrike">
                          <a:effectLst/>
                        </a:rPr>
                        <a:t>36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400" u="none" strike="noStrike" dirty="0">
                          <a:effectLst/>
                        </a:rPr>
                        <a:t>108</a:t>
                      </a:r>
                      <a:endParaRPr lang="is-I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11.3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400" u="none" strike="noStrike" dirty="0">
                          <a:effectLst/>
                        </a:rPr>
                        <a:t>5.94</a:t>
                      </a:r>
                      <a:endParaRPr lang="nb-N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4763" marR="4763" marT="4763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32095" y="1891424"/>
            <a:ext cx="4305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更深的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ResNet-101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和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ResNet-152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模型更精确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但是计算量也相应增加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591907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5379804"/>
            <a:ext cx="3958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et al, “Deep Residual Learning for Image Recognition”,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CVPR 2016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7" name="Google Shape;2989;p102"/>
          <p:cNvPicPr preferRelativeResize="0"/>
          <p:nvPr/>
        </p:nvPicPr>
        <p:blipFill rotWithShape="1">
          <a:blip r:embed="rId2">
            <a:alphaModFix/>
          </a:blip>
          <a:srcRect t="9517" b="20090"/>
          <a:stretch/>
        </p:blipFill>
        <p:spPr>
          <a:xfrm>
            <a:off x="3969193" y="2292909"/>
            <a:ext cx="5053784" cy="205516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" name="TextBox 6"/>
          <p:cNvSpPr txBox="1"/>
          <p:nvPr/>
        </p:nvSpPr>
        <p:spPr>
          <a:xfrm>
            <a:off x="75842" y="2593369"/>
            <a:ext cx="3743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marR="0" lvl="0" indent="-33011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Tx/>
              <a:buChar char="-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能够训练非常深的网络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3011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Tx/>
              <a:buChar char="-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网络变深性能能够变好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3011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Tx/>
              <a:buChar char="-"/>
              <a:tabLst/>
              <a:defRPr/>
            </a:pP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所有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ILSVRC </a:t>
            </a: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和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COCO 2015 </a:t>
            </a: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竞赛横扫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</a:t>
            </a:r>
            <a:r>
              <a:rPr kumimoji="0" lang="e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086" marR="0" lvl="0" indent="-33011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Tx/>
              <a:buChar char="-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今天仍然广泛应用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33854513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6.3.1.ImageNet</a:t>
            </a:r>
            <a:r>
              <a:rPr lang="zh-CN" altLang="en-US" dirty="0"/>
              <a:t>分类挑战</a:t>
            </a:r>
            <a:endParaRPr lang="en-US" altLang="zh-CN" dirty="0"/>
          </a:p>
          <a:p>
            <a:r>
              <a:rPr lang="en-US" altLang="zh-CN" dirty="0"/>
              <a:t>6.3.2.AlexNet</a:t>
            </a:r>
            <a:endParaRPr lang="en-US" dirty="0"/>
          </a:p>
          <a:p>
            <a:r>
              <a:rPr lang="en-US" altLang="zh-CN" dirty="0"/>
              <a:t>6.3.3.VGG</a:t>
            </a:r>
          </a:p>
          <a:p>
            <a:r>
              <a:rPr lang="en-US" altLang="zh-CN" dirty="0"/>
              <a:t>6.3.4.GoogleNet</a:t>
            </a:r>
          </a:p>
          <a:p>
            <a:r>
              <a:rPr lang="en-US" altLang="zh-CN" dirty="0"/>
              <a:t>6.3.5.Residual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6.3.6.</a:t>
            </a:r>
            <a:r>
              <a:rPr lang="zh-CN" altLang="en-US" dirty="0">
                <a:solidFill>
                  <a:srgbClr val="00B050"/>
                </a:solidFill>
              </a:rPr>
              <a:t>不同网络比较及改进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302152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复杂度比较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99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852" y="2024001"/>
            <a:ext cx="8505115" cy="30553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6137" y="5399666"/>
            <a:ext cx="44406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Canziani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“An analysis of deep neural network models for practical applications”, 2017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3E759-F207-4E4F-9E5B-E1E3847AB290}"/>
              </a:ext>
            </a:extLst>
          </p:cNvPr>
          <p:cNvSpPr txBox="1"/>
          <p:nvPr/>
        </p:nvSpPr>
        <p:spPr>
          <a:xfrm>
            <a:off x="5008228" y="5079343"/>
            <a:ext cx="22398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BN: 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批归一化版本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296195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复杂度比较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99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852" y="2024001"/>
            <a:ext cx="8505115" cy="30553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6137" y="5399666"/>
            <a:ext cx="44406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Canziani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“An analysis of deep neural network models for practical applications”, 2017</a:t>
            </a:r>
          </a:p>
        </p:txBody>
      </p:sp>
      <p:sp>
        <p:nvSpPr>
          <p:cNvPr id="6" name="Google Shape;3010;p104"/>
          <p:cNvSpPr txBox="1"/>
          <p:nvPr/>
        </p:nvSpPr>
        <p:spPr>
          <a:xfrm>
            <a:off x="3805983" y="1515397"/>
            <a:ext cx="3808708" cy="86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Inception-v4: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Inception!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Google Shape;3011;p104"/>
          <p:cNvCxnSpPr/>
          <p:nvPr/>
        </p:nvCxnSpPr>
        <p:spPr>
          <a:xfrm flipH="1">
            <a:off x="4163016" y="1905609"/>
            <a:ext cx="94175" cy="299622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F65364-4E68-47B1-B9AD-150D637AC919}"/>
              </a:ext>
            </a:extLst>
          </p:cNvPr>
          <p:cNvSpPr txBox="1"/>
          <p:nvPr/>
        </p:nvSpPr>
        <p:spPr>
          <a:xfrm>
            <a:off x="5008228" y="5079343"/>
            <a:ext cx="22398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BN: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批归一化版本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626719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复杂度比较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99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852" y="2024001"/>
            <a:ext cx="8505115" cy="30553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6137" y="5399666"/>
            <a:ext cx="44406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Canziani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“An analysis of deep neural network models for practical applications”, 2017</a:t>
            </a:r>
          </a:p>
        </p:txBody>
      </p:sp>
      <p:sp>
        <p:nvSpPr>
          <p:cNvPr id="8" name="Google Shape;3021;p105"/>
          <p:cNvSpPr txBox="1"/>
          <p:nvPr/>
        </p:nvSpPr>
        <p:spPr>
          <a:xfrm>
            <a:off x="7343587" y="1205425"/>
            <a:ext cx="1874212" cy="86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VGG: </a:t>
            </a:r>
            <a:r>
              <a:rPr kumimoji="0" lang="zh-CN" altLang="e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高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存储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最多的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3022;p105"/>
          <p:cNvCxnSpPr/>
          <p:nvPr/>
        </p:nvCxnSpPr>
        <p:spPr>
          <a:xfrm flipH="1">
            <a:off x="8027895" y="2066625"/>
            <a:ext cx="45053" cy="476886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2812A43-C540-49D6-BAAF-7BE6D9D2FF5C}"/>
              </a:ext>
            </a:extLst>
          </p:cNvPr>
          <p:cNvSpPr txBox="1"/>
          <p:nvPr/>
        </p:nvSpPr>
        <p:spPr>
          <a:xfrm>
            <a:off x="5008228" y="5079343"/>
            <a:ext cx="22398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BN: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批归一化版本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421687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复杂度比较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99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852" y="2024001"/>
            <a:ext cx="8505115" cy="30553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6137" y="5399666"/>
            <a:ext cx="44406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Canziani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“An analysis of deep neural network models for practical applications”, 2017</a:t>
            </a:r>
          </a:p>
        </p:txBody>
      </p:sp>
      <p:sp>
        <p:nvSpPr>
          <p:cNvPr id="8" name="Google Shape;3021;p105"/>
          <p:cNvSpPr txBox="1"/>
          <p:nvPr/>
        </p:nvSpPr>
        <p:spPr>
          <a:xfrm>
            <a:off x="4697206" y="1269241"/>
            <a:ext cx="1402379" cy="86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GoogLeNet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非常高效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3022;p105"/>
          <p:cNvCxnSpPr/>
          <p:nvPr/>
        </p:nvCxnSpPr>
        <p:spPr>
          <a:xfrm flipH="1">
            <a:off x="5268558" y="1954531"/>
            <a:ext cx="16137" cy="1032734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340426-B207-4822-951C-995BCA738DFE}"/>
              </a:ext>
            </a:extLst>
          </p:cNvPr>
          <p:cNvSpPr txBox="1"/>
          <p:nvPr/>
        </p:nvSpPr>
        <p:spPr>
          <a:xfrm>
            <a:off x="5008228" y="5079343"/>
            <a:ext cx="22398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BN: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批归一化版本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706736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复杂度比较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99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852" y="2024001"/>
            <a:ext cx="8505115" cy="30553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6137" y="5399666"/>
            <a:ext cx="44406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Canziani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“An analysis of deep neural network models for practical applications”, 2017</a:t>
            </a:r>
          </a:p>
        </p:txBody>
      </p:sp>
      <p:sp>
        <p:nvSpPr>
          <p:cNvPr id="8" name="Google Shape;3021;p105"/>
          <p:cNvSpPr txBox="1"/>
          <p:nvPr/>
        </p:nvSpPr>
        <p:spPr>
          <a:xfrm>
            <a:off x="4697206" y="1120392"/>
            <a:ext cx="1402379" cy="86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低计算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参数规模大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3022;p105"/>
          <p:cNvCxnSpPr/>
          <p:nvPr/>
        </p:nvCxnSpPr>
        <p:spPr>
          <a:xfrm flipH="1">
            <a:off x="5131399" y="1954453"/>
            <a:ext cx="48410" cy="1871908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161EA5-9F1D-48A7-A37D-602DCF453B7D}"/>
              </a:ext>
            </a:extLst>
          </p:cNvPr>
          <p:cNvSpPr txBox="1"/>
          <p:nvPr/>
        </p:nvSpPr>
        <p:spPr>
          <a:xfrm>
            <a:off x="5008228" y="5079343"/>
            <a:ext cx="22398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BN: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批归一化版本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981744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复杂度比较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8 -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299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852" y="2024001"/>
            <a:ext cx="8505115" cy="30553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6137" y="5399666"/>
            <a:ext cx="44406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Canziani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“An analysis of deep neural network models for practical applications”, 2017</a:t>
            </a:r>
          </a:p>
        </p:txBody>
      </p:sp>
      <p:sp>
        <p:nvSpPr>
          <p:cNvPr id="8" name="Google Shape;3021;p105"/>
          <p:cNvSpPr txBox="1"/>
          <p:nvPr/>
        </p:nvSpPr>
        <p:spPr>
          <a:xfrm>
            <a:off x="5754144" y="834804"/>
            <a:ext cx="2088181" cy="86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设计简单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中等效率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高精确度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Google Shape;3022;p105"/>
          <p:cNvCxnSpPr/>
          <p:nvPr/>
        </p:nvCxnSpPr>
        <p:spPr>
          <a:xfrm flipH="1">
            <a:off x="5736516" y="1741049"/>
            <a:ext cx="138653" cy="649166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3022;p105"/>
          <p:cNvCxnSpPr/>
          <p:nvPr/>
        </p:nvCxnSpPr>
        <p:spPr>
          <a:xfrm flipH="1">
            <a:off x="6360607" y="1688279"/>
            <a:ext cx="45572" cy="505936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3022;p105"/>
          <p:cNvCxnSpPr/>
          <p:nvPr/>
        </p:nvCxnSpPr>
        <p:spPr>
          <a:xfrm>
            <a:off x="6914479" y="1712484"/>
            <a:ext cx="107798" cy="505169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B53742-FB3C-4A3B-B182-6AE6FA3908CB}"/>
              </a:ext>
            </a:extLst>
          </p:cNvPr>
          <p:cNvSpPr txBox="1"/>
          <p:nvPr/>
        </p:nvSpPr>
        <p:spPr>
          <a:xfrm>
            <a:off x="5008228" y="5079343"/>
            <a:ext cx="22398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BN: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批归一化版本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129564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A59DBD8-7E5F-4BCF-B31A-1319E25A9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本章小结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FB9E47A-35B0-416F-B133-81C1ABF6C7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038600" cy="49971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多层神经网络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特征变换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线性分类器级联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神经网络的组成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激活函数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神经元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Sigmoid</a:t>
            </a:r>
            <a:r>
              <a:rPr lang="zh-CN" altLang="en-US" sz="2000" dirty="0"/>
              <a:t>激活函数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线性修正单元</a:t>
            </a:r>
            <a:endParaRPr lang="zh-CN" altLang="zh-CN" sz="20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后向传播算法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计算图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梯度后向传播计算方法</a:t>
            </a: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zh-CN" alt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230A67-75CE-4841-84A3-40E8C5B6107F}"/>
              </a:ext>
            </a:extLst>
          </p:cNvPr>
          <p:cNvSpPr txBox="1">
            <a:spLocks noChangeArrowheads="1"/>
          </p:cNvSpPr>
          <p:nvPr/>
        </p:nvSpPr>
        <p:spPr>
          <a:xfrm>
            <a:off x="4267200" y="1583162"/>
            <a:ext cx="4038600" cy="4997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/>
              <a:t>卷积神经网络的成分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zh-CN" altLang="en-US" sz="2000"/>
              <a:t>卷积网络目的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卷积网络组成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卷积层</a:t>
            </a:r>
            <a:endParaRPr lang="en-US" altLang="zh-CN" sz="2000"/>
          </a:p>
          <a:p>
            <a:pPr lvl="1">
              <a:lnSpc>
                <a:spcPct val="90000"/>
              </a:lnSpc>
            </a:pPr>
            <a:r>
              <a:rPr lang="zh-CN" altLang="en-US" sz="2000"/>
              <a:t>卷积参数</a:t>
            </a:r>
          </a:p>
          <a:p>
            <a:pPr lvl="1">
              <a:lnSpc>
                <a:spcPct val="90000"/>
              </a:lnSpc>
            </a:pPr>
            <a:r>
              <a:rPr lang="en-US" altLang="zh-CN" sz="2000"/>
              <a:t>1</a:t>
            </a:r>
            <a:r>
              <a:rPr lang="zh-CN" altLang="en-US" sz="2000"/>
              <a:t>维卷积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感受野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400"/>
              <a:t>池化和归一化</a:t>
            </a:r>
            <a:endParaRPr lang="en-US" altLang="zh-CN" sz="2000"/>
          </a:p>
          <a:p>
            <a:pPr lvl="1">
              <a:lnSpc>
                <a:spcPct val="90000"/>
              </a:lnSpc>
            </a:pPr>
            <a:r>
              <a:rPr lang="zh-CN" altLang="en-US" sz="2000"/>
              <a:t>池化参数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批归一化目的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不同归一化操作</a:t>
            </a:r>
            <a:endParaRPr lang="en-US" altLang="zh-CN" sz="2000"/>
          </a:p>
          <a:p>
            <a:pPr marL="0" indent="0">
              <a:buFont typeface="Arial" pitchFamily="34" charset="0"/>
              <a:buNone/>
            </a:pPr>
            <a:endParaRPr lang="zh-CN" altLang="zh-CN" sz="2000"/>
          </a:p>
          <a:p>
            <a:pPr lvl="1">
              <a:lnSpc>
                <a:spcPct val="90000"/>
              </a:lnSpc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3436213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8" y="2845993"/>
            <a:ext cx="3378163" cy="16220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2262307"/>
            <a:ext cx="35285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特征变换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线性分类器允许非线性决策边界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219" y="2856818"/>
            <a:ext cx="4917559" cy="205068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746856" y="2304115"/>
            <a:ext cx="360028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神经网络作为可学习的特征变换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095646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12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0969" y="2723716"/>
            <a:ext cx="3026252" cy="42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21" y="3218763"/>
            <a:ext cx="3960628" cy="17574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8573" y="1979024"/>
            <a:ext cx="1903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从线性分类器到全连接层网络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7" t="1618" r="1061" b="4910"/>
          <a:stretch/>
        </p:blipFill>
        <p:spPr>
          <a:xfrm>
            <a:off x="5600701" y="3160981"/>
            <a:ext cx="2212622" cy="2208032"/>
          </a:xfrm>
          <a:prstGeom prst="rect">
            <a:avLst/>
          </a:prstGeom>
        </p:spPr>
      </p:pic>
      <p:pic>
        <p:nvPicPr>
          <p:cNvPr id="20" name="Google Shape;449;p61"/>
          <p:cNvPicPr preferRelativeResize="0"/>
          <p:nvPr/>
        </p:nvPicPr>
        <p:blipFill rotWithShape="1">
          <a:blip r:embed="rId5">
            <a:alphaModFix/>
          </a:blip>
          <a:srcRect r="50136"/>
          <a:stretch/>
        </p:blipFill>
        <p:spPr>
          <a:xfrm>
            <a:off x="5556977" y="1552028"/>
            <a:ext cx="2151751" cy="45646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pic>
        <p:nvPicPr>
          <p:cNvPr id="21" name="Google Shape;449;p61"/>
          <p:cNvPicPr preferRelativeResize="0"/>
          <p:nvPr/>
        </p:nvPicPr>
        <p:blipFill rotWithShape="1">
          <a:blip r:embed="rId5">
            <a:alphaModFix/>
          </a:blip>
          <a:srcRect l="49899" r="-15"/>
          <a:stretch/>
        </p:blipFill>
        <p:spPr>
          <a:xfrm>
            <a:off x="5551538" y="2052577"/>
            <a:ext cx="2162627" cy="45646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22" name="TextBox 21"/>
          <p:cNvSpPr txBox="1"/>
          <p:nvPr/>
        </p:nvSpPr>
        <p:spPr>
          <a:xfrm>
            <a:off x="5170889" y="1230941"/>
            <a:ext cx="218681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线性分类器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每类一个模板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2202" y="2866221"/>
            <a:ext cx="21739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神经网络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许多可重复模板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3119519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94" y="2538553"/>
            <a:ext cx="4177745" cy="1426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4986" y="1619779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计算图表示方法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4311" y="4209779"/>
            <a:ext cx="16120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前向计算输出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后向计算梯度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Google Shape;1212;p104"/>
          <p:cNvCxnSpPr/>
          <p:nvPr/>
        </p:nvCxnSpPr>
        <p:spPr>
          <a:xfrm>
            <a:off x="525614" y="4157528"/>
            <a:ext cx="3229958" cy="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1216;p104"/>
          <p:cNvCxnSpPr/>
          <p:nvPr/>
        </p:nvCxnSpPr>
        <p:spPr>
          <a:xfrm flipH="1">
            <a:off x="467046" y="4780075"/>
            <a:ext cx="341915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160" y="2800989"/>
            <a:ext cx="4270331" cy="23090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90857" y="1651919"/>
            <a:ext cx="4062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在后向传播过程中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图中每一个节点接收上游梯度，将其和当前梯度相乘得到下游梯度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484857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808028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总结</a:t>
            </a:r>
            <a:r>
              <a:rPr lang="en-US" dirty="0"/>
              <a:t>: </a:t>
            </a:r>
            <a:r>
              <a:rPr lang="zh-CN" altLang="en-US" dirty="0"/>
              <a:t>卷积网络的构成成分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41" y="2192263"/>
            <a:ext cx="1379507" cy="1555274"/>
          </a:xfrm>
          <a:prstGeom prst="rect">
            <a:avLst/>
          </a:prstGeom>
        </p:spPr>
      </p:pic>
      <p:pic>
        <p:nvPicPr>
          <p:cNvPr id="18" name="Google Shape;111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799" y="2257954"/>
            <a:ext cx="1802664" cy="142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395081" y="1736865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卷积层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17227" y="1749108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池化层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189" y="2285608"/>
            <a:ext cx="2248728" cy="1019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59507" y="1736865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全连接层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Google Shape;500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702" y="4328217"/>
            <a:ext cx="1446995" cy="119390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23"/>
          <p:cNvSpPr txBox="1"/>
          <p:nvPr/>
        </p:nvSpPr>
        <p:spPr>
          <a:xfrm>
            <a:off x="1653406" y="3903865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激活函数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Google Shape;861;p80"/>
          <p:cNvPicPr preferRelativeResize="0"/>
          <p:nvPr/>
        </p:nvPicPr>
        <p:blipFill rotWithShape="1">
          <a:blip r:embed="rId6">
            <a:alphaModFix/>
          </a:blip>
          <a:srcRect t="58386" r="31776" b="12523"/>
          <a:stretch/>
        </p:blipFill>
        <p:spPr>
          <a:xfrm>
            <a:off x="4750905" y="4413546"/>
            <a:ext cx="2248728" cy="102324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4940673" y="3903865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归一化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115777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808028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总结</a:t>
            </a:r>
            <a:r>
              <a:rPr lang="en-US" dirty="0"/>
              <a:t>: </a:t>
            </a:r>
            <a:r>
              <a:rPr lang="zh-CN" altLang="en-US" dirty="0"/>
              <a:t>卷积网络的构成</a:t>
            </a:r>
            <a:endParaRPr lang="en-US" dirty="0"/>
          </a:p>
        </p:txBody>
      </p:sp>
      <p:pic>
        <p:nvPicPr>
          <p:cNvPr id="28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30" y="2609022"/>
            <a:ext cx="8378340" cy="254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210874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+mj-ea"/>
              </a:rPr>
              <a:t>结束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153874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下一次课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目标检测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4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Johnson NN clas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2827</TotalTime>
  <Words>16255</Words>
  <Application>Microsoft Macintosh PowerPoint</Application>
  <PresentationFormat>全屏显示(4:3)</PresentationFormat>
  <Paragraphs>4196</Paragraphs>
  <Slides>283</Slides>
  <Notes>27</Notes>
  <HiddenSlides>3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283</vt:i4>
      </vt:variant>
    </vt:vector>
  </HeadingPairs>
  <TitlesOfParts>
    <vt:vector size="291" baseType="lpstr">
      <vt:lpstr>Arial</vt:lpstr>
      <vt:lpstr>Calibri</vt:lpstr>
      <vt:lpstr>Calibri Light</vt:lpstr>
      <vt:lpstr>Courier New</vt:lpstr>
      <vt:lpstr>Helvetica Neue Light</vt:lpstr>
      <vt:lpstr>Office Theme</vt:lpstr>
      <vt:lpstr>JJohnson NN class</vt:lpstr>
      <vt:lpstr>2_Office Theme</vt:lpstr>
      <vt:lpstr>计算机视觉 第06章 神经网络</vt:lpstr>
      <vt:lpstr>本章内容</vt:lpstr>
      <vt:lpstr>问题: 线性分类器无法工作</vt:lpstr>
      <vt:lpstr>一种解决方案: 特征变换</vt:lpstr>
      <vt:lpstr>一种解决方案: 特征变换</vt:lpstr>
      <vt:lpstr>一种解决方案: 特征变换</vt:lpstr>
      <vt:lpstr>一种解决方案: 特征变换</vt:lpstr>
      <vt:lpstr>图像特征: 彩色直方图</vt:lpstr>
      <vt:lpstr>图像特征: 方向梯度直方图( Histogram of Oriented Gradients，HoG)</vt:lpstr>
      <vt:lpstr>图像特征: 方向梯度直方图( Histogram of Oriented Gradients，HoG)</vt:lpstr>
      <vt:lpstr>图像特征: 方向梯度直方图( Histogram of Oriented Gradients，HoG)</vt:lpstr>
      <vt:lpstr>图像特征: 词袋(数据驱动!)</vt:lpstr>
      <vt:lpstr>图像特征: 词袋(数据驱动!)</vt:lpstr>
      <vt:lpstr>图像特征</vt:lpstr>
      <vt:lpstr>举例: 2011 ImageNet分类挑战赛获胜者</vt:lpstr>
      <vt:lpstr>图像特征</vt:lpstr>
      <vt:lpstr>图像特征 vs 神经网络</vt:lpstr>
      <vt:lpstr>本章内容</vt:lpstr>
      <vt:lpstr>神经网络</vt:lpstr>
      <vt:lpstr>神经网络</vt:lpstr>
      <vt:lpstr>神经网络</vt:lpstr>
      <vt:lpstr>神经网络</vt:lpstr>
      <vt:lpstr>神经网络</vt:lpstr>
      <vt:lpstr>神经网络</vt:lpstr>
      <vt:lpstr>神经网络</vt:lpstr>
      <vt:lpstr>神经网络</vt:lpstr>
      <vt:lpstr>神经网络</vt:lpstr>
      <vt:lpstr>神经网络</vt:lpstr>
      <vt:lpstr>深度神经网络</vt:lpstr>
      <vt:lpstr>本章内容</vt:lpstr>
      <vt:lpstr>激活函数</vt:lpstr>
      <vt:lpstr>激活函数</vt:lpstr>
      <vt:lpstr>激活函数</vt:lpstr>
      <vt:lpstr>激活函数</vt:lpstr>
      <vt:lpstr>激活函数</vt:lpstr>
      <vt:lpstr>神经网络 &lt;20 行!</vt:lpstr>
      <vt:lpstr>大脑由神经元构成</vt:lpstr>
      <vt:lpstr>PowerPoint 演示文稿</vt:lpstr>
      <vt:lpstr>层数和大小设置</vt:lpstr>
      <vt:lpstr>正则项</vt:lpstr>
      <vt:lpstr>本章内容</vt:lpstr>
      <vt:lpstr>问题: 如何计算梯度?</vt:lpstr>
      <vt:lpstr>(不好)想法: 显示推导</vt:lpstr>
      <vt:lpstr>更好的方法: 计算图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后向传播算法: 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另一个示例</vt:lpstr>
      <vt:lpstr>其他激活函数的梯度?</vt:lpstr>
      <vt:lpstr>其他激活函数的梯度?</vt:lpstr>
      <vt:lpstr>PowerPoint 演示文稿</vt:lpstr>
      <vt:lpstr>回顾: 矢量导数</vt:lpstr>
      <vt:lpstr>回顾: 矢量导数</vt:lpstr>
      <vt:lpstr>回顾: 矢量导数</vt:lpstr>
      <vt:lpstr>矢量函数后向传播</vt:lpstr>
      <vt:lpstr>矢量函数后向传播</vt:lpstr>
      <vt:lpstr>矢量函数后向传播</vt:lpstr>
      <vt:lpstr>矢量函数后向传播</vt:lpstr>
      <vt:lpstr>矢量函数后向传播</vt:lpstr>
      <vt:lpstr>矢量函数后向传播</vt:lpstr>
      <vt:lpstr>矢量函数后向传播</vt:lpstr>
      <vt:lpstr>矢量函数后向传播</vt:lpstr>
      <vt:lpstr>矢量函数后向传播</vt:lpstr>
      <vt:lpstr>矢量函数后向传播</vt:lpstr>
      <vt:lpstr>矢量函数后向传播</vt:lpstr>
      <vt:lpstr>矩阵函数后向传播:</vt:lpstr>
      <vt:lpstr>矩阵函数后向传播:</vt:lpstr>
      <vt:lpstr>后向传播: 另一个角度</vt:lpstr>
      <vt:lpstr>后向传播: 另一个角度</vt:lpstr>
      <vt:lpstr>微分逆向计算</vt:lpstr>
      <vt:lpstr>本章内容</vt:lpstr>
      <vt:lpstr>本章内容</vt:lpstr>
      <vt:lpstr>PowerPoint 演示文稿</vt:lpstr>
      <vt:lpstr>PowerPoint 演示文稿</vt:lpstr>
      <vt:lpstr>卷积网络LeNet-5</vt:lpstr>
      <vt:lpstr>全连接网络的构成成分</vt:lpstr>
      <vt:lpstr>卷积神经网络的构成成分</vt:lpstr>
      <vt:lpstr>本章内容</vt:lpstr>
      <vt:lpstr>卷积网络的组成成分</vt:lpstr>
      <vt:lpstr>全连接层Fully-Connected Layer</vt:lpstr>
      <vt:lpstr>全连接层Fully-Connected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卷积层Convolution Layer</vt:lpstr>
      <vt:lpstr>卷积层级联Stacking Convolutions</vt:lpstr>
      <vt:lpstr>卷积层级联Stacking Convolutions</vt:lpstr>
      <vt:lpstr>卷积层级联Stacking Convolutions</vt:lpstr>
      <vt:lpstr>卷积核可视化? </vt:lpstr>
      <vt:lpstr>卷积核可视化? </vt:lpstr>
      <vt:lpstr>卷积核可视化? </vt:lpstr>
      <vt:lpstr>卷积核可视化? </vt:lpstr>
      <vt:lpstr>空域维度处理</vt:lpstr>
      <vt:lpstr>空域维度处理</vt:lpstr>
      <vt:lpstr>空域维度处理</vt:lpstr>
      <vt:lpstr>空域维度处理</vt:lpstr>
      <vt:lpstr>空域维度处理</vt:lpstr>
      <vt:lpstr>空域维度处理</vt:lpstr>
      <vt:lpstr>空域维度处理</vt:lpstr>
      <vt:lpstr>空域维度处理</vt:lpstr>
      <vt:lpstr>空域维度处理</vt:lpstr>
      <vt:lpstr>感受野</vt:lpstr>
      <vt:lpstr>感受野</vt:lpstr>
      <vt:lpstr>感受野</vt:lpstr>
      <vt:lpstr>感受野</vt:lpstr>
      <vt:lpstr>卷积步长</vt:lpstr>
      <vt:lpstr>卷积步长</vt:lpstr>
      <vt:lpstr>卷积步长</vt:lpstr>
      <vt:lpstr>卷积步长</vt:lpstr>
      <vt:lpstr>卷积举例</vt:lpstr>
      <vt:lpstr>卷积举例</vt:lpstr>
      <vt:lpstr>卷积举例</vt:lpstr>
      <vt:lpstr>卷积举例</vt:lpstr>
      <vt:lpstr>卷积举例</vt:lpstr>
      <vt:lpstr>卷积举例</vt:lpstr>
      <vt:lpstr>举例: 1x1 卷积</vt:lpstr>
      <vt:lpstr>举例: 1x1 卷积</vt:lpstr>
      <vt:lpstr>卷积总结</vt:lpstr>
      <vt:lpstr>卷积总结</vt:lpstr>
      <vt:lpstr>不同类型卷积</vt:lpstr>
      <vt:lpstr>不同类型卷积</vt:lpstr>
      <vt:lpstr>不同类型卷积</vt:lpstr>
      <vt:lpstr>Mindspore 卷积层Convolution Layer</vt:lpstr>
      <vt:lpstr>本章内容</vt:lpstr>
      <vt:lpstr>卷积网络的成分</vt:lpstr>
      <vt:lpstr>池化层: 另一种下采样的方法</vt:lpstr>
      <vt:lpstr>最大池化</vt:lpstr>
      <vt:lpstr>池化总结</vt:lpstr>
      <vt:lpstr>卷积网络LeNet-5</vt:lpstr>
      <vt:lpstr>举例: LeNet-5</vt:lpstr>
      <vt:lpstr>举例: LeNet-5*</vt:lpstr>
      <vt:lpstr>举例: LeNet-5</vt:lpstr>
      <vt:lpstr>举例: LeNet-5</vt:lpstr>
      <vt:lpstr>举例: LeNet-5</vt:lpstr>
      <vt:lpstr>举例: LeNet-5</vt:lpstr>
      <vt:lpstr>举例: LeNet-5</vt:lpstr>
      <vt:lpstr>举例: LeNet-5*</vt:lpstr>
      <vt:lpstr>举例: LeNet-5</vt:lpstr>
      <vt:lpstr>问题: 深度网络非常难于训练!</vt:lpstr>
      <vt:lpstr>卷积网络的成分</vt:lpstr>
      <vt:lpstr>批归一化</vt:lpstr>
      <vt:lpstr>批归一化</vt:lpstr>
      <vt:lpstr>批归一化</vt:lpstr>
      <vt:lpstr>批归一化</vt:lpstr>
      <vt:lpstr>批归一化: 测试</vt:lpstr>
      <vt:lpstr>批归一化: 测试时间</vt:lpstr>
      <vt:lpstr>批归一化: 测试时间</vt:lpstr>
      <vt:lpstr>ConvNets的批归一化</vt:lpstr>
      <vt:lpstr>批归一化</vt:lpstr>
      <vt:lpstr>批归一化</vt:lpstr>
      <vt:lpstr>批归一化</vt:lpstr>
      <vt:lpstr>层归一化</vt:lpstr>
      <vt:lpstr>实例归一化</vt:lpstr>
      <vt:lpstr>归一化层的比较</vt:lpstr>
      <vt:lpstr>组归一化</vt:lpstr>
      <vt:lpstr>本章内容</vt:lpstr>
      <vt:lpstr>总括</vt:lpstr>
      <vt:lpstr>数据预处理</vt:lpstr>
      <vt:lpstr>数据预处理</vt:lpstr>
      <vt:lpstr>权重初始化</vt:lpstr>
      <vt:lpstr>权重初始化</vt:lpstr>
      <vt:lpstr>数据增强</vt:lpstr>
      <vt:lpstr>数据增强: 随机裁剪和缩放</vt:lpstr>
      <vt:lpstr>正则化</vt:lpstr>
      <vt:lpstr>(旧形式) 正则化: 损失函数增加正则项</vt:lpstr>
      <vt:lpstr>正则化: Dropout</vt:lpstr>
      <vt:lpstr>正则化: Dropout</vt:lpstr>
      <vt:lpstr>本章内容</vt:lpstr>
      <vt:lpstr>本章内容</vt:lpstr>
      <vt:lpstr>ImageNet分类挑战</vt:lpstr>
      <vt:lpstr>ImageNet分类挑战</vt:lpstr>
      <vt:lpstr>本章内容</vt:lpstr>
      <vt:lpstr>9.1 AlexNet</vt:lpstr>
      <vt:lpstr>AlexNet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AlexNet</vt:lpstr>
      <vt:lpstr>AlexNet</vt:lpstr>
      <vt:lpstr>ImageNet分类挑战</vt:lpstr>
      <vt:lpstr>ImageNet分类挑战</vt:lpstr>
      <vt:lpstr>ZFNet: 一个大型AlexNet</vt:lpstr>
      <vt:lpstr>本章内容</vt:lpstr>
      <vt:lpstr>ImageNet分类挑战</vt:lpstr>
      <vt:lpstr>ImageNet分类挑战</vt:lpstr>
      <vt:lpstr>VGG: 更深的网络</vt:lpstr>
      <vt:lpstr>VGG:更深的网络</vt:lpstr>
      <vt:lpstr>AlexNet vs VGG-16!</vt:lpstr>
      <vt:lpstr>本章内容</vt:lpstr>
      <vt:lpstr>ImageNet分类挑战</vt:lpstr>
      <vt:lpstr>ImageNet分类挑战</vt:lpstr>
      <vt:lpstr>9.3 GoogLeNet: 聚焦在效率提升</vt:lpstr>
      <vt:lpstr>GoogLeNet: 主干</vt:lpstr>
      <vt:lpstr>GoogLeNet: 主干</vt:lpstr>
      <vt:lpstr>GoogLeNet:主干</vt:lpstr>
      <vt:lpstr>GoogLeNet: Inception模块</vt:lpstr>
      <vt:lpstr>GoogLeNet: Inception模块</vt:lpstr>
      <vt:lpstr>GoogLeNet: 全局平均池化</vt:lpstr>
      <vt:lpstr>GoogLeNet:全局平均池化</vt:lpstr>
      <vt:lpstr>GoogLeNet: 辅助分类器</vt:lpstr>
      <vt:lpstr>本章内容</vt:lpstr>
      <vt:lpstr>ImageNet分类挑战</vt:lpstr>
      <vt:lpstr>ImageNet分类挑战</vt:lpstr>
      <vt:lpstr>残差网络</vt:lpstr>
      <vt:lpstr>残差网络</vt:lpstr>
      <vt:lpstr>残差网络</vt:lpstr>
      <vt:lpstr>残差网络</vt:lpstr>
      <vt:lpstr>残差网络</vt:lpstr>
      <vt:lpstr>残差网络</vt:lpstr>
      <vt:lpstr>残差网络</vt:lpstr>
      <vt:lpstr>残差网络</vt:lpstr>
      <vt:lpstr>残差网络</vt:lpstr>
      <vt:lpstr>残差网络</vt:lpstr>
      <vt:lpstr>残差网络</vt:lpstr>
      <vt:lpstr>残差网络</vt:lpstr>
      <vt:lpstr>残差网络</vt:lpstr>
      <vt:lpstr>残差网络: 基本块</vt:lpstr>
      <vt:lpstr>残差网络: 基本块</vt:lpstr>
      <vt:lpstr>残差网络: Bottleneck 块</vt:lpstr>
      <vt:lpstr>残差网络: Bottleneck 块</vt:lpstr>
      <vt:lpstr>残差网络</vt:lpstr>
      <vt:lpstr>残差网络</vt:lpstr>
      <vt:lpstr>残差网络</vt:lpstr>
      <vt:lpstr>残差网络</vt:lpstr>
      <vt:lpstr>本章内容</vt:lpstr>
      <vt:lpstr>复杂度比较</vt:lpstr>
      <vt:lpstr>复杂度比较</vt:lpstr>
      <vt:lpstr>复杂度比较</vt:lpstr>
      <vt:lpstr>复杂度比较</vt:lpstr>
      <vt:lpstr>复杂度比较</vt:lpstr>
      <vt:lpstr>复杂度比较</vt:lpstr>
      <vt:lpstr>本章小结</vt:lpstr>
      <vt:lpstr>总结</vt:lpstr>
      <vt:lpstr>总结</vt:lpstr>
      <vt:lpstr>总结</vt:lpstr>
      <vt:lpstr>总结: 卷积网络的构成成分</vt:lpstr>
      <vt:lpstr>总结: 卷积网络的构成</vt:lpstr>
      <vt:lpstr>结束</vt:lpstr>
      <vt:lpstr>下一次课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parameters of image formation</dc:title>
  <dc:creator>trevor</dc:creator>
  <cp:lastModifiedBy>Microsoft Office User</cp:lastModifiedBy>
  <cp:revision>377</cp:revision>
  <dcterms:created xsi:type="dcterms:W3CDTF">2009-09-01T01:33:15Z</dcterms:created>
  <dcterms:modified xsi:type="dcterms:W3CDTF">2024-12-05T08:38:24Z</dcterms:modified>
</cp:coreProperties>
</file>