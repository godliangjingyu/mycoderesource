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56"/>
  </p:handoutMasterIdLst>
  <p:sldIdLst>
    <p:sldId id="530" r:id="rId3"/>
    <p:sldId id="568" r:id="rId4"/>
    <p:sldId id="584" r:id="rId5"/>
    <p:sldId id="587" r:id="rId7"/>
    <p:sldId id="588" r:id="rId8"/>
    <p:sldId id="613" r:id="rId9"/>
    <p:sldId id="614" r:id="rId10"/>
    <p:sldId id="589" r:id="rId11"/>
    <p:sldId id="590" r:id="rId12"/>
    <p:sldId id="591" r:id="rId13"/>
    <p:sldId id="632" r:id="rId14"/>
    <p:sldId id="592" r:id="rId15"/>
    <p:sldId id="593" r:id="rId16"/>
    <p:sldId id="594" r:id="rId17"/>
    <p:sldId id="595" r:id="rId18"/>
    <p:sldId id="615" r:id="rId19"/>
    <p:sldId id="596" r:id="rId20"/>
    <p:sldId id="616" r:id="rId21"/>
    <p:sldId id="618" r:id="rId22"/>
    <p:sldId id="619" r:id="rId23"/>
    <p:sldId id="597" r:id="rId24"/>
    <p:sldId id="598" r:id="rId25"/>
    <p:sldId id="599" r:id="rId26"/>
    <p:sldId id="600" r:id="rId27"/>
    <p:sldId id="608" r:id="rId28"/>
    <p:sldId id="609" r:id="rId29"/>
    <p:sldId id="610" r:id="rId30"/>
    <p:sldId id="611" r:id="rId31"/>
    <p:sldId id="631" r:id="rId32"/>
    <p:sldId id="612" r:id="rId33"/>
    <p:sldId id="601" r:id="rId34"/>
    <p:sldId id="633" r:id="rId35"/>
    <p:sldId id="602" r:id="rId36"/>
    <p:sldId id="603" r:id="rId37"/>
    <p:sldId id="604" r:id="rId38"/>
    <p:sldId id="620" r:id="rId39"/>
    <p:sldId id="634" r:id="rId40"/>
    <p:sldId id="605" r:id="rId41"/>
    <p:sldId id="621" r:id="rId42"/>
    <p:sldId id="606" r:id="rId43"/>
    <p:sldId id="607" r:id="rId44"/>
    <p:sldId id="585" r:id="rId45"/>
    <p:sldId id="622" r:id="rId46"/>
    <p:sldId id="628" r:id="rId47"/>
    <p:sldId id="630" r:id="rId48"/>
    <p:sldId id="623" r:id="rId49"/>
    <p:sldId id="624" r:id="rId50"/>
    <p:sldId id="625" r:id="rId51"/>
    <p:sldId id="626" r:id="rId52"/>
    <p:sldId id="627" r:id="rId53"/>
    <p:sldId id="629" r:id="rId54"/>
    <p:sldId id="583" r:id="rId55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120000"/>
      </a:lnSpc>
      <a:spcBef>
        <a:spcPct val="20000"/>
      </a:spcBef>
      <a:spcAft>
        <a:spcPct val="0"/>
      </a:spcAft>
      <a:buClr>
        <a:schemeClr val="tx1"/>
      </a:buClr>
      <a:buSzPct val="80000"/>
      <a:buFont typeface="Wingdings" panose="05000000000000000000" pitchFamily="2" charset="2"/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B5E3F3"/>
    <a:srgbClr val="FFFFFF"/>
    <a:srgbClr val="FF6600"/>
    <a:srgbClr val="E3D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1010" autoAdjust="0"/>
  </p:normalViewPr>
  <p:slideViewPr>
    <p:cSldViewPr>
      <p:cViewPr varScale="1">
        <p:scale>
          <a:sx n="59" d="100"/>
          <a:sy n="59" d="100"/>
        </p:scale>
        <p:origin x="7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6" Type="http://schemas.openxmlformats.org/officeDocument/2006/relationships/image" Target="../media/image20.wmf"/><Relationship Id="rId15" Type="http://schemas.openxmlformats.org/officeDocument/2006/relationships/image" Target="../media/image19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1" Type="http://schemas.openxmlformats.org/officeDocument/2006/relationships/image" Target="../media/image99.wmf"/><Relationship Id="rId10" Type="http://schemas.openxmlformats.org/officeDocument/2006/relationships/image" Target="../media/image98.wmf"/><Relationship Id="rId1" Type="http://schemas.openxmlformats.org/officeDocument/2006/relationships/image" Target="../media/image8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90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95B01064-FCC8-4740-9ED9-11F36E7CF28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96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96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6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effectLst/>
              </a:defRPr>
            </a:lvl1pPr>
          </a:lstStyle>
          <a:p>
            <a:pPr>
              <a:defRPr/>
            </a:pPr>
            <a:fld id="{4DF57427-B8B5-4D24-A9D7-9D6F6382E66A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Perceptron  </a:t>
            </a:r>
            <a:r>
              <a:rPr lang="zh-CN" altLang="en-US" dirty="0" smtClean="0"/>
              <a:t>感知机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+mn-ea"/>
              </a:rPr>
              <a:t>M-P</a:t>
            </a:r>
            <a:r>
              <a:rPr lang="zh-CN" altLang="en-US" dirty="0" smtClean="0">
                <a:latin typeface="+mn-ea"/>
              </a:rPr>
              <a:t>神经元模型（</a:t>
            </a:r>
            <a:r>
              <a:rPr lang="en-US" altLang="zh-CN" dirty="0" smtClean="0">
                <a:latin typeface="+mn-ea"/>
              </a:rPr>
              <a:t>1943</a:t>
            </a:r>
            <a:r>
              <a:rPr lang="zh-CN" altLang="en-US" dirty="0" smtClean="0">
                <a:latin typeface="+mn-ea"/>
              </a:rPr>
              <a:t>）</a:t>
            </a:r>
            <a:endParaRPr lang="zh-CN" altLang="en-US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神经元</a:t>
            </a:r>
            <a:r>
              <a:rPr lang="en-US" altLang="zh-CN" dirty="0" smtClean="0">
                <a:latin typeface="+mn-ea"/>
              </a:rPr>
              <a:t>(neuron)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+mn-ea"/>
              </a:rPr>
              <a:t>M-P</a:t>
            </a:r>
            <a:r>
              <a:rPr lang="zh-CN" altLang="en-US" dirty="0" smtClean="0">
                <a:latin typeface="+mn-ea"/>
              </a:rPr>
              <a:t>神经元模型（</a:t>
            </a:r>
            <a:r>
              <a:rPr lang="en-US" altLang="zh-CN" dirty="0" smtClean="0">
                <a:latin typeface="+mn-ea"/>
              </a:rPr>
              <a:t>1943</a:t>
            </a:r>
            <a:r>
              <a:rPr lang="zh-CN" altLang="en-US" dirty="0" smtClean="0">
                <a:latin typeface="+mn-ea"/>
              </a:rPr>
              <a:t>）</a:t>
            </a:r>
            <a:endParaRPr lang="zh-CN" altLang="en-US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神经元</a:t>
            </a:r>
            <a:r>
              <a:rPr lang="en-US" altLang="zh-CN" smtClean="0">
                <a:latin typeface="+mn-ea"/>
              </a:rPr>
              <a:t>(neuron)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+mn-ea"/>
              </a:rPr>
              <a:t>M-P</a:t>
            </a:r>
            <a:r>
              <a:rPr lang="zh-CN" altLang="en-US" dirty="0" smtClean="0">
                <a:latin typeface="+mn-ea"/>
              </a:rPr>
              <a:t>神经元模型（</a:t>
            </a:r>
            <a:r>
              <a:rPr lang="en-US" altLang="zh-CN" dirty="0" smtClean="0">
                <a:latin typeface="+mn-ea"/>
              </a:rPr>
              <a:t>1943</a:t>
            </a:r>
            <a:r>
              <a:rPr lang="zh-CN" altLang="en-US" dirty="0" smtClean="0">
                <a:latin typeface="+mn-ea"/>
              </a:rPr>
              <a:t>）</a:t>
            </a:r>
            <a:endParaRPr lang="zh-CN" altLang="en-US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神经元</a:t>
            </a:r>
            <a:r>
              <a:rPr lang="en-US" altLang="zh-CN" dirty="0" smtClean="0">
                <a:latin typeface="+mn-ea"/>
              </a:rPr>
              <a:t>(neuron)</a:t>
            </a:r>
            <a:endParaRPr lang="en-US" altLang="zh-CN" dirty="0" smtClean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这种模型希望能够制造出来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algn="l">
              <a:spcBef>
                <a:spcPts val="0"/>
              </a:spcBef>
            </a:pPr>
            <a:r>
              <a:rPr lang="zh-CN" altLang="en-US" dirty="0" smtClean="0">
                <a:latin typeface="+mn-ea"/>
              </a:rPr>
              <a:t>挤压函数”</a:t>
            </a:r>
            <a:r>
              <a:rPr lang="en-US" altLang="zh-CN" dirty="0" smtClean="0">
                <a:latin typeface="+mn-ea"/>
              </a:rPr>
              <a:t>(squashing function)</a:t>
            </a:r>
            <a:endParaRPr lang="zh-CN" altLang="en-US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感知机</a:t>
            </a:r>
            <a:r>
              <a:rPr lang="en-US" altLang="zh-CN" dirty="0" smtClean="0"/>
              <a:t>(Perceptron)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1969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图中的只能进行其中一种运算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感知机</a:t>
            </a:r>
            <a:r>
              <a:rPr lang="en-US" altLang="zh-CN" dirty="0" smtClean="0"/>
              <a:t>(Perceptron)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1969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图中的只能进行其中一种运算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前馈网络，常用（见）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前馈表示没有回路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前馈网络，常用（见）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最成功、最常用的神经网络算法，可被用于多种任务（不仅限于分类）</a:t>
            </a:r>
            <a:endParaRPr lang="zh-CN" altLang="en-US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zh-CN" altLang="en-US" dirty="0" smtClean="0"/>
              <a:t>在博士学位论文中</a:t>
            </a:r>
            <a:r>
              <a:rPr lang="zh-CN" altLang="en-US" b="1" dirty="0" smtClean="0"/>
              <a:t>正式提出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en-US" altLang="zh-CN" dirty="0" smtClean="0"/>
              <a:t>. Beyond regression: New tools for prediction and analysis in </a:t>
            </a:r>
            <a:endParaRPr lang="en-US" altLang="zh-CN" dirty="0" smtClean="0"/>
          </a:p>
          <a:p>
            <a:r>
              <a:rPr lang="en-US" altLang="zh-CN" dirty="0" smtClean="0"/>
              <a:t>the behavioral science. </a:t>
            </a:r>
            <a:r>
              <a:rPr lang="en-US" altLang="zh-CN" dirty="0" err="1" smtClean="0"/>
              <a:t>Ph.D</a:t>
            </a:r>
            <a:r>
              <a:rPr lang="en-US" altLang="zh-CN" dirty="0" smtClean="0"/>
              <a:t> dissertation, Harvard University, </a:t>
            </a:r>
            <a:r>
              <a:rPr lang="en-US" altLang="zh-CN" b="1" dirty="0" smtClean="0"/>
              <a:t>1974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最成功、最常用的神经网络算法，可被用于多种任务（不仅限于分类）</a:t>
            </a:r>
            <a:endParaRPr lang="zh-CN" altLang="en-US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zh-CN" altLang="en-US" dirty="0" smtClean="0"/>
              <a:t>在博士学位论文中</a:t>
            </a:r>
            <a:r>
              <a:rPr lang="zh-CN" altLang="en-US" b="1" dirty="0" smtClean="0"/>
              <a:t>正式提出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en-US" altLang="zh-CN" dirty="0" smtClean="0"/>
              <a:t>. Beyond regression: New tools for prediction and analysis in </a:t>
            </a:r>
            <a:endParaRPr lang="en-US" altLang="zh-CN" dirty="0" smtClean="0"/>
          </a:p>
          <a:p>
            <a:r>
              <a:rPr lang="en-US" altLang="zh-CN" dirty="0" smtClean="0"/>
              <a:t>the behavioral science. </a:t>
            </a:r>
            <a:r>
              <a:rPr lang="en-US" altLang="zh-CN" dirty="0" err="1" smtClean="0"/>
              <a:t>Ph.D</a:t>
            </a:r>
            <a:r>
              <a:rPr lang="en-US" altLang="zh-CN" dirty="0" smtClean="0"/>
              <a:t> dissertation, Harvard University, </a:t>
            </a:r>
            <a:r>
              <a:rPr lang="en-US" altLang="zh-CN" b="1" dirty="0" smtClean="0"/>
              <a:t>1974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伽马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最成功、最常用的神经网络算法，可被用于多种任务（不仅限于分类）</a:t>
            </a:r>
            <a:endParaRPr lang="zh-CN" altLang="en-US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zh-CN" altLang="en-US" dirty="0" smtClean="0"/>
              <a:t>在博士学位论文中</a:t>
            </a:r>
            <a:r>
              <a:rPr lang="zh-CN" altLang="en-US" b="1" dirty="0" smtClean="0"/>
              <a:t>正式提出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en-US" altLang="zh-CN" dirty="0" smtClean="0"/>
              <a:t>. Beyond regression: New tools for prediction and analysis in </a:t>
            </a:r>
            <a:endParaRPr lang="en-US" altLang="zh-CN" dirty="0" smtClean="0"/>
          </a:p>
          <a:p>
            <a:r>
              <a:rPr lang="en-US" altLang="zh-CN" dirty="0" smtClean="0"/>
              <a:t>the behavioral science. </a:t>
            </a:r>
            <a:r>
              <a:rPr lang="en-US" altLang="zh-CN" dirty="0" err="1" smtClean="0"/>
              <a:t>Ph.D</a:t>
            </a:r>
            <a:r>
              <a:rPr lang="en-US" altLang="zh-CN" dirty="0" smtClean="0"/>
              <a:t> dissertation, Harvard University, </a:t>
            </a:r>
            <a:r>
              <a:rPr lang="en-US" altLang="zh-CN" b="1" dirty="0" smtClean="0"/>
              <a:t>1974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最成功、最常用的神经网络算法，可被用于多种任务（不仅限于分类）</a:t>
            </a:r>
            <a:endParaRPr lang="zh-CN" altLang="en-US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zh-CN" altLang="en-US" dirty="0" smtClean="0"/>
              <a:t>在博士学位论文中</a:t>
            </a:r>
            <a:r>
              <a:rPr lang="zh-CN" altLang="en-US" b="1" dirty="0" smtClean="0"/>
              <a:t>正式提出</a:t>
            </a:r>
            <a:r>
              <a:rPr lang="en-US" altLang="zh-CN" dirty="0" smtClean="0"/>
              <a:t>:</a:t>
            </a:r>
            <a:endParaRPr lang="en-US" altLang="zh-CN" dirty="0" smtClean="0"/>
          </a:p>
          <a:p>
            <a:r>
              <a:rPr lang="en-US" altLang="zh-CN" dirty="0" smtClean="0"/>
              <a:t>P. </a:t>
            </a:r>
            <a:r>
              <a:rPr lang="en-US" altLang="zh-CN" dirty="0" err="1" smtClean="0"/>
              <a:t>Werbos</a:t>
            </a:r>
            <a:r>
              <a:rPr lang="en-US" altLang="zh-CN" dirty="0" smtClean="0"/>
              <a:t>. Beyond regression: New tools for prediction and analysis in </a:t>
            </a:r>
            <a:endParaRPr lang="en-US" altLang="zh-CN" dirty="0" smtClean="0"/>
          </a:p>
          <a:p>
            <a:r>
              <a:rPr lang="en-US" altLang="zh-CN" dirty="0" smtClean="0"/>
              <a:t>the behavioral science. </a:t>
            </a:r>
            <a:r>
              <a:rPr lang="en-US" altLang="zh-CN" dirty="0" err="1" smtClean="0"/>
              <a:t>Ph.D</a:t>
            </a:r>
            <a:r>
              <a:rPr lang="en-US" altLang="zh-CN" dirty="0" smtClean="0"/>
              <a:t> dissertation, Harvard University, </a:t>
            </a:r>
            <a:r>
              <a:rPr lang="en-US" altLang="zh-CN" b="1" dirty="0" smtClean="0"/>
              <a:t>1974</a:t>
            </a:r>
            <a:endParaRPr lang="en-US" altLang="zh-CN" b="1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伊塔，学习率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任意参数的更新估计式为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求导，链式法则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Sigmoid</a:t>
            </a:r>
            <a:r>
              <a:rPr lang="zh-CN" altLang="en-US" dirty="0" smtClean="0"/>
              <a:t>函数有一个很好的性质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已证明多层前馈网络只要包含足够多隐层神经元，就能以</a:t>
            </a:r>
            <a:r>
              <a:rPr lang="zh-CN" altLang="en-US" b="1" dirty="0" smtClean="0">
                <a:solidFill>
                  <a:schemeClr val="tx1"/>
                </a:solidFill>
              </a:rPr>
              <a:t>任意精度逼近任意复杂度的连续函数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正则化 </a:t>
            </a:r>
            <a:r>
              <a:rPr lang="en-US" altLang="zh-CN" dirty="0" smtClean="0"/>
              <a:t>(regularization)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入用于对经验误差与网络复杂度这两项进行折中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已证明多层前馈网络只要包含足够多隐层神经元，就能以</a:t>
            </a:r>
            <a:r>
              <a:rPr lang="zh-CN" altLang="en-US" b="1" dirty="0" smtClean="0">
                <a:solidFill>
                  <a:schemeClr val="tx1"/>
                </a:solidFill>
              </a:rPr>
              <a:t>任意精度逼近任意复杂度的连续函数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正则化 </a:t>
            </a:r>
            <a:r>
              <a:rPr lang="en-US" altLang="zh-CN" dirty="0" smtClean="0"/>
              <a:t>(regularization)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入用于对经验误差与网络复杂度这两项进行折中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基于梯度的搜索是使用最为广泛的参数寻优方法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RBF(Radial Basis Function</a:t>
            </a:r>
            <a:r>
              <a:rPr lang="zh-CN" altLang="en-US" dirty="0" smtClean="0"/>
              <a:t>，径向基函数</a:t>
            </a:r>
            <a:r>
              <a:rPr lang="en-US" altLang="zh-CN" dirty="0" smtClean="0"/>
              <a:t>)</a:t>
            </a:r>
            <a:r>
              <a:rPr lang="zh-CN" altLang="en-US" dirty="0" smtClean="0"/>
              <a:t>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圆形的对称，如圆和椭圆分别以直径和长短轴对称。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</a:rPr>
              <a:t>，在使用该策略时，网络的输出神经元相互竞争，每一时刻仅有一个竞争获胜的神经元被激活，其他神经元的状态被抑制</a:t>
            </a:r>
            <a:r>
              <a:rPr lang="en-US" altLang="zh-CN" dirty="0" smtClean="0">
                <a:latin typeface="+mn-ea"/>
              </a:rPr>
              <a:t>.</a:t>
            </a:r>
            <a:r>
              <a:rPr lang="zh-CN" altLang="en-US" dirty="0" smtClean="0">
                <a:latin typeface="+mn-ea"/>
              </a:rPr>
              <a:t>这种机制亦称“胜者通吃”</a:t>
            </a:r>
            <a:r>
              <a:rPr lang="en-US" altLang="zh-CN" dirty="0" smtClean="0">
                <a:latin typeface="+mn-ea"/>
              </a:rPr>
              <a:t>(winner-take-all)</a:t>
            </a:r>
            <a:r>
              <a:rPr lang="zh-CN" altLang="en-US" dirty="0" smtClean="0">
                <a:latin typeface="+mn-ea"/>
              </a:rPr>
              <a:t>原则</a:t>
            </a:r>
            <a:r>
              <a:rPr lang="en-US" altLang="zh-CN" dirty="0" smtClean="0">
                <a:latin typeface="+mn-ea"/>
              </a:rPr>
              <a:t>.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ART 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网络结构由两层神经元构成两个子系统，分别为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比较层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和识别层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，包含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种控制信号：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复位信号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、逻辑控制信号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G1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G2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b="1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</a:rPr>
              <a:t>，在使用该策略时，网络的输出神经元相互竞争，每一时刻仅有一个竞争获胜的神经元被激活，其他神经元的状态被抑制</a:t>
            </a:r>
            <a:r>
              <a:rPr lang="en-US" altLang="zh-CN" dirty="0" smtClean="0">
                <a:latin typeface="+mn-ea"/>
              </a:rPr>
              <a:t>.</a:t>
            </a:r>
            <a:r>
              <a:rPr lang="zh-CN" altLang="en-US" dirty="0" smtClean="0">
                <a:latin typeface="+mn-ea"/>
              </a:rPr>
              <a:t>这种机制亦称“胜者通吃”</a:t>
            </a:r>
            <a:r>
              <a:rPr lang="en-US" altLang="zh-CN" dirty="0" smtClean="0">
                <a:latin typeface="+mn-ea"/>
              </a:rPr>
              <a:t>(winner-take-all)</a:t>
            </a:r>
            <a:r>
              <a:rPr lang="zh-CN" altLang="en-US" dirty="0" smtClean="0">
                <a:latin typeface="+mn-ea"/>
              </a:rPr>
              <a:t>原则</a:t>
            </a:r>
            <a:r>
              <a:rPr lang="en-US" altLang="zh-CN" dirty="0" smtClean="0">
                <a:latin typeface="+mn-ea"/>
              </a:rPr>
              <a:t>.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ART 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网络结构由两层神经元构成两个子系统，分别为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比较层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和识别层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，包含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种控制信号：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复位信号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、逻辑控制信号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G1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G2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b="1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</a:rPr>
              <a:t>，在使用该策略时，网络的输出神经元相互竞争，每一时刻仅有一个竞争获胜的神经元被激活，其他神经元的状态被抑制</a:t>
            </a:r>
            <a:r>
              <a:rPr lang="en-US" altLang="zh-CN" dirty="0" smtClean="0">
                <a:latin typeface="+mn-ea"/>
              </a:rPr>
              <a:t>.</a:t>
            </a:r>
            <a:r>
              <a:rPr lang="zh-CN" altLang="en-US" dirty="0" smtClean="0">
                <a:latin typeface="+mn-ea"/>
              </a:rPr>
              <a:t>这种机制亦称“胜者通吃”</a:t>
            </a:r>
            <a:r>
              <a:rPr lang="en-US" altLang="zh-CN" dirty="0" smtClean="0">
                <a:latin typeface="+mn-ea"/>
              </a:rPr>
              <a:t>(winner-take-all)</a:t>
            </a:r>
            <a:r>
              <a:rPr lang="zh-CN" altLang="en-US" dirty="0" smtClean="0">
                <a:latin typeface="+mn-ea"/>
              </a:rPr>
              <a:t>原则</a:t>
            </a:r>
            <a:r>
              <a:rPr lang="en-US" altLang="zh-CN" dirty="0" smtClean="0">
                <a:latin typeface="+mn-ea"/>
              </a:rPr>
              <a:t>.</a:t>
            </a: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ART I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网络结构由两层神经元构成两个子系统，分别为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比较层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和识别层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，包含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种控制信号：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复位信号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、逻辑控制信号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G1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和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G2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b="1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 smtClean="0"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 smtClean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Elman </a:t>
            </a:r>
            <a:r>
              <a:rPr lang="zh-CN" altLang="en-US" dirty="0" smtClean="0">
                <a:latin typeface="+mn-ea"/>
              </a:rPr>
              <a:t>提出的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>
                <a:latin typeface="+mn-ea"/>
              </a:rPr>
              <a:t>将显层先固定，得出隐层，再固定隐层得出显层。</a:t>
            </a:r>
            <a:endParaRPr lang="en-US" altLang="zh-CN" dirty="0" smtClean="0">
              <a:latin typeface="+mn-ea"/>
            </a:endParaRPr>
          </a:p>
          <a:p>
            <a:pPr lvl="0"/>
            <a:endParaRPr lang="en-US" altLang="zh-CN" dirty="0" smtClean="0">
              <a:latin typeface="+mn-ea"/>
            </a:endParaRPr>
          </a:p>
          <a:p>
            <a:pPr lvl="0"/>
            <a:r>
              <a:rPr lang="zh-CN" altLang="en-US" dirty="0" smtClean="0">
                <a:latin typeface="+mn-ea"/>
              </a:rPr>
              <a:t>常用“对比散度”</a:t>
            </a:r>
            <a:r>
              <a:rPr lang="en-US" altLang="zh-CN" dirty="0" smtClean="0">
                <a:latin typeface="+mn-ea"/>
              </a:rPr>
              <a:t>(Contrastive Divergence</a:t>
            </a:r>
            <a:r>
              <a:rPr lang="zh-CN" altLang="en-US" dirty="0" smtClean="0">
                <a:latin typeface="+mn-ea"/>
              </a:rPr>
              <a:t>，简称</a:t>
            </a:r>
            <a:r>
              <a:rPr lang="en-US" altLang="zh-CN" dirty="0" smtClean="0">
                <a:latin typeface="+mn-ea"/>
              </a:rPr>
              <a:t>CD)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0"/>
            <a:endParaRPr lang="en-US" altLang="zh-CN" dirty="0" smtClean="0">
              <a:latin typeface="+mn-ea"/>
            </a:endParaRPr>
          </a:p>
          <a:p>
            <a:pPr lvl="0"/>
            <a:r>
              <a:rPr lang="zh-CN" altLang="en-US" dirty="0" smtClean="0"/>
              <a:t>伊塔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直至</a:t>
            </a:r>
            <a:r>
              <a:rPr lang="en-US" altLang="zh-CN" b="0" dirty="0" smtClean="0"/>
              <a:t>2006</a:t>
            </a:r>
            <a:r>
              <a:rPr lang="zh-CN" altLang="en-US" b="0" dirty="0" smtClean="0"/>
              <a:t>年，加拿大多伦多大学教授</a:t>
            </a:r>
            <a:r>
              <a:rPr lang="en-US" altLang="zh-CN" dirty="0" smtClean="0"/>
              <a:t>Geoffrey Hinton</a:t>
            </a:r>
            <a:r>
              <a:rPr lang="zh-CN" altLang="en-US" b="0" dirty="0" smtClean="0"/>
              <a:t>对</a:t>
            </a:r>
            <a:r>
              <a:rPr lang="zh-CN" altLang="en-US" dirty="0" smtClean="0"/>
              <a:t>深度学习的提出以及模型训练方法的改进打破了</a:t>
            </a:r>
            <a:r>
              <a:rPr lang="en-US" altLang="zh-CN" dirty="0" smtClean="0"/>
              <a:t>BP</a:t>
            </a:r>
            <a:r>
              <a:rPr lang="zh-CN" altLang="en-US" dirty="0" smtClean="0"/>
              <a:t>神经网络发展的瓶颈</a:t>
            </a:r>
            <a:r>
              <a:rPr lang="zh-CN" altLang="en-US" b="0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（例如微软研究院</a:t>
            </a:r>
            <a:r>
              <a:rPr lang="en-US" altLang="zh-CN" dirty="0" smtClean="0"/>
              <a:t>2015</a:t>
            </a:r>
            <a:r>
              <a:rPr lang="zh-CN" altLang="en-US" dirty="0" smtClean="0"/>
              <a:t>年在</a:t>
            </a:r>
            <a:r>
              <a:rPr lang="en-US" altLang="zh-CN" dirty="0" smtClean="0"/>
              <a:t>Image Net</a:t>
            </a:r>
            <a:r>
              <a:rPr lang="zh-CN" altLang="en-US" dirty="0" smtClean="0"/>
              <a:t>竞赛获胜使用</a:t>
            </a:r>
            <a:r>
              <a:rPr lang="en-US" altLang="zh-CN" dirty="0" smtClean="0"/>
              <a:t>152</a:t>
            </a:r>
            <a:r>
              <a:rPr lang="zh-CN" altLang="en-US" dirty="0" smtClean="0"/>
              <a:t>层网络）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 smtClean="0"/>
              <a:t>CNN: Convolutional NN [Le Cun and Bengio,  1995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训练神经网络模型时，如果训练样本较少，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为了防止模型过拟合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可以作为一种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trikc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供选择。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hintion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最近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年提出的，源于其文章</a:t>
            </a:r>
            <a:r>
              <a:rPr lang="en-US" altLang="zh-CN" sz="1200" b="0" i="1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Improving neural networks by preventing co-adaptation of feature detectors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.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中文大意为：通过阻止特征检测器的共同作用来提高神经网络的性能。本篇博文就是按照这篇论文简单介绍下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的思想，以及从用一个简单的例子来说明该如何使用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Dropout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是指在模型训练时随机让网络某些隐含层节点的权重不工作，不工作的那些节点可以暂时认为不是网络结构的一部分，但是它的权重得保留下来（只是暂时不更新而已），因为下次样本输入时它可能又得工作了（有点抽象，具体实现看后面的实验部分）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empirical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Rademacher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complexity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描述了假设集对一组样本的表达的丰富度，而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Rademacher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complexity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描述的是假设集对一个分布的表达的丰富度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F57427-B8B5-4D24-A9D7-9D6F6382E6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2438401"/>
            <a:ext cx="9009185" cy="1052513"/>
            <a:chOff x="0" y="0"/>
            <a:chExt cx="5675" cy="663"/>
          </a:xfrm>
        </p:grpSpPr>
        <p:grpSp>
          <p:nvGrpSpPr>
            <p:cNvPr id="2051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noProof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4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D5A3878-68F3-45F5-8CE5-B10A948053B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36511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1509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FCA52-35BE-435D-97C2-A408D337DE8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3568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0106" y="970384"/>
            <a:ext cx="381586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E62D2-D264-4337-A19B-38BEDDBEBCE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B25B2-8CD4-4E83-80AD-E0B7F4C85BF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3C547-B64A-4E2F-A6FC-68A598118A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A150F-B1C5-4363-A5AD-8A53B12CA15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7003D-06A9-418B-9E36-B2D925D2A0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BAD4-93F4-4D00-B7FE-FF47E0DCFB9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6A2AB-B9EE-408D-BB4B-51D32C4155C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539" y="617539"/>
            <a:ext cx="1950427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327" y="617539"/>
            <a:ext cx="5713534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AFC95-745C-4519-8D02-578071E7EC8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2008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91269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635" y="152574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52574"/>
            <a:ext cx="328246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0728" y="574849"/>
            <a:ext cx="423496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470" y="574849"/>
            <a:ext cx="367812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489" y="501824"/>
            <a:ext cx="55977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1" y="44624"/>
            <a:ext cx="32238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547" y="835198"/>
            <a:ext cx="8226669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42116" y="24359"/>
            <a:ext cx="7427100" cy="812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dirty="0" smtClean="0"/>
              <a:t>单击此处编辑母版标题样式</a:t>
            </a:r>
            <a:endParaRPr lang="zh-CN" dirty="0" smtClean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066" y="836712"/>
            <a:ext cx="7772400" cy="4690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dirty="0" smtClean="0"/>
              <a:t>单击此处编辑母版文本样式</a:t>
            </a:r>
            <a:endParaRPr lang="zh-CN" dirty="0" smtClean="0"/>
          </a:p>
          <a:p>
            <a:pPr lvl="1"/>
            <a:r>
              <a:rPr lang="zh-CN" dirty="0" smtClean="0"/>
              <a:t>第二级</a:t>
            </a:r>
            <a:endParaRPr lang="zh-CN" dirty="0" smtClean="0"/>
          </a:p>
          <a:p>
            <a:pPr lvl="2"/>
            <a:r>
              <a:rPr lang="zh-CN" dirty="0" smtClean="0"/>
              <a:t>第三级</a:t>
            </a:r>
            <a:endParaRPr lang="zh-CN" dirty="0" smtClean="0"/>
          </a:p>
          <a:p>
            <a:pPr lvl="3"/>
            <a:r>
              <a:rPr lang="zh-CN" dirty="0" smtClean="0"/>
              <a:t>第四级</a:t>
            </a:r>
            <a:endParaRPr lang="zh-CN" dirty="0" smtClean="0"/>
          </a:p>
          <a:p>
            <a:pPr lvl="4"/>
            <a:r>
              <a:rPr lang="zh-CN" dirty="0" smtClean="0"/>
              <a:t>第五级</a:t>
            </a:r>
            <a:endParaRPr lang="zh-CN" dirty="0" smtClean="0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2082EF7-E0C7-46B1-9175-A6A81E4D74A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over dir="u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n-ea"/>
          <a:ea typeface="+mn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spcBef>
          <a:spcPts val="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just" rtl="0" eaLnBrk="1" fontAlgn="base" hangingPunct="1">
        <a:spcBef>
          <a:spcPts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just" rtl="0" eaLnBrk="1" fontAlgn="base" hangingPunct="1">
        <a:spcBef>
          <a:spcPts val="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just" rtl="0" eaLnBrk="1" fontAlgn="base" hangingPunct="1">
        <a:spcBef>
          <a:spcPts val="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37" Type="http://schemas.openxmlformats.org/officeDocument/2006/relationships/notesSlide" Target="../notesSlides/notesSlide7.xml"/><Relationship Id="rId36" Type="http://schemas.openxmlformats.org/officeDocument/2006/relationships/vmlDrawing" Target="../drawings/vmlDrawing2.vml"/><Relationship Id="rId35" Type="http://schemas.openxmlformats.org/officeDocument/2006/relationships/slideLayout" Target="../slideLayouts/slideLayout2.xml"/><Relationship Id="rId34" Type="http://schemas.openxmlformats.org/officeDocument/2006/relationships/image" Target="../media/image20.wmf"/><Relationship Id="rId33" Type="http://schemas.openxmlformats.org/officeDocument/2006/relationships/oleObject" Target="../embeddings/oleObject19.bin"/><Relationship Id="rId32" Type="http://schemas.openxmlformats.org/officeDocument/2006/relationships/image" Target="../media/image19.wmf"/><Relationship Id="rId31" Type="http://schemas.openxmlformats.org/officeDocument/2006/relationships/oleObject" Target="../embeddings/oleObject18.bin"/><Relationship Id="rId30" Type="http://schemas.openxmlformats.org/officeDocument/2006/relationships/image" Target="../media/image18.wmf"/><Relationship Id="rId3" Type="http://schemas.openxmlformats.org/officeDocument/2006/relationships/oleObject" Target="../embeddings/oleObject3.bin"/><Relationship Id="rId29" Type="http://schemas.openxmlformats.org/officeDocument/2006/relationships/oleObject" Target="../embeddings/oleObject17.bin"/><Relationship Id="rId28" Type="http://schemas.openxmlformats.org/officeDocument/2006/relationships/image" Target="../media/image17.wmf"/><Relationship Id="rId27" Type="http://schemas.openxmlformats.org/officeDocument/2006/relationships/oleObject" Target="../embeddings/oleObject16.bin"/><Relationship Id="rId26" Type="http://schemas.openxmlformats.org/officeDocument/2006/relationships/image" Target="../media/image16.wmf"/><Relationship Id="rId25" Type="http://schemas.openxmlformats.org/officeDocument/2006/relationships/oleObject" Target="../embeddings/oleObject15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14.bin"/><Relationship Id="rId22" Type="http://schemas.openxmlformats.org/officeDocument/2006/relationships/oleObject" Target="../embeddings/oleObject13.bin"/><Relationship Id="rId21" Type="http://schemas.openxmlformats.org/officeDocument/2006/relationships/oleObject" Target="../embeddings/oleObject12.bin"/><Relationship Id="rId20" Type="http://schemas.openxmlformats.org/officeDocument/2006/relationships/image" Target="../media/image14.wmf"/><Relationship Id="rId2" Type="http://schemas.openxmlformats.org/officeDocument/2006/relationships/image" Target="../media/image4.wmf"/><Relationship Id="rId19" Type="http://schemas.openxmlformats.org/officeDocument/2006/relationships/oleObject" Target="../embeddings/oleObject11.bin"/><Relationship Id="rId18" Type="http://schemas.openxmlformats.org/officeDocument/2006/relationships/image" Target="../media/image13.wmf"/><Relationship Id="rId17" Type="http://schemas.openxmlformats.org/officeDocument/2006/relationships/oleObject" Target="../embeddings/oleObject10.bin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1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7.wmf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35.wmf"/><Relationship Id="rId2" Type="http://schemas.openxmlformats.org/officeDocument/2006/relationships/oleObject" Target="../embeddings/oleObject29.bin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wmf"/><Relationship Id="rId8" Type="http://schemas.openxmlformats.org/officeDocument/2006/relationships/oleObject" Target="../embeddings/oleObject35.bin"/><Relationship Id="rId7" Type="http://schemas.openxmlformats.org/officeDocument/2006/relationships/image" Target="../media/image40.wmf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3.bin"/><Relationship Id="rId3" Type="http://schemas.openxmlformats.org/officeDocument/2006/relationships/image" Target="../media/image38.wmf"/><Relationship Id="rId21" Type="http://schemas.openxmlformats.org/officeDocument/2006/relationships/notesSlide" Target="../notesSlides/notesSlide12.xml"/><Relationship Id="rId20" Type="http://schemas.openxmlformats.org/officeDocument/2006/relationships/vmlDrawing" Target="../drawings/vmlDrawing6.vml"/><Relationship Id="rId2" Type="http://schemas.openxmlformats.org/officeDocument/2006/relationships/oleObject" Target="../embeddings/oleObject32.bin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1.bin"/><Relationship Id="rId16" Type="http://schemas.openxmlformats.org/officeDocument/2006/relationships/oleObject" Target="../embeddings/oleObject40.bin"/><Relationship Id="rId15" Type="http://schemas.openxmlformats.org/officeDocument/2006/relationships/oleObject" Target="../embeddings/oleObject39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38.bin"/><Relationship Id="rId12" Type="http://schemas.openxmlformats.org/officeDocument/2006/relationships/oleObject" Target="../embeddings/oleObject37.bin"/><Relationship Id="rId11" Type="http://schemas.openxmlformats.org/officeDocument/2006/relationships/image" Target="../media/image42.wmf"/><Relationship Id="rId10" Type="http://schemas.openxmlformats.org/officeDocument/2006/relationships/oleObject" Target="../embeddings/oleObject36.bin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wmf"/><Relationship Id="rId8" Type="http://schemas.openxmlformats.org/officeDocument/2006/relationships/oleObject" Target="../embeddings/oleObject45.bin"/><Relationship Id="rId7" Type="http://schemas.openxmlformats.org/officeDocument/2006/relationships/image" Target="../media/image46.wmf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3.bin"/><Relationship Id="rId3" Type="http://schemas.openxmlformats.org/officeDocument/2006/relationships/image" Target="../media/image41.wmf"/><Relationship Id="rId2" Type="http://schemas.openxmlformats.org/officeDocument/2006/relationships/oleObject" Target="../embeddings/oleObject42.bin"/><Relationship Id="rId15" Type="http://schemas.openxmlformats.org/officeDocument/2006/relationships/notesSlide" Target="../notesSlides/notesSlide13.xml"/><Relationship Id="rId14" Type="http://schemas.openxmlformats.org/officeDocument/2006/relationships/vmlDrawing" Target="../drawings/vmlDrawing7.vml"/><Relationship Id="rId13" Type="http://schemas.openxmlformats.org/officeDocument/2006/relationships/slideLayout" Target="../slideLayouts/slideLayout2.xml"/><Relationship Id="rId12" Type="http://schemas.openxmlformats.org/officeDocument/2006/relationships/oleObject" Target="../embeddings/oleObject47.bin"/><Relationship Id="rId11" Type="http://schemas.openxmlformats.org/officeDocument/2006/relationships/image" Target="../media/image48.wmf"/><Relationship Id="rId10" Type="http://schemas.openxmlformats.org/officeDocument/2006/relationships/oleObject" Target="../embeddings/oleObject46.bin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9.bin"/><Relationship Id="rId21" Type="http://schemas.openxmlformats.org/officeDocument/2006/relationships/vmlDrawing" Target="../drawings/vmlDrawing8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49.wmf"/><Relationship Id="rId19" Type="http://schemas.openxmlformats.org/officeDocument/2006/relationships/image" Target="../media/image34.png"/><Relationship Id="rId18" Type="http://schemas.openxmlformats.org/officeDocument/2006/relationships/image" Target="../media/image57.w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56.w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55.w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48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oleObject" Target="../embeddings/oleObject60.bin"/><Relationship Id="rId7" Type="http://schemas.openxmlformats.org/officeDocument/2006/relationships/image" Target="../media/image60.wmf"/><Relationship Id="rId6" Type="http://schemas.openxmlformats.org/officeDocument/2006/relationships/oleObject" Target="../embeddings/oleObject59.bin"/><Relationship Id="rId5" Type="http://schemas.openxmlformats.org/officeDocument/2006/relationships/image" Target="../media/image34.png"/><Relationship Id="rId4" Type="http://schemas.openxmlformats.org/officeDocument/2006/relationships/image" Target="../media/image59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8.wmf"/><Relationship Id="rId14" Type="http://schemas.openxmlformats.org/officeDocument/2006/relationships/notesSlide" Target="../notesSlides/notesSlide14.xml"/><Relationship Id="rId13" Type="http://schemas.openxmlformats.org/officeDocument/2006/relationships/vmlDrawing" Target="../drawings/vmlDrawing9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2.wmf"/><Relationship Id="rId10" Type="http://schemas.openxmlformats.org/officeDocument/2006/relationships/oleObject" Target="../embeddings/oleObject61.bin"/><Relationship Id="rId1" Type="http://schemas.openxmlformats.org/officeDocument/2006/relationships/oleObject" Target="../embeddings/oleObject5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7.wmf"/><Relationship Id="rId6" Type="http://schemas.openxmlformats.org/officeDocument/2006/relationships/oleObject" Target="../embeddings/oleObject64.bin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3.bin"/><Relationship Id="rId3" Type="http://schemas.openxmlformats.org/officeDocument/2006/relationships/image" Target="../media/image65.png"/><Relationship Id="rId2" Type="http://schemas.openxmlformats.org/officeDocument/2006/relationships/image" Target="../media/image64.wmf"/><Relationship Id="rId1" Type="http://schemas.openxmlformats.org/officeDocument/2006/relationships/oleObject" Target="../embeddings/oleObject6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65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2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71.wmf"/><Relationship Id="rId1" Type="http://schemas.openxmlformats.org/officeDocument/2006/relationships/oleObject" Target="../embeddings/oleObject66.bin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4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73.wmf"/><Relationship Id="rId1" Type="http://schemas.openxmlformats.org/officeDocument/2006/relationships/oleObject" Target="../embeddings/oleObject6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9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6.wmf"/><Relationship Id="rId11" Type="http://schemas.openxmlformats.org/officeDocument/2006/relationships/notesSlide" Target="../notesSlides/notesSlide20.xml"/><Relationship Id="rId10" Type="http://schemas.openxmlformats.org/officeDocument/2006/relationships/vmlDrawing" Target="../drawings/vmlDrawing14.vml"/><Relationship Id="rId1" Type="http://schemas.openxmlformats.org/officeDocument/2006/relationships/oleObject" Target="../embeddings/oleObject70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84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7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3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82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80.bin"/><Relationship Id="rId26" Type="http://schemas.openxmlformats.org/officeDocument/2006/relationships/notesSlide" Target="../notesSlides/notesSlide27.xml"/><Relationship Id="rId25" Type="http://schemas.openxmlformats.org/officeDocument/2006/relationships/vmlDrawing" Target="../drawings/vmlDrawing16.v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99.wmf"/><Relationship Id="rId22" Type="http://schemas.openxmlformats.org/officeDocument/2006/relationships/oleObject" Target="../embeddings/oleObject90.bin"/><Relationship Id="rId21" Type="http://schemas.openxmlformats.org/officeDocument/2006/relationships/image" Target="../media/image98.wmf"/><Relationship Id="rId20" Type="http://schemas.openxmlformats.org/officeDocument/2006/relationships/oleObject" Target="../embeddings/oleObject89.bin"/><Relationship Id="rId2" Type="http://schemas.openxmlformats.org/officeDocument/2006/relationships/image" Target="../media/image89.wmf"/><Relationship Id="rId19" Type="http://schemas.openxmlformats.org/officeDocument/2006/relationships/image" Target="../media/image97.wmf"/><Relationship Id="rId18" Type="http://schemas.openxmlformats.org/officeDocument/2006/relationships/oleObject" Target="../embeddings/oleObject88.bin"/><Relationship Id="rId17" Type="http://schemas.openxmlformats.org/officeDocument/2006/relationships/image" Target="../media/image96.wmf"/><Relationship Id="rId16" Type="http://schemas.openxmlformats.org/officeDocument/2006/relationships/oleObject" Target="../embeddings/oleObject87.bin"/><Relationship Id="rId15" Type="http://schemas.openxmlformats.org/officeDocument/2006/relationships/oleObject" Target="../embeddings/oleObject86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85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84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79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253808" cy="1143000"/>
          </a:xfrm>
        </p:spPr>
        <p:txBody>
          <a:bodyPr/>
          <a:lstStyle/>
          <a:p>
            <a:pPr algn="ctr">
              <a:defRPr/>
            </a:pPr>
            <a:r>
              <a:rPr lang="zh-CN" altLang="en-US" sz="6000" dirty="0" smtClean="0"/>
              <a:t>第</a:t>
            </a:r>
            <a:r>
              <a:rPr lang="en-US" altLang="zh-CN" sz="6000" dirty="0" smtClean="0"/>
              <a:t>5</a:t>
            </a:r>
            <a:r>
              <a:rPr lang="zh-CN" altLang="en-US" sz="6000" dirty="0" smtClean="0"/>
              <a:t>章 </a:t>
            </a:r>
            <a:r>
              <a:rPr lang="zh-CN" altLang="en-US" sz="6000" dirty="0"/>
              <a:t>神经网络</a:t>
            </a:r>
            <a:endParaRPr lang="zh-CN" altLang="en-US" sz="6000" b="1" dirty="0" smtClean="0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7EB2F07-B42F-46A0-B759-6009FAA90BFB}" type="slidenum">
              <a:rPr lang="en-US" altLang="zh-CN"/>
            </a:fld>
            <a:endParaRPr lang="en-US" altLang="zh-CN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latin typeface="+mn-ea"/>
              </a:rPr>
              <a:t>神经元模型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+mn-ea"/>
              </a:rPr>
              <a:t>感知机</a:t>
            </a:r>
            <a:r>
              <a:rPr lang="zh-CN" altLang="en-US" dirty="0">
                <a:latin typeface="+mn-ea"/>
              </a:rPr>
              <a:t>与多层网络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/>
              <a:t>误差</a:t>
            </a:r>
            <a:r>
              <a:rPr lang="zh-CN" altLang="en-US" dirty="0"/>
              <a:t>逆传播</a:t>
            </a:r>
            <a:r>
              <a:rPr lang="zh-CN" altLang="en-US" dirty="0" smtClean="0"/>
              <a:t>算法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全局</a:t>
            </a:r>
            <a:r>
              <a:rPr lang="zh-CN" altLang="en-US" dirty="0"/>
              <a:t>最小与局部极</a:t>
            </a:r>
            <a:r>
              <a:rPr lang="zh-CN" altLang="en-US" dirty="0" smtClean="0"/>
              <a:t>小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其他</a:t>
            </a:r>
            <a:r>
              <a:rPr lang="zh-CN" altLang="en-US" dirty="0"/>
              <a:t>常见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dirty="0" smtClean="0"/>
              <a:t>深度</a:t>
            </a:r>
            <a:r>
              <a:rPr lang="zh-CN" altLang="en-US" dirty="0"/>
              <a:t>学习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5.0 </a:t>
            </a:r>
            <a:r>
              <a:rPr lang="zh-CN" altLang="en-US" dirty="0"/>
              <a:t>神经网络发展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017344"/>
            <a:ext cx="8880442" cy="5508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5.0 </a:t>
            </a:r>
            <a:r>
              <a:rPr lang="zh-CN" altLang="en-US" dirty="0"/>
              <a:t>神经网络发展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启示</a:t>
            </a:r>
            <a:endParaRPr lang="en-US" altLang="zh-CN" dirty="0" smtClean="0"/>
          </a:p>
          <a:p>
            <a:pPr lvl="1">
              <a:spcBef>
                <a:spcPts val="600"/>
              </a:spcBef>
            </a:pPr>
            <a:r>
              <a:rPr lang="zh-CN" altLang="en-US" dirty="0"/>
              <a:t>科学的发展</a:t>
            </a:r>
            <a:r>
              <a:rPr lang="zh-CN" altLang="en-US" dirty="0" smtClean="0"/>
              <a:t>总是螺旋式上升</a:t>
            </a:r>
            <a:endParaRPr lang="en-US" altLang="zh-CN" dirty="0" smtClean="0"/>
          </a:p>
          <a:p>
            <a:pPr lvl="1">
              <a:spcBef>
                <a:spcPts val="1200"/>
              </a:spcBef>
            </a:pPr>
            <a:r>
              <a:rPr lang="zh-CN" altLang="en-US" dirty="0"/>
              <a:t>三十年河东、三十年河西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追热门、</a:t>
            </a:r>
            <a:r>
              <a:rPr lang="zh-CN" altLang="en-US" dirty="0" smtClean="0"/>
              <a:t>赶潮流，三思</a:t>
            </a:r>
            <a:r>
              <a:rPr lang="zh-CN" altLang="en-US" dirty="0"/>
              <a:t>而后行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 </a:t>
            </a:r>
            <a:r>
              <a:rPr lang="zh-CN" altLang="en-US" dirty="0" smtClean="0"/>
              <a:t>神经元模型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1"/>
            <a:r>
              <a:rPr lang="zh-CN" altLang="en-US" dirty="0"/>
              <a:t>由具有适应性的简单单元组成的广泛并行互连的网络，它的组织能够模拟生物神经系统对真实世界物体所作出的交互反应</a:t>
            </a:r>
            <a:endParaRPr lang="en-US" altLang="zh-CN" dirty="0"/>
          </a:p>
          <a:p>
            <a:pPr lvl="1" hangingPunct="0"/>
            <a:r>
              <a:rPr lang="zh-CN" altLang="en-US" dirty="0" smtClean="0"/>
              <a:t>一</a:t>
            </a:r>
            <a:r>
              <a:rPr lang="zh-CN" altLang="en-US" dirty="0"/>
              <a:t>个</a:t>
            </a:r>
            <a:r>
              <a:rPr lang="zh-CN" altLang="en-US" dirty="0" smtClean="0"/>
              <a:t>很大</a:t>
            </a:r>
            <a:r>
              <a:rPr lang="zh-CN" altLang="en-US" dirty="0"/>
              <a:t>的学科</a:t>
            </a:r>
            <a:r>
              <a:rPr lang="zh-CN" altLang="en-US" dirty="0" smtClean="0"/>
              <a:t>，是多</a:t>
            </a:r>
            <a:r>
              <a:rPr lang="zh-CN" altLang="en-US" dirty="0"/>
              <a:t>学科交叉的学科</a:t>
            </a:r>
            <a:r>
              <a:rPr lang="zh-CN" altLang="en-US" dirty="0" smtClean="0"/>
              <a:t>领域，这里主要讨论神经网络学习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 </a:t>
            </a:r>
            <a:r>
              <a:rPr lang="zh-CN" altLang="en-US" dirty="0" smtClean="0"/>
              <a:t>神经元模型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生物神经元模型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神经网络中最基本的成分是</a:t>
            </a:r>
            <a:r>
              <a:rPr lang="zh-CN" altLang="en-US" dirty="0" smtClean="0">
                <a:latin typeface="+mn-ea"/>
              </a:rPr>
              <a:t>神经元，即简单单元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在</a:t>
            </a:r>
            <a:r>
              <a:rPr lang="zh-CN" altLang="en-US" dirty="0">
                <a:latin typeface="+mn-ea"/>
              </a:rPr>
              <a:t>生物神经网络中</a:t>
            </a:r>
            <a:r>
              <a:rPr lang="zh-CN" altLang="en-US" dirty="0" smtClean="0">
                <a:latin typeface="+mn-ea"/>
              </a:rPr>
              <a:t>，每个</a:t>
            </a:r>
            <a:r>
              <a:rPr lang="zh-CN" altLang="en-US" dirty="0">
                <a:latin typeface="+mn-ea"/>
              </a:rPr>
              <a:t>神经元与其他神经元</a:t>
            </a:r>
            <a:r>
              <a:rPr lang="zh-CN" altLang="en-US" dirty="0" smtClean="0">
                <a:latin typeface="+mn-ea"/>
              </a:rPr>
              <a:t>相连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当神经元兴奋时</a:t>
            </a:r>
            <a:r>
              <a:rPr lang="zh-CN" altLang="en-US" dirty="0">
                <a:latin typeface="+mn-ea"/>
              </a:rPr>
              <a:t>，就会向相连的神经元发送化学物质，从而改变这些神经元内的</a:t>
            </a:r>
            <a:r>
              <a:rPr lang="zh-CN" altLang="en-US" dirty="0" smtClean="0">
                <a:latin typeface="+mn-ea"/>
              </a:rPr>
              <a:t>电位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如果神经元</a:t>
            </a:r>
            <a:r>
              <a:rPr lang="zh-CN" altLang="en-US" dirty="0">
                <a:latin typeface="+mn-ea"/>
              </a:rPr>
              <a:t>的电位</a:t>
            </a:r>
            <a:r>
              <a:rPr lang="zh-CN" altLang="en-US" dirty="0" smtClean="0">
                <a:latin typeface="+mn-ea"/>
              </a:rPr>
              <a:t>超过阈值，就</a:t>
            </a:r>
            <a:r>
              <a:rPr lang="zh-CN" altLang="en-US" dirty="0">
                <a:latin typeface="+mn-ea"/>
              </a:rPr>
              <a:t>会被激活，</a:t>
            </a:r>
            <a:r>
              <a:rPr lang="zh-CN" altLang="en-US" dirty="0" smtClean="0">
                <a:latin typeface="+mn-ea"/>
              </a:rPr>
              <a:t>即兴奋起来，</a:t>
            </a:r>
            <a:r>
              <a:rPr lang="zh-CN" altLang="en-US" dirty="0">
                <a:latin typeface="+mn-ea"/>
              </a:rPr>
              <a:t>向其他神经元发送化学物质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 </a:t>
            </a:r>
            <a:r>
              <a:rPr lang="zh-CN" altLang="en-US" dirty="0" smtClean="0"/>
              <a:t>神经元模型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836712"/>
            <a:ext cx="8219256" cy="4690864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M-P</a:t>
            </a:r>
            <a:r>
              <a:rPr lang="zh-CN" altLang="en-US" dirty="0" smtClean="0">
                <a:latin typeface="+mn-ea"/>
              </a:rPr>
              <a:t>神经元模型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神经元</a:t>
            </a:r>
            <a:r>
              <a:rPr lang="zh-CN" altLang="en-US" dirty="0" smtClean="0">
                <a:latin typeface="+mn-ea"/>
              </a:rPr>
              <a:t>接收来自其他</a:t>
            </a:r>
            <a:r>
              <a:rPr lang="zh-CN" altLang="en-US" dirty="0">
                <a:latin typeface="+mn-ea"/>
              </a:rPr>
              <a:t>神经元</a:t>
            </a:r>
            <a:r>
              <a:rPr lang="zh-CN" altLang="en-US" dirty="0" smtClean="0">
                <a:latin typeface="+mn-ea"/>
              </a:rPr>
              <a:t>传递的</a:t>
            </a:r>
            <a:r>
              <a:rPr lang="zh-CN" altLang="en-US" dirty="0">
                <a:latin typeface="+mn-ea"/>
              </a:rPr>
              <a:t>输入信号，这些输入信号通过带权重的</a:t>
            </a:r>
            <a:r>
              <a:rPr lang="zh-CN" altLang="en-US" dirty="0" smtClean="0">
                <a:latin typeface="+mn-ea"/>
              </a:rPr>
              <a:t>连接进行传递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神经元</a:t>
            </a:r>
            <a:r>
              <a:rPr lang="zh-CN" altLang="en-US" dirty="0">
                <a:latin typeface="+mn-ea"/>
              </a:rPr>
              <a:t>接收到的总输入值将与神经元</a:t>
            </a:r>
            <a:r>
              <a:rPr lang="zh-CN" altLang="en-US" dirty="0" smtClean="0">
                <a:latin typeface="+mn-ea"/>
              </a:rPr>
              <a:t>的阈值</a:t>
            </a:r>
            <a:r>
              <a:rPr lang="zh-CN" altLang="en-US" dirty="0">
                <a:latin typeface="+mn-ea"/>
              </a:rPr>
              <a:t>进行比较</a:t>
            </a:r>
            <a:r>
              <a:rPr lang="zh-CN" altLang="en-US" dirty="0" smtClean="0">
                <a:latin typeface="+mn-ea"/>
              </a:rPr>
              <a:t>，通过激活函数处理产生神经元输出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2"/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757" y="3140968"/>
            <a:ext cx="7520675" cy="345638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神经元模型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激活函数</a:t>
            </a:r>
            <a:endParaRPr lang="zh-CN" altLang="en-US" dirty="0"/>
          </a:p>
          <a:p>
            <a:pPr lvl="1"/>
            <a:r>
              <a:rPr lang="zh-CN" altLang="en-US" dirty="0">
                <a:latin typeface="+mn-ea"/>
              </a:rPr>
              <a:t>理想激活函数是</a:t>
            </a:r>
            <a:r>
              <a:rPr lang="zh-CN" altLang="en-US" dirty="0" smtClean="0">
                <a:latin typeface="+mn-ea"/>
              </a:rPr>
              <a:t>阶跃函数</a:t>
            </a:r>
            <a:r>
              <a:rPr lang="en-US" altLang="zh-CN" dirty="0" smtClean="0">
                <a:latin typeface="+mn-ea"/>
              </a:rPr>
              <a:t>, 0</a:t>
            </a:r>
            <a:r>
              <a:rPr lang="zh-CN" altLang="en-US" dirty="0" smtClean="0">
                <a:latin typeface="+mn-ea"/>
              </a:rPr>
              <a:t>表示</a:t>
            </a:r>
            <a:r>
              <a:rPr lang="zh-CN" altLang="en-US" dirty="0">
                <a:latin typeface="+mn-ea"/>
              </a:rPr>
              <a:t>抑制神经元</a:t>
            </a:r>
            <a:r>
              <a:rPr lang="zh-CN" altLang="en-US" dirty="0" smtClean="0">
                <a:latin typeface="+mn-ea"/>
              </a:rPr>
              <a:t>而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表示</a:t>
            </a:r>
            <a:r>
              <a:rPr lang="zh-CN" altLang="en-US" dirty="0">
                <a:latin typeface="+mn-ea"/>
              </a:rPr>
              <a:t>激活</a:t>
            </a:r>
            <a:r>
              <a:rPr lang="zh-CN" altLang="en-US" dirty="0" smtClean="0">
                <a:latin typeface="+mn-ea"/>
              </a:rPr>
              <a:t>神经元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不连续</a:t>
            </a:r>
            <a:r>
              <a:rPr lang="zh-CN" altLang="en-US" dirty="0">
                <a:latin typeface="+mn-ea"/>
              </a:rPr>
              <a:t>、不光滑等不好的性质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常用</a:t>
            </a:r>
            <a:r>
              <a:rPr lang="en-US" altLang="zh-CN" dirty="0" smtClean="0">
                <a:latin typeface="+mn-ea"/>
              </a:rPr>
              <a:t>Sigmoid</a:t>
            </a:r>
            <a:r>
              <a:rPr lang="zh-CN" altLang="en-US" dirty="0" smtClean="0">
                <a:latin typeface="+mn-ea"/>
              </a:rPr>
              <a:t>函数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可将较大范围的</a:t>
            </a:r>
            <a:r>
              <a:rPr lang="zh-CN" altLang="en-US" dirty="0">
                <a:latin typeface="+mn-ea"/>
              </a:rPr>
              <a:t>输入值挤压到</a:t>
            </a:r>
            <a:r>
              <a:rPr lang="en-US" altLang="zh-CN" dirty="0">
                <a:latin typeface="+mn-ea"/>
              </a:rPr>
              <a:t>(0,1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 范围</a:t>
            </a:r>
            <a:r>
              <a:rPr lang="zh-CN" altLang="en-US" dirty="0">
                <a:latin typeface="+mn-ea"/>
              </a:rPr>
              <a:t>内</a:t>
            </a:r>
            <a:r>
              <a:rPr lang="zh-CN" altLang="en-US" dirty="0" smtClean="0">
                <a:latin typeface="+mn-ea"/>
              </a:rPr>
              <a:t>，也称挤压函数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13240"/>
          <a:stretch>
            <a:fillRect/>
          </a:stretch>
        </p:blipFill>
        <p:spPr>
          <a:xfrm>
            <a:off x="1331640" y="3753376"/>
            <a:ext cx="6473197" cy="3060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神经元模型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将许多</a:t>
            </a:r>
            <a:r>
              <a:rPr lang="zh-CN" altLang="en-US" dirty="0"/>
              <a:t>个这样的神经元按一定的层次结构连接起来，就得到了神经网络</a:t>
            </a:r>
            <a:endParaRPr lang="en-US" altLang="zh-CN" dirty="0"/>
          </a:p>
          <a:p>
            <a:pPr lvl="1"/>
            <a:r>
              <a:rPr lang="zh-CN" altLang="en-US" dirty="0" smtClean="0"/>
              <a:t>神经网络</a:t>
            </a:r>
            <a:r>
              <a:rPr lang="zh-CN" altLang="en-US" dirty="0"/>
              <a:t>学得</a:t>
            </a:r>
            <a:r>
              <a:rPr lang="zh-CN" altLang="en-US" dirty="0" smtClean="0"/>
              <a:t>的知识</a:t>
            </a:r>
            <a:r>
              <a:rPr lang="zh-CN" altLang="en-US" dirty="0"/>
              <a:t>蕴含</a:t>
            </a:r>
            <a:r>
              <a:rPr lang="zh-CN" altLang="en-US" dirty="0" smtClean="0"/>
              <a:t>在神经元的连接权</a:t>
            </a:r>
            <a:r>
              <a:rPr lang="zh-CN" altLang="en-US" dirty="0"/>
              <a:t>与阈值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pPr lvl="1" hangingPunct="0"/>
            <a:r>
              <a:rPr lang="zh-CN" altLang="en-US" dirty="0" smtClean="0"/>
              <a:t>神经网络可看做是包含许多</a:t>
            </a:r>
            <a:r>
              <a:rPr lang="zh-CN" altLang="en-US" dirty="0"/>
              <a:t>参数的数学模型，这个模型是若干个函数</a:t>
            </a:r>
            <a:r>
              <a:rPr lang="zh-CN" altLang="en-US" dirty="0" smtClean="0"/>
              <a:t>，如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神经网络</a:t>
            </a:r>
            <a:r>
              <a:rPr lang="zh-CN" altLang="en-US" dirty="0"/>
              <a:t>学习算法大多以数学证明为</a:t>
            </a:r>
            <a:r>
              <a:rPr lang="zh-CN" altLang="en-US" dirty="0" smtClean="0"/>
              <a:t>支撑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501777" y="3472962"/>
          <a:ext cx="2174679" cy="532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" name="Equation" r:id="rId1" imgW="28651200" imgH="7010400" progId="Equation.DSMT4">
                  <p:embed/>
                </p:oleObj>
              </mc:Choice>
              <mc:Fallback>
                <p:oleObj name="Equation" r:id="rId1" imgW="28651200" imgH="7010400" progId="Equation.DSMT4">
                  <p:embed/>
                  <p:pic>
                    <p:nvPicPr>
                      <p:cNvPr id="0" name="图片 1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01777" y="3472962"/>
                        <a:ext cx="2174679" cy="532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 </a:t>
            </a:r>
            <a:r>
              <a:rPr lang="zh-CN" altLang="en-US" dirty="0" smtClean="0"/>
              <a:t>感知机</a:t>
            </a:r>
            <a:r>
              <a:rPr lang="zh-CN" altLang="en-US" dirty="0"/>
              <a:t>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感知机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</a:t>
            </a:r>
            <a:r>
              <a:rPr lang="zh-CN" altLang="en-US" dirty="0"/>
              <a:t>两层神经元组成</a:t>
            </a:r>
            <a:r>
              <a:rPr lang="zh-CN" altLang="en-US" dirty="0" smtClean="0"/>
              <a:t>，输入层</a:t>
            </a:r>
            <a:r>
              <a:rPr lang="zh-CN" altLang="en-US" dirty="0"/>
              <a:t>接收</a:t>
            </a:r>
            <a:r>
              <a:rPr lang="zh-CN" altLang="en-US" dirty="0" smtClean="0"/>
              <a:t>外界</a:t>
            </a:r>
            <a:r>
              <a:rPr lang="zh-CN" altLang="en-US" dirty="0"/>
              <a:t>输入信号后</a:t>
            </a:r>
            <a:r>
              <a:rPr lang="zh-CN" altLang="en-US" dirty="0">
                <a:latin typeface="+mn-ea"/>
              </a:rPr>
              <a:t>传递给输出层，输出层是</a:t>
            </a:r>
            <a:r>
              <a:rPr lang="en-US" altLang="zh-CN" dirty="0">
                <a:latin typeface="+mn-ea"/>
              </a:rPr>
              <a:t>M-P</a:t>
            </a:r>
            <a:r>
              <a:rPr lang="zh-CN" altLang="en-US" dirty="0">
                <a:latin typeface="+mn-ea"/>
              </a:rPr>
              <a:t>神经元</a:t>
            </a:r>
            <a:r>
              <a:rPr lang="zh-CN" altLang="en-US" dirty="0" smtClean="0">
                <a:latin typeface="+mn-ea"/>
              </a:rPr>
              <a:t>，称为阈值逻辑单元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能容</a:t>
            </a:r>
            <a:r>
              <a:rPr lang="zh-CN" altLang="en-US" dirty="0">
                <a:latin typeface="+mn-ea"/>
              </a:rPr>
              <a:t>易地实现逻辑与、或、非运算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3141712"/>
            <a:ext cx="6252034" cy="359965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 </a:t>
            </a:r>
            <a:r>
              <a:rPr lang="zh-CN" altLang="en-US" dirty="0" smtClean="0"/>
              <a:t>感知机</a:t>
            </a:r>
            <a:r>
              <a:rPr lang="zh-CN" altLang="en-US" dirty="0"/>
              <a:t>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感知机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能容</a:t>
            </a:r>
            <a:r>
              <a:rPr lang="zh-CN" altLang="en-US" dirty="0">
                <a:latin typeface="+mn-ea"/>
              </a:rPr>
              <a:t>易地实现逻辑与、或、</a:t>
            </a:r>
            <a:r>
              <a:rPr lang="zh-CN" altLang="en-US" dirty="0" smtClean="0">
                <a:latin typeface="+mn-ea"/>
              </a:rPr>
              <a:t>非运算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 smtClean="0">
                <a:latin typeface="+mn-ea"/>
              </a:rPr>
              <a:t>              </a:t>
            </a:r>
            <a:r>
              <a:rPr lang="zh-CN" altLang="en-US" dirty="0" smtClean="0">
                <a:latin typeface="+mn-ea"/>
              </a:rPr>
              <a:t>，假定</a:t>
            </a:r>
            <a:r>
              <a:rPr lang="en-US" altLang="zh-CN" dirty="0" smtClean="0">
                <a:latin typeface="+mn-ea"/>
              </a:rPr>
              <a:t>f</a:t>
            </a:r>
            <a:r>
              <a:rPr lang="zh-CN" altLang="en-US" dirty="0" smtClean="0">
                <a:latin typeface="+mn-ea"/>
              </a:rPr>
              <a:t>是阶跃函数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与        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令             ，则                </a:t>
            </a:r>
            <a:endParaRPr lang="en-US" altLang="zh-CN" dirty="0" smtClean="0">
              <a:latin typeface="+mn-ea"/>
            </a:endParaRPr>
          </a:p>
          <a:p>
            <a:pPr lvl="5"/>
            <a:r>
              <a:rPr lang="zh-CN" altLang="en-US" dirty="0" smtClean="0">
                <a:latin typeface="+mn-ea"/>
              </a:rPr>
              <a:t>仅在        时，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或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令             </a:t>
            </a:r>
            <a:r>
              <a:rPr lang="zh-CN" altLang="en-US" dirty="0" smtClean="0">
                <a:latin typeface="+mn-ea"/>
              </a:rPr>
              <a:t> ，</a:t>
            </a:r>
            <a:r>
              <a:rPr lang="zh-CN" altLang="en-US" dirty="0">
                <a:latin typeface="+mn-ea"/>
              </a:rPr>
              <a:t>则                </a:t>
            </a:r>
            <a:endParaRPr lang="en-US" altLang="zh-CN" dirty="0">
              <a:latin typeface="+mn-ea"/>
            </a:endParaRPr>
          </a:p>
          <a:p>
            <a:pPr lvl="5"/>
            <a:r>
              <a:rPr lang="zh-CN" altLang="en-US" dirty="0" smtClean="0">
                <a:latin typeface="+mn-ea"/>
              </a:rPr>
              <a:t>当          时，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非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令             </a:t>
            </a:r>
            <a:r>
              <a:rPr lang="zh-CN" altLang="en-US" dirty="0" smtClean="0">
                <a:latin typeface="+mn-ea"/>
              </a:rPr>
              <a:t>       ，</a:t>
            </a:r>
            <a:r>
              <a:rPr lang="zh-CN" altLang="en-US" dirty="0">
                <a:latin typeface="+mn-ea"/>
              </a:rPr>
              <a:t>则                </a:t>
            </a:r>
            <a:endParaRPr lang="en-US" altLang="zh-CN" dirty="0">
              <a:latin typeface="+mn-ea"/>
            </a:endParaRPr>
          </a:p>
          <a:p>
            <a:pPr lvl="5"/>
            <a:r>
              <a:rPr lang="zh-CN" altLang="en-US" dirty="0">
                <a:latin typeface="+mn-ea"/>
              </a:rPr>
              <a:t>当    </a:t>
            </a:r>
            <a:r>
              <a:rPr lang="zh-CN" altLang="en-US" dirty="0" smtClean="0">
                <a:latin typeface="+mn-ea"/>
              </a:rPr>
              <a:t>时，</a:t>
            </a:r>
            <a:endParaRPr lang="en-US" altLang="zh-CN" dirty="0" smtClean="0">
              <a:latin typeface="+mn-ea"/>
            </a:endParaRPr>
          </a:p>
          <a:p>
            <a:pPr lvl="5"/>
            <a:r>
              <a:rPr lang="zh-CN" altLang="en-US" dirty="0">
                <a:latin typeface="+mn-ea"/>
              </a:rPr>
              <a:t>当    时，</a:t>
            </a:r>
            <a:endParaRPr lang="en-US" altLang="zh-CN" dirty="0">
              <a:latin typeface="+mn-ea"/>
            </a:endParaRPr>
          </a:p>
          <a:p>
            <a:pPr lvl="5"/>
            <a:endParaRPr lang="en-US" altLang="zh-CN" dirty="0">
              <a:latin typeface="+mn-ea"/>
            </a:endParaRPr>
          </a:p>
          <a:p>
            <a:pPr lvl="4"/>
            <a:endParaRPr lang="en-US" altLang="zh-CN" dirty="0">
              <a:latin typeface="+mn-ea"/>
            </a:endParaRPr>
          </a:p>
          <a:p>
            <a:pPr lvl="5"/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24032" y="1728442"/>
          <a:ext cx="2174679" cy="532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2" name="Equation" r:id="rId1" imgW="28651200" imgH="7010400" progId="Equation.DSMT4">
                  <p:embed/>
                </p:oleObj>
              </mc:Choice>
              <mc:Fallback>
                <p:oleObj name="Equation" r:id="rId1" imgW="28651200" imgH="7010400" progId="Equation.DSMT4">
                  <p:embed/>
                  <p:pic>
                    <p:nvPicPr>
                      <p:cNvPr id="0" name="图片 186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4032" y="1728442"/>
                        <a:ext cx="2174679" cy="532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34797" y="2122942"/>
          <a:ext cx="9255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3" name="Equation" r:id="rId3" imgW="12192000" imgH="5486400" progId="Equation.DSMT4">
                  <p:embed/>
                </p:oleObj>
              </mc:Choice>
              <mc:Fallback>
                <p:oleObj name="Equation" r:id="rId3" imgW="12192000" imgH="5486400" progId="Equation.DSMT4">
                  <p:embed/>
                  <p:pic>
                    <p:nvPicPr>
                      <p:cNvPr id="0" name="图片 186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4797" y="2122942"/>
                        <a:ext cx="92551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86295" y="2420980"/>
          <a:ext cx="17113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4" name="Equation" r:id="rId5" imgW="22555200" imgH="5486400" progId="Equation.DSMT4">
                  <p:embed/>
                </p:oleObj>
              </mc:Choice>
              <mc:Fallback>
                <p:oleObj name="Equation" r:id="rId5" imgW="22555200" imgH="5486400" progId="Equation.DSMT4">
                  <p:embed/>
                  <p:pic>
                    <p:nvPicPr>
                      <p:cNvPr id="0" name="图片 1867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6295" y="2420980"/>
                        <a:ext cx="171132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257435" y="2420980"/>
          <a:ext cx="20621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5" name="Equation" r:id="rId7" imgW="27127200" imgH="5486400" progId="Equation.DSMT4">
                  <p:embed/>
                </p:oleObj>
              </mc:Choice>
              <mc:Fallback>
                <p:oleObj name="Equation" r:id="rId7" imgW="27127200" imgH="5486400" progId="Equation.DSMT4">
                  <p:embed/>
                  <p:pic>
                    <p:nvPicPr>
                      <p:cNvPr id="0" name="图片 1867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57435" y="2420980"/>
                        <a:ext cx="206216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814037" y="2819491"/>
          <a:ext cx="9731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6" name="Equation" r:id="rId9" imgW="12801600" imgH="5486400" progId="Equation.DSMT4">
                  <p:embed/>
                </p:oleObj>
              </mc:Choice>
              <mc:Fallback>
                <p:oleObj name="Equation" r:id="rId9" imgW="12801600" imgH="5486400" progId="Equation.DSMT4">
                  <p:embed/>
                  <p:pic>
                    <p:nvPicPr>
                      <p:cNvPr id="0" name="图片 1867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14037" y="2819491"/>
                        <a:ext cx="973137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57435" y="2812256"/>
          <a:ext cx="5095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7" name="Equation" r:id="rId11" imgW="6705600" imgH="4876800" progId="Equation.DSMT4">
                  <p:embed/>
                </p:oleObj>
              </mc:Choice>
              <mc:Fallback>
                <p:oleObj name="Equation" r:id="rId11" imgW="6705600" imgH="4876800" progId="Equation.DSMT4">
                  <p:embed/>
                  <p:pic>
                    <p:nvPicPr>
                      <p:cNvPr id="0" name="图片 186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57435" y="2812256"/>
                        <a:ext cx="509588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699792" y="3108614"/>
          <a:ext cx="9255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8" name="Equation" r:id="rId13" imgW="12192000" imgH="5486400" progId="Equation.DSMT4">
                  <p:embed/>
                </p:oleObj>
              </mc:Choice>
              <mc:Fallback>
                <p:oleObj name="Equation" r:id="rId13" imgW="12192000" imgH="5486400" progId="Equation.DSMT4">
                  <p:embed/>
                  <p:pic>
                    <p:nvPicPr>
                      <p:cNvPr id="0" name="图片 1867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9792" y="3108614"/>
                        <a:ext cx="92551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46413" y="3406775"/>
          <a:ext cx="19208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9" name="Equation" r:id="rId15" imgW="25298400" imgH="5486400" progId="Equation.DSMT4">
                  <p:embed/>
                </p:oleObj>
              </mc:Choice>
              <mc:Fallback>
                <p:oleObj name="Equation" r:id="rId15" imgW="25298400" imgH="5486400" progId="Equation.DSMT4">
                  <p:embed/>
                  <p:pic>
                    <p:nvPicPr>
                      <p:cNvPr id="0" name="图片 1867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46413" y="3406775"/>
                        <a:ext cx="1920875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396632" y="3406775"/>
          <a:ext cx="22717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0" name="Equation" r:id="rId17" imgW="29870400" imgH="5486400" progId="Equation.DSMT4">
                  <p:embed/>
                </p:oleObj>
              </mc:Choice>
              <mc:Fallback>
                <p:oleObj name="Equation" r:id="rId17" imgW="29870400" imgH="5486400" progId="Equation.DSMT4">
                  <p:embed/>
                  <p:pic>
                    <p:nvPicPr>
                      <p:cNvPr id="0" name="图片 18679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96632" y="3406775"/>
                        <a:ext cx="22717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472543" y="3788910"/>
          <a:ext cx="1320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1" name="Equation" r:id="rId19" imgW="17373600" imgH="5486400" progId="Equation.DSMT4">
                  <p:embed/>
                </p:oleObj>
              </mc:Choice>
              <mc:Fallback>
                <p:oleObj name="Equation" r:id="rId19" imgW="17373600" imgH="5486400" progId="Equation.DSMT4">
                  <p:embed/>
                  <p:pic>
                    <p:nvPicPr>
                      <p:cNvPr id="0" name="图片 1868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72543" y="3788910"/>
                        <a:ext cx="13208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286548" y="3797928"/>
          <a:ext cx="5095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2" name="Equation" r:id="rId21" imgW="6705600" imgH="4876800" progId="Equation.DSMT4">
                  <p:embed/>
                </p:oleObj>
              </mc:Choice>
              <mc:Fallback>
                <p:oleObj name="Equation" r:id="rId21" imgW="6705600" imgH="4876800" progId="Equation.DSMT4">
                  <p:embed/>
                  <p:pic>
                    <p:nvPicPr>
                      <p:cNvPr id="0" name="图片 186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6548" y="3797928"/>
                        <a:ext cx="509588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627784" y="4077072"/>
          <a:ext cx="9255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3" name="Equation" r:id="rId22" imgW="12192000" imgH="5486400" progId="Equation.DSMT4">
                  <p:embed/>
                </p:oleObj>
              </mc:Choice>
              <mc:Fallback>
                <p:oleObj name="Equation" r:id="rId22" imgW="12192000" imgH="5486400" progId="Equation.DSMT4">
                  <p:embed/>
                  <p:pic>
                    <p:nvPicPr>
                      <p:cNvPr id="0" name="图片 1868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7784" y="4077072"/>
                        <a:ext cx="92551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59832" y="4391025"/>
          <a:ext cx="26844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4" name="Equation" r:id="rId23" imgW="35356800" imgH="5486400" progId="Equation.DSMT4">
                  <p:embed/>
                </p:oleObj>
              </mc:Choice>
              <mc:Fallback>
                <p:oleObj name="Equation" r:id="rId23" imgW="35356800" imgH="5486400" progId="Equation.DSMT4">
                  <p:embed/>
                  <p:pic>
                    <p:nvPicPr>
                      <p:cNvPr id="0" name="图片 18683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059832" y="4391025"/>
                        <a:ext cx="268446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6135690" y="4391025"/>
          <a:ext cx="27352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5" name="Equation" r:id="rId25" imgW="35966400" imgH="5486400" progId="Equation.DSMT4">
                  <p:embed/>
                </p:oleObj>
              </mc:Choice>
              <mc:Fallback>
                <p:oleObj name="Equation" r:id="rId25" imgW="35966400" imgH="5486400" progId="Equation.DSMT4">
                  <p:embed/>
                  <p:pic>
                    <p:nvPicPr>
                      <p:cNvPr id="0" name="图片 1868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135690" y="4391025"/>
                        <a:ext cx="273526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492500" y="4773613"/>
          <a:ext cx="5572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6" name="Equation" r:id="rId27" imgW="7315200" imgH="5486400" progId="Equation.DSMT4">
                  <p:embed/>
                </p:oleObj>
              </mc:Choice>
              <mc:Fallback>
                <p:oleObj name="Equation" r:id="rId27" imgW="7315200" imgH="5486400" progId="Equation.DSMT4">
                  <p:embed/>
                  <p:pic>
                    <p:nvPicPr>
                      <p:cNvPr id="0" name="图片 1868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92500" y="4773613"/>
                        <a:ext cx="557213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470400" y="4783138"/>
          <a:ext cx="55721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7" name="Equation" r:id="rId29" imgW="7315200" imgH="4876800" progId="Equation.DSMT4">
                  <p:embed/>
                </p:oleObj>
              </mc:Choice>
              <mc:Fallback>
                <p:oleObj name="Equation" r:id="rId29" imgW="7315200" imgH="4876800" progId="Equation.DSMT4">
                  <p:embed/>
                  <p:pic>
                    <p:nvPicPr>
                      <p:cNvPr id="0" name="图片 1868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70400" y="4783138"/>
                        <a:ext cx="557213" cy="36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485017" y="5134429"/>
          <a:ext cx="60483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8" name="Equation" r:id="rId31" imgW="7924800" imgH="5486400" progId="Equation.DSMT4">
                  <p:embed/>
                </p:oleObj>
              </mc:Choice>
              <mc:Fallback>
                <p:oleObj name="Equation" r:id="rId31" imgW="7924800" imgH="5486400" progId="Equation.DSMT4">
                  <p:embed/>
                  <p:pic>
                    <p:nvPicPr>
                      <p:cNvPr id="0" name="图片 18687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485017" y="5134429"/>
                        <a:ext cx="604837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500563" y="5130800"/>
          <a:ext cx="5111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89" name="Equation" r:id="rId33" imgW="6705600" imgH="4876800" progId="Equation.DSMT4">
                  <p:embed/>
                </p:oleObj>
              </mc:Choice>
              <mc:Fallback>
                <p:oleObj name="Equation" r:id="rId33" imgW="6705600" imgH="4876800" progId="Equation.DSMT4">
                  <p:embed/>
                  <p:pic>
                    <p:nvPicPr>
                      <p:cNvPr id="0" name="图片 18688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500563" y="5130800"/>
                        <a:ext cx="511175" cy="369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感知机与多层网络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感知机</a:t>
            </a:r>
            <a:endParaRPr lang="en-US" altLang="zh-CN" dirty="0"/>
          </a:p>
          <a:p>
            <a:pPr lvl="1"/>
            <a:r>
              <a:rPr lang="zh-CN" altLang="en-US" dirty="0" smtClean="0"/>
              <a:t>学习算法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训练法则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/>
              <a:t>给定</a:t>
            </a:r>
            <a:r>
              <a:rPr lang="zh-CN" altLang="en-US" dirty="0"/>
              <a:t>训练数据集，</a:t>
            </a:r>
            <a:r>
              <a:rPr lang="zh-CN" altLang="en-US" dirty="0" smtClean="0"/>
              <a:t>权重   、阈值   通过</a:t>
            </a:r>
            <a:r>
              <a:rPr lang="zh-CN" altLang="en-US" dirty="0"/>
              <a:t>学习</a:t>
            </a:r>
            <a:r>
              <a:rPr lang="zh-CN" altLang="en-US" dirty="0" smtClean="0"/>
              <a:t>得到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阈值可看作是</a:t>
            </a:r>
            <a:r>
              <a:rPr lang="zh-CN" altLang="en-US" dirty="0" smtClean="0">
                <a:latin typeface="+mn-ea"/>
              </a:rPr>
              <a:t>固定</a:t>
            </a:r>
            <a:r>
              <a:rPr lang="zh-CN" altLang="en-US" dirty="0">
                <a:latin typeface="+mn-ea"/>
              </a:rPr>
              <a:t>输入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-1.0</a:t>
            </a:r>
            <a:r>
              <a:rPr lang="zh-CN" altLang="en-US" dirty="0" smtClean="0">
                <a:latin typeface="+mn-ea"/>
              </a:rPr>
              <a:t>的哑</a:t>
            </a:r>
            <a:r>
              <a:rPr lang="zh-CN" altLang="en-US" dirty="0" smtClean="0"/>
              <a:t>结点，连接权重为      。权重、阈值学习可</a:t>
            </a:r>
            <a:r>
              <a:rPr lang="zh-CN" altLang="en-US" dirty="0"/>
              <a:t>统一为</a:t>
            </a:r>
            <a:r>
              <a:rPr lang="zh-CN" altLang="en-US" dirty="0" smtClean="0"/>
              <a:t>权重学习</a:t>
            </a:r>
            <a:endParaRPr lang="en-US" altLang="zh-CN" dirty="0" smtClean="0"/>
          </a:p>
          <a:p>
            <a:pPr lvl="2"/>
            <a:r>
              <a:rPr lang="zh-CN" altLang="en-US" dirty="0"/>
              <a:t>对训练样</a:t>
            </a:r>
            <a:r>
              <a:rPr lang="zh-CN" altLang="en-US" dirty="0" smtClean="0"/>
              <a:t>例</a:t>
            </a:r>
            <a:r>
              <a:rPr lang="en-US" altLang="zh-CN" dirty="0" smtClean="0"/>
              <a:t>      </a:t>
            </a:r>
            <a:r>
              <a:rPr lang="zh-CN" altLang="en-US" dirty="0" smtClean="0"/>
              <a:t>，若感知机输出为  ，</a:t>
            </a:r>
            <a:r>
              <a:rPr lang="zh-CN" altLang="en-US" dirty="0"/>
              <a:t>则感知机</a:t>
            </a:r>
            <a:r>
              <a:rPr lang="zh-CN" altLang="en-US" dirty="0" smtClean="0"/>
              <a:t>权重调整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3"/>
            <a:r>
              <a:rPr lang="zh-CN" altLang="en-US" dirty="0" smtClean="0"/>
              <a:t>             称为</a:t>
            </a:r>
            <a:r>
              <a:rPr lang="zh-CN" altLang="en-US" dirty="0"/>
              <a:t>学习</a:t>
            </a:r>
            <a:r>
              <a:rPr lang="zh-CN" altLang="en-US" dirty="0" smtClean="0"/>
              <a:t>率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预测正确，感知机不发生变化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预测错误将</a:t>
            </a:r>
            <a:r>
              <a:rPr lang="zh-CN" altLang="en-US" dirty="0"/>
              <a:t>根据错误的程度进行权重</a:t>
            </a:r>
            <a:r>
              <a:rPr lang="zh-CN" altLang="en-US" dirty="0" smtClean="0"/>
              <a:t>调整</a:t>
            </a:r>
            <a:endParaRPr lang="en-US" altLang="zh-CN" dirty="0" smtClean="0"/>
          </a:p>
          <a:p>
            <a:pPr lvl="2"/>
            <a:r>
              <a:rPr lang="zh-CN" altLang="en-US" dirty="0"/>
              <a:t>可以证明</a:t>
            </a:r>
            <a:r>
              <a:rPr lang="zh-CN" altLang="en-US" dirty="0" smtClean="0"/>
              <a:t>，当训练</a:t>
            </a:r>
            <a:r>
              <a:rPr lang="zh-CN" altLang="en-US" dirty="0"/>
              <a:t>样例线性可</a:t>
            </a:r>
            <a:r>
              <a:rPr lang="zh-CN" altLang="en-US" dirty="0" smtClean="0"/>
              <a:t>分，并且 充分小时，在有限次训练后，训练</a:t>
            </a:r>
            <a:r>
              <a:rPr lang="zh-CN" altLang="en-US" dirty="0"/>
              <a:t>过程会</a:t>
            </a:r>
            <a:r>
              <a:rPr lang="zh-CN" altLang="en-US" dirty="0" smtClean="0"/>
              <a:t>收敛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980616" y="1787351"/>
          <a:ext cx="3238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3" name="Equation" r:id="rId1" imgW="4267200" imgH="5486400" progId="Equation.DSMT4">
                  <p:embed/>
                </p:oleObj>
              </mc:Choice>
              <mc:Fallback>
                <p:oleObj name="Equation" r:id="rId1" imgW="4267200" imgH="5486400" progId="Equation.DSMT4">
                  <p:embed/>
                  <p:pic>
                    <p:nvPicPr>
                      <p:cNvPr id="0" name="图片 27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80616" y="1787351"/>
                        <a:ext cx="323850" cy="4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212433" y="1834182"/>
          <a:ext cx="2317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" name="Equation" r:id="rId3" imgW="3048000" imgH="4267200" progId="Equation.DSMT4">
                  <p:embed/>
                </p:oleObj>
              </mc:Choice>
              <mc:Fallback>
                <p:oleObj name="Equation" r:id="rId3" imgW="3048000" imgH="4267200" progId="Equation.DSMT4">
                  <p:embed/>
                  <p:pic>
                    <p:nvPicPr>
                      <p:cNvPr id="0" name="图片 27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12433" y="1834182"/>
                        <a:ext cx="231775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27784" y="2420888"/>
          <a:ext cx="4857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5" name="Equation" r:id="rId5" imgW="6400800" imgH="5486400" progId="Equation.DSMT4">
                  <p:embed/>
                </p:oleObj>
              </mc:Choice>
              <mc:Fallback>
                <p:oleObj name="Equation" r:id="rId5" imgW="6400800" imgH="5486400" progId="Equation.DSMT4">
                  <p:embed/>
                  <p:pic>
                    <p:nvPicPr>
                      <p:cNvPr id="0" name="图片 27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2420888"/>
                        <a:ext cx="485775" cy="4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91880" y="2780928"/>
          <a:ext cx="6937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6" name="Equation" r:id="rId7" imgW="9144000" imgH="4876800" progId="Equation.DSMT4">
                  <p:embed/>
                </p:oleObj>
              </mc:Choice>
              <mc:Fallback>
                <p:oleObj name="Equation" r:id="rId7" imgW="9144000" imgH="4876800" progId="Equation.DSMT4">
                  <p:embed/>
                  <p:pic>
                    <p:nvPicPr>
                      <p:cNvPr id="0" name="图片 27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1880" y="2780928"/>
                        <a:ext cx="693738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620668" y="2780928"/>
          <a:ext cx="2555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7" name="Equation" r:id="rId9" imgW="3352800" imgH="4876800" progId="Equation.DSMT4">
                  <p:embed/>
                </p:oleObj>
              </mc:Choice>
              <mc:Fallback>
                <p:oleObj name="Equation" r:id="rId9" imgW="3352800" imgH="4876800" progId="Equation.DSMT4">
                  <p:embed/>
                  <p:pic>
                    <p:nvPicPr>
                      <p:cNvPr id="0" name="图片 27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20668" y="2780928"/>
                        <a:ext cx="255588" cy="373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683796" y="3357080"/>
          <a:ext cx="1824308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8" name="Equation" r:id="rId11" imgW="22555200" imgH="9753600" progId="Equation.DSMT4">
                  <p:embed/>
                </p:oleObj>
              </mc:Choice>
              <mc:Fallback>
                <p:oleObj name="Equation" r:id="rId11" imgW="22555200" imgH="9753600" progId="Equation.DSMT4">
                  <p:embed/>
                  <p:pic>
                    <p:nvPicPr>
                      <p:cNvPr id="0" name="图片 275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83796" y="3357080"/>
                        <a:ext cx="1824308" cy="79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21732" y="4217047"/>
          <a:ext cx="9350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9" name="Equation" r:id="rId13" imgW="11582400" imgH="4876800" progId="Equation.DSMT4">
                  <p:embed/>
                </p:oleObj>
              </mc:Choice>
              <mc:Fallback>
                <p:oleObj name="Equation" r:id="rId13" imgW="11582400" imgH="4876800" progId="Equation.DSMT4">
                  <p:embed/>
                  <p:pic>
                    <p:nvPicPr>
                      <p:cNvPr id="0" name="图片 275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21732" y="4217047"/>
                        <a:ext cx="935038" cy="39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236296" y="5229200"/>
          <a:ext cx="2460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" name="Equation" r:id="rId15" imgW="3048000" imgH="3962400" progId="Equation.DSMT4">
                  <p:embed/>
                </p:oleObj>
              </mc:Choice>
              <mc:Fallback>
                <p:oleObj name="Equation" r:id="rId15" imgW="3048000" imgH="3962400" progId="Equation.DSMT4">
                  <p:embed/>
                  <p:pic>
                    <p:nvPicPr>
                      <p:cNvPr id="0" name="图片 275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36296" y="5229200"/>
                        <a:ext cx="246062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感知机与多层网络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感知机</a:t>
            </a:r>
            <a:endParaRPr lang="en-US" altLang="zh-CN" dirty="0"/>
          </a:p>
          <a:p>
            <a:pPr lvl="1"/>
            <a:r>
              <a:rPr lang="zh-CN" altLang="en-US" dirty="0" smtClean="0"/>
              <a:t>缺陷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只有</a:t>
            </a:r>
            <a:r>
              <a:rPr lang="zh-CN" altLang="en-US" dirty="0"/>
              <a:t>输出层神经元进行激活函数处理，即只拥有一层功能</a:t>
            </a:r>
            <a:r>
              <a:rPr lang="zh-CN" altLang="en-US" dirty="0" smtClean="0"/>
              <a:t>神经元，学习能力</a:t>
            </a:r>
            <a:r>
              <a:rPr lang="zh-CN" altLang="en-US" dirty="0"/>
              <a:t>非常</a:t>
            </a:r>
            <a:r>
              <a:rPr lang="zh-CN" altLang="en-US" dirty="0" smtClean="0"/>
              <a:t>有限</a:t>
            </a:r>
            <a:endParaRPr lang="en-US" altLang="zh-CN" dirty="0" smtClean="0"/>
          </a:p>
          <a:p>
            <a:pPr lvl="2"/>
            <a:r>
              <a:rPr lang="zh-CN" altLang="en-US" dirty="0"/>
              <a:t>若两类模式是线性可分的，即存在一个线性超平面能将它们分开</a:t>
            </a:r>
            <a:r>
              <a:rPr lang="zh-CN" altLang="en-US" dirty="0" smtClean="0"/>
              <a:t>，则学习过程</a:t>
            </a:r>
            <a:r>
              <a:rPr lang="zh-CN" altLang="en-US" dirty="0"/>
              <a:t>一定会</a:t>
            </a:r>
            <a:r>
              <a:rPr lang="zh-CN" altLang="en-US" dirty="0" smtClean="0"/>
              <a:t>收敛。</a:t>
            </a:r>
            <a:r>
              <a:rPr lang="zh-CN" altLang="en-US" dirty="0"/>
              <a:t>否则感知机学习过程将会发生</a:t>
            </a:r>
            <a:r>
              <a:rPr lang="zh-CN" altLang="en-US" dirty="0" smtClean="0"/>
              <a:t>振荡，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难以</a:t>
            </a:r>
            <a:r>
              <a:rPr lang="zh-CN" altLang="en-US" dirty="0">
                <a:latin typeface="+mn-ea"/>
              </a:rPr>
              <a:t>稳定</a:t>
            </a:r>
            <a:r>
              <a:rPr lang="zh-CN" altLang="en-US" dirty="0" smtClean="0">
                <a:latin typeface="+mn-ea"/>
              </a:rPr>
              <a:t>下来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/>
              <a:t>与</a:t>
            </a:r>
            <a:r>
              <a:rPr lang="zh-CN" altLang="en-US" dirty="0"/>
              <a:t>、或、非问题都是线性可</a:t>
            </a:r>
            <a:r>
              <a:rPr lang="zh-CN" altLang="en-US" dirty="0" smtClean="0"/>
              <a:t>分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异</a:t>
            </a:r>
            <a:r>
              <a:rPr lang="zh-CN" altLang="en-US" dirty="0"/>
              <a:t>或这样简单的非线性可分</a:t>
            </a:r>
            <a:r>
              <a:rPr lang="zh-CN" altLang="en-US" dirty="0" smtClean="0"/>
              <a:t>问题</a:t>
            </a:r>
            <a:r>
              <a:rPr lang="zh-CN" altLang="en-US" dirty="0"/>
              <a:t>不能</a:t>
            </a:r>
            <a:r>
              <a:rPr lang="zh-CN" altLang="en-US" dirty="0" smtClean="0"/>
              <a:t>解决，要用多层功能神经元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55095"/>
          <a:stretch>
            <a:fillRect/>
          </a:stretch>
        </p:blipFill>
        <p:spPr>
          <a:xfrm>
            <a:off x="109918" y="4658919"/>
            <a:ext cx="4462082" cy="165040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44125" b="11751"/>
          <a:stretch>
            <a:fillRect/>
          </a:stretch>
        </p:blipFill>
        <p:spPr>
          <a:xfrm>
            <a:off x="4646422" y="4653136"/>
            <a:ext cx="4462082" cy="16216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94586" b="1"/>
          <a:stretch>
            <a:fillRect/>
          </a:stretch>
        </p:blipFill>
        <p:spPr>
          <a:xfrm>
            <a:off x="2651554" y="6597352"/>
            <a:ext cx="4160639" cy="185525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084168" y="3364811"/>
          <a:ext cx="338086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name="Equation" r:id="rId3" imgW="3962400" imgH="3352800" progId="Equation.DSMT4">
                  <p:embed/>
                </p:oleObj>
              </mc:Choice>
              <mc:Fallback>
                <p:oleObj name="Equation" r:id="rId3" imgW="3962400" imgH="3352800" progId="Equation.DSMT4">
                  <p:embed/>
                  <p:pic>
                    <p:nvPicPr>
                      <p:cNvPr id="0" name="图片 164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84168" y="3364811"/>
                        <a:ext cx="338086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感知机与多层网络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感知机</a:t>
            </a:r>
            <a:endParaRPr lang="en-US" altLang="zh-CN" dirty="0"/>
          </a:p>
          <a:p>
            <a:pPr lvl="1"/>
            <a:r>
              <a:rPr lang="zh-CN" altLang="en-US" dirty="0" smtClean="0"/>
              <a:t>两层感知机</a:t>
            </a:r>
            <a:endParaRPr lang="en-US" altLang="zh-CN" dirty="0" smtClean="0"/>
          </a:p>
          <a:p>
            <a:pPr lvl="2"/>
            <a:r>
              <a:rPr lang="zh-CN" altLang="en-US" dirty="0"/>
              <a:t>输出层与输入层</a:t>
            </a:r>
            <a:r>
              <a:rPr lang="zh-CN" altLang="en-US" dirty="0" smtClean="0"/>
              <a:t>之间增加一</a:t>
            </a:r>
            <a:r>
              <a:rPr lang="zh-CN" altLang="en-US" dirty="0"/>
              <a:t>层神经元</a:t>
            </a:r>
            <a:r>
              <a:rPr lang="zh-CN" altLang="en-US" dirty="0" smtClean="0"/>
              <a:t>，称为</a:t>
            </a:r>
            <a:r>
              <a:rPr lang="zh-CN" altLang="en-US" dirty="0"/>
              <a:t>隐层或</a:t>
            </a:r>
            <a:r>
              <a:rPr lang="zh-CN" altLang="en-US" dirty="0" smtClean="0"/>
              <a:t>隐含层，隐含层</a:t>
            </a:r>
            <a:r>
              <a:rPr lang="zh-CN" altLang="en-US" dirty="0"/>
              <a:t>和输出层神经元都是拥有激活函数的功能神经元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两</a:t>
            </a:r>
            <a:r>
              <a:rPr lang="zh-CN" altLang="en-US" dirty="0"/>
              <a:t>层感知机就能解决异或</a:t>
            </a:r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632" y="3330318"/>
            <a:ext cx="6685802" cy="3424879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感知机与多层网络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多层网络</a:t>
            </a:r>
            <a:endParaRPr lang="en-US" altLang="zh-CN" dirty="0"/>
          </a:p>
          <a:p>
            <a:pPr lvl="1"/>
            <a:r>
              <a:rPr lang="zh-CN" altLang="en-US" dirty="0"/>
              <a:t>包含隐层的网络</a:t>
            </a:r>
            <a:endParaRPr lang="zh-CN" altLang="en-US" dirty="0"/>
          </a:p>
          <a:p>
            <a:pPr lvl="1"/>
            <a:r>
              <a:rPr lang="zh-CN" altLang="en-US" dirty="0"/>
              <a:t>多层前馈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层级结构，</a:t>
            </a:r>
            <a:r>
              <a:rPr lang="zh-CN" altLang="en-US" dirty="0"/>
              <a:t>每层神经元与下一层神经元全</a:t>
            </a:r>
            <a:r>
              <a:rPr lang="zh-CN" altLang="en-US" dirty="0" smtClean="0"/>
              <a:t>互连，神经元</a:t>
            </a:r>
            <a:r>
              <a:rPr lang="zh-CN" altLang="en-US" dirty="0"/>
              <a:t>之间不</a:t>
            </a:r>
            <a:r>
              <a:rPr lang="zh-CN" altLang="en-US" dirty="0" smtClean="0"/>
              <a:t>存在同</a:t>
            </a:r>
            <a:r>
              <a:rPr lang="zh-CN" altLang="en-US" dirty="0"/>
              <a:t>层连接也不存在跨层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pPr lvl="2"/>
            <a:r>
              <a:rPr lang="zh-CN" altLang="en-US" dirty="0"/>
              <a:t>输入层神经元接收外界输入</a:t>
            </a:r>
            <a:r>
              <a:rPr lang="zh-CN" altLang="en-US" dirty="0" smtClean="0"/>
              <a:t>，</a:t>
            </a:r>
            <a:r>
              <a:rPr lang="zh-CN" altLang="en-US" dirty="0"/>
              <a:t>不进行函数</a:t>
            </a:r>
            <a:r>
              <a:rPr lang="zh-CN" altLang="en-US" dirty="0" smtClean="0"/>
              <a:t>处理</a:t>
            </a:r>
            <a:endParaRPr lang="en-US" altLang="zh-CN" dirty="0" smtClean="0"/>
          </a:p>
          <a:p>
            <a:pPr lvl="2" hangingPunct="0"/>
            <a:r>
              <a:rPr lang="zh-CN" altLang="en-US" dirty="0"/>
              <a:t>隐层与输出层包含功能</a:t>
            </a:r>
            <a:r>
              <a:rPr lang="zh-CN" altLang="en-US" dirty="0" smtClean="0"/>
              <a:t>神经元，对</a:t>
            </a:r>
            <a:r>
              <a:rPr lang="zh-CN" altLang="en-US" dirty="0"/>
              <a:t>信号进行加工，最终结果由输出层神经元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9277" y="4077072"/>
            <a:ext cx="5014498" cy="2780928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感知机与多层网络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多层网络</a:t>
            </a:r>
            <a:endParaRPr lang="en-US" altLang="zh-CN" dirty="0"/>
          </a:p>
          <a:p>
            <a:pPr lvl="1"/>
            <a:r>
              <a:rPr lang="zh-CN" altLang="en-US" dirty="0" smtClean="0"/>
              <a:t>多</a:t>
            </a:r>
            <a:r>
              <a:rPr lang="zh-CN" altLang="en-US" dirty="0"/>
              <a:t>层前馈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具有强大</a:t>
            </a:r>
            <a:r>
              <a:rPr lang="zh-CN" altLang="en-US" dirty="0"/>
              <a:t>的表示</a:t>
            </a:r>
            <a:r>
              <a:rPr lang="zh-CN" altLang="en-US" dirty="0" smtClean="0"/>
              <a:t>能力</a:t>
            </a:r>
            <a:endParaRPr lang="en-US" altLang="zh-CN" dirty="0" smtClean="0"/>
          </a:p>
          <a:p>
            <a:pPr lvl="3"/>
            <a:r>
              <a:rPr lang="zh-CN" altLang="en-US" dirty="0"/>
              <a:t>只需一个包含足够多神经元的隐</a:t>
            </a:r>
            <a:r>
              <a:rPr lang="zh-CN" altLang="en-US" dirty="0" smtClean="0"/>
              <a:t>层，就</a:t>
            </a:r>
            <a:r>
              <a:rPr lang="zh-CN" altLang="en-US" dirty="0"/>
              <a:t>能</a:t>
            </a:r>
            <a:r>
              <a:rPr lang="zh-CN" altLang="en-US" dirty="0" smtClean="0"/>
              <a:t>以任意</a:t>
            </a:r>
            <a:r>
              <a:rPr lang="zh-CN" altLang="en-US" dirty="0"/>
              <a:t>精度逼近任意复杂度的</a:t>
            </a:r>
            <a:r>
              <a:rPr lang="zh-CN" altLang="en-US" dirty="0" smtClean="0"/>
              <a:t>连续函数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如何</a:t>
            </a:r>
            <a:r>
              <a:rPr lang="zh-CN" altLang="en-US" dirty="0"/>
              <a:t>设置隐层神经元数是未决</a:t>
            </a:r>
            <a:r>
              <a:rPr lang="zh-CN" altLang="en-US" dirty="0" smtClean="0"/>
              <a:t>问题，实际常用试</a:t>
            </a:r>
            <a:r>
              <a:rPr lang="zh-CN" altLang="en-US" dirty="0"/>
              <a:t>错</a:t>
            </a:r>
            <a:r>
              <a:rPr lang="zh-CN" altLang="en-US" dirty="0" smtClean="0"/>
              <a:t>法</a:t>
            </a:r>
            <a:endParaRPr lang="zh-CN" altLang="en-US" dirty="0"/>
          </a:p>
          <a:p>
            <a:pPr lvl="2"/>
            <a:r>
              <a:rPr lang="zh-CN" altLang="en-US" dirty="0" smtClean="0"/>
              <a:t>学习过程就是</a:t>
            </a:r>
            <a:r>
              <a:rPr lang="zh-CN" altLang="en-US" dirty="0"/>
              <a:t>根据训练数据来调整神经元之间</a:t>
            </a:r>
            <a:r>
              <a:rPr lang="zh-CN" altLang="en-US" dirty="0" smtClean="0"/>
              <a:t>的连接权以及</a:t>
            </a:r>
            <a:r>
              <a:rPr lang="zh-CN" altLang="en-US" dirty="0"/>
              <a:t>每个功能</a:t>
            </a:r>
            <a:r>
              <a:rPr lang="zh-CN" altLang="en-US" dirty="0" smtClean="0"/>
              <a:t>神经元阈值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神经网络学到</a:t>
            </a:r>
            <a:r>
              <a:rPr lang="zh-CN" altLang="en-US" dirty="0"/>
              <a:t>的东西，蕴涵在连接权</a:t>
            </a:r>
            <a:r>
              <a:rPr lang="zh-CN" altLang="en-US" dirty="0" smtClean="0"/>
              <a:t>与阈值中</a:t>
            </a:r>
            <a:endParaRPr lang="zh-CN" altLang="en-US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误差</a:t>
            </a:r>
            <a:r>
              <a:rPr lang="zh-CN" altLang="en-US" dirty="0"/>
              <a:t>逆传播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多层网络的学习能力比单层感知机强得</a:t>
            </a:r>
            <a:r>
              <a:rPr lang="zh-CN" altLang="en-US" dirty="0" smtClean="0">
                <a:latin typeface="+mn-ea"/>
              </a:rPr>
              <a:t>多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欲</a:t>
            </a:r>
            <a:r>
              <a:rPr lang="zh-CN" altLang="en-US" dirty="0">
                <a:latin typeface="+mn-ea"/>
              </a:rPr>
              <a:t>训练多层</a:t>
            </a:r>
            <a:r>
              <a:rPr lang="zh-CN" altLang="en-US" dirty="0" smtClean="0">
                <a:latin typeface="+mn-ea"/>
              </a:rPr>
              <a:t>网络简单</a:t>
            </a:r>
            <a:r>
              <a:rPr lang="zh-CN" altLang="en-US" dirty="0">
                <a:latin typeface="+mn-ea"/>
              </a:rPr>
              <a:t>感知机学习规则显然</a:t>
            </a:r>
            <a:r>
              <a:rPr lang="zh-CN" altLang="en-US" dirty="0" smtClean="0">
                <a:latin typeface="+mn-ea"/>
              </a:rPr>
              <a:t>不够，</a:t>
            </a:r>
            <a:r>
              <a:rPr lang="zh-CN" altLang="en-US" dirty="0">
                <a:latin typeface="+mn-ea"/>
              </a:rPr>
              <a:t>需要更强大的学习算法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最</a:t>
            </a:r>
            <a:r>
              <a:rPr lang="zh-CN" altLang="en-US" dirty="0">
                <a:latin typeface="+mn-ea"/>
              </a:rPr>
              <a:t>成功、最常用的神经网络算法，可被用于多种</a:t>
            </a:r>
            <a:r>
              <a:rPr lang="zh-CN" altLang="en-US" dirty="0" smtClean="0">
                <a:latin typeface="+mn-ea"/>
              </a:rPr>
              <a:t>任务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不仅</a:t>
            </a:r>
            <a:r>
              <a:rPr lang="zh-CN" altLang="en-US" dirty="0">
                <a:latin typeface="+mn-ea"/>
              </a:rPr>
              <a:t>限于</a:t>
            </a:r>
            <a:r>
              <a:rPr lang="zh-CN" altLang="en-US" dirty="0" smtClean="0">
                <a:latin typeface="+mn-ea"/>
              </a:rPr>
              <a:t>分类</a:t>
            </a:r>
            <a:r>
              <a:rPr lang="en-US" altLang="zh-CN" dirty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通常</a:t>
            </a:r>
            <a:r>
              <a:rPr lang="zh-CN" altLang="en-US" dirty="0" smtClean="0">
                <a:latin typeface="+mn-ea"/>
              </a:rPr>
              <a:t>说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网络时一般指</a:t>
            </a:r>
            <a:r>
              <a:rPr lang="zh-CN" altLang="en-US" dirty="0">
                <a:latin typeface="+mn-ea"/>
              </a:rPr>
              <a:t>用</a:t>
            </a:r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算法训练的多层前馈</a:t>
            </a:r>
            <a:r>
              <a:rPr lang="zh-CN" altLang="en-US" dirty="0" smtClean="0">
                <a:latin typeface="+mn-ea"/>
              </a:rPr>
              <a:t>神经网络</a:t>
            </a:r>
            <a:endParaRPr lang="en-US" altLang="zh-CN" dirty="0">
              <a:latin typeface="+mn-ea"/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误差</a:t>
            </a:r>
            <a:r>
              <a:rPr lang="zh-CN" altLang="en-US" dirty="0"/>
              <a:t>逆传播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算法</a:t>
            </a:r>
            <a:r>
              <a:rPr lang="zh-CN" altLang="en-US" dirty="0"/>
              <a:t>中的变量</a:t>
            </a:r>
            <a:r>
              <a:rPr lang="zh-CN" altLang="en-US" dirty="0" smtClean="0"/>
              <a:t>符号</a:t>
            </a:r>
            <a:endParaRPr lang="en-US" altLang="zh-CN" dirty="0" smtClean="0"/>
          </a:p>
          <a:p>
            <a:pPr lvl="1"/>
            <a:r>
              <a:rPr lang="zh-CN" altLang="en-US" dirty="0"/>
              <a:t>给定</a:t>
            </a:r>
            <a:r>
              <a:rPr lang="zh-CN" altLang="en-US" dirty="0" smtClean="0"/>
              <a:t>训练集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>
                <a:latin typeface="+mn-ea"/>
              </a:rPr>
              <a:t>输入：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维特征向量；输出</a:t>
            </a:r>
            <a:r>
              <a:rPr lang="zh-CN" altLang="en-US" dirty="0" smtClean="0">
                <a:latin typeface="+mn-ea"/>
              </a:rPr>
              <a:t>：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输出</a:t>
            </a:r>
            <a:r>
              <a:rPr lang="zh-CN" altLang="en-US" dirty="0" smtClean="0">
                <a:latin typeface="+mn-ea"/>
              </a:rPr>
              <a:t>值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隐层</a:t>
            </a:r>
            <a:r>
              <a:rPr lang="zh-CN" altLang="en-US" dirty="0" smtClean="0">
                <a:latin typeface="+mn-ea"/>
              </a:rPr>
              <a:t>：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个隐</a:t>
            </a:r>
            <a:r>
              <a:rPr lang="zh-CN" altLang="en-US" dirty="0">
                <a:latin typeface="+mn-ea"/>
              </a:rPr>
              <a:t>层</a:t>
            </a:r>
            <a:r>
              <a:rPr lang="zh-CN" altLang="en-US" dirty="0" smtClean="0">
                <a:latin typeface="+mn-ea"/>
              </a:rPr>
              <a:t>神经元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en-US" altLang="zh-CN" dirty="0" smtClean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490" y="3131458"/>
            <a:ext cx="6659910" cy="3678438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12490" y="1700808"/>
          <a:ext cx="7019950" cy="566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" name="Equation" r:id="rId2" imgW="72237600" imgH="5791200" progId="Equation.DSMT4">
                  <p:embed/>
                </p:oleObj>
              </mc:Choice>
              <mc:Fallback>
                <p:oleObj name="Equation" r:id="rId2" imgW="72237600" imgH="5791200" progId="Equation.DSMT4">
                  <p:embed/>
                  <p:pic>
                    <p:nvPicPr>
                      <p:cNvPr id="0" name="图片 33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2490" y="1700808"/>
                        <a:ext cx="7019950" cy="566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23915" y="2291407"/>
          <a:ext cx="2079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Equation" r:id="rId4" imgW="2133600" imgH="4267200" progId="Equation.DSMT4">
                  <p:embed/>
                </p:oleObj>
              </mc:Choice>
              <mc:Fallback>
                <p:oleObj name="Equation" r:id="rId4" imgW="2133600" imgH="4267200" progId="Equation.DSMT4">
                  <p:embed/>
                  <p:pic>
                    <p:nvPicPr>
                      <p:cNvPr id="0" name="图片 33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23915" y="2291407"/>
                        <a:ext cx="207962" cy="4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555776" y="2720895"/>
          <a:ext cx="2968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Equation" r:id="rId6" imgW="3048000" imgH="3962400" progId="Equation.DSMT4">
                  <p:embed/>
                </p:oleObj>
              </mc:Choice>
              <mc:Fallback>
                <p:oleObj name="Equation" r:id="rId6" imgW="3048000" imgH="3962400" progId="Equation.DSMT4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55776" y="2720895"/>
                        <a:ext cx="296862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误差</a:t>
            </a:r>
            <a:r>
              <a:rPr lang="zh-CN" altLang="en-US" dirty="0"/>
              <a:t>逆传播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算法</a:t>
            </a:r>
            <a:r>
              <a:rPr lang="zh-CN" altLang="en-US" dirty="0"/>
              <a:t>中的变量</a:t>
            </a:r>
            <a:r>
              <a:rPr lang="zh-CN" altLang="en-US" dirty="0" smtClean="0"/>
              <a:t>符号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输出层第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个神经元阈值为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隐</a:t>
            </a:r>
            <a:r>
              <a:rPr lang="zh-CN" altLang="en-US" dirty="0">
                <a:latin typeface="+mn-ea"/>
              </a:rPr>
              <a:t>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个神经元阈值为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输入层第 个</a:t>
            </a:r>
            <a:r>
              <a:rPr lang="zh-CN" altLang="en-US" dirty="0">
                <a:latin typeface="+mn-ea"/>
              </a:rPr>
              <a:t>神经元与隐层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神经元之间的连接权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隐</a:t>
            </a:r>
            <a:r>
              <a:rPr lang="zh-CN" altLang="en-US" dirty="0">
                <a:latin typeface="+mn-ea"/>
              </a:rPr>
              <a:t>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神经元与输出层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神经元之间的连接权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en-US" altLang="zh-CN" dirty="0" smtClean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720" y="3970164"/>
            <a:ext cx="5147711" cy="2843212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915816" y="1432894"/>
          <a:ext cx="2968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2" name="Equation" r:id="rId2" imgW="3048000" imgH="4572000" progId="Equation.DSMT4">
                  <p:embed/>
                </p:oleObj>
              </mc:Choice>
              <mc:Fallback>
                <p:oleObj name="Equation" r:id="rId2" imgW="3048000" imgH="4572000" progId="Equation.DSMT4">
                  <p:embed/>
                  <p:pic>
                    <p:nvPicPr>
                      <p:cNvPr id="0" name="图片 58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15816" y="1432894"/>
                        <a:ext cx="296863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696818" y="1373363"/>
          <a:ext cx="3873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3" name="Equation" r:id="rId4" imgW="3962400" imgH="5791200" progId="Equation.DSMT4">
                  <p:embed/>
                </p:oleObj>
              </mc:Choice>
              <mc:Fallback>
                <p:oleObj name="Equation" r:id="rId4" imgW="3962400" imgH="5791200" progId="Equation.DSMT4">
                  <p:embed/>
                  <p:pic>
                    <p:nvPicPr>
                      <p:cNvPr id="0" name="图片 589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96818" y="1373363"/>
                        <a:ext cx="387350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494338" y="1772872"/>
          <a:ext cx="364914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4" name="Equation" r:id="rId6" imgW="3962400" imgH="5486400" progId="Equation.DSMT4">
                  <p:embed/>
                </p:oleObj>
              </mc:Choice>
              <mc:Fallback>
                <p:oleObj name="Equation" r:id="rId6" imgW="3962400" imgH="5486400" progId="Equation.DSMT4">
                  <p:embed/>
                  <p:pic>
                    <p:nvPicPr>
                      <p:cNvPr id="0" name="图片 58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4338" y="1772872"/>
                        <a:ext cx="364914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29249" y="1847231"/>
          <a:ext cx="284153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5" name="Equation" r:id="rId8" imgW="3048000" imgH="4267200" progId="Equation.DSMT4">
                  <p:embed/>
                </p:oleObj>
              </mc:Choice>
              <mc:Fallback>
                <p:oleObj name="Equation" r:id="rId8" imgW="3048000" imgH="4267200" progId="Equation.DSMT4">
                  <p:embed/>
                  <p:pic>
                    <p:nvPicPr>
                      <p:cNvPr id="0" name="图片 58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29249" y="1847231"/>
                        <a:ext cx="284153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995613" y="2306638"/>
          <a:ext cx="2079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" name="Equation" r:id="rId10" imgW="2133600" imgH="3962400" progId="Equation.DSMT4">
                  <p:embed/>
                </p:oleObj>
              </mc:Choice>
              <mc:Fallback>
                <p:oleObj name="Equation" r:id="rId10" imgW="2133600" imgH="3962400" progId="Equation.DSMT4">
                  <p:embed/>
                  <p:pic>
                    <p:nvPicPr>
                      <p:cNvPr id="0" name="图片 589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95613" y="2306638"/>
                        <a:ext cx="207962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001743" y="2291556"/>
          <a:ext cx="284153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7" name="Equation" r:id="rId12" imgW="3048000" imgH="4267200" progId="Equation.DSMT4">
                  <p:embed/>
                </p:oleObj>
              </mc:Choice>
              <mc:Fallback>
                <p:oleObj name="Equation" r:id="rId12" imgW="3048000" imgH="4267200" progId="Equation.DSMT4">
                  <p:embed/>
                  <p:pic>
                    <p:nvPicPr>
                      <p:cNvPr id="0" name="图片 589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01743" y="2291556"/>
                        <a:ext cx="284153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47864" y="2614613"/>
          <a:ext cx="4159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8" name="Equation" r:id="rId13" imgW="4267200" imgH="5486400" progId="Equation.DSMT4">
                  <p:embed/>
                </p:oleObj>
              </mc:Choice>
              <mc:Fallback>
                <p:oleObj name="Equation" r:id="rId13" imgW="4267200" imgH="5486400" progId="Equation.DSMT4">
                  <p:embed/>
                  <p:pic>
                    <p:nvPicPr>
                      <p:cNvPr id="0" name="图片 58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47864" y="2614613"/>
                        <a:ext cx="415925" cy="534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51509" y="3134115"/>
          <a:ext cx="284153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9" name="Equation" r:id="rId15" imgW="3048000" imgH="4267200" progId="Equation.DSMT4">
                  <p:embed/>
                </p:oleObj>
              </mc:Choice>
              <mc:Fallback>
                <p:oleObj name="Equation" r:id="rId15" imgW="3048000" imgH="4267200" progId="Equation.DSMT4">
                  <p:embed/>
                  <p:pic>
                    <p:nvPicPr>
                      <p:cNvPr id="0" name="图片 589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51509" y="3134115"/>
                        <a:ext cx="284153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940152" y="3126928"/>
          <a:ext cx="2968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0" name="Equation" r:id="rId16" imgW="3048000" imgH="4572000" progId="Equation.DSMT4">
                  <p:embed/>
                </p:oleObj>
              </mc:Choice>
              <mc:Fallback>
                <p:oleObj name="Equation" r:id="rId16" imgW="3048000" imgH="4572000" progId="Equation.DSMT4">
                  <p:embed/>
                  <p:pic>
                    <p:nvPicPr>
                      <p:cNvPr id="0" name="图片 58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40152" y="3126928"/>
                        <a:ext cx="296863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03413" y="3456659"/>
          <a:ext cx="5048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1" name="Equation" r:id="rId17" imgW="5181600" imgH="5791200" progId="Equation.DSMT4">
                  <p:embed/>
                </p:oleObj>
              </mc:Choice>
              <mc:Fallback>
                <p:oleObj name="Equation" r:id="rId17" imgW="5181600" imgH="5791200" progId="Equation.DSMT4">
                  <p:embed/>
                  <p:pic>
                    <p:nvPicPr>
                      <p:cNvPr id="0" name="图片 590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03413" y="3456659"/>
                        <a:ext cx="504825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 </a:t>
            </a:r>
            <a:r>
              <a:rPr lang="zh-CN" altLang="en-US" dirty="0" smtClean="0"/>
              <a:t>误差</a:t>
            </a:r>
            <a:r>
              <a:rPr lang="zh-CN" altLang="en-US" dirty="0"/>
              <a:t>逆传播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算法</a:t>
            </a:r>
            <a:r>
              <a:rPr lang="zh-CN" altLang="en-US" dirty="0"/>
              <a:t>中的变量</a:t>
            </a:r>
            <a:r>
              <a:rPr lang="zh-CN" altLang="en-US" dirty="0" smtClean="0"/>
              <a:t>符号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隐</a:t>
            </a:r>
            <a:r>
              <a:rPr lang="zh-CN" altLang="en-US" dirty="0">
                <a:latin typeface="+mn-ea"/>
              </a:rPr>
              <a:t>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神经元接收到的输入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输出层第 个</a:t>
            </a:r>
            <a:r>
              <a:rPr lang="zh-CN" altLang="en-US" dirty="0">
                <a:latin typeface="+mn-ea"/>
              </a:rPr>
              <a:t>神经元</a:t>
            </a:r>
            <a:r>
              <a:rPr lang="zh-CN" altLang="en-US" dirty="0" smtClean="0">
                <a:latin typeface="+mn-ea"/>
              </a:rPr>
              <a:t>接收的</a:t>
            </a:r>
            <a:r>
              <a:rPr lang="zh-CN" altLang="en-US" dirty="0">
                <a:latin typeface="+mn-ea"/>
              </a:rPr>
              <a:t>输入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其中  为</a:t>
            </a:r>
            <a:r>
              <a:rPr lang="zh-CN" altLang="en-US" dirty="0">
                <a:latin typeface="+mn-ea"/>
              </a:rPr>
              <a:t>隐层</a:t>
            </a:r>
            <a:r>
              <a:rPr lang="zh-CN" altLang="en-US" dirty="0" smtClean="0">
                <a:latin typeface="+mn-ea"/>
              </a:rPr>
              <a:t>第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个神经的输出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隐层和输出层神经元使用</a:t>
            </a:r>
            <a:r>
              <a:rPr lang="en-US" altLang="zh-CN" dirty="0">
                <a:latin typeface="+mn-ea"/>
              </a:rPr>
              <a:t>Sigmoid</a:t>
            </a:r>
            <a:r>
              <a:rPr lang="zh-CN" altLang="en-US" dirty="0">
                <a:latin typeface="+mn-ea"/>
              </a:rPr>
              <a:t>函数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en-US" altLang="zh-CN" dirty="0" smtClean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656" y="3178438"/>
            <a:ext cx="6320406" cy="3490922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689374" y="1412776"/>
          <a:ext cx="298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0" name="Equation" r:id="rId2" imgW="3048000" imgH="4267200" progId="Equation.DSMT4">
                  <p:embed/>
                </p:oleObj>
              </mc:Choice>
              <mc:Fallback>
                <p:oleObj name="Equation" r:id="rId2" imgW="3048000" imgH="4267200" progId="Equation.DSMT4">
                  <p:embed/>
                  <p:pic>
                    <p:nvPicPr>
                      <p:cNvPr id="0" name="图片 660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89374" y="1412776"/>
                        <a:ext cx="29845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901618" y="1304824"/>
          <a:ext cx="1554848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1" name="Equation" r:id="rId4" imgW="20116800" imgH="7010400" progId="Equation.DSMT4">
                  <p:embed/>
                </p:oleObj>
              </mc:Choice>
              <mc:Fallback>
                <p:oleObj name="Equation" r:id="rId4" imgW="20116800" imgH="7010400" progId="Equation.DSMT4">
                  <p:embed/>
                  <p:pic>
                    <p:nvPicPr>
                      <p:cNvPr id="0" name="图片 66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01618" y="1304824"/>
                        <a:ext cx="1554848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915816" y="1868488"/>
          <a:ext cx="2984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2" name="Equation" r:id="rId6" imgW="3048000" imgH="4572000" progId="Equation.DSMT4">
                  <p:embed/>
                </p:oleObj>
              </mc:Choice>
              <mc:Fallback>
                <p:oleObj name="Equation" r:id="rId6" imgW="3048000" imgH="4572000" progId="Equation.DSMT4">
                  <p:embed/>
                  <p:pic>
                    <p:nvPicPr>
                      <p:cNvPr id="0" name="图片 66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15816" y="1868488"/>
                        <a:ext cx="29845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737350" y="1773238"/>
          <a:ext cx="16716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3" name="Equation" r:id="rId8" imgW="21640800" imgH="7010400" progId="Equation.DSMT4">
                  <p:embed/>
                </p:oleObj>
              </mc:Choice>
              <mc:Fallback>
                <p:oleObj name="Equation" r:id="rId8" imgW="21640800" imgH="7010400" progId="Equation.DSMT4">
                  <p:embed/>
                  <p:pic>
                    <p:nvPicPr>
                      <p:cNvPr id="0" name="图片 66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737350" y="1773238"/>
                        <a:ext cx="1671638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532211" y="2248684"/>
          <a:ext cx="3063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4" name="Equation" r:id="rId10" imgW="3962400" imgH="5486400" progId="Equation.DSMT4">
                  <p:embed/>
                </p:oleObj>
              </mc:Choice>
              <mc:Fallback>
                <p:oleObj name="Equation" r:id="rId10" imgW="3962400" imgH="5486400" progId="Equation.DSMT4">
                  <p:embed/>
                  <p:pic>
                    <p:nvPicPr>
                      <p:cNvPr id="0" name="图片 661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32211" y="2248684"/>
                        <a:ext cx="306388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094070" y="2276872"/>
          <a:ext cx="258321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5" name="Equation" r:id="rId12" imgW="3048000" imgH="4267200" progId="Equation.DSMT4">
                  <p:embed/>
                </p:oleObj>
              </mc:Choice>
              <mc:Fallback>
                <p:oleObj name="Equation" r:id="rId12" imgW="3048000" imgH="4267200" progId="Equation.DSMT4">
                  <p:embed/>
                  <p:pic>
                    <p:nvPicPr>
                      <p:cNvPr id="0" name="图片 66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94070" y="2276872"/>
                        <a:ext cx="258321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945088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zh-CN" altLang="en-US" dirty="0">
                <a:latin typeface="+mn-ea"/>
              </a:rPr>
              <a:t>推导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/>
              <a:t>对于训练例          </a:t>
            </a:r>
            <a:r>
              <a:rPr lang="zh-CN" altLang="en-US" dirty="0" smtClean="0"/>
              <a:t>，设神经网络</a:t>
            </a:r>
            <a:r>
              <a:rPr lang="zh-CN" altLang="en-US" dirty="0"/>
              <a:t>的实际输出</a:t>
            </a:r>
            <a:r>
              <a:rPr lang="zh-CN" altLang="en-US" dirty="0" smtClean="0"/>
              <a:t>为                                        ，则神经网络</a:t>
            </a:r>
            <a:r>
              <a:rPr lang="zh-CN" altLang="en-US" dirty="0"/>
              <a:t>在 </a:t>
            </a:r>
            <a:r>
              <a:rPr lang="zh-CN" altLang="en-US" dirty="0" smtClean="0"/>
              <a:t>          上</a:t>
            </a:r>
            <a:r>
              <a:rPr lang="zh-CN" altLang="en-US" dirty="0"/>
              <a:t>的均方误差</a:t>
            </a:r>
            <a:r>
              <a:rPr lang="zh-CN" altLang="en-US" dirty="0" smtClean="0"/>
              <a:t>为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/>
              <a:t>需通过学习确定的参数</a:t>
            </a:r>
            <a:r>
              <a:rPr lang="zh-CN" altLang="en-US" dirty="0" smtClean="0"/>
              <a:t>数目</a:t>
            </a:r>
            <a:endParaRPr lang="en-US" altLang="zh-CN" dirty="0" smtClean="0"/>
          </a:p>
          <a:p>
            <a:pPr lvl="2"/>
            <a:r>
              <a:rPr lang="zh-CN" altLang="en-US" dirty="0"/>
              <a:t>输入层到隐层</a:t>
            </a:r>
            <a:r>
              <a:rPr lang="zh-CN" altLang="en-US" dirty="0" smtClean="0"/>
              <a:t>的</a:t>
            </a:r>
            <a:r>
              <a:rPr lang="en-US" altLang="zh-CN" dirty="0" smtClean="0"/>
              <a:t>       </a:t>
            </a:r>
            <a:r>
              <a:rPr lang="zh-CN" altLang="en-US" dirty="0" smtClean="0"/>
              <a:t>个</a:t>
            </a:r>
            <a:r>
              <a:rPr lang="zh-CN" altLang="en-US" dirty="0"/>
              <a:t>权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隐</a:t>
            </a:r>
            <a:r>
              <a:rPr lang="zh-CN" altLang="en-US" dirty="0"/>
              <a:t>层到输出层</a:t>
            </a:r>
            <a:r>
              <a:rPr lang="zh-CN" altLang="en-US" dirty="0" smtClean="0"/>
              <a:t>的</a:t>
            </a:r>
            <a:r>
              <a:rPr lang="en-US" altLang="zh-CN" dirty="0" smtClean="0"/>
              <a:t>     </a:t>
            </a:r>
            <a:r>
              <a:rPr lang="zh-CN" altLang="en-US" dirty="0" smtClean="0"/>
              <a:t>个</a:t>
            </a:r>
            <a:r>
              <a:rPr lang="zh-CN" altLang="en-US" dirty="0"/>
              <a:t>权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隐</a:t>
            </a:r>
            <a:r>
              <a:rPr lang="zh-CN" altLang="en-US" dirty="0"/>
              <a:t>层神经元</a:t>
            </a:r>
            <a:r>
              <a:rPr lang="zh-CN" altLang="en-US" dirty="0" smtClean="0"/>
              <a:t>的阈值</a:t>
            </a:r>
            <a:r>
              <a:rPr lang="en-US" altLang="zh-CN" dirty="0" smtClean="0"/>
              <a:t>  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输出层神经元的阈值</a:t>
            </a:r>
            <a:r>
              <a:rPr lang="en-US" altLang="zh-CN" dirty="0" smtClean="0"/>
              <a:t>  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pPr lvl="3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33750" y="1327150"/>
          <a:ext cx="11541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7" name="Equation" r:id="rId1" imgW="11887200" imgH="5486400" progId="Equation.DSMT4">
                  <p:embed/>
                </p:oleObj>
              </mc:Choice>
              <mc:Fallback>
                <p:oleObj name="Equation" r:id="rId1" imgW="11887200" imgH="5486400" progId="Equation.DSMT4">
                  <p:embed/>
                  <p:pic>
                    <p:nvPicPr>
                      <p:cNvPr id="0" name="图片 76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33750" y="1327150"/>
                        <a:ext cx="1154113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68324" y="2602036"/>
          <a:ext cx="269557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8" name="Equation" r:id="rId3" imgW="27736800" imgH="10668000" progId="Equation.DSMT4">
                  <p:embed/>
                </p:oleObj>
              </mc:Choice>
              <mc:Fallback>
                <p:oleObj name="Equation" r:id="rId3" imgW="27736800" imgH="10668000" progId="Equation.DSMT4">
                  <p:embed/>
                  <p:pic>
                    <p:nvPicPr>
                      <p:cNvPr id="0" name="图片 766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8324" y="2602036"/>
                        <a:ext cx="2695575" cy="104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07704" y="1745311"/>
          <a:ext cx="4261787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9" name="Equation" r:id="rId5" imgW="45415200" imgH="6096000" progId="Equation.DSMT4">
                  <p:embed/>
                </p:oleObj>
              </mc:Choice>
              <mc:Fallback>
                <p:oleObj name="Equation" r:id="rId5" imgW="45415200" imgH="6096000" progId="Equation.DSMT4">
                  <p:embed/>
                  <p:pic>
                    <p:nvPicPr>
                      <p:cNvPr id="0" name="图片 766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7704" y="1745311"/>
                        <a:ext cx="4261787" cy="57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07704" y="2204864"/>
          <a:ext cx="11541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0" name="Equation" r:id="rId7" imgW="11887200" imgH="5486400" progId="Equation.DSMT4">
                  <p:embed/>
                </p:oleObj>
              </mc:Choice>
              <mc:Fallback>
                <p:oleObj name="Equation" r:id="rId7" imgW="11887200" imgH="5486400" progId="Equation.DSMT4">
                  <p:embed/>
                  <p:pic>
                    <p:nvPicPr>
                      <p:cNvPr id="0" name="图片 766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07704" y="2204864"/>
                        <a:ext cx="1154113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56300" y="3522905"/>
          <a:ext cx="1778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1" name="Equation" r:id="rId9" imgW="18288000" imgH="4876800" progId="Equation.DSMT4">
                  <p:embed/>
                </p:oleObj>
              </mc:Choice>
              <mc:Fallback>
                <p:oleObj name="Equation" r:id="rId9" imgW="18288000" imgH="4876800" progId="Equation.DSMT4">
                  <p:embed/>
                  <p:pic>
                    <p:nvPicPr>
                      <p:cNvPr id="0" name="图片 76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6300" y="3522905"/>
                        <a:ext cx="177800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038597" y="3969104"/>
          <a:ext cx="59136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2" name="Equation" r:id="rId11" imgW="7315200" imgH="4876800" progId="Equation.DSMT4">
                  <p:embed/>
                </p:oleObj>
              </mc:Choice>
              <mc:Fallback>
                <p:oleObj name="Equation" r:id="rId11" imgW="7315200" imgH="4876800" progId="Equation.DSMT4">
                  <p:embed/>
                  <p:pic>
                    <p:nvPicPr>
                      <p:cNvPr id="0" name="图片 767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38597" y="3969104"/>
                        <a:ext cx="591360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054116" y="4329144"/>
          <a:ext cx="493680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3" name="Equation" r:id="rId13" imgW="6096000" imgH="4876800" progId="Equation.DSMT4">
                  <p:embed/>
                </p:oleObj>
              </mc:Choice>
              <mc:Fallback>
                <p:oleObj name="Equation" r:id="rId13" imgW="6096000" imgH="4876800" progId="Equation.DSMT4">
                  <p:embed/>
                  <p:pic>
                    <p:nvPicPr>
                      <p:cNvPr id="0" name="图片 767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54116" y="4329144"/>
                        <a:ext cx="493680" cy="39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338639" y="4725144"/>
          <a:ext cx="248311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4" name="Equation" r:id="rId15" imgW="3048000" imgH="3962400" progId="Equation.DSMT4">
                  <p:embed/>
                </p:oleObj>
              </mc:Choice>
              <mc:Fallback>
                <p:oleObj name="Equation" r:id="rId15" imgW="3048000" imgH="3962400" progId="Equation.DSMT4">
                  <p:embed/>
                  <p:pic>
                    <p:nvPicPr>
                      <p:cNvPr id="0" name="图片 767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38639" y="4725144"/>
                        <a:ext cx="248311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680032" y="5049144"/>
          <a:ext cx="180000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75" name="Equation" r:id="rId17" imgW="2133600" imgH="4267200" progId="Equation.DSMT4">
                  <p:embed/>
                </p:oleObj>
              </mc:Choice>
              <mc:Fallback>
                <p:oleObj name="Equation" r:id="rId17" imgW="2133600" imgH="4267200" progId="Equation.DSMT4">
                  <p:embed/>
                  <p:pic>
                    <p:nvPicPr>
                      <p:cNvPr id="0" name="图片 767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80032" y="5049144"/>
                        <a:ext cx="180000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9"/>
          <a:srcRect r="39774"/>
          <a:stretch>
            <a:fillRect/>
          </a:stretch>
        </p:blipFill>
        <p:spPr>
          <a:xfrm>
            <a:off x="5724128" y="3933056"/>
            <a:ext cx="3106267" cy="284874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</a:t>
            </a:r>
            <a:r>
              <a:rPr lang="zh-CN" altLang="en-US" dirty="0" smtClean="0">
                <a:latin typeface="+mn-ea"/>
              </a:rPr>
              <a:t>推导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是一</a:t>
            </a:r>
            <a:r>
              <a:rPr lang="zh-CN" altLang="en-US" dirty="0">
                <a:latin typeface="+mn-ea"/>
              </a:rPr>
              <a:t>个迭代学习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在</a:t>
            </a:r>
            <a:r>
              <a:rPr lang="zh-CN" altLang="en-US" dirty="0">
                <a:latin typeface="+mn-ea"/>
              </a:rPr>
              <a:t>迭代的每一轮中采用广义感知机学习</a:t>
            </a:r>
            <a:r>
              <a:rPr lang="zh-CN" altLang="en-US" dirty="0" smtClean="0">
                <a:latin typeface="+mn-ea"/>
              </a:rPr>
              <a:t>规则对参数进行估计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zh-CN" altLang="en-US" dirty="0">
                <a:latin typeface="+mn-ea"/>
              </a:rPr>
              <a:t>基于梯度下降策略，以目标的负梯度方向对参数进行调整，以 </a:t>
            </a:r>
            <a:r>
              <a:rPr lang="zh-CN" altLang="en-US" dirty="0" smtClean="0">
                <a:latin typeface="+mn-ea"/>
              </a:rPr>
              <a:t>  为例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对误差 </a:t>
            </a:r>
            <a:r>
              <a:rPr lang="zh-CN" altLang="en-US" dirty="0" smtClean="0">
                <a:latin typeface="+mn-ea"/>
              </a:rPr>
              <a:t>  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给定</a:t>
            </a:r>
            <a:r>
              <a:rPr lang="zh-CN" altLang="en-US" dirty="0">
                <a:latin typeface="+mn-ea"/>
              </a:rPr>
              <a:t>学习</a:t>
            </a:r>
            <a:r>
              <a:rPr lang="zh-CN" altLang="en-US" dirty="0" smtClean="0">
                <a:latin typeface="+mn-ea"/>
              </a:rPr>
              <a:t>率   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有</a:t>
            </a:r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635896" y="2204864"/>
          <a:ext cx="168751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3" name="Equation" r:id="rId1" imgW="17373600" imgH="4267200" progId="Equation.DSMT4">
                  <p:embed/>
                </p:oleObj>
              </mc:Choice>
              <mc:Fallback>
                <p:oleObj name="Equation" r:id="rId1" imgW="17373600" imgH="4267200" progId="Equation.DSMT4">
                  <p:embed/>
                  <p:pic>
                    <p:nvPicPr>
                      <p:cNvPr id="0" name="图片 85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5896" y="2204864"/>
                        <a:ext cx="1687512" cy="417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508104" y="3043117"/>
          <a:ext cx="503238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4" name="Equation" r:id="rId3" imgW="5181600" imgH="5791200" progId="Equation.DSMT4">
                  <p:embed/>
                </p:oleObj>
              </mc:Choice>
              <mc:Fallback>
                <p:oleObj name="Equation" r:id="rId3" imgW="5181600" imgH="5791200" progId="Equation.DSMT4">
                  <p:embed/>
                  <p:pic>
                    <p:nvPicPr>
                      <p:cNvPr id="0" name="图片 85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8104" y="3043117"/>
                        <a:ext cx="503238" cy="566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312" y="4010305"/>
            <a:ext cx="4944664" cy="2731063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41625" y="3468489"/>
          <a:ext cx="4429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5" name="Equation" r:id="rId6" imgW="4572000" imgH="5486400" progId="Equation.DSMT4">
                  <p:embed/>
                </p:oleObj>
              </mc:Choice>
              <mc:Fallback>
                <p:oleObj name="Equation" r:id="rId6" imgW="4572000" imgH="5486400" progId="Equation.DSMT4">
                  <p:embed/>
                  <p:pic>
                    <p:nvPicPr>
                      <p:cNvPr id="0" name="图片 85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1625" y="3468489"/>
                        <a:ext cx="442913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38750" y="3529013"/>
          <a:ext cx="2952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6" name="Equation" r:id="rId8" imgW="3048000" imgH="3962400" progId="Equation.DSMT4">
                  <p:embed/>
                </p:oleObj>
              </mc:Choice>
              <mc:Fallback>
                <p:oleObj name="Equation" r:id="rId8" imgW="3048000" imgH="3962400" progId="Equation.DSMT4">
                  <p:embed/>
                  <p:pic>
                    <p:nvPicPr>
                      <p:cNvPr id="0" name="图片 85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38750" y="3529013"/>
                        <a:ext cx="295275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87624" y="3933056"/>
          <a:ext cx="2960687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77" name="Equation" r:id="rId10" imgW="30480000" imgH="20726400" progId="Equation.DSMT4">
                  <p:embed/>
                </p:oleObj>
              </mc:Choice>
              <mc:Fallback>
                <p:oleObj name="Equation" r:id="rId10" imgW="30480000" imgH="20726400" progId="Equation.DSMT4">
                  <p:embed/>
                  <p:pic>
                    <p:nvPicPr>
                      <p:cNvPr id="0" name="图片 857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87624" y="3933056"/>
                        <a:ext cx="2960687" cy="202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算法推导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算法基于梯度下降策略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809376"/>
            <a:ext cx="7867348" cy="5004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算法推导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算法基于梯度下降策略</a:t>
            </a:r>
            <a:endParaRPr lang="zh-CN" altLang="en-US" dirty="0"/>
          </a:p>
          <a:p>
            <a:pPr lvl="2"/>
            <a:r>
              <a:rPr lang="zh-CN" altLang="en-US" dirty="0" smtClean="0"/>
              <a:t>类似有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 smtClean="0"/>
          </a:p>
          <a:p>
            <a:pPr lvl="2"/>
            <a:endParaRPr lang="en-US" altLang="zh-CN" dirty="0"/>
          </a:p>
          <a:p>
            <a:pPr lvl="3">
              <a:spcBef>
                <a:spcPts val="1200"/>
              </a:spcBef>
            </a:pPr>
            <a:r>
              <a:rPr lang="zh-CN" altLang="en-US" dirty="0" smtClean="0"/>
              <a:t>其中</a:t>
            </a:r>
            <a:endParaRPr lang="en-US" altLang="zh-CN" dirty="0" smtClean="0"/>
          </a:p>
          <a:p>
            <a:pPr lvl="3">
              <a:spcBef>
                <a:spcPts val="1200"/>
              </a:spcBef>
            </a:pPr>
            <a:endParaRPr lang="en-US" altLang="zh-CN" dirty="0"/>
          </a:p>
          <a:p>
            <a:pPr lvl="3">
              <a:spcBef>
                <a:spcPts val="1200"/>
              </a:spcBef>
            </a:pPr>
            <a:endParaRPr lang="en-US" altLang="zh-CN" dirty="0" smtClean="0"/>
          </a:p>
          <a:p>
            <a:pPr lvl="3">
              <a:spcBef>
                <a:spcPts val="1200"/>
              </a:spcBef>
            </a:pPr>
            <a:endParaRPr lang="en-US" altLang="zh-CN" dirty="0"/>
          </a:p>
          <a:p>
            <a:pPr lvl="3">
              <a:spcBef>
                <a:spcPts val="1200"/>
              </a:spcBef>
            </a:pPr>
            <a:endParaRPr lang="en-US" altLang="zh-CN" dirty="0" smtClean="0"/>
          </a:p>
          <a:p>
            <a:pPr lvl="2">
              <a:spcBef>
                <a:spcPts val="1200"/>
              </a:spcBef>
            </a:pPr>
            <a:r>
              <a:rPr lang="zh-CN" altLang="en-US" dirty="0" smtClean="0"/>
              <a:t>学习率 </a:t>
            </a:r>
            <a:r>
              <a:rPr lang="zh-CN" altLang="en-US" dirty="0" smtClean="0"/>
              <a:t>       控制</a:t>
            </a:r>
            <a:r>
              <a:rPr lang="zh-CN" altLang="en-US" dirty="0"/>
              <a:t>着</a:t>
            </a:r>
            <a:r>
              <a:rPr lang="zh-CN" altLang="en-US" dirty="0" smtClean="0"/>
              <a:t>算法迭代</a:t>
            </a:r>
            <a:r>
              <a:rPr lang="zh-CN" altLang="en-US" dirty="0"/>
              <a:t>中的更新步长</a:t>
            </a:r>
            <a:r>
              <a:rPr lang="zh-CN" altLang="en-US" dirty="0" smtClean="0"/>
              <a:t>，太大容易</a:t>
            </a:r>
            <a:r>
              <a:rPr lang="zh-CN" altLang="en-US" dirty="0"/>
              <a:t>振荡，太</a:t>
            </a:r>
            <a:r>
              <a:rPr lang="zh-CN" altLang="en-US" dirty="0" smtClean="0"/>
              <a:t>小收敛速度会</a:t>
            </a:r>
            <a:r>
              <a:rPr lang="zh-CN" altLang="en-US" dirty="0"/>
              <a:t>过</a:t>
            </a:r>
            <a:r>
              <a:rPr lang="zh-CN" altLang="en-US" dirty="0" smtClean="0"/>
              <a:t>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63105" y="2132856"/>
          <a:ext cx="1436400" cy="12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4" name="Equation" r:id="rId1" imgW="16764000" imgH="14630400" progId="Equation.DSMT4">
                  <p:embed/>
                </p:oleObj>
              </mc:Choice>
              <mc:Fallback>
                <p:oleObj name="Equation" r:id="rId1" imgW="16764000" imgH="14630400" progId="Equation.DSMT4">
                  <p:embed/>
                  <p:pic>
                    <p:nvPicPr>
                      <p:cNvPr id="0" name="图片 94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3105" y="2132856"/>
                        <a:ext cx="1436400" cy="12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799873"/>
            <a:ext cx="3862185" cy="2133183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67667" y="3761011"/>
          <a:ext cx="8024813" cy="190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5" name="Equation" r:id="rId4" imgW="87782400" imgH="20726400" progId="Equation.DSMT4">
                  <p:embed/>
                </p:oleObj>
              </mc:Choice>
              <mc:Fallback>
                <p:oleObj name="Equation" r:id="rId4" imgW="87782400" imgH="20726400" progId="Equation.DSMT4">
                  <p:embed/>
                  <p:pic>
                    <p:nvPicPr>
                      <p:cNvPr id="0" name="图片 944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7667" y="3761011"/>
                        <a:ext cx="8024813" cy="1900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01823" y="5685387"/>
          <a:ext cx="9953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46" name="Equation" r:id="rId6" imgW="11582400" imgH="4876800" progId="Equation.DSMT4">
                  <p:embed/>
                </p:oleObj>
              </mc:Choice>
              <mc:Fallback>
                <p:oleObj name="Equation" r:id="rId6" imgW="11582400" imgH="4876800" progId="Equation.DSMT4">
                  <p:embed/>
                  <p:pic>
                    <p:nvPicPr>
                      <p:cNvPr id="0" name="图片 944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01823" y="5685387"/>
                        <a:ext cx="995363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zh-CN" altLang="en-US" dirty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5" y="1433041"/>
            <a:ext cx="8320279" cy="51643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sp>
        <p:nvSpPr>
          <p:cNvPr id="11" name="线形标注 1 10"/>
          <p:cNvSpPr/>
          <p:nvPr/>
        </p:nvSpPr>
        <p:spPr bwMode="auto">
          <a:xfrm>
            <a:off x="7617583" y="2317305"/>
            <a:ext cx="1490921" cy="1543743"/>
          </a:xfrm>
          <a:prstGeom prst="borderCallout1">
            <a:avLst>
              <a:gd name="adj1" fmla="val 50956"/>
              <a:gd name="adj2" fmla="val 101"/>
              <a:gd name="adj3" fmla="val 106619"/>
              <a:gd name="adj4" fmla="val -35486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将示例输入给</a:t>
            </a:r>
            <a:r>
              <a:rPr lang="zh-CN" altLang="en-US" sz="1600" b="0" kern="0" spc="-200" dirty="0">
                <a:solidFill>
                  <a:srgbClr val="FF0000"/>
                </a:solidFill>
                <a:latin typeface="+mn-ea"/>
                <a:ea typeface="+mn-ea"/>
              </a:rPr>
              <a:t>输入层</a:t>
            </a: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神经元</a:t>
            </a:r>
            <a:r>
              <a:rPr lang="en-US" altLang="zh-CN" sz="1600" b="0" kern="0" spc="-200" dirty="0">
                <a:solidFill>
                  <a:srgbClr val="FF0000"/>
                </a:solidFill>
                <a:latin typeface="+mn-ea"/>
                <a:ea typeface="+mn-ea"/>
              </a:rPr>
              <a:t>,</a:t>
            </a: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逐</a:t>
            </a:r>
            <a:r>
              <a:rPr lang="zh-CN" altLang="en-US" sz="1600" b="0" kern="0" spc="-200" dirty="0">
                <a:solidFill>
                  <a:srgbClr val="FF0000"/>
                </a:solidFill>
                <a:latin typeface="+mn-ea"/>
                <a:ea typeface="+mn-ea"/>
              </a:rPr>
              <a:t>层将信号前</a:t>
            </a: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传</a:t>
            </a:r>
            <a:r>
              <a:rPr lang="en-US" altLang="zh-CN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,</a:t>
            </a: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直到</a:t>
            </a:r>
            <a:r>
              <a:rPr lang="zh-CN" altLang="en-US" sz="1600" b="0" kern="0" spc="-200" dirty="0">
                <a:solidFill>
                  <a:srgbClr val="FF0000"/>
                </a:solidFill>
                <a:latin typeface="+mn-ea"/>
                <a:ea typeface="+mn-ea"/>
              </a:rPr>
              <a:t>产生输出层结果，然后计算</a:t>
            </a:r>
            <a:r>
              <a:rPr lang="zh-CN" altLang="en-US" sz="1600" b="0" kern="0" spc="-200" dirty="0" smtClean="0">
                <a:solidFill>
                  <a:srgbClr val="FF0000"/>
                </a:solidFill>
                <a:latin typeface="+mn-ea"/>
                <a:ea typeface="+mn-ea"/>
              </a:rPr>
              <a:t>输出层误差</a:t>
            </a:r>
            <a:endParaRPr lang="zh-CN" altLang="en-US" sz="1600" b="0" kern="0" spc="-20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2" name="线形标注 1 11"/>
          <p:cNvSpPr/>
          <p:nvPr/>
        </p:nvSpPr>
        <p:spPr bwMode="auto">
          <a:xfrm>
            <a:off x="7619877" y="3913274"/>
            <a:ext cx="1490921" cy="595846"/>
          </a:xfrm>
          <a:prstGeom prst="borderCallout1">
            <a:avLst>
              <a:gd name="adj1" fmla="val 48732"/>
              <a:gd name="adj2" fmla="val -788"/>
              <a:gd name="adj3" fmla="val 83247"/>
              <a:gd name="adj4" fmla="val -73707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kern="0" spc="-200" dirty="0" smtClean="0">
                <a:solidFill>
                  <a:srgbClr val="FF0000"/>
                </a:solidFill>
              </a:rPr>
              <a:t>将误差</a:t>
            </a:r>
            <a:r>
              <a:rPr lang="zh-CN" altLang="en-US" sz="1600" b="0" kern="0" spc="-200" dirty="0">
                <a:solidFill>
                  <a:srgbClr val="FF0000"/>
                </a:solidFill>
              </a:rPr>
              <a:t>逆向</a:t>
            </a:r>
            <a:r>
              <a:rPr lang="zh-CN" altLang="en-US" sz="1600" b="0" kern="0" spc="-200" dirty="0" smtClean="0">
                <a:solidFill>
                  <a:srgbClr val="FF0000"/>
                </a:solidFill>
              </a:rPr>
              <a:t>传播</a:t>
            </a:r>
            <a:r>
              <a:rPr lang="zh-CN" altLang="en-US" sz="1600" b="0" kern="0" spc="-200" dirty="0">
                <a:solidFill>
                  <a:srgbClr val="FF0000"/>
                </a:solidFill>
              </a:rPr>
              <a:t>到</a:t>
            </a:r>
            <a:r>
              <a:rPr lang="zh-CN" altLang="en-US" sz="1600" b="0" kern="0" spc="-200" dirty="0" smtClean="0">
                <a:solidFill>
                  <a:srgbClr val="FF0000"/>
                </a:solidFill>
              </a:rPr>
              <a:t>隐</a:t>
            </a:r>
            <a:r>
              <a:rPr lang="zh-CN" altLang="en-US" sz="1600" b="0" kern="0" spc="-200" dirty="0">
                <a:solidFill>
                  <a:srgbClr val="FF0000"/>
                </a:solidFill>
              </a:rPr>
              <a:t>层神经元</a:t>
            </a:r>
            <a:endParaRPr kumimoji="0" lang="zh-CN" altLang="en-US" sz="1600" b="0" i="0" u="none" strike="noStrike" kern="0" cap="none" spc="-200" normalizeH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3" name="线形标注 1 12"/>
          <p:cNvSpPr/>
          <p:nvPr/>
        </p:nvSpPr>
        <p:spPr bwMode="auto">
          <a:xfrm>
            <a:off x="8196526" y="4577951"/>
            <a:ext cx="911978" cy="1299321"/>
          </a:xfrm>
          <a:prstGeom prst="borderCallout1">
            <a:avLst>
              <a:gd name="adj1" fmla="val 50956"/>
              <a:gd name="adj2" fmla="val -1677"/>
              <a:gd name="adj3" fmla="val 11273"/>
              <a:gd name="adj4" fmla="val -41863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kern="0" spc="-200" dirty="0" smtClean="0">
                <a:solidFill>
                  <a:srgbClr val="FF0000"/>
                </a:solidFill>
              </a:rPr>
              <a:t>根据隐层神经元误差对连接权和阈值进行调整</a:t>
            </a:r>
            <a:endParaRPr kumimoji="0" lang="zh-CN" altLang="en-US" sz="1600" b="0" i="0" u="none" strike="noStrike" kern="0" cap="none" spc="-200" normalizeH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4" name="线形标注 1 13"/>
          <p:cNvSpPr/>
          <p:nvPr/>
        </p:nvSpPr>
        <p:spPr bwMode="auto">
          <a:xfrm>
            <a:off x="5796136" y="5157192"/>
            <a:ext cx="1642187" cy="831124"/>
          </a:xfrm>
          <a:prstGeom prst="borderCallout1">
            <a:avLst>
              <a:gd name="adj1" fmla="val 47767"/>
              <a:gd name="adj2" fmla="val -63"/>
              <a:gd name="adj3" fmla="val 28242"/>
              <a:gd name="adj4" fmla="val -157259"/>
            </a:avLst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kern="0" spc="-200" dirty="0">
                <a:solidFill>
                  <a:srgbClr val="FF0000"/>
                </a:solidFill>
              </a:rPr>
              <a:t>训练误差达到一个很小的值，与缓解过拟合的策略有关</a:t>
            </a:r>
            <a:endParaRPr lang="zh-CN" altLang="en-US" sz="1600" b="0" kern="0" spc="-200" dirty="0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6516216" y="4247592"/>
            <a:ext cx="0" cy="28803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直接连接符 17"/>
          <p:cNvCxnSpPr/>
          <p:nvPr/>
        </p:nvCxnSpPr>
        <p:spPr bwMode="auto">
          <a:xfrm>
            <a:off x="7092280" y="3631836"/>
            <a:ext cx="0" cy="576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>
            <a:off x="7819865" y="4594380"/>
            <a:ext cx="0" cy="28803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直接连接符 19"/>
          <p:cNvCxnSpPr/>
          <p:nvPr/>
        </p:nvCxnSpPr>
        <p:spPr bwMode="auto">
          <a:xfrm>
            <a:off x="3203848" y="5239544"/>
            <a:ext cx="0" cy="28803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cover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标准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算法与累积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标准</a:t>
            </a:r>
            <a:r>
              <a:rPr lang="en-US" altLang="zh-CN" dirty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每次针对单个训练样例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zh-CN" altLang="en-US" dirty="0">
                <a:latin typeface="+mn-ea"/>
              </a:rPr>
              <a:t>权值与</a:t>
            </a:r>
            <a:r>
              <a:rPr lang="zh-CN" altLang="en-US" dirty="0" smtClean="0">
                <a:latin typeface="+mn-ea"/>
              </a:rPr>
              <a:t>阈值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参数更新</a:t>
            </a:r>
            <a:r>
              <a:rPr lang="zh-CN" altLang="en-US" dirty="0" smtClean="0">
                <a:latin typeface="+mn-ea"/>
              </a:rPr>
              <a:t>频繁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不</a:t>
            </a:r>
            <a:r>
              <a:rPr lang="zh-CN" altLang="en-US" dirty="0">
                <a:latin typeface="+mn-ea"/>
              </a:rPr>
              <a:t>同样</a:t>
            </a:r>
            <a:r>
              <a:rPr lang="zh-CN" altLang="en-US" dirty="0" smtClean="0">
                <a:latin typeface="+mn-ea"/>
              </a:rPr>
              <a:t>例可能抵消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需要</a:t>
            </a:r>
            <a:r>
              <a:rPr lang="zh-CN" altLang="en-US" dirty="0">
                <a:latin typeface="+mn-ea"/>
              </a:rPr>
              <a:t>多次迭代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累积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zh-CN" altLang="en-US" dirty="0">
              <a:latin typeface="+mn-ea"/>
            </a:endParaRPr>
          </a:p>
          <a:p>
            <a:pPr lvl="3">
              <a:spcAft>
                <a:spcPts val="600"/>
              </a:spcAft>
            </a:pPr>
            <a:r>
              <a:rPr lang="zh-CN" altLang="en-US" dirty="0" smtClean="0">
                <a:latin typeface="+mn-ea"/>
              </a:rPr>
              <a:t>对于数据集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优化</a:t>
            </a:r>
            <a:r>
              <a:rPr lang="zh-CN" altLang="en-US" dirty="0">
                <a:latin typeface="+mn-ea"/>
              </a:rPr>
              <a:t>目标是最小化</a:t>
            </a:r>
            <a:r>
              <a:rPr lang="zh-CN" altLang="en-US" dirty="0" smtClean="0">
                <a:latin typeface="+mn-ea"/>
              </a:rPr>
              <a:t>整个训练集</a:t>
            </a:r>
            <a:r>
              <a:rPr lang="zh-CN" altLang="en-US" dirty="0">
                <a:latin typeface="+mn-ea"/>
              </a:rPr>
              <a:t>上的累计</a:t>
            </a:r>
            <a:r>
              <a:rPr lang="zh-CN" altLang="en-US" dirty="0" smtClean="0">
                <a:latin typeface="+mn-ea"/>
              </a:rPr>
              <a:t>误差</a:t>
            </a:r>
            <a:endParaRPr lang="en-US" altLang="zh-CN" dirty="0" smtClean="0">
              <a:latin typeface="+mn-ea"/>
            </a:endParaRPr>
          </a:p>
          <a:p>
            <a:pPr lvl="3"/>
            <a:endParaRPr lang="zh-CN" altLang="en-US" dirty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读取</a:t>
            </a:r>
            <a:r>
              <a:rPr lang="zh-CN" altLang="en-US" dirty="0">
                <a:latin typeface="+mn-ea"/>
              </a:rPr>
              <a:t>整个训练集一遍才对参数进行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参数更新频率</a:t>
            </a:r>
            <a:r>
              <a:rPr lang="zh-CN" altLang="en-US" dirty="0">
                <a:latin typeface="+mn-ea"/>
              </a:rPr>
              <a:t>较低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在很多任务</a:t>
            </a:r>
            <a:r>
              <a:rPr lang="zh-CN" altLang="en-US" dirty="0" smtClean="0">
                <a:latin typeface="+mn-ea"/>
              </a:rPr>
              <a:t>中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累计</a:t>
            </a:r>
            <a:r>
              <a:rPr lang="zh-CN" altLang="en-US" dirty="0">
                <a:latin typeface="+mn-ea"/>
              </a:rPr>
              <a:t>误差下降到一定程度</a:t>
            </a:r>
            <a:r>
              <a:rPr lang="zh-CN" altLang="en-US" dirty="0" smtClean="0">
                <a:latin typeface="+mn-ea"/>
              </a:rPr>
              <a:t>后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进一步</a:t>
            </a:r>
            <a:r>
              <a:rPr lang="zh-CN" altLang="en-US" dirty="0">
                <a:latin typeface="+mn-ea"/>
              </a:rPr>
              <a:t>下降会非常</a:t>
            </a:r>
            <a:r>
              <a:rPr lang="zh-CN" altLang="en-US" dirty="0" smtClean="0">
                <a:latin typeface="+mn-ea"/>
              </a:rPr>
              <a:t>缓慢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这时标准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zh-CN" altLang="en-US" dirty="0">
                <a:latin typeface="+mn-ea"/>
              </a:rPr>
              <a:t>往往会获得较好的</a:t>
            </a:r>
            <a:r>
              <a:rPr lang="zh-CN" altLang="en-US" dirty="0" smtClean="0">
                <a:latin typeface="+mn-ea"/>
              </a:rPr>
              <a:t>解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尤其</a:t>
            </a:r>
            <a:r>
              <a:rPr lang="zh-CN" altLang="en-US" dirty="0">
                <a:latin typeface="+mn-ea"/>
              </a:rPr>
              <a:t>当</a:t>
            </a:r>
            <a:r>
              <a:rPr lang="zh-CN" altLang="en-US" dirty="0" smtClean="0">
                <a:latin typeface="+mn-ea"/>
              </a:rPr>
              <a:t>训练集</a:t>
            </a:r>
            <a:r>
              <a:rPr lang="en-US" altLang="zh-CN" dirty="0" smtClean="0">
                <a:latin typeface="+mn-ea"/>
              </a:rPr>
              <a:t>D</a:t>
            </a:r>
            <a:r>
              <a:rPr lang="zh-CN" altLang="en-US" dirty="0" smtClean="0">
                <a:latin typeface="+mn-ea"/>
              </a:rPr>
              <a:t>非常</a:t>
            </a:r>
            <a:r>
              <a:rPr lang="zh-CN" altLang="en-US" dirty="0">
                <a:latin typeface="+mn-ea"/>
              </a:rPr>
              <a:t>大时效果更明显</a:t>
            </a:r>
            <a:endParaRPr lang="zh-CN" altLang="en-US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347864" y="3356992"/>
          <a:ext cx="1386000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Equation" r:id="rId1" imgW="17373600" imgH="10363200" progId="Equation.DSMT4">
                  <p:embed/>
                </p:oleObj>
              </mc:Choice>
              <mc:Fallback>
                <p:oleObj name="Equation" r:id="rId1" imgW="17373600" imgH="10363200" progId="Equation.DSMT4">
                  <p:embed/>
                  <p:pic>
                    <p:nvPicPr>
                      <p:cNvPr id="0" name="图片 103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7864" y="3356992"/>
                        <a:ext cx="1386000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在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个属性、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个样本的西瓜数据上，</a:t>
            </a:r>
            <a:r>
              <a:rPr lang="en-US" altLang="zh-CN" dirty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网络参数更新和分类边界的变化情况</a:t>
            </a:r>
            <a:endParaRPr lang="zh-CN" altLang="en-US" dirty="0">
              <a:latin typeface="+mn-ea"/>
            </a:endParaRPr>
          </a:p>
          <a:p>
            <a:endParaRPr lang="en-US" altLang="zh-CN" dirty="0" smtClean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13181"/>
          <a:stretch>
            <a:fillRect/>
          </a:stretch>
        </p:blipFill>
        <p:spPr>
          <a:xfrm>
            <a:off x="440195" y="2236440"/>
            <a:ext cx="8308269" cy="457693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985150" cy="5760640"/>
          </a:xfrm>
        </p:spPr>
        <p:txBody>
          <a:bodyPr/>
          <a:lstStyle/>
          <a:p>
            <a:r>
              <a:rPr lang="zh-CN" altLang="en-US" dirty="0"/>
              <a:t>缓解过拟合</a:t>
            </a:r>
            <a:endParaRPr lang="zh-CN" altLang="en-US" dirty="0"/>
          </a:p>
          <a:p>
            <a:pPr lvl="1"/>
            <a:r>
              <a:rPr lang="zh-CN" altLang="en-US" dirty="0"/>
              <a:t>多层前馈</a:t>
            </a:r>
            <a:r>
              <a:rPr lang="zh-CN" altLang="en-US" dirty="0" smtClean="0"/>
              <a:t>网络具有强大</a:t>
            </a:r>
            <a:r>
              <a:rPr lang="zh-CN" altLang="en-US" dirty="0"/>
              <a:t>的表示</a:t>
            </a:r>
            <a:r>
              <a:rPr lang="zh-CN" altLang="en-US" dirty="0" smtClean="0"/>
              <a:t>能力</a:t>
            </a:r>
            <a:endParaRPr lang="en-US" altLang="zh-CN" dirty="0" smtClean="0"/>
          </a:p>
          <a:p>
            <a:pPr lvl="2" hangingPunct="0"/>
            <a:r>
              <a:rPr lang="zh-CN" altLang="en-US" dirty="0"/>
              <a:t>已证明多层前馈网络只要包含足够多隐层神经元，就能以任意精度逼近任意复杂度的连续函数</a:t>
            </a:r>
            <a:endParaRPr lang="en-US" altLang="zh-CN" dirty="0"/>
          </a:p>
          <a:p>
            <a:pPr lvl="3" hangingPunct="0"/>
            <a:r>
              <a:rPr lang="zh-CN" altLang="en-US" dirty="0"/>
              <a:t>如何设置隐层神经元的个数</a:t>
            </a:r>
            <a:r>
              <a:rPr lang="zh-CN" altLang="en-US" dirty="0" smtClean="0"/>
              <a:t>仍未解，</a:t>
            </a:r>
            <a:r>
              <a:rPr lang="zh-CN" altLang="en-US" dirty="0"/>
              <a:t>实际应用中</a:t>
            </a:r>
            <a:r>
              <a:rPr lang="zh-CN" altLang="en-US" dirty="0" smtClean="0"/>
              <a:t>通常用试错法调整</a:t>
            </a:r>
            <a:endParaRPr lang="en-US" altLang="zh-CN" dirty="0" smtClean="0"/>
          </a:p>
          <a:p>
            <a:pPr lvl="2"/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>
                <a:latin typeface="+mn-ea"/>
              </a:rPr>
              <a:t>神经网络</a:t>
            </a:r>
            <a:r>
              <a:rPr lang="zh-CN" altLang="en-US" dirty="0"/>
              <a:t>经常遭遇过</a:t>
            </a:r>
            <a:r>
              <a:rPr lang="zh-CN" altLang="en-US" dirty="0" smtClean="0"/>
              <a:t>拟合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训练</a:t>
            </a:r>
            <a:r>
              <a:rPr lang="zh-CN" altLang="en-US" dirty="0"/>
              <a:t>误差</a:t>
            </a:r>
            <a:r>
              <a:rPr lang="zh-CN" altLang="en-US" dirty="0" smtClean="0"/>
              <a:t>持续</a:t>
            </a:r>
            <a:r>
              <a:rPr lang="zh-CN" altLang="en-US" dirty="0"/>
              <a:t>降低，但测试误差却可能</a:t>
            </a:r>
            <a:r>
              <a:rPr lang="zh-CN" altLang="en-US" dirty="0" smtClean="0"/>
              <a:t>上升</a:t>
            </a:r>
            <a:endParaRPr lang="en-US" altLang="zh-CN" dirty="0" smtClean="0"/>
          </a:p>
          <a:p>
            <a:pPr lvl="3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误差逆传播算法</a:t>
            </a:r>
            <a:r>
              <a:rPr lang="en-US" altLang="zh-CN" dirty="0"/>
              <a:t>(BP)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2914" y="836712"/>
            <a:ext cx="7985150" cy="5760640"/>
          </a:xfrm>
        </p:spPr>
        <p:txBody>
          <a:bodyPr/>
          <a:lstStyle/>
          <a:p>
            <a:r>
              <a:rPr lang="zh-CN" altLang="en-US" dirty="0"/>
              <a:t>缓解过拟合</a:t>
            </a:r>
            <a:endParaRPr lang="zh-CN" altLang="en-US" dirty="0"/>
          </a:p>
          <a:p>
            <a:pPr lvl="1"/>
            <a:r>
              <a:rPr lang="zh-CN" altLang="en-US" dirty="0" smtClean="0"/>
              <a:t>两种缓解策略</a:t>
            </a:r>
            <a:endParaRPr lang="en-US" altLang="zh-CN" dirty="0" smtClean="0"/>
          </a:p>
          <a:p>
            <a:pPr lvl="2"/>
            <a:r>
              <a:rPr lang="zh-CN" altLang="en-US" dirty="0"/>
              <a:t>早</a:t>
            </a:r>
            <a:r>
              <a:rPr lang="zh-CN" altLang="en-US" dirty="0" smtClean="0"/>
              <a:t>停</a:t>
            </a:r>
            <a:endParaRPr lang="en-US" altLang="zh-CN" dirty="0" smtClean="0"/>
          </a:p>
          <a:p>
            <a:pPr lvl="3"/>
            <a:r>
              <a:rPr lang="zh-CN" altLang="en-US" dirty="0">
                <a:latin typeface="+mn-ea"/>
              </a:rPr>
              <a:t>若训练误差</a:t>
            </a:r>
            <a:r>
              <a:rPr lang="zh-CN" altLang="en-US" dirty="0" smtClean="0">
                <a:latin typeface="+mn-ea"/>
              </a:rPr>
              <a:t>连续</a:t>
            </a:r>
            <a:r>
              <a:rPr lang="en-US" altLang="zh-CN" dirty="0" smtClean="0">
                <a:latin typeface="+mn-ea"/>
              </a:rPr>
              <a:t>a</a:t>
            </a:r>
            <a:r>
              <a:rPr lang="zh-CN" altLang="en-US" dirty="0" smtClean="0">
                <a:latin typeface="+mn-ea"/>
              </a:rPr>
              <a:t>轮的</a:t>
            </a:r>
            <a:r>
              <a:rPr lang="zh-CN" altLang="en-US" dirty="0">
                <a:latin typeface="+mn-ea"/>
              </a:rPr>
              <a:t>变化</a:t>
            </a:r>
            <a:r>
              <a:rPr lang="zh-CN" altLang="en-US" dirty="0" smtClean="0">
                <a:latin typeface="+mn-ea"/>
              </a:rPr>
              <a:t>小于</a:t>
            </a:r>
            <a:r>
              <a:rPr lang="en-US" altLang="zh-CN" dirty="0" smtClean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则</a:t>
            </a:r>
            <a:r>
              <a:rPr lang="zh-CN" altLang="en-US" dirty="0">
                <a:latin typeface="+mn-ea"/>
              </a:rPr>
              <a:t>停止</a:t>
            </a:r>
            <a:r>
              <a:rPr lang="zh-CN" altLang="en-US" dirty="0" smtClean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将数据分成训练集和验证</a:t>
            </a:r>
            <a:r>
              <a:rPr lang="zh-CN" altLang="en-US" dirty="0" smtClean="0">
                <a:latin typeface="+mn-ea"/>
              </a:rPr>
              <a:t>集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spc="-130" dirty="0" smtClean="0">
                <a:latin typeface="+mn-ea"/>
              </a:rPr>
              <a:t>训练集计算梯度、更新连接权和阈值，验证集估计误差</a:t>
            </a:r>
            <a:endParaRPr lang="en-US" altLang="zh-CN" spc="-130" dirty="0" smtClean="0">
              <a:latin typeface="+mn-ea"/>
            </a:endParaRPr>
          </a:p>
          <a:p>
            <a:pPr lvl="4" hangingPunct="0"/>
            <a:r>
              <a:rPr lang="zh-CN" altLang="en-US" dirty="0" smtClean="0">
                <a:latin typeface="+mn-ea"/>
              </a:rPr>
              <a:t>若训练集误差降低但验证集误差升高，则停止</a:t>
            </a:r>
            <a:r>
              <a:rPr lang="zh-CN" altLang="en-US" dirty="0">
                <a:latin typeface="+mn-ea"/>
              </a:rPr>
              <a:t>训练，同时返回具有最小验证集误差的连接权</a:t>
            </a:r>
            <a:r>
              <a:rPr lang="zh-CN" altLang="en-US" dirty="0" smtClean="0">
                <a:latin typeface="+mn-ea"/>
              </a:rPr>
              <a:t>和阈值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/>
              <a:t>正</a:t>
            </a:r>
            <a:r>
              <a:rPr lang="zh-CN" altLang="en-US" dirty="0"/>
              <a:t>则</a:t>
            </a:r>
            <a:r>
              <a:rPr lang="zh-CN" altLang="en-US" dirty="0" smtClean="0"/>
              <a:t>化</a:t>
            </a:r>
            <a:endParaRPr lang="en-US" altLang="zh-CN" dirty="0" smtClean="0"/>
          </a:p>
          <a:p>
            <a:pPr lvl="3"/>
            <a:r>
              <a:rPr lang="zh-CN" altLang="en-US" dirty="0"/>
              <a:t>在误差目标函数中增加一项描述网络复杂</a:t>
            </a:r>
            <a:r>
              <a:rPr lang="zh-CN" altLang="en-US" dirty="0" smtClean="0"/>
              <a:t>度</a:t>
            </a:r>
            <a:endParaRPr lang="en-US" altLang="zh-CN" dirty="0" smtClean="0"/>
          </a:p>
          <a:p>
            <a:pPr lvl="4"/>
            <a:r>
              <a:rPr lang="zh-CN" altLang="en-US" dirty="0" smtClean="0"/>
              <a:t>如连接权与阈值的</a:t>
            </a:r>
            <a:r>
              <a:rPr lang="zh-CN" altLang="en-US" dirty="0"/>
              <a:t>平方和</a:t>
            </a:r>
            <a:r>
              <a:rPr lang="zh-CN" altLang="en-US" dirty="0" smtClean="0"/>
              <a:t>，通过</a:t>
            </a:r>
            <a:r>
              <a:rPr lang="zh-CN" altLang="en-US" dirty="0"/>
              <a:t>交叉验证法来</a:t>
            </a:r>
            <a:r>
              <a:rPr lang="zh-CN" altLang="en-US" dirty="0" smtClean="0"/>
              <a:t>估计</a:t>
            </a:r>
            <a:endParaRPr lang="zh-CN" altLang="en-US" dirty="0"/>
          </a:p>
          <a:p>
            <a:pPr lvl="3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05385" y="5013176"/>
          <a:ext cx="340677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8" name="Equation" r:id="rId1" imgW="42672000" imgH="7924800" progId="Equation.DSMT4">
                  <p:embed/>
                </p:oleObj>
              </mc:Choice>
              <mc:Fallback>
                <p:oleObj name="Equation" r:id="rId1" imgW="42672000" imgH="7924800" progId="Equation.DSMT4">
                  <p:embed/>
                  <p:pic>
                    <p:nvPicPr>
                      <p:cNvPr id="0" name="图片 174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05385" y="5013176"/>
                        <a:ext cx="3406775" cy="633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线形标注 3 5"/>
          <p:cNvSpPr/>
          <p:nvPr/>
        </p:nvSpPr>
        <p:spPr bwMode="auto">
          <a:xfrm>
            <a:off x="6709792" y="4834159"/>
            <a:ext cx="1606624" cy="827089"/>
          </a:xfrm>
          <a:prstGeom prst="borderCallout3">
            <a:avLst>
              <a:gd name="adj1" fmla="val 50387"/>
              <a:gd name="adj2" fmla="val -297"/>
              <a:gd name="adj3" fmla="val 50387"/>
              <a:gd name="adj4" fmla="val -16954"/>
              <a:gd name="adj5" fmla="val 91616"/>
              <a:gd name="adj6" fmla="val -49887"/>
              <a:gd name="adj7" fmla="val 91787"/>
              <a:gd name="adj8" fmla="val -133598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dirty="0">
                <a:solidFill>
                  <a:srgbClr val="FF0000"/>
                </a:solidFill>
                <a:latin typeface="Tahoma" panose="020B0604030504040204" pitchFamily="34" charset="0"/>
              </a:rPr>
              <a:t>偏好比较小的连接权和阈值</a:t>
            </a:r>
            <a:r>
              <a:rPr lang="zh-CN" altLang="en-US" sz="16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，使</a:t>
            </a:r>
            <a:r>
              <a:rPr lang="zh-CN" altLang="en-US" sz="1600" b="0" dirty="0">
                <a:solidFill>
                  <a:srgbClr val="FF0000"/>
                </a:solidFill>
                <a:latin typeface="Tahoma" panose="020B0604030504040204" pitchFamily="34" charset="0"/>
              </a:rPr>
              <a:t>网络输出</a:t>
            </a:r>
            <a:r>
              <a:rPr lang="zh-CN" altLang="en-US" sz="1600" b="0" dirty="0" smtClean="0">
                <a:solidFill>
                  <a:srgbClr val="FF0000"/>
                </a:solidFill>
                <a:latin typeface="Tahoma" panose="020B0604030504040204" pitchFamily="34" charset="0"/>
              </a:rPr>
              <a:t>更光滑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7" name="线形标注 3 6"/>
          <p:cNvSpPr/>
          <p:nvPr/>
        </p:nvSpPr>
        <p:spPr bwMode="auto">
          <a:xfrm>
            <a:off x="617852" y="4758927"/>
            <a:ext cx="1505876" cy="827089"/>
          </a:xfrm>
          <a:prstGeom prst="borderCallout3">
            <a:avLst>
              <a:gd name="adj1" fmla="val 92130"/>
              <a:gd name="adj2" fmla="val 99523"/>
              <a:gd name="adj3" fmla="val 91605"/>
              <a:gd name="adj4" fmla="val 100266"/>
              <a:gd name="adj5" fmla="val 91616"/>
              <a:gd name="adj6" fmla="val 155787"/>
              <a:gd name="adj7" fmla="val 79881"/>
              <a:gd name="adj8" fmla="val 16498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algn="just">
              <a:lnSpc>
                <a:spcPct val="100000"/>
              </a:lnSpc>
              <a:spcBef>
                <a:spcPct val="0"/>
              </a:spcBef>
              <a:buClrTx/>
              <a:buSzTx/>
            </a:pPr>
            <a:r>
              <a:rPr lang="zh-CN" altLang="en-US" sz="1600" b="0" dirty="0" smtClean="0">
                <a:solidFill>
                  <a:srgbClr val="FF0000"/>
                </a:solidFill>
              </a:rPr>
              <a:t>            对</a:t>
            </a:r>
            <a:r>
              <a:rPr lang="zh-CN" altLang="en-US" sz="1600" b="0" dirty="0">
                <a:solidFill>
                  <a:srgbClr val="FF0000"/>
                </a:solidFill>
              </a:rPr>
              <a:t>经验误差与网络复杂</a:t>
            </a:r>
            <a:r>
              <a:rPr lang="zh-CN" altLang="en-US" sz="1600" b="0" dirty="0" smtClean="0">
                <a:solidFill>
                  <a:srgbClr val="FF0000"/>
                </a:solidFill>
              </a:rPr>
              <a:t>度进行</a:t>
            </a:r>
            <a:r>
              <a:rPr lang="zh-CN" altLang="en-US" sz="1600" b="0" dirty="0">
                <a:solidFill>
                  <a:srgbClr val="FF0000"/>
                </a:solidFill>
              </a:rPr>
              <a:t>折中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ahoma" panose="020B0604030504040204" pitchFamily="34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3568" y="4795805"/>
          <a:ext cx="702564" cy="289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9" name="Equation" r:id="rId3" imgW="11887200" imgH="4876800" progId="Equation.DSMT4">
                  <p:embed/>
                </p:oleObj>
              </mc:Choice>
              <mc:Fallback>
                <p:oleObj name="Equation" r:id="rId3" imgW="11887200" imgH="4876800" progId="Equation.DSMT4">
                  <p:embed/>
                  <p:pic>
                    <p:nvPicPr>
                      <p:cNvPr id="0" name="图片 174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4795805"/>
                        <a:ext cx="702564" cy="289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5.4 </a:t>
            </a:r>
            <a:r>
              <a:rPr lang="zh-CN" altLang="en-US" dirty="0" smtClean="0"/>
              <a:t>全局</a:t>
            </a:r>
            <a:r>
              <a:rPr lang="zh-CN" altLang="en-US" dirty="0"/>
              <a:t>最小与局部极小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神经网络的训练可看作是参数</a:t>
            </a:r>
            <a:r>
              <a:rPr lang="zh-CN" altLang="en-US" dirty="0"/>
              <a:t>寻</a:t>
            </a:r>
            <a:r>
              <a:rPr lang="zh-CN" altLang="en-US" dirty="0" smtClean="0"/>
              <a:t>优</a:t>
            </a:r>
            <a:r>
              <a:rPr lang="zh-CN" altLang="en-US" dirty="0"/>
              <a:t>过程</a:t>
            </a:r>
            <a:endParaRPr lang="en-US" altLang="zh-CN" dirty="0" smtClean="0"/>
          </a:p>
          <a:p>
            <a:pPr lvl="1"/>
            <a:r>
              <a:rPr lang="zh-CN" altLang="en-US" dirty="0" smtClean="0">
                <a:latin typeface="+mn-ea"/>
              </a:rPr>
              <a:t>神经网络</a:t>
            </a:r>
            <a:r>
              <a:rPr lang="zh-CN" altLang="en-US" dirty="0">
                <a:latin typeface="+mn-ea"/>
              </a:rPr>
              <a:t>在训练集上的</a:t>
            </a:r>
            <a:r>
              <a:rPr lang="zh-CN" altLang="en-US" dirty="0" smtClean="0">
                <a:latin typeface="+mn-ea"/>
              </a:rPr>
              <a:t>误差</a:t>
            </a:r>
            <a:r>
              <a:rPr lang="en-US" altLang="zh-CN" dirty="0" smtClean="0">
                <a:latin typeface="+mn-ea"/>
              </a:rPr>
              <a:t>E</a:t>
            </a:r>
            <a:r>
              <a:rPr lang="zh-CN" altLang="en-US" dirty="0" smtClean="0">
                <a:latin typeface="+mn-ea"/>
              </a:rPr>
              <a:t>看做是</a:t>
            </a:r>
            <a:r>
              <a:rPr lang="zh-CN" altLang="en-US" dirty="0">
                <a:latin typeface="+mn-ea"/>
              </a:rPr>
              <a:t>关于连接</a:t>
            </a:r>
            <a:r>
              <a:rPr lang="zh-CN" altLang="en-US" dirty="0" smtClean="0">
                <a:latin typeface="+mn-ea"/>
              </a:rPr>
              <a:t>权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和阈值  的函数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训</a:t>
            </a:r>
            <a:r>
              <a:rPr lang="zh-CN" altLang="en-US" dirty="0" smtClean="0">
                <a:latin typeface="+mn-ea"/>
              </a:rPr>
              <a:t>练就是在</a:t>
            </a:r>
            <a:r>
              <a:rPr lang="zh-CN" altLang="en-US" dirty="0">
                <a:latin typeface="+mn-ea"/>
              </a:rPr>
              <a:t>参数空间中，寻找一组最优参数使得</a:t>
            </a:r>
            <a:r>
              <a:rPr lang="zh-CN" altLang="en-US" dirty="0" smtClean="0">
                <a:latin typeface="+mn-ea"/>
              </a:rPr>
              <a:t>误差</a:t>
            </a:r>
            <a:r>
              <a:rPr lang="en-US" altLang="zh-CN" dirty="0" smtClean="0">
                <a:latin typeface="+mn-ea"/>
              </a:rPr>
              <a:t>E</a:t>
            </a:r>
            <a:r>
              <a:rPr lang="zh-CN" altLang="en-US" dirty="0" smtClean="0">
                <a:latin typeface="+mn-ea"/>
              </a:rPr>
              <a:t>最小</a:t>
            </a:r>
            <a:endParaRPr lang="zh-CN" altLang="en-US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基于梯度的</a:t>
            </a:r>
            <a:r>
              <a:rPr lang="zh-CN" altLang="en-US" dirty="0" smtClean="0">
                <a:latin typeface="+mn-ea"/>
              </a:rPr>
              <a:t>搜索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从某初始</a:t>
            </a:r>
            <a:r>
              <a:rPr lang="zh-CN" altLang="en-US" dirty="0">
                <a:latin typeface="+mn-ea"/>
              </a:rPr>
              <a:t>解出发，迭代寻找最优参数</a:t>
            </a:r>
            <a:r>
              <a:rPr lang="zh-CN" altLang="en-US" dirty="0" smtClean="0">
                <a:latin typeface="+mn-ea"/>
              </a:rPr>
              <a:t>值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每次</a:t>
            </a:r>
            <a:r>
              <a:rPr lang="zh-CN" altLang="en-US" dirty="0">
                <a:latin typeface="+mn-ea"/>
              </a:rPr>
              <a:t>迭代中</a:t>
            </a:r>
            <a:r>
              <a:rPr lang="zh-CN" altLang="en-US" dirty="0" smtClean="0">
                <a:latin typeface="+mn-ea"/>
              </a:rPr>
              <a:t>，先</a:t>
            </a:r>
            <a:r>
              <a:rPr lang="zh-CN" altLang="en-US" dirty="0">
                <a:latin typeface="+mn-ea"/>
              </a:rPr>
              <a:t>计算误差函数在当前点的梯度，然后根据梯度确定</a:t>
            </a:r>
            <a:r>
              <a:rPr lang="zh-CN" altLang="en-US" dirty="0" smtClean="0">
                <a:latin typeface="+mn-ea"/>
              </a:rPr>
              <a:t>搜索方向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若</a:t>
            </a:r>
            <a:r>
              <a:rPr lang="zh-CN" altLang="en-US" dirty="0">
                <a:latin typeface="+mn-ea"/>
              </a:rPr>
              <a:t>误差函数在当前点的梯度为零，则已</a:t>
            </a:r>
            <a:r>
              <a:rPr lang="zh-CN" altLang="en-US" dirty="0" smtClean="0">
                <a:latin typeface="+mn-ea"/>
              </a:rPr>
              <a:t>达到极</a:t>
            </a:r>
            <a:r>
              <a:rPr lang="zh-CN" altLang="en-US" dirty="0">
                <a:latin typeface="+mn-ea"/>
              </a:rPr>
              <a:t>小，更新量将为</a:t>
            </a:r>
            <a:r>
              <a:rPr lang="zh-CN" altLang="en-US" dirty="0" smtClean="0">
                <a:latin typeface="+mn-ea"/>
              </a:rPr>
              <a:t>零</a:t>
            </a:r>
            <a:endParaRPr lang="zh-CN" altLang="en-US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95736" y="1882055"/>
          <a:ext cx="352758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" name="Equation" r:id="rId1" imgW="3657600" imgH="3352800" progId="Equation.DSMT4">
                  <p:embed/>
                </p:oleObj>
              </mc:Choice>
              <mc:Fallback>
                <p:oleObj name="Equation" r:id="rId1" imgW="3657600" imgH="3352800" progId="Equation.DSMT4">
                  <p:embed/>
                  <p:pic>
                    <p:nvPicPr>
                      <p:cNvPr id="0" name="图片 124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736" y="1882055"/>
                        <a:ext cx="352758" cy="3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707904" y="1844824"/>
          <a:ext cx="2428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" name="Equation" r:id="rId3" imgW="3048000" imgH="4267200" progId="Equation.DSMT4">
                  <p:embed/>
                </p:oleObj>
              </mc:Choice>
              <mc:Fallback>
                <p:oleObj name="Equation" r:id="rId3" imgW="3048000" imgH="4267200" progId="Equation.DSMT4">
                  <p:embed/>
                  <p:pic>
                    <p:nvPicPr>
                      <p:cNvPr id="0" name="图片 124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7904" y="1844824"/>
                        <a:ext cx="242887" cy="34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全局最小与局部极小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985150" cy="4690864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误差函数</a:t>
            </a:r>
            <a:r>
              <a:rPr lang="en-US" altLang="zh-CN" dirty="0" smtClean="0">
                <a:latin typeface="+mn-ea"/>
              </a:rPr>
              <a:t>E</a:t>
            </a:r>
            <a:r>
              <a:rPr lang="zh-CN" altLang="en-US" dirty="0">
                <a:latin typeface="+mn-ea"/>
              </a:rPr>
              <a:t>可能不是凸函数</a:t>
            </a:r>
            <a:endParaRPr lang="zh-CN" altLang="en-US" dirty="0"/>
          </a:p>
          <a:p>
            <a:pPr lvl="1"/>
            <a:r>
              <a:rPr lang="zh-CN" altLang="en-US" dirty="0"/>
              <a:t>存在多</a:t>
            </a:r>
            <a:r>
              <a:rPr lang="zh-CN" altLang="en-US" dirty="0" smtClean="0"/>
              <a:t>个</a:t>
            </a:r>
            <a:r>
              <a:rPr lang="zh-CN" altLang="en-US" dirty="0" smtClean="0"/>
              <a:t>局部极小值</a:t>
            </a:r>
            <a:endParaRPr lang="zh-CN" altLang="en-US" dirty="0"/>
          </a:p>
          <a:p>
            <a:pPr lvl="1"/>
            <a:r>
              <a:rPr lang="zh-CN" altLang="en-US" dirty="0"/>
              <a:t>但</a:t>
            </a:r>
            <a:r>
              <a:rPr lang="zh-CN" altLang="en-US" dirty="0" smtClean="0"/>
              <a:t>只有</a:t>
            </a:r>
            <a:r>
              <a:rPr lang="zh-CN" altLang="en-US" dirty="0"/>
              <a:t>一</a:t>
            </a:r>
            <a:r>
              <a:rPr lang="zh-CN" altLang="en-US" dirty="0" smtClean="0"/>
              <a:t>个全局</a:t>
            </a:r>
            <a:r>
              <a:rPr lang="zh-CN" altLang="en-US" dirty="0" smtClean="0"/>
              <a:t>最小值</a:t>
            </a:r>
            <a:endParaRPr lang="en-US" altLang="zh-CN" dirty="0" smtClean="0"/>
          </a:p>
          <a:p>
            <a:pPr lvl="1"/>
            <a:r>
              <a:rPr lang="zh-CN" altLang="en-US" dirty="0"/>
              <a:t>如果误差函数具有多个局部极小，则不能保证找到的解是全局</a:t>
            </a:r>
            <a:r>
              <a:rPr lang="zh-CN" altLang="en-US" dirty="0" smtClean="0"/>
              <a:t>最小。这称</a:t>
            </a:r>
            <a:r>
              <a:rPr lang="zh-CN" altLang="en-US" dirty="0"/>
              <a:t>参数寻优陷入了局部极</a:t>
            </a:r>
            <a:r>
              <a:rPr lang="zh-CN" altLang="en-US" dirty="0" smtClean="0"/>
              <a:t>小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1979712" y="3573016"/>
            <a:ext cx="5228387" cy="3136776"/>
            <a:chOff x="471316" y="2776195"/>
            <a:chExt cx="5050242" cy="314989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1316" y="2776195"/>
              <a:ext cx="5050242" cy="3149893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 bwMode="auto">
            <a:xfrm>
              <a:off x="3995936" y="2776195"/>
              <a:ext cx="1525622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cover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全局最小与局部极小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985150" cy="4690864"/>
          </a:xfrm>
        </p:spPr>
        <p:txBody>
          <a:bodyPr/>
          <a:lstStyle/>
          <a:p>
            <a:r>
              <a:rPr lang="zh-CN" altLang="en-US" dirty="0" smtClean="0"/>
              <a:t>跳出</a:t>
            </a:r>
            <a:r>
              <a:rPr lang="zh-CN" altLang="en-US" dirty="0" smtClean="0"/>
              <a:t>局部</a:t>
            </a:r>
            <a:r>
              <a:rPr lang="zh-CN" altLang="en-US" dirty="0"/>
              <a:t>极小的常见</a:t>
            </a:r>
            <a:r>
              <a:rPr lang="zh-CN" altLang="en-US" dirty="0" smtClean="0"/>
              <a:t>策略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取不同初始</a:t>
            </a:r>
            <a:r>
              <a:rPr lang="zh-CN" altLang="en-US" dirty="0"/>
              <a:t>参数</a:t>
            </a:r>
            <a:r>
              <a:rPr lang="zh-CN" altLang="en-US" dirty="0" smtClean="0"/>
              <a:t>，陷入不同局部</a:t>
            </a:r>
            <a:r>
              <a:rPr lang="zh-CN" altLang="en-US" dirty="0"/>
              <a:t>极小，</a:t>
            </a:r>
            <a:r>
              <a:rPr lang="zh-CN" altLang="en-US" dirty="0" smtClean="0"/>
              <a:t>从中选择最小，可获得</a:t>
            </a:r>
            <a:r>
              <a:rPr lang="zh-CN" altLang="en-US" dirty="0"/>
              <a:t>更接近全局最小</a:t>
            </a:r>
            <a:r>
              <a:rPr lang="zh-CN" altLang="en-US" dirty="0" smtClean="0"/>
              <a:t>的结果</a:t>
            </a:r>
            <a:endParaRPr lang="en-US" altLang="zh-CN" dirty="0" smtClean="0"/>
          </a:p>
          <a:p>
            <a:pPr lvl="1"/>
            <a:r>
              <a:rPr lang="zh-CN" altLang="en-US" dirty="0"/>
              <a:t>使用启发式优化</a:t>
            </a:r>
            <a:r>
              <a:rPr lang="zh-CN" altLang="en-US" dirty="0" smtClean="0"/>
              <a:t>算法或群智能优化算法，跳出局部极</a:t>
            </a:r>
            <a:r>
              <a:rPr lang="zh-CN" altLang="en-US" dirty="0" smtClean="0"/>
              <a:t>小</a:t>
            </a:r>
            <a:endParaRPr lang="en-US" altLang="zh-CN" dirty="0" smtClean="0"/>
          </a:p>
          <a:p>
            <a:pPr lvl="1"/>
            <a:r>
              <a:rPr lang="zh-CN" altLang="en-US" dirty="0"/>
              <a:t>使用随机梯度</a:t>
            </a:r>
            <a:r>
              <a:rPr lang="zh-CN" altLang="en-US" dirty="0" smtClean="0"/>
              <a:t>下降</a:t>
            </a:r>
            <a:endParaRPr lang="en-US" altLang="zh-CN" dirty="0" smtClean="0"/>
          </a:p>
          <a:p>
            <a:pPr lvl="2" hangingPunct="0"/>
            <a:r>
              <a:rPr lang="zh-CN" altLang="en-US" dirty="0"/>
              <a:t>在计算梯度时加入随机因素，即便陷入局部极小，梯度可能不为零，有机会跳出局部极小继续搜索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2627784" y="4365104"/>
            <a:ext cx="3960440" cy="2376070"/>
            <a:chOff x="471316" y="2776195"/>
            <a:chExt cx="5050242" cy="314989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1316" y="2776195"/>
              <a:ext cx="5050242" cy="3149893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 bwMode="auto">
            <a:xfrm>
              <a:off x="3995936" y="2776195"/>
              <a:ext cx="1525622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内容占位符 2"/>
          <p:cNvSpPr txBox="1"/>
          <p:nvPr/>
        </p:nvSpPr>
        <p:spPr bwMode="auto">
          <a:xfrm>
            <a:off x="683568" y="4365104"/>
            <a:ext cx="4104456" cy="2091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00000"/>
              </a:lnSpc>
            </a:pPr>
            <a:endParaRPr lang="zh-CN" altLang="en-US" kern="0" dirty="0"/>
          </a:p>
        </p:txBody>
      </p:sp>
    </p:spTree>
  </p:cSld>
  <p:clrMapOvr>
    <a:masterClrMapping/>
  </p:clrMapOvr>
  <p:transition>
    <p:cover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5.5 </a:t>
            </a:r>
            <a:r>
              <a:rPr lang="zh-CN" altLang="en-US" dirty="0" smtClean="0"/>
              <a:t>其他</a:t>
            </a:r>
            <a:r>
              <a:rPr lang="zh-CN" altLang="en-US" dirty="0"/>
              <a:t>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RBF</a:t>
            </a:r>
            <a:r>
              <a:rPr lang="zh-CN" altLang="en-US" dirty="0" smtClean="0">
                <a:latin typeface="+mn-ea"/>
              </a:rPr>
              <a:t>：分类</a:t>
            </a:r>
            <a:r>
              <a:rPr lang="zh-CN" altLang="en-US" dirty="0">
                <a:latin typeface="+mn-ea"/>
              </a:rPr>
              <a:t>任务中</a:t>
            </a:r>
            <a:r>
              <a:rPr lang="zh-CN" altLang="en-US" dirty="0" smtClean="0">
                <a:latin typeface="+mn-ea"/>
              </a:rPr>
              <a:t>除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之外</a:t>
            </a:r>
            <a:r>
              <a:rPr lang="zh-CN" altLang="en-US" dirty="0">
                <a:latin typeface="+mn-ea"/>
              </a:rPr>
              <a:t>最常用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ART</a:t>
            </a:r>
            <a:r>
              <a:rPr lang="zh-CN" altLang="en-US" dirty="0" smtClean="0">
                <a:latin typeface="+mn-ea"/>
              </a:rPr>
              <a:t>：竞争学习的</a:t>
            </a:r>
            <a:r>
              <a:rPr lang="zh-CN" altLang="en-US" dirty="0">
                <a:latin typeface="+mn-ea"/>
              </a:rPr>
              <a:t>代表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SOM</a:t>
            </a:r>
            <a:r>
              <a:rPr lang="zh-CN" altLang="en-US" dirty="0" smtClean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最常用的聚类方法之一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latin typeface="+mn-ea"/>
              </a:rPr>
              <a:t>级</a:t>
            </a:r>
            <a:r>
              <a:rPr lang="zh-CN" altLang="en-US" dirty="0">
                <a:latin typeface="+mn-ea"/>
              </a:rPr>
              <a:t>联相关网络</a:t>
            </a:r>
            <a:r>
              <a:rPr lang="zh-CN" altLang="en-US" dirty="0" smtClean="0">
                <a:latin typeface="+mn-ea"/>
              </a:rPr>
              <a:t>：构造性神经网络</a:t>
            </a:r>
            <a:r>
              <a:rPr lang="zh-CN" altLang="en-US" dirty="0">
                <a:latin typeface="+mn-ea"/>
              </a:rPr>
              <a:t>的代表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Elman</a:t>
            </a:r>
            <a:r>
              <a:rPr lang="zh-CN" altLang="en-US" dirty="0" smtClean="0">
                <a:latin typeface="+mn-ea"/>
              </a:rPr>
              <a:t>网络</a:t>
            </a:r>
            <a:r>
              <a:rPr lang="zh-CN" altLang="en-US" dirty="0">
                <a:latin typeface="+mn-ea"/>
              </a:rPr>
              <a:t>：递归神经网络的代表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Boltzmann</a:t>
            </a:r>
            <a:r>
              <a:rPr lang="zh-CN" altLang="en-US" dirty="0" smtClean="0">
                <a:latin typeface="+mn-ea"/>
              </a:rPr>
              <a:t>机：基于</a:t>
            </a:r>
            <a:r>
              <a:rPr lang="zh-CN" altLang="en-US" dirty="0">
                <a:latin typeface="+mn-ea"/>
              </a:rPr>
              <a:t>能量的</a:t>
            </a:r>
            <a:r>
              <a:rPr lang="zh-CN" altLang="en-US" dirty="0" smtClean="0">
                <a:latin typeface="+mn-ea"/>
              </a:rPr>
              <a:t>模型的</a:t>
            </a:r>
            <a:r>
              <a:rPr lang="zh-CN" altLang="en-US" dirty="0">
                <a:latin typeface="+mn-ea"/>
              </a:rPr>
              <a:t>代表</a:t>
            </a:r>
            <a:endParaRPr lang="zh-CN" altLang="en-US" dirty="0">
              <a:latin typeface="+mn-ea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+mn-ea"/>
              </a:rPr>
              <a:t>……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985150" cy="4690864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RBF</a:t>
            </a:r>
            <a:r>
              <a:rPr lang="zh-CN" altLang="en-US" dirty="0" smtClean="0">
                <a:latin typeface="+mn-ea"/>
              </a:rPr>
              <a:t>神经网络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RBF: Radial Basis Function 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径向</a:t>
            </a:r>
            <a:r>
              <a:rPr lang="zh-CN" altLang="en-US" dirty="0">
                <a:latin typeface="+mn-ea"/>
              </a:rPr>
              <a:t>基</a:t>
            </a:r>
            <a:r>
              <a:rPr lang="zh-CN" altLang="en-US" dirty="0" smtClean="0">
                <a:latin typeface="+mn-ea"/>
              </a:rPr>
              <a:t>函数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某种沿径向对称的标量</a:t>
            </a:r>
            <a:r>
              <a:rPr lang="zh-CN" altLang="en-US" dirty="0" smtClean="0">
                <a:latin typeface="+mn-ea"/>
              </a:rPr>
              <a:t>函数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如高斯径向基函数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是一种单隐层前馈神经网络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使用</a:t>
            </a:r>
            <a:r>
              <a:rPr lang="zh-CN" altLang="en-US" dirty="0">
                <a:latin typeface="+mn-ea"/>
              </a:rPr>
              <a:t>径向基函数作为隐层神经元激活函数</a:t>
            </a:r>
            <a:r>
              <a:rPr lang="zh-CN" altLang="en-US" dirty="0" smtClean="0">
                <a:latin typeface="+mn-ea"/>
              </a:rPr>
              <a:t>，输出层是</a:t>
            </a:r>
            <a:r>
              <a:rPr lang="zh-CN" altLang="en-US" dirty="0">
                <a:latin typeface="+mn-ea"/>
              </a:rPr>
              <a:t>对隐层神经元输出的</a:t>
            </a:r>
            <a:r>
              <a:rPr lang="zh-CN" altLang="en-US" dirty="0" smtClean="0">
                <a:latin typeface="+mn-ea"/>
              </a:rPr>
              <a:t>线性组合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设输入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d</a:t>
            </a:r>
            <a:r>
              <a:rPr lang="zh-CN" altLang="en-US" dirty="0">
                <a:latin typeface="+mn-ea"/>
              </a:rPr>
              <a:t>维</a:t>
            </a:r>
            <a:r>
              <a:rPr lang="zh-CN" altLang="en-US" dirty="0" smtClean="0">
                <a:latin typeface="+mn-ea"/>
              </a:rPr>
              <a:t>向量 ，</a:t>
            </a:r>
            <a:r>
              <a:rPr lang="en-US" altLang="zh-CN" dirty="0" smtClean="0">
                <a:latin typeface="+mn-ea"/>
              </a:rPr>
              <a:t>q</a:t>
            </a:r>
            <a:r>
              <a:rPr lang="zh-CN" altLang="en-US" dirty="0">
                <a:latin typeface="+mn-ea"/>
              </a:rPr>
              <a:t>为隐层神经元个数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    </a:t>
            </a:r>
            <a:r>
              <a:rPr lang="zh-CN" altLang="en-US" spc="-150" dirty="0" smtClean="0">
                <a:latin typeface="+mn-ea"/>
              </a:rPr>
              <a:t>分别</a:t>
            </a:r>
            <a:r>
              <a:rPr lang="zh-CN" altLang="en-US" spc="-150" dirty="0">
                <a:latin typeface="+mn-ea"/>
              </a:rPr>
              <a:t>是</a:t>
            </a:r>
            <a:r>
              <a:rPr lang="zh-CN" altLang="en-US" spc="-150" dirty="0" smtClean="0">
                <a:latin typeface="+mn-ea"/>
              </a:rPr>
              <a:t>第</a:t>
            </a:r>
            <a:r>
              <a:rPr lang="en-US" altLang="zh-CN" spc="-150" dirty="0" err="1" smtClean="0">
                <a:latin typeface="+mn-ea"/>
              </a:rPr>
              <a:t>i</a:t>
            </a:r>
            <a:r>
              <a:rPr lang="zh-CN" altLang="en-US" spc="-150" dirty="0" smtClean="0">
                <a:latin typeface="+mn-ea"/>
              </a:rPr>
              <a:t>个隐层神经元对应</a:t>
            </a:r>
            <a:r>
              <a:rPr lang="zh-CN" altLang="en-US" spc="-150" dirty="0">
                <a:latin typeface="+mn-ea"/>
              </a:rPr>
              <a:t>的中心和</a:t>
            </a:r>
            <a:r>
              <a:rPr lang="zh-CN" altLang="en-US" spc="-150" dirty="0" smtClean="0">
                <a:latin typeface="+mn-ea"/>
              </a:rPr>
              <a:t>权，则</a:t>
            </a:r>
            <a:r>
              <a:rPr lang="en-US" altLang="zh-CN" spc="-150" dirty="0">
                <a:latin typeface="+mn-ea"/>
              </a:rPr>
              <a:t>RBF</a:t>
            </a:r>
            <a:r>
              <a:rPr lang="zh-CN" altLang="en-US" spc="-150" dirty="0" smtClean="0">
                <a:latin typeface="+mn-ea"/>
              </a:rPr>
              <a:t>网络为</a:t>
            </a:r>
            <a:endParaRPr lang="zh-CN" altLang="en-US" spc="-150" dirty="0">
              <a:latin typeface="+mn-ea"/>
            </a:endParaRPr>
          </a:p>
          <a:p>
            <a:pPr lvl="1"/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训练</a:t>
            </a:r>
            <a:endParaRPr lang="zh-CN" altLang="en-US" dirty="0">
              <a:latin typeface="+mn-ea"/>
            </a:endParaRPr>
          </a:p>
          <a:p>
            <a:pPr lvl="2"/>
            <a:r>
              <a:rPr lang="en-US" altLang="zh-CN" dirty="0" smtClean="0">
                <a:latin typeface="+mn-ea"/>
              </a:rPr>
              <a:t>Step1</a:t>
            </a:r>
            <a:r>
              <a:rPr lang="zh-CN" altLang="en-US" dirty="0" smtClean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确定神经元中心，常用的方式包括随机采样、聚类等</a:t>
            </a:r>
            <a:endParaRPr lang="zh-CN" altLang="en-US" dirty="0">
              <a:latin typeface="+mn-ea"/>
            </a:endParaRPr>
          </a:p>
          <a:p>
            <a:pPr lvl="2"/>
            <a:r>
              <a:rPr lang="en-US" altLang="zh-CN" dirty="0" smtClean="0">
                <a:latin typeface="+mn-ea"/>
              </a:rPr>
              <a:t>Step2</a:t>
            </a:r>
            <a:r>
              <a:rPr lang="zh-CN" altLang="en-US" dirty="0" smtClean="0">
                <a:latin typeface="+mn-ea"/>
              </a:rPr>
              <a:t>：利用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r>
              <a:rPr lang="zh-CN" altLang="en-US" dirty="0">
                <a:latin typeface="+mn-ea"/>
              </a:rPr>
              <a:t>等确定参数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452714" y="2060848"/>
          <a:ext cx="249555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8" name="Equation" r:id="rId1" imgW="25908000" imgH="6096000" progId="Equation.DSMT4">
                  <p:embed/>
                </p:oleObj>
              </mc:Choice>
              <mc:Fallback>
                <p:oleObj name="Equation" r:id="rId1" imgW="25908000" imgH="6096000" progId="Equation.DSMT4">
                  <p:embed/>
                  <p:pic>
                    <p:nvPicPr>
                      <p:cNvPr id="0" name="图片 135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2714" y="2060848"/>
                        <a:ext cx="2495550" cy="588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39952" y="3873946"/>
          <a:ext cx="3222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79" name="Equation" r:id="rId3" imgW="3352800" imgH="3352800" progId="Equation.DSMT4">
                  <p:embed/>
                </p:oleObj>
              </mc:Choice>
              <mc:Fallback>
                <p:oleObj name="Equation" r:id="rId3" imgW="3352800" imgH="3352800" progId="Equation.DSMT4">
                  <p:embed/>
                  <p:pic>
                    <p:nvPicPr>
                      <p:cNvPr id="0" name="图片 135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39952" y="3873946"/>
                        <a:ext cx="322263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567613" y="3716338"/>
          <a:ext cx="7350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0" name="Equation" r:id="rId5" imgW="7620000" imgH="5486400" progId="Equation.DSMT4">
                  <p:embed/>
                </p:oleObj>
              </mc:Choice>
              <mc:Fallback>
                <p:oleObj name="Equation" r:id="rId5" imgW="7620000" imgH="5486400" progId="Equation.DSMT4">
                  <p:embed/>
                  <p:pic>
                    <p:nvPicPr>
                      <p:cNvPr id="0" name="图片 135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7613" y="3716338"/>
                        <a:ext cx="735012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76004" y="4437112"/>
          <a:ext cx="3024188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1" name="Equation" r:id="rId7" imgW="31394400" imgH="7010400" progId="Equation.DSMT4">
                  <p:embed/>
                </p:oleObj>
              </mc:Choice>
              <mc:Fallback>
                <p:oleObj name="Equation" r:id="rId7" imgW="31394400" imgH="7010400" progId="Equation.DSMT4">
                  <p:embed/>
                  <p:pic>
                    <p:nvPicPr>
                      <p:cNvPr id="0" name="图片 1358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76004" y="4437112"/>
                        <a:ext cx="3024188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836712"/>
            <a:ext cx="8129664" cy="4690864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5.5.2 ART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ART</a:t>
            </a:r>
            <a:r>
              <a:rPr lang="zh-CN" altLang="en-US" dirty="0" smtClean="0">
                <a:latin typeface="+mn-ea"/>
              </a:rPr>
              <a:t>：</a:t>
            </a:r>
            <a:r>
              <a:rPr lang="en-US" altLang="zh-CN" dirty="0" smtClean="0">
                <a:latin typeface="+mn-ea"/>
              </a:rPr>
              <a:t>Adaptive </a:t>
            </a:r>
            <a:r>
              <a:rPr lang="en-US" altLang="zh-CN" dirty="0">
                <a:latin typeface="+mn-ea"/>
              </a:rPr>
              <a:t>Resonance Theory,</a:t>
            </a:r>
            <a:r>
              <a:rPr lang="zh-CN" altLang="en-US" dirty="0">
                <a:latin typeface="+mn-ea"/>
              </a:rPr>
              <a:t>自适应谐振</a:t>
            </a:r>
            <a:r>
              <a:rPr lang="zh-CN" altLang="en-US" dirty="0" smtClean="0">
                <a:latin typeface="+mn-ea"/>
              </a:rPr>
              <a:t>理论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采用竞争型学习策略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无监督学习策略</a:t>
            </a:r>
            <a:endParaRPr lang="en-US" altLang="zh-CN" dirty="0" smtClean="0">
              <a:latin typeface="+mn-ea"/>
            </a:endParaRPr>
          </a:p>
          <a:p>
            <a:pPr lvl="2" hangingPunct="0"/>
            <a:r>
              <a:rPr lang="zh-CN" altLang="en-US" dirty="0" smtClean="0">
                <a:latin typeface="+mn-ea"/>
              </a:rPr>
              <a:t>网络</a:t>
            </a:r>
            <a:r>
              <a:rPr lang="zh-CN" altLang="en-US" dirty="0">
                <a:latin typeface="+mn-ea"/>
              </a:rPr>
              <a:t>的输出神经元相互竞争，每一时刻仅有一个竞争获胜的神经元被激活，其他神经元的状态被</a:t>
            </a:r>
            <a:r>
              <a:rPr lang="zh-CN" altLang="en-US" dirty="0" smtClean="0">
                <a:latin typeface="+mn-ea"/>
              </a:rPr>
              <a:t>抑制，亦称胜</a:t>
            </a:r>
            <a:r>
              <a:rPr lang="zh-CN" altLang="en-US" dirty="0">
                <a:latin typeface="+mn-ea"/>
              </a:rPr>
              <a:t>者</a:t>
            </a:r>
            <a:r>
              <a:rPr lang="zh-CN" altLang="en-US" dirty="0" smtClean="0">
                <a:latin typeface="+mn-ea"/>
              </a:rPr>
              <a:t>通吃原则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pc="-100" dirty="0" smtClean="0">
                <a:latin typeface="+mn-ea"/>
              </a:rPr>
              <a:t>由</a:t>
            </a:r>
            <a:r>
              <a:rPr lang="zh-CN" altLang="en-US" spc="-100" dirty="0">
                <a:latin typeface="+mn-ea"/>
              </a:rPr>
              <a:t>比较层、识别层、</a:t>
            </a:r>
            <a:r>
              <a:rPr lang="zh-CN" altLang="en-US" spc="-100" dirty="0" smtClean="0">
                <a:latin typeface="+mn-ea"/>
              </a:rPr>
              <a:t>识别阈值、重置</a:t>
            </a:r>
            <a:r>
              <a:rPr lang="zh-CN" altLang="en-US" spc="-100" dirty="0">
                <a:latin typeface="+mn-ea"/>
              </a:rPr>
              <a:t>模块</a:t>
            </a:r>
            <a:r>
              <a:rPr lang="zh-CN" altLang="en-US" spc="-100" dirty="0" smtClean="0">
                <a:latin typeface="+mn-ea"/>
              </a:rPr>
              <a:t>构成</a:t>
            </a:r>
            <a:endParaRPr lang="en-US" altLang="zh-CN" spc="-10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dirty="0">
                <a:latin typeface="+mn-ea"/>
              </a:rPr>
              <a:t>比较层负责接收输入样本，将其传递给识别层</a:t>
            </a:r>
            <a:endParaRPr lang="en-US" altLang="zh-CN" dirty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dirty="0">
                <a:latin typeface="+mn-ea"/>
              </a:rPr>
              <a:t>识别层每个神经元对应一个模式类</a:t>
            </a:r>
            <a:endParaRPr lang="en-US" altLang="zh-CN" dirty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spc="-100" dirty="0">
                <a:latin typeface="+mn-ea"/>
              </a:rPr>
              <a:t>神经元数目可在训练中动态增长以增加新的模式类</a:t>
            </a:r>
            <a:endParaRPr lang="zh-CN" altLang="en-US" spc="-100" dirty="0">
              <a:latin typeface="+mn-ea"/>
            </a:endParaRPr>
          </a:p>
          <a:p>
            <a:pPr lvl="1"/>
            <a:endParaRPr lang="en-US" altLang="zh-CN" spc="-100" dirty="0" smtClean="0">
              <a:latin typeface="+mn-ea"/>
            </a:endParaRPr>
          </a:p>
          <a:p>
            <a:pPr lvl="2"/>
            <a:endParaRPr lang="zh-CN" altLang="en-US" spc="-1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328592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5.5.2 ART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在接收到比较层的输入信号后，识别层神经元之间相互竞争以产生获胜神经元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计算输入与</a:t>
            </a:r>
            <a:r>
              <a:rPr lang="zh-CN" altLang="en-US" dirty="0">
                <a:latin typeface="+mn-ea"/>
              </a:rPr>
              <a:t>每个识别层</a:t>
            </a:r>
            <a:r>
              <a:rPr lang="zh-CN" altLang="en-US" dirty="0" smtClean="0">
                <a:latin typeface="+mn-ea"/>
              </a:rPr>
              <a:t>神经元模式向量的</a:t>
            </a:r>
            <a:r>
              <a:rPr lang="zh-CN" altLang="en-US" dirty="0">
                <a:latin typeface="+mn-ea"/>
              </a:rPr>
              <a:t>距离，距离最小者</a:t>
            </a:r>
            <a:r>
              <a:rPr lang="zh-CN" altLang="en-US" dirty="0" smtClean="0">
                <a:latin typeface="+mn-ea"/>
              </a:rPr>
              <a:t>胜，并向</a:t>
            </a:r>
            <a:r>
              <a:rPr lang="zh-CN" altLang="en-US" dirty="0">
                <a:latin typeface="+mn-ea"/>
              </a:rPr>
              <a:t>其他识别层神经元发送</a:t>
            </a:r>
            <a:r>
              <a:rPr lang="zh-CN" altLang="en-US" dirty="0" smtClean="0">
                <a:latin typeface="+mn-ea"/>
              </a:rPr>
              <a:t>信号抑制激活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若输入与</a:t>
            </a:r>
            <a:r>
              <a:rPr lang="zh-CN" altLang="en-US" dirty="0">
                <a:latin typeface="+mn-ea"/>
              </a:rPr>
              <a:t>获胜</a:t>
            </a:r>
            <a:r>
              <a:rPr lang="zh-CN" altLang="en-US" dirty="0" smtClean="0">
                <a:latin typeface="+mn-ea"/>
              </a:rPr>
              <a:t>神经元向量的</a:t>
            </a:r>
            <a:r>
              <a:rPr lang="zh-CN" altLang="en-US" dirty="0">
                <a:latin typeface="+mn-ea"/>
              </a:rPr>
              <a:t>相似度大于</a:t>
            </a:r>
            <a:r>
              <a:rPr lang="zh-CN" altLang="en-US" dirty="0" smtClean="0">
                <a:latin typeface="+mn-ea"/>
              </a:rPr>
              <a:t>识别阈值，</a:t>
            </a:r>
            <a:r>
              <a:rPr lang="zh-CN" altLang="en-US" dirty="0">
                <a:latin typeface="+mn-ea"/>
              </a:rPr>
              <a:t>则当前输入样本将被归为</a:t>
            </a:r>
            <a:r>
              <a:rPr lang="zh-CN" altLang="en-US" dirty="0" smtClean="0">
                <a:latin typeface="+mn-ea"/>
              </a:rPr>
              <a:t>该类别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同时网络</a:t>
            </a:r>
            <a:r>
              <a:rPr lang="zh-CN" altLang="en-US" dirty="0">
                <a:latin typeface="+mn-ea"/>
              </a:rPr>
              <a:t>连接权将会更新，使得以后在接收到相似输入样本时该模式</a:t>
            </a:r>
            <a:r>
              <a:rPr lang="zh-CN" altLang="en-US" dirty="0" smtClean="0">
                <a:latin typeface="+mn-ea"/>
              </a:rPr>
              <a:t>类计算</a:t>
            </a:r>
            <a:r>
              <a:rPr lang="zh-CN" altLang="en-US" dirty="0">
                <a:latin typeface="+mn-ea"/>
              </a:rPr>
              <a:t>出更</a:t>
            </a:r>
            <a:r>
              <a:rPr lang="zh-CN" altLang="en-US" dirty="0" smtClean="0">
                <a:latin typeface="+mn-ea"/>
              </a:rPr>
              <a:t>大相似度</a:t>
            </a:r>
            <a:r>
              <a:rPr lang="zh-CN" altLang="en-US" dirty="0">
                <a:latin typeface="+mn-ea"/>
              </a:rPr>
              <a:t>，从而使</a:t>
            </a:r>
            <a:r>
              <a:rPr lang="zh-CN" altLang="en-US" dirty="0" smtClean="0">
                <a:latin typeface="+mn-ea"/>
              </a:rPr>
              <a:t>该神经元</a:t>
            </a:r>
            <a:r>
              <a:rPr lang="zh-CN" altLang="en-US" dirty="0">
                <a:latin typeface="+mn-ea"/>
              </a:rPr>
              <a:t>有更大可能</a:t>
            </a:r>
            <a:r>
              <a:rPr lang="zh-CN" altLang="en-US" dirty="0" smtClean="0">
                <a:latin typeface="+mn-ea"/>
              </a:rPr>
              <a:t>获胜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>
                <a:latin typeface="+mn-ea"/>
              </a:rPr>
              <a:t>若相似度不大于识别阈值，则重置模块将在识别层增设一个新的神经元，其代表向量就设置为当前</a:t>
            </a:r>
            <a:r>
              <a:rPr lang="zh-CN" altLang="en-US" dirty="0" smtClean="0">
                <a:latin typeface="+mn-ea"/>
              </a:rPr>
              <a:t>输入向量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识别阈值对</a:t>
            </a:r>
            <a:r>
              <a:rPr lang="en-US" altLang="zh-CN" dirty="0">
                <a:latin typeface="+mn-ea"/>
              </a:rPr>
              <a:t>ART</a:t>
            </a:r>
            <a:r>
              <a:rPr lang="zh-CN" altLang="en-US" dirty="0">
                <a:latin typeface="+mn-ea"/>
              </a:rPr>
              <a:t>网络的性能有重要</a:t>
            </a:r>
            <a:r>
              <a:rPr lang="zh-CN" altLang="en-US" dirty="0" smtClean="0">
                <a:latin typeface="+mn-ea"/>
              </a:rPr>
              <a:t>影响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当</a:t>
            </a:r>
            <a:r>
              <a:rPr lang="zh-CN" altLang="en-US" dirty="0">
                <a:latin typeface="+mn-ea"/>
              </a:rPr>
              <a:t>识别闽值较高时，输入样本将会被分成比较多、比较精细的模式</a:t>
            </a:r>
            <a:r>
              <a:rPr lang="zh-CN" altLang="en-US" dirty="0" smtClean="0">
                <a:latin typeface="+mn-ea"/>
              </a:rPr>
              <a:t>类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识别阈值较低</a:t>
            </a:r>
            <a:r>
              <a:rPr lang="zh-CN" altLang="en-US" dirty="0">
                <a:latin typeface="+mn-ea"/>
              </a:rPr>
              <a:t>，则会产生比较少、比较粗略的模式类</a:t>
            </a:r>
            <a:endParaRPr lang="en-US" altLang="zh-CN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328592"/>
          </a:xfrm>
        </p:spPr>
        <p:txBody>
          <a:bodyPr/>
          <a:lstStyle/>
          <a:p>
            <a:r>
              <a:rPr lang="en-US" altLang="zh-CN" dirty="0" smtClean="0">
                <a:latin typeface="+mn-ea"/>
              </a:rPr>
              <a:t>5.5.2 ART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ART</a:t>
            </a:r>
            <a:r>
              <a:rPr lang="zh-CN" altLang="en-US" dirty="0" smtClean="0">
                <a:latin typeface="+mn-ea"/>
              </a:rPr>
              <a:t>网络较好缓解可塑性稳定性窘境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可塑性</a:t>
            </a:r>
            <a:r>
              <a:rPr lang="zh-CN" altLang="en-US" dirty="0">
                <a:latin typeface="+mn-ea"/>
              </a:rPr>
              <a:t>是指神经网络要有学习新知识的</a:t>
            </a:r>
            <a:r>
              <a:rPr lang="zh-CN" altLang="en-US" dirty="0" smtClean="0">
                <a:latin typeface="+mn-ea"/>
              </a:rPr>
              <a:t>能力，</a:t>
            </a:r>
            <a:r>
              <a:rPr lang="zh-CN" altLang="en-US" dirty="0">
                <a:latin typeface="+mn-ea"/>
              </a:rPr>
              <a:t>可进行增量</a:t>
            </a:r>
            <a:r>
              <a:rPr lang="zh-CN" altLang="en-US" dirty="0" smtClean="0">
                <a:latin typeface="+mn-ea"/>
              </a:rPr>
              <a:t>学习或</a:t>
            </a:r>
            <a:r>
              <a:rPr lang="zh-CN" altLang="en-US" dirty="0">
                <a:latin typeface="+mn-ea"/>
              </a:rPr>
              <a:t>在线学习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稳定性</a:t>
            </a:r>
            <a:r>
              <a:rPr lang="zh-CN" altLang="en-US" dirty="0">
                <a:latin typeface="+mn-ea"/>
              </a:rPr>
              <a:t>则是指神经网络在学习新知识时要保持对旧知识的</a:t>
            </a:r>
            <a:r>
              <a:rPr lang="zh-CN" altLang="en-US" dirty="0" smtClean="0">
                <a:latin typeface="+mn-ea"/>
              </a:rPr>
              <a:t>记忆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5.5.3 SOM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SOM: Self-Organizing feature Map 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自组织</a:t>
            </a:r>
            <a:r>
              <a:rPr lang="zh-CN" altLang="en-US" dirty="0">
                <a:latin typeface="+mn-ea"/>
              </a:rPr>
              <a:t>特征</a:t>
            </a:r>
            <a:r>
              <a:rPr lang="zh-CN" altLang="en-US" dirty="0" smtClean="0">
                <a:latin typeface="+mn-ea"/>
              </a:rPr>
              <a:t>映射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竞争型的无监督神经网络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网络结构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输出层神经元以矩阵方式排列在二维空间中，每个</a:t>
            </a:r>
            <a:r>
              <a:rPr lang="zh-CN" altLang="en-US" dirty="0" smtClean="0">
                <a:latin typeface="+mn-ea"/>
              </a:rPr>
              <a:t>神经元拥有</a:t>
            </a:r>
            <a:r>
              <a:rPr lang="zh-CN" altLang="en-US" dirty="0">
                <a:latin typeface="+mn-ea"/>
              </a:rPr>
              <a:t>一个</a:t>
            </a:r>
            <a:r>
              <a:rPr lang="zh-CN" altLang="en-US" dirty="0" smtClean="0">
                <a:latin typeface="+mn-ea"/>
              </a:rPr>
              <a:t>权向量</a:t>
            </a:r>
            <a:endParaRPr lang="en-US" altLang="zh-CN" dirty="0" smtClean="0">
              <a:latin typeface="+mn-ea"/>
            </a:endParaRPr>
          </a:p>
          <a:p>
            <a:pPr lvl="2" hangingPunct="0"/>
            <a:r>
              <a:rPr lang="zh-CN" altLang="en-US" dirty="0">
                <a:latin typeface="+mn-ea"/>
              </a:rPr>
              <a:t>网络在接收</a:t>
            </a:r>
            <a:r>
              <a:rPr lang="zh-CN" altLang="en-US" dirty="0" smtClean="0">
                <a:latin typeface="+mn-ea"/>
              </a:rPr>
              <a:t>输入后</a:t>
            </a:r>
            <a:r>
              <a:rPr lang="zh-CN" altLang="en-US" dirty="0">
                <a:latin typeface="+mn-ea"/>
              </a:rPr>
              <a:t>，将会确定输出层获胜神经元，它决定了该输入向量在低维</a:t>
            </a:r>
            <a:r>
              <a:rPr lang="zh-CN" altLang="en-US" dirty="0" smtClean="0">
                <a:latin typeface="+mn-ea"/>
              </a:rPr>
              <a:t>空间的</a:t>
            </a:r>
            <a:r>
              <a:rPr lang="zh-CN" altLang="en-US" dirty="0">
                <a:latin typeface="+mn-ea"/>
              </a:rPr>
              <a:t>位置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28" y="4592826"/>
            <a:ext cx="3317864" cy="2220550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 bwMode="auto">
          <a:xfrm>
            <a:off x="684066" y="4509120"/>
            <a:ext cx="5000823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3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将</a:t>
            </a:r>
            <a:r>
              <a:rPr lang="zh-CN" altLang="en-US" kern="0" dirty="0" smtClean="0">
                <a:latin typeface="+mn-ea"/>
              </a:rPr>
              <a:t>高维数据映射到低维空间</a:t>
            </a:r>
            <a:r>
              <a:rPr lang="en-US" altLang="zh-CN" kern="0" dirty="0" smtClean="0">
                <a:latin typeface="+mn-ea"/>
              </a:rPr>
              <a:t>(</a:t>
            </a:r>
            <a:r>
              <a:rPr lang="zh-CN" altLang="en-US" kern="0" dirty="0" smtClean="0">
                <a:latin typeface="+mn-ea"/>
              </a:rPr>
              <a:t>通常为</a:t>
            </a:r>
            <a:r>
              <a:rPr lang="en-US" altLang="zh-CN" kern="0" dirty="0" smtClean="0">
                <a:latin typeface="+mn-ea"/>
              </a:rPr>
              <a:t>2</a:t>
            </a:r>
            <a:r>
              <a:rPr lang="zh-CN" altLang="en-US" kern="0" dirty="0" smtClean="0">
                <a:latin typeface="+mn-ea"/>
              </a:rPr>
              <a:t>维</a:t>
            </a:r>
            <a:r>
              <a:rPr lang="en-US" altLang="zh-CN" kern="0" dirty="0" smtClean="0">
                <a:latin typeface="+mn-ea"/>
              </a:rPr>
              <a:t>),</a:t>
            </a:r>
            <a:r>
              <a:rPr lang="zh-CN" altLang="en-US" kern="0" dirty="0" smtClean="0">
                <a:latin typeface="+mn-ea"/>
              </a:rPr>
              <a:t>同时保持输入数据在高维空间的拓扑结构</a:t>
            </a:r>
            <a:endParaRPr lang="zh-CN" altLang="en-US" kern="0" dirty="0" smtClean="0">
              <a:latin typeface="+mn-ea"/>
            </a:endParaRPr>
          </a:p>
          <a:p>
            <a:pPr lvl="4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将高维空间中相似的样本点映射到网络输出层中邻近神经元</a:t>
            </a:r>
            <a:endParaRPr lang="en-US" altLang="zh-CN" kern="0" dirty="0" smtClean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  <p:transition>
    <p:cover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5.5.3 SOM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2" hangingPunct="0"/>
            <a:r>
              <a:rPr lang="zh-CN" altLang="en-US" dirty="0" smtClean="0">
                <a:latin typeface="+mn-ea"/>
              </a:rPr>
              <a:t>目标</a:t>
            </a:r>
            <a:r>
              <a:rPr lang="zh-CN" altLang="en-US" dirty="0">
                <a:latin typeface="+mn-ea"/>
              </a:rPr>
              <a:t>就是为每个输出层神经元找到合适的权向量，以达到保持拓扑结构的</a:t>
            </a:r>
            <a:r>
              <a:rPr lang="zh-CN" altLang="en-US" dirty="0" smtClean="0">
                <a:latin typeface="+mn-ea"/>
              </a:rPr>
              <a:t>目的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过程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在</a:t>
            </a:r>
            <a:r>
              <a:rPr lang="zh-CN" altLang="en-US" dirty="0">
                <a:latin typeface="+mn-ea"/>
              </a:rPr>
              <a:t>接收到一个训练样本后，每个输出层</a:t>
            </a:r>
            <a:r>
              <a:rPr lang="zh-CN" altLang="en-US" dirty="0" smtClean="0">
                <a:latin typeface="+mn-ea"/>
              </a:rPr>
              <a:t>神经元计算</a:t>
            </a:r>
            <a:r>
              <a:rPr lang="zh-CN" altLang="en-US" dirty="0">
                <a:latin typeface="+mn-ea"/>
              </a:rPr>
              <a:t>该样本与自身携带的权向量之间的距离，距离最近的神经元成为竞争获胜</a:t>
            </a:r>
            <a:r>
              <a:rPr lang="zh-CN" altLang="en-US" dirty="0" smtClean="0">
                <a:latin typeface="+mn-ea"/>
              </a:rPr>
              <a:t>者（</a:t>
            </a:r>
            <a:r>
              <a:rPr lang="zh-CN" altLang="en-US" dirty="0">
                <a:latin typeface="+mn-ea"/>
              </a:rPr>
              <a:t>最佳匹配单元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最佳</a:t>
            </a:r>
            <a:r>
              <a:rPr lang="zh-CN" altLang="en-US" dirty="0">
                <a:latin typeface="+mn-ea"/>
              </a:rPr>
              <a:t>匹配单元及其邻近神经元的</a:t>
            </a:r>
            <a:r>
              <a:rPr lang="zh-CN" altLang="en-US" dirty="0" smtClean="0">
                <a:latin typeface="+mn-ea"/>
              </a:rPr>
              <a:t>权向量被</a:t>
            </a:r>
            <a:r>
              <a:rPr lang="zh-CN" altLang="en-US" dirty="0">
                <a:latin typeface="+mn-ea"/>
              </a:rPr>
              <a:t>调整，以使得这些权向量与当前输入样本的距离</a:t>
            </a:r>
            <a:r>
              <a:rPr lang="zh-CN" altLang="en-US" dirty="0" smtClean="0">
                <a:latin typeface="+mn-ea"/>
              </a:rPr>
              <a:t>缩小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不断</a:t>
            </a:r>
            <a:r>
              <a:rPr lang="zh-CN" altLang="en-US" dirty="0">
                <a:latin typeface="+mn-ea"/>
              </a:rPr>
              <a:t>迭代，直至</a:t>
            </a:r>
            <a:r>
              <a:rPr lang="zh-CN" altLang="en-US" dirty="0" smtClean="0">
                <a:latin typeface="+mn-ea"/>
              </a:rPr>
              <a:t>收敛</a:t>
            </a:r>
            <a:endParaRPr lang="en-US" altLang="zh-CN" dirty="0">
              <a:latin typeface="+mn-ea"/>
            </a:endParaRPr>
          </a:p>
          <a:p>
            <a:pPr lvl="1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032" y="4509120"/>
            <a:ext cx="3324822" cy="2225206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5.5.4 </a:t>
            </a:r>
            <a:r>
              <a:rPr lang="zh-CN" altLang="en-US" dirty="0" smtClean="0">
                <a:latin typeface="+mn-ea"/>
              </a:rPr>
              <a:t>级</a:t>
            </a:r>
            <a:r>
              <a:rPr lang="zh-CN" altLang="en-US" dirty="0">
                <a:latin typeface="+mn-ea"/>
              </a:rPr>
              <a:t>联相关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>
                <a:latin typeface="+mn-ea"/>
              </a:rPr>
              <a:t>CC: Cascade-Correlation 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级</a:t>
            </a:r>
            <a:r>
              <a:rPr lang="zh-CN" altLang="en-US" dirty="0">
                <a:latin typeface="+mn-ea"/>
              </a:rPr>
              <a:t>联</a:t>
            </a:r>
            <a:r>
              <a:rPr lang="zh-CN" altLang="en-US" dirty="0" smtClean="0">
                <a:latin typeface="+mn-ea"/>
              </a:rPr>
              <a:t>相关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结构</a:t>
            </a:r>
            <a:r>
              <a:rPr lang="zh-CN" altLang="en-US" dirty="0">
                <a:latin typeface="+mn-ea"/>
              </a:rPr>
              <a:t>自适应网络（构造性神经网络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将网络的结构也当做学习的目标之一， </a:t>
            </a:r>
            <a:r>
              <a:rPr lang="zh-CN" altLang="en-US" dirty="0" smtClean="0">
                <a:latin typeface="+mn-ea"/>
              </a:rPr>
              <a:t>希望在</a:t>
            </a:r>
            <a:r>
              <a:rPr lang="zh-CN" altLang="en-US" dirty="0">
                <a:latin typeface="+mn-ea"/>
              </a:rPr>
              <a:t>训练过程中找到适合数据的</a:t>
            </a:r>
            <a:r>
              <a:rPr lang="zh-CN" altLang="en-US" dirty="0" smtClean="0">
                <a:latin typeface="+mn-ea"/>
              </a:rPr>
              <a:t>网络结构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有</a:t>
            </a:r>
            <a:r>
              <a:rPr lang="zh-CN" altLang="en-US" dirty="0">
                <a:latin typeface="+mn-ea"/>
              </a:rPr>
              <a:t>两个主要</a:t>
            </a:r>
            <a:r>
              <a:rPr lang="zh-CN" altLang="en-US" dirty="0" smtClean="0">
                <a:latin typeface="+mn-ea"/>
              </a:rPr>
              <a:t>成分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级联：是</a:t>
            </a:r>
            <a:r>
              <a:rPr lang="zh-CN" altLang="en-US" dirty="0">
                <a:latin typeface="+mn-ea"/>
              </a:rPr>
              <a:t>指建立</a:t>
            </a:r>
            <a:r>
              <a:rPr lang="zh-CN" altLang="en-US" dirty="0" smtClean="0">
                <a:latin typeface="+mn-ea"/>
              </a:rPr>
              <a:t>层次连接</a:t>
            </a:r>
            <a:r>
              <a:rPr lang="zh-CN" altLang="en-US" dirty="0">
                <a:latin typeface="+mn-ea"/>
              </a:rPr>
              <a:t>的层级</a:t>
            </a:r>
            <a:r>
              <a:rPr lang="zh-CN" altLang="en-US" dirty="0" smtClean="0">
                <a:latin typeface="+mn-ea"/>
              </a:rPr>
              <a:t>结构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相关：是指新神经元输出</a:t>
            </a:r>
            <a:r>
              <a:rPr lang="zh-CN" altLang="en-US" dirty="0">
                <a:latin typeface="+mn-ea"/>
              </a:rPr>
              <a:t>与网络</a:t>
            </a:r>
            <a:r>
              <a:rPr lang="zh-CN" altLang="en-US" dirty="0" smtClean="0">
                <a:latin typeface="+mn-ea"/>
              </a:rPr>
              <a:t>误差的</a:t>
            </a:r>
            <a:r>
              <a:rPr lang="zh-CN" altLang="en-US" dirty="0">
                <a:latin typeface="+mn-ea"/>
              </a:rPr>
              <a:t>相关性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开始网络</a:t>
            </a:r>
            <a:r>
              <a:rPr lang="zh-CN" altLang="en-US" dirty="0">
                <a:latin typeface="+mn-ea"/>
              </a:rPr>
              <a:t>只有</a:t>
            </a:r>
            <a:r>
              <a:rPr lang="zh-CN" altLang="en-US" dirty="0" smtClean="0">
                <a:latin typeface="+mn-ea"/>
              </a:rPr>
              <a:t>输入、输出层</a:t>
            </a:r>
            <a:r>
              <a:rPr lang="zh-CN" altLang="en-US" dirty="0">
                <a:latin typeface="+mn-ea"/>
              </a:rPr>
              <a:t>，处于最小</a:t>
            </a:r>
            <a:r>
              <a:rPr lang="zh-CN" altLang="en-US" dirty="0" smtClean="0">
                <a:latin typeface="+mn-ea"/>
              </a:rPr>
              <a:t>拓扑结构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随着训练，</a:t>
            </a:r>
            <a:r>
              <a:rPr lang="zh-CN" altLang="en-US" dirty="0">
                <a:latin typeface="+mn-ea"/>
              </a:rPr>
              <a:t>新的隐层神经元逐渐加入，从而创建起层级</a:t>
            </a:r>
            <a:r>
              <a:rPr lang="zh-CN" altLang="en-US" dirty="0" smtClean="0">
                <a:latin typeface="+mn-ea"/>
              </a:rPr>
              <a:t>结构（级联）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当</a:t>
            </a:r>
            <a:r>
              <a:rPr lang="zh-CN" altLang="en-US" dirty="0">
                <a:latin typeface="+mn-ea"/>
              </a:rPr>
              <a:t>新的隐层神经元</a:t>
            </a:r>
            <a:r>
              <a:rPr lang="zh-CN" altLang="en-US" dirty="0" smtClean="0">
                <a:latin typeface="+mn-ea"/>
              </a:rPr>
              <a:t>加入，</a:t>
            </a:r>
            <a:r>
              <a:rPr lang="zh-CN" altLang="en-US" dirty="0">
                <a:latin typeface="+mn-ea"/>
              </a:rPr>
              <a:t>其输入端连接权值</a:t>
            </a:r>
            <a:r>
              <a:rPr lang="zh-CN" altLang="en-US" dirty="0" smtClean="0">
                <a:latin typeface="+mn-ea"/>
              </a:rPr>
              <a:t>是固定的。通过</a:t>
            </a:r>
            <a:r>
              <a:rPr lang="zh-CN" altLang="en-US" dirty="0">
                <a:latin typeface="+mn-ea"/>
              </a:rPr>
              <a:t>最大化新</a:t>
            </a:r>
            <a:r>
              <a:rPr lang="zh-CN" altLang="en-US" dirty="0" smtClean="0">
                <a:latin typeface="+mn-ea"/>
              </a:rPr>
              <a:t>神经元输出</a:t>
            </a:r>
            <a:r>
              <a:rPr lang="zh-CN" altLang="en-US" dirty="0">
                <a:latin typeface="+mn-ea"/>
              </a:rPr>
              <a:t>与网络</a:t>
            </a:r>
            <a:r>
              <a:rPr lang="zh-CN" altLang="en-US" dirty="0" smtClean="0">
                <a:latin typeface="+mn-ea"/>
              </a:rPr>
              <a:t>误差的相关性训练相关参数（相关）</a:t>
            </a:r>
            <a:endParaRPr lang="zh-CN" altLang="en-US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5.5.4 </a:t>
            </a:r>
            <a:r>
              <a:rPr lang="zh-CN" altLang="en-US" dirty="0">
                <a:latin typeface="+mn-ea"/>
              </a:rPr>
              <a:t>级联相关网络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 smtClean="0"/>
              <a:t>优缺点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与</a:t>
            </a:r>
            <a:r>
              <a:rPr lang="zh-CN" altLang="en-US" dirty="0"/>
              <a:t>一般的前馈神经网络相比，级联相关网络无需设置网络层数、隐层</a:t>
            </a:r>
            <a:r>
              <a:rPr lang="zh-CN" altLang="en-US" dirty="0" smtClean="0"/>
              <a:t>神经元数目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训练</a:t>
            </a:r>
            <a:r>
              <a:rPr lang="zh-CN" altLang="en-US" dirty="0"/>
              <a:t>速度较</a:t>
            </a:r>
            <a:r>
              <a:rPr lang="zh-CN" altLang="en-US" dirty="0" smtClean="0"/>
              <a:t>快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</a:t>
            </a:r>
            <a:r>
              <a:rPr lang="zh-CN" altLang="en-US" dirty="0"/>
              <a:t>数据较小时易陷入过</a:t>
            </a:r>
            <a:r>
              <a:rPr lang="zh-CN" altLang="en-US" dirty="0" smtClean="0"/>
              <a:t>拟合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3429000"/>
            <a:ext cx="8733848" cy="2808000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6366" cy="4690864"/>
          </a:xfrm>
        </p:spPr>
        <p:txBody>
          <a:bodyPr/>
          <a:lstStyle/>
          <a:p>
            <a:r>
              <a:rPr lang="en-US" altLang="zh-CN" dirty="0">
                <a:latin typeface="+mn-ea"/>
              </a:rPr>
              <a:t>5.5.5 Elman</a:t>
            </a:r>
            <a:r>
              <a:rPr lang="zh-CN" altLang="en-US" dirty="0" smtClean="0">
                <a:latin typeface="+mn-ea"/>
              </a:rPr>
              <a:t>网络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一种递归神经网络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网络中可以有环形</a:t>
            </a:r>
            <a:r>
              <a:rPr lang="zh-CN" altLang="en-US" dirty="0" smtClean="0">
                <a:latin typeface="+mn-ea"/>
              </a:rPr>
              <a:t>结构</a:t>
            </a:r>
            <a:r>
              <a:rPr lang="en-US" altLang="zh-CN" dirty="0" smtClean="0">
                <a:latin typeface="+mn-ea"/>
              </a:rPr>
              <a:t>, </a:t>
            </a:r>
            <a:r>
              <a:rPr lang="zh-CN" altLang="en-US" dirty="0" smtClean="0">
                <a:latin typeface="+mn-ea"/>
              </a:rPr>
              <a:t>可</a:t>
            </a:r>
            <a:r>
              <a:rPr lang="zh-CN" altLang="en-US" dirty="0">
                <a:latin typeface="+mn-ea"/>
              </a:rPr>
              <a:t>让使一些神经元的输出反馈回来作为</a:t>
            </a:r>
            <a:r>
              <a:rPr lang="zh-CN" altLang="en-US" dirty="0" smtClean="0">
                <a:latin typeface="+mn-ea"/>
              </a:rPr>
              <a:t>输入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en-US" altLang="zh-CN" dirty="0" smtClean="0">
                <a:latin typeface="+mn-ea"/>
              </a:rPr>
              <a:t>t</a:t>
            </a:r>
            <a:r>
              <a:rPr lang="zh-CN" altLang="en-US" dirty="0" smtClean="0">
                <a:latin typeface="+mn-ea"/>
              </a:rPr>
              <a:t>时刻</a:t>
            </a:r>
            <a:r>
              <a:rPr lang="zh-CN" altLang="en-US" dirty="0">
                <a:latin typeface="+mn-ea"/>
              </a:rPr>
              <a:t>网络的输出状态：</a:t>
            </a:r>
            <a:r>
              <a:rPr lang="zh-CN" altLang="en-US" dirty="0" smtClean="0">
                <a:latin typeface="+mn-ea"/>
              </a:rPr>
              <a:t>由</a:t>
            </a:r>
            <a:r>
              <a:rPr lang="en-US" altLang="zh-CN" dirty="0" smtClean="0">
                <a:latin typeface="+mn-ea"/>
              </a:rPr>
              <a:t>t</a:t>
            </a:r>
            <a:r>
              <a:rPr lang="zh-CN" altLang="en-US" dirty="0" smtClean="0">
                <a:latin typeface="+mn-ea"/>
              </a:rPr>
              <a:t>时刻</a:t>
            </a:r>
            <a:r>
              <a:rPr lang="zh-CN" altLang="en-US" dirty="0">
                <a:latin typeface="+mn-ea"/>
              </a:rPr>
              <a:t>的输入状态和 </a:t>
            </a:r>
            <a:r>
              <a:rPr lang="en-US" altLang="zh-CN" dirty="0" smtClean="0">
                <a:latin typeface="+mn-ea"/>
              </a:rPr>
              <a:t>t-1</a:t>
            </a:r>
            <a:r>
              <a:rPr lang="zh-CN" altLang="en-US" dirty="0" smtClean="0">
                <a:latin typeface="+mn-ea"/>
              </a:rPr>
              <a:t>时刻</a:t>
            </a:r>
            <a:r>
              <a:rPr lang="zh-CN" altLang="en-US" dirty="0">
                <a:latin typeface="+mn-ea"/>
              </a:rPr>
              <a:t>的网络</a:t>
            </a:r>
            <a:r>
              <a:rPr lang="zh-CN" altLang="en-US" dirty="0" smtClean="0">
                <a:latin typeface="+mn-ea"/>
              </a:rPr>
              <a:t>状态共同决定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能</a:t>
            </a:r>
            <a:r>
              <a:rPr lang="zh-CN" altLang="en-US" dirty="0">
                <a:latin typeface="+mn-ea"/>
              </a:rPr>
              <a:t>处理与时间有关的动态</a:t>
            </a:r>
            <a:r>
              <a:rPr lang="zh-CN" altLang="en-US" dirty="0" smtClean="0">
                <a:latin typeface="+mn-ea"/>
              </a:rPr>
              <a:t>变化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网络结构</a:t>
            </a:r>
            <a:endParaRPr lang="zh-CN" altLang="en-US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067" y="3244552"/>
            <a:ext cx="2823437" cy="3568824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 bwMode="auto">
          <a:xfrm>
            <a:off x="717083" y="3984489"/>
            <a:ext cx="5567983" cy="2355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与前馈神经网络相似，但隐层神经元输出被反馈，与下一时刻输入层神经元信号一起作为隐层神经元下一时刻的输入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隐层神经元常采用</a:t>
            </a:r>
            <a:r>
              <a:rPr lang="en-US" altLang="zh-CN" kern="0" dirty="0" smtClean="0">
                <a:latin typeface="+mn-ea"/>
              </a:rPr>
              <a:t>Sigmoid</a:t>
            </a:r>
            <a:r>
              <a:rPr lang="zh-CN" altLang="en-US" kern="0" dirty="0" smtClean="0">
                <a:latin typeface="+mn-ea"/>
              </a:rPr>
              <a:t>激活函数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使用推广的</a:t>
            </a:r>
            <a:r>
              <a:rPr lang="en-US" altLang="zh-CN" kern="0" dirty="0" smtClean="0">
                <a:latin typeface="+mn-ea"/>
              </a:rPr>
              <a:t>BP</a:t>
            </a:r>
            <a:r>
              <a:rPr lang="zh-CN" altLang="en-US" kern="0" dirty="0" smtClean="0">
                <a:latin typeface="+mn-ea"/>
              </a:rPr>
              <a:t>算法训练</a:t>
            </a:r>
            <a:endParaRPr lang="zh-CN" altLang="en-US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endParaRPr lang="zh-CN" altLang="en-US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  <p:transition>
    <p:cover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b="24830"/>
          <a:stretch>
            <a:fillRect/>
          </a:stretch>
        </p:blipFill>
        <p:spPr>
          <a:xfrm>
            <a:off x="2110511" y="4293096"/>
            <a:ext cx="5125785" cy="2484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5.5.6 Boltzmann</a:t>
            </a:r>
            <a:r>
              <a:rPr lang="zh-CN" altLang="en-US" dirty="0" smtClean="0">
                <a:latin typeface="+mn-ea"/>
              </a:rPr>
              <a:t>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一种基于</a:t>
            </a:r>
            <a:r>
              <a:rPr lang="zh-CN" altLang="en-US" dirty="0">
                <a:latin typeface="+mn-ea"/>
              </a:rPr>
              <a:t>能量的</a:t>
            </a:r>
            <a:r>
              <a:rPr lang="zh-CN" altLang="en-US" dirty="0" smtClean="0">
                <a:latin typeface="+mn-ea"/>
              </a:rPr>
              <a:t>模型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为网络状态定义一</a:t>
            </a:r>
            <a:r>
              <a:rPr lang="zh-CN" altLang="en-US" dirty="0" smtClean="0">
                <a:latin typeface="+mn-ea"/>
              </a:rPr>
              <a:t>个能量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能量最小</a:t>
            </a:r>
            <a:r>
              <a:rPr lang="zh-CN" altLang="en-US" dirty="0">
                <a:latin typeface="+mn-ea"/>
              </a:rPr>
              <a:t>化时网络达到理想</a:t>
            </a:r>
            <a:r>
              <a:rPr lang="zh-CN" altLang="en-US" dirty="0" smtClean="0">
                <a:latin typeface="+mn-ea"/>
              </a:rPr>
              <a:t>状态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网络</a:t>
            </a:r>
            <a:r>
              <a:rPr lang="zh-CN" altLang="en-US" dirty="0">
                <a:latin typeface="+mn-ea"/>
              </a:rPr>
              <a:t>的训练就是在最小化这个能量</a:t>
            </a:r>
            <a:r>
              <a:rPr lang="zh-CN" altLang="en-US" dirty="0" smtClean="0">
                <a:latin typeface="+mn-ea"/>
              </a:rPr>
              <a:t>函数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网络结构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神经元</a:t>
            </a:r>
            <a:r>
              <a:rPr lang="zh-CN" altLang="en-US" dirty="0">
                <a:latin typeface="+mn-ea"/>
              </a:rPr>
              <a:t>分为两</a:t>
            </a:r>
            <a:r>
              <a:rPr lang="zh-CN" altLang="en-US" dirty="0" smtClean="0">
                <a:latin typeface="+mn-ea"/>
              </a:rPr>
              <a:t>层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显</a:t>
            </a:r>
            <a:r>
              <a:rPr lang="zh-CN" altLang="en-US" dirty="0">
                <a:latin typeface="+mn-ea"/>
              </a:rPr>
              <a:t>层用于表示数据的输入与</a:t>
            </a:r>
            <a:r>
              <a:rPr lang="zh-CN" altLang="en-US" dirty="0" smtClean="0">
                <a:latin typeface="+mn-ea"/>
              </a:rPr>
              <a:t>输出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隐层为</a:t>
            </a:r>
            <a:r>
              <a:rPr lang="zh-CN" altLang="en-US" dirty="0">
                <a:latin typeface="+mn-ea"/>
              </a:rPr>
              <a:t>数据的内在</a:t>
            </a:r>
            <a:r>
              <a:rPr lang="zh-CN" altLang="en-US" dirty="0" smtClean="0">
                <a:latin typeface="+mn-ea"/>
              </a:rPr>
              <a:t>表达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5.5.6 Boltzmann</a:t>
            </a:r>
            <a:r>
              <a:rPr lang="zh-CN" altLang="en-US" dirty="0" smtClean="0">
                <a:latin typeface="+mn-ea"/>
              </a:rPr>
              <a:t>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latin typeface="+mn-ea"/>
              </a:rPr>
              <a:t>网络结构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神经元</a:t>
            </a:r>
            <a:r>
              <a:rPr lang="zh-CN" altLang="en-US" dirty="0">
                <a:latin typeface="+mn-ea"/>
              </a:rPr>
              <a:t>都是布尔型的，即只能取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两种状态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表示激活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表示</a:t>
            </a:r>
            <a:r>
              <a:rPr lang="zh-CN" altLang="en-US" dirty="0" smtClean="0">
                <a:latin typeface="+mn-ea"/>
              </a:rPr>
              <a:t>抑制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设       表示</a:t>
            </a:r>
            <a:r>
              <a:rPr lang="en-US" altLang="zh-CN" dirty="0" smtClean="0">
                <a:latin typeface="+mn-ea"/>
              </a:rPr>
              <a:t>n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神经元的状态</a:t>
            </a:r>
            <a:r>
              <a:rPr lang="zh-CN" altLang="en-US" dirty="0" smtClean="0">
                <a:latin typeface="+mn-ea"/>
              </a:rPr>
              <a:t>，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表示</a:t>
            </a:r>
            <a:r>
              <a:rPr lang="zh-CN" altLang="en-US" dirty="0">
                <a:latin typeface="+mn-ea"/>
              </a:rPr>
              <a:t>神经元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与</a:t>
            </a:r>
            <a:r>
              <a:rPr lang="en-US" altLang="zh-CN" dirty="0" smtClean="0">
                <a:latin typeface="+mn-ea"/>
              </a:rPr>
              <a:t>j</a:t>
            </a:r>
            <a:r>
              <a:rPr lang="zh-CN" altLang="en-US" dirty="0" smtClean="0">
                <a:latin typeface="+mn-ea"/>
              </a:rPr>
              <a:t>之间</a:t>
            </a:r>
            <a:r>
              <a:rPr lang="zh-CN" altLang="en-US" dirty="0">
                <a:latin typeface="+mn-ea"/>
              </a:rPr>
              <a:t>的连接权</a:t>
            </a:r>
            <a:r>
              <a:rPr lang="zh-CN" altLang="en-US" dirty="0" smtClean="0">
                <a:latin typeface="+mn-ea"/>
              </a:rPr>
              <a:t>， 表示</a:t>
            </a:r>
            <a:r>
              <a:rPr lang="zh-CN" altLang="en-US" dirty="0">
                <a:latin typeface="+mn-ea"/>
              </a:rPr>
              <a:t>神经元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 smtClean="0">
                <a:latin typeface="+mn-ea"/>
              </a:rPr>
              <a:t>的阈值</a:t>
            </a:r>
            <a:r>
              <a:rPr lang="zh-CN" altLang="en-US" dirty="0">
                <a:latin typeface="+mn-ea"/>
              </a:rPr>
              <a:t>，则状态向量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所对应</a:t>
            </a:r>
            <a:r>
              <a:rPr lang="zh-CN" altLang="en-US" dirty="0" smtClean="0">
                <a:latin typeface="+mn-ea"/>
              </a:rPr>
              <a:t>的</a:t>
            </a:r>
            <a:r>
              <a:rPr lang="en-US" altLang="zh-CN" dirty="0">
                <a:latin typeface="+mn-ea"/>
              </a:rPr>
              <a:t>Boltzmann</a:t>
            </a:r>
            <a:r>
              <a:rPr lang="zh-CN" altLang="en-US" dirty="0" smtClean="0">
                <a:latin typeface="+mn-ea"/>
              </a:rPr>
              <a:t>机能</a:t>
            </a:r>
            <a:r>
              <a:rPr lang="zh-CN" altLang="en-US" dirty="0">
                <a:latin typeface="+mn-ea"/>
              </a:rPr>
              <a:t>量定义</a:t>
            </a:r>
            <a:r>
              <a:rPr lang="zh-CN" altLang="en-US" dirty="0" smtClean="0">
                <a:latin typeface="+mn-ea"/>
              </a:rPr>
              <a:t>为</a:t>
            </a:r>
            <a:endParaRPr lang="en-US" altLang="zh-CN" dirty="0" smtClean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marL="914400" lvl="2" indent="0">
              <a:spcBef>
                <a:spcPts val="1200"/>
              </a:spcBef>
              <a:buNone/>
            </a:pPr>
            <a:r>
              <a:rPr lang="zh-CN" altLang="en-US" dirty="0" smtClean="0">
                <a:latin typeface="+mn-ea"/>
              </a:rPr>
              <a:t> 状态向量</a:t>
            </a:r>
            <a:r>
              <a:rPr lang="en-US" altLang="zh-CN" dirty="0">
                <a:latin typeface="+mn-ea"/>
              </a:rPr>
              <a:t>s</a:t>
            </a:r>
            <a:r>
              <a:rPr lang="zh-CN" altLang="en-US" dirty="0">
                <a:latin typeface="+mn-ea"/>
              </a:rPr>
              <a:t>出现的概率</a:t>
            </a:r>
            <a:endParaRPr lang="en-US" altLang="zh-CN" dirty="0" smtClean="0">
              <a:latin typeface="+mn-ea"/>
            </a:endParaRPr>
          </a:p>
          <a:p>
            <a:pPr lvl="1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将每个训练样本视为一个状态向量，</a:t>
            </a:r>
            <a:r>
              <a:rPr lang="zh-CN" altLang="en-US" dirty="0" smtClean="0">
                <a:latin typeface="+mn-ea"/>
              </a:rPr>
              <a:t>使其</a:t>
            </a:r>
            <a:r>
              <a:rPr lang="zh-CN" altLang="en-US" dirty="0">
                <a:latin typeface="+mn-ea"/>
              </a:rPr>
              <a:t>出现的概率尽可能</a:t>
            </a:r>
            <a:r>
              <a:rPr lang="zh-CN" altLang="en-US" dirty="0" smtClean="0">
                <a:latin typeface="+mn-ea"/>
              </a:rPr>
              <a:t>大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训练</a:t>
            </a:r>
            <a:r>
              <a:rPr lang="zh-CN" altLang="en-US" dirty="0">
                <a:latin typeface="+mn-ea"/>
              </a:rPr>
              <a:t>网络</a:t>
            </a:r>
            <a:r>
              <a:rPr lang="zh-CN" altLang="en-US" dirty="0" smtClean="0">
                <a:latin typeface="+mn-ea"/>
              </a:rPr>
              <a:t>的复杂</a:t>
            </a:r>
            <a:r>
              <a:rPr lang="zh-CN" altLang="en-US" dirty="0">
                <a:latin typeface="+mn-ea"/>
              </a:rPr>
              <a:t>度很高</a:t>
            </a:r>
            <a:r>
              <a:rPr lang="zh-CN" altLang="en-US" dirty="0" smtClean="0">
                <a:latin typeface="+mn-ea"/>
              </a:rPr>
              <a:t>，难以用于现实任务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常</a:t>
            </a:r>
            <a:r>
              <a:rPr lang="zh-CN" altLang="en-US" dirty="0">
                <a:latin typeface="+mn-ea"/>
              </a:rPr>
              <a:t>采用受限</a:t>
            </a:r>
            <a:r>
              <a:rPr lang="en-US" altLang="zh-CN" dirty="0" smtClean="0">
                <a:latin typeface="+mn-ea"/>
              </a:rPr>
              <a:t>Boltzmann</a:t>
            </a:r>
            <a:r>
              <a:rPr lang="zh-CN" altLang="en-US" dirty="0" smtClean="0">
                <a:latin typeface="+mn-ea"/>
              </a:rPr>
              <a:t>机</a:t>
            </a:r>
            <a:endParaRPr lang="en-US" altLang="zh-CN" dirty="0">
              <a:latin typeface="+mn-ea"/>
            </a:endParaRPr>
          </a:p>
          <a:p>
            <a:pPr lvl="2"/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210560" y="2492896"/>
          <a:ext cx="1065296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7" name="Equation" r:id="rId1" imgW="12496800" imgH="5486400" progId="Equation.DSMT4">
                  <p:embed/>
                </p:oleObj>
              </mc:Choice>
              <mc:Fallback>
                <p:oleObj name="Equation" r:id="rId1" imgW="12496800" imgH="5486400" progId="Equation.DSMT4">
                  <p:embed/>
                  <p:pic>
                    <p:nvPicPr>
                      <p:cNvPr id="0" name="图片 146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10560" y="2492896"/>
                        <a:ext cx="1065296" cy="46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44208" y="2503239"/>
          <a:ext cx="4143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8" name="Equation" r:id="rId3" imgW="4876800" imgH="5791200" progId="Equation.DSMT4">
                  <p:embed/>
                </p:oleObj>
              </mc:Choice>
              <mc:Fallback>
                <p:oleObj name="Equation" r:id="rId3" imgW="4876800" imgH="5791200" progId="Equation.DSMT4">
                  <p:embed/>
                  <p:pic>
                    <p:nvPicPr>
                      <p:cNvPr id="0" name="图片 146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4208" y="2503239"/>
                        <a:ext cx="414338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572000" y="2890267"/>
          <a:ext cx="3095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9" name="Equation" r:id="rId5" imgW="3657600" imgH="5486400" progId="Equation.DSMT4">
                  <p:embed/>
                </p:oleObj>
              </mc:Choice>
              <mc:Fallback>
                <p:oleObj name="Equation" r:id="rId5" imgW="3657600" imgH="5486400" progId="Equation.DSMT4">
                  <p:embed/>
                  <p:pic>
                    <p:nvPicPr>
                      <p:cNvPr id="0" name="图片 146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2890267"/>
                        <a:ext cx="309562" cy="466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67521" y="3595613"/>
          <a:ext cx="4391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0" name="Equation" r:id="rId7" imgW="51511200" imgH="7315200" progId="Equation.DSMT4">
                  <p:embed/>
                </p:oleObj>
              </mc:Choice>
              <mc:Fallback>
                <p:oleObj name="Equation" r:id="rId7" imgW="51511200" imgH="7315200" progId="Equation.DSMT4">
                  <p:embed/>
                  <p:pic>
                    <p:nvPicPr>
                      <p:cNvPr id="0" name="图片 146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7521" y="3595613"/>
                        <a:ext cx="4391025" cy="625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343275" y="4413250"/>
          <a:ext cx="27559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1" name="Equation" r:id="rId9" imgW="32308800" imgH="7010400" progId="Equation.DSMT4">
                  <p:embed/>
                </p:oleObj>
              </mc:Choice>
              <mc:Fallback>
                <p:oleObj name="Equation" r:id="rId9" imgW="32308800" imgH="7010400" progId="Equation.DSMT4">
                  <p:embed/>
                  <p:pic>
                    <p:nvPicPr>
                      <p:cNvPr id="0" name="图片 146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3275" y="4413250"/>
                        <a:ext cx="2755900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其他常见神经网络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+mn-ea"/>
              </a:rPr>
              <a:t>5.5.6 Boltzmann</a:t>
            </a:r>
            <a:r>
              <a:rPr lang="zh-CN" altLang="en-US" dirty="0" smtClean="0">
                <a:latin typeface="+mn-ea"/>
              </a:rPr>
              <a:t>机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受</a:t>
            </a:r>
            <a:r>
              <a:rPr lang="zh-CN" altLang="en-US" dirty="0" smtClean="0">
                <a:latin typeface="+mn-ea"/>
              </a:rPr>
              <a:t>限</a:t>
            </a:r>
            <a:r>
              <a:rPr lang="en-US" altLang="zh-CN" dirty="0">
                <a:latin typeface="+mn-ea"/>
              </a:rPr>
              <a:t>Boltzmann</a:t>
            </a:r>
            <a:r>
              <a:rPr lang="zh-CN" altLang="en-US" dirty="0">
                <a:latin typeface="+mn-ea"/>
              </a:rPr>
              <a:t>机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常用对比散度算法进行训练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假定</a:t>
            </a:r>
            <a:r>
              <a:rPr lang="zh-CN" altLang="en-US" dirty="0">
                <a:latin typeface="+mn-ea"/>
              </a:rPr>
              <a:t>网络中</a:t>
            </a:r>
            <a:r>
              <a:rPr lang="zh-CN" altLang="en-US" dirty="0" smtClean="0">
                <a:latin typeface="+mn-ea"/>
              </a:rPr>
              <a:t>有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显层神经元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个</a:t>
            </a:r>
            <a:r>
              <a:rPr lang="zh-CN" altLang="en-US" dirty="0">
                <a:latin typeface="+mn-ea"/>
              </a:rPr>
              <a:t>隐层</a:t>
            </a:r>
            <a:r>
              <a:rPr lang="zh-CN" altLang="en-US" dirty="0" smtClean="0">
                <a:latin typeface="+mn-ea"/>
              </a:rPr>
              <a:t>神经元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令  和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分别</a:t>
            </a:r>
            <a:r>
              <a:rPr lang="zh-CN" altLang="en-US" dirty="0">
                <a:latin typeface="+mn-ea"/>
              </a:rPr>
              <a:t>表示显层与隐层的</a:t>
            </a:r>
            <a:r>
              <a:rPr lang="zh-CN" altLang="en-US" dirty="0" smtClean="0">
                <a:latin typeface="+mn-ea"/>
              </a:rPr>
              <a:t>状态向量，则</a:t>
            </a:r>
            <a:r>
              <a:rPr lang="zh-CN" altLang="en-US" dirty="0">
                <a:latin typeface="+mn-ea"/>
              </a:rPr>
              <a:t>由于同一层内不存在连接，</a:t>
            </a:r>
            <a:r>
              <a:rPr lang="zh-CN" altLang="en-US" dirty="0" smtClean="0">
                <a:latin typeface="+mn-ea"/>
              </a:rPr>
              <a:t>有</a:t>
            </a:r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/>
            <a:endParaRPr lang="en-US" altLang="zh-CN" dirty="0" smtClean="0">
              <a:latin typeface="+mn-ea"/>
            </a:endParaRPr>
          </a:p>
          <a:p>
            <a:pPr lvl="3"/>
            <a:endParaRPr lang="en-US" altLang="zh-CN" dirty="0">
              <a:latin typeface="+mn-ea"/>
            </a:endParaRPr>
          </a:p>
          <a:p>
            <a:pPr lvl="3">
              <a:spcBef>
                <a:spcPts val="1800"/>
              </a:spcBef>
            </a:pPr>
            <a:r>
              <a:rPr lang="zh-CN" altLang="en-US" dirty="0" smtClean="0">
                <a:latin typeface="+mn-ea"/>
              </a:rPr>
              <a:t>训练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对每个</a:t>
            </a:r>
            <a:r>
              <a:rPr lang="zh-CN" altLang="en-US" dirty="0" smtClean="0">
                <a:latin typeface="+mn-ea"/>
              </a:rPr>
              <a:t>训练样本  先计算</a:t>
            </a:r>
            <a:r>
              <a:rPr lang="zh-CN" altLang="en-US" dirty="0">
                <a:latin typeface="+mn-ea"/>
              </a:rPr>
              <a:t>出隐层神经元</a:t>
            </a:r>
            <a:r>
              <a:rPr lang="zh-CN" altLang="en-US" dirty="0" smtClean="0">
                <a:latin typeface="+mn-ea"/>
              </a:rPr>
              <a:t>状态的概率分布</a:t>
            </a:r>
            <a:r>
              <a:rPr lang="en-US" altLang="zh-CN" dirty="0" smtClean="0">
                <a:latin typeface="+mn-ea"/>
              </a:rPr>
              <a:t>,</a:t>
            </a:r>
            <a:r>
              <a:rPr lang="zh-CN" altLang="en-US" dirty="0" smtClean="0">
                <a:latin typeface="+mn-ea"/>
              </a:rPr>
              <a:t>根据</a:t>
            </a:r>
            <a:r>
              <a:rPr lang="zh-CN" altLang="en-US" dirty="0">
                <a:latin typeface="+mn-ea"/>
              </a:rPr>
              <a:t>这个概率分布采样</a:t>
            </a:r>
            <a:r>
              <a:rPr lang="zh-CN" altLang="en-US" dirty="0" smtClean="0">
                <a:latin typeface="+mn-ea"/>
              </a:rPr>
              <a:t>得到</a:t>
            </a:r>
            <a:r>
              <a:rPr lang="en-US" altLang="zh-CN" dirty="0" smtClean="0">
                <a:latin typeface="+mn-ea"/>
              </a:rPr>
              <a:t> 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类似地从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产生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，</a:t>
            </a:r>
            <a:r>
              <a:rPr lang="zh-CN" altLang="en-US" dirty="0">
                <a:latin typeface="+mn-ea"/>
              </a:rPr>
              <a:t>再</a:t>
            </a:r>
            <a:r>
              <a:rPr lang="zh-CN" altLang="en-US" dirty="0" smtClean="0">
                <a:latin typeface="+mn-ea"/>
              </a:rPr>
              <a:t>从</a:t>
            </a:r>
            <a:r>
              <a:rPr lang="en-US" altLang="zh-CN" dirty="0" smtClean="0">
                <a:latin typeface="+mn-ea"/>
              </a:rPr>
              <a:t>  </a:t>
            </a:r>
            <a:r>
              <a:rPr lang="zh-CN" altLang="en-US" dirty="0" smtClean="0">
                <a:latin typeface="+mn-ea"/>
              </a:rPr>
              <a:t>产生</a:t>
            </a:r>
            <a:r>
              <a:rPr lang="en-US" altLang="zh-CN" dirty="0" smtClean="0">
                <a:latin typeface="+mn-ea"/>
              </a:rPr>
              <a:t>  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 smtClean="0">
                <a:latin typeface="+mn-ea"/>
              </a:rPr>
              <a:t>连接</a:t>
            </a:r>
            <a:r>
              <a:rPr lang="zh-CN" altLang="en-US" dirty="0">
                <a:latin typeface="+mn-ea"/>
              </a:rPr>
              <a:t>权的更新公式为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923928" y="2204896"/>
          <a:ext cx="225117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5" name="Equation" r:id="rId1" imgW="3352800" imgH="4267200" progId="Equation.DSMT4">
                  <p:embed/>
                </p:oleObj>
              </mc:Choice>
              <mc:Fallback>
                <p:oleObj name="Equation" r:id="rId1" imgW="3352800" imgH="4267200" progId="Equation.DSMT4">
                  <p:embed/>
                  <p:pic>
                    <p:nvPicPr>
                      <p:cNvPr id="0" name="图片 158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23928" y="2204896"/>
                        <a:ext cx="225117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923928" y="3092946"/>
          <a:ext cx="2625725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6" name="Equation" r:id="rId3" imgW="30784800" imgH="14020800" progId="Equation.DSMT4">
                  <p:embed/>
                </p:oleObj>
              </mc:Choice>
              <mc:Fallback>
                <p:oleObj name="Equation" r:id="rId3" imgW="30784800" imgH="14020800" progId="Equation.DSMT4">
                  <p:embed/>
                  <p:pic>
                    <p:nvPicPr>
                      <p:cNvPr id="0" name="图片 158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3928" y="3092946"/>
                        <a:ext cx="2625725" cy="120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009142" y="2177387"/>
          <a:ext cx="219042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" name="Equation" r:id="rId5" imgW="3048000" imgH="3962400" progId="Equation.DSMT4">
                  <p:embed/>
                </p:oleObj>
              </mc:Choice>
              <mc:Fallback>
                <p:oleObj name="Equation" r:id="rId5" imgW="3048000" imgH="3962400" progId="Equation.DSMT4">
                  <p:embed/>
                  <p:pic>
                    <p:nvPicPr>
                      <p:cNvPr id="0" name="图片 158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9142" y="2177387"/>
                        <a:ext cx="219042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685043" y="2522392"/>
          <a:ext cx="25938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8" name="Equation" r:id="rId7" imgW="3048000" imgH="3352800" progId="Equation.DSMT4">
                  <p:embed/>
                </p:oleObj>
              </mc:Choice>
              <mc:Fallback>
                <p:oleObj name="Equation" r:id="rId7" imgW="3048000" imgH="3352800" progId="Equation.DSMT4">
                  <p:embed/>
                  <p:pic>
                    <p:nvPicPr>
                      <p:cNvPr id="0" name="图片 158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85043" y="2522392"/>
                        <a:ext cx="25938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181555" y="2454583"/>
          <a:ext cx="25411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9" name="Equation" r:id="rId9" imgW="3048000" imgH="4267200" progId="Equation.DSMT4">
                  <p:embed/>
                </p:oleObj>
              </mc:Choice>
              <mc:Fallback>
                <p:oleObj name="Equation" r:id="rId9" imgW="3048000" imgH="4267200" progId="Equation.DSMT4">
                  <p:embed/>
                  <p:pic>
                    <p:nvPicPr>
                      <p:cNvPr id="0" name="图片 158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81555" y="2454583"/>
                        <a:ext cx="25411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16016" y="4588130"/>
          <a:ext cx="259380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0" name="Equation" r:id="rId11" imgW="3048000" imgH="3352800" progId="Equation.DSMT4">
                  <p:embed/>
                </p:oleObj>
              </mc:Choice>
              <mc:Fallback>
                <p:oleObj name="Equation" r:id="rId11" imgW="3048000" imgH="3352800" progId="Equation.DSMT4">
                  <p:embed/>
                  <p:pic>
                    <p:nvPicPr>
                      <p:cNvPr id="0" name="图片 158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16016" y="4588130"/>
                        <a:ext cx="259380" cy="28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838162" y="4797152"/>
          <a:ext cx="25411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1" name="Equation" r:id="rId13" imgW="3048000" imgH="4267200" progId="Equation.DSMT4">
                  <p:embed/>
                </p:oleObj>
              </mc:Choice>
              <mc:Fallback>
                <p:oleObj name="Equation" r:id="rId13" imgW="3048000" imgH="4267200" progId="Equation.DSMT4">
                  <p:embed/>
                  <p:pic>
                    <p:nvPicPr>
                      <p:cNvPr id="0" name="图片 1588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38162" y="4797152"/>
                        <a:ext cx="25411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851920" y="5127735"/>
          <a:ext cx="254118" cy="36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2" name="Equation" r:id="rId15" imgW="3048000" imgH="4267200" progId="Equation.DSMT4">
                  <p:embed/>
                </p:oleObj>
              </mc:Choice>
              <mc:Fallback>
                <p:oleObj name="Equation" r:id="rId15" imgW="3048000" imgH="4267200" progId="Equation.DSMT4">
                  <p:embed/>
                  <p:pic>
                    <p:nvPicPr>
                      <p:cNvPr id="0" name="图片 158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51920" y="5127735"/>
                        <a:ext cx="254118" cy="36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676315" y="5116073"/>
          <a:ext cx="3111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3" name="Equation" r:id="rId16" imgW="3657600" imgH="4267200" progId="Equation.DSMT4">
                  <p:embed/>
                </p:oleObj>
              </mc:Choice>
              <mc:Fallback>
                <p:oleObj name="Equation" r:id="rId16" imgW="3657600" imgH="4267200" progId="Equation.DSMT4">
                  <p:embed/>
                  <p:pic>
                    <p:nvPicPr>
                      <p:cNvPr id="0" name="图片 1588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76315" y="5116073"/>
                        <a:ext cx="311150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686262" y="5125690"/>
          <a:ext cx="31115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4" name="Equation" r:id="rId18" imgW="3657600" imgH="4267200" progId="Equation.DSMT4">
                  <p:embed/>
                </p:oleObj>
              </mc:Choice>
              <mc:Fallback>
                <p:oleObj name="Equation" r:id="rId18" imgW="3657600" imgH="4267200" progId="Equation.DSMT4">
                  <p:embed/>
                  <p:pic>
                    <p:nvPicPr>
                      <p:cNvPr id="0" name="图片 1588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86262" y="5125690"/>
                        <a:ext cx="311150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474048" y="5124931"/>
          <a:ext cx="3302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5" name="Equation" r:id="rId20" imgW="3962400" imgH="4267200" progId="Equation.DSMT4">
                  <p:embed/>
                </p:oleObj>
              </mc:Choice>
              <mc:Fallback>
                <p:oleObj name="Equation" r:id="rId20" imgW="3962400" imgH="4267200" progId="Equation.DSMT4">
                  <p:embed/>
                  <p:pic>
                    <p:nvPicPr>
                      <p:cNvPr id="0" name="图片 1588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74048" y="5124931"/>
                        <a:ext cx="330200" cy="360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122565" y="5805264"/>
          <a:ext cx="23114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" name="Equation" r:id="rId22" imgW="27736800" imgH="5486400" progId="Equation.DSMT4">
                  <p:embed/>
                </p:oleObj>
              </mc:Choice>
              <mc:Fallback>
                <p:oleObj name="Equation" r:id="rId22" imgW="27736800" imgH="5486400" progId="Equation.DSMT4">
                  <p:embed/>
                  <p:pic>
                    <p:nvPicPr>
                      <p:cNvPr id="0" name="图片 15885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122565" y="5805264"/>
                        <a:ext cx="2311400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</a:t>
            </a:r>
            <a:r>
              <a:rPr lang="zh-CN" altLang="en-US" dirty="0" smtClean="0"/>
              <a:t>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深度学习的</a:t>
            </a:r>
            <a:r>
              <a:rPr lang="zh-CN" altLang="en-US" dirty="0" smtClean="0"/>
              <a:t>兴起</a:t>
            </a:r>
            <a:endParaRPr lang="en-US" altLang="zh-CN" dirty="0" smtClean="0"/>
          </a:p>
          <a:p>
            <a:pPr lvl="1"/>
            <a:r>
              <a:rPr lang="en-US" altLang="zh-CN" dirty="0" smtClean="0">
                <a:latin typeface="+mn-ea"/>
              </a:rPr>
              <a:t>2006</a:t>
            </a:r>
            <a:r>
              <a:rPr lang="zh-CN" altLang="en-US" dirty="0" smtClean="0">
                <a:latin typeface="+mn-ea"/>
              </a:rPr>
              <a:t>年</a:t>
            </a:r>
            <a:r>
              <a:rPr lang="en-US" altLang="zh-CN" dirty="0" smtClean="0">
                <a:latin typeface="+mn-ea"/>
              </a:rPr>
              <a:t>Hinton</a:t>
            </a:r>
            <a:r>
              <a:rPr lang="zh-CN" altLang="en-US" dirty="0" smtClean="0">
                <a:latin typeface="+mn-ea"/>
              </a:rPr>
              <a:t>发表</a:t>
            </a:r>
            <a:r>
              <a:rPr lang="zh-CN" altLang="en-US" dirty="0">
                <a:latin typeface="+mn-ea"/>
              </a:rPr>
              <a:t>了深度学习</a:t>
            </a:r>
            <a:r>
              <a:rPr lang="zh-CN" altLang="en-US" dirty="0" smtClean="0">
                <a:latin typeface="+mn-ea"/>
              </a:rPr>
              <a:t>的</a:t>
            </a:r>
            <a:r>
              <a:rPr lang="en-US" altLang="zh-CN" dirty="0" smtClean="0">
                <a:latin typeface="+mn-ea"/>
              </a:rPr>
              <a:t>Nature</a:t>
            </a:r>
            <a:r>
              <a:rPr lang="zh-CN" altLang="en-US" dirty="0" smtClean="0">
                <a:latin typeface="+mn-ea"/>
              </a:rPr>
              <a:t>文章</a:t>
            </a:r>
            <a:endParaRPr lang="zh-CN" altLang="en-US" dirty="0">
              <a:latin typeface="+mn-ea"/>
            </a:endParaRPr>
          </a:p>
          <a:p>
            <a:pPr lvl="2"/>
            <a:r>
              <a:rPr lang="zh-CN" altLang="en-US" dirty="0" smtClean="0">
                <a:latin typeface="+mn-ea"/>
              </a:rPr>
              <a:t>提出</a:t>
            </a:r>
            <a:r>
              <a:rPr lang="zh-CN" altLang="en-US" dirty="0">
                <a:latin typeface="+mn-ea"/>
              </a:rPr>
              <a:t>了两个</a:t>
            </a:r>
            <a:r>
              <a:rPr lang="zh-CN" altLang="en-US" dirty="0" smtClean="0">
                <a:latin typeface="+mn-ea"/>
              </a:rPr>
              <a:t>观点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多</a:t>
            </a:r>
            <a:r>
              <a:rPr lang="zh-CN" altLang="en-US" dirty="0">
                <a:latin typeface="+mn-ea"/>
              </a:rPr>
              <a:t>层人工神经网络模型有很强的特征学习能力，深度学习模型学习得到的特征数据对原始数据有更本质的代表性，这将大大便于分类和可视化</a:t>
            </a:r>
            <a:r>
              <a:rPr lang="zh-CN" altLang="en-US" dirty="0" smtClean="0">
                <a:latin typeface="+mn-ea"/>
              </a:rPr>
              <a:t>问题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>
                <a:latin typeface="+mn-ea"/>
              </a:rPr>
              <a:t>对于</a:t>
            </a:r>
            <a:r>
              <a:rPr lang="zh-CN" altLang="en-US" dirty="0">
                <a:latin typeface="+mn-ea"/>
              </a:rPr>
              <a:t>深度神经网络很难训练达到最优的问题，可以采用逐层训练方法解决。将上层训练好的结果作为下层训练过程中的初始化参数</a:t>
            </a:r>
            <a:r>
              <a:rPr lang="zh-CN" altLang="en-US" dirty="0" smtClean="0">
                <a:latin typeface="+mn-ea"/>
              </a:rPr>
              <a:t>。深度模型训练</a:t>
            </a:r>
            <a:r>
              <a:rPr lang="zh-CN" altLang="en-US" dirty="0">
                <a:latin typeface="+mn-ea"/>
              </a:rPr>
              <a:t>过程</a:t>
            </a:r>
            <a:r>
              <a:rPr lang="zh-CN" altLang="en-US" dirty="0" smtClean="0">
                <a:latin typeface="+mn-ea"/>
              </a:rPr>
              <a:t>中的逐</a:t>
            </a:r>
            <a:r>
              <a:rPr lang="zh-CN" altLang="en-US" dirty="0">
                <a:latin typeface="+mn-ea"/>
              </a:rPr>
              <a:t>层初始化采用无监督学习</a:t>
            </a:r>
            <a:r>
              <a:rPr lang="zh-CN" altLang="en-US" dirty="0" smtClean="0">
                <a:latin typeface="+mn-ea"/>
              </a:rPr>
              <a:t>方式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2012</a:t>
            </a:r>
            <a:r>
              <a:rPr lang="zh-CN" altLang="en-US" dirty="0" smtClean="0">
                <a:latin typeface="+mn-ea"/>
              </a:rPr>
              <a:t>年伴随</a:t>
            </a:r>
            <a:r>
              <a:rPr lang="zh-CN" altLang="en-US" dirty="0">
                <a:latin typeface="+mn-ea"/>
              </a:rPr>
              <a:t>云计算、大数据时代的到来，计算能力的大幅提升，使得</a:t>
            </a:r>
            <a:r>
              <a:rPr lang="zh-CN" altLang="en-US" dirty="0" smtClean="0">
                <a:latin typeface="+mn-ea"/>
              </a:rPr>
              <a:t>深度学习</a:t>
            </a:r>
            <a:r>
              <a:rPr lang="zh-CN" altLang="en-US" dirty="0">
                <a:latin typeface="+mn-ea"/>
              </a:rPr>
              <a:t>模型在计算机视觉、自然语言处理、语音识别等众多领域都</a:t>
            </a:r>
            <a:r>
              <a:rPr lang="zh-CN" altLang="en-US" dirty="0" smtClean="0">
                <a:latin typeface="+mn-ea"/>
              </a:rPr>
              <a:t>取得</a:t>
            </a:r>
            <a:r>
              <a:rPr lang="zh-CN" altLang="en-US" dirty="0">
                <a:latin typeface="+mn-ea"/>
              </a:rPr>
              <a:t>了较大的成功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772400" cy="5945088"/>
          </a:xfrm>
        </p:spPr>
        <p:txBody>
          <a:bodyPr/>
          <a:lstStyle/>
          <a:p>
            <a:r>
              <a:rPr lang="zh-CN" altLang="en-US" dirty="0"/>
              <a:t>深度学习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pPr lvl="1"/>
            <a:r>
              <a:rPr lang="zh-CN" altLang="en-US" dirty="0"/>
              <a:t>典型的深度学习模型就是很深层的神经网络</a:t>
            </a:r>
            <a:endParaRPr lang="zh-CN" altLang="en-US" dirty="0"/>
          </a:p>
          <a:p>
            <a:pPr lvl="1"/>
            <a:r>
              <a:rPr lang="zh-CN" altLang="en-US" dirty="0" smtClean="0"/>
              <a:t>提升了学习</a:t>
            </a:r>
            <a:r>
              <a:rPr lang="zh-CN" altLang="en-US" dirty="0"/>
              <a:t>能力</a:t>
            </a:r>
            <a:r>
              <a:rPr lang="zh-CN" altLang="en-US" dirty="0" smtClean="0"/>
              <a:t>，也提升了模型</a:t>
            </a:r>
            <a:r>
              <a:rPr lang="zh-CN" altLang="en-US" dirty="0"/>
              <a:t>复杂度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提升方法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增加隐</a:t>
            </a:r>
            <a:r>
              <a:rPr lang="zh-CN" altLang="en-US" dirty="0" smtClean="0">
                <a:latin typeface="+mn-ea"/>
              </a:rPr>
              <a:t>层神经元数目 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模型宽度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3"/>
            <a:r>
              <a:rPr lang="zh-CN" altLang="en-US" dirty="0" smtClean="0"/>
              <a:t>增加</a:t>
            </a:r>
            <a:r>
              <a:rPr lang="zh-CN" altLang="en-US" dirty="0"/>
              <a:t>隐层</a:t>
            </a:r>
            <a:r>
              <a:rPr lang="zh-CN" altLang="en-US" dirty="0">
                <a:latin typeface="+mn-ea"/>
              </a:rPr>
              <a:t>数目 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模型深度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/>
              <a:t>增加隐层数目比增加隐层</a:t>
            </a:r>
            <a:r>
              <a:rPr lang="zh-CN" altLang="en-US" dirty="0" smtClean="0"/>
              <a:t>神经元</a:t>
            </a:r>
            <a:r>
              <a:rPr lang="zh-CN" altLang="en-US" dirty="0"/>
              <a:t>数目更</a:t>
            </a:r>
            <a:r>
              <a:rPr lang="zh-CN" altLang="en-US" dirty="0" smtClean="0"/>
              <a:t>有效</a:t>
            </a:r>
            <a:endParaRPr lang="en-US" altLang="zh-CN" dirty="0" smtClean="0"/>
          </a:p>
          <a:p>
            <a:pPr lvl="4"/>
            <a:r>
              <a:rPr lang="zh-CN" altLang="en-US" dirty="0"/>
              <a:t>不仅增加了拥有激活函数的</a:t>
            </a:r>
            <a:r>
              <a:rPr lang="zh-CN" altLang="en-US" dirty="0" smtClean="0"/>
              <a:t>神经元数，还</a:t>
            </a:r>
            <a:r>
              <a:rPr lang="zh-CN" altLang="en-US" dirty="0"/>
              <a:t>增加了激活函数嵌套的层</a:t>
            </a:r>
            <a:r>
              <a:rPr lang="zh-CN" altLang="en-US" dirty="0" smtClean="0"/>
              <a:t>数</a:t>
            </a:r>
            <a:endParaRPr lang="en-US" altLang="zh-CN" dirty="0" smtClean="0"/>
          </a:p>
          <a:p>
            <a:pPr lvl="2"/>
            <a:r>
              <a:rPr lang="zh-CN" altLang="en-US" dirty="0"/>
              <a:t>增加过拟合</a:t>
            </a:r>
            <a:r>
              <a:rPr lang="zh-CN" altLang="en-US" dirty="0" smtClean="0"/>
              <a:t>风险和训练难度</a:t>
            </a:r>
            <a:endParaRPr lang="en-US" altLang="zh-CN" dirty="0" smtClean="0"/>
          </a:p>
          <a:p>
            <a:pPr lvl="3"/>
            <a:r>
              <a:rPr lang="zh-CN" altLang="en-US" dirty="0"/>
              <a:t>过拟合</a:t>
            </a:r>
            <a:r>
              <a:rPr lang="zh-CN" altLang="en-US" dirty="0" smtClean="0"/>
              <a:t>风险，可使用</a:t>
            </a:r>
            <a:r>
              <a:rPr lang="zh-CN" altLang="en-US" dirty="0"/>
              <a:t>大量训练</a:t>
            </a:r>
            <a:r>
              <a:rPr lang="zh-CN" altLang="en-US" dirty="0" smtClean="0"/>
              <a:t>数据解决</a:t>
            </a:r>
            <a:endParaRPr lang="en-US" altLang="zh-CN" dirty="0" smtClean="0"/>
          </a:p>
          <a:p>
            <a:pPr lvl="3"/>
            <a:r>
              <a:rPr lang="zh-CN" altLang="en-US" dirty="0"/>
              <a:t>训练</a:t>
            </a:r>
            <a:r>
              <a:rPr lang="zh-CN" altLang="en-US" dirty="0" smtClean="0"/>
              <a:t>困难</a:t>
            </a:r>
            <a:endParaRPr lang="en-US" altLang="zh-CN" dirty="0" smtClean="0"/>
          </a:p>
          <a:p>
            <a:pPr lvl="4"/>
            <a:r>
              <a:rPr lang="zh-CN" altLang="en-US" dirty="0"/>
              <a:t>误差梯度在多隐层内传播</a:t>
            </a:r>
            <a:r>
              <a:rPr lang="zh-CN" altLang="en-US" dirty="0" smtClean="0"/>
              <a:t>时，会发散而不能</a:t>
            </a:r>
            <a:r>
              <a:rPr lang="zh-CN" altLang="en-US" dirty="0"/>
              <a:t>收敛</a:t>
            </a:r>
            <a:r>
              <a:rPr lang="zh-CN" altLang="en-US" dirty="0">
                <a:latin typeface="+mn-ea"/>
              </a:rPr>
              <a:t>到</a:t>
            </a:r>
            <a:r>
              <a:rPr lang="zh-CN" altLang="en-US" dirty="0" smtClean="0">
                <a:latin typeface="+mn-ea"/>
              </a:rPr>
              <a:t>稳定状态</a:t>
            </a:r>
            <a:r>
              <a:rPr lang="zh-CN" altLang="en-US" dirty="0">
                <a:latin typeface="+mn-ea"/>
              </a:rPr>
              <a:t>，</a:t>
            </a:r>
            <a:r>
              <a:rPr lang="zh-CN" altLang="en-US" dirty="0" smtClean="0">
                <a:latin typeface="+mn-ea"/>
              </a:rPr>
              <a:t>因此难以</a:t>
            </a:r>
            <a:r>
              <a:rPr lang="zh-CN" altLang="en-US" dirty="0">
                <a:latin typeface="+mn-ea"/>
              </a:rPr>
              <a:t>直接用</a:t>
            </a:r>
            <a:r>
              <a:rPr lang="zh-CN" altLang="en-US" dirty="0" smtClean="0">
                <a:latin typeface="+mn-ea"/>
              </a:rPr>
              <a:t>经典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4"/>
            <a:r>
              <a:rPr lang="zh-CN" altLang="en-US" dirty="0">
                <a:latin typeface="+mn-ea"/>
              </a:rPr>
              <a:t>要</a:t>
            </a:r>
            <a:r>
              <a:rPr lang="zh-CN" altLang="en-US" dirty="0" smtClean="0">
                <a:latin typeface="+mn-ea"/>
              </a:rPr>
              <a:t>使用</a:t>
            </a:r>
            <a:r>
              <a:rPr lang="zh-CN" altLang="en-US" dirty="0">
                <a:latin typeface="+mn-ea"/>
              </a:rPr>
              <a:t>若干启发式诀窍</a:t>
            </a:r>
            <a:endParaRPr lang="zh-CN" altLang="en-US" dirty="0">
              <a:latin typeface="+mn-ea"/>
            </a:endParaRPr>
          </a:p>
          <a:p>
            <a:pPr lvl="3"/>
            <a:endParaRPr lang="zh-CN" altLang="en-US" dirty="0"/>
          </a:p>
          <a:p>
            <a:pPr lvl="2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最</a:t>
            </a:r>
            <a:r>
              <a:rPr lang="zh-CN" altLang="en-US" dirty="0" smtClean="0">
                <a:latin typeface="+mn-ea"/>
              </a:rPr>
              <a:t>常用深度</a:t>
            </a:r>
            <a:r>
              <a:rPr lang="zh-CN" altLang="en-US" dirty="0">
                <a:latin typeface="+mn-ea"/>
              </a:rPr>
              <a:t>学习模型：卷积</a:t>
            </a:r>
            <a:r>
              <a:rPr lang="zh-CN" altLang="en-US" dirty="0" smtClean="0">
                <a:latin typeface="+mn-ea"/>
              </a:rPr>
              <a:t>神经网络</a:t>
            </a:r>
            <a:r>
              <a:rPr lang="fr-FR" altLang="zh-CN" dirty="0" smtClean="0">
                <a:latin typeface="+mn-ea"/>
              </a:rPr>
              <a:t>CNN</a:t>
            </a:r>
            <a:endParaRPr lang="fr-FR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网络结构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输入层：输入信号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卷积层</a:t>
            </a:r>
            <a:endParaRPr lang="en-US" altLang="zh-CN" dirty="0" smtClean="0"/>
          </a:p>
          <a:p>
            <a:pPr lvl="3"/>
            <a:r>
              <a:rPr lang="zh-CN" altLang="en-US" dirty="0"/>
              <a:t>每个卷积层包含多个特征</a:t>
            </a:r>
            <a:r>
              <a:rPr lang="zh-CN" altLang="en-US" dirty="0" smtClean="0"/>
              <a:t>映射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每个</a:t>
            </a:r>
            <a:r>
              <a:rPr lang="zh-CN" altLang="en-US" dirty="0"/>
              <a:t>特征映射是一个由多个神经元构成的平面，通过一种卷积滤波器提取输入的一种特征</a:t>
            </a:r>
            <a:endParaRPr lang="en-US" altLang="zh-CN" dirty="0"/>
          </a:p>
          <a:p>
            <a:pPr lvl="2"/>
            <a:r>
              <a:rPr lang="zh-CN" altLang="en-US" dirty="0" smtClean="0"/>
              <a:t>采样层（汇合层）</a:t>
            </a:r>
            <a:endParaRPr lang="en-US" altLang="zh-CN" dirty="0" smtClean="0"/>
          </a:p>
          <a:p>
            <a:pPr lvl="3"/>
            <a:r>
              <a:rPr lang="zh-CN" altLang="en-US" dirty="0"/>
              <a:t>基于局部相关性原理进行亚采样，从而在减少数据量的同时保留有用</a:t>
            </a:r>
            <a:r>
              <a:rPr lang="zh-CN" altLang="en-US" dirty="0" smtClean="0"/>
              <a:t>信息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连接层是</a:t>
            </a:r>
            <a:r>
              <a:rPr lang="zh-CN" altLang="en-US" dirty="0"/>
              <a:t>传统</a:t>
            </a:r>
            <a:r>
              <a:rPr lang="zh-CN" altLang="en-US" dirty="0" smtClean="0"/>
              <a:t>神经网络</a:t>
            </a:r>
            <a:r>
              <a:rPr lang="zh-CN" altLang="en-US" dirty="0"/>
              <a:t>对隐层与</a:t>
            </a:r>
            <a:r>
              <a:rPr lang="zh-CN" altLang="en-US" dirty="0" smtClean="0"/>
              <a:t>输出层</a:t>
            </a:r>
            <a:r>
              <a:rPr lang="zh-CN" altLang="en-US" dirty="0"/>
              <a:t>的全连接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输出层</a:t>
            </a:r>
            <a:r>
              <a:rPr lang="zh-CN" altLang="en-US" dirty="0"/>
              <a:t>：完成识别任务</a:t>
            </a:r>
            <a:endParaRPr lang="en-US" altLang="zh-CN" dirty="0"/>
          </a:p>
          <a:p>
            <a:pPr lvl="2"/>
            <a:endParaRPr lang="zh-CN" altLang="en-US" dirty="0"/>
          </a:p>
          <a:p>
            <a:pPr lvl="3"/>
            <a:endParaRPr lang="en-US" altLang="zh-CN" dirty="0" smtClean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418" y="5138531"/>
            <a:ext cx="5451894" cy="169285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-36512" y="2564904"/>
            <a:ext cx="14036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800" b="0" dirty="0" smtClean="0">
                <a:solidFill>
                  <a:srgbClr val="FF0000"/>
                </a:solidFill>
              </a:rPr>
              <a:t>每组神经元平面都</a:t>
            </a:r>
            <a:r>
              <a:rPr lang="zh-CN" altLang="en-US" sz="1800" b="0" dirty="0">
                <a:solidFill>
                  <a:srgbClr val="FF0000"/>
                </a:solidFill>
              </a:rPr>
              <a:t>用相同的连接权</a:t>
            </a:r>
            <a:r>
              <a:rPr lang="zh-CN" altLang="en-US" sz="1800" b="0" dirty="0" smtClean="0">
                <a:solidFill>
                  <a:srgbClr val="FF0000"/>
                </a:solidFill>
              </a:rPr>
              <a:t>，大幅</a:t>
            </a:r>
            <a:r>
              <a:rPr lang="zh-CN" altLang="en-US" sz="1800" b="0" dirty="0">
                <a:solidFill>
                  <a:srgbClr val="FF0000"/>
                </a:solidFill>
              </a:rPr>
              <a:t>减少了需要训练的参数数目</a:t>
            </a:r>
            <a:endParaRPr lang="zh-CN" altLang="en-US" sz="1800" b="0" dirty="0">
              <a:solidFill>
                <a:srgbClr val="FF0000"/>
              </a:solidFill>
            </a:endParaRPr>
          </a:p>
        </p:txBody>
      </p:sp>
      <p:sp>
        <p:nvSpPr>
          <p:cNvPr id="8" name="左大括号 7"/>
          <p:cNvSpPr/>
          <p:nvPr/>
        </p:nvSpPr>
        <p:spPr bwMode="auto">
          <a:xfrm>
            <a:off x="1259632" y="2409855"/>
            <a:ext cx="360040" cy="1955249"/>
          </a:xfrm>
          <a:prstGeom prst="leftBrac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over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066" y="836712"/>
            <a:ext cx="7985150" cy="3456384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卷积神经网络</a:t>
            </a:r>
            <a:r>
              <a:rPr lang="fr-FR" altLang="zh-CN" dirty="0">
                <a:latin typeface="+mn-ea"/>
              </a:rPr>
              <a:t>CNN</a:t>
            </a:r>
            <a:endParaRPr lang="fr-FR" altLang="zh-CN" dirty="0">
              <a:latin typeface="+mn-ea"/>
            </a:endParaRPr>
          </a:p>
          <a:p>
            <a:pPr lvl="1"/>
            <a:r>
              <a:rPr lang="zh-CN" altLang="en-US" dirty="0" smtClean="0"/>
              <a:t>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b="20663"/>
          <a:stretch>
            <a:fillRect/>
          </a:stretch>
        </p:blipFill>
        <p:spPr>
          <a:xfrm>
            <a:off x="268459" y="4509120"/>
            <a:ext cx="8768037" cy="2160000"/>
          </a:xfrm>
          <a:prstGeom prst="rect">
            <a:avLst/>
          </a:prstGeom>
        </p:spPr>
      </p:pic>
      <p:sp>
        <p:nvSpPr>
          <p:cNvPr id="7" name="内容占位符 2"/>
          <p:cNvSpPr txBox="1"/>
          <p:nvPr/>
        </p:nvSpPr>
        <p:spPr bwMode="auto">
          <a:xfrm>
            <a:off x="963091" y="1340768"/>
            <a:ext cx="7985150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just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网络输入：</a:t>
            </a:r>
            <a:r>
              <a:rPr lang="en-US" altLang="zh-CN" kern="0" dirty="0" smtClean="0">
                <a:latin typeface="+mn-ea"/>
              </a:rPr>
              <a:t>32x32</a:t>
            </a:r>
            <a:r>
              <a:rPr lang="zh-CN" altLang="en-US" kern="0" dirty="0" smtClean="0">
                <a:latin typeface="+mn-ea"/>
              </a:rPr>
              <a:t>的手写数字图像第一个卷积层</a:t>
            </a:r>
            <a:endParaRPr lang="en-US" altLang="zh-CN" kern="0" dirty="0" smtClean="0">
              <a:latin typeface="+mn-ea"/>
            </a:endParaRPr>
          </a:p>
          <a:p>
            <a:pPr lvl="3">
              <a:lnSpc>
                <a:spcPct val="100000"/>
              </a:lnSpc>
            </a:pPr>
            <a:r>
              <a:rPr lang="en-US" altLang="zh-CN" kern="0" dirty="0" smtClean="0">
                <a:latin typeface="+mn-ea"/>
              </a:rPr>
              <a:t>6</a:t>
            </a:r>
            <a:r>
              <a:rPr lang="zh-CN" altLang="en-US" kern="0" dirty="0" smtClean="0">
                <a:latin typeface="+mn-ea"/>
              </a:rPr>
              <a:t>个</a:t>
            </a:r>
            <a:r>
              <a:rPr lang="en-US" altLang="zh-CN" kern="0" dirty="0" smtClean="0">
                <a:latin typeface="+mn-ea"/>
              </a:rPr>
              <a:t>28x28</a:t>
            </a:r>
            <a:r>
              <a:rPr lang="zh-CN" altLang="en-US" kern="0" dirty="0" smtClean="0">
                <a:latin typeface="+mn-ea"/>
              </a:rPr>
              <a:t>的特征映射神经元阵列</a:t>
            </a:r>
            <a:endParaRPr lang="en-US" altLang="zh-CN" kern="0" dirty="0" smtClean="0">
              <a:latin typeface="+mn-ea"/>
            </a:endParaRPr>
          </a:p>
          <a:p>
            <a:pPr lvl="3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每个神经元从</a:t>
            </a:r>
            <a:r>
              <a:rPr lang="en-US" altLang="zh-CN" kern="0" dirty="0" smtClean="0">
                <a:latin typeface="+mn-ea"/>
              </a:rPr>
              <a:t>5x5</a:t>
            </a:r>
            <a:r>
              <a:rPr lang="zh-CN" altLang="en-US" kern="0" dirty="0" smtClean="0">
                <a:latin typeface="+mn-ea"/>
              </a:rPr>
              <a:t>的区域通过卷积滤波器提取局部特征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第一个采样层</a:t>
            </a:r>
            <a:endParaRPr lang="en-US" altLang="zh-CN" kern="0" dirty="0" smtClean="0">
              <a:latin typeface="+mn-ea"/>
            </a:endParaRPr>
          </a:p>
          <a:p>
            <a:pPr lvl="3">
              <a:lnSpc>
                <a:spcPct val="100000"/>
              </a:lnSpc>
            </a:pPr>
            <a:r>
              <a:rPr lang="en-US" altLang="zh-CN" kern="0" dirty="0" smtClean="0">
                <a:latin typeface="+mn-ea"/>
              </a:rPr>
              <a:t>6</a:t>
            </a:r>
            <a:r>
              <a:rPr lang="zh-CN" altLang="en-US" kern="0" dirty="0" smtClean="0">
                <a:latin typeface="+mn-ea"/>
              </a:rPr>
              <a:t>个</a:t>
            </a:r>
            <a:r>
              <a:rPr lang="en-US" altLang="zh-CN" kern="0" dirty="0" smtClean="0">
                <a:latin typeface="+mn-ea"/>
              </a:rPr>
              <a:t>14x14</a:t>
            </a:r>
            <a:r>
              <a:rPr lang="zh-CN" altLang="en-US" kern="0" dirty="0" smtClean="0">
                <a:latin typeface="+mn-ea"/>
              </a:rPr>
              <a:t>的特征映射</a:t>
            </a:r>
            <a:endParaRPr lang="en-US" altLang="zh-CN" kern="0" dirty="0" smtClean="0">
              <a:latin typeface="+mn-ea"/>
            </a:endParaRPr>
          </a:p>
          <a:p>
            <a:pPr lvl="3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每个神经元与上层对应特征映射</a:t>
            </a:r>
            <a:r>
              <a:rPr lang="en-US" altLang="zh-CN" kern="0" dirty="0" smtClean="0">
                <a:latin typeface="+mn-ea"/>
              </a:rPr>
              <a:t>2x2</a:t>
            </a:r>
            <a:r>
              <a:rPr lang="zh-CN" altLang="en-US" kern="0" dirty="0" smtClean="0">
                <a:latin typeface="+mn-ea"/>
              </a:rPr>
              <a:t>邻域相连计算输出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en-US" altLang="zh-CN" kern="0" dirty="0" smtClean="0">
                <a:latin typeface="+mn-ea"/>
              </a:rPr>
              <a:t>……</a:t>
            </a:r>
            <a:r>
              <a:rPr lang="zh-CN" altLang="en-US" kern="0" dirty="0" smtClean="0">
                <a:latin typeface="+mn-ea"/>
              </a:rPr>
              <a:t>原始图像映射成</a:t>
            </a:r>
            <a:r>
              <a:rPr lang="en-US" altLang="zh-CN" kern="0" dirty="0" smtClean="0">
                <a:latin typeface="+mn-ea"/>
              </a:rPr>
              <a:t>120</a:t>
            </a:r>
            <a:r>
              <a:rPr lang="zh-CN" altLang="en-US" kern="0" dirty="0" smtClean="0">
                <a:latin typeface="+mn-ea"/>
              </a:rPr>
              <a:t>维特征向量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连接层：</a:t>
            </a:r>
            <a:r>
              <a:rPr lang="en-US" altLang="zh-CN" kern="0" dirty="0" smtClean="0">
                <a:latin typeface="+mn-ea"/>
              </a:rPr>
              <a:t>84</a:t>
            </a:r>
            <a:r>
              <a:rPr lang="zh-CN" altLang="en-US" kern="0" dirty="0" smtClean="0">
                <a:latin typeface="+mn-ea"/>
              </a:rPr>
              <a:t>个神经元构成</a:t>
            </a:r>
            <a:endParaRPr lang="en-US" altLang="zh-CN" kern="0" dirty="0" smtClean="0">
              <a:latin typeface="+mn-ea"/>
            </a:endParaRPr>
          </a:p>
          <a:p>
            <a:pPr lvl="2">
              <a:lnSpc>
                <a:spcPct val="100000"/>
              </a:lnSpc>
            </a:pPr>
            <a:r>
              <a:rPr lang="zh-CN" altLang="en-US" kern="0" dirty="0" smtClean="0">
                <a:latin typeface="+mn-ea"/>
              </a:rPr>
              <a:t>输出层：识别结果</a:t>
            </a: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  <p:transition>
    <p:cover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+mn-ea"/>
              </a:rPr>
              <a:t>训练方法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预</a:t>
            </a:r>
            <a:r>
              <a:rPr lang="zh-CN" altLang="en-US" dirty="0" smtClean="0">
                <a:latin typeface="+mn-ea"/>
              </a:rPr>
              <a:t>训练</a:t>
            </a:r>
            <a:r>
              <a:rPr lang="en-US" altLang="zh-CN" dirty="0" smtClean="0">
                <a:latin typeface="+mn-ea"/>
              </a:rPr>
              <a:t>+</a:t>
            </a:r>
            <a:r>
              <a:rPr lang="zh-CN" altLang="en-US" dirty="0" smtClean="0">
                <a:latin typeface="+mn-ea"/>
              </a:rPr>
              <a:t>微调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预</a:t>
            </a:r>
            <a:r>
              <a:rPr lang="zh-CN" altLang="en-US" dirty="0" smtClean="0">
                <a:latin typeface="+mn-ea"/>
              </a:rPr>
              <a:t>训练：监督</a:t>
            </a:r>
            <a:r>
              <a:rPr lang="zh-CN" altLang="en-US" dirty="0">
                <a:latin typeface="+mn-ea"/>
              </a:rPr>
              <a:t>逐层训练，每次训练一层隐</a:t>
            </a:r>
            <a:r>
              <a:rPr lang="zh-CN" altLang="en-US" dirty="0" smtClean="0">
                <a:latin typeface="+mn-ea"/>
              </a:rPr>
              <a:t>结点</a:t>
            </a:r>
            <a:r>
              <a:rPr lang="en-US" altLang="zh-CN" dirty="0" smtClean="0">
                <a:latin typeface="+mn-ea"/>
              </a:rPr>
              <a:t> 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微调：预训练全部完成</a:t>
            </a:r>
            <a:r>
              <a:rPr lang="zh-CN" altLang="en-US" dirty="0" smtClean="0">
                <a:latin typeface="+mn-ea"/>
              </a:rPr>
              <a:t>后，对</a:t>
            </a:r>
            <a:r>
              <a:rPr lang="zh-CN" altLang="en-US" dirty="0">
                <a:latin typeface="+mn-ea"/>
              </a:rPr>
              <a:t>全网络进行微调训练，通常</a:t>
            </a:r>
            <a:r>
              <a:rPr lang="zh-CN" altLang="en-US" dirty="0" smtClean="0">
                <a:latin typeface="+mn-ea"/>
              </a:rPr>
              <a:t>使用</a:t>
            </a:r>
            <a:r>
              <a:rPr lang="en-US" altLang="zh-CN" dirty="0" smtClean="0">
                <a:latin typeface="+mn-ea"/>
              </a:rPr>
              <a:t>BP</a:t>
            </a:r>
            <a:r>
              <a:rPr lang="zh-CN" altLang="en-US" dirty="0" smtClean="0">
                <a:latin typeface="+mn-ea"/>
              </a:rPr>
              <a:t>算法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可视为将大量参数分组，对每组先找到较好的局部配置，再全局寻</a:t>
            </a:r>
            <a:r>
              <a:rPr lang="zh-CN" altLang="en-US" dirty="0" smtClean="0">
                <a:latin typeface="+mn-ea"/>
              </a:rPr>
              <a:t>优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权</a:t>
            </a:r>
            <a:r>
              <a:rPr lang="zh-CN" altLang="en-US" dirty="0" smtClean="0">
                <a:latin typeface="+mn-ea"/>
              </a:rPr>
              <a:t>共享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一组神经元使用</a:t>
            </a:r>
            <a:r>
              <a:rPr lang="zh-CN" altLang="en-US" dirty="0" smtClean="0">
                <a:latin typeface="+mn-ea"/>
              </a:rPr>
              <a:t>相同连接权，</a:t>
            </a:r>
            <a:r>
              <a:rPr lang="zh-CN" altLang="en-US" dirty="0">
                <a:latin typeface="+mn-ea"/>
              </a:rPr>
              <a:t>减少需优化的</a:t>
            </a:r>
            <a:r>
              <a:rPr lang="zh-CN" altLang="en-US" dirty="0" smtClean="0">
                <a:latin typeface="+mn-ea"/>
              </a:rPr>
              <a:t>参数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dirty="0" smtClean="0">
                <a:latin typeface="+mn-ea"/>
              </a:rPr>
              <a:t>Dropout</a:t>
            </a:r>
            <a:endParaRPr lang="en-US" altLang="zh-CN" dirty="0">
              <a:latin typeface="+mn-ea"/>
            </a:endParaRPr>
          </a:p>
          <a:p>
            <a:pPr lvl="2"/>
            <a:r>
              <a:rPr lang="zh-CN" altLang="en-US" kern="1200" dirty="0" smtClean="0">
                <a:latin typeface="Arial" panose="020B0604020202020204" pitchFamily="34" charset="0"/>
                <a:ea typeface="宋体" panose="02010600030101010101" pitchFamily="2" charset="-122"/>
              </a:rPr>
              <a:t>为防止</a:t>
            </a:r>
            <a:r>
              <a:rPr lang="zh-CN" altLang="en-US" kern="1200" dirty="0">
                <a:latin typeface="Arial" panose="020B0604020202020204" pitchFamily="34" charset="0"/>
                <a:ea typeface="宋体" panose="02010600030101010101" pitchFamily="2" charset="-122"/>
              </a:rPr>
              <a:t>模型过拟合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</a:t>
            </a:r>
            <a:r>
              <a:rPr lang="zh-CN" altLang="en-US" dirty="0"/>
              <a:t>每轮训练时随机选择一些隐结点令其权重不被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下</a:t>
            </a:r>
            <a:r>
              <a:rPr lang="zh-CN" altLang="en-US" dirty="0">
                <a:latin typeface="+mn-ea"/>
              </a:rPr>
              <a:t>一轮可能被</a:t>
            </a:r>
            <a:r>
              <a:rPr lang="zh-CN" altLang="en-US" dirty="0" smtClean="0">
                <a:latin typeface="+mn-ea"/>
              </a:rPr>
              <a:t>更新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en-US" altLang="zh-CN" smtClean="0">
                <a:latin typeface="+mn-ea"/>
              </a:rPr>
              <a:t>ReLU(Rectified </a:t>
            </a:r>
            <a:r>
              <a:rPr lang="en-US" altLang="zh-CN" dirty="0">
                <a:latin typeface="+mn-ea"/>
              </a:rPr>
              <a:t>Linear Units</a:t>
            </a:r>
            <a:r>
              <a:rPr lang="en-US" altLang="zh-CN" dirty="0" smtClean="0">
                <a:latin typeface="+mn-ea"/>
              </a:rPr>
              <a:t>)</a:t>
            </a:r>
            <a:r>
              <a:rPr lang="zh-CN" altLang="en-US" dirty="0" smtClean="0">
                <a:latin typeface="+mn-ea"/>
              </a:rPr>
              <a:t>激活函数</a:t>
            </a:r>
            <a:endParaRPr lang="en-US" altLang="zh-CN" dirty="0" smtClean="0">
              <a:latin typeface="+mn-ea"/>
            </a:endParaRPr>
          </a:p>
          <a:p>
            <a:pPr lvl="2"/>
            <a:r>
              <a:rPr lang="zh-CN" altLang="en-US" dirty="0">
                <a:latin typeface="+mn-ea"/>
              </a:rPr>
              <a:t>求导</a:t>
            </a:r>
            <a:r>
              <a:rPr lang="zh-CN" altLang="en-US" dirty="0" smtClean="0">
                <a:latin typeface="+mn-ea"/>
              </a:rPr>
              <a:t>容易，可能缓解</a:t>
            </a:r>
            <a:r>
              <a:rPr lang="zh-CN" altLang="en-US" dirty="0">
                <a:latin typeface="+mn-ea"/>
              </a:rPr>
              <a:t>梯度消失现象</a:t>
            </a:r>
            <a:endParaRPr lang="zh-CN" altLang="en-US" dirty="0">
              <a:latin typeface="+mn-ea"/>
            </a:endParaRPr>
          </a:p>
          <a:p>
            <a:pPr lvl="2"/>
            <a:endParaRPr lang="en-US" altLang="zh-CN" dirty="0">
              <a:latin typeface="+mn-ea"/>
            </a:endParaRPr>
          </a:p>
          <a:p>
            <a:pPr lvl="1"/>
            <a:endParaRPr lang="zh-CN" altLang="en-US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  <a:p>
            <a:pPr lvl="3"/>
            <a:endParaRPr lang="zh-CN" altLang="en-US" dirty="0"/>
          </a:p>
          <a:p>
            <a:pPr lvl="4"/>
            <a:endParaRPr lang="zh-CN" altLang="en-US" dirty="0"/>
          </a:p>
          <a:p>
            <a:pPr lvl="4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ransition>
    <p:cover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</a:t>
            </a:r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深度学习最重要的</a:t>
            </a:r>
            <a:r>
              <a:rPr lang="zh-CN" altLang="en-US" dirty="0" smtClean="0"/>
              <a:t>特征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zh-CN" altLang="en-US" dirty="0"/>
              <a:t>多层处理，逐渐将初始</a:t>
            </a:r>
            <a:r>
              <a:rPr lang="zh-CN" altLang="en-US" dirty="0" smtClean="0"/>
              <a:t>的低层特征表示转化为高层特征</a:t>
            </a:r>
            <a:r>
              <a:rPr lang="zh-CN" altLang="en-US" dirty="0"/>
              <a:t>表示后，</a:t>
            </a:r>
            <a:r>
              <a:rPr lang="zh-CN" altLang="en-US" dirty="0" smtClean="0"/>
              <a:t>用简单模型即</a:t>
            </a:r>
            <a:r>
              <a:rPr lang="zh-CN" altLang="en-US" dirty="0"/>
              <a:t>可完成复杂的分类等学习</a:t>
            </a:r>
            <a:r>
              <a:rPr lang="zh-CN" altLang="en-US" dirty="0" smtClean="0"/>
              <a:t>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可将深度学习理解为</a:t>
            </a:r>
            <a:r>
              <a:rPr lang="zh-CN" altLang="en-US" dirty="0" smtClean="0">
                <a:latin typeface="+mn-ea"/>
              </a:rPr>
              <a:t>特征学习</a:t>
            </a:r>
            <a:r>
              <a:rPr lang="en-US" altLang="zh-CN" dirty="0" smtClean="0">
                <a:latin typeface="+mn-ea"/>
              </a:rPr>
              <a:t>(</a:t>
            </a:r>
            <a:r>
              <a:rPr lang="zh-CN" altLang="en-US" dirty="0" smtClean="0">
                <a:latin typeface="+mn-ea"/>
              </a:rPr>
              <a:t>表示学习</a:t>
            </a:r>
            <a:r>
              <a:rPr lang="en-US" altLang="zh-CN" dirty="0" smtClean="0">
                <a:latin typeface="+mn-ea"/>
              </a:rPr>
              <a:t>)</a:t>
            </a:r>
            <a:endParaRPr lang="en-US" altLang="zh-CN" dirty="0" smtClean="0">
              <a:latin typeface="+mn-ea"/>
            </a:endParaRPr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3101006"/>
            <a:ext cx="5604845" cy="3680794"/>
          </a:xfrm>
          <a:prstGeom prst="rect">
            <a:avLst/>
          </a:prstGeom>
        </p:spPr>
      </p:pic>
    </p:spTree>
  </p:cSld>
  <p:clrMapOvr>
    <a:masterClrMapping/>
  </p:clrMapOvr>
  <p:transition>
    <p:cover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+mn-ea"/>
              </a:rPr>
              <a:t>5.5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5.6</a:t>
            </a:r>
            <a:endParaRPr lang="zh-CN" altLang="en-US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E9F0A-462E-4C69-95AA-11A5CD68248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over dir="u"/>
  </p:transition>
</p:sld>
</file>

<file path=ppt/theme/theme1.xml><?xml version="1.0" encoding="utf-8"?>
<a:theme xmlns:a="http://schemas.openxmlformats.org/drawingml/2006/main" name="课件PPT主题1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课件PPT主题1</Template>
  <TotalTime>0</TotalTime>
  <Words>7151</Words>
  <Application>WPS 演示</Application>
  <PresentationFormat>全屏显示(4:3)</PresentationFormat>
  <Paragraphs>695</Paragraphs>
  <Slides>52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90</vt:i4>
      </vt:variant>
      <vt:variant>
        <vt:lpstr>幻灯片标题</vt:lpstr>
      </vt:variant>
      <vt:variant>
        <vt:i4>52</vt:i4>
      </vt:variant>
    </vt:vector>
  </HeadingPairs>
  <TitlesOfParts>
    <vt:vector size="149" baseType="lpstr">
      <vt:lpstr>Arial</vt:lpstr>
      <vt:lpstr>宋体</vt:lpstr>
      <vt:lpstr>Wingdings</vt:lpstr>
      <vt:lpstr>Tahoma</vt:lpstr>
      <vt:lpstr>微软雅黑</vt:lpstr>
      <vt:lpstr>Arial Unicode MS</vt:lpstr>
      <vt:lpstr>课件PPT主题1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第5章 神经网络</vt:lpstr>
      <vt:lpstr>主要内容</vt:lpstr>
      <vt:lpstr>5.0 神经网络发展</vt:lpstr>
      <vt:lpstr>5.0 神经网络发展</vt:lpstr>
      <vt:lpstr>5.1 神经元模型</vt:lpstr>
      <vt:lpstr>5.1 神经元模型</vt:lpstr>
      <vt:lpstr>5.1 神经元模型</vt:lpstr>
      <vt:lpstr>5.1 神经元模型</vt:lpstr>
      <vt:lpstr>5.1 神经元模型</vt:lpstr>
      <vt:lpstr>5.2 感知机与多层网络</vt:lpstr>
      <vt:lpstr>5.2 感知机与多层网络</vt:lpstr>
      <vt:lpstr>5.2 感知机与多层网络</vt:lpstr>
      <vt:lpstr>5.2 感知机与多层网络</vt:lpstr>
      <vt:lpstr>5.2 感知机与多层网络</vt:lpstr>
      <vt:lpstr>5.2 感知机与多层网络</vt:lpstr>
      <vt:lpstr>5.2 感知机与多层网络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5.3 误差逆传播算法(BP)</vt:lpstr>
      <vt:lpstr>5.4 全局最小与局部极小</vt:lpstr>
      <vt:lpstr>5.4 全局最小与局部极小</vt:lpstr>
      <vt:lpstr>5.4 全局最小与局部极小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5.5 其他常见神经网络</vt:lpstr>
      <vt:lpstr>5.6 深度学习</vt:lpstr>
      <vt:lpstr>5.6 深度学习</vt:lpstr>
      <vt:lpstr>5.6 深度学习</vt:lpstr>
      <vt:lpstr>5.6 深度学习</vt:lpstr>
      <vt:lpstr>5.6 深度学习</vt:lpstr>
      <vt:lpstr>5.6 深度学习</vt:lpstr>
      <vt:lpstr>作业</vt:lpstr>
    </vt:vector>
  </TitlesOfParts>
  <Company>NEU Systems Engineering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智能优化方法</dc:title>
  <dc:creator>Junwei Wang</dc:creator>
  <cp:lastModifiedBy>MNBVC</cp:lastModifiedBy>
  <cp:revision>1261</cp:revision>
  <dcterms:created xsi:type="dcterms:W3CDTF">2003-07-20T06:30:00Z</dcterms:created>
  <dcterms:modified xsi:type="dcterms:W3CDTF">2021-09-22T13:09:40Z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