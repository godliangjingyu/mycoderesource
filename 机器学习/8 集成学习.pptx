
<file path=[Content_Types].xml><?xml version="1.0" encoding="utf-8"?>
<Types xmlns="http://schemas.openxmlformats.org/package/2006/content-types">
  <Default Extension="jpeg" ContentType="image/jpe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
  </p:notesMasterIdLst>
  <p:handoutMasterIdLst>
    <p:handoutMasterId r:id="rId43"/>
  </p:handoutMasterIdLst>
  <p:sldIdLst>
    <p:sldId id="530" r:id="rId3"/>
    <p:sldId id="568" r:id="rId4"/>
    <p:sldId id="584" r:id="rId5"/>
    <p:sldId id="592" r:id="rId7"/>
    <p:sldId id="585" r:id="rId8"/>
    <p:sldId id="586" r:id="rId9"/>
    <p:sldId id="593" r:id="rId10"/>
    <p:sldId id="587" r:id="rId11"/>
    <p:sldId id="588" r:id="rId12"/>
    <p:sldId id="589" r:id="rId13"/>
    <p:sldId id="594" r:id="rId14"/>
    <p:sldId id="595" r:id="rId15"/>
    <p:sldId id="598" r:id="rId16"/>
    <p:sldId id="596" r:id="rId17"/>
    <p:sldId id="597" r:id="rId18"/>
    <p:sldId id="599" r:id="rId19"/>
    <p:sldId id="600" r:id="rId20"/>
    <p:sldId id="590" r:id="rId21"/>
    <p:sldId id="601" r:id="rId22"/>
    <p:sldId id="591" r:id="rId23"/>
    <p:sldId id="602" r:id="rId24"/>
    <p:sldId id="603" r:id="rId25"/>
    <p:sldId id="604" r:id="rId26"/>
    <p:sldId id="605" r:id="rId27"/>
    <p:sldId id="606" r:id="rId28"/>
    <p:sldId id="607" r:id="rId29"/>
    <p:sldId id="608" r:id="rId30"/>
    <p:sldId id="609" r:id="rId31"/>
    <p:sldId id="610" r:id="rId32"/>
    <p:sldId id="611" r:id="rId33"/>
    <p:sldId id="612" r:id="rId34"/>
    <p:sldId id="613" r:id="rId35"/>
    <p:sldId id="614" r:id="rId36"/>
    <p:sldId id="615" r:id="rId37"/>
    <p:sldId id="616" r:id="rId38"/>
    <p:sldId id="617" r:id="rId39"/>
    <p:sldId id="618" r:id="rId40"/>
    <p:sldId id="619" r:id="rId41"/>
    <p:sldId id="583" r:id="rId42"/>
  </p:sldIdLst>
  <p:sldSz cx="9144000" cy="6858000" type="screen4x3"/>
  <p:notesSz cx="6858000" cy="9144000"/>
  <p:defaultTextStyle>
    <a:defPPr>
      <a:defRPr lang="zh-CN"/>
    </a:defPPr>
    <a:lvl1pPr algn="l" rtl="0" fontAlgn="base">
      <a:lnSpc>
        <a:spcPct val="120000"/>
      </a:lnSpc>
      <a:spcBef>
        <a:spcPct val="20000"/>
      </a:spcBef>
      <a:spcAft>
        <a:spcPct val="0"/>
      </a:spcAft>
      <a:buClr>
        <a:schemeClr val="tx1"/>
      </a:buClr>
      <a:buSzPct val="80000"/>
      <a:buFont typeface="Wingdings" panose="05000000000000000000" pitchFamily="2" charset="2"/>
      <a:defRPr sz="3200" b="1" kern="1200">
        <a:solidFill>
          <a:schemeClr val="tx1"/>
        </a:solidFill>
        <a:latin typeface="Arial" panose="020B0604020202020204" pitchFamily="34" charset="0"/>
        <a:ea typeface="宋体" panose="02010600030101010101" pitchFamily="2" charset="-122"/>
        <a:cs typeface="+mn-cs"/>
      </a:defRPr>
    </a:lvl1pPr>
    <a:lvl2pPr marL="457200" algn="l" rtl="0" fontAlgn="base">
      <a:lnSpc>
        <a:spcPct val="120000"/>
      </a:lnSpc>
      <a:spcBef>
        <a:spcPct val="20000"/>
      </a:spcBef>
      <a:spcAft>
        <a:spcPct val="0"/>
      </a:spcAft>
      <a:buClr>
        <a:schemeClr val="tx1"/>
      </a:buClr>
      <a:buSzPct val="80000"/>
      <a:buFont typeface="Wingdings" panose="05000000000000000000" pitchFamily="2" charset="2"/>
      <a:defRPr sz="3200" b="1" kern="1200">
        <a:solidFill>
          <a:schemeClr val="tx1"/>
        </a:solidFill>
        <a:latin typeface="Arial" panose="020B0604020202020204" pitchFamily="34" charset="0"/>
        <a:ea typeface="宋体" panose="02010600030101010101" pitchFamily="2" charset="-122"/>
        <a:cs typeface="+mn-cs"/>
      </a:defRPr>
    </a:lvl2pPr>
    <a:lvl3pPr marL="914400" algn="l" rtl="0" fontAlgn="base">
      <a:lnSpc>
        <a:spcPct val="120000"/>
      </a:lnSpc>
      <a:spcBef>
        <a:spcPct val="20000"/>
      </a:spcBef>
      <a:spcAft>
        <a:spcPct val="0"/>
      </a:spcAft>
      <a:buClr>
        <a:schemeClr val="tx1"/>
      </a:buClr>
      <a:buSzPct val="80000"/>
      <a:buFont typeface="Wingdings" panose="05000000000000000000" pitchFamily="2" charset="2"/>
      <a:defRPr sz="3200" b="1" kern="1200">
        <a:solidFill>
          <a:schemeClr val="tx1"/>
        </a:solidFill>
        <a:latin typeface="Arial" panose="020B0604020202020204" pitchFamily="34" charset="0"/>
        <a:ea typeface="宋体" panose="02010600030101010101" pitchFamily="2" charset="-122"/>
        <a:cs typeface="+mn-cs"/>
      </a:defRPr>
    </a:lvl3pPr>
    <a:lvl4pPr marL="1371600" algn="l" rtl="0" fontAlgn="base">
      <a:lnSpc>
        <a:spcPct val="120000"/>
      </a:lnSpc>
      <a:spcBef>
        <a:spcPct val="20000"/>
      </a:spcBef>
      <a:spcAft>
        <a:spcPct val="0"/>
      </a:spcAft>
      <a:buClr>
        <a:schemeClr val="tx1"/>
      </a:buClr>
      <a:buSzPct val="80000"/>
      <a:buFont typeface="Wingdings" panose="05000000000000000000" pitchFamily="2" charset="2"/>
      <a:defRPr sz="3200" b="1" kern="1200">
        <a:solidFill>
          <a:schemeClr val="tx1"/>
        </a:solidFill>
        <a:latin typeface="Arial" panose="020B0604020202020204" pitchFamily="34" charset="0"/>
        <a:ea typeface="宋体" panose="02010600030101010101" pitchFamily="2" charset="-122"/>
        <a:cs typeface="+mn-cs"/>
      </a:defRPr>
    </a:lvl4pPr>
    <a:lvl5pPr marL="1828800" algn="l" rtl="0" fontAlgn="base">
      <a:lnSpc>
        <a:spcPct val="120000"/>
      </a:lnSpc>
      <a:spcBef>
        <a:spcPct val="20000"/>
      </a:spcBef>
      <a:spcAft>
        <a:spcPct val="0"/>
      </a:spcAft>
      <a:buClr>
        <a:schemeClr val="tx1"/>
      </a:buClr>
      <a:buSzPct val="80000"/>
      <a:buFont typeface="Wingdings" panose="05000000000000000000" pitchFamily="2" charset="2"/>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B5E3F3"/>
    <a:srgbClr val="FFFFFF"/>
    <a:srgbClr val="FF0000"/>
    <a:srgbClr val="FF6600"/>
    <a:srgbClr val="E3D9B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40" autoAdjust="0"/>
    <p:restoredTop sz="82671" autoAdjust="0"/>
  </p:normalViewPr>
  <p:slideViewPr>
    <p:cSldViewPr>
      <p:cViewPr varScale="1">
        <p:scale>
          <a:sx n="59" d="100"/>
          <a:sy n="59" d="100"/>
        </p:scale>
        <p:origin x="72" y="3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438"/>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notesMaster" Target="notesMasters/notesMaster1.xml"/><Relationship Id="rId5" Type="http://schemas.openxmlformats.org/officeDocument/2006/relationships/slide" Target="slides/slide3.xml"/><Relationship Id="rId46" Type="http://schemas.openxmlformats.org/officeDocument/2006/relationships/tableStyles" Target="tableStyles.xml"/><Relationship Id="rId45" Type="http://schemas.openxmlformats.org/officeDocument/2006/relationships/viewProps" Target="viewProps.xml"/><Relationship Id="rId44" Type="http://schemas.openxmlformats.org/officeDocument/2006/relationships/presProps" Target="presProps.xml"/><Relationship Id="rId43" Type="http://schemas.openxmlformats.org/officeDocument/2006/relationships/handoutMaster" Target="handoutMasters/handoutMaster1.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8" Type="http://schemas.openxmlformats.org/officeDocument/2006/relationships/image" Target="../media/image11.wmf"/><Relationship Id="rId7" Type="http://schemas.openxmlformats.org/officeDocument/2006/relationships/image" Target="../media/image10.wmf"/><Relationship Id="rId6" Type="http://schemas.openxmlformats.org/officeDocument/2006/relationships/image" Target="../media/image9.wmf"/><Relationship Id="rId5" Type="http://schemas.openxmlformats.org/officeDocument/2006/relationships/image" Target="../media/image8.wmf"/><Relationship Id="rId4" Type="http://schemas.openxmlformats.org/officeDocument/2006/relationships/image" Target="../media/image7.wmf"/><Relationship Id="rId3" Type="http://schemas.openxmlformats.org/officeDocument/2006/relationships/image" Target="../media/image6.wmf"/><Relationship Id="rId2" Type="http://schemas.openxmlformats.org/officeDocument/2006/relationships/image" Target="../media/image5.wmf"/><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6" Type="http://schemas.openxmlformats.org/officeDocument/2006/relationships/image" Target="../media/image18.wmf"/><Relationship Id="rId5" Type="http://schemas.openxmlformats.org/officeDocument/2006/relationships/image" Target="../media/image17.wmf"/><Relationship Id="rId4" Type="http://schemas.openxmlformats.org/officeDocument/2006/relationships/image" Target="../media/image16.wmf"/><Relationship Id="rId3" Type="http://schemas.openxmlformats.org/officeDocument/2006/relationships/image" Target="../media/image15.wmf"/><Relationship Id="rId2" Type="http://schemas.openxmlformats.org/officeDocument/2006/relationships/image" Target="../media/image14.wmf"/><Relationship Id="rId1" Type="http://schemas.openxmlformats.org/officeDocument/2006/relationships/image" Target="../media/image13.wmf"/></Relationships>
</file>

<file path=ppt/drawings/_rels/vmlDrawing3.vml.rels><?xml version="1.0" encoding="UTF-8" standalone="yes"?>
<Relationships xmlns="http://schemas.openxmlformats.org/package/2006/relationships"><Relationship Id="rId8" Type="http://schemas.openxmlformats.org/officeDocument/2006/relationships/image" Target="../media/image26.wmf"/><Relationship Id="rId7" Type="http://schemas.openxmlformats.org/officeDocument/2006/relationships/image" Target="../media/image25.wmf"/><Relationship Id="rId6" Type="http://schemas.openxmlformats.org/officeDocument/2006/relationships/image" Target="../media/image24.wmf"/><Relationship Id="rId5" Type="http://schemas.openxmlformats.org/officeDocument/2006/relationships/image" Target="../media/image23.wmf"/><Relationship Id="rId4" Type="http://schemas.openxmlformats.org/officeDocument/2006/relationships/image" Target="../media/image22.wmf"/><Relationship Id="rId3" Type="http://schemas.openxmlformats.org/officeDocument/2006/relationships/image" Target="../media/image21.wmf"/><Relationship Id="rId2" Type="http://schemas.openxmlformats.org/officeDocument/2006/relationships/image" Target="../media/image20.wmf"/><Relationship Id="rId1" Type="http://schemas.openxmlformats.org/officeDocument/2006/relationships/image" Target="../media/image19.wmf"/></Relationships>
</file>

<file path=ppt/drawings/_rels/vmlDrawing4.vml.rels><?xml version="1.0" encoding="UTF-8" standalone="yes"?>
<Relationships xmlns="http://schemas.openxmlformats.org/package/2006/relationships"><Relationship Id="rId6" Type="http://schemas.openxmlformats.org/officeDocument/2006/relationships/image" Target="../media/image31.wmf"/><Relationship Id="rId5" Type="http://schemas.openxmlformats.org/officeDocument/2006/relationships/image" Target="../media/image30.wmf"/><Relationship Id="rId4" Type="http://schemas.openxmlformats.org/officeDocument/2006/relationships/image" Target="../media/image29.wmf"/><Relationship Id="rId3" Type="http://schemas.openxmlformats.org/officeDocument/2006/relationships/image" Target="../media/image28.wmf"/><Relationship Id="rId2" Type="http://schemas.openxmlformats.org/officeDocument/2006/relationships/image" Target="../media/image27.wmf"/><Relationship Id="rId1" Type="http://schemas.openxmlformats.org/officeDocument/2006/relationships/image" Target="../media/image22.wmf"/></Relationships>
</file>

<file path=ppt/drawings/_rels/vmlDrawing5.vml.rels><?xml version="1.0" encoding="UTF-8" standalone="yes"?>
<Relationships xmlns="http://schemas.openxmlformats.org/package/2006/relationships"><Relationship Id="rId6" Type="http://schemas.openxmlformats.org/officeDocument/2006/relationships/image" Target="../media/image35.wmf"/><Relationship Id="rId5" Type="http://schemas.openxmlformats.org/officeDocument/2006/relationships/image" Target="../media/image34.wmf"/><Relationship Id="rId4" Type="http://schemas.openxmlformats.org/officeDocument/2006/relationships/image" Target="../media/image33.wmf"/><Relationship Id="rId3" Type="http://schemas.openxmlformats.org/officeDocument/2006/relationships/image" Target="../media/image32.wmf"/><Relationship Id="rId2" Type="http://schemas.openxmlformats.org/officeDocument/2006/relationships/image" Target="../media/image31.wmf"/><Relationship Id="rId1" Type="http://schemas.openxmlformats.org/officeDocument/2006/relationships/image" Target="../media/image22.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40.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45.wmf"/><Relationship Id="rId2" Type="http://schemas.openxmlformats.org/officeDocument/2006/relationships/image" Target="../media/image44.wmf"/><Relationship Id="rId1" Type="http://schemas.openxmlformats.org/officeDocument/2006/relationships/image" Target="../media/image43.wmf"/></Relationships>
</file>

<file path=ppt/drawings/_rels/vmlDrawing8.vml.rels><?xml version="1.0" encoding="UTF-8" standalone="yes"?>
<Relationships xmlns="http://schemas.openxmlformats.org/package/2006/relationships"><Relationship Id="rId8" Type="http://schemas.openxmlformats.org/officeDocument/2006/relationships/image" Target="../media/image45.wmf"/><Relationship Id="rId7" Type="http://schemas.openxmlformats.org/officeDocument/2006/relationships/image" Target="../media/image52.wmf"/><Relationship Id="rId6" Type="http://schemas.openxmlformats.org/officeDocument/2006/relationships/image" Target="../media/image51.wmf"/><Relationship Id="rId5" Type="http://schemas.openxmlformats.org/officeDocument/2006/relationships/image" Target="../media/image50.wmf"/><Relationship Id="rId4" Type="http://schemas.openxmlformats.org/officeDocument/2006/relationships/image" Target="../media/image49.wmf"/><Relationship Id="rId3" Type="http://schemas.openxmlformats.org/officeDocument/2006/relationships/image" Target="../media/image48.wmf"/><Relationship Id="rId2" Type="http://schemas.openxmlformats.org/officeDocument/2006/relationships/image" Target="../media/image47.wmf"/><Relationship Id="rId1" Type="http://schemas.openxmlformats.org/officeDocument/2006/relationships/image" Target="../media/image46.wmf"/></Relationships>
</file>

<file path=ppt/drawings/_rels/vmlDrawing9.vml.rels><?xml version="1.0" encoding="UTF-8" standalone="yes"?>
<Relationships xmlns="http://schemas.openxmlformats.org/package/2006/relationships"><Relationship Id="rId4" Type="http://schemas.openxmlformats.org/officeDocument/2006/relationships/image" Target="../media/image56.wmf"/><Relationship Id="rId3" Type="http://schemas.openxmlformats.org/officeDocument/2006/relationships/image" Target="../media/image55.wmf"/><Relationship Id="rId2" Type="http://schemas.openxmlformats.org/officeDocument/2006/relationships/image" Target="../media/image54.wmf"/><Relationship Id="rId1" Type="http://schemas.openxmlformats.org/officeDocument/2006/relationships/image" Target="../media/image53.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53.wmf"/></Relationships>
</file>

<file path=ppt/drawings/_rels/vmlDrawing11.vml.rels><?xml version="1.0" encoding="UTF-8" standalone="yes"?>
<Relationships xmlns="http://schemas.openxmlformats.org/package/2006/relationships"><Relationship Id="rId7" Type="http://schemas.openxmlformats.org/officeDocument/2006/relationships/image" Target="../media/image64.wmf"/><Relationship Id="rId6" Type="http://schemas.openxmlformats.org/officeDocument/2006/relationships/image" Target="../media/image63.wmf"/><Relationship Id="rId5" Type="http://schemas.openxmlformats.org/officeDocument/2006/relationships/image" Target="../media/image62.wmf"/><Relationship Id="rId4" Type="http://schemas.openxmlformats.org/officeDocument/2006/relationships/image" Target="../media/image61.wmf"/><Relationship Id="rId3" Type="http://schemas.openxmlformats.org/officeDocument/2006/relationships/image" Target="../media/image60.wmf"/><Relationship Id="rId2" Type="http://schemas.openxmlformats.org/officeDocument/2006/relationships/image" Target="../media/image59.wmf"/><Relationship Id="rId1" Type="http://schemas.openxmlformats.org/officeDocument/2006/relationships/image" Target="../media/image58.wmf"/></Relationships>
</file>

<file path=ppt/drawings/_rels/vmlDrawing12.vml.rels><?xml version="1.0" encoding="UTF-8" standalone="yes"?>
<Relationships xmlns="http://schemas.openxmlformats.org/package/2006/relationships"><Relationship Id="rId6" Type="http://schemas.openxmlformats.org/officeDocument/2006/relationships/image" Target="../media/image70.wmf"/><Relationship Id="rId5" Type="http://schemas.openxmlformats.org/officeDocument/2006/relationships/image" Target="../media/image69.wmf"/><Relationship Id="rId4" Type="http://schemas.openxmlformats.org/officeDocument/2006/relationships/image" Target="../media/image68.wmf"/><Relationship Id="rId3" Type="http://schemas.openxmlformats.org/officeDocument/2006/relationships/image" Target="../media/image67.wmf"/><Relationship Id="rId2" Type="http://schemas.openxmlformats.org/officeDocument/2006/relationships/image" Target="../media/image66.wmf"/><Relationship Id="rId1" Type="http://schemas.openxmlformats.org/officeDocument/2006/relationships/image" Target="../media/image65.wmf"/></Relationships>
</file>

<file path=ppt/drawings/_rels/vmlDrawing13.vml.rels><?xml version="1.0" encoding="UTF-8" standalone="yes"?>
<Relationships xmlns="http://schemas.openxmlformats.org/package/2006/relationships"><Relationship Id="rId4" Type="http://schemas.openxmlformats.org/officeDocument/2006/relationships/image" Target="../media/image74.wmf"/><Relationship Id="rId3" Type="http://schemas.openxmlformats.org/officeDocument/2006/relationships/image" Target="../media/image73.wmf"/><Relationship Id="rId2" Type="http://schemas.openxmlformats.org/officeDocument/2006/relationships/image" Target="../media/image71.wmf"/><Relationship Id="rId1" Type="http://schemas.openxmlformats.org/officeDocument/2006/relationships/image" Target="../media/image67.wmf"/></Relationships>
</file>

<file path=ppt/drawings/_rels/vmlDrawing14.vml.rels><?xml version="1.0" encoding="UTF-8" standalone="yes"?>
<Relationships xmlns="http://schemas.openxmlformats.org/package/2006/relationships"><Relationship Id="rId8" Type="http://schemas.openxmlformats.org/officeDocument/2006/relationships/image" Target="../media/image82.wmf"/><Relationship Id="rId7" Type="http://schemas.openxmlformats.org/officeDocument/2006/relationships/image" Target="../media/image81.wmf"/><Relationship Id="rId6" Type="http://schemas.openxmlformats.org/officeDocument/2006/relationships/image" Target="../media/image80.wmf"/><Relationship Id="rId5" Type="http://schemas.openxmlformats.org/officeDocument/2006/relationships/image" Target="../media/image79.wmf"/><Relationship Id="rId4" Type="http://schemas.openxmlformats.org/officeDocument/2006/relationships/image" Target="../media/image78.wmf"/><Relationship Id="rId3" Type="http://schemas.openxmlformats.org/officeDocument/2006/relationships/image" Target="../media/image77.wmf"/><Relationship Id="rId2" Type="http://schemas.openxmlformats.org/officeDocument/2006/relationships/image" Target="../media/image76.wmf"/><Relationship Id="rId1" Type="http://schemas.openxmlformats.org/officeDocument/2006/relationships/image" Target="../media/image75.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9010"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nSpc>
                <a:spcPct val="100000"/>
              </a:lnSpc>
              <a:spcBef>
                <a:spcPct val="0"/>
              </a:spcBef>
              <a:buClrTx/>
              <a:buSzTx/>
              <a:buFontTx/>
              <a:buNone/>
              <a:defRPr sz="1200" b="0">
                <a:effectLst/>
              </a:defRPr>
            </a:lvl1pPr>
          </a:lstStyle>
          <a:p>
            <a:pPr>
              <a:defRPr/>
            </a:pPr>
            <a:endParaRPr lang="en-US" altLang="zh-CN"/>
          </a:p>
        </p:txBody>
      </p:sp>
      <p:sp>
        <p:nvSpPr>
          <p:cNvPr id="299011" name="Rectangle 3"/>
          <p:cNvSpPr>
            <a:spLocks noGrp="1" noChangeArrowheads="1"/>
          </p:cNvSpPr>
          <p:nvPr>
            <p:ph type="dt" sz="quarter"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lnSpc>
                <a:spcPct val="100000"/>
              </a:lnSpc>
              <a:spcBef>
                <a:spcPct val="0"/>
              </a:spcBef>
              <a:buClrTx/>
              <a:buSzTx/>
              <a:buFontTx/>
              <a:buNone/>
              <a:defRPr sz="1200" b="0">
                <a:effectLst/>
              </a:defRPr>
            </a:lvl1pPr>
          </a:lstStyle>
          <a:p>
            <a:pPr>
              <a:defRPr/>
            </a:pPr>
            <a:endParaRPr lang="en-US" altLang="zh-CN"/>
          </a:p>
        </p:txBody>
      </p:sp>
      <p:sp>
        <p:nvSpPr>
          <p:cNvPr id="299012" name="Rectangle 4"/>
          <p:cNvSpPr>
            <a:spLocks noGrp="1" noChangeArrowheads="1"/>
          </p:cNvSpPr>
          <p:nvPr>
            <p:ph type="ftr" sz="quarter" idx="2"/>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lnSpc>
                <a:spcPct val="100000"/>
              </a:lnSpc>
              <a:spcBef>
                <a:spcPct val="0"/>
              </a:spcBef>
              <a:buClrTx/>
              <a:buSzTx/>
              <a:buFontTx/>
              <a:buNone/>
              <a:defRPr sz="1200" b="0">
                <a:effectLst/>
              </a:defRPr>
            </a:lvl1pPr>
          </a:lstStyle>
          <a:p>
            <a:pPr>
              <a:defRPr/>
            </a:pPr>
            <a:endParaRPr lang="en-US" altLang="zh-CN"/>
          </a:p>
        </p:txBody>
      </p:sp>
      <p:sp>
        <p:nvSpPr>
          <p:cNvPr id="299013" name="Rectangle 5"/>
          <p:cNvSpPr>
            <a:spLocks noGrp="1" noChangeArrowheads="1"/>
          </p:cNvSpPr>
          <p:nvPr>
            <p:ph type="sldNum" sz="quarter" idx="3"/>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a:lnSpc>
                <a:spcPct val="100000"/>
              </a:lnSpc>
              <a:spcBef>
                <a:spcPct val="0"/>
              </a:spcBef>
              <a:buClrTx/>
              <a:buSzTx/>
              <a:buFontTx/>
              <a:buNone/>
              <a:defRPr sz="1200" b="0">
                <a:effectLst/>
              </a:defRPr>
            </a:lvl1pPr>
          </a:lstStyle>
          <a:p>
            <a:pPr>
              <a:defRPr/>
            </a:pPr>
            <a:fld id="{95B01064-FCC8-4740-9ED9-11F36E7CF288}" type="slidenum">
              <a:rPr lang="en-US" altLang="zh-CN"/>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6962"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nSpc>
                <a:spcPct val="100000"/>
              </a:lnSpc>
              <a:spcBef>
                <a:spcPct val="0"/>
              </a:spcBef>
              <a:buClrTx/>
              <a:buSzTx/>
              <a:buFontTx/>
              <a:buNone/>
              <a:defRPr sz="1200" b="0">
                <a:effectLst/>
              </a:defRPr>
            </a:lvl1pPr>
          </a:lstStyle>
          <a:p>
            <a:pPr>
              <a:defRPr/>
            </a:pPr>
            <a:endParaRPr lang="en-US" altLang="zh-CN"/>
          </a:p>
        </p:txBody>
      </p:sp>
      <p:sp>
        <p:nvSpPr>
          <p:cNvPr id="296963"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lnSpc>
                <a:spcPct val="100000"/>
              </a:lnSpc>
              <a:spcBef>
                <a:spcPct val="0"/>
              </a:spcBef>
              <a:buClrTx/>
              <a:buSzTx/>
              <a:buFontTx/>
              <a:buNone/>
              <a:defRPr sz="1200" b="0">
                <a:effectLst/>
              </a:defRPr>
            </a:lvl1pPr>
          </a:lstStyle>
          <a:p>
            <a:pPr>
              <a:defRPr/>
            </a:pPr>
            <a:endParaRPr lang="en-US" altLang="zh-CN"/>
          </a:p>
        </p:txBody>
      </p:sp>
      <p:sp>
        <p:nvSpPr>
          <p:cNvPr id="3277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p:spPr>
      </p:sp>
      <p:sp>
        <p:nvSpPr>
          <p:cNvPr id="296965"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smtClean="0"/>
              <a:t>单击此处编辑母版文本样式</a:t>
            </a:r>
            <a:endParaRPr lang="zh-CN" altLang="en-US" noProof="0" smtClean="0"/>
          </a:p>
          <a:p>
            <a:pPr lvl="1"/>
            <a:r>
              <a:rPr lang="zh-CN" altLang="en-US" noProof="0" smtClean="0"/>
              <a:t>第二级</a:t>
            </a:r>
            <a:endParaRPr lang="zh-CN" altLang="en-US" noProof="0" smtClean="0"/>
          </a:p>
          <a:p>
            <a:pPr lvl="2"/>
            <a:r>
              <a:rPr lang="zh-CN" altLang="en-US" noProof="0" smtClean="0"/>
              <a:t>第三级</a:t>
            </a:r>
            <a:endParaRPr lang="zh-CN" altLang="en-US" noProof="0" smtClean="0"/>
          </a:p>
          <a:p>
            <a:pPr lvl="3"/>
            <a:r>
              <a:rPr lang="zh-CN" altLang="en-US" noProof="0" smtClean="0"/>
              <a:t>第四级</a:t>
            </a:r>
            <a:endParaRPr lang="zh-CN" altLang="en-US" noProof="0" smtClean="0"/>
          </a:p>
          <a:p>
            <a:pPr lvl="4"/>
            <a:r>
              <a:rPr lang="zh-CN" altLang="en-US" noProof="0" smtClean="0"/>
              <a:t>第五级</a:t>
            </a:r>
            <a:endParaRPr lang="zh-CN" altLang="en-US" noProof="0" smtClean="0"/>
          </a:p>
        </p:txBody>
      </p:sp>
      <p:sp>
        <p:nvSpPr>
          <p:cNvPr id="296966"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lnSpc>
                <a:spcPct val="100000"/>
              </a:lnSpc>
              <a:spcBef>
                <a:spcPct val="0"/>
              </a:spcBef>
              <a:buClrTx/>
              <a:buSzTx/>
              <a:buFontTx/>
              <a:buNone/>
              <a:defRPr sz="1200" b="0">
                <a:effectLst/>
              </a:defRPr>
            </a:lvl1pPr>
          </a:lstStyle>
          <a:p>
            <a:pPr>
              <a:defRPr/>
            </a:pPr>
            <a:endParaRPr lang="en-US" altLang="zh-CN"/>
          </a:p>
        </p:txBody>
      </p:sp>
      <p:sp>
        <p:nvSpPr>
          <p:cNvPr id="296967"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a:lnSpc>
                <a:spcPct val="100000"/>
              </a:lnSpc>
              <a:spcBef>
                <a:spcPct val="0"/>
              </a:spcBef>
              <a:buClrTx/>
              <a:buSzTx/>
              <a:buFontTx/>
              <a:buNone/>
              <a:defRPr sz="1200" b="0">
                <a:effectLst/>
              </a:defRPr>
            </a:lvl1pPr>
          </a:lstStyle>
          <a:p>
            <a:pPr>
              <a:defRPr/>
            </a:pPr>
            <a:fld id="{4DF57427-B8B5-4D24-A9D7-9D6F6382E66A}"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集成学习</a:t>
            </a:r>
            <a:r>
              <a:rPr lang="en-US" altLang="zh-CN" dirty="0" smtClean="0"/>
              <a:t>(ensemble learning)</a:t>
            </a:r>
            <a:r>
              <a:rPr lang="zh-CN" altLang="en-US" dirty="0" smtClean="0"/>
              <a:t>通过构建并结合多个学习器来完成学习任</a:t>
            </a:r>
            <a:endParaRPr lang="en-US" altLang="zh-CN" dirty="0" smtClean="0"/>
          </a:p>
          <a:p>
            <a:endParaRPr lang="en-US" altLang="zh-CN" dirty="0" smtClean="0"/>
          </a:p>
          <a:p>
            <a:pPr lvl="0" algn="just"/>
            <a:r>
              <a:rPr lang="zh-CN" altLang="en-US" dirty="0" smtClean="0"/>
              <a:t>多分类器系统</a:t>
            </a:r>
            <a:r>
              <a:rPr lang="en-US" altLang="zh-CN" dirty="0" smtClean="0"/>
              <a:t>(multi-classifier system)</a:t>
            </a:r>
            <a:r>
              <a:rPr lang="zh-CN" altLang="en-US" dirty="0" smtClean="0"/>
              <a:t>、基于委员会的学习</a:t>
            </a:r>
            <a:r>
              <a:rPr lang="en-US" altLang="zh-CN" dirty="0" smtClean="0"/>
              <a:t>(committee-based learning)</a:t>
            </a:r>
            <a:endParaRPr lang="zh-CN" altLang="en-US" dirty="0" smtClean="0"/>
          </a:p>
          <a:p>
            <a:endParaRPr lang="en-US" altLang="zh-CN" dirty="0" smtClean="0"/>
          </a:p>
          <a:p>
            <a:r>
              <a:rPr lang="zh-CN" altLang="en-US" dirty="0" smtClean="0"/>
              <a:t> </a:t>
            </a:r>
            <a:endParaRPr lang="zh-CN" altLang="en-US" dirty="0" smtClean="0"/>
          </a:p>
          <a:p>
            <a:r>
              <a:rPr lang="zh-CN" altLang="en-US" dirty="0" smtClean="0"/>
              <a:t>同质</a:t>
            </a:r>
            <a:r>
              <a:rPr lang="en-US" altLang="zh-CN" dirty="0" smtClean="0"/>
              <a:t>(homogeneous)</a:t>
            </a:r>
            <a:r>
              <a:rPr lang="zh-CN" altLang="en-US" dirty="0" smtClean="0"/>
              <a:t>集成</a:t>
            </a:r>
            <a:endParaRPr lang="en-US" altLang="zh-CN" dirty="0" smtClean="0"/>
          </a:p>
          <a:p>
            <a:r>
              <a:rPr lang="zh-CN" altLang="en-US" dirty="0" smtClean="0"/>
              <a:t>异质</a:t>
            </a:r>
            <a:r>
              <a:rPr lang="en-US" altLang="zh-CN" dirty="0" smtClean="0"/>
              <a:t>(heterogeneous)</a:t>
            </a:r>
            <a:r>
              <a:rPr lang="zh-CN" altLang="en-US" dirty="0" smtClean="0"/>
              <a:t>集成</a:t>
            </a:r>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集成学习</a:t>
            </a:r>
            <a:r>
              <a:rPr lang="en-US" altLang="zh-CN" dirty="0" smtClean="0"/>
              <a:t>(ensemble learning)</a:t>
            </a:r>
            <a:r>
              <a:rPr lang="zh-CN" altLang="en-US" dirty="0" smtClean="0"/>
              <a:t>通过构建并结合多个学习器来完成学习任</a:t>
            </a:r>
            <a:endParaRPr lang="en-US" altLang="zh-CN" dirty="0" smtClean="0"/>
          </a:p>
          <a:p>
            <a:endParaRPr lang="en-US" altLang="zh-CN" dirty="0" smtClean="0"/>
          </a:p>
          <a:p>
            <a:pPr lvl="0" algn="just"/>
            <a:r>
              <a:rPr lang="zh-CN" altLang="en-US" dirty="0" smtClean="0"/>
              <a:t>多分类器系统</a:t>
            </a:r>
            <a:r>
              <a:rPr lang="en-US" altLang="zh-CN" dirty="0" smtClean="0"/>
              <a:t>(multi-classifier system)</a:t>
            </a:r>
            <a:r>
              <a:rPr lang="zh-CN" altLang="en-US" dirty="0" smtClean="0"/>
              <a:t>、基于委员会的学习</a:t>
            </a:r>
            <a:r>
              <a:rPr lang="en-US" altLang="zh-CN" dirty="0" smtClean="0"/>
              <a:t>(committee-based learning)</a:t>
            </a:r>
            <a:endParaRPr lang="zh-CN" altLang="en-US" dirty="0" smtClean="0"/>
          </a:p>
          <a:p>
            <a:endParaRPr lang="en-US" altLang="zh-CN" dirty="0" smtClean="0"/>
          </a:p>
          <a:p>
            <a:r>
              <a:rPr lang="zh-CN" altLang="en-US" dirty="0" smtClean="0"/>
              <a:t> </a:t>
            </a:r>
            <a:endParaRPr lang="zh-CN" altLang="en-US" dirty="0" smtClean="0"/>
          </a:p>
          <a:p>
            <a:r>
              <a:rPr lang="zh-CN" altLang="en-US" dirty="0" smtClean="0"/>
              <a:t>同质</a:t>
            </a:r>
            <a:r>
              <a:rPr lang="en-US" altLang="zh-CN" dirty="0" smtClean="0"/>
              <a:t>(homogeneous)</a:t>
            </a:r>
            <a:r>
              <a:rPr lang="zh-CN" altLang="en-US" dirty="0" smtClean="0"/>
              <a:t>集成</a:t>
            </a:r>
            <a:endParaRPr lang="en-US" altLang="zh-CN" dirty="0" smtClean="0"/>
          </a:p>
          <a:p>
            <a:r>
              <a:rPr lang="zh-CN" altLang="en-US" dirty="0" smtClean="0"/>
              <a:t>异质</a:t>
            </a:r>
            <a:r>
              <a:rPr lang="en-US" altLang="zh-CN" dirty="0" smtClean="0"/>
              <a:t>(heterogeneous)</a:t>
            </a:r>
            <a:r>
              <a:rPr lang="zh-CN" altLang="en-US" dirty="0" smtClean="0"/>
              <a:t>集成</a:t>
            </a:r>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err="1" smtClean="0">
                <a:solidFill>
                  <a:schemeClr val="tx1"/>
                </a:solidFill>
                <a:effectLst/>
                <a:latin typeface="Arial" panose="020B0604020202020204" pitchFamily="34" charset="0"/>
                <a:ea typeface="宋体" panose="02010600030101010101" pitchFamily="2" charset="-122"/>
                <a:cs typeface="+mn-cs"/>
              </a:rPr>
              <a:t>Hoeffding</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不等式是关于一组随机变量均值的概率不等式。 如果</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X1,X2,⋯,Xn</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为一组独立同分布的参数为</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p</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的伯努利分布随机变量，</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n</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为随机变量的个数。定义这组随机变量的均值为</a:t>
            </a:r>
            <a:endParaRPr lang="en-US" altLang="zh-CN" sz="1200" b="0" i="0" kern="1200" dirty="0" smtClean="0">
              <a:solidFill>
                <a:schemeClr val="tx1"/>
              </a:solidFill>
              <a:effectLst/>
              <a:latin typeface="Arial" panose="020B0604020202020204" pitchFamily="34" charset="0"/>
              <a:ea typeface="宋体" panose="02010600030101010101" pitchFamily="2" charset="-122"/>
              <a:cs typeface="+mn-cs"/>
            </a:endParaRPr>
          </a:p>
          <a:p>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对于任意</a:t>
            </a:r>
            <a:r>
              <a:rPr lang="el-GR" altLang="zh-CN" sz="1200" b="0" i="0" kern="1200" dirty="0" smtClean="0">
                <a:solidFill>
                  <a:schemeClr val="tx1"/>
                </a:solidFill>
                <a:effectLst/>
                <a:latin typeface="Arial" panose="020B0604020202020204" pitchFamily="34" charset="0"/>
                <a:ea typeface="宋体" panose="02010600030101010101" pitchFamily="2" charset="-122"/>
                <a:cs typeface="+mn-cs"/>
              </a:rPr>
              <a:t>δ&gt;0, </a:t>
            </a:r>
            <a:r>
              <a:rPr lang="en-US" altLang="zh-CN" sz="1200" b="0" i="0" kern="1200" dirty="0" err="1" smtClean="0">
                <a:solidFill>
                  <a:schemeClr val="tx1"/>
                </a:solidFill>
                <a:effectLst/>
                <a:latin typeface="Arial" panose="020B0604020202020204" pitchFamily="34" charset="0"/>
                <a:ea typeface="宋体" panose="02010600030101010101" pitchFamily="2" charset="-122"/>
                <a:cs typeface="+mn-cs"/>
              </a:rPr>
              <a:t>Hoeffding</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不等式可以表示为</a:t>
            </a:r>
            <a:endParaRPr lang="en-US" altLang="zh-CN" sz="1200" b="0" i="0" kern="1200" dirty="0" smtClean="0">
              <a:solidFill>
                <a:schemeClr val="tx1"/>
              </a:solidFill>
              <a:effectLst/>
              <a:latin typeface="Arial" panose="020B0604020202020204" pitchFamily="34" charset="0"/>
              <a:ea typeface="宋体" panose="02010600030101010101" pitchFamily="2" charset="-122"/>
              <a:cs typeface="+mn-cs"/>
            </a:endParaRPr>
          </a:p>
          <a:p>
            <a:endParaRPr lang="en-US" altLang="zh-CN" sz="1200" b="0" i="0" kern="1200" dirty="0" smtClean="0">
              <a:solidFill>
                <a:schemeClr val="tx1"/>
              </a:solidFill>
              <a:effectLst/>
              <a:latin typeface="Arial" panose="020B0604020202020204" pitchFamily="34" charset="0"/>
              <a:ea typeface="宋体" panose="02010600030101010101" pitchFamily="2" charset="-122"/>
              <a:cs typeface="+mn-cs"/>
            </a:endParaRPr>
          </a:p>
          <a:p>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T/2</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，是投票法</a:t>
            </a:r>
            <a:endParaRPr lang="en-US" altLang="zh-CN" sz="1200" b="0" i="0" kern="1200" dirty="0" smtClean="0">
              <a:solidFill>
                <a:schemeClr val="tx1"/>
              </a:solidFill>
              <a:effectLst/>
              <a:latin typeface="Arial" panose="020B0604020202020204" pitchFamily="34" charset="0"/>
              <a:ea typeface="宋体" panose="02010600030101010101" pitchFamily="2" charset="-122"/>
              <a:cs typeface="+mn-cs"/>
            </a:endParaRPr>
          </a:p>
          <a:p>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k</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是</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k</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个基分类器是对的</a:t>
            </a:r>
            <a:endParaRPr lang="en-US" altLang="zh-CN" sz="1200" b="0" i="0" kern="1200" dirty="0" smtClean="0">
              <a:solidFill>
                <a:schemeClr val="tx1"/>
              </a:solidFill>
              <a:effectLst/>
              <a:latin typeface="Arial" panose="020B0604020202020204" pitchFamily="34" charset="0"/>
              <a:ea typeface="宋体" panose="02010600030101010101" pitchFamily="2" charset="-122"/>
              <a:cs typeface="+mn-cs"/>
            </a:endParaRPr>
          </a:p>
          <a:p>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K=0</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到</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T/2</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的下整数，集成分类肯定是错的</a:t>
            </a:r>
            <a:endParaRPr lang="en-US" altLang="zh-CN" sz="1200" b="0" i="0" kern="1200" dirty="0" smtClean="0">
              <a:solidFill>
                <a:schemeClr val="tx1"/>
              </a:solidFill>
              <a:effectLst/>
              <a:latin typeface="Arial" panose="020B0604020202020204" pitchFamily="34" charset="0"/>
              <a:ea typeface="宋体" panose="02010600030101010101" pitchFamily="2" charset="-122"/>
              <a:cs typeface="+mn-cs"/>
            </a:endParaRPr>
          </a:p>
          <a:p>
            <a:endParaRPr lang="en-US" altLang="zh-CN" sz="1200" b="0" i="0" kern="1200" dirty="0" smtClean="0">
              <a:solidFill>
                <a:schemeClr val="tx1"/>
              </a:solidFill>
              <a:effectLst/>
              <a:latin typeface="Arial" panose="020B0604020202020204" pitchFamily="34" charset="0"/>
              <a:ea typeface="宋体" panose="02010600030101010101" pitchFamily="2" charset="-122"/>
              <a:cs typeface="+mn-cs"/>
            </a:endParaRPr>
          </a:p>
          <a:p>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贝努利实验</a:t>
            </a:r>
            <a:endParaRPr lang="en-US" altLang="zh-CN" sz="1200" b="0" i="0" kern="1200" dirty="0" smtClean="0">
              <a:solidFill>
                <a:schemeClr val="tx1"/>
              </a:solidFill>
              <a:effectLst/>
              <a:latin typeface="Arial" panose="020B0604020202020204" pitchFamily="34" charset="0"/>
              <a:ea typeface="宋体" panose="02010600030101010101" pitchFamily="2" charset="-122"/>
              <a:cs typeface="+mn-cs"/>
            </a:endParaRPr>
          </a:p>
          <a:p>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对随机实验中某事件是否发生，试验的可能结果只有两个，这种只有两个可能结果的实验称为贝努利试验。</a:t>
            </a:r>
            <a:endParaRPr lang="zh-CN" altLang="en-US" sz="1200" b="0" i="0" kern="1200" dirty="0" smtClean="0">
              <a:solidFill>
                <a:schemeClr val="tx1"/>
              </a:solidFill>
              <a:effectLst/>
              <a:latin typeface="Arial" panose="020B0604020202020204" pitchFamily="34" charset="0"/>
              <a:ea typeface="宋体" panose="02010600030101010101" pitchFamily="2" charset="-122"/>
              <a:cs typeface="+mn-cs"/>
            </a:endParaRPr>
          </a:p>
          <a:p>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重复进行</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n</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次独立的贝努利试验，这里“重复”的意思是指各次试验的条件是相同的，它意味着各次试验中事件发生的概率保持不变，“独立”的意思是指是指各次试验的结果是相互独立的，这种试验所对应的数学模型成为贝努利概型。有时为了突出实验次数</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n</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，也称为</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n</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重贝努利试验。</a:t>
            </a:r>
            <a:endParaRPr lang="zh-CN" altLang="en-US" sz="1200" b="0" i="0" kern="1200" dirty="0" smtClean="0">
              <a:solidFill>
                <a:schemeClr val="tx1"/>
              </a:solidFill>
              <a:effectLst/>
              <a:latin typeface="Arial" panose="020B0604020202020204" pitchFamily="34" charset="0"/>
              <a:ea typeface="宋体" panose="02010600030101010101" pitchFamily="2" charset="-122"/>
              <a:cs typeface="+mn-cs"/>
            </a:endParaRPr>
          </a:p>
          <a:p>
            <a:endParaRPr lang="en-US" altLang="zh-CN" sz="1200" b="0" i="0" kern="1200" dirty="0" smtClean="0">
              <a:solidFill>
                <a:schemeClr val="tx1"/>
              </a:solidFill>
              <a:effectLst/>
              <a:latin typeface="Arial" panose="020B0604020202020204" pitchFamily="34" charset="0"/>
              <a:ea typeface="宋体" panose="02010600030101010101" pitchFamily="2" charset="-122"/>
              <a:cs typeface="+mn-cs"/>
            </a:endParaRPr>
          </a:p>
          <a:p>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smtClean="0">
                <a:latin typeface="+mn-ea"/>
              </a:rPr>
              <a:t>较易理解的是加性模型</a:t>
            </a:r>
            <a:r>
              <a:rPr lang="en-US" altLang="zh-CN" dirty="0" smtClean="0">
                <a:latin typeface="+mn-ea"/>
              </a:rPr>
              <a:t>(</a:t>
            </a:r>
            <a:r>
              <a:rPr lang="zh-CN" altLang="en-US" dirty="0" smtClean="0">
                <a:latin typeface="+mn-ea"/>
              </a:rPr>
              <a:t>基学习器的线性组合</a:t>
            </a:r>
            <a:r>
              <a:rPr lang="en-US" altLang="zh-CN" dirty="0" smtClean="0">
                <a:latin typeface="+mn-ea"/>
              </a:rPr>
              <a:t>)</a:t>
            </a:r>
            <a:endParaRPr lang="en-US" altLang="zh-CN" dirty="0" smtClean="0">
              <a:latin typeface="+mn-ea"/>
            </a:endParaRPr>
          </a:p>
          <a:p>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加分母项为了归一化</a:t>
            </a:r>
            <a:endParaRPr lang="en-US" altLang="zh-CN" dirty="0" smtClean="0"/>
          </a:p>
          <a:p>
            <a:endParaRPr lang="en-US" altLang="zh-CN" dirty="0" smtClean="0"/>
          </a:p>
          <a:p>
            <a:r>
              <a:rPr lang="zh-CN" altLang="en-US" dirty="0" smtClean="0"/>
              <a:t>二分类，</a:t>
            </a:r>
            <a:r>
              <a:rPr lang="en-US" altLang="zh-CN" dirty="0" smtClean="0"/>
              <a:t>-1</a:t>
            </a:r>
            <a:r>
              <a:rPr lang="zh-CN" altLang="en-US" dirty="0" smtClean="0"/>
              <a:t>和</a:t>
            </a:r>
            <a:r>
              <a:rPr lang="en-US" altLang="zh-CN" dirty="0" smtClean="0"/>
              <a:t>+1</a:t>
            </a:r>
            <a:endParaRPr lang="en-US" altLang="zh-CN" dirty="0" smtClean="0"/>
          </a:p>
          <a:p>
            <a:endParaRPr lang="en-US" altLang="zh-CN" dirty="0" smtClean="0"/>
          </a:p>
          <a:p>
            <a:r>
              <a:rPr lang="zh-CN" altLang="en-US" dirty="0" smtClean="0"/>
              <a:t>指示函数</a:t>
            </a:r>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b="1" dirty="0" smtClean="0"/>
              <a:t>可获得重启动机会以避免训练过程过早停止，即在抛弃不满足条件的当前基学习器之后，可根据当前分布重新对训练样本进行采样，再基于新的采样结果重新训练出基学习器，从而使得学习过程可以持续到预设的</a:t>
            </a:r>
            <a:r>
              <a:rPr lang="en-US" altLang="zh-CN" b="1" dirty="0" smtClean="0"/>
              <a:t>T</a:t>
            </a:r>
            <a:r>
              <a:rPr lang="zh-CN" altLang="en-US" b="1" dirty="0" smtClean="0"/>
              <a:t>轮完成</a:t>
            </a:r>
            <a:r>
              <a:rPr lang="en-US" altLang="zh-CN" b="1" dirty="0" smtClean="0"/>
              <a:t>.</a:t>
            </a:r>
            <a:endParaRPr lang="en-US" altLang="zh-CN" b="1" dirty="0" smtClean="0"/>
          </a:p>
          <a:p>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i="0" kern="1200" dirty="0" smtClean="0">
                <a:solidFill>
                  <a:schemeClr val="tx1"/>
                </a:solidFill>
                <a:effectLst/>
                <a:latin typeface="Arial" panose="020B0604020202020204" pitchFamily="34" charset="0"/>
                <a:ea typeface="宋体" panose="02010600030101010101" pitchFamily="2" charset="-122"/>
                <a:cs typeface="+mn-cs"/>
              </a:rPr>
              <a:t>偏差：</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描述的是预测值（估计值）的期望与真实值之间的差距。偏差越大，越偏离真实数据，如下图第二行所示。</a:t>
            </a:r>
            <a:endParaRPr lang="zh-CN" altLang="en-US" sz="1200" b="0" i="0" kern="1200" dirty="0" smtClean="0">
              <a:solidFill>
                <a:schemeClr val="tx1"/>
              </a:solidFill>
              <a:effectLst/>
              <a:latin typeface="Arial" panose="020B0604020202020204" pitchFamily="34" charset="0"/>
              <a:ea typeface="宋体" panose="02010600030101010101" pitchFamily="2" charset="-122"/>
              <a:cs typeface="+mn-cs"/>
            </a:endParaRPr>
          </a:p>
          <a:p>
            <a:r>
              <a:rPr lang="zh-CN" altLang="en-US" sz="1200" b="1" i="0" kern="1200" dirty="0" smtClean="0">
                <a:solidFill>
                  <a:schemeClr val="tx1"/>
                </a:solidFill>
                <a:effectLst/>
                <a:latin typeface="Arial" panose="020B0604020202020204" pitchFamily="34" charset="0"/>
                <a:ea typeface="宋体" panose="02010600030101010101" pitchFamily="2" charset="-122"/>
                <a:cs typeface="+mn-cs"/>
              </a:rPr>
              <a:t>方差：</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描述的是预测值的变化范围，离散程度，也就是离其期望值的距离。方差越大，数据的分布越分散，如下图右列所示。</a:t>
            </a:r>
            <a:endParaRPr lang="en-US" altLang="zh-CN" sz="1200" b="0" i="0" kern="1200" dirty="0" smtClean="0">
              <a:solidFill>
                <a:schemeClr val="tx1"/>
              </a:solidFill>
              <a:effectLst/>
              <a:latin typeface="Arial" panose="020B0604020202020204" pitchFamily="34" charset="0"/>
              <a:ea typeface="宋体" panose="02010600030101010101" pitchFamily="2" charset="-122"/>
              <a:cs typeface="+mn-cs"/>
            </a:endParaRPr>
          </a:p>
          <a:p>
            <a:endParaRPr lang="en-US" altLang="zh-CN" sz="1200" b="0" i="0" kern="1200" dirty="0" smtClean="0">
              <a:solidFill>
                <a:schemeClr val="tx1"/>
              </a:solidFill>
              <a:effectLst/>
              <a:latin typeface="Arial" panose="020B0604020202020204" pitchFamily="34" charset="0"/>
              <a:ea typeface="宋体" panose="02010600030101010101" pitchFamily="2" charset="-122"/>
              <a:cs typeface="+mn-cs"/>
            </a:endParaRPr>
          </a:p>
          <a:p>
            <a:r>
              <a:rPr lang="zh-CN" altLang="en-US" dirty="0" smtClean="0"/>
              <a:t>方差，是形容数据分散程度的，算是“无监督的”，客观的指标，偏差，形容数据跟我们期望的中心差得有多远，算是“有监督的”，有人的知识参与的指标。</a:t>
            </a:r>
            <a:endParaRPr lang="zh-CN" altLang="en-US" sz="1200" b="0" i="0" kern="1200" dirty="0" smtClean="0">
              <a:solidFill>
                <a:schemeClr val="tx1"/>
              </a:solidFill>
              <a:effectLst/>
              <a:latin typeface="Arial" panose="020B0604020202020204" pitchFamily="34" charset="0"/>
              <a:ea typeface="宋体" panose="02010600030101010101" pitchFamily="2" charset="-122"/>
              <a:cs typeface="+mn-cs"/>
            </a:endParaRPr>
          </a:p>
          <a:p>
            <a:endParaRPr lang="en-US" altLang="zh-CN" dirty="0" smtClean="0"/>
          </a:p>
          <a:p>
            <a:r>
              <a:rPr lang="zh-CN" altLang="en-US" dirty="0" smtClean="0"/>
              <a:t>决策树桩（线性分类）</a:t>
            </a:r>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标准</a:t>
            </a:r>
            <a:r>
              <a:rPr lang="en-US" altLang="zh-CN" dirty="0" err="1" smtClean="0"/>
              <a:t>AdaBoost</a:t>
            </a:r>
            <a:r>
              <a:rPr lang="zh-CN" altLang="en-US" dirty="0" smtClean="0"/>
              <a:t>只适用于二分类任务不同</a:t>
            </a:r>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标准</a:t>
            </a:r>
            <a:r>
              <a:rPr lang="en-US" altLang="zh-CN" dirty="0" err="1" smtClean="0"/>
              <a:t>AdaBoost</a:t>
            </a:r>
            <a:r>
              <a:rPr lang="zh-CN" altLang="en-US" smtClean="0"/>
              <a:t>只适用于二分类任务不同</a:t>
            </a:r>
            <a:endParaRPr lang="zh-CN" altLang="en-US"/>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随机森林</a:t>
            </a:r>
            <a:r>
              <a:rPr lang="en-US" altLang="zh-CN" dirty="0" smtClean="0"/>
              <a:t>(Random Forest</a:t>
            </a:r>
            <a:r>
              <a:rPr lang="zh-CN" altLang="en-US" dirty="0" smtClean="0"/>
              <a:t>，简称</a:t>
            </a:r>
            <a:r>
              <a:rPr lang="en-US" altLang="zh-CN" dirty="0" smtClean="0"/>
              <a:t>RF)</a:t>
            </a:r>
            <a:endParaRPr lang="en-US" altLang="zh-CN" dirty="0" smtClean="0"/>
          </a:p>
          <a:p>
            <a:endParaRPr lang="en-US" altLang="zh-CN" dirty="0" smtClean="0"/>
          </a:p>
          <a:p>
            <a:r>
              <a:rPr lang="zh-CN" altLang="en-US" dirty="0" smtClean="0">
                <a:latin typeface="+mn-ea"/>
              </a:rPr>
              <a:t>传统决策树在选择划分属性时是在当前结点的属性集合</a:t>
            </a:r>
            <a:r>
              <a:rPr lang="en-US" altLang="zh-CN" dirty="0" smtClean="0">
                <a:latin typeface="+mn-ea"/>
              </a:rPr>
              <a:t>(</a:t>
            </a:r>
            <a:r>
              <a:rPr lang="zh-CN" altLang="en-US" dirty="0" smtClean="0">
                <a:latin typeface="+mn-ea"/>
              </a:rPr>
              <a:t>假定有</a:t>
            </a:r>
            <a:r>
              <a:rPr lang="en-US" altLang="zh-CN" dirty="0" smtClean="0">
                <a:latin typeface="+mn-ea"/>
              </a:rPr>
              <a:t>d</a:t>
            </a:r>
            <a:r>
              <a:rPr lang="zh-CN" altLang="en-US" dirty="0" smtClean="0">
                <a:latin typeface="+mn-ea"/>
              </a:rPr>
              <a:t>个属性</a:t>
            </a:r>
            <a:r>
              <a:rPr lang="en-US" altLang="zh-CN" dirty="0" smtClean="0">
                <a:latin typeface="+mn-ea"/>
              </a:rPr>
              <a:t>)</a:t>
            </a:r>
            <a:r>
              <a:rPr lang="zh-CN" altLang="en-US" dirty="0" smtClean="0">
                <a:latin typeface="+mn-ea"/>
              </a:rPr>
              <a:t>中选择一个最优属性</a:t>
            </a:r>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学习器结合可能会从三个方面带来好处</a:t>
            </a:r>
            <a:endParaRPr lang="en-US" altLang="zh-CN" dirty="0" smtClean="0"/>
          </a:p>
          <a:p>
            <a:endParaRPr lang="en-US" altLang="zh-CN" dirty="0" smtClean="0"/>
          </a:p>
          <a:p>
            <a:pPr lvl="0"/>
            <a:r>
              <a:rPr lang="zh-CN" altLang="en-US" dirty="0" smtClean="0"/>
              <a:t>从统计看，学习任务的假设空间很大，可能有多个假设在训练集上达到同等性能，此时若使用单学习器可能因误选而导致泛化性能不佳，结合多个学习器则会减小这一风险</a:t>
            </a:r>
            <a:endParaRPr lang="en-US" altLang="zh-CN" dirty="0" smtClean="0"/>
          </a:p>
          <a:p>
            <a:pPr lvl="0"/>
            <a:endParaRPr lang="en-US" altLang="zh-CN" dirty="0" smtClean="0"/>
          </a:p>
          <a:p>
            <a:pPr lvl="0"/>
            <a:r>
              <a:rPr lang="zh-CN" altLang="en-US" dirty="0" smtClean="0"/>
              <a:t>从计算的方面来看，学习算法往往会陷入局部极小，有的局部极小点所对应的泛化性能可能很糟糕，而通过多次运行之后进行结合，可降低陷入糟糕局部极小点的风险</a:t>
            </a:r>
            <a:endParaRPr lang="en-US" altLang="zh-CN" dirty="0" smtClean="0"/>
          </a:p>
          <a:p>
            <a:pPr lvl="0"/>
            <a:endParaRPr lang="en-US" altLang="zh-CN" dirty="0" smtClean="0"/>
          </a:p>
          <a:p>
            <a:pPr lvl="0"/>
            <a:r>
              <a:rPr lang="zh-CN" altLang="en-US" dirty="0" smtClean="0"/>
              <a:t>从表示的方面来看，某些学习任务的真实假设可能不在当前学习算法所考虑的假设空间中，此时若使用单学习器则肯定无效，而通过结合多个学习器，由于相应的假设空间有所扩大，有可能学得更好的近似</a:t>
            </a:r>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A</a:t>
            </a:r>
            <a:r>
              <a:rPr lang="zh-CN" altLang="en-US" dirty="0" smtClean="0"/>
              <a:t>分歧是个体与集成的不同</a:t>
            </a:r>
            <a:endParaRPr lang="en-US" altLang="zh-CN" dirty="0" smtClean="0"/>
          </a:p>
          <a:p>
            <a:r>
              <a:rPr lang="en-US" altLang="zh-CN" dirty="0" smtClean="0"/>
              <a:t>E</a:t>
            </a:r>
            <a:r>
              <a:rPr lang="zh-CN" altLang="en-US" dirty="0" smtClean="0"/>
              <a:t>平方误差是自身输出与真实的不同</a:t>
            </a:r>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en-US" altLang="zh-CN" dirty="0" smtClean="0"/>
              <a:t>-E</a:t>
            </a:r>
            <a:r>
              <a:rPr lang="zh-CN" altLang="en-US" dirty="0" smtClean="0"/>
              <a:t>个体学习器泛化误差加权值，</a:t>
            </a:r>
            <a:r>
              <a:rPr lang="en-US" altLang="zh-CN" dirty="0" smtClean="0"/>
              <a:t>-A</a:t>
            </a:r>
            <a:r>
              <a:rPr lang="zh-CN" altLang="en-US" dirty="0" smtClean="0"/>
              <a:t>集成的分歧</a:t>
            </a:r>
            <a:endParaRPr lang="en-US" altLang="zh-CN" dirty="0" smtClean="0"/>
          </a:p>
          <a:p>
            <a:pPr marL="0" marR="0" lvl="0" indent="0" algn="l" defTabSz="914400" rtl="0" eaLnBrk="0" fontAlgn="base" latinLnBrk="0" hangingPunct="0">
              <a:lnSpc>
                <a:spcPct val="100000"/>
              </a:lnSpc>
              <a:spcBef>
                <a:spcPct val="30000"/>
              </a:spcBef>
              <a:spcAft>
                <a:spcPct val="0"/>
              </a:spcAft>
              <a:buClrTx/>
              <a:buSzTx/>
              <a:buFontTx/>
              <a:buNone/>
              <a:defRPr/>
            </a:pPr>
            <a:r>
              <a:rPr lang="en-US" altLang="zh-CN" dirty="0" smtClean="0"/>
              <a:t>E</a:t>
            </a:r>
            <a:r>
              <a:rPr lang="zh-CN" altLang="en-US" dirty="0" smtClean="0"/>
              <a:t>集成</a:t>
            </a:r>
            <a:r>
              <a:rPr lang="en-US" altLang="zh-CN" dirty="0" smtClean="0"/>
              <a:t>H</a:t>
            </a:r>
            <a:r>
              <a:rPr lang="zh-CN" altLang="en-US" dirty="0" smtClean="0"/>
              <a:t>平方误差</a:t>
            </a:r>
            <a:endParaRPr lang="en-US" altLang="zh-CN" dirty="0" smtClean="0"/>
          </a:p>
          <a:p>
            <a:pPr marL="0" marR="0" lvl="0" indent="0" algn="l" defTabSz="914400" rtl="0" eaLnBrk="0" fontAlgn="base" latinLnBrk="0" hangingPunct="0">
              <a:lnSpc>
                <a:spcPct val="100000"/>
              </a:lnSpc>
              <a:spcBef>
                <a:spcPct val="30000"/>
              </a:spcBef>
              <a:spcAft>
                <a:spcPct val="0"/>
              </a:spcAft>
              <a:buClrTx/>
              <a:buSzTx/>
              <a:buFontTx/>
              <a:buNone/>
              <a:defRPr/>
            </a:pPr>
            <a:endParaRPr lang="en-US" altLang="zh-CN" dirty="0" smtClean="0"/>
          </a:p>
          <a:p>
            <a:r>
              <a:rPr lang="en-US" altLang="zh-CN" dirty="0" smtClean="0"/>
              <a:t>A</a:t>
            </a:r>
            <a:r>
              <a:rPr lang="zh-CN" altLang="en-US" dirty="0" smtClean="0"/>
              <a:t>分歧是个体与集成的不同</a:t>
            </a:r>
            <a:endParaRPr lang="en-US" altLang="zh-CN" dirty="0" smtClean="0"/>
          </a:p>
          <a:p>
            <a:r>
              <a:rPr lang="en-US" altLang="zh-CN" dirty="0" smtClean="0"/>
              <a:t>E</a:t>
            </a:r>
            <a:r>
              <a:rPr lang="zh-CN" altLang="en-US" dirty="0" smtClean="0"/>
              <a:t>平方误差是自身输出与真实的不同</a:t>
            </a:r>
            <a:endParaRPr lang="zh-CN" altLang="en-US" dirty="0" smtClean="0"/>
          </a:p>
          <a:p>
            <a:pPr marL="0" marR="0" lvl="0" indent="0" algn="l" defTabSz="914400" rtl="0" eaLnBrk="0" fontAlgn="base" latinLnBrk="0" hangingPunct="0">
              <a:lnSpc>
                <a:spcPct val="100000"/>
              </a:lnSpc>
              <a:spcBef>
                <a:spcPct val="30000"/>
              </a:spcBef>
              <a:spcAft>
                <a:spcPct val="0"/>
              </a:spcAft>
              <a:buClrTx/>
              <a:buSzTx/>
              <a:buFontTx/>
              <a:buNone/>
              <a:defRPr/>
            </a:pPr>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下面介绍一些度量方法</a:t>
            </a:r>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不合度量 </a:t>
            </a:r>
            <a:r>
              <a:rPr lang="en-US" altLang="zh-CN" dirty="0" smtClean="0"/>
              <a:t>(disagreement measure)</a:t>
            </a:r>
            <a:endParaRPr lang="en-US" altLang="zh-CN" dirty="0" smtClean="0"/>
          </a:p>
          <a:p>
            <a:r>
              <a:rPr lang="zh-CN" altLang="en-US" dirty="0" smtClean="0"/>
              <a:t>相关系数 </a:t>
            </a:r>
            <a:r>
              <a:rPr lang="en-US" altLang="zh-CN" dirty="0" smtClean="0"/>
              <a:t>(correlation coefficient)</a:t>
            </a:r>
            <a:endParaRPr lang="en-US" altLang="zh-CN" dirty="0" smtClean="0"/>
          </a:p>
          <a:p>
            <a:r>
              <a:rPr lang="en-US" altLang="zh-CN" dirty="0" smtClean="0"/>
              <a:t>Q-</a:t>
            </a:r>
            <a:r>
              <a:rPr lang="zh-CN" altLang="en-US" dirty="0" smtClean="0"/>
              <a:t>统计量 </a:t>
            </a:r>
            <a:r>
              <a:rPr lang="en-US" altLang="zh-CN" dirty="0" smtClean="0"/>
              <a:t>(Q-statistic)</a:t>
            </a:r>
            <a:endParaRPr lang="en-US" altLang="zh-CN" dirty="0" smtClean="0"/>
          </a:p>
          <a:p>
            <a:r>
              <a:rPr lang="el-GR" altLang="zh-CN" dirty="0" smtClean="0"/>
              <a:t>κ-</a:t>
            </a:r>
            <a:r>
              <a:rPr lang="zh-CN" altLang="en-US" dirty="0" smtClean="0"/>
              <a:t>统计量（</a:t>
            </a:r>
            <a:r>
              <a:rPr lang="el-GR" altLang="zh-CN" dirty="0" smtClean="0"/>
              <a:t>κ-</a:t>
            </a:r>
            <a:r>
              <a:rPr lang="en-US" altLang="zh-CN" dirty="0" smtClean="0"/>
              <a:t>statistic</a:t>
            </a:r>
            <a:r>
              <a:rPr lang="zh-CN" altLang="en-US" dirty="0" smtClean="0"/>
              <a:t>）</a:t>
            </a:r>
            <a:endParaRPr lang="zh-CN" altLang="en-US" dirty="0" smtClean="0"/>
          </a:p>
          <a:p>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grpSp>
        <p:nvGrpSpPr>
          <p:cNvPr id="2050" name="Group 2"/>
          <p:cNvGrpSpPr/>
          <p:nvPr/>
        </p:nvGrpSpPr>
        <p:grpSpPr bwMode="auto">
          <a:xfrm>
            <a:off x="0" y="2438401"/>
            <a:ext cx="9009185" cy="1052513"/>
            <a:chOff x="0" y="0"/>
            <a:chExt cx="5675" cy="663"/>
          </a:xfrm>
        </p:grpSpPr>
        <p:grpSp>
          <p:nvGrpSpPr>
            <p:cNvPr id="2051" name="Group 3"/>
            <p:cNvGrpSpPr/>
            <p:nvPr/>
          </p:nvGrpSpPr>
          <p:grpSpPr bwMode="auto">
            <a:xfrm>
              <a:off x="183" y="68"/>
              <a:ext cx="448" cy="299"/>
              <a:chOff x="0" y="0"/>
              <a:chExt cx="624" cy="432"/>
            </a:xfrm>
          </p:grpSpPr>
          <p:sp>
            <p:nvSpPr>
              <p:cNvPr id="2052" name="Rectangle 4"/>
              <p:cNvSpPr>
                <a:spLocks noChangeArrowheads="1"/>
              </p:cNvSpPr>
              <p:nvPr/>
            </p:nvSpPr>
            <p:spPr bwMode="auto">
              <a:xfrm>
                <a:off x="0" y="0"/>
                <a:ext cx="384" cy="432"/>
              </a:xfrm>
              <a:prstGeom prst="rect">
                <a:avLst/>
              </a:prstGeom>
              <a:solidFill>
                <a:schemeClr val="folHlink"/>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3" name="Rectangle 5"/>
              <p:cNvSpPr>
                <a:spLocks noChangeArrowheads="1"/>
              </p:cNvSpPr>
              <p:nvPr/>
            </p:nvSpPr>
            <p:spPr bwMode="auto">
              <a:xfrm>
                <a:off x="336" y="0"/>
                <a:ext cx="288" cy="432"/>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054" name="Group 6"/>
            <p:cNvGrpSpPr/>
            <p:nvPr/>
          </p:nvGrpSpPr>
          <p:grpSpPr bwMode="auto">
            <a:xfrm>
              <a:off x="261" y="334"/>
              <a:ext cx="465" cy="299"/>
              <a:chOff x="0" y="0"/>
              <a:chExt cx="672" cy="432"/>
            </a:xfrm>
          </p:grpSpPr>
          <p:sp>
            <p:nvSpPr>
              <p:cNvPr id="2055" name="Rectangle 7"/>
              <p:cNvSpPr>
                <a:spLocks noChangeArrowheads="1"/>
              </p:cNvSpPr>
              <p:nvPr/>
            </p:nvSpPr>
            <p:spPr bwMode="auto">
              <a:xfrm>
                <a:off x="0" y="0"/>
                <a:ext cx="384" cy="432"/>
              </a:xfrm>
              <a:prstGeom prst="rect">
                <a:avLst/>
              </a:prstGeom>
              <a:solidFill>
                <a:schemeClr val="accent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6" name="Rectangle 8"/>
              <p:cNvSpPr>
                <a:spLocks noChangeArrowheads="1"/>
              </p:cNvSpPr>
              <p:nvPr/>
            </p:nvSpPr>
            <p:spPr bwMode="auto">
              <a:xfrm>
                <a:off x="336" y="0"/>
                <a:ext cx="336" cy="43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057" name="Rectangle 9"/>
            <p:cNvSpPr>
              <a:spLocks noChangeArrowheads="1"/>
            </p:cNvSpPr>
            <p:nvPr/>
          </p:nvSpPr>
          <p:spPr bwMode="auto">
            <a:xfrm>
              <a:off x="0" y="288"/>
              <a:ext cx="353" cy="266"/>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8" name="Rectangle 10"/>
            <p:cNvSpPr>
              <a:spLocks noChangeArrowheads="1"/>
            </p:cNvSpPr>
            <p:nvPr/>
          </p:nvSpPr>
          <p:spPr bwMode="auto">
            <a:xfrm>
              <a:off x="400" y="0"/>
              <a:ext cx="20" cy="663"/>
            </a:xfrm>
            <a:prstGeom prst="rect">
              <a:avLst/>
            </a:prstGeom>
            <a:solidFill>
              <a:schemeClr val="bg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9" name="Rectangle 11"/>
            <p:cNvSpPr>
              <a:spLocks noChangeArrowheads="1"/>
            </p:cNvSpPr>
            <p:nvPr/>
          </p:nvSpPr>
          <p:spPr bwMode="auto">
            <a:xfrm flipV="1">
              <a:off x="199" y="518"/>
              <a:ext cx="5476" cy="35"/>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060" name="Rectangle 12"/>
          <p:cNvSpPr>
            <a:spLocks noGrp="1" noChangeArrowheads="1"/>
          </p:cNvSpPr>
          <p:nvPr>
            <p:ph type="ctrTitle"/>
          </p:nvPr>
        </p:nvSpPr>
        <p:spPr>
          <a:xfrm>
            <a:off x="990600" y="1828800"/>
            <a:ext cx="7772400" cy="1143000"/>
          </a:xfrm>
        </p:spPr>
        <p:txBody>
          <a:bodyPr/>
          <a:lstStyle>
            <a:lvl1pPr>
              <a:defRPr/>
            </a:lvl1pPr>
          </a:lstStyle>
          <a:p>
            <a:pPr lvl="0"/>
            <a:r>
              <a:rPr lang="zh-CN" altLang="en-US" noProof="0" smtClean="0"/>
              <a:t>单击此处编辑母版标题样式</a:t>
            </a:r>
            <a:endParaRPr lang="zh-CN" noProof="0" smtClean="0"/>
          </a:p>
        </p:txBody>
      </p:sp>
      <p:sp>
        <p:nvSpPr>
          <p:cNvPr id="2061" name="Rectangle 1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pPr lvl="0"/>
            <a:r>
              <a:rPr lang="zh-CN" altLang="en-US" noProof="0" smtClean="0"/>
              <a:t>单击此处编辑母版副标题样式</a:t>
            </a:r>
            <a:endParaRPr lang="zh-CN" noProof="0" smtClean="0"/>
          </a:p>
        </p:txBody>
      </p:sp>
      <p:sp>
        <p:nvSpPr>
          <p:cNvPr id="2062" name="Rectangle 14"/>
          <p:cNvSpPr>
            <a:spLocks noGrp="1" noChangeArrowheads="1"/>
          </p:cNvSpPr>
          <p:nvPr>
            <p:ph type="dt" sz="half" idx="2"/>
          </p:nvPr>
        </p:nvSpPr>
        <p:spPr>
          <a:xfrm>
            <a:off x="990600" y="6248400"/>
            <a:ext cx="1905000" cy="457200"/>
          </a:xfrm>
        </p:spPr>
        <p:txBody>
          <a:bodyPr/>
          <a:lstStyle>
            <a:lvl1pPr>
              <a:defRPr>
                <a:solidFill>
                  <a:schemeClr val="bg2"/>
                </a:solidFill>
              </a:defRPr>
            </a:lvl1pPr>
          </a:lstStyle>
          <a:p>
            <a:pPr>
              <a:defRPr/>
            </a:pPr>
            <a:endParaRPr lang="en-US" altLang="zh-CN"/>
          </a:p>
        </p:txBody>
      </p:sp>
      <p:sp>
        <p:nvSpPr>
          <p:cNvPr id="2063" name="Rectangle 15"/>
          <p:cNvSpPr>
            <a:spLocks noGrp="1" noChangeArrowheads="1"/>
          </p:cNvSpPr>
          <p:nvPr>
            <p:ph type="ftr" sz="quarter" idx="3"/>
          </p:nvPr>
        </p:nvSpPr>
        <p:spPr>
          <a:xfrm>
            <a:off x="3429000" y="6248400"/>
            <a:ext cx="2895600" cy="457200"/>
          </a:xfrm>
        </p:spPr>
        <p:txBody>
          <a:bodyPr/>
          <a:lstStyle>
            <a:lvl1pPr>
              <a:defRPr>
                <a:solidFill>
                  <a:schemeClr val="bg2"/>
                </a:solidFill>
              </a:defRPr>
            </a:lvl1pPr>
          </a:lstStyle>
          <a:p>
            <a:pPr>
              <a:defRPr/>
            </a:pPr>
            <a:endParaRPr lang="en-US" altLang="zh-CN"/>
          </a:p>
        </p:txBody>
      </p:sp>
      <p:sp>
        <p:nvSpPr>
          <p:cNvPr id="2064" name="Rectangle 16"/>
          <p:cNvSpPr>
            <a:spLocks noGrp="1" noChangeArrowheads="1"/>
          </p:cNvSpPr>
          <p:nvPr>
            <p:ph type="sldNum" sz="quarter" idx="4"/>
          </p:nvPr>
        </p:nvSpPr>
        <p:spPr>
          <a:xfrm>
            <a:off x="6858000" y="6248400"/>
            <a:ext cx="1905000" cy="457200"/>
          </a:xfrm>
        </p:spPr>
        <p:txBody>
          <a:bodyPr/>
          <a:lstStyle>
            <a:lvl1pPr>
              <a:defRPr>
                <a:solidFill>
                  <a:schemeClr val="bg2"/>
                </a:solidFill>
              </a:defRPr>
            </a:lvl1pPr>
          </a:lstStyle>
          <a:p>
            <a:pPr>
              <a:defRPr/>
            </a:pPr>
            <a:fld id="{6D5A3878-68F3-45F5-8CE5-B10A948053B1}" type="slidenum">
              <a:rPr lang="en-US" altLang="zh-CN" smtClean="0"/>
            </a:fld>
            <a:endParaRPr lang="en-US" altLang="zh-CN"/>
          </a:p>
        </p:txBody>
      </p:sp>
    </p:spTree>
  </p:cSld>
  <p:clrMapOvr>
    <a:masterClrMapping/>
  </p:clrMapOvr>
  <p:transition>
    <p:cover dir="u"/>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lvl1pPr algn="just">
              <a:defRPr/>
            </a:lvl1pPr>
            <a:lvl2pPr algn="just">
              <a:defRPr/>
            </a:lvl2pPr>
            <a:lvl3pPr algn="just">
              <a:defRPr/>
            </a:lvl3pPr>
            <a:lvl4pPr algn="just">
              <a:defRPr/>
            </a:lvl4pPr>
            <a:lvl5pPr algn="just">
              <a:defRPr/>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dirty="0"/>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8FCE9F0A-462E-4C69-95AA-11A5CD682488}" type="slidenum">
              <a:rPr lang="en-US" altLang="zh-CN" smtClean="0"/>
            </a:fld>
            <a:endParaRPr lang="en-US" altLang="zh-CN"/>
          </a:p>
        </p:txBody>
      </p:sp>
    </p:spTree>
  </p:cSld>
  <p:clrMapOvr>
    <a:masterClrMapping/>
  </p:clrMapOvr>
  <p:transition>
    <p:cover dir="u"/>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435" y="3651101"/>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435" y="21509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AD7FCA52-35BE-435D-97C2-A408D337DE8B}" type="slidenum">
              <a:rPr lang="en-US" altLang="zh-CN" smtClean="0"/>
            </a:fld>
            <a:endParaRPr lang="en-US" altLang="zh-CN"/>
          </a:p>
        </p:txBody>
      </p:sp>
    </p:spTree>
  </p:cSld>
  <p:clrMapOvr>
    <a:masterClrMapping/>
  </p:clrMapOvr>
  <p:transition>
    <p:cover dir="u"/>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83568" y="970384"/>
            <a:ext cx="3815862"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0106" y="970384"/>
            <a:ext cx="3815862"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pPr>
              <a:defRPr/>
            </a:pPr>
            <a:endParaRPr lang="en-US" altLang="zh-CN"/>
          </a:p>
        </p:txBody>
      </p:sp>
      <p:sp>
        <p:nvSpPr>
          <p:cNvPr id="6" name="页脚占位符 5"/>
          <p:cNvSpPr>
            <a:spLocks noGrp="1"/>
          </p:cNvSpPr>
          <p:nvPr>
            <p:ph type="ftr" sz="quarter" idx="11"/>
          </p:nvPr>
        </p:nvSpPr>
        <p:spPr/>
        <p:txBody>
          <a:bodyPr/>
          <a:lstStyle>
            <a:lvl1pPr>
              <a:defRPr/>
            </a:lvl1pPr>
          </a:lstStyle>
          <a:p>
            <a:pPr>
              <a:defRPr/>
            </a:pPr>
            <a:endParaRPr lang="en-US" altLang="zh-CN"/>
          </a:p>
        </p:txBody>
      </p:sp>
      <p:sp>
        <p:nvSpPr>
          <p:cNvPr id="7" name="灯片编号占位符 6"/>
          <p:cNvSpPr>
            <a:spLocks noGrp="1"/>
          </p:cNvSpPr>
          <p:nvPr>
            <p:ph type="sldNum" sz="quarter" idx="12"/>
          </p:nvPr>
        </p:nvSpPr>
        <p:spPr/>
        <p:txBody>
          <a:bodyPr/>
          <a:lstStyle>
            <a:lvl1pPr>
              <a:defRPr/>
            </a:lvl1pPr>
          </a:lstStyle>
          <a:p>
            <a:pPr>
              <a:defRPr/>
            </a:pPr>
            <a:fld id="{4FDE62D2-D264-4337-A19B-38BEDDBEBCE1}" type="slidenum">
              <a:rPr lang="en-US" altLang="zh-CN" smtClean="0"/>
            </a:fld>
            <a:endParaRPr lang="en-US" altLang="zh-CN"/>
          </a:p>
        </p:txBody>
      </p:sp>
    </p:spTree>
  </p:cSld>
  <p:clrMapOvr>
    <a:masterClrMapping/>
  </p:clrMapOvr>
  <p:transition>
    <p:cover dir="u"/>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066"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066"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270" y="1535113"/>
            <a:ext cx="4041531"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270" y="2174875"/>
            <a:ext cx="4041531"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pPr>
              <a:defRPr/>
            </a:pPr>
            <a:endParaRPr lang="en-US" altLang="zh-CN"/>
          </a:p>
        </p:txBody>
      </p:sp>
      <p:sp>
        <p:nvSpPr>
          <p:cNvPr id="8" name="页脚占位符 7"/>
          <p:cNvSpPr>
            <a:spLocks noGrp="1"/>
          </p:cNvSpPr>
          <p:nvPr>
            <p:ph type="ftr" sz="quarter" idx="11"/>
          </p:nvPr>
        </p:nvSpPr>
        <p:spPr/>
        <p:txBody>
          <a:bodyPr/>
          <a:lstStyle>
            <a:lvl1pPr>
              <a:defRPr/>
            </a:lvl1pPr>
          </a:lstStyle>
          <a:p>
            <a:pPr>
              <a:defRPr/>
            </a:pPr>
            <a:endParaRPr lang="en-US" altLang="zh-CN"/>
          </a:p>
        </p:txBody>
      </p:sp>
      <p:sp>
        <p:nvSpPr>
          <p:cNvPr id="9" name="灯片编号占位符 8"/>
          <p:cNvSpPr>
            <a:spLocks noGrp="1"/>
          </p:cNvSpPr>
          <p:nvPr>
            <p:ph type="sldNum" sz="quarter" idx="12"/>
          </p:nvPr>
        </p:nvSpPr>
        <p:spPr/>
        <p:txBody>
          <a:bodyPr/>
          <a:lstStyle>
            <a:lvl1pPr>
              <a:defRPr/>
            </a:lvl1pPr>
          </a:lstStyle>
          <a:p>
            <a:pPr>
              <a:defRPr/>
            </a:pPr>
            <a:fld id="{01EB25B2-8CD4-4E83-80AD-E0B7F4C85BF1}" type="slidenum">
              <a:rPr lang="en-US" altLang="zh-CN" smtClean="0"/>
            </a:fld>
            <a:endParaRPr lang="en-US" altLang="zh-CN"/>
          </a:p>
        </p:txBody>
      </p:sp>
    </p:spTree>
  </p:cSld>
  <p:clrMapOvr>
    <a:masterClrMapping/>
  </p:clrMapOvr>
  <p:transition>
    <p:cover dir="u"/>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pPr>
              <a:defRPr/>
            </a:pPr>
            <a:endParaRPr lang="en-US" altLang="zh-CN"/>
          </a:p>
        </p:txBody>
      </p:sp>
      <p:sp>
        <p:nvSpPr>
          <p:cNvPr id="4" name="页脚占位符 3"/>
          <p:cNvSpPr>
            <a:spLocks noGrp="1"/>
          </p:cNvSpPr>
          <p:nvPr>
            <p:ph type="ftr" sz="quarter" idx="11"/>
          </p:nvPr>
        </p:nvSpPr>
        <p:spPr/>
        <p:txBody>
          <a:bodyPr/>
          <a:lstStyle>
            <a:lvl1pPr>
              <a:defRPr/>
            </a:lvl1pPr>
          </a:lstStyle>
          <a:p>
            <a:pPr>
              <a:defRPr/>
            </a:pPr>
            <a:endParaRPr lang="en-US" altLang="zh-CN"/>
          </a:p>
        </p:txBody>
      </p:sp>
      <p:sp>
        <p:nvSpPr>
          <p:cNvPr id="5" name="灯片编号占位符 4"/>
          <p:cNvSpPr>
            <a:spLocks noGrp="1"/>
          </p:cNvSpPr>
          <p:nvPr>
            <p:ph type="sldNum" sz="quarter" idx="12"/>
          </p:nvPr>
        </p:nvSpPr>
        <p:spPr/>
        <p:txBody>
          <a:bodyPr/>
          <a:lstStyle>
            <a:lvl1pPr>
              <a:defRPr/>
            </a:lvl1pPr>
          </a:lstStyle>
          <a:p>
            <a:pPr>
              <a:defRPr/>
            </a:pPr>
            <a:fld id="{1A13C547-B64A-4E2F-A6FC-68A598118A9B}" type="slidenum">
              <a:rPr lang="en-US" altLang="zh-CN" smtClean="0"/>
            </a:fld>
            <a:endParaRPr lang="en-US" altLang="zh-CN"/>
          </a:p>
        </p:txBody>
      </p:sp>
    </p:spTree>
  </p:cSld>
  <p:clrMapOvr>
    <a:masterClrMapping/>
  </p:clrMapOvr>
  <p:transition>
    <p:cover dir="u"/>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pPr>
              <a:defRPr/>
            </a:pPr>
            <a:endParaRPr lang="en-US" altLang="zh-CN"/>
          </a:p>
        </p:txBody>
      </p:sp>
      <p:sp>
        <p:nvSpPr>
          <p:cNvPr id="3" name="页脚占位符 2"/>
          <p:cNvSpPr>
            <a:spLocks noGrp="1"/>
          </p:cNvSpPr>
          <p:nvPr>
            <p:ph type="ftr" sz="quarter" idx="11"/>
          </p:nvPr>
        </p:nvSpPr>
        <p:spPr/>
        <p:txBody>
          <a:bodyPr/>
          <a:lstStyle>
            <a:lvl1pPr>
              <a:defRPr/>
            </a:lvl1pPr>
          </a:lstStyle>
          <a:p>
            <a:pPr>
              <a:defRPr/>
            </a:pPr>
            <a:endParaRPr lang="en-US" altLang="zh-CN"/>
          </a:p>
        </p:txBody>
      </p:sp>
      <p:sp>
        <p:nvSpPr>
          <p:cNvPr id="4" name="灯片编号占位符 3"/>
          <p:cNvSpPr>
            <a:spLocks noGrp="1"/>
          </p:cNvSpPr>
          <p:nvPr>
            <p:ph type="sldNum" sz="quarter" idx="12"/>
          </p:nvPr>
        </p:nvSpPr>
        <p:spPr/>
        <p:txBody>
          <a:bodyPr/>
          <a:lstStyle>
            <a:lvl1pPr>
              <a:defRPr/>
            </a:lvl1pPr>
          </a:lstStyle>
          <a:p>
            <a:pPr>
              <a:defRPr/>
            </a:pPr>
            <a:fld id="{2A9A150F-B1C5-4363-A5AD-8A53B12CA15F}" type="slidenum">
              <a:rPr lang="en-US" altLang="zh-CN" smtClean="0"/>
            </a:fld>
            <a:endParaRPr lang="en-US" altLang="zh-CN"/>
          </a:p>
        </p:txBody>
      </p:sp>
    </p:spTree>
  </p:cSld>
  <p:clrMapOvr>
    <a:masterClrMapping/>
  </p:clrMapOvr>
  <p:transition>
    <p:cover dir="u"/>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435"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538" y="273051"/>
            <a:ext cx="511126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dirty="0"/>
          </a:p>
        </p:txBody>
      </p:sp>
      <p:sp>
        <p:nvSpPr>
          <p:cNvPr id="4" name="文本占位符 3"/>
          <p:cNvSpPr>
            <a:spLocks noGrp="1"/>
          </p:cNvSpPr>
          <p:nvPr>
            <p:ph type="body" sz="half" idx="2"/>
          </p:nvPr>
        </p:nvSpPr>
        <p:spPr>
          <a:xfrm>
            <a:off x="457200" y="1435101"/>
            <a:ext cx="3008435"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lvl1pPr>
              <a:defRPr/>
            </a:lvl1pPr>
          </a:lstStyle>
          <a:p>
            <a:pPr>
              <a:defRPr/>
            </a:pPr>
            <a:endParaRPr lang="en-US" altLang="zh-CN"/>
          </a:p>
        </p:txBody>
      </p:sp>
      <p:sp>
        <p:nvSpPr>
          <p:cNvPr id="6" name="页脚占位符 5"/>
          <p:cNvSpPr>
            <a:spLocks noGrp="1"/>
          </p:cNvSpPr>
          <p:nvPr>
            <p:ph type="ftr" sz="quarter" idx="11"/>
          </p:nvPr>
        </p:nvSpPr>
        <p:spPr/>
        <p:txBody>
          <a:bodyPr/>
          <a:lstStyle>
            <a:lvl1pPr>
              <a:defRPr/>
            </a:lvl1pPr>
          </a:lstStyle>
          <a:p>
            <a:pPr>
              <a:defRPr/>
            </a:pPr>
            <a:endParaRPr lang="en-US" altLang="zh-CN"/>
          </a:p>
        </p:txBody>
      </p:sp>
      <p:sp>
        <p:nvSpPr>
          <p:cNvPr id="7" name="灯片编号占位符 6"/>
          <p:cNvSpPr>
            <a:spLocks noGrp="1"/>
          </p:cNvSpPr>
          <p:nvPr>
            <p:ph type="sldNum" sz="quarter" idx="12"/>
          </p:nvPr>
        </p:nvSpPr>
        <p:spPr/>
        <p:txBody>
          <a:bodyPr/>
          <a:lstStyle>
            <a:lvl1pPr>
              <a:defRPr/>
            </a:lvl1pPr>
          </a:lstStyle>
          <a:p>
            <a:pPr>
              <a:defRPr/>
            </a:pPr>
            <a:fld id="{A247003D-06A9-418B-9E36-B2D925D2A0D5}" type="slidenum">
              <a:rPr lang="en-US" altLang="zh-CN" smtClean="0"/>
            </a:fld>
            <a:endParaRPr lang="en-US" altLang="zh-CN"/>
          </a:p>
        </p:txBody>
      </p:sp>
    </p:spTree>
  </p:cSld>
  <p:clrMapOvr>
    <a:masterClrMapping/>
  </p:clrMapOvr>
  <p:transition>
    <p:cover dir="u"/>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166"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166"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zh-CN" altLang="en-US"/>
          </a:p>
        </p:txBody>
      </p:sp>
      <p:sp>
        <p:nvSpPr>
          <p:cNvPr id="4" name="文本占位符 3"/>
          <p:cNvSpPr>
            <a:spLocks noGrp="1"/>
          </p:cNvSpPr>
          <p:nvPr>
            <p:ph type="body" sz="half" idx="2"/>
          </p:nvPr>
        </p:nvSpPr>
        <p:spPr>
          <a:xfrm>
            <a:off x="1792166"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lvl1pPr>
              <a:defRPr/>
            </a:lvl1pPr>
          </a:lstStyle>
          <a:p>
            <a:pPr>
              <a:defRPr/>
            </a:pPr>
            <a:endParaRPr lang="en-US" altLang="zh-CN"/>
          </a:p>
        </p:txBody>
      </p:sp>
      <p:sp>
        <p:nvSpPr>
          <p:cNvPr id="6" name="页脚占位符 5"/>
          <p:cNvSpPr>
            <a:spLocks noGrp="1"/>
          </p:cNvSpPr>
          <p:nvPr>
            <p:ph type="ftr" sz="quarter" idx="11"/>
          </p:nvPr>
        </p:nvSpPr>
        <p:spPr/>
        <p:txBody>
          <a:bodyPr/>
          <a:lstStyle>
            <a:lvl1pPr>
              <a:defRPr/>
            </a:lvl1pPr>
          </a:lstStyle>
          <a:p>
            <a:pPr>
              <a:defRPr/>
            </a:pPr>
            <a:endParaRPr lang="en-US" altLang="zh-CN"/>
          </a:p>
        </p:txBody>
      </p:sp>
      <p:sp>
        <p:nvSpPr>
          <p:cNvPr id="7" name="灯片编号占位符 6"/>
          <p:cNvSpPr>
            <a:spLocks noGrp="1"/>
          </p:cNvSpPr>
          <p:nvPr>
            <p:ph type="sldNum" sz="quarter" idx="12"/>
          </p:nvPr>
        </p:nvSpPr>
        <p:spPr/>
        <p:txBody>
          <a:bodyPr/>
          <a:lstStyle>
            <a:lvl1pPr>
              <a:defRPr/>
            </a:lvl1pPr>
          </a:lstStyle>
          <a:p>
            <a:pPr>
              <a:defRPr/>
            </a:pPr>
            <a:fld id="{8D9ABAD4-93F4-4D00-B7FE-FF47E0DCFB90}" type="slidenum">
              <a:rPr lang="en-US" altLang="zh-CN" smtClean="0"/>
            </a:fld>
            <a:endParaRPr lang="en-US" altLang="zh-CN"/>
          </a:p>
        </p:txBody>
      </p:sp>
    </p:spTree>
  </p:cSld>
  <p:clrMapOvr>
    <a:masterClrMapping/>
  </p:clrMapOvr>
  <p:transition>
    <p:cover dir="u"/>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5D96A2AB-B9EE-408D-BB4B-51D32C4155CD}" type="slidenum">
              <a:rPr lang="en-US" altLang="zh-CN" smtClean="0"/>
            </a:fld>
            <a:endParaRPr lang="en-US" altLang="zh-CN"/>
          </a:p>
        </p:txBody>
      </p:sp>
    </p:spTree>
  </p:cSld>
  <p:clrMapOvr>
    <a:masterClrMapping/>
  </p:clrMapOvr>
  <p:transition>
    <p:cover dir="u"/>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004539" y="617539"/>
            <a:ext cx="1950427" cy="551497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1150327" y="617539"/>
            <a:ext cx="5713534" cy="5514975"/>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0CBAFC95-745C-4519-8D02-578071E7EC83}" type="slidenum">
              <a:rPr lang="en-US" altLang="zh-CN" smtClean="0"/>
            </a:fld>
            <a:endParaRPr lang="en-US" altLang="zh-CN"/>
          </a:p>
        </p:txBody>
      </p:sp>
    </p:spTree>
  </p:cSld>
  <p:clrMapOvr>
    <a:masterClrMapping/>
  </p:clrMapOvr>
  <p:transition>
    <p:cover dir="u"/>
  </p:transition>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116632"/>
            <a:ext cx="8229600" cy="720080"/>
          </a:xfrm>
        </p:spPr>
        <p:txBody>
          <a:bodyPr/>
          <a:lstStyle/>
          <a:p>
            <a:r>
              <a:rPr lang="zh-CN" altLang="en-US" smtClean="0"/>
              <a:t>单击此处编辑母版标题样式</a:t>
            </a:r>
            <a:endParaRPr lang="zh-CN" altLang="en-US" dirty="0"/>
          </a:p>
        </p:txBody>
      </p:sp>
      <p:sp>
        <p:nvSpPr>
          <p:cNvPr id="3" name="文本占位符 2"/>
          <p:cNvSpPr>
            <a:spLocks noGrp="1"/>
          </p:cNvSpPr>
          <p:nvPr>
            <p:ph type="body" sz="half" idx="1"/>
          </p:nvPr>
        </p:nvSpPr>
        <p:spPr>
          <a:xfrm>
            <a:off x="457200" y="991269"/>
            <a:ext cx="4038600" cy="45259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991269"/>
            <a:ext cx="4038600" cy="45259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Rectangle 4"/>
          <p:cNvSpPr>
            <a:spLocks noGrp="1" noChangeArrowheads="1"/>
          </p:cNvSpPr>
          <p:nvPr>
            <p:ph type="dt" sz="half" idx="10"/>
          </p:nvPr>
        </p:nvSpPr>
        <p:spPr>
          <a:xfrm>
            <a:off x="457200" y="6245225"/>
            <a:ext cx="2133600" cy="476250"/>
          </a:xfrm>
          <a:prstGeom prst="rect">
            <a:avLst/>
          </a:prstGeom>
        </p:spPr>
        <p:txBody>
          <a:bodyPr/>
          <a:lstStyle>
            <a:lvl1pPr>
              <a:defRPr>
                <a:latin typeface="Arial" panose="020B0604020202020204" pitchFamily="34" charset="0"/>
                <a:ea typeface="宋体" panose="02010600030101010101" pitchFamily="2" charset="-122"/>
              </a:defRPr>
            </a:lvl1pPr>
          </a:lstStyle>
          <a:p>
            <a:pPr>
              <a:defRPr/>
            </a:pPr>
            <a:endParaRPr lang="en-US" altLang="zh-CN"/>
          </a:p>
        </p:txBody>
      </p:sp>
      <p:sp>
        <p:nvSpPr>
          <p:cNvPr id="6" name="Rectangle 5"/>
          <p:cNvSpPr>
            <a:spLocks noGrp="1" noChangeArrowheads="1"/>
          </p:cNvSpPr>
          <p:nvPr>
            <p:ph type="ftr" sz="quarter" idx="11"/>
          </p:nvPr>
        </p:nvSpPr>
        <p:spPr>
          <a:xfrm>
            <a:off x="3124200" y="6245225"/>
            <a:ext cx="2895600" cy="476250"/>
          </a:xfrm>
          <a:prstGeom prst="rect">
            <a:avLst/>
          </a:prstGeom>
        </p:spPr>
        <p:txBody>
          <a:bodyPr/>
          <a:lstStyle>
            <a:lvl1pPr>
              <a:defRPr>
                <a:latin typeface="Arial" panose="020B0604020202020204" pitchFamily="34" charset="0"/>
                <a:ea typeface="宋体" panose="02010600030101010101" pitchFamily="2" charset="-122"/>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C2082EF7-E0C7-46B1-9175-A6A81E4D74A4}" type="slidenum">
              <a:rPr lang="en-US" altLang="zh-CN" smtClean="0"/>
            </a:fld>
            <a:endParaRPr lang="en-US" altLang="zh-CN"/>
          </a:p>
        </p:txBody>
      </p:sp>
    </p:spTree>
  </p:cSld>
  <p:clrMapOvr>
    <a:masterClrMapping/>
  </p:clrMapOvr>
  <p:transition>
    <p:cover dir="u"/>
  </p:transition>
  <p:hf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417635" y="152574"/>
            <a:ext cx="438150" cy="474663"/>
          </a:xfrm>
          <a:prstGeom prst="rect">
            <a:avLst/>
          </a:prstGeom>
          <a:solidFill>
            <a:schemeClr val="accent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p>
        </p:txBody>
      </p:sp>
      <p:sp>
        <p:nvSpPr>
          <p:cNvPr id="1027" name="Rectangle 3"/>
          <p:cNvSpPr>
            <a:spLocks noChangeArrowheads="1"/>
          </p:cNvSpPr>
          <p:nvPr/>
        </p:nvSpPr>
        <p:spPr bwMode="auto">
          <a:xfrm>
            <a:off x="800100" y="152574"/>
            <a:ext cx="328246"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p>
        </p:txBody>
      </p:sp>
      <p:sp>
        <p:nvSpPr>
          <p:cNvPr id="1028" name="Rectangle 4"/>
          <p:cNvSpPr>
            <a:spLocks noChangeArrowheads="1"/>
          </p:cNvSpPr>
          <p:nvPr/>
        </p:nvSpPr>
        <p:spPr bwMode="auto">
          <a:xfrm>
            <a:off x="540728" y="574849"/>
            <a:ext cx="423496" cy="474663"/>
          </a:xfrm>
          <a:prstGeom prst="rect">
            <a:avLst/>
          </a:prstGeom>
          <a:solidFill>
            <a:schemeClr val="folHlink"/>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p>
        </p:txBody>
      </p:sp>
      <p:sp>
        <p:nvSpPr>
          <p:cNvPr id="1029" name="Rectangle 5"/>
          <p:cNvSpPr>
            <a:spLocks noChangeArrowheads="1"/>
          </p:cNvSpPr>
          <p:nvPr/>
        </p:nvSpPr>
        <p:spPr bwMode="auto">
          <a:xfrm>
            <a:off x="911470" y="574849"/>
            <a:ext cx="367812"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p>
        </p:txBody>
      </p:sp>
      <p:sp>
        <p:nvSpPr>
          <p:cNvPr id="1030" name="Rectangle 6"/>
          <p:cNvSpPr>
            <a:spLocks noChangeArrowheads="1"/>
          </p:cNvSpPr>
          <p:nvPr/>
        </p:nvSpPr>
        <p:spPr bwMode="auto">
          <a:xfrm>
            <a:off x="127489" y="501824"/>
            <a:ext cx="559777"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p>
        </p:txBody>
      </p:sp>
      <p:sp>
        <p:nvSpPr>
          <p:cNvPr id="1031" name="Rectangle 7"/>
          <p:cNvSpPr>
            <a:spLocks noChangeArrowheads="1"/>
          </p:cNvSpPr>
          <p:nvPr/>
        </p:nvSpPr>
        <p:spPr bwMode="auto">
          <a:xfrm>
            <a:off x="762001" y="44624"/>
            <a:ext cx="32238" cy="1052513"/>
          </a:xfrm>
          <a:prstGeom prst="rect">
            <a:avLst/>
          </a:prstGeom>
          <a:solidFill>
            <a:schemeClr val="bg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p>
        </p:txBody>
      </p:sp>
      <p:sp>
        <p:nvSpPr>
          <p:cNvPr id="1032" name="Rectangle 8"/>
          <p:cNvSpPr>
            <a:spLocks noChangeArrowheads="1"/>
          </p:cNvSpPr>
          <p:nvPr/>
        </p:nvSpPr>
        <p:spPr bwMode="auto">
          <a:xfrm>
            <a:off x="442547" y="835198"/>
            <a:ext cx="8226669"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p>
        </p:txBody>
      </p:sp>
      <p:sp>
        <p:nvSpPr>
          <p:cNvPr id="1033" name="Rectangle 9"/>
          <p:cNvSpPr>
            <a:spLocks noGrp="1" noChangeArrowheads="1"/>
          </p:cNvSpPr>
          <p:nvPr>
            <p:ph type="title"/>
          </p:nvPr>
        </p:nvSpPr>
        <p:spPr bwMode="auto">
          <a:xfrm>
            <a:off x="1242116" y="24359"/>
            <a:ext cx="7427100" cy="8123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p>
            <a:pPr lvl="0"/>
            <a:r>
              <a:rPr lang="zh-CN" dirty="0" smtClean="0"/>
              <a:t>单击此处编辑母版标题样式</a:t>
            </a:r>
            <a:endParaRPr lang="zh-CN" dirty="0" smtClean="0"/>
          </a:p>
        </p:txBody>
      </p:sp>
      <p:sp>
        <p:nvSpPr>
          <p:cNvPr id="1034" name="Rectangle 10"/>
          <p:cNvSpPr>
            <a:spLocks noGrp="1" noChangeArrowheads="1"/>
          </p:cNvSpPr>
          <p:nvPr>
            <p:ph type="body" idx="1"/>
          </p:nvPr>
        </p:nvSpPr>
        <p:spPr bwMode="auto">
          <a:xfrm>
            <a:off x="684066" y="836712"/>
            <a:ext cx="7772400" cy="46908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dirty="0" smtClean="0"/>
              <a:t>单击此处编辑母版文本样式</a:t>
            </a:r>
            <a:endParaRPr lang="zh-CN" dirty="0" smtClean="0"/>
          </a:p>
          <a:p>
            <a:pPr lvl="1"/>
            <a:r>
              <a:rPr lang="zh-CN" dirty="0" smtClean="0"/>
              <a:t>第二级</a:t>
            </a:r>
            <a:endParaRPr lang="zh-CN" dirty="0" smtClean="0"/>
          </a:p>
          <a:p>
            <a:pPr lvl="2"/>
            <a:r>
              <a:rPr lang="zh-CN" dirty="0" smtClean="0"/>
              <a:t>第三级</a:t>
            </a:r>
            <a:endParaRPr lang="zh-CN" dirty="0" smtClean="0"/>
          </a:p>
          <a:p>
            <a:pPr lvl="3"/>
            <a:r>
              <a:rPr lang="zh-CN" dirty="0" smtClean="0"/>
              <a:t>第四级</a:t>
            </a:r>
            <a:endParaRPr lang="zh-CN" dirty="0" smtClean="0"/>
          </a:p>
          <a:p>
            <a:pPr lvl="4"/>
            <a:r>
              <a:rPr lang="zh-CN" dirty="0" smtClean="0"/>
              <a:t>第五级</a:t>
            </a:r>
            <a:endParaRPr lang="zh-CN" dirty="0" smtClean="0"/>
          </a:p>
        </p:txBody>
      </p:sp>
      <p:sp>
        <p:nvSpPr>
          <p:cNvPr id="1035" name="Rectangle 11"/>
          <p:cNvSpPr>
            <a:spLocks noGrp="1" noChangeArrowheads="1"/>
          </p:cNvSpPr>
          <p:nvPr>
            <p:ph type="dt" sz="half" idx="2"/>
          </p:nvPr>
        </p:nvSpPr>
        <p:spPr bwMode="auto">
          <a:xfrm>
            <a:off x="914400" y="63246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sz="1400"/>
            </a:lvl1pPr>
          </a:lstStyle>
          <a:p>
            <a:pPr>
              <a:defRPr/>
            </a:pPr>
            <a:endParaRPr lang="en-US" altLang="zh-CN"/>
          </a:p>
        </p:txBody>
      </p:sp>
      <p:sp>
        <p:nvSpPr>
          <p:cNvPr id="1036" name="Rectangle 12"/>
          <p:cNvSpPr>
            <a:spLocks noGrp="1" noChangeArrowheads="1"/>
          </p:cNvSpPr>
          <p:nvPr>
            <p:ph type="ftr" sz="quarter" idx="3"/>
          </p:nvPr>
        </p:nvSpPr>
        <p:spPr bwMode="auto">
          <a:xfrm>
            <a:off x="3352800" y="63246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ctr">
              <a:defRPr sz="1400"/>
            </a:lvl1pPr>
          </a:lstStyle>
          <a:p>
            <a:pPr>
              <a:defRPr/>
            </a:pPr>
            <a:endParaRPr lang="en-US" altLang="zh-CN"/>
          </a:p>
        </p:txBody>
      </p:sp>
      <p:sp>
        <p:nvSpPr>
          <p:cNvPr id="1037" name="Rectangle 13"/>
          <p:cNvSpPr>
            <a:spLocks noGrp="1" noChangeArrowheads="1"/>
          </p:cNvSpPr>
          <p:nvPr>
            <p:ph type="sldNum" sz="quarter" idx="4"/>
          </p:nvPr>
        </p:nvSpPr>
        <p:spPr bwMode="auto">
          <a:xfrm>
            <a:off x="6781800" y="63246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a:defRPr sz="1400"/>
            </a:lvl1pPr>
          </a:lstStyle>
          <a:p>
            <a:pPr>
              <a:defRPr/>
            </a:pPr>
            <a:fld id="{C2082EF7-E0C7-46B1-9175-A6A81E4D74A4}" type="slidenum">
              <a:rPr lang="en-US" altLang="zh-CN" smtClean="0"/>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cover dir="u"/>
  </p:transition>
  <p:timing>
    <p:tnLst>
      <p:par>
        <p:cTn id="1" dur="indefinite" restart="never" nodeType="tmRoot"/>
      </p:par>
    </p:tnLst>
  </p:timing>
  <p:hf hdr="0" ftr="0" dt="0"/>
  <p:txStyles>
    <p:titleStyle>
      <a:lvl1pPr algn="l" rtl="0" eaLnBrk="1" fontAlgn="base" hangingPunct="1">
        <a:spcBef>
          <a:spcPct val="0"/>
        </a:spcBef>
        <a:spcAft>
          <a:spcPct val="0"/>
        </a:spcAft>
        <a:defRPr sz="3600" b="1">
          <a:solidFill>
            <a:schemeClr val="tx2"/>
          </a:solidFill>
          <a:latin typeface="+mn-ea"/>
          <a:ea typeface="+mn-ea"/>
          <a:cs typeface="+mj-cs"/>
        </a:defRPr>
      </a:lvl1pPr>
      <a:lvl2pPr algn="l" rtl="0" eaLnBrk="1" fontAlgn="base" hangingPunct="1">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1" fontAlgn="base" hangingPunct="1">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1" fontAlgn="base" hangingPunct="1">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1" fontAlgn="base" hangingPunct="1">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eaLnBrk="1" fontAlgn="base" hangingPunct="1">
        <a:spcBef>
          <a:spcPct val="0"/>
        </a:spcBef>
        <a:spcAft>
          <a:spcPct val="0"/>
        </a:spcAft>
        <a:defRPr sz="4400">
          <a:solidFill>
            <a:schemeClr val="tx2"/>
          </a:solidFill>
          <a:latin typeface="Tahoma" panose="020B0604030504040204" pitchFamily="34" charset="0"/>
          <a:ea typeface="宋体" panose="02010600030101010101" pitchFamily="2" charset="-122"/>
        </a:defRPr>
      </a:lvl6pPr>
      <a:lvl7pPr marL="914400" algn="l" rtl="0" eaLnBrk="1" fontAlgn="base" hangingPunct="1">
        <a:spcBef>
          <a:spcPct val="0"/>
        </a:spcBef>
        <a:spcAft>
          <a:spcPct val="0"/>
        </a:spcAft>
        <a:defRPr sz="4400">
          <a:solidFill>
            <a:schemeClr val="tx2"/>
          </a:solidFill>
          <a:latin typeface="Tahoma" panose="020B0604030504040204" pitchFamily="34" charset="0"/>
          <a:ea typeface="宋体" panose="02010600030101010101" pitchFamily="2" charset="-122"/>
        </a:defRPr>
      </a:lvl7pPr>
      <a:lvl8pPr marL="1371600" algn="l" rtl="0" eaLnBrk="1" fontAlgn="base" hangingPunct="1">
        <a:spcBef>
          <a:spcPct val="0"/>
        </a:spcBef>
        <a:spcAft>
          <a:spcPct val="0"/>
        </a:spcAft>
        <a:defRPr sz="4400">
          <a:solidFill>
            <a:schemeClr val="tx2"/>
          </a:solidFill>
          <a:latin typeface="Tahoma" panose="020B0604030504040204" pitchFamily="34" charset="0"/>
          <a:ea typeface="宋体" panose="02010600030101010101" pitchFamily="2" charset="-122"/>
        </a:defRPr>
      </a:lvl8pPr>
      <a:lvl9pPr marL="1828800" algn="l" rtl="0" eaLnBrk="1" fontAlgn="base" hangingPunct="1">
        <a:spcBef>
          <a:spcPct val="0"/>
        </a:spcBef>
        <a:spcAft>
          <a:spcPct val="0"/>
        </a:spcAft>
        <a:defRPr sz="4400">
          <a:solidFill>
            <a:schemeClr val="tx2"/>
          </a:solidFill>
          <a:latin typeface="Tahoma" panose="020B0604030504040204" pitchFamily="34" charset="0"/>
          <a:ea typeface="宋体" panose="02010600030101010101" pitchFamily="2" charset="-122"/>
        </a:defRPr>
      </a:lvl9pPr>
    </p:titleStyle>
    <p:bodyStyle>
      <a:lvl1pPr marL="342900" indent="-342900" algn="just" rtl="0" eaLnBrk="1" fontAlgn="base" hangingPunct="1">
        <a:spcBef>
          <a:spcPts val="0"/>
        </a:spcBef>
        <a:spcAft>
          <a:spcPct val="0"/>
        </a:spcAft>
        <a:buClr>
          <a:schemeClr val="folHlink"/>
        </a:buClr>
        <a:buSzPct val="60000"/>
        <a:buFont typeface="Wingdings" panose="05000000000000000000" pitchFamily="2" charset="2"/>
        <a:buChar char="n"/>
        <a:defRPr sz="3200" b="1">
          <a:solidFill>
            <a:schemeClr val="tx1"/>
          </a:solidFill>
          <a:latin typeface="+mn-lt"/>
          <a:ea typeface="+mn-ea"/>
          <a:cs typeface="+mn-cs"/>
        </a:defRPr>
      </a:lvl1pPr>
      <a:lvl2pPr marL="742950" indent="-285750" algn="just" rtl="0" eaLnBrk="1" fontAlgn="base" hangingPunct="1">
        <a:spcBef>
          <a:spcPts val="0"/>
        </a:spcBef>
        <a:spcAft>
          <a:spcPct val="0"/>
        </a:spcAft>
        <a:buClr>
          <a:schemeClr val="hlink"/>
        </a:buClr>
        <a:buSzPct val="55000"/>
        <a:buFont typeface="Wingdings" panose="05000000000000000000" pitchFamily="2" charset="2"/>
        <a:buChar char="n"/>
        <a:defRPr sz="2800" b="1">
          <a:solidFill>
            <a:schemeClr val="tx1"/>
          </a:solidFill>
          <a:latin typeface="+mn-lt"/>
          <a:ea typeface="+mn-ea"/>
        </a:defRPr>
      </a:lvl2pPr>
      <a:lvl3pPr marL="1143000" indent="-228600" algn="just" rtl="0" eaLnBrk="1" fontAlgn="base" hangingPunct="1">
        <a:spcBef>
          <a:spcPts val="0"/>
        </a:spcBef>
        <a:spcAft>
          <a:spcPct val="0"/>
        </a:spcAft>
        <a:buClr>
          <a:schemeClr val="folHlink"/>
        </a:buClr>
        <a:buSzPct val="50000"/>
        <a:buFont typeface="Wingdings" panose="05000000000000000000" pitchFamily="2" charset="2"/>
        <a:buChar char="n"/>
        <a:defRPr sz="2400" b="1">
          <a:solidFill>
            <a:schemeClr val="tx1"/>
          </a:solidFill>
          <a:latin typeface="+mn-lt"/>
          <a:ea typeface="+mn-ea"/>
        </a:defRPr>
      </a:lvl3pPr>
      <a:lvl4pPr marL="1600200" indent="-228600" algn="just" rtl="0" eaLnBrk="1" fontAlgn="base" hangingPunct="1">
        <a:spcBef>
          <a:spcPts val="0"/>
        </a:spcBef>
        <a:spcAft>
          <a:spcPct val="0"/>
        </a:spcAft>
        <a:buClr>
          <a:schemeClr val="accent2"/>
        </a:buClr>
        <a:buSzPct val="55000"/>
        <a:buFont typeface="Wingdings" panose="05000000000000000000" pitchFamily="2" charset="2"/>
        <a:buChar char="n"/>
        <a:defRPr sz="2000" b="1">
          <a:solidFill>
            <a:schemeClr val="tx1"/>
          </a:solidFill>
          <a:latin typeface="+mn-lt"/>
          <a:ea typeface="+mn-ea"/>
        </a:defRPr>
      </a:lvl4pPr>
      <a:lvl5pPr marL="2057400" indent="-228600" algn="just" rtl="0" eaLnBrk="1" fontAlgn="base" hangingPunct="1">
        <a:spcBef>
          <a:spcPts val="0"/>
        </a:spcBef>
        <a:spcAft>
          <a:spcPct val="0"/>
        </a:spcAft>
        <a:buClr>
          <a:schemeClr val="accent1"/>
        </a:buClr>
        <a:buSzPct val="50000"/>
        <a:buFont typeface="Wingdings" panose="05000000000000000000" pitchFamily="2" charset="2"/>
        <a:buChar char="n"/>
        <a:defRPr sz="2000" b="1">
          <a:solidFill>
            <a:schemeClr val="tx1"/>
          </a:solidFill>
          <a:latin typeface="+mn-lt"/>
          <a:ea typeface="+mn-ea"/>
        </a:defRPr>
      </a:lvl5pPr>
      <a:lvl6pPr marL="2514600" indent="-228600" algn="l" rtl="0" eaLnBrk="1" fontAlgn="base" hangingPunct="1">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6pPr>
      <a:lvl7pPr marL="2971800" indent="-228600" algn="l" rtl="0" eaLnBrk="1" fontAlgn="base" hangingPunct="1">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7pPr>
      <a:lvl8pPr marL="3429000" indent="-228600" algn="l" rtl="0" eaLnBrk="1" fontAlgn="base" hangingPunct="1">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8pPr>
      <a:lvl9pPr marL="3886200" indent="-228600" algn="l" rtl="0" eaLnBrk="1" fontAlgn="base" hangingPunct="1">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9" Type="http://schemas.openxmlformats.org/officeDocument/2006/relationships/oleObject" Target="../embeddings/oleObject5.bin"/><Relationship Id="rId8" Type="http://schemas.openxmlformats.org/officeDocument/2006/relationships/image" Target="../media/image7.wmf"/><Relationship Id="rId7" Type="http://schemas.openxmlformats.org/officeDocument/2006/relationships/oleObject" Target="../embeddings/oleObject4.bin"/><Relationship Id="rId6" Type="http://schemas.openxmlformats.org/officeDocument/2006/relationships/image" Target="../media/image6.wmf"/><Relationship Id="rId5" Type="http://schemas.openxmlformats.org/officeDocument/2006/relationships/oleObject" Target="../embeddings/oleObject3.bin"/><Relationship Id="rId4" Type="http://schemas.openxmlformats.org/officeDocument/2006/relationships/image" Target="../media/image5.wmf"/><Relationship Id="rId3" Type="http://schemas.openxmlformats.org/officeDocument/2006/relationships/oleObject" Target="../embeddings/oleObject2.bin"/><Relationship Id="rId2" Type="http://schemas.openxmlformats.org/officeDocument/2006/relationships/image" Target="../media/image4.wmf"/><Relationship Id="rId19" Type="http://schemas.openxmlformats.org/officeDocument/2006/relationships/notesSlide" Target="../notesSlides/notesSlide3.xml"/><Relationship Id="rId18" Type="http://schemas.openxmlformats.org/officeDocument/2006/relationships/vmlDrawing" Target="../drawings/vmlDrawing1.vml"/><Relationship Id="rId17" Type="http://schemas.openxmlformats.org/officeDocument/2006/relationships/slideLayout" Target="../slideLayouts/slideLayout2.xml"/><Relationship Id="rId16" Type="http://schemas.openxmlformats.org/officeDocument/2006/relationships/image" Target="../media/image11.wmf"/><Relationship Id="rId15" Type="http://schemas.openxmlformats.org/officeDocument/2006/relationships/oleObject" Target="../embeddings/oleObject8.bin"/><Relationship Id="rId14" Type="http://schemas.openxmlformats.org/officeDocument/2006/relationships/image" Target="../media/image10.wmf"/><Relationship Id="rId13" Type="http://schemas.openxmlformats.org/officeDocument/2006/relationships/oleObject" Target="../embeddings/oleObject7.bin"/><Relationship Id="rId12" Type="http://schemas.openxmlformats.org/officeDocument/2006/relationships/image" Target="../media/image9.wmf"/><Relationship Id="rId11" Type="http://schemas.openxmlformats.org/officeDocument/2006/relationships/oleObject" Target="../embeddings/oleObject6.bin"/><Relationship Id="rId10" Type="http://schemas.openxmlformats.org/officeDocument/2006/relationships/image" Target="../media/image8.wmf"/><Relationship Id="rId1" Type="http://schemas.openxmlformats.org/officeDocument/2006/relationships/oleObject" Target="../embeddings/oleObject1.bin"/></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0.xml.rels><?xml version="1.0" encoding="UTF-8" standalone="yes"?>
<Relationships xmlns="http://schemas.openxmlformats.org/package/2006/relationships"><Relationship Id="rId9" Type="http://schemas.openxmlformats.org/officeDocument/2006/relationships/oleObject" Target="../embeddings/oleObject13.bin"/><Relationship Id="rId8" Type="http://schemas.openxmlformats.org/officeDocument/2006/relationships/image" Target="../media/image16.wmf"/><Relationship Id="rId7" Type="http://schemas.openxmlformats.org/officeDocument/2006/relationships/oleObject" Target="../embeddings/oleObject12.bin"/><Relationship Id="rId6" Type="http://schemas.openxmlformats.org/officeDocument/2006/relationships/image" Target="../media/image15.wmf"/><Relationship Id="rId5" Type="http://schemas.openxmlformats.org/officeDocument/2006/relationships/oleObject" Target="../embeddings/oleObject11.bin"/><Relationship Id="rId4" Type="http://schemas.openxmlformats.org/officeDocument/2006/relationships/image" Target="../media/image14.wmf"/><Relationship Id="rId3" Type="http://schemas.openxmlformats.org/officeDocument/2006/relationships/oleObject" Target="../embeddings/oleObject10.bin"/><Relationship Id="rId2" Type="http://schemas.openxmlformats.org/officeDocument/2006/relationships/image" Target="../media/image13.wmf"/><Relationship Id="rId15" Type="http://schemas.openxmlformats.org/officeDocument/2006/relationships/notesSlide" Target="../notesSlides/notesSlide4.xml"/><Relationship Id="rId14" Type="http://schemas.openxmlformats.org/officeDocument/2006/relationships/vmlDrawing" Target="../drawings/vmlDrawing2.vml"/><Relationship Id="rId13" Type="http://schemas.openxmlformats.org/officeDocument/2006/relationships/slideLayout" Target="../slideLayouts/slideLayout2.xml"/><Relationship Id="rId12" Type="http://schemas.openxmlformats.org/officeDocument/2006/relationships/image" Target="../media/image18.wmf"/><Relationship Id="rId11" Type="http://schemas.openxmlformats.org/officeDocument/2006/relationships/oleObject" Target="../embeddings/oleObject14.bin"/><Relationship Id="rId10" Type="http://schemas.openxmlformats.org/officeDocument/2006/relationships/image" Target="../media/image17.wmf"/><Relationship Id="rId1" Type="http://schemas.openxmlformats.org/officeDocument/2006/relationships/oleObject" Target="../embeddings/oleObject9.bin"/></Relationships>
</file>

<file path=ppt/slides/_rels/slide11.xml.rels><?xml version="1.0" encoding="UTF-8" standalone="yes"?>
<Relationships xmlns="http://schemas.openxmlformats.org/package/2006/relationships"><Relationship Id="rId9" Type="http://schemas.openxmlformats.org/officeDocument/2006/relationships/oleObject" Target="../embeddings/oleObject19.bin"/><Relationship Id="rId8" Type="http://schemas.openxmlformats.org/officeDocument/2006/relationships/image" Target="../media/image22.wmf"/><Relationship Id="rId7" Type="http://schemas.openxmlformats.org/officeDocument/2006/relationships/oleObject" Target="../embeddings/oleObject18.bin"/><Relationship Id="rId6" Type="http://schemas.openxmlformats.org/officeDocument/2006/relationships/image" Target="../media/image21.wmf"/><Relationship Id="rId5" Type="http://schemas.openxmlformats.org/officeDocument/2006/relationships/oleObject" Target="../embeddings/oleObject17.bin"/><Relationship Id="rId4" Type="http://schemas.openxmlformats.org/officeDocument/2006/relationships/image" Target="../media/image20.wmf"/><Relationship Id="rId3" Type="http://schemas.openxmlformats.org/officeDocument/2006/relationships/oleObject" Target="../embeddings/oleObject16.bin"/><Relationship Id="rId2" Type="http://schemas.openxmlformats.org/officeDocument/2006/relationships/image" Target="../media/image19.wmf"/><Relationship Id="rId19" Type="http://schemas.openxmlformats.org/officeDocument/2006/relationships/vmlDrawing" Target="../drawings/vmlDrawing3.vml"/><Relationship Id="rId18" Type="http://schemas.openxmlformats.org/officeDocument/2006/relationships/slideLayout" Target="../slideLayouts/slideLayout2.xml"/><Relationship Id="rId17" Type="http://schemas.openxmlformats.org/officeDocument/2006/relationships/image" Target="../media/image26.wmf"/><Relationship Id="rId16" Type="http://schemas.openxmlformats.org/officeDocument/2006/relationships/oleObject" Target="../embeddings/oleObject23.bin"/><Relationship Id="rId15" Type="http://schemas.openxmlformats.org/officeDocument/2006/relationships/oleObject" Target="../embeddings/oleObject22.bin"/><Relationship Id="rId14" Type="http://schemas.openxmlformats.org/officeDocument/2006/relationships/image" Target="../media/image25.wmf"/><Relationship Id="rId13" Type="http://schemas.openxmlformats.org/officeDocument/2006/relationships/oleObject" Target="../embeddings/oleObject21.bin"/><Relationship Id="rId12" Type="http://schemas.openxmlformats.org/officeDocument/2006/relationships/image" Target="../media/image24.wmf"/><Relationship Id="rId11" Type="http://schemas.openxmlformats.org/officeDocument/2006/relationships/oleObject" Target="../embeddings/oleObject20.bin"/><Relationship Id="rId10" Type="http://schemas.openxmlformats.org/officeDocument/2006/relationships/image" Target="../media/image23.wmf"/><Relationship Id="rId1" Type="http://schemas.openxmlformats.org/officeDocument/2006/relationships/oleObject" Target="../embeddings/oleObject15.bin"/></Relationships>
</file>

<file path=ppt/slides/_rels/slide12.xml.rels><?xml version="1.0" encoding="UTF-8" standalone="yes"?>
<Relationships xmlns="http://schemas.openxmlformats.org/package/2006/relationships"><Relationship Id="rId9" Type="http://schemas.openxmlformats.org/officeDocument/2006/relationships/oleObject" Target="../embeddings/oleObject28.bin"/><Relationship Id="rId8" Type="http://schemas.openxmlformats.org/officeDocument/2006/relationships/image" Target="../media/image29.wmf"/><Relationship Id="rId7" Type="http://schemas.openxmlformats.org/officeDocument/2006/relationships/oleObject" Target="../embeddings/oleObject27.bin"/><Relationship Id="rId6" Type="http://schemas.openxmlformats.org/officeDocument/2006/relationships/image" Target="../media/image28.wmf"/><Relationship Id="rId5" Type="http://schemas.openxmlformats.org/officeDocument/2006/relationships/oleObject" Target="../embeddings/oleObject26.bin"/><Relationship Id="rId4" Type="http://schemas.openxmlformats.org/officeDocument/2006/relationships/image" Target="../media/image27.wmf"/><Relationship Id="rId3" Type="http://schemas.openxmlformats.org/officeDocument/2006/relationships/oleObject" Target="../embeddings/oleObject25.bin"/><Relationship Id="rId2" Type="http://schemas.openxmlformats.org/officeDocument/2006/relationships/image" Target="../media/image22.wmf"/><Relationship Id="rId15" Type="http://schemas.openxmlformats.org/officeDocument/2006/relationships/notesSlide" Target="../notesSlides/notesSlide5.xml"/><Relationship Id="rId14" Type="http://schemas.openxmlformats.org/officeDocument/2006/relationships/vmlDrawing" Target="../drawings/vmlDrawing4.vml"/><Relationship Id="rId13" Type="http://schemas.openxmlformats.org/officeDocument/2006/relationships/slideLayout" Target="../slideLayouts/slideLayout2.xml"/><Relationship Id="rId12" Type="http://schemas.openxmlformats.org/officeDocument/2006/relationships/image" Target="../media/image31.wmf"/><Relationship Id="rId11" Type="http://schemas.openxmlformats.org/officeDocument/2006/relationships/oleObject" Target="../embeddings/oleObject29.bin"/><Relationship Id="rId10" Type="http://schemas.openxmlformats.org/officeDocument/2006/relationships/image" Target="../media/image30.wmf"/><Relationship Id="rId1" Type="http://schemas.openxmlformats.org/officeDocument/2006/relationships/oleObject" Target="../embeddings/oleObject24.bin"/></Relationships>
</file>

<file path=ppt/slides/_rels/slide13.xml.rels><?xml version="1.0" encoding="UTF-8" standalone="yes"?>
<Relationships xmlns="http://schemas.openxmlformats.org/package/2006/relationships"><Relationship Id="rId9" Type="http://schemas.openxmlformats.org/officeDocument/2006/relationships/oleObject" Target="../embeddings/oleObject34.bin"/><Relationship Id="rId8" Type="http://schemas.openxmlformats.org/officeDocument/2006/relationships/image" Target="../media/image33.wmf"/><Relationship Id="rId7" Type="http://schemas.openxmlformats.org/officeDocument/2006/relationships/oleObject" Target="../embeddings/oleObject33.bin"/><Relationship Id="rId6" Type="http://schemas.openxmlformats.org/officeDocument/2006/relationships/image" Target="../media/image32.wmf"/><Relationship Id="rId5" Type="http://schemas.openxmlformats.org/officeDocument/2006/relationships/oleObject" Target="../embeddings/oleObject32.bin"/><Relationship Id="rId4" Type="http://schemas.openxmlformats.org/officeDocument/2006/relationships/image" Target="../media/image31.wmf"/><Relationship Id="rId3" Type="http://schemas.openxmlformats.org/officeDocument/2006/relationships/oleObject" Target="../embeddings/oleObject31.bin"/><Relationship Id="rId2" Type="http://schemas.openxmlformats.org/officeDocument/2006/relationships/image" Target="../media/image22.wmf"/><Relationship Id="rId16" Type="http://schemas.openxmlformats.org/officeDocument/2006/relationships/notesSlide" Target="../notesSlides/notesSlide6.xml"/><Relationship Id="rId15" Type="http://schemas.openxmlformats.org/officeDocument/2006/relationships/vmlDrawing" Target="../drawings/vmlDrawing5.vml"/><Relationship Id="rId14" Type="http://schemas.openxmlformats.org/officeDocument/2006/relationships/slideLayout" Target="../slideLayouts/slideLayout2.xml"/><Relationship Id="rId13" Type="http://schemas.openxmlformats.org/officeDocument/2006/relationships/image" Target="../media/image35.wmf"/><Relationship Id="rId12" Type="http://schemas.openxmlformats.org/officeDocument/2006/relationships/oleObject" Target="../embeddings/oleObject36.bin"/><Relationship Id="rId11" Type="http://schemas.openxmlformats.org/officeDocument/2006/relationships/oleObject" Target="../embeddings/oleObject35.bin"/><Relationship Id="rId10" Type="http://schemas.openxmlformats.org/officeDocument/2006/relationships/image" Target="../media/image34.wmf"/><Relationship Id="rId1" Type="http://schemas.openxmlformats.org/officeDocument/2006/relationships/oleObject" Target="../embeddings/oleObject30.bin"/></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36.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3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38.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9.png"/></Relationships>
</file>

<file path=ppt/slides/_rels/slide21.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vmlDrawing" Target="../drawings/vmlDrawing6.vml"/><Relationship Id="rId3" Type="http://schemas.openxmlformats.org/officeDocument/2006/relationships/slideLayout" Target="../slideLayouts/slideLayout2.xml"/><Relationship Id="rId2" Type="http://schemas.openxmlformats.org/officeDocument/2006/relationships/image" Target="../media/image40.wmf"/><Relationship Id="rId1" Type="http://schemas.openxmlformats.org/officeDocument/2006/relationships/oleObject" Target="../embeddings/oleObject37.bin"/></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1.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4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vmlDrawing" Target="../drawings/vmlDrawing7.vml"/><Relationship Id="rId7" Type="http://schemas.openxmlformats.org/officeDocument/2006/relationships/slideLayout" Target="../slideLayouts/slideLayout2.xml"/><Relationship Id="rId6" Type="http://schemas.openxmlformats.org/officeDocument/2006/relationships/image" Target="../media/image45.wmf"/><Relationship Id="rId5" Type="http://schemas.openxmlformats.org/officeDocument/2006/relationships/oleObject" Target="../embeddings/oleObject40.bin"/><Relationship Id="rId4" Type="http://schemas.openxmlformats.org/officeDocument/2006/relationships/image" Target="../media/image44.wmf"/><Relationship Id="rId3" Type="http://schemas.openxmlformats.org/officeDocument/2006/relationships/oleObject" Target="../embeddings/oleObject39.bin"/><Relationship Id="rId2" Type="http://schemas.openxmlformats.org/officeDocument/2006/relationships/image" Target="../media/image43.wmf"/><Relationship Id="rId1" Type="http://schemas.openxmlformats.org/officeDocument/2006/relationships/oleObject" Target="../embeddings/oleObject38.bin"/></Relationships>
</file>

<file path=ppt/slides/_rels/slide26.xml.rels><?xml version="1.0" encoding="UTF-8" standalone="yes"?>
<Relationships xmlns="http://schemas.openxmlformats.org/package/2006/relationships"><Relationship Id="rId9" Type="http://schemas.openxmlformats.org/officeDocument/2006/relationships/oleObject" Target="../embeddings/oleObject45.bin"/><Relationship Id="rId8" Type="http://schemas.openxmlformats.org/officeDocument/2006/relationships/image" Target="../media/image49.wmf"/><Relationship Id="rId7" Type="http://schemas.openxmlformats.org/officeDocument/2006/relationships/oleObject" Target="../embeddings/oleObject44.bin"/><Relationship Id="rId6" Type="http://schemas.openxmlformats.org/officeDocument/2006/relationships/image" Target="../media/image48.wmf"/><Relationship Id="rId5" Type="http://schemas.openxmlformats.org/officeDocument/2006/relationships/oleObject" Target="../embeddings/oleObject43.bin"/><Relationship Id="rId4" Type="http://schemas.openxmlformats.org/officeDocument/2006/relationships/image" Target="../media/image47.wmf"/><Relationship Id="rId3" Type="http://schemas.openxmlformats.org/officeDocument/2006/relationships/oleObject" Target="../embeddings/oleObject42.bin"/><Relationship Id="rId2" Type="http://schemas.openxmlformats.org/officeDocument/2006/relationships/image" Target="../media/image46.wmf"/><Relationship Id="rId18" Type="http://schemas.openxmlformats.org/officeDocument/2006/relationships/vmlDrawing" Target="../drawings/vmlDrawing8.vml"/><Relationship Id="rId17" Type="http://schemas.openxmlformats.org/officeDocument/2006/relationships/slideLayout" Target="../slideLayouts/slideLayout2.xml"/><Relationship Id="rId16" Type="http://schemas.openxmlformats.org/officeDocument/2006/relationships/image" Target="../media/image45.wmf"/><Relationship Id="rId15" Type="http://schemas.openxmlformats.org/officeDocument/2006/relationships/oleObject" Target="../embeddings/oleObject48.bin"/><Relationship Id="rId14" Type="http://schemas.openxmlformats.org/officeDocument/2006/relationships/image" Target="../media/image52.wmf"/><Relationship Id="rId13" Type="http://schemas.openxmlformats.org/officeDocument/2006/relationships/oleObject" Target="../embeddings/oleObject47.bin"/><Relationship Id="rId12" Type="http://schemas.openxmlformats.org/officeDocument/2006/relationships/image" Target="../media/image51.wmf"/><Relationship Id="rId11" Type="http://schemas.openxmlformats.org/officeDocument/2006/relationships/oleObject" Target="../embeddings/oleObject46.bin"/><Relationship Id="rId10" Type="http://schemas.openxmlformats.org/officeDocument/2006/relationships/image" Target="../media/image50.wmf"/><Relationship Id="rId1" Type="http://schemas.openxmlformats.org/officeDocument/2006/relationships/oleObject" Target="../embeddings/oleObject41.bin"/></Relationships>
</file>

<file path=ppt/slides/_rels/slide27.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56.wmf"/><Relationship Id="rId7" Type="http://schemas.openxmlformats.org/officeDocument/2006/relationships/oleObject" Target="../embeddings/oleObject52.bin"/><Relationship Id="rId6" Type="http://schemas.openxmlformats.org/officeDocument/2006/relationships/image" Target="../media/image55.wmf"/><Relationship Id="rId5" Type="http://schemas.openxmlformats.org/officeDocument/2006/relationships/oleObject" Target="../embeddings/oleObject51.bin"/><Relationship Id="rId4" Type="http://schemas.openxmlformats.org/officeDocument/2006/relationships/image" Target="../media/image54.wmf"/><Relationship Id="rId3" Type="http://schemas.openxmlformats.org/officeDocument/2006/relationships/oleObject" Target="../embeddings/oleObject50.bin"/><Relationship Id="rId2" Type="http://schemas.openxmlformats.org/officeDocument/2006/relationships/image" Target="../media/image53.wmf"/><Relationship Id="rId10" Type="http://schemas.openxmlformats.org/officeDocument/2006/relationships/vmlDrawing" Target="../drawings/vmlDrawing9.vml"/><Relationship Id="rId1" Type="http://schemas.openxmlformats.org/officeDocument/2006/relationships/oleObject" Target="../embeddings/oleObject49.bin"/></Relationships>
</file>

<file path=ppt/slides/_rels/slide28.xml.rels><?xml version="1.0" encoding="UTF-8" standalone="yes"?>
<Relationships xmlns="http://schemas.openxmlformats.org/package/2006/relationships"><Relationship Id="rId4" Type="http://schemas.openxmlformats.org/officeDocument/2006/relationships/vmlDrawing" Target="../drawings/vmlDrawing10.vml"/><Relationship Id="rId3" Type="http://schemas.openxmlformats.org/officeDocument/2006/relationships/slideLayout" Target="../slideLayouts/slideLayout2.xml"/><Relationship Id="rId2" Type="http://schemas.openxmlformats.org/officeDocument/2006/relationships/image" Target="../media/image53.wmf"/><Relationship Id="rId1" Type="http://schemas.openxmlformats.org/officeDocument/2006/relationships/oleObject" Target="../embeddings/oleObject53.bin"/></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9" Type="http://schemas.openxmlformats.org/officeDocument/2006/relationships/oleObject" Target="../embeddings/oleObject58.bin"/><Relationship Id="rId8" Type="http://schemas.openxmlformats.org/officeDocument/2006/relationships/image" Target="../media/image61.wmf"/><Relationship Id="rId7" Type="http://schemas.openxmlformats.org/officeDocument/2006/relationships/oleObject" Target="../embeddings/oleObject57.bin"/><Relationship Id="rId6" Type="http://schemas.openxmlformats.org/officeDocument/2006/relationships/image" Target="../media/image60.wmf"/><Relationship Id="rId5" Type="http://schemas.openxmlformats.org/officeDocument/2006/relationships/oleObject" Target="../embeddings/oleObject56.bin"/><Relationship Id="rId4" Type="http://schemas.openxmlformats.org/officeDocument/2006/relationships/image" Target="../media/image59.wmf"/><Relationship Id="rId3" Type="http://schemas.openxmlformats.org/officeDocument/2006/relationships/oleObject" Target="../embeddings/oleObject55.bin"/><Relationship Id="rId2" Type="http://schemas.openxmlformats.org/officeDocument/2006/relationships/image" Target="../media/image58.wmf"/><Relationship Id="rId17" Type="http://schemas.openxmlformats.org/officeDocument/2006/relationships/notesSlide" Target="../notesSlides/notesSlide13.xml"/><Relationship Id="rId16" Type="http://schemas.openxmlformats.org/officeDocument/2006/relationships/vmlDrawing" Target="../drawings/vmlDrawing11.vml"/><Relationship Id="rId15" Type="http://schemas.openxmlformats.org/officeDocument/2006/relationships/slideLayout" Target="../slideLayouts/slideLayout2.xml"/><Relationship Id="rId14" Type="http://schemas.openxmlformats.org/officeDocument/2006/relationships/image" Target="../media/image64.wmf"/><Relationship Id="rId13" Type="http://schemas.openxmlformats.org/officeDocument/2006/relationships/oleObject" Target="../embeddings/oleObject60.bin"/><Relationship Id="rId12" Type="http://schemas.openxmlformats.org/officeDocument/2006/relationships/image" Target="../media/image63.wmf"/><Relationship Id="rId11" Type="http://schemas.openxmlformats.org/officeDocument/2006/relationships/oleObject" Target="../embeddings/oleObject59.bin"/><Relationship Id="rId10" Type="http://schemas.openxmlformats.org/officeDocument/2006/relationships/image" Target="../media/image62.wmf"/><Relationship Id="rId1" Type="http://schemas.openxmlformats.org/officeDocument/2006/relationships/oleObject" Target="../embeddings/oleObject54.bin"/></Relationships>
</file>

<file path=ppt/slides/_rels/slide33.xml.rels><?xml version="1.0" encoding="UTF-8" standalone="yes"?>
<Relationships xmlns="http://schemas.openxmlformats.org/package/2006/relationships"><Relationship Id="rId9" Type="http://schemas.openxmlformats.org/officeDocument/2006/relationships/oleObject" Target="../embeddings/oleObject65.bin"/><Relationship Id="rId8" Type="http://schemas.openxmlformats.org/officeDocument/2006/relationships/image" Target="../media/image68.wmf"/><Relationship Id="rId7" Type="http://schemas.openxmlformats.org/officeDocument/2006/relationships/oleObject" Target="../embeddings/oleObject64.bin"/><Relationship Id="rId6" Type="http://schemas.openxmlformats.org/officeDocument/2006/relationships/image" Target="../media/image67.wmf"/><Relationship Id="rId5" Type="http://schemas.openxmlformats.org/officeDocument/2006/relationships/oleObject" Target="../embeddings/oleObject63.bin"/><Relationship Id="rId4" Type="http://schemas.openxmlformats.org/officeDocument/2006/relationships/image" Target="../media/image66.wmf"/><Relationship Id="rId3" Type="http://schemas.openxmlformats.org/officeDocument/2006/relationships/oleObject" Target="../embeddings/oleObject62.bin"/><Relationship Id="rId2" Type="http://schemas.openxmlformats.org/officeDocument/2006/relationships/image" Target="../media/image65.wmf"/><Relationship Id="rId15" Type="http://schemas.openxmlformats.org/officeDocument/2006/relationships/notesSlide" Target="../notesSlides/notesSlide14.xml"/><Relationship Id="rId14" Type="http://schemas.openxmlformats.org/officeDocument/2006/relationships/vmlDrawing" Target="../drawings/vmlDrawing12.vml"/><Relationship Id="rId13" Type="http://schemas.openxmlformats.org/officeDocument/2006/relationships/slideLayout" Target="../slideLayouts/slideLayout2.xml"/><Relationship Id="rId12" Type="http://schemas.openxmlformats.org/officeDocument/2006/relationships/image" Target="../media/image70.wmf"/><Relationship Id="rId11" Type="http://schemas.openxmlformats.org/officeDocument/2006/relationships/oleObject" Target="../embeddings/oleObject66.bin"/><Relationship Id="rId10" Type="http://schemas.openxmlformats.org/officeDocument/2006/relationships/image" Target="../media/image69.wmf"/><Relationship Id="rId1" Type="http://schemas.openxmlformats.org/officeDocument/2006/relationships/oleObject" Target="../embeddings/oleObject61.bin"/></Relationships>
</file>

<file path=ppt/slides/_rels/slide34.xml.rels><?xml version="1.0" encoding="UTF-8" standalone="yes"?>
<Relationships xmlns="http://schemas.openxmlformats.org/package/2006/relationships"><Relationship Id="rId9" Type="http://schemas.openxmlformats.org/officeDocument/2006/relationships/image" Target="../media/image74.wmf"/><Relationship Id="rId8" Type="http://schemas.openxmlformats.org/officeDocument/2006/relationships/oleObject" Target="../embeddings/oleObject70.bin"/><Relationship Id="rId7" Type="http://schemas.openxmlformats.org/officeDocument/2006/relationships/image" Target="../media/image73.wmf"/><Relationship Id="rId6" Type="http://schemas.openxmlformats.org/officeDocument/2006/relationships/oleObject" Target="../embeddings/oleObject69.bin"/><Relationship Id="rId5" Type="http://schemas.openxmlformats.org/officeDocument/2006/relationships/image" Target="../media/image72.png"/><Relationship Id="rId4" Type="http://schemas.openxmlformats.org/officeDocument/2006/relationships/image" Target="../media/image71.wmf"/><Relationship Id="rId3" Type="http://schemas.openxmlformats.org/officeDocument/2006/relationships/oleObject" Target="../embeddings/oleObject68.bin"/><Relationship Id="rId2" Type="http://schemas.openxmlformats.org/officeDocument/2006/relationships/image" Target="../media/image67.wmf"/><Relationship Id="rId12" Type="http://schemas.openxmlformats.org/officeDocument/2006/relationships/notesSlide" Target="../notesSlides/notesSlide15.xml"/><Relationship Id="rId11" Type="http://schemas.openxmlformats.org/officeDocument/2006/relationships/vmlDrawing" Target="../drawings/vmlDrawing13.vml"/><Relationship Id="rId10" Type="http://schemas.openxmlformats.org/officeDocument/2006/relationships/slideLayout" Target="../slideLayouts/slideLayout2.xml"/><Relationship Id="rId1" Type="http://schemas.openxmlformats.org/officeDocument/2006/relationships/oleObject" Target="../embeddings/oleObject67.bin"/></Relationships>
</file>

<file path=ppt/slides/_rels/slide35.xml.rels><?xml version="1.0" encoding="UTF-8" standalone="yes"?>
<Relationships xmlns="http://schemas.openxmlformats.org/package/2006/relationships"><Relationship Id="rId9" Type="http://schemas.openxmlformats.org/officeDocument/2006/relationships/image" Target="../media/image78.wmf"/><Relationship Id="rId8" Type="http://schemas.openxmlformats.org/officeDocument/2006/relationships/oleObject" Target="../embeddings/oleObject74.bin"/><Relationship Id="rId7" Type="http://schemas.openxmlformats.org/officeDocument/2006/relationships/image" Target="../media/image77.wmf"/><Relationship Id="rId6" Type="http://schemas.openxmlformats.org/officeDocument/2006/relationships/oleObject" Target="../embeddings/oleObject73.bin"/><Relationship Id="rId5" Type="http://schemas.openxmlformats.org/officeDocument/2006/relationships/image" Target="../media/image76.wmf"/><Relationship Id="rId4" Type="http://schemas.openxmlformats.org/officeDocument/2006/relationships/oleObject" Target="../embeddings/oleObject72.bin"/><Relationship Id="rId3" Type="http://schemas.openxmlformats.org/officeDocument/2006/relationships/image" Target="../media/image72.png"/><Relationship Id="rId20" Type="http://schemas.openxmlformats.org/officeDocument/2006/relationships/notesSlide" Target="../notesSlides/notesSlide16.xml"/><Relationship Id="rId2" Type="http://schemas.openxmlformats.org/officeDocument/2006/relationships/image" Target="../media/image75.wmf"/><Relationship Id="rId19" Type="http://schemas.openxmlformats.org/officeDocument/2006/relationships/vmlDrawing" Target="../drawings/vmlDrawing14.vml"/><Relationship Id="rId18" Type="http://schemas.openxmlformats.org/officeDocument/2006/relationships/slideLayout" Target="../slideLayouts/slideLayout2.xml"/><Relationship Id="rId17" Type="http://schemas.openxmlformats.org/officeDocument/2006/relationships/image" Target="../media/image82.wmf"/><Relationship Id="rId16" Type="http://schemas.openxmlformats.org/officeDocument/2006/relationships/oleObject" Target="../embeddings/oleObject78.bin"/><Relationship Id="rId15" Type="http://schemas.openxmlformats.org/officeDocument/2006/relationships/image" Target="../media/image81.wmf"/><Relationship Id="rId14" Type="http://schemas.openxmlformats.org/officeDocument/2006/relationships/oleObject" Target="../embeddings/oleObject77.bin"/><Relationship Id="rId13" Type="http://schemas.openxmlformats.org/officeDocument/2006/relationships/image" Target="../media/image80.wmf"/><Relationship Id="rId12" Type="http://schemas.openxmlformats.org/officeDocument/2006/relationships/oleObject" Target="../embeddings/oleObject76.bin"/><Relationship Id="rId11" Type="http://schemas.openxmlformats.org/officeDocument/2006/relationships/image" Target="../media/image79.wmf"/><Relationship Id="rId10" Type="http://schemas.openxmlformats.org/officeDocument/2006/relationships/oleObject" Target="../embeddings/oleObject75.bin"/><Relationship Id="rId1" Type="http://schemas.openxmlformats.org/officeDocument/2006/relationships/oleObject" Target="../embeddings/oleObject71.bin"/></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1490" name="Rectangle 2"/>
          <p:cNvSpPr>
            <a:spLocks noGrp="1" noChangeArrowheads="1"/>
          </p:cNvSpPr>
          <p:nvPr>
            <p:ph type="ctrTitle"/>
          </p:nvPr>
        </p:nvSpPr>
        <p:spPr>
          <a:xfrm>
            <a:off x="990600" y="1828800"/>
            <a:ext cx="7253808" cy="1143000"/>
          </a:xfrm>
        </p:spPr>
        <p:txBody>
          <a:bodyPr/>
          <a:lstStyle/>
          <a:p>
            <a:pPr algn="ctr">
              <a:defRPr/>
            </a:pPr>
            <a:r>
              <a:rPr lang="zh-CN" altLang="en-US" sz="6000" dirty="0" smtClean="0"/>
              <a:t>第</a:t>
            </a:r>
            <a:r>
              <a:rPr lang="en-US" altLang="zh-CN" sz="6000" dirty="0" smtClean="0"/>
              <a:t>8</a:t>
            </a:r>
            <a:r>
              <a:rPr lang="zh-CN" altLang="en-US" sz="6000" dirty="0" smtClean="0"/>
              <a:t>章 集成学习</a:t>
            </a:r>
            <a:endParaRPr lang="zh-CN" altLang="en-US" sz="6000" dirty="0"/>
          </a:p>
        </p:txBody>
      </p:sp>
      <p:sp>
        <p:nvSpPr>
          <p:cNvPr id="5" name="Rectangle 70"/>
          <p:cNvSpPr>
            <a:spLocks noGrp="1" noChangeArrowheads="1"/>
          </p:cNvSpPr>
          <p:nvPr>
            <p:ph type="sldNum" sz="quarter" idx="4"/>
          </p:nvPr>
        </p:nvSpPr>
        <p:spPr/>
        <p:txBody>
          <a:bodyPr/>
          <a:lstStyle/>
          <a:p>
            <a:pPr>
              <a:defRPr/>
            </a:pPr>
            <a:fld id="{F7EB2F07-B42F-46A0-B759-6009FAA90BFB}" type="slidenum">
              <a:rPr lang="en-US" altLang="zh-CN"/>
            </a:fld>
            <a:endParaRPr lang="en-US" altLang="zh-CN"/>
          </a:p>
        </p:txBody>
      </p:sp>
      <p:sp>
        <p:nvSpPr>
          <p:cNvPr id="2" name="副标题 1"/>
          <p:cNvSpPr/>
          <p:nvPr>
            <p:ph type="subTitle" idx="1"/>
          </p:nvPr>
        </p:nvSpPr>
        <p:spPr/>
        <p:txBody>
          <a:bodyPr/>
          <a:p>
            <a:endParaRPr lang="zh-CN" altLang="en-US"/>
          </a:p>
        </p:txBody>
      </p:sp>
    </p:spTree>
  </p:cSld>
  <p:clrMapOvr>
    <a:masterClrMapping/>
  </p:clrMapOvr>
  <p:transition>
    <p:cover dir="u"/>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主要内容</a:t>
            </a:r>
            <a:endParaRPr lang="zh-CN" altLang="en-US" dirty="0"/>
          </a:p>
        </p:txBody>
      </p:sp>
      <p:sp>
        <p:nvSpPr>
          <p:cNvPr id="3" name="内容占位符 2"/>
          <p:cNvSpPr>
            <a:spLocks noGrp="1"/>
          </p:cNvSpPr>
          <p:nvPr>
            <p:ph idx="1"/>
          </p:nvPr>
        </p:nvSpPr>
        <p:spPr/>
        <p:txBody>
          <a:bodyPr/>
          <a:lstStyle/>
          <a:p>
            <a:pPr>
              <a:spcBef>
                <a:spcPts val="600"/>
              </a:spcBef>
            </a:pPr>
            <a:r>
              <a:rPr lang="zh-CN" altLang="en-US" dirty="0" smtClean="0">
                <a:latin typeface="+mn-ea"/>
              </a:rPr>
              <a:t>个体</a:t>
            </a:r>
            <a:r>
              <a:rPr lang="zh-CN" altLang="en-US" dirty="0">
                <a:latin typeface="+mn-ea"/>
              </a:rPr>
              <a:t>与</a:t>
            </a:r>
            <a:r>
              <a:rPr lang="zh-CN" altLang="en-US" dirty="0" smtClean="0">
                <a:latin typeface="+mn-ea"/>
              </a:rPr>
              <a:t>集成</a:t>
            </a:r>
            <a:endParaRPr lang="en-US" altLang="zh-CN" dirty="0" smtClean="0">
              <a:latin typeface="+mn-ea"/>
            </a:endParaRPr>
          </a:p>
          <a:p>
            <a:pPr>
              <a:spcBef>
                <a:spcPts val="600"/>
              </a:spcBef>
            </a:pPr>
            <a:r>
              <a:rPr lang="en-US" altLang="zh-CN" dirty="0" smtClean="0">
                <a:latin typeface="+mn-ea"/>
              </a:rPr>
              <a:t>Boosting</a:t>
            </a:r>
            <a:endParaRPr lang="en-US" altLang="zh-CN" dirty="0" smtClean="0">
              <a:latin typeface="+mn-ea"/>
            </a:endParaRPr>
          </a:p>
          <a:p>
            <a:pPr>
              <a:spcBef>
                <a:spcPts val="600"/>
              </a:spcBef>
            </a:pPr>
            <a:r>
              <a:rPr lang="en-US" altLang="zh-CN" dirty="0" smtClean="0">
                <a:latin typeface="+mn-ea"/>
              </a:rPr>
              <a:t>Bagging</a:t>
            </a:r>
            <a:r>
              <a:rPr lang="zh-CN" altLang="en-US" dirty="0">
                <a:latin typeface="+mn-ea"/>
              </a:rPr>
              <a:t>与随机</a:t>
            </a:r>
            <a:r>
              <a:rPr lang="zh-CN" altLang="en-US" dirty="0" smtClean="0">
                <a:latin typeface="+mn-ea"/>
              </a:rPr>
              <a:t>森林</a:t>
            </a:r>
            <a:endParaRPr lang="en-US" altLang="zh-CN" dirty="0" smtClean="0">
              <a:latin typeface="+mn-ea"/>
            </a:endParaRPr>
          </a:p>
          <a:p>
            <a:pPr>
              <a:spcBef>
                <a:spcPts val="600"/>
              </a:spcBef>
            </a:pPr>
            <a:r>
              <a:rPr lang="zh-CN" altLang="en-US" dirty="0" smtClean="0">
                <a:latin typeface="+mn-ea"/>
              </a:rPr>
              <a:t>结合策略</a:t>
            </a:r>
            <a:endParaRPr lang="en-US" altLang="zh-CN" dirty="0" smtClean="0">
              <a:latin typeface="+mn-ea"/>
            </a:endParaRPr>
          </a:p>
          <a:p>
            <a:pPr>
              <a:spcBef>
                <a:spcPts val="600"/>
              </a:spcBef>
            </a:pPr>
            <a:r>
              <a:rPr lang="zh-CN" altLang="en-US" dirty="0" smtClean="0">
                <a:latin typeface="+mn-ea"/>
              </a:rPr>
              <a:t>多样性</a:t>
            </a:r>
            <a:endParaRPr lang="zh-CN" altLang="en-US" dirty="0">
              <a:latin typeface="+mn-ea"/>
            </a:endParaRPr>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spTree>
  </p:cSld>
  <p:clrMapOvr>
    <a:masterClrMapping/>
  </p:clrMapOvr>
  <p:transition>
    <p:cover dir="u"/>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8.1 </a:t>
            </a:r>
            <a:r>
              <a:rPr lang="zh-CN" altLang="en-US" dirty="0" smtClean="0"/>
              <a:t>个体</a:t>
            </a:r>
            <a:r>
              <a:rPr lang="zh-CN" altLang="en-US" dirty="0"/>
              <a:t>与集成</a:t>
            </a:r>
            <a:endParaRPr lang="zh-CN" altLang="en-US" dirty="0"/>
          </a:p>
        </p:txBody>
      </p:sp>
      <p:sp>
        <p:nvSpPr>
          <p:cNvPr id="3" name="内容占位符 2"/>
          <p:cNvSpPr>
            <a:spLocks noGrp="1"/>
          </p:cNvSpPr>
          <p:nvPr>
            <p:ph idx="1"/>
          </p:nvPr>
        </p:nvSpPr>
        <p:spPr/>
        <p:txBody>
          <a:bodyPr/>
          <a:lstStyle/>
          <a:p>
            <a:r>
              <a:rPr lang="zh-CN" altLang="en-US" dirty="0"/>
              <a:t>集成</a:t>
            </a:r>
            <a:r>
              <a:rPr lang="zh-CN" altLang="en-US" dirty="0" smtClean="0"/>
              <a:t>学习</a:t>
            </a:r>
            <a:endParaRPr lang="en-US" altLang="zh-CN" dirty="0" smtClean="0"/>
          </a:p>
          <a:p>
            <a:pPr lvl="1"/>
            <a:r>
              <a:rPr lang="zh-CN" altLang="en-US" dirty="0" smtClean="0"/>
              <a:t>通过</a:t>
            </a:r>
            <a:r>
              <a:rPr lang="zh-CN" altLang="en-US" dirty="0"/>
              <a:t>构建并结合多个学习器来完成学习</a:t>
            </a:r>
            <a:r>
              <a:rPr lang="zh-CN" altLang="en-US" dirty="0" smtClean="0"/>
              <a:t>任务</a:t>
            </a:r>
            <a:endParaRPr lang="en-US" altLang="zh-CN" dirty="0" smtClean="0"/>
          </a:p>
          <a:p>
            <a:pPr lvl="2"/>
            <a:r>
              <a:rPr lang="zh-CN" altLang="en-US" dirty="0"/>
              <a:t>结构：先产生一</a:t>
            </a:r>
            <a:r>
              <a:rPr lang="zh-CN" altLang="en-US" dirty="0" smtClean="0"/>
              <a:t>组个体</a:t>
            </a:r>
            <a:r>
              <a:rPr lang="zh-CN" altLang="en-US" dirty="0"/>
              <a:t>学习</a:t>
            </a:r>
            <a:r>
              <a:rPr lang="zh-CN" altLang="en-US" dirty="0" smtClean="0"/>
              <a:t>器，</a:t>
            </a:r>
            <a:r>
              <a:rPr lang="zh-CN" altLang="en-US" dirty="0"/>
              <a:t>再用某种策略将它们结合</a:t>
            </a:r>
            <a:r>
              <a:rPr lang="zh-CN" altLang="en-US" dirty="0" smtClean="0"/>
              <a:t>起来</a:t>
            </a:r>
            <a:endParaRPr lang="en-US" altLang="zh-CN" dirty="0" smtClean="0"/>
          </a:p>
          <a:p>
            <a:pPr lvl="3"/>
            <a:r>
              <a:rPr lang="zh-CN" altLang="en-US" dirty="0"/>
              <a:t>个体学习</a:t>
            </a:r>
            <a:r>
              <a:rPr lang="zh-CN" altLang="en-US" dirty="0" smtClean="0"/>
              <a:t>器通常由</a:t>
            </a:r>
            <a:r>
              <a:rPr lang="zh-CN" altLang="en-US" dirty="0"/>
              <a:t>一个</a:t>
            </a:r>
            <a:r>
              <a:rPr lang="zh-CN" altLang="en-US" dirty="0" smtClean="0"/>
              <a:t>现有学习</a:t>
            </a:r>
            <a:r>
              <a:rPr lang="zh-CN" altLang="en-US" dirty="0"/>
              <a:t>算法从训练数据产生</a:t>
            </a:r>
            <a:endParaRPr lang="en-US" altLang="zh-CN" dirty="0" smtClean="0"/>
          </a:p>
          <a:p>
            <a:pPr lvl="1"/>
            <a:r>
              <a:rPr lang="zh-CN" altLang="en-US" dirty="0" smtClean="0"/>
              <a:t>也称为</a:t>
            </a:r>
            <a:r>
              <a:rPr lang="zh-CN" altLang="en-US" dirty="0"/>
              <a:t>多分类器</a:t>
            </a:r>
            <a:r>
              <a:rPr lang="zh-CN" altLang="en-US" dirty="0" smtClean="0"/>
              <a:t>系统、基于</a:t>
            </a:r>
            <a:r>
              <a:rPr lang="zh-CN" altLang="en-US" dirty="0"/>
              <a:t>委员会的</a:t>
            </a:r>
            <a:r>
              <a:rPr lang="zh-CN" altLang="en-US" dirty="0" smtClean="0"/>
              <a:t>学习</a:t>
            </a:r>
            <a:endParaRPr lang="en-US" altLang="zh-CN" dirty="0" smtClean="0"/>
          </a:p>
          <a:p>
            <a:pPr lvl="1"/>
            <a:endParaRPr lang="en-US" altLang="zh-CN" dirty="0" smtClean="0"/>
          </a:p>
          <a:p>
            <a:endParaRPr lang="zh-CN" altLang="en-US" dirty="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pic>
        <p:nvPicPr>
          <p:cNvPr id="5" name="图片 4"/>
          <p:cNvPicPr>
            <a:picLocks noChangeAspect="1"/>
          </p:cNvPicPr>
          <p:nvPr/>
        </p:nvPicPr>
        <p:blipFill>
          <a:blip r:embed="rId1"/>
          <a:stretch>
            <a:fillRect/>
          </a:stretch>
        </p:blipFill>
        <p:spPr>
          <a:xfrm>
            <a:off x="1506845" y="3317776"/>
            <a:ext cx="6665555" cy="2703512"/>
          </a:xfrm>
          <a:prstGeom prst="rect">
            <a:avLst/>
          </a:prstGeom>
        </p:spPr>
      </p:pic>
    </p:spTree>
  </p:cSld>
  <p:clrMapOvr>
    <a:masterClrMapping/>
  </p:clrMapOvr>
  <p:transition>
    <p:cover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8.1 </a:t>
            </a:r>
            <a:r>
              <a:rPr lang="zh-CN" altLang="en-US" dirty="0" smtClean="0"/>
              <a:t>个体</a:t>
            </a:r>
            <a:r>
              <a:rPr lang="zh-CN" altLang="en-US" dirty="0"/>
              <a:t>与集成</a:t>
            </a:r>
            <a:endParaRPr lang="zh-CN" altLang="en-US" dirty="0"/>
          </a:p>
        </p:txBody>
      </p:sp>
      <p:sp>
        <p:nvSpPr>
          <p:cNvPr id="3" name="内容占位符 2"/>
          <p:cNvSpPr>
            <a:spLocks noGrp="1"/>
          </p:cNvSpPr>
          <p:nvPr>
            <p:ph idx="1"/>
          </p:nvPr>
        </p:nvSpPr>
        <p:spPr/>
        <p:txBody>
          <a:bodyPr/>
          <a:lstStyle/>
          <a:p>
            <a:r>
              <a:rPr lang="zh-CN" altLang="en-US" dirty="0" smtClean="0"/>
              <a:t>同</a:t>
            </a:r>
            <a:r>
              <a:rPr lang="zh-CN" altLang="en-US" dirty="0"/>
              <a:t>质与异</a:t>
            </a:r>
            <a:r>
              <a:rPr lang="zh-CN" altLang="en-US" dirty="0" smtClean="0"/>
              <a:t>质集成</a:t>
            </a:r>
            <a:endParaRPr lang="en-US" altLang="zh-CN" dirty="0" smtClean="0"/>
          </a:p>
          <a:p>
            <a:pPr lvl="1"/>
            <a:r>
              <a:rPr lang="zh-CN" altLang="en-US" dirty="0"/>
              <a:t>同</a:t>
            </a:r>
            <a:r>
              <a:rPr lang="zh-CN" altLang="en-US" dirty="0" smtClean="0"/>
              <a:t>质集成</a:t>
            </a:r>
            <a:endParaRPr lang="en-US" altLang="zh-CN" dirty="0" smtClean="0"/>
          </a:p>
          <a:p>
            <a:pPr lvl="2"/>
            <a:r>
              <a:rPr lang="zh-CN" altLang="en-US" dirty="0" smtClean="0"/>
              <a:t>集成</a:t>
            </a:r>
            <a:r>
              <a:rPr lang="zh-CN" altLang="en-US" dirty="0"/>
              <a:t>中只包含同种类型</a:t>
            </a:r>
            <a:r>
              <a:rPr lang="zh-CN" altLang="en-US" dirty="0" smtClean="0"/>
              <a:t>的个体</a:t>
            </a:r>
            <a:r>
              <a:rPr lang="zh-CN" altLang="en-US" dirty="0"/>
              <a:t>学习</a:t>
            </a:r>
            <a:r>
              <a:rPr lang="zh-CN" altLang="en-US" dirty="0" smtClean="0"/>
              <a:t>器</a:t>
            </a:r>
            <a:endParaRPr lang="zh-CN" altLang="en-US" dirty="0"/>
          </a:p>
          <a:p>
            <a:pPr lvl="2"/>
            <a:r>
              <a:rPr lang="zh-CN" altLang="en-US" dirty="0"/>
              <a:t>相应的学习算法</a:t>
            </a:r>
            <a:r>
              <a:rPr lang="zh-CN" altLang="en-US" dirty="0" smtClean="0"/>
              <a:t>称为基</a:t>
            </a:r>
            <a:r>
              <a:rPr lang="zh-CN" altLang="en-US" dirty="0"/>
              <a:t>学习</a:t>
            </a:r>
            <a:r>
              <a:rPr lang="zh-CN" altLang="en-US" dirty="0" smtClean="0"/>
              <a:t>算法</a:t>
            </a:r>
            <a:endParaRPr lang="zh-CN" altLang="en-US" dirty="0"/>
          </a:p>
          <a:p>
            <a:pPr lvl="2"/>
            <a:r>
              <a:rPr lang="zh-CN" altLang="en-US" dirty="0" smtClean="0"/>
              <a:t>个体</a:t>
            </a:r>
            <a:r>
              <a:rPr lang="zh-CN" altLang="en-US" dirty="0"/>
              <a:t>学习器亦</a:t>
            </a:r>
            <a:r>
              <a:rPr lang="zh-CN" altLang="en-US" dirty="0" smtClean="0"/>
              <a:t>称基</a:t>
            </a:r>
            <a:r>
              <a:rPr lang="zh-CN" altLang="en-US" dirty="0"/>
              <a:t>学习</a:t>
            </a:r>
            <a:r>
              <a:rPr lang="zh-CN" altLang="en-US" dirty="0" smtClean="0"/>
              <a:t>器</a:t>
            </a:r>
            <a:endParaRPr lang="zh-CN" altLang="en-US" dirty="0"/>
          </a:p>
          <a:p>
            <a:pPr lvl="1"/>
            <a:r>
              <a:rPr lang="zh-CN" altLang="en-US" dirty="0" smtClean="0"/>
              <a:t>异质集成</a:t>
            </a:r>
            <a:endParaRPr lang="en-US" altLang="zh-CN" dirty="0" smtClean="0"/>
          </a:p>
          <a:p>
            <a:pPr lvl="2"/>
            <a:r>
              <a:rPr lang="zh-CN" altLang="en-US" dirty="0"/>
              <a:t>个体学习器由不同的学习算法生成</a:t>
            </a:r>
            <a:endParaRPr lang="zh-CN" altLang="en-US" dirty="0"/>
          </a:p>
          <a:p>
            <a:pPr lvl="2"/>
            <a:r>
              <a:rPr lang="zh-CN" altLang="en-US" dirty="0"/>
              <a:t>不</a:t>
            </a:r>
            <a:r>
              <a:rPr lang="zh-CN" altLang="en-US" dirty="0" smtClean="0"/>
              <a:t>存在基</a:t>
            </a:r>
            <a:r>
              <a:rPr lang="zh-CN" altLang="en-US" dirty="0"/>
              <a:t>学习</a:t>
            </a:r>
            <a:r>
              <a:rPr lang="zh-CN" altLang="en-US" dirty="0" smtClean="0"/>
              <a:t>算法</a:t>
            </a:r>
            <a:endParaRPr lang="en-US" altLang="zh-CN" dirty="0"/>
          </a:p>
          <a:p>
            <a:pPr lvl="2"/>
            <a:r>
              <a:rPr lang="zh-CN" altLang="en-US" dirty="0"/>
              <a:t>个体学习</a:t>
            </a:r>
            <a:r>
              <a:rPr lang="zh-CN" altLang="en-US" dirty="0" smtClean="0"/>
              <a:t>器称为组件</a:t>
            </a:r>
            <a:r>
              <a:rPr lang="zh-CN" altLang="en-US" dirty="0"/>
              <a:t>学习</a:t>
            </a:r>
            <a:r>
              <a:rPr lang="zh-CN" altLang="en-US" dirty="0" smtClean="0"/>
              <a:t>器或个体</a:t>
            </a:r>
            <a:r>
              <a:rPr lang="zh-CN" altLang="en-US" dirty="0"/>
              <a:t>学习</a:t>
            </a:r>
            <a:r>
              <a:rPr lang="zh-CN" altLang="en-US" dirty="0" smtClean="0"/>
              <a:t>器，不</a:t>
            </a:r>
            <a:r>
              <a:rPr lang="zh-CN" altLang="en-US" dirty="0"/>
              <a:t>称为基学习</a:t>
            </a:r>
            <a:r>
              <a:rPr lang="zh-CN" altLang="en-US" dirty="0" smtClean="0"/>
              <a:t>器</a:t>
            </a:r>
            <a:endParaRPr lang="en-US" altLang="zh-CN" dirty="0" smtClean="0"/>
          </a:p>
          <a:p>
            <a:endParaRPr lang="zh-CN" altLang="en-US" dirty="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pic>
        <p:nvPicPr>
          <p:cNvPr id="6" name="图片 5"/>
          <p:cNvPicPr>
            <a:picLocks noChangeAspect="1"/>
          </p:cNvPicPr>
          <p:nvPr/>
        </p:nvPicPr>
        <p:blipFill>
          <a:blip r:embed="rId1"/>
          <a:stretch>
            <a:fillRect/>
          </a:stretch>
        </p:blipFill>
        <p:spPr>
          <a:xfrm>
            <a:off x="2195736" y="4781890"/>
            <a:ext cx="4930814" cy="1999910"/>
          </a:xfrm>
          <a:prstGeom prst="rect">
            <a:avLst/>
          </a:prstGeom>
        </p:spPr>
      </p:pic>
    </p:spTree>
  </p:cSld>
  <p:clrMapOvr>
    <a:masterClrMapping/>
  </p:clrMapOvr>
  <p:transition>
    <p:cover dir="u"/>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8.1 </a:t>
            </a:r>
            <a:r>
              <a:rPr lang="zh-CN" altLang="en-US" dirty="0"/>
              <a:t>个体与集成</a:t>
            </a:r>
            <a:endParaRPr lang="zh-CN" altLang="en-US" dirty="0"/>
          </a:p>
        </p:txBody>
      </p:sp>
      <p:sp>
        <p:nvSpPr>
          <p:cNvPr id="3" name="内容占位符 2"/>
          <p:cNvSpPr>
            <a:spLocks noGrp="1"/>
          </p:cNvSpPr>
          <p:nvPr>
            <p:ph idx="1"/>
          </p:nvPr>
        </p:nvSpPr>
        <p:spPr/>
        <p:txBody>
          <a:bodyPr/>
          <a:lstStyle/>
          <a:p>
            <a:r>
              <a:rPr lang="zh-CN" altLang="en-US" dirty="0" smtClean="0"/>
              <a:t>为什么集成</a:t>
            </a:r>
            <a:endParaRPr lang="en-US" altLang="zh-CN" dirty="0" smtClean="0"/>
          </a:p>
          <a:p>
            <a:pPr lvl="1"/>
            <a:r>
              <a:rPr lang="zh-CN" altLang="en-US" dirty="0"/>
              <a:t>集成的泛化性能通常显著优于单个学习器的泛化性能</a:t>
            </a:r>
            <a:endParaRPr lang="zh-CN" altLang="en-US" dirty="0"/>
          </a:p>
          <a:p>
            <a:pPr lvl="2"/>
            <a:r>
              <a:rPr lang="zh-CN" altLang="en-US" dirty="0" smtClean="0"/>
              <a:t>对于弱</a:t>
            </a:r>
            <a:r>
              <a:rPr lang="zh-CN" altLang="en-US" dirty="0"/>
              <a:t>学习</a:t>
            </a:r>
            <a:r>
              <a:rPr lang="zh-CN" altLang="en-US" dirty="0" smtClean="0"/>
              <a:t>器尤为明显</a:t>
            </a:r>
            <a:endParaRPr lang="en-US" altLang="zh-CN" dirty="0" smtClean="0"/>
          </a:p>
          <a:p>
            <a:pPr lvl="3"/>
            <a:r>
              <a:rPr lang="zh-CN" altLang="en-US" dirty="0" smtClean="0"/>
              <a:t>集成</a:t>
            </a:r>
            <a:r>
              <a:rPr lang="zh-CN" altLang="en-US" dirty="0"/>
              <a:t>学习的很多理论研究都是针对弱学习器进行的</a:t>
            </a:r>
            <a:r>
              <a:rPr lang="zh-CN" altLang="en-US" dirty="0" smtClean="0"/>
              <a:t>，基</a:t>
            </a:r>
            <a:r>
              <a:rPr lang="zh-CN" altLang="en-US" dirty="0"/>
              <a:t>学习</a:t>
            </a:r>
            <a:r>
              <a:rPr lang="zh-CN" altLang="en-US" dirty="0" smtClean="0"/>
              <a:t>器也被称为</a:t>
            </a:r>
            <a:r>
              <a:rPr lang="zh-CN" altLang="en-US" dirty="0"/>
              <a:t>弱学习</a:t>
            </a:r>
            <a:r>
              <a:rPr lang="zh-CN" altLang="en-US" dirty="0" smtClean="0"/>
              <a:t>器</a:t>
            </a:r>
            <a:endParaRPr lang="en-US" altLang="zh-CN" dirty="0" smtClean="0"/>
          </a:p>
          <a:p>
            <a:pPr lvl="3"/>
            <a:r>
              <a:rPr lang="zh-CN" altLang="en-US" dirty="0" smtClean="0"/>
              <a:t>实践中希望</a:t>
            </a:r>
            <a:r>
              <a:rPr lang="zh-CN" altLang="en-US" dirty="0"/>
              <a:t>使用较少的个体学习器，</a:t>
            </a:r>
            <a:r>
              <a:rPr lang="zh-CN" altLang="en-US" dirty="0" smtClean="0"/>
              <a:t>或重用关于学习</a:t>
            </a:r>
            <a:r>
              <a:rPr lang="zh-CN" altLang="en-US" dirty="0"/>
              <a:t>器的一些</a:t>
            </a:r>
            <a:r>
              <a:rPr lang="zh-CN" altLang="en-US" dirty="0" smtClean="0"/>
              <a:t>经验，常会</a:t>
            </a:r>
            <a:r>
              <a:rPr lang="zh-CN" altLang="en-US" dirty="0"/>
              <a:t>使用比较强的学习</a:t>
            </a:r>
            <a:r>
              <a:rPr lang="zh-CN" altLang="en-US" dirty="0" smtClean="0"/>
              <a:t>器</a:t>
            </a:r>
            <a:endParaRPr lang="zh-CN" altLang="en-US" dirty="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pic>
        <p:nvPicPr>
          <p:cNvPr id="6" name="图片 5"/>
          <p:cNvPicPr>
            <a:picLocks noChangeAspect="1"/>
          </p:cNvPicPr>
          <p:nvPr/>
        </p:nvPicPr>
        <p:blipFill>
          <a:blip r:embed="rId1"/>
          <a:stretch>
            <a:fillRect/>
          </a:stretch>
        </p:blipFill>
        <p:spPr>
          <a:xfrm>
            <a:off x="634008" y="3907002"/>
            <a:ext cx="7898432" cy="2834366"/>
          </a:xfrm>
          <a:prstGeom prst="rect">
            <a:avLst/>
          </a:prstGeom>
        </p:spPr>
      </p:pic>
    </p:spTree>
  </p:cSld>
  <p:clrMapOvr>
    <a:masterClrMapping/>
  </p:clrMapOvr>
  <p:transition>
    <p:cover dir="u"/>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a:stretch>
            <a:fillRect/>
          </a:stretch>
        </p:blipFill>
        <p:spPr>
          <a:xfrm>
            <a:off x="611559" y="4905376"/>
            <a:ext cx="8189723" cy="1908000"/>
          </a:xfrm>
          <a:prstGeom prst="rect">
            <a:avLst/>
          </a:prstGeom>
        </p:spPr>
      </p:pic>
      <p:sp>
        <p:nvSpPr>
          <p:cNvPr id="2" name="标题 1"/>
          <p:cNvSpPr>
            <a:spLocks noGrp="1"/>
          </p:cNvSpPr>
          <p:nvPr>
            <p:ph type="title"/>
          </p:nvPr>
        </p:nvSpPr>
        <p:spPr/>
        <p:txBody>
          <a:bodyPr/>
          <a:lstStyle/>
          <a:p>
            <a:r>
              <a:rPr lang="en-US" altLang="zh-CN" dirty="0"/>
              <a:t>8.1 </a:t>
            </a:r>
            <a:r>
              <a:rPr lang="zh-CN" altLang="en-US" dirty="0"/>
              <a:t>个体与集成</a:t>
            </a:r>
            <a:endParaRPr lang="zh-CN" altLang="en-US" dirty="0"/>
          </a:p>
        </p:txBody>
      </p:sp>
      <p:sp>
        <p:nvSpPr>
          <p:cNvPr id="3" name="内容占位符 2"/>
          <p:cNvSpPr>
            <a:spLocks noGrp="1"/>
          </p:cNvSpPr>
          <p:nvPr>
            <p:ph idx="1"/>
          </p:nvPr>
        </p:nvSpPr>
        <p:spPr/>
        <p:txBody>
          <a:bodyPr/>
          <a:lstStyle/>
          <a:p>
            <a:r>
              <a:rPr lang="zh-CN" altLang="en-US" dirty="0" smtClean="0"/>
              <a:t>如何集成</a:t>
            </a:r>
            <a:endParaRPr lang="en-US" altLang="zh-CN" dirty="0" smtClean="0"/>
          </a:p>
          <a:p>
            <a:pPr lvl="1"/>
            <a:r>
              <a:rPr lang="zh-CN" altLang="en-US" dirty="0" smtClean="0"/>
              <a:t>例子</a:t>
            </a:r>
            <a:endParaRPr lang="en-US" altLang="zh-CN" dirty="0" smtClean="0"/>
          </a:p>
          <a:p>
            <a:pPr lvl="2"/>
            <a:r>
              <a:rPr lang="zh-CN" altLang="en-US" dirty="0" smtClean="0"/>
              <a:t>二</a:t>
            </a:r>
            <a:r>
              <a:rPr lang="zh-CN" altLang="en-US" dirty="0"/>
              <a:t>分类</a:t>
            </a:r>
            <a:r>
              <a:rPr lang="zh-CN" altLang="en-US" dirty="0" smtClean="0"/>
              <a:t>任务，三</a:t>
            </a:r>
            <a:r>
              <a:rPr lang="zh-CN" altLang="en-US" dirty="0"/>
              <a:t>个</a:t>
            </a:r>
            <a:r>
              <a:rPr lang="zh-CN" altLang="en-US" dirty="0" smtClean="0"/>
              <a:t>分类器，三</a:t>
            </a:r>
            <a:r>
              <a:rPr lang="zh-CN" altLang="en-US" dirty="0"/>
              <a:t>个测试</a:t>
            </a:r>
            <a:r>
              <a:rPr lang="zh-CN" altLang="en-US" dirty="0" smtClean="0"/>
              <a:t>样本</a:t>
            </a:r>
            <a:endParaRPr lang="en-US" altLang="zh-CN" dirty="0" smtClean="0"/>
          </a:p>
          <a:p>
            <a:pPr lvl="3"/>
            <a:r>
              <a:rPr lang="zh-CN" altLang="en-US" b="0" dirty="0"/>
              <a:t>√</a:t>
            </a:r>
            <a:r>
              <a:rPr lang="zh-CN" altLang="en-US" dirty="0"/>
              <a:t>表示分类正确，</a:t>
            </a:r>
            <a:r>
              <a:rPr lang="en-US" altLang="zh-CN" dirty="0"/>
              <a:t>×</a:t>
            </a:r>
            <a:r>
              <a:rPr lang="zh-CN" altLang="en-US" dirty="0"/>
              <a:t>表示分类</a:t>
            </a:r>
            <a:r>
              <a:rPr lang="zh-CN" altLang="en-US" dirty="0" smtClean="0"/>
              <a:t>错误</a:t>
            </a:r>
            <a:endParaRPr lang="en-US" altLang="zh-CN" dirty="0" smtClean="0"/>
          </a:p>
          <a:p>
            <a:pPr lvl="3"/>
            <a:r>
              <a:rPr lang="zh-CN" altLang="en-US" dirty="0"/>
              <a:t>集成</a:t>
            </a:r>
            <a:r>
              <a:rPr lang="zh-CN" altLang="en-US" dirty="0" smtClean="0"/>
              <a:t>学习结果</a:t>
            </a:r>
            <a:r>
              <a:rPr lang="zh-CN" altLang="en-US" dirty="0"/>
              <a:t>通过投票</a:t>
            </a:r>
            <a:r>
              <a:rPr lang="zh-CN" altLang="en-US" dirty="0" smtClean="0"/>
              <a:t>法产生，即少数</a:t>
            </a:r>
            <a:r>
              <a:rPr lang="zh-CN" altLang="en-US" dirty="0"/>
              <a:t>服从</a:t>
            </a:r>
            <a:r>
              <a:rPr lang="zh-CN" altLang="en-US" dirty="0" smtClean="0"/>
              <a:t>多数</a:t>
            </a:r>
            <a:endParaRPr lang="en-US" altLang="zh-CN" dirty="0" smtClean="0"/>
          </a:p>
          <a:p>
            <a:pPr lvl="3"/>
            <a:r>
              <a:rPr lang="zh-CN" altLang="en-US" dirty="0" smtClean="0">
                <a:latin typeface="+mn-ea"/>
              </a:rPr>
              <a:t>集成结果</a:t>
            </a:r>
            <a:endParaRPr lang="en-US" altLang="zh-CN" dirty="0" smtClean="0">
              <a:latin typeface="+mn-ea"/>
            </a:endParaRPr>
          </a:p>
          <a:p>
            <a:pPr lvl="4"/>
            <a:r>
              <a:rPr lang="zh-CN" altLang="en-US" dirty="0" smtClean="0">
                <a:latin typeface="+mn-ea"/>
              </a:rPr>
              <a:t>集成</a:t>
            </a:r>
            <a:r>
              <a:rPr lang="en-US" altLang="zh-CN" dirty="0" smtClean="0">
                <a:latin typeface="+mn-ea"/>
              </a:rPr>
              <a:t>a</a:t>
            </a:r>
            <a:r>
              <a:rPr lang="zh-CN" altLang="en-US" dirty="0" smtClean="0">
                <a:latin typeface="+mn-ea"/>
              </a:rPr>
              <a:t>，每个分类器只有</a:t>
            </a:r>
            <a:r>
              <a:rPr lang="en-US" altLang="zh-CN" dirty="0" smtClean="0">
                <a:latin typeface="+mn-ea"/>
              </a:rPr>
              <a:t>66.6%</a:t>
            </a:r>
            <a:r>
              <a:rPr lang="zh-CN" altLang="en-US" dirty="0" smtClean="0">
                <a:latin typeface="+mn-ea"/>
              </a:rPr>
              <a:t>的精度，集成学习达到了</a:t>
            </a:r>
            <a:r>
              <a:rPr lang="en-US" altLang="zh-CN" dirty="0" smtClean="0">
                <a:latin typeface="+mn-ea"/>
              </a:rPr>
              <a:t>100%</a:t>
            </a:r>
            <a:endParaRPr lang="en-US" altLang="zh-CN" dirty="0" smtClean="0">
              <a:latin typeface="+mn-ea"/>
            </a:endParaRPr>
          </a:p>
          <a:p>
            <a:pPr lvl="4"/>
            <a:r>
              <a:rPr lang="zh-CN" altLang="en-US" dirty="0" smtClean="0">
                <a:latin typeface="+mn-ea"/>
              </a:rPr>
              <a:t>集成</a:t>
            </a:r>
            <a:r>
              <a:rPr lang="en-US" altLang="zh-CN" dirty="0" smtClean="0">
                <a:latin typeface="+mn-ea"/>
              </a:rPr>
              <a:t>b</a:t>
            </a:r>
            <a:r>
              <a:rPr lang="zh-CN" altLang="en-US" dirty="0" smtClean="0">
                <a:latin typeface="+mn-ea"/>
              </a:rPr>
              <a:t>，</a:t>
            </a:r>
            <a:r>
              <a:rPr lang="zh-CN" altLang="en-US" dirty="0"/>
              <a:t>三个分类器没有差别，集成之后性能没有</a:t>
            </a:r>
            <a:r>
              <a:rPr lang="zh-CN" altLang="en-US" dirty="0" smtClean="0"/>
              <a:t>提高</a:t>
            </a:r>
            <a:endParaRPr lang="en-US" altLang="zh-CN" dirty="0" smtClean="0"/>
          </a:p>
          <a:p>
            <a:pPr lvl="4"/>
            <a:r>
              <a:rPr lang="zh-CN" altLang="en-US" dirty="0" smtClean="0">
                <a:latin typeface="+mn-ea"/>
              </a:rPr>
              <a:t>集成</a:t>
            </a:r>
            <a:r>
              <a:rPr lang="en-US" altLang="zh-CN" dirty="0" smtClean="0">
                <a:latin typeface="+mn-ea"/>
              </a:rPr>
              <a:t>c</a:t>
            </a:r>
            <a:r>
              <a:rPr lang="zh-CN" altLang="en-US" dirty="0" smtClean="0">
                <a:latin typeface="+mn-ea"/>
              </a:rPr>
              <a:t>，</a:t>
            </a:r>
            <a:r>
              <a:rPr lang="zh-CN" altLang="en-US" dirty="0"/>
              <a:t>每个分类器的精度</a:t>
            </a:r>
            <a:r>
              <a:rPr lang="zh-CN" altLang="en-US" dirty="0">
                <a:latin typeface="+mn-ea"/>
              </a:rPr>
              <a:t>都只有</a:t>
            </a:r>
            <a:r>
              <a:rPr lang="en-US" altLang="zh-CN" dirty="0">
                <a:latin typeface="+mn-ea"/>
              </a:rPr>
              <a:t>33.3%</a:t>
            </a:r>
            <a:r>
              <a:rPr lang="zh-CN" altLang="en-US" dirty="0">
                <a:latin typeface="+mn-ea"/>
              </a:rPr>
              <a:t>，集成</a:t>
            </a:r>
            <a:r>
              <a:rPr lang="zh-CN" altLang="en-US" dirty="0"/>
              <a:t>学习的结果变得更</a:t>
            </a:r>
            <a:r>
              <a:rPr lang="zh-CN" altLang="en-US" dirty="0" smtClean="0"/>
              <a:t>糟</a:t>
            </a:r>
            <a:endParaRPr lang="en-US" altLang="zh-CN" dirty="0" smtClean="0">
              <a:latin typeface="+mn-ea"/>
            </a:endParaRPr>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spTree>
  </p:cSld>
  <p:clrMapOvr>
    <a:masterClrMapping/>
  </p:clrMapOvr>
  <p:transition>
    <p:cover dir="u"/>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8.1 </a:t>
            </a:r>
            <a:r>
              <a:rPr lang="zh-CN" altLang="en-US" dirty="0"/>
              <a:t>个体与集成</a:t>
            </a:r>
            <a:endParaRPr lang="zh-CN" altLang="en-US" dirty="0"/>
          </a:p>
        </p:txBody>
      </p:sp>
      <p:sp>
        <p:nvSpPr>
          <p:cNvPr id="3" name="内容占位符 2"/>
          <p:cNvSpPr>
            <a:spLocks noGrp="1"/>
          </p:cNvSpPr>
          <p:nvPr>
            <p:ph idx="1"/>
          </p:nvPr>
        </p:nvSpPr>
        <p:spPr/>
        <p:txBody>
          <a:bodyPr/>
          <a:lstStyle/>
          <a:p>
            <a:r>
              <a:rPr lang="zh-CN" altLang="en-US" dirty="0" smtClean="0"/>
              <a:t>如何集成</a:t>
            </a:r>
            <a:endParaRPr lang="en-US" altLang="zh-CN" dirty="0" smtClean="0"/>
          </a:p>
          <a:p>
            <a:pPr lvl="1"/>
            <a:r>
              <a:rPr lang="zh-CN" altLang="en-US" dirty="0" smtClean="0"/>
              <a:t>结论</a:t>
            </a:r>
            <a:endParaRPr lang="en-US" altLang="zh-CN" dirty="0" smtClean="0"/>
          </a:p>
          <a:p>
            <a:pPr lvl="2"/>
            <a:r>
              <a:rPr lang="zh-CN" altLang="en-US" dirty="0" smtClean="0"/>
              <a:t>个体</a:t>
            </a:r>
            <a:r>
              <a:rPr lang="zh-CN" altLang="en-US" dirty="0"/>
              <a:t>学习器</a:t>
            </a:r>
            <a:r>
              <a:rPr lang="zh-CN" altLang="en-US" dirty="0" smtClean="0"/>
              <a:t>应好</a:t>
            </a:r>
            <a:r>
              <a:rPr lang="zh-CN" altLang="en-US" dirty="0"/>
              <a:t>而</a:t>
            </a:r>
            <a:r>
              <a:rPr lang="zh-CN" altLang="en-US" dirty="0" smtClean="0"/>
              <a:t>不同，</a:t>
            </a:r>
            <a:r>
              <a:rPr lang="zh-CN" altLang="en-US" dirty="0"/>
              <a:t>即个体学习器要有一定</a:t>
            </a:r>
            <a:r>
              <a:rPr lang="zh-CN" altLang="en-US" dirty="0" smtClean="0"/>
              <a:t>的准确性和</a:t>
            </a:r>
            <a:r>
              <a:rPr lang="zh-CN" altLang="en-US" dirty="0"/>
              <a:t>多样性</a:t>
            </a:r>
            <a:r>
              <a:rPr lang="zh-CN" altLang="en-US" dirty="0" smtClean="0"/>
              <a:t>，学习</a:t>
            </a:r>
            <a:r>
              <a:rPr lang="zh-CN" altLang="en-US" dirty="0"/>
              <a:t>器不能太</a:t>
            </a:r>
            <a:r>
              <a:rPr lang="zh-CN" altLang="en-US" dirty="0" smtClean="0"/>
              <a:t>坏且具有差异</a:t>
            </a:r>
            <a:endParaRPr lang="en-US" altLang="zh-CN" dirty="0" smtClean="0"/>
          </a:p>
          <a:p>
            <a:pPr lvl="1"/>
            <a:r>
              <a:rPr lang="zh-CN" altLang="en-US" dirty="0" smtClean="0"/>
              <a:t>分析</a:t>
            </a:r>
            <a:endParaRPr lang="en-US" altLang="zh-CN" dirty="0" smtClean="0"/>
          </a:p>
          <a:p>
            <a:pPr lvl="2"/>
            <a:r>
              <a:rPr lang="zh-CN" altLang="en-US" spc="-50" dirty="0" smtClean="0"/>
              <a:t>设二</a:t>
            </a:r>
            <a:r>
              <a:rPr lang="zh-CN" altLang="en-US" spc="-50" dirty="0"/>
              <a:t>分类</a:t>
            </a:r>
            <a:r>
              <a:rPr lang="zh-CN" altLang="en-US" spc="-50" dirty="0" smtClean="0"/>
              <a:t>问题</a:t>
            </a:r>
            <a:r>
              <a:rPr lang="en-US" altLang="zh-CN" spc="-50" dirty="0" smtClean="0"/>
              <a:t>            </a:t>
            </a:r>
            <a:r>
              <a:rPr lang="en-US" altLang="zh-CN" spc="-50" dirty="0" smtClean="0"/>
              <a:t>  </a:t>
            </a:r>
            <a:r>
              <a:rPr lang="zh-CN" altLang="en-US" spc="-50" dirty="0" smtClean="0"/>
              <a:t>和</a:t>
            </a:r>
            <a:r>
              <a:rPr lang="zh-CN" altLang="en-US" spc="-50" dirty="0"/>
              <a:t>真实</a:t>
            </a:r>
            <a:r>
              <a:rPr lang="zh-CN" altLang="en-US" spc="-50" dirty="0" smtClean="0"/>
              <a:t>函数 </a:t>
            </a:r>
            <a:r>
              <a:rPr lang="en-US" altLang="zh-CN" spc="-50" dirty="0" smtClean="0"/>
              <a:t> </a:t>
            </a:r>
            <a:r>
              <a:rPr lang="zh-CN" altLang="en-US" spc="-50" dirty="0" smtClean="0"/>
              <a:t>，个</a:t>
            </a:r>
            <a:r>
              <a:rPr lang="zh-CN" altLang="en-US" spc="-50" dirty="0"/>
              <a:t>基分类器</a:t>
            </a:r>
            <a:endParaRPr lang="en-US" altLang="zh-CN" spc="-50" dirty="0" smtClean="0"/>
          </a:p>
          <a:p>
            <a:pPr lvl="3"/>
            <a:r>
              <a:rPr lang="zh-CN" altLang="en-US" dirty="0" smtClean="0"/>
              <a:t>设定</a:t>
            </a:r>
            <a:r>
              <a:rPr lang="zh-CN" altLang="en-US" dirty="0"/>
              <a:t>基分类器的错误率</a:t>
            </a:r>
            <a:r>
              <a:rPr lang="zh-CN" altLang="en-US" dirty="0" smtClean="0"/>
              <a:t>为   ，即对基分类器   有</a:t>
            </a:r>
            <a:endParaRPr lang="en-US" altLang="zh-CN" dirty="0" smtClean="0"/>
          </a:p>
          <a:p>
            <a:pPr lvl="3"/>
            <a:endParaRPr lang="en-US" altLang="zh-CN" dirty="0"/>
          </a:p>
          <a:p>
            <a:pPr lvl="3"/>
            <a:r>
              <a:rPr lang="zh-CN" altLang="en-US" dirty="0" smtClean="0"/>
              <a:t>设集成</a:t>
            </a:r>
            <a:r>
              <a:rPr lang="zh-CN" altLang="en-US" dirty="0"/>
              <a:t>通过简单投票</a:t>
            </a:r>
            <a:r>
              <a:rPr lang="zh-CN" altLang="en-US" dirty="0" smtClean="0"/>
              <a:t>法，则集成分类器为</a:t>
            </a:r>
            <a:endParaRPr lang="en-US" altLang="zh-CN" dirty="0" smtClean="0"/>
          </a:p>
          <a:p>
            <a:pPr lvl="3"/>
            <a:endParaRPr lang="en-US" altLang="zh-CN" dirty="0"/>
          </a:p>
          <a:p>
            <a:pPr lvl="3"/>
            <a:endParaRPr lang="en-US" altLang="zh-CN" dirty="0" smtClean="0"/>
          </a:p>
          <a:p>
            <a:pPr lvl="3"/>
            <a:r>
              <a:rPr lang="zh-CN" altLang="en-US" dirty="0"/>
              <a:t>假设基分类器的错误率相互独立，</a:t>
            </a:r>
            <a:r>
              <a:rPr lang="zh-CN" altLang="en-US" dirty="0">
                <a:latin typeface="+mn-ea"/>
              </a:rPr>
              <a:t>则由</a:t>
            </a:r>
            <a:r>
              <a:rPr lang="en-US" altLang="zh-CN" dirty="0" err="1">
                <a:latin typeface="+mn-ea"/>
              </a:rPr>
              <a:t>Hoeffding</a:t>
            </a:r>
            <a:r>
              <a:rPr lang="zh-CN" altLang="en-US" dirty="0">
                <a:latin typeface="+mn-ea"/>
              </a:rPr>
              <a:t>不等式</a:t>
            </a:r>
            <a:r>
              <a:rPr lang="zh-CN" altLang="en-US" dirty="0" smtClean="0">
                <a:latin typeface="+mn-ea"/>
              </a:rPr>
              <a:t>可知集成</a:t>
            </a:r>
            <a:r>
              <a:rPr lang="zh-CN" altLang="en-US" dirty="0">
                <a:latin typeface="+mn-ea"/>
              </a:rPr>
              <a:t>的</a:t>
            </a:r>
            <a:r>
              <a:rPr lang="zh-CN" altLang="en-US" dirty="0" smtClean="0">
                <a:latin typeface="+mn-ea"/>
              </a:rPr>
              <a:t>错误率为</a:t>
            </a:r>
            <a:endParaRPr lang="en-US" altLang="zh-CN" dirty="0" smtClean="0">
              <a:latin typeface="+mn-ea"/>
            </a:endParaRPr>
          </a:p>
          <a:p>
            <a:pPr lvl="3"/>
            <a:endParaRPr lang="en-US" altLang="zh-CN" dirty="0">
              <a:latin typeface="+mn-ea"/>
            </a:endParaRPr>
          </a:p>
          <a:p>
            <a:pPr lvl="3"/>
            <a:endParaRPr lang="en-US" altLang="zh-CN" dirty="0" smtClean="0">
              <a:latin typeface="+mn-ea"/>
            </a:endParaRPr>
          </a:p>
          <a:p>
            <a:pPr lvl="4"/>
            <a:r>
              <a:rPr lang="en-US" altLang="zh-CN" dirty="0" smtClean="0">
                <a:latin typeface="+mn-ea"/>
              </a:rPr>
              <a:t>T</a:t>
            </a:r>
            <a:r>
              <a:rPr lang="zh-CN" altLang="en-US" dirty="0" smtClean="0">
                <a:latin typeface="+mn-ea"/>
              </a:rPr>
              <a:t>增大</a:t>
            </a:r>
            <a:r>
              <a:rPr lang="zh-CN" altLang="en-US" dirty="0">
                <a:latin typeface="+mn-ea"/>
              </a:rPr>
              <a:t>，集成的错误率将指数级下降，最终</a:t>
            </a:r>
            <a:r>
              <a:rPr lang="zh-CN" altLang="en-US" dirty="0" smtClean="0">
                <a:latin typeface="+mn-ea"/>
              </a:rPr>
              <a:t>趋于零</a:t>
            </a:r>
            <a:endParaRPr lang="en-US" altLang="zh-CN" dirty="0" smtClean="0">
              <a:latin typeface="+mn-ea"/>
            </a:endParaRPr>
          </a:p>
          <a:p>
            <a:pPr lvl="4"/>
            <a:endParaRPr lang="zh-CN" altLang="en-US" dirty="0">
              <a:latin typeface="+mn-ea"/>
            </a:endParaRPr>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graphicFrame>
        <p:nvGraphicFramePr>
          <p:cNvPr id="6" name="对象 5"/>
          <p:cNvGraphicFramePr>
            <a:graphicFrameLocks noChangeAspect="1"/>
          </p:cNvGraphicFramePr>
          <p:nvPr/>
        </p:nvGraphicFramePr>
        <p:xfrm>
          <a:off x="3739540" y="2967783"/>
          <a:ext cx="1192500" cy="360000"/>
        </p:xfrm>
        <a:graphic>
          <a:graphicData uri="http://schemas.openxmlformats.org/presentationml/2006/ole">
            <mc:AlternateContent xmlns:mc="http://schemas.openxmlformats.org/markup-compatibility/2006">
              <mc:Choice xmlns:v="urn:schemas-microsoft-com:vml" Requires="v">
                <p:oleObj spid="_x0000_s1558" name="Equation" r:id="rId1" imgW="16154400" imgH="4876800" progId="Equation.DSMT4">
                  <p:embed/>
                </p:oleObj>
              </mc:Choice>
              <mc:Fallback>
                <p:oleObj name="Equation" r:id="rId1" imgW="16154400" imgH="4876800" progId="Equation.DSMT4">
                  <p:embed/>
                  <p:pic>
                    <p:nvPicPr>
                      <p:cNvPr id="0" name="图片 1557"/>
                      <p:cNvPicPr/>
                      <p:nvPr/>
                    </p:nvPicPr>
                    <p:blipFill>
                      <a:blip r:embed="rId2"/>
                      <a:stretch>
                        <a:fillRect/>
                      </a:stretch>
                    </p:blipFill>
                    <p:spPr>
                      <a:xfrm>
                        <a:off x="3739540" y="2967783"/>
                        <a:ext cx="1192500" cy="360000"/>
                      </a:xfrm>
                      <a:prstGeom prst="rect">
                        <a:avLst/>
                      </a:prstGeom>
                    </p:spPr>
                  </p:pic>
                </p:oleObj>
              </mc:Fallback>
            </mc:AlternateContent>
          </a:graphicData>
        </a:graphic>
      </p:graphicFrame>
      <p:graphicFrame>
        <p:nvGraphicFramePr>
          <p:cNvPr id="7" name="对象 6"/>
          <p:cNvGraphicFramePr>
            <a:graphicFrameLocks noChangeAspect="1"/>
          </p:cNvGraphicFramePr>
          <p:nvPr/>
        </p:nvGraphicFramePr>
        <p:xfrm>
          <a:off x="6390357" y="2993296"/>
          <a:ext cx="269875" cy="358775"/>
        </p:xfrm>
        <a:graphic>
          <a:graphicData uri="http://schemas.openxmlformats.org/presentationml/2006/ole">
            <mc:AlternateContent xmlns:mc="http://schemas.openxmlformats.org/markup-compatibility/2006">
              <mc:Choice xmlns:v="urn:schemas-microsoft-com:vml" Requires="v">
                <p:oleObj spid="_x0000_s1559" name="Equation" r:id="rId3" imgW="3657600" imgH="4876800" progId="Equation.DSMT4">
                  <p:embed/>
                </p:oleObj>
              </mc:Choice>
              <mc:Fallback>
                <p:oleObj name="Equation" r:id="rId3" imgW="3657600" imgH="4876800" progId="Equation.DSMT4">
                  <p:embed/>
                  <p:pic>
                    <p:nvPicPr>
                      <p:cNvPr id="0" name="图片 1558"/>
                      <p:cNvPicPr/>
                      <p:nvPr/>
                    </p:nvPicPr>
                    <p:blipFill>
                      <a:blip r:embed="rId4"/>
                      <a:stretch>
                        <a:fillRect/>
                      </a:stretch>
                    </p:blipFill>
                    <p:spPr>
                      <a:xfrm>
                        <a:off x="6390357" y="2993296"/>
                        <a:ext cx="269875" cy="358775"/>
                      </a:xfrm>
                      <a:prstGeom prst="rect">
                        <a:avLst/>
                      </a:prstGeom>
                    </p:spPr>
                  </p:pic>
                </p:oleObj>
              </mc:Fallback>
            </mc:AlternateContent>
          </a:graphicData>
        </a:graphic>
      </p:graphicFrame>
      <p:graphicFrame>
        <p:nvGraphicFramePr>
          <p:cNvPr id="8" name="对象 7"/>
          <p:cNvGraphicFramePr>
            <a:graphicFrameLocks noChangeAspect="1"/>
          </p:cNvGraphicFramePr>
          <p:nvPr/>
        </p:nvGraphicFramePr>
        <p:xfrm>
          <a:off x="5220072" y="3398961"/>
          <a:ext cx="223838" cy="246063"/>
        </p:xfrm>
        <a:graphic>
          <a:graphicData uri="http://schemas.openxmlformats.org/presentationml/2006/ole">
            <mc:AlternateContent xmlns:mc="http://schemas.openxmlformats.org/markup-compatibility/2006">
              <mc:Choice xmlns:v="urn:schemas-microsoft-com:vml" Requires="v">
                <p:oleObj spid="_x0000_s1560" name="Equation" r:id="rId5" imgW="3048000" imgH="3352800" progId="Equation.DSMT4">
                  <p:embed/>
                </p:oleObj>
              </mc:Choice>
              <mc:Fallback>
                <p:oleObj name="Equation" r:id="rId5" imgW="3048000" imgH="3352800" progId="Equation.DSMT4">
                  <p:embed/>
                  <p:pic>
                    <p:nvPicPr>
                      <p:cNvPr id="0" name="图片 1559"/>
                      <p:cNvPicPr/>
                      <p:nvPr/>
                    </p:nvPicPr>
                    <p:blipFill>
                      <a:blip r:embed="rId6"/>
                      <a:stretch>
                        <a:fillRect/>
                      </a:stretch>
                    </p:blipFill>
                    <p:spPr>
                      <a:xfrm>
                        <a:off x="5220072" y="3398961"/>
                        <a:ext cx="223838" cy="246063"/>
                      </a:xfrm>
                      <a:prstGeom prst="rect">
                        <a:avLst/>
                      </a:prstGeom>
                    </p:spPr>
                  </p:pic>
                </p:oleObj>
              </mc:Fallback>
            </mc:AlternateContent>
          </a:graphicData>
        </a:graphic>
      </p:graphicFrame>
      <p:graphicFrame>
        <p:nvGraphicFramePr>
          <p:cNvPr id="9" name="对象 8"/>
          <p:cNvGraphicFramePr>
            <a:graphicFrameLocks noChangeAspect="1"/>
          </p:cNvGraphicFramePr>
          <p:nvPr/>
        </p:nvGraphicFramePr>
        <p:xfrm>
          <a:off x="7236296" y="3310466"/>
          <a:ext cx="246062" cy="401638"/>
        </p:xfrm>
        <a:graphic>
          <a:graphicData uri="http://schemas.openxmlformats.org/presentationml/2006/ole">
            <mc:AlternateContent xmlns:mc="http://schemas.openxmlformats.org/markup-compatibility/2006">
              <mc:Choice xmlns:v="urn:schemas-microsoft-com:vml" Requires="v">
                <p:oleObj spid="_x0000_s1561" name="Equation" r:id="rId7" imgW="3352800" imgH="5486400" progId="Equation.DSMT4">
                  <p:embed/>
                </p:oleObj>
              </mc:Choice>
              <mc:Fallback>
                <p:oleObj name="Equation" r:id="rId7" imgW="3352800" imgH="5486400" progId="Equation.DSMT4">
                  <p:embed/>
                  <p:pic>
                    <p:nvPicPr>
                      <p:cNvPr id="0" name="图片 1560"/>
                      <p:cNvPicPr/>
                      <p:nvPr/>
                    </p:nvPicPr>
                    <p:blipFill>
                      <a:blip r:embed="rId8"/>
                      <a:stretch>
                        <a:fillRect/>
                      </a:stretch>
                    </p:blipFill>
                    <p:spPr>
                      <a:xfrm>
                        <a:off x="7236296" y="3310466"/>
                        <a:ext cx="246062" cy="401638"/>
                      </a:xfrm>
                      <a:prstGeom prst="rect">
                        <a:avLst/>
                      </a:prstGeom>
                    </p:spPr>
                  </p:pic>
                </p:oleObj>
              </mc:Fallback>
            </mc:AlternateContent>
          </a:graphicData>
        </a:graphic>
      </p:graphicFrame>
      <p:graphicFrame>
        <p:nvGraphicFramePr>
          <p:cNvPr id="10" name="对象 9"/>
          <p:cNvGraphicFramePr>
            <a:graphicFrameLocks noChangeAspect="1"/>
          </p:cNvGraphicFramePr>
          <p:nvPr/>
        </p:nvGraphicFramePr>
        <p:xfrm>
          <a:off x="3546475" y="3573463"/>
          <a:ext cx="2046288" cy="447675"/>
        </p:xfrm>
        <a:graphic>
          <a:graphicData uri="http://schemas.openxmlformats.org/presentationml/2006/ole">
            <mc:AlternateContent xmlns:mc="http://schemas.openxmlformats.org/markup-compatibility/2006">
              <mc:Choice xmlns:v="urn:schemas-microsoft-com:vml" Requires="v">
                <p:oleObj spid="_x0000_s1562" name="Equation" r:id="rId9" imgW="27736800" imgH="6096000" progId="Equation.DSMT4">
                  <p:embed/>
                </p:oleObj>
              </mc:Choice>
              <mc:Fallback>
                <p:oleObj name="Equation" r:id="rId9" imgW="27736800" imgH="6096000" progId="Equation.DSMT4">
                  <p:embed/>
                  <p:pic>
                    <p:nvPicPr>
                      <p:cNvPr id="0" name="图片 1561"/>
                      <p:cNvPicPr/>
                      <p:nvPr/>
                    </p:nvPicPr>
                    <p:blipFill>
                      <a:blip r:embed="rId10"/>
                      <a:stretch>
                        <a:fillRect/>
                      </a:stretch>
                    </p:blipFill>
                    <p:spPr>
                      <a:xfrm>
                        <a:off x="3546475" y="3573463"/>
                        <a:ext cx="2046288" cy="447675"/>
                      </a:xfrm>
                      <a:prstGeom prst="rect">
                        <a:avLst/>
                      </a:prstGeom>
                    </p:spPr>
                  </p:pic>
                </p:oleObj>
              </mc:Fallback>
            </mc:AlternateContent>
          </a:graphicData>
        </a:graphic>
      </p:graphicFrame>
      <p:graphicFrame>
        <p:nvGraphicFramePr>
          <p:cNvPr id="11" name="对象 10"/>
          <p:cNvGraphicFramePr>
            <a:graphicFrameLocks noChangeAspect="1"/>
          </p:cNvGraphicFramePr>
          <p:nvPr/>
        </p:nvGraphicFramePr>
        <p:xfrm>
          <a:off x="6700614" y="3012102"/>
          <a:ext cx="247650" cy="292100"/>
        </p:xfrm>
        <a:graphic>
          <a:graphicData uri="http://schemas.openxmlformats.org/presentationml/2006/ole">
            <mc:AlternateContent xmlns:mc="http://schemas.openxmlformats.org/markup-compatibility/2006">
              <mc:Choice xmlns:v="urn:schemas-microsoft-com:vml" Requires="v">
                <p:oleObj spid="_x0000_s1563" name="Equation" r:id="rId11" imgW="3352800" imgH="3962400" progId="Equation.DSMT4">
                  <p:embed/>
                </p:oleObj>
              </mc:Choice>
              <mc:Fallback>
                <p:oleObj name="Equation" r:id="rId11" imgW="3352800" imgH="3962400" progId="Equation.DSMT4">
                  <p:embed/>
                  <p:pic>
                    <p:nvPicPr>
                      <p:cNvPr id="0" name="图片 1562"/>
                      <p:cNvPicPr/>
                      <p:nvPr/>
                    </p:nvPicPr>
                    <p:blipFill>
                      <a:blip r:embed="rId12"/>
                      <a:stretch>
                        <a:fillRect/>
                      </a:stretch>
                    </p:blipFill>
                    <p:spPr>
                      <a:xfrm>
                        <a:off x="6700614" y="3012102"/>
                        <a:ext cx="247650" cy="292100"/>
                      </a:xfrm>
                      <a:prstGeom prst="rect">
                        <a:avLst/>
                      </a:prstGeom>
                    </p:spPr>
                  </p:pic>
                </p:oleObj>
              </mc:Fallback>
            </mc:AlternateContent>
          </a:graphicData>
        </a:graphic>
      </p:graphicFrame>
      <p:graphicFrame>
        <p:nvGraphicFramePr>
          <p:cNvPr id="12" name="对象 11"/>
          <p:cNvGraphicFramePr>
            <a:graphicFrameLocks noChangeAspect="1"/>
          </p:cNvGraphicFramePr>
          <p:nvPr/>
        </p:nvGraphicFramePr>
        <p:xfrm>
          <a:off x="3297238" y="4288135"/>
          <a:ext cx="2541587" cy="581025"/>
        </p:xfrm>
        <a:graphic>
          <a:graphicData uri="http://schemas.openxmlformats.org/presentationml/2006/ole">
            <mc:AlternateContent xmlns:mc="http://schemas.openxmlformats.org/markup-compatibility/2006">
              <mc:Choice xmlns:v="urn:schemas-microsoft-com:vml" Requires="v">
                <p:oleObj spid="_x0000_s1564" name="Equation" r:id="rId13" imgW="34442400" imgH="7924800" progId="Equation.DSMT4">
                  <p:embed/>
                </p:oleObj>
              </mc:Choice>
              <mc:Fallback>
                <p:oleObj name="Equation" r:id="rId13" imgW="34442400" imgH="7924800" progId="Equation.DSMT4">
                  <p:embed/>
                  <p:pic>
                    <p:nvPicPr>
                      <p:cNvPr id="0" name="图片 1563"/>
                      <p:cNvPicPr/>
                      <p:nvPr/>
                    </p:nvPicPr>
                    <p:blipFill>
                      <a:blip r:embed="rId14"/>
                      <a:stretch>
                        <a:fillRect/>
                      </a:stretch>
                    </p:blipFill>
                    <p:spPr>
                      <a:xfrm>
                        <a:off x="3297238" y="4288135"/>
                        <a:ext cx="2541587" cy="581025"/>
                      </a:xfrm>
                      <a:prstGeom prst="rect">
                        <a:avLst/>
                      </a:prstGeom>
                    </p:spPr>
                  </p:pic>
                </p:oleObj>
              </mc:Fallback>
            </mc:AlternateContent>
          </a:graphicData>
        </a:graphic>
      </p:graphicFrame>
      <p:graphicFrame>
        <p:nvGraphicFramePr>
          <p:cNvPr id="13" name="对象 12"/>
          <p:cNvGraphicFramePr>
            <a:graphicFrameLocks noChangeAspect="1"/>
          </p:cNvGraphicFramePr>
          <p:nvPr/>
        </p:nvGraphicFramePr>
        <p:xfrm>
          <a:off x="2339752" y="5421783"/>
          <a:ext cx="6249988" cy="671513"/>
        </p:xfrm>
        <a:graphic>
          <a:graphicData uri="http://schemas.openxmlformats.org/presentationml/2006/ole">
            <mc:AlternateContent xmlns:mc="http://schemas.openxmlformats.org/markup-compatibility/2006">
              <mc:Choice xmlns:v="urn:schemas-microsoft-com:vml" Requires="v">
                <p:oleObj spid="_x0000_s1565" name="Equation" r:id="rId15" imgW="84734400" imgH="9144000" progId="Equation.DSMT4">
                  <p:embed/>
                </p:oleObj>
              </mc:Choice>
              <mc:Fallback>
                <p:oleObj name="Equation" r:id="rId15" imgW="84734400" imgH="9144000" progId="Equation.DSMT4">
                  <p:embed/>
                  <p:pic>
                    <p:nvPicPr>
                      <p:cNvPr id="0" name="图片 1564"/>
                      <p:cNvPicPr/>
                      <p:nvPr/>
                    </p:nvPicPr>
                    <p:blipFill>
                      <a:blip r:embed="rId16"/>
                      <a:stretch>
                        <a:fillRect/>
                      </a:stretch>
                    </p:blipFill>
                    <p:spPr>
                      <a:xfrm>
                        <a:off x="2339752" y="5421783"/>
                        <a:ext cx="6249988" cy="671513"/>
                      </a:xfrm>
                      <a:prstGeom prst="rect">
                        <a:avLst/>
                      </a:prstGeom>
                    </p:spPr>
                  </p:pic>
                </p:oleObj>
              </mc:Fallback>
            </mc:AlternateContent>
          </a:graphicData>
        </a:graphic>
      </p:graphicFrame>
    </p:spTree>
  </p:cSld>
  <p:clrMapOvr>
    <a:masterClrMapping/>
  </p:clrMapOvr>
  <p:transition>
    <p:cover dir="u"/>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8.1 </a:t>
            </a:r>
            <a:r>
              <a:rPr lang="zh-CN" altLang="en-US" dirty="0"/>
              <a:t>个体与集成</a:t>
            </a:r>
            <a:endParaRPr lang="zh-CN" altLang="en-US" dirty="0"/>
          </a:p>
        </p:txBody>
      </p:sp>
      <p:sp>
        <p:nvSpPr>
          <p:cNvPr id="3" name="内容占位符 2"/>
          <p:cNvSpPr>
            <a:spLocks noGrp="1"/>
          </p:cNvSpPr>
          <p:nvPr>
            <p:ph idx="1"/>
          </p:nvPr>
        </p:nvSpPr>
        <p:spPr/>
        <p:txBody>
          <a:bodyPr/>
          <a:lstStyle/>
          <a:p>
            <a:r>
              <a:rPr lang="zh-CN" altLang="en-US" dirty="0"/>
              <a:t>集成学习方法</a:t>
            </a:r>
            <a:endParaRPr lang="zh-CN" altLang="en-US" dirty="0"/>
          </a:p>
          <a:p>
            <a:pPr lvl="1"/>
            <a:r>
              <a:rPr lang="zh-CN" altLang="en-US" dirty="0" smtClean="0"/>
              <a:t>关键问题</a:t>
            </a:r>
            <a:endParaRPr lang="en-US" altLang="zh-CN" dirty="0" smtClean="0"/>
          </a:p>
          <a:p>
            <a:pPr lvl="2" hangingPunct="0"/>
            <a:r>
              <a:rPr lang="zh-CN" altLang="en-US" dirty="0" smtClean="0"/>
              <a:t>现实中个体</a:t>
            </a:r>
            <a:r>
              <a:rPr lang="zh-CN" altLang="en-US" dirty="0"/>
              <a:t>学习器是为解决同</a:t>
            </a:r>
            <a:r>
              <a:rPr lang="zh-CN" altLang="en-US" dirty="0" smtClean="0"/>
              <a:t>一问题</a:t>
            </a:r>
            <a:r>
              <a:rPr lang="zh-CN" altLang="en-US" dirty="0"/>
              <a:t>训练出来</a:t>
            </a:r>
            <a:r>
              <a:rPr lang="zh-CN" altLang="en-US" dirty="0" smtClean="0"/>
              <a:t>的，不可能</a:t>
            </a:r>
            <a:r>
              <a:rPr lang="zh-CN" altLang="en-US" dirty="0"/>
              <a:t>相互</a:t>
            </a:r>
            <a:r>
              <a:rPr lang="zh-CN" altLang="en-US" dirty="0" smtClean="0"/>
              <a:t>独立</a:t>
            </a:r>
            <a:endParaRPr lang="en-US" altLang="zh-CN" dirty="0" smtClean="0"/>
          </a:p>
          <a:p>
            <a:pPr lvl="2"/>
            <a:r>
              <a:rPr lang="zh-CN" altLang="en-US" dirty="0" smtClean="0"/>
              <a:t>个体</a:t>
            </a:r>
            <a:r>
              <a:rPr lang="zh-CN" altLang="en-US" dirty="0"/>
              <a:t>学习器</a:t>
            </a:r>
            <a:r>
              <a:rPr lang="zh-CN" altLang="en-US" dirty="0" smtClean="0"/>
              <a:t>的准确性和多样性存在冲突</a:t>
            </a:r>
            <a:endParaRPr lang="en-US" altLang="zh-CN" dirty="0" smtClean="0"/>
          </a:p>
          <a:p>
            <a:pPr lvl="3"/>
            <a:r>
              <a:rPr lang="zh-CN" altLang="en-US" dirty="0" smtClean="0"/>
              <a:t>准确性</a:t>
            </a:r>
            <a:r>
              <a:rPr lang="zh-CN" altLang="en-US" dirty="0"/>
              <a:t>很</a:t>
            </a:r>
            <a:r>
              <a:rPr lang="zh-CN" altLang="en-US" dirty="0" smtClean="0"/>
              <a:t>高后，增加</a:t>
            </a:r>
            <a:r>
              <a:rPr lang="zh-CN" altLang="en-US" dirty="0"/>
              <a:t>多样性</a:t>
            </a:r>
            <a:r>
              <a:rPr lang="zh-CN" altLang="en-US" dirty="0" smtClean="0"/>
              <a:t>就要牺牲准确性</a:t>
            </a:r>
            <a:endParaRPr lang="en-US" altLang="zh-CN" dirty="0" smtClean="0"/>
          </a:p>
          <a:p>
            <a:pPr lvl="2"/>
            <a:r>
              <a:rPr lang="zh-CN" altLang="en-US" dirty="0" smtClean="0"/>
              <a:t>产生</a:t>
            </a:r>
            <a:r>
              <a:rPr lang="zh-CN" altLang="en-US" dirty="0"/>
              <a:t>并</a:t>
            </a:r>
            <a:r>
              <a:rPr lang="zh-CN" altLang="en-US" dirty="0" smtClean="0"/>
              <a:t>结合个体</a:t>
            </a:r>
            <a:r>
              <a:rPr lang="zh-CN" altLang="en-US" dirty="0"/>
              <a:t>学习</a:t>
            </a:r>
            <a:r>
              <a:rPr lang="zh-CN" altLang="en-US" dirty="0" smtClean="0"/>
              <a:t>器是</a:t>
            </a:r>
            <a:r>
              <a:rPr lang="zh-CN" altLang="en-US" dirty="0"/>
              <a:t>集成学习研究的</a:t>
            </a:r>
            <a:r>
              <a:rPr lang="zh-CN" altLang="en-US" dirty="0" smtClean="0"/>
              <a:t>核心</a:t>
            </a:r>
            <a:endParaRPr lang="en-US" altLang="zh-CN" dirty="0"/>
          </a:p>
          <a:p>
            <a:pPr lvl="1"/>
            <a:r>
              <a:rPr lang="zh-CN" altLang="en-US" dirty="0" smtClean="0"/>
              <a:t>方法分为</a:t>
            </a:r>
            <a:r>
              <a:rPr lang="zh-CN" altLang="en-US" dirty="0" smtClean="0"/>
              <a:t>两</a:t>
            </a:r>
            <a:r>
              <a:rPr lang="zh-CN" altLang="en-US" dirty="0"/>
              <a:t>大</a:t>
            </a:r>
            <a:r>
              <a:rPr lang="zh-CN" altLang="en-US" dirty="0" smtClean="0"/>
              <a:t>类</a:t>
            </a:r>
            <a:endParaRPr lang="en-US" altLang="zh-CN" dirty="0" smtClean="0"/>
          </a:p>
          <a:p>
            <a:pPr lvl="2"/>
            <a:r>
              <a:rPr lang="zh-CN" altLang="en-US" dirty="0" smtClean="0"/>
              <a:t>根据</a:t>
            </a:r>
            <a:r>
              <a:rPr lang="zh-CN" altLang="en-US" dirty="0"/>
              <a:t>个体学习器的生成</a:t>
            </a:r>
            <a:r>
              <a:rPr lang="zh-CN" altLang="en-US" dirty="0" smtClean="0"/>
              <a:t>方式</a:t>
            </a:r>
            <a:endParaRPr lang="en-US" altLang="zh-CN" dirty="0" smtClean="0"/>
          </a:p>
          <a:p>
            <a:pPr lvl="3"/>
            <a:r>
              <a:rPr lang="zh-CN" altLang="en-US" dirty="0"/>
              <a:t>序列化方法</a:t>
            </a:r>
            <a:endParaRPr lang="zh-CN" altLang="en-US" dirty="0"/>
          </a:p>
          <a:p>
            <a:pPr lvl="4"/>
            <a:r>
              <a:rPr lang="zh-CN" altLang="en-US" dirty="0"/>
              <a:t>个体学习器间存在强依赖关系、必须串行</a:t>
            </a:r>
            <a:r>
              <a:rPr lang="zh-CN" altLang="en-US" dirty="0" smtClean="0"/>
              <a:t>生成</a:t>
            </a:r>
            <a:endParaRPr lang="en-US" altLang="zh-CN" dirty="0" smtClean="0"/>
          </a:p>
          <a:p>
            <a:pPr lvl="4"/>
            <a:r>
              <a:rPr lang="zh-CN" altLang="en-US" dirty="0" smtClean="0">
                <a:latin typeface="+mn-ea"/>
              </a:rPr>
              <a:t>如</a:t>
            </a:r>
            <a:r>
              <a:rPr lang="en-US" altLang="zh-CN" dirty="0" err="1" smtClean="0">
                <a:latin typeface="+mn-ea"/>
              </a:rPr>
              <a:t>AdaBoost</a:t>
            </a:r>
            <a:r>
              <a:rPr lang="zh-CN" altLang="en-US" dirty="0" smtClean="0">
                <a:latin typeface="+mn-ea"/>
              </a:rPr>
              <a:t>、</a:t>
            </a:r>
            <a:r>
              <a:rPr lang="en-US" altLang="zh-CN" dirty="0">
                <a:latin typeface="+mn-ea"/>
              </a:rPr>
              <a:t>Gradient </a:t>
            </a:r>
            <a:r>
              <a:rPr lang="en-US" altLang="zh-CN" dirty="0" smtClean="0">
                <a:latin typeface="+mn-ea"/>
              </a:rPr>
              <a:t>Boost</a:t>
            </a:r>
            <a:r>
              <a:rPr lang="zh-CN" altLang="en-US" dirty="0" smtClean="0">
                <a:latin typeface="+mn-ea"/>
              </a:rPr>
              <a:t>、</a:t>
            </a:r>
            <a:r>
              <a:rPr lang="en-US" altLang="zh-CN" dirty="0" err="1" smtClean="0">
                <a:latin typeface="+mn-ea"/>
              </a:rPr>
              <a:t>LPBoost</a:t>
            </a:r>
            <a:r>
              <a:rPr lang="zh-CN" altLang="en-US" dirty="0" smtClean="0">
                <a:latin typeface="+mn-ea"/>
              </a:rPr>
              <a:t>、</a:t>
            </a:r>
            <a:r>
              <a:rPr lang="en-US" altLang="zh-CN" dirty="0" smtClean="0">
                <a:latin typeface="+mn-ea"/>
              </a:rPr>
              <a:t>…</a:t>
            </a:r>
            <a:endParaRPr lang="en-US" altLang="zh-CN" dirty="0" smtClean="0">
              <a:latin typeface="+mn-ea"/>
            </a:endParaRPr>
          </a:p>
          <a:p>
            <a:pPr lvl="3"/>
            <a:r>
              <a:rPr lang="zh-CN" altLang="en-US" dirty="0"/>
              <a:t>并行化方法</a:t>
            </a:r>
            <a:endParaRPr lang="en-US" altLang="zh-CN" dirty="0"/>
          </a:p>
          <a:p>
            <a:pPr lvl="4"/>
            <a:r>
              <a:rPr lang="zh-CN" altLang="en-US" dirty="0" smtClean="0"/>
              <a:t>个体</a:t>
            </a:r>
            <a:r>
              <a:rPr lang="zh-CN" altLang="en-US" dirty="0"/>
              <a:t>学习器间不存在强依赖关系、可同时</a:t>
            </a:r>
            <a:r>
              <a:rPr lang="zh-CN" altLang="en-US" dirty="0" smtClean="0"/>
              <a:t>生成</a:t>
            </a:r>
            <a:endParaRPr lang="en-US" altLang="zh-CN" dirty="0" smtClean="0"/>
          </a:p>
          <a:p>
            <a:pPr lvl="4"/>
            <a:r>
              <a:rPr lang="zh-CN" altLang="en-US" dirty="0">
                <a:latin typeface="+mn-ea"/>
              </a:rPr>
              <a:t>如</a:t>
            </a:r>
            <a:r>
              <a:rPr lang="en-US" altLang="zh-CN" dirty="0">
                <a:latin typeface="+mn-ea"/>
              </a:rPr>
              <a:t>Bagging</a:t>
            </a:r>
            <a:r>
              <a:rPr lang="zh-CN" altLang="en-US" dirty="0">
                <a:latin typeface="+mn-ea"/>
              </a:rPr>
              <a:t>、</a:t>
            </a:r>
            <a:r>
              <a:rPr lang="en-US" altLang="zh-CN" dirty="0">
                <a:latin typeface="+mn-ea"/>
              </a:rPr>
              <a:t> Random Forest </a:t>
            </a:r>
            <a:r>
              <a:rPr lang="zh-CN" altLang="en-US" dirty="0">
                <a:latin typeface="+mn-ea"/>
              </a:rPr>
              <a:t>、</a:t>
            </a:r>
            <a:r>
              <a:rPr lang="en-US" altLang="zh-CN" dirty="0">
                <a:latin typeface="+mn-ea"/>
              </a:rPr>
              <a:t>Random Subspace</a:t>
            </a:r>
            <a:endParaRPr lang="en-US" altLang="zh-CN" dirty="0">
              <a:latin typeface="+mn-ea"/>
            </a:endParaRPr>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spTree>
  </p:cSld>
  <p:clrMapOvr>
    <a:masterClrMapping/>
  </p:clrMapOvr>
  <p:transition>
    <p:cover dir="u"/>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8.2 Boosting</a:t>
            </a:r>
            <a:endParaRPr lang="zh-CN" altLang="en-US" dirty="0"/>
          </a:p>
        </p:txBody>
      </p:sp>
      <p:sp>
        <p:nvSpPr>
          <p:cNvPr id="3" name="内容占位符 2"/>
          <p:cNvSpPr>
            <a:spLocks noGrp="1"/>
          </p:cNvSpPr>
          <p:nvPr>
            <p:ph idx="1"/>
          </p:nvPr>
        </p:nvSpPr>
        <p:spPr/>
        <p:txBody>
          <a:bodyPr/>
          <a:lstStyle/>
          <a:p>
            <a:r>
              <a:rPr lang="zh-CN" altLang="en-US" dirty="0" smtClean="0"/>
              <a:t>工作机制</a:t>
            </a:r>
            <a:endParaRPr lang="en-US" altLang="zh-CN" dirty="0" smtClean="0"/>
          </a:p>
          <a:p>
            <a:pPr lvl="1"/>
            <a:r>
              <a:rPr lang="zh-CN" altLang="en-US" dirty="0">
                <a:latin typeface="+mn-ea"/>
              </a:rPr>
              <a:t>先从初始训练集训练出一个基学习</a:t>
            </a:r>
            <a:r>
              <a:rPr lang="zh-CN" altLang="en-US" dirty="0" smtClean="0">
                <a:latin typeface="+mn-ea"/>
              </a:rPr>
              <a:t>器</a:t>
            </a:r>
            <a:endParaRPr lang="en-US" altLang="zh-CN" dirty="0" smtClean="0">
              <a:latin typeface="+mn-ea"/>
            </a:endParaRPr>
          </a:p>
          <a:p>
            <a:pPr lvl="1"/>
            <a:r>
              <a:rPr lang="zh-CN" altLang="en-US" dirty="0" smtClean="0">
                <a:latin typeface="+mn-ea"/>
              </a:rPr>
              <a:t>根据</a:t>
            </a:r>
            <a:r>
              <a:rPr lang="zh-CN" altLang="en-US" dirty="0">
                <a:latin typeface="+mn-ea"/>
              </a:rPr>
              <a:t>基学习</a:t>
            </a:r>
            <a:r>
              <a:rPr lang="zh-CN" altLang="en-US" dirty="0" smtClean="0">
                <a:latin typeface="+mn-ea"/>
              </a:rPr>
              <a:t>器的表现</a:t>
            </a:r>
            <a:r>
              <a:rPr lang="zh-CN" altLang="en-US" dirty="0">
                <a:latin typeface="+mn-ea"/>
              </a:rPr>
              <a:t>对训练样本</a:t>
            </a:r>
            <a:r>
              <a:rPr lang="zh-CN" altLang="en-US" dirty="0" smtClean="0">
                <a:latin typeface="+mn-ea"/>
              </a:rPr>
              <a:t>分布调整</a:t>
            </a:r>
            <a:endParaRPr lang="en-US" altLang="zh-CN" dirty="0" smtClean="0">
              <a:latin typeface="+mn-ea"/>
            </a:endParaRPr>
          </a:p>
          <a:p>
            <a:pPr lvl="2"/>
            <a:r>
              <a:rPr lang="zh-CN" altLang="en-US" dirty="0" smtClean="0">
                <a:latin typeface="+mn-ea"/>
              </a:rPr>
              <a:t>使得先前做</a:t>
            </a:r>
            <a:r>
              <a:rPr lang="zh-CN" altLang="en-US" dirty="0">
                <a:latin typeface="+mn-ea"/>
              </a:rPr>
              <a:t>错的训练样本在后续受到更多</a:t>
            </a:r>
            <a:r>
              <a:rPr lang="zh-CN" altLang="en-US" dirty="0" smtClean="0">
                <a:latin typeface="+mn-ea"/>
              </a:rPr>
              <a:t>关注</a:t>
            </a:r>
            <a:endParaRPr lang="en-US" altLang="zh-CN" dirty="0" smtClean="0">
              <a:latin typeface="+mn-ea"/>
            </a:endParaRPr>
          </a:p>
          <a:p>
            <a:pPr lvl="1"/>
            <a:r>
              <a:rPr lang="zh-CN" altLang="en-US" dirty="0" smtClean="0">
                <a:latin typeface="+mn-ea"/>
              </a:rPr>
              <a:t>基于</a:t>
            </a:r>
            <a:r>
              <a:rPr lang="zh-CN" altLang="en-US" dirty="0">
                <a:latin typeface="+mn-ea"/>
              </a:rPr>
              <a:t>调整后的</a:t>
            </a:r>
            <a:r>
              <a:rPr lang="zh-CN" altLang="en-US" dirty="0" smtClean="0">
                <a:latin typeface="+mn-ea"/>
              </a:rPr>
              <a:t>样本分布训练</a:t>
            </a:r>
            <a:r>
              <a:rPr lang="zh-CN" altLang="en-US" dirty="0">
                <a:latin typeface="+mn-ea"/>
              </a:rPr>
              <a:t>下一个基学习</a:t>
            </a:r>
            <a:r>
              <a:rPr lang="zh-CN" altLang="en-US" dirty="0" smtClean="0">
                <a:latin typeface="+mn-ea"/>
              </a:rPr>
              <a:t>器</a:t>
            </a:r>
            <a:endParaRPr lang="en-US" altLang="zh-CN" dirty="0" smtClean="0">
              <a:latin typeface="+mn-ea"/>
            </a:endParaRPr>
          </a:p>
          <a:p>
            <a:pPr lvl="1"/>
            <a:r>
              <a:rPr lang="zh-CN" altLang="en-US" dirty="0" smtClean="0">
                <a:latin typeface="+mn-ea"/>
              </a:rPr>
              <a:t>如此重复直至</a:t>
            </a:r>
            <a:r>
              <a:rPr lang="zh-CN" altLang="en-US" dirty="0">
                <a:latin typeface="+mn-ea"/>
              </a:rPr>
              <a:t>基学习器数目</a:t>
            </a:r>
            <a:r>
              <a:rPr lang="zh-CN" altLang="en-US" dirty="0" smtClean="0">
                <a:latin typeface="+mn-ea"/>
              </a:rPr>
              <a:t>达到指定的</a:t>
            </a:r>
            <a:r>
              <a:rPr lang="en-US" altLang="zh-CN" dirty="0" smtClean="0">
                <a:latin typeface="+mn-ea"/>
              </a:rPr>
              <a:t>T</a:t>
            </a:r>
            <a:r>
              <a:rPr lang="zh-CN" altLang="en-US" dirty="0" smtClean="0">
                <a:latin typeface="+mn-ea"/>
              </a:rPr>
              <a:t>值</a:t>
            </a:r>
            <a:endParaRPr lang="en-US" altLang="zh-CN" dirty="0" smtClean="0">
              <a:latin typeface="+mn-ea"/>
            </a:endParaRPr>
          </a:p>
          <a:p>
            <a:pPr lvl="1"/>
            <a:r>
              <a:rPr lang="zh-CN" altLang="en-US" dirty="0" smtClean="0">
                <a:latin typeface="+mn-ea"/>
              </a:rPr>
              <a:t>最终将</a:t>
            </a:r>
            <a:r>
              <a:rPr lang="en-US" altLang="zh-CN" dirty="0" smtClean="0">
                <a:latin typeface="+mn-ea"/>
              </a:rPr>
              <a:t>T</a:t>
            </a:r>
            <a:r>
              <a:rPr lang="zh-CN" altLang="en-US" dirty="0">
                <a:latin typeface="+mn-ea"/>
              </a:rPr>
              <a:t>个基学习器进行加权</a:t>
            </a:r>
            <a:r>
              <a:rPr lang="zh-CN" altLang="en-US" dirty="0" smtClean="0">
                <a:latin typeface="+mn-ea"/>
              </a:rPr>
              <a:t>结合</a:t>
            </a:r>
            <a:endParaRPr lang="en-US" altLang="zh-CN" dirty="0">
              <a:latin typeface="+mn-ea"/>
            </a:endParaRPr>
          </a:p>
          <a:p>
            <a:endParaRPr lang="zh-CN" altLang="en-US" dirty="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pic>
        <p:nvPicPr>
          <p:cNvPr id="5" name="图片 4"/>
          <p:cNvPicPr>
            <a:picLocks noChangeAspect="1"/>
          </p:cNvPicPr>
          <p:nvPr/>
        </p:nvPicPr>
        <p:blipFill>
          <a:blip r:embed="rId1"/>
          <a:stretch>
            <a:fillRect/>
          </a:stretch>
        </p:blipFill>
        <p:spPr>
          <a:xfrm>
            <a:off x="2164631" y="3861335"/>
            <a:ext cx="4855641" cy="2920465"/>
          </a:xfrm>
          <a:prstGeom prst="rect">
            <a:avLst/>
          </a:prstGeom>
        </p:spPr>
      </p:pic>
    </p:spTree>
  </p:cSld>
  <p:clrMapOvr>
    <a:masterClrMapping/>
  </p:clrMapOvr>
  <p:transition>
    <p:cover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8.2 Boosting</a:t>
            </a:r>
            <a:endParaRPr lang="zh-CN" altLang="en-US" dirty="0"/>
          </a:p>
        </p:txBody>
      </p:sp>
      <p:sp>
        <p:nvSpPr>
          <p:cNvPr id="3" name="内容占位符 2"/>
          <p:cNvSpPr>
            <a:spLocks noGrp="1"/>
          </p:cNvSpPr>
          <p:nvPr>
            <p:ph idx="1"/>
          </p:nvPr>
        </p:nvSpPr>
        <p:spPr/>
        <p:txBody>
          <a:bodyPr/>
          <a:lstStyle/>
          <a:p>
            <a:r>
              <a:rPr lang="en-US" altLang="zh-CN" dirty="0" err="1" smtClean="0">
                <a:latin typeface="+mn-ea"/>
              </a:rPr>
              <a:t>AdaBoost</a:t>
            </a:r>
            <a:r>
              <a:rPr lang="zh-CN" altLang="en-US" dirty="0">
                <a:latin typeface="+mn-ea"/>
              </a:rPr>
              <a:t>算法</a:t>
            </a:r>
            <a:endParaRPr lang="en-US" altLang="zh-CN" dirty="0" smtClean="0">
              <a:latin typeface="+mn-ea"/>
            </a:endParaRPr>
          </a:p>
          <a:p>
            <a:pPr lvl="1"/>
            <a:r>
              <a:rPr lang="en-US" altLang="zh-CN" dirty="0" smtClean="0">
                <a:latin typeface="+mn-ea"/>
              </a:rPr>
              <a:t>Boosting</a:t>
            </a:r>
            <a:r>
              <a:rPr lang="zh-CN" altLang="en-US" dirty="0" smtClean="0">
                <a:latin typeface="+mn-ea"/>
              </a:rPr>
              <a:t>族最著名代表，</a:t>
            </a:r>
            <a:r>
              <a:rPr lang="zh-CN" altLang="en-US" dirty="0">
                <a:latin typeface="+mn-ea"/>
              </a:rPr>
              <a:t>有多种推导方式</a:t>
            </a:r>
            <a:endParaRPr lang="en-US" altLang="zh-CN" dirty="0" smtClean="0">
              <a:latin typeface="+mn-ea"/>
            </a:endParaRPr>
          </a:p>
          <a:p>
            <a:pPr lvl="1"/>
            <a:r>
              <a:rPr lang="zh-CN" altLang="en-US" dirty="0" smtClean="0">
                <a:latin typeface="+mn-ea"/>
              </a:rPr>
              <a:t>基于加性</a:t>
            </a:r>
            <a:r>
              <a:rPr lang="zh-CN" altLang="en-US" dirty="0" smtClean="0">
                <a:latin typeface="+mn-ea"/>
              </a:rPr>
              <a:t>模型</a:t>
            </a:r>
            <a:r>
              <a:rPr lang="en-US" altLang="zh-CN" dirty="0" smtClean="0">
                <a:latin typeface="+mn-ea"/>
              </a:rPr>
              <a:t>(</a:t>
            </a:r>
            <a:r>
              <a:rPr lang="zh-CN" altLang="en-US" dirty="0">
                <a:latin typeface="+mn-ea"/>
              </a:rPr>
              <a:t>基学习器的</a:t>
            </a:r>
            <a:r>
              <a:rPr lang="zh-CN" altLang="en-US" dirty="0" smtClean="0">
                <a:latin typeface="+mn-ea"/>
              </a:rPr>
              <a:t>线性组合</a:t>
            </a:r>
            <a:r>
              <a:rPr lang="en-US" altLang="zh-CN" dirty="0" smtClean="0">
                <a:latin typeface="+mn-ea"/>
              </a:rPr>
              <a:t>)</a:t>
            </a:r>
            <a:endParaRPr lang="en-US" altLang="zh-CN" dirty="0" smtClean="0">
              <a:latin typeface="+mn-ea"/>
            </a:endParaRPr>
          </a:p>
          <a:p>
            <a:pPr lvl="2"/>
            <a:r>
              <a:rPr lang="zh-CN" altLang="en-US" dirty="0" smtClean="0">
                <a:latin typeface="+mn-ea"/>
              </a:rPr>
              <a:t>集成学习器模型</a:t>
            </a:r>
            <a:endParaRPr lang="en-US" altLang="zh-CN" dirty="0" smtClean="0">
              <a:latin typeface="+mn-ea"/>
            </a:endParaRPr>
          </a:p>
          <a:p>
            <a:pPr lvl="3"/>
            <a:endParaRPr lang="en-US" altLang="zh-CN" dirty="0">
              <a:latin typeface="+mn-ea"/>
            </a:endParaRPr>
          </a:p>
          <a:p>
            <a:pPr lvl="2"/>
            <a:r>
              <a:rPr lang="zh-CN" altLang="en-US" dirty="0">
                <a:latin typeface="+mn-ea"/>
              </a:rPr>
              <a:t>最小化指数</a:t>
            </a:r>
            <a:r>
              <a:rPr lang="zh-CN" altLang="en-US" dirty="0" smtClean="0">
                <a:latin typeface="+mn-ea"/>
              </a:rPr>
              <a:t>损失函数</a:t>
            </a:r>
            <a:endParaRPr lang="en-US" altLang="zh-CN" dirty="0" smtClean="0">
              <a:latin typeface="+mn-ea"/>
            </a:endParaRPr>
          </a:p>
          <a:p>
            <a:pPr lvl="2"/>
            <a:endParaRPr lang="en-US" altLang="zh-CN" dirty="0">
              <a:latin typeface="+mn-ea"/>
            </a:endParaRPr>
          </a:p>
          <a:p>
            <a:pPr lvl="3"/>
            <a:r>
              <a:rPr lang="zh-CN" altLang="en-US" dirty="0" smtClean="0">
                <a:latin typeface="+mn-ea"/>
              </a:rPr>
              <a:t>对     的偏导</a:t>
            </a:r>
            <a:endParaRPr lang="en-US" altLang="zh-CN" dirty="0" smtClean="0">
              <a:latin typeface="+mn-ea"/>
            </a:endParaRPr>
          </a:p>
          <a:p>
            <a:pPr lvl="3"/>
            <a:endParaRPr lang="en-US" altLang="zh-CN" dirty="0">
              <a:latin typeface="+mn-ea"/>
            </a:endParaRPr>
          </a:p>
          <a:p>
            <a:pPr lvl="3"/>
            <a:endParaRPr lang="en-US" altLang="zh-CN" dirty="0" smtClean="0">
              <a:latin typeface="+mn-ea"/>
            </a:endParaRPr>
          </a:p>
          <a:p>
            <a:pPr lvl="3"/>
            <a:r>
              <a:rPr lang="zh-CN" altLang="en-US" dirty="0" smtClean="0">
                <a:latin typeface="+mn-ea"/>
              </a:rPr>
              <a:t>令上式为</a:t>
            </a:r>
            <a:r>
              <a:rPr lang="en-US" altLang="zh-CN" dirty="0" smtClean="0">
                <a:latin typeface="+mn-ea"/>
              </a:rPr>
              <a:t>0</a:t>
            </a:r>
            <a:r>
              <a:rPr lang="zh-CN" altLang="en-US" dirty="0" smtClean="0">
                <a:latin typeface="+mn-ea"/>
              </a:rPr>
              <a:t>，得</a:t>
            </a:r>
            <a:endParaRPr lang="en-US" altLang="zh-CN" dirty="0" smtClean="0">
              <a:latin typeface="+mn-ea"/>
            </a:endParaRPr>
          </a:p>
          <a:p>
            <a:pPr lvl="3"/>
            <a:endParaRPr lang="en-US" altLang="zh-CN" dirty="0">
              <a:latin typeface="+mn-ea"/>
            </a:endParaRPr>
          </a:p>
          <a:p>
            <a:pPr lvl="3"/>
            <a:endParaRPr lang="en-US" altLang="zh-CN" dirty="0" smtClean="0">
              <a:latin typeface="+mn-ea"/>
            </a:endParaRPr>
          </a:p>
          <a:p>
            <a:pPr lvl="3"/>
            <a:endParaRPr lang="en-US" altLang="zh-CN" dirty="0">
              <a:latin typeface="+mn-ea"/>
            </a:endParaRPr>
          </a:p>
          <a:p>
            <a:pPr lvl="3"/>
            <a:endParaRPr lang="en-US" altLang="zh-CN" dirty="0" smtClean="0">
              <a:latin typeface="+mn-ea"/>
            </a:endParaRPr>
          </a:p>
          <a:p>
            <a:pPr lvl="4">
              <a:spcBef>
                <a:spcPts val="600"/>
              </a:spcBef>
            </a:pPr>
            <a:r>
              <a:rPr lang="zh-CN" altLang="en-US" dirty="0" smtClean="0">
                <a:latin typeface="+mn-ea"/>
              </a:rPr>
              <a:t>达到</a:t>
            </a:r>
            <a:r>
              <a:rPr lang="zh-CN" altLang="en-US" dirty="0">
                <a:latin typeface="+mn-ea"/>
              </a:rPr>
              <a:t>了贝叶斯最优</a:t>
            </a:r>
            <a:r>
              <a:rPr lang="zh-CN" altLang="en-US" dirty="0" smtClean="0">
                <a:latin typeface="+mn-ea"/>
              </a:rPr>
              <a:t>错误率，说明</a:t>
            </a:r>
            <a:r>
              <a:rPr lang="zh-CN" altLang="en-US" dirty="0">
                <a:latin typeface="+mn-ea"/>
              </a:rPr>
              <a:t>指数损失函数是分类</a:t>
            </a:r>
            <a:r>
              <a:rPr lang="zh-CN" altLang="en-US" dirty="0" smtClean="0">
                <a:latin typeface="+mn-ea"/>
              </a:rPr>
              <a:t>任务</a:t>
            </a:r>
            <a:r>
              <a:rPr lang="en-US" altLang="zh-CN" dirty="0" smtClean="0">
                <a:latin typeface="+mn-ea"/>
              </a:rPr>
              <a:t>0/1</a:t>
            </a:r>
            <a:r>
              <a:rPr lang="zh-CN" altLang="en-US" dirty="0">
                <a:latin typeface="+mn-ea"/>
              </a:rPr>
              <a:t>损失函数</a:t>
            </a:r>
            <a:r>
              <a:rPr lang="zh-CN" altLang="en-US" dirty="0" smtClean="0">
                <a:latin typeface="+mn-ea"/>
              </a:rPr>
              <a:t>的替代损失函数</a:t>
            </a:r>
            <a:endParaRPr lang="zh-CN" altLang="en-US" dirty="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dirty="0"/>
          </a:p>
        </p:txBody>
      </p:sp>
      <p:graphicFrame>
        <p:nvGraphicFramePr>
          <p:cNvPr id="5" name="对象 4"/>
          <p:cNvGraphicFramePr>
            <a:graphicFrameLocks noChangeAspect="1"/>
          </p:cNvGraphicFramePr>
          <p:nvPr/>
        </p:nvGraphicFramePr>
        <p:xfrm>
          <a:off x="3707904" y="2479427"/>
          <a:ext cx="2139950" cy="517525"/>
        </p:xfrm>
        <a:graphic>
          <a:graphicData uri="http://schemas.openxmlformats.org/presentationml/2006/ole">
            <mc:AlternateContent xmlns:mc="http://schemas.openxmlformats.org/markup-compatibility/2006">
              <mc:Choice xmlns:v="urn:schemas-microsoft-com:vml" Requires="v">
                <p:oleObj spid="_x0000_s2443" name="Equation" r:id="rId1" imgW="28956000" imgH="7010400" progId="Equation.DSMT4">
                  <p:embed/>
                </p:oleObj>
              </mc:Choice>
              <mc:Fallback>
                <p:oleObj name="Equation" r:id="rId1" imgW="28956000" imgH="7010400" progId="Equation.DSMT4">
                  <p:embed/>
                  <p:pic>
                    <p:nvPicPr>
                      <p:cNvPr id="0" name="图片 2442"/>
                      <p:cNvPicPr/>
                      <p:nvPr/>
                    </p:nvPicPr>
                    <p:blipFill>
                      <a:blip r:embed="rId2"/>
                      <a:stretch>
                        <a:fillRect/>
                      </a:stretch>
                    </p:blipFill>
                    <p:spPr>
                      <a:xfrm>
                        <a:off x="3707904" y="2479427"/>
                        <a:ext cx="2139950" cy="517525"/>
                      </a:xfrm>
                      <a:prstGeom prst="rect">
                        <a:avLst/>
                      </a:prstGeom>
                    </p:spPr>
                  </p:pic>
                </p:oleObj>
              </mc:Fallback>
            </mc:AlternateContent>
          </a:graphicData>
        </a:graphic>
      </p:graphicFrame>
      <p:graphicFrame>
        <p:nvGraphicFramePr>
          <p:cNvPr id="6" name="对象 5"/>
          <p:cNvGraphicFramePr>
            <a:graphicFrameLocks noChangeAspect="1"/>
          </p:cNvGraphicFramePr>
          <p:nvPr/>
        </p:nvGraphicFramePr>
        <p:xfrm>
          <a:off x="3347864" y="3267770"/>
          <a:ext cx="3041650" cy="449262"/>
        </p:xfrm>
        <a:graphic>
          <a:graphicData uri="http://schemas.openxmlformats.org/presentationml/2006/ole">
            <mc:AlternateContent xmlns:mc="http://schemas.openxmlformats.org/markup-compatibility/2006">
              <mc:Choice xmlns:v="urn:schemas-microsoft-com:vml" Requires="v">
                <p:oleObj spid="_x0000_s2444" name="Equation" r:id="rId3" imgW="41148000" imgH="6096000" progId="Equation.DSMT4">
                  <p:embed/>
                </p:oleObj>
              </mc:Choice>
              <mc:Fallback>
                <p:oleObj name="Equation" r:id="rId3" imgW="41148000" imgH="6096000" progId="Equation.DSMT4">
                  <p:embed/>
                  <p:pic>
                    <p:nvPicPr>
                      <p:cNvPr id="0" name="图片 2443"/>
                      <p:cNvPicPr/>
                      <p:nvPr/>
                    </p:nvPicPr>
                    <p:blipFill>
                      <a:blip r:embed="rId4"/>
                      <a:stretch>
                        <a:fillRect/>
                      </a:stretch>
                    </p:blipFill>
                    <p:spPr>
                      <a:xfrm>
                        <a:off x="3347864" y="3267770"/>
                        <a:ext cx="3041650" cy="449262"/>
                      </a:xfrm>
                      <a:prstGeom prst="rect">
                        <a:avLst/>
                      </a:prstGeom>
                    </p:spPr>
                  </p:pic>
                </p:oleObj>
              </mc:Fallback>
            </mc:AlternateContent>
          </a:graphicData>
        </a:graphic>
      </p:graphicFrame>
      <p:graphicFrame>
        <p:nvGraphicFramePr>
          <p:cNvPr id="7" name="对象 6"/>
          <p:cNvGraphicFramePr>
            <a:graphicFrameLocks noChangeAspect="1"/>
          </p:cNvGraphicFramePr>
          <p:nvPr/>
        </p:nvGraphicFramePr>
        <p:xfrm>
          <a:off x="2629078" y="3629953"/>
          <a:ext cx="676275" cy="360363"/>
        </p:xfrm>
        <a:graphic>
          <a:graphicData uri="http://schemas.openxmlformats.org/presentationml/2006/ole">
            <mc:AlternateContent xmlns:mc="http://schemas.openxmlformats.org/markup-compatibility/2006">
              <mc:Choice xmlns:v="urn:schemas-microsoft-com:vml" Requires="v">
                <p:oleObj spid="_x0000_s2445" name="Equation" r:id="rId5" imgW="9144000" imgH="4876800" progId="Equation.DSMT4">
                  <p:embed/>
                </p:oleObj>
              </mc:Choice>
              <mc:Fallback>
                <p:oleObj name="Equation" r:id="rId5" imgW="9144000" imgH="4876800" progId="Equation.DSMT4">
                  <p:embed/>
                  <p:pic>
                    <p:nvPicPr>
                      <p:cNvPr id="0" name="图片 2444"/>
                      <p:cNvPicPr/>
                      <p:nvPr/>
                    </p:nvPicPr>
                    <p:blipFill>
                      <a:blip r:embed="rId6"/>
                      <a:stretch>
                        <a:fillRect/>
                      </a:stretch>
                    </p:blipFill>
                    <p:spPr>
                      <a:xfrm>
                        <a:off x="2629078" y="3629953"/>
                        <a:ext cx="676275" cy="360363"/>
                      </a:xfrm>
                      <a:prstGeom prst="rect">
                        <a:avLst/>
                      </a:prstGeom>
                    </p:spPr>
                  </p:pic>
                </p:oleObj>
              </mc:Fallback>
            </mc:AlternateContent>
          </a:graphicData>
        </a:graphic>
      </p:graphicFrame>
      <p:graphicFrame>
        <p:nvGraphicFramePr>
          <p:cNvPr id="8" name="对象 7"/>
          <p:cNvGraphicFramePr>
            <a:graphicFrameLocks noChangeAspect="1"/>
          </p:cNvGraphicFramePr>
          <p:nvPr/>
        </p:nvGraphicFramePr>
        <p:xfrm>
          <a:off x="1959818" y="3889548"/>
          <a:ext cx="5924550" cy="763588"/>
        </p:xfrm>
        <a:graphic>
          <a:graphicData uri="http://schemas.openxmlformats.org/presentationml/2006/ole">
            <mc:AlternateContent xmlns:mc="http://schemas.openxmlformats.org/markup-compatibility/2006">
              <mc:Choice xmlns:v="urn:schemas-microsoft-com:vml" Requires="v">
                <p:oleObj spid="_x0000_s2446" name="Equation" r:id="rId7" imgW="80162400" imgH="10363200" progId="Equation.DSMT4">
                  <p:embed/>
                </p:oleObj>
              </mc:Choice>
              <mc:Fallback>
                <p:oleObj name="Equation" r:id="rId7" imgW="80162400" imgH="10363200" progId="Equation.DSMT4">
                  <p:embed/>
                  <p:pic>
                    <p:nvPicPr>
                      <p:cNvPr id="0" name="图片 2445"/>
                      <p:cNvPicPr/>
                      <p:nvPr/>
                    </p:nvPicPr>
                    <p:blipFill>
                      <a:blip r:embed="rId8"/>
                      <a:stretch>
                        <a:fillRect/>
                      </a:stretch>
                    </p:blipFill>
                    <p:spPr>
                      <a:xfrm>
                        <a:off x="1959818" y="3889548"/>
                        <a:ext cx="5924550" cy="763588"/>
                      </a:xfrm>
                      <a:prstGeom prst="rect">
                        <a:avLst/>
                      </a:prstGeom>
                    </p:spPr>
                  </p:pic>
                </p:oleObj>
              </mc:Fallback>
            </mc:AlternateContent>
          </a:graphicData>
        </a:graphic>
      </p:graphicFrame>
      <p:graphicFrame>
        <p:nvGraphicFramePr>
          <p:cNvPr id="9" name="对象 8"/>
          <p:cNvGraphicFramePr>
            <a:graphicFrameLocks noChangeAspect="1"/>
          </p:cNvGraphicFramePr>
          <p:nvPr/>
        </p:nvGraphicFramePr>
        <p:xfrm>
          <a:off x="3275856" y="4725144"/>
          <a:ext cx="2860675" cy="809625"/>
        </p:xfrm>
        <a:graphic>
          <a:graphicData uri="http://schemas.openxmlformats.org/presentationml/2006/ole">
            <mc:AlternateContent xmlns:mc="http://schemas.openxmlformats.org/markup-compatibility/2006">
              <mc:Choice xmlns:v="urn:schemas-microsoft-com:vml" Requires="v">
                <p:oleObj spid="_x0000_s2447" name="Equation" r:id="rId9" imgW="38709600" imgH="10972800" progId="Equation.DSMT4">
                  <p:embed/>
                </p:oleObj>
              </mc:Choice>
              <mc:Fallback>
                <p:oleObj name="Equation" r:id="rId9" imgW="38709600" imgH="10972800" progId="Equation.DSMT4">
                  <p:embed/>
                  <p:pic>
                    <p:nvPicPr>
                      <p:cNvPr id="0" name="图片 2446"/>
                      <p:cNvPicPr/>
                      <p:nvPr/>
                    </p:nvPicPr>
                    <p:blipFill>
                      <a:blip r:embed="rId10"/>
                      <a:stretch>
                        <a:fillRect/>
                      </a:stretch>
                    </p:blipFill>
                    <p:spPr>
                      <a:xfrm>
                        <a:off x="3275856" y="4725144"/>
                        <a:ext cx="2860675" cy="809625"/>
                      </a:xfrm>
                      <a:prstGeom prst="rect">
                        <a:avLst/>
                      </a:prstGeom>
                    </p:spPr>
                  </p:pic>
                </p:oleObj>
              </mc:Fallback>
            </mc:AlternateContent>
          </a:graphicData>
        </a:graphic>
      </p:graphicFrame>
      <p:graphicFrame>
        <p:nvGraphicFramePr>
          <p:cNvPr id="10" name="对象 9"/>
          <p:cNvGraphicFramePr>
            <a:graphicFrameLocks noChangeAspect="1"/>
          </p:cNvGraphicFramePr>
          <p:nvPr/>
        </p:nvGraphicFramePr>
        <p:xfrm>
          <a:off x="737815" y="5427687"/>
          <a:ext cx="7794625" cy="809625"/>
        </p:xfrm>
        <a:graphic>
          <a:graphicData uri="http://schemas.openxmlformats.org/presentationml/2006/ole">
            <mc:AlternateContent xmlns:mc="http://schemas.openxmlformats.org/markup-compatibility/2006">
              <mc:Choice xmlns:v="urn:schemas-microsoft-com:vml" Requires="v">
                <p:oleObj spid="_x0000_s2448" name="Equation" r:id="rId11" imgW="105460800" imgH="10972800" progId="Equation.DSMT4">
                  <p:embed/>
                </p:oleObj>
              </mc:Choice>
              <mc:Fallback>
                <p:oleObj name="Equation" r:id="rId11" imgW="105460800" imgH="10972800" progId="Equation.DSMT4">
                  <p:embed/>
                  <p:pic>
                    <p:nvPicPr>
                      <p:cNvPr id="0" name="图片 2447"/>
                      <p:cNvPicPr/>
                      <p:nvPr/>
                    </p:nvPicPr>
                    <p:blipFill>
                      <a:blip r:embed="rId12"/>
                      <a:stretch>
                        <a:fillRect/>
                      </a:stretch>
                    </p:blipFill>
                    <p:spPr>
                      <a:xfrm>
                        <a:off x="737815" y="5427687"/>
                        <a:ext cx="7794625" cy="809625"/>
                      </a:xfrm>
                      <a:prstGeom prst="rect">
                        <a:avLst/>
                      </a:prstGeom>
                    </p:spPr>
                  </p:pic>
                </p:oleObj>
              </mc:Fallback>
            </mc:AlternateContent>
          </a:graphicData>
        </a:graphic>
      </p:graphicFrame>
    </p:spTree>
  </p:cSld>
  <p:clrMapOvr>
    <a:masterClrMapping/>
  </p:clrMapOvr>
  <p:transition>
    <p:cover dir="u"/>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8.2 Boosting</a:t>
            </a:r>
            <a:endParaRPr lang="zh-CN" altLang="en-US" dirty="0"/>
          </a:p>
        </p:txBody>
      </p:sp>
      <p:sp>
        <p:nvSpPr>
          <p:cNvPr id="3" name="内容占位符 2"/>
          <p:cNvSpPr>
            <a:spLocks noGrp="1"/>
          </p:cNvSpPr>
          <p:nvPr>
            <p:ph idx="1"/>
          </p:nvPr>
        </p:nvSpPr>
        <p:spPr/>
        <p:txBody>
          <a:bodyPr/>
          <a:lstStyle/>
          <a:p>
            <a:r>
              <a:rPr lang="en-US" altLang="zh-CN" dirty="0" err="1">
                <a:latin typeface="+mn-ea"/>
              </a:rPr>
              <a:t>AdaBoost</a:t>
            </a:r>
            <a:r>
              <a:rPr lang="zh-CN" altLang="en-US" dirty="0">
                <a:latin typeface="+mn-ea"/>
              </a:rPr>
              <a:t>算法</a:t>
            </a:r>
            <a:endParaRPr lang="en-US" altLang="zh-CN" dirty="0">
              <a:latin typeface="+mn-ea"/>
            </a:endParaRPr>
          </a:p>
          <a:p>
            <a:pPr lvl="1"/>
            <a:r>
              <a:rPr lang="zh-CN" altLang="en-US" dirty="0">
                <a:latin typeface="+mn-ea"/>
              </a:rPr>
              <a:t>加性模型</a:t>
            </a:r>
            <a:r>
              <a:rPr lang="en-US" altLang="zh-CN" dirty="0">
                <a:latin typeface="+mn-ea"/>
              </a:rPr>
              <a:t>(</a:t>
            </a:r>
            <a:r>
              <a:rPr lang="zh-CN" altLang="en-US" dirty="0">
                <a:latin typeface="+mn-ea"/>
              </a:rPr>
              <a:t>基学习器的线性组合</a:t>
            </a:r>
            <a:r>
              <a:rPr lang="en-US" altLang="zh-CN" dirty="0">
                <a:latin typeface="+mn-ea"/>
              </a:rPr>
              <a:t>)</a:t>
            </a:r>
            <a:endParaRPr lang="en-US" altLang="zh-CN" dirty="0">
              <a:latin typeface="+mn-ea"/>
            </a:endParaRPr>
          </a:p>
          <a:p>
            <a:pPr lvl="2"/>
            <a:r>
              <a:rPr lang="zh-CN" altLang="en-US" dirty="0" smtClean="0"/>
              <a:t>求权重</a:t>
            </a:r>
            <a:endParaRPr lang="en-US" altLang="zh-CN" dirty="0" smtClean="0"/>
          </a:p>
          <a:p>
            <a:pPr lvl="3"/>
            <a:r>
              <a:rPr lang="zh-CN" altLang="en-US" dirty="0">
                <a:latin typeface="+mn-ea"/>
              </a:rPr>
              <a:t>通过初始</a:t>
            </a:r>
            <a:r>
              <a:rPr lang="zh-CN" altLang="en-US" dirty="0" smtClean="0">
                <a:latin typeface="+mn-ea"/>
              </a:rPr>
              <a:t>数据分布</a:t>
            </a:r>
            <a:r>
              <a:rPr lang="zh-CN" altLang="en-US" dirty="0">
                <a:latin typeface="+mn-ea"/>
              </a:rPr>
              <a:t>得</a:t>
            </a:r>
            <a:r>
              <a:rPr lang="zh-CN" altLang="en-US" dirty="0" smtClean="0">
                <a:latin typeface="+mn-ea"/>
              </a:rPr>
              <a:t>第一</a:t>
            </a:r>
            <a:r>
              <a:rPr lang="zh-CN" altLang="en-US" dirty="0">
                <a:latin typeface="+mn-ea"/>
              </a:rPr>
              <a:t>个基</a:t>
            </a:r>
            <a:r>
              <a:rPr lang="zh-CN" altLang="en-US" dirty="0" smtClean="0">
                <a:latin typeface="+mn-ea"/>
              </a:rPr>
              <a:t>分类器 ，此后迭代生成</a:t>
            </a:r>
            <a:endParaRPr lang="en-US" altLang="zh-CN" dirty="0" smtClean="0">
              <a:latin typeface="+mn-ea"/>
            </a:endParaRPr>
          </a:p>
          <a:p>
            <a:pPr lvl="3"/>
            <a:r>
              <a:rPr lang="zh-CN" altLang="en-US" dirty="0" smtClean="0">
                <a:latin typeface="+mn-ea"/>
              </a:rPr>
              <a:t>基分类器</a:t>
            </a:r>
            <a:r>
              <a:rPr lang="en-US" altLang="zh-CN" dirty="0" smtClean="0">
                <a:latin typeface="+mn-ea"/>
              </a:rPr>
              <a:t>  </a:t>
            </a:r>
            <a:r>
              <a:rPr lang="zh-CN" altLang="en-US" dirty="0" smtClean="0">
                <a:latin typeface="+mn-ea"/>
              </a:rPr>
              <a:t>基于分布</a:t>
            </a:r>
            <a:r>
              <a:rPr lang="en-US" altLang="zh-CN" dirty="0" smtClean="0">
                <a:latin typeface="+mn-ea"/>
              </a:rPr>
              <a:t>  </a:t>
            </a:r>
            <a:r>
              <a:rPr lang="zh-CN" altLang="en-US" dirty="0" smtClean="0">
                <a:latin typeface="+mn-ea"/>
              </a:rPr>
              <a:t>产生</a:t>
            </a:r>
            <a:r>
              <a:rPr lang="zh-CN" altLang="en-US" dirty="0">
                <a:latin typeface="+mn-ea"/>
              </a:rPr>
              <a:t>后</a:t>
            </a:r>
            <a:r>
              <a:rPr lang="zh-CN" altLang="en-US" dirty="0" smtClean="0">
                <a:latin typeface="+mn-ea"/>
              </a:rPr>
              <a:t>，权重  应使得</a:t>
            </a:r>
            <a:r>
              <a:rPr lang="en-US" altLang="zh-CN" dirty="0" smtClean="0">
                <a:latin typeface="+mn-ea"/>
              </a:rPr>
              <a:t>   </a:t>
            </a:r>
            <a:r>
              <a:rPr lang="zh-CN" altLang="en-US" dirty="0" smtClean="0">
                <a:latin typeface="+mn-ea"/>
              </a:rPr>
              <a:t>最小</a:t>
            </a:r>
            <a:r>
              <a:rPr lang="zh-CN" altLang="en-US" dirty="0">
                <a:latin typeface="+mn-ea"/>
              </a:rPr>
              <a:t>化指数</a:t>
            </a:r>
            <a:r>
              <a:rPr lang="zh-CN" altLang="en-US" dirty="0" smtClean="0">
                <a:latin typeface="+mn-ea"/>
              </a:rPr>
              <a:t>损失函数</a:t>
            </a:r>
            <a:endParaRPr lang="en-US" altLang="zh-CN" dirty="0" smtClean="0">
              <a:latin typeface="+mn-ea"/>
            </a:endParaRPr>
          </a:p>
          <a:p>
            <a:pPr lvl="3"/>
            <a:endParaRPr lang="en-US" altLang="zh-CN" dirty="0">
              <a:latin typeface="+mn-ea"/>
            </a:endParaRPr>
          </a:p>
          <a:p>
            <a:pPr lvl="3"/>
            <a:endParaRPr lang="en-US" altLang="zh-CN" dirty="0" smtClean="0">
              <a:latin typeface="+mn-ea"/>
            </a:endParaRPr>
          </a:p>
          <a:p>
            <a:pPr lvl="3"/>
            <a:endParaRPr lang="en-US" altLang="zh-CN" dirty="0">
              <a:latin typeface="+mn-ea"/>
            </a:endParaRPr>
          </a:p>
          <a:p>
            <a:pPr lvl="3"/>
            <a:endParaRPr lang="en-US" altLang="zh-CN" dirty="0" smtClean="0">
              <a:latin typeface="+mn-ea"/>
            </a:endParaRPr>
          </a:p>
          <a:p>
            <a:pPr lvl="3"/>
            <a:endParaRPr lang="en-US" altLang="zh-CN" dirty="0" smtClean="0">
              <a:latin typeface="+mn-ea"/>
            </a:endParaRPr>
          </a:p>
          <a:p>
            <a:pPr lvl="3"/>
            <a:r>
              <a:rPr lang="zh-CN" altLang="en-US" dirty="0" smtClean="0">
                <a:latin typeface="+mn-ea"/>
              </a:rPr>
              <a:t>令上式  偏导为</a:t>
            </a:r>
            <a:r>
              <a:rPr lang="en-US" altLang="zh-CN" dirty="0" smtClean="0">
                <a:latin typeface="+mn-ea"/>
              </a:rPr>
              <a:t>0</a:t>
            </a:r>
            <a:r>
              <a:rPr lang="zh-CN" altLang="en-US" dirty="0">
                <a:latin typeface="+mn-ea"/>
              </a:rPr>
              <a:t>得</a:t>
            </a:r>
            <a:endParaRPr lang="en-US" altLang="zh-CN" dirty="0" smtClean="0">
              <a:latin typeface="+mn-ea"/>
            </a:endParaRPr>
          </a:p>
          <a:p>
            <a:pPr lvl="3"/>
            <a:endParaRPr lang="zh-CN" altLang="en-US" dirty="0">
              <a:latin typeface="+mn-ea"/>
            </a:endParaRPr>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graphicFrame>
        <p:nvGraphicFramePr>
          <p:cNvPr id="5" name="对象 4"/>
          <p:cNvGraphicFramePr>
            <a:graphicFrameLocks noChangeAspect="1"/>
          </p:cNvGraphicFramePr>
          <p:nvPr/>
        </p:nvGraphicFramePr>
        <p:xfrm>
          <a:off x="6606381" y="2132856"/>
          <a:ext cx="269875" cy="404812"/>
        </p:xfrm>
        <a:graphic>
          <a:graphicData uri="http://schemas.openxmlformats.org/presentationml/2006/ole">
            <mc:AlternateContent xmlns:mc="http://schemas.openxmlformats.org/markup-compatibility/2006">
              <mc:Choice xmlns:v="urn:schemas-microsoft-com:vml" Requires="v">
                <p:oleObj spid="_x0000_s3624" name="Equation" r:id="rId1" imgW="3657600" imgH="5486400" progId="Equation.DSMT4">
                  <p:embed/>
                </p:oleObj>
              </mc:Choice>
              <mc:Fallback>
                <p:oleObj name="Equation" r:id="rId1" imgW="3657600" imgH="5486400" progId="Equation.DSMT4">
                  <p:embed/>
                  <p:pic>
                    <p:nvPicPr>
                      <p:cNvPr id="0" name="图片 3623"/>
                      <p:cNvPicPr/>
                      <p:nvPr/>
                    </p:nvPicPr>
                    <p:blipFill>
                      <a:blip r:embed="rId2"/>
                      <a:stretch>
                        <a:fillRect/>
                      </a:stretch>
                    </p:blipFill>
                    <p:spPr>
                      <a:xfrm>
                        <a:off x="6606381" y="2132856"/>
                        <a:ext cx="269875" cy="404812"/>
                      </a:xfrm>
                      <a:prstGeom prst="rect">
                        <a:avLst/>
                      </a:prstGeom>
                    </p:spPr>
                  </p:pic>
                </p:oleObj>
              </mc:Fallback>
            </mc:AlternateContent>
          </a:graphicData>
        </a:graphic>
      </p:graphicFrame>
      <p:graphicFrame>
        <p:nvGraphicFramePr>
          <p:cNvPr id="6" name="对象 5"/>
          <p:cNvGraphicFramePr>
            <a:graphicFrameLocks noChangeAspect="1"/>
          </p:cNvGraphicFramePr>
          <p:nvPr/>
        </p:nvGraphicFramePr>
        <p:xfrm>
          <a:off x="2627784" y="2434304"/>
          <a:ext cx="584200" cy="404813"/>
        </p:xfrm>
        <a:graphic>
          <a:graphicData uri="http://schemas.openxmlformats.org/presentationml/2006/ole">
            <mc:AlternateContent xmlns:mc="http://schemas.openxmlformats.org/markup-compatibility/2006">
              <mc:Choice xmlns:v="urn:schemas-microsoft-com:vml" Requires="v">
                <p:oleObj spid="_x0000_s3625" name="Equation" r:id="rId3" imgW="7924800" imgH="5486400" progId="Equation.DSMT4">
                  <p:embed/>
                </p:oleObj>
              </mc:Choice>
              <mc:Fallback>
                <p:oleObj name="Equation" r:id="rId3" imgW="7924800" imgH="5486400" progId="Equation.DSMT4">
                  <p:embed/>
                  <p:pic>
                    <p:nvPicPr>
                      <p:cNvPr id="0" name="图片 3624"/>
                      <p:cNvPicPr/>
                      <p:nvPr/>
                    </p:nvPicPr>
                    <p:blipFill>
                      <a:blip r:embed="rId4"/>
                      <a:stretch>
                        <a:fillRect/>
                      </a:stretch>
                    </p:blipFill>
                    <p:spPr>
                      <a:xfrm>
                        <a:off x="2627784" y="2434304"/>
                        <a:ext cx="584200" cy="404813"/>
                      </a:xfrm>
                      <a:prstGeom prst="rect">
                        <a:avLst/>
                      </a:prstGeom>
                    </p:spPr>
                  </p:pic>
                </p:oleObj>
              </mc:Fallback>
            </mc:AlternateContent>
          </a:graphicData>
        </a:graphic>
      </p:graphicFrame>
      <p:graphicFrame>
        <p:nvGraphicFramePr>
          <p:cNvPr id="7" name="对象 6"/>
          <p:cNvGraphicFramePr>
            <a:graphicFrameLocks noChangeAspect="1"/>
          </p:cNvGraphicFramePr>
          <p:nvPr/>
        </p:nvGraphicFramePr>
        <p:xfrm>
          <a:off x="3447527" y="2751431"/>
          <a:ext cx="269875" cy="404812"/>
        </p:xfrm>
        <a:graphic>
          <a:graphicData uri="http://schemas.openxmlformats.org/presentationml/2006/ole">
            <mc:AlternateContent xmlns:mc="http://schemas.openxmlformats.org/markup-compatibility/2006">
              <mc:Choice xmlns:v="urn:schemas-microsoft-com:vml" Requires="v">
                <p:oleObj spid="_x0000_s3626" name="Equation" r:id="rId5" imgW="3657600" imgH="5486400" progId="Equation.DSMT4">
                  <p:embed/>
                </p:oleObj>
              </mc:Choice>
              <mc:Fallback>
                <p:oleObj name="Equation" r:id="rId5" imgW="3657600" imgH="5486400" progId="Equation.DSMT4">
                  <p:embed/>
                  <p:pic>
                    <p:nvPicPr>
                      <p:cNvPr id="0" name="图片 3625"/>
                      <p:cNvPicPr/>
                      <p:nvPr/>
                    </p:nvPicPr>
                    <p:blipFill>
                      <a:blip r:embed="rId6"/>
                      <a:stretch>
                        <a:fillRect/>
                      </a:stretch>
                    </p:blipFill>
                    <p:spPr>
                      <a:xfrm>
                        <a:off x="3447527" y="2751431"/>
                        <a:ext cx="269875" cy="404812"/>
                      </a:xfrm>
                      <a:prstGeom prst="rect">
                        <a:avLst/>
                      </a:prstGeom>
                    </p:spPr>
                  </p:pic>
                </p:oleObj>
              </mc:Fallback>
            </mc:AlternateContent>
          </a:graphicData>
        </a:graphic>
      </p:graphicFrame>
      <p:graphicFrame>
        <p:nvGraphicFramePr>
          <p:cNvPr id="8" name="对象 7"/>
          <p:cNvGraphicFramePr>
            <a:graphicFrameLocks noChangeAspect="1"/>
          </p:cNvGraphicFramePr>
          <p:nvPr/>
        </p:nvGraphicFramePr>
        <p:xfrm>
          <a:off x="4735821" y="2778586"/>
          <a:ext cx="340235" cy="360000"/>
        </p:xfrm>
        <a:graphic>
          <a:graphicData uri="http://schemas.openxmlformats.org/presentationml/2006/ole">
            <mc:AlternateContent xmlns:mc="http://schemas.openxmlformats.org/markup-compatibility/2006">
              <mc:Choice xmlns:v="urn:schemas-microsoft-com:vml" Requires="v">
                <p:oleObj spid="_x0000_s3627" name="Equation" r:id="rId7" imgW="5181600" imgH="5486400" progId="Equation.DSMT4">
                  <p:embed/>
                </p:oleObj>
              </mc:Choice>
              <mc:Fallback>
                <p:oleObj name="Equation" r:id="rId7" imgW="5181600" imgH="5486400" progId="Equation.DSMT4">
                  <p:embed/>
                  <p:pic>
                    <p:nvPicPr>
                      <p:cNvPr id="0" name="图片 3626"/>
                      <p:cNvPicPr/>
                      <p:nvPr/>
                    </p:nvPicPr>
                    <p:blipFill>
                      <a:blip r:embed="rId8"/>
                      <a:stretch>
                        <a:fillRect/>
                      </a:stretch>
                    </p:blipFill>
                    <p:spPr>
                      <a:xfrm>
                        <a:off x="4735821" y="2778586"/>
                        <a:ext cx="340235" cy="360000"/>
                      </a:xfrm>
                      <a:prstGeom prst="rect">
                        <a:avLst/>
                      </a:prstGeom>
                    </p:spPr>
                  </p:pic>
                </p:oleObj>
              </mc:Fallback>
            </mc:AlternateContent>
          </a:graphicData>
        </a:graphic>
      </p:graphicFrame>
      <p:graphicFrame>
        <p:nvGraphicFramePr>
          <p:cNvPr id="9" name="对象 8"/>
          <p:cNvGraphicFramePr>
            <a:graphicFrameLocks noChangeAspect="1"/>
          </p:cNvGraphicFramePr>
          <p:nvPr/>
        </p:nvGraphicFramePr>
        <p:xfrm>
          <a:off x="6624637" y="2733773"/>
          <a:ext cx="314325" cy="404813"/>
        </p:xfrm>
        <a:graphic>
          <a:graphicData uri="http://schemas.openxmlformats.org/presentationml/2006/ole">
            <mc:AlternateContent xmlns:mc="http://schemas.openxmlformats.org/markup-compatibility/2006">
              <mc:Choice xmlns:v="urn:schemas-microsoft-com:vml" Requires="v">
                <p:oleObj spid="_x0000_s3628" name="Equation" r:id="rId9" imgW="4267200" imgH="5486400" progId="Equation.DSMT4">
                  <p:embed/>
                </p:oleObj>
              </mc:Choice>
              <mc:Fallback>
                <p:oleObj name="Equation" r:id="rId9" imgW="4267200" imgH="5486400" progId="Equation.DSMT4">
                  <p:embed/>
                  <p:pic>
                    <p:nvPicPr>
                      <p:cNvPr id="0" name="图片 3627"/>
                      <p:cNvPicPr/>
                      <p:nvPr/>
                    </p:nvPicPr>
                    <p:blipFill>
                      <a:blip r:embed="rId10"/>
                      <a:stretch>
                        <a:fillRect/>
                      </a:stretch>
                    </p:blipFill>
                    <p:spPr>
                      <a:xfrm>
                        <a:off x="6624637" y="2733773"/>
                        <a:ext cx="314325" cy="404813"/>
                      </a:xfrm>
                      <a:prstGeom prst="rect">
                        <a:avLst/>
                      </a:prstGeom>
                    </p:spPr>
                  </p:pic>
                </p:oleObj>
              </mc:Fallback>
            </mc:AlternateContent>
          </a:graphicData>
        </a:graphic>
      </p:graphicFrame>
      <p:graphicFrame>
        <p:nvGraphicFramePr>
          <p:cNvPr id="10" name="对象 9"/>
          <p:cNvGraphicFramePr>
            <a:graphicFrameLocks noChangeAspect="1"/>
          </p:cNvGraphicFramePr>
          <p:nvPr/>
        </p:nvGraphicFramePr>
        <p:xfrm>
          <a:off x="7671258" y="2747627"/>
          <a:ext cx="493713" cy="404812"/>
        </p:xfrm>
        <a:graphic>
          <a:graphicData uri="http://schemas.openxmlformats.org/presentationml/2006/ole">
            <mc:AlternateContent xmlns:mc="http://schemas.openxmlformats.org/markup-compatibility/2006">
              <mc:Choice xmlns:v="urn:schemas-microsoft-com:vml" Requires="v">
                <p:oleObj spid="_x0000_s3629" name="Equation" r:id="rId11" imgW="6705600" imgH="5486400" progId="Equation.DSMT4">
                  <p:embed/>
                </p:oleObj>
              </mc:Choice>
              <mc:Fallback>
                <p:oleObj name="Equation" r:id="rId11" imgW="6705600" imgH="5486400" progId="Equation.DSMT4">
                  <p:embed/>
                  <p:pic>
                    <p:nvPicPr>
                      <p:cNvPr id="0" name="图片 3628"/>
                      <p:cNvPicPr/>
                      <p:nvPr/>
                    </p:nvPicPr>
                    <p:blipFill>
                      <a:blip r:embed="rId12"/>
                      <a:stretch>
                        <a:fillRect/>
                      </a:stretch>
                    </p:blipFill>
                    <p:spPr>
                      <a:xfrm>
                        <a:off x="7671258" y="2747627"/>
                        <a:ext cx="493713" cy="404812"/>
                      </a:xfrm>
                      <a:prstGeom prst="rect">
                        <a:avLst/>
                      </a:prstGeom>
                    </p:spPr>
                  </p:pic>
                </p:oleObj>
              </mc:Fallback>
            </mc:AlternateContent>
          </a:graphicData>
        </a:graphic>
      </p:graphicFrame>
      <p:graphicFrame>
        <p:nvGraphicFramePr>
          <p:cNvPr id="11" name="对象 10"/>
          <p:cNvGraphicFramePr>
            <a:graphicFrameLocks noChangeAspect="1"/>
          </p:cNvGraphicFramePr>
          <p:nvPr/>
        </p:nvGraphicFramePr>
        <p:xfrm>
          <a:off x="1547664" y="3573016"/>
          <a:ext cx="6399213" cy="1192213"/>
        </p:xfrm>
        <a:graphic>
          <a:graphicData uri="http://schemas.openxmlformats.org/presentationml/2006/ole">
            <mc:AlternateContent xmlns:mc="http://schemas.openxmlformats.org/markup-compatibility/2006">
              <mc:Choice xmlns:v="urn:schemas-microsoft-com:vml" Requires="v">
                <p:oleObj spid="_x0000_s3630" name="Equation" r:id="rId13" imgW="86563200" imgH="16154400" progId="Equation.DSMT4">
                  <p:embed/>
                </p:oleObj>
              </mc:Choice>
              <mc:Fallback>
                <p:oleObj name="Equation" r:id="rId13" imgW="86563200" imgH="16154400" progId="Equation.DSMT4">
                  <p:embed/>
                  <p:pic>
                    <p:nvPicPr>
                      <p:cNvPr id="0" name="图片 3629"/>
                      <p:cNvPicPr/>
                      <p:nvPr/>
                    </p:nvPicPr>
                    <p:blipFill>
                      <a:blip r:embed="rId14"/>
                      <a:stretch>
                        <a:fillRect/>
                      </a:stretch>
                    </p:blipFill>
                    <p:spPr>
                      <a:xfrm>
                        <a:off x="1547664" y="3573016"/>
                        <a:ext cx="6399213" cy="1192213"/>
                      </a:xfrm>
                      <a:prstGeom prst="rect">
                        <a:avLst/>
                      </a:prstGeom>
                    </p:spPr>
                  </p:pic>
                </p:oleObj>
              </mc:Fallback>
            </mc:AlternateContent>
          </a:graphicData>
        </a:graphic>
      </p:graphicFrame>
      <p:graphicFrame>
        <p:nvGraphicFramePr>
          <p:cNvPr id="12" name="对象 11"/>
          <p:cNvGraphicFramePr>
            <a:graphicFrameLocks noChangeAspect="1"/>
          </p:cNvGraphicFramePr>
          <p:nvPr/>
        </p:nvGraphicFramePr>
        <p:xfrm>
          <a:off x="3190834" y="4863817"/>
          <a:ext cx="314325" cy="404813"/>
        </p:xfrm>
        <a:graphic>
          <a:graphicData uri="http://schemas.openxmlformats.org/presentationml/2006/ole">
            <mc:AlternateContent xmlns:mc="http://schemas.openxmlformats.org/markup-compatibility/2006">
              <mc:Choice xmlns:v="urn:schemas-microsoft-com:vml" Requires="v">
                <p:oleObj spid="_x0000_s3631" name="Equation" r:id="rId15" imgW="4267200" imgH="5486400" progId="Equation.DSMT4">
                  <p:embed/>
                </p:oleObj>
              </mc:Choice>
              <mc:Fallback>
                <p:oleObj name="Equation" r:id="rId15" imgW="4267200" imgH="5486400" progId="Equation.DSMT4">
                  <p:embed/>
                  <p:pic>
                    <p:nvPicPr>
                      <p:cNvPr id="0" name="图片 3630"/>
                      <p:cNvPicPr/>
                      <p:nvPr/>
                    </p:nvPicPr>
                    <p:blipFill>
                      <a:blip r:embed="rId10"/>
                      <a:stretch>
                        <a:fillRect/>
                      </a:stretch>
                    </p:blipFill>
                    <p:spPr>
                      <a:xfrm>
                        <a:off x="3190834" y="4863817"/>
                        <a:ext cx="314325" cy="404813"/>
                      </a:xfrm>
                      <a:prstGeom prst="rect">
                        <a:avLst/>
                      </a:prstGeom>
                    </p:spPr>
                  </p:pic>
                </p:oleObj>
              </mc:Fallback>
            </mc:AlternateContent>
          </a:graphicData>
        </a:graphic>
      </p:graphicFrame>
      <p:graphicFrame>
        <p:nvGraphicFramePr>
          <p:cNvPr id="13" name="对象 12"/>
          <p:cNvGraphicFramePr>
            <a:graphicFrameLocks noChangeAspect="1"/>
          </p:cNvGraphicFramePr>
          <p:nvPr/>
        </p:nvGraphicFramePr>
        <p:xfrm>
          <a:off x="4860032" y="4680049"/>
          <a:ext cx="1638300" cy="765175"/>
        </p:xfrm>
        <a:graphic>
          <a:graphicData uri="http://schemas.openxmlformats.org/presentationml/2006/ole">
            <mc:AlternateContent xmlns:mc="http://schemas.openxmlformats.org/markup-compatibility/2006">
              <mc:Choice xmlns:v="urn:schemas-microsoft-com:vml" Requires="v">
                <p:oleObj spid="_x0000_s3632" name="Equation" r:id="rId16" imgW="22250400" imgH="10363200" progId="Equation.DSMT4">
                  <p:embed/>
                </p:oleObj>
              </mc:Choice>
              <mc:Fallback>
                <p:oleObj name="Equation" r:id="rId16" imgW="22250400" imgH="10363200" progId="Equation.DSMT4">
                  <p:embed/>
                  <p:pic>
                    <p:nvPicPr>
                      <p:cNvPr id="0" name="图片 3631"/>
                      <p:cNvPicPr/>
                      <p:nvPr/>
                    </p:nvPicPr>
                    <p:blipFill>
                      <a:blip r:embed="rId17"/>
                      <a:stretch>
                        <a:fillRect/>
                      </a:stretch>
                    </p:blipFill>
                    <p:spPr>
                      <a:xfrm>
                        <a:off x="4860032" y="4680049"/>
                        <a:ext cx="1638300" cy="765175"/>
                      </a:xfrm>
                      <a:prstGeom prst="rect">
                        <a:avLst/>
                      </a:prstGeom>
                    </p:spPr>
                  </p:pic>
                </p:oleObj>
              </mc:Fallback>
            </mc:AlternateContent>
          </a:graphicData>
        </a:graphic>
      </p:graphicFrame>
    </p:spTree>
  </p:cSld>
  <p:clrMapOvr>
    <a:masterClrMapping/>
  </p:clrMapOvr>
  <p:transition>
    <p:cover dir="u"/>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8.2 Boosting</a:t>
            </a:r>
            <a:endParaRPr lang="zh-CN" altLang="en-US" dirty="0"/>
          </a:p>
        </p:txBody>
      </p:sp>
      <p:sp>
        <p:nvSpPr>
          <p:cNvPr id="3" name="内容占位符 2"/>
          <p:cNvSpPr>
            <a:spLocks noGrp="1"/>
          </p:cNvSpPr>
          <p:nvPr>
            <p:ph idx="1"/>
          </p:nvPr>
        </p:nvSpPr>
        <p:spPr/>
        <p:txBody>
          <a:bodyPr/>
          <a:lstStyle/>
          <a:p>
            <a:r>
              <a:rPr lang="en-US" altLang="zh-CN" dirty="0" err="1" smtClean="0">
                <a:latin typeface="+mn-ea"/>
              </a:rPr>
              <a:t>AdaBoost</a:t>
            </a:r>
            <a:r>
              <a:rPr lang="zh-CN" altLang="en-US" dirty="0" smtClean="0">
                <a:latin typeface="+mn-ea"/>
              </a:rPr>
              <a:t>算法</a:t>
            </a:r>
            <a:endParaRPr lang="en-US" altLang="zh-CN" dirty="0" smtClean="0">
              <a:latin typeface="+mn-ea"/>
            </a:endParaRPr>
          </a:p>
          <a:p>
            <a:pPr lvl="1"/>
            <a:r>
              <a:rPr lang="zh-CN" altLang="en-US" dirty="0" smtClean="0">
                <a:latin typeface="+mn-ea"/>
              </a:rPr>
              <a:t>加性模型</a:t>
            </a:r>
            <a:r>
              <a:rPr lang="en-US" altLang="zh-CN" dirty="0" smtClean="0">
                <a:latin typeface="+mn-ea"/>
              </a:rPr>
              <a:t>(</a:t>
            </a:r>
            <a:r>
              <a:rPr lang="zh-CN" altLang="en-US" dirty="0" smtClean="0">
                <a:latin typeface="+mn-ea"/>
              </a:rPr>
              <a:t>基学习器的线性组合</a:t>
            </a:r>
            <a:r>
              <a:rPr lang="en-US" altLang="zh-CN" dirty="0" smtClean="0">
                <a:latin typeface="+mn-ea"/>
              </a:rPr>
              <a:t>)</a:t>
            </a:r>
            <a:endParaRPr lang="en-US" altLang="zh-CN" dirty="0" smtClean="0">
              <a:latin typeface="+mn-ea"/>
            </a:endParaRPr>
          </a:p>
          <a:p>
            <a:pPr lvl="2"/>
            <a:r>
              <a:rPr lang="zh-CN" altLang="en-US" dirty="0" smtClean="0"/>
              <a:t>求分布</a:t>
            </a:r>
            <a:endParaRPr lang="en-US" altLang="zh-CN" dirty="0" smtClean="0"/>
          </a:p>
          <a:p>
            <a:pPr lvl="3"/>
            <a:r>
              <a:rPr lang="zh-CN" altLang="en-US" dirty="0" smtClean="0">
                <a:latin typeface="+mn-ea"/>
              </a:rPr>
              <a:t>获得</a:t>
            </a:r>
            <a:r>
              <a:rPr lang="en-US" altLang="zh-CN" dirty="0" smtClean="0">
                <a:latin typeface="+mn-ea"/>
              </a:rPr>
              <a:t>   </a:t>
            </a:r>
            <a:r>
              <a:rPr lang="zh-CN" altLang="en-US" dirty="0" smtClean="0">
                <a:latin typeface="+mn-ea"/>
              </a:rPr>
              <a:t>后</a:t>
            </a:r>
            <a:r>
              <a:rPr lang="zh-CN" altLang="en-US" dirty="0">
                <a:latin typeface="+mn-ea"/>
              </a:rPr>
              <a:t>样本分布将进行</a:t>
            </a:r>
            <a:r>
              <a:rPr lang="zh-CN" altLang="en-US" dirty="0" smtClean="0">
                <a:latin typeface="+mn-ea"/>
              </a:rPr>
              <a:t>调整</a:t>
            </a:r>
            <a:endParaRPr lang="en-US" altLang="zh-CN" dirty="0" smtClean="0">
              <a:latin typeface="+mn-ea"/>
            </a:endParaRPr>
          </a:p>
          <a:p>
            <a:pPr lvl="4"/>
            <a:r>
              <a:rPr lang="zh-CN" altLang="en-US" dirty="0" smtClean="0">
                <a:latin typeface="+mn-ea"/>
              </a:rPr>
              <a:t>使</a:t>
            </a:r>
            <a:r>
              <a:rPr lang="zh-CN" altLang="en-US" dirty="0">
                <a:latin typeface="+mn-ea"/>
              </a:rPr>
              <a:t>下一轮的基</a:t>
            </a:r>
            <a:r>
              <a:rPr lang="zh-CN" altLang="en-US" dirty="0" smtClean="0">
                <a:latin typeface="+mn-ea"/>
              </a:rPr>
              <a:t>学习器能纠正一些错误，即</a:t>
            </a:r>
            <a:r>
              <a:rPr lang="zh-CN" altLang="en-US" dirty="0">
                <a:latin typeface="+mn-ea"/>
              </a:rPr>
              <a:t>最小</a:t>
            </a:r>
            <a:r>
              <a:rPr lang="zh-CN" altLang="en-US" dirty="0" smtClean="0">
                <a:latin typeface="+mn-ea"/>
              </a:rPr>
              <a:t>化</a:t>
            </a:r>
            <a:endParaRPr lang="en-US" altLang="zh-CN" dirty="0" smtClean="0">
              <a:latin typeface="+mn-ea"/>
            </a:endParaRPr>
          </a:p>
          <a:p>
            <a:pPr lvl="4"/>
            <a:endParaRPr lang="en-US" altLang="zh-CN" dirty="0">
              <a:latin typeface="+mn-ea"/>
            </a:endParaRPr>
          </a:p>
          <a:p>
            <a:pPr lvl="4"/>
            <a:endParaRPr lang="en-US" altLang="zh-CN" dirty="0" smtClean="0">
              <a:latin typeface="+mn-ea"/>
            </a:endParaRPr>
          </a:p>
          <a:p>
            <a:pPr lvl="4"/>
            <a:endParaRPr lang="en-US" altLang="zh-CN" dirty="0" smtClean="0">
              <a:latin typeface="+mn-ea"/>
            </a:endParaRPr>
          </a:p>
          <a:p>
            <a:pPr lvl="4"/>
            <a:r>
              <a:rPr lang="zh-CN" altLang="en-US" dirty="0" smtClean="0">
                <a:latin typeface="+mn-ea"/>
              </a:rPr>
              <a:t>可</a:t>
            </a:r>
            <a:r>
              <a:rPr lang="zh-CN" altLang="en-US" dirty="0">
                <a:latin typeface="+mn-ea"/>
              </a:rPr>
              <a:t>得</a:t>
            </a:r>
            <a:r>
              <a:rPr lang="zh-CN" altLang="en-US" dirty="0" smtClean="0">
                <a:latin typeface="+mn-ea"/>
              </a:rPr>
              <a:t>理想基</a:t>
            </a:r>
            <a:r>
              <a:rPr lang="zh-CN" altLang="en-US" dirty="0">
                <a:latin typeface="+mn-ea"/>
              </a:rPr>
              <a:t>学习</a:t>
            </a:r>
            <a:r>
              <a:rPr lang="zh-CN" altLang="en-US" dirty="0" smtClean="0">
                <a:latin typeface="+mn-ea"/>
              </a:rPr>
              <a:t>器</a:t>
            </a:r>
            <a:endParaRPr lang="en-US" altLang="zh-CN" dirty="0" smtClean="0">
              <a:latin typeface="+mn-ea"/>
            </a:endParaRPr>
          </a:p>
          <a:p>
            <a:pPr lvl="4"/>
            <a:endParaRPr lang="en-US" altLang="zh-CN" dirty="0">
              <a:latin typeface="+mn-ea"/>
            </a:endParaRPr>
          </a:p>
          <a:p>
            <a:pPr lvl="4"/>
            <a:endParaRPr lang="en-US" altLang="zh-CN" dirty="0" smtClean="0">
              <a:latin typeface="+mn-ea"/>
            </a:endParaRPr>
          </a:p>
          <a:p>
            <a:pPr lvl="4"/>
            <a:endParaRPr lang="en-US" altLang="zh-CN" dirty="0">
              <a:latin typeface="+mn-ea"/>
            </a:endParaRPr>
          </a:p>
          <a:p>
            <a:pPr lvl="4"/>
            <a:endParaRPr lang="en-US" altLang="zh-CN" dirty="0" smtClean="0">
              <a:latin typeface="+mn-ea"/>
            </a:endParaRPr>
          </a:p>
          <a:p>
            <a:pPr lvl="4">
              <a:spcBef>
                <a:spcPts val="1200"/>
              </a:spcBef>
            </a:pPr>
            <a:r>
              <a:rPr lang="zh-CN" altLang="en-US" dirty="0" smtClean="0">
                <a:latin typeface="+mn-ea"/>
              </a:rPr>
              <a:t>令                        ，有</a:t>
            </a:r>
            <a:endParaRPr lang="zh-CN" altLang="en-US" dirty="0">
              <a:latin typeface="+mn-ea"/>
            </a:endParaRPr>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graphicFrame>
        <p:nvGraphicFramePr>
          <p:cNvPr id="5" name="对象 4"/>
          <p:cNvGraphicFramePr>
            <a:graphicFrameLocks noChangeAspect="1"/>
          </p:cNvGraphicFramePr>
          <p:nvPr/>
        </p:nvGraphicFramePr>
        <p:xfrm>
          <a:off x="2843808" y="1844824"/>
          <a:ext cx="340235" cy="360000"/>
        </p:xfrm>
        <a:graphic>
          <a:graphicData uri="http://schemas.openxmlformats.org/presentationml/2006/ole">
            <mc:AlternateContent xmlns:mc="http://schemas.openxmlformats.org/markup-compatibility/2006">
              <mc:Choice xmlns:v="urn:schemas-microsoft-com:vml" Requires="v">
                <p:oleObj spid="_x0000_s4506" name="Equation" r:id="rId1" imgW="5181600" imgH="5486400" progId="Equation.DSMT4">
                  <p:embed/>
                </p:oleObj>
              </mc:Choice>
              <mc:Fallback>
                <p:oleObj name="Equation" r:id="rId1" imgW="5181600" imgH="5486400" progId="Equation.DSMT4">
                  <p:embed/>
                  <p:pic>
                    <p:nvPicPr>
                      <p:cNvPr id="0" name="图片 4505"/>
                      <p:cNvPicPr/>
                      <p:nvPr/>
                    </p:nvPicPr>
                    <p:blipFill>
                      <a:blip r:embed="rId2"/>
                      <a:stretch>
                        <a:fillRect/>
                      </a:stretch>
                    </p:blipFill>
                    <p:spPr>
                      <a:xfrm>
                        <a:off x="2843808" y="1844824"/>
                        <a:ext cx="340235" cy="360000"/>
                      </a:xfrm>
                      <a:prstGeom prst="rect">
                        <a:avLst/>
                      </a:prstGeom>
                    </p:spPr>
                  </p:pic>
                </p:oleObj>
              </mc:Fallback>
            </mc:AlternateContent>
          </a:graphicData>
        </a:graphic>
      </p:graphicFrame>
      <p:graphicFrame>
        <p:nvGraphicFramePr>
          <p:cNvPr id="6" name="对象 5"/>
          <p:cNvGraphicFramePr>
            <a:graphicFrameLocks noChangeAspect="1"/>
          </p:cNvGraphicFramePr>
          <p:nvPr/>
        </p:nvGraphicFramePr>
        <p:xfrm>
          <a:off x="2892630" y="2145942"/>
          <a:ext cx="441325" cy="360362"/>
        </p:xfrm>
        <a:graphic>
          <a:graphicData uri="http://schemas.openxmlformats.org/presentationml/2006/ole">
            <mc:AlternateContent xmlns:mc="http://schemas.openxmlformats.org/markup-compatibility/2006">
              <mc:Choice xmlns:v="urn:schemas-microsoft-com:vml" Requires="v">
                <p:oleObj spid="_x0000_s4507" name="Equation" r:id="rId3" imgW="6705600" imgH="5486400" progId="Equation.DSMT4">
                  <p:embed/>
                </p:oleObj>
              </mc:Choice>
              <mc:Fallback>
                <p:oleObj name="Equation" r:id="rId3" imgW="6705600" imgH="5486400" progId="Equation.DSMT4">
                  <p:embed/>
                  <p:pic>
                    <p:nvPicPr>
                      <p:cNvPr id="0" name="图片 4506"/>
                      <p:cNvPicPr/>
                      <p:nvPr/>
                    </p:nvPicPr>
                    <p:blipFill>
                      <a:blip r:embed="rId4"/>
                      <a:stretch>
                        <a:fillRect/>
                      </a:stretch>
                    </p:blipFill>
                    <p:spPr>
                      <a:xfrm>
                        <a:off x="2892630" y="2145942"/>
                        <a:ext cx="441325" cy="360362"/>
                      </a:xfrm>
                      <a:prstGeom prst="rect">
                        <a:avLst/>
                      </a:prstGeom>
                    </p:spPr>
                  </p:pic>
                </p:oleObj>
              </mc:Fallback>
            </mc:AlternateContent>
          </a:graphicData>
        </a:graphic>
      </p:graphicFrame>
      <p:graphicFrame>
        <p:nvGraphicFramePr>
          <p:cNvPr id="7" name="对象 6"/>
          <p:cNvGraphicFramePr>
            <a:graphicFrameLocks noChangeAspect="1"/>
          </p:cNvGraphicFramePr>
          <p:nvPr/>
        </p:nvGraphicFramePr>
        <p:xfrm>
          <a:off x="1763688" y="2803525"/>
          <a:ext cx="5857875" cy="900113"/>
        </p:xfrm>
        <a:graphic>
          <a:graphicData uri="http://schemas.openxmlformats.org/presentationml/2006/ole">
            <mc:AlternateContent xmlns:mc="http://schemas.openxmlformats.org/markup-compatibility/2006">
              <mc:Choice xmlns:v="urn:schemas-microsoft-com:vml" Requires="v">
                <p:oleObj spid="_x0000_s4508" name="Equation" r:id="rId5" imgW="79248000" imgH="12192000" progId="Equation.DSMT4">
                  <p:embed/>
                </p:oleObj>
              </mc:Choice>
              <mc:Fallback>
                <p:oleObj name="Equation" r:id="rId5" imgW="79248000" imgH="12192000" progId="Equation.DSMT4">
                  <p:embed/>
                  <p:pic>
                    <p:nvPicPr>
                      <p:cNvPr id="0" name="图片 4507"/>
                      <p:cNvPicPr/>
                      <p:nvPr/>
                    </p:nvPicPr>
                    <p:blipFill>
                      <a:blip r:embed="rId6"/>
                      <a:stretch>
                        <a:fillRect/>
                      </a:stretch>
                    </p:blipFill>
                    <p:spPr>
                      <a:xfrm>
                        <a:off x="1763688" y="2803525"/>
                        <a:ext cx="5857875" cy="900113"/>
                      </a:xfrm>
                      <a:prstGeom prst="rect">
                        <a:avLst/>
                      </a:prstGeom>
                    </p:spPr>
                  </p:pic>
                </p:oleObj>
              </mc:Fallback>
            </mc:AlternateContent>
          </a:graphicData>
        </a:graphic>
      </p:graphicFrame>
      <p:graphicFrame>
        <p:nvGraphicFramePr>
          <p:cNvPr id="8" name="对象 7"/>
          <p:cNvGraphicFramePr>
            <a:graphicFrameLocks noChangeAspect="1"/>
          </p:cNvGraphicFramePr>
          <p:nvPr/>
        </p:nvGraphicFramePr>
        <p:xfrm>
          <a:off x="1328738" y="3933056"/>
          <a:ext cx="7254875" cy="1304925"/>
        </p:xfrm>
        <a:graphic>
          <a:graphicData uri="http://schemas.openxmlformats.org/presentationml/2006/ole">
            <mc:AlternateContent xmlns:mc="http://schemas.openxmlformats.org/markup-compatibility/2006">
              <mc:Choice xmlns:v="urn:schemas-microsoft-com:vml" Requires="v">
                <p:oleObj spid="_x0000_s4509" name="Equation" r:id="rId7" imgW="98145600" imgH="17678400" progId="Equation.DSMT4">
                  <p:embed/>
                </p:oleObj>
              </mc:Choice>
              <mc:Fallback>
                <p:oleObj name="Equation" r:id="rId7" imgW="98145600" imgH="17678400" progId="Equation.DSMT4">
                  <p:embed/>
                  <p:pic>
                    <p:nvPicPr>
                      <p:cNvPr id="0" name="图片 4508"/>
                      <p:cNvPicPr/>
                      <p:nvPr/>
                    </p:nvPicPr>
                    <p:blipFill>
                      <a:blip r:embed="rId8"/>
                      <a:stretch>
                        <a:fillRect/>
                      </a:stretch>
                    </p:blipFill>
                    <p:spPr>
                      <a:xfrm>
                        <a:off x="1328738" y="3933056"/>
                        <a:ext cx="7254875" cy="1304925"/>
                      </a:xfrm>
                      <a:prstGeom prst="rect">
                        <a:avLst/>
                      </a:prstGeom>
                    </p:spPr>
                  </p:pic>
                </p:oleObj>
              </mc:Fallback>
            </mc:AlternateContent>
          </a:graphicData>
        </a:graphic>
      </p:graphicFrame>
      <p:sp>
        <p:nvSpPr>
          <p:cNvPr id="9" name="矩形 8"/>
          <p:cNvSpPr/>
          <p:nvPr/>
        </p:nvSpPr>
        <p:spPr>
          <a:xfrm>
            <a:off x="7927383" y="3253581"/>
            <a:ext cx="1270917" cy="387798"/>
          </a:xfrm>
          <a:prstGeom prst="rect">
            <a:avLst/>
          </a:prstGeom>
        </p:spPr>
        <p:txBody>
          <a:bodyPr wrap="square">
            <a:spAutoFit/>
          </a:bodyPr>
          <a:lstStyle/>
          <a:p>
            <a:r>
              <a:rPr lang="zh-CN" altLang="en-US" sz="1600" b="0" dirty="0" smtClean="0">
                <a:solidFill>
                  <a:srgbClr val="FF0000"/>
                </a:solidFill>
              </a:rPr>
              <a:t>用泰</a:t>
            </a:r>
            <a:r>
              <a:rPr lang="zh-CN" altLang="en-US" sz="1600" b="0" dirty="0">
                <a:solidFill>
                  <a:srgbClr val="FF0000"/>
                </a:solidFill>
              </a:rPr>
              <a:t>勒展式</a:t>
            </a:r>
            <a:endParaRPr lang="zh-CN" altLang="en-US" sz="1600" b="0" dirty="0">
              <a:solidFill>
                <a:srgbClr val="FF0000"/>
              </a:solidFill>
            </a:endParaRPr>
          </a:p>
        </p:txBody>
      </p:sp>
      <p:graphicFrame>
        <p:nvGraphicFramePr>
          <p:cNvPr id="10" name="对象 9"/>
          <p:cNvGraphicFramePr>
            <a:graphicFrameLocks noChangeAspect="1"/>
          </p:cNvGraphicFramePr>
          <p:nvPr/>
        </p:nvGraphicFramePr>
        <p:xfrm>
          <a:off x="3203848" y="5157192"/>
          <a:ext cx="2838450" cy="765175"/>
        </p:xfrm>
        <a:graphic>
          <a:graphicData uri="http://schemas.openxmlformats.org/presentationml/2006/ole">
            <mc:AlternateContent xmlns:mc="http://schemas.openxmlformats.org/markup-compatibility/2006">
              <mc:Choice xmlns:v="urn:schemas-microsoft-com:vml" Requires="v">
                <p:oleObj spid="_x0000_s4510" name="Equation" r:id="rId9" imgW="38404800" imgH="10363200" progId="Equation.DSMT4">
                  <p:embed/>
                </p:oleObj>
              </mc:Choice>
              <mc:Fallback>
                <p:oleObj name="Equation" r:id="rId9" imgW="38404800" imgH="10363200" progId="Equation.DSMT4">
                  <p:embed/>
                  <p:pic>
                    <p:nvPicPr>
                      <p:cNvPr id="0" name="图片 4509"/>
                      <p:cNvPicPr/>
                      <p:nvPr/>
                    </p:nvPicPr>
                    <p:blipFill>
                      <a:blip r:embed="rId10"/>
                      <a:stretch>
                        <a:fillRect/>
                      </a:stretch>
                    </p:blipFill>
                    <p:spPr>
                      <a:xfrm>
                        <a:off x="3203848" y="5157192"/>
                        <a:ext cx="2838450" cy="765175"/>
                      </a:xfrm>
                      <a:prstGeom prst="rect">
                        <a:avLst/>
                      </a:prstGeom>
                    </p:spPr>
                  </p:pic>
                </p:oleObj>
              </mc:Fallback>
            </mc:AlternateContent>
          </a:graphicData>
        </a:graphic>
      </p:graphicFrame>
      <p:graphicFrame>
        <p:nvGraphicFramePr>
          <p:cNvPr id="11" name="对象 10"/>
          <p:cNvGraphicFramePr>
            <a:graphicFrameLocks noChangeAspect="1"/>
          </p:cNvGraphicFramePr>
          <p:nvPr/>
        </p:nvGraphicFramePr>
        <p:xfrm>
          <a:off x="1437208" y="5949280"/>
          <a:ext cx="6807200" cy="585787"/>
        </p:xfrm>
        <a:graphic>
          <a:graphicData uri="http://schemas.openxmlformats.org/presentationml/2006/ole">
            <mc:AlternateContent xmlns:mc="http://schemas.openxmlformats.org/markup-compatibility/2006">
              <mc:Choice xmlns:v="urn:schemas-microsoft-com:vml" Requires="v">
                <p:oleObj spid="_x0000_s4511" name="Equation" r:id="rId11" imgW="92049600" imgH="7924800" progId="Equation.DSMT4">
                  <p:embed/>
                </p:oleObj>
              </mc:Choice>
              <mc:Fallback>
                <p:oleObj name="Equation" r:id="rId11" imgW="92049600" imgH="7924800" progId="Equation.DSMT4">
                  <p:embed/>
                  <p:pic>
                    <p:nvPicPr>
                      <p:cNvPr id="0" name="图片 4510"/>
                      <p:cNvPicPr/>
                      <p:nvPr/>
                    </p:nvPicPr>
                    <p:blipFill>
                      <a:blip r:embed="rId12"/>
                      <a:stretch>
                        <a:fillRect/>
                      </a:stretch>
                    </p:blipFill>
                    <p:spPr>
                      <a:xfrm>
                        <a:off x="1437208" y="5949280"/>
                        <a:ext cx="6807200" cy="585787"/>
                      </a:xfrm>
                      <a:prstGeom prst="rect">
                        <a:avLst/>
                      </a:prstGeom>
                    </p:spPr>
                  </p:pic>
                </p:oleObj>
              </mc:Fallback>
            </mc:AlternateContent>
          </a:graphicData>
        </a:graphic>
      </p:graphicFrame>
    </p:spTree>
  </p:cSld>
  <p:clrMapOvr>
    <a:masterClrMapping/>
  </p:clrMapOvr>
  <p:transition>
    <p:cover dir="u"/>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8.2 Boosting</a:t>
            </a:r>
            <a:endParaRPr lang="zh-CN" altLang="en-US" dirty="0"/>
          </a:p>
        </p:txBody>
      </p:sp>
      <p:sp>
        <p:nvSpPr>
          <p:cNvPr id="3" name="内容占位符 2"/>
          <p:cNvSpPr>
            <a:spLocks noGrp="1"/>
          </p:cNvSpPr>
          <p:nvPr>
            <p:ph idx="1"/>
          </p:nvPr>
        </p:nvSpPr>
        <p:spPr>
          <a:xfrm>
            <a:off x="684066" y="764704"/>
            <a:ext cx="7772400" cy="4690864"/>
          </a:xfrm>
        </p:spPr>
        <p:txBody>
          <a:bodyPr/>
          <a:lstStyle/>
          <a:p>
            <a:r>
              <a:rPr lang="en-US" altLang="zh-CN" dirty="0" err="1">
                <a:latin typeface="+mn-ea"/>
              </a:rPr>
              <a:t>AdaBoost</a:t>
            </a:r>
            <a:r>
              <a:rPr lang="zh-CN" altLang="en-US" dirty="0">
                <a:latin typeface="+mn-ea"/>
              </a:rPr>
              <a:t>算法</a:t>
            </a:r>
            <a:endParaRPr lang="en-US" altLang="zh-CN" dirty="0">
              <a:latin typeface="+mn-ea"/>
            </a:endParaRPr>
          </a:p>
          <a:p>
            <a:pPr lvl="1"/>
            <a:r>
              <a:rPr lang="zh-CN" altLang="en-US" dirty="0">
                <a:latin typeface="+mn-ea"/>
              </a:rPr>
              <a:t>加性模型</a:t>
            </a:r>
            <a:r>
              <a:rPr lang="en-US" altLang="zh-CN" dirty="0">
                <a:latin typeface="+mn-ea"/>
              </a:rPr>
              <a:t>(</a:t>
            </a:r>
            <a:r>
              <a:rPr lang="zh-CN" altLang="en-US" dirty="0">
                <a:latin typeface="+mn-ea"/>
              </a:rPr>
              <a:t>基学习器的线性组合</a:t>
            </a:r>
            <a:r>
              <a:rPr lang="en-US" altLang="zh-CN" dirty="0">
                <a:latin typeface="+mn-ea"/>
              </a:rPr>
              <a:t>)</a:t>
            </a:r>
            <a:endParaRPr lang="en-US" altLang="zh-CN" dirty="0">
              <a:latin typeface="+mn-ea"/>
            </a:endParaRPr>
          </a:p>
          <a:p>
            <a:pPr lvl="2"/>
            <a:r>
              <a:rPr lang="zh-CN" altLang="en-US" dirty="0" smtClean="0"/>
              <a:t>求分布</a:t>
            </a:r>
            <a:endParaRPr lang="en-US" altLang="zh-CN" dirty="0" smtClean="0"/>
          </a:p>
          <a:p>
            <a:pPr lvl="3"/>
            <a:r>
              <a:rPr lang="zh-CN" altLang="en-US" dirty="0" smtClean="0"/>
              <a:t>可见理想的</a:t>
            </a:r>
            <a:r>
              <a:rPr lang="en-US" altLang="zh-CN" dirty="0" smtClean="0"/>
              <a:t>    </a:t>
            </a:r>
            <a:r>
              <a:rPr lang="zh-CN" altLang="en-US" dirty="0" smtClean="0"/>
              <a:t>将</a:t>
            </a:r>
            <a:r>
              <a:rPr lang="zh-CN" altLang="en-US" dirty="0"/>
              <a:t>在</a:t>
            </a:r>
            <a:r>
              <a:rPr lang="zh-CN" altLang="en-US" dirty="0" smtClean="0"/>
              <a:t>分布</a:t>
            </a:r>
            <a:r>
              <a:rPr lang="en-US" altLang="zh-CN" dirty="0" smtClean="0"/>
              <a:t>     </a:t>
            </a:r>
            <a:r>
              <a:rPr lang="zh-CN" altLang="en-US" dirty="0" smtClean="0"/>
              <a:t>下</a:t>
            </a:r>
            <a:r>
              <a:rPr lang="zh-CN" altLang="en-US" dirty="0"/>
              <a:t>最小化分类误差</a:t>
            </a:r>
            <a:endParaRPr lang="en-US" altLang="zh-CN" dirty="0" smtClean="0"/>
          </a:p>
          <a:p>
            <a:pPr lvl="3"/>
            <a:endParaRPr lang="en-US" altLang="zh-CN" dirty="0"/>
          </a:p>
          <a:p>
            <a:pPr lvl="4">
              <a:spcBef>
                <a:spcPts val="1200"/>
              </a:spcBef>
            </a:pPr>
            <a:r>
              <a:rPr lang="zh-CN" altLang="en-US" dirty="0" smtClean="0"/>
              <a:t>这</a:t>
            </a:r>
            <a:r>
              <a:rPr lang="zh-CN" altLang="en-US" dirty="0"/>
              <a:t>在一定程度上</a:t>
            </a:r>
            <a:r>
              <a:rPr lang="zh-CN" altLang="en-US" dirty="0" smtClean="0"/>
              <a:t>类似残差逼近的思想</a:t>
            </a:r>
            <a:endParaRPr lang="en-US" altLang="zh-CN" dirty="0" smtClean="0"/>
          </a:p>
          <a:p>
            <a:pPr lvl="3"/>
            <a:r>
              <a:rPr lang="zh-CN" altLang="en-US" dirty="0" smtClean="0"/>
              <a:t>考虑     和</a:t>
            </a:r>
            <a:endParaRPr lang="en-US" altLang="zh-CN" dirty="0" smtClean="0"/>
          </a:p>
          <a:p>
            <a:pPr lvl="3"/>
            <a:endParaRPr lang="en-US" altLang="zh-CN" dirty="0"/>
          </a:p>
          <a:p>
            <a:pPr lvl="4"/>
            <a:endParaRPr lang="en-US" altLang="zh-CN" dirty="0" smtClean="0"/>
          </a:p>
          <a:p>
            <a:pPr lvl="3">
              <a:spcBef>
                <a:spcPts val="1800"/>
              </a:spcBef>
            </a:pPr>
            <a:r>
              <a:rPr lang="zh-CN" altLang="en-US" dirty="0" smtClean="0"/>
              <a:t>实施</a:t>
            </a:r>
            <a:endParaRPr lang="en-US" altLang="zh-CN" dirty="0" smtClean="0"/>
          </a:p>
          <a:p>
            <a:pPr lvl="4"/>
            <a:r>
              <a:rPr lang="zh-CN" altLang="en-US" dirty="0"/>
              <a:t>重赋权</a:t>
            </a:r>
            <a:r>
              <a:rPr lang="zh-CN" altLang="en-US" dirty="0" smtClean="0"/>
              <a:t>法：</a:t>
            </a:r>
            <a:r>
              <a:rPr lang="zh-CN" altLang="en-US" dirty="0">
                <a:latin typeface="+mn-ea"/>
              </a:rPr>
              <a:t>根据样本分布</a:t>
            </a:r>
            <a:r>
              <a:rPr lang="zh-CN" altLang="en-US" b="1" dirty="0" smtClean="0">
                <a:latin typeface="+mn-ea"/>
              </a:rPr>
              <a:t>为</a:t>
            </a:r>
            <a:r>
              <a:rPr lang="zh-CN" altLang="en-US" b="1" dirty="0">
                <a:latin typeface="+mn-ea"/>
              </a:rPr>
              <a:t>每个训练样本重新</a:t>
            </a:r>
            <a:r>
              <a:rPr lang="zh-CN" altLang="en-US" b="1" dirty="0" smtClean="0">
                <a:latin typeface="+mn-ea"/>
              </a:rPr>
              <a:t>赋予权重</a:t>
            </a:r>
            <a:endParaRPr lang="en-US" altLang="zh-CN" b="1" dirty="0">
              <a:latin typeface="+mn-ea"/>
            </a:endParaRPr>
          </a:p>
          <a:p>
            <a:pPr lvl="4"/>
            <a:r>
              <a:rPr lang="zh-CN" altLang="en-US" dirty="0"/>
              <a:t>重采样</a:t>
            </a:r>
            <a:r>
              <a:rPr lang="zh-CN" altLang="en-US" dirty="0" smtClean="0"/>
              <a:t>法：</a:t>
            </a:r>
            <a:r>
              <a:rPr lang="zh-CN" altLang="en-US" b="1" dirty="0" smtClean="0">
                <a:latin typeface="+mn-ea"/>
              </a:rPr>
              <a:t>对</a:t>
            </a:r>
            <a:r>
              <a:rPr lang="zh-CN" altLang="en-US" b="1" dirty="0">
                <a:latin typeface="+mn-ea"/>
              </a:rPr>
              <a:t>训练集重新进行采样</a:t>
            </a:r>
            <a:r>
              <a:rPr lang="zh-CN" altLang="en-US" b="1" dirty="0" smtClean="0">
                <a:latin typeface="+mn-ea"/>
              </a:rPr>
              <a:t>，用重采样样本集</a:t>
            </a:r>
            <a:r>
              <a:rPr lang="zh-CN" altLang="en-US" b="1" dirty="0">
                <a:latin typeface="+mn-ea"/>
              </a:rPr>
              <a:t>对基学习器进行</a:t>
            </a:r>
            <a:r>
              <a:rPr lang="zh-CN" altLang="en-US" b="1" dirty="0" smtClean="0">
                <a:latin typeface="+mn-ea"/>
              </a:rPr>
              <a:t>训练</a:t>
            </a:r>
            <a:endParaRPr lang="en-US" altLang="zh-CN" b="1" dirty="0" smtClean="0">
              <a:latin typeface="+mn-ea"/>
            </a:endParaRPr>
          </a:p>
          <a:p>
            <a:pPr lvl="5" algn="just">
              <a:spcBef>
                <a:spcPts val="0"/>
              </a:spcBef>
            </a:pPr>
            <a:r>
              <a:rPr lang="zh-CN" altLang="en-US" b="1" dirty="0">
                <a:latin typeface="+mn-ea"/>
              </a:rPr>
              <a:t>可</a:t>
            </a:r>
            <a:r>
              <a:rPr lang="zh-CN" altLang="en-US" b="1" dirty="0" smtClean="0">
                <a:latin typeface="+mn-ea"/>
              </a:rPr>
              <a:t>获得重启动机会，避免</a:t>
            </a:r>
            <a:r>
              <a:rPr lang="zh-CN" altLang="en-US" b="1" dirty="0">
                <a:latin typeface="+mn-ea"/>
              </a:rPr>
              <a:t>训练</a:t>
            </a:r>
            <a:r>
              <a:rPr lang="zh-CN" altLang="en-US" b="1" dirty="0" smtClean="0">
                <a:latin typeface="+mn-ea"/>
              </a:rPr>
              <a:t>过程早停，</a:t>
            </a:r>
            <a:r>
              <a:rPr lang="zh-CN" altLang="en-US" b="1" dirty="0">
                <a:latin typeface="+mn-ea"/>
              </a:rPr>
              <a:t>持续到预设的</a:t>
            </a:r>
            <a:r>
              <a:rPr lang="en-US" altLang="zh-CN" b="1" dirty="0">
                <a:latin typeface="+mn-ea"/>
              </a:rPr>
              <a:t>T</a:t>
            </a:r>
            <a:r>
              <a:rPr lang="zh-CN" altLang="en-US" b="1" dirty="0">
                <a:latin typeface="+mn-ea"/>
              </a:rPr>
              <a:t>轮</a:t>
            </a:r>
            <a:endParaRPr lang="en-US" altLang="zh-CN" b="1" dirty="0" smtClean="0">
              <a:latin typeface="+mn-ea"/>
            </a:endParaRPr>
          </a:p>
          <a:p>
            <a:pPr lvl="4"/>
            <a:r>
              <a:rPr lang="zh-CN" altLang="en-US" dirty="0" smtClean="0"/>
              <a:t>两种</a:t>
            </a:r>
            <a:r>
              <a:rPr lang="zh-CN" altLang="en-US" dirty="0"/>
              <a:t>做法没有显著的优劣</a:t>
            </a:r>
            <a:r>
              <a:rPr lang="zh-CN" altLang="en-US" dirty="0" smtClean="0"/>
              <a:t>差别</a:t>
            </a:r>
            <a:endParaRPr lang="zh-CN" altLang="en-US" dirty="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graphicFrame>
        <p:nvGraphicFramePr>
          <p:cNvPr id="5" name="对象 4"/>
          <p:cNvGraphicFramePr>
            <a:graphicFrameLocks noChangeAspect="1"/>
          </p:cNvGraphicFramePr>
          <p:nvPr/>
        </p:nvGraphicFramePr>
        <p:xfrm>
          <a:off x="2791605" y="1772816"/>
          <a:ext cx="340235" cy="360000"/>
        </p:xfrm>
        <a:graphic>
          <a:graphicData uri="http://schemas.openxmlformats.org/presentationml/2006/ole">
            <mc:AlternateContent xmlns:mc="http://schemas.openxmlformats.org/markup-compatibility/2006">
              <mc:Choice xmlns:v="urn:schemas-microsoft-com:vml" Requires="v">
                <p:oleObj spid="_x0000_s5230" name="Equation" r:id="rId1" imgW="5181600" imgH="5486400" progId="Equation.DSMT4">
                  <p:embed/>
                </p:oleObj>
              </mc:Choice>
              <mc:Fallback>
                <p:oleObj name="Equation" r:id="rId1" imgW="5181600" imgH="5486400" progId="Equation.DSMT4">
                  <p:embed/>
                  <p:pic>
                    <p:nvPicPr>
                      <p:cNvPr id="0" name="图片 5229"/>
                      <p:cNvPicPr/>
                      <p:nvPr/>
                    </p:nvPicPr>
                    <p:blipFill>
                      <a:blip r:embed="rId2"/>
                      <a:stretch>
                        <a:fillRect/>
                      </a:stretch>
                    </p:blipFill>
                    <p:spPr>
                      <a:xfrm>
                        <a:off x="2791605" y="1772816"/>
                        <a:ext cx="340235" cy="360000"/>
                      </a:xfrm>
                      <a:prstGeom prst="rect">
                        <a:avLst/>
                      </a:prstGeom>
                    </p:spPr>
                  </p:pic>
                </p:oleObj>
              </mc:Fallback>
            </mc:AlternateContent>
          </a:graphicData>
        </a:graphic>
      </p:graphicFrame>
      <p:graphicFrame>
        <p:nvGraphicFramePr>
          <p:cNvPr id="6" name="对象 5"/>
          <p:cNvGraphicFramePr>
            <a:graphicFrameLocks noChangeAspect="1"/>
          </p:cNvGraphicFramePr>
          <p:nvPr/>
        </p:nvGraphicFramePr>
        <p:xfrm>
          <a:off x="1403648" y="2348880"/>
          <a:ext cx="6807200" cy="585787"/>
        </p:xfrm>
        <a:graphic>
          <a:graphicData uri="http://schemas.openxmlformats.org/presentationml/2006/ole">
            <mc:AlternateContent xmlns:mc="http://schemas.openxmlformats.org/markup-compatibility/2006">
              <mc:Choice xmlns:v="urn:schemas-microsoft-com:vml" Requires="v">
                <p:oleObj spid="_x0000_s5231" name="Equation" r:id="rId3" imgW="92049600" imgH="7924800" progId="Equation.DSMT4">
                  <p:embed/>
                </p:oleObj>
              </mc:Choice>
              <mc:Fallback>
                <p:oleObj name="Equation" r:id="rId3" imgW="92049600" imgH="7924800" progId="Equation.DSMT4">
                  <p:embed/>
                  <p:pic>
                    <p:nvPicPr>
                      <p:cNvPr id="0" name="图片 5230"/>
                      <p:cNvPicPr/>
                      <p:nvPr/>
                    </p:nvPicPr>
                    <p:blipFill>
                      <a:blip r:embed="rId4"/>
                      <a:stretch>
                        <a:fillRect/>
                      </a:stretch>
                    </p:blipFill>
                    <p:spPr>
                      <a:xfrm>
                        <a:off x="1403648" y="2348880"/>
                        <a:ext cx="6807200" cy="585787"/>
                      </a:xfrm>
                      <a:prstGeom prst="rect">
                        <a:avLst/>
                      </a:prstGeom>
                    </p:spPr>
                  </p:pic>
                </p:oleObj>
              </mc:Fallback>
            </mc:AlternateContent>
          </a:graphicData>
        </a:graphic>
      </p:graphicFrame>
      <p:graphicFrame>
        <p:nvGraphicFramePr>
          <p:cNvPr id="7" name="对象 6"/>
          <p:cNvGraphicFramePr>
            <a:graphicFrameLocks noChangeAspect="1"/>
          </p:cNvGraphicFramePr>
          <p:nvPr/>
        </p:nvGraphicFramePr>
        <p:xfrm>
          <a:off x="3707904" y="2088083"/>
          <a:ext cx="269875" cy="404813"/>
        </p:xfrm>
        <a:graphic>
          <a:graphicData uri="http://schemas.openxmlformats.org/presentationml/2006/ole">
            <mc:AlternateContent xmlns:mc="http://schemas.openxmlformats.org/markup-compatibility/2006">
              <mc:Choice xmlns:v="urn:schemas-microsoft-com:vml" Requires="v">
                <p:oleObj spid="_x0000_s5232" name="Equation" r:id="rId5" imgW="3657600" imgH="5486400" progId="Equation.DSMT4">
                  <p:embed/>
                </p:oleObj>
              </mc:Choice>
              <mc:Fallback>
                <p:oleObj name="Equation" r:id="rId5" imgW="3657600" imgH="5486400" progId="Equation.DSMT4">
                  <p:embed/>
                  <p:pic>
                    <p:nvPicPr>
                      <p:cNvPr id="0" name="图片 5231"/>
                      <p:cNvPicPr/>
                      <p:nvPr/>
                    </p:nvPicPr>
                    <p:blipFill>
                      <a:blip r:embed="rId6"/>
                      <a:stretch>
                        <a:fillRect/>
                      </a:stretch>
                    </p:blipFill>
                    <p:spPr>
                      <a:xfrm>
                        <a:off x="3707904" y="2088083"/>
                        <a:ext cx="269875" cy="404813"/>
                      </a:xfrm>
                      <a:prstGeom prst="rect">
                        <a:avLst/>
                      </a:prstGeom>
                    </p:spPr>
                  </p:pic>
                </p:oleObj>
              </mc:Fallback>
            </mc:AlternateContent>
          </a:graphicData>
        </a:graphic>
      </p:graphicFrame>
      <p:graphicFrame>
        <p:nvGraphicFramePr>
          <p:cNvPr id="8" name="对象 7"/>
          <p:cNvGraphicFramePr>
            <a:graphicFrameLocks noChangeAspect="1"/>
          </p:cNvGraphicFramePr>
          <p:nvPr/>
        </p:nvGraphicFramePr>
        <p:xfrm>
          <a:off x="4979913" y="2060848"/>
          <a:ext cx="384175" cy="404813"/>
        </p:xfrm>
        <a:graphic>
          <a:graphicData uri="http://schemas.openxmlformats.org/presentationml/2006/ole">
            <mc:AlternateContent xmlns:mc="http://schemas.openxmlformats.org/markup-compatibility/2006">
              <mc:Choice xmlns:v="urn:schemas-microsoft-com:vml" Requires="v">
                <p:oleObj spid="_x0000_s5233" name="Equation" r:id="rId7" imgW="5181600" imgH="5486400" progId="Equation.DSMT4">
                  <p:embed/>
                </p:oleObj>
              </mc:Choice>
              <mc:Fallback>
                <p:oleObj name="Equation" r:id="rId7" imgW="5181600" imgH="5486400" progId="Equation.DSMT4">
                  <p:embed/>
                  <p:pic>
                    <p:nvPicPr>
                      <p:cNvPr id="0" name="图片 5232"/>
                      <p:cNvPicPr/>
                      <p:nvPr/>
                    </p:nvPicPr>
                    <p:blipFill>
                      <a:blip r:embed="rId8"/>
                      <a:stretch>
                        <a:fillRect/>
                      </a:stretch>
                    </p:blipFill>
                    <p:spPr>
                      <a:xfrm>
                        <a:off x="4979913" y="2060848"/>
                        <a:ext cx="384175" cy="404813"/>
                      </a:xfrm>
                      <a:prstGeom prst="rect">
                        <a:avLst/>
                      </a:prstGeom>
                    </p:spPr>
                  </p:pic>
                </p:oleObj>
              </mc:Fallback>
            </mc:AlternateContent>
          </a:graphicData>
        </a:graphic>
      </p:graphicFrame>
      <p:graphicFrame>
        <p:nvGraphicFramePr>
          <p:cNvPr id="9" name="对象 8"/>
          <p:cNvGraphicFramePr>
            <a:graphicFrameLocks noChangeAspect="1"/>
          </p:cNvGraphicFramePr>
          <p:nvPr/>
        </p:nvGraphicFramePr>
        <p:xfrm>
          <a:off x="3497461" y="3140968"/>
          <a:ext cx="498475" cy="404812"/>
        </p:xfrm>
        <a:graphic>
          <a:graphicData uri="http://schemas.openxmlformats.org/presentationml/2006/ole">
            <mc:AlternateContent xmlns:mc="http://schemas.openxmlformats.org/markup-compatibility/2006">
              <mc:Choice xmlns:v="urn:schemas-microsoft-com:vml" Requires="v">
                <p:oleObj spid="_x0000_s5234" name="Equation" r:id="rId9" imgW="6705600" imgH="5486400" progId="Equation.DSMT4">
                  <p:embed/>
                </p:oleObj>
              </mc:Choice>
              <mc:Fallback>
                <p:oleObj name="Equation" r:id="rId9" imgW="6705600" imgH="5486400" progId="Equation.DSMT4">
                  <p:embed/>
                  <p:pic>
                    <p:nvPicPr>
                      <p:cNvPr id="0" name="图片 5233"/>
                      <p:cNvPicPr/>
                      <p:nvPr/>
                    </p:nvPicPr>
                    <p:blipFill>
                      <a:blip r:embed="rId10"/>
                      <a:stretch>
                        <a:fillRect/>
                      </a:stretch>
                    </p:blipFill>
                    <p:spPr>
                      <a:xfrm>
                        <a:off x="3497461" y="3140968"/>
                        <a:ext cx="498475" cy="404812"/>
                      </a:xfrm>
                      <a:prstGeom prst="rect">
                        <a:avLst/>
                      </a:prstGeom>
                    </p:spPr>
                  </p:pic>
                </p:oleObj>
              </mc:Fallback>
            </mc:AlternateContent>
          </a:graphicData>
        </a:graphic>
      </p:graphicFrame>
      <p:graphicFrame>
        <p:nvGraphicFramePr>
          <p:cNvPr id="10" name="对象 9"/>
          <p:cNvGraphicFramePr>
            <a:graphicFrameLocks noChangeAspect="1"/>
          </p:cNvGraphicFramePr>
          <p:nvPr/>
        </p:nvGraphicFramePr>
        <p:xfrm>
          <a:off x="2891681" y="3140968"/>
          <a:ext cx="384175" cy="404813"/>
        </p:xfrm>
        <a:graphic>
          <a:graphicData uri="http://schemas.openxmlformats.org/presentationml/2006/ole">
            <mc:AlternateContent xmlns:mc="http://schemas.openxmlformats.org/markup-compatibility/2006">
              <mc:Choice xmlns:v="urn:schemas-microsoft-com:vml" Requires="v">
                <p:oleObj spid="_x0000_s5235" name="Equation" r:id="rId11" imgW="5181600" imgH="5486400" progId="Equation.DSMT4">
                  <p:embed/>
                </p:oleObj>
              </mc:Choice>
              <mc:Fallback>
                <p:oleObj name="Equation" r:id="rId11" imgW="5181600" imgH="5486400" progId="Equation.DSMT4">
                  <p:embed/>
                  <p:pic>
                    <p:nvPicPr>
                      <p:cNvPr id="0" name="图片 5234"/>
                      <p:cNvPicPr/>
                      <p:nvPr/>
                    </p:nvPicPr>
                    <p:blipFill>
                      <a:blip r:embed="rId8"/>
                      <a:stretch>
                        <a:fillRect/>
                      </a:stretch>
                    </p:blipFill>
                    <p:spPr>
                      <a:xfrm>
                        <a:off x="2891681" y="3140968"/>
                        <a:ext cx="384175" cy="404813"/>
                      </a:xfrm>
                      <a:prstGeom prst="rect">
                        <a:avLst/>
                      </a:prstGeom>
                    </p:spPr>
                  </p:pic>
                </p:oleObj>
              </mc:Fallback>
            </mc:AlternateContent>
          </a:graphicData>
        </a:graphic>
      </p:graphicFrame>
      <p:graphicFrame>
        <p:nvGraphicFramePr>
          <p:cNvPr id="11" name="对象 10"/>
          <p:cNvGraphicFramePr>
            <a:graphicFrameLocks noChangeAspect="1"/>
          </p:cNvGraphicFramePr>
          <p:nvPr/>
        </p:nvGraphicFramePr>
        <p:xfrm>
          <a:off x="1331640" y="3501008"/>
          <a:ext cx="6735763" cy="765175"/>
        </p:xfrm>
        <a:graphic>
          <a:graphicData uri="http://schemas.openxmlformats.org/presentationml/2006/ole">
            <mc:AlternateContent xmlns:mc="http://schemas.openxmlformats.org/markup-compatibility/2006">
              <mc:Choice xmlns:v="urn:schemas-microsoft-com:vml" Requires="v">
                <p:oleObj spid="_x0000_s5236" name="Equation" r:id="rId12" imgW="91135200" imgH="10363200" progId="Equation.DSMT4">
                  <p:embed/>
                </p:oleObj>
              </mc:Choice>
              <mc:Fallback>
                <p:oleObj name="Equation" r:id="rId12" imgW="91135200" imgH="10363200" progId="Equation.DSMT4">
                  <p:embed/>
                  <p:pic>
                    <p:nvPicPr>
                      <p:cNvPr id="0" name="图片 5235"/>
                      <p:cNvPicPr/>
                      <p:nvPr/>
                    </p:nvPicPr>
                    <p:blipFill>
                      <a:blip r:embed="rId13"/>
                      <a:stretch>
                        <a:fillRect/>
                      </a:stretch>
                    </p:blipFill>
                    <p:spPr>
                      <a:xfrm>
                        <a:off x="1331640" y="3501008"/>
                        <a:ext cx="6735763" cy="765175"/>
                      </a:xfrm>
                      <a:prstGeom prst="rect">
                        <a:avLst/>
                      </a:prstGeom>
                    </p:spPr>
                  </p:pic>
                </p:oleObj>
              </mc:Fallback>
            </mc:AlternateContent>
          </a:graphicData>
        </a:graphic>
      </p:graphicFrame>
    </p:spTree>
  </p:cSld>
  <p:clrMapOvr>
    <a:masterClrMapping/>
  </p:clrMapOvr>
  <p:transition>
    <p:cover dir="u"/>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8.2 Boosting</a:t>
            </a:r>
            <a:endParaRPr lang="zh-CN" altLang="en-US" dirty="0"/>
          </a:p>
        </p:txBody>
      </p:sp>
      <p:sp>
        <p:nvSpPr>
          <p:cNvPr id="3" name="内容占位符 2"/>
          <p:cNvSpPr>
            <a:spLocks noGrp="1"/>
          </p:cNvSpPr>
          <p:nvPr>
            <p:ph idx="1"/>
          </p:nvPr>
        </p:nvSpPr>
        <p:spPr/>
        <p:txBody>
          <a:bodyPr/>
          <a:lstStyle/>
          <a:p>
            <a:r>
              <a:rPr lang="en-US" altLang="zh-CN" dirty="0" err="1">
                <a:latin typeface="+mn-ea"/>
              </a:rPr>
              <a:t>AdaBoost</a:t>
            </a:r>
            <a:r>
              <a:rPr lang="zh-CN" altLang="en-US" dirty="0">
                <a:latin typeface="+mn-ea"/>
              </a:rPr>
              <a:t>算法</a:t>
            </a:r>
            <a:endParaRPr lang="en-US" altLang="zh-CN" dirty="0">
              <a:latin typeface="+mn-ea"/>
            </a:endParaRPr>
          </a:p>
          <a:p>
            <a:endParaRPr lang="zh-CN" altLang="en-US" dirty="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pic>
        <p:nvPicPr>
          <p:cNvPr id="5" name="图片 4"/>
          <p:cNvPicPr>
            <a:picLocks noChangeAspect="1"/>
          </p:cNvPicPr>
          <p:nvPr/>
        </p:nvPicPr>
        <p:blipFill>
          <a:blip r:embed="rId1"/>
          <a:stretch>
            <a:fillRect/>
          </a:stretch>
        </p:blipFill>
        <p:spPr>
          <a:xfrm>
            <a:off x="1115616" y="1440632"/>
            <a:ext cx="7399395" cy="5300736"/>
          </a:xfrm>
          <a:prstGeom prst="rect">
            <a:avLst/>
          </a:prstGeom>
        </p:spPr>
      </p:pic>
      <p:sp>
        <p:nvSpPr>
          <p:cNvPr id="6" name="矩形 5"/>
          <p:cNvSpPr/>
          <p:nvPr/>
        </p:nvSpPr>
        <p:spPr>
          <a:xfrm>
            <a:off x="3347864" y="2780928"/>
            <a:ext cx="2031325" cy="358431"/>
          </a:xfrm>
          <a:prstGeom prst="rect">
            <a:avLst/>
          </a:prstGeom>
        </p:spPr>
        <p:txBody>
          <a:bodyPr wrap="none">
            <a:spAutoFit/>
          </a:bodyPr>
          <a:lstStyle/>
          <a:p>
            <a:r>
              <a:rPr lang="zh-CN" altLang="en-US" sz="1600" b="0" dirty="0">
                <a:solidFill>
                  <a:srgbClr val="FF0000"/>
                </a:solidFill>
              </a:rPr>
              <a:t>初始化样本权值分布</a:t>
            </a:r>
            <a:endParaRPr lang="zh-CN" altLang="en-US" sz="1600" b="0" dirty="0">
              <a:solidFill>
                <a:srgbClr val="FF0000"/>
              </a:solidFill>
            </a:endParaRPr>
          </a:p>
        </p:txBody>
      </p:sp>
      <p:sp>
        <p:nvSpPr>
          <p:cNvPr id="7" name="矩形 6"/>
          <p:cNvSpPr/>
          <p:nvPr/>
        </p:nvSpPr>
        <p:spPr>
          <a:xfrm>
            <a:off x="3795013" y="3430609"/>
            <a:ext cx="1210588" cy="358431"/>
          </a:xfrm>
          <a:prstGeom prst="rect">
            <a:avLst/>
          </a:prstGeom>
        </p:spPr>
        <p:txBody>
          <a:bodyPr wrap="none">
            <a:spAutoFit/>
          </a:bodyPr>
          <a:lstStyle/>
          <a:p>
            <a:r>
              <a:rPr lang="zh-CN" altLang="en-US" sz="1600" b="0" dirty="0" smtClean="0">
                <a:solidFill>
                  <a:srgbClr val="FF0000"/>
                </a:solidFill>
              </a:rPr>
              <a:t>训练分类器</a:t>
            </a:r>
            <a:endParaRPr lang="zh-CN" altLang="en-US" sz="1600" b="0" dirty="0">
              <a:solidFill>
                <a:srgbClr val="FF0000"/>
              </a:solidFill>
            </a:endParaRPr>
          </a:p>
        </p:txBody>
      </p:sp>
      <p:sp>
        <p:nvSpPr>
          <p:cNvPr id="8" name="矩形 7"/>
          <p:cNvSpPr/>
          <p:nvPr/>
        </p:nvSpPr>
        <p:spPr>
          <a:xfrm>
            <a:off x="5019149" y="3790649"/>
            <a:ext cx="1005403" cy="358431"/>
          </a:xfrm>
          <a:prstGeom prst="rect">
            <a:avLst/>
          </a:prstGeom>
        </p:spPr>
        <p:txBody>
          <a:bodyPr wrap="none">
            <a:spAutoFit/>
          </a:bodyPr>
          <a:lstStyle/>
          <a:p>
            <a:r>
              <a:rPr lang="zh-CN" altLang="en-US" sz="1600" b="0" dirty="0">
                <a:solidFill>
                  <a:srgbClr val="FF0000"/>
                </a:solidFill>
              </a:rPr>
              <a:t>估计误差</a:t>
            </a:r>
            <a:endParaRPr lang="zh-CN" altLang="en-US" sz="1600" b="0" dirty="0">
              <a:solidFill>
                <a:srgbClr val="FF0000"/>
              </a:solidFill>
            </a:endParaRPr>
          </a:p>
        </p:txBody>
      </p:sp>
      <p:sp>
        <p:nvSpPr>
          <p:cNvPr id="9" name="矩形 8"/>
          <p:cNvSpPr/>
          <p:nvPr/>
        </p:nvSpPr>
        <p:spPr>
          <a:xfrm>
            <a:off x="4030473" y="4441939"/>
            <a:ext cx="1620957" cy="358431"/>
          </a:xfrm>
          <a:prstGeom prst="rect">
            <a:avLst/>
          </a:prstGeom>
        </p:spPr>
        <p:txBody>
          <a:bodyPr wrap="none">
            <a:spAutoFit/>
          </a:bodyPr>
          <a:lstStyle/>
          <a:p>
            <a:r>
              <a:rPr lang="zh-CN" altLang="en-US" sz="1600" b="0" dirty="0" smtClean="0">
                <a:solidFill>
                  <a:srgbClr val="FF0000"/>
                </a:solidFill>
              </a:rPr>
              <a:t>确定分类器权重</a:t>
            </a:r>
            <a:endParaRPr lang="zh-CN" altLang="en-US" sz="1600" b="0" dirty="0">
              <a:solidFill>
                <a:srgbClr val="FF0000"/>
              </a:solidFill>
            </a:endParaRPr>
          </a:p>
        </p:txBody>
      </p:sp>
      <p:sp>
        <p:nvSpPr>
          <p:cNvPr id="10" name="矩形 9"/>
          <p:cNvSpPr/>
          <p:nvPr/>
        </p:nvSpPr>
        <p:spPr>
          <a:xfrm>
            <a:off x="5811237" y="5482040"/>
            <a:ext cx="1612920" cy="683264"/>
          </a:xfrm>
          <a:prstGeom prst="rect">
            <a:avLst/>
          </a:prstGeom>
        </p:spPr>
        <p:txBody>
          <a:bodyPr wrap="square">
            <a:spAutoFit/>
          </a:bodyPr>
          <a:lstStyle/>
          <a:p>
            <a:pPr>
              <a:spcBef>
                <a:spcPts val="0"/>
              </a:spcBef>
            </a:pPr>
            <a:r>
              <a:rPr lang="zh-CN" altLang="en-US" sz="1600" b="0" dirty="0">
                <a:solidFill>
                  <a:srgbClr val="FF0000"/>
                </a:solidFill>
              </a:rPr>
              <a:t>更新样本分布，</a:t>
            </a:r>
            <a:r>
              <a:rPr lang="zh-CN" altLang="en-US" sz="1600" b="0" i="1" dirty="0" smtClean="0">
                <a:solidFill>
                  <a:srgbClr val="FF0000"/>
                </a:solidFill>
                <a:latin typeface="+mn-ea"/>
                <a:ea typeface="+mn-ea"/>
              </a:rPr>
              <a:t>Z</a:t>
            </a:r>
            <a:r>
              <a:rPr lang="en-US" altLang="zh-CN" sz="1600" b="0" i="1" baseline="-25000" dirty="0" smtClean="0">
                <a:solidFill>
                  <a:srgbClr val="FF0000"/>
                </a:solidFill>
                <a:latin typeface="+mn-ea"/>
                <a:ea typeface="+mn-ea"/>
              </a:rPr>
              <a:t>t</a:t>
            </a:r>
            <a:r>
              <a:rPr lang="zh-CN" altLang="en-US" sz="1600" b="0" dirty="0" smtClean="0">
                <a:solidFill>
                  <a:srgbClr val="FF0000"/>
                </a:solidFill>
              </a:rPr>
              <a:t>是</a:t>
            </a:r>
            <a:r>
              <a:rPr lang="zh-CN" altLang="en-US" sz="1600" b="0" dirty="0">
                <a:solidFill>
                  <a:srgbClr val="FF0000"/>
                </a:solidFill>
              </a:rPr>
              <a:t>规范化因子</a:t>
            </a:r>
            <a:endParaRPr lang="zh-CN" altLang="en-US" sz="1600" b="0" dirty="0">
              <a:solidFill>
                <a:srgbClr val="FF0000"/>
              </a:solidFill>
            </a:endParaRPr>
          </a:p>
        </p:txBody>
      </p:sp>
    </p:spTree>
  </p:cSld>
  <p:clrMapOvr>
    <a:masterClrMapping/>
  </p:clrMapOvr>
  <p:transition>
    <p:cover dir="u"/>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8.2 Boosting</a:t>
            </a:r>
            <a:endParaRPr lang="zh-CN" altLang="en-US" dirty="0"/>
          </a:p>
        </p:txBody>
      </p:sp>
      <p:sp>
        <p:nvSpPr>
          <p:cNvPr id="3" name="内容占位符 2"/>
          <p:cNvSpPr>
            <a:spLocks noGrp="1"/>
          </p:cNvSpPr>
          <p:nvPr>
            <p:ph idx="1"/>
          </p:nvPr>
        </p:nvSpPr>
        <p:spPr/>
        <p:txBody>
          <a:bodyPr/>
          <a:lstStyle/>
          <a:p>
            <a:r>
              <a:rPr lang="en-US" altLang="zh-CN" dirty="0" err="1">
                <a:latin typeface="+mn-ea"/>
              </a:rPr>
              <a:t>AdaBoost</a:t>
            </a:r>
            <a:r>
              <a:rPr lang="zh-CN" altLang="en-US" dirty="0">
                <a:latin typeface="+mn-ea"/>
              </a:rPr>
              <a:t>算法</a:t>
            </a:r>
            <a:endParaRPr lang="en-US" altLang="zh-CN" dirty="0">
              <a:latin typeface="+mn-ea"/>
            </a:endParaRPr>
          </a:p>
          <a:p>
            <a:pPr lvl="1"/>
            <a:r>
              <a:rPr lang="zh-CN" altLang="en-US" dirty="0">
                <a:latin typeface="+mn-ea"/>
              </a:rPr>
              <a:t>从</a:t>
            </a:r>
            <a:r>
              <a:rPr lang="zh-CN" altLang="en-US" dirty="0" smtClean="0">
                <a:latin typeface="+mn-ea"/>
              </a:rPr>
              <a:t>偏差方差</a:t>
            </a:r>
            <a:r>
              <a:rPr lang="zh-CN" altLang="en-US" dirty="0">
                <a:latin typeface="+mn-ea"/>
              </a:rPr>
              <a:t>分解的角度看，</a:t>
            </a:r>
            <a:r>
              <a:rPr lang="en-US" altLang="zh-CN" dirty="0">
                <a:latin typeface="+mn-ea"/>
              </a:rPr>
              <a:t>Boosting</a:t>
            </a:r>
            <a:r>
              <a:rPr lang="zh-CN" altLang="en-US" dirty="0">
                <a:latin typeface="+mn-ea"/>
              </a:rPr>
              <a:t>主要关注降低偏差，因此</a:t>
            </a:r>
            <a:r>
              <a:rPr lang="en-US" altLang="zh-CN" dirty="0" smtClean="0">
                <a:latin typeface="+mn-ea"/>
              </a:rPr>
              <a:t>Boosting</a:t>
            </a:r>
            <a:r>
              <a:rPr lang="zh-CN" altLang="en-US" dirty="0" smtClean="0">
                <a:latin typeface="+mn-ea"/>
              </a:rPr>
              <a:t>能</a:t>
            </a:r>
            <a:r>
              <a:rPr lang="zh-CN" altLang="en-US" dirty="0">
                <a:latin typeface="+mn-ea"/>
              </a:rPr>
              <a:t>基于泛化性能相当弱的学习器构建出很强的</a:t>
            </a:r>
            <a:r>
              <a:rPr lang="zh-CN" altLang="en-US" dirty="0" smtClean="0">
                <a:latin typeface="+mn-ea"/>
              </a:rPr>
              <a:t>集成</a:t>
            </a:r>
            <a:endParaRPr lang="en-US" altLang="zh-CN" dirty="0" smtClean="0">
              <a:latin typeface="+mn-ea"/>
            </a:endParaRPr>
          </a:p>
          <a:p>
            <a:pPr lvl="1"/>
            <a:r>
              <a:rPr lang="zh-CN" altLang="en-US" dirty="0" smtClean="0"/>
              <a:t>例：以决策树桩为</a:t>
            </a:r>
            <a:r>
              <a:rPr lang="zh-CN" altLang="en-US" dirty="0"/>
              <a:t>基学习器</a:t>
            </a:r>
            <a:r>
              <a:rPr lang="zh-CN" altLang="en-US" dirty="0" smtClean="0"/>
              <a:t>，不同规模集成</a:t>
            </a:r>
            <a:endParaRPr lang="en-US" altLang="zh-CN" dirty="0" smtClean="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grpSp>
        <p:nvGrpSpPr>
          <p:cNvPr id="17" name="组合 16"/>
          <p:cNvGrpSpPr/>
          <p:nvPr/>
        </p:nvGrpSpPr>
        <p:grpSpPr>
          <a:xfrm>
            <a:off x="281836" y="3140968"/>
            <a:ext cx="8682652" cy="3599656"/>
            <a:chOff x="281836" y="3140968"/>
            <a:chExt cx="8682652" cy="3599656"/>
          </a:xfrm>
        </p:grpSpPr>
        <p:pic>
          <p:nvPicPr>
            <p:cNvPr id="5" name="图片 4"/>
            <p:cNvPicPr>
              <a:picLocks noChangeAspect="1"/>
            </p:cNvPicPr>
            <p:nvPr/>
          </p:nvPicPr>
          <p:blipFill>
            <a:blip r:embed="rId1"/>
            <a:stretch>
              <a:fillRect/>
            </a:stretch>
          </p:blipFill>
          <p:spPr>
            <a:xfrm>
              <a:off x="281836" y="3140968"/>
              <a:ext cx="8682652" cy="3599656"/>
            </a:xfrm>
            <a:prstGeom prst="rect">
              <a:avLst/>
            </a:prstGeom>
          </p:spPr>
        </p:pic>
        <p:cxnSp>
          <p:nvCxnSpPr>
            <p:cNvPr id="7" name="直接连接符 6"/>
            <p:cNvCxnSpPr/>
            <p:nvPr/>
          </p:nvCxnSpPr>
          <p:spPr bwMode="auto">
            <a:xfrm>
              <a:off x="1741556" y="3645024"/>
              <a:ext cx="0" cy="1440000"/>
            </a:xfrm>
            <a:prstGeom prst="line">
              <a:avLst/>
            </a:prstGeom>
            <a:solidFill>
              <a:schemeClr val="accent1"/>
            </a:solidFill>
            <a:ln w="3175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 name="直接连接符 8"/>
            <p:cNvCxnSpPr/>
            <p:nvPr/>
          </p:nvCxnSpPr>
          <p:spPr bwMode="auto">
            <a:xfrm>
              <a:off x="7288766" y="3789040"/>
              <a:ext cx="0" cy="1152000"/>
            </a:xfrm>
            <a:prstGeom prst="line">
              <a:avLst/>
            </a:prstGeom>
            <a:solidFill>
              <a:schemeClr val="accent1"/>
            </a:solidFill>
            <a:ln w="3175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 name="直接连接符 10"/>
            <p:cNvCxnSpPr/>
            <p:nvPr/>
          </p:nvCxnSpPr>
          <p:spPr bwMode="auto">
            <a:xfrm>
              <a:off x="3779992" y="4664859"/>
              <a:ext cx="720000" cy="0"/>
            </a:xfrm>
            <a:prstGeom prst="line">
              <a:avLst/>
            </a:prstGeom>
            <a:solidFill>
              <a:schemeClr val="accent1"/>
            </a:solidFill>
            <a:ln w="3175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 name="直接连接符 11"/>
            <p:cNvCxnSpPr/>
            <p:nvPr/>
          </p:nvCxnSpPr>
          <p:spPr bwMode="auto">
            <a:xfrm>
              <a:off x="4499992" y="4869160"/>
              <a:ext cx="1188000" cy="0"/>
            </a:xfrm>
            <a:prstGeom prst="line">
              <a:avLst/>
            </a:prstGeom>
            <a:solidFill>
              <a:schemeClr val="accent1"/>
            </a:solidFill>
            <a:ln w="3175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 name="直接连接符 12"/>
            <p:cNvCxnSpPr/>
            <p:nvPr/>
          </p:nvCxnSpPr>
          <p:spPr bwMode="auto">
            <a:xfrm>
              <a:off x="7272376" y="4933353"/>
              <a:ext cx="684000" cy="0"/>
            </a:xfrm>
            <a:prstGeom prst="line">
              <a:avLst/>
            </a:prstGeom>
            <a:solidFill>
              <a:schemeClr val="accent1"/>
            </a:solidFill>
            <a:ln w="3175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 name="直接连接符 13"/>
            <p:cNvCxnSpPr/>
            <p:nvPr/>
          </p:nvCxnSpPr>
          <p:spPr bwMode="auto">
            <a:xfrm>
              <a:off x="7929598" y="4696120"/>
              <a:ext cx="540000" cy="0"/>
            </a:xfrm>
            <a:prstGeom prst="line">
              <a:avLst/>
            </a:prstGeom>
            <a:solidFill>
              <a:schemeClr val="accent1"/>
            </a:solidFill>
            <a:ln w="3175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直接连接符 14"/>
            <p:cNvCxnSpPr/>
            <p:nvPr/>
          </p:nvCxnSpPr>
          <p:spPr bwMode="auto">
            <a:xfrm>
              <a:off x="7941321" y="4709546"/>
              <a:ext cx="0" cy="216000"/>
            </a:xfrm>
            <a:prstGeom prst="line">
              <a:avLst/>
            </a:prstGeom>
            <a:solidFill>
              <a:schemeClr val="accent1"/>
            </a:solidFill>
            <a:ln w="3175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 name="直接连接符 15"/>
            <p:cNvCxnSpPr/>
            <p:nvPr/>
          </p:nvCxnSpPr>
          <p:spPr bwMode="auto">
            <a:xfrm>
              <a:off x="4499992" y="4649252"/>
              <a:ext cx="0" cy="234000"/>
            </a:xfrm>
            <a:prstGeom prst="line">
              <a:avLst/>
            </a:prstGeom>
            <a:solidFill>
              <a:schemeClr val="accent1"/>
            </a:solidFill>
            <a:ln w="3175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Tree>
  </p:cSld>
  <p:clrMapOvr>
    <a:masterClrMapping/>
  </p:clrMapOvr>
  <p:transition>
    <p:cover dir="u"/>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8.3 Bagging</a:t>
            </a:r>
            <a:r>
              <a:rPr lang="zh-CN" altLang="en-US" dirty="0"/>
              <a:t>与随机森林</a:t>
            </a:r>
            <a:endParaRPr lang="zh-CN" altLang="en-US" dirty="0"/>
          </a:p>
        </p:txBody>
      </p:sp>
      <p:sp>
        <p:nvSpPr>
          <p:cNvPr id="3" name="内容占位符 2"/>
          <p:cNvSpPr>
            <a:spLocks noGrp="1"/>
          </p:cNvSpPr>
          <p:nvPr>
            <p:ph idx="1"/>
          </p:nvPr>
        </p:nvSpPr>
        <p:spPr>
          <a:xfrm>
            <a:off x="684066" y="836712"/>
            <a:ext cx="7772400" cy="5487888"/>
          </a:xfrm>
        </p:spPr>
        <p:txBody>
          <a:bodyPr/>
          <a:lstStyle/>
          <a:p>
            <a:r>
              <a:rPr lang="zh-CN" altLang="en-US" dirty="0" smtClean="0"/>
              <a:t>思想</a:t>
            </a:r>
            <a:endParaRPr lang="en-US" altLang="zh-CN" dirty="0" smtClean="0"/>
          </a:p>
          <a:p>
            <a:pPr lvl="1"/>
            <a:r>
              <a:rPr lang="zh-CN" altLang="en-US" dirty="0" smtClean="0"/>
              <a:t>欲</a:t>
            </a:r>
            <a:r>
              <a:rPr lang="zh-CN" altLang="en-US" dirty="0"/>
              <a:t>得到泛化性能强的集成</a:t>
            </a:r>
            <a:r>
              <a:rPr lang="zh-CN" altLang="en-US" dirty="0" smtClean="0"/>
              <a:t>，个体</a:t>
            </a:r>
            <a:r>
              <a:rPr lang="zh-CN" altLang="en-US" dirty="0"/>
              <a:t>学习器应尽可能相互</a:t>
            </a:r>
            <a:r>
              <a:rPr lang="zh-CN" altLang="en-US" dirty="0" smtClean="0"/>
              <a:t>独立</a:t>
            </a:r>
            <a:endParaRPr lang="en-US" altLang="zh-CN" dirty="0" smtClean="0"/>
          </a:p>
          <a:p>
            <a:pPr lvl="1"/>
            <a:r>
              <a:rPr lang="zh-CN" altLang="en-US" dirty="0" smtClean="0"/>
              <a:t>独立在现实中</a:t>
            </a:r>
            <a:r>
              <a:rPr lang="zh-CN" altLang="en-US" dirty="0"/>
              <a:t>无法做到</a:t>
            </a:r>
            <a:r>
              <a:rPr lang="zh-CN" altLang="en-US" dirty="0" smtClean="0"/>
              <a:t>，可以</a:t>
            </a:r>
            <a:r>
              <a:rPr lang="zh-CN" altLang="en-US" dirty="0"/>
              <a:t>设法使基学习器尽可能具有较大的</a:t>
            </a:r>
            <a:r>
              <a:rPr lang="zh-CN" altLang="en-US" dirty="0" smtClean="0"/>
              <a:t>差异</a:t>
            </a:r>
            <a:endParaRPr lang="en-US" altLang="zh-CN" dirty="0" smtClean="0"/>
          </a:p>
          <a:p>
            <a:pPr lvl="2"/>
            <a:r>
              <a:rPr lang="zh-CN" altLang="en-US" dirty="0" smtClean="0"/>
              <a:t>一</a:t>
            </a:r>
            <a:r>
              <a:rPr lang="zh-CN" altLang="en-US" dirty="0"/>
              <a:t>种可能</a:t>
            </a:r>
            <a:r>
              <a:rPr lang="zh-CN" altLang="en-US" dirty="0" smtClean="0"/>
              <a:t>的方法是</a:t>
            </a:r>
            <a:r>
              <a:rPr lang="zh-CN" altLang="en-US" dirty="0"/>
              <a:t>对训练样本进行采样，</a:t>
            </a:r>
            <a:r>
              <a:rPr lang="zh-CN" altLang="en-US" dirty="0" smtClean="0"/>
              <a:t>产生若干不同子集</a:t>
            </a:r>
            <a:r>
              <a:rPr lang="zh-CN" altLang="en-US" dirty="0"/>
              <a:t>，再从每个数据</a:t>
            </a:r>
            <a:r>
              <a:rPr lang="zh-CN" altLang="en-US" dirty="0" smtClean="0"/>
              <a:t>子集训练出基</a:t>
            </a:r>
            <a:r>
              <a:rPr lang="zh-CN" altLang="en-US" dirty="0"/>
              <a:t>学习</a:t>
            </a:r>
            <a:r>
              <a:rPr lang="zh-CN" altLang="en-US" dirty="0" smtClean="0"/>
              <a:t>器</a:t>
            </a:r>
            <a:endParaRPr lang="en-US" altLang="zh-CN" dirty="0" smtClean="0"/>
          </a:p>
          <a:p>
            <a:pPr lvl="3"/>
            <a:r>
              <a:rPr lang="zh-CN" altLang="en-US" dirty="0" smtClean="0"/>
              <a:t>因训练</a:t>
            </a:r>
            <a:r>
              <a:rPr lang="zh-CN" altLang="en-US" dirty="0"/>
              <a:t>数据不同</a:t>
            </a:r>
            <a:r>
              <a:rPr lang="zh-CN" altLang="en-US" dirty="0" smtClean="0"/>
              <a:t>，获得</a:t>
            </a:r>
            <a:r>
              <a:rPr lang="zh-CN" altLang="en-US" dirty="0"/>
              <a:t>的基学习器</a:t>
            </a:r>
            <a:r>
              <a:rPr lang="zh-CN" altLang="en-US" dirty="0" smtClean="0"/>
              <a:t>可能具有较大差异</a:t>
            </a:r>
            <a:endParaRPr lang="en-US" altLang="zh-CN" dirty="0" smtClean="0"/>
          </a:p>
          <a:p>
            <a:pPr lvl="1"/>
            <a:r>
              <a:rPr lang="zh-CN" altLang="en-US" dirty="0" smtClean="0"/>
              <a:t>若采样子集完全</a:t>
            </a:r>
            <a:r>
              <a:rPr lang="zh-CN" altLang="en-US" dirty="0"/>
              <a:t>不同，则每个基学习器只用</a:t>
            </a:r>
            <a:r>
              <a:rPr lang="zh-CN" altLang="en-US" dirty="0" smtClean="0"/>
              <a:t>到一</a:t>
            </a:r>
            <a:r>
              <a:rPr lang="zh-CN" altLang="en-US" dirty="0"/>
              <a:t>小部分训练数据</a:t>
            </a:r>
            <a:r>
              <a:rPr lang="zh-CN" altLang="en-US" dirty="0" smtClean="0"/>
              <a:t>，可能不足以有效学习</a:t>
            </a:r>
            <a:endParaRPr lang="en-US" altLang="zh-CN" dirty="0" smtClean="0"/>
          </a:p>
          <a:p>
            <a:pPr lvl="2"/>
            <a:r>
              <a:rPr lang="zh-CN" altLang="en-US" dirty="0" smtClean="0"/>
              <a:t>可使用</a:t>
            </a:r>
            <a:r>
              <a:rPr lang="zh-CN" altLang="en-US" dirty="0"/>
              <a:t>相互有交叠的采样子集</a:t>
            </a:r>
            <a:endParaRPr lang="zh-CN" altLang="en-US" dirty="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spTree>
  </p:cSld>
  <p:clrMapOvr>
    <a:masterClrMapping/>
  </p:clrMapOvr>
  <p:transition>
    <p:cover dir="u"/>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8.3 Bagging</a:t>
            </a:r>
            <a:r>
              <a:rPr lang="zh-CN" altLang="en-US" dirty="0"/>
              <a:t>与随机森林</a:t>
            </a:r>
            <a:endParaRPr lang="zh-CN" altLang="en-US" dirty="0"/>
          </a:p>
        </p:txBody>
      </p:sp>
      <p:sp>
        <p:nvSpPr>
          <p:cNvPr id="3" name="内容占位符 2"/>
          <p:cNvSpPr>
            <a:spLocks noGrp="1"/>
          </p:cNvSpPr>
          <p:nvPr>
            <p:ph idx="1"/>
          </p:nvPr>
        </p:nvSpPr>
        <p:spPr/>
        <p:txBody>
          <a:bodyPr/>
          <a:lstStyle/>
          <a:p>
            <a:r>
              <a:rPr lang="en-US" altLang="zh-CN" dirty="0">
                <a:latin typeface="+mn-ea"/>
              </a:rPr>
              <a:t>8.3.1 </a:t>
            </a:r>
            <a:r>
              <a:rPr lang="en-US" altLang="zh-CN" dirty="0" smtClean="0">
                <a:latin typeface="+mn-ea"/>
              </a:rPr>
              <a:t>Bagging</a:t>
            </a:r>
            <a:endParaRPr lang="en-US" altLang="zh-CN" dirty="0" smtClean="0">
              <a:latin typeface="+mn-ea"/>
            </a:endParaRPr>
          </a:p>
          <a:p>
            <a:pPr lvl="1"/>
            <a:r>
              <a:rPr lang="zh-CN" altLang="en-US" dirty="0" smtClean="0">
                <a:latin typeface="+mn-ea"/>
              </a:rPr>
              <a:t>并行</a:t>
            </a:r>
            <a:r>
              <a:rPr lang="zh-CN" altLang="en-US" dirty="0">
                <a:latin typeface="+mn-ea"/>
              </a:rPr>
              <a:t>式集成学习方法最著名的</a:t>
            </a:r>
            <a:r>
              <a:rPr lang="zh-CN" altLang="en-US" dirty="0" smtClean="0">
                <a:latin typeface="+mn-ea"/>
              </a:rPr>
              <a:t>代表</a:t>
            </a:r>
            <a:endParaRPr lang="en-US" altLang="zh-CN" dirty="0" smtClean="0">
              <a:latin typeface="+mn-ea"/>
            </a:endParaRPr>
          </a:p>
          <a:p>
            <a:pPr lvl="1"/>
            <a:r>
              <a:rPr lang="zh-CN" altLang="en-US" dirty="0" smtClean="0">
                <a:latin typeface="+mn-ea"/>
              </a:rPr>
              <a:t>方法</a:t>
            </a:r>
            <a:endParaRPr lang="en-US" altLang="zh-CN" dirty="0" smtClean="0">
              <a:latin typeface="+mn-ea"/>
            </a:endParaRPr>
          </a:p>
          <a:p>
            <a:pPr lvl="2"/>
            <a:r>
              <a:rPr lang="zh-CN" altLang="en-US" dirty="0">
                <a:latin typeface="+mn-ea"/>
              </a:rPr>
              <a:t>基于</a:t>
            </a:r>
            <a:r>
              <a:rPr lang="zh-CN" altLang="en-US" dirty="0" smtClean="0">
                <a:latin typeface="+mn-ea"/>
              </a:rPr>
              <a:t>自助</a:t>
            </a:r>
            <a:r>
              <a:rPr lang="zh-CN" altLang="en-US" dirty="0">
                <a:latin typeface="+mn-ea"/>
              </a:rPr>
              <a:t>采样</a:t>
            </a:r>
            <a:r>
              <a:rPr lang="zh-CN" altLang="en-US" dirty="0" smtClean="0">
                <a:latin typeface="+mn-ea"/>
              </a:rPr>
              <a:t>法</a:t>
            </a:r>
            <a:endParaRPr lang="en-US" altLang="zh-CN" dirty="0" smtClean="0">
              <a:latin typeface="+mn-ea"/>
            </a:endParaRPr>
          </a:p>
          <a:p>
            <a:pPr lvl="3"/>
            <a:r>
              <a:rPr lang="zh-CN" altLang="en-US" dirty="0" smtClean="0">
                <a:latin typeface="+mn-ea"/>
              </a:rPr>
              <a:t>给定包含</a:t>
            </a:r>
            <a:r>
              <a:rPr lang="en-US" altLang="zh-CN" dirty="0" smtClean="0">
                <a:latin typeface="+mn-ea"/>
              </a:rPr>
              <a:t>m</a:t>
            </a:r>
            <a:r>
              <a:rPr lang="zh-CN" altLang="en-US" dirty="0" smtClean="0">
                <a:latin typeface="+mn-ea"/>
              </a:rPr>
              <a:t>个</a:t>
            </a:r>
            <a:r>
              <a:rPr lang="zh-CN" altLang="en-US" dirty="0">
                <a:latin typeface="+mn-ea"/>
              </a:rPr>
              <a:t>样本的数据集</a:t>
            </a:r>
            <a:r>
              <a:rPr lang="zh-CN" altLang="en-US" dirty="0" smtClean="0">
                <a:latin typeface="+mn-ea"/>
              </a:rPr>
              <a:t>，先</a:t>
            </a:r>
            <a:r>
              <a:rPr lang="zh-CN" altLang="en-US" dirty="0">
                <a:latin typeface="+mn-ea"/>
              </a:rPr>
              <a:t>随机取出一个样本放入采样集中，</a:t>
            </a:r>
            <a:r>
              <a:rPr lang="zh-CN" altLang="en-US" dirty="0" smtClean="0">
                <a:latin typeface="+mn-ea"/>
              </a:rPr>
              <a:t>再将其放回</a:t>
            </a:r>
            <a:r>
              <a:rPr lang="zh-CN" altLang="en-US" dirty="0">
                <a:latin typeface="+mn-ea"/>
              </a:rPr>
              <a:t>初始数据</a:t>
            </a:r>
            <a:r>
              <a:rPr lang="zh-CN" altLang="en-US" dirty="0" smtClean="0">
                <a:latin typeface="+mn-ea"/>
              </a:rPr>
              <a:t>集</a:t>
            </a:r>
            <a:endParaRPr lang="en-US" altLang="zh-CN" dirty="0" smtClean="0">
              <a:latin typeface="+mn-ea"/>
            </a:endParaRPr>
          </a:p>
          <a:p>
            <a:pPr lvl="3"/>
            <a:r>
              <a:rPr lang="zh-CN" altLang="en-US" dirty="0" smtClean="0">
                <a:latin typeface="+mn-ea"/>
              </a:rPr>
              <a:t>经过</a:t>
            </a:r>
            <a:r>
              <a:rPr lang="en-US" altLang="zh-CN" dirty="0">
                <a:latin typeface="+mn-ea"/>
              </a:rPr>
              <a:t>m</a:t>
            </a:r>
            <a:r>
              <a:rPr lang="zh-CN" altLang="en-US" dirty="0">
                <a:latin typeface="+mn-ea"/>
              </a:rPr>
              <a:t>次</a:t>
            </a:r>
            <a:r>
              <a:rPr lang="zh-CN" altLang="en-US" dirty="0" smtClean="0">
                <a:latin typeface="+mn-ea"/>
              </a:rPr>
              <a:t>随机采样，得到</a:t>
            </a:r>
            <a:r>
              <a:rPr lang="en-US" altLang="zh-CN" dirty="0" smtClean="0">
                <a:latin typeface="+mn-ea"/>
              </a:rPr>
              <a:t>m</a:t>
            </a:r>
            <a:r>
              <a:rPr lang="zh-CN" altLang="en-US" dirty="0" smtClean="0">
                <a:latin typeface="+mn-ea"/>
              </a:rPr>
              <a:t>个</a:t>
            </a:r>
            <a:r>
              <a:rPr lang="zh-CN" altLang="en-US" dirty="0">
                <a:latin typeface="+mn-ea"/>
              </a:rPr>
              <a:t>样本的采样集，初始训练集中</a:t>
            </a:r>
            <a:r>
              <a:rPr lang="zh-CN" altLang="en-US" dirty="0" smtClean="0">
                <a:latin typeface="+mn-ea"/>
              </a:rPr>
              <a:t>有样本</a:t>
            </a:r>
            <a:r>
              <a:rPr lang="zh-CN" altLang="en-US" dirty="0">
                <a:latin typeface="+mn-ea"/>
              </a:rPr>
              <a:t>在采样</a:t>
            </a:r>
            <a:r>
              <a:rPr lang="zh-CN" altLang="en-US" dirty="0" smtClean="0">
                <a:latin typeface="+mn-ea"/>
              </a:rPr>
              <a:t>集中多次</a:t>
            </a:r>
            <a:r>
              <a:rPr lang="zh-CN" altLang="en-US" dirty="0">
                <a:latin typeface="+mn-ea"/>
              </a:rPr>
              <a:t>出现，有的则从未</a:t>
            </a:r>
            <a:r>
              <a:rPr lang="zh-CN" altLang="en-US" dirty="0" smtClean="0">
                <a:latin typeface="+mn-ea"/>
              </a:rPr>
              <a:t>出现</a:t>
            </a:r>
            <a:endParaRPr lang="en-US" altLang="zh-CN" dirty="0" smtClean="0">
              <a:latin typeface="+mn-ea"/>
            </a:endParaRPr>
          </a:p>
          <a:p>
            <a:pPr lvl="3"/>
            <a:r>
              <a:rPr lang="zh-CN" altLang="en-US" dirty="0" smtClean="0">
                <a:latin typeface="+mn-ea"/>
              </a:rPr>
              <a:t>初始</a:t>
            </a:r>
            <a:r>
              <a:rPr lang="zh-CN" altLang="en-US" dirty="0">
                <a:latin typeface="+mn-ea"/>
              </a:rPr>
              <a:t>训练集中约有</a:t>
            </a:r>
            <a:r>
              <a:rPr lang="en-US" altLang="zh-CN" dirty="0">
                <a:latin typeface="+mn-ea"/>
              </a:rPr>
              <a:t>63.2%</a:t>
            </a:r>
            <a:r>
              <a:rPr lang="zh-CN" altLang="en-US" dirty="0">
                <a:latin typeface="+mn-ea"/>
              </a:rPr>
              <a:t>的样本出现在采样</a:t>
            </a:r>
            <a:r>
              <a:rPr lang="zh-CN" altLang="en-US" dirty="0" smtClean="0">
                <a:latin typeface="+mn-ea"/>
              </a:rPr>
              <a:t>集中</a:t>
            </a:r>
            <a:endParaRPr lang="en-US" altLang="zh-CN" dirty="0" smtClean="0">
              <a:latin typeface="+mn-ea"/>
            </a:endParaRPr>
          </a:p>
          <a:p>
            <a:pPr lvl="2"/>
            <a:r>
              <a:rPr lang="zh-CN" altLang="en-US" dirty="0" smtClean="0">
                <a:latin typeface="+mn-ea"/>
              </a:rPr>
              <a:t>采样</a:t>
            </a:r>
            <a:r>
              <a:rPr lang="zh-CN" altLang="en-US" dirty="0">
                <a:latin typeface="+mn-ea"/>
              </a:rPr>
              <a:t>出</a:t>
            </a:r>
            <a:r>
              <a:rPr lang="en-US" altLang="zh-CN" dirty="0">
                <a:latin typeface="+mn-ea"/>
              </a:rPr>
              <a:t>T</a:t>
            </a:r>
            <a:r>
              <a:rPr lang="zh-CN" altLang="en-US" dirty="0" smtClean="0">
                <a:latin typeface="+mn-ea"/>
              </a:rPr>
              <a:t>个训练样本集，训练出</a:t>
            </a:r>
            <a:r>
              <a:rPr lang="en-US" altLang="zh-CN" dirty="0" smtClean="0">
                <a:latin typeface="+mn-ea"/>
              </a:rPr>
              <a:t>T</a:t>
            </a:r>
            <a:r>
              <a:rPr lang="zh-CN" altLang="en-US" dirty="0" smtClean="0">
                <a:latin typeface="+mn-ea"/>
              </a:rPr>
              <a:t>个基</a:t>
            </a:r>
            <a:r>
              <a:rPr lang="zh-CN" altLang="en-US" dirty="0">
                <a:latin typeface="+mn-ea"/>
              </a:rPr>
              <a:t>学习器</a:t>
            </a:r>
            <a:r>
              <a:rPr lang="zh-CN" altLang="en-US" dirty="0" smtClean="0">
                <a:latin typeface="+mn-ea"/>
              </a:rPr>
              <a:t>，将基</a:t>
            </a:r>
            <a:r>
              <a:rPr lang="zh-CN" altLang="en-US" dirty="0">
                <a:latin typeface="+mn-ea"/>
              </a:rPr>
              <a:t>学习器进行</a:t>
            </a:r>
            <a:r>
              <a:rPr lang="zh-CN" altLang="en-US" dirty="0" smtClean="0">
                <a:latin typeface="+mn-ea"/>
              </a:rPr>
              <a:t>结合</a:t>
            </a:r>
            <a:endParaRPr lang="en-US" altLang="zh-CN" dirty="0" smtClean="0">
              <a:latin typeface="+mn-ea"/>
            </a:endParaRPr>
          </a:p>
          <a:p>
            <a:pPr lvl="2"/>
            <a:r>
              <a:rPr lang="zh-CN" altLang="en-US" dirty="0" smtClean="0">
                <a:latin typeface="+mn-ea"/>
              </a:rPr>
              <a:t>在</a:t>
            </a:r>
            <a:r>
              <a:rPr lang="zh-CN" altLang="en-US" dirty="0">
                <a:latin typeface="+mn-ea"/>
              </a:rPr>
              <a:t>对预测输出进行结合时</a:t>
            </a:r>
            <a:r>
              <a:rPr lang="zh-CN" altLang="en-US" dirty="0" smtClean="0">
                <a:latin typeface="+mn-ea"/>
              </a:rPr>
              <a:t>，常用</a:t>
            </a:r>
            <a:r>
              <a:rPr lang="zh-CN" altLang="en-US" dirty="0">
                <a:latin typeface="+mn-ea"/>
              </a:rPr>
              <a:t>简单投票</a:t>
            </a:r>
            <a:r>
              <a:rPr lang="zh-CN" altLang="en-US" dirty="0" smtClean="0">
                <a:latin typeface="+mn-ea"/>
              </a:rPr>
              <a:t>法。对</a:t>
            </a:r>
            <a:r>
              <a:rPr lang="zh-CN" altLang="en-US" dirty="0">
                <a:latin typeface="+mn-ea"/>
              </a:rPr>
              <a:t>回归任务使用简单</a:t>
            </a:r>
            <a:r>
              <a:rPr lang="zh-CN" altLang="en-US" dirty="0" smtClean="0">
                <a:latin typeface="+mn-ea"/>
              </a:rPr>
              <a:t>平均法</a:t>
            </a:r>
            <a:endParaRPr lang="en-US" altLang="zh-CN" dirty="0" smtClean="0">
              <a:latin typeface="+mn-ea"/>
            </a:endParaRPr>
          </a:p>
          <a:p>
            <a:pPr lvl="3"/>
            <a:r>
              <a:rPr lang="zh-CN" altLang="en-US" dirty="0" smtClean="0">
                <a:latin typeface="+mn-ea"/>
              </a:rPr>
              <a:t>若出现</a:t>
            </a:r>
            <a:r>
              <a:rPr lang="zh-CN" altLang="en-US" dirty="0">
                <a:latin typeface="+mn-ea"/>
              </a:rPr>
              <a:t>两个类收到同样票数的</a:t>
            </a:r>
            <a:r>
              <a:rPr lang="zh-CN" altLang="en-US" dirty="0" smtClean="0">
                <a:latin typeface="+mn-ea"/>
              </a:rPr>
              <a:t>情形</a:t>
            </a:r>
            <a:endParaRPr lang="en-US" altLang="zh-CN" dirty="0" smtClean="0">
              <a:latin typeface="+mn-ea"/>
            </a:endParaRPr>
          </a:p>
          <a:p>
            <a:pPr lvl="4"/>
            <a:r>
              <a:rPr lang="zh-CN" altLang="en-US" dirty="0" smtClean="0">
                <a:latin typeface="+mn-ea"/>
              </a:rPr>
              <a:t>最</a:t>
            </a:r>
            <a:r>
              <a:rPr lang="zh-CN" altLang="en-US" dirty="0">
                <a:latin typeface="+mn-ea"/>
              </a:rPr>
              <a:t>简单的做法是随机选择一</a:t>
            </a:r>
            <a:r>
              <a:rPr lang="zh-CN" altLang="en-US" dirty="0" smtClean="0">
                <a:latin typeface="+mn-ea"/>
              </a:rPr>
              <a:t>个</a:t>
            </a:r>
            <a:endParaRPr lang="en-US" altLang="zh-CN" dirty="0" smtClean="0">
              <a:latin typeface="+mn-ea"/>
            </a:endParaRPr>
          </a:p>
          <a:p>
            <a:pPr lvl="4"/>
            <a:r>
              <a:rPr lang="zh-CN" altLang="en-US" dirty="0" smtClean="0">
                <a:latin typeface="+mn-ea"/>
              </a:rPr>
              <a:t>考察</a:t>
            </a:r>
            <a:r>
              <a:rPr lang="zh-CN" altLang="en-US" dirty="0">
                <a:latin typeface="+mn-ea"/>
              </a:rPr>
              <a:t>学习器投票的置信度来确定最终胜</a:t>
            </a:r>
            <a:r>
              <a:rPr lang="zh-CN" altLang="en-US" dirty="0" smtClean="0">
                <a:latin typeface="+mn-ea"/>
              </a:rPr>
              <a:t>者</a:t>
            </a:r>
            <a:endParaRPr lang="zh-CN" altLang="en-US" dirty="0">
              <a:latin typeface="+mn-ea"/>
            </a:endParaRPr>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spTree>
  </p:cSld>
  <p:clrMapOvr>
    <a:masterClrMapping/>
  </p:clrMapOvr>
  <p:transition>
    <p:cover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8.3 Bagging</a:t>
            </a:r>
            <a:r>
              <a:rPr lang="zh-CN" altLang="en-US" dirty="0"/>
              <a:t>与随机森林</a:t>
            </a:r>
            <a:endParaRPr lang="zh-CN" altLang="en-US" dirty="0"/>
          </a:p>
        </p:txBody>
      </p:sp>
      <p:sp>
        <p:nvSpPr>
          <p:cNvPr id="3" name="内容占位符 2"/>
          <p:cNvSpPr>
            <a:spLocks noGrp="1"/>
          </p:cNvSpPr>
          <p:nvPr>
            <p:ph idx="1"/>
          </p:nvPr>
        </p:nvSpPr>
        <p:spPr/>
        <p:txBody>
          <a:bodyPr/>
          <a:lstStyle/>
          <a:p>
            <a:r>
              <a:rPr lang="en-US" altLang="zh-CN" dirty="0">
                <a:latin typeface="+mn-ea"/>
              </a:rPr>
              <a:t>8.3.1 Bagging</a:t>
            </a:r>
            <a:endParaRPr lang="en-US" altLang="zh-CN" dirty="0">
              <a:latin typeface="+mn-ea"/>
            </a:endParaRPr>
          </a:p>
          <a:p>
            <a:pPr lvl="1"/>
            <a:r>
              <a:rPr lang="zh-CN" altLang="en-US" dirty="0" smtClean="0"/>
              <a:t>算法流程</a:t>
            </a:r>
            <a:endParaRPr lang="en-US" altLang="zh-CN" dirty="0" smtClean="0"/>
          </a:p>
          <a:p>
            <a:pPr lvl="1"/>
            <a:endParaRPr lang="en-US" altLang="zh-CN" dirty="0"/>
          </a:p>
          <a:p>
            <a:pPr lvl="1"/>
            <a:endParaRPr lang="en-US" altLang="zh-CN" dirty="0" smtClean="0"/>
          </a:p>
          <a:p>
            <a:pPr lvl="1"/>
            <a:endParaRPr lang="en-US" altLang="zh-CN" dirty="0"/>
          </a:p>
          <a:p>
            <a:pPr lvl="1"/>
            <a:endParaRPr lang="en-US" altLang="zh-CN" dirty="0" smtClean="0"/>
          </a:p>
          <a:p>
            <a:pPr lvl="1"/>
            <a:endParaRPr lang="en-US" altLang="zh-CN" dirty="0"/>
          </a:p>
          <a:p>
            <a:pPr lvl="1"/>
            <a:endParaRPr lang="en-US" altLang="zh-CN" dirty="0" smtClean="0"/>
          </a:p>
          <a:p>
            <a:pPr lvl="2"/>
            <a:endParaRPr lang="zh-CN" altLang="en-US" dirty="0">
              <a:latin typeface="+mn-ea"/>
            </a:endParaRPr>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dirty="0"/>
          </a:p>
        </p:txBody>
      </p:sp>
      <p:pic>
        <p:nvPicPr>
          <p:cNvPr id="5" name="图片 4"/>
          <p:cNvPicPr>
            <a:picLocks noChangeAspect="1"/>
          </p:cNvPicPr>
          <p:nvPr/>
        </p:nvPicPr>
        <p:blipFill>
          <a:blip r:embed="rId1"/>
          <a:stretch>
            <a:fillRect/>
          </a:stretch>
        </p:blipFill>
        <p:spPr>
          <a:xfrm>
            <a:off x="971600" y="1845208"/>
            <a:ext cx="7314413" cy="3456000"/>
          </a:xfrm>
          <a:prstGeom prst="rect">
            <a:avLst/>
          </a:prstGeom>
        </p:spPr>
      </p:pic>
      <p:sp>
        <p:nvSpPr>
          <p:cNvPr id="6" name="矩形 5"/>
          <p:cNvSpPr/>
          <p:nvPr/>
        </p:nvSpPr>
        <p:spPr>
          <a:xfrm>
            <a:off x="4283968" y="3750940"/>
            <a:ext cx="2448272" cy="338554"/>
          </a:xfrm>
          <a:prstGeom prst="rect">
            <a:avLst/>
          </a:prstGeom>
        </p:spPr>
        <p:txBody>
          <a:bodyPr wrap="square">
            <a:spAutoFit/>
          </a:bodyPr>
          <a:lstStyle/>
          <a:p>
            <a:pPr algn="just">
              <a:lnSpc>
                <a:spcPct val="100000"/>
              </a:lnSpc>
              <a:spcBef>
                <a:spcPts val="0"/>
              </a:spcBef>
            </a:pPr>
            <a:r>
              <a:rPr lang="zh-CN" altLang="en-US" sz="1600" b="0" dirty="0">
                <a:solidFill>
                  <a:srgbClr val="FF0000"/>
                </a:solidFill>
              </a:rPr>
              <a:t>自助采样产生的样本分布</a:t>
            </a:r>
            <a:endParaRPr lang="zh-CN" altLang="en-US" sz="1600" b="0" dirty="0">
              <a:solidFill>
                <a:srgbClr val="FF0000"/>
              </a:solidFill>
            </a:endParaRPr>
          </a:p>
        </p:txBody>
      </p:sp>
    </p:spTree>
  </p:cSld>
  <p:clrMapOvr>
    <a:masterClrMapping/>
  </p:clrMapOvr>
  <p:transition>
    <p:cover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8.3 Bagging</a:t>
            </a:r>
            <a:r>
              <a:rPr lang="zh-CN" altLang="en-US" dirty="0"/>
              <a:t>与随机森林</a:t>
            </a:r>
            <a:endParaRPr lang="zh-CN" altLang="en-US" dirty="0"/>
          </a:p>
        </p:txBody>
      </p:sp>
      <p:sp>
        <p:nvSpPr>
          <p:cNvPr id="3" name="内容占位符 2"/>
          <p:cNvSpPr>
            <a:spLocks noGrp="1"/>
          </p:cNvSpPr>
          <p:nvPr>
            <p:ph idx="1"/>
          </p:nvPr>
        </p:nvSpPr>
        <p:spPr/>
        <p:txBody>
          <a:bodyPr/>
          <a:lstStyle/>
          <a:p>
            <a:r>
              <a:rPr lang="en-US" altLang="zh-CN" dirty="0">
                <a:latin typeface="+mn-ea"/>
              </a:rPr>
              <a:t>8.3.1 Bagging</a:t>
            </a:r>
            <a:endParaRPr lang="en-US" altLang="zh-CN" dirty="0">
              <a:latin typeface="+mn-ea"/>
            </a:endParaRPr>
          </a:p>
          <a:p>
            <a:pPr lvl="1"/>
            <a:r>
              <a:rPr lang="zh-CN" altLang="en-US" dirty="0" smtClean="0"/>
              <a:t>优势</a:t>
            </a:r>
            <a:endParaRPr lang="en-US" altLang="zh-CN" dirty="0" smtClean="0"/>
          </a:p>
          <a:p>
            <a:pPr lvl="2"/>
            <a:r>
              <a:rPr lang="zh-CN" altLang="en-US" dirty="0" smtClean="0"/>
              <a:t>与训练</a:t>
            </a:r>
            <a:r>
              <a:rPr lang="zh-CN" altLang="en-US" dirty="0"/>
              <a:t>一个学习器的复杂度同</a:t>
            </a:r>
            <a:r>
              <a:rPr lang="zh-CN" altLang="en-US" dirty="0" smtClean="0"/>
              <a:t>阶</a:t>
            </a:r>
            <a:endParaRPr lang="en-US" altLang="zh-CN" dirty="0"/>
          </a:p>
          <a:p>
            <a:pPr lvl="3"/>
            <a:r>
              <a:rPr lang="zh-CN" altLang="en-US" dirty="0" smtClean="0">
                <a:latin typeface="+mn-ea"/>
              </a:rPr>
              <a:t>假定</a:t>
            </a:r>
            <a:r>
              <a:rPr lang="zh-CN" altLang="en-US" dirty="0">
                <a:latin typeface="+mn-ea"/>
              </a:rPr>
              <a:t>基学习器的计算复杂度为</a:t>
            </a:r>
            <a:r>
              <a:rPr lang="en-US" altLang="zh-CN" dirty="0">
                <a:latin typeface="+mn-ea"/>
              </a:rPr>
              <a:t>O(m)</a:t>
            </a:r>
            <a:r>
              <a:rPr lang="zh-CN" altLang="en-US" dirty="0">
                <a:latin typeface="+mn-ea"/>
              </a:rPr>
              <a:t>，则</a:t>
            </a:r>
            <a:r>
              <a:rPr lang="en-US" altLang="zh-CN" dirty="0">
                <a:latin typeface="+mn-ea"/>
              </a:rPr>
              <a:t>Bagging</a:t>
            </a:r>
            <a:r>
              <a:rPr lang="zh-CN" altLang="en-US" dirty="0">
                <a:latin typeface="+mn-ea"/>
              </a:rPr>
              <a:t>的复杂度大致</a:t>
            </a:r>
            <a:r>
              <a:rPr lang="zh-CN" altLang="en-US" dirty="0" smtClean="0">
                <a:latin typeface="+mn-ea"/>
              </a:rPr>
              <a:t>为</a:t>
            </a:r>
            <a:r>
              <a:rPr lang="en-US" altLang="zh-CN" dirty="0" smtClean="0">
                <a:latin typeface="+mn-ea"/>
              </a:rPr>
              <a:t>(O(m)+O(s</a:t>
            </a:r>
            <a:r>
              <a:rPr lang="en-US" altLang="zh-CN" dirty="0">
                <a:latin typeface="+mn-ea"/>
              </a:rPr>
              <a:t>))</a:t>
            </a:r>
            <a:r>
              <a:rPr lang="zh-CN" altLang="en-US" dirty="0">
                <a:latin typeface="+mn-ea"/>
              </a:rPr>
              <a:t>，考虑到采样与投票</a:t>
            </a:r>
            <a:r>
              <a:rPr lang="en-US" altLang="zh-CN" dirty="0">
                <a:latin typeface="+mn-ea"/>
              </a:rPr>
              <a:t>/</a:t>
            </a:r>
            <a:r>
              <a:rPr lang="zh-CN" altLang="en-US" dirty="0">
                <a:latin typeface="+mn-ea"/>
              </a:rPr>
              <a:t>平均过程的复杂度</a:t>
            </a:r>
            <a:r>
              <a:rPr lang="en-US" altLang="zh-CN" dirty="0">
                <a:latin typeface="+mn-ea"/>
              </a:rPr>
              <a:t>O(s)</a:t>
            </a:r>
            <a:r>
              <a:rPr lang="zh-CN" altLang="en-US" dirty="0">
                <a:latin typeface="+mn-ea"/>
              </a:rPr>
              <a:t>很</a:t>
            </a:r>
            <a:r>
              <a:rPr lang="zh-CN" altLang="en-US" dirty="0" smtClean="0">
                <a:latin typeface="+mn-ea"/>
              </a:rPr>
              <a:t>小</a:t>
            </a:r>
            <a:endParaRPr lang="en-US" altLang="zh-CN" dirty="0" smtClean="0">
              <a:latin typeface="+mn-ea"/>
            </a:endParaRPr>
          </a:p>
          <a:p>
            <a:pPr lvl="3"/>
            <a:r>
              <a:rPr lang="zh-CN" altLang="en-US" dirty="0" smtClean="0">
                <a:latin typeface="+mn-ea"/>
              </a:rPr>
              <a:t>是</a:t>
            </a:r>
            <a:r>
              <a:rPr lang="zh-CN" altLang="en-US" dirty="0">
                <a:latin typeface="+mn-ea"/>
              </a:rPr>
              <a:t>一个很高效的集成学习</a:t>
            </a:r>
            <a:r>
              <a:rPr lang="zh-CN" altLang="en-US" dirty="0" smtClean="0">
                <a:latin typeface="+mn-ea"/>
              </a:rPr>
              <a:t>算法</a:t>
            </a:r>
            <a:endParaRPr lang="en-US" altLang="zh-CN" dirty="0" smtClean="0">
              <a:latin typeface="+mn-ea"/>
            </a:endParaRPr>
          </a:p>
          <a:p>
            <a:pPr lvl="2"/>
            <a:r>
              <a:rPr lang="zh-CN" altLang="en-US" dirty="0" smtClean="0">
                <a:latin typeface="+mn-ea"/>
              </a:rPr>
              <a:t>初始训练集会剩下约</a:t>
            </a:r>
            <a:r>
              <a:rPr lang="en-US" altLang="zh-CN" dirty="0" smtClean="0">
                <a:latin typeface="+mn-ea"/>
              </a:rPr>
              <a:t>36.8%</a:t>
            </a:r>
            <a:r>
              <a:rPr lang="zh-CN" altLang="en-US" dirty="0" smtClean="0">
                <a:latin typeface="+mn-ea"/>
              </a:rPr>
              <a:t>样本</a:t>
            </a:r>
            <a:endParaRPr lang="en-US" altLang="zh-CN" dirty="0" smtClean="0">
              <a:latin typeface="+mn-ea"/>
            </a:endParaRPr>
          </a:p>
          <a:p>
            <a:pPr lvl="3"/>
            <a:r>
              <a:rPr lang="zh-CN" altLang="en-US" dirty="0" smtClean="0">
                <a:latin typeface="+mn-ea"/>
              </a:rPr>
              <a:t>可</a:t>
            </a:r>
            <a:r>
              <a:rPr lang="zh-CN" altLang="en-US" dirty="0" smtClean="0">
                <a:latin typeface="+mn-ea"/>
              </a:rPr>
              <a:t>作</a:t>
            </a:r>
            <a:r>
              <a:rPr lang="zh-CN" altLang="en-US" dirty="0">
                <a:latin typeface="+mn-ea"/>
              </a:rPr>
              <a:t>验证</a:t>
            </a:r>
            <a:r>
              <a:rPr lang="zh-CN" altLang="en-US" dirty="0" smtClean="0">
                <a:latin typeface="+mn-ea"/>
              </a:rPr>
              <a:t>集对</a:t>
            </a:r>
            <a:r>
              <a:rPr lang="zh-CN" altLang="en-US" dirty="0">
                <a:latin typeface="+mn-ea"/>
              </a:rPr>
              <a:t>泛化性能进</a:t>
            </a:r>
            <a:r>
              <a:rPr lang="zh-CN" altLang="en-US" dirty="0" smtClean="0">
                <a:latin typeface="+mn-ea"/>
              </a:rPr>
              <a:t>行包外估计</a:t>
            </a:r>
            <a:endParaRPr lang="en-US" altLang="zh-CN" dirty="0" smtClean="0">
              <a:latin typeface="+mn-ea"/>
            </a:endParaRPr>
          </a:p>
          <a:p>
            <a:pPr lvl="3"/>
            <a:r>
              <a:rPr lang="zh-CN" altLang="en-US" dirty="0" smtClean="0">
                <a:latin typeface="+mn-ea"/>
              </a:rPr>
              <a:t>基</a:t>
            </a:r>
            <a:r>
              <a:rPr lang="zh-CN" altLang="en-US" dirty="0">
                <a:latin typeface="+mn-ea"/>
              </a:rPr>
              <a:t>学习器是决策树时，</a:t>
            </a:r>
            <a:r>
              <a:rPr lang="zh-CN" altLang="en-US" dirty="0" smtClean="0">
                <a:latin typeface="+mn-ea"/>
              </a:rPr>
              <a:t>可用来辅助剪枝，</a:t>
            </a:r>
            <a:r>
              <a:rPr lang="zh-CN" altLang="en-US" dirty="0">
                <a:latin typeface="+mn-ea"/>
              </a:rPr>
              <a:t>或用于</a:t>
            </a:r>
            <a:r>
              <a:rPr lang="zh-CN" altLang="en-US" dirty="0" smtClean="0">
                <a:latin typeface="+mn-ea"/>
              </a:rPr>
              <a:t>估计结点后验概率</a:t>
            </a:r>
            <a:r>
              <a:rPr lang="zh-CN" altLang="en-US" dirty="0">
                <a:latin typeface="+mn-ea"/>
              </a:rPr>
              <a:t>以辅助对零训练样本结点的</a:t>
            </a:r>
            <a:r>
              <a:rPr lang="zh-CN" altLang="en-US" dirty="0" smtClean="0">
                <a:latin typeface="+mn-ea"/>
              </a:rPr>
              <a:t>处理</a:t>
            </a:r>
            <a:endParaRPr lang="en-US" altLang="zh-CN" dirty="0" smtClean="0">
              <a:latin typeface="+mn-ea"/>
            </a:endParaRPr>
          </a:p>
          <a:p>
            <a:pPr lvl="3"/>
            <a:r>
              <a:rPr lang="zh-CN" altLang="en-US" dirty="0" smtClean="0">
                <a:latin typeface="+mn-ea"/>
              </a:rPr>
              <a:t>基</a:t>
            </a:r>
            <a:r>
              <a:rPr lang="zh-CN" altLang="en-US" dirty="0">
                <a:latin typeface="+mn-ea"/>
              </a:rPr>
              <a:t>学习器是神经网络时，</a:t>
            </a:r>
            <a:r>
              <a:rPr lang="zh-CN" altLang="en-US" dirty="0" smtClean="0">
                <a:latin typeface="+mn-ea"/>
              </a:rPr>
              <a:t>可用来</a:t>
            </a:r>
            <a:r>
              <a:rPr lang="zh-CN" altLang="en-US" dirty="0">
                <a:latin typeface="+mn-ea"/>
              </a:rPr>
              <a:t>辅助早期</a:t>
            </a:r>
            <a:r>
              <a:rPr lang="zh-CN" altLang="en-US" dirty="0" smtClean="0">
                <a:latin typeface="+mn-ea"/>
              </a:rPr>
              <a:t>停止减小</a:t>
            </a:r>
            <a:r>
              <a:rPr lang="zh-CN" altLang="en-US" dirty="0">
                <a:latin typeface="+mn-ea"/>
              </a:rPr>
              <a:t>过拟合</a:t>
            </a:r>
            <a:r>
              <a:rPr lang="zh-CN" altLang="en-US" dirty="0" smtClean="0">
                <a:latin typeface="+mn-ea"/>
              </a:rPr>
              <a:t>风险</a:t>
            </a:r>
            <a:endParaRPr lang="en-US" altLang="zh-CN" dirty="0" smtClean="0">
              <a:latin typeface="+mn-ea"/>
            </a:endParaRPr>
          </a:p>
          <a:p>
            <a:pPr lvl="2"/>
            <a:r>
              <a:rPr lang="zh-CN" altLang="en-US" dirty="0">
                <a:latin typeface="+mn-ea"/>
              </a:rPr>
              <a:t>从</a:t>
            </a:r>
            <a:r>
              <a:rPr lang="zh-CN" altLang="en-US" dirty="0" smtClean="0">
                <a:latin typeface="+mn-ea"/>
              </a:rPr>
              <a:t>偏差方差看，主要降低</a:t>
            </a:r>
            <a:r>
              <a:rPr lang="zh-CN" altLang="en-US" dirty="0">
                <a:latin typeface="+mn-ea"/>
              </a:rPr>
              <a:t>方差</a:t>
            </a:r>
            <a:r>
              <a:rPr lang="zh-CN" altLang="en-US" dirty="0" smtClean="0">
                <a:latin typeface="+mn-ea"/>
              </a:rPr>
              <a:t>，对不</a:t>
            </a:r>
            <a:r>
              <a:rPr lang="zh-CN" altLang="en-US" dirty="0">
                <a:latin typeface="+mn-ea"/>
              </a:rPr>
              <a:t>剪枝决策树、神经网络等易受样本扰动的学习</a:t>
            </a:r>
            <a:r>
              <a:rPr lang="zh-CN" altLang="en-US" dirty="0" smtClean="0">
                <a:latin typeface="+mn-ea"/>
              </a:rPr>
              <a:t>器效果明显</a:t>
            </a:r>
            <a:endParaRPr lang="en-US" altLang="zh-CN" dirty="0" smtClean="0">
              <a:latin typeface="+mn-ea"/>
            </a:endParaRPr>
          </a:p>
          <a:p>
            <a:pPr lvl="3"/>
            <a:endParaRPr lang="zh-CN" altLang="en-US" dirty="0">
              <a:latin typeface="+mn-ea"/>
            </a:endParaRPr>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dirty="0"/>
          </a:p>
        </p:txBody>
      </p:sp>
    </p:spTree>
  </p:cSld>
  <p:clrMapOvr>
    <a:masterClrMapping/>
  </p:clrMapOvr>
  <p:transition>
    <p:cover dir="u"/>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8.3 Bagging</a:t>
            </a:r>
            <a:r>
              <a:rPr lang="zh-CN" altLang="en-US" dirty="0"/>
              <a:t>与随机森林</a:t>
            </a:r>
            <a:endParaRPr lang="zh-CN" altLang="en-US" dirty="0"/>
          </a:p>
        </p:txBody>
      </p:sp>
      <p:sp>
        <p:nvSpPr>
          <p:cNvPr id="3" name="内容占位符 2"/>
          <p:cNvSpPr>
            <a:spLocks noGrp="1"/>
          </p:cNvSpPr>
          <p:nvPr>
            <p:ph idx="1"/>
          </p:nvPr>
        </p:nvSpPr>
        <p:spPr/>
        <p:txBody>
          <a:bodyPr/>
          <a:lstStyle/>
          <a:p>
            <a:r>
              <a:rPr lang="en-US" altLang="zh-CN" dirty="0">
                <a:latin typeface="+mn-ea"/>
              </a:rPr>
              <a:t>8.3.1 Bagging</a:t>
            </a:r>
            <a:endParaRPr lang="en-US" altLang="zh-CN" dirty="0">
              <a:latin typeface="+mn-ea"/>
            </a:endParaRPr>
          </a:p>
          <a:p>
            <a:pPr lvl="1"/>
            <a:r>
              <a:rPr lang="zh-CN" altLang="en-US" dirty="0">
                <a:latin typeface="+mn-ea"/>
              </a:rPr>
              <a:t>例</a:t>
            </a:r>
            <a:endParaRPr lang="en-US" altLang="zh-CN" dirty="0">
              <a:latin typeface="+mn-ea"/>
            </a:endParaRPr>
          </a:p>
          <a:p>
            <a:pPr lvl="2"/>
            <a:r>
              <a:rPr lang="zh-CN" altLang="en-US" dirty="0">
                <a:latin typeface="+mn-ea"/>
              </a:rPr>
              <a:t>基于信息增益划分的决策树为基学习器，不同规模的集成</a:t>
            </a:r>
            <a:endParaRPr lang="en-US" altLang="zh-CN" dirty="0">
              <a:latin typeface="+mn-ea"/>
            </a:endParaRPr>
          </a:p>
          <a:p>
            <a:endParaRPr lang="zh-CN" altLang="en-US" dirty="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pic>
        <p:nvPicPr>
          <p:cNvPr id="5" name="图片 4"/>
          <p:cNvPicPr>
            <a:picLocks noChangeAspect="1"/>
          </p:cNvPicPr>
          <p:nvPr/>
        </p:nvPicPr>
        <p:blipFill>
          <a:blip r:embed="rId1"/>
          <a:stretch>
            <a:fillRect/>
          </a:stretch>
        </p:blipFill>
        <p:spPr>
          <a:xfrm>
            <a:off x="320759" y="2610222"/>
            <a:ext cx="8643729" cy="3555082"/>
          </a:xfrm>
          <a:prstGeom prst="rect">
            <a:avLst/>
          </a:prstGeom>
        </p:spPr>
      </p:pic>
    </p:spTree>
  </p:cSld>
  <p:clrMapOvr>
    <a:masterClrMapping/>
  </p:clrMapOvr>
  <p:transition>
    <p:cover dir="u"/>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dirty="0"/>
          </a:p>
        </p:txBody>
      </p:sp>
      <p:sp>
        <p:nvSpPr>
          <p:cNvPr id="2" name="标题 1"/>
          <p:cNvSpPr>
            <a:spLocks noGrp="1"/>
          </p:cNvSpPr>
          <p:nvPr>
            <p:ph type="title"/>
          </p:nvPr>
        </p:nvSpPr>
        <p:spPr/>
        <p:txBody>
          <a:bodyPr/>
          <a:lstStyle/>
          <a:p>
            <a:r>
              <a:rPr lang="en-US" altLang="zh-CN" dirty="0"/>
              <a:t>8.3 Bagging</a:t>
            </a:r>
            <a:r>
              <a:rPr lang="zh-CN" altLang="en-US" dirty="0"/>
              <a:t>与随机森林</a:t>
            </a:r>
            <a:endParaRPr lang="zh-CN" altLang="en-US" dirty="0"/>
          </a:p>
        </p:txBody>
      </p:sp>
      <p:sp>
        <p:nvSpPr>
          <p:cNvPr id="3" name="内容占位符 2"/>
          <p:cNvSpPr>
            <a:spLocks noGrp="1"/>
          </p:cNvSpPr>
          <p:nvPr>
            <p:ph idx="1"/>
          </p:nvPr>
        </p:nvSpPr>
        <p:spPr/>
        <p:txBody>
          <a:bodyPr/>
          <a:lstStyle/>
          <a:p>
            <a:r>
              <a:rPr lang="en-US" altLang="zh-CN" dirty="0" smtClean="0">
                <a:latin typeface="+mn-ea"/>
              </a:rPr>
              <a:t>8.3.2 </a:t>
            </a:r>
            <a:r>
              <a:rPr lang="zh-CN" altLang="en-US" dirty="0" smtClean="0">
                <a:latin typeface="+mn-ea"/>
              </a:rPr>
              <a:t>随机森林</a:t>
            </a:r>
            <a:r>
              <a:rPr lang="en-US" altLang="zh-CN" dirty="0" smtClean="0">
                <a:latin typeface="+mn-ea"/>
              </a:rPr>
              <a:t>(RF)</a:t>
            </a:r>
            <a:endParaRPr lang="en-US" altLang="zh-CN" dirty="0" smtClean="0">
              <a:latin typeface="+mn-ea"/>
            </a:endParaRPr>
          </a:p>
          <a:p>
            <a:pPr lvl="1"/>
            <a:r>
              <a:rPr lang="en-US" altLang="zh-CN" dirty="0" smtClean="0">
                <a:latin typeface="+mn-ea"/>
              </a:rPr>
              <a:t>Bagging</a:t>
            </a:r>
            <a:r>
              <a:rPr lang="zh-CN" altLang="en-US" dirty="0" smtClean="0">
                <a:latin typeface="+mn-ea"/>
              </a:rPr>
              <a:t>的扩展变体，以</a:t>
            </a:r>
            <a:r>
              <a:rPr lang="zh-CN" altLang="en-US" dirty="0">
                <a:latin typeface="+mn-ea"/>
              </a:rPr>
              <a:t>决策树为基学习</a:t>
            </a:r>
            <a:r>
              <a:rPr lang="zh-CN" altLang="en-US" dirty="0" smtClean="0">
                <a:latin typeface="+mn-ea"/>
              </a:rPr>
              <a:t>器</a:t>
            </a:r>
            <a:endParaRPr lang="en-US" altLang="zh-CN" dirty="0" smtClean="0">
              <a:latin typeface="+mn-ea"/>
            </a:endParaRPr>
          </a:p>
          <a:p>
            <a:pPr lvl="1"/>
            <a:r>
              <a:rPr lang="zh-CN" altLang="en-US" dirty="0" smtClean="0">
                <a:latin typeface="+mn-ea"/>
              </a:rPr>
              <a:t>在</a:t>
            </a:r>
            <a:r>
              <a:rPr lang="zh-CN" altLang="en-US" dirty="0">
                <a:latin typeface="+mn-ea"/>
              </a:rPr>
              <a:t>决策树的</a:t>
            </a:r>
            <a:r>
              <a:rPr lang="zh-CN" altLang="en-US" dirty="0" smtClean="0">
                <a:latin typeface="+mn-ea"/>
              </a:rPr>
              <a:t>训练过程中引入随机</a:t>
            </a:r>
            <a:r>
              <a:rPr lang="zh-CN" altLang="en-US" dirty="0">
                <a:latin typeface="+mn-ea"/>
              </a:rPr>
              <a:t>属性</a:t>
            </a:r>
            <a:r>
              <a:rPr lang="zh-CN" altLang="en-US" dirty="0" smtClean="0">
                <a:latin typeface="+mn-ea"/>
              </a:rPr>
              <a:t>选择</a:t>
            </a:r>
            <a:endParaRPr lang="en-US" altLang="zh-CN" dirty="0" smtClean="0">
              <a:latin typeface="+mn-ea"/>
            </a:endParaRPr>
          </a:p>
          <a:p>
            <a:pPr lvl="2"/>
            <a:r>
              <a:rPr lang="zh-CN" altLang="en-US" dirty="0" smtClean="0">
                <a:latin typeface="+mn-ea"/>
              </a:rPr>
              <a:t>先从</a:t>
            </a:r>
            <a:r>
              <a:rPr lang="zh-CN" altLang="en-US" dirty="0">
                <a:latin typeface="+mn-ea"/>
              </a:rPr>
              <a:t>基决策树</a:t>
            </a:r>
            <a:r>
              <a:rPr lang="zh-CN" altLang="en-US" dirty="0" smtClean="0">
                <a:latin typeface="+mn-ea"/>
              </a:rPr>
              <a:t>结点</a:t>
            </a:r>
            <a:r>
              <a:rPr lang="zh-CN" altLang="en-US" dirty="0">
                <a:latin typeface="+mn-ea"/>
              </a:rPr>
              <a:t>的属性集合中随机选择一个包含</a:t>
            </a:r>
            <a:r>
              <a:rPr lang="en-US" altLang="zh-CN" dirty="0">
                <a:latin typeface="+mn-ea"/>
              </a:rPr>
              <a:t>k</a:t>
            </a:r>
            <a:r>
              <a:rPr lang="zh-CN" altLang="en-US" dirty="0">
                <a:latin typeface="+mn-ea"/>
              </a:rPr>
              <a:t>个属性的</a:t>
            </a:r>
            <a:r>
              <a:rPr lang="zh-CN" altLang="en-US" dirty="0" smtClean="0">
                <a:latin typeface="+mn-ea"/>
              </a:rPr>
              <a:t>子集，再从中选择最</a:t>
            </a:r>
            <a:r>
              <a:rPr lang="zh-CN" altLang="en-US" dirty="0">
                <a:latin typeface="+mn-ea"/>
              </a:rPr>
              <a:t>优</a:t>
            </a:r>
            <a:r>
              <a:rPr lang="zh-CN" altLang="en-US" dirty="0" smtClean="0">
                <a:latin typeface="+mn-ea"/>
              </a:rPr>
              <a:t>属性</a:t>
            </a:r>
            <a:endParaRPr lang="en-US" altLang="zh-CN" dirty="0" smtClean="0">
              <a:latin typeface="+mn-ea"/>
            </a:endParaRPr>
          </a:p>
          <a:p>
            <a:pPr lvl="3"/>
            <a:r>
              <a:rPr lang="zh-CN" altLang="en-US" dirty="0" smtClean="0">
                <a:latin typeface="+mn-ea"/>
              </a:rPr>
              <a:t>传统决策树是在当前结点的属性集合</a:t>
            </a:r>
            <a:r>
              <a:rPr lang="en-US" altLang="zh-CN" dirty="0" smtClean="0">
                <a:latin typeface="+mn-ea"/>
              </a:rPr>
              <a:t>(</a:t>
            </a:r>
            <a:r>
              <a:rPr lang="zh-CN" altLang="en-US" dirty="0" smtClean="0">
                <a:latin typeface="+mn-ea"/>
              </a:rPr>
              <a:t>假定有</a:t>
            </a:r>
            <a:r>
              <a:rPr lang="en-US" altLang="zh-CN" dirty="0" smtClean="0">
                <a:latin typeface="+mn-ea"/>
              </a:rPr>
              <a:t>d</a:t>
            </a:r>
            <a:r>
              <a:rPr lang="zh-CN" altLang="en-US" dirty="0" smtClean="0">
                <a:latin typeface="+mn-ea"/>
              </a:rPr>
              <a:t>个属性</a:t>
            </a:r>
            <a:r>
              <a:rPr lang="en-US" altLang="zh-CN" dirty="0" smtClean="0">
                <a:latin typeface="+mn-ea"/>
              </a:rPr>
              <a:t>)</a:t>
            </a:r>
            <a:r>
              <a:rPr lang="zh-CN" altLang="en-US" dirty="0" smtClean="0">
                <a:latin typeface="+mn-ea"/>
              </a:rPr>
              <a:t>中选择最优属性</a:t>
            </a:r>
            <a:endParaRPr lang="en-US" altLang="zh-CN" dirty="0" smtClean="0">
              <a:latin typeface="+mn-ea"/>
            </a:endParaRPr>
          </a:p>
          <a:p>
            <a:pPr lvl="3"/>
            <a:r>
              <a:rPr lang="zh-CN" altLang="en-US" dirty="0" smtClean="0">
                <a:latin typeface="+mn-ea"/>
              </a:rPr>
              <a:t>参数</a:t>
            </a:r>
            <a:r>
              <a:rPr lang="en-US" altLang="zh-CN" dirty="0">
                <a:latin typeface="+mn-ea"/>
              </a:rPr>
              <a:t>k</a:t>
            </a:r>
            <a:r>
              <a:rPr lang="zh-CN" altLang="en-US" dirty="0" smtClean="0">
                <a:latin typeface="+mn-ea"/>
              </a:rPr>
              <a:t>控制随机性</a:t>
            </a:r>
            <a:r>
              <a:rPr lang="zh-CN" altLang="en-US" dirty="0">
                <a:latin typeface="+mn-ea"/>
              </a:rPr>
              <a:t>的引入</a:t>
            </a:r>
            <a:r>
              <a:rPr lang="zh-CN" altLang="en-US" dirty="0" smtClean="0">
                <a:latin typeface="+mn-ea"/>
              </a:rPr>
              <a:t>程度</a:t>
            </a:r>
            <a:endParaRPr lang="en-US" altLang="zh-CN" dirty="0" smtClean="0">
              <a:latin typeface="+mn-ea"/>
            </a:endParaRPr>
          </a:p>
          <a:p>
            <a:pPr lvl="4"/>
            <a:r>
              <a:rPr lang="zh-CN" altLang="en-US" dirty="0" smtClean="0">
                <a:latin typeface="+mn-ea"/>
              </a:rPr>
              <a:t>若</a:t>
            </a:r>
            <a:r>
              <a:rPr lang="zh-CN" altLang="en-US" dirty="0">
                <a:latin typeface="+mn-ea"/>
              </a:rPr>
              <a:t>令</a:t>
            </a:r>
            <a:r>
              <a:rPr lang="en-US" altLang="zh-CN" dirty="0">
                <a:latin typeface="+mn-ea"/>
              </a:rPr>
              <a:t>k=d</a:t>
            </a:r>
            <a:r>
              <a:rPr lang="zh-CN" altLang="en-US" dirty="0">
                <a:latin typeface="+mn-ea"/>
              </a:rPr>
              <a:t>，则基决策树的</a:t>
            </a:r>
            <a:r>
              <a:rPr lang="zh-CN" altLang="en-US" dirty="0" smtClean="0">
                <a:latin typeface="+mn-ea"/>
              </a:rPr>
              <a:t>构建与传统</a:t>
            </a:r>
            <a:r>
              <a:rPr lang="zh-CN" altLang="en-US" dirty="0">
                <a:latin typeface="+mn-ea"/>
              </a:rPr>
              <a:t>决策树相同</a:t>
            </a:r>
            <a:endParaRPr lang="en-US" altLang="zh-CN" dirty="0" smtClean="0">
              <a:latin typeface="+mn-ea"/>
            </a:endParaRPr>
          </a:p>
          <a:p>
            <a:pPr lvl="4"/>
            <a:r>
              <a:rPr lang="zh-CN" altLang="en-US" dirty="0" smtClean="0">
                <a:latin typeface="+mn-ea"/>
              </a:rPr>
              <a:t>若</a:t>
            </a:r>
            <a:r>
              <a:rPr lang="zh-CN" altLang="en-US" dirty="0">
                <a:latin typeface="+mn-ea"/>
              </a:rPr>
              <a:t>令</a:t>
            </a:r>
            <a:r>
              <a:rPr lang="en-US" altLang="zh-CN" dirty="0">
                <a:latin typeface="+mn-ea"/>
              </a:rPr>
              <a:t>k=1</a:t>
            </a:r>
            <a:r>
              <a:rPr lang="zh-CN" altLang="en-US" dirty="0">
                <a:latin typeface="+mn-ea"/>
              </a:rPr>
              <a:t>，则是随机选择一个属性用于</a:t>
            </a:r>
            <a:r>
              <a:rPr lang="zh-CN" altLang="en-US" dirty="0" smtClean="0">
                <a:latin typeface="+mn-ea"/>
              </a:rPr>
              <a:t>划分</a:t>
            </a:r>
            <a:endParaRPr lang="en-US" altLang="zh-CN" dirty="0" smtClean="0">
              <a:latin typeface="+mn-ea"/>
            </a:endParaRPr>
          </a:p>
          <a:p>
            <a:pPr lvl="4"/>
            <a:r>
              <a:rPr lang="zh-CN" altLang="en-US" dirty="0" smtClean="0">
                <a:latin typeface="+mn-ea"/>
              </a:rPr>
              <a:t>推荐值</a:t>
            </a:r>
            <a:endParaRPr lang="en-US" altLang="zh-CN" dirty="0" smtClean="0">
              <a:latin typeface="+mn-ea"/>
            </a:endParaRPr>
          </a:p>
          <a:p>
            <a:pPr lvl="1"/>
            <a:r>
              <a:rPr lang="zh-CN" altLang="en-US" dirty="0" smtClean="0">
                <a:latin typeface="+mn-ea"/>
              </a:rPr>
              <a:t>优势</a:t>
            </a:r>
            <a:endParaRPr lang="en-US" altLang="zh-CN" dirty="0" smtClean="0">
              <a:latin typeface="+mn-ea"/>
            </a:endParaRPr>
          </a:p>
          <a:p>
            <a:pPr lvl="2" hangingPunct="0"/>
            <a:r>
              <a:rPr lang="zh-CN" altLang="en-US" dirty="0">
                <a:latin typeface="+mn-ea"/>
              </a:rPr>
              <a:t>随机森林对</a:t>
            </a:r>
            <a:r>
              <a:rPr lang="en-US" altLang="zh-CN" dirty="0">
                <a:latin typeface="+mn-ea"/>
              </a:rPr>
              <a:t>Bagging</a:t>
            </a:r>
            <a:r>
              <a:rPr lang="zh-CN" altLang="en-US" dirty="0">
                <a:latin typeface="+mn-ea"/>
              </a:rPr>
              <a:t>只做了小</a:t>
            </a:r>
            <a:r>
              <a:rPr lang="zh-CN" altLang="en-US" dirty="0" smtClean="0">
                <a:latin typeface="+mn-ea"/>
              </a:rPr>
              <a:t>改动，简单易实现，计算</a:t>
            </a:r>
            <a:r>
              <a:rPr lang="zh-CN" altLang="en-US" dirty="0">
                <a:latin typeface="+mn-ea"/>
              </a:rPr>
              <a:t>开销小</a:t>
            </a:r>
            <a:r>
              <a:rPr lang="zh-CN" altLang="en-US" dirty="0" smtClean="0">
                <a:latin typeface="+mn-ea"/>
              </a:rPr>
              <a:t>，</a:t>
            </a:r>
            <a:r>
              <a:rPr lang="zh-CN" altLang="en-US" dirty="0">
                <a:latin typeface="+mn-ea"/>
              </a:rPr>
              <a:t>性能</a:t>
            </a:r>
            <a:r>
              <a:rPr lang="zh-CN" altLang="en-US" dirty="0" smtClean="0">
                <a:latin typeface="+mn-ea"/>
              </a:rPr>
              <a:t>强大</a:t>
            </a:r>
            <a:endParaRPr lang="en-US" altLang="zh-CN" dirty="0" smtClean="0">
              <a:latin typeface="+mn-ea"/>
            </a:endParaRPr>
          </a:p>
          <a:p>
            <a:pPr lvl="2"/>
            <a:r>
              <a:rPr lang="zh-CN" altLang="en-US" dirty="0" smtClean="0">
                <a:latin typeface="+mn-ea"/>
              </a:rPr>
              <a:t>基</a:t>
            </a:r>
            <a:r>
              <a:rPr lang="zh-CN" altLang="en-US" dirty="0">
                <a:latin typeface="+mn-ea"/>
              </a:rPr>
              <a:t>学习</a:t>
            </a:r>
            <a:r>
              <a:rPr lang="zh-CN" altLang="en-US" dirty="0" smtClean="0">
                <a:latin typeface="+mn-ea"/>
              </a:rPr>
              <a:t>器多样性来自于样本扰动、属性</a:t>
            </a:r>
            <a:r>
              <a:rPr lang="zh-CN" altLang="en-US" dirty="0">
                <a:latin typeface="+mn-ea"/>
              </a:rPr>
              <a:t>扰动</a:t>
            </a:r>
            <a:r>
              <a:rPr lang="zh-CN" altLang="en-US" dirty="0" smtClean="0">
                <a:latin typeface="+mn-ea"/>
              </a:rPr>
              <a:t>，提升了个体</a:t>
            </a:r>
            <a:r>
              <a:rPr lang="zh-CN" altLang="en-US" dirty="0">
                <a:latin typeface="+mn-ea"/>
              </a:rPr>
              <a:t>学习</a:t>
            </a:r>
            <a:r>
              <a:rPr lang="zh-CN" altLang="en-US" dirty="0" smtClean="0">
                <a:latin typeface="+mn-ea"/>
              </a:rPr>
              <a:t>器的差异，增加了集成泛化性能</a:t>
            </a:r>
            <a:endParaRPr lang="zh-CN" altLang="en-US" dirty="0">
              <a:latin typeface="+mn-ea"/>
            </a:endParaRPr>
          </a:p>
        </p:txBody>
      </p:sp>
      <p:graphicFrame>
        <p:nvGraphicFramePr>
          <p:cNvPr id="6" name="对象 5"/>
          <p:cNvGraphicFramePr>
            <a:graphicFrameLocks noChangeAspect="1"/>
          </p:cNvGraphicFramePr>
          <p:nvPr/>
        </p:nvGraphicFramePr>
        <p:xfrm>
          <a:off x="3661893" y="4509120"/>
          <a:ext cx="919163" cy="358775"/>
        </p:xfrm>
        <a:graphic>
          <a:graphicData uri="http://schemas.openxmlformats.org/presentationml/2006/ole">
            <mc:AlternateContent xmlns:mc="http://schemas.openxmlformats.org/markup-compatibility/2006">
              <mc:Choice xmlns:v="urn:schemas-microsoft-com:vml" Requires="v">
                <p:oleObj spid="_x0000_s6199" name="Equation" r:id="rId1" imgW="14020800" imgH="5486400" progId="Equation.DSMT4">
                  <p:embed/>
                </p:oleObj>
              </mc:Choice>
              <mc:Fallback>
                <p:oleObj name="Equation" r:id="rId1" imgW="14020800" imgH="5486400" progId="Equation.DSMT4">
                  <p:embed/>
                  <p:pic>
                    <p:nvPicPr>
                      <p:cNvPr id="0" name="图片 6198"/>
                      <p:cNvPicPr/>
                      <p:nvPr/>
                    </p:nvPicPr>
                    <p:blipFill>
                      <a:blip r:embed="rId2"/>
                      <a:stretch>
                        <a:fillRect/>
                      </a:stretch>
                    </p:blipFill>
                    <p:spPr>
                      <a:xfrm>
                        <a:off x="3661893" y="4509120"/>
                        <a:ext cx="919163" cy="358775"/>
                      </a:xfrm>
                      <a:prstGeom prst="rect">
                        <a:avLst/>
                      </a:prstGeom>
                    </p:spPr>
                  </p:pic>
                </p:oleObj>
              </mc:Fallback>
            </mc:AlternateContent>
          </a:graphicData>
        </a:graphic>
      </p:graphicFrame>
    </p:spTree>
  </p:cSld>
  <p:clrMapOvr>
    <a:masterClrMapping/>
  </p:clrMapOvr>
  <p:transition>
    <p:cover dir="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8.3 Bagging</a:t>
            </a:r>
            <a:r>
              <a:rPr lang="zh-CN" altLang="en-US" dirty="0"/>
              <a:t>与随机森林</a:t>
            </a:r>
            <a:endParaRPr lang="zh-CN" altLang="en-US" dirty="0"/>
          </a:p>
        </p:txBody>
      </p:sp>
      <p:sp>
        <p:nvSpPr>
          <p:cNvPr id="3" name="内容占位符 2"/>
          <p:cNvSpPr>
            <a:spLocks noGrp="1"/>
          </p:cNvSpPr>
          <p:nvPr>
            <p:ph idx="1"/>
          </p:nvPr>
        </p:nvSpPr>
        <p:spPr/>
        <p:txBody>
          <a:bodyPr/>
          <a:lstStyle/>
          <a:p>
            <a:r>
              <a:rPr lang="en-US" altLang="zh-CN" dirty="0">
                <a:latin typeface="+mn-ea"/>
              </a:rPr>
              <a:t>8.3.2 </a:t>
            </a:r>
            <a:r>
              <a:rPr lang="zh-CN" altLang="en-US" dirty="0">
                <a:latin typeface="+mn-ea"/>
              </a:rPr>
              <a:t>随机森林</a:t>
            </a:r>
            <a:r>
              <a:rPr lang="en-US" altLang="zh-CN" dirty="0">
                <a:latin typeface="+mn-ea"/>
              </a:rPr>
              <a:t>(RF</a:t>
            </a:r>
            <a:r>
              <a:rPr lang="en-US" altLang="zh-CN" dirty="0" smtClean="0">
                <a:latin typeface="+mn-ea"/>
              </a:rPr>
              <a:t>)</a:t>
            </a:r>
            <a:endParaRPr lang="en-US" altLang="zh-CN" dirty="0" smtClean="0">
              <a:latin typeface="+mn-ea"/>
            </a:endParaRPr>
          </a:p>
          <a:p>
            <a:pPr lvl="1"/>
            <a:r>
              <a:rPr lang="zh-CN" altLang="en-US" dirty="0" smtClean="0">
                <a:latin typeface="+mn-ea"/>
              </a:rPr>
              <a:t>优势</a:t>
            </a:r>
            <a:endParaRPr lang="en-US" altLang="zh-CN" dirty="0" smtClean="0">
              <a:latin typeface="+mn-ea"/>
            </a:endParaRPr>
          </a:p>
          <a:p>
            <a:pPr lvl="2"/>
            <a:r>
              <a:rPr lang="zh-CN" altLang="en-US" dirty="0">
                <a:latin typeface="+mn-ea"/>
              </a:rPr>
              <a:t>收敛性</a:t>
            </a:r>
            <a:endParaRPr lang="en-US" altLang="zh-CN" dirty="0" smtClean="0">
              <a:latin typeface="+mn-ea"/>
            </a:endParaRPr>
          </a:p>
          <a:p>
            <a:pPr lvl="3"/>
            <a:r>
              <a:rPr lang="zh-CN" altLang="en-US" dirty="0" smtClean="0">
                <a:latin typeface="+mn-ea"/>
              </a:rPr>
              <a:t>起始性能相对较差</a:t>
            </a:r>
            <a:endParaRPr lang="en-US" altLang="zh-CN" dirty="0" smtClean="0">
              <a:latin typeface="+mn-ea"/>
            </a:endParaRPr>
          </a:p>
          <a:p>
            <a:pPr lvl="4"/>
            <a:r>
              <a:rPr lang="zh-CN" altLang="en-US" dirty="0" smtClean="0">
                <a:latin typeface="+mn-ea"/>
              </a:rPr>
              <a:t>因为引入</a:t>
            </a:r>
            <a:r>
              <a:rPr lang="zh-CN" altLang="en-US" dirty="0">
                <a:latin typeface="+mn-ea"/>
              </a:rPr>
              <a:t>属性扰动</a:t>
            </a:r>
            <a:r>
              <a:rPr lang="zh-CN" altLang="en-US" dirty="0" smtClean="0">
                <a:latin typeface="+mn-ea"/>
              </a:rPr>
              <a:t>，个体</a:t>
            </a:r>
            <a:r>
              <a:rPr lang="zh-CN" altLang="en-US" dirty="0">
                <a:latin typeface="+mn-ea"/>
              </a:rPr>
              <a:t>学习器的</a:t>
            </a:r>
            <a:r>
              <a:rPr lang="zh-CN" altLang="en-US" dirty="0" smtClean="0">
                <a:latin typeface="+mn-ea"/>
              </a:rPr>
              <a:t>性能有</a:t>
            </a:r>
            <a:r>
              <a:rPr lang="zh-CN" altLang="en-US" dirty="0">
                <a:latin typeface="+mn-ea"/>
              </a:rPr>
              <a:t>所</a:t>
            </a:r>
            <a:r>
              <a:rPr lang="zh-CN" altLang="en-US" dirty="0" smtClean="0">
                <a:latin typeface="+mn-ea"/>
              </a:rPr>
              <a:t>降低</a:t>
            </a:r>
            <a:endParaRPr lang="en-US" altLang="zh-CN" dirty="0" smtClean="0">
              <a:latin typeface="+mn-ea"/>
            </a:endParaRPr>
          </a:p>
          <a:p>
            <a:pPr lvl="3"/>
            <a:r>
              <a:rPr lang="zh-CN" altLang="en-US" dirty="0" smtClean="0">
                <a:latin typeface="+mn-ea"/>
              </a:rPr>
              <a:t>通常会</a:t>
            </a:r>
            <a:r>
              <a:rPr lang="zh-CN" altLang="en-US" dirty="0">
                <a:latin typeface="+mn-ea"/>
              </a:rPr>
              <a:t>收敛到更低的泛化</a:t>
            </a:r>
            <a:r>
              <a:rPr lang="zh-CN" altLang="en-US" dirty="0" smtClean="0">
                <a:latin typeface="+mn-ea"/>
              </a:rPr>
              <a:t>误差</a:t>
            </a:r>
            <a:endParaRPr lang="en-US" altLang="zh-CN" dirty="0" smtClean="0">
              <a:latin typeface="+mn-ea"/>
            </a:endParaRPr>
          </a:p>
          <a:p>
            <a:pPr lvl="3"/>
            <a:r>
              <a:rPr lang="zh-CN" altLang="en-US" dirty="0" smtClean="0">
                <a:latin typeface="+mn-ea"/>
              </a:rPr>
              <a:t>训练效率优于</a:t>
            </a:r>
            <a:r>
              <a:rPr lang="en-US" altLang="zh-CN" dirty="0" smtClean="0">
                <a:latin typeface="+mn-ea"/>
              </a:rPr>
              <a:t>Bagging</a:t>
            </a:r>
            <a:endParaRPr lang="en-US" altLang="zh-CN" dirty="0" smtClean="0">
              <a:latin typeface="+mn-ea"/>
            </a:endParaRPr>
          </a:p>
          <a:p>
            <a:pPr lvl="4"/>
            <a:r>
              <a:rPr lang="en-US" altLang="zh-CN" dirty="0" smtClean="0">
                <a:latin typeface="+mn-ea"/>
              </a:rPr>
              <a:t>Bagging</a:t>
            </a:r>
            <a:r>
              <a:rPr lang="zh-CN" altLang="en-US" dirty="0" smtClean="0">
                <a:latin typeface="+mn-ea"/>
              </a:rPr>
              <a:t>在</a:t>
            </a:r>
            <a:r>
              <a:rPr lang="zh-CN" altLang="en-US" dirty="0">
                <a:latin typeface="+mn-ea"/>
              </a:rPr>
              <a:t>选择划分属性时</a:t>
            </a:r>
            <a:r>
              <a:rPr lang="zh-CN" altLang="en-US" dirty="0" smtClean="0">
                <a:latin typeface="+mn-ea"/>
              </a:rPr>
              <a:t>要考虑结点</a:t>
            </a:r>
            <a:r>
              <a:rPr lang="zh-CN" altLang="en-US" dirty="0">
                <a:latin typeface="+mn-ea"/>
              </a:rPr>
              <a:t>的所有</a:t>
            </a:r>
            <a:r>
              <a:rPr lang="zh-CN" altLang="en-US" dirty="0" smtClean="0">
                <a:latin typeface="+mn-ea"/>
              </a:rPr>
              <a:t>属性</a:t>
            </a:r>
            <a:endParaRPr lang="en-US" altLang="zh-CN" dirty="0" smtClean="0">
              <a:latin typeface="+mn-ea"/>
            </a:endParaRPr>
          </a:p>
          <a:p>
            <a:pPr lvl="4"/>
            <a:r>
              <a:rPr lang="zh-CN" altLang="en-US" dirty="0" smtClean="0">
                <a:latin typeface="+mn-ea"/>
              </a:rPr>
              <a:t>随机森林只考察</a:t>
            </a:r>
            <a:r>
              <a:rPr lang="zh-CN" altLang="en-US" dirty="0">
                <a:latin typeface="+mn-ea"/>
              </a:rPr>
              <a:t>一个属性子集</a:t>
            </a:r>
            <a:endParaRPr lang="en-US" altLang="zh-CN" dirty="0" smtClean="0">
              <a:latin typeface="+mn-ea"/>
            </a:endParaRPr>
          </a:p>
          <a:p>
            <a:pPr lvl="5"/>
            <a:endParaRPr lang="en-US" altLang="zh-CN" dirty="0" smtClean="0">
              <a:latin typeface="+mn-ea"/>
            </a:endParaRPr>
          </a:p>
          <a:p>
            <a:endParaRPr lang="en-US" altLang="zh-CN" dirty="0">
              <a:latin typeface="+mn-ea"/>
            </a:endParaRPr>
          </a:p>
          <a:p>
            <a:endParaRPr lang="zh-CN" altLang="en-US" dirty="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pic>
        <p:nvPicPr>
          <p:cNvPr id="5" name="图片 4"/>
          <p:cNvPicPr>
            <a:picLocks noChangeAspect="1"/>
          </p:cNvPicPr>
          <p:nvPr/>
        </p:nvPicPr>
        <p:blipFill rotWithShape="1">
          <a:blip r:embed="rId1"/>
          <a:srcRect b="14540"/>
          <a:stretch>
            <a:fillRect/>
          </a:stretch>
        </p:blipFill>
        <p:spPr>
          <a:xfrm>
            <a:off x="1264182" y="4005064"/>
            <a:ext cx="6895261" cy="2808000"/>
          </a:xfrm>
          <a:prstGeom prst="rect">
            <a:avLst/>
          </a:prstGeom>
        </p:spPr>
      </p:pic>
    </p:spTree>
  </p:cSld>
  <p:clrMapOvr>
    <a:masterClrMapping/>
  </p:clrMapOvr>
  <p:transition>
    <p:cover dir="u"/>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rotWithShape="1">
          <a:blip r:embed="rId1"/>
          <a:srcRect b="19174"/>
          <a:stretch>
            <a:fillRect/>
          </a:stretch>
        </p:blipFill>
        <p:spPr>
          <a:xfrm>
            <a:off x="1043608" y="4005064"/>
            <a:ext cx="7201177" cy="2844000"/>
          </a:xfrm>
          <a:prstGeom prst="rect">
            <a:avLst/>
          </a:prstGeom>
        </p:spPr>
      </p:pic>
      <p:sp>
        <p:nvSpPr>
          <p:cNvPr id="2" name="标题 1"/>
          <p:cNvSpPr>
            <a:spLocks noGrp="1"/>
          </p:cNvSpPr>
          <p:nvPr>
            <p:ph type="title"/>
          </p:nvPr>
        </p:nvSpPr>
        <p:spPr/>
        <p:txBody>
          <a:bodyPr/>
          <a:lstStyle/>
          <a:p>
            <a:r>
              <a:rPr lang="en-US" altLang="zh-CN" dirty="0" smtClean="0"/>
              <a:t>8.4 </a:t>
            </a:r>
            <a:r>
              <a:rPr lang="zh-CN" altLang="en-US" dirty="0" smtClean="0"/>
              <a:t>学习器结合</a:t>
            </a:r>
            <a:r>
              <a:rPr lang="zh-CN" altLang="en-US" dirty="0"/>
              <a:t>策略</a:t>
            </a:r>
            <a:endParaRPr lang="zh-CN" altLang="en-US" dirty="0"/>
          </a:p>
        </p:txBody>
      </p:sp>
      <p:sp>
        <p:nvSpPr>
          <p:cNvPr id="3" name="内容占位符 2"/>
          <p:cNvSpPr>
            <a:spLocks noGrp="1"/>
          </p:cNvSpPr>
          <p:nvPr>
            <p:ph idx="1"/>
          </p:nvPr>
        </p:nvSpPr>
        <p:spPr/>
        <p:txBody>
          <a:bodyPr/>
          <a:lstStyle/>
          <a:p>
            <a:r>
              <a:rPr lang="zh-CN" altLang="en-US" dirty="0" smtClean="0"/>
              <a:t>结合的优势</a:t>
            </a:r>
            <a:endParaRPr lang="en-US" altLang="zh-CN" dirty="0" smtClean="0"/>
          </a:p>
          <a:p>
            <a:pPr lvl="1"/>
            <a:r>
              <a:rPr lang="zh-CN" altLang="en-US" dirty="0" smtClean="0"/>
              <a:t>三个方面</a:t>
            </a:r>
            <a:endParaRPr lang="en-US" altLang="zh-CN" dirty="0" smtClean="0"/>
          </a:p>
          <a:p>
            <a:pPr lvl="2"/>
            <a:r>
              <a:rPr lang="zh-CN" altLang="en-US" dirty="0" smtClean="0"/>
              <a:t>从统计看，学习任务假设空间很大，单</a:t>
            </a:r>
            <a:r>
              <a:rPr lang="zh-CN" altLang="en-US" dirty="0"/>
              <a:t>学习器</a:t>
            </a:r>
            <a:r>
              <a:rPr lang="zh-CN" altLang="en-US" dirty="0" smtClean="0"/>
              <a:t>可能误选而泛化</a:t>
            </a:r>
            <a:r>
              <a:rPr lang="zh-CN" altLang="en-US" dirty="0"/>
              <a:t>性能不佳</a:t>
            </a:r>
            <a:r>
              <a:rPr lang="zh-CN" altLang="en-US" dirty="0" smtClean="0"/>
              <a:t>，多学习器能减小这风险</a:t>
            </a:r>
            <a:endParaRPr lang="en-US" altLang="zh-CN" dirty="0" smtClean="0"/>
          </a:p>
          <a:p>
            <a:pPr lvl="2"/>
            <a:r>
              <a:rPr lang="zh-CN" altLang="en-US" dirty="0" smtClean="0"/>
              <a:t>从计算看</a:t>
            </a:r>
            <a:r>
              <a:rPr lang="zh-CN" altLang="en-US" dirty="0"/>
              <a:t>，学习</a:t>
            </a:r>
            <a:r>
              <a:rPr lang="zh-CN" altLang="en-US" dirty="0" smtClean="0"/>
              <a:t>算法会</a:t>
            </a:r>
            <a:r>
              <a:rPr lang="zh-CN" altLang="en-US" dirty="0"/>
              <a:t>陷入局部极小</a:t>
            </a:r>
            <a:r>
              <a:rPr lang="zh-CN" altLang="en-US" dirty="0" smtClean="0"/>
              <a:t>，而</a:t>
            </a:r>
            <a:r>
              <a:rPr lang="zh-CN" altLang="en-US" dirty="0"/>
              <a:t>通过多次</a:t>
            </a:r>
            <a:r>
              <a:rPr lang="zh-CN" altLang="en-US" dirty="0" smtClean="0"/>
              <a:t>运行后</a:t>
            </a:r>
            <a:r>
              <a:rPr lang="zh-CN" altLang="en-US" dirty="0"/>
              <a:t>进行结合，可降低</a:t>
            </a:r>
            <a:r>
              <a:rPr lang="zh-CN" altLang="en-US" dirty="0" smtClean="0"/>
              <a:t>陷入局部</a:t>
            </a:r>
            <a:r>
              <a:rPr lang="zh-CN" altLang="en-US" dirty="0"/>
              <a:t>极</a:t>
            </a:r>
            <a:r>
              <a:rPr lang="zh-CN" altLang="en-US" dirty="0" smtClean="0"/>
              <a:t>小风险</a:t>
            </a:r>
            <a:endParaRPr lang="en-US" altLang="zh-CN" dirty="0" smtClean="0"/>
          </a:p>
          <a:p>
            <a:pPr lvl="2"/>
            <a:r>
              <a:rPr lang="zh-CN" altLang="en-US" dirty="0" smtClean="0"/>
              <a:t>从表示看，学习</a:t>
            </a:r>
            <a:r>
              <a:rPr lang="zh-CN" altLang="en-US" dirty="0"/>
              <a:t>任务的真实假设可能不在</a:t>
            </a:r>
            <a:r>
              <a:rPr lang="zh-CN" altLang="en-US" dirty="0" smtClean="0"/>
              <a:t>当前假设空间，结合</a:t>
            </a:r>
            <a:r>
              <a:rPr lang="zh-CN" altLang="en-US" dirty="0"/>
              <a:t>多个学习器</a:t>
            </a:r>
            <a:r>
              <a:rPr lang="zh-CN" altLang="en-US" dirty="0" smtClean="0"/>
              <a:t>，相应假设空间会扩大</a:t>
            </a:r>
            <a:endParaRPr lang="zh-CN" altLang="en-US" dirty="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spTree>
  </p:cSld>
  <p:clrMapOvr>
    <a:masterClrMapping/>
  </p:clrMapOvr>
  <p:transition>
    <p:cover dir="u"/>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8.4 </a:t>
            </a:r>
            <a:r>
              <a:rPr lang="zh-CN" altLang="en-US" dirty="0"/>
              <a:t>学习器结合策略</a:t>
            </a:r>
            <a:endParaRPr lang="zh-CN" altLang="en-US" dirty="0"/>
          </a:p>
        </p:txBody>
      </p:sp>
      <p:sp>
        <p:nvSpPr>
          <p:cNvPr id="3" name="内容占位符 2"/>
          <p:cNvSpPr>
            <a:spLocks noGrp="1"/>
          </p:cNvSpPr>
          <p:nvPr>
            <p:ph idx="1"/>
          </p:nvPr>
        </p:nvSpPr>
        <p:spPr/>
        <p:txBody>
          <a:bodyPr/>
          <a:lstStyle/>
          <a:p>
            <a:r>
              <a:rPr lang="zh-CN" altLang="en-US" dirty="0"/>
              <a:t>常用结合</a:t>
            </a:r>
            <a:r>
              <a:rPr lang="zh-CN" altLang="en-US" dirty="0" smtClean="0"/>
              <a:t>方法</a:t>
            </a:r>
            <a:endParaRPr lang="en-US" altLang="zh-CN" dirty="0" smtClean="0"/>
          </a:p>
          <a:p>
            <a:pPr lvl="1"/>
            <a:r>
              <a:rPr lang="zh-CN" altLang="en-US" dirty="0"/>
              <a:t>平均法</a:t>
            </a:r>
            <a:endParaRPr lang="zh-CN" altLang="en-US" dirty="0"/>
          </a:p>
          <a:p>
            <a:pPr lvl="2"/>
            <a:r>
              <a:rPr lang="zh-CN" altLang="en-US" dirty="0"/>
              <a:t>简单平均法</a:t>
            </a:r>
            <a:endParaRPr lang="zh-CN" altLang="en-US" dirty="0"/>
          </a:p>
          <a:p>
            <a:pPr lvl="2"/>
            <a:r>
              <a:rPr lang="zh-CN" altLang="en-US" dirty="0" smtClean="0"/>
              <a:t>加权平均法</a:t>
            </a:r>
            <a:endParaRPr lang="zh-CN" altLang="en-US" dirty="0" smtClean="0"/>
          </a:p>
          <a:p>
            <a:pPr lvl="1"/>
            <a:r>
              <a:rPr lang="zh-CN" altLang="en-US" dirty="0"/>
              <a:t>投票法</a:t>
            </a:r>
            <a:endParaRPr lang="zh-CN" altLang="en-US" dirty="0"/>
          </a:p>
          <a:p>
            <a:pPr lvl="2"/>
            <a:r>
              <a:rPr lang="zh-CN" altLang="en-US" dirty="0"/>
              <a:t>绝对多数投票法</a:t>
            </a:r>
            <a:endParaRPr lang="zh-CN" altLang="en-US" dirty="0"/>
          </a:p>
          <a:p>
            <a:pPr lvl="2"/>
            <a:r>
              <a:rPr lang="zh-CN" altLang="en-US" dirty="0"/>
              <a:t>相对多数投票</a:t>
            </a:r>
            <a:r>
              <a:rPr lang="zh-CN" altLang="en-US" dirty="0" smtClean="0"/>
              <a:t>法</a:t>
            </a:r>
            <a:endParaRPr lang="en-US" altLang="zh-CN" dirty="0" smtClean="0"/>
          </a:p>
          <a:p>
            <a:pPr lvl="2"/>
            <a:r>
              <a:rPr lang="zh-CN" altLang="en-US" dirty="0"/>
              <a:t>加权投票法</a:t>
            </a:r>
            <a:endParaRPr lang="zh-CN" altLang="en-US" dirty="0"/>
          </a:p>
          <a:p>
            <a:pPr lvl="1"/>
            <a:r>
              <a:rPr lang="zh-CN" altLang="en-US" dirty="0"/>
              <a:t>学习法</a:t>
            </a:r>
            <a:endParaRPr lang="zh-CN" altLang="en-US" dirty="0"/>
          </a:p>
          <a:p>
            <a:pPr lvl="1"/>
            <a:endParaRPr lang="zh-CN" altLang="en-US" dirty="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spTree>
  </p:cSld>
  <p:clrMapOvr>
    <a:masterClrMapping/>
  </p:clrMapOvr>
  <p:transition>
    <p:cover dir="u"/>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8.4 </a:t>
            </a:r>
            <a:r>
              <a:rPr lang="zh-CN" altLang="en-US" dirty="0"/>
              <a:t>学习器结合策略</a:t>
            </a:r>
            <a:endParaRPr lang="zh-CN" altLang="en-US" dirty="0"/>
          </a:p>
        </p:txBody>
      </p:sp>
      <p:sp>
        <p:nvSpPr>
          <p:cNvPr id="3" name="内容占位符 2"/>
          <p:cNvSpPr>
            <a:spLocks noGrp="1"/>
          </p:cNvSpPr>
          <p:nvPr>
            <p:ph idx="1"/>
          </p:nvPr>
        </p:nvSpPr>
        <p:spPr/>
        <p:txBody>
          <a:bodyPr/>
          <a:lstStyle/>
          <a:p>
            <a:r>
              <a:rPr lang="en-US" altLang="zh-CN" dirty="0" smtClean="0">
                <a:latin typeface="+mn-ea"/>
              </a:rPr>
              <a:t>8.4.1 </a:t>
            </a:r>
            <a:r>
              <a:rPr lang="zh-CN" altLang="en-US" dirty="0" smtClean="0">
                <a:latin typeface="+mn-ea"/>
              </a:rPr>
              <a:t>平均法</a:t>
            </a:r>
            <a:endParaRPr lang="en-US" altLang="zh-CN" dirty="0" smtClean="0">
              <a:latin typeface="+mn-ea"/>
            </a:endParaRPr>
          </a:p>
          <a:p>
            <a:pPr lvl="1"/>
            <a:r>
              <a:rPr lang="zh-CN" altLang="en-US" dirty="0">
                <a:latin typeface="+mn-ea"/>
              </a:rPr>
              <a:t>简单</a:t>
            </a:r>
            <a:r>
              <a:rPr lang="zh-CN" altLang="en-US" dirty="0" smtClean="0">
                <a:latin typeface="+mn-ea"/>
              </a:rPr>
              <a:t>平均法</a:t>
            </a:r>
            <a:endParaRPr lang="en-US" altLang="zh-CN" dirty="0" smtClean="0">
              <a:latin typeface="+mn-ea"/>
            </a:endParaRPr>
          </a:p>
          <a:p>
            <a:pPr lvl="1"/>
            <a:endParaRPr lang="en-US" altLang="zh-CN" dirty="0">
              <a:latin typeface="+mn-ea"/>
            </a:endParaRPr>
          </a:p>
          <a:p>
            <a:pPr lvl="1"/>
            <a:r>
              <a:rPr lang="zh-CN" altLang="en-US" dirty="0">
                <a:latin typeface="+mn-ea"/>
              </a:rPr>
              <a:t>加权平均</a:t>
            </a:r>
            <a:r>
              <a:rPr lang="zh-CN" altLang="en-US" dirty="0" smtClean="0">
                <a:latin typeface="+mn-ea"/>
              </a:rPr>
              <a:t>法</a:t>
            </a:r>
            <a:endParaRPr lang="en-US" altLang="zh-CN" dirty="0" smtClean="0">
              <a:latin typeface="+mn-ea"/>
            </a:endParaRPr>
          </a:p>
          <a:p>
            <a:pPr lvl="1"/>
            <a:endParaRPr lang="en-US" altLang="zh-CN" dirty="0">
              <a:latin typeface="+mn-ea"/>
            </a:endParaRPr>
          </a:p>
          <a:p>
            <a:pPr lvl="2">
              <a:spcBef>
                <a:spcPts val="1200"/>
              </a:spcBef>
            </a:pPr>
            <a:r>
              <a:rPr lang="zh-CN" altLang="en-US" dirty="0" smtClean="0">
                <a:latin typeface="+mn-ea"/>
              </a:rPr>
              <a:t>其中</a:t>
            </a:r>
            <a:endParaRPr lang="en-US" altLang="zh-CN" dirty="0" smtClean="0">
              <a:latin typeface="+mn-ea"/>
            </a:endParaRPr>
          </a:p>
          <a:p>
            <a:pPr lvl="2"/>
            <a:r>
              <a:rPr lang="zh-CN" altLang="en-US" dirty="0" smtClean="0">
                <a:latin typeface="+mn-ea"/>
              </a:rPr>
              <a:t>权重是</a:t>
            </a:r>
            <a:r>
              <a:rPr lang="zh-CN" altLang="en-US" dirty="0">
                <a:latin typeface="+mn-ea"/>
              </a:rPr>
              <a:t>从训练数据中</a:t>
            </a:r>
            <a:r>
              <a:rPr lang="zh-CN" altLang="en-US" dirty="0" smtClean="0">
                <a:latin typeface="+mn-ea"/>
              </a:rPr>
              <a:t>学习的</a:t>
            </a:r>
            <a:endParaRPr lang="en-US" altLang="zh-CN" dirty="0" smtClean="0">
              <a:latin typeface="+mn-ea"/>
            </a:endParaRPr>
          </a:p>
          <a:p>
            <a:pPr lvl="3"/>
            <a:r>
              <a:rPr lang="zh-CN" altLang="en-US" dirty="0" smtClean="0">
                <a:latin typeface="+mn-ea"/>
              </a:rPr>
              <a:t>现实中的</a:t>
            </a:r>
            <a:r>
              <a:rPr lang="zh-CN" altLang="en-US" dirty="0">
                <a:latin typeface="+mn-ea"/>
              </a:rPr>
              <a:t>训练样本通常不充分或存在噪声</a:t>
            </a:r>
            <a:r>
              <a:rPr lang="zh-CN" altLang="en-US" dirty="0" smtClean="0">
                <a:latin typeface="+mn-ea"/>
              </a:rPr>
              <a:t>，使得</a:t>
            </a:r>
            <a:r>
              <a:rPr lang="zh-CN" altLang="en-US" dirty="0">
                <a:latin typeface="+mn-ea"/>
              </a:rPr>
              <a:t>学出的权重不完全</a:t>
            </a:r>
            <a:r>
              <a:rPr lang="zh-CN" altLang="en-US" dirty="0" smtClean="0">
                <a:latin typeface="+mn-ea"/>
              </a:rPr>
              <a:t>可靠</a:t>
            </a:r>
            <a:endParaRPr lang="en-US" altLang="zh-CN" dirty="0" smtClean="0">
              <a:latin typeface="+mn-ea"/>
            </a:endParaRPr>
          </a:p>
          <a:p>
            <a:pPr lvl="3"/>
            <a:r>
              <a:rPr lang="zh-CN" altLang="en-US" dirty="0" smtClean="0">
                <a:latin typeface="+mn-ea"/>
              </a:rPr>
              <a:t>尤其</a:t>
            </a:r>
            <a:r>
              <a:rPr lang="zh-CN" altLang="en-US" dirty="0">
                <a:latin typeface="+mn-ea"/>
              </a:rPr>
              <a:t>是对规模比较大的</a:t>
            </a:r>
            <a:r>
              <a:rPr lang="zh-CN" altLang="en-US" dirty="0" smtClean="0">
                <a:latin typeface="+mn-ea"/>
              </a:rPr>
              <a:t>集成，学习</a:t>
            </a:r>
            <a:r>
              <a:rPr lang="zh-CN" altLang="en-US" dirty="0">
                <a:latin typeface="+mn-ea"/>
              </a:rPr>
              <a:t>的</a:t>
            </a:r>
            <a:r>
              <a:rPr lang="zh-CN" altLang="en-US" dirty="0" smtClean="0">
                <a:latin typeface="+mn-ea"/>
              </a:rPr>
              <a:t>权重较多，容易</a:t>
            </a:r>
            <a:r>
              <a:rPr lang="zh-CN" altLang="en-US" dirty="0">
                <a:latin typeface="+mn-ea"/>
              </a:rPr>
              <a:t>导致过</a:t>
            </a:r>
            <a:r>
              <a:rPr lang="zh-CN" altLang="en-US" dirty="0" smtClean="0">
                <a:latin typeface="+mn-ea"/>
              </a:rPr>
              <a:t>拟合</a:t>
            </a:r>
            <a:endParaRPr lang="en-US" altLang="zh-CN" dirty="0" smtClean="0">
              <a:latin typeface="+mn-ea"/>
            </a:endParaRPr>
          </a:p>
          <a:p>
            <a:pPr lvl="2"/>
            <a:r>
              <a:rPr lang="zh-CN" altLang="en-US" dirty="0" smtClean="0">
                <a:latin typeface="+mn-ea"/>
              </a:rPr>
              <a:t>实验应用表明加权平均法不一定</a:t>
            </a:r>
            <a:r>
              <a:rPr lang="zh-CN" altLang="en-US" dirty="0">
                <a:latin typeface="+mn-ea"/>
              </a:rPr>
              <a:t>优于简单</a:t>
            </a:r>
            <a:r>
              <a:rPr lang="zh-CN" altLang="en-US" dirty="0" smtClean="0">
                <a:latin typeface="+mn-ea"/>
              </a:rPr>
              <a:t>平均法</a:t>
            </a:r>
            <a:endParaRPr lang="en-US" altLang="zh-CN" dirty="0" smtClean="0">
              <a:latin typeface="+mn-ea"/>
            </a:endParaRPr>
          </a:p>
          <a:p>
            <a:pPr lvl="3"/>
            <a:r>
              <a:rPr lang="zh-CN" altLang="en-US" dirty="0" smtClean="0">
                <a:latin typeface="+mn-ea"/>
              </a:rPr>
              <a:t>个体</a:t>
            </a:r>
            <a:r>
              <a:rPr lang="zh-CN" altLang="en-US" dirty="0">
                <a:latin typeface="+mn-ea"/>
              </a:rPr>
              <a:t>学习器性能相差较大时宜使用加权平均法</a:t>
            </a:r>
            <a:r>
              <a:rPr lang="zh-CN" altLang="en-US" dirty="0" smtClean="0">
                <a:latin typeface="+mn-ea"/>
              </a:rPr>
              <a:t>，个体</a:t>
            </a:r>
            <a:r>
              <a:rPr lang="zh-CN" altLang="en-US" dirty="0">
                <a:latin typeface="+mn-ea"/>
              </a:rPr>
              <a:t>学习器性能相近时宜使用简单平均法</a:t>
            </a:r>
            <a:endParaRPr lang="zh-CN" altLang="en-US" dirty="0">
              <a:latin typeface="+mn-ea"/>
            </a:endParaRPr>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graphicFrame>
        <p:nvGraphicFramePr>
          <p:cNvPr id="5" name="对象 4"/>
          <p:cNvGraphicFramePr>
            <a:graphicFrameLocks noChangeAspect="1"/>
          </p:cNvGraphicFramePr>
          <p:nvPr/>
        </p:nvGraphicFramePr>
        <p:xfrm>
          <a:off x="3403102" y="1700808"/>
          <a:ext cx="2321026" cy="665113"/>
        </p:xfrm>
        <a:graphic>
          <a:graphicData uri="http://schemas.openxmlformats.org/presentationml/2006/ole">
            <mc:AlternateContent xmlns:mc="http://schemas.openxmlformats.org/markup-compatibility/2006">
              <mc:Choice xmlns:v="urn:schemas-microsoft-com:vml" Requires="v">
                <p:oleObj spid="_x0000_s7322" name="Equation" r:id="rId1" imgW="28651200" imgH="8229600" progId="Equation.DSMT4">
                  <p:embed/>
                </p:oleObj>
              </mc:Choice>
              <mc:Fallback>
                <p:oleObj name="Equation" r:id="rId1" imgW="28651200" imgH="8229600" progId="Equation.DSMT4">
                  <p:embed/>
                  <p:pic>
                    <p:nvPicPr>
                      <p:cNvPr id="0" name="图片 7321"/>
                      <p:cNvPicPr/>
                      <p:nvPr/>
                    </p:nvPicPr>
                    <p:blipFill>
                      <a:blip r:embed="rId2"/>
                      <a:stretch>
                        <a:fillRect/>
                      </a:stretch>
                    </p:blipFill>
                    <p:spPr>
                      <a:xfrm>
                        <a:off x="3403102" y="1700808"/>
                        <a:ext cx="2321026" cy="665113"/>
                      </a:xfrm>
                      <a:prstGeom prst="rect">
                        <a:avLst/>
                      </a:prstGeom>
                    </p:spPr>
                  </p:pic>
                </p:oleObj>
              </mc:Fallback>
            </mc:AlternateContent>
          </a:graphicData>
        </a:graphic>
      </p:graphicFrame>
      <p:graphicFrame>
        <p:nvGraphicFramePr>
          <p:cNvPr id="7" name="对象 6"/>
          <p:cNvGraphicFramePr>
            <a:graphicFrameLocks noChangeAspect="1"/>
          </p:cNvGraphicFramePr>
          <p:nvPr/>
        </p:nvGraphicFramePr>
        <p:xfrm>
          <a:off x="3419872" y="2564904"/>
          <a:ext cx="2344737" cy="566737"/>
        </p:xfrm>
        <a:graphic>
          <a:graphicData uri="http://schemas.openxmlformats.org/presentationml/2006/ole">
            <mc:AlternateContent xmlns:mc="http://schemas.openxmlformats.org/markup-compatibility/2006">
              <mc:Choice xmlns:v="urn:schemas-microsoft-com:vml" Requires="v">
                <p:oleObj spid="_x0000_s7323" name="Equation" r:id="rId3" imgW="28956000" imgH="7010400" progId="Equation.DSMT4">
                  <p:embed/>
                </p:oleObj>
              </mc:Choice>
              <mc:Fallback>
                <p:oleObj name="Equation" r:id="rId3" imgW="28956000" imgH="7010400" progId="Equation.DSMT4">
                  <p:embed/>
                  <p:pic>
                    <p:nvPicPr>
                      <p:cNvPr id="0" name="图片 7322"/>
                      <p:cNvPicPr/>
                      <p:nvPr/>
                    </p:nvPicPr>
                    <p:blipFill>
                      <a:blip r:embed="rId4"/>
                      <a:stretch>
                        <a:fillRect/>
                      </a:stretch>
                    </p:blipFill>
                    <p:spPr>
                      <a:xfrm>
                        <a:off x="3419872" y="2564904"/>
                        <a:ext cx="2344737" cy="566737"/>
                      </a:xfrm>
                      <a:prstGeom prst="rect">
                        <a:avLst/>
                      </a:prstGeom>
                    </p:spPr>
                  </p:pic>
                </p:oleObj>
              </mc:Fallback>
            </mc:AlternateContent>
          </a:graphicData>
        </a:graphic>
      </p:graphicFrame>
      <p:graphicFrame>
        <p:nvGraphicFramePr>
          <p:cNvPr id="9" name="对象 8"/>
          <p:cNvGraphicFramePr>
            <a:graphicFrameLocks noChangeAspect="1"/>
          </p:cNvGraphicFramePr>
          <p:nvPr/>
        </p:nvGraphicFramePr>
        <p:xfrm>
          <a:off x="2555776" y="3140968"/>
          <a:ext cx="2024063" cy="566738"/>
        </p:xfrm>
        <a:graphic>
          <a:graphicData uri="http://schemas.openxmlformats.org/presentationml/2006/ole">
            <mc:AlternateContent xmlns:mc="http://schemas.openxmlformats.org/markup-compatibility/2006">
              <mc:Choice xmlns:v="urn:schemas-microsoft-com:vml" Requires="v">
                <p:oleObj spid="_x0000_s7324" name="Equation" r:id="rId5" imgW="24993600" imgH="7010400" progId="Equation.DSMT4">
                  <p:embed/>
                </p:oleObj>
              </mc:Choice>
              <mc:Fallback>
                <p:oleObj name="Equation" r:id="rId5" imgW="24993600" imgH="7010400" progId="Equation.DSMT4">
                  <p:embed/>
                  <p:pic>
                    <p:nvPicPr>
                      <p:cNvPr id="0" name="图片 7323"/>
                      <p:cNvPicPr/>
                      <p:nvPr/>
                    </p:nvPicPr>
                    <p:blipFill>
                      <a:blip r:embed="rId6"/>
                      <a:stretch>
                        <a:fillRect/>
                      </a:stretch>
                    </p:blipFill>
                    <p:spPr>
                      <a:xfrm>
                        <a:off x="2555776" y="3140968"/>
                        <a:ext cx="2024063" cy="566738"/>
                      </a:xfrm>
                      <a:prstGeom prst="rect">
                        <a:avLst/>
                      </a:prstGeom>
                    </p:spPr>
                  </p:pic>
                </p:oleObj>
              </mc:Fallback>
            </mc:AlternateContent>
          </a:graphicData>
        </a:graphic>
      </p:graphicFrame>
    </p:spTree>
  </p:cSld>
  <p:clrMapOvr>
    <a:masterClrMapping/>
  </p:clrMapOvr>
  <p:transition>
    <p:cover dir="u"/>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8.4 </a:t>
            </a:r>
            <a:r>
              <a:rPr lang="zh-CN" altLang="en-US" dirty="0"/>
              <a:t>学习器结合策略</a:t>
            </a:r>
            <a:endParaRPr lang="zh-CN" altLang="en-US" dirty="0"/>
          </a:p>
        </p:txBody>
      </p:sp>
      <p:sp>
        <p:nvSpPr>
          <p:cNvPr id="3" name="内容占位符 2"/>
          <p:cNvSpPr>
            <a:spLocks noGrp="1"/>
          </p:cNvSpPr>
          <p:nvPr>
            <p:ph idx="1"/>
          </p:nvPr>
        </p:nvSpPr>
        <p:spPr/>
        <p:txBody>
          <a:bodyPr/>
          <a:lstStyle/>
          <a:p>
            <a:r>
              <a:rPr lang="en-US" altLang="zh-CN" dirty="0" smtClean="0">
                <a:latin typeface="+mn-ea"/>
              </a:rPr>
              <a:t>8.4.2 </a:t>
            </a:r>
            <a:r>
              <a:rPr lang="zh-CN" altLang="en-US" dirty="0" smtClean="0">
                <a:latin typeface="+mn-ea"/>
              </a:rPr>
              <a:t>投票法</a:t>
            </a:r>
            <a:endParaRPr lang="en-US" altLang="zh-CN" dirty="0" smtClean="0">
              <a:latin typeface="+mn-ea"/>
            </a:endParaRPr>
          </a:p>
          <a:p>
            <a:pPr lvl="1"/>
            <a:r>
              <a:rPr lang="zh-CN" altLang="en-US" dirty="0">
                <a:latin typeface="+mn-ea"/>
              </a:rPr>
              <a:t>绝对多数投票</a:t>
            </a:r>
            <a:r>
              <a:rPr lang="zh-CN" altLang="en-US" dirty="0" smtClean="0">
                <a:latin typeface="+mn-ea"/>
              </a:rPr>
              <a:t>法</a:t>
            </a:r>
            <a:endParaRPr lang="en-US" altLang="zh-CN" dirty="0" smtClean="0">
              <a:latin typeface="+mn-ea"/>
            </a:endParaRPr>
          </a:p>
          <a:p>
            <a:pPr lvl="2"/>
            <a:r>
              <a:rPr lang="zh-CN" altLang="en-US" dirty="0" smtClean="0">
                <a:latin typeface="+mn-ea"/>
              </a:rPr>
              <a:t>某</a:t>
            </a:r>
            <a:r>
              <a:rPr lang="zh-CN" altLang="en-US" dirty="0">
                <a:latin typeface="+mn-ea"/>
              </a:rPr>
              <a:t>标记得票过半数，则预测为该</a:t>
            </a:r>
            <a:r>
              <a:rPr lang="zh-CN" altLang="en-US" dirty="0" smtClean="0">
                <a:latin typeface="+mn-ea"/>
              </a:rPr>
              <a:t>标记，否则拒绝</a:t>
            </a:r>
            <a:endParaRPr lang="en-US" altLang="zh-CN" dirty="0" smtClean="0">
              <a:latin typeface="+mn-ea"/>
            </a:endParaRPr>
          </a:p>
          <a:p>
            <a:pPr lvl="2"/>
            <a:endParaRPr lang="en-US" altLang="zh-CN" dirty="0">
              <a:latin typeface="+mn-ea"/>
            </a:endParaRPr>
          </a:p>
          <a:p>
            <a:pPr lvl="2"/>
            <a:endParaRPr lang="en-US" altLang="zh-CN" dirty="0" smtClean="0">
              <a:latin typeface="+mn-ea"/>
            </a:endParaRPr>
          </a:p>
          <a:p>
            <a:pPr lvl="2"/>
            <a:endParaRPr lang="en-US" altLang="zh-CN" dirty="0">
              <a:latin typeface="+mn-ea"/>
            </a:endParaRPr>
          </a:p>
          <a:p>
            <a:pPr lvl="1">
              <a:spcBef>
                <a:spcPts val="1200"/>
              </a:spcBef>
            </a:pPr>
            <a:r>
              <a:rPr lang="zh-CN" altLang="en-US" dirty="0" smtClean="0">
                <a:latin typeface="+mn-ea"/>
              </a:rPr>
              <a:t>相对</a:t>
            </a:r>
            <a:r>
              <a:rPr lang="zh-CN" altLang="en-US" dirty="0">
                <a:latin typeface="+mn-ea"/>
              </a:rPr>
              <a:t>多数投票</a:t>
            </a:r>
            <a:r>
              <a:rPr lang="zh-CN" altLang="en-US" dirty="0" smtClean="0">
                <a:latin typeface="+mn-ea"/>
              </a:rPr>
              <a:t>法</a:t>
            </a:r>
            <a:endParaRPr lang="en-US" altLang="zh-CN" dirty="0" smtClean="0">
              <a:latin typeface="+mn-ea"/>
            </a:endParaRPr>
          </a:p>
          <a:p>
            <a:pPr lvl="2"/>
            <a:r>
              <a:rPr lang="zh-CN" altLang="en-US" dirty="0">
                <a:latin typeface="+mn-ea"/>
              </a:rPr>
              <a:t>预测为得票最多的标记，</a:t>
            </a:r>
            <a:r>
              <a:rPr lang="zh-CN" altLang="en-US" dirty="0" smtClean="0">
                <a:latin typeface="+mn-ea"/>
              </a:rPr>
              <a:t>若多</a:t>
            </a:r>
            <a:r>
              <a:rPr lang="zh-CN" altLang="en-US" dirty="0">
                <a:latin typeface="+mn-ea"/>
              </a:rPr>
              <a:t>个标记获最高票，则从中随机</a:t>
            </a:r>
            <a:r>
              <a:rPr lang="zh-CN" altLang="en-US" dirty="0" smtClean="0">
                <a:latin typeface="+mn-ea"/>
              </a:rPr>
              <a:t>选取</a:t>
            </a:r>
            <a:endParaRPr lang="en-US" altLang="zh-CN" dirty="0" smtClean="0">
              <a:latin typeface="+mn-ea"/>
            </a:endParaRPr>
          </a:p>
          <a:p>
            <a:pPr lvl="2"/>
            <a:endParaRPr lang="en-US" altLang="zh-CN" dirty="0">
              <a:latin typeface="+mn-ea"/>
            </a:endParaRPr>
          </a:p>
          <a:p>
            <a:pPr lvl="1"/>
            <a:r>
              <a:rPr lang="zh-CN" altLang="en-US" dirty="0" smtClean="0">
                <a:latin typeface="+mn-ea"/>
              </a:rPr>
              <a:t>加权</a:t>
            </a:r>
            <a:r>
              <a:rPr lang="zh-CN" altLang="en-US" dirty="0">
                <a:latin typeface="+mn-ea"/>
              </a:rPr>
              <a:t>投票</a:t>
            </a:r>
            <a:r>
              <a:rPr lang="zh-CN" altLang="en-US" dirty="0" smtClean="0">
                <a:latin typeface="+mn-ea"/>
              </a:rPr>
              <a:t>法</a:t>
            </a:r>
            <a:endParaRPr lang="en-US" altLang="zh-CN" dirty="0" smtClean="0">
              <a:latin typeface="+mn-ea"/>
            </a:endParaRPr>
          </a:p>
          <a:p>
            <a:pPr lvl="1"/>
            <a:endParaRPr lang="en-US" altLang="zh-CN" dirty="0">
              <a:latin typeface="+mn-ea"/>
            </a:endParaRPr>
          </a:p>
          <a:p>
            <a:pPr lvl="2"/>
            <a:r>
              <a:rPr lang="zh-CN" altLang="en-US" dirty="0" smtClean="0">
                <a:latin typeface="+mn-ea"/>
              </a:rPr>
              <a:t>其中</a:t>
            </a:r>
            <a:endParaRPr lang="en-US" altLang="zh-CN" dirty="0" smtClean="0">
              <a:latin typeface="+mn-ea"/>
            </a:endParaRPr>
          </a:p>
          <a:p>
            <a:pPr lvl="3"/>
            <a:endParaRPr lang="zh-CN" altLang="en-US" dirty="0">
              <a:latin typeface="+mn-ea"/>
            </a:endParaRPr>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dirty="0"/>
          </a:p>
        </p:txBody>
      </p:sp>
      <p:graphicFrame>
        <p:nvGraphicFramePr>
          <p:cNvPr id="5" name="对象 4"/>
          <p:cNvGraphicFramePr>
            <a:graphicFrameLocks noChangeAspect="1"/>
          </p:cNvGraphicFramePr>
          <p:nvPr/>
        </p:nvGraphicFramePr>
        <p:xfrm>
          <a:off x="1934988" y="2181548"/>
          <a:ext cx="6021388" cy="887412"/>
        </p:xfrm>
        <a:graphic>
          <a:graphicData uri="http://schemas.openxmlformats.org/presentationml/2006/ole">
            <mc:AlternateContent xmlns:mc="http://schemas.openxmlformats.org/markup-compatibility/2006">
              <mc:Choice xmlns:v="urn:schemas-microsoft-com:vml" Requires="v">
                <p:oleObj spid="_x0000_s8574" name="Equation" r:id="rId1" imgW="74371200" imgH="10972800" progId="Equation.DSMT4">
                  <p:embed/>
                </p:oleObj>
              </mc:Choice>
              <mc:Fallback>
                <p:oleObj name="Equation" r:id="rId1" imgW="74371200" imgH="10972800" progId="Equation.DSMT4">
                  <p:embed/>
                  <p:pic>
                    <p:nvPicPr>
                      <p:cNvPr id="0" name="图片 8573"/>
                      <p:cNvPicPr/>
                      <p:nvPr/>
                    </p:nvPicPr>
                    <p:blipFill>
                      <a:blip r:embed="rId2"/>
                      <a:stretch>
                        <a:fillRect/>
                      </a:stretch>
                    </p:blipFill>
                    <p:spPr>
                      <a:xfrm>
                        <a:off x="1934988" y="2181548"/>
                        <a:ext cx="6021388" cy="887412"/>
                      </a:xfrm>
                      <a:prstGeom prst="rect">
                        <a:avLst/>
                      </a:prstGeom>
                    </p:spPr>
                  </p:pic>
                </p:oleObj>
              </mc:Fallback>
            </mc:AlternateContent>
          </a:graphicData>
        </a:graphic>
      </p:graphicFrame>
      <p:sp>
        <p:nvSpPr>
          <p:cNvPr id="6" name="矩形 5"/>
          <p:cNvSpPr/>
          <p:nvPr/>
        </p:nvSpPr>
        <p:spPr>
          <a:xfrm>
            <a:off x="1763688" y="2965477"/>
            <a:ext cx="5759910" cy="535531"/>
          </a:xfrm>
          <a:prstGeom prst="rect">
            <a:avLst/>
          </a:prstGeom>
        </p:spPr>
        <p:txBody>
          <a:bodyPr wrap="none">
            <a:spAutoFit/>
          </a:bodyPr>
          <a:lstStyle/>
          <a:p>
            <a:r>
              <a:rPr lang="zh-CN" altLang="en-US" sz="2400" dirty="0" smtClean="0">
                <a:latin typeface="+mn-ea"/>
                <a:ea typeface="+mn-ea"/>
              </a:rPr>
              <a:t>其中  是类别标记，  是  在  上的输出</a:t>
            </a:r>
            <a:endParaRPr lang="zh-CN" altLang="en-US" sz="2400" dirty="0">
              <a:latin typeface="+mn-ea"/>
              <a:ea typeface="+mn-ea"/>
            </a:endParaRPr>
          </a:p>
        </p:txBody>
      </p:sp>
      <p:graphicFrame>
        <p:nvGraphicFramePr>
          <p:cNvPr id="7" name="对象 6"/>
          <p:cNvGraphicFramePr>
            <a:graphicFrameLocks noChangeAspect="1"/>
          </p:cNvGraphicFramePr>
          <p:nvPr/>
        </p:nvGraphicFramePr>
        <p:xfrm>
          <a:off x="2521546" y="2996952"/>
          <a:ext cx="322262" cy="469900"/>
        </p:xfrm>
        <a:graphic>
          <a:graphicData uri="http://schemas.openxmlformats.org/presentationml/2006/ole">
            <mc:AlternateContent xmlns:mc="http://schemas.openxmlformats.org/markup-compatibility/2006">
              <mc:Choice xmlns:v="urn:schemas-microsoft-com:vml" Requires="v">
                <p:oleObj spid="_x0000_s8575" name="Equation" r:id="rId3" imgW="3962400" imgH="5791200" progId="Equation.DSMT4">
                  <p:embed/>
                </p:oleObj>
              </mc:Choice>
              <mc:Fallback>
                <p:oleObj name="Equation" r:id="rId3" imgW="3962400" imgH="5791200" progId="Equation.DSMT4">
                  <p:embed/>
                  <p:pic>
                    <p:nvPicPr>
                      <p:cNvPr id="0" name="图片 8574"/>
                      <p:cNvPicPr/>
                      <p:nvPr/>
                    </p:nvPicPr>
                    <p:blipFill>
                      <a:blip r:embed="rId4"/>
                      <a:stretch>
                        <a:fillRect/>
                      </a:stretch>
                    </p:blipFill>
                    <p:spPr>
                      <a:xfrm>
                        <a:off x="2521546" y="2996952"/>
                        <a:ext cx="322262" cy="469900"/>
                      </a:xfrm>
                      <a:prstGeom prst="rect">
                        <a:avLst/>
                      </a:prstGeom>
                    </p:spPr>
                  </p:pic>
                </p:oleObj>
              </mc:Fallback>
            </mc:AlternateContent>
          </a:graphicData>
        </a:graphic>
      </p:graphicFrame>
      <p:graphicFrame>
        <p:nvGraphicFramePr>
          <p:cNvPr id="8" name="对象 7"/>
          <p:cNvGraphicFramePr>
            <a:graphicFrameLocks noChangeAspect="1"/>
          </p:cNvGraphicFramePr>
          <p:nvPr/>
        </p:nvGraphicFramePr>
        <p:xfrm>
          <a:off x="4657973" y="3020979"/>
          <a:ext cx="346075" cy="468313"/>
        </p:xfrm>
        <a:graphic>
          <a:graphicData uri="http://schemas.openxmlformats.org/presentationml/2006/ole">
            <mc:AlternateContent xmlns:mc="http://schemas.openxmlformats.org/markup-compatibility/2006">
              <mc:Choice xmlns:v="urn:schemas-microsoft-com:vml" Requires="v">
                <p:oleObj spid="_x0000_s8576" name="Equation" r:id="rId5" imgW="4267200" imgH="5791200" progId="Equation.DSMT4">
                  <p:embed/>
                </p:oleObj>
              </mc:Choice>
              <mc:Fallback>
                <p:oleObj name="Equation" r:id="rId5" imgW="4267200" imgH="5791200" progId="Equation.DSMT4">
                  <p:embed/>
                  <p:pic>
                    <p:nvPicPr>
                      <p:cNvPr id="0" name="图片 8575"/>
                      <p:cNvPicPr/>
                      <p:nvPr/>
                    </p:nvPicPr>
                    <p:blipFill>
                      <a:blip r:embed="rId6"/>
                      <a:stretch>
                        <a:fillRect/>
                      </a:stretch>
                    </p:blipFill>
                    <p:spPr>
                      <a:xfrm>
                        <a:off x="4657973" y="3020979"/>
                        <a:ext cx="346075" cy="468313"/>
                      </a:xfrm>
                      <a:prstGeom prst="rect">
                        <a:avLst/>
                      </a:prstGeom>
                    </p:spPr>
                  </p:pic>
                </p:oleObj>
              </mc:Fallback>
            </mc:AlternateContent>
          </a:graphicData>
        </a:graphic>
      </p:graphicFrame>
      <p:graphicFrame>
        <p:nvGraphicFramePr>
          <p:cNvPr id="9" name="对象 8"/>
          <p:cNvGraphicFramePr>
            <a:graphicFrameLocks noChangeAspect="1"/>
          </p:cNvGraphicFramePr>
          <p:nvPr/>
        </p:nvGraphicFramePr>
        <p:xfrm>
          <a:off x="5868144" y="3015658"/>
          <a:ext cx="322262" cy="469900"/>
        </p:xfrm>
        <a:graphic>
          <a:graphicData uri="http://schemas.openxmlformats.org/presentationml/2006/ole">
            <mc:AlternateContent xmlns:mc="http://schemas.openxmlformats.org/markup-compatibility/2006">
              <mc:Choice xmlns:v="urn:schemas-microsoft-com:vml" Requires="v">
                <p:oleObj spid="_x0000_s8577" name="Equation" r:id="rId7" imgW="3962400" imgH="5791200" progId="Equation.DSMT4">
                  <p:embed/>
                </p:oleObj>
              </mc:Choice>
              <mc:Fallback>
                <p:oleObj name="Equation" r:id="rId7" imgW="3962400" imgH="5791200" progId="Equation.DSMT4">
                  <p:embed/>
                  <p:pic>
                    <p:nvPicPr>
                      <p:cNvPr id="0" name="图片 8576"/>
                      <p:cNvPicPr/>
                      <p:nvPr/>
                    </p:nvPicPr>
                    <p:blipFill>
                      <a:blip r:embed="rId8"/>
                      <a:stretch>
                        <a:fillRect/>
                      </a:stretch>
                    </p:blipFill>
                    <p:spPr>
                      <a:xfrm>
                        <a:off x="5868144" y="3015658"/>
                        <a:ext cx="322262" cy="469900"/>
                      </a:xfrm>
                      <a:prstGeom prst="rect">
                        <a:avLst/>
                      </a:prstGeom>
                    </p:spPr>
                  </p:pic>
                </p:oleObj>
              </mc:Fallback>
            </mc:AlternateContent>
          </a:graphicData>
        </a:graphic>
      </p:graphicFrame>
      <p:graphicFrame>
        <p:nvGraphicFramePr>
          <p:cNvPr id="10" name="对象 9"/>
          <p:cNvGraphicFramePr>
            <a:graphicFrameLocks noChangeAspect="1"/>
          </p:cNvGraphicFramePr>
          <p:nvPr/>
        </p:nvGraphicFramePr>
        <p:xfrm>
          <a:off x="5292080" y="3015658"/>
          <a:ext cx="322263" cy="468313"/>
        </p:xfrm>
        <a:graphic>
          <a:graphicData uri="http://schemas.openxmlformats.org/presentationml/2006/ole">
            <mc:AlternateContent xmlns:mc="http://schemas.openxmlformats.org/markup-compatibility/2006">
              <mc:Choice xmlns:v="urn:schemas-microsoft-com:vml" Requires="v">
                <p:oleObj spid="_x0000_s8578" name="Equation" r:id="rId9" imgW="3962400" imgH="5791200" progId="Equation.DSMT4">
                  <p:embed/>
                </p:oleObj>
              </mc:Choice>
              <mc:Fallback>
                <p:oleObj name="Equation" r:id="rId9" imgW="3962400" imgH="5791200" progId="Equation.DSMT4">
                  <p:embed/>
                  <p:pic>
                    <p:nvPicPr>
                      <p:cNvPr id="0" name="图片 8577"/>
                      <p:cNvPicPr/>
                      <p:nvPr/>
                    </p:nvPicPr>
                    <p:blipFill>
                      <a:blip r:embed="rId10"/>
                      <a:stretch>
                        <a:fillRect/>
                      </a:stretch>
                    </p:blipFill>
                    <p:spPr>
                      <a:xfrm>
                        <a:off x="5292080" y="3015658"/>
                        <a:ext cx="322263" cy="468313"/>
                      </a:xfrm>
                      <a:prstGeom prst="rect">
                        <a:avLst/>
                      </a:prstGeom>
                    </p:spPr>
                  </p:pic>
                </p:oleObj>
              </mc:Fallback>
            </mc:AlternateContent>
          </a:graphicData>
        </a:graphic>
      </p:graphicFrame>
      <p:graphicFrame>
        <p:nvGraphicFramePr>
          <p:cNvPr id="11" name="对象 10"/>
          <p:cNvGraphicFramePr>
            <a:graphicFrameLocks noChangeAspect="1"/>
          </p:cNvGraphicFramePr>
          <p:nvPr/>
        </p:nvGraphicFramePr>
        <p:xfrm>
          <a:off x="4243536" y="4422198"/>
          <a:ext cx="2419350" cy="715963"/>
        </p:xfrm>
        <a:graphic>
          <a:graphicData uri="http://schemas.openxmlformats.org/presentationml/2006/ole">
            <mc:AlternateContent xmlns:mc="http://schemas.openxmlformats.org/markup-compatibility/2006">
              <mc:Choice xmlns:v="urn:schemas-microsoft-com:vml" Requires="v">
                <p:oleObj spid="_x0000_s8579" name="Equation" r:id="rId11" imgW="29870400" imgH="8839200" progId="Equation.DSMT4">
                  <p:embed/>
                </p:oleObj>
              </mc:Choice>
              <mc:Fallback>
                <p:oleObj name="Equation" r:id="rId11" imgW="29870400" imgH="8839200" progId="Equation.DSMT4">
                  <p:embed/>
                  <p:pic>
                    <p:nvPicPr>
                      <p:cNvPr id="0" name="图片 8578"/>
                      <p:cNvPicPr/>
                      <p:nvPr/>
                    </p:nvPicPr>
                    <p:blipFill>
                      <a:blip r:embed="rId12"/>
                      <a:stretch>
                        <a:fillRect/>
                      </a:stretch>
                    </p:blipFill>
                    <p:spPr>
                      <a:xfrm>
                        <a:off x="4243536" y="4422198"/>
                        <a:ext cx="2419350" cy="715963"/>
                      </a:xfrm>
                      <a:prstGeom prst="rect">
                        <a:avLst/>
                      </a:prstGeom>
                    </p:spPr>
                  </p:pic>
                </p:oleObj>
              </mc:Fallback>
            </mc:AlternateContent>
          </a:graphicData>
        </a:graphic>
      </p:graphicFrame>
      <p:graphicFrame>
        <p:nvGraphicFramePr>
          <p:cNvPr id="12" name="对象 11"/>
          <p:cNvGraphicFramePr>
            <a:graphicFrameLocks noChangeAspect="1"/>
          </p:cNvGraphicFramePr>
          <p:nvPr/>
        </p:nvGraphicFramePr>
        <p:xfrm>
          <a:off x="4021236" y="5138738"/>
          <a:ext cx="2566988" cy="715962"/>
        </p:xfrm>
        <a:graphic>
          <a:graphicData uri="http://schemas.openxmlformats.org/presentationml/2006/ole">
            <mc:AlternateContent xmlns:mc="http://schemas.openxmlformats.org/markup-compatibility/2006">
              <mc:Choice xmlns:v="urn:schemas-microsoft-com:vml" Requires="v">
                <p:oleObj spid="_x0000_s8580" name="Equation" r:id="rId13" imgW="31699200" imgH="8839200" progId="Equation.DSMT4">
                  <p:embed/>
                </p:oleObj>
              </mc:Choice>
              <mc:Fallback>
                <p:oleObj name="Equation" r:id="rId13" imgW="31699200" imgH="8839200" progId="Equation.DSMT4">
                  <p:embed/>
                  <p:pic>
                    <p:nvPicPr>
                      <p:cNvPr id="0" name="图片 8579"/>
                      <p:cNvPicPr/>
                      <p:nvPr/>
                    </p:nvPicPr>
                    <p:blipFill>
                      <a:blip r:embed="rId14"/>
                      <a:stretch>
                        <a:fillRect/>
                      </a:stretch>
                    </p:blipFill>
                    <p:spPr>
                      <a:xfrm>
                        <a:off x="4021236" y="5138738"/>
                        <a:ext cx="2566988" cy="715962"/>
                      </a:xfrm>
                      <a:prstGeom prst="rect">
                        <a:avLst/>
                      </a:prstGeom>
                    </p:spPr>
                  </p:pic>
                </p:oleObj>
              </mc:Fallback>
            </mc:AlternateContent>
          </a:graphicData>
        </a:graphic>
      </p:graphicFrame>
      <p:graphicFrame>
        <p:nvGraphicFramePr>
          <p:cNvPr id="13" name="对象 12"/>
          <p:cNvGraphicFramePr>
            <a:graphicFrameLocks noChangeAspect="1"/>
          </p:cNvGraphicFramePr>
          <p:nvPr/>
        </p:nvGraphicFramePr>
        <p:xfrm>
          <a:off x="2588418" y="5704802"/>
          <a:ext cx="2024063" cy="566738"/>
        </p:xfrm>
        <a:graphic>
          <a:graphicData uri="http://schemas.openxmlformats.org/presentationml/2006/ole">
            <mc:AlternateContent xmlns:mc="http://schemas.openxmlformats.org/markup-compatibility/2006">
              <mc:Choice xmlns:v="urn:schemas-microsoft-com:vml" Requires="v">
                <p:oleObj spid="_x0000_s8581" name="Equation" r:id="rId15" imgW="24993600" imgH="7010400" progId="Equation.DSMT4">
                  <p:embed/>
                </p:oleObj>
              </mc:Choice>
              <mc:Fallback>
                <p:oleObj name="Equation" r:id="rId15" imgW="24993600" imgH="7010400" progId="Equation.DSMT4">
                  <p:embed/>
                  <p:pic>
                    <p:nvPicPr>
                      <p:cNvPr id="0" name="图片 8580"/>
                      <p:cNvPicPr/>
                      <p:nvPr/>
                    </p:nvPicPr>
                    <p:blipFill>
                      <a:blip r:embed="rId16"/>
                      <a:stretch>
                        <a:fillRect/>
                      </a:stretch>
                    </p:blipFill>
                    <p:spPr>
                      <a:xfrm>
                        <a:off x="2588418" y="5704802"/>
                        <a:ext cx="2024063" cy="566738"/>
                      </a:xfrm>
                      <a:prstGeom prst="rect">
                        <a:avLst/>
                      </a:prstGeom>
                    </p:spPr>
                  </p:pic>
                </p:oleObj>
              </mc:Fallback>
            </mc:AlternateContent>
          </a:graphicData>
        </a:graphic>
      </p:graphicFrame>
    </p:spTree>
  </p:cSld>
  <p:clrMapOvr>
    <a:masterClrMapping/>
  </p:clrMapOvr>
  <p:transition>
    <p:cover dir="u"/>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8.4 </a:t>
            </a:r>
            <a:r>
              <a:rPr lang="zh-CN" altLang="en-US" dirty="0"/>
              <a:t>学习器结合策略</a:t>
            </a:r>
            <a:endParaRPr lang="zh-CN" altLang="en-US" dirty="0"/>
          </a:p>
        </p:txBody>
      </p:sp>
      <p:sp>
        <p:nvSpPr>
          <p:cNvPr id="3" name="内容占位符 2"/>
          <p:cNvSpPr>
            <a:spLocks noGrp="1"/>
          </p:cNvSpPr>
          <p:nvPr>
            <p:ph idx="1"/>
          </p:nvPr>
        </p:nvSpPr>
        <p:spPr/>
        <p:txBody>
          <a:bodyPr/>
          <a:lstStyle/>
          <a:p>
            <a:r>
              <a:rPr lang="en-US" altLang="zh-CN" dirty="0" smtClean="0">
                <a:latin typeface="+mn-ea"/>
              </a:rPr>
              <a:t>8.4.2 </a:t>
            </a:r>
            <a:r>
              <a:rPr lang="zh-CN" altLang="en-US" dirty="0" smtClean="0">
                <a:latin typeface="+mn-ea"/>
              </a:rPr>
              <a:t>投票法</a:t>
            </a:r>
            <a:endParaRPr lang="en-US" altLang="zh-CN" dirty="0" smtClean="0">
              <a:latin typeface="+mn-ea"/>
            </a:endParaRPr>
          </a:p>
          <a:p>
            <a:pPr lvl="1"/>
            <a:r>
              <a:rPr lang="zh-CN" altLang="en-US" dirty="0" smtClean="0"/>
              <a:t>特点</a:t>
            </a:r>
            <a:endParaRPr lang="en-US" altLang="zh-CN" dirty="0" smtClean="0"/>
          </a:p>
          <a:p>
            <a:pPr lvl="2"/>
            <a:r>
              <a:rPr lang="zh-CN" altLang="en-US" dirty="0" smtClean="0"/>
              <a:t>绝对</a:t>
            </a:r>
            <a:r>
              <a:rPr lang="zh-CN" altLang="en-US" dirty="0"/>
              <a:t>多数投票</a:t>
            </a:r>
            <a:r>
              <a:rPr lang="zh-CN" altLang="en-US" dirty="0" smtClean="0"/>
              <a:t>法有拒绝预测选项，若学</a:t>
            </a:r>
            <a:r>
              <a:rPr lang="zh-CN" altLang="en-US" dirty="0"/>
              <a:t>习</a:t>
            </a:r>
            <a:r>
              <a:rPr lang="zh-CN" altLang="en-US" dirty="0" smtClean="0"/>
              <a:t>任务必须</a:t>
            </a:r>
            <a:r>
              <a:rPr lang="zh-CN" altLang="en-US" dirty="0"/>
              <a:t>提供预测结果，</a:t>
            </a:r>
            <a:r>
              <a:rPr lang="zh-CN" altLang="en-US" dirty="0" smtClean="0"/>
              <a:t>则其将</a:t>
            </a:r>
            <a:r>
              <a:rPr lang="zh-CN" altLang="en-US" dirty="0"/>
              <a:t>退化为相对多数投票</a:t>
            </a:r>
            <a:r>
              <a:rPr lang="zh-CN" altLang="en-US" dirty="0" smtClean="0"/>
              <a:t>法</a:t>
            </a:r>
            <a:endParaRPr lang="en-US" altLang="zh-CN" dirty="0" smtClean="0"/>
          </a:p>
          <a:p>
            <a:pPr lvl="2"/>
            <a:r>
              <a:rPr lang="zh-CN" altLang="en-US" dirty="0" smtClean="0"/>
              <a:t>不同</a:t>
            </a:r>
            <a:r>
              <a:rPr lang="zh-CN" altLang="en-US" dirty="0"/>
              <a:t>类型个体学习</a:t>
            </a:r>
            <a:r>
              <a:rPr lang="zh-CN" altLang="en-US" dirty="0" smtClean="0"/>
              <a:t>器会产生</a:t>
            </a:r>
            <a:r>
              <a:rPr lang="zh-CN" altLang="en-US" dirty="0"/>
              <a:t>不同类型</a:t>
            </a:r>
            <a:r>
              <a:rPr lang="zh-CN" altLang="en-US" dirty="0" smtClean="0"/>
              <a:t>的</a:t>
            </a:r>
            <a:endParaRPr lang="en-US" altLang="zh-CN" dirty="0" smtClean="0"/>
          </a:p>
          <a:p>
            <a:pPr lvl="3"/>
            <a:r>
              <a:rPr lang="zh-CN" altLang="en-US" dirty="0" smtClean="0"/>
              <a:t>类标记</a:t>
            </a:r>
            <a:endParaRPr lang="en-US" altLang="zh-CN" dirty="0" smtClean="0"/>
          </a:p>
          <a:p>
            <a:pPr lvl="4">
              <a:spcBef>
                <a:spcPts val="600"/>
              </a:spcBef>
            </a:pPr>
            <a:r>
              <a:rPr lang="zh-CN" altLang="en-US" dirty="0" smtClean="0"/>
              <a:t>      </a:t>
            </a:r>
            <a:endParaRPr lang="en-US" altLang="zh-CN" dirty="0" smtClean="0"/>
          </a:p>
          <a:p>
            <a:pPr lvl="4"/>
            <a:endParaRPr lang="en-US" altLang="zh-CN" dirty="0"/>
          </a:p>
          <a:p>
            <a:pPr lvl="5">
              <a:spcBef>
                <a:spcPts val="0"/>
              </a:spcBef>
            </a:pPr>
            <a:r>
              <a:rPr lang="zh-CN" altLang="en-US" b="1" dirty="0"/>
              <a:t>使用类标记的投票亦</a:t>
            </a:r>
            <a:r>
              <a:rPr lang="zh-CN" altLang="en-US" b="1" dirty="0" smtClean="0"/>
              <a:t>称硬投票</a:t>
            </a:r>
            <a:endParaRPr lang="zh-CN" altLang="en-US" b="1" dirty="0"/>
          </a:p>
          <a:p>
            <a:pPr lvl="3"/>
            <a:r>
              <a:rPr lang="zh-CN" altLang="en-US" dirty="0" smtClean="0"/>
              <a:t>类概率</a:t>
            </a:r>
            <a:endParaRPr lang="en-US" altLang="zh-CN" dirty="0" smtClean="0"/>
          </a:p>
          <a:p>
            <a:pPr lvl="4"/>
            <a:r>
              <a:rPr lang="zh-CN" altLang="en-US" dirty="0" smtClean="0"/>
              <a:t>                    ，</a:t>
            </a:r>
            <a:r>
              <a:rPr lang="zh-CN" altLang="en-US" dirty="0"/>
              <a:t>相当于对</a:t>
            </a:r>
            <a:r>
              <a:rPr lang="zh-CN" altLang="en-US" dirty="0" smtClean="0"/>
              <a:t>后验概率             的估计</a:t>
            </a:r>
            <a:endParaRPr lang="en-US" altLang="zh-CN" dirty="0" smtClean="0"/>
          </a:p>
          <a:p>
            <a:pPr lvl="5"/>
            <a:r>
              <a:rPr lang="zh-CN" altLang="en-US" b="1" dirty="0" smtClean="0"/>
              <a:t>概率</a:t>
            </a:r>
            <a:r>
              <a:rPr lang="zh-CN" altLang="en-US" b="1" dirty="0"/>
              <a:t>的投票亦</a:t>
            </a:r>
            <a:r>
              <a:rPr lang="zh-CN" altLang="en-US" b="1" dirty="0" smtClean="0"/>
              <a:t>称软投票</a:t>
            </a:r>
            <a:endParaRPr lang="en-US" altLang="zh-CN" b="1" dirty="0" smtClean="0"/>
          </a:p>
          <a:p>
            <a:pPr lvl="2"/>
            <a:endParaRPr lang="zh-CN" altLang="en-US" b="1" dirty="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graphicFrame>
        <p:nvGraphicFramePr>
          <p:cNvPr id="5" name="对象 4"/>
          <p:cNvGraphicFramePr>
            <a:graphicFrameLocks noChangeAspect="1"/>
          </p:cNvGraphicFramePr>
          <p:nvPr/>
        </p:nvGraphicFramePr>
        <p:xfrm>
          <a:off x="7117606" y="2492896"/>
          <a:ext cx="766762" cy="468312"/>
        </p:xfrm>
        <a:graphic>
          <a:graphicData uri="http://schemas.openxmlformats.org/presentationml/2006/ole">
            <mc:AlternateContent xmlns:mc="http://schemas.openxmlformats.org/markup-compatibility/2006">
              <mc:Choice xmlns:v="urn:schemas-microsoft-com:vml" Requires="v">
                <p:oleObj spid="_x0000_s9407" name="Equation" r:id="rId1" imgW="9448800" imgH="5791200" progId="Equation.DSMT4">
                  <p:embed/>
                </p:oleObj>
              </mc:Choice>
              <mc:Fallback>
                <p:oleObj name="Equation" r:id="rId1" imgW="9448800" imgH="5791200" progId="Equation.DSMT4">
                  <p:embed/>
                  <p:pic>
                    <p:nvPicPr>
                      <p:cNvPr id="0" name="图片 9406"/>
                      <p:cNvPicPr/>
                      <p:nvPr/>
                    </p:nvPicPr>
                    <p:blipFill>
                      <a:blip r:embed="rId2"/>
                      <a:stretch>
                        <a:fillRect/>
                      </a:stretch>
                    </p:blipFill>
                    <p:spPr>
                      <a:xfrm>
                        <a:off x="7117606" y="2492896"/>
                        <a:ext cx="766762" cy="468312"/>
                      </a:xfrm>
                      <a:prstGeom prst="rect">
                        <a:avLst/>
                      </a:prstGeom>
                    </p:spPr>
                  </p:pic>
                </p:oleObj>
              </mc:Fallback>
            </mc:AlternateContent>
          </a:graphicData>
        </a:graphic>
      </p:graphicFrame>
      <p:graphicFrame>
        <p:nvGraphicFramePr>
          <p:cNvPr id="6" name="对象 5"/>
          <p:cNvGraphicFramePr>
            <a:graphicFrameLocks noChangeAspect="1"/>
          </p:cNvGraphicFramePr>
          <p:nvPr/>
        </p:nvGraphicFramePr>
        <p:xfrm>
          <a:off x="2843808" y="3068960"/>
          <a:ext cx="4551363" cy="838200"/>
        </p:xfrm>
        <a:graphic>
          <a:graphicData uri="http://schemas.openxmlformats.org/presentationml/2006/ole">
            <mc:AlternateContent xmlns:mc="http://schemas.openxmlformats.org/markup-compatibility/2006">
              <mc:Choice xmlns:v="urn:schemas-microsoft-com:vml" Requires="v">
                <p:oleObj spid="_x0000_s9408" name="Equation" r:id="rId3" imgW="56083200" imgH="10363200" progId="Equation.DSMT4">
                  <p:embed/>
                </p:oleObj>
              </mc:Choice>
              <mc:Fallback>
                <p:oleObj name="Equation" r:id="rId3" imgW="56083200" imgH="10363200" progId="Equation.DSMT4">
                  <p:embed/>
                  <p:pic>
                    <p:nvPicPr>
                      <p:cNvPr id="0" name="图片 9407"/>
                      <p:cNvPicPr/>
                      <p:nvPr/>
                    </p:nvPicPr>
                    <p:blipFill>
                      <a:blip r:embed="rId4"/>
                      <a:stretch>
                        <a:fillRect/>
                      </a:stretch>
                    </p:blipFill>
                    <p:spPr>
                      <a:xfrm>
                        <a:off x="2843808" y="3068960"/>
                        <a:ext cx="4551363" cy="838200"/>
                      </a:xfrm>
                      <a:prstGeom prst="rect">
                        <a:avLst/>
                      </a:prstGeom>
                    </p:spPr>
                  </p:pic>
                </p:oleObj>
              </mc:Fallback>
            </mc:AlternateContent>
          </a:graphicData>
        </a:graphic>
      </p:graphicFrame>
      <p:graphicFrame>
        <p:nvGraphicFramePr>
          <p:cNvPr id="8" name="对象 7"/>
          <p:cNvGraphicFramePr>
            <a:graphicFrameLocks noChangeAspect="1"/>
          </p:cNvGraphicFramePr>
          <p:nvPr/>
        </p:nvGraphicFramePr>
        <p:xfrm>
          <a:off x="2843808" y="4437112"/>
          <a:ext cx="1433513" cy="468313"/>
        </p:xfrm>
        <a:graphic>
          <a:graphicData uri="http://schemas.openxmlformats.org/presentationml/2006/ole">
            <mc:AlternateContent xmlns:mc="http://schemas.openxmlformats.org/markup-compatibility/2006">
              <mc:Choice xmlns:v="urn:schemas-microsoft-com:vml" Requires="v">
                <p:oleObj spid="_x0000_s9409" name="Equation" r:id="rId5" imgW="17678400" imgH="5791200" progId="Equation.DSMT4">
                  <p:embed/>
                </p:oleObj>
              </mc:Choice>
              <mc:Fallback>
                <p:oleObj name="Equation" r:id="rId5" imgW="17678400" imgH="5791200" progId="Equation.DSMT4">
                  <p:embed/>
                  <p:pic>
                    <p:nvPicPr>
                      <p:cNvPr id="0" name="图片 9408"/>
                      <p:cNvPicPr/>
                      <p:nvPr/>
                    </p:nvPicPr>
                    <p:blipFill>
                      <a:blip r:embed="rId6"/>
                      <a:stretch>
                        <a:fillRect/>
                      </a:stretch>
                    </p:blipFill>
                    <p:spPr>
                      <a:xfrm>
                        <a:off x="2843808" y="4437112"/>
                        <a:ext cx="1433513" cy="468313"/>
                      </a:xfrm>
                      <a:prstGeom prst="rect">
                        <a:avLst/>
                      </a:prstGeom>
                    </p:spPr>
                  </p:pic>
                </p:oleObj>
              </mc:Fallback>
            </mc:AlternateContent>
          </a:graphicData>
        </a:graphic>
      </p:graphicFrame>
      <p:graphicFrame>
        <p:nvGraphicFramePr>
          <p:cNvPr id="9" name="对象 8"/>
          <p:cNvGraphicFramePr>
            <a:graphicFrameLocks noChangeAspect="1"/>
          </p:cNvGraphicFramePr>
          <p:nvPr/>
        </p:nvGraphicFramePr>
        <p:xfrm>
          <a:off x="6618671" y="4467623"/>
          <a:ext cx="990600" cy="468313"/>
        </p:xfrm>
        <a:graphic>
          <a:graphicData uri="http://schemas.openxmlformats.org/presentationml/2006/ole">
            <mc:AlternateContent xmlns:mc="http://schemas.openxmlformats.org/markup-compatibility/2006">
              <mc:Choice xmlns:v="urn:schemas-microsoft-com:vml" Requires="v">
                <p:oleObj spid="_x0000_s9410" name="Equation" r:id="rId7" imgW="12192000" imgH="5791200" progId="Equation.DSMT4">
                  <p:embed/>
                </p:oleObj>
              </mc:Choice>
              <mc:Fallback>
                <p:oleObj name="Equation" r:id="rId7" imgW="12192000" imgH="5791200" progId="Equation.DSMT4">
                  <p:embed/>
                  <p:pic>
                    <p:nvPicPr>
                      <p:cNvPr id="0" name="图片 9409"/>
                      <p:cNvPicPr/>
                      <p:nvPr/>
                    </p:nvPicPr>
                    <p:blipFill>
                      <a:blip r:embed="rId8"/>
                      <a:stretch>
                        <a:fillRect/>
                      </a:stretch>
                    </p:blipFill>
                    <p:spPr>
                      <a:xfrm>
                        <a:off x="6618671" y="4467623"/>
                        <a:ext cx="990600" cy="468313"/>
                      </a:xfrm>
                      <a:prstGeom prst="rect">
                        <a:avLst/>
                      </a:prstGeom>
                    </p:spPr>
                  </p:pic>
                </p:oleObj>
              </mc:Fallback>
            </mc:AlternateContent>
          </a:graphicData>
        </a:graphic>
      </p:graphicFrame>
    </p:spTree>
  </p:cSld>
  <p:clrMapOvr>
    <a:masterClrMapping/>
  </p:clrMapOvr>
  <p:transition>
    <p:cover dir="u"/>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8.4 </a:t>
            </a:r>
            <a:r>
              <a:rPr lang="zh-CN" altLang="en-US" dirty="0"/>
              <a:t>学习器结合策略</a:t>
            </a:r>
            <a:endParaRPr lang="zh-CN" altLang="en-US" dirty="0"/>
          </a:p>
        </p:txBody>
      </p:sp>
      <p:sp>
        <p:nvSpPr>
          <p:cNvPr id="3" name="内容占位符 2"/>
          <p:cNvSpPr>
            <a:spLocks noGrp="1"/>
          </p:cNvSpPr>
          <p:nvPr>
            <p:ph idx="1"/>
          </p:nvPr>
        </p:nvSpPr>
        <p:spPr/>
        <p:txBody>
          <a:bodyPr/>
          <a:lstStyle/>
          <a:p>
            <a:r>
              <a:rPr lang="en-US" altLang="zh-CN" dirty="0">
                <a:latin typeface="+mn-ea"/>
              </a:rPr>
              <a:t>8.4.2 </a:t>
            </a:r>
            <a:r>
              <a:rPr lang="zh-CN" altLang="en-US" dirty="0">
                <a:latin typeface="+mn-ea"/>
              </a:rPr>
              <a:t>投票法</a:t>
            </a:r>
            <a:endParaRPr lang="en-US" altLang="zh-CN" dirty="0">
              <a:latin typeface="+mn-ea"/>
            </a:endParaRPr>
          </a:p>
          <a:p>
            <a:pPr lvl="1"/>
            <a:r>
              <a:rPr lang="zh-CN" altLang="en-US" dirty="0"/>
              <a:t>特点</a:t>
            </a:r>
            <a:endParaRPr lang="en-US" altLang="zh-CN" dirty="0"/>
          </a:p>
          <a:p>
            <a:pPr lvl="2"/>
            <a:r>
              <a:rPr lang="zh-CN" altLang="en-US" dirty="0" smtClean="0"/>
              <a:t>不同</a:t>
            </a:r>
            <a:r>
              <a:rPr lang="zh-CN" altLang="en-US" dirty="0"/>
              <a:t>类型</a:t>
            </a:r>
            <a:r>
              <a:rPr lang="zh-CN" altLang="en-US" dirty="0" smtClean="0"/>
              <a:t>的</a:t>
            </a:r>
            <a:r>
              <a:rPr lang="en-US" altLang="zh-CN" dirty="0" smtClean="0"/>
              <a:t>        </a:t>
            </a:r>
            <a:r>
              <a:rPr lang="zh-CN" altLang="en-US" dirty="0" smtClean="0"/>
              <a:t>值</a:t>
            </a:r>
            <a:r>
              <a:rPr lang="zh-CN" altLang="en-US" dirty="0"/>
              <a:t>不能混</a:t>
            </a:r>
            <a:r>
              <a:rPr lang="zh-CN" altLang="en-US" dirty="0" smtClean="0"/>
              <a:t>用</a:t>
            </a:r>
            <a:endParaRPr lang="en-US" altLang="zh-CN" dirty="0" smtClean="0"/>
          </a:p>
          <a:p>
            <a:pPr lvl="3"/>
            <a:r>
              <a:rPr lang="zh-CN" altLang="en-US" dirty="0" smtClean="0"/>
              <a:t>在</a:t>
            </a:r>
            <a:r>
              <a:rPr lang="zh-CN" altLang="en-US" dirty="0"/>
              <a:t>预测出类别标记的同时</a:t>
            </a:r>
            <a:r>
              <a:rPr lang="zh-CN" altLang="en-US" dirty="0" smtClean="0"/>
              <a:t>产生分类</a:t>
            </a:r>
            <a:r>
              <a:rPr lang="zh-CN" altLang="en-US" dirty="0"/>
              <a:t>置信度的学习器，其分类置信度</a:t>
            </a:r>
            <a:r>
              <a:rPr lang="zh-CN" altLang="en-US" dirty="0" smtClean="0"/>
              <a:t>可进行</a:t>
            </a:r>
            <a:r>
              <a:rPr lang="zh-CN" altLang="en-US" dirty="0"/>
              <a:t>规范化</a:t>
            </a:r>
            <a:r>
              <a:rPr lang="zh-CN" altLang="en-US" dirty="0" smtClean="0"/>
              <a:t>转化</a:t>
            </a:r>
            <a:r>
              <a:rPr lang="zh-CN" altLang="en-US" dirty="0"/>
              <a:t>为类</a:t>
            </a:r>
            <a:r>
              <a:rPr lang="zh-CN" altLang="en-US" dirty="0" smtClean="0"/>
              <a:t>概率</a:t>
            </a:r>
            <a:endParaRPr lang="en-US" altLang="zh-CN" dirty="0" smtClean="0"/>
          </a:p>
          <a:p>
            <a:pPr lvl="4"/>
            <a:r>
              <a:rPr lang="zh-CN" altLang="en-US" dirty="0" smtClean="0"/>
              <a:t>基于</a:t>
            </a:r>
            <a:r>
              <a:rPr lang="zh-CN" altLang="en-US" dirty="0"/>
              <a:t>类</a:t>
            </a:r>
            <a:r>
              <a:rPr lang="zh-CN" altLang="en-US" dirty="0" smtClean="0"/>
              <a:t>概率结合比</a:t>
            </a:r>
            <a:r>
              <a:rPr lang="zh-CN" altLang="en-US" dirty="0"/>
              <a:t>直接基于类</a:t>
            </a:r>
            <a:r>
              <a:rPr lang="zh-CN" altLang="en-US" dirty="0" smtClean="0"/>
              <a:t>标记结合</a:t>
            </a:r>
            <a:r>
              <a:rPr lang="zh-CN" altLang="en-US" dirty="0"/>
              <a:t>性能</a:t>
            </a:r>
            <a:r>
              <a:rPr lang="zh-CN" altLang="en-US" dirty="0" smtClean="0"/>
              <a:t>更好</a:t>
            </a:r>
            <a:endParaRPr lang="en-US" altLang="zh-CN" dirty="0" smtClean="0"/>
          </a:p>
          <a:p>
            <a:pPr lvl="3"/>
            <a:r>
              <a:rPr lang="zh-CN" altLang="en-US" dirty="0" smtClean="0"/>
              <a:t>类</a:t>
            </a:r>
            <a:r>
              <a:rPr lang="zh-CN" altLang="en-US" dirty="0"/>
              <a:t>概率值不能直接进行</a:t>
            </a:r>
            <a:r>
              <a:rPr lang="zh-CN" altLang="en-US" dirty="0" smtClean="0"/>
              <a:t>比较，可</a:t>
            </a:r>
            <a:r>
              <a:rPr lang="zh-CN" altLang="en-US" dirty="0"/>
              <a:t>将类概率输出转化为类标记</a:t>
            </a:r>
            <a:r>
              <a:rPr lang="zh-CN" altLang="en-US" dirty="0" smtClean="0"/>
              <a:t>输出再投票</a:t>
            </a:r>
            <a:endParaRPr lang="zh-CN" altLang="en-US" dirty="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graphicFrame>
        <p:nvGraphicFramePr>
          <p:cNvPr id="5" name="对象 4"/>
          <p:cNvGraphicFramePr>
            <a:graphicFrameLocks noChangeAspect="1"/>
          </p:cNvGraphicFramePr>
          <p:nvPr/>
        </p:nvGraphicFramePr>
        <p:xfrm>
          <a:off x="3445198" y="1772816"/>
          <a:ext cx="766762" cy="468312"/>
        </p:xfrm>
        <a:graphic>
          <a:graphicData uri="http://schemas.openxmlformats.org/presentationml/2006/ole">
            <mc:AlternateContent xmlns:mc="http://schemas.openxmlformats.org/markup-compatibility/2006">
              <mc:Choice xmlns:v="urn:schemas-microsoft-com:vml" Requires="v">
                <p:oleObj spid="_x0000_s10288" name="Equation" r:id="rId1" imgW="9448800" imgH="5791200" progId="Equation.DSMT4">
                  <p:embed/>
                </p:oleObj>
              </mc:Choice>
              <mc:Fallback>
                <p:oleObj name="Equation" r:id="rId1" imgW="9448800" imgH="5791200" progId="Equation.DSMT4">
                  <p:embed/>
                  <p:pic>
                    <p:nvPicPr>
                      <p:cNvPr id="0" name="图片 10287"/>
                      <p:cNvPicPr/>
                      <p:nvPr/>
                    </p:nvPicPr>
                    <p:blipFill>
                      <a:blip r:embed="rId2"/>
                      <a:stretch>
                        <a:fillRect/>
                      </a:stretch>
                    </p:blipFill>
                    <p:spPr>
                      <a:xfrm>
                        <a:off x="3445198" y="1772816"/>
                        <a:ext cx="766762" cy="468312"/>
                      </a:xfrm>
                      <a:prstGeom prst="rect">
                        <a:avLst/>
                      </a:prstGeom>
                    </p:spPr>
                  </p:pic>
                </p:oleObj>
              </mc:Fallback>
            </mc:AlternateContent>
          </a:graphicData>
        </a:graphic>
      </p:graphicFrame>
    </p:spTree>
  </p:cSld>
  <p:clrMapOvr>
    <a:masterClrMapping/>
  </p:clrMapOvr>
  <p:transition>
    <p:cover dir="u"/>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8.4 </a:t>
            </a:r>
            <a:r>
              <a:rPr lang="zh-CN" altLang="en-US" dirty="0"/>
              <a:t>学习器结合策略</a:t>
            </a:r>
            <a:endParaRPr lang="zh-CN" altLang="en-US" dirty="0"/>
          </a:p>
        </p:txBody>
      </p:sp>
      <p:sp>
        <p:nvSpPr>
          <p:cNvPr id="3" name="内容占位符 2"/>
          <p:cNvSpPr>
            <a:spLocks noGrp="1"/>
          </p:cNvSpPr>
          <p:nvPr>
            <p:ph idx="1"/>
          </p:nvPr>
        </p:nvSpPr>
        <p:spPr/>
        <p:txBody>
          <a:bodyPr/>
          <a:lstStyle/>
          <a:p>
            <a:r>
              <a:rPr lang="en-US" altLang="zh-CN" dirty="0" smtClean="0">
                <a:latin typeface="+mn-ea"/>
              </a:rPr>
              <a:t>8.4.3 </a:t>
            </a:r>
            <a:r>
              <a:rPr lang="zh-CN" altLang="en-US" dirty="0" smtClean="0">
                <a:latin typeface="+mn-ea"/>
              </a:rPr>
              <a:t>学习法</a:t>
            </a:r>
            <a:endParaRPr lang="en-US" altLang="zh-CN" dirty="0" smtClean="0">
              <a:latin typeface="+mn-ea"/>
            </a:endParaRPr>
          </a:p>
          <a:p>
            <a:pPr lvl="1"/>
            <a:r>
              <a:rPr lang="zh-CN" altLang="en-US" dirty="0" smtClean="0">
                <a:latin typeface="+mn-ea"/>
              </a:rPr>
              <a:t>通过另</a:t>
            </a:r>
            <a:r>
              <a:rPr lang="zh-CN" altLang="en-US" dirty="0">
                <a:latin typeface="+mn-ea"/>
              </a:rPr>
              <a:t>一个学习</a:t>
            </a:r>
            <a:r>
              <a:rPr lang="zh-CN" altLang="en-US" dirty="0" smtClean="0">
                <a:latin typeface="+mn-ea"/>
              </a:rPr>
              <a:t>器结合</a:t>
            </a:r>
            <a:endParaRPr lang="en-US" altLang="zh-CN" dirty="0" smtClean="0">
              <a:latin typeface="+mn-ea"/>
            </a:endParaRPr>
          </a:p>
          <a:p>
            <a:pPr lvl="2"/>
            <a:r>
              <a:rPr lang="zh-CN" altLang="en-US" dirty="0">
                <a:latin typeface="+mn-ea"/>
              </a:rPr>
              <a:t>个体学习器称为初级学习器，用于结合的学习器称为次级学习器或元学习器</a:t>
            </a:r>
            <a:endParaRPr lang="en-US" altLang="zh-CN" dirty="0">
              <a:latin typeface="+mn-ea"/>
            </a:endParaRPr>
          </a:p>
          <a:p>
            <a:pPr lvl="2"/>
            <a:r>
              <a:rPr lang="zh-CN" altLang="en-US" dirty="0" smtClean="0">
                <a:latin typeface="+mn-ea"/>
              </a:rPr>
              <a:t>如</a:t>
            </a:r>
            <a:r>
              <a:rPr lang="en-US" altLang="zh-CN" dirty="0" smtClean="0">
                <a:latin typeface="+mn-ea"/>
              </a:rPr>
              <a:t>Stacking</a:t>
            </a:r>
            <a:r>
              <a:rPr lang="zh-CN" altLang="en-US" dirty="0" smtClean="0">
                <a:latin typeface="+mn-ea"/>
              </a:rPr>
              <a:t>算法</a:t>
            </a:r>
            <a:endParaRPr lang="en-US" altLang="zh-CN" dirty="0" smtClean="0">
              <a:latin typeface="+mn-ea"/>
            </a:endParaRPr>
          </a:p>
          <a:p>
            <a:pPr lvl="1"/>
            <a:r>
              <a:rPr lang="en-US" altLang="zh-CN" dirty="0" smtClean="0">
                <a:latin typeface="+mn-ea"/>
              </a:rPr>
              <a:t>Stacking</a:t>
            </a:r>
            <a:r>
              <a:rPr lang="zh-CN" altLang="en-US" dirty="0" smtClean="0">
                <a:latin typeface="+mn-ea"/>
              </a:rPr>
              <a:t>方法</a:t>
            </a:r>
            <a:endParaRPr lang="en-US" altLang="zh-CN" dirty="0" smtClean="0">
              <a:latin typeface="+mn-ea"/>
            </a:endParaRPr>
          </a:p>
          <a:p>
            <a:pPr lvl="2"/>
            <a:r>
              <a:rPr lang="zh-CN" altLang="en-US" dirty="0" smtClean="0">
                <a:latin typeface="+mn-ea"/>
              </a:rPr>
              <a:t>先</a:t>
            </a:r>
            <a:r>
              <a:rPr lang="zh-CN" altLang="en-US" dirty="0">
                <a:latin typeface="+mn-ea"/>
              </a:rPr>
              <a:t>从初始数据集训练出初级学习</a:t>
            </a:r>
            <a:r>
              <a:rPr lang="zh-CN" altLang="en-US" dirty="0" smtClean="0">
                <a:latin typeface="+mn-ea"/>
              </a:rPr>
              <a:t>器</a:t>
            </a:r>
            <a:endParaRPr lang="en-US" altLang="zh-CN" dirty="0" smtClean="0">
              <a:latin typeface="+mn-ea"/>
            </a:endParaRPr>
          </a:p>
          <a:p>
            <a:pPr lvl="2"/>
            <a:r>
              <a:rPr lang="zh-CN" altLang="en-US" dirty="0" smtClean="0">
                <a:latin typeface="+mn-ea"/>
              </a:rPr>
              <a:t>然后生成一</a:t>
            </a:r>
            <a:r>
              <a:rPr lang="zh-CN" altLang="en-US" dirty="0">
                <a:latin typeface="+mn-ea"/>
              </a:rPr>
              <a:t>个新数据</a:t>
            </a:r>
            <a:r>
              <a:rPr lang="zh-CN" altLang="en-US" dirty="0" smtClean="0">
                <a:latin typeface="+mn-ea"/>
              </a:rPr>
              <a:t>集用于</a:t>
            </a:r>
            <a:r>
              <a:rPr lang="zh-CN" altLang="en-US" dirty="0">
                <a:latin typeface="+mn-ea"/>
              </a:rPr>
              <a:t>训练次级学习</a:t>
            </a:r>
            <a:r>
              <a:rPr lang="zh-CN" altLang="en-US" dirty="0" smtClean="0">
                <a:latin typeface="+mn-ea"/>
              </a:rPr>
              <a:t>器</a:t>
            </a:r>
            <a:endParaRPr lang="en-US" altLang="zh-CN" dirty="0" smtClean="0">
              <a:latin typeface="+mn-ea"/>
            </a:endParaRPr>
          </a:p>
          <a:p>
            <a:pPr lvl="3"/>
            <a:r>
              <a:rPr lang="zh-CN" altLang="en-US" dirty="0" smtClean="0">
                <a:latin typeface="+mn-ea"/>
              </a:rPr>
              <a:t>初级</a:t>
            </a:r>
            <a:r>
              <a:rPr lang="zh-CN" altLang="en-US" dirty="0">
                <a:latin typeface="+mn-ea"/>
              </a:rPr>
              <a:t>学习器的</a:t>
            </a:r>
            <a:r>
              <a:rPr lang="zh-CN" altLang="en-US" dirty="0" smtClean="0">
                <a:latin typeface="+mn-ea"/>
              </a:rPr>
              <a:t>输出作为样</a:t>
            </a:r>
            <a:r>
              <a:rPr lang="zh-CN" altLang="en-US" dirty="0">
                <a:latin typeface="+mn-ea"/>
              </a:rPr>
              <a:t>例输入特征</a:t>
            </a:r>
            <a:r>
              <a:rPr lang="zh-CN" altLang="en-US" dirty="0" smtClean="0">
                <a:latin typeface="+mn-ea"/>
              </a:rPr>
              <a:t>，初始</a:t>
            </a:r>
            <a:r>
              <a:rPr lang="zh-CN" altLang="en-US" dirty="0">
                <a:latin typeface="+mn-ea"/>
              </a:rPr>
              <a:t>样本的标记</a:t>
            </a:r>
            <a:r>
              <a:rPr lang="zh-CN" altLang="en-US" dirty="0" smtClean="0">
                <a:latin typeface="+mn-ea"/>
              </a:rPr>
              <a:t>仍作为样</a:t>
            </a:r>
            <a:r>
              <a:rPr lang="zh-CN" altLang="en-US" dirty="0">
                <a:latin typeface="+mn-ea"/>
              </a:rPr>
              <a:t>例</a:t>
            </a:r>
            <a:r>
              <a:rPr lang="zh-CN" altLang="en-US" dirty="0" smtClean="0">
                <a:latin typeface="+mn-ea"/>
              </a:rPr>
              <a:t>标记</a:t>
            </a:r>
            <a:endParaRPr lang="en-US" altLang="zh-CN" dirty="0" smtClean="0">
              <a:latin typeface="+mn-ea"/>
            </a:endParaRPr>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spTree>
  </p:cSld>
  <p:clrMapOvr>
    <a:masterClrMapping/>
  </p:clrMapOvr>
  <p:transition>
    <p:cover dir="u"/>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8.4 </a:t>
            </a:r>
            <a:r>
              <a:rPr lang="zh-CN" altLang="en-US" dirty="0"/>
              <a:t>学习器结合策略</a:t>
            </a:r>
            <a:endParaRPr lang="zh-CN" altLang="en-US" dirty="0"/>
          </a:p>
        </p:txBody>
      </p:sp>
      <p:sp>
        <p:nvSpPr>
          <p:cNvPr id="3" name="内容占位符 2"/>
          <p:cNvSpPr>
            <a:spLocks noGrp="1"/>
          </p:cNvSpPr>
          <p:nvPr>
            <p:ph idx="1"/>
          </p:nvPr>
        </p:nvSpPr>
        <p:spPr/>
        <p:txBody>
          <a:bodyPr/>
          <a:lstStyle/>
          <a:p>
            <a:r>
              <a:rPr lang="en-US" altLang="zh-CN" dirty="0">
                <a:latin typeface="+mn-ea"/>
              </a:rPr>
              <a:t>8.4.3 </a:t>
            </a:r>
            <a:r>
              <a:rPr lang="zh-CN" altLang="en-US" dirty="0">
                <a:latin typeface="+mn-ea"/>
              </a:rPr>
              <a:t>学习法</a:t>
            </a:r>
            <a:endParaRPr lang="en-US" altLang="zh-CN" dirty="0">
              <a:latin typeface="+mn-ea"/>
            </a:endParaRPr>
          </a:p>
          <a:p>
            <a:pPr lvl="1"/>
            <a:r>
              <a:rPr lang="en-US" altLang="zh-CN" dirty="0">
                <a:latin typeface="+mn-ea"/>
              </a:rPr>
              <a:t>Stacking</a:t>
            </a:r>
            <a:r>
              <a:rPr lang="zh-CN" altLang="en-US" dirty="0" smtClean="0">
                <a:latin typeface="+mn-ea"/>
              </a:rPr>
              <a:t>方法</a:t>
            </a:r>
            <a:endParaRPr lang="en-US" altLang="zh-CN" dirty="0">
              <a:latin typeface="+mn-ea"/>
            </a:endParaRPr>
          </a:p>
          <a:p>
            <a:pPr lvl="2"/>
            <a:r>
              <a:rPr lang="zh-CN" altLang="en-US" dirty="0" smtClean="0"/>
              <a:t>算法</a:t>
            </a:r>
            <a:endParaRPr lang="zh-CN" altLang="en-US" dirty="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pic>
        <p:nvPicPr>
          <p:cNvPr id="5" name="图片 4"/>
          <p:cNvPicPr>
            <a:picLocks noChangeAspect="1"/>
          </p:cNvPicPr>
          <p:nvPr/>
        </p:nvPicPr>
        <p:blipFill>
          <a:blip r:embed="rId1"/>
          <a:stretch>
            <a:fillRect/>
          </a:stretch>
        </p:blipFill>
        <p:spPr>
          <a:xfrm>
            <a:off x="1456716" y="2173292"/>
            <a:ext cx="6283636" cy="4608000"/>
          </a:xfrm>
          <a:prstGeom prst="rect">
            <a:avLst/>
          </a:prstGeom>
        </p:spPr>
      </p:pic>
    </p:spTree>
  </p:cSld>
  <p:clrMapOvr>
    <a:masterClrMapping/>
  </p:clrMapOvr>
  <p:transition>
    <p:cover dir="u"/>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8.4 </a:t>
            </a:r>
            <a:r>
              <a:rPr lang="zh-CN" altLang="en-US" dirty="0"/>
              <a:t>学习器结合策略</a:t>
            </a:r>
            <a:endParaRPr lang="zh-CN" altLang="en-US" dirty="0"/>
          </a:p>
        </p:txBody>
      </p:sp>
      <p:sp>
        <p:nvSpPr>
          <p:cNvPr id="3" name="内容占位符 2"/>
          <p:cNvSpPr>
            <a:spLocks noGrp="1"/>
          </p:cNvSpPr>
          <p:nvPr>
            <p:ph idx="1"/>
          </p:nvPr>
        </p:nvSpPr>
        <p:spPr/>
        <p:txBody>
          <a:bodyPr/>
          <a:lstStyle/>
          <a:p>
            <a:r>
              <a:rPr lang="en-US" altLang="zh-CN" dirty="0">
                <a:latin typeface="+mn-ea"/>
              </a:rPr>
              <a:t>8.4.3 </a:t>
            </a:r>
            <a:r>
              <a:rPr lang="zh-CN" altLang="en-US" dirty="0">
                <a:latin typeface="+mn-ea"/>
              </a:rPr>
              <a:t>学习法</a:t>
            </a:r>
            <a:endParaRPr lang="en-US" altLang="zh-CN" dirty="0">
              <a:latin typeface="+mn-ea"/>
            </a:endParaRPr>
          </a:p>
          <a:p>
            <a:pPr lvl="1"/>
            <a:r>
              <a:rPr lang="en-US" altLang="zh-CN" dirty="0">
                <a:latin typeface="+mn-ea"/>
              </a:rPr>
              <a:t>Stacking</a:t>
            </a:r>
            <a:r>
              <a:rPr lang="zh-CN" altLang="en-US" dirty="0">
                <a:latin typeface="+mn-ea"/>
              </a:rPr>
              <a:t>方法</a:t>
            </a:r>
            <a:endParaRPr lang="en-US" altLang="zh-CN" dirty="0">
              <a:latin typeface="+mn-ea"/>
            </a:endParaRPr>
          </a:p>
          <a:p>
            <a:pPr lvl="2"/>
            <a:r>
              <a:rPr lang="zh-CN" altLang="en-US" dirty="0" smtClean="0">
                <a:latin typeface="+mn-ea"/>
              </a:rPr>
              <a:t>特点</a:t>
            </a:r>
            <a:endParaRPr lang="en-US" altLang="zh-CN" dirty="0" smtClean="0">
              <a:latin typeface="+mn-ea"/>
            </a:endParaRPr>
          </a:p>
          <a:p>
            <a:pPr lvl="3"/>
            <a:r>
              <a:rPr lang="zh-CN" altLang="en-US" dirty="0" smtClean="0">
                <a:latin typeface="+mn-ea"/>
              </a:rPr>
              <a:t>次级</a:t>
            </a:r>
            <a:r>
              <a:rPr lang="zh-CN" altLang="en-US" dirty="0">
                <a:latin typeface="+mn-ea"/>
              </a:rPr>
              <a:t>训练集是利用初级学习器产生的</a:t>
            </a:r>
            <a:r>
              <a:rPr lang="zh-CN" altLang="en-US" dirty="0" smtClean="0">
                <a:latin typeface="+mn-ea"/>
              </a:rPr>
              <a:t>，用</a:t>
            </a:r>
            <a:r>
              <a:rPr lang="zh-CN" altLang="en-US" dirty="0">
                <a:latin typeface="+mn-ea"/>
              </a:rPr>
              <a:t>初级学习器的</a:t>
            </a:r>
            <a:r>
              <a:rPr lang="zh-CN" altLang="en-US" dirty="0" smtClean="0">
                <a:latin typeface="+mn-ea"/>
              </a:rPr>
              <a:t>训练集产生</a:t>
            </a:r>
            <a:r>
              <a:rPr lang="zh-CN" altLang="en-US" dirty="0">
                <a:latin typeface="+mn-ea"/>
              </a:rPr>
              <a:t>次级训练集</a:t>
            </a:r>
            <a:r>
              <a:rPr lang="zh-CN" altLang="en-US" dirty="0" smtClean="0">
                <a:latin typeface="+mn-ea"/>
              </a:rPr>
              <a:t>，可能过拟合</a:t>
            </a:r>
            <a:endParaRPr lang="en-US" altLang="zh-CN" dirty="0" smtClean="0">
              <a:latin typeface="+mn-ea"/>
            </a:endParaRPr>
          </a:p>
          <a:p>
            <a:pPr lvl="4"/>
            <a:r>
              <a:rPr lang="zh-CN" altLang="en-US" dirty="0" smtClean="0">
                <a:latin typeface="+mn-ea"/>
              </a:rPr>
              <a:t>使用</a:t>
            </a:r>
            <a:r>
              <a:rPr lang="zh-CN" altLang="en-US" dirty="0">
                <a:latin typeface="+mn-ea"/>
              </a:rPr>
              <a:t>交叉验证或留一</a:t>
            </a:r>
            <a:r>
              <a:rPr lang="zh-CN" altLang="en-US" dirty="0" smtClean="0">
                <a:latin typeface="+mn-ea"/>
              </a:rPr>
              <a:t>法，</a:t>
            </a:r>
            <a:r>
              <a:rPr lang="zh-CN" altLang="en-US" dirty="0">
                <a:latin typeface="+mn-ea"/>
              </a:rPr>
              <a:t>用训练初级学习器未使用的</a:t>
            </a:r>
            <a:r>
              <a:rPr lang="zh-CN" altLang="en-US" dirty="0" smtClean="0">
                <a:latin typeface="+mn-ea"/>
              </a:rPr>
              <a:t>样本产生</a:t>
            </a:r>
            <a:r>
              <a:rPr lang="zh-CN" altLang="en-US" dirty="0">
                <a:latin typeface="+mn-ea"/>
              </a:rPr>
              <a:t>次级学习器的</a:t>
            </a:r>
            <a:r>
              <a:rPr lang="zh-CN" altLang="en-US" dirty="0" smtClean="0">
                <a:latin typeface="+mn-ea"/>
              </a:rPr>
              <a:t>训练样本</a:t>
            </a:r>
            <a:endParaRPr lang="en-US" altLang="zh-CN" dirty="0" smtClean="0">
              <a:latin typeface="+mn-ea"/>
            </a:endParaRPr>
          </a:p>
          <a:p>
            <a:pPr lvl="3"/>
            <a:r>
              <a:rPr lang="zh-CN" altLang="en-US" dirty="0">
                <a:latin typeface="+mn-ea"/>
              </a:rPr>
              <a:t>次级学习器的输入属性表示和次级学习算法对</a:t>
            </a:r>
            <a:r>
              <a:rPr lang="en-US" altLang="zh-CN" dirty="0">
                <a:latin typeface="+mn-ea"/>
              </a:rPr>
              <a:t>Stacking</a:t>
            </a:r>
            <a:r>
              <a:rPr lang="zh-CN" altLang="en-US" dirty="0">
                <a:latin typeface="+mn-ea"/>
              </a:rPr>
              <a:t>集成的泛化</a:t>
            </a:r>
            <a:r>
              <a:rPr lang="zh-CN" altLang="en-US" dirty="0" smtClean="0">
                <a:latin typeface="+mn-ea"/>
              </a:rPr>
              <a:t>性能有</a:t>
            </a:r>
            <a:r>
              <a:rPr lang="zh-CN" altLang="en-US" dirty="0">
                <a:latin typeface="+mn-ea"/>
              </a:rPr>
              <a:t>很大</a:t>
            </a:r>
            <a:r>
              <a:rPr lang="zh-CN" altLang="en-US" dirty="0" smtClean="0">
                <a:latin typeface="+mn-ea"/>
              </a:rPr>
              <a:t>影响</a:t>
            </a:r>
            <a:endParaRPr lang="en-US" altLang="zh-CN" dirty="0" smtClean="0">
              <a:latin typeface="+mn-ea"/>
            </a:endParaRPr>
          </a:p>
          <a:p>
            <a:pPr lvl="4"/>
            <a:r>
              <a:rPr lang="zh-CN" altLang="en-US" dirty="0">
                <a:latin typeface="+mn-ea"/>
              </a:rPr>
              <a:t>有研究表明，将初级学习器的输出类概率作为次级学习器的输入属性，用多响应线性回归</a:t>
            </a:r>
            <a:r>
              <a:rPr lang="en-US" altLang="zh-CN" dirty="0">
                <a:latin typeface="+mn-ea"/>
              </a:rPr>
              <a:t>(Multi-response Linear </a:t>
            </a:r>
            <a:r>
              <a:rPr lang="en-US" altLang="zh-CN" dirty="0" smtClean="0">
                <a:latin typeface="+mn-ea"/>
              </a:rPr>
              <a:t>Regression)</a:t>
            </a:r>
            <a:r>
              <a:rPr lang="zh-CN" altLang="en-US" dirty="0">
                <a:latin typeface="+mn-ea"/>
              </a:rPr>
              <a:t>作为次级学习算法效果较好</a:t>
            </a:r>
            <a:endParaRPr lang="zh-CN" altLang="en-US" dirty="0">
              <a:latin typeface="+mn-ea"/>
            </a:endParaRPr>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spTree>
  </p:cSld>
  <p:clrMapOvr>
    <a:masterClrMapping/>
  </p:clrMapOvr>
  <p:transition>
    <p:cover dir="u"/>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8.5 </a:t>
            </a:r>
            <a:r>
              <a:rPr lang="zh-CN" altLang="en-US" dirty="0" smtClean="0"/>
              <a:t>多样性</a:t>
            </a:r>
            <a:endParaRPr lang="zh-CN" altLang="en-US" dirty="0"/>
          </a:p>
        </p:txBody>
      </p:sp>
      <p:sp>
        <p:nvSpPr>
          <p:cNvPr id="3" name="内容占位符 2"/>
          <p:cNvSpPr>
            <a:spLocks noGrp="1"/>
          </p:cNvSpPr>
          <p:nvPr>
            <p:ph idx="1"/>
          </p:nvPr>
        </p:nvSpPr>
        <p:spPr/>
        <p:txBody>
          <a:bodyPr/>
          <a:lstStyle/>
          <a:p>
            <a:r>
              <a:rPr lang="en-US" altLang="zh-CN" dirty="0">
                <a:latin typeface="+mn-ea"/>
              </a:rPr>
              <a:t>8.5.1 </a:t>
            </a:r>
            <a:r>
              <a:rPr lang="zh-CN" altLang="en-US" dirty="0" smtClean="0">
                <a:latin typeface="+mn-ea"/>
              </a:rPr>
              <a:t>误差</a:t>
            </a:r>
            <a:r>
              <a:rPr lang="en-US" altLang="zh-CN" dirty="0">
                <a:latin typeface="+mn-ea"/>
              </a:rPr>
              <a:t>-</a:t>
            </a:r>
            <a:r>
              <a:rPr lang="zh-CN" altLang="en-US" dirty="0" smtClean="0">
                <a:latin typeface="+mn-ea"/>
              </a:rPr>
              <a:t>分歧</a:t>
            </a:r>
            <a:r>
              <a:rPr lang="zh-CN" altLang="en-US" dirty="0">
                <a:latin typeface="+mn-ea"/>
              </a:rPr>
              <a:t>分解</a:t>
            </a:r>
            <a:endParaRPr lang="en-US" altLang="zh-CN" dirty="0">
              <a:latin typeface="+mn-ea"/>
            </a:endParaRPr>
          </a:p>
          <a:p>
            <a:pPr lvl="1"/>
            <a:r>
              <a:rPr lang="zh-CN" altLang="en-US" dirty="0"/>
              <a:t>欲构建泛化能力强的集成，个体学习</a:t>
            </a:r>
            <a:r>
              <a:rPr lang="zh-CN" altLang="en-US" dirty="0" smtClean="0"/>
              <a:t>器的多样性是</a:t>
            </a:r>
            <a:r>
              <a:rPr lang="zh-CN" altLang="en-US" dirty="0"/>
              <a:t>集成学习的</a:t>
            </a:r>
            <a:r>
              <a:rPr lang="zh-CN" altLang="en-US" dirty="0" smtClean="0"/>
              <a:t>关键</a:t>
            </a:r>
            <a:endParaRPr lang="en-US" altLang="zh-CN" dirty="0" smtClean="0"/>
          </a:p>
          <a:p>
            <a:pPr lvl="1"/>
            <a:r>
              <a:rPr lang="zh-CN" altLang="en-US" dirty="0" smtClean="0">
                <a:latin typeface="+mn-ea"/>
              </a:rPr>
              <a:t>理论分析</a:t>
            </a:r>
            <a:r>
              <a:rPr lang="en-US" altLang="zh-CN" dirty="0" smtClean="0">
                <a:latin typeface="+mn-ea"/>
              </a:rPr>
              <a:t>(</a:t>
            </a:r>
            <a:r>
              <a:rPr lang="zh-CN" altLang="en-US" dirty="0" smtClean="0">
                <a:latin typeface="+mn-ea"/>
              </a:rPr>
              <a:t>回归学习</a:t>
            </a:r>
            <a:r>
              <a:rPr lang="en-US" altLang="zh-CN" dirty="0" smtClean="0">
                <a:latin typeface="+mn-ea"/>
              </a:rPr>
              <a:t>)</a:t>
            </a:r>
            <a:endParaRPr lang="en-US" altLang="zh-CN" dirty="0" smtClean="0">
              <a:latin typeface="+mn-ea"/>
            </a:endParaRPr>
          </a:p>
          <a:p>
            <a:pPr lvl="2"/>
            <a:r>
              <a:rPr lang="zh-CN" altLang="en-US" dirty="0" smtClean="0"/>
              <a:t>对示例   ，定义学习器    的分歧为</a:t>
            </a:r>
            <a:endParaRPr lang="en-US" altLang="zh-CN" dirty="0" smtClean="0"/>
          </a:p>
          <a:p>
            <a:pPr lvl="2"/>
            <a:endParaRPr lang="en-US" altLang="zh-CN" dirty="0"/>
          </a:p>
          <a:p>
            <a:pPr lvl="2"/>
            <a:r>
              <a:rPr lang="zh-CN" altLang="en-US" dirty="0"/>
              <a:t>集成</a:t>
            </a:r>
            <a:r>
              <a:rPr lang="zh-CN" altLang="en-US" dirty="0" smtClean="0"/>
              <a:t>的分歧</a:t>
            </a:r>
            <a:endParaRPr lang="en-US" altLang="zh-CN" dirty="0" smtClean="0"/>
          </a:p>
          <a:p>
            <a:pPr lvl="2"/>
            <a:endParaRPr lang="en-US" altLang="zh-CN" dirty="0"/>
          </a:p>
          <a:p>
            <a:pPr lvl="3">
              <a:spcBef>
                <a:spcPts val="1200"/>
              </a:spcBef>
            </a:pPr>
            <a:r>
              <a:rPr lang="zh-CN" altLang="en-US" dirty="0" smtClean="0"/>
              <a:t>表征个体</a:t>
            </a:r>
            <a:r>
              <a:rPr lang="zh-CN" altLang="en-US" dirty="0"/>
              <a:t>学习器在</a:t>
            </a:r>
            <a:r>
              <a:rPr lang="zh-CN" altLang="en-US" dirty="0" smtClean="0"/>
              <a:t>样本上</a:t>
            </a:r>
            <a:r>
              <a:rPr lang="zh-CN" altLang="en-US" dirty="0"/>
              <a:t>的不一致性，</a:t>
            </a:r>
            <a:r>
              <a:rPr lang="zh-CN" altLang="en-US" dirty="0" smtClean="0"/>
              <a:t>即反映个体</a:t>
            </a:r>
            <a:r>
              <a:rPr lang="zh-CN" altLang="en-US" dirty="0"/>
              <a:t>学习器的</a:t>
            </a:r>
            <a:r>
              <a:rPr lang="zh-CN" altLang="en-US" dirty="0" smtClean="0"/>
              <a:t>多样性</a:t>
            </a:r>
            <a:endParaRPr lang="en-US" altLang="zh-CN" dirty="0" smtClean="0"/>
          </a:p>
          <a:p>
            <a:pPr lvl="2"/>
            <a:r>
              <a:rPr lang="zh-CN" altLang="en-US" dirty="0"/>
              <a:t>个体学习</a:t>
            </a:r>
            <a:r>
              <a:rPr lang="zh-CN" altLang="en-US" dirty="0" smtClean="0"/>
              <a:t>器</a:t>
            </a:r>
            <a:r>
              <a:rPr lang="en-US" altLang="zh-CN" dirty="0" smtClean="0"/>
              <a:t>    </a:t>
            </a:r>
            <a:r>
              <a:rPr lang="zh-CN" altLang="en-US" dirty="0" smtClean="0"/>
              <a:t>和集成</a:t>
            </a:r>
            <a:r>
              <a:rPr lang="en-US" altLang="zh-CN" dirty="0" smtClean="0"/>
              <a:t>   </a:t>
            </a:r>
            <a:r>
              <a:rPr lang="zh-CN" altLang="en-US" dirty="0" smtClean="0"/>
              <a:t>的</a:t>
            </a:r>
            <a:r>
              <a:rPr lang="zh-CN" altLang="en-US" dirty="0"/>
              <a:t>平方</a:t>
            </a:r>
            <a:r>
              <a:rPr lang="zh-CN" altLang="en-US" dirty="0" smtClean="0"/>
              <a:t>误差分别</a:t>
            </a:r>
            <a:r>
              <a:rPr lang="zh-CN" altLang="en-US" dirty="0"/>
              <a:t>为</a:t>
            </a:r>
            <a:endParaRPr lang="zh-CN" altLang="en-US" dirty="0"/>
          </a:p>
          <a:p>
            <a:pPr lvl="2">
              <a:spcBef>
                <a:spcPts val="1200"/>
              </a:spcBef>
            </a:pPr>
            <a:endParaRPr lang="zh-CN" altLang="en-US" dirty="0"/>
          </a:p>
          <a:p>
            <a:pPr lvl="2"/>
            <a:endParaRPr lang="en-US" altLang="zh-CN" dirty="0" smtClean="0"/>
          </a:p>
          <a:p>
            <a:pPr lvl="1"/>
            <a:endParaRPr lang="zh-CN" altLang="en-US" dirty="0"/>
          </a:p>
          <a:p>
            <a:pPr lvl="1"/>
            <a:endParaRPr lang="zh-CN" altLang="en-US" dirty="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graphicFrame>
        <p:nvGraphicFramePr>
          <p:cNvPr id="5" name="对象 4"/>
          <p:cNvGraphicFramePr>
            <a:graphicFrameLocks noChangeAspect="1"/>
          </p:cNvGraphicFramePr>
          <p:nvPr/>
        </p:nvGraphicFramePr>
        <p:xfrm>
          <a:off x="2981325" y="2996952"/>
          <a:ext cx="2847975" cy="466725"/>
        </p:xfrm>
        <a:graphic>
          <a:graphicData uri="http://schemas.openxmlformats.org/presentationml/2006/ole">
            <mc:AlternateContent xmlns:mc="http://schemas.openxmlformats.org/markup-compatibility/2006">
              <mc:Choice xmlns:v="urn:schemas-microsoft-com:vml" Requires="v">
                <p:oleObj spid="_x0000_s11618" name="Equation" r:id="rId1" imgW="35052000" imgH="5791200" progId="Equation.DSMT4">
                  <p:embed/>
                </p:oleObj>
              </mc:Choice>
              <mc:Fallback>
                <p:oleObj name="Equation" r:id="rId1" imgW="35052000" imgH="5791200" progId="Equation.DSMT4">
                  <p:embed/>
                  <p:pic>
                    <p:nvPicPr>
                      <p:cNvPr id="0" name="图片 11617"/>
                      <p:cNvPicPr/>
                      <p:nvPr/>
                    </p:nvPicPr>
                    <p:blipFill>
                      <a:blip r:embed="rId2"/>
                      <a:stretch>
                        <a:fillRect/>
                      </a:stretch>
                    </p:blipFill>
                    <p:spPr>
                      <a:xfrm>
                        <a:off x="2981325" y="2996952"/>
                        <a:ext cx="2847975" cy="466725"/>
                      </a:xfrm>
                      <a:prstGeom prst="rect">
                        <a:avLst/>
                      </a:prstGeom>
                    </p:spPr>
                  </p:pic>
                </p:oleObj>
              </mc:Fallback>
            </mc:AlternateContent>
          </a:graphicData>
        </a:graphic>
      </p:graphicFrame>
      <p:graphicFrame>
        <p:nvGraphicFramePr>
          <p:cNvPr id="6" name="对象 5"/>
          <p:cNvGraphicFramePr>
            <a:graphicFrameLocks noChangeAspect="1"/>
          </p:cNvGraphicFramePr>
          <p:nvPr/>
        </p:nvGraphicFramePr>
        <p:xfrm>
          <a:off x="2843808" y="2727077"/>
          <a:ext cx="271463" cy="269875"/>
        </p:xfrm>
        <a:graphic>
          <a:graphicData uri="http://schemas.openxmlformats.org/presentationml/2006/ole">
            <mc:AlternateContent xmlns:mc="http://schemas.openxmlformats.org/markup-compatibility/2006">
              <mc:Choice xmlns:v="urn:schemas-microsoft-com:vml" Requires="v">
                <p:oleObj spid="_x0000_s11619" name="Equation" r:id="rId3" imgW="3352800" imgH="3352800" progId="Equation.DSMT4">
                  <p:embed/>
                </p:oleObj>
              </mc:Choice>
              <mc:Fallback>
                <p:oleObj name="Equation" r:id="rId3" imgW="3352800" imgH="3352800" progId="Equation.DSMT4">
                  <p:embed/>
                  <p:pic>
                    <p:nvPicPr>
                      <p:cNvPr id="0" name="图片 11618"/>
                      <p:cNvPicPr/>
                      <p:nvPr/>
                    </p:nvPicPr>
                    <p:blipFill>
                      <a:blip r:embed="rId4"/>
                      <a:stretch>
                        <a:fillRect/>
                      </a:stretch>
                    </p:blipFill>
                    <p:spPr>
                      <a:xfrm>
                        <a:off x="2843808" y="2727077"/>
                        <a:ext cx="271463" cy="269875"/>
                      </a:xfrm>
                      <a:prstGeom prst="rect">
                        <a:avLst/>
                      </a:prstGeom>
                    </p:spPr>
                  </p:pic>
                </p:oleObj>
              </mc:Fallback>
            </mc:AlternateContent>
          </a:graphicData>
        </a:graphic>
      </p:graphicFrame>
      <p:graphicFrame>
        <p:nvGraphicFramePr>
          <p:cNvPr id="7" name="对象 6"/>
          <p:cNvGraphicFramePr>
            <a:graphicFrameLocks noChangeAspect="1"/>
          </p:cNvGraphicFramePr>
          <p:nvPr/>
        </p:nvGraphicFramePr>
        <p:xfrm>
          <a:off x="5002448" y="2640558"/>
          <a:ext cx="271463" cy="442912"/>
        </p:xfrm>
        <a:graphic>
          <a:graphicData uri="http://schemas.openxmlformats.org/presentationml/2006/ole">
            <mc:AlternateContent xmlns:mc="http://schemas.openxmlformats.org/markup-compatibility/2006">
              <mc:Choice xmlns:v="urn:schemas-microsoft-com:vml" Requires="v">
                <p:oleObj spid="_x0000_s11620" name="Equation" r:id="rId5" imgW="3352800" imgH="5486400" progId="Equation.DSMT4">
                  <p:embed/>
                </p:oleObj>
              </mc:Choice>
              <mc:Fallback>
                <p:oleObj name="Equation" r:id="rId5" imgW="3352800" imgH="5486400" progId="Equation.DSMT4">
                  <p:embed/>
                  <p:pic>
                    <p:nvPicPr>
                      <p:cNvPr id="0" name="图片 11619"/>
                      <p:cNvPicPr/>
                      <p:nvPr/>
                    </p:nvPicPr>
                    <p:blipFill>
                      <a:blip r:embed="rId6"/>
                      <a:stretch>
                        <a:fillRect/>
                      </a:stretch>
                    </p:blipFill>
                    <p:spPr>
                      <a:xfrm>
                        <a:off x="5002448" y="2640558"/>
                        <a:ext cx="271463" cy="442912"/>
                      </a:xfrm>
                      <a:prstGeom prst="rect">
                        <a:avLst/>
                      </a:prstGeom>
                    </p:spPr>
                  </p:pic>
                </p:oleObj>
              </mc:Fallback>
            </mc:AlternateContent>
          </a:graphicData>
        </a:graphic>
      </p:graphicFrame>
      <p:graphicFrame>
        <p:nvGraphicFramePr>
          <p:cNvPr id="8" name="对象 7"/>
          <p:cNvGraphicFramePr>
            <a:graphicFrameLocks noChangeAspect="1"/>
          </p:cNvGraphicFramePr>
          <p:nvPr/>
        </p:nvGraphicFramePr>
        <p:xfrm>
          <a:off x="2123728" y="3729533"/>
          <a:ext cx="5300663" cy="563563"/>
        </p:xfrm>
        <a:graphic>
          <a:graphicData uri="http://schemas.openxmlformats.org/presentationml/2006/ole">
            <mc:AlternateContent xmlns:mc="http://schemas.openxmlformats.org/markup-compatibility/2006">
              <mc:Choice xmlns:v="urn:schemas-microsoft-com:vml" Requires="v">
                <p:oleObj spid="_x0000_s11621" name="Equation" r:id="rId7" imgW="65227200" imgH="7010400" progId="Equation.DSMT4">
                  <p:embed/>
                </p:oleObj>
              </mc:Choice>
              <mc:Fallback>
                <p:oleObj name="Equation" r:id="rId7" imgW="65227200" imgH="7010400" progId="Equation.DSMT4">
                  <p:embed/>
                  <p:pic>
                    <p:nvPicPr>
                      <p:cNvPr id="0" name="图片 11620"/>
                      <p:cNvPicPr/>
                      <p:nvPr/>
                    </p:nvPicPr>
                    <p:blipFill>
                      <a:blip r:embed="rId8"/>
                      <a:stretch>
                        <a:fillRect/>
                      </a:stretch>
                    </p:blipFill>
                    <p:spPr>
                      <a:xfrm>
                        <a:off x="2123728" y="3729533"/>
                        <a:ext cx="5300663" cy="563563"/>
                      </a:xfrm>
                      <a:prstGeom prst="rect">
                        <a:avLst/>
                      </a:prstGeom>
                    </p:spPr>
                  </p:pic>
                </p:oleObj>
              </mc:Fallback>
            </mc:AlternateContent>
          </a:graphicData>
        </a:graphic>
      </p:graphicFrame>
      <p:graphicFrame>
        <p:nvGraphicFramePr>
          <p:cNvPr id="9" name="对象 8"/>
          <p:cNvGraphicFramePr>
            <a:graphicFrameLocks noChangeAspect="1"/>
          </p:cNvGraphicFramePr>
          <p:nvPr/>
        </p:nvGraphicFramePr>
        <p:xfrm>
          <a:off x="3491880" y="4883993"/>
          <a:ext cx="271463" cy="442912"/>
        </p:xfrm>
        <a:graphic>
          <a:graphicData uri="http://schemas.openxmlformats.org/presentationml/2006/ole">
            <mc:AlternateContent xmlns:mc="http://schemas.openxmlformats.org/markup-compatibility/2006">
              <mc:Choice xmlns:v="urn:schemas-microsoft-com:vml" Requires="v">
                <p:oleObj spid="_x0000_s11622" name="Equation" r:id="rId9" imgW="3352800" imgH="5486400" progId="Equation.DSMT4">
                  <p:embed/>
                </p:oleObj>
              </mc:Choice>
              <mc:Fallback>
                <p:oleObj name="Equation" r:id="rId9" imgW="3352800" imgH="5486400" progId="Equation.DSMT4">
                  <p:embed/>
                  <p:pic>
                    <p:nvPicPr>
                      <p:cNvPr id="0" name="图片 11621"/>
                      <p:cNvPicPr/>
                      <p:nvPr/>
                    </p:nvPicPr>
                    <p:blipFill>
                      <a:blip r:embed="rId10"/>
                      <a:stretch>
                        <a:fillRect/>
                      </a:stretch>
                    </p:blipFill>
                    <p:spPr>
                      <a:xfrm>
                        <a:off x="3491880" y="4883993"/>
                        <a:ext cx="271463" cy="442912"/>
                      </a:xfrm>
                      <a:prstGeom prst="rect">
                        <a:avLst/>
                      </a:prstGeom>
                    </p:spPr>
                  </p:pic>
                </p:oleObj>
              </mc:Fallback>
            </mc:AlternateContent>
          </a:graphicData>
        </a:graphic>
      </p:graphicFrame>
      <p:graphicFrame>
        <p:nvGraphicFramePr>
          <p:cNvPr id="10" name="对象 9"/>
          <p:cNvGraphicFramePr>
            <a:graphicFrameLocks noChangeAspect="1"/>
          </p:cNvGraphicFramePr>
          <p:nvPr/>
        </p:nvGraphicFramePr>
        <p:xfrm>
          <a:off x="4706992" y="4908525"/>
          <a:ext cx="344488" cy="320675"/>
        </p:xfrm>
        <a:graphic>
          <a:graphicData uri="http://schemas.openxmlformats.org/presentationml/2006/ole">
            <mc:AlternateContent xmlns:mc="http://schemas.openxmlformats.org/markup-compatibility/2006">
              <mc:Choice xmlns:v="urn:schemas-microsoft-com:vml" Requires="v">
                <p:oleObj spid="_x0000_s11623" name="Equation" r:id="rId11" imgW="4267200" imgH="3962400" progId="Equation.DSMT4">
                  <p:embed/>
                </p:oleObj>
              </mc:Choice>
              <mc:Fallback>
                <p:oleObj name="Equation" r:id="rId11" imgW="4267200" imgH="3962400" progId="Equation.DSMT4">
                  <p:embed/>
                  <p:pic>
                    <p:nvPicPr>
                      <p:cNvPr id="0" name="图片 11622"/>
                      <p:cNvPicPr/>
                      <p:nvPr/>
                    </p:nvPicPr>
                    <p:blipFill>
                      <a:blip r:embed="rId12"/>
                      <a:stretch>
                        <a:fillRect/>
                      </a:stretch>
                    </p:blipFill>
                    <p:spPr>
                      <a:xfrm>
                        <a:off x="4706992" y="4908525"/>
                        <a:ext cx="344488" cy="320675"/>
                      </a:xfrm>
                      <a:prstGeom prst="rect">
                        <a:avLst/>
                      </a:prstGeom>
                    </p:spPr>
                  </p:pic>
                </p:oleObj>
              </mc:Fallback>
            </mc:AlternateContent>
          </a:graphicData>
        </a:graphic>
      </p:graphicFrame>
      <p:graphicFrame>
        <p:nvGraphicFramePr>
          <p:cNvPr id="11" name="对象 10"/>
          <p:cNvGraphicFramePr>
            <a:graphicFrameLocks noChangeAspect="1"/>
          </p:cNvGraphicFramePr>
          <p:nvPr/>
        </p:nvGraphicFramePr>
        <p:xfrm>
          <a:off x="3131840" y="5229200"/>
          <a:ext cx="2922587" cy="833438"/>
        </p:xfrm>
        <a:graphic>
          <a:graphicData uri="http://schemas.openxmlformats.org/presentationml/2006/ole">
            <mc:AlternateContent xmlns:mc="http://schemas.openxmlformats.org/markup-compatibility/2006">
              <mc:Choice xmlns:v="urn:schemas-microsoft-com:vml" Requires="v">
                <p:oleObj spid="_x0000_s11624" name="Equation" r:id="rId13" imgW="35966400" imgH="10363200" progId="Equation.DSMT4">
                  <p:embed/>
                </p:oleObj>
              </mc:Choice>
              <mc:Fallback>
                <p:oleObj name="Equation" r:id="rId13" imgW="35966400" imgH="10363200" progId="Equation.DSMT4">
                  <p:embed/>
                  <p:pic>
                    <p:nvPicPr>
                      <p:cNvPr id="0" name="图片 11623"/>
                      <p:cNvPicPr/>
                      <p:nvPr/>
                    </p:nvPicPr>
                    <p:blipFill>
                      <a:blip r:embed="rId14"/>
                      <a:stretch>
                        <a:fillRect/>
                      </a:stretch>
                    </p:blipFill>
                    <p:spPr>
                      <a:xfrm>
                        <a:off x="3131840" y="5229200"/>
                        <a:ext cx="2922587" cy="833438"/>
                      </a:xfrm>
                      <a:prstGeom prst="rect">
                        <a:avLst/>
                      </a:prstGeom>
                    </p:spPr>
                  </p:pic>
                </p:oleObj>
              </mc:Fallback>
            </mc:AlternateContent>
          </a:graphicData>
        </a:graphic>
      </p:graphicFrame>
    </p:spTree>
  </p:cSld>
  <p:clrMapOvr>
    <a:masterClrMapping/>
  </p:clrMapOvr>
  <p:transition>
    <p:cover dir="u"/>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8.5 </a:t>
            </a:r>
            <a:r>
              <a:rPr lang="zh-CN" altLang="en-US" dirty="0"/>
              <a:t>多样性</a:t>
            </a:r>
            <a:endParaRPr lang="zh-CN" altLang="en-US" dirty="0"/>
          </a:p>
        </p:txBody>
      </p:sp>
      <p:sp>
        <p:nvSpPr>
          <p:cNvPr id="3" name="内容占位符 2"/>
          <p:cNvSpPr>
            <a:spLocks noGrp="1"/>
          </p:cNvSpPr>
          <p:nvPr>
            <p:ph idx="1"/>
          </p:nvPr>
        </p:nvSpPr>
        <p:spPr/>
        <p:txBody>
          <a:bodyPr/>
          <a:lstStyle/>
          <a:p>
            <a:r>
              <a:rPr lang="en-US" altLang="zh-CN" dirty="0">
                <a:latin typeface="+mn-ea"/>
              </a:rPr>
              <a:t>8.5.1 </a:t>
            </a:r>
            <a:r>
              <a:rPr lang="zh-CN" altLang="en-US" dirty="0">
                <a:latin typeface="+mn-ea"/>
              </a:rPr>
              <a:t>误差</a:t>
            </a:r>
            <a:r>
              <a:rPr lang="en-US" altLang="zh-CN" dirty="0">
                <a:latin typeface="+mn-ea"/>
              </a:rPr>
              <a:t>-</a:t>
            </a:r>
            <a:r>
              <a:rPr lang="zh-CN" altLang="en-US" dirty="0">
                <a:latin typeface="+mn-ea"/>
              </a:rPr>
              <a:t>分歧分解</a:t>
            </a:r>
            <a:endParaRPr lang="en-US" altLang="zh-CN" dirty="0">
              <a:latin typeface="+mn-ea"/>
            </a:endParaRPr>
          </a:p>
          <a:p>
            <a:pPr lvl="1"/>
            <a:r>
              <a:rPr lang="zh-CN" altLang="en-US" dirty="0">
                <a:latin typeface="+mn-ea"/>
              </a:rPr>
              <a:t>理论分析</a:t>
            </a:r>
            <a:r>
              <a:rPr lang="en-US" altLang="zh-CN" dirty="0" smtClean="0">
                <a:latin typeface="+mn-ea"/>
              </a:rPr>
              <a:t>(</a:t>
            </a:r>
            <a:r>
              <a:rPr lang="zh-CN" altLang="en-US" dirty="0">
                <a:latin typeface="+mn-ea"/>
              </a:rPr>
              <a:t>回归学习</a:t>
            </a:r>
            <a:r>
              <a:rPr lang="en-US" altLang="zh-CN" dirty="0" smtClean="0">
                <a:latin typeface="+mn-ea"/>
              </a:rPr>
              <a:t>)</a:t>
            </a:r>
            <a:endParaRPr lang="en-US" altLang="zh-CN" dirty="0" smtClean="0">
              <a:latin typeface="+mn-ea"/>
            </a:endParaRPr>
          </a:p>
          <a:p>
            <a:pPr lvl="2"/>
            <a:r>
              <a:rPr lang="zh-CN" altLang="en-US" dirty="0">
                <a:latin typeface="+mn-ea"/>
              </a:rPr>
              <a:t>个体学习器误差的</a:t>
            </a:r>
            <a:r>
              <a:rPr lang="zh-CN" altLang="en-US" dirty="0" smtClean="0">
                <a:latin typeface="+mn-ea"/>
              </a:rPr>
              <a:t>加权均值</a:t>
            </a:r>
            <a:endParaRPr lang="en-US" altLang="zh-CN" dirty="0" smtClean="0">
              <a:latin typeface="+mn-ea"/>
            </a:endParaRPr>
          </a:p>
          <a:p>
            <a:pPr lvl="2"/>
            <a:endParaRPr lang="en-US" altLang="zh-CN" dirty="0">
              <a:latin typeface="+mn-ea"/>
            </a:endParaRPr>
          </a:p>
          <a:p>
            <a:pPr lvl="3"/>
            <a:r>
              <a:rPr lang="zh-CN" altLang="en-US" dirty="0" smtClean="0">
                <a:latin typeface="+mn-ea"/>
              </a:rPr>
              <a:t>有</a:t>
            </a:r>
            <a:endParaRPr lang="en-US" altLang="zh-CN" dirty="0" smtClean="0">
              <a:latin typeface="+mn-ea"/>
            </a:endParaRPr>
          </a:p>
          <a:p>
            <a:pPr lvl="2">
              <a:spcBef>
                <a:spcPts val="1800"/>
              </a:spcBef>
            </a:pPr>
            <a:r>
              <a:rPr lang="zh-CN" altLang="en-US" dirty="0" smtClean="0">
                <a:latin typeface="+mn-ea"/>
              </a:rPr>
              <a:t>对于全样本</a:t>
            </a:r>
            <a:endParaRPr lang="en-US" altLang="zh-CN" dirty="0" smtClean="0">
              <a:latin typeface="+mn-ea"/>
            </a:endParaRPr>
          </a:p>
          <a:p>
            <a:pPr lvl="3"/>
            <a:r>
              <a:rPr lang="zh-CN" altLang="en-US" dirty="0">
                <a:latin typeface="+mn-ea"/>
              </a:rPr>
              <a:t>个体学习</a:t>
            </a:r>
            <a:r>
              <a:rPr lang="zh-CN" altLang="en-US" dirty="0" smtClean="0">
                <a:latin typeface="+mn-ea"/>
              </a:rPr>
              <a:t>器的</a:t>
            </a:r>
            <a:r>
              <a:rPr lang="zh-CN" altLang="en-US" dirty="0">
                <a:latin typeface="+mn-ea"/>
              </a:rPr>
              <a:t>泛化误差和</a:t>
            </a:r>
            <a:r>
              <a:rPr lang="zh-CN" altLang="en-US" dirty="0" smtClean="0">
                <a:latin typeface="+mn-ea"/>
              </a:rPr>
              <a:t>分歧为</a:t>
            </a:r>
            <a:endParaRPr lang="en-US" altLang="zh-CN" dirty="0" smtClean="0">
              <a:latin typeface="+mn-ea"/>
            </a:endParaRPr>
          </a:p>
          <a:p>
            <a:pPr lvl="3"/>
            <a:endParaRPr lang="en-US" altLang="zh-CN" dirty="0">
              <a:latin typeface="+mn-ea"/>
            </a:endParaRPr>
          </a:p>
          <a:p>
            <a:pPr lvl="3">
              <a:spcBef>
                <a:spcPts val="1200"/>
              </a:spcBef>
            </a:pPr>
            <a:r>
              <a:rPr lang="zh-CN" altLang="en-US" dirty="0" smtClean="0">
                <a:latin typeface="+mn-ea"/>
              </a:rPr>
              <a:t>集成</a:t>
            </a:r>
            <a:r>
              <a:rPr lang="zh-CN" altLang="en-US" dirty="0">
                <a:latin typeface="+mn-ea"/>
              </a:rPr>
              <a:t>的泛化</a:t>
            </a:r>
            <a:r>
              <a:rPr lang="zh-CN" altLang="en-US" dirty="0" smtClean="0">
                <a:latin typeface="+mn-ea"/>
              </a:rPr>
              <a:t>误差</a:t>
            </a:r>
            <a:endParaRPr lang="en-US" altLang="zh-CN" dirty="0" smtClean="0">
              <a:latin typeface="+mn-ea"/>
            </a:endParaRPr>
          </a:p>
          <a:p>
            <a:pPr lvl="3"/>
            <a:endParaRPr lang="en-US" altLang="zh-CN" dirty="0">
              <a:latin typeface="+mn-ea"/>
            </a:endParaRPr>
          </a:p>
          <a:p>
            <a:pPr lvl="3">
              <a:spcBef>
                <a:spcPts val="1200"/>
              </a:spcBef>
            </a:pPr>
            <a:r>
              <a:rPr lang="zh-CN" altLang="en-US" dirty="0" smtClean="0">
                <a:latin typeface="+mn-ea"/>
              </a:rPr>
              <a:t>个体</a:t>
            </a:r>
            <a:r>
              <a:rPr lang="zh-CN" altLang="en-US" dirty="0">
                <a:latin typeface="+mn-ea"/>
              </a:rPr>
              <a:t>学习</a:t>
            </a:r>
            <a:r>
              <a:rPr lang="zh-CN" altLang="en-US" dirty="0" smtClean="0">
                <a:latin typeface="+mn-ea"/>
              </a:rPr>
              <a:t>器的加权</a:t>
            </a:r>
            <a:r>
              <a:rPr lang="zh-CN" altLang="en-US" dirty="0">
                <a:latin typeface="+mn-ea"/>
              </a:rPr>
              <a:t>分歧</a:t>
            </a:r>
            <a:r>
              <a:rPr lang="zh-CN" altLang="en-US" dirty="0" smtClean="0">
                <a:latin typeface="+mn-ea"/>
              </a:rPr>
              <a:t>值和泛化</a:t>
            </a:r>
            <a:r>
              <a:rPr lang="zh-CN" altLang="en-US" dirty="0">
                <a:latin typeface="+mn-ea"/>
              </a:rPr>
              <a:t>误差的</a:t>
            </a:r>
            <a:r>
              <a:rPr lang="zh-CN" altLang="en-US" dirty="0" smtClean="0">
                <a:latin typeface="+mn-ea"/>
              </a:rPr>
              <a:t>加权均值</a:t>
            </a:r>
            <a:endParaRPr lang="en-US" altLang="zh-CN" dirty="0" smtClean="0">
              <a:latin typeface="+mn-ea"/>
            </a:endParaRPr>
          </a:p>
          <a:p>
            <a:pPr lvl="3">
              <a:spcBef>
                <a:spcPts val="1200"/>
              </a:spcBef>
            </a:pPr>
            <a:endParaRPr lang="zh-CN" altLang="en-US" dirty="0">
              <a:latin typeface="+mn-ea"/>
            </a:endParaRPr>
          </a:p>
          <a:p>
            <a:pPr lvl="3"/>
            <a:r>
              <a:rPr lang="zh-CN" altLang="en-US" dirty="0" smtClean="0">
                <a:latin typeface="+mn-ea"/>
              </a:rPr>
              <a:t>可得</a:t>
            </a:r>
            <a:endParaRPr lang="en-US" altLang="zh-CN" dirty="0" smtClean="0">
              <a:latin typeface="+mn-ea"/>
            </a:endParaRPr>
          </a:p>
          <a:p>
            <a:pPr lvl="4"/>
            <a:endParaRPr lang="en-US" altLang="zh-CN" dirty="0" smtClean="0">
              <a:latin typeface="+mn-ea"/>
            </a:endParaRPr>
          </a:p>
          <a:p>
            <a:pPr lvl="4"/>
            <a:r>
              <a:rPr lang="zh-CN" altLang="en-US" dirty="0" smtClean="0">
                <a:latin typeface="+mn-ea"/>
              </a:rPr>
              <a:t>个体</a:t>
            </a:r>
            <a:r>
              <a:rPr lang="zh-CN" altLang="en-US" dirty="0">
                <a:latin typeface="+mn-ea"/>
              </a:rPr>
              <a:t>学习器准确性越高、多样性越大</a:t>
            </a:r>
            <a:r>
              <a:rPr lang="zh-CN" altLang="en-US" dirty="0" smtClean="0">
                <a:latin typeface="+mn-ea"/>
              </a:rPr>
              <a:t>，集成</a:t>
            </a:r>
            <a:r>
              <a:rPr lang="zh-CN" altLang="en-US" dirty="0">
                <a:latin typeface="+mn-ea"/>
              </a:rPr>
              <a:t>越好</a:t>
            </a:r>
            <a:endParaRPr lang="zh-CN" altLang="en-US" dirty="0"/>
          </a:p>
          <a:p>
            <a:pPr lvl="4"/>
            <a:endParaRPr lang="en-US" altLang="zh-CN" dirty="0" smtClean="0">
              <a:latin typeface="+mn-ea"/>
            </a:endParaRPr>
          </a:p>
          <a:p>
            <a:pPr lvl="5"/>
            <a:endParaRPr lang="en-US" altLang="zh-CN" dirty="0">
              <a:latin typeface="+mn-ea"/>
            </a:endParaRPr>
          </a:p>
          <a:p>
            <a:endParaRPr lang="zh-CN" altLang="en-US" dirty="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graphicFrame>
        <p:nvGraphicFramePr>
          <p:cNvPr id="5" name="对象 4"/>
          <p:cNvGraphicFramePr>
            <a:graphicFrameLocks noChangeAspect="1"/>
          </p:cNvGraphicFramePr>
          <p:nvPr/>
        </p:nvGraphicFramePr>
        <p:xfrm>
          <a:off x="3195491" y="2132856"/>
          <a:ext cx="2749550" cy="563562"/>
        </p:xfrm>
        <a:graphic>
          <a:graphicData uri="http://schemas.openxmlformats.org/presentationml/2006/ole">
            <mc:AlternateContent xmlns:mc="http://schemas.openxmlformats.org/markup-compatibility/2006">
              <mc:Choice xmlns:v="urn:schemas-microsoft-com:vml" Requires="v">
                <p:oleObj spid="_x0000_s12589" name="Equation" r:id="rId1" imgW="33832800" imgH="7010400" progId="Equation.DSMT4">
                  <p:embed/>
                </p:oleObj>
              </mc:Choice>
              <mc:Fallback>
                <p:oleObj name="Equation" r:id="rId1" imgW="33832800" imgH="7010400" progId="Equation.DSMT4">
                  <p:embed/>
                  <p:pic>
                    <p:nvPicPr>
                      <p:cNvPr id="0" name="图片 12588"/>
                      <p:cNvPicPr/>
                      <p:nvPr/>
                    </p:nvPicPr>
                    <p:blipFill>
                      <a:blip r:embed="rId2"/>
                      <a:stretch>
                        <a:fillRect/>
                      </a:stretch>
                    </p:blipFill>
                    <p:spPr>
                      <a:xfrm>
                        <a:off x="3195491" y="2132856"/>
                        <a:ext cx="2749550" cy="563562"/>
                      </a:xfrm>
                      <a:prstGeom prst="rect">
                        <a:avLst/>
                      </a:prstGeom>
                    </p:spPr>
                  </p:pic>
                </p:oleObj>
              </mc:Fallback>
            </mc:AlternateContent>
          </a:graphicData>
        </a:graphic>
      </p:graphicFrame>
      <p:graphicFrame>
        <p:nvGraphicFramePr>
          <p:cNvPr id="7" name="对象 6"/>
          <p:cNvGraphicFramePr>
            <a:graphicFrameLocks noChangeAspect="1"/>
          </p:cNvGraphicFramePr>
          <p:nvPr/>
        </p:nvGraphicFramePr>
        <p:xfrm>
          <a:off x="3071666" y="2675830"/>
          <a:ext cx="2997200" cy="465138"/>
        </p:xfrm>
        <a:graphic>
          <a:graphicData uri="http://schemas.openxmlformats.org/presentationml/2006/ole">
            <mc:AlternateContent xmlns:mc="http://schemas.openxmlformats.org/markup-compatibility/2006">
              <mc:Choice xmlns:v="urn:schemas-microsoft-com:vml" Requires="v">
                <p:oleObj spid="_x0000_s12590" name="Equation" r:id="rId3" imgW="36880800" imgH="5791200" progId="Equation.DSMT4">
                  <p:embed/>
                </p:oleObj>
              </mc:Choice>
              <mc:Fallback>
                <p:oleObj name="Equation" r:id="rId3" imgW="36880800" imgH="5791200" progId="Equation.DSMT4">
                  <p:embed/>
                  <p:pic>
                    <p:nvPicPr>
                      <p:cNvPr id="0" name="图片 12589"/>
                      <p:cNvPicPr/>
                      <p:nvPr/>
                    </p:nvPicPr>
                    <p:blipFill>
                      <a:blip r:embed="rId4"/>
                      <a:stretch>
                        <a:fillRect/>
                      </a:stretch>
                    </p:blipFill>
                    <p:spPr>
                      <a:xfrm>
                        <a:off x="3071666" y="2675830"/>
                        <a:ext cx="2997200" cy="465138"/>
                      </a:xfrm>
                      <a:prstGeom prst="rect">
                        <a:avLst/>
                      </a:prstGeom>
                    </p:spPr>
                  </p:pic>
                </p:oleObj>
              </mc:Fallback>
            </mc:AlternateContent>
          </a:graphicData>
        </a:graphic>
      </p:graphicFrame>
      <p:graphicFrame>
        <p:nvGraphicFramePr>
          <p:cNvPr id="8" name="对象 7"/>
          <p:cNvGraphicFramePr>
            <a:graphicFrameLocks noChangeAspect="1"/>
          </p:cNvGraphicFramePr>
          <p:nvPr/>
        </p:nvGraphicFramePr>
        <p:xfrm>
          <a:off x="3995936" y="5917207"/>
          <a:ext cx="1090613" cy="392113"/>
        </p:xfrm>
        <a:graphic>
          <a:graphicData uri="http://schemas.openxmlformats.org/presentationml/2006/ole">
            <mc:AlternateContent xmlns:mc="http://schemas.openxmlformats.org/markup-compatibility/2006">
              <mc:Choice xmlns:v="urn:schemas-microsoft-com:vml" Requires="v">
                <p:oleObj spid="_x0000_s12591" name="Equation" r:id="rId5" imgW="13411200" imgH="4876800" progId="Equation.DSMT4">
                  <p:embed/>
                </p:oleObj>
              </mc:Choice>
              <mc:Fallback>
                <p:oleObj name="Equation" r:id="rId5" imgW="13411200" imgH="4876800" progId="Equation.DSMT4">
                  <p:embed/>
                  <p:pic>
                    <p:nvPicPr>
                      <p:cNvPr id="0" name="图片 12590"/>
                      <p:cNvPicPr/>
                      <p:nvPr/>
                    </p:nvPicPr>
                    <p:blipFill>
                      <a:blip r:embed="rId6"/>
                      <a:stretch>
                        <a:fillRect/>
                      </a:stretch>
                    </p:blipFill>
                    <p:spPr>
                      <a:xfrm>
                        <a:off x="3995936" y="5917207"/>
                        <a:ext cx="1090613" cy="392113"/>
                      </a:xfrm>
                      <a:prstGeom prst="rect">
                        <a:avLst/>
                      </a:prstGeom>
                    </p:spPr>
                  </p:pic>
                </p:oleObj>
              </mc:Fallback>
            </mc:AlternateContent>
          </a:graphicData>
        </a:graphic>
      </p:graphicFrame>
      <p:graphicFrame>
        <p:nvGraphicFramePr>
          <p:cNvPr id="9" name="对象 8"/>
          <p:cNvGraphicFramePr>
            <a:graphicFrameLocks noChangeAspect="1"/>
          </p:cNvGraphicFramePr>
          <p:nvPr/>
        </p:nvGraphicFramePr>
        <p:xfrm>
          <a:off x="2339752" y="3682925"/>
          <a:ext cx="5156200" cy="538163"/>
        </p:xfrm>
        <a:graphic>
          <a:graphicData uri="http://schemas.openxmlformats.org/presentationml/2006/ole">
            <mc:AlternateContent xmlns:mc="http://schemas.openxmlformats.org/markup-compatibility/2006">
              <mc:Choice xmlns:v="urn:schemas-microsoft-com:vml" Requires="v">
                <p:oleObj spid="_x0000_s12592" name="Equation" r:id="rId7" imgW="63398400" imgH="6705600" progId="Equation.DSMT4">
                  <p:embed/>
                </p:oleObj>
              </mc:Choice>
              <mc:Fallback>
                <p:oleObj name="Equation" r:id="rId7" imgW="63398400" imgH="6705600" progId="Equation.DSMT4">
                  <p:embed/>
                  <p:pic>
                    <p:nvPicPr>
                      <p:cNvPr id="0" name="图片 12591"/>
                      <p:cNvPicPr/>
                      <p:nvPr/>
                    </p:nvPicPr>
                    <p:blipFill>
                      <a:blip r:embed="rId8"/>
                      <a:stretch>
                        <a:fillRect/>
                      </a:stretch>
                    </p:blipFill>
                    <p:spPr>
                      <a:xfrm>
                        <a:off x="2339752" y="3682925"/>
                        <a:ext cx="5156200" cy="538163"/>
                      </a:xfrm>
                      <a:prstGeom prst="rect">
                        <a:avLst/>
                      </a:prstGeom>
                    </p:spPr>
                  </p:pic>
                </p:oleObj>
              </mc:Fallback>
            </mc:AlternateContent>
          </a:graphicData>
        </a:graphic>
      </p:graphicFrame>
      <p:graphicFrame>
        <p:nvGraphicFramePr>
          <p:cNvPr id="10" name="对象 9"/>
          <p:cNvGraphicFramePr>
            <a:graphicFrameLocks noChangeAspect="1"/>
          </p:cNvGraphicFramePr>
          <p:nvPr/>
        </p:nvGraphicFramePr>
        <p:xfrm>
          <a:off x="3347864" y="4475013"/>
          <a:ext cx="2454275" cy="538163"/>
        </p:xfrm>
        <a:graphic>
          <a:graphicData uri="http://schemas.openxmlformats.org/presentationml/2006/ole">
            <mc:AlternateContent xmlns:mc="http://schemas.openxmlformats.org/markup-compatibility/2006">
              <mc:Choice xmlns:v="urn:schemas-microsoft-com:vml" Requires="v">
                <p:oleObj spid="_x0000_s12593" name="Equation" r:id="rId9" imgW="30175200" imgH="6705600" progId="Equation.DSMT4">
                  <p:embed/>
                </p:oleObj>
              </mc:Choice>
              <mc:Fallback>
                <p:oleObj name="Equation" r:id="rId9" imgW="30175200" imgH="6705600" progId="Equation.DSMT4">
                  <p:embed/>
                  <p:pic>
                    <p:nvPicPr>
                      <p:cNvPr id="0" name="图片 12592"/>
                      <p:cNvPicPr/>
                      <p:nvPr/>
                    </p:nvPicPr>
                    <p:blipFill>
                      <a:blip r:embed="rId10"/>
                      <a:stretch>
                        <a:fillRect/>
                      </a:stretch>
                    </p:blipFill>
                    <p:spPr>
                      <a:xfrm>
                        <a:off x="3347864" y="4475013"/>
                        <a:ext cx="2454275" cy="538163"/>
                      </a:xfrm>
                      <a:prstGeom prst="rect">
                        <a:avLst/>
                      </a:prstGeom>
                    </p:spPr>
                  </p:pic>
                </p:oleObj>
              </mc:Fallback>
            </mc:AlternateContent>
          </a:graphicData>
        </a:graphic>
      </p:graphicFrame>
      <p:graphicFrame>
        <p:nvGraphicFramePr>
          <p:cNvPr id="11" name="对象 10"/>
          <p:cNvGraphicFramePr>
            <a:graphicFrameLocks noChangeAspect="1"/>
          </p:cNvGraphicFramePr>
          <p:nvPr/>
        </p:nvGraphicFramePr>
        <p:xfrm>
          <a:off x="2909741" y="5234991"/>
          <a:ext cx="3321050" cy="563563"/>
        </p:xfrm>
        <a:graphic>
          <a:graphicData uri="http://schemas.openxmlformats.org/presentationml/2006/ole">
            <mc:AlternateContent xmlns:mc="http://schemas.openxmlformats.org/markup-compatibility/2006">
              <mc:Choice xmlns:v="urn:schemas-microsoft-com:vml" Requires="v">
                <p:oleObj spid="_x0000_s12594" name="Equation" r:id="rId11" imgW="40843200" imgH="7010400" progId="Equation.DSMT4">
                  <p:embed/>
                </p:oleObj>
              </mc:Choice>
              <mc:Fallback>
                <p:oleObj name="Equation" r:id="rId11" imgW="40843200" imgH="7010400" progId="Equation.DSMT4">
                  <p:embed/>
                  <p:pic>
                    <p:nvPicPr>
                      <p:cNvPr id="0" name="图片 12593"/>
                      <p:cNvPicPr/>
                      <p:nvPr/>
                    </p:nvPicPr>
                    <p:blipFill>
                      <a:blip r:embed="rId12"/>
                      <a:stretch>
                        <a:fillRect/>
                      </a:stretch>
                    </p:blipFill>
                    <p:spPr>
                      <a:xfrm>
                        <a:off x="2909741" y="5234991"/>
                        <a:ext cx="3321050" cy="563563"/>
                      </a:xfrm>
                      <a:prstGeom prst="rect">
                        <a:avLst/>
                      </a:prstGeom>
                    </p:spPr>
                  </p:pic>
                </p:oleObj>
              </mc:Fallback>
            </mc:AlternateContent>
          </a:graphicData>
        </a:graphic>
      </p:graphicFrame>
    </p:spTree>
  </p:cSld>
  <p:clrMapOvr>
    <a:masterClrMapping/>
  </p:clrMapOvr>
  <p:transition>
    <p:cover dir="u"/>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8.5 </a:t>
            </a:r>
            <a:r>
              <a:rPr lang="zh-CN" altLang="en-US" dirty="0"/>
              <a:t>多样性</a:t>
            </a:r>
            <a:endParaRPr lang="zh-CN" altLang="en-US" dirty="0"/>
          </a:p>
        </p:txBody>
      </p:sp>
      <p:sp>
        <p:nvSpPr>
          <p:cNvPr id="3" name="内容占位符 2"/>
          <p:cNvSpPr>
            <a:spLocks noGrp="1"/>
          </p:cNvSpPr>
          <p:nvPr>
            <p:ph idx="1"/>
          </p:nvPr>
        </p:nvSpPr>
        <p:spPr/>
        <p:txBody>
          <a:bodyPr/>
          <a:lstStyle/>
          <a:p>
            <a:r>
              <a:rPr lang="en-US" altLang="zh-CN" dirty="0">
                <a:latin typeface="+mn-ea"/>
              </a:rPr>
              <a:t>8.5.1 </a:t>
            </a:r>
            <a:r>
              <a:rPr lang="zh-CN" altLang="en-US" dirty="0">
                <a:latin typeface="+mn-ea"/>
              </a:rPr>
              <a:t>误差</a:t>
            </a:r>
            <a:r>
              <a:rPr lang="en-US" altLang="zh-CN" dirty="0">
                <a:latin typeface="+mn-ea"/>
              </a:rPr>
              <a:t>-</a:t>
            </a:r>
            <a:r>
              <a:rPr lang="zh-CN" altLang="en-US" dirty="0">
                <a:latin typeface="+mn-ea"/>
              </a:rPr>
              <a:t>分歧分解</a:t>
            </a:r>
            <a:endParaRPr lang="en-US" altLang="zh-CN" dirty="0">
              <a:latin typeface="+mn-ea"/>
            </a:endParaRPr>
          </a:p>
          <a:p>
            <a:pPr lvl="1"/>
            <a:r>
              <a:rPr lang="zh-CN" altLang="en-US" dirty="0" smtClean="0">
                <a:latin typeface="+mn-ea"/>
              </a:rPr>
              <a:t>优化      的困境</a:t>
            </a:r>
            <a:endParaRPr lang="en-US" altLang="zh-CN" dirty="0" smtClean="0">
              <a:latin typeface="+mn-ea"/>
            </a:endParaRPr>
          </a:p>
          <a:p>
            <a:pPr lvl="2"/>
            <a:r>
              <a:rPr lang="zh-CN" altLang="en-US" dirty="0" smtClean="0"/>
              <a:t>优化是在</a:t>
            </a:r>
            <a:r>
              <a:rPr lang="zh-CN" altLang="en-US" dirty="0"/>
              <a:t>整个</a:t>
            </a:r>
            <a:r>
              <a:rPr lang="zh-CN" altLang="en-US" dirty="0" smtClean="0"/>
              <a:t>样本空间</a:t>
            </a:r>
            <a:endParaRPr lang="en-US" altLang="zh-CN" dirty="0" smtClean="0"/>
          </a:p>
          <a:p>
            <a:pPr lvl="2"/>
            <a:r>
              <a:rPr lang="en-US" altLang="zh-CN" dirty="0" smtClean="0"/>
              <a:t>   </a:t>
            </a:r>
            <a:r>
              <a:rPr lang="zh-CN" altLang="en-US" dirty="0" smtClean="0"/>
              <a:t>不是</a:t>
            </a:r>
            <a:r>
              <a:rPr lang="zh-CN" altLang="en-US" dirty="0"/>
              <a:t>一个可直接操作的多样性</a:t>
            </a:r>
            <a:r>
              <a:rPr lang="zh-CN" altLang="en-US" dirty="0" smtClean="0"/>
              <a:t>度量</a:t>
            </a:r>
            <a:endParaRPr lang="en-US" altLang="zh-CN" dirty="0" smtClean="0"/>
          </a:p>
          <a:p>
            <a:pPr lvl="3"/>
            <a:r>
              <a:rPr lang="zh-CN" altLang="en-US" dirty="0" smtClean="0"/>
              <a:t>仅</a:t>
            </a:r>
            <a:r>
              <a:rPr lang="zh-CN" altLang="en-US" dirty="0"/>
              <a:t>在集成构造好之后才能进行</a:t>
            </a:r>
            <a:r>
              <a:rPr lang="zh-CN" altLang="en-US" dirty="0" smtClean="0"/>
              <a:t>估计</a:t>
            </a:r>
            <a:endParaRPr lang="en-US" altLang="zh-CN" dirty="0" smtClean="0"/>
          </a:p>
          <a:p>
            <a:pPr lvl="2"/>
            <a:r>
              <a:rPr lang="zh-CN" altLang="en-US" dirty="0" smtClean="0"/>
              <a:t>只</a:t>
            </a:r>
            <a:r>
              <a:rPr lang="zh-CN" altLang="en-US" dirty="0"/>
              <a:t>适用于回归学习，</a:t>
            </a:r>
            <a:r>
              <a:rPr lang="zh-CN" altLang="en-US" dirty="0" smtClean="0"/>
              <a:t>难以推广</a:t>
            </a:r>
            <a:r>
              <a:rPr lang="zh-CN" altLang="en-US" dirty="0"/>
              <a:t>到分类学习</a:t>
            </a:r>
            <a:r>
              <a:rPr lang="zh-CN" altLang="en-US" dirty="0" smtClean="0"/>
              <a:t>任务</a:t>
            </a:r>
            <a:endParaRPr lang="en-US" altLang="zh-CN" dirty="0" smtClean="0"/>
          </a:p>
          <a:p>
            <a:r>
              <a:rPr lang="en-US" altLang="zh-CN" dirty="0" smtClean="0">
                <a:latin typeface="+mn-ea"/>
              </a:rPr>
              <a:t>8.5.2 </a:t>
            </a:r>
            <a:r>
              <a:rPr lang="zh-CN" altLang="en-US" dirty="0" smtClean="0">
                <a:latin typeface="+mn-ea"/>
              </a:rPr>
              <a:t>多样性度量</a:t>
            </a:r>
            <a:endParaRPr lang="en-US" altLang="zh-CN" dirty="0" smtClean="0">
              <a:latin typeface="+mn-ea"/>
            </a:endParaRPr>
          </a:p>
          <a:p>
            <a:pPr lvl="1"/>
            <a:r>
              <a:rPr lang="zh-CN" altLang="en-US" dirty="0" smtClean="0">
                <a:latin typeface="+mn-ea"/>
              </a:rPr>
              <a:t>是估算</a:t>
            </a:r>
            <a:r>
              <a:rPr lang="zh-CN" altLang="en-US" dirty="0">
                <a:latin typeface="+mn-ea"/>
              </a:rPr>
              <a:t>个体学习器的多样化</a:t>
            </a:r>
            <a:r>
              <a:rPr lang="zh-CN" altLang="en-US" dirty="0" smtClean="0">
                <a:latin typeface="+mn-ea"/>
              </a:rPr>
              <a:t>程度</a:t>
            </a:r>
            <a:endParaRPr lang="en-US" altLang="zh-CN" dirty="0" smtClean="0">
              <a:latin typeface="+mn-ea"/>
            </a:endParaRPr>
          </a:p>
          <a:p>
            <a:pPr lvl="2"/>
            <a:r>
              <a:rPr lang="zh-CN" altLang="en-US" dirty="0" smtClean="0">
                <a:latin typeface="+mn-ea"/>
              </a:rPr>
              <a:t>典型是</a:t>
            </a:r>
            <a:r>
              <a:rPr lang="zh-CN" altLang="en-US" dirty="0">
                <a:latin typeface="+mn-ea"/>
              </a:rPr>
              <a:t>考虑个体分类器的两两相似</a:t>
            </a:r>
            <a:r>
              <a:rPr lang="en-US" altLang="zh-CN" dirty="0">
                <a:latin typeface="+mn-ea"/>
              </a:rPr>
              <a:t>/</a:t>
            </a:r>
            <a:r>
              <a:rPr lang="zh-CN" altLang="en-US" dirty="0">
                <a:latin typeface="+mn-ea"/>
              </a:rPr>
              <a:t>不</a:t>
            </a:r>
            <a:r>
              <a:rPr lang="zh-CN" altLang="en-US" dirty="0" smtClean="0">
                <a:latin typeface="+mn-ea"/>
              </a:rPr>
              <a:t>相似程度</a:t>
            </a:r>
            <a:endParaRPr lang="en-US" altLang="zh-CN" dirty="0" smtClean="0">
              <a:latin typeface="+mn-ea"/>
            </a:endParaRPr>
          </a:p>
          <a:p>
            <a:pPr lvl="2"/>
            <a:r>
              <a:rPr lang="zh-CN" altLang="en-US" dirty="0">
                <a:latin typeface="+mn-ea"/>
              </a:rPr>
              <a:t>一般通过两分类器的预测结果列联表</a:t>
            </a:r>
            <a:r>
              <a:rPr lang="zh-CN" altLang="en-US" dirty="0" smtClean="0">
                <a:latin typeface="+mn-ea"/>
              </a:rPr>
              <a:t>定义</a:t>
            </a:r>
            <a:endParaRPr lang="en-US" altLang="zh-CN" dirty="0" smtClean="0">
              <a:latin typeface="+mn-ea"/>
            </a:endParaRPr>
          </a:p>
          <a:p>
            <a:pPr lvl="3"/>
            <a:r>
              <a:rPr lang="en-US" altLang="zh-CN" dirty="0" smtClean="0">
                <a:latin typeface="+mn-ea"/>
              </a:rPr>
              <a:t>      </a:t>
            </a:r>
            <a:r>
              <a:rPr lang="zh-CN" altLang="en-US" dirty="0" smtClean="0">
                <a:latin typeface="+mn-ea"/>
              </a:rPr>
              <a:t>是样本数目</a:t>
            </a:r>
            <a:endParaRPr lang="en-US" altLang="zh-CN" dirty="0" smtClean="0">
              <a:latin typeface="+mn-ea"/>
            </a:endParaRPr>
          </a:p>
          <a:p>
            <a:pPr lvl="3"/>
            <a:r>
              <a:rPr lang="en-US" altLang="zh-CN" dirty="0" smtClean="0">
                <a:latin typeface="+mn-ea"/>
              </a:rPr>
              <a:t> </a:t>
            </a:r>
            <a:endParaRPr lang="zh-CN" altLang="en-US" dirty="0">
              <a:latin typeface="+mn-ea"/>
            </a:endParaRPr>
          </a:p>
          <a:p>
            <a:pPr lvl="2"/>
            <a:endParaRPr lang="zh-CN" altLang="en-US" dirty="0">
              <a:latin typeface="+mn-ea"/>
            </a:endParaRPr>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graphicFrame>
        <p:nvGraphicFramePr>
          <p:cNvPr id="6" name="对象 5"/>
          <p:cNvGraphicFramePr>
            <a:graphicFrameLocks noChangeAspect="1"/>
          </p:cNvGraphicFramePr>
          <p:nvPr/>
        </p:nvGraphicFramePr>
        <p:xfrm>
          <a:off x="2218320" y="1376816"/>
          <a:ext cx="1101425" cy="396000"/>
        </p:xfrm>
        <a:graphic>
          <a:graphicData uri="http://schemas.openxmlformats.org/presentationml/2006/ole">
            <mc:AlternateContent xmlns:mc="http://schemas.openxmlformats.org/markup-compatibility/2006">
              <mc:Choice xmlns:v="urn:schemas-microsoft-com:vml" Requires="v">
                <p:oleObj spid="_x0000_s13476" name="Equation" r:id="rId1" imgW="13411200" imgH="4876800" progId="Equation.DSMT4">
                  <p:embed/>
                </p:oleObj>
              </mc:Choice>
              <mc:Fallback>
                <p:oleObj name="Equation" r:id="rId1" imgW="13411200" imgH="4876800" progId="Equation.DSMT4">
                  <p:embed/>
                  <p:pic>
                    <p:nvPicPr>
                      <p:cNvPr id="0" name="图片 13475"/>
                      <p:cNvPicPr/>
                      <p:nvPr/>
                    </p:nvPicPr>
                    <p:blipFill>
                      <a:blip r:embed="rId2"/>
                      <a:stretch>
                        <a:fillRect/>
                      </a:stretch>
                    </p:blipFill>
                    <p:spPr>
                      <a:xfrm>
                        <a:off x="2218320" y="1376816"/>
                        <a:ext cx="1101425" cy="396000"/>
                      </a:xfrm>
                      <a:prstGeom prst="rect">
                        <a:avLst/>
                      </a:prstGeom>
                    </p:spPr>
                  </p:pic>
                </p:oleObj>
              </mc:Fallback>
            </mc:AlternateContent>
          </a:graphicData>
        </a:graphic>
      </p:graphicFrame>
      <p:graphicFrame>
        <p:nvGraphicFramePr>
          <p:cNvPr id="7" name="对象 6"/>
          <p:cNvGraphicFramePr>
            <a:graphicFrameLocks noChangeAspect="1"/>
          </p:cNvGraphicFramePr>
          <p:nvPr/>
        </p:nvGraphicFramePr>
        <p:xfrm>
          <a:off x="1910830" y="2153321"/>
          <a:ext cx="273971" cy="360000"/>
        </p:xfrm>
        <a:graphic>
          <a:graphicData uri="http://schemas.openxmlformats.org/presentationml/2006/ole">
            <mc:AlternateContent xmlns:mc="http://schemas.openxmlformats.org/markup-compatibility/2006">
              <mc:Choice xmlns:v="urn:schemas-microsoft-com:vml" Requires="v">
                <p:oleObj spid="_x0000_s13477" name="Equation" r:id="rId3" imgW="3657600" imgH="4876800" progId="Equation.DSMT4">
                  <p:embed/>
                </p:oleObj>
              </mc:Choice>
              <mc:Fallback>
                <p:oleObj name="Equation" r:id="rId3" imgW="3657600" imgH="4876800" progId="Equation.DSMT4">
                  <p:embed/>
                  <p:pic>
                    <p:nvPicPr>
                      <p:cNvPr id="0" name="图片 13476"/>
                      <p:cNvPicPr/>
                      <p:nvPr/>
                    </p:nvPicPr>
                    <p:blipFill>
                      <a:blip r:embed="rId4"/>
                      <a:stretch>
                        <a:fillRect/>
                      </a:stretch>
                    </p:blipFill>
                    <p:spPr>
                      <a:xfrm>
                        <a:off x="1910830" y="2153321"/>
                        <a:ext cx="273971" cy="360000"/>
                      </a:xfrm>
                      <a:prstGeom prst="rect">
                        <a:avLst/>
                      </a:prstGeom>
                    </p:spPr>
                  </p:pic>
                </p:oleObj>
              </mc:Fallback>
            </mc:AlternateContent>
          </a:graphicData>
        </a:graphic>
      </p:graphicFrame>
      <p:pic>
        <p:nvPicPr>
          <p:cNvPr id="8" name="图片 7"/>
          <p:cNvPicPr>
            <a:picLocks noChangeAspect="1"/>
          </p:cNvPicPr>
          <p:nvPr/>
        </p:nvPicPr>
        <p:blipFill>
          <a:blip r:embed="rId5"/>
          <a:stretch>
            <a:fillRect/>
          </a:stretch>
        </p:blipFill>
        <p:spPr>
          <a:xfrm>
            <a:off x="4139952" y="5301360"/>
            <a:ext cx="3688712" cy="1368000"/>
          </a:xfrm>
          <a:prstGeom prst="rect">
            <a:avLst/>
          </a:prstGeom>
        </p:spPr>
      </p:pic>
      <p:graphicFrame>
        <p:nvGraphicFramePr>
          <p:cNvPr id="9" name="对象 8"/>
          <p:cNvGraphicFramePr>
            <a:graphicFrameLocks noChangeAspect="1"/>
          </p:cNvGraphicFramePr>
          <p:nvPr/>
        </p:nvGraphicFramePr>
        <p:xfrm>
          <a:off x="2339752" y="4854383"/>
          <a:ext cx="863600" cy="358775"/>
        </p:xfrm>
        <a:graphic>
          <a:graphicData uri="http://schemas.openxmlformats.org/presentationml/2006/ole">
            <mc:AlternateContent xmlns:mc="http://schemas.openxmlformats.org/markup-compatibility/2006">
              <mc:Choice xmlns:v="urn:schemas-microsoft-com:vml" Requires="v">
                <p:oleObj spid="_x0000_s13478" name="Equation" r:id="rId6" imgW="11582400" imgH="4876800" progId="Equation.DSMT4">
                  <p:embed/>
                </p:oleObj>
              </mc:Choice>
              <mc:Fallback>
                <p:oleObj name="Equation" r:id="rId6" imgW="11582400" imgH="4876800" progId="Equation.DSMT4">
                  <p:embed/>
                  <p:pic>
                    <p:nvPicPr>
                      <p:cNvPr id="0" name="图片 13477"/>
                      <p:cNvPicPr/>
                      <p:nvPr/>
                    </p:nvPicPr>
                    <p:blipFill>
                      <a:blip r:embed="rId7"/>
                      <a:stretch>
                        <a:fillRect/>
                      </a:stretch>
                    </p:blipFill>
                    <p:spPr>
                      <a:xfrm>
                        <a:off x="2339752" y="4854383"/>
                        <a:ext cx="863600" cy="358775"/>
                      </a:xfrm>
                      <a:prstGeom prst="rect">
                        <a:avLst/>
                      </a:prstGeom>
                    </p:spPr>
                  </p:pic>
                </p:oleObj>
              </mc:Fallback>
            </mc:AlternateContent>
          </a:graphicData>
        </a:graphic>
      </p:graphicFrame>
      <p:graphicFrame>
        <p:nvGraphicFramePr>
          <p:cNvPr id="10" name="对象 9"/>
          <p:cNvGraphicFramePr>
            <a:graphicFrameLocks noChangeAspect="1"/>
          </p:cNvGraphicFramePr>
          <p:nvPr/>
        </p:nvGraphicFramePr>
        <p:xfrm>
          <a:off x="2339752" y="5180012"/>
          <a:ext cx="1592182" cy="324000"/>
        </p:xfrm>
        <a:graphic>
          <a:graphicData uri="http://schemas.openxmlformats.org/presentationml/2006/ole">
            <mc:AlternateContent xmlns:mc="http://schemas.openxmlformats.org/markup-compatibility/2006">
              <mc:Choice xmlns:v="urn:schemas-microsoft-com:vml" Requires="v">
                <p:oleObj spid="_x0000_s13479" name="Equation" r:id="rId8" imgW="20726400" imgH="4267200" progId="Equation.DSMT4">
                  <p:embed/>
                </p:oleObj>
              </mc:Choice>
              <mc:Fallback>
                <p:oleObj name="Equation" r:id="rId8" imgW="20726400" imgH="4267200" progId="Equation.DSMT4">
                  <p:embed/>
                  <p:pic>
                    <p:nvPicPr>
                      <p:cNvPr id="0" name="图片 13478"/>
                      <p:cNvPicPr/>
                      <p:nvPr/>
                    </p:nvPicPr>
                    <p:blipFill>
                      <a:blip r:embed="rId9"/>
                      <a:stretch>
                        <a:fillRect/>
                      </a:stretch>
                    </p:blipFill>
                    <p:spPr>
                      <a:xfrm>
                        <a:off x="2339752" y="5180012"/>
                        <a:ext cx="1592182" cy="324000"/>
                      </a:xfrm>
                      <a:prstGeom prst="rect">
                        <a:avLst/>
                      </a:prstGeom>
                    </p:spPr>
                  </p:pic>
                </p:oleObj>
              </mc:Fallback>
            </mc:AlternateContent>
          </a:graphicData>
        </a:graphic>
      </p:graphicFrame>
    </p:spTree>
  </p:cSld>
  <p:clrMapOvr>
    <a:masterClrMapping/>
  </p:clrMapOvr>
  <p:transition>
    <p:cover dir="u"/>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8.5 </a:t>
            </a:r>
            <a:r>
              <a:rPr lang="zh-CN" altLang="en-US" dirty="0"/>
              <a:t>多样性</a:t>
            </a:r>
            <a:endParaRPr lang="zh-CN" altLang="en-US" dirty="0"/>
          </a:p>
        </p:txBody>
      </p:sp>
      <p:sp>
        <p:nvSpPr>
          <p:cNvPr id="3" name="内容占位符 2"/>
          <p:cNvSpPr>
            <a:spLocks noGrp="1"/>
          </p:cNvSpPr>
          <p:nvPr>
            <p:ph idx="1"/>
          </p:nvPr>
        </p:nvSpPr>
        <p:spPr/>
        <p:txBody>
          <a:bodyPr/>
          <a:lstStyle/>
          <a:p>
            <a:r>
              <a:rPr lang="en-US" altLang="zh-CN" dirty="0">
                <a:latin typeface="+mn-ea"/>
              </a:rPr>
              <a:t>8.5.2 </a:t>
            </a:r>
            <a:r>
              <a:rPr lang="zh-CN" altLang="en-US" dirty="0">
                <a:latin typeface="+mn-ea"/>
              </a:rPr>
              <a:t>多样性度量</a:t>
            </a:r>
            <a:endParaRPr lang="en-US" altLang="zh-CN" dirty="0">
              <a:latin typeface="+mn-ea"/>
            </a:endParaRPr>
          </a:p>
          <a:p>
            <a:pPr lvl="1"/>
            <a:r>
              <a:rPr lang="zh-CN" altLang="en-US" dirty="0"/>
              <a:t>不合</a:t>
            </a:r>
            <a:r>
              <a:rPr lang="zh-CN" altLang="en-US" dirty="0" smtClean="0"/>
              <a:t>度量</a:t>
            </a:r>
            <a:endParaRPr lang="en-US" altLang="zh-CN" dirty="0" smtClean="0"/>
          </a:p>
          <a:p>
            <a:pPr lvl="2"/>
            <a:r>
              <a:rPr lang="zh-CN" altLang="en-US" dirty="0" smtClean="0">
                <a:latin typeface="+mn-ea"/>
              </a:rPr>
              <a:t>值域为</a:t>
            </a:r>
            <a:r>
              <a:rPr lang="en-US" altLang="zh-CN" dirty="0" smtClean="0">
                <a:latin typeface="+mn-ea"/>
              </a:rPr>
              <a:t>[0,1]</a:t>
            </a:r>
            <a:r>
              <a:rPr lang="zh-CN" altLang="en-US" dirty="0" smtClean="0">
                <a:latin typeface="+mn-ea"/>
              </a:rPr>
              <a:t>，值</a:t>
            </a:r>
            <a:r>
              <a:rPr lang="zh-CN" altLang="en-US" dirty="0">
                <a:latin typeface="+mn-ea"/>
              </a:rPr>
              <a:t>越大则多样性越</a:t>
            </a:r>
            <a:r>
              <a:rPr lang="zh-CN" altLang="en-US" dirty="0" smtClean="0">
                <a:latin typeface="+mn-ea"/>
              </a:rPr>
              <a:t>大</a:t>
            </a:r>
            <a:endParaRPr lang="en-US" altLang="zh-CN" dirty="0" smtClean="0">
              <a:latin typeface="+mn-ea"/>
            </a:endParaRPr>
          </a:p>
          <a:p>
            <a:pPr lvl="1">
              <a:spcBef>
                <a:spcPts val="600"/>
              </a:spcBef>
            </a:pPr>
            <a:r>
              <a:rPr lang="zh-CN" altLang="en-US" dirty="0" smtClean="0">
                <a:latin typeface="+mn-ea"/>
              </a:rPr>
              <a:t>相关系数</a:t>
            </a:r>
            <a:endParaRPr lang="en-US" altLang="zh-CN" dirty="0" smtClean="0">
              <a:latin typeface="+mn-ea"/>
            </a:endParaRPr>
          </a:p>
          <a:p>
            <a:pPr lvl="1"/>
            <a:endParaRPr lang="en-US" altLang="zh-CN" dirty="0">
              <a:latin typeface="+mn-ea"/>
            </a:endParaRPr>
          </a:p>
          <a:p>
            <a:pPr lvl="2"/>
            <a:r>
              <a:rPr lang="zh-CN" altLang="en-US" dirty="0" smtClean="0">
                <a:latin typeface="+mn-ea"/>
              </a:rPr>
              <a:t>值域</a:t>
            </a:r>
            <a:r>
              <a:rPr lang="en-US" altLang="zh-CN" dirty="0" smtClean="0">
                <a:latin typeface="+mn-ea"/>
              </a:rPr>
              <a:t>[-1,1</a:t>
            </a:r>
            <a:r>
              <a:rPr lang="en-US" altLang="zh-CN" dirty="0">
                <a:latin typeface="+mn-ea"/>
              </a:rPr>
              <a:t>]</a:t>
            </a:r>
            <a:r>
              <a:rPr lang="zh-CN" altLang="en-US" dirty="0" smtClean="0">
                <a:latin typeface="+mn-ea"/>
              </a:rPr>
              <a:t>，无关为</a:t>
            </a:r>
            <a:r>
              <a:rPr lang="en-US" altLang="zh-CN" dirty="0" smtClean="0">
                <a:latin typeface="+mn-ea"/>
              </a:rPr>
              <a:t>0</a:t>
            </a:r>
            <a:r>
              <a:rPr lang="zh-CN" altLang="en-US" dirty="0" smtClean="0">
                <a:latin typeface="+mn-ea"/>
              </a:rPr>
              <a:t>，正相关为正，否则为负</a:t>
            </a:r>
            <a:endParaRPr lang="en-US" altLang="zh-CN" dirty="0" smtClean="0">
              <a:latin typeface="+mn-ea"/>
            </a:endParaRPr>
          </a:p>
          <a:p>
            <a:pPr lvl="1">
              <a:spcBef>
                <a:spcPts val="600"/>
              </a:spcBef>
            </a:pPr>
            <a:r>
              <a:rPr lang="en-US" altLang="zh-CN" dirty="0" smtClean="0">
                <a:latin typeface="+mn-ea"/>
              </a:rPr>
              <a:t>Q</a:t>
            </a:r>
            <a:r>
              <a:rPr lang="zh-CN" altLang="en-US" dirty="0" smtClean="0">
                <a:latin typeface="+mn-ea"/>
              </a:rPr>
              <a:t>统计量</a:t>
            </a:r>
            <a:endParaRPr lang="en-US" altLang="zh-CN" dirty="0" smtClean="0">
              <a:latin typeface="+mn-ea"/>
            </a:endParaRPr>
          </a:p>
          <a:p>
            <a:pPr lvl="2"/>
            <a:r>
              <a:rPr lang="zh-CN" altLang="en-US" dirty="0" smtClean="0">
                <a:latin typeface="+mn-ea"/>
              </a:rPr>
              <a:t>与相关系数的符号相同，且</a:t>
            </a:r>
            <a:endParaRPr lang="en-US" altLang="zh-CN" dirty="0" smtClean="0">
              <a:latin typeface="+mn-ea"/>
            </a:endParaRPr>
          </a:p>
          <a:p>
            <a:pPr lvl="1">
              <a:spcBef>
                <a:spcPts val="600"/>
              </a:spcBef>
            </a:pPr>
            <a:r>
              <a:rPr lang="zh-CN" altLang="en-US" dirty="0" smtClean="0">
                <a:latin typeface="+mn-ea"/>
              </a:rPr>
              <a:t> 统计量</a:t>
            </a:r>
            <a:endParaRPr lang="en-US" altLang="zh-CN" dirty="0" smtClean="0">
              <a:latin typeface="+mn-ea"/>
            </a:endParaRPr>
          </a:p>
          <a:p>
            <a:pPr lvl="2"/>
            <a:r>
              <a:rPr lang="en-US" altLang="zh-CN" dirty="0" smtClean="0">
                <a:latin typeface="+mn-ea"/>
              </a:rPr>
              <a:t>p</a:t>
            </a:r>
            <a:r>
              <a:rPr lang="en-US" altLang="zh-CN" baseline="-25000" dirty="0" smtClean="0">
                <a:latin typeface="+mn-ea"/>
              </a:rPr>
              <a:t>1</a:t>
            </a:r>
            <a:r>
              <a:rPr lang="zh-CN" altLang="en-US" dirty="0" smtClean="0">
                <a:latin typeface="+mn-ea"/>
              </a:rPr>
              <a:t>是两个分类器取得</a:t>
            </a:r>
            <a:r>
              <a:rPr lang="zh-CN" altLang="en-US" dirty="0" smtClean="0">
                <a:latin typeface="+mn-ea"/>
              </a:rPr>
              <a:t>一致的概率</a:t>
            </a:r>
            <a:r>
              <a:rPr lang="zh-CN" altLang="en-US" dirty="0" smtClean="0">
                <a:latin typeface="+mn-ea"/>
              </a:rPr>
              <a:t>、</a:t>
            </a:r>
            <a:r>
              <a:rPr lang="en-US" altLang="zh-CN" dirty="0">
                <a:latin typeface="+mn-ea"/>
              </a:rPr>
              <a:t> p</a:t>
            </a:r>
            <a:r>
              <a:rPr lang="en-US" altLang="zh-CN" baseline="-25000" dirty="0">
                <a:latin typeface="+mn-ea"/>
              </a:rPr>
              <a:t>2</a:t>
            </a:r>
            <a:r>
              <a:rPr lang="zh-CN" altLang="en-US" dirty="0" smtClean="0">
                <a:latin typeface="+mn-ea"/>
              </a:rPr>
              <a:t>偶然</a:t>
            </a:r>
            <a:r>
              <a:rPr lang="zh-CN" altLang="en-US" dirty="0" smtClean="0">
                <a:latin typeface="+mn-ea"/>
              </a:rPr>
              <a:t>达成一致的概率</a:t>
            </a:r>
            <a:endParaRPr lang="en-US" altLang="zh-CN" dirty="0" smtClean="0">
              <a:latin typeface="+mn-ea"/>
            </a:endParaRPr>
          </a:p>
          <a:p>
            <a:pPr lvl="2"/>
            <a:endParaRPr lang="en-US" altLang="zh-CN" dirty="0">
              <a:latin typeface="+mn-ea"/>
            </a:endParaRPr>
          </a:p>
          <a:p>
            <a:pPr lvl="2"/>
            <a:endParaRPr lang="en-US" altLang="zh-CN" dirty="0" smtClean="0">
              <a:latin typeface="+mn-ea"/>
            </a:endParaRPr>
          </a:p>
          <a:p>
            <a:pPr lvl="2"/>
            <a:r>
              <a:rPr lang="en-US" altLang="zh-CN" dirty="0" smtClean="0">
                <a:latin typeface="+mn-ea"/>
              </a:rPr>
              <a:t>  </a:t>
            </a:r>
            <a:r>
              <a:rPr lang="zh-CN" altLang="en-US" dirty="0" smtClean="0">
                <a:latin typeface="+mn-ea"/>
              </a:rPr>
              <a:t>越大多样性越小</a:t>
            </a:r>
            <a:endParaRPr lang="en-US" altLang="zh-CN" dirty="0" smtClean="0">
              <a:latin typeface="+mn-ea"/>
            </a:endParaRPr>
          </a:p>
          <a:p>
            <a:pPr lvl="1"/>
            <a:endParaRPr lang="en-US" altLang="zh-CN" dirty="0">
              <a:latin typeface="+mn-ea"/>
            </a:endParaRPr>
          </a:p>
          <a:p>
            <a:pPr lvl="1"/>
            <a:endParaRPr lang="en-US" altLang="zh-CN" dirty="0">
              <a:latin typeface="+mn-ea"/>
            </a:endParaRPr>
          </a:p>
          <a:p>
            <a:pPr marL="457200" lvl="1" indent="0">
              <a:buNone/>
            </a:pPr>
            <a:r>
              <a:rPr lang="en-US" altLang="zh-CN" dirty="0" smtClean="0">
                <a:latin typeface="+mn-ea"/>
              </a:rPr>
              <a:t> </a:t>
            </a:r>
            <a:endParaRPr lang="en-US" altLang="zh-CN" dirty="0">
              <a:latin typeface="+mn-ea"/>
            </a:endParaRPr>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graphicFrame>
        <p:nvGraphicFramePr>
          <p:cNvPr id="5" name="对象 4"/>
          <p:cNvGraphicFramePr>
            <a:graphicFrameLocks noChangeAspect="1"/>
          </p:cNvGraphicFramePr>
          <p:nvPr/>
        </p:nvGraphicFramePr>
        <p:xfrm>
          <a:off x="3125674" y="1342429"/>
          <a:ext cx="2236788" cy="582613"/>
        </p:xfrm>
        <a:graphic>
          <a:graphicData uri="http://schemas.openxmlformats.org/presentationml/2006/ole">
            <mc:AlternateContent xmlns:mc="http://schemas.openxmlformats.org/markup-compatibility/2006">
              <mc:Choice xmlns:v="urn:schemas-microsoft-com:vml" Requires="v">
                <p:oleObj spid="_x0000_s14652" name="Equation" r:id="rId1" imgW="21945600" imgH="5791200" progId="Equation.DSMT4">
                  <p:embed/>
                </p:oleObj>
              </mc:Choice>
              <mc:Fallback>
                <p:oleObj name="Equation" r:id="rId1" imgW="21945600" imgH="5791200" progId="Equation.DSMT4">
                  <p:embed/>
                  <p:pic>
                    <p:nvPicPr>
                      <p:cNvPr id="0" name="图片 14651"/>
                      <p:cNvPicPr/>
                      <p:nvPr/>
                    </p:nvPicPr>
                    <p:blipFill>
                      <a:blip r:embed="rId2"/>
                      <a:stretch>
                        <a:fillRect/>
                      </a:stretch>
                    </p:blipFill>
                    <p:spPr>
                      <a:xfrm>
                        <a:off x="3125674" y="1342429"/>
                        <a:ext cx="2236788" cy="582613"/>
                      </a:xfrm>
                      <a:prstGeom prst="rect">
                        <a:avLst/>
                      </a:prstGeom>
                    </p:spPr>
                  </p:pic>
                </p:oleObj>
              </mc:Fallback>
            </mc:AlternateContent>
          </a:graphicData>
        </a:graphic>
      </p:graphicFrame>
      <p:pic>
        <p:nvPicPr>
          <p:cNvPr id="6" name="图片 5"/>
          <p:cNvPicPr>
            <a:picLocks noChangeAspect="1"/>
          </p:cNvPicPr>
          <p:nvPr/>
        </p:nvPicPr>
        <p:blipFill>
          <a:blip r:embed="rId3"/>
          <a:stretch>
            <a:fillRect/>
          </a:stretch>
        </p:blipFill>
        <p:spPr>
          <a:xfrm>
            <a:off x="5337491" y="39688"/>
            <a:ext cx="3688712" cy="1368000"/>
          </a:xfrm>
          <a:prstGeom prst="rect">
            <a:avLst/>
          </a:prstGeom>
        </p:spPr>
      </p:pic>
      <p:graphicFrame>
        <p:nvGraphicFramePr>
          <p:cNvPr id="7" name="对象 6"/>
          <p:cNvGraphicFramePr>
            <a:graphicFrameLocks noChangeAspect="1"/>
          </p:cNvGraphicFramePr>
          <p:nvPr/>
        </p:nvGraphicFramePr>
        <p:xfrm>
          <a:off x="3125674" y="2185065"/>
          <a:ext cx="4284733" cy="936000"/>
        </p:xfrm>
        <a:graphic>
          <a:graphicData uri="http://schemas.openxmlformats.org/presentationml/2006/ole">
            <mc:AlternateContent xmlns:mc="http://schemas.openxmlformats.org/markup-compatibility/2006">
              <mc:Choice xmlns:v="urn:schemas-microsoft-com:vml" Requires="v">
                <p:oleObj spid="_x0000_s14653" name="Equation" r:id="rId4" imgW="45415200" imgH="10058400" progId="Equation.DSMT4">
                  <p:embed/>
                </p:oleObj>
              </mc:Choice>
              <mc:Fallback>
                <p:oleObj name="Equation" r:id="rId4" imgW="45415200" imgH="10058400" progId="Equation.DSMT4">
                  <p:embed/>
                  <p:pic>
                    <p:nvPicPr>
                      <p:cNvPr id="0" name="图片 14652"/>
                      <p:cNvPicPr/>
                      <p:nvPr/>
                    </p:nvPicPr>
                    <p:blipFill>
                      <a:blip r:embed="rId5"/>
                      <a:stretch>
                        <a:fillRect/>
                      </a:stretch>
                    </p:blipFill>
                    <p:spPr>
                      <a:xfrm>
                        <a:off x="3125674" y="2185065"/>
                        <a:ext cx="4284733" cy="936000"/>
                      </a:xfrm>
                      <a:prstGeom prst="rect">
                        <a:avLst/>
                      </a:prstGeom>
                    </p:spPr>
                  </p:pic>
                </p:oleObj>
              </mc:Fallback>
            </mc:AlternateContent>
          </a:graphicData>
        </a:graphic>
      </p:graphicFrame>
      <p:graphicFrame>
        <p:nvGraphicFramePr>
          <p:cNvPr id="8" name="对象 7"/>
          <p:cNvGraphicFramePr>
            <a:graphicFrameLocks noChangeAspect="1"/>
          </p:cNvGraphicFramePr>
          <p:nvPr/>
        </p:nvGraphicFramePr>
        <p:xfrm>
          <a:off x="2987824" y="3501008"/>
          <a:ext cx="3192462" cy="538162"/>
        </p:xfrm>
        <a:graphic>
          <a:graphicData uri="http://schemas.openxmlformats.org/presentationml/2006/ole">
            <mc:AlternateContent xmlns:mc="http://schemas.openxmlformats.org/markup-compatibility/2006">
              <mc:Choice xmlns:v="urn:schemas-microsoft-com:vml" Requires="v">
                <p:oleObj spid="_x0000_s14654" name="Equation" r:id="rId6" imgW="33832800" imgH="5791200" progId="Equation.DSMT4">
                  <p:embed/>
                </p:oleObj>
              </mc:Choice>
              <mc:Fallback>
                <p:oleObj name="Equation" r:id="rId6" imgW="33832800" imgH="5791200" progId="Equation.DSMT4">
                  <p:embed/>
                  <p:pic>
                    <p:nvPicPr>
                      <p:cNvPr id="0" name="图片 14653"/>
                      <p:cNvPicPr/>
                      <p:nvPr/>
                    </p:nvPicPr>
                    <p:blipFill>
                      <a:blip r:embed="rId7"/>
                      <a:stretch>
                        <a:fillRect/>
                      </a:stretch>
                    </p:blipFill>
                    <p:spPr>
                      <a:xfrm>
                        <a:off x="2987824" y="3501008"/>
                        <a:ext cx="3192462" cy="538162"/>
                      </a:xfrm>
                      <a:prstGeom prst="rect">
                        <a:avLst/>
                      </a:prstGeom>
                    </p:spPr>
                  </p:pic>
                </p:oleObj>
              </mc:Fallback>
            </mc:AlternateContent>
          </a:graphicData>
        </a:graphic>
      </p:graphicFrame>
      <p:graphicFrame>
        <p:nvGraphicFramePr>
          <p:cNvPr id="9" name="对象 8"/>
          <p:cNvGraphicFramePr>
            <a:graphicFrameLocks noChangeAspect="1"/>
          </p:cNvGraphicFramePr>
          <p:nvPr/>
        </p:nvGraphicFramePr>
        <p:xfrm>
          <a:off x="5652120" y="3933056"/>
          <a:ext cx="992706" cy="432000"/>
        </p:xfrm>
        <a:graphic>
          <a:graphicData uri="http://schemas.openxmlformats.org/presentationml/2006/ole">
            <mc:AlternateContent xmlns:mc="http://schemas.openxmlformats.org/markup-compatibility/2006">
              <mc:Choice xmlns:v="urn:schemas-microsoft-com:vml" Requires="v">
                <p:oleObj spid="_x0000_s14655" name="Equation" r:id="rId8" imgW="13106400" imgH="5791200" progId="Equation.DSMT4">
                  <p:embed/>
                </p:oleObj>
              </mc:Choice>
              <mc:Fallback>
                <p:oleObj name="Equation" r:id="rId8" imgW="13106400" imgH="5791200" progId="Equation.DSMT4">
                  <p:embed/>
                  <p:pic>
                    <p:nvPicPr>
                      <p:cNvPr id="0" name="图片 14654"/>
                      <p:cNvPicPr/>
                      <p:nvPr/>
                    </p:nvPicPr>
                    <p:blipFill>
                      <a:blip r:embed="rId9"/>
                      <a:stretch>
                        <a:fillRect/>
                      </a:stretch>
                    </p:blipFill>
                    <p:spPr>
                      <a:xfrm>
                        <a:off x="5652120" y="3933056"/>
                        <a:ext cx="992706" cy="432000"/>
                      </a:xfrm>
                      <a:prstGeom prst="rect">
                        <a:avLst/>
                      </a:prstGeom>
                    </p:spPr>
                  </p:pic>
                </p:oleObj>
              </mc:Fallback>
            </mc:AlternateContent>
          </a:graphicData>
        </a:graphic>
      </p:graphicFrame>
      <p:graphicFrame>
        <p:nvGraphicFramePr>
          <p:cNvPr id="10" name="对象 9"/>
          <p:cNvGraphicFramePr>
            <a:graphicFrameLocks noChangeAspect="1"/>
          </p:cNvGraphicFramePr>
          <p:nvPr/>
        </p:nvGraphicFramePr>
        <p:xfrm>
          <a:off x="1467184" y="4509120"/>
          <a:ext cx="341313" cy="306387"/>
        </p:xfrm>
        <a:graphic>
          <a:graphicData uri="http://schemas.openxmlformats.org/presentationml/2006/ole">
            <mc:AlternateContent xmlns:mc="http://schemas.openxmlformats.org/markup-compatibility/2006">
              <mc:Choice xmlns:v="urn:schemas-microsoft-com:vml" Requires="v">
                <p:oleObj spid="_x0000_s14656" name="Equation" r:id="rId10" imgW="3352800" imgH="3048000" progId="Equation.DSMT4">
                  <p:embed/>
                </p:oleObj>
              </mc:Choice>
              <mc:Fallback>
                <p:oleObj name="Equation" r:id="rId10" imgW="3352800" imgH="3048000" progId="Equation.DSMT4">
                  <p:embed/>
                  <p:pic>
                    <p:nvPicPr>
                      <p:cNvPr id="0" name="图片 14655"/>
                      <p:cNvPicPr/>
                      <p:nvPr/>
                    </p:nvPicPr>
                    <p:blipFill>
                      <a:blip r:embed="rId11"/>
                      <a:stretch>
                        <a:fillRect/>
                      </a:stretch>
                    </p:blipFill>
                    <p:spPr>
                      <a:xfrm>
                        <a:off x="1467184" y="4509120"/>
                        <a:ext cx="341313" cy="306387"/>
                      </a:xfrm>
                      <a:prstGeom prst="rect">
                        <a:avLst/>
                      </a:prstGeom>
                    </p:spPr>
                  </p:pic>
                </p:oleObj>
              </mc:Fallback>
            </mc:AlternateContent>
          </a:graphicData>
        </a:graphic>
      </p:graphicFrame>
      <p:graphicFrame>
        <p:nvGraphicFramePr>
          <p:cNvPr id="11" name="对象 10"/>
          <p:cNvGraphicFramePr>
            <a:graphicFrameLocks noChangeAspect="1"/>
          </p:cNvGraphicFramePr>
          <p:nvPr/>
        </p:nvGraphicFramePr>
        <p:xfrm>
          <a:off x="2954918" y="4365104"/>
          <a:ext cx="2889858" cy="540000"/>
        </p:xfrm>
        <a:graphic>
          <a:graphicData uri="http://schemas.openxmlformats.org/presentationml/2006/ole">
            <mc:AlternateContent xmlns:mc="http://schemas.openxmlformats.org/markup-compatibility/2006">
              <mc:Choice xmlns:v="urn:schemas-microsoft-com:vml" Requires="v">
                <p:oleObj spid="_x0000_s14657" name="Equation" r:id="rId12" imgW="28956000" imgH="5486400" progId="Equation.DSMT4">
                  <p:embed/>
                </p:oleObj>
              </mc:Choice>
              <mc:Fallback>
                <p:oleObj name="Equation" r:id="rId12" imgW="28956000" imgH="5486400" progId="Equation.DSMT4">
                  <p:embed/>
                  <p:pic>
                    <p:nvPicPr>
                      <p:cNvPr id="0" name="图片 14656"/>
                      <p:cNvPicPr/>
                      <p:nvPr/>
                    </p:nvPicPr>
                    <p:blipFill>
                      <a:blip r:embed="rId13"/>
                      <a:stretch>
                        <a:fillRect/>
                      </a:stretch>
                    </p:blipFill>
                    <p:spPr>
                      <a:xfrm>
                        <a:off x="2954918" y="4365104"/>
                        <a:ext cx="2889858" cy="540000"/>
                      </a:xfrm>
                      <a:prstGeom prst="rect">
                        <a:avLst/>
                      </a:prstGeom>
                    </p:spPr>
                  </p:pic>
                </p:oleObj>
              </mc:Fallback>
            </mc:AlternateContent>
          </a:graphicData>
        </a:graphic>
      </p:graphicFrame>
      <p:graphicFrame>
        <p:nvGraphicFramePr>
          <p:cNvPr id="12" name="对象 11"/>
          <p:cNvGraphicFramePr>
            <a:graphicFrameLocks noChangeAspect="1"/>
          </p:cNvGraphicFramePr>
          <p:nvPr/>
        </p:nvGraphicFramePr>
        <p:xfrm>
          <a:off x="2771801" y="5517232"/>
          <a:ext cx="4580472" cy="792000"/>
        </p:xfrm>
        <a:graphic>
          <a:graphicData uri="http://schemas.openxmlformats.org/presentationml/2006/ole">
            <mc:AlternateContent xmlns:mc="http://schemas.openxmlformats.org/markup-compatibility/2006">
              <mc:Choice xmlns:v="urn:schemas-microsoft-com:vml" Requires="v">
                <p:oleObj spid="_x0000_s14658" name="Equation" r:id="rId14" imgW="52120800" imgH="9144000" progId="Equation.DSMT4">
                  <p:embed/>
                </p:oleObj>
              </mc:Choice>
              <mc:Fallback>
                <p:oleObj name="Equation" r:id="rId14" imgW="52120800" imgH="9144000" progId="Equation.DSMT4">
                  <p:embed/>
                  <p:pic>
                    <p:nvPicPr>
                      <p:cNvPr id="0" name="图片 14657"/>
                      <p:cNvPicPr/>
                      <p:nvPr/>
                    </p:nvPicPr>
                    <p:blipFill>
                      <a:blip r:embed="rId15"/>
                      <a:stretch>
                        <a:fillRect/>
                      </a:stretch>
                    </p:blipFill>
                    <p:spPr>
                      <a:xfrm>
                        <a:off x="2771801" y="5517232"/>
                        <a:ext cx="4580472" cy="792000"/>
                      </a:xfrm>
                      <a:prstGeom prst="rect">
                        <a:avLst/>
                      </a:prstGeom>
                    </p:spPr>
                  </p:pic>
                </p:oleObj>
              </mc:Fallback>
            </mc:AlternateContent>
          </a:graphicData>
        </a:graphic>
      </p:graphicFrame>
      <p:graphicFrame>
        <p:nvGraphicFramePr>
          <p:cNvPr id="13" name="对象 12"/>
          <p:cNvGraphicFramePr>
            <a:graphicFrameLocks noChangeAspect="1"/>
          </p:cNvGraphicFramePr>
          <p:nvPr/>
        </p:nvGraphicFramePr>
        <p:xfrm>
          <a:off x="1926431" y="6362973"/>
          <a:ext cx="341313" cy="306387"/>
        </p:xfrm>
        <a:graphic>
          <a:graphicData uri="http://schemas.openxmlformats.org/presentationml/2006/ole">
            <mc:AlternateContent xmlns:mc="http://schemas.openxmlformats.org/markup-compatibility/2006">
              <mc:Choice xmlns:v="urn:schemas-microsoft-com:vml" Requires="v">
                <p:oleObj spid="_x0000_s14659" name="Equation" r:id="rId16" imgW="3352800" imgH="3048000" progId="Equation.DSMT4">
                  <p:embed/>
                </p:oleObj>
              </mc:Choice>
              <mc:Fallback>
                <p:oleObj name="Equation" r:id="rId16" imgW="3352800" imgH="3048000" progId="Equation.DSMT4">
                  <p:embed/>
                  <p:pic>
                    <p:nvPicPr>
                      <p:cNvPr id="0" name="图片 14658"/>
                      <p:cNvPicPr/>
                      <p:nvPr/>
                    </p:nvPicPr>
                    <p:blipFill>
                      <a:blip r:embed="rId17"/>
                      <a:stretch>
                        <a:fillRect/>
                      </a:stretch>
                    </p:blipFill>
                    <p:spPr>
                      <a:xfrm>
                        <a:off x="1926431" y="6362973"/>
                        <a:ext cx="341313" cy="306387"/>
                      </a:xfrm>
                      <a:prstGeom prst="rect">
                        <a:avLst/>
                      </a:prstGeom>
                    </p:spPr>
                  </p:pic>
                </p:oleObj>
              </mc:Fallback>
            </mc:AlternateContent>
          </a:graphicData>
        </a:graphic>
      </p:graphicFrame>
    </p:spTree>
  </p:cSld>
  <p:clrMapOvr>
    <a:masterClrMapping/>
  </p:clrMapOvr>
  <p:transition>
    <p:cover dir="u"/>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8.5 </a:t>
            </a:r>
            <a:r>
              <a:rPr lang="zh-CN" altLang="en-US" dirty="0"/>
              <a:t>多样性</a:t>
            </a:r>
            <a:endParaRPr lang="zh-CN" altLang="en-US" dirty="0"/>
          </a:p>
        </p:txBody>
      </p:sp>
      <p:sp>
        <p:nvSpPr>
          <p:cNvPr id="3" name="内容占位符 2"/>
          <p:cNvSpPr>
            <a:spLocks noGrp="1"/>
          </p:cNvSpPr>
          <p:nvPr>
            <p:ph idx="1"/>
          </p:nvPr>
        </p:nvSpPr>
        <p:spPr/>
        <p:txBody>
          <a:bodyPr/>
          <a:lstStyle/>
          <a:p>
            <a:r>
              <a:rPr lang="en-US" altLang="zh-CN" dirty="0">
                <a:latin typeface="+mn-ea"/>
              </a:rPr>
              <a:t>8.5.2 </a:t>
            </a:r>
            <a:r>
              <a:rPr lang="zh-CN" altLang="en-US" dirty="0">
                <a:latin typeface="+mn-ea"/>
              </a:rPr>
              <a:t>多样性度量</a:t>
            </a:r>
            <a:endParaRPr lang="en-US" altLang="zh-CN" dirty="0">
              <a:latin typeface="+mn-ea"/>
            </a:endParaRPr>
          </a:p>
          <a:p>
            <a:pPr lvl="1"/>
            <a:r>
              <a:rPr lang="zh-CN" altLang="en-US" dirty="0"/>
              <a:t>以上介绍的</a:t>
            </a:r>
            <a:r>
              <a:rPr lang="zh-CN" altLang="en-US" dirty="0" smtClean="0"/>
              <a:t>都是成对型多样性</a:t>
            </a:r>
            <a:r>
              <a:rPr lang="zh-CN" altLang="en-US" dirty="0"/>
              <a:t>度量</a:t>
            </a:r>
            <a:r>
              <a:rPr lang="zh-CN" altLang="en-US" dirty="0" smtClean="0"/>
              <a:t>，可</a:t>
            </a:r>
            <a:r>
              <a:rPr lang="zh-CN" altLang="en-US" dirty="0" smtClean="0">
                <a:latin typeface="+mn-ea"/>
              </a:rPr>
              <a:t>通过</a:t>
            </a:r>
            <a:r>
              <a:rPr lang="en-US" altLang="zh-CN" dirty="0" smtClean="0">
                <a:latin typeface="+mn-ea"/>
              </a:rPr>
              <a:t>2</a:t>
            </a:r>
            <a:r>
              <a:rPr lang="zh-CN" altLang="en-US" dirty="0" smtClean="0">
                <a:latin typeface="+mn-ea"/>
              </a:rPr>
              <a:t>维</a:t>
            </a:r>
            <a:r>
              <a:rPr lang="zh-CN" altLang="en-US" dirty="0">
                <a:latin typeface="+mn-ea"/>
              </a:rPr>
              <a:t>图</a:t>
            </a:r>
            <a:r>
              <a:rPr lang="zh-CN" altLang="en-US" dirty="0" smtClean="0">
                <a:latin typeface="+mn-ea"/>
              </a:rPr>
              <a:t>绘制，如</a:t>
            </a:r>
            <a:endParaRPr lang="zh-CN" altLang="en-US" dirty="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pic>
        <p:nvPicPr>
          <p:cNvPr id="5" name="图片 4"/>
          <p:cNvPicPr>
            <a:picLocks noChangeAspect="1"/>
          </p:cNvPicPr>
          <p:nvPr/>
        </p:nvPicPr>
        <p:blipFill>
          <a:blip r:embed="rId1"/>
          <a:stretch>
            <a:fillRect/>
          </a:stretch>
        </p:blipFill>
        <p:spPr>
          <a:xfrm>
            <a:off x="251520" y="2204864"/>
            <a:ext cx="8737025" cy="4119736"/>
          </a:xfrm>
          <a:prstGeom prst="rect">
            <a:avLst/>
          </a:prstGeom>
        </p:spPr>
      </p:pic>
    </p:spTree>
  </p:cSld>
  <p:clrMapOvr>
    <a:masterClrMapping/>
  </p:clrMapOvr>
  <p:transition>
    <p:cover dir="u"/>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8.5 </a:t>
            </a:r>
            <a:r>
              <a:rPr lang="zh-CN" altLang="en-US" dirty="0"/>
              <a:t>多样性</a:t>
            </a:r>
            <a:endParaRPr lang="zh-CN" altLang="en-US" dirty="0"/>
          </a:p>
        </p:txBody>
      </p:sp>
      <p:sp>
        <p:nvSpPr>
          <p:cNvPr id="3" name="内容占位符 2"/>
          <p:cNvSpPr>
            <a:spLocks noGrp="1"/>
          </p:cNvSpPr>
          <p:nvPr>
            <p:ph idx="1"/>
          </p:nvPr>
        </p:nvSpPr>
        <p:spPr/>
        <p:txBody>
          <a:bodyPr/>
          <a:lstStyle/>
          <a:p>
            <a:r>
              <a:rPr lang="en-US" altLang="zh-CN" dirty="0" smtClean="0">
                <a:latin typeface="+mn-ea"/>
              </a:rPr>
              <a:t>8.5.3 </a:t>
            </a:r>
            <a:r>
              <a:rPr lang="zh-CN" altLang="en-US" dirty="0" smtClean="0">
                <a:latin typeface="+mn-ea"/>
              </a:rPr>
              <a:t>多样性增强</a:t>
            </a:r>
            <a:endParaRPr lang="en-US" altLang="zh-CN" dirty="0" smtClean="0">
              <a:latin typeface="+mn-ea"/>
            </a:endParaRPr>
          </a:p>
          <a:p>
            <a:pPr lvl="1"/>
            <a:r>
              <a:rPr lang="zh-CN" altLang="en-US" dirty="0">
                <a:latin typeface="+mn-ea"/>
              </a:rPr>
              <a:t>一般思路是在学习过程中引入</a:t>
            </a:r>
            <a:r>
              <a:rPr lang="zh-CN" altLang="en-US" dirty="0" smtClean="0">
                <a:latin typeface="+mn-ea"/>
              </a:rPr>
              <a:t>随机性</a:t>
            </a:r>
            <a:r>
              <a:rPr lang="en-US" altLang="zh-CN" dirty="0" smtClean="0">
                <a:latin typeface="+mn-ea"/>
              </a:rPr>
              <a:t>(</a:t>
            </a:r>
            <a:r>
              <a:rPr lang="zh-CN" altLang="en-US" dirty="0" smtClean="0">
                <a:latin typeface="+mn-ea"/>
              </a:rPr>
              <a:t>扰动</a:t>
            </a:r>
            <a:r>
              <a:rPr lang="en-US" altLang="zh-CN" dirty="0" smtClean="0">
                <a:latin typeface="+mn-ea"/>
              </a:rPr>
              <a:t>)</a:t>
            </a:r>
            <a:endParaRPr lang="en-US" altLang="zh-CN" dirty="0" smtClean="0">
              <a:latin typeface="+mn-ea"/>
            </a:endParaRPr>
          </a:p>
          <a:p>
            <a:pPr lvl="2"/>
            <a:r>
              <a:rPr lang="zh-CN" altLang="en-US" dirty="0">
                <a:latin typeface="+mn-ea"/>
              </a:rPr>
              <a:t>数据样本、输入属性、输出表示、算法</a:t>
            </a:r>
            <a:r>
              <a:rPr lang="zh-CN" altLang="en-US" dirty="0" smtClean="0">
                <a:latin typeface="+mn-ea"/>
              </a:rPr>
              <a:t>参数</a:t>
            </a:r>
            <a:endParaRPr lang="en-US" altLang="zh-CN" dirty="0" smtClean="0">
              <a:latin typeface="+mn-ea"/>
            </a:endParaRPr>
          </a:p>
          <a:p>
            <a:pPr lvl="1"/>
            <a:r>
              <a:rPr lang="zh-CN" altLang="en-US" dirty="0">
                <a:latin typeface="+mn-ea"/>
              </a:rPr>
              <a:t>数据样本</a:t>
            </a:r>
            <a:r>
              <a:rPr lang="zh-CN" altLang="en-US" dirty="0" smtClean="0">
                <a:latin typeface="+mn-ea"/>
              </a:rPr>
              <a:t>扰动</a:t>
            </a:r>
            <a:endParaRPr lang="en-US" altLang="zh-CN" dirty="0" smtClean="0">
              <a:latin typeface="+mn-ea"/>
            </a:endParaRPr>
          </a:p>
          <a:p>
            <a:pPr lvl="2"/>
            <a:r>
              <a:rPr lang="zh-CN" altLang="en-US" dirty="0" smtClean="0">
                <a:latin typeface="+mn-ea"/>
              </a:rPr>
              <a:t>通常基于</a:t>
            </a:r>
            <a:r>
              <a:rPr lang="zh-CN" altLang="en-US" dirty="0">
                <a:latin typeface="+mn-ea"/>
              </a:rPr>
              <a:t>采样</a:t>
            </a:r>
            <a:r>
              <a:rPr lang="zh-CN" altLang="en-US" dirty="0" smtClean="0">
                <a:latin typeface="+mn-ea"/>
              </a:rPr>
              <a:t>法，简单</a:t>
            </a:r>
            <a:r>
              <a:rPr lang="zh-CN" altLang="en-US" dirty="0">
                <a:latin typeface="+mn-ea"/>
              </a:rPr>
              <a:t>高效，使用最</a:t>
            </a:r>
            <a:r>
              <a:rPr lang="zh-CN" altLang="en-US" dirty="0" smtClean="0">
                <a:latin typeface="+mn-ea"/>
              </a:rPr>
              <a:t>广</a:t>
            </a:r>
            <a:endParaRPr lang="en-US" altLang="zh-CN" dirty="0" smtClean="0">
              <a:latin typeface="+mn-ea"/>
            </a:endParaRPr>
          </a:p>
          <a:p>
            <a:pPr lvl="2"/>
            <a:r>
              <a:rPr lang="zh-CN" altLang="en-US" dirty="0" smtClean="0">
                <a:latin typeface="+mn-ea"/>
              </a:rPr>
              <a:t>对决策树</a:t>
            </a:r>
            <a:r>
              <a:rPr lang="zh-CN" altLang="en-US" dirty="0">
                <a:latin typeface="+mn-ea"/>
              </a:rPr>
              <a:t>、神经网络</a:t>
            </a:r>
            <a:r>
              <a:rPr lang="zh-CN" altLang="en-US" dirty="0" smtClean="0">
                <a:latin typeface="+mn-ea"/>
              </a:rPr>
              <a:t>等不稳定</a:t>
            </a:r>
            <a:r>
              <a:rPr lang="zh-CN" altLang="en-US" dirty="0">
                <a:latin typeface="+mn-ea"/>
              </a:rPr>
              <a:t>基学习</a:t>
            </a:r>
            <a:r>
              <a:rPr lang="zh-CN" altLang="en-US" dirty="0" smtClean="0">
                <a:latin typeface="+mn-ea"/>
              </a:rPr>
              <a:t>器有效。对线性</a:t>
            </a:r>
            <a:r>
              <a:rPr lang="zh-CN" altLang="en-US" dirty="0">
                <a:latin typeface="+mn-ea"/>
              </a:rPr>
              <a:t>学习器、支持向量机、朴素贝叶</a:t>
            </a:r>
            <a:r>
              <a:rPr lang="zh-CN" altLang="en-US" dirty="0" smtClean="0">
                <a:latin typeface="+mn-ea"/>
              </a:rPr>
              <a:t>斯等稳定</a:t>
            </a:r>
            <a:r>
              <a:rPr lang="zh-CN" altLang="en-US" dirty="0">
                <a:latin typeface="+mn-ea"/>
              </a:rPr>
              <a:t>基学习</a:t>
            </a:r>
            <a:r>
              <a:rPr lang="zh-CN" altLang="en-US" dirty="0" smtClean="0">
                <a:latin typeface="+mn-ea"/>
              </a:rPr>
              <a:t>器不敏感</a:t>
            </a:r>
            <a:endParaRPr lang="en-US" altLang="zh-CN" dirty="0" smtClean="0">
              <a:latin typeface="+mn-ea"/>
            </a:endParaRPr>
          </a:p>
          <a:p>
            <a:pPr lvl="1"/>
            <a:r>
              <a:rPr lang="zh-CN" altLang="en-US" dirty="0">
                <a:latin typeface="+mn-ea"/>
              </a:rPr>
              <a:t>输入属性</a:t>
            </a:r>
            <a:r>
              <a:rPr lang="zh-CN" altLang="en-US" dirty="0" smtClean="0">
                <a:latin typeface="+mn-ea"/>
              </a:rPr>
              <a:t>扰动</a:t>
            </a:r>
            <a:endParaRPr lang="en-US" altLang="zh-CN" dirty="0" smtClean="0">
              <a:latin typeface="+mn-ea"/>
            </a:endParaRPr>
          </a:p>
          <a:p>
            <a:pPr lvl="2"/>
            <a:r>
              <a:rPr lang="zh-CN" altLang="en-US" dirty="0" smtClean="0">
                <a:latin typeface="+mn-ea"/>
              </a:rPr>
              <a:t>不同属性子空间提供了不同视角，训练</a:t>
            </a:r>
            <a:r>
              <a:rPr lang="zh-CN" altLang="en-US" dirty="0">
                <a:latin typeface="+mn-ea"/>
              </a:rPr>
              <a:t>出的个体学习</a:t>
            </a:r>
            <a:r>
              <a:rPr lang="zh-CN" altLang="en-US" dirty="0" smtClean="0">
                <a:latin typeface="+mn-ea"/>
              </a:rPr>
              <a:t>器有所不同。如随机子空间算法</a:t>
            </a:r>
            <a:endParaRPr lang="en-US" altLang="zh-CN" dirty="0" smtClean="0">
              <a:latin typeface="+mn-ea"/>
            </a:endParaRPr>
          </a:p>
          <a:p>
            <a:pPr lvl="2"/>
            <a:r>
              <a:rPr lang="zh-CN" altLang="en-US" dirty="0" smtClean="0">
                <a:latin typeface="+mn-ea"/>
              </a:rPr>
              <a:t>对</a:t>
            </a:r>
            <a:r>
              <a:rPr lang="zh-CN" altLang="en-US" dirty="0">
                <a:latin typeface="+mn-ea"/>
              </a:rPr>
              <a:t>包含大量冗余</a:t>
            </a:r>
            <a:r>
              <a:rPr lang="zh-CN" altLang="en-US" dirty="0" smtClean="0">
                <a:latin typeface="+mn-ea"/>
              </a:rPr>
              <a:t>属性数据，能增强多样性，还能节省</a:t>
            </a:r>
            <a:r>
              <a:rPr lang="zh-CN" altLang="en-US" dirty="0">
                <a:latin typeface="+mn-ea"/>
              </a:rPr>
              <a:t>时间</a:t>
            </a:r>
            <a:r>
              <a:rPr lang="zh-CN" altLang="en-US" dirty="0" smtClean="0">
                <a:latin typeface="+mn-ea"/>
              </a:rPr>
              <a:t>开销</a:t>
            </a:r>
            <a:endParaRPr lang="en-US" altLang="zh-CN" dirty="0" smtClean="0">
              <a:latin typeface="+mn-ea"/>
            </a:endParaRPr>
          </a:p>
          <a:p>
            <a:pPr lvl="2"/>
            <a:r>
              <a:rPr lang="zh-CN" altLang="en-US" dirty="0" smtClean="0">
                <a:latin typeface="+mn-ea"/>
              </a:rPr>
              <a:t>数据</a:t>
            </a:r>
            <a:r>
              <a:rPr lang="zh-CN" altLang="en-US" dirty="0">
                <a:latin typeface="+mn-ea"/>
              </a:rPr>
              <a:t>只包含少量属性，或者冗余属性很少，则不宜</a:t>
            </a:r>
            <a:r>
              <a:rPr lang="zh-CN" altLang="en-US" dirty="0" smtClean="0">
                <a:latin typeface="+mn-ea"/>
              </a:rPr>
              <a:t>使用</a:t>
            </a:r>
            <a:endParaRPr lang="zh-CN" altLang="en-US" dirty="0">
              <a:latin typeface="+mn-ea"/>
            </a:endParaRPr>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spTree>
  </p:cSld>
  <p:clrMapOvr>
    <a:masterClrMapping/>
  </p:clrMapOvr>
  <p:transition>
    <p:cover dir="u"/>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8.5 </a:t>
            </a:r>
            <a:r>
              <a:rPr lang="zh-CN" altLang="en-US" dirty="0"/>
              <a:t>多样性</a:t>
            </a:r>
            <a:endParaRPr lang="zh-CN" altLang="en-US" dirty="0"/>
          </a:p>
        </p:txBody>
      </p:sp>
      <p:sp>
        <p:nvSpPr>
          <p:cNvPr id="3" name="内容占位符 2"/>
          <p:cNvSpPr>
            <a:spLocks noGrp="1"/>
          </p:cNvSpPr>
          <p:nvPr>
            <p:ph idx="1"/>
          </p:nvPr>
        </p:nvSpPr>
        <p:spPr/>
        <p:txBody>
          <a:bodyPr/>
          <a:lstStyle/>
          <a:p>
            <a:r>
              <a:rPr lang="en-US" altLang="zh-CN" dirty="0">
                <a:latin typeface="+mn-ea"/>
              </a:rPr>
              <a:t>8.5.3 </a:t>
            </a:r>
            <a:r>
              <a:rPr lang="zh-CN" altLang="en-US" dirty="0">
                <a:latin typeface="+mn-ea"/>
              </a:rPr>
              <a:t>多样性增强</a:t>
            </a:r>
            <a:endParaRPr lang="en-US" altLang="zh-CN" dirty="0">
              <a:latin typeface="+mn-ea"/>
            </a:endParaRPr>
          </a:p>
          <a:p>
            <a:pPr lvl="1"/>
            <a:r>
              <a:rPr lang="zh-CN" altLang="en-US" dirty="0"/>
              <a:t>输出表示</a:t>
            </a:r>
            <a:r>
              <a:rPr lang="zh-CN" altLang="en-US" dirty="0" smtClean="0"/>
              <a:t>扰动</a:t>
            </a:r>
            <a:endParaRPr lang="en-US" altLang="zh-CN" dirty="0" smtClean="0"/>
          </a:p>
          <a:p>
            <a:pPr lvl="2"/>
            <a:r>
              <a:rPr lang="zh-CN" altLang="en-US" dirty="0" smtClean="0"/>
              <a:t>对</a:t>
            </a:r>
            <a:r>
              <a:rPr lang="zh-CN" altLang="en-US" dirty="0"/>
              <a:t>输出表示进行操纵以增强</a:t>
            </a:r>
            <a:r>
              <a:rPr lang="zh-CN" altLang="en-US" dirty="0" smtClean="0"/>
              <a:t>多样性</a:t>
            </a:r>
            <a:endParaRPr lang="en-US" altLang="zh-CN" dirty="0" smtClean="0"/>
          </a:p>
          <a:p>
            <a:pPr lvl="2"/>
            <a:r>
              <a:rPr lang="zh-CN" altLang="en-US" dirty="0" smtClean="0"/>
              <a:t>翻转法</a:t>
            </a:r>
            <a:endParaRPr lang="en-US" altLang="zh-CN" dirty="0" smtClean="0"/>
          </a:p>
          <a:p>
            <a:pPr lvl="3"/>
            <a:r>
              <a:rPr lang="zh-CN" altLang="en-US" dirty="0"/>
              <a:t>随机改变一些训练样本的</a:t>
            </a:r>
            <a:r>
              <a:rPr lang="zh-CN" altLang="en-US" dirty="0" smtClean="0"/>
              <a:t>标记，对</a:t>
            </a:r>
            <a:r>
              <a:rPr lang="zh-CN" altLang="en-US" dirty="0"/>
              <a:t>训练样本的类标记稍作变动</a:t>
            </a:r>
            <a:endParaRPr lang="en-US" altLang="zh-CN" dirty="0" smtClean="0"/>
          </a:p>
          <a:p>
            <a:pPr lvl="2"/>
            <a:r>
              <a:rPr lang="zh-CN" altLang="en-US" dirty="0"/>
              <a:t>输出调制</a:t>
            </a:r>
            <a:r>
              <a:rPr lang="zh-CN" altLang="en-US" dirty="0" smtClean="0"/>
              <a:t>法</a:t>
            </a:r>
            <a:endParaRPr lang="en-US" altLang="zh-CN" dirty="0" smtClean="0"/>
          </a:p>
          <a:p>
            <a:pPr lvl="3"/>
            <a:r>
              <a:rPr lang="zh-CN" altLang="en-US" dirty="0"/>
              <a:t>对输出表示进行</a:t>
            </a:r>
            <a:r>
              <a:rPr lang="zh-CN" altLang="en-US" dirty="0" smtClean="0"/>
              <a:t>转化，将</a:t>
            </a:r>
            <a:r>
              <a:rPr lang="zh-CN" altLang="en-US" dirty="0"/>
              <a:t>分类输出转化为回归输出后构建个体学习</a:t>
            </a:r>
            <a:r>
              <a:rPr lang="zh-CN" altLang="en-US" dirty="0" smtClean="0"/>
              <a:t>器</a:t>
            </a:r>
            <a:endParaRPr lang="en-US" altLang="zh-CN" dirty="0" smtClean="0"/>
          </a:p>
          <a:p>
            <a:pPr lvl="2"/>
            <a:r>
              <a:rPr lang="en-US" altLang="zh-CN" dirty="0">
                <a:latin typeface="+mn-ea"/>
              </a:rPr>
              <a:t>ECOC</a:t>
            </a:r>
            <a:r>
              <a:rPr lang="zh-CN" altLang="en-US" dirty="0" smtClean="0">
                <a:latin typeface="+mn-ea"/>
              </a:rPr>
              <a:t>法</a:t>
            </a:r>
            <a:endParaRPr lang="en-US" altLang="zh-CN" dirty="0" smtClean="0">
              <a:latin typeface="+mn-ea"/>
            </a:endParaRPr>
          </a:p>
          <a:p>
            <a:pPr lvl="3"/>
            <a:r>
              <a:rPr lang="zh-CN" altLang="en-US" dirty="0" smtClean="0"/>
              <a:t>将</a:t>
            </a:r>
            <a:r>
              <a:rPr lang="zh-CN" altLang="en-US" dirty="0"/>
              <a:t>原任务拆解为多</a:t>
            </a:r>
            <a:r>
              <a:rPr lang="zh-CN" altLang="en-US" dirty="0" smtClean="0"/>
              <a:t>个子</a:t>
            </a:r>
            <a:r>
              <a:rPr lang="zh-CN" altLang="en-US" dirty="0"/>
              <a:t>任务</a:t>
            </a:r>
            <a:r>
              <a:rPr lang="zh-CN" altLang="en-US" dirty="0" smtClean="0"/>
              <a:t>，利用</a:t>
            </a:r>
            <a:r>
              <a:rPr lang="zh-CN" altLang="en-US" dirty="0"/>
              <a:t>纠错输出码将多分类任务拆解</a:t>
            </a:r>
            <a:r>
              <a:rPr lang="zh-CN" altLang="en-US" dirty="0" smtClean="0"/>
              <a:t>为二</a:t>
            </a:r>
            <a:r>
              <a:rPr lang="zh-CN" altLang="en-US" dirty="0"/>
              <a:t>分类</a:t>
            </a:r>
            <a:r>
              <a:rPr lang="zh-CN" altLang="en-US" dirty="0" smtClean="0"/>
              <a:t>任务训练</a:t>
            </a:r>
            <a:r>
              <a:rPr lang="zh-CN" altLang="en-US" dirty="0"/>
              <a:t>基学习</a:t>
            </a:r>
            <a:r>
              <a:rPr lang="zh-CN" altLang="en-US" dirty="0" smtClean="0"/>
              <a:t>器</a:t>
            </a:r>
            <a:endParaRPr lang="en-US" altLang="zh-CN" dirty="0" smtClean="0"/>
          </a:p>
          <a:p>
            <a:pPr lvl="1"/>
            <a:r>
              <a:rPr lang="zh-CN" altLang="en-US" dirty="0"/>
              <a:t>算法参数</a:t>
            </a:r>
            <a:r>
              <a:rPr lang="zh-CN" altLang="en-US" dirty="0" smtClean="0"/>
              <a:t>扰动</a:t>
            </a:r>
            <a:endParaRPr lang="en-US" altLang="zh-CN" dirty="0" smtClean="0"/>
          </a:p>
          <a:p>
            <a:pPr lvl="2"/>
            <a:r>
              <a:rPr lang="zh-CN" altLang="en-US" dirty="0"/>
              <a:t>基学习</a:t>
            </a:r>
            <a:r>
              <a:rPr lang="zh-CN" altLang="en-US" dirty="0" smtClean="0"/>
              <a:t>算法都</a:t>
            </a:r>
            <a:r>
              <a:rPr lang="zh-CN" altLang="en-US" dirty="0"/>
              <a:t>有参数</a:t>
            </a:r>
            <a:r>
              <a:rPr lang="zh-CN" altLang="en-US" dirty="0" smtClean="0"/>
              <a:t>需</a:t>
            </a:r>
            <a:r>
              <a:rPr lang="zh-CN" altLang="en-US" smtClean="0"/>
              <a:t>设置</a:t>
            </a:r>
            <a:r>
              <a:rPr lang="zh-CN" altLang="en-US" smtClean="0"/>
              <a:t>，如通过</a:t>
            </a:r>
            <a:r>
              <a:rPr lang="zh-CN" altLang="en-US" dirty="0"/>
              <a:t>随机设置</a:t>
            </a:r>
            <a:r>
              <a:rPr lang="zh-CN" altLang="en-US" dirty="0" smtClean="0"/>
              <a:t>不同参数，可</a:t>
            </a:r>
            <a:r>
              <a:rPr lang="zh-CN" altLang="en-US" dirty="0"/>
              <a:t>产生差别较大的个体学习</a:t>
            </a:r>
            <a:r>
              <a:rPr lang="zh-CN" altLang="en-US" dirty="0" smtClean="0"/>
              <a:t>器</a:t>
            </a:r>
            <a:endParaRPr lang="zh-CN" altLang="en-US" dirty="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spTree>
  </p:cSld>
  <p:clrMapOvr>
    <a:masterClrMapping/>
  </p:clrMapOvr>
  <p:transition>
    <p:cover dir="u"/>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作业</a:t>
            </a:r>
            <a:endParaRPr lang="zh-CN" altLang="en-US" dirty="0"/>
          </a:p>
        </p:txBody>
      </p:sp>
      <p:sp>
        <p:nvSpPr>
          <p:cNvPr id="3" name="内容占位符 2"/>
          <p:cNvSpPr>
            <a:spLocks noGrp="1"/>
          </p:cNvSpPr>
          <p:nvPr>
            <p:ph idx="1"/>
          </p:nvPr>
        </p:nvSpPr>
        <p:spPr/>
        <p:txBody>
          <a:bodyPr/>
          <a:lstStyle/>
          <a:p>
            <a:r>
              <a:rPr lang="en-US" altLang="zh-CN" dirty="0" smtClean="0">
                <a:latin typeface="+mn-ea"/>
              </a:rPr>
              <a:t>8.3</a:t>
            </a:r>
            <a:r>
              <a:rPr lang="zh-CN" altLang="en-US" dirty="0" smtClean="0">
                <a:latin typeface="+mn-ea"/>
              </a:rPr>
              <a:t>、</a:t>
            </a:r>
            <a:r>
              <a:rPr lang="en-US" altLang="zh-CN" dirty="0" smtClean="0">
                <a:latin typeface="+mn-ea"/>
              </a:rPr>
              <a:t>8.5</a:t>
            </a:r>
            <a:endParaRPr lang="zh-CN" altLang="en-US" dirty="0">
              <a:latin typeface="+mn-ea"/>
            </a:endParaRPr>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spTree>
  </p:cSld>
  <p:clrMapOvr>
    <a:masterClrMapping/>
  </p:clrMapOvr>
  <p:transition>
    <p:cover dir="u"/>
  </p:transition>
  <p:timing>
    <p:tnLst>
      <p:par>
        <p:cTn id="1" dur="indefinite" restart="never" nodeType="tmRoot"/>
      </p:par>
    </p:tnLst>
  </p:timing>
</p:sld>
</file>

<file path=ppt/theme/theme1.xml><?xml version="1.0" encoding="utf-8"?>
<a:theme xmlns:a="http://schemas.openxmlformats.org/drawingml/2006/main" name="课件PPT主题1">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sz="24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sz="24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课件PPT主题1</Template>
  <TotalTime>0</TotalTime>
  <Words>5281</Words>
  <Application>WPS 演示</Application>
  <PresentationFormat>全屏显示(4:3)</PresentationFormat>
  <Paragraphs>570</Paragraphs>
  <Slides>39</Slides>
  <Notes>16</Notes>
  <HiddenSlides>0</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78</vt:i4>
      </vt:variant>
      <vt:variant>
        <vt:lpstr>幻灯片标题</vt:lpstr>
      </vt:variant>
      <vt:variant>
        <vt:i4>39</vt:i4>
      </vt:variant>
    </vt:vector>
  </HeadingPairs>
  <TitlesOfParts>
    <vt:vector size="124" baseType="lpstr">
      <vt:lpstr>Arial</vt:lpstr>
      <vt:lpstr>宋体</vt:lpstr>
      <vt:lpstr>Wingdings</vt:lpstr>
      <vt:lpstr>Tahoma</vt:lpstr>
      <vt:lpstr>微软雅黑</vt:lpstr>
      <vt:lpstr>Arial Unicode MS</vt:lpstr>
      <vt:lpstr>课件PPT主题1</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第8章 集成学习</vt:lpstr>
      <vt:lpstr>主要内容</vt:lpstr>
      <vt:lpstr>8.1 个体与集成</vt:lpstr>
      <vt:lpstr>8.1 个体与集成</vt:lpstr>
      <vt:lpstr>8.1 个体与集成</vt:lpstr>
      <vt:lpstr>8.1 个体与集成</vt:lpstr>
      <vt:lpstr>8.1 个体与集成</vt:lpstr>
      <vt:lpstr>8.1 个体与集成</vt:lpstr>
      <vt:lpstr>8.2 Boosting</vt:lpstr>
      <vt:lpstr>8.2 Boosting</vt:lpstr>
      <vt:lpstr>8.2 Boosting</vt:lpstr>
      <vt:lpstr>8.2 Boosting</vt:lpstr>
      <vt:lpstr>8.2 Boosting</vt:lpstr>
      <vt:lpstr>8.2 Boosting</vt:lpstr>
      <vt:lpstr>8.2 Boosting</vt:lpstr>
      <vt:lpstr>8.3 Bagging与随机森林</vt:lpstr>
      <vt:lpstr>8.3 Bagging与随机森林</vt:lpstr>
      <vt:lpstr>8.3 Bagging与随机森林</vt:lpstr>
      <vt:lpstr>8.3 Bagging与随机森林</vt:lpstr>
      <vt:lpstr>8.3 Bagging与随机森林</vt:lpstr>
      <vt:lpstr>8.3 Bagging与随机森林</vt:lpstr>
      <vt:lpstr>8.3 Bagging与随机森林</vt:lpstr>
      <vt:lpstr>8.4 学习器结合策略</vt:lpstr>
      <vt:lpstr>8.4 学习器结合策略</vt:lpstr>
      <vt:lpstr>8.4 学习器结合策略</vt:lpstr>
      <vt:lpstr>8.4 学习器结合策略</vt:lpstr>
      <vt:lpstr>8.4 学习器结合策略</vt:lpstr>
      <vt:lpstr>8.4 学习器结合策略</vt:lpstr>
      <vt:lpstr>8.4 学习器结合策略</vt:lpstr>
      <vt:lpstr>8.4 学习器结合策略</vt:lpstr>
      <vt:lpstr>8.4 学习器结合策略</vt:lpstr>
      <vt:lpstr>8.5 多样性</vt:lpstr>
      <vt:lpstr>8.5 多样性</vt:lpstr>
      <vt:lpstr>8.5 多样性</vt:lpstr>
      <vt:lpstr>8.5 多样性</vt:lpstr>
      <vt:lpstr>8.5 多样性</vt:lpstr>
      <vt:lpstr>8.5 多样性</vt:lpstr>
      <vt:lpstr>8.5 多样性</vt:lpstr>
      <vt:lpstr>作业</vt:lpstr>
    </vt:vector>
  </TitlesOfParts>
  <Company>NEU Systems Engineering</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智能优化方法</dc:title>
  <dc:creator>Junwei Wang</dc:creator>
  <cp:lastModifiedBy>MNBVC</cp:lastModifiedBy>
  <cp:revision>1209</cp:revision>
  <dcterms:created xsi:type="dcterms:W3CDTF">2003-07-20T06:30:00Z</dcterms:created>
  <dcterms:modified xsi:type="dcterms:W3CDTF">2021-09-22T13:10:57Z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2052-11.3.0.9228</vt:lpwstr>
  </property>
</Properties>
</file>