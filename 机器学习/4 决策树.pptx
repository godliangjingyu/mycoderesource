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61"/>
  </p:handoutMasterIdLst>
  <p:sldIdLst>
    <p:sldId id="530" r:id="rId3"/>
    <p:sldId id="568" r:id="rId4"/>
    <p:sldId id="569" r:id="rId5"/>
    <p:sldId id="594" r:id="rId7"/>
    <p:sldId id="595" r:id="rId8"/>
    <p:sldId id="593" r:id="rId9"/>
    <p:sldId id="635" r:id="rId10"/>
    <p:sldId id="584" r:id="rId11"/>
    <p:sldId id="596" r:id="rId12"/>
    <p:sldId id="585" r:id="rId13"/>
    <p:sldId id="586" r:id="rId14"/>
    <p:sldId id="587" r:id="rId15"/>
    <p:sldId id="588" r:id="rId16"/>
    <p:sldId id="589" r:id="rId17"/>
    <p:sldId id="590" r:id="rId18"/>
    <p:sldId id="597" r:id="rId19"/>
    <p:sldId id="639" r:id="rId20"/>
    <p:sldId id="598" r:id="rId21"/>
    <p:sldId id="599" r:id="rId22"/>
    <p:sldId id="608" r:id="rId23"/>
    <p:sldId id="600" r:id="rId24"/>
    <p:sldId id="601" r:id="rId25"/>
    <p:sldId id="602" r:id="rId26"/>
    <p:sldId id="603" r:id="rId27"/>
    <p:sldId id="604" r:id="rId28"/>
    <p:sldId id="605" r:id="rId29"/>
    <p:sldId id="606" r:id="rId30"/>
    <p:sldId id="607" r:id="rId31"/>
    <p:sldId id="611" r:id="rId32"/>
    <p:sldId id="612" r:id="rId33"/>
    <p:sldId id="613" r:id="rId34"/>
    <p:sldId id="614" r:id="rId35"/>
    <p:sldId id="615" r:id="rId36"/>
    <p:sldId id="616" r:id="rId37"/>
    <p:sldId id="619" r:id="rId38"/>
    <p:sldId id="617" r:id="rId39"/>
    <p:sldId id="618" r:id="rId40"/>
    <p:sldId id="609" r:id="rId41"/>
    <p:sldId id="610" r:id="rId42"/>
    <p:sldId id="591" r:id="rId43"/>
    <p:sldId id="637" r:id="rId44"/>
    <p:sldId id="620" r:id="rId45"/>
    <p:sldId id="621" r:id="rId46"/>
    <p:sldId id="622" r:id="rId47"/>
    <p:sldId id="634" r:id="rId48"/>
    <p:sldId id="638" r:id="rId49"/>
    <p:sldId id="624" r:id="rId50"/>
    <p:sldId id="625" r:id="rId51"/>
    <p:sldId id="626" r:id="rId52"/>
    <p:sldId id="627" r:id="rId53"/>
    <p:sldId id="628" r:id="rId54"/>
    <p:sldId id="629" r:id="rId55"/>
    <p:sldId id="630" r:id="rId56"/>
    <p:sldId id="631" r:id="rId57"/>
    <p:sldId id="632" r:id="rId58"/>
    <p:sldId id="636" r:id="rId59"/>
    <p:sldId id="583" r:id="rId60"/>
  </p:sldIdLst>
  <p:sldSz cx="9144000" cy="6858000" type="screen4x3"/>
  <p:notesSz cx="6858000" cy="9144000"/>
  <p:defaultTextStyle>
    <a:defPPr>
      <a:defRPr lang="zh-CN"/>
    </a:defPPr>
    <a:lvl1pPr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B5E3F3"/>
    <a:srgbClr val="FFFFFF"/>
    <a:srgbClr val="FF0000"/>
    <a:srgbClr val="FF6600"/>
    <a:srgbClr val="E3D9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78396" autoAdjust="0"/>
  </p:normalViewPr>
  <p:slideViewPr>
    <p:cSldViewPr>
      <p:cViewPr varScale="1">
        <p:scale>
          <a:sx n="59" d="100"/>
          <a:sy n="59" d="100"/>
        </p:scale>
        <p:origin x="72" y="2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image" Target="../media/image25.wmf"/><Relationship Id="rId7" Type="http://schemas.openxmlformats.org/officeDocument/2006/relationships/image" Target="../media/image24.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image" Target="../media/image59.wmf"/><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73.wmf"/><Relationship Id="rId8" Type="http://schemas.openxmlformats.org/officeDocument/2006/relationships/image" Target="../media/image72.wmf"/><Relationship Id="rId7" Type="http://schemas.openxmlformats.org/officeDocument/2006/relationships/image" Target="../media/image71.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3" Type="http://schemas.openxmlformats.org/officeDocument/2006/relationships/image" Target="../media/image77.wmf"/><Relationship Id="rId12" Type="http://schemas.openxmlformats.org/officeDocument/2006/relationships/image" Target="../media/image76.wmf"/><Relationship Id="rId11" Type="http://schemas.openxmlformats.org/officeDocument/2006/relationships/image" Target="../media/image75.wmf"/><Relationship Id="rId10" Type="http://schemas.openxmlformats.org/officeDocument/2006/relationships/image" Target="../media/image74.wmf"/><Relationship Id="rId1"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image" Target="../media/image83.wmf"/><Relationship Id="rId7" Type="http://schemas.openxmlformats.org/officeDocument/2006/relationships/image" Target="../media/image82.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9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29901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95B01064-FCC8-4740-9ED9-11F36E7CF288}"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4DF57427-B8B5-4D24-A9D7-9D6F6382E6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分类回归树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CART ) </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决策树是基于树结构来进行决策的，这恰</a:t>
            </a:r>
            <a:r>
              <a:rPr lang="zh-CN" altLang="en-US" b="1" dirty="0" smtClean="0"/>
              <a:t>是人类在面临决策问题时一种很自然的处理机制</a:t>
            </a:r>
            <a:endParaRPr lang="zh-CN" altLang="en-US" b="1"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决策树是基于树结构来进行决策的，这恰</a:t>
            </a:r>
            <a:r>
              <a:rPr lang="zh-CN" altLang="en-US" b="1" dirty="0" smtClean="0"/>
              <a:t>是人类在面临决策问题时一种很自然的处理机制</a:t>
            </a:r>
            <a:endParaRPr lang="zh-CN" altLang="en-US" b="1"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策略：“分而治之”</a:t>
            </a:r>
            <a:r>
              <a:rPr lang="en-US" altLang="zh-CN" dirty="0" smtClean="0"/>
              <a:t>(divide-and-conquer)</a:t>
            </a:r>
            <a:endParaRPr lang="en-US" altLang="zh-CN" dirty="0" smtClean="0"/>
          </a:p>
          <a:p>
            <a:endParaRPr lang="en-US" altLang="zh-CN" dirty="0" smtClean="0"/>
          </a:p>
          <a:p>
            <a:r>
              <a:rPr lang="en-US" altLang="zh-CN" dirty="0" err="1" smtClean="0"/>
              <a:t>Dv</a:t>
            </a:r>
            <a:r>
              <a:rPr lang="zh-CN" altLang="en-US" dirty="0" smtClean="0"/>
              <a:t>为空，该属性值为叶节点，必须给出判别，因此标记为最多类</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策略：“分而治之”</a:t>
            </a:r>
            <a:r>
              <a:rPr lang="en-US" altLang="zh-CN" dirty="0" smtClean="0"/>
              <a:t>(divide-and-conquer)</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上图是二元信息熵</a:t>
            </a:r>
            <a:endParaRPr lang="en-US" altLang="zh-CN" dirty="0" smtClean="0"/>
          </a:p>
          <a:p>
            <a:endParaRPr lang="en-US" altLang="zh-CN" dirty="0" smtClean="0"/>
          </a:p>
          <a:p>
            <a:r>
              <a:rPr lang="zh-CN" altLang="en-US" dirty="0" smtClean="0"/>
              <a:t>信息熵 </a:t>
            </a:r>
            <a:r>
              <a:rPr lang="en-US" altLang="zh-CN" dirty="0" smtClean="0"/>
              <a:t>(entropy) </a:t>
            </a:r>
            <a:endParaRPr lang="en-US" altLang="zh-CN" dirty="0" smtClean="0"/>
          </a:p>
          <a:p>
            <a:endParaRPr lang="en-US" altLang="zh-CN" dirty="0" smtClean="0"/>
          </a:p>
          <a:p>
            <a:r>
              <a:rPr lang="en-US" altLang="zh-CN" dirty="0" smtClean="0"/>
              <a:t>|y|</a:t>
            </a:r>
            <a:r>
              <a:rPr lang="zh-CN" altLang="en-US" dirty="0" smtClean="0"/>
              <a:t>表示样本类的模数，</a:t>
            </a:r>
            <a:endParaRPr lang="en-US" altLang="zh-CN" dirty="0" smtClean="0"/>
          </a:p>
          <a:p>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对数级数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(logarithmic series)</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，即对数函数的幂级数展开式。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x-x^2/2+x^3/3…</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于是可计算出用属性</a:t>
            </a:r>
            <a:r>
              <a:rPr lang="en-US" altLang="zh-CN" dirty="0" smtClean="0">
                <a:latin typeface="+mn-ea"/>
              </a:rPr>
              <a:t>a</a:t>
            </a:r>
            <a:r>
              <a:rPr lang="zh-CN" altLang="en-US" dirty="0" smtClean="0">
                <a:latin typeface="+mn-ea"/>
              </a:rPr>
              <a:t>对样本集</a:t>
            </a:r>
            <a:r>
              <a:rPr lang="en-US" altLang="zh-CN" dirty="0" smtClean="0">
                <a:latin typeface="+mn-ea"/>
              </a:rPr>
              <a:t>D</a:t>
            </a:r>
            <a:r>
              <a:rPr lang="zh-CN" altLang="en-US" dirty="0" smtClean="0">
                <a:latin typeface="+mn-ea"/>
              </a:rPr>
              <a:t>进行划分所获得的“信息增益”</a:t>
            </a:r>
            <a:r>
              <a:rPr lang="en-US" altLang="zh-CN" dirty="0" smtClean="0">
                <a:latin typeface="+mn-ea"/>
              </a:rPr>
              <a:t>(information gain)</a:t>
            </a:r>
            <a:endParaRPr lang="zh-CN" altLang="en-US"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例子，属性选择，从根节点开始</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t>
            </a:r>
            <a:r>
              <a:rPr lang="en-US" altLang="zh-CN" dirty="0" smtClean="0">
                <a:latin typeface="+mn-ea"/>
              </a:rPr>
              <a:t>C4.5</a:t>
            </a:r>
            <a:r>
              <a:rPr lang="zh-CN" altLang="en-US" dirty="0" smtClean="0">
                <a:latin typeface="+mn-ea"/>
              </a:rPr>
              <a:t>决策树算法（</a:t>
            </a:r>
            <a:r>
              <a:rPr lang="en-US" altLang="zh-CN" dirty="0" smtClean="0">
                <a:latin typeface="+mn-ea"/>
              </a:rPr>
              <a:t>1993</a:t>
            </a:r>
            <a:r>
              <a:rPr lang="zh-CN" altLang="en-US" dirty="0" smtClean="0">
                <a:latin typeface="+mn-ea"/>
              </a:rPr>
              <a:t>年）</a:t>
            </a:r>
            <a:endParaRPr lang="en-US" altLang="zh-CN" dirty="0" smtClean="0">
              <a:latin typeface="+mn-ea"/>
            </a:endParaRPr>
          </a:p>
          <a:p>
            <a:endParaRPr lang="en-US" altLang="zh-CN" dirty="0" smtClean="0"/>
          </a:p>
          <a:p>
            <a:r>
              <a:rPr lang="en-US" altLang="zh-CN" dirty="0" smtClean="0"/>
              <a:t>V</a:t>
            </a:r>
            <a:r>
              <a:rPr lang="zh-CN" altLang="en-US" dirty="0" smtClean="0"/>
              <a:t>个分支</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实际上，信息增益准则对可取值数目较多的属性有所偏好，为减少这种</a:t>
            </a:r>
            <a:endParaRPr lang="zh-CN" altLang="en-US" dirty="0" smtClean="0"/>
          </a:p>
          <a:p>
            <a:r>
              <a:rPr lang="zh-CN" altLang="en-US" dirty="0" smtClean="0"/>
              <a:t>偏好可能带来的</a:t>
            </a:r>
            <a:r>
              <a:rPr lang="zh-CN" altLang="en-US" b="1" dirty="0" smtClean="0"/>
              <a:t>不利影响</a:t>
            </a:r>
            <a:r>
              <a:rPr lang="zh-CN" altLang="en-US" dirty="0" smtClean="0"/>
              <a:t>，著名的</a:t>
            </a:r>
            <a:r>
              <a:rPr lang="en-US" altLang="zh-CN" dirty="0" smtClean="0"/>
              <a:t>C4.5</a:t>
            </a:r>
            <a:r>
              <a:rPr lang="zh-CN" altLang="en-US" dirty="0" smtClean="0"/>
              <a:t>决策树算法</a:t>
            </a:r>
            <a:r>
              <a:rPr lang="en-US" altLang="zh-CN" dirty="0" smtClean="0"/>
              <a:t>[}Quinlan, 1993</a:t>
            </a:r>
            <a:r>
              <a:rPr lang="zh-CN" altLang="en-US" dirty="0" smtClean="0"/>
              <a:t>」不直接使用信息增益，而是</a:t>
            </a:r>
            <a:r>
              <a:rPr lang="zh-CN" altLang="en-US" b="1" dirty="0" smtClean="0"/>
              <a:t>使用“增益率”</a:t>
            </a:r>
            <a:r>
              <a:rPr lang="en-US" altLang="zh-CN" b="1" dirty="0" smtClean="0"/>
              <a:t>(gain ratio)</a:t>
            </a:r>
            <a:r>
              <a:rPr lang="zh-CN" altLang="en-US" b="1" dirty="0" smtClean="0"/>
              <a:t>来选择最优划分属性</a:t>
            </a:r>
            <a:r>
              <a:rPr lang="en-US" altLang="zh-CN" dirty="0" smtClean="0"/>
              <a:t>.</a:t>
            </a:r>
            <a:r>
              <a:rPr lang="zh-CN" altLang="en-US" dirty="0" smtClean="0"/>
              <a:t>采用与式</a:t>
            </a:r>
            <a:r>
              <a:rPr lang="en-US" altLang="zh-CN" dirty="0" smtClean="0"/>
              <a:t>(4.2)</a:t>
            </a:r>
            <a:r>
              <a:rPr lang="zh-CN" altLang="en-US" dirty="0" smtClean="0"/>
              <a:t>相同的符号表示，增益率定义为</a:t>
            </a:r>
            <a:endParaRPr lang="zh-CN" altLang="en-US" dirty="0" smtClean="0"/>
          </a:p>
          <a:p>
            <a:endParaRPr lang="en-US" altLang="zh-CN" dirty="0" smtClean="0"/>
          </a:p>
          <a:p>
            <a:r>
              <a:rPr lang="en-US" altLang="zh-CN" dirty="0" smtClean="0"/>
              <a:t>V</a:t>
            </a:r>
            <a:r>
              <a:rPr lang="zh-CN" altLang="en-US" dirty="0" smtClean="0"/>
              <a:t>个分支</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CART</a:t>
            </a:r>
            <a:r>
              <a:rPr lang="zh-CN" altLang="en-US" dirty="0" smtClean="0"/>
              <a:t>决策树（</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classification and regression trees</a:t>
            </a:r>
            <a:r>
              <a:rPr lang="zh-CN" altLang="en-US" dirty="0" smtClean="0"/>
              <a:t>）（</a:t>
            </a:r>
            <a:r>
              <a:rPr lang="en-US" altLang="zh-CN" dirty="0" smtClean="0"/>
              <a:t>1984</a:t>
            </a:r>
            <a:r>
              <a:rPr lang="zh-CN" altLang="en-US" dirty="0" smtClean="0"/>
              <a:t>年）</a:t>
            </a:r>
            <a:endParaRPr lang="en-US" altLang="zh-CN" dirty="0" smtClean="0"/>
          </a:p>
          <a:p>
            <a:r>
              <a:rPr lang="zh-CN" altLang="en-US" dirty="0" smtClean="0"/>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分类与回归树算法</a:t>
            </a:r>
            <a:r>
              <a:rPr lang="zh-CN" altLang="en-US" dirty="0" smtClean="0"/>
              <a:t>）</a:t>
            </a:r>
            <a:endParaRPr lang="en-US" altLang="zh-CN" dirty="0" smtClean="0"/>
          </a:p>
          <a:p>
            <a:endParaRPr lang="en-US" altLang="zh-CN" dirty="0" smtClean="0"/>
          </a:p>
          <a:p>
            <a:r>
              <a:rPr lang="en-US" altLang="zh-CN" dirty="0" smtClean="0"/>
              <a:t>V</a:t>
            </a:r>
            <a:r>
              <a:rPr lang="zh-CN" altLang="en-US" dirty="0" smtClean="0"/>
              <a:t>个分支</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以致于把训练集自身的一些特点当作所有数据都具有的一般性质而导致过拟合</a:t>
            </a:r>
            <a:endParaRPr lang="en-US" altLang="zh-CN" dirty="0" smtClean="0"/>
          </a:p>
          <a:p>
            <a:endParaRPr lang="en-US" altLang="zh-CN" dirty="0" smtClean="0"/>
          </a:p>
          <a:p>
            <a:r>
              <a:rPr lang="zh-CN" altLang="en-US" dirty="0" smtClean="0"/>
              <a:t>剪枝 </a:t>
            </a:r>
            <a:r>
              <a:rPr lang="en-US" altLang="zh-CN" dirty="0" smtClean="0"/>
              <a:t>(pruning) </a:t>
            </a:r>
            <a:r>
              <a:rPr lang="zh-CN" altLang="en-US" dirty="0" smtClean="0"/>
              <a:t>是决策树对付“过拟合”的主要手段</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预剪枝 </a:t>
            </a:r>
            <a:r>
              <a:rPr lang="en-US" altLang="zh-CN" dirty="0" smtClean="0"/>
              <a:t>(pre-pruning): </a:t>
            </a:r>
            <a:endParaRPr lang="en-US" altLang="zh-CN" dirty="0" smtClean="0"/>
          </a:p>
          <a:p>
            <a:endParaRPr lang="en-US" altLang="zh-CN" dirty="0" smtClean="0"/>
          </a:p>
          <a:p>
            <a:r>
              <a:rPr lang="zh-CN" altLang="en-US" dirty="0" smtClean="0"/>
              <a:t>后剪枝 </a:t>
            </a:r>
            <a:r>
              <a:rPr lang="en-US" altLang="zh-CN" dirty="0" smtClean="0"/>
              <a:t>(post-pruning):</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当样例最多的类不唯一时，可任选其中一类</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当样例最多的类不唯一时，可任选其中一类</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对结点③，最优划分属性为“根蒂”，划分后验证集精度仍为</a:t>
            </a:r>
            <a:r>
              <a:rPr lang="en-US" altLang="zh-CN" dirty="0" smtClean="0"/>
              <a:t>71.4%.</a:t>
            </a:r>
            <a:r>
              <a:rPr lang="zh-CN" altLang="en-US" dirty="0" smtClean="0"/>
              <a:t>这个划分不能提升验证集精度，于是，预剪枝策略禁止结点③被划分</a:t>
            </a:r>
            <a:r>
              <a:rPr lang="en-US" altLang="zh-CN" dirty="0" smtClean="0"/>
              <a:t>.</a:t>
            </a:r>
            <a:endParaRPr lang="en-US" altLang="zh-CN" dirty="0" smtClean="0"/>
          </a:p>
          <a:p>
            <a:endParaRPr lang="en-US" altLang="zh-CN" dirty="0" smtClean="0"/>
          </a:p>
          <a:p>
            <a:r>
              <a:rPr lang="zh-CN" altLang="en-US" dirty="0" smtClean="0"/>
              <a:t>对结点④，其所含训练样例已属于同一类，不再进行划分</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训练集精度、验证精度不同</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此种情形下验证集精度虽无提高，但根据奥卡姆剃刀准则，剪枝后的模型更好</a:t>
            </a:r>
            <a:r>
              <a:rPr lang="en-US" altLang="zh-CN" dirty="0" smtClean="0"/>
              <a:t>.</a:t>
            </a:r>
            <a:r>
              <a:rPr lang="zh-CN" altLang="en-US" dirty="0" smtClean="0"/>
              <a:t>因此。实际的决策树算法在此种情形下通常要进行剪枝</a:t>
            </a:r>
            <a:r>
              <a:rPr lang="en-US" altLang="zh-CN" dirty="0" smtClean="0"/>
              <a:t>.</a:t>
            </a:r>
            <a:r>
              <a:rPr lang="zh-CN" altLang="en-US" dirty="0" smtClean="0"/>
              <a:t>本书为绘图的方便</a:t>
            </a:r>
            <a:r>
              <a:rPr lang="en-US" altLang="zh-CN" dirty="0" smtClean="0"/>
              <a:t>.</a:t>
            </a:r>
            <a:r>
              <a:rPr lang="zh-CN" altLang="en-US" dirty="0" smtClean="0"/>
              <a:t>采取了不剪枝的保守策略。</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此种情形下验证集精度虽无提高，但根据奥卡姆剃刀准则，剪枝后的模型更好</a:t>
            </a:r>
            <a:r>
              <a:rPr lang="en-US" altLang="zh-CN" dirty="0" smtClean="0"/>
              <a:t>.</a:t>
            </a:r>
            <a:r>
              <a:rPr lang="zh-CN" altLang="en-US" dirty="0" smtClean="0"/>
              <a:t>因此。实际的决策树算法在此种情形下通常要进行剪枝</a:t>
            </a:r>
            <a:r>
              <a:rPr lang="en-US" altLang="zh-CN" dirty="0" smtClean="0"/>
              <a:t>.</a:t>
            </a:r>
            <a:r>
              <a:rPr lang="zh-CN" altLang="en-US" dirty="0" smtClean="0"/>
              <a:t>本书为绘图的方便</a:t>
            </a:r>
            <a:r>
              <a:rPr lang="en-US" altLang="zh-CN" dirty="0" smtClean="0"/>
              <a:t>.</a:t>
            </a:r>
            <a:r>
              <a:rPr lang="zh-CN" altLang="en-US" dirty="0" smtClean="0"/>
              <a:t>采取了不剪枝的保守策略。</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到目前为止我们仅讨论了基于离散属性来生成决策树。现实学习任务中常会遇到</a:t>
            </a:r>
            <a:r>
              <a:rPr lang="zh-CN" altLang="en-US" b="1" dirty="0" smtClean="0"/>
              <a:t>连续属性</a:t>
            </a:r>
            <a:r>
              <a:rPr lang="zh-CN" altLang="en-US" dirty="0" smtClean="0"/>
              <a:t>，有必要讨论如何</a:t>
            </a:r>
            <a:r>
              <a:rPr lang="zh-CN" altLang="en-US" b="1" dirty="0" smtClean="0"/>
              <a:t>在决策树学习中使用连续属性</a:t>
            </a:r>
            <a:r>
              <a:rPr lang="en-US" altLang="zh-CN" dirty="0" smtClean="0"/>
              <a:t>.</a:t>
            </a:r>
            <a:endParaRPr lang="en-US" altLang="zh-CN" dirty="0" smtClean="0"/>
          </a:p>
          <a:p>
            <a:endParaRPr lang="en-US" altLang="zh-CN" dirty="0" smtClean="0"/>
          </a:p>
          <a:p>
            <a:r>
              <a:rPr lang="zh-CN" altLang="en-US" dirty="0" smtClean="0"/>
              <a:t>连续属性的可取值数目不再有限</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最简单的策略是采用二分法</a:t>
            </a:r>
            <a:r>
              <a:rPr lang="en-US" altLang="zh-CN" dirty="0" smtClean="0">
                <a:latin typeface="+mn-ea"/>
              </a:rPr>
              <a:t>(bi-partition)</a:t>
            </a:r>
            <a:r>
              <a:rPr lang="zh-CN" altLang="en-US" dirty="0" smtClean="0">
                <a:latin typeface="+mn-ea"/>
              </a:rPr>
              <a:t>对连续属性进行处理，这正是</a:t>
            </a:r>
            <a:r>
              <a:rPr lang="en-US" altLang="zh-CN" dirty="0" smtClean="0">
                <a:latin typeface="+mn-ea"/>
              </a:rPr>
              <a:t>C4.5</a:t>
            </a:r>
            <a:r>
              <a:rPr lang="zh-CN" altLang="en-US" dirty="0" smtClean="0">
                <a:latin typeface="+mn-ea"/>
              </a:rPr>
              <a:t>决策树算法中采用的机制</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两个属性值的中位点</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Ent</a:t>
            </a:r>
            <a:r>
              <a:rPr lang="zh-CN" altLang="en-US" dirty="0" smtClean="0">
                <a:latin typeface="+mn-ea"/>
              </a:rPr>
              <a:t>信息熵</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ENT</a:t>
            </a:r>
            <a:r>
              <a:rPr lang="zh-CN" altLang="en-US" dirty="0" smtClean="0">
                <a:latin typeface="+mn-ea"/>
              </a:rPr>
              <a:t>，样本集</a:t>
            </a:r>
            <a:r>
              <a:rPr lang="en-US" altLang="zh-CN" dirty="0" smtClean="0">
                <a:latin typeface="+mn-ea"/>
              </a:rPr>
              <a:t>D</a:t>
            </a:r>
            <a:r>
              <a:rPr lang="zh-CN" altLang="en-US" dirty="0" smtClean="0">
                <a:latin typeface="+mn-ea"/>
              </a:rPr>
              <a:t>中第</a:t>
            </a:r>
            <a:r>
              <a:rPr lang="en-US" altLang="zh-CN" dirty="0" smtClean="0">
                <a:latin typeface="+mn-ea"/>
              </a:rPr>
              <a:t>k</a:t>
            </a:r>
            <a:r>
              <a:rPr lang="zh-CN" altLang="en-US" dirty="0" smtClean="0">
                <a:latin typeface="+mn-ea"/>
              </a:rPr>
              <a:t>类样本的比例为   ，则</a:t>
            </a:r>
            <a:r>
              <a:rPr lang="en-US" altLang="zh-CN" dirty="0" smtClean="0">
                <a:latin typeface="+mn-ea"/>
              </a:rPr>
              <a:t>D</a:t>
            </a:r>
            <a:r>
              <a:rPr lang="zh-CN" altLang="en-US" dirty="0" smtClean="0">
                <a:latin typeface="+mn-ea"/>
              </a:rPr>
              <a:t>的信息熵</a:t>
            </a:r>
            <a:endParaRPr lang="en-US" altLang="zh-CN" dirty="0" smtClean="0">
              <a:latin typeface="+mn-ea"/>
            </a:endParaRPr>
          </a:p>
          <a:p>
            <a:endParaRPr lang="en-US" altLang="zh-CN" dirty="0" smtClean="0"/>
          </a:p>
          <a:p>
            <a:r>
              <a:rPr lang="zh-CN" altLang="en-US" dirty="0" smtClean="0"/>
              <a:t>纯度越高，信息熵越低</a:t>
            </a:r>
            <a:endParaRPr lang="en-US" altLang="zh-CN" dirty="0" smtClean="0"/>
          </a:p>
          <a:p>
            <a:endParaRPr lang="en-US" altLang="zh-CN" dirty="0" smtClean="0"/>
          </a:p>
          <a:p>
            <a:r>
              <a:rPr lang="zh-CN" altLang="en-US" dirty="0" smtClean="0"/>
              <a:t>到目前为止我们仅讨论了基于离散属性来生成决策树。现实学习任务中常会遇到</a:t>
            </a:r>
            <a:r>
              <a:rPr lang="zh-CN" altLang="en-US" b="1" dirty="0" smtClean="0"/>
              <a:t>连续属性</a:t>
            </a:r>
            <a:r>
              <a:rPr lang="zh-CN" altLang="en-US" dirty="0" smtClean="0"/>
              <a:t>，有必要讨论如何</a:t>
            </a:r>
            <a:r>
              <a:rPr lang="zh-CN" altLang="en-US" b="1" dirty="0" smtClean="0"/>
              <a:t>在决策树学习中使用连续属性</a:t>
            </a:r>
            <a:r>
              <a:rPr lang="en-US" altLang="zh-CN" dirty="0" smtClean="0"/>
              <a:t>.</a:t>
            </a:r>
            <a:endParaRPr lang="en-US" altLang="zh-CN" dirty="0" smtClean="0"/>
          </a:p>
          <a:p>
            <a:endParaRPr lang="en-US" altLang="zh-CN" dirty="0" smtClean="0"/>
          </a:p>
          <a:p>
            <a:r>
              <a:rPr lang="zh-CN" altLang="en-US" dirty="0" smtClean="0"/>
              <a:t>连续属性的可取值数目不再有限</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最简单的策略是采用二分法</a:t>
            </a:r>
            <a:r>
              <a:rPr lang="en-US" altLang="zh-CN" dirty="0" smtClean="0">
                <a:latin typeface="+mn-ea"/>
              </a:rPr>
              <a:t>(bi-partition)</a:t>
            </a:r>
            <a:r>
              <a:rPr lang="zh-CN" altLang="en-US" dirty="0" smtClean="0">
                <a:latin typeface="+mn-ea"/>
              </a:rPr>
              <a:t>对连续属性进行处理，这正是</a:t>
            </a:r>
            <a:r>
              <a:rPr lang="en-US" altLang="zh-CN" dirty="0" smtClean="0">
                <a:latin typeface="+mn-ea"/>
              </a:rPr>
              <a:t>C4.5</a:t>
            </a:r>
            <a:r>
              <a:rPr lang="zh-CN" altLang="en-US" dirty="0" smtClean="0">
                <a:latin typeface="+mn-ea"/>
              </a:rPr>
              <a:t>决策树算法中采用的机制</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两个属性值的中位点</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Ent</a:t>
            </a:r>
            <a:r>
              <a:rPr lang="zh-CN" altLang="en-US" dirty="0" smtClean="0">
                <a:latin typeface="+mn-ea"/>
              </a:rPr>
              <a:t>信息熵</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密度、含糖率是连续的</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Ent</a:t>
            </a:r>
            <a:r>
              <a:rPr lang="zh-CN" altLang="en-US" dirty="0" smtClean="0"/>
              <a:t>信息熵</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Ent</a:t>
            </a:r>
            <a:r>
              <a:rPr lang="zh-CN" altLang="en-US" dirty="0" smtClean="0"/>
              <a:t>信息熵</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单变量决策树，每次只用一个变量划分</a:t>
            </a:r>
            <a:endParaRPr lang="en-US" altLang="zh-CN" dirty="0" smtClean="0"/>
          </a:p>
          <a:p>
            <a:endParaRPr lang="en-US" altLang="zh-CN" dirty="0" smtClean="0"/>
          </a:p>
          <a:p>
            <a:endParaRPr lang="en-US" altLang="zh-CN" dirty="0" smtClean="0"/>
          </a:p>
          <a:p>
            <a:r>
              <a:rPr lang="zh-CN" altLang="en-US" dirty="0" smtClean="0">
                <a:latin typeface="+mn-ea"/>
              </a:rPr>
              <a:t>轴平行</a:t>
            </a:r>
            <a:r>
              <a:rPr lang="en-US" altLang="zh-CN" dirty="0" smtClean="0">
                <a:latin typeface="+mn-ea"/>
              </a:rPr>
              <a:t>(axis-parallel)</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多变量</a:t>
            </a:r>
            <a:r>
              <a:rPr lang="en-US" altLang="zh-CN" dirty="0" smtClean="0"/>
              <a:t>(multivariate)</a:t>
            </a:r>
            <a:r>
              <a:rPr lang="zh-CN" altLang="en-US" dirty="0" smtClean="0"/>
              <a:t>决策树</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050" name="Group 2"/>
          <p:cNvGrpSpPr/>
          <p:nvPr/>
        </p:nvGrpSpPr>
        <p:grpSpPr bwMode="auto">
          <a:xfrm>
            <a:off x="0" y="2438401"/>
            <a:ext cx="9009185" cy="1052513"/>
            <a:chOff x="0" y="0"/>
            <a:chExt cx="5675" cy="663"/>
          </a:xfrm>
        </p:grpSpPr>
        <p:grpSp>
          <p:nvGrpSpPr>
            <p:cNvPr id="2051" name="Group 3"/>
            <p:cNvGrpSpPr/>
            <p:nvPr/>
          </p:nvGrpSpPr>
          <p:grpSpPr bwMode="auto">
            <a:xfrm>
              <a:off x="183" y="68"/>
              <a:ext cx="448" cy="299"/>
              <a:chOff x="0" y="0"/>
              <a:chExt cx="624" cy="432"/>
            </a:xfrm>
          </p:grpSpPr>
          <p:sp>
            <p:nvSpPr>
              <p:cNvPr id="2052"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4" name="Group 6"/>
            <p:cNvGrpSpPr/>
            <p:nvPr/>
          </p:nvGrpSpPr>
          <p:grpSpPr bwMode="auto">
            <a:xfrm>
              <a:off x="261" y="334"/>
              <a:ext cx="465" cy="299"/>
              <a:chOff x="0" y="0"/>
              <a:chExt cx="672" cy="432"/>
            </a:xfrm>
          </p:grpSpPr>
          <p:sp>
            <p:nvSpPr>
              <p:cNvPr id="2055"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6"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endParaRPr lang="zh-CN" noProof="0" smtClean="0"/>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noProof="0" smtClean="0"/>
          </a:p>
        </p:txBody>
      </p:sp>
      <p:sp>
        <p:nvSpPr>
          <p:cNvPr id="206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206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206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pPr>
              <a:defRPr/>
            </a:pPr>
            <a:fld id="{6D5A3878-68F3-45F5-8CE5-B10A948053B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83568" y="836712"/>
            <a:ext cx="7772400" cy="4690864"/>
          </a:xfrm>
        </p:spPr>
        <p:txBody>
          <a:bodyPr/>
          <a:lstStyle>
            <a:lvl1pPr algn="just">
              <a:defRPr/>
            </a:lvl1pPr>
            <a:lvl2pPr algn="just">
              <a:defRPr/>
            </a:lvl2pPr>
            <a:lvl3pPr algn="just">
              <a:defRPr/>
            </a:lvl3pPr>
            <a:lvl4pPr algn="just">
              <a:defRPr/>
            </a:lvl4pPr>
            <a:lvl5pPr algn="just">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36511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1509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7FCA52-35BE-435D-97C2-A408D337DE8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3568"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0106"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4FDE62D2-D264-4337-A19B-38BEDDBEBCE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01EB25B2-8CD4-4E83-80AD-E0B7F4C85BF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1A13C547-B64A-4E2F-A6FC-68A598118A9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2A9A150F-B1C5-4363-A5AD-8A53B12CA15F}"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A247003D-06A9-418B-9E36-B2D925D2A0D5}"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8D9ABAD4-93F4-4D00-B7FE-FF47E0DCFB90}"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D96A2AB-B9EE-408D-BB4B-51D32C4155CD}"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539" y="617539"/>
            <a:ext cx="1950427"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327" y="617539"/>
            <a:ext cx="5713534" cy="55149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CBAFC95-745C-4519-8D02-578071E7EC83}"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20080"/>
          </a:xfrm>
        </p:spPr>
        <p:txBody>
          <a:bodyPr/>
          <a:lstStyle/>
          <a:p>
            <a:r>
              <a:rPr lang="zh-CN" altLang="en-US" smtClean="0"/>
              <a:t>单击此处编辑母版标题样式</a:t>
            </a:r>
            <a:endParaRPr lang="zh-CN" altLang="en-US" dirty="0"/>
          </a:p>
        </p:txBody>
      </p:sp>
      <p:sp>
        <p:nvSpPr>
          <p:cNvPr id="3" name="文本占位符 2"/>
          <p:cNvSpPr>
            <a:spLocks noGrp="1"/>
          </p:cNvSpPr>
          <p:nvPr>
            <p:ph type="body" sz="half" idx="1"/>
          </p:nvPr>
        </p:nvSpPr>
        <p:spPr>
          <a:xfrm>
            <a:off x="457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2082EF7-E0C7-46B1-9175-A6A81E4D74A4}" type="slidenum">
              <a:rPr lang="en-US" altLang="zh-CN" smtClean="0"/>
            </a:fld>
            <a:endParaRPr lang="en-US" altLang="zh-CN"/>
          </a:p>
        </p:txBody>
      </p:sp>
    </p:spTree>
  </p:cSld>
  <p:clrMapOvr>
    <a:masterClrMapping/>
  </p:clrMapOvr>
  <p:transition>
    <p:cover dir="u"/>
  </p:transition>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635" y="152574"/>
            <a:ext cx="43815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7" name="Rectangle 3"/>
          <p:cNvSpPr>
            <a:spLocks noChangeArrowheads="1"/>
          </p:cNvSpPr>
          <p:nvPr/>
        </p:nvSpPr>
        <p:spPr bwMode="auto">
          <a:xfrm>
            <a:off x="800100" y="152574"/>
            <a:ext cx="328246"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8" name="Rectangle 4"/>
          <p:cNvSpPr>
            <a:spLocks noChangeArrowheads="1"/>
          </p:cNvSpPr>
          <p:nvPr/>
        </p:nvSpPr>
        <p:spPr bwMode="auto">
          <a:xfrm>
            <a:off x="540728" y="574849"/>
            <a:ext cx="423496"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9" name="Rectangle 5"/>
          <p:cNvSpPr>
            <a:spLocks noChangeArrowheads="1"/>
          </p:cNvSpPr>
          <p:nvPr/>
        </p:nvSpPr>
        <p:spPr bwMode="auto">
          <a:xfrm>
            <a:off x="911470" y="574849"/>
            <a:ext cx="367812"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0" name="Rectangle 6"/>
          <p:cNvSpPr>
            <a:spLocks noChangeArrowheads="1"/>
          </p:cNvSpPr>
          <p:nvPr/>
        </p:nvSpPr>
        <p:spPr bwMode="auto">
          <a:xfrm>
            <a:off x="127489" y="501824"/>
            <a:ext cx="559777"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1" name="Rectangle 7"/>
          <p:cNvSpPr>
            <a:spLocks noChangeArrowheads="1"/>
          </p:cNvSpPr>
          <p:nvPr/>
        </p:nvSpPr>
        <p:spPr bwMode="auto">
          <a:xfrm>
            <a:off x="762001" y="44624"/>
            <a:ext cx="32238"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2" name="Rectangle 8"/>
          <p:cNvSpPr>
            <a:spLocks noChangeArrowheads="1"/>
          </p:cNvSpPr>
          <p:nvPr/>
        </p:nvSpPr>
        <p:spPr bwMode="auto">
          <a:xfrm>
            <a:off x="442547" y="835198"/>
            <a:ext cx="8226669"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3" name="Rectangle 9"/>
          <p:cNvSpPr>
            <a:spLocks noGrp="1" noChangeArrowheads="1"/>
          </p:cNvSpPr>
          <p:nvPr>
            <p:ph type="title"/>
          </p:nvPr>
        </p:nvSpPr>
        <p:spPr bwMode="auto">
          <a:xfrm>
            <a:off x="1242116" y="24359"/>
            <a:ext cx="7427100" cy="81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dirty="0" smtClean="0"/>
              <a:t>单击此处编辑母版标题样式</a:t>
            </a:r>
            <a:endParaRPr lang="zh-CN" dirty="0" smtClean="0"/>
          </a:p>
        </p:txBody>
      </p:sp>
      <p:sp>
        <p:nvSpPr>
          <p:cNvPr id="1034" name="Rectangle 10"/>
          <p:cNvSpPr>
            <a:spLocks noGrp="1" noChangeArrowheads="1"/>
          </p:cNvSpPr>
          <p:nvPr>
            <p:ph type="body" idx="1"/>
          </p:nvPr>
        </p:nvSpPr>
        <p:spPr bwMode="auto">
          <a:xfrm>
            <a:off x="683568" y="970384"/>
            <a:ext cx="7772400" cy="469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dirty="0" smtClean="0"/>
              <a:t>单击此处编辑母版文本样式</a:t>
            </a:r>
            <a:endParaRPr lang="zh-CN" dirty="0" smtClean="0"/>
          </a:p>
          <a:p>
            <a:pPr lvl="1"/>
            <a:r>
              <a:rPr lang="zh-CN" dirty="0" smtClean="0"/>
              <a:t>第二级</a:t>
            </a:r>
            <a:endParaRPr lang="zh-CN" dirty="0" smtClean="0"/>
          </a:p>
          <a:p>
            <a:pPr lvl="2"/>
            <a:r>
              <a:rPr lang="zh-CN" dirty="0" smtClean="0"/>
              <a:t>第三级</a:t>
            </a:r>
            <a:endParaRPr lang="zh-CN" dirty="0" smtClean="0"/>
          </a:p>
          <a:p>
            <a:pPr lvl="3"/>
            <a:r>
              <a:rPr lang="zh-CN" dirty="0" smtClean="0"/>
              <a:t>第四级</a:t>
            </a:r>
            <a:endParaRPr lang="zh-CN" dirty="0" smtClean="0"/>
          </a:p>
          <a:p>
            <a:pPr lvl="4"/>
            <a:r>
              <a:rPr lang="zh-CN" dirty="0" smtClean="0"/>
              <a:t>第五级</a:t>
            </a:r>
            <a:endParaRPr lang="zh-CN" dirty="0" smtClean="0"/>
          </a:p>
        </p:txBody>
      </p:sp>
      <p:sp>
        <p:nvSpPr>
          <p:cNvPr id="103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vl1pPr>
          </a:lstStyle>
          <a:p>
            <a:pPr>
              <a:defRPr/>
            </a:pPr>
            <a:endParaRPr lang="en-US" altLang="zh-CN"/>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vl1pPr>
          </a:lstStyle>
          <a:p>
            <a:pPr>
              <a:defRPr/>
            </a:pPr>
            <a:endParaRPr lang="en-US" altLang="zh-CN"/>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vl1pPr>
          </a:lstStyle>
          <a:p>
            <a:pPr>
              <a:defRPr/>
            </a:pPr>
            <a:fld id="{C2082EF7-E0C7-46B1-9175-A6A81E4D74A4}"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over dir="u"/>
  </p:transition>
  <p:timing>
    <p:tnLst>
      <p:par>
        <p:cTn id="1" dur="indefinite" restart="never" nodeType="tmRoot"/>
      </p:par>
    </p:tnLst>
  </p:timing>
  <p:hf hdr="0" ftr="0" dt="0"/>
  <p:txStyles>
    <p:titleStyle>
      <a:lvl1pPr algn="l" rtl="0" eaLnBrk="1" fontAlgn="base" hangingPunct="1">
        <a:spcBef>
          <a:spcPct val="0"/>
        </a:spcBef>
        <a:spcAft>
          <a:spcPct val="0"/>
        </a:spcAft>
        <a:defRPr sz="3600" b="1">
          <a:solidFill>
            <a:schemeClr val="tx2"/>
          </a:solidFill>
          <a:latin typeface="+mn-ea"/>
          <a:ea typeface="+mn-ea"/>
          <a:cs typeface="+mj-cs"/>
        </a:defRPr>
      </a:lvl1pPr>
      <a:lvl2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8.wmf"/><Relationship Id="rId7" Type="http://schemas.openxmlformats.org/officeDocument/2006/relationships/oleObject" Target="../embeddings/oleObject4.bin"/><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4" Type="http://schemas.openxmlformats.org/officeDocument/2006/relationships/notesSlide" Target="../notesSlides/notesSlide6.xml"/><Relationship Id="rId13" Type="http://schemas.openxmlformats.org/officeDocument/2006/relationships/vmlDrawing" Target="../drawings/vmlDrawing1.vml"/><Relationship Id="rId12" Type="http://schemas.openxmlformats.org/officeDocument/2006/relationships/slideLayout" Target="../slideLayouts/slideLayout2.xml"/><Relationship Id="rId11" Type="http://schemas.openxmlformats.org/officeDocument/2006/relationships/image" Target="../media/image10.png"/><Relationship Id="rId10" Type="http://schemas.openxmlformats.org/officeDocument/2006/relationships/image" Target="../media/image9.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wmf"/><Relationship Id="rId7" Type="http://schemas.openxmlformats.org/officeDocument/2006/relationships/oleObject" Target="../embeddings/oleObject9.bin"/><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 Id="rId3" Type="http://schemas.openxmlformats.org/officeDocument/2006/relationships/oleObject" Target="../embeddings/oleObject7.bin"/><Relationship Id="rId2" Type="http://schemas.openxmlformats.org/officeDocument/2006/relationships/image" Target="../media/image11.wmf"/><Relationship Id="rId12" Type="http://schemas.openxmlformats.org/officeDocument/2006/relationships/notesSlide" Target="../notesSlides/notesSlide7.xml"/><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1.wmf"/><Relationship Id="rId7" Type="http://schemas.openxmlformats.org/officeDocument/2006/relationships/oleObject" Target="../embeddings/oleObject14.bin"/><Relationship Id="rId6" Type="http://schemas.openxmlformats.org/officeDocument/2006/relationships/image" Target="../media/image20.wmf"/><Relationship Id="rId5" Type="http://schemas.openxmlformats.org/officeDocument/2006/relationships/oleObject" Target="../embeddings/oleObject13.bin"/><Relationship Id="rId4" Type="http://schemas.openxmlformats.org/officeDocument/2006/relationships/image" Target="../media/image19.wmf"/><Relationship Id="rId3" Type="http://schemas.openxmlformats.org/officeDocument/2006/relationships/oleObject" Target="../embeddings/oleObject12.bin"/><Relationship Id="rId21" Type="http://schemas.openxmlformats.org/officeDocument/2006/relationships/notesSlide" Target="../notesSlides/notesSlide10.xml"/><Relationship Id="rId20" Type="http://schemas.openxmlformats.org/officeDocument/2006/relationships/vmlDrawing" Target="../drawings/vmlDrawing4.vml"/><Relationship Id="rId2" Type="http://schemas.openxmlformats.org/officeDocument/2006/relationships/image" Target="../media/image18.wmf"/><Relationship Id="rId19" Type="http://schemas.openxmlformats.org/officeDocument/2006/relationships/slideLayout" Target="../slideLayouts/slideLayout2.xml"/><Relationship Id="rId18" Type="http://schemas.openxmlformats.org/officeDocument/2006/relationships/image" Target="../media/image26.wmf"/><Relationship Id="rId17" Type="http://schemas.openxmlformats.org/officeDocument/2006/relationships/oleObject" Target="../embeddings/oleObject19.bin"/><Relationship Id="rId16" Type="http://schemas.openxmlformats.org/officeDocument/2006/relationships/image" Target="../media/image25.wmf"/><Relationship Id="rId15" Type="http://schemas.openxmlformats.org/officeDocument/2006/relationships/oleObject" Target="../embeddings/oleObject18.bin"/><Relationship Id="rId14" Type="http://schemas.openxmlformats.org/officeDocument/2006/relationships/image" Target="../media/image24.wmf"/><Relationship Id="rId13" Type="http://schemas.openxmlformats.org/officeDocument/2006/relationships/oleObject" Target="../embeddings/oleObject17.bin"/><Relationship Id="rId12" Type="http://schemas.openxmlformats.org/officeDocument/2006/relationships/image" Target="../media/image23.wmf"/><Relationship Id="rId11" Type="http://schemas.openxmlformats.org/officeDocument/2006/relationships/oleObject" Target="../embeddings/oleObject16.bin"/><Relationship Id="rId10" Type="http://schemas.openxmlformats.org/officeDocument/2006/relationships/image" Target="../media/image22.wmf"/><Relationship Id="rId1"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wmf"/><Relationship Id="rId1"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23.bin"/></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26.bin"/><Relationship Id="rId4" Type="http://schemas.openxmlformats.org/officeDocument/2006/relationships/image" Target="../media/image34.wmf"/><Relationship Id="rId3" Type="http://schemas.openxmlformats.org/officeDocument/2006/relationships/oleObject" Target="../embeddings/oleObject25.bin"/><Relationship Id="rId2" Type="http://schemas.openxmlformats.org/officeDocument/2006/relationships/image" Target="../media/image33.wmf"/><Relationship Id="rId1"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55.wmf"/><Relationship Id="rId7" Type="http://schemas.openxmlformats.org/officeDocument/2006/relationships/oleObject" Target="../embeddings/oleObject30.bin"/><Relationship Id="rId6" Type="http://schemas.openxmlformats.org/officeDocument/2006/relationships/image" Target="../media/image54.wmf"/><Relationship Id="rId5" Type="http://schemas.openxmlformats.org/officeDocument/2006/relationships/oleObject" Target="../embeddings/oleObject29.bin"/><Relationship Id="rId4" Type="http://schemas.openxmlformats.org/officeDocument/2006/relationships/image" Target="../media/image53.wmf"/><Relationship Id="rId3" Type="http://schemas.openxmlformats.org/officeDocument/2006/relationships/oleObject" Target="../embeddings/oleObject28.bin"/><Relationship Id="rId21" Type="http://schemas.openxmlformats.org/officeDocument/2006/relationships/notesSlide" Target="../notesSlides/notesSlide26.xml"/><Relationship Id="rId20" Type="http://schemas.openxmlformats.org/officeDocument/2006/relationships/vmlDrawing" Target="../drawings/vmlDrawing10.vml"/><Relationship Id="rId2" Type="http://schemas.openxmlformats.org/officeDocument/2006/relationships/image" Target="../media/image52.wmf"/><Relationship Id="rId19" Type="http://schemas.openxmlformats.org/officeDocument/2006/relationships/slideLayout" Target="../slideLayouts/slideLayout2.xml"/><Relationship Id="rId18" Type="http://schemas.openxmlformats.org/officeDocument/2006/relationships/image" Target="../media/image60.wmf"/><Relationship Id="rId17" Type="http://schemas.openxmlformats.org/officeDocument/2006/relationships/oleObject" Target="../embeddings/oleObject35.bin"/><Relationship Id="rId16" Type="http://schemas.openxmlformats.org/officeDocument/2006/relationships/image" Target="../media/image59.wmf"/><Relationship Id="rId15" Type="http://schemas.openxmlformats.org/officeDocument/2006/relationships/oleObject" Target="../embeddings/oleObject34.bin"/><Relationship Id="rId14" Type="http://schemas.openxmlformats.org/officeDocument/2006/relationships/image" Target="../media/image58.wmf"/><Relationship Id="rId13" Type="http://schemas.openxmlformats.org/officeDocument/2006/relationships/oleObject" Target="../embeddings/oleObject33.bin"/><Relationship Id="rId12" Type="http://schemas.openxmlformats.org/officeDocument/2006/relationships/image" Target="../media/image57.wmf"/><Relationship Id="rId11" Type="http://schemas.openxmlformats.org/officeDocument/2006/relationships/oleObject" Target="../embeddings/oleObject32.bin"/><Relationship Id="rId10" Type="http://schemas.openxmlformats.org/officeDocument/2006/relationships/image" Target="../media/image56.wmf"/><Relationship Id="rId1" Type="http://schemas.openxmlformats.org/officeDocument/2006/relationships/oleObject" Target="../embeddings/oleObject27.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image" Target="../media/image64.wmf"/><Relationship Id="rId4" Type="http://schemas.openxmlformats.org/officeDocument/2006/relationships/oleObject" Target="../embeddings/oleObject37.bin"/><Relationship Id="rId3" Type="http://schemas.openxmlformats.org/officeDocument/2006/relationships/image" Target="../media/image63.wmf"/><Relationship Id="rId2" Type="http://schemas.openxmlformats.org/officeDocument/2006/relationships/oleObject" Target="../embeddings/oleObject36.bin"/><Relationship Id="rId1" Type="http://schemas.openxmlformats.org/officeDocument/2006/relationships/image" Target="../media/image6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68.wmf"/><Relationship Id="rId7" Type="http://schemas.openxmlformats.org/officeDocument/2006/relationships/oleObject" Target="../embeddings/oleObject41.bin"/><Relationship Id="rId6" Type="http://schemas.openxmlformats.org/officeDocument/2006/relationships/image" Target="../media/image67.wmf"/><Relationship Id="rId5" Type="http://schemas.openxmlformats.org/officeDocument/2006/relationships/oleObject" Target="../embeddings/oleObject40.bin"/><Relationship Id="rId4" Type="http://schemas.openxmlformats.org/officeDocument/2006/relationships/image" Target="../media/image66.wmf"/><Relationship Id="rId34" Type="http://schemas.openxmlformats.org/officeDocument/2006/relationships/notesSlide" Target="../notesSlides/notesSlide28.xml"/><Relationship Id="rId33" Type="http://schemas.openxmlformats.org/officeDocument/2006/relationships/vmlDrawing" Target="../drawings/vmlDrawing12.vml"/><Relationship Id="rId32" Type="http://schemas.openxmlformats.org/officeDocument/2006/relationships/slideLayout" Target="../slideLayouts/slideLayout2.xml"/><Relationship Id="rId31" Type="http://schemas.openxmlformats.org/officeDocument/2006/relationships/oleObject" Target="../embeddings/oleObject55.bin"/><Relationship Id="rId30" Type="http://schemas.openxmlformats.org/officeDocument/2006/relationships/oleObject" Target="../embeddings/oleObject54.bin"/><Relationship Id="rId3" Type="http://schemas.openxmlformats.org/officeDocument/2006/relationships/oleObject" Target="../embeddings/oleObject39.bin"/><Relationship Id="rId29" Type="http://schemas.openxmlformats.org/officeDocument/2006/relationships/image" Target="../media/image77.wmf"/><Relationship Id="rId28" Type="http://schemas.openxmlformats.org/officeDocument/2006/relationships/oleObject" Target="../embeddings/oleObject53.bin"/><Relationship Id="rId27" Type="http://schemas.openxmlformats.org/officeDocument/2006/relationships/image" Target="../media/image76.wmf"/><Relationship Id="rId26" Type="http://schemas.openxmlformats.org/officeDocument/2006/relationships/oleObject" Target="../embeddings/oleObject52.bin"/><Relationship Id="rId25" Type="http://schemas.openxmlformats.org/officeDocument/2006/relationships/image" Target="../media/image75.wmf"/><Relationship Id="rId24" Type="http://schemas.openxmlformats.org/officeDocument/2006/relationships/oleObject" Target="../embeddings/oleObject51.bin"/><Relationship Id="rId23" Type="http://schemas.openxmlformats.org/officeDocument/2006/relationships/image" Target="../media/image74.wmf"/><Relationship Id="rId22" Type="http://schemas.openxmlformats.org/officeDocument/2006/relationships/oleObject" Target="../embeddings/oleObject50.bin"/><Relationship Id="rId21" Type="http://schemas.openxmlformats.org/officeDocument/2006/relationships/image" Target="../media/image73.wmf"/><Relationship Id="rId20" Type="http://schemas.openxmlformats.org/officeDocument/2006/relationships/oleObject" Target="../embeddings/oleObject49.bin"/><Relationship Id="rId2" Type="http://schemas.openxmlformats.org/officeDocument/2006/relationships/image" Target="../media/image65.wmf"/><Relationship Id="rId19" Type="http://schemas.openxmlformats.org/officeDocument/2006/relationships/image" Target="../media/image72.wmf"/><Relationship Id="rId18" Type="http://schemas.openxmlformats.org/officeDocument/2006/relationships/oleObject" Target="../embeddings/oleObject48.bin"/><Relationship Id="rId17" Type="http://schemas.openxmlformats.org/officeDocument/2006/relationships/image" Target="../media/image71.wmf"/><Relationship Id="rId16" Type="http://schemas.openxmlformats.org/officeDocument/2006/relationships/oleObject" Target="../embeddings/oleObject47.bin"/><Relationship Id="rId15" Type="http://schemas.openxmlformats.org/officeDocument/2006/relationships/image" Target="../media/image70.wmf"/><Relationship Id="rId14" Type="http://schemas.openxmlformats.org/officeDocument/2006/relationships/oleObject" Target="../embeddings/oleObject46.bin"/><Relationship Id="rId13" Type="http://schemas.openxmlformats.org/officeDocument/2006/relationships/oleObject" Target="../embeddings/oleObject45.bin"/><Relationship Id="rId12" Type="http://schemas.openxmlformats.org/officeDocument/2006/relationships/image" Target="../media/image69.wmf"/><Relationship Id="rId11" Type="http://schemas.openxmlformats.org/officeDocument/2006/relationships/oleObject" Target="../embeddings/oleObject44.bin"/><Relationship Id="rId10" Type="http://schemas.openxmlformats.org/officeDocument/2006/relationships/oleObject" Target="../embeddings/oleObject43.bin"/><Relationship Id="rId1" Type="http://schemas.openxmlformats.org/officeDocument/2006/relationships/oleObject" Target="../embeddings/oleObject38.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79.wmf"/><Relationship Id="rId7" Type="http://schemas.openxmlformats.org/officeDocument/2006/relationships/oleObject" Target="../embeddings/oleObject59.bin"/><Relationship Id="rId6" Type="http://schemas.openxmlformats.org/officeDocument/2006/relationships/image" Target="../media/image78.wmf"/><Relationship Id="rId5" Type="http://schemas.openxmlformats.org/officeDocument/2006/relationships/oleObject" Target="../embeddings/oleObject58.bin"/><Relationship Id="rId4" Type="http://schemas.openxmlformats.org/officeDocument/2006/relationships/image" Target="../media/image67.wmf"/><Relationship Id="rId3" Type="http://schemas.openxmlformats.org/officeDocument/2006/relationships/oleObject" Target="../embeddings/oleObject57.bin"/><Relationship Id="rId24" Type="http://schemas.openxmlformats.org/officeDocument/2006/relationships/notesSlide" Target="../notesSlides/notesSlide29.xml"/><Relationship Id="rId23" Type="http://schemas.openxmlformats.org/officeDocument/2006/relationships/vmlDrawing" Target="../drawings/vmlDrawing13.vml"/><Relationship Id="rId22" Type="http://schemas.openxmlformats.org/officeDocument/2006/relationships/slideLayout" Target="../slideLayouts/slideLayout2.xml"/><Relationship Id="rId21" Type="http://schemas.openxmlformats.org/officeDocument/2006/relationships/oleObject" Target="../embeddings/oleObject67.bin"/><Relationship Id="rId20" Type="http://schemas.openxmlformats.org/officeDocument/2006/relationships/oleObject" Target="../embeddings/oleObject66.bin"/><Relationship Id="rId2" Type="http://schemas.openxmlformats.org/officeDocument/2006/relationships/image" Target="../media/image66.wmf"/><Relationship Id="rId19" Type="http://schemas.openxmlformats.org/officeDocument/2006/relationships/image" Target="../media/image84.wmf"/><Relationship Id="rId18" Type="http://schemas.openxmlformats.org/officeDocument/2006/relationships/oleObject" Target="../embeddings/oleObject65.bin"/><Relationship Id="rId17" Type="http://schemas.openxmlformats.org/officeDocument/2006/relationships/image" Target="../media/image83.wmf"/><Relationship Id="rId16" Type="http://schemas.openxmlformats.org/officeDocument/2006/relationships/oleObject" Target="../embeddings/oleObject64.bin"/><Relationship Id="rId15" Type="http://schemas.openxmlformats.org/officeDocument/2006/relationships/image" Target="../media/image82.wmf"/><Relationship Id="rId14" Type="http://schemas.openxmlformats.org/officeDocument/2006/relationships/oleObject" Target="../embeddings/oleObject63.bin"/><Relationship Id="rId13" Type="http://schemas.openxmlformats.org/officeDocument/2006/relationships/oleObject" Target="../embeddings/oleObject62.bin"/><Relationship Id="rId12" Type="http://schemas.openxmlformats.org/officeDocument/2006/relationships/image" Target="../media/image81.wmf"/><Relationship Id="rId11" Type="http://schemas.openxmlformats.org/officeDocument/2006/relationships/oleObject" Target="../embeddings/oleObject61.bin"/><Relationship Id="rId10" Type="http://schemas.openxmlformats.org/officeDocument/2006/relationships/image" Target="../media/image80.wmf"/><Relationship Id="rId1" Type="http://schemas.openxmlformats.org/officeDocument/2006/relationships/oleObject" Target="../embeddings/oleObject56.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89.wmf"/><Relationship Id="rId7" Type="http://schemas.openxmlformats.org/officeDocument/2006/relationships/oleObject" Target="../embeddings/oleObject71.bin"/><Relationship Id="rId6" Type="http://schemas.openxmlformats.org/officeDocument/2006/relationships/image" Target="../media/image88.wmf"/><Relationship Id="rId5" Type="http://schemas.openxmlformats.org/officeDocument/2006/relationships/oleObject" Target="../embeddings/oleObject70.bin"/><Relationship Id="rId4" Type="http://schemas.openxmlformats.org/officeDocument/2006/relationships/image" Target="../media/image87.wmf"/><Relationship Id="rId3" Type="http://schemas.openxmlformats.org/officeDocument/2006/relationships/oleObject" Target="../embeddings/oleObject69.bin"/><Relationship Id="rId2" Type="http://schemas.openxmlformats.org/officeDocument/2006/relationships/image" Target="../media/image86.wmf"/><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image" Target="../media/image90.png"/><Relationship Id="rId1" Type="http://schemas.openxmlformats.org/officeDocument/2006/relationships/oleObject" Target="../embeddings/oleObject68.bin"/></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92.png"/><Relationship Id="rId1" Type="http://schemas.openxmlformats.org/officeDocument/2006/relationships/image" Target="../media/image9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6.png"/><Relationship Id="rId1" Type="http://schemas.openxmlformats.org/officeDocument/2006/relationships/image" Target="../media/image9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55.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100.wmf"/><Relationship Id="rId5" Type="http://schemas.openxmlformats.org/officeDocument/2006/relationships/oleObject" Target="../embeddings/oleObject75.bin"/><Relationship Id="rId4" Type="http://schemas.openxmlformats.org/officeDocument/2006/relationships/image" Target="../media/image99.wmf"/><Relationship Id="rId3" Type="http://schemas.openxmlformats.org/officeDocument/2006/relationships/oleObject" Target="../embeddings/oleObject74.bin"/><Relationship Id="rId2" Type="http://schemas.openxmlformats.org/officeDocument/2006/relationships/image" Target="../media/image98.wmf"/><Relationship Id="rId1" Type="http://schemas.openxmlformats.org/officeDocument/2006/relationships/oleObject" Target="../embeddings/oleObject73.bin"/></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image" Target="../media/image10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ctrTitle"/>
          </p:nvPr>
        </p:nvSpPr>
        <p:spPr>
          <a:xfrm>
            <a:off x="990600" y="1828800"/>
            <a:ext cx="7253808" cy="1143000"/>
          </a:xfrm>
        </p:spPr>
        <p:txBody>
          <a:bodyPr/>
          <a:lstStyle/>
          <a:p>
            <a:pPr algn="ctr">
              <a:defRPr/>
            </a:pPr>
            <a:r>
              <a:rPr lang="zh-CN" altLang="en-US" sz="6000" dirty="0" smtClean="0"/>
              <a:t>第</a:t>
            </a:r>
            <a:r>
              <a:rPr lang="en-US" altLang="zh-CN" sz="6000" dirty="0" smtClean="0"/>
              <a:t>4</a:t>
            </a:r>
            <a:r>
              <a:rPr lang="zh-CN" altLang="en-US" sz="6000" dirty="0" smtClean="0"/>
              <a:t>章 决策树</a:t>
            </a:r>
            <a:endParaRPr lang="zh-CN" altLang="en-US" sz="6000" b="1" dirty="0" smtClean="0"/>
          </a:p>
        </p:txBody>
      </p:sp>
      <p:sp>
        <p:nvSpPr>
          <p:cNvPr id="5" name="Rectangle 70"/>
          <p:cNvSpPr>
            <a:spLocks noGrp="1" noChangeArrowheads="1"/>
          </p:cNvSpPr>
          <p:nvPr>
            <p:ph type="sldNum" sz="quarter" idx="4"/>
          </p:nvPr>
        </p:nvSpPr>
        <p:spPr/>
        <p:txBody>
          <a:bodyPr/>
          <a:lstStyle/>
          <a:p>
            <a:pPr>
              <a:defRPr/>
            </a:pPr>
            <a:fld id="{F7EB2F07-B42F-46A0-B759-6009FAA90BFB}" type="slidenum">
              <a:rPr lang="en-US" altLang="zh-CN"/>
            </a:fld>
            <a:endParaRPr lang="en-US" altLang="zh-CN"/>
          </a:p>
        </p:txBody>
      </p:sp>
      <p:sp>
        <p:nvSpPr>
          <p:cNvPr id="2" name="副标题 1"/>
          <p:cNvSpPr/>
          <p:nvPr>
            <p:ph type="subTitle" idx="1"/>
          </p:nvPr>
        </p:nvSpPr>
        <p:spPr/>
        <p:txBody>
          <a:bodyPr/>
          <a:p>
            <a:endParaRPr lang="zh-CN" altLang="en-US"/>
          </a:p>
        </p:txBody>
      </p:sp>
    </p:spTree>
  </p:cSld>
  <p:clrMapOvr>
    <a:masterClrMapping/>
  </p:clrMapOvr>
  <p:transition>
    <p:cover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smtClean="0">
                <a:latin typeface="+mn-ea"/>
              </a:rPr>
              <a:t>基本流程</a:t>
            </a:r>
            <a:endParaRPr lang="en-US" altLang="zh-CN" dirty="0" smtClean="0">
              <a:latin typeface="+mn-ea"/>
            </a:endParaRPr>
          </a:p>
          <a:p>
            <a:pPr>
              <a:spcBef>
                <a:spcPts val="600"/>
              </a:spcBef>
            </a:pPr>
            <a:r>
              <a:rPr lang="zh-CN" altLang="en-US" dirty="0"/>
              <a:t>划分</a:t>
            </a:r>
            <a:r>
              <a:rPr lang="zh-CN" altLang="en-US" dirty="0" smtClean="0"/>
              <a:t>选择</a:t>
            </a:r>
            <a:endParaRPr lang="en-US" altLang="zh-CN" dirty="0" smtClean="0"/>
          </a:p>
          <a:p>
            <a:pPr>
              <a:spcBef>
                <a:spcPts val="600"/>
              </a:spcBef>
            </a:pPr>
            <a:r>
              <a:rPr lang="zh-CN" altLang="en-US" dirty="0"/>
              <a:t>剪枝</a:t>
            </a:r>
            <a:r>
              <a:rPr lang="zh-CN" altLang="en-US" dirty="0" smtClean="0"/>
              <a:t>处理</a:t>
            </a:r>
            <a:endParaRPr lang="en-US" altLang="zh-CN" dirty="0" smtClean="0"/>
          </a:p>
          <a:p>
            <a:pPr>
              <a:spcBef>
                <a:spcPts val="600"/>
              </a:spcBef>
            </a:pPr>
            <a:r>
              <a:rPr lang="zh-CN" altLang="en-US" dirty="0" smtClean="0"/>
              <a:t>连续与缺失值</a:t>
            </a:r>
            <a:endParaRPr lang="en-US" altLang="zh-CN" dirty="0" smtClean="0"/>
          </a:p>
          <a:p>
            <a:pPr>
              <a:spcBef>
                <a:spcPts val="600"/>
              </a:spcBef>
            </a:pPr>
            <a:r>
              <a:rPr lang="zh-CN" altLang="en-US" dirty="0"/>
              <a:t>多</a:t>
            </a:r>
            <a:r>
              <a:rPr lang="zh-CN" altLang="en-US" dirty="0" smtClean="0"/>
              <a:t>变量决策树</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4.0 </a:t>
            </a:r>
            <a:r>
              <a:rPr lang="zh-CN" altLang="en-US" dirty="0" smtClean="0"/>
              <a:t>决策树</a:t>
            </a:r>
            <a:r>
              <a:rPr lang="zh-CN" altLang="en-US" dirty="0"/>
              <a:t>简史</a:t>
            </a:r>
            <a:endParaRPr lang="zh-CN" altLang="en-US" dirty="0"/>
          </a:p>
        </p:txBody>
      </p:sp>
      <p:sp>
        <p:nvSpPr>
          <p:cNvPr id="3" name="内容占位符 2"/>
          <p:cNvSpPr>
            <a:spLocks noGrp="1"/>
          </p:cNvSpPr>
          <p:nvPr>
            <p:ph idx="1"/>
          </p:nvPr>
        </p:nvSpPr>
        <p:spPr>
          <a:xfrm>
            <a:off x="467544" y="970384"/>
            <a:ext cx="8219256" cy="4690864"/>
          </a:xfrm>
        </p:spPr>
        <p:txBody>
          <a:bodyPr/>
          <a:lstStyle/>
          <a:p>
            <a:pPr>
              <a:lnSpc>
                <a:spcPct val="90000"/>
              </a:lnSpc>
              <a:spcBef>
                <a:spcPts val="600"/>
              </a:spcBef>
            </a:pPr>
            <a:r>
              <a:rPr lang="en-US" altLang="zh-CN" dirty="0" smtClean="0">
                <a:latin typeface="+mn-ea"/>
              </a:rPr>
              <a:t>E. B. Hunt, </a:t>
            </a:r>
            <a:r>
              <a:rPr lang="en-US" altLang="zh-CN" dirty="0" err="1" smtClean="0">
                <a:latin typeface="+mn-ea"/>
              </a:rPr>
              <a:t>etc’s</a:t>
            </a:r>
            <a:r>
              <a:rPr lang="en-US" altLang="zh-CN" dirty="0" smtClean="0">
                <a:latin typeface="+mn-ea"/>
              </a:rPr>
              <a:t> book “Experiments </a:t>
            </a:r>
            <a:r>
              <a:rPr lang="en-US" altLang="zh-CN" dirty="0">
                <a:latin typeface="+mn-ea"/>
              </a:rPr>
              <a:t>in </a:t>
            </a:r>
            <a:r>
              <a:rPr lang="en-US" altLang="zh-CN" dirty="0" smtClean="0">
                <a:latin typeface="+mn-ea"/>
              </a:rPr>
              <a:t>Induction</a:t>
            </a:r>
            <a:r>
              <a:rPr lang="en-US" altLang="zh-CN" dirty="0">
                <a:latin typeface="+mn-ea"/>
              </a:rPr>
              <a:t>”</a:t>
            </a:r>
            <a:r>
              <a:rPr lang="en-US" altLang="zh-CN" dirty="0" smtClean="0">
                <a:latin typeface="+mn-ea"/>
              </a:rPr>
              <a:t>, Academic </a:t>
            </a:r>
            <a:r>
              <a:rPr lang="en-US" altLang="zh-CN" dirty="0">
                <a:latin typeface="+mn-ea"/>
              </a:rPr>
              <a:t>Press </a:t>
            </a:r>
            <a:r>
              <a:rPr lang="en-US" altLang="zh-CN" dirty="0" smtClean="0">
                <a:latin typeface="+mn-ea"/>
              </a:rPr>
              <a:t>,1966</a:t>
            </a:r>
            <a:endParaRPr lang="en-US" altLang="zh-CN" dirty="0">
              <a:latin typeface="+mn-ea"/>
            </a:endParaRPr>
          </a:p>
          <a:p>
            <a:pPr lvl="1">
              <a:lnSpc>
                <a:spcPct val="90000"/>
              </a:lnSpc>
              <a:spcBef>
                <a:spcPts val="600"/>
              </a:spcBef>
            </a:pPr>
            <a:r>
              <a:rPr lang="zh-CN" altLang="en-US" spc="-200" dirty="0" smtClean="0">
                <a:latin typeface="+mn-ea"/>
              </a:rPr>
              <a:t>第一</a:t>
            </a:r>
            <a:r>
              <a:rPr lang="zh-CN" altLang="en-US" spc="-200" dirty="0">
                <a:latin typeface="+mn-ea"/>
              </a:rPr>
              <a:t>个决策树算法：</a:t>
            </a:r>
            <a:r>
              <a:rPr lang="en-US" altLang="zh-CN" spc="-200" dirty="0" smtClean="0">
                <a:latin typeface="+mn-ea"/>
              </a:rPr>
              <a:t>CLS(Concept </a:t>
            </a:r>
            <a:r>
              <a:rPr lang="en-US" altLang="zh-CN" spc="-200" dirty="0">
                <a:latin typeface="+mn-ea"/>
              </a:rPr>
              <a:t>Learning System</a:t>
            </a:r>
            <a:r>
              <a:rPr lang="en-US" altLang="zh-CN" spc="-200" dirty="0" smtClean="0">
                <a:latin typeface="+mn-ea"/>
              </a:rPr>
              <a:t>)</a:t>
            </a:r>
            <a:endParaRPr lang="en-US" altLang="zh-CN" spc="-200" dirty="0" smtClean="0">
              <a:latin typeface="+mn-ea"/>
            </a:endParaRPr>
          </a:p>
          <a:p>
            <a:pPr>
              <a:lnSpc>
                <a:spcPct val="90000"/>
              </a:lnSpc>
              <a:spcBef>
                <a:spcPts val="600"/>
              </a:spcBef>
            </a:pPr>
            <a:r>
              <a:rPr lang="en-US" altLang="zh-CN" spc="-150" dirty="0">
                <a:latin typeface="+mn-ea"/>
              </a:rPr>
              <a:t>J. R. Quinlan</a:t>
            </a:r>
            <a:r>
              <a:rPr lang="en-US" altLang="zh-CN" dirty="0">
                <a:latin typeface="+mn-ea"/>
              </a:rPr>
              <a:t>’</a:t>
            </a:r>
            <a:r>
              <a:rPr lang="en-US" altLang="zh-CN" spc="-150" dirty="0">
                <a:latin typeface="+mn-ea"/>
              </a:rPr>
              <a:t>s paper in a book </a:t>
            </a:r>
            <a:r>
              <a:rPr lang="en-US" altLang="zh-CN" dirty="0">
                <a:latin typeface="+mn-ea"/>
              </a:rPr>
              <a:t>“</a:t>
            </a:r>
            <a:r>
              <a:rPr lang="en-US" altLang="zh-CN" spc="-150" dirty="0">
                <a:latin typeface="+mn-ea"/>
              </a:rPr>
              <a:t>Expert </a:t>
            </a:r>
            <a:r>
              <a:rPr lang="en-US" altLang="zh-CN" spc="-150" dirty="0" smtClean="0">
                <a:latin typeface="+mn-ea"/>
              </a:rPr>
              <a:t>Systems </a:t>
            </a:r>
            <a:r>
              <a:rPr lang="en-US" altLang="zh-CN" spc="-150" dirty="0">
                <a:latin typeface="+mn-ea"/>
              </a:rPr>
              <a:t>in the Micro Electronic </a:t>
            </a:r>
            <a:r>
              <a:rPr lang="en-US" altLang="zh-CN" spc="-150" dirty="0" smtClean="0">
                <a:latin typeface="+mn-ea"/>
              </a:rPr>
              <a:t>Age</a:t>
            </a:r>
            <a:r>
              <a:rPr lang="en-US" altLang="zh-CN" dirty="0">
                <a:latin typeface="+mn-ea"/>
              </a:rPr>
              <a:t>”</a:t>
            </a:r>
            <a:r>
              <a:rPr lang="en-US" altLang="zh-CN" spc="-150" dirty="0" smtClean="0">
                <a:latin typeface="+mn-ea"/>
              </a:rPr>
              <a:t>, Edinburgh </a:t>
            </a:r>
            <a:r>
              <a:rPr lang="en-US" altLang="zh-CN" spc="-150" dirty="0">
                <a:latin typeface="+mn-ea"/>
              </a:rPr>
              <a:t>University </a:t>
            </a:r>
            <a:r>
              <a:rPr lang="en-US" altLang="zh-CN" spc="-150" dirty="0" smtClean="0">
                <a:latin typeface="+mn-ea"/>
              </a:rPr>
              <a:t>Press, </a:t>
            </a:r>
            <a:r>
              <a:rPr lang="en-US" altLang="zh-CN" spc="-150" dirty="0">
                <a:latin typeface="+mn-ea"/>
              </a:rPr>
              <a:t>1979</a:t>
            </a:r>
            <a:endParaRPr lang="en-US" altLang="zh-CN" spc="-150" dirty="0">
              <a:latin typeface="+mn-ea"/>
            </a:endParaRPr>
          </a:p>
          <a:p>
            <a:pPr lvl="1">
              <a:lnSpc>
                <a:spcPct val="90000"/>
              </a:lnSpc>
              <a:spcBef>
                <a:spcPts val="600"/>
              </a:spcBef>
            </a:pPr>
            <a:r>
              <a:rPr lang="zh-CN" altLang="en-US" dirty="0">
                <a:latin typeface="+mn-ea"/>
              </a:rPr>
              <a:t>使决策树受到关注、成为机器学习主流技术的算法：</a:t>
            </a:r>
            <a:r>
              <a:rPr lang="en-US" altLang="zh-CN" dirty="0">
                <a:latin typeface="+mn-ea"/>
              </a:rPr>
              <a:t>ID3</a:t>
            </a:r>
            <a:endParaRPr lang="en-US" altLang="zh-CN" dirty="0">
              <a:latin typeface="+mn-ea"/>
            </a:endParaRPr>
          </a:p>
          <a:p>
            <a:pPr>
              <a:lnSpc>
                <a:spcPct val="90000"/>
              </a:lnSpc>
              <a:spcBef>
                <a:spcPts val="600"/>
              </a:spcBef>
            </a:pPr>
            <a:r>
              <a:rPr lang="en-US" altLang="zh-CN" spc="-130" dirty="0">
                <a:latin typeface="+mn-ea"/>
              </a:rPr>
              <a:t>L. </a:t>
            </a:r>
            <a:r>
              <a:rPr lang="en-US" altLang="zh-CN" spc="-130" dirty="0" err="1">
                <a:latin typeface="+mn-ea"/>
              </a:rPr>
              <a:t>Breiman</a:t>
            </a:r>
            <a:r>
              <a:rPr lang="en-US" altLang="zh-CN" spc="-130" dirty="0">
                <a:latin typeface="+mn-ea"/>
              </a:rPr>
              <a:t>, </a:t>
            </a:r>
            <a:r>
              <a:rPr lang="en-US" altLang="zh-CN" spc="-130" dirty="0" err="1" smtClean="0">
                <a:latin typeface="+mn-ea"/>
              </a:rPr>
              <a:t>etc’s</a:t>
            </a:r>
            <a:r>
              <a:rPr lang="en-US" altLang="zh-CN" spc="-130" dirty="0" smtClean="0">
                <a:latin typeface="+mn-ea"/>
              </a:rPr>
              <a:t> </a:t>
            </a:r>
            <a:r>
              <a:rPr lang="en-US" altLang="zh-CN" spc="-130" dirty="0">
                <a:latin typeface="+mn-ea"/>
              </a:rPr>
              <a:t>book “Classification </a:t>
            </a:r>
            <a:r>
              <a:rPr lang="en-US" altLang="zh-CN" spc="-80" dirty="0">
                <a:latin typeface="+mn-ea"/>
              </a:rPr>
              <a:t>and Regression </a:t>
            </a:r>
            <a:r>
              <a:rPr lang="en-US" altLang="zh-CN" spc="-80" dirty="0" smtClean="0">
                <a:latin typeface="+mn-ea"/>
              </a:rPr>
              <a:t>Trees</a:t>
            </a:r>
            <a:r>
              <a:rPr lang="en-US" altLang="zh-CN" spc="-80" dirty="0">
                <a:latin typeface="+mn-ea"/>
              </a:rPr>
              <a:t>”</a:t>
            </a:r>
            <a:r>
              <a:rPr lang="en-US" altLang="zh-CN" spc="-80" dirty="0" smtClean="0">
                <a:latin typeface="+mn-ea"/>
              </a:rPr>
              <a:t>, Wadsworth, 1984</a:t>
            </a:r>
            <a:endParaRPr lang="en-US" altLang="zh-CN" spc="-80" dirty="0" smtClean="0">
              <a:latin typeface="+mn-ea"/>
            </a:endParaRPr>
          </a:p>
          <a:p>
            <a:pPr lvl="1">
              <a:lnSpc>
                <a:spcPct val="90000"/>
              </a:lnSpc>
              <a:spcBef>
                <a:spcPts val="600"/>
              </a:spcBef>
            </a:pPr>
            <a:r>
              <a:rPr lang="zh-CN" altLang="en-US" dirty="0">
                <a:latin typeface="+mn-ea"/>
              </a:rPr>
              <a:t>可以用于回归任务的决策树算法：</a:t>
            </a:r>
            <a:r>
              <a:rPr lang="en-US" altLang="zh-CN" dirty="0">
                <a:latin typeface="+mn-ea"/>
              </a:rPr>
              <a:t>CART </a:t>
            </a:r>
            <a:r>
              <a:rPr lang="en-US" altLang="zh-CN" dirty="0" smtClean="0">
                <a:latin typeface="+mn-ea"/>
              </a:rPr>
              <a:t>(</a:t>
            </a:r>
            <a:r>
              <a:rPr lang="en-US" altLang="zh-CN" dirty="0">
                <a:latin typeface="+mn-ea"/>
              </a:rPr>
              <a:t>Classification and </a:t>
            </a:r>
            <a:r>
              <a:rPr lang="en-US" altLang="zh-CN" dirty="0" smtClean="0">
                <a:latin typeface="+mn-ea"/>
              </a:rPr>
              <a:t>Regression </a:t>
            </a:r>
            <a:r>
              <a:rPr lang="en-US" altLang="zh-CN" dirty="0">
                <a:latin typeface="+mn-ea"/>
              </a:rPr>
              <a:t>Tree)</a:t>
            </a:r>
            <a:endParaRPr lang="en-US" altLang="zh-CN" dirty="0">
              <a:latin typeface="+mn-ea"/>
            </a:endParaRPr>
          </a:p>
          <a:p>
            <a:pPr lvl="1">
              <a:lnSpc>
                <a:spcPct val="80000"/>
              </a:lnSpc>
            </a:pPr>
            <a:endParaRPr lang="en-US" altLang="zh-CN" spc="-300" dirty="0">
              <a:latin typeface="宋体" panose="02010600030101010101" pitchFamily="2" charset="-122"/>
            </a:endParaRPr>
          </a:p>
          <a:p>
            <a:pPr>
              <a:lnSpc>
                <a:spcPct val="80000"/>
              </a:lnSpc>
            </a:pPr>
            <a:endParaRPr lang="en-US" altLang="zh-CN" dirty="0" smtClean="0">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4.0 </a:t>
            </a:r>
            <a:r>
              <a:rPr lang="zh-CN" altLang="en-US" dirty="0" smtClean="0"/>
              <a:t>决策树</a:t>
            </a:r>
            <a:r>
              <a:rPr lang="zh-CN" altLang="en-US" dirty="0"/>
              <a:t>简史</a:t>
            </a:r>
            <a:endParaRPr lang="zh-CN" altLang="en-US" dirty="0"/>
          </a:p>
        </p:txBody>
      </p:sp>
      <p:sp>
        <p:nvSpPr>
          <p:cNvPr id="3" name="内容占位符 2"/>
          <p:cNvSpPr>
            <a:spLocks noGrp="1"/>
          </p:cNvSpPr>
          <p:nvPr>
            <p:ph idx="1"/>
          </p:nvPr>
        </p:nvSpPr>
        <p:spPr>
          <a:xfrm>
            <a:off x="467544" y="970384"/>
            <a:ext cx="8219256" cy="4690864"/>
          </a:xfrm>
        </p:spPr>
        <p:txBody>
          <a:bodyPr/>
          <a:lstStyle/>
          <a:p>
            <a:pPr>
              <a:lnSpc>
                <a:spcPct val="90000"/>
              </a:lnSpc>
              <a:spcBef>
                <a:spcPts val="600"/>
              </a:spcBef>
            </a:pPr>
            <a:r>
              <a:rPr lang="en-US" altLang="zh-CN" spc="-180" dirty="0">
                <a:latin typeface="+mn-ea"/>
              </a:rPr>
              <a:t>J. R. Quinlan’s book “C4.5: Programs for Machine </a:t>
            </a:r>
            <a:r>
              <a:rPr lang="en-US" altLang="zh-CN" spc="-180" dirty="0" smtClean="0">
                <a:latin typeface="+mn-ea"/>
              </a:rPr>
              <a:t>Learning</a:t>
            </a:r>
            <a:r>
              <a:rPr lang="en-US" altLang="zh-CN" spc="-180" dirty="0">
                <a:latin typeface="+mn-ea"/>
              </a:rPr>
              <a:t>”</a:t>
            </a:r>
            <a:r>
              <a:rPr lang="en-US" altLang="zh-CN" spc="-180" dirty="0" smtClean="0">
                <a:latin typeface="+mn-ea"/>
              </a:rPr>
              <a:t>, Morgan Kaufmann, 1993</a:t>
            </a:r>
            <a:endParaRPr lang="en-US" altLang="zh-CN" spc="-180" dirty="0">
              <a:latin typeface="+mn-ea"/>
            </a:endParaRPr>
          </a:p>
          <a:p>
            <a:pPr lvl="1">
              <a:lnSpc>
                <a:spcPct val="90000"/>
              </a:lnSpc>
              <a:spcBef>
                <a:spcPts val="600"/>
              </a:spcBef>
            </a:pPr>
            <a:r>
              <a:rPr lang="zh-CN" altLang="en-US" dirty="0">
                <a:latin typeface="+mn-ea"/>
              </a:rPr>
              <a:t>最常用的决策树算法：</a:t>
            </a:r>
            <a:r>
              <a:rPr lang="en-US" altLang="zh-CN" dirty="0">
                <a:latin typeface="+mn-ea"/>
              </a:rPr>
              <a:t>C4.5</a:t>
            </a:r>
            <a:endParaRPr lang="en-US" altLang="zh-CN" dirty="0">
              <a:latin typeface="+mn-ea"/>
            </a:endParaRPr>
          </a:p>
          <a:p>
            <a:pPr>
              <a:lnSpc>
                <a:spcPct val="90000"/>
              </a:lnSpc>
              <a:spcBef>
                <a:spcPts val="600"/>
              </a:spcBef>
            </a:pPr>
            <a:r>
              <a:rPr lang="en-US" altLang="zh-CN" spc="-200" dirty="0">
                <a:latin typeface="+mn-ea"/>
              </a:rPr>
              <a:t>L. </a:t>
            </a:r>
            <a:r>
              <a:rPr lang="en-US" altLang="zh-CN" spc="-200" dirty="0" err="1" smtClean="0">
                <a:latin typeface="+mn-ea"/>
              </a:rPr>
              <a:t>Breiman</a:t>
            </a:r>
            <a:r>
              <a:rPr lang="en-US" altLang="zh-CN" spc="-200" dirty="0" err="1">
                <a:latin typeface="+mn-ea"/>
              </a:rPr>
              <a:t>’</a:t>
            </a:r>
            <a:r>
              <a:rPr lang="en-US" altLang="zh-CN" spc="-200" dirty="0" err="1" smtClean="0">
                <a:latin typeface="+mn-ea"/>
              </a:rPr>
              <a:t>s</a:t>
            </a:r>
            <a:r>
              <a:rPr lang="en-US" altLang="zh-CN" spc="-200" dirty="0" smtClean="0">
                <a:latin typeface="+mn-ea"/>
              </a:rPr>
              <a:t> paper </a:t>
            </a:r>
            <a:r>
              <a:rPr lang="en-US" altLang="zh-CN" spc="-200" dirty="0">
                <a:latin typeface="+mn-ea"/>
              </a:rPr>
              <a:t>“Random Forest”</a:t>
            </a:r>
            <a:r>
              <a:rPr lang="en-US" altLang="zh-CN" spc="-200" dirty="0" smtClean="0">
                <a:latin typeface="+mn-ea"/>
              </a:rPr>
              <a:t>, MLJ, 2001</a:t>
            </a:r>
            <a:endParaRPr lang="en-US" altLang="zh-CN" spc="-200" dirty="0" smtClean="0">
              <a:latin typeface="+mn-ea"/>
            </a:endParaRPr>
          </a:p>
          <a:p>
            <a:pPr lvl="1">
              <a:lnSpc>
                <a:spcPct val="90000"/>
              </a:lnSpc>
              <a:spcBef>
                <a:spcPts val="600"/>
              </a:spcBef>
            </a:pPr>
            <a:r>
              <a:rPr lang="zh-CN" altLang="en-US" dirty="0">
                <a:latin typeface="+mn-ea"/>
              </a:rPr>
              <a:t>基于决策树的最强大算法：</a:t>
            </a:r>
            <a:r>
              <a:rPr lang="en-US" altLang="zh-CN" dirty="0">
                <a:latin typeface="+mn-ea"/>
              </a:rPr>
              <a:t>RF (Random Forest</a:t>
            </a:r>
            <a:r>
              <a:rPr lang="en-US" altLang="zh-CN" dirty="0" smtClean="0">
                <a:latin typeface="+mn-ea"/>
              </a:rPr>
              <a:t>)</a:t>
            </a:r>
            <a:r>
              <a:rPr lang="zh-CN" altLang="en-US" dirty="0" smtClean="0">
                <a:latin typeface="+mn-ea"/>
              </a:rPr>
              <a:t>，一</a:t>
            </a:r>
            <a:r>
              <a:rPr lang="zh-CN" altLang="en-US" dirty="0">
                <a:latin typeface="+mn-ea"/>
              </a:rPr>
              <a:t>种“集成学习”方法</a:t>
            </a:r>
            <a:endParaRPr lang="en-US" altLang="zh-CN" dirty="0">
              <a:latin typeface="+mn-ea"/>
            </a:endParaRPr>
          </a:p>
          <a:p>
            <a:pPr lvl="1">
              <a:lnSpc>
                <a:spcPct val="80000"/>
              </a:lnSpc>
            </a:pPr>
            <a:endParaRPr lang="en-US" altLang="zh-CN" dirty="0">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 </a:t>
            </a:r>
            <a:r>
              <a:rPr lang="zh-CN" altLang="en-US" dirty="0" smtClean="0"/>
              <a:t>基本</a:t>
            </a:r>
            <a:r>
              <a:rPr lang="zh-CN" altLang="en-US" dirty="0"/>
              <a:t>流程</a:t>
            </a:r>
            <a:endParaRPr lang="zh-CN" altLang="en-US" dirty="0"/>
          </a:p>
        </p:txBody>
      </p:sp>
      <p:sp>
        <p:nvSpPr>
          <p:cNvPr id="3" name="内容占位符 2"/>
          <p:cNvSpPr>
            <a:spLocks noGrp="1"/>
          </p:cNvSpPr>
          <p:nvPr>
            <p:ph idx="1"/>
          </p:nvPr>
        </p:nvSpPr>
        <p:spPr>
          <a:xfrm>
            <a:off x="467544" y="970384"/>
            <a:ext cx="8219256" cy="4690864"/>
          </a:xfrm>
        </p:spPr>
        <p:txBody>
          <a:bodyPr/>
          <a:lstStyle/>
          <a:p>
            <a:r>
              <a:rPr lang="zh-CN" altLang="en-US" dirty="0">
                <a:latin typeface="宋体" panose="02010600030101010101" pitchFamily="2" charset="-122"/>
              </a:rPr>
              <a:t>决策树模型</a:t>
            </a:r>
            <a:endParaRPr lang="zh-CN" altLang="en-US" dirty="0">
              <a:latin typeface="宋体" panose="02010600030101010101" pitchFamily="2" charset="-122"/>
            </a:endParaRPr>
          </a:p>
          <a:p>
            <a:pPr lvl="1"/>
            <a:r>
              <a:rPr lang="zh-CN" altLang="en-US" dirty="0">
                <a:latin typeface="宋体" panose="02010600030101010101" pitchFamily="2" charset="-122"/>
              </a:rPr>
              <a:t>决策树</a:t>
            </a:r>
            <a:r>
              <a:rPr lang="zh-CN" altLang="en-US" dirty="0" smtClean="0">
                <a:latin typeface="宋体" panose="02010600030101010101" pitchFamily="2" charset="-122"/>
              </a:rPr>
              <a:t>基于树结构</a:t>
            </a:r>
            <a:r>
              <a:rPr lang="zh-CN" altLang="en-US" dirty="0">
                <a:latin typeface="宋体" panose="02010600030101010101" pitchFamily="2" charset="-122"/>
              </a:rPr>
              <a:t>进行</a:t>
            </a:r>
            <a:r>
              <a:rPr lang="zh-CN" altLang="en-US" dirty="0" smtClean="0">
                <a:latin typeface="宋体" panose="02010600030101010101" pitchFamily="2" charset="-122"/>
              </a:rPr>
              <a:t>决策</a:t>
            </a:r>
            <a:endParaRPr lang="en-US" altLang="zh-CN" dirty="0" smtClean="0">
              <a:latin typeface="宋体" panose="02010600030101010101" pitchFamily="2" charset="-122"/>
            </a:endParaRPr>
          </a:p>
          <a:p>
            <a:pPr lvl="2"/>
            <a:r>
              <a:rPr lang="zh-CN" altLang="en-US" dirty="0" smtClean="0">
                <a:latin typeface="宋体" panose="02010600030101010101" pitchFamily="2" charset="-122"/>
              </a:rPr>
              <a:t>一</a:t>
            </a:r>
            <a:r>
              <a:rPr lang="zh-CN" altLang="en-US" dirty="0">
                <a:latin typeface="宋体" panose="02010600030101010101" pitchFamily="2" charset="-122"/>
              </a:rPr>
              <a:t>棵决策树包含一个根结点、若干个内部结点和若干个叶</a:t>
            </a:r>
            <a:r>
              <a:rPr lang="zh-CN" altLang="en-US" dirty="0" smtClean="0">
                <a:latin typeface="宋体" panose="02010600030101010101" pitchFamily="2" charset="-122"/>
              </a:rPr>
              <a:t>结点</a:t>
            </a:r>
            <a:endParaRPr lang="en-US" altLang="zh-CN" dirty="0" smtClean="0">
              <a:latin typeface="宋体" panose="02010600030101010101" pitchFamily="2" charset="-122"/>
            </a:endParaRPr>
          </a:p>
          <a:p>
            <a:pPr lvl="2"/>
            <a:r>
              <a:rPr lang="zh-CN" altLang="en-US" dirty="0" smtClean="0">
                <a:latin typeface="宋体" panose="02010600030101010101" pitchFamily="2" charset="-122"/>
              </a:rPr>
              <a:t>每个内部结点对应</a:t>
            </a:r>
            <a:r>
              <a:rPr lang="zh-CN" altLang="en-US" dirty="0">
                <a:latin typeface="宋体" panose="02010600030101010101" pitchFamily="2" charset="-122"/>
              </a:rPr>
              <a:t>于某个属性上</a:t>
            </a:r>
            <a:r>
              <a:rPr lang="zh-CN" altLang="en-US" dirty="0" smtClean="0">
                <a:latin typeface="宋体" panose="02010600030101010101" pitchFamily="2" charset="-122"/>
              </a:rPr>
              <a:t>的</a:t>
            </a:r>
            <a:r>
              <a:rPr lang="zh-CN" altLang="en-US" dirty="0" smtClean="0">
                <a:latin typeface="宋体" panose="02010600030101010101" pitchFamily="2" charset="-122"/>
              </a:rPr>
              <a:t>测试</a:t>
            </a:r>
            <a:endParaRPr lang="en-US" altLang="zh-CN" dirty="0" smtClean="0">
              <a:latin typeface="宋体" panose="02010600030101010101" pitchFamily="2" charset="-122"/>
            </a:endParaRPr>
          </a:p>
          <a:p>
            <a:pPr lvl="3"/>
            <a:r>
              <a:rPr lang="zh-CN" altLang="en-US" dirty="0">
                <a:latin typeface="宋体" panose="02010600030101010101" pitchFamily="2" charset="-122"/>
              </a:rPr>
              <a:t>每个测试的结果或是导出最终结论，或是</a:t>
            </a:r>
            <a:r>
              <a:rPr lang="zh-CN" altLang="en-US" dirty="0" smtClean="0">
                <a:latin typeface="宋体" panose="02010600030101010101" pitchFamily="2" charset="-122"/>
              </a:rPr>
              <a:t>导出进一步</a:t>
            </a:r>
            <a:r>
              <a:rPr lang="zh-CN" altLang="en-US" dirty="0">
                <a:latin typeface="宋体" panose="02010600030101010101" pitchFamily="2" charset="-122"/>
              </a:rPr>
              <a:t>的判定问题，其考虑范围是在上次决策结果的限定范围之内</a:t>
            </a:r>
            <a:endParaRPr lang="en-US" altLang="zh-CN" dirty="0" smtClean="0">
              <a:latin typeface="宋体" panose="02010600030101010101" pitchFamily="2" charset="-122"/>
            </a:endParaRPr>
          </a:p>
          <a:p>
            <a:pPr lvl="2"/>
            <a:r>
              <a:rPr lang="zh-CN" altLang="en-US" dirty="0" smtClean="0">
                <a:latin typeface="宋体" panose="02010600030101010101" pitchFamily="2" charset="-122"/>
              </a:rPr>
              <a:t>每个</a:t>
            </a:r>
            <a:r>
              <a:rPr lang="zh-CN" altLang="en-US" dirty="0">
                <a:latin typeface="宋体" panose="02010600030101010101" pitchFamily="2" charset="-122"/>
              </a:rPr>
              <a:t>分支对应于该测试的一种可能</a:t>
            </a:r>
            <a:r>
              <a:rPr lang="zh-CN" altLang="en-US" dirty="0" smtClean="0">
                <a:latin typeface="宋体" panose="02010600030101010101" pitchFamily="2" charset="-122"/>
              </a:rPr>
              <a:t>结果，即</a:t>
            </a:r>
            <a:r>
              <a:rPr lang="zh-CN" altLang="en-US" dirty="0">
                <a:latin typeface="宋体" panose="02010600030101010101" pitchFamily="2" charset="-122"/>
              </a:rPr>
              <a:t>该属性的</a:t>
            </a:r>
            <a:r>
              <a:rPr lang="zh-CN" altLang="en-US" dirty="0" smtClean="0">
                <a:latin typeface="宋体" panose="02010600030101010101" pitchFamily="2" charset="-122"/>
              </a:rPr>
              <a:t>某取值</a:t>
            </a:r>
            <a:endParaRPr lang="en-US" altLang="zh-CN" dirty="0" smtClean="0">
              <a:latin typeface="宋体" panose="02010600030101010101" pitchFamily="2" charset="-122"/>
            </a:endParaRPr>
          </a:p>
          <a:p>
            <a:pPr lvl="3"/>
            <a:r>
              <a:rPr lang="zh-CN" altLang="en-US" dirty="0">
                <a:latin typeface="宋体" panose="02010600030101010101" pitchFamily="2" charset="-122"/>
              </a:rPr>
              <a:t>每个结点包含的样本集合根据属性测试的结果被划分到子结点</a:t>
            </a:r>
            <a:r>
              <a:rPr lang="zh-CN" altLang="en-US" dirty="0" smtClean="0">
                <a:latin typeface="宋体" panose="02010600030101010101" pitchFamily="2" charset="-122"/>
              </a:rPr>
              <a:t>中</a:t>
            </a:r>
            <a:endParaRPr lang="en-US" altLang="zh-CN" dirty="0" smtClean="0">
              <a:latin typeface="宋体" panose="02010600030101010101" pitchFamily="2" charset="-122"/>
            </a:endParaRPr>
          </a:p>
          <a:p>
            <a:pPr lvl="3"/>
            <a:r>
              <a:rPr lang="zh-CN" altLang="en-US" dirty="0" smtClean="0">
                <a:latin typeface="宋体" panose="02010600030101010101" pitchFamily="2" charset="-122"/>
              </a:rPr>
              <a:t>根</a:t>
            </a:r>
            <a:r>
              <a:rPr lang="zh-CN" altLang="en-US" dirty="0">
                <a:latin typeface="宋体" panose="02010600030101010101" pitchFamily="2" charset="-122"/>
              </a:rPr>
              <a:t>结点包含样本全集</a:t>
            </a:r>
            <a:endParaRPr lang="en-US" altLang="zh-CN" dirty="0" smtClean="0">
              <a:latin typeface="宋体" panose="02010600030101010101" pitchFamily="2" charset="-122"/>
            </a:endParaRPr>
          </a:p>
          <a:p>
            <a:pPr lvl="2"/>
            <a:r>
              <a:rPr lang="zh-CN" altLang="en-US" dirty="0" smtClean="0">
                <a:latin typeface="宋体" panose="02010600030101010101" pitchFamily="2" charset="-122"/>
              </a:rPr>
              <a:t>每个叶结点对应</a:t>
            </a:r>
            <a:r>
              <a:rPr lang="zh-CN" altLang="en-US" dirty="0">
                <a:latin typeface="宋体" panose="02010600030101010101" pitchFamily="2" charset="-122"/>
              </a:rPr>
              <a:t>于一</a:t>
            </a:r>
            <a:r>
              <a:rPr lang="zh-CN" altLang="en-US" dirty="0" smtClean="0">
                <a:latin typeface="宋体" panose="02010600030101010101" pitchFamily="2" charset="-122"/>
              </a:rPr>
              <a:t>个预测结果</a:t>
            </a:r>
            <a:endParaRPr lang="en-US" altLang="zh-CN" dirty="0" smtClean="0">
              <a:latin typeface="宋体" panose="02010600030101010101" pitchFamily="2" charset="-122"/>
            </a:endParaRPr>
          </a:p>
          <a:p>
            <a:pPr lvl="3"/>
            <a:r>
              <a:rPr lang="zh-CN" altLang="en-US" dirty="0">
                <a:latin typeface="宋体" panose="02010600030101010101" pitchFamily="2" charset="-122"/>
              </a:rPr>
              <a:t>从根结点到每个叶结点的路径对应了一个判定测试序列</a:t>
            </a:r>
            <a:endParaRPr lang="en-US" altLang="zh-CN" dirty="0" smtClean="0">
              <a:latin typeface="宋体" panose="02010600030101010101" pitchFamily="2" charset="-122"/>
            </a:endParaRPr>
          </a:p>
          <a:p>
            <a:pPr lvl="1"/>
            <a:endParaRPr lang="en-US" altLang="zh-CN" dirty="0" smtClean="0">
              <a:latin typeface="宋体" panose="02010600030101010101" pitchFamily="2" charset="-122"/>
            </a:endParaRPr>
          </a:p>
          <a:p>
            <a:pPr lvl="1"/>
            <a:endParaRPr lang="en-US" altLang="zh-CN" dirty="0">
              <a:latin typeface="宋体" panose="02010600030101010101" pitchFamily="2" charset="-122"/>
            </a:endParaRPr>
          </a:p>
          <a:p>
            <a:endParaRPr lang="en-US" altLang="zh-CN" dirty="0" smtClean="0">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 </a:t>
            </a:r>
            <a:r>
              <a:rPr lang="zh-CN" altLang="en-US" dirty="0" smtClean="0"/>
              <a:t>基本</a:t>
            </a:r>
            <a:r>
              <a:rPr lang="zh-CN" altLang="en-US" dirty="0"/>
              <a:t>流程</a:t>
            </a:r>
            <a:endParaRPr lang="zh-CN" altLang="en-US" dirty="0"/>
          </a:p>
        </p:txBody>
      </p:sp>
      <p:sp>
        <p:nvSpPr>
          <p:cNvPr id="3" name="内容占位符 2"/>
          <p:cNvSpPr>
            <a:spLocks noGrp="1"/>
          </p:cNvSpPr>
          <p:nvPr>
            <p:ph idx="1"/>
          </p:nvPr>
        </p:nvSpPr>
        <p:spPr>
          <a:xfrm>
            <a:off x="467544" y="970384"/>
            <a:ext cx="4464496" cy="4690864"/>
          </a:xfrm>
        </p:spPr>
        <p:txBody>
          <a:bodyPr/>
          <a:lstStyle/>
          <a:p>
            <a:r>
              <a:rPr lang="zh-CN" altLang="en-US" dirty="0">
                <a:latin typeface="宋体" panose="02010600030101010101" pitchFamily="2" charset="-122"/>
              </a:rPr>
              <a:t>决策树模型</a:t>
            </a:r>
            <a:endParaRPr lang="zh-CN" altLang="en-US" dirty="0">
              <a:latin typeface="宋体" panose="02010600030101010101" pitchFamily="2" charset="-122"/>
            </a:endParaRPr>
          </a:p>
          <a:p>
            <a:pPr lvl="1"/>
            <a:r>
              <a:rPr lang="zh-CN" altLang="en-US" dirty="0" smtClean="0">
                <a:latin typeface="宋体" panose="02010600030101010101" pitchFamily="2" charset="-122"/>
              </a:rPr>
              <a:t>学习过程</a:t>
            </a:r>
            <a:r>
              <a:rPr lang="zh-CN" altLang="en-US" dirty="0">
                <a:latin typeface="宋体" panose="02010600030101010101" pitchFamily="2" charset="-122"/>
              </a:rPr>
              <a:t>：通过对训练样本的分析</a:t>
            </a:r>
            <a:r>
              <a:rPr lang="zh-CN" altLang="en-US" dirty="0" smtClean="0">
                <a:latin typeface="宋体" panose="02010600030101010101" pitchFamily="2" charset="-122"/>
              </a:rPr>
              <a:t>来确定划分属性，即</a:t>
            </a:r>
            <a:r>
              <a:rPr lang="zh-CN" altLang="en-US" dirty="0">
                <a:latin typeface="宋体" panose="02010600030101010101" pitchFamily="2" charset="-122"/>
              </a:rPr>
              <a:t>内部结点所</a:t>
            </a:r>
            <a:r>
              <a:rPr lang="zh-CN" altLang="en-US" dirty="0" smtClean="0">
                <a:latin typeface="宋体" panose="02010600030101010101" pitchFamily="2" charset="-122"/>
              </a:rPr>
              <a:t>对应</a:t>
            </a:r>
            <a:r>
              <a:rPr lang="zh-CN" altLang="en-US" dirty="0">
                <a:latin typeface="宋体" panose="02010600030101010101" pitchFamily="2" charset="-122"/>
              </a:rPr>
              <a:t>的属性</a:t>
            </a:r>
            <a:r>
              <a:rPr lang="zh-CN" altLang="en-US" dirty="0" smtClean="0">
                <a:latin typeface="宋体" panose="02010600030101010101" pitchFamily="2" charset="-122"/>
              </a:rPr>
              <a:t>，从而产生</a:t>
            </a:r>
            <a:r>
              <a:rPr lang="zh-CN" altLang="en-US" dirty="0">
                <a:latin typeface="宋体" panose="02010600030101010101" pitchFamily="2" charset="-122"/>
              </a:rPr>
              <a:t>一棵泛化能力</a:t>
            </a:r>
            <a:r>
              <a:rPr lang="zh-CN" altLang="en-US" dirty="0" smtClean="0">
                <a:latin typeface="宋体" panose="02010600030101010101" pitchFamily="2" charset="-122"/>
              </a:rPr>
              <a:t>强的决策树</a:t>
            </a:r>
            <a:endParaRPr lang="en-US" altLang="zh-CN" dirty="0" smtClean="0">
              <a:latin typeface="宋体" panose="02010600030101010101" pitchFamily="2" charset="-122"/>
            </a:endParaRPr>
          </a:p>
          <a:p>
            <a:pPr lvl="1"/>
            <a:r>
              <a:rPr lang="zh-CN" altLang="en-US" dirty="0">
                <a:latin typeface="宋体" panose="02010600030101010101" pitchFamily="2" charset="-122"/>
              </a:rPr>
              <a:t>预测过程：</a:t>
            </a:r>
            <a:r>
              <a:rPr lang="zh-CN" altLang="en-US" dirty="0" smtClean="0">
                <a:latin typeface="宋体" panose="02010600030101010101" pitchFamily="2" charset="-122"/>
              </a:rPr>
              <a:t>将未知示例</a:t>
            </a:r>
            <a:r>
              <a:rPr lang="zh-CN" altLang="en-US" dirty="0">
                <a:latin typeface="宋体" panose="02010600030101010101" pitchFamily="2" charset="-122"/>
              </a:rPr>
              <a:t>从根结点开始</a:t>
            </a:r>
            <a:r>
              <a:rPr lang="zh-CN" altLang="en-US" dirty="0" smtClean="0">
                <a:latin typeface="宋体" panose="02010600030101010101" pitchFamily="2" charset="-122"/>
              </a:rPr>
              <a:t>，沿着</a:t>
            </a:r>
            <a:r>
              <a:rPr lang="zh-CN" altLang="en-US" dirty="0">
                <a:latin typeface="宋体" panose="02010600030101010101" pitchFamily="2" charset="-122"/>
              </a:rPr>
              <a:t>划分属性所构成</a:t>
            </a:r>
            <a:r>
              <a:rPr lang="zh-CN" altLang="en-US" dirty="0" smtClean="0">
                <a:latin typeface="宋体" panose="02010600030101010101" pitchFamily="2" charset="-122"/>
              </a:rPr>
              <a:t>的判定测试序列下行</a:t>
            </a:r>
            <a:r>
              <a:rPr lang="zh-CN" altLang="en-US" dirty="0">
                <a:latin typeface="宋体" panose="02010600030101010101" pitchFamily="2" charset="-122"/>
              </a:rPr>
              <a:t>，直到叶</a:t>
            </a:r>
            <a:r>
              <a:rPr lang="zh-CN" altLang="en-US" dirty="0" smtClean="0">
                <a:latin typeface="宋体" panose="02010600030101010101" pitchFamily="2" charset="-122"/>
              </a:rPr>
              <a:t>结点得到结果</a:t>
            </a:r>
            <a:endParaRPr lang="zh-CN" altLang="en-US" dirty="0">
              <a:latin typeface="宋体" panose="02010600030101010101" pitchFamily="2" charset="-122"/>
            </a:endParaRPr>
          </a:p>
          <a:p>
            <a:pPr lvl="1"/>
            <a:endParaRPr lang="en-US" altLang="zh-CN" dirty="0" smtClean="0">
              <a:latin typeface="宋体" panose="02010600030101010101" pitchFamily="2" charset="-122"/>
            </a:endParaRPr>
          </a:p>
          <a:p>
            <a:pPr lvl="1"/>
            <a:endParaRPr lang="en-US" altLang="zh-CN" dirty="0">
              <a:latin typeface="宋体" panose="02010600030101010101" pitchFamily="2" charset="-122"/>
            </a:endParaRPr>
          </a:p>
          <a:p>
            <a:endParaRPr lang="en-US" altLang="zh-CN" dirty="0" smtClean="0">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pic>
        <p:nvPicPr>
          <p:cNvPr id="6" name="图片 5"/>
          <p:cNvPicPr>
            <a:picLocks noChangeAspect="1"/>
          </p:cNvPicPr>
          <p:nvPr/>
        </p:nvPicPr>
        <p:blipFill>
          <a:blip r:embed="rId1"/>
          <a:stretch>
            <a:fillRect/>
          </a:stretch>
        </p:blipFill>
        <p:spPr>
          <a:xfrm>
            <a:off x="4932040" y="1484784"/>
            <a:ext cx="4122305" cy="4674779"/>
          </a:xfrm>
          <a:prstGeom prst="rect">
            <a:avLst/>
          </a:prstGeom>
        </p:spPr>
      </p:pic>
    </p:spTree>
  </p:cSld>
  <p:clrMapOvr>
    <a:masterClrMapping/>
  </p:clrMapOvr>
  <p:transition>
    <p:cover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基本流程</a:t>
            </a:r>
            <a:endParaRPr lang="zh-CN" altLang="en-US" dirty="0"/>
          </a:p>
        </p:txBody>
      </p:sp>
      <p:sp>
        <p:nvSpPr>
          <p:cNvPr id="3" name="内容占位符 2"/>
          <p:cNvSpPr>
            <a:spLocks noGrp="1"/>
          </p:cNvSpPr>
          <p:nvPr>
            <p:ph idx="1"/>
          </p:nvPr>
        </p:nvSpPr>
        <p:spPr/>
        <p:txBody>
          <a:bodyPr/>
          <a:lstStyle/>
          <a:p>
            <a:r>
              <a:rPr lang="zh-CN" altLang="en-US" dirty="0" smtClean="0"/>
              <a:t>从树到规则</a:t>
            </a:r>
            <a:endParaRPr lang="en-US" altLang="zh-CN" dirty="0" smtClean="0"/>
          </a:p>
          <a:p>
            <a:pPr lvl="1"/>
            <a:r>
              <a:rPr lang="zh-CN" altLang="en-US" dirty="0"/>
              <a:t>一棵决策树对应于一</a:t>
            </a:r>
            <a:r>
              <a:rPr lang="zh-CN" altLang="en-US" dirty="0" smtClean="0"/>
              <a:t>个规则集</a:t>
            </a:r>
            <a:endParaRPr lang="zh-CN" altLang="en-US" dirty="0"/>
          </a:p>
          <a:p>
            <a:pPr lvl="1"/>
            <a:r>
              <a:rPr lang="zh-CN" altLang="en-US" dirty="0"/>
              <a:t>每个从根结点到叶结点的分支路径对应于一条规则</a:t>
            </a:r>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7" name="组合 6"/>
          <p:cNvGrpSpPr/>
          <p:nvPr/>
        </p:nvGrpSpPr>
        <p:grpSpPr>
          <a:xfrm>
            <a:off x="84464" y="2699344"/>
            <a:ext cx="8952032" cy="3708000"/>
            <a:chOff x="84464" y="2699344"/>
            <a:chExt cx="8952032" cy="3708000"/>
          </a:xfrm>
        </p:grpSpPr>
        <p:pic>
          <p:nvPicPr>
            <p:cNvPr id="5" name="图片 4"/>
            <p:cNvPicPr>
              <a:picLocks noChangeAspect="1"/>
            </p:cNvPicPr>
            <p:nvPr/>
          </p:nvPicPr>
          <p:blipFill>
            <a:blip r:embed="rId1"/>
            <a:stretch>
              <a:fillRect/>
            </a:stretch>
          </p:blipFill>
          <p:spPr>
            <a:xfrm>
              <a:off x="84464" y="2699344"/>
              <a:ext cx="8952032" cy="3708000"/>
            </a:xfrm>
            <a:prstGeom prst="rect">
              <a:avLst/>
            </a:prstGeom>
          </p:spPr>
        </p:pic>
        <p:sp>
          <p:nvSpPr>
            <p:cNvPr id="6" name="矩形 5"/>
            <p:cNvSpPr/>
            <p:nvPr/>
          </p:nvSpPr>
          <p:spPr bwMode="auto">
            <a:xfrm>
              <a:off x="84464" y="5229200"/>
              <a:ext cx="3047376" cy="1178144"/>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Tree>
  </p:cSld>
  <p:clrMapOvr>
    <a:masterClrMapping/>
  </p:clrMapOvr>
  <p:transition>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基本流程</a:t>
            </a:r>
            <a:endParaRPr lang="zh-CN" altLang="en-US" dirty="0"/>
          </a:p>
        </p:txBody>
      </p:sp>
      <p:sp>
        <p:nvSpPr>
          <p:cNvPr id="3" name="内容占位符 2"/>
          <p:cNvSpPr>
            <a:spLocks noGrp="1"/>
          </p:cNvSpPr>
          <p:nvPr>
            <p:ph idx="1"/>
          </p:nvPr>
        </p:nvSpPr>
        <p:spPr/>
        <p:txBody>
          <a:bodyPr/>
          <a:lstStyle/>
          <a:p>
            <a:r>
              <a:rPr lang="zh-CN" altLang="en-US" dirty="0" smtClean="0"/>
              <a:t>基本</a:t>
            </a:r>
            <a:r>
              <a:rPr lang="zh-CN" altLang="en-US" dirty="0"/>
              <a:t>学习算法</a:t>
            </a:r>
            <a:r>
              <a:rPr lang="zh-CN" altLang="en-US" dirty="0" smtClean="0"/>
              <a:t>流程</a:t>
            </a:r>
            <a:endParaRPr lang="en-US" altLang="zh-CN" dirty="0" smtClean="0"/>
          </a:p>
          <a:p>
            <a:pPr lvl="1"/>
            <a:endParaRPr lang="en-US" altLang="zh-CN" dirty="0" smtClean="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797432" y="1356837"/>
            <a:ext cx="7590992" cy="5419486"/>
          </a:xfrm>
          <a:prstGeom prst="rect">
            <a:avLst/>
          </a:prstGeom>
        </p:spPr>
      </p:pic>
    </p:spTree>
  </p:cSld>
  <p:clrMapOvr>
    <a:masterClrMapping/>
  </p:clrMapOvr>
  <p:transition>
    <p:cover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基本流程</a:t>
            </a:r>
            <a:endParaRPr lang="zh-CN" altLang="en-US" dirty="0"/>
          </a:p>
        </p:txBody>
      </p:sp>
      <p:sp>
        <p:nvSpPr>
          <p:cNvPr id="3" name="内容占位符 2"/>
          <p:cNvSpPr>
            <a:spLocks noGrp="1"/>
          </p:cNvSpPr>
          <p:nvPr>
            <p:ph idx="1"/>
          </p:nvPr>
        </p:nvSpPr>
        <p:spPr>
          <a:xfrm>
            <a:off x="683568" y="836712"/>
            <a:ext cx="7772400" cy="5688632"/>
          </a:xfrm>
        </p:spPr>
        <p:txBody>
          <a:bodyPr/>
          <a:lstStyle/>
          <a:p>
            <a:r>
              <a:rPr lang="zh-CN" altLang="en-US" dirty="0" smtClean="0"/>
              <a:t>基本学习算法流程</a:t>
            </a:r>
            <a:endParaRPr lang="en-US" altLang="zh-CN" dirty="0" smtClean="0"/>
          </a:p>
          <a:p>
            <a:pPr lvl="1"/>
            <a:r>
              <a:rPr lang="zh-CN" altLang="en-US" dirty="0" smtClean="0"/>
              <a:t>策略：分而治之</a:t>
            </a:r>
            <a:endParaRPr lang="en-US" altLang="zh-CN" dirty="0" smtClean="0"/>
          </a:p>
          <a:p>
            <a:pPr lvl="1"/>
            <a:r>
              <a:rPr lang="zh-CN" altLang="en-US" dirty="0"/>
              <a:t>决策树的生成是一</a:t>
            </a:r>
            <a:r>
              <a:rPr lang="zh-CN" altLang="en-US" dirty="0" smtClean="0"/>
              <a:t>个自</a:t>
            </a:r>
            <a:r>
              <a:rPr lang="zh-CN" altLang="en-US" dirty="0"/>
              <a:t>根至叶的递归</a:t>
            </a:r>
            <a:r>
              <a:rPr lang="zh-CN" altLang="en-US" dirty="0" smtClean="0"/>
              <a:t>过程</a:t>
            </a:r>
            <a:endParaRPr lang="en-US" altLang="zh-CN" dirty="0" smtClean="0"/>
          </a:p>
          <a:p>
            <a:pPr lvl="1"/>
            <a:r>
              <a:rPr lang="zh-CN" altLang="en-US" dirty="0"/>
              <a:t>在每个中间结点寻找一</a:t>
            </a:r>
            <a:r>
              <a:rPr lang="zh-CN" altLang="en-US" dirty="0" smtClean="0"/>
              <a:t>个划分属性</a:t>
            </a:r>
            <a:endParaRPr lang="en-US" altLang="zh-CN" dirty="0" smtClean="0"/>
          </a:p>
          <a:p>
            <a:pPr lvl="1"/>
            <a:r>
              <a:rPr lang="zh-CN" altLang="en-US" dirty="0"/>
              <a:t>三</a:t>
            </a:r>
            <a:r>
              <a:rPr lang="zh-CN" altLang="en-US" dirty="0" smtClean="0"/>
              <a:t>种递归停止条件</a:t>
            </a:r>
            <a:endParaRPr lang="en-US" altLang="zh-CN" dirty="0" smtClean="0"/>
          </a:p>
          <a:p>
            <a:pPr lvl="2"/>
            <a:r>
              <a:rPr lang="zh-CN" altLang="en-US" dirty="0"/>
              <a:t>当前结点包含的样本全属于同一类别，无需</a:t>
            </a:r>
            <a:r>
              <a:rPr lang="zh-CN" altLang="en-US" dirty="0" smtClean="0"/>
              <a:t>划分</a:t>
            </a:r>
            <a:endParaRPr lang="en-US" altLang="zh-CN" dirty="0" smtClean="0"/>
          </a:p>
          <a:p>
            <a:pPr lvl="3"/>
            <a:r>
              <a:rPr lang="zh-CN" altLang="en-US" dirty="0"/>
              <a:t>当前结点标记为叶结点</a:t>
            </a:r>
            <a:endParaRPr lang="en-US" altLang="zh-CN" dirty="0" smtClean="0"/>
          </a:p>
          <a:p>
            <a:pPr lvl="2"/>
            <a:r>
              <a:rPr lang="zh-CN" altLang="en-US" dirty="0"/>
              <a:t>当前属性集为</a:t>
            </a:r>
            <a:r>
              <a:rPr lang="zh-CN" altLang="en-US" dirty="0" smtClean="0"/>
              <a:t>空或是</a:t>
            </a:r>
            <a:r>
              <a:rPr lang="zh-CN" altLang="en-US" dirty="0"/>
              <a:t>所有样本在所有属性上取值相同，无法</a:t>
            </a:r>
            <a:r>
              <a:rPr lang="zh-CN" altLang="en-US" dirty="0" smtClean="0"/>
              <a:t>划分</a:t>
            </a:r>
            <a:endParaRPr lang="en-US" altLang="zh-CN" dirty="0" smtClean="0"/>
          </a:p>
          <a:p>
            <a:pPr lvl="3"/>
            <a:r>
              <a:rPr lang="zh-CN" altLang="en-US" dirty="0"/>
              <a:t>当前结点标记为叶</a:t>
            </a:r>
            <a:r>
              <a:rPr lang="zh-CN" altLang="en-US" dirty="0" smtClean="0"/>
              <a:t>结点</a:t>
            </a:r>
            <a:endParaRPr lang="en-US" altLang="zh-CN" dirty="0" smtClean="0"/>
          </a:p>
          <a:p>
            <a:pPr lvl="3"/>
            <a:r>
              <a:rPr lang="zh-CN" altLang="en-US" dirty="0"/>
              <a:t>类别设定为该结点所含样本最多的</a:t>
            </a:r>
            <a:r>
              <a:rPr lang="zh-CN" altLang="en-US" dirty="0" smtClean="0"/>
              <a:t>类别</a:t>
            </a:r>
            <a:endParaRPr lang="en-US" altLang="zh-CN" dirty="0" smtClean="0"/>
          </a:p>
          <a:p>
            <a:pPr lvl="3"/>
            <a:r>
              <a:rPr lang="zh-CN" altLang="en-US" dirty="0"/>
              <a:t>利用当前结点的后验分布</a:t>
            </a:r>
            <a:endParaRPr lang="en-US" altLang="zh-CN" dirty="0" smtClean="0"/>
          </a:p>
          <a:p>
            <a:pPr lvl="2"/>
            <a:r>
              <a:rPr lang="zh-CN" altLang="en-US" dirty="0"/>
              <a:t>当前结点包含的样本集合为空，不能</a:t>
            </a:r>
            <a:r>
              <a:rPr lang="zh-CN" altLang="en-US" dirty="0" smtClean="0"/>
              <a:t>划分</a:t>
            </a:r>
            <a:endParaRPr lang="en-US" altLang="zh-CN" dirty="0" smtClean="0"/>
          </a:p>
          <a:p>
            <a:pPr lvl="3"/>
            <a:r>
              <a:rPr lang="zh-CN" altLang="en-US" dirty="0" smtClean="0"/>
              <a:t>当前</a:t>
            </a:r>
            <a:r>
              <a:rPr lang="zh-CN" altLang="en-US" dirty="0"/>
              <a:t>结点标记为叶</a:t>
            </a:r>
            <a:r>
              <a:rPr lang="zh-CN" altLang="en-US" dirty="0" smtClean="0"/>
              <a:t>结点</a:t>
            </a:r>
            <a:endParaRPr lang="en-US" altLang="zh-CN" dirty="0" smtClean="0"/>
          </a:p>
          <a:p>
            <a:pPr lvl="3"/>
            <a:r>
              <a:rPr lang="zh-CN" altLang="en-US" dirty="0" smtClean="0"/>
              <a:t>类别</a:t>
            </a:r>
            <a:r>
              <a:rPr lang="zh-CN" altLang="en-US" dirty="0"/>
              <a:t>设定为其父结点所含样本最多的</a:t>
            </a:r>
            <a:r>
              <a:rPr lang="zh-CN" altLang="en-US" dirty="0" smtClean="0"/>
              <a:t>类别</a:t>
            </a:r>
            <a:endParaRPr lang="en-US" altLang="zh-CN" dirty="0" smtClean="0"/>
          </a:p>
          <a:p>
            <a:pPr lvl="3"/>
            <a:r>
              <a:rPr lang="zh-CN" altLang="en-US" dirty="0" smtClean="0"/>
              <a:t>将父</a:t>
            </a:r>
            <a:r>
              <a:rPr lang="zh-CN" altLang="en-US" dirty="0"/>
              <a:t>结点的样本分布作为当前结点的先验分布</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基本流程</a:t>
            </a:r>
            <a:endParaRPr lang="zh-CN" altLang="en-US" dirty="0"/>
          </a:p>
        </p:txBody>
      </p:sp>
      <p:sp>
        <p:nvSpPr>
          <p:cNvPr id="3" name="内容占位符 2"/>
          <p:cNvSpPr>
            <a:spLocks noGrp="1"/>
          </p:cNvSpPr>
          <p:nvPr>
            <p:ph idx="1"/>
          </p:nvPr>
        </p:nvSpPr>
        <p:spPr/>
        <p:txBody>
          <a:bodyPr/>
          <a:lstStyle/>
          <a:p>
            <a:r>
              <a:rPr lang="zh-CN" altLang="en-US" dirty="0" smtClean="0"/>
              <a:t>基本学习算法</a:t>
            </a:r>
            <a:r>
              <a:rPr lang="zh-CN" altLang="en-US" dirty="0"/>
              <a:t>流程</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53992" y="1412776"/>
            <a:ext cx="8782504" cy="5338192"/>
          </a:xfrm>
          <a:prstGeom prst="rect">
            <a:avLst/>
          </a:prstGeom>
        </p:spPr>
      </p:pic>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划分</a:t>
            </a:r>
            <a:r>
              <a:rPr lang="zh-CN" altLang="en-US" dirty="0"/>
              <a:t>选择</a:t>
            </a:r>
            <a:endParaRPr lang="zh-CN" altLang="en-US" dirty="0"/>
          </a:p>
        </p:txBody>
      </p:sp>
      <p:sp>
        <p:nvSpPr>
          <p:cNvPr id="3" name="内容占位符 2"/>
          <p:cNvSpPr>
            <a:spLocks noGrp="1"/>
          </p:cNvSpPr>
          <p:nvPr>
            <p:ph idx="1"/>
          </p:nvPr>
        </p:nvSpPr>
        <p:spPr>
          <a:xfrm>
            <a:off x="683568" y="836712"/>
            <a:ext cx="7985648" cy="4690864"/>
          </a:xfrm>
        </p:spPr>
        <p:txBody>
          <a:bodyPr/>
          <a:lstStyle/>
          <a:p>
            <a:r>
              <a:rPr lang="zh-CN" altLang="en-US" dirty="0" smtClean="0"/>
              <a:t>如何</a:t>
            </a:r>
            <a:r>
              <a:rPr lang="zh-CN" altLang="en-US" dirty="0"/>
              <a:t>选择最优划分</a:t>
            </a:r>
            <a:r>
              <a:rPr lang="zh-CN" altLang="en-US" dirty="0" smtClean="0"/>
              <a:t>属性</a:t>
            </a:r>
            <a:endParaRPr lang="en-US" altLang="zh-CN" dirty="0" smtClean="0"/>
          </a:p>
          <a:p>
            <a:pPr lvl="1"/>
            <a:r>
              <a:rPr lang="zh-CN" altLang="en-US" dirty="0" smtClean="0"/>
              <a:t>希望分支</a:t>
            </a:r>
            <a:r>
              <a:rPr lang="zh-CN" altLang="en-US" dirty="0"/>
              <a:t>结点所包含的样本尽可能属于同一</a:t>
            </a:r>
            <a:r>
              <a:rPr lang="zh-CN" altLang="en-US" dirty="0" smtClean="0"/>
              <a:t>类别</a:t>
            </a:r>
            <a:r>
              <a:rPr lang="en-US" altLang="zh-CN" dirty="0" smtClean="0">
                <a:latin typeface="+mn-ea"/>
              </a:rPr>
              <a:t>(</a:t>
            </a:r>
            <a:r>
              <a:rPr lang="zh-CN" altLang="en-US" dirty="0" smtClean="0">
                <a:latin typeface="+mn-ea"/>
              </a:rPr>
              <a:t>纯度</a:t>
            </a:r>
            <a:r>
              <a:rPr lang="en-US" altLang="zh-CN" dirty="0" smtClean="0">
                <a:latin typeface="+mn-ea"/>
              </a:rPr>
              <a:t>)</a:t>
            </a:r>
            <a:r>
              <a:rPr lang="zh-CN" altLang="en-US" dirty="0" smtClean="0"/>
              <a:t>，</a:t>
            </a:r>
            <a:r>
              <a:rPr lang="zh-CN" altLang="en-US" dirty="0"/>
              <a:t>即结点</a:t>
            </a:r>
            <a:r>
              <a:rPr lang="zh-CN" altLang="en-US" dirty="0" smtClean="0"/>
              <a:t>的纯度越来越高</a:t>
            </a:r>
            <a:endParaRPr lang="en-US" altLang="zh-CN" dirty="0" smtClean="0"/>
          </a:p>
          <a:p>
            <a:pPr lvl="2"/>
            <a:r>
              <a:rPr lang="zh-CN" altLang="en-US" dirty="0" smtClean="0"/>
              <a:t>如何度量纯度</a:t>
            </a:r>
            <a:endParaRPr lang="en-US" altLang="zh-CN" dirty="0" smtClean="0"/>
          </a:p>
          <a:p>
            <a:r>
              <a:rPr lang="en-US" altLang="zh-CN" dirty="0" smtClean="0">
                <a:latin typeface="+mn-ea"/>
              </a:rPr>
              <a:t>4.2.1 </a:t>
            </a:r>
            <a:r>
              <a:rPr lang="zh-CN" altLang="en-US" dirty="0" smtClean="0">
                <a:latin typeface="+mn-ea"/>
              </a:rPr>
              <a:t>信息</a:t>
            </a:r>
            <a:r>
              <a:rPr lang="zh-CN" altLang="en-US" dirty="0">
                <a:latin typeface="+mn-ea"/>
              </a:rPr>
              <a:t>增益</a:t>
            </a:r>
            <a:endParaRPr lang="en-US" altLang="zh-CN" dirty="0">
              <a:latin typeface="+mn-ea"/>
            </a:endParaRPr>
          </a:p>
          <a:p>
            <a:pPr lvl="1"/>
            <a:r>
              <a:rPr lang="zh-CN" altLang="en-US" dirty="0" smtClean="0"/>
              <a:t>信息熵</a:t>
            </a:r>
            <a:endParaRPr lang="en-US" altLang="zh-CN" dirty="0" smtClean="0"/>
          </a:p>
          <a:p>
            <a:pPr lvl="2"/>
            <a:r>
              <a:rPr lang="zh-CN" altLang="en-US" dirty="0"/>
              <a:t>度量样本</a:t>
            </a:r>
            <a:r>
              <a:rPr lang="zh-CN" altLang="en-US" dirty="0" smtClean="0"/>
              <a:t>集合纯度最</a:t>
            </a:r>
            <a:r>
              <a:rPr lang="zh-CN" altLang="en-US" dirty="0"/>
              <a:t>常用的一种指标</a:t>
            </a:r>
            <a:endParaRPr lang="zh-CN" altLang="en-US" dirty="0"/>
          </a:p>
          <a:p>
            <a:pPr lvl="2"/>
            <a:r>
              <a:rPr lang="zh-CN" altLang="en-US" dirty="0" smtClean="0">
                <a:latin typeface="+mn-ea"/>
              </a:rPr>
              <a:t>样本集</a:t>
            </a:r>
            <a:r>
              <a:rPr lang="en-US" altLang="zh-CN" dirty="0" smtClean="0">
                <a:latin typeface="+mn-ea"/>
              </a:rPr>
              <a:t>D</a:t>
            </a:r>
            <a:r>
              <a:rPr lang="zh-CN" altLang="en-US" dirty="0" smtClean="0">
                <a:latin typeface="+mn-ea"/>
              </a:rPr>
              <a:t>中第</a:t>
            </a:r>
            <a:r>
              <a:rPr lang="en-US" altLang="zh-CN" dirty="0" smtClean="0">
                <a:latin typeface="+mn-ea"/>
              </a:rPr>
              <a:t>k</a:t>
            </a:r>
            <a:r>
              <a:rPr lang="zh-CN" altLang="en-US" dirty="0" smtClean="0">
                <a:latin typeface="+mn-ea"/>
              </a:rPr>
              <a:t>类样本的</a:t>
            </a:r>
            <a:r>
              <a:rPr lang="zh-CN" altLang="en-US" dirty="0">
                <a:latin typeface="+mn-ea"/>
              </a:rPr>
              <a:t>比例</a:t>
            </a:r>
            <a:r>
              <a:rPr lang="zh-CN" altLang="en-US" dirty="0" smtClean="0">
                <a:latin typeface="+mn-ea"/>
              </a:rPr>
              <a:t>为   ，则</a:t>
            </a:r>
            <a:r>
              <a:rPr lang="en-US" altLang="zh-CN" dirty="0" smtClean="0">
                <a:latin typeface="+mn-ea"/>
              </a:rPr>
              <a:t>D</a:t>
            </a:r>
            <a:r>
              <a:rPr lang="zh-CN" altLang="en-US" dirty="0" smtClean="0">
                <a:latin typeface="+mn-ea"/>
              </a:rPr>
              <a:t>的信息熵</a:t>
            </a:r>
            <a:endParaRPr lang="en-US" altLang="zh-CN" dirty="0" smtClean="0">
              <a:latin typeface="+mn-ea"/>
            </a:endParaRPr>
          </a:p>
          <a:p>
            <a:pPr lvl="3"/>
            <a:endParaRPr lang="en-US" altLang="zh-CN" dirty="0" smtClean="0"/>
          </a:p>
          <a:p>
            <a:pPr lvl="3"/>
            <a:endParaRPr lang="en-US" altLang="zh-CN" dirty="0"/>
          </a:p>
          <a:p>
            <a:pPr lvl="3"/>
            <a:endParaRPr lang="en-US" altLang="zh-CN" dirty="0" smtClean="0"/>
          </a:p>
          <a:p>
            <a:pPr lvl="3"/>
            <a:r>
              <a:rPr lang="zh-CN" altLang="en-US" dirty="0" smtClean="0">
                <a:latin typeface="+mn-ea"/>
              </a:rPr>
              <a:t>若</a:t>
            </a:r>
            <a:r>
              <a:rPr lang="en-US" altLang="zh-CN" dirty="0" smtClean="0">
                <a:latin typeface="+mn-ea"/>
              </a:rPr>
              <a:t>     </a:t>
            </a:r>
            <a:r>
              <a:rPr lang="zh-CN" altLang="en-US" dirty="0" smtClean="0">
                <a:latin typeface="+mn-ea"/>
              </a:rPr>
              <a:t>，则</a:t>
            </a:r>
            <a:endParaRPr lang="en-US" altLang="zh-CN" dirty="0" smtClean="0">
              <a:latin typeface="+mn-ea"/>
            </a:endParaRPr>
          </a:p>
          <a:p>
            <a:pPr lvl="3"/>
            <a:r>
              <a:rPr lang="zh-CN" altLang="en-US" dirty="0" smtClean="0"/>
              <a:t>            的</a:t>
            </a:r>
            <a:r>
              <a:rPr lang="zh-CN" altLang="en-US" dirty="0"/>
              <a:t>值越小，</a:t>
            </a:r>
            <a:r>
              <a:rPr lang="zh-CN" altLang="en-US" dirty="0" smtClean="0">
                <a:latin typeface="+mn-ea"/>
              </a:rPr>
              <a:t>则</a:t>
            </a:r>
            <a:r>
              <a:rPr lang="en-US" altLang="zh-CN" dirty="0" smtClean="0">
                <a:latin typeface="+mn-ea"/>
              </a:rPr>
              <a:t>D</a:t>
            </a:r>
            <a:r>
              <a:rPr lang="zh-CN" altLang="en-US" dirty="0" smtClean="0">
                <a:latin typeface="+mn-ea"/>
              </a:rPr>
              <a:t>的</a:t>
            </a:r>
            <a:r>
              <a:rPr lang="zh-CN" altLang="en-US" dirty="0">
                <a:latin typeface="+mn-ea"/>
              </a:rPr>
              <a:t>纯度越</a:t>
            </a:r>
            <a:r>
              <a:rPr lang="zh-CN" altLang="en-US" dirty="0" smtClean="0">
                <a:latin typeface="+mn-ea"/>
              </a:rPr>
              <a:t>高</a:t>
            </a:r>
            <a:endParaRPr lang="en-US" altLang="zh-CN" dirty="0" smtClean="0">
              <a:latin typeface="+mn-ea"/>
            </a:endParaRPr>
          </a:p>
          <a:p>
            <a:pPr lvl="1"/>
            <a:endParaRPr lang="zh-CN" altLang="en-US" dirty="0">
              <a:latin typeface="+mn-ea"/>
            </a:endParaRPr>
          </a:p>
          <a:p>
            <a:pPr lvl="3"/>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5922200" y="3753096"/>
          <a:ext cx="450000" cy="540000"/>
        </p:xfrm>
        <a:graphic>
          <a:graphicData uri="http://schemas.openxmlformats.org/presentationml/2006/ole">
            <mc:AlternateContent xmlns:mc="http://schemas.openxmlformats.org/markup-compatibility/2006">
              <mc:Choice xmlns:v="urn:schemas-microsoft-com:vml" Requires="v">
                <p:oleObj spid="_x0000_s1489" name="Equation" r:id="rId1" imgW="4572000" imgH="5486400" progId="Equation.DSMT4">
                  <p:embed/>
                </p:oleObj>
              </mc:Choice>
              <mc:Fallback>
                <p:oleObj name="Equation" r:id="rId1" imgW="4572000" imgH="5486400" progId="Equation.DSMT4">
                  <p:embed/>
                  <p:pic>
                    <p:nvPicPr>
                      <p:cNvPr id="0" name="图片 1488"/>
                      <p:cNvPicPr/>
                      <p:nvPr/>
                    </p:nvPicPr>
                    <p:blipFill>
                      <a:blip r:embed="rId2"/>
                      <a:stretch>
                        <a:fillRect/>
                      </a:stretch>
                    </p:blipFill>
                    <p:spPr>
                      <a:xfrm>
                        <a:off x="5922200" y="3753096"/>
                        <a:ext cx="450000" cy="540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733650" y="4210025"/>
          <a:ext cx="3638550" cy="1019175"/>
        </p:xfrm>
        <a:graphic>
          <a:graphicData uri="http://schemas.openxmlformats.org/presentationml/2006/ole">
            <mc:AlternateContent xmlns:mc="http://schemas.openxmlformats.org/markup-compatibility/2006">
              <mc:Choice xmlns:v="urn:schemas-microsoft-com:vml" Requires="v">
                <p:oleObj spid="_x0000_s1490" name="Equation" r:id="rId3" imgW="36880800" imgH="10363200" progId="Equation.DSMT4">
                  <p:embed/>
                </p:oleObj>
              </mc:Choice>
              <mc:Fallback>
                <p:oleObj name="Equation" r:id="rId3" imgW="36880800" imgH="10363200" progId="Equation.DSMT4">
                  <p:embed/>
                  <p:pic>
                    <p:nvPicPr>
                      <p:cNvPr id="0" name="图片 1489"/>
                      <p:cNvPicPr/>
                      <p:nvPr/>
                    </p:nvPicPr>
                    <p:blipFill>
                      <a:blip r:embed="rId4"/>
                      <a:stretch>
                        <a:fillRect/>
                      </a:stretch>
                    </p:blipFill>
                    <p:spPr>
                      <a:xfrm>
                        <a:off x="2733650" y="4210025"/>
                        <a:ext cx="3638550" cy="10191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896559" y="5085184"/>
          <a:ext cx="1467529" cy="432000"/>
        </p:xfrm>
        <a:graphic>
          <a:graphicData uri="http://schemas.openxmlformats.org/presentationml/2006/ole">
            <mc:AlternateContent xmlns:mc="http://schemas.openxmlformats.org/markup-compatibility/2006">
              <mc:Choice xmlns:v="urn:schemas-microsoft-com:vml" Requires="v">
                <p:oleObj spid="_x0000_s1491" name="Equation" r:id="rId5" imgW="18592800" imgH="5486400" progId="Equation.DSMT4">
                  <p:embed/>
                </p:oleObj>
              </mc:Choice>
              <mc:Fallback>
                <p:oleObj name="Equation" r:id="rId5" imgW="18592800" imgH="5486400" progId="Equation.DSMT4">
                  <p:embed/>
                  <p:pic>
                    <p:nvPicPr>
                      <p:cNvPr id="0" name="图片 1490"/>
                      <p:cNvPicPr/>
                      <p:nvPr/>
                    </p:nvPicPr>
                    <p:blipFill>
                      <a:blip r:embed="rId6"/>
                      <a:stretch>
                        <a:fillRect/>
                      </a:stretch>
                    </p:blipFill>
                    <p:spPr>
                      <a:xfrm>
                        <a:off x="3896559" y="5085184"/>
                        <a:ext cx="1467529" cy="432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650951" y="5133009"/>
          <a:ext cx="696913" cy="384175"/>
        </p:xfrm>
        <a:graphic>
          <a:graphicData uri="http://schemas.openxmlformats.org/presentationml/2006/ole">
            <mc:AlternateContent xmlns:mc="http://schemas.openxmlformats.org/markup-compatibility/2006">
              <mc:Choice xmlns:v="urn:schemas-microsoft-com:vml" Requires="v">
                <p:oleObj spid="_x0000_s1492" name="Equation" r:id="rId7" imgW="8839200" imgH="4876800" progId="Equation.DSMT4">
                  <p:embed/>
                </p:oleObj>
              </mc:Choice>
              <mc:Fallback>
                <p:oleObj name="Equation" r:id="rId7" imgW="8839200" imgH="4876800" progId="Equation.DSMT4">
                  <p:embed/>
                  <p:pic>
                    <p:nvPicPr>
                      <p:cNvPr id="0" name="图片 1491"/>
                      <p:cNvPicPr/>
                      <p:nvPr/>
                    </p:nvPicPr>
                    <p:blipFill>
                      <a:blip r:embed="rId8"/>
                      <a:stretch>
                        <a:fillRect/>
                      </a:stretch>
                    </p:blipFill>
                    <p:spPr>
                      <a:xfrm>
                        <a:off x="2650951" y="5133009"/>
                        <a:ext cx="696913" cy="38417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352483" y="5471681"/>
          <a:ext cx="936625" cy="384175"/>
        </p:xfrm>
        <a:graphic>
          <a:graphicData uri="http://schemas.openxmlformats.org/presentationml/2006/ole">
            <mc:AlternateContent xmlns:mc="http://schemas.openxmlformats.org/markup-compatibility/2006">
              <mc:Choice xmlns:v="urn:schemas-microsoft-com:vml" Requires="v">
                <p:oleObj spid="_x0000_s1493" name="Equation" r:id="rId9" imgW="11887200" imgH="4876800" progId="Equation.DSMT4">
                  <p:embed/>
                </p:oleObj>
              </mc:Choice>
              <mc:Fallback>
                <p:oleObj name="Equation" r:id="rId9" imgW="11887200" imgH="4876800" progId="Equation.DSMT4">
                  <p:embed/>
                  <p:pic>
                    <p:nvPicPr>
                      <p:cNvPr id="0" name="图片 1492"/>
                      <p:cNvPicPr/>
                      <p:nvPr/>
                    </p:nvPicPr>
                    <p:blipFill>
                      <a:blip r:embed="rId10"/>
                      <a:stretch>
                        <a:fillRect/>
                      </a:stretch>
                    </p:blipFill>
                    <p:spPr>
                      <a:xfrm>
                        <a:off x="2352483" y="5471681"/>
                        <a:ext cx="936625" cy="384175"/>
                      </a:xfrm>
                      <a:prstGeom prst="rect">
                        <a:avLst/>
                      </a:prstGeom>
                    </p:spPr>
                  </p:pic>
                </p:oleObj>
              </mc:Fallback>
            </mc:AlternateContent>
          </a:graphicData>
        </a:graphic>
      </p:graphicFrame>
      <p:pic>
        <p:nvPicPr>
          <p:cNvPr id="1238" name="Picture 214" descr="https://gss3.bdstatic.com/-Po3dSag_xI4khGkpoWK1HF6hhy/baike/c0%3Dbaike72%2C5%2C5%2C72%2C24/sign=d26d4854f503738dca470470d272db34/ac345982b2b7d0a267983369c8ef76094a369af4.jpg"/>
          <p:cNvPicPr>
            <a:picLocks noChangeAspect="1" noChangeArrowheads="1"/>
          </p:cNvPicPr>
          <p:nvPr/>
        </p:nvPicPr>
        <p:blipFill rotWithShape="1">
          <a:blip r:embed="rId11">
            <a:extLst>
              <a:ext uri="{28A0092B-C50C-407E-A947-70E740481C1C}">
                <a14:useLocalDpi xmlns:a14="http://schemas.microsoft.com/office/drawing/2010/main" val="0"/>
              </a:ext>
            </a:extLst>
          </a:blip>
          <a:srcRect l="14347" t="4835" r="24141" b="14883"/>
          <a:stretch>
            <a:fillRect/>
          </a:stretch>
        </p:blipFill>
        <p:spPr bwMode="auto">
          <a:xfrm>
            <a:off x="6616962" y="4437112"/>
            <a:ext cx="2491542" cy="1928937"/>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txBox="1"/>
          <p:nvPr/>
        </p:nvSpPr>
        <p:spPr bwMode="auto">
          <a:xfrm>
            <a:off x="715517" y="5782302"/>
            <a:ext cx="5934608" cy="139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lvl="1">
              <a:lnSpc>
                <a:spcPct val="100000"/>
              </a:lnSpc>
            </a:pPr>
            <a:r>
              <a:rPr lang="zh-CN" altLang="en-US" kern="0" dirty="0" smtClean="0"/>
              <a:t>信息增益以信息熵为基础，计算当前划分对信息熵造成的变化</a:t>
            </a:r>
            <a:endParaRPr lang="en-US" altLang="zh-CN" kern="0" dirty="0" smtClean="0"/>
          </a:p>
          <a:p>
            <a:pPr lvl="1">
              <a:lnSpc>
                <a:spcPct val="100000"/>
              </a:lnSpc>
            </a:pPr>
            <a:endParaRPr lang="zh-CN" altLang="en-US" kern="0" dirty="0" smtClean="0">
              <a:latin typeface="+mn-ea"/>
            </a:endParaRPr>
          </a:p>
          <a:p>
            <a:pPr lvl="3">
              <a:lnSpc>
                <a:spcPct val="100000"/>
              </a:lnSpc>
            </a:pPr>
            <a:endParaRPr lang="zh-CN" altLang="en-US" kern="0" dirty="0"/>
          </a:p>
        </p:txBody>
      </p:sp>
    </p:spTree>
  </p:cSld>
  <p:clrMapOvr>
    <a:masterClrMapping/>
  </p:clrMapOvr>
  <p:transition>
    <p:cover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信息增益</a:t>
            </a:r>
            <a:endParaRPr lang="zh-CN" altLang="en-US" dirty="0"/>
          </a:p>
          <a:p>
            <a:pPr lvl="2"/>
            <a:r>
              <a:rPr lang="zh-CN" altLang="en-US" dirty="0" smtClean="0">
                <a:latin typeface="+mn-ea"/>
              </a:rPr>
              <a:t>设离散属性</a:t>
            </a:r>
            <a:r>
              <a:rPr lang="en-US" altLang="zh-CN" dirty="0" smtClean="0">
                <a:latin typeface="+mn-ea"/>
              </a:rPr>
              <a:t>a</a:t>
            </a:r>
            <a:r>
              <a:rPr lang="zh-CN" altLang="en-US" dirty="0" smtClean="0">
                <a:latin typeface="+mn-ea"/>
              </a:rPr>
              <a:t>有</a:t>
            </a:r>
            <a:r>
              <a:rPr lang="en-US" altLang="zh-CN" dirty="0">
                <a:latin typeface="+mn-ea"/>
              </a:rPr>
              <a:t>V</a:t>
            </a:r>
            <a:r>
              <a:rPr lang="zh-CN" altLang="en-US" dirty="0">
                <a:latin typeface="+mn-ea"/>
              </a:rPr>
              <a:t>个可能的</a:t>
            </a:r>
            <a:r>
              <a:rPr lang="zh-CN" altLang="en-US" dirty="0" smtClean="0">
                <a:latin typeface="+mn-ea"/>
              </a:rPr>
              <a:t>取值                     </a:t>
            </a:r>
            <a:endParaRPr lang="en-US" altLang="zh-CN" dirty="0" smtClean="0">
              <a:latin typeface="+mn-ea"/>
            </a:endParaRPr>
          </a:p>
          <a:p>
            <a:pPr lvl="2"/>
            <a:r>
              <a:rPr lang="zh-CN" altLang="en-US" dirty="0" smtClean="0">
                <a:latin typeface="+mn-ea"/>
              </a:rPr>
              <a:t>用</a:t>
            </a:r>
            <a:r>
              <a:rPr lang="en-US" altLang="zh-CN" dirty="0" smtClean="0">
                <a:latin typeface="+mn-ea"/>
              </a:rPr>
              <a:t>a</a:t>
            </a:r>
            <a:r>
              <a:rPr lang="zh-CN" altLang="en-US" dirty="0" smtClean="0">
                <a:latin typeface="+mn-ea"/>
              </a:rPr>
              <a:t>划分样本集</a:t>
            </a:r>
            <a:r>
              <a:rPr lang="en-US" altLang="zh-CN" dirty="0" smtClean="0">
                <a:latin typeface="+mn-ea"/>
              </a:rPr>
              <a:t>D</a:t>
            </a:r>
            <a:r>
              <a:rPr lang="zh-CN" altLang="en-US" dirty="0" smtClean="0">
                <a:latin typeface="+mn-ea"/>
              </a:rPr>
              <a:t>，会产生</a:t>
            </a:r>
            <a:r>
              <a:rPr lang="en-US" altLang="zh-CN" dirty="0" smtClean="0">
                <a:latin typeface="+mn-ea"/>
              </a:rPr>
              <a:t>V</a:t>
            </a:r>
            <a:r>
              <a:rPr lang="zh-CN" altLang="en-US" dirty="0" smtClean="0">
                <a:latin typeface="+mn-ea"/>
              </a:rPr>
              <a:t>个</a:t>
            </a:r>
            <a:r>
              <a:rPr lang="zh-CN" altLang="en-US" dirty="0">
                <a:latin typeface="+mn-ea"/>
              </a:rPr>
              <a:t>分支结点</a:t>
            </a:r>
            <a:r>
              <a:rPr lang="zh-CN" altLang="en-US" dirty="0" smtClean="0">
                <a:latin typeface="+mn-ea"/>
              </a:rPr>
              <a:t>，第</a:t>
            </a:r>
            <a:r>
              <a:rPr lang="en-US" altLang="zh-CN" dirty="0">
                <a:latin typeface="+mn-ea"/>
              </a:rPr>
              <a:t>v</a:t>
            </a:r>
            <a:r>
              <a:rPr lang="zh-CN" altLang="en-US" dirty="0" smtClean="0">
                <a:latin typeface="+mn-ea"/>
              </a:rPr>
              <a:t>个分支</a:t>
            </a:r>
            <a:r>
              <a:rPr lang="zh-CN" altLang="en-US" dirty="0">
                <a:latin typeface="+mn-ea"/>
              </a:rPr>
              <a:t>结点</a:t>
            </a:r>
            <a:r>
              <a:rPr lang="zh-CN" altLang="en-US" dirty="0" smtClean="0">
                <a:latin typeface="+mn-ea"/>
              </a:rPr>
              <a:t>包含属性</a:t>
            </a:r>
            <a:r>
              <a:rPr lang="en-US" altLang="zh-CN" dirty="0" smtClean="0">
                <a:latin typeface="+mn-ea"/>
              </a:rPr>
              <a:t>a</a:t>
            </a:r>
            <a:r>
              <a:rPr lang="zh-CN" altLang="en-US" dirty="0" smtClean="0">
                <a:latin typeface="+mn-ea"/>
              </a:rPr>
              <a:t>取值为   的</a:t>
            </a:r>
            <a:r>
              <a:rPr lang="zh-CN" altLang="en-US" dirty="0">
                <a:latin typeface="+mn-ea"/>
              </a:rPr>
              <a:t>样本，记</a:t>
            </a:r>
            <a:r>
              <a:rPr lang="zh-CN" altLang="en-US" dirty="0" smtClean="0">
                <a:latin typeface="+mn-ea"/>
              </a:rPr>
              <a:t>为</a:t>
            </a:r>
            <a:endParaRPr lang="en-US" altLang="zh-CN" dirty="0" smtClean="0">
              <a:latin typeface="+mn-ea"/>
            </a:endParaRPr>
          </a:p>
          <a:p>
            <a:pPr lvl="2"/>
            <a:r>
              <a:rPr lang="zh-CN" altLang="en-US" dirty="0" smtClean="0">
                <a:latin typeface="+mn-ea"/>
              </a:rPr>
              <a:t>不同分支</a:t>
            </a:r>
            <a:r>
              <a:rPr lang="zh-CN" altLang="en-US" dirty="0">
                <a:latin typeface="+mn-ea"/>
              </a:rPr>
              <a:t>结点所包含的样本数不同</a:t>
            </a:r>
            <a:r>
              <a:rPr lang="zh-CN" altLang="en-US" dirty="0" smtClean="0">
                <a:latin typeface="+mn-ea"/>
              </a:rPr>
              <a:t>，影响不同，给</a:t>
            </a:r>
            <a:r>
              <a:rPr lang="zh-CN" altLang="en-US" dirty="0">
                <a:latin typeface="+mn-ea"/>
              </a:rPr>
              <a:t>分支结点赋予</a:t>
            </a:r>
            <a:r>
              <a:rPr lang="zh-CN" altLang="en-US" dirty="0" smtClean="0">
                <a:latin typeface="+mn-ea"/>
              </a:rPr>
              <a:t>权重</a:t>
            </a:r>
            <a:endParaRPr lang="en-US" altLang="zh-CN" dirty="0" smtClean="0">
              <a:latin typeface="+mn-ea"/>
            </a:endParaRPr>
          </a:p>
          <a:p>
            <a:pPr lvl="2"/>
            <a:r>
              <a:rPr lang="zh-CN" altLang="en-US" dirty="0">
                <a:latin typeface="+mn-ea"/>
              </a:rPr>
              <a:t>于是</a:t>
            </a:r>
            <a:r>
              <a:rPr lang="zh-CN" altLang="en-US" dirty="0" smtClean="0">
                <a:latin typeface="+mn-ea"/>
              </a:rPr>
              <a:t>可得属性</a:t>
            </a:r>
            <a:r>
              <a:rPr lang="en-US" altLang="zh-CN" dirty="0" smtClean="0">
                <a:latin typeface="+mn-ea"/>
              </a:rPr>
              <a:t>a</a:t>
            </a:r>
            <a:r>
              <a:rPr lang="zh-CN" altLang="en-US" dirty="0" smtClean="0">
                <a:latin typeface="+mn-ea"/>
              </a:rPr>
              <a:t>划分样本集</a:t>
            </a:r>
            <a:r>
              <a:rPr lang="en-US" altLang="zh-CN" dirty="0" smtClean="0">
                <a:latin typeface="+mn-ea"/>
              </a:rPr>
              <a:t>D</a:t>
            </a:r>
            <a:r>
              <a:rPr lang="zh-CN" altLang="en-US" dirty="0" smtClean="0">
                <a:latin typeface="+mn-ea"/>
              </a:rPr>
              <a:t>的信息增益</a:t>
            </a:r>
            <a:endParaRPr lang="en-US" altLang="zh-CN" dirty="0" smtClean="0">
              <a:latin typeface="+mn-ea"/>
            </a:endParaRPr>
          </a:p>
          <a:p>
            <a:pPr lvl="2"/>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5868144" y="1772816"/>
          <a:ext cx="1877830" cy="468000"/>
        </p:xfrm>
        <a:graphic>
          <a:graphicData uri="http://schemas.openxmlformats.org/presentationml/2006/ole">
            <mc:AlternateContent xmlns:mc="http://schemas.openxmlformats.org/markup-compatibility/2006">
              <mc:Choice xmlns:v="urn:schemas-microsoft-com:vml" Requires="v">
                <p:oleObj spid="_x0000_s2398" name="Equation" r:id="rId1" imgW="20726400" imgH="5181600" progId="Equation.DSMT4">
                  <p:embed/>
                </p:oleObj>
              </mc:Choice>
              <mc:Fallback>
                <p:oleObj name="Equation" r:id="rId1" imgW="20726400" imgH="5181600" progId="Equation.DSMT4">
                  <p:embed/>
                  <p:pic>
                    <p:nvPicPr>
                      <p:cNvPr id="0" name="图片 2397"/>
                      <p:cNvPicPr/>
                      <p:nvPr/>
                    </p:nvPicPr>
                    <p:blipFill>
                      <a:blip r:embed="rId2"/>
                      <a:stretch>
                        <a:fillRect/>
                      </a:stretch>
                    </p:blipFill>
                    <p:spPr>
                      <a:xfrm>
                        <a:off x="5868144" y="1772816"/>
                        <a:ext cx="1877830" cy="468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148064" y="2456944"/>
          <a:ext cx="436691" cy="468000"/>
        </p:xfrm>
        <a:graphic>
          <a:graphicData uri="http://schemas.openxmlformats.org/presentationml/2006/ole">
            <mc:AlternateContent xmlns:mc="http://schemas.openxmlformats.org/markup-compatibility/2006">
              <mc:Choice xmlns:v="urn:schemas-microsoft-com:vml" Requires="v">
                <p:oleObj spid="_x0000_s2399" name="Equation" r:id="rId3" imgW="4267200" imgH="4572000" progId="Equation.DSMT4">
                  <p:embed/>
                </p:oleObj>
              </mc:Choice>
              <mc:Fallback>
                <p:oleObj name="Equation" r:id="rId3" imgW="4267200" imgH="4572000" progId="Equation.DSMT4">
                  <p:embed/>
                  <p:pic>
                    <p:nvPicPr>
                      <p:cNvPr id="0" name="图片 2398"/>
                      <p:cNvPicPr/>
                      <p:nvPr/>
                    </p:nvPicPr>
                    <p:blipFill>
                      <a:blip r:embed="rId4"/>
                      <a:stretch>
                        <a:fillRect/>
                      </a:stretch>
                    </p:blipFill>
                    <p:spPr>
                      <a:xfrm>
                        <a:off x="5148064" y="2456944"/>
                        <a:ext cx="436691" cy="468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7452320" y="2492896"/>
          <a:ext cx="442912" cy="390525"/>
        </p:xfrm>
        <a:graphic>
          <a:graphicData uri="http://schemas.openxmlformats.org/presentationml/2006/ole">
            <mc:AlternateContent xmlns:mc="http://schemas.openxmlformats.org/markup-compatibility/2006">
              <mc:Choice xmlns:v="urn:schemas-microsoft-com:vml" Requires="v">
                <p:oleObj spid="_x0000_s2400" name="Equation" r:id="rId5" imgW="5181600" imgH="4572000" progId="Equation.DSMT4">
                  <p:embed/>
                </p:oleObj>
              </mc:Choice>
              <mc:Fallback>
                <p:oleObj name="Equation" r:id="rId5" imgW="5181600" imgH="4572000" progId="Equation.DSMT4">
                  <p:embed/>
                  <p:pic>
                    <p:nvPicPr>
                      <p:cNvPr id="0" name="图片 2399"/>
                      <p:cNvPicPr/>
                      <p:nvPr/>
                    </p:nvPicPr>
                    <p:blipFill>
                      <a:blip r:embed="rId6"/>
                      <a:stretch>
                        <a:fillRect/>
                      </a:stretch>
                    </p:blipFill>
                    <p:spPr>
                      <a:xfrm>
                        <a:off x="7452320" y="2492896"/>
                        <a:ext cx="442912" cy="39052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800451" y="3212976"/>
          <a:ext cx="1355725" cy="468313"/>
        </p:xfrm>
        <a:graphic>
          <a:graphicData uri="http://schemas.openxmlformats.org/presentationml/2006/ole">
            <mc:AlternateContent xmlns:mc="http://schemas.openxmlformats.org/markup-compatibility/2006">
              <mc:Choice xmlns:v="urn:schemas-microsoft-com:vml" Requires="v">
                <p:oleObj spid="_x0000_s2401" name="Equation" r:id="rId7" imgW="15849600" imgH="5486400" progId="Equation.DSMT4">
                  <p:embed/>
                </p:oleObj>
              </mc:Choice>
              <mc:Fallback>
                <p:oleObj name="Equation" r:id="rId7" imgW="15849600" imgH="5486400" progId="Equation.DSMT4">
                  <p:embed/>
                  <p:pic>
                    <p:nvPicPr>
                      <p:cNvPr id="0" name="图片 2400"/>
                      <p:cNvPicPr/>
                      <p:nvPr/>
                    </p:nvPicPr>
                    <p:blipFill>
                      <a:blip r:embed="rId8"/>
                      <a:stretch>
                        <a:fillRect/>
                      </a:stretch>
                    </p:blipFill>
                    <p:spPr>
                      <a:xfrm>
                        <a:off x="4800451" y="3212976"/>
                        <a:ext cx="1355725" cy="468313"/>
                      </a:xfrm>
                      <a:prstGeom prst="rect">
                        <a:avLst/>
                      </a:prstGeom>
                    </p:spPr>
                  </p:pic>
                </p:oleObj>
              </mc:Fallback>
            </mc:AlternateContent>
          </a:graphicData>
        </a:graphic>
      </p:graphicFrame>
      <p:pic>
        <p:nvPicPr>
          <p:cNvPr id="9" name="图片 8"/>
          <p:cNvPicPr>
            <a:picLocks noChangeAspect="1"/>
          </p:cNvPicPr>
          <p:nvPr/>
        </p:nvPicPr>
        <p:blipFill>
          <a:blip r:embed="rId9"/>
          <a:stretch>
            <a:fillRect/>
          </a:stretch>
        </p:blipFill>
        <p:spPr>
          <a:xfrm>
            <a:off x="2051720" y="4005064"/>
            <a:ext cx="5135656" cy="2726233"/>
          </a:xfrm>
          <a:prstGeom prst="rect">
            <a:avLst/>
          </a:prstGeom>
        </p:spPr>
      </p:pic>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a:t>
            </a:r>
            <a:r>
              <a:rPr lang="zh-CN" altLang="en-US" dirty="0" smtClean="0"/>
              <a:t>增益</a:t>
            </a:r>
            <a:endParaRPr lang="en-US" altLang="zh-CN" dirty="0" smtClean="0"/>
          </a:p>
          <a:p>
            <a:pPr lvl="2"/>
            <a:r>
              <a:rPr lang="zh-CN" altLang="en-US" dirty="0" smtClean="0"/>
              <a:t>一般信息</a:t>
            </a:r>
            <a:r>
              <a:rPr lang="zh-CN" altLang="en-US" dirty="0"/>
              <a:t>增益越大</a:t>
            </a:r>
            <a:r>
              <a:rPr lang="zh-CN" altLang="en-US" dirty="0" smtClean="0"/>
              <a:t>，</a:t>
            </a:r>
            <a:r>
              <a:rPr lang="zh-CN" altLang="en-US" dirty="0" smtClean="0">
                <a:latin typeface="+mn-ea"/>
              </a:rPr>
              <a:t>使用</a:t>
            </a:r>
            <a:r>
              <a:rPr lang="zh-CN" altLang="en-US" dirty="0">
                <a:latin typeface="+mn-ea"/>
              </a:rPr>
              <a:t>属性</a:t>
            </a:r>
            <a:r>
              <a:rPr lang="en-US" altLang="zh-CN" dirty="0" smtClean="0">
                <a:latin typeface="+mn-ea"/>
              </a:rPr>
              <a:t>a</a:t>
            </a:r>
            <a:r>
              <a:rPr lang="zh-CN" altLang="en-US" dirty="0" smtClean="0">
                <a:latin typeface="+mn-ea"/>
              </a:rPr>
              <a:t>进行划分</a:t>
            </a:r>
            <a:r>
              <a:rPr lang="zh-CN" altLang="en-US" dirty="0" smtClean="0"/>
              <a:t>获得的纯度提升越大</a:t>
            </a:r>
            <a:endParaRPr lang="en-US" altLang="zh-CN" dirty="0" smtClean="0"/>
          </a:p>
          <a:p>
            <a:pPr lvl="2"/>
            <a:r>
              <a:rPr lang="zh-CN" altLang="en-US" dirty="0" smtClean="0"/>
              <a:t>可用</a:t>
            </a:r>
            <a:r>
              <a:rPr lang="zh-CN" altLang="en-US" dirty="0"/>
              <a:t>信息</a:t>
            </a:r>
            <a:r>
              <a:rPr lang="zh-CN" altLang="en-US" dirty="0" smtClean="0"/>
              <a:t>增益进行</a:t>
            </a:r>
            <a:r>
              <a:rPr lang="zh-CN" altLang="en-US" dirty="0"/>
              <a:t>决策树的划分属性选择</a:t>
            </a:r>
            <a:r>
              <a:rPr lang="zh-CN" altLang="en-US" dirty="0" smtClean="0"/>
              <a:t>，即</a:t>
            </a:r>
            <a:endParaRPr lang="zh-CN" altLang="en-US" dirty="0"/>
          </a:p>
          <a:p>
            <a:endParaRPr lang="en-US" altLang="zh-CN" dirty="0" smtClean="0"/>
          </a:p>
          <a:p>
            <a:pPr lvl="3">
              <a:spcBef>
                <a:spcPts val="1200"/>
              </a:spcBef>
            </a:pPr>
            <a:endParaRPr lang="en-US" altLang="zh-CN" dirty="0" smtClean="0">
              <a:latin typeface="+mn-ea"/>
            </a:endParaRPr>
          </a:p>
          <a:p>
            <a:pPr lvl="3">
              <a:spcBef>
                <a:spcPts val="1200"/>
              </a:spcBef>
            </a:pPr>
            <a:r>
              <a:rPr lang="zh-CN" altLang="en-US" dirty="0" smtClean="0">
                <a:latin typeface="+mn-ea"/>
              </a:rPr>
              <a:t>在</a:t>
            </a:r>
            <a:r>
              <a:rPr lang="en-US" altLang="zh-CN" dirty="0" smtClean="0">
                <a:latin typeface="+mn-ea"/>
              </a:rPr>
              <a:t>ID3</a:t>
            </a:r>
            <a:r>
              <a:rPr lang="zh-CN" altLang="en-US" dirty="0">
                <a:latin typeface="+mn-ea"/>
              </a:rPr>
              <a:t>决策树学习</a:t>
            </a:r>
            <a:r>
              <a:rPr lang="zh-CN" altLang="en-US" dirty="0" smtClean="0">
                <a:latin typeface="+mn-ea"/>
              </a:rPr>
              <a:t>算法中使用</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203848" y="3140968"/>
          <a:ext cx="3051175" cy="623888"/>
        </p:xfrm>
        <a:graphic>
          <a:graphicData uri="http://schemas.openxmlformats.org/presentationml/2006/ole">
            <mc:AlternateContent xmlns:mc="http://schemas.openxmlformats.org/markup-compatibility/2006">
              <mc:Choice xmlns:v="urn:schemas-microsoft-com:vml" Requires="v">
                <p:oleObj spid="_x0000_s3161" name="Equation" r:id="rId1" imgW="35661600" imgH="7315200" progId="Equation.DSMT4">
                  <p:embed/>
                </p:oleObj>
              </mc:Choice>
              <mc:Fallback>
                <p:oleObj name="Equation" r:id="rId1" imgW="35661600" imgH="7315200" progId="Equation.DSMT4">
                  <p:embed/>
                  <p:pic>
                    <p:nvPicPr>
                      <p:cNvPr id="0" name="图片 3160"/>
                      <p:cNvPicPr/>
                      <p:nvPr/>
                    </p:nvPicPr>
                    <p:blipFill>
                      <a:blip r:embed="rId2"/>
                      <a:stretch>
                        <a:fillRect/>
                      </a:stretch>
                    </p:blipFill>
                    <p:spPr>
                      <a:xfrm>
                        <a:off x="3203848" y="3140968"/>
                        <a:ext cx="3051175" cy="623888"/>
                      </a:xfrm>
                      <a:prstGeom prst="rect">
                        <a:avLst/>
                      </a:prstGeom>
                    </p:spPr>
                  </p:pic>
                </p:oleObj>
              </mc:Fallback>
            </mc:AlternateContent>
          </a:graphicData>
        </a:graphic>
      </p:graphicFrame>
    </p:spTree>
  </p:cSld>
  <p:clrMapOvr>
    <a:masterClrMapping/>
  </p:clrMapOvr>
  <p:transition>
    <p:cover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187831" y="1196752"/>
            <a:ext cx="7776657" cy="5437328"/>
            <a:chOff x="-3060848" y="1135683"/>
            <a:chExt cx="7776657" cy="5437328"/>
          </a:xfrm>
        </p:grpSpPr>
        <p:pic>
          <p:nvPicPr>
            <p:cNvPr id="5" name="图片 4"/>
            <p:cNvPicPr>
              <a:picLocks noChangeAspect="1"/>
            </p:cNvPicPr>
            <p:nvPr/>
          </p:nvPicPr>
          <p:blipFill>
            <a:blip r:embed="rId1"/>
            <a:stretch>
              <a:fillRect/>
            </a:stretch>
          </p:blipFill>
          <p:spPr>
            <a:xfrm>
              <a:off x="-3000337" y="1135683"/>
              <a:ext cx="7716146" cy="5437328"/>
            </a:xfrm>
            <a:prstGeom prst="rect">
              <a:avLst/>
            </a:prstGeom>
          </p:spPr>
        </p:pic>
        <p:sp>
          <p:nvSpPr>
            <p:cNvPr id="6" name="矩形 5"/>
            <p:cNvSpPr/>
            <p:nvPr/>
          </p:nvSpPr>
          <p:spPr bwMode="auto">
            <a:xfrm>
              <a:off x="-3060848" y="1196752"/>
              <a:ext cx="2232248" cy="792088"/>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a:xfrm>
            <a:off x="683568" y="836712"/>
            <a:ext cx="7704856" cy="4690864"/>
          </a:xfrm>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a:t>
            </a:r>
            <a:r>
              <a:rPr lang="zh-CN" altLang="en-US" dirty="0" smtClean="0"/>
              <a:t>增益</a:t>
            </a:r>
            <a:endParaRPr lang="en-US" altLang="zh-CN" dirty="0" smtClean="0"/>
          </a:p>
          <a:p>
            <a:pPr lvl="2"/>
            <a:r>
              <a:rPr lang="zh-CN" altLang="en-US" dirty="0" smtClean="0"/>
              <a:t>例子</a:t>
            </a:r>
            <a:endParaRPr lang="en-US" altLang="zh-CN" dirty="0" smtClean="0"/>
          </a:p>
          <a:p>
            <a:pPr lvl="3"/>
            <a:r>
              <a:rPr lang="zh-CN" altLang="en-US" dirty="0" smtClean="0"/>
              <a:t>计算根结点</a:t>
            </a:r>
            <a:endParaRPr lang="en-US" altLang="zh-CN" dirty="0" smtClean="0"/>
          </a:p>
          <a:p>
            <a:pPr marL="1371600" lvl="3" indent="0">
              <a:buNone/>
            </a:pPr>
            <a:r>
              <a:rPr lang="en-US" altLang="zh-CN" dirty="0"/>
              <a:t> </a:t>
            </a:r>
            <a:r>
              <a:rPr lang="en-US" altLang="zh-CN" dirty="0" smtClean="0"/>
              <a:t>  </a:t>
            </a:r>
            <a:r>
              <a:rPr lang="zh-CN" altLang="en-US" dirty="0" smtClean="0"/>
              <a:t>的信息熵</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信息增益</a:t>
            </a:r>
            <a:endParaRPr lang="en-US" altLang="zh-CN" dirty="0"/>
          </a:p>
          <a:p>
            <a:pPr lvl="2"/>
            <a:r>
              <a:rPr lang="zh-CN" altLang="en-US" dirty="0" smtClean="0"/>
              <a:t>例子</a:t>
            </a:r>
            <a:endParaRPr lang="en-US" altLang="zh-CN" dirty="0" smtClean="0"/>
          </a:p>
          <a:p>
            <a:pPr lvl="3" hangingPunct="0"/>
            <a:r>
              <a:rPr lang="zh-CN" altLang="en-US" dirty="0" smtClean="0">
                <a:latin typeface="+mn-ea"/>
              </a:rPr>
              <a:t>计算当前</a:t>
            </a:r>
            <a:r>
              <a:rPr lang="zh-CN" altLang="en-US" dirty="0">
                <a:latin typeface="+mn-ea"/>
              </a:rPr>
              <a:t>属性集合</a:t>
            </a:r>
            <a:r>
              <a:rPr lang="en-US" altLang="zh-CN" dirty="0">
                <a:latin typeface="+mn-ea"/>
              </a:rPr>
              <a:t>{</a:t>
            </a:r>
            <a:r>
              <a:rPr lang="zh-CN" altLang="en-US" dirty="0">
                <a:latin typeface="+mn-ea"/>
              </a:rPr>
              <a:t>色泽，根蒂，敲声，纹理，脐部，触感</a:t>
            </a:r>
            <a:r>
              <a:rPr lang="en-US" altLang="zh-CN" dirty="0">
                <a:latin typeface="+mn-ea"/>
              </a:rPr>
              <a:t>}</a:t>
            </a:r>
            <a:r>
              <a:rPr lang="zh-CN" altLang="en-US" dirty="0">
                <a:latin typeface="+mn-ea"/>
              </a:rPr>
              <a:t>中每个属性的信息增益</a:t>
            </a:r>
            <a:endParaRPr lang="en-US" altLang="zh-CN" dirty="0" smtClean="0">
              <a:latin typeface="+mn-ea"/>
            </a:endParaRPr>
          </a:p>
          <a:p>
            <a:pPr lvl="4"/>
            <a:r>
              <a:rPr lang="zh-CN" altLang="en-US" dirty="0" smtClean="0"/>
              <a:t>属性色泽</a:t>
            </a:r>
            <a:r>
              <a:rPr lang="zh-CN" altLang="en-US" dirty="0" smtClean="0">
                <a:latin typeface="+mn-ea"/>
              </a:rPr>
              <a:t>对应</a:t>
            </a:r>
            <a:r>
              <a:rPr lang="en-US" altLang="zh-CN" dirty="0" smtClean="0">
                <a:latin typeface="+mn-ea"/>
              </a:rPr>
              <a:t>3</a:t>
            </a:r>
            <a:r>
              <a:rPr lang="zh-CN" altLang="en-US" dirty="0" smtClean="0">
                <a:latin typeface="+mn-ea"/>
              </a:rPr>
              <a:t>个数据子集， </a:t>
            </a:r>
            <a:r>
              <a:rPr lang="en-US" altLang="zh-CN" dirty="0" smtClean="0">
                <a:latin typeface="+mn-ea"/>
              </a:rPr>
              <a:t>(</a:t>
            </a:r>
            <a:r>
              <a:rPr lang="zh-CN" altLang="en-US" dirty="0" smtClean="0">
                <a:latin typeface="+mn-ea"/>
              </a:rPr>
              <a:t>色泽</a:t>
            </a:r>
            <a:r>
              <a:rPr lang="en-US" altLang="zh-CN" dirty="0" smtClean="0">
                <a:latin typeface="+mn-ea"/>
              </a:rPr>
              <a:t>=</a:t>
            </a:r>
            <a:r>
              <a:rPr lang="zh-CN" altLang="en-US" dirty="0" smtClean="0">
                <a:latin typeface="+mn-ea"/>
              </a:rPr>
              <a:t>青绿</a:t>
            </a:r>
            <a:r>
              <a:rPr lang="en-US" altLang="zh-CN" dirty="0" smtClean="0">
                <a:latin typeface="+mn-ea"/>
              </a:rPr>
              <a:t>)</a:t>
            </a:r>
            <a:r>
              <a:rPr lang="zh-CN" altLang="en-US" dirty="0" smtClean="0">
                <a:latin typeface="+mn-ea"/>
              </a:rPr>
              <a:t>，</a:t>
            </a:r>
            <a:r>
              <a:rPr lang="zh-CN" altLang="en-US" dirty="0" smtClean="0">
                <a:solidFill>
                  <a:schemeClr val="bg1"/>
                </a:solidFill>
                <a:latin typeface="+mn-ea"/>
              </a:rPr>
              <a:t>色</a:t>
            </a:r>
            <a:r>
              <a:rPr lang="en-US" altLang="zh-CN" dirty="0" smtClean="0">
                <a:latin typeface="+mn-ea"/>
              </a:rPr>
              <a:t>(</a:t>
            </a:r>
            <a:r>
              <a:rPr lang="zh-CN" altLang="en-US" dirty="0" smtClean="0">
                <a:latin typeface="+mn-ea"/>
              </a:rPr>
              <a:t>色泽</a:t>
            </a:r>
            <a:r>
              <a:rPr lang="en-US" altLang="zh-CN" dirty="0" smtClean="0">
                <a:latin typeface="+mn-ea"/>
              </a:rPr>
              <a:t>=</a:t>
            </a:r>
            <a:r>
              <a:rPr lang="zh-CN" altLang="en-US" dirty="0" smtClean="0">
                <a:latin typeface="+mn-ea"/>
              </a:rPr>
              <a:t>乌黑</a:t>
            </a:r>
            <a:r>
              <a:rPr lang="en-US" altLang="zh-CN" dirty="0" smtClean="0">
                <a:latin typeface="+mn-ea"/>
              </a:rPr>
              <a:t>)</a:t>
            </a:r>
            <a:r>
              <a:rPr lang="zh-CN" altLang="en-US" dirty="0" smtClean="0">
                <a:latin typeface="+mn-ea"/>
              </a:rPr>
              <a:t>，  </a:t>
            </a:r>
            <a:r>
              <a:rPr lang="en-US" altLang="zh-CN" dirty="0" smtClean="0">
                <a:latin typeface="+mn-ea"/>
              </a:rPr>
              <a:t>(</a:t>
            </a:r>
            <a:r>
              <a:rPr lang="zh-CN" altLang="en-US" dirty="0" smtClean="0">
                <a:latin typeface="+mn-ea"/>
              </a:rPr>
              <a:t>色泽</a:t>
            </a:r>
            <a:r>
              <a:rPr lang="en-US" altLang="zh-CN" dirty="0" smtClean="0">
                <a:latin typeface="+mn-ea"/>
              </a:rPr>
              <a:t>=</a:t>
            </a:r>
            <a:r>
              <a:rPr lang="zh-CN" altLang="en-US" dirty="0" smtClean="0">
                <a:latin typeface="+mn-ea"/>
              </a:rPr>
              <a:t>浅白</a:t>
            </a:r>
            <a:r>
              <a:rPr lang="en-US" altLang="zh-CN" dirty="0" smtClean="0">
                <a:latin typeface="+mn-ea"/>
              </a:rPr>
              <a:t>)</a:t>
            </a:r>
            <a:endParaRPr lang="en-US" altLang="zh-CN" dirty="0">
              <a:latin typeface="+mn-ea"/>
            </a:endParaRPr>
          </a:p>
          <a:p>
            <a:pPr lvl="5"/>
            <a:r>
              <a:rPr lang="zh-CN" altLang="en-US" dirty="0" smtClean="0"/>
              <a:t>子集   包含</a:t>
            </a:r>
            <a:r>
              <a:rPr lang="en-US" altLang="zh-CN" dirty="0" smtClean="0">
                <a:latin typeface="+mn-ea"/>
              </a:rPr>
              <a:t>6</a:t>
            </a:r>
            <a:r>
              <a:rPr lang="zh-CN" altLang="en-US" dirty="0" smtClean="0">
                <a:latin typeface="+mn-ea"/>
              </a:rPr>
              <a:t>个</a:t>
            </a:r>
            <a:r>
              <a:rPr lang="zh-CN" altLang="en-US" dirty="0">
                <a:latin typeface="+mn-ea"/>
              </a:rPr>
              <a:t>样</a:t>
            </a:r>
            <a:r>
              <a:rPr lang="zh-CN" altLang="en-US" dirty="0"/>
              <a:t>例，其中正</a:t>
            </a:r>
            <a:r>
              <a:rPr lang="zh-CN" altLang="en-US" dirty="0" smtClean="0"/>
              <a:t>例            ，反例             ，          同理，</a:t>
            </a:r>
            <a:r>
              <a:rPr lang="en-US" altLang="zh-CN" dirty="0" smtClean="0">
                <a:latin typeface="+mn-ea"/>
              </a:rPr>
              <a:t>3</a:t>
            </a:r>
            <a:r>
              <a:rPr lang="zh-CN" altLang="en-US" dirty="0">
                <a:latin typeface="+mn-ea"/>
              </a:rPr>
              <a:t>个结点</a:t>
            </a:r>
            <a:r>
              <a:rPr lang="zh-CN" altLang="en-US" dirty="0"/>
              <a:t>的</a:t>
            </a:r>
            <a:r>
              <a:rPr lang="zh-CN" altLang="en-US" dirty="0" smtClean="0"/>
              <a:t>信息熵</a:t>
            </a:r>
            <a:endParaRPr lang="en-US" altLang="zh-CN" dirty="0" smtClean="0"/>
          </a:p>
          <a:p>
            <a:pPr lvl="5"/>
            <a:endParaRPr lang="en-US" altLang="zh-CN" dirty="0"/>
          </a:p>
          <a:p>
            <a:pPr lvl="5"/>
            <a:endParaRPr lang="en-US" altLang="zh-CN" dirty="0" smtClean="0"/>
          </a:p>
          <a:p>
            <a:pPr lvl="5"/>
            <a:endParaRPr lang="en-US" altLang="zh-CN" dirty="0"/>
          </a:p>
          <a:p>
            <a:pPr lvl="5"/>
            <a:r>
              <a:rPr lang="zh-CN" altLang="en-US" dirty="0" smtClean="0"/>
              <a:t>属性</a:t>
            </a:r>
            <a:r>
              <a:rPr lang="zh-CN" altLang="en-US" dirty="0"/>
              <a:t>“色泽”的信息增益为</a:t>
            </a:r>
            <a:endParaRPr lang="zh-CN" altLang="en-US" dirty="0"/>
          </a:p>
          <a:p>
            <a:pPr lvl="3"/>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6059330" y="2724418"/>
          <a:ext cx="360000" cy="336730"/>
        </p:xfrm>
        <a:graphic>
          <a:graphicData uri="http://schemas.openxmlformats.org/presentationml/2006/ole">
            <mc:AlternateContent xmlns:mc="http://schemas.openxmlformats.org/markup-compatibility/2006">
              <mc:Choice xmlns:v="urn:schemas-microsoft-com:vml" Requires="v">
                <p:oleObj spid="_x0000_s4909" name="Equation" r:id="rId1" imgW="4876800" imgH="4572000" progId="Equation.DSMT4">
                  <p:embed/>
                </p:oleObj>
              </mc:Choice>
              <mc:Fallback>
                <p:oleObj name="Equation" r:id="rId1" imgW="4876800" imgH="4572000" progId="Equation.DSMT4">
                  <p:embed/>
                  <p:pic>
                    <p:nvPicPr>
                      <p:cNvPr id="0" name="图片 4908"/>
                      <p:cNvPicPr/>
                      <p:nvPr/>
                    </p:nvPicPr>
                    <p:blipFill>
                      <a:blip r:embed="rId2"/>
                      <a:stretch>
                        <a:fillRect/>
                      </a:stretch>
                    </p:blipFill>
                    <p:spPr>
                      <a:xfrm>
                        <a:off x="6059330" y="2724418"/>
                        <a:ext cx="360000" cy="33673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8028384" y="2751541"/>
          <a:ext cx="360000" cy="317419"/>
        </p:xfrm>
        <a:graphic>
          <a:graphicData uri="http://schemas.openxmlformats.org/presentationml/2006/ole">
            <mc:AlternateContent xmlns:mc="http://schemas.openxmlformats.org/markup-compatibility/2006">
              <mc:Choice xmlns:v="urn:schemas-microsoft-com:vml" Requires="v">
                <p:oleObj spid="_x0000_s4910" name="Equation" r:id="rId3" imgW="5181600" imgH="4572000" progId="Equation.DSMT4">
                  <p:embed/>
                </p:oleObj>
              </mc:Choice>
              <mc:Fallback>
                <p:oleObj name="Equation" r:id="rId3" imgW="5181600" imgH="4572000" progId="Equation.DSMT4">
                  <p:embed/>
                  <p:pic>
                    <p:nvPicPr>
                      <p:cNvPr id="0" name="图片 4909"/>
                      <p:cNvPicPr/>
                      <p:nvPr/>
                    </p:nvPicPr>
                    <p:blipFill>
                      <a:blip r:embed="rId4"/>
                      <a:stretch>
                        <a:fillRect/>
                      </a:stretch>
                    </p:blipFill>
                    <p:spPr>
                      <a:xfrm>
                        <a:off x="8028384" y="2751541"/>
                        <a:ext cx="360000" cy="317419"/>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475154" y="3068960"/>
          <a:ext cx="360000" cy="317419"/>
        </p:xfrm>
        <a:graphic>
          <a:graphicData uri="http://schemas.openxmlformats.org/presentationml/2006/ole">
            <mc:AlternateContent xmlns:mc="http://schemas.openxmlformats.org/markup-compatibility/2006">
              <mc:Choice xmlns:v="urn:schemas-microsoft-com:vml" Requires="v">
                <p:oleObj spid="_x0000_s4911" name="Equation" r:id="rId5" imgW="5181600" imgH="4572000" progId="Equation.DSMT4">
                  <p:embed/>
                </p:oleObj>
              </mc:Choice>
              <mc:Fallback>
                <p:oleObj name="Equation" r:id="rId5" imgW="5181600" imgH="4572000" progId="Equation.DSMT4">
                  <p:embed/>
                  <p:pic>
                    <p:nvPicPr>
                      <p:cNvPr id="0" name="图片 4910"/>
                      <p:cNvPicPr/>
                      <p:nvPr/>
                    </p:nvPicPr>
                    <p:blipFill>
                      <a:blip r:embed="rId6"/>
                      <a:stretch>
                        <a:fillRect/>
                      </a:stretch>
                    </p:blipFill>
                    <p:spPr>
                      <a:xfrm>
                        <a:off x="4475154" y="3068960"/>
                        <a:ext cx="360000" cy="317419"/>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756775" y="3410319"/>
          <a:ext cx="360000" cy="336730"/>
        </p:xfrm>
        <a:graphic>
          <a:graphicData uri="http://schemas.openxmlformats.org/presentationml/2006/ole">
            <mc:AlternateContent xmlns:mc="http://schemas.openxmlformats.org/markup-compatibility/2006">
              <mc:Choice xmlns:v="urn:schemas-microsoft-com:vml" Requires="v">
                <p:oleObj spid="_x0000_s4912" name="Equation" r:id="rId7" imgW="4876800" imgH="4572000" progId="Equation.DSMT4">
                  <p:embed/>
                </p:oleObj>
              </mc:Choice>
              <mc:Fallback>
                <p:oleObj name="Equation" r:id="rId7" imgW="4876800" imgH="4572000" progId="Equation.DSMT4">
                  <p:embed/>
                  <p:pic>
                    <p:nvPicPr>
                      <p:cNvPr id="0" name="图片 4911"/>
                      <p:cNvPicPr/>
                      <p:nvPr/>
                    </p:nvPicPr>
                    <p:blipFill>
                      <a:blip r:embed="rId8"/>
                      <a:stretch>
                        <a:fillRect/>
                      </a:stretch>
                    </p:blipFill>
                    <p:spPr>
                      <a:xfrm>
                        <a:off x="3756775" y="3410319"/>
                        <a:ext cx="360000" cy="33673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660232" y="3433816"/>
          <a:ext cx="1016175" cy="396000"/>
        </p:xfrm>
        <a:graphic>
          <a:graphicData uri="http://schemas.openxmlformats.org/presentationml/2006/ole">
            <mc:AlternateContent xmlns:mc="http://schemas.openxmlformats.org/markup-compatibility/2006">
              <mc:Choice xmlns:v="urn:schemas-microsoft-com:vml" Requires="v">
                <p:oleObj spid="_x0000_s4913" name="Equation" r:id="rId9" imgW="14020800" imgH="5486400" progId="Equation.DSMT4">
                  <p:embed/>
                </p:oleObj>
              </mc:Choice>
              <mc:Fallback>
                <p:oleObj name="Equation" r:id="rId9" imgW="14020800" imgH="5486400" progId="Equation.DSMT4">
                  <p:embed/>
                  <p:pic>
                    <p:nvPicPr>
                      <p:cNvPr id="0" name="图片 4912"/>
                      <p:cNvPicPr/>
                      <p:nvPr/>
                    </p:nvPicPr>
                    <p:blipFill>
                      <a:blip r:embed="rId10"/>
                      <a:stretch>
                        <a:fillRect/>
                      </a:stretch>
                    </p:blipFill>
                    <p:spPr>
                      <a:xfrm>
                        <a:off x="6660232" y="3433816"/>
                        <a:ext cx="1016175" cy="396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564008" y="3729132"/>
          <a:ext cx="1080000" cy="411627"/>
        </p:xfrm>
        <a:graphic>
          <a:graphicData uri="http://schemas.openxmlformats.org/presentationml/2006/ole">
            <mc:AlternateContent xmlns:mc="http://schemas.openxmlformats.org/markup-compatibility/2006">
              <mc:Choice xmlns:v="urn:schemas-microsoft-com:vml" Requires="v">
                <p:oleObj spid="_x0000_s4914" name="Equation" r:id="rId11" imgW="14325600" imgH="5486400" progId="Equation.DSMT4">
                  <p:embed/>
                </p:oleObj>
              </mc:Choice>
              <mc:Fallback>
                <p:oleObj name="Equation" r:id="rId11" imgW="14325600" imgH="5486400" progId="Equation.DSMT4">
                  <p:embed/>
                  <p:pic>
                    <p:nvPicPr>
                      <p:cNvPr id="0" name="图片 4913"/>
                      <p:cNvPicPr/>
                      <p:nvPr/>
                    </p:nvPicPr>
                    <p:blipFill>
                      <a:blip r:embed="rId12"/>
                      <a:stretch>
                        <a:fillRect/>
                      </a:stretch>
                    </p:blipFill>
                    <p:spPr>
                      <a:xfrm>
                        <a:off x="3564008" y="3729132"/>
                        <a:ext cx="1080000" cy="41162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789861" y="3729133"/>
          <a:ext cx="900000" cy="351187"/>
        </p:xfrm>
        <a:graphic>
          <a:graphicData uri="http://schemas.openxmlformats.org/presentationml/2006/ole">
            <mc:AlternateContent xmlns:mc="http://schemas.openxmlformats.org/markup-compatibility/2006">
              <mc:Choice xmlns:v="urn:schemas-microsoft-com:vml" Requires="v">
                <p:oleObj spid="_x0000_s4915" name="Equation" r:id="rId13" imgW="12496800" imgH="4876800" progId="Equation.DSMT4">
                  <p:embed/>
                </p:oleObj>
              </mc:Choice>
              <mc:Fallback>
                <p:oleObj name="Equation" r:id="rId13" imgW="12496800" imgH="4876800" progId="Equation.DSMT4">
                  <p:embed/>
                  <p:pic>
                    <p:nvPicPr>
                      <p:cNvPr id="0" name="图片 4914"/>
                      <p:cNvPicPr/>
                      <p:nvPr/>
                    </p:nvPicPr>
                    <p:blipFill>
                      <a:blip r:embed="rId14"/>
                      <a:stretch>
                        <a:fillRect/>
                      </a:stretch>
                    </p:blipFill>
                    <p:spPr>
                      <a:xfrm>
                        <a:off x="4789861" y="3729133"/>
                        <a:ext cx="900000" cy="35118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537767" y="4113200"/>
          <a:ext cx="4274593" cy="1116000"/>
        </p:xfrm>
        <a:graphic>
          <a:graphicData uri="http://schemas.openxmlformats.org/presentationml/2006/ole">
            <mc:AlternateContent xmlns:mc="http://schemas.openxmlformats.org/markup-compatibility/2006">
              <mc:Choice xmlns:v="urn:schemas-microsoft-com:vml" Requires="v">
                <p:oleObj spid="_x0000_s4916" name="Equation" r:id="rId15" imgW="58216800" imgH="15240000" progId="Equation.DSMT4">
                  <p:embed/>
                </p:oleObj>
              </mc:Choice>
              <mc:Fallback>
                <p:oleObj name="Equation" r:id="rId15" imgW="58216800" imgH="15240000" progId="Equation.DSMT4">
                  <p:embed/>
                  <p:pic>
                    <p:nvPicPr>
                      <p:cNvPr id="0" name="图片 4915"/>
                      <p:cNvPicPr/>
                      <p:nvPr/>
                    </p:nvPicPr>
                    <p:blipFill>
                      <a:blip r:embed="rId16"/>
                      <a:stretch>
                        <a:fillRect/>
                      </a:stretch>
                    </p:blipFill>
                    <p:spPr>
                      <a:xfrm>
                        <a:off x="3537767" y="4113200"/>
                        <a:ext cx="4274593" cy="11160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808288" y="5517232"/>
          <a:ext cx="5257800" cy="719137"/>
        </p:xfrm>
        <a:graphic>
          <a:graphicData uri="http://schemas.openxmlformats.org/presentationml/2006/ole">
            <mc:AlternateContent xmlns:mc="http://schemas.openxmlformats.org/markup-compatibility/2006">
              <mc:Choice xmlns:v="urn:schemas-microsoft-com:vml" Requires="v">
                <p:oleObj spid="_x0000_s4917" name="Equation" r:id="rId17" imgW="75590400" imgH="10363200" progId="Equation.DSMT4">
                  <p:embed/>
                </p:oleObj>
              </mc:Choice>
              <mc:Fallback>
                <p:oleObj name="Equation" r:id="rId17" imgW="75590400" imgH="10363200" progId="Equation.DSMT4">
                  <p:embed/>
                  <p:pic>
                    <p:nvPicPr>
                      <p:cNvPr id="0" name="图片 4916"/>
                      <p:cNvPicPr/>
                      <p:nvPr/>
                    </p:nvPicPr>
                    <p:blipFill>
                      <a:blip r:embed="rId18"/>
                      <a:stretch>
                        <a:fillRect/>
                      </a:stretch>
                    </p:blipFill>
                    <p:spPr>
                      <a:xfrm>
                        <a:off x="2808288" y="5517232"/>
                        <a:ext cx="5257800" cy="719137"/>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信息增益</a:t>
            </a:r>
            <a:endParaRPr lang="en-US" altLang="zh-CN" dirty="0"/>
          </a:p>
          <a:p>
            <a:pPr lvl="2"/>
            <a:r>
              <a:rPr lang="zh-CN" altLang="en-US" dirty="0" smtClean="0"/>
              <a:t>例子</a:t>
            </a:r>
            <a:endParaRPr lang="en-US" altLang="zh-CN" dirty="0" smtClean="0"/>
          </a:p>
          <a:p>
            <a:pPr lvl="3"/>
            <a:r>
              <a:rPr lang="zh-CN" altLang="en-US" dirty="0" smtClean="0"/>
              <a:t>类似可得其他</a:t>
            </a:r>
            <a:r>
              <a:rPr lang="zh-CN" altLang="en-US" dirty="0"/>
              <a:t>属性的信息</a:t>
            </a:r>
            <a:r>
              <a:rPr lang="zh-CN" altLang="en-US" dirty="0" smtClean="0"/>
              <a:t>增益</a:t>
            </a:r>
            <a:endParaRPr lang="en-US" altLang="zh-CN" dirty="0" smtClean="0"/>
          </a:p>
          <a:p>
            <a:pPr lvl="3"/>
            <a:endParaRPr lang="en-US" altLang="zh-CN" dirty="0"/>
          </a:p>
          <a:p>
            <a:pPr lvl="3"/>
            <a:endParaRPr lang="en-US" altLang="zh-CN" dirty="0" smtClean="0"/>
          </a:p>
          <a:p>
            <a:pPr lvl="3"/>
            <a:endParaRPr lang="en-US" altLang="zh-CN" dirty="0"/>
          </a:p>
          <a:p>
            <a:pPr lvl="3"/>
            <a:endParaRPr lang="en-US" altLang="zh-CN" dirty="0" smtClean="0"/>
          </a:p>
          <a:p>
            <a:pPr lvl="3"/>
            <a:r>
              <a:rPr lang="zh-CN" altLang="en-US" dirty="0" smtClean="0"/>
              <a:t>属性纹理的</a:t>
            </a:r>
            <a:r>
              <a:rPr lang="zh-CN" altLang="en-US" dirty="0"/>
              <a:t>信息增益最大</a:t>
            </a:r>
            <a:r>
              <a:rPr lang="zh-CN" altLang="en-US" dirty="0" smtClean="0"/>
              <a:t>，被</a:t>
            </a:r>
            <a:r>
              <a:rPr lang="zh-CN" altLang="en-US" dirty="0"/>
              <a:t>选为划分</a:t>
            </a:r>
            <a:r>
              <a:rPr lang="zh-CN" altLang="en-US" dirty="0" smtClean="0"/>
              <a:t>属性</a:t>
            </a:r>
            <a:endParaRPr lang="en-US" altLang="zh-CN" dirty="0" smtClean="0"/>
          </a:p>
          <a:p>
            <a:pPr lvl="3"/>
            <a:r>
              <a:rPr lang="zh-CN" altLang="en-US" dirty="0" smtClean="0"/>
              <a:t>然后决策树</a:t>
            </a:r>
            <a:r>
              <a:rPr lang="zh-CN" altLang="en-US" dirty="0"/>
              <a:t>学习算法将对每个分支结点做进一步划分</a:t>
            </a:r>
            <a:endParaRPr lang="zh-CN" altLang="en-US" dirty="0"/>
          </a:p>
          <a:p>
            <a:pPr lvl="3"/>
            <a:endParaRPr lang="zh-CN" altLang="en-US" dirty="0"/>
          </a:p>
          <a:p>
            <a:pPr lvl="3"/>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411760" y="2601016"/>
          <a:ext cx="5079241" cy="972000"/>
        </p:xfrm>
        <a:graphic>
          <a:graphicData uri="http://schemas.openxmlformats.org/presentationml/2006/ole">
            <mc:AlternateContent xmlns:mc="http://schemas.openxmlformats.org/markup-compatibility/2006">
              <mc:Choice xmlns:v="urn:schemas-microsoft-com:vml" Requires="v">
                <p:oleObj spid="_x0000_s5204" name="Equation" r:id="rId1" imgW="74371200" imgH="14325600" progId="Equation.DSMT4">
                  <p:embed/>
                </p:oleObj>
              </mc:Choice>
              <mc:Fallback>
                <p:oleObj name="Equation" r:id="rId1" imgW="74371200" imgH="14325600" progId="Equation.DSMT4">
                  <p:embed/>
                  <p:pic>
                    <p:nvPicPr>
                      <p:cNvPr id="0" name="图片 5203"/>
                      <p:cNvPicPr/>
                      <p:nvPr/>
                    </p:nvPicPr>
                    <p:blipFill>
                      <a:blip r:embed="rId2"/>
                      <a:stretch>
                        <a:fillRect/>
                      </a:stretch>
                    </p:blipFill>
                    <p:spPr>
                      <a:xfrm>
                        <a:off x="2411760" y="2601016"/>
                        <a:ext cx="5079241" cy="972000"/>
                      </a:xfrm>
                      <a:prstGeom prst="rect">
                        <a:avLst/>
                      </a:prstGeom>
                    </p:spPr>
                  </p:pic>
                </p:oleObj>
              </mc:Fallback>
            </mc:AlternateContent>
          </a:graphicData>
        </a:graphic>
      </p:graphicFrame>
      <p:pic>
        <p:nvPicPr>
          <p:cNvPr id="6" name="图片 5"/>
          <p:cNvPicPr>
            <a:picLocks noChangeAspect="1"/>
          </p:cNvPicPr>
          <p:nvPr/>
        </p:nvPicPr>
        <p:blipFill>
          <a:blip r:embed="rId3"/>
          <a:stretch>
            <a:fillRect/>
          </a:stretch>
        </p:blipFill>
        <p:spPr>
          <a:xfrm>
            <a:off x="1403648" y="4509120"/>
            <a:ext cx="6516214" cy="1404000"/>
          </a:xfrm>
          <a:prstGeom prst="rect">
            <a:avLst/>
          </a:prstGeom>
        </p:spPr>
      </p:pic>
    </p:spTree>
  </p:cSld>
  <p:clrMapOvr>
    <a:masterClrMapping/>
  </p:clrMapOvr>
  <p:transition>
    <p:cover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信息增益</a:t>
            </a:r>
            <a:endParaRPr lang="en-US" altLang="zh-CN" dirty="0"/>
          </a:p>
          <a:p>
            <a:pPr lvl="2"/>
            <a:r>
              <a:rPr lang="zh-CN" altLang="en-US" dirty="0" smtClean="0"/>
              <a:t>例子</a:t>
            </a:r>
            <a:endParaRPr lang="en-US" altLang="zh-CN" dirty="0" smtClean="0"/>
          </a:p>
          <a:p>
            <a:pPr lvl="3"/>
            <a:r>
              <a:rPr lang="zh-CN" altLang="en-US" dirty="0">
                <a:latin typeface="+mn-ea"/>
              </a:rPr>
              <a:t>基于</a:t>
            </a:r>
            <a:r>
              <a:rPr lang="en-US" altLang="zh-CN" dirty="0">
                <a:latin typeface="+mn-ea"/>
              </a:rPr>
              <a:t>D</a:t>
            </a:r>
            <a:r>
              <a:rPr lang="en-US" altLang="zh-CN" baseline="30000" dirty="0">
                <a:latin typeface="+mn-ea"/>
              </a:rPr>
              <a:t>1</a:t>
            </a:r>
            <a:r>
              <a:rPr lang="zh-CN" altLang="en-US" dirty="0">
                <a:latin typeface="+mn-ea"/>
              </a:rPr>
              <a:t>计算出各属性的信息增益</a:t>
            </a:r>
            <a:endParaRPr lang="en-US" altLang="zh-CN" dirty="0">
              <a:latin typeface="+mn-ea"/>
            </a:endParaRPr>
          </a:p>
          <a:p>
            <a:pPr lvl="3"/>
            <a:endParaRPr lang="en-US" altLang="zh-CN" dirty="0" smtClean="0"/>
          </a:p>
          <a:p>
            <a:pPr lvl="3"/>
            <a:endParaRPr lang="en-US" altLang="zh-CN" dirty="0"/>
          </a:p>
          <a:p>
            <a:pPr lvl="3"/>
            <a:endParaRPr lang="en-US" altLang="zh-CN" dirty="0" smtClean="0"/>
          </a:p>
          <a:p>
            <a:pPr lvl="3"/>
            <a:endParaRPr lang="en-US" altLang="zh-CN" dirty="0" smtClean="0"/>
          </a:p>
          <a:p>
            <a:pPr lvl="3" hangingPunct="0"/>
            <a:r>
              <a:rPr lang="zh-CN" altLang="en-US" dirty="0" smtClean="0">
                <a:latin typeface="+mn-ea"/>
              </a:rPr>
              <a:t>根蒂、脐部、触感</a:t>
            </a:r>
            <a:r>
              <a:rPr lang="en-US" altLang="zh-CN" dirty="0" smtClean="0">
                <a:latin typeface="+mn-ea"/>
              </a:rPr>
              <a:t>3</a:t>
            </a:r>
            <a:r>
              <a:rPr lang="zh-CN" altLang="en-US" dirty="0">
                <a:latin typeface="+mn-ea"/>
              </a:rPr>
              <a:t>个属性均取得了最大的信息增益，可任选其中之一作为划分属性</a:t>
            </a:r>
            <a:endParaRPr lang="zh-CN" altLang="en-US" dirty="0">
              <a:latin typeface="+mn-ea"/>
            </a:endParaRPr>
          </a:p>
          <a:p>
            <a:pPr lvl="3"/>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328863" y="2590800"/>
          <a:ext cx="5246687" cy="993775"/>
        </p:xfrm>
        <a:graphic>
          <a:graphicData uri="http://schemas.openxmlformats.org/presentationml/2006/ole">
            <mc:AlternateContent xmlns:mc="http://schemas.openxmlformats.org/markup-compatibility/2006">
              <mc:Choice xmlns:v="urn:schemas-microsoft-com:vml" Requires="v">
                <p:oleObj spid="_x0000_s18440" name="Equation" r:id="rId1" imgW="76809600" imgH="14630400" progId="Equation.DSMT4">
                  <p:embed/>
                </p:oleObj>
              </mc:Choice>
              <mc:Fallback>
                <p:oleObj name="Equation" r:id="rId1" imgW="76809600" imgH="14630400" progId="Equation.DSMT4">
                  <p:embed/>
                  <p:pic>
                    <p:nvPicPr>
                      <p:cNvPr id="0" name="图片 18439"/>
                      <p:cNvPicPr/>
                      <p:nvPr/>
                    </p:nvPicPr>
                    <p:blipFill>
                      <a:blip r:embed="rId2"/>
                      <a:stretch>
                        <a:fillRect/>
                      </a:stretch>
                    </p:blipFill>
                    <p:spPr>
                      <a:xfrm>
                        <a:off x="2328863" y="2590800"/>
                        <a:ext cx="5246687" cy="993775"/>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a:latin typeface="+mn-ea"/>
              </a:rPr>
              <a:t>4.2.1 </a:t>
            </a:r>
            <a:r>
              <a:rPr lang="zh-CN" altLang="en-US" dirty="0">
                <a:latin typeface="+mn-ea"/>
              </a:rPr>
              <a:t>信息增益</a:t>
            </a:r>
            <a:endParaRPr lang="en-US" altLang="zh-CN" dirty="0">
              <a:latin typeface="+mn-ea"/>
            </a:endParaRPr>
          </a:p>
          <a:p>
            <a:pPr lvl="1"/>
            <a:r>
              <a:rPr lang="zh-CN" altLang="en-US" dirty="0"/>
              <a:t>信息增益</a:t>
            </a:r>
            <a:endParaRPr lang="en-US" altLang="zh-CN" dirty="0"/>
          </a:p>
          <a:p>
            <a:pPr lvl="2"/>
            <a:r>
              <a:rPr lang="zh-CN" altLang="en-US" dirty="0" smtClean="0"/>
              <a:t>例子</a:t>
            </a:r>
            <a:endParaRPr lang="en-US" altLang="zh-CN" dirty="0" smtClean="0"/>
          </a:p>
          <a:p>
            <a:pPr lvl="3"/>
            <a:r>
              <a:rPr lang="zh-CN" altLang="en-US" dirty="0"/>
              <a:t>对每个分支</a:t>
            </a:r>
            <a:r>
              <a:rPr lang="zh-CN" altLang="en-US" dirty="0" smtClean="0"/>
              <a:t>结点进一步</a:t>
            </a:r>
            <a:r>
              <a:rPr lang="zh-CN" altLang="en-US" dirty="0"/>
              <a:t>划分，最终得到决策树</a:t>
            </a:r>
            <a:endParaRPr lang="zh-CN" altLang="en-US" dirty="0"/>
          </a:p>
          <a:p>
            <a:pPr lvl="3"/>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259632" y="2565352"/>
            <a:ext cx="6728345" cy="4032000"/>
          </a:xfrm>
          <a:prstGeom prst="rect">
            <a:avLst/>
          </a:prstGeom>
        </p:spPr>
      </p:pic>
    </p:spTree>
  </p:cSld>
  <p:clrMapOvr>
    <a:masterClrMapping/>
  </p:clrMapOvr>
  <p:transition>
    <p:cover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smtClean="0">
                <a:latin typeface="+mn-ea"/>
              </a:rPr>
              <a:t>4.2.2 </a:t>
            </a:r>
            <a:r>
              <a:rPr lang="zh-CN" altLang="en-US" dirty="0" smtClean="0">
                <a:latin typeface="+mn-ea"/>
              </a:rPr>
              <a:t>增益率</a:t>
            </a:r>
            <a:endParaRPr lang="en-US" altLang="zh-CN" dirty="0" smtClean="0">
              <a:latin typeface="+mn-ea"/>
            </a:endParaRPr>
          </a:p>
          <a:p>
            <a:pPr lvl="1"/>
            <a:r>
              <a:rPr lang="zh-CN" altLang="en-US" dirty="0">
                <a:latin typeface="+mn-ea"/>
              </a:rPr>
              <a:t>信息</a:t>
            </a:r>
            <a:r>
              <a:rPr lang="zh-CN" altLang="en-US" dirty="0" smtClean="0">
                <a:latin typeface="+mn-ea"/>
              </a:rPr>
              <a:t>增益的缺陷</a:t>
            </a:r>
            <a:endParaRPr lang="en-US" altLang="zh-CN" dirty="0" smtClean="0">
              <a:latin typeface="+mn-ea"/>
            </a:endParaRPr>
          </a:p>
          <a:p>
            <a:pPr lvl="2"/>
            <a:r>
              <a:rPr lang="zh-CN" altLang="en-US" dirty="0" smtClean="0">
                <a:latin typeface="+mn-ea"/>
              </a:rPr>
              <a:t>如果属性划分每个分支</a:t>
            </a:r>
            <a:r>
              <a:rPr lang="zh-CN" altLang="en-US" dirty="0">
                <a:latin typeface="+mn-ea"/>
              </a:rPr>
              <a:t>结点仅包含一个样本，这些分支结点的</a:t>
            </a:r>
            <a:r>
              <a:rPr lang="zh-CN" altLang="en-US" dirty="0" smtClean="0">
                <a:latin typeface="+mn-ea"/>
              </a:rPr>
              <a:t>纯度最大，其信息增益然远大</a:t>
            </a:r>
            <a:r>
              <a:rPr lang="zh-CN" altLang="en-US" dirty="0">
                <a:latin typeface="+mn-ea"/>
              </a:rPr>
              <a:t>于其他</a:t>
            </a:r>
            <a:r>
              <a:rPr lang="zh-CN" altLang="en-US" dirty="0" smtClean="0">
                <a:latin typeface="+mn-ea"/>
              </a:rPr>
              <a:t>候选属性</a:t>
            </a:r>
            <a:endParaRPr lang="en-US" altLang="zh-CN" dirty="0" smtClean="0">
              <a:latin typeface="+mn-ea"/>
            </a:endParaRPr>
          </a:p>
          <a:p>
            <a:pPr lvl="2"/>
            <a:r>
              <a:rPr lang="zh-CN" altLang="en-US" dirty="0" smtClean="0">
                <a:latin typeface="+mn-ea"/>
              </a:rPr>
              <a:t>这样</a:t>
            </a:r>
            <a:r>
              <a:rPr lang="zh-CN" altLang="en-US" dirty="0">
                <a:latin typeface="+mn-ea"/>
              </a:rPr>
              <a:t>的</a:t>
            </a:r>
            <a:r>
              <a:rPr lang="zh-CN" altLang="en-US" dirty="0" smtClean="0">
                <a:latin typeface="+mn-ea"/>
              </a:rPr>
              <a:t>决策树不</a:t>
            </a:r>
            <a:r>
              <a:rPr lang="zh-CN" altLang="en-US" dirty="0">
                <a:latin typeface="+mn-ea"/>
              </a:rPr>
              <a:t>具有泛化能力，无法对新样本进行有效</a:t>
            </a:r>
            <a:r>
              <a:rPr lang="zh-CN" altLang="en-US" dirty="0" smtClean="0">
                <a:latin typeface="+mn-ea"/>
              </a:rPr>
              <a:t>预测</a:t>
            </a:r>
            <a:endParaRPr lang="en-US" altLang="zh-CN" dirty="0" smtClean="0">
              <a:latin typeface="+mn-ea"/>
            </a:endParaRPr>
          </a:p>
          <a:p>
            <a:pPr lvl="2"/>
            <a:r>
              <a:rPr lang="zh-CN" altLang="en-US" dirty="0">
                <a:latin typeface="+mn-ea"/>
              </a:rPr>
              <a:t>信息增益</a:t>
            </a:r>
            <a:r>
              <a:rPr lang="zh-CN" altLang="en-US" dirty="0" smtClean="0">
                <a:latin typeface="+mn-ea"/>
              </a:rPr>
              <a:t>对</a:t>
            </a:r>
            <a:r>
              <a:rPr lang="zh-CN" altLang="en-US" dirty="0">
                <a:latin typeface="+mn-ea"/>
              </a:rPr>
              <a:t>可取值数目较多的属性</a:t>
            </a:r>
            <a:r>
              <a:rPr lang="zh-CN" altLang="en-US" dirty="0" smtClean="0">
                <a:latin typeface="+mn-ea"/>
              </a:rPr>
              <a:t>有偏好</a:t>
            </a:r>
            <a:endParaRPr lang="en-US" altLang="zh-CN" dirty="0" smtClean="0">
              <a:latin typeface="+mn-ea"/>
            </a:endParaRPr>
          </a:p>
          <a:p>
            <a:pPr lvl="1"/>
            <a:r>
              <a:rPr lang="zh-CN" altLang="en-US" dirty="0">
                <a:latin typeface="+mn-ea"/>
              </a:rPr>
              <a:t>增益率</a:t>
            </a:r>
            <a:r>
              <a:rPr lang="zh-CN" altLang="en-US" dirty="0" smtClean="0">
                <a:latin typeface="+mn-ea"/>
              </a:rPr>
              <a:t>定义</a:t>
            </a:r>
            <a:r>
              <a:rPr lang="en-US" altLang="zh-CN" dirty="0" smtClean="0">
                <a:latin typeface="+mn-ea"/>
              </a:rPr>
              <a:t>(C4.5</a:t>
            </a:r>
            <a:r>
              <a:rPr lang="zh-CN" altLang="en-US" dirty="0">
                <a:latin typeface="+mn-ea"/>
              </a:rPr>
              <a:t>决策</a:t>
            </a:r>
            <a:r>
              <a:rPr lang="zh-CN" altLang="en-US" dirty="0" smtClean="0">
                <a:latin typeface="+mn-ea"/>
              </a:rPr>
              <a:t>树算法</a:t>
            </a:r>
            <a:r>
              <a:rPr lang="en-US" altLang="zh-CN" dirty="0" smtClean="0">
                <a:latin typeface="+mn-ea"/>
              </a:rPr>
              <a:t>)</a:t>
            </a:r>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1"/>
            <a:endParaRPr lang="en-US" altLang="zh-CN" dirty="0">
              <a:latin typeface="+mn-ea"/>
            </a:endParaRPr>
          </a:p>
          <a:p>
            <a:pPr lvl="2"/>
            <a:endParaRPr lang="en-US" altLang="zh-CN" dirty="0" smtClean="0">
              <a:latin typeface="+mn-ea"/>
            </a:endParaRPr>
          </a:p>
          <a:p>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1939925" y="4545013"/>
          <a:ext cx="5822950" cy="1404937"/>
        </p:xfrm>
        <a:graphic>
          <a:graphicData uri="http://schemas.openxmlformats.org/presentationml/2006/ole">
            <mc:AlternateContent xmlns:mc="http://schemas.openxmlformats.org/markup-compatibility/2006">
              <mc:Choice xmlns:v="urn:schemas-microsoft-com:vml" Requires="v">
                <p:oleObj spid="_x0000_s6224" name="Equation" r:id="rId1" imgW="77724000" imgH="18897600" progId="Equation.DSMT4">
                  <p:embed/>
                </p:oleObj>
              </mc:Choice>
              <mc:Fallback>
                <p:oleObj name="Equation" r:id="rId1" imgW="77724000" imgH="18897600" progId="Equation.DSMT4">
                  <p:embed/>
                  <p:pic>
                    <p:nvPicPr>
                      <p:cNvPr id="0" name="图片 6223"/>
                      <p:cNvPicPr/>
                      <p:nvPr/>
                    </p:nvPicPr>
                    <p:blipFill>
                      <a:blip r:embed="rId2"/>
                      <a:stretch>
                        <a:fillRect/>
                      </a:stretch>
                    </p:blipFill>
                    <p:spPr>
                      <a:xfrm>
                        <a:off x="1939925" y="4545013"/>
                        <a:ext cx="5822950" cy="1404937"/>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smtClean="0">
                <a:latin typeface="+mn-ea"/>
              </a:rPr>
              <a:t>4.2.2 </a:t>
            </a:r>
            <a:r>
              <a:rPr lang="zh-CN" altLang="en-US" dirty="0" smtClean="0">
                <a:latin typeface="+mn-ea"/>
              </a:rPr>
              <a:t>增益率</a:t>
            </a:r>
            <a:endParaRPr lang="en-US" altLang="zh-CN" dirty="0" smtClean="0">
              <a:latin typeface="+mn-ea"/>
            </a:endParaRPr>
          </a:p>
          <a:p>
            <a:pPr lvl="1"/>
            <a:r>
              <a:rPr lang="zh-CN" altLang="en-US" dirty="0" smtClean="0">
                <a:latin typeface="+mn-ea"/>
              </a:rPr>
              <a:t>增益</a:t>
            </a:r>
            <a:r>
              <a:rPr lang="zh-CN" altLang="en-US" dirty="0">
                <a:latin typeface="+mn-ea"/>
              </a:rPr>
              <a:t>率</a:t>
            </a:r>
            <a:r>
              <a:rPr lang="zh-CN" altLang="en-US" dirty="0" smtClean="0">
                <a:latin typeface="+mn-ea"/>
              </a:rPr>
              <a:t>定义</a:t>
            </a:r>
            <a:r>
              <a:rPr lang="en-US" altLang="zh-CN" dirty="0" smtClean="0">
                <a:latin typeface="+mn-ea"/>
              </a:rPr>
              <a:t>(C4.5</a:t>
            </a:r>
            <a:r>
              <a:rPr lang="zh-CN" altLang="en-US" dirty="0">
                <a:latin typeface="+mn-ea"/>
              </a:rPr>
              <a:t>决策</a:t>
            </a:r>
            <a:r>
              <a:rPr lang="zh-CN" altLang="en-US" dirty="0" smtClean="0">
                <a:latin typeface="+mn-ea"/>
              </a:rPr>
              <a:t>树算法</a:t>
            </a:r>
            <a:r>
              <a:rPr lang="en-US" altLang="zh-CN" dirty="0" smtClean="0">
                <a:latin typeface="+mn-ea"/>
              </a:rPr>
              <a:t>)</a:t>
            </a:r>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1"/>
            <a:endParaRPr lang="en-US" altLang="zh-CN" dirty="0">
              <a:latin typeface="+mn-ea"/>
            </a:endParaRPr>
          </a:p>
          <a:p>
            <a:pPr lvl="2">
              <a:spcBef>
                <a:spcPts val="600"/>
              </a:spcBef>
            </a:pPr>
            <a:r>
              <a:rPr lang="zh-CN" altLang="en-US" dirty="0" smtClean="0">
                <a:latin typeface="+mn-ea"/>
              </a:rPr>
              <a:t>属性</a:t>
            </a:r>
            <a:r>
              <a:rPr lang="en-US" altLang="zh-CN" dirty="0" smtClean="0">
                <a:latin typeface="+mn-ea"/>
              </a:rPr>
              <a:t>a</a:t>
            </a:r>
            <a:r>
              <a:rPr lang="zh-CN" altLang="en-US" dirty="0" smtClean="0">
                <a:latin typeface="+mn-ea"/>
              </a:rPr>
              <a:t>的</a:t>
            </a:r>
            <a:r>
              <a:rPr lang="zh-CN" altLang="en-US" dirty="0">
                <a:latin typeface="+mn-ea"/>
              </a:rPr>
              <a:t>可能取值数目越</a:t>
            </a:r>
            <a:r>
              <a:rPr lang="zh-CN" altLang="en-US" dirty="0" smtClean="0">
                <a:latin typeface="+mn-ea"/>
              </a:rPr>
              <a:t>多，即</a:t>
            </a:r>
            <a:r>
              <a:rPr lang="en-US" altLang="zh-CN" dirty="0" smtClean="0">
                <a:latin typeface="+mn-ea"/>
              </a:rPr>
              <a:t>V</a:t>
            </a:r>
            <a:r>
              <a:rPr lang="zh-CN" altLang="en-US" dirty="0" smtClean="0">
                <a:latin typeface="+mn-ea"/>
              </a:rPr>
              <a:t>越大，则</a:t>
            </a:r>
            <a:r>
              <a:rPr lang="en-US" altLang="zh-CN" dirty="0" smtClean="0">
                <a:latin typeface="+mn-ea"/>
              </a:rPr>
              <a:t>IV(a)</a:t>
            </a:r>
            <a:r>
              <a:rPr lang="zh-CN" altLang="en-US" dirty="0" smtClean="0">
                <a:latin typeface="+mn-ea"/>
              </a:rPr>
              <a:t>的</a:t>
            </a:r>
            <a:r>
              <a:rPr lang="zh-CN" altLang="en-US" dirty="0">
                <a:latin typeface="+mn-ea"/>
              </a:rPr>
              <a:t>值通常就越</a:t>
            </a:r>
            <a:r>
              <a:rPr lang="zh-CN" altLang="en-US" dirty="0" smtClean="0">
                <a:latin typeface="+mn-ea"/>
              </a:rPr>
              <a:t>大</a:t>
            </a:r>
            <a:endParaRPr lang="en-US" altLang="zh-CN" dirty="0" smtClean="0">
              <a:latin typeface="+mn-ea"/>
            </a:endParaRPr>
          </a:p>
          <a:p>
            <a:pPr lvl="2"/>
            <a:r>
              <a:rPr lang="zh-CN" altLang="en-US" dirty="0" smtClean="0">
                <a:latin typeface="+mn-ea"/>
              </a:rPr>
              <a:t>增益</a:t>
            </a:r>
            <a:r>
              <a:rPr lang="zh-CN" altLang="en-US" dirty="0">
                <a:latin typeface="+mn-ea"/>
              </a:rPr>
              <a:t>率准则对可取值数目较少的属性有所</a:t>
            </a:r>
            <a:r>
              <a:rPr lang="zh-CN" altLang="en-US" dirty="0" smtClean="0">
                <a:latin typeface="+mn-ea"/>
              </a:rPr>
              <a:t>偏好</a:t>
            </a:r>
            <a:endParaRPr lang="en-US" altLang="zh-CN" dirty="0" smtClean="0">
              <a:latin typeface="+mn-ea"/>
            </a:endParaRPr>
          </a:p>
          <a:p>
            <a:pPr lvl="1"/>
            <a:r>
              <a:rPr lang="en-US" altLang="zh-CN" dirty="0" smtClean="0">
                <a:latin typeface="+mn-ea"/>
              </a:rPr>
              <a:t>C4.5</a:t>
            </a:r>
            <a:r>
              <a:rPr lang="zh-CN" altLang="en-US" dirty="0" smtClean="0">
                <a:latin typeface="+mn-ea"/>
              </a:rPr>
              <a:t>算法不直接</a:t>
            </a:r>
            <a:r>
              <a:rPr lang="zh-CN" altLang="en-US" dirty="0">
                <a:latin typeface="+mn-ea"/>
              </a:rPr>
              <a:t>选择增益率最大的候选划分属性，而是</a:t>
            </a:r>
            <a:r>
              <a:rPr lang="zh-CN" altLang="en-US" dirty="0" smtClean="0">
                <a:latin typeface="+mn-ea"/>
              </a:rPr>
              <a:t>使用启发式方法</a:t>
            </a:r>
            <a:endParaRPr lang="en-US" altLang="zh-CN" dirty="0" smtClean="0">
              <a:latin typeface="+mn-ea"/>
            </a:endParaRPr>
          </a:p>
          <a:p>
            <a:pPr lvl="2"/>
            <a:r>
              <a:rPr lang="zh-CN" altLang="en-US" dirty="0" smtClean="0">
                <a:latin typeface="+mn-ea"/>
              </a:rPr>
              <a:t>从</a:t>
            </a:r>
            <a:r>
              <a:rPr lang="zh-CN" altLang="en-US" dirty="0">
                <a:latin typeface="+mn-ea"/>
              </a:rPr>
              <a:t>候选划分属性中找出信息增益高于平均水平</a:t>
            </a:r>
            <a:r>
              <a:rPr lang="zh-CN" altLang="en-US" dirty="0" smtClean="0">
                <a:latin typeface="+mn-ea"/>
              </a:rPr>
              <a:t>的</a:t>
            </a:r>
            <a:endParaRPr lang="en-US" altLang="zh-CN" dirty="0" smtClean="0">
              <a:latin typeface="+mn-ea"/>
            </a:endParaRPr>
          </a:p>
          <a:p>
            <a:pPr lvl="2"/>
            <a:r>
              <a:rPr lang="zh-CN" altLang="en-US" dirty="0">
                <a:latin typeface="+mn-ea"/>
              </a:rPr>
              <a:t>再从中选取增益率最高的</a:t>
            </a:r>
            <a:endParaRPr lang="zh-CN" altLang="en-US" dirty="0">
              <a:latin typeface="+mn-ea"/>
            </a:endParaRPr>
          </a:p>
          <a:p>
            <a:pPr lvl="2"/>
            <a:endParaRPr lang="zh-CN" altLang="en-US" dirty="0">
              <a:latin typeface="+mn-ea"/>
            </a:endParaRPr>
          </a:p>
          <a:p>
            <a:pPr lvl="2"/>
            <a:endParaRPr lang="en-US" altLang="zh-CN" dirty="0" smtClean="0">
              <a:latin typeface="+mn-ea"/>
            </a:endParaRPr>
          </a:p>
          <a:p>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843808" y="1814512"/>
          <a:ext cx="3557234" cy="1404000"/>
        </p:xfrm>
        <a:graphic>
          <a:graphicData uri="http://schemas.openxmlformats.org/presentationml/2006/ole">
            <mc:AlternateContent xmlns:mc="http://schemas.openxmlformats.org/markup-compatibility/2006">
              <mc:Choice xmlns:v="urn:schemas-microsoft-com:vml" Requires="v">
                <p:oleObj spid="_x0000_s7246" name="Equation" r:id="rId1" imgW="47548800" imgH="18897600" progId="Equation.DSMT4">
                  <p:embed/>
                </p:oleObj>
              </mc:Choice>
              <mc:Fallback>
                <p:oleObj name="Equation" r:id="rId1" imgW="47548800" imgH="18897600" progId="Equation.DSMT4">
                  <p:embed/>
                  <p:pic>
                    <p:nvPicPr>
                      <p:cNvPr id="0" name="图片 7245"/>
                      <p:cNvPicPr/>
                      <p:nvPr/>
                    </p:nvPicPr>
                    <p:blipFill>
                      <a:blip r:embed="rId2"/>
                      <a:stretch>
                        <a:fillRect/>
                      </a:stretch>
                    </p:blipFill>
                    <p:spPr>
                      <a:xfrm>
                        <a:off x="2843808" y="1814512"/>
                        <a:ext cx="3557234" cy="1404000"/>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划分选择</a:t>
            </a:r>
            <a:endParaRPr lang="zh-CN" altLang="en-US" dirty="0"/>
          </a:p>
        </p:txBody>
      </p:sp>
      <p:sp>
        <p:nvSpPr>
          <p:cNvPr id="3" name="内容占位符 2"/>
          <p:cNvSpPr>
            <a:spLocks noGrp="1"/>
          </p:cNvSpPr>
          <p:nvPr>
            <p:ph idx="1"/>
          </p:nvPr>
        </p:nvSpPr>
        <p:spPr/>
        <p:txBody>
          <a:bodyPr/>
          <a:lstStyle/>
          <a:p>
            <a:r>
              <a:rPr lang="en-US" altLang="zh-CN" dirty="0" smtClean="0">
                <a:latin typeface="+mn-ea"/>
              </a:rPr>
              <a:t>4.2.3 </a:t>
            </a:r>
            <a:r>
              <a:rPr lang="zh-CN" altLang="en-US" dirty="0" smtClean="0">
                <a:latin typeface="+mn-ea"/>
              </a:rPr>
              <a:t>基</a:t>
            </a:r>
            <a:r>
              <a:rPr lang="zh-CN" altLang="en-US" dirty="0">
                <a:latin typeface="+mn-ea"/>
              </a:rPr>
              <a:t>尼</a:t>
            </a:r>
            <a:r>
              <a:rPr lang="zh-CN" altLang="en-US" dirty="0" smtClean="0">
                <a:latin typeface="+mn-ea"/>
              </a:rPr>
              <a:t>指数</a:t>
            </a:r>
            <a:r>
              <a:rPr lang="en-US" altLang="zh-CN" dirty="0" smtClean="0">
                <a:latin typeface="+mn-ea"/>
              </a:rPr>
              <a:t>(CART</a:t>
            </a:r>
            <a:r>
              <a:rPr lang="zh-CN" altLang="en-US" dirty="0" smtClean="0">
                <a:latin typeface="+mn-ea"/>
              </a:rPr>
              <a:t>决策树</a:t>
            </a:r>
            <a:r>
              <a:rPr lang="en-US" altLang="zh-CN" dirty="0" smtClean="0">
                <a:latin typeface="+mn-ea"/>
              </a:rPr>
              <a:t>)</a:t>
            </a:r>
            <a:endParaRPr lang="en-US" altLang="zh-CN" dirty="0" smtClean="0">
              <a:latin typeface="+mn-ea"/>
            </a:endParaRPr>
          </a:p>
          <a:p>
            <a:pPr lvl="1"/>
            <a:r>
              <a:rPr lang="zh-CN" altLang="en-US" dirty="0">
                <a:latin typeface="+mn-ea"/>
              </a:rPr>
              <a:t>数据集</a:t>
            </a:r>
            <a:r>
              <a:rPr lang="en-US" altLang="zh-CN" dirty="0">
                <a:latin typeface="+mn-ea"/>
              </a:rPr>
              <a:t>D</a:t>
            </a:r>
            <a:r>
              <a:rPr lang="zh-CN" altLang="en-US" dirty="0">
                <a:latin typeface="+mn-ea"/>
              </a:rPr>
              <a:t>的纯度可用基尼值来</a:t>
            </a:r>
            <a:r>
              <a:rPr lang="zh-CN" altLang="en-US" dirty="0" smtClean="0">
                <a:latin typeface="+mn-ea"/>
              </a:rPr>
              <a:t>度量</a:t>
            </a:r>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2"/>
            <a:r>
              <a:rPr lang="zh-CN" altLang="en-US" dirty="0">
                <a:latin typeface="+mn-ea"/>
              </a:rPr>
              <a:t>反映了</a:t>
            </a:r>
            <a:r>
              <a:rPr lang="zh-CN" altLang="en-US" dirty="0" smtClean="0">
                <a:latin typeface="+mn-ea"/>
              </a:rPr>
              <a:t>从</a:t>
            </a:r>
            <a:r>
              <a:rPr lang="en-US" altLang="zh-CN" dirty="0" smtClean="0">
                <a:latin typeface="+mn-ea"/>
              </a:rPr>
              <a:t>D</a:t>
            </a:r>
            <a:r>
              <a:rPr lang="zh-CN" altLang="en-US" dirty="0" smtClean="0">
                <a:latin typeface="+mn-ea"/>
              </a:rPr>
              <a:t>中</a:t>
            </a:r>
            <a:r>
              <a:rPr lang="zh-CN" altLang="en-US" dirty="0">
                <a:latin typeface="+mn-ea"/>
              </a:rPr>
              <a:t>随机抽取两个样例</a:t>
            </a:r>
            <a:r>
              <a:rPr lang="zh-CN" altLang="en-US" dirty="0" smtClean="0">
                <a:latin typeface="+mn-ea"/>
              </a:rPr>
              <a:t>，其</a:t>
            </a:r>
            <a:r>
              <a:rPr lang="zh-CN" altLang="en-US" dirty="0">
                <a:latin typeface="+mn-ea"/>
              </a:rPr>
              <a:t>类别标记不一致的概率</a:t>
            </a:r>
            <a:endParaRPr lang="zh-CN" altLang="en-US" dirty="0">
              <a:latin typeface="+mn-ea"/>
            </a:endParaRPr>
          </a:p>
          <a:p>
            <a:pPr lvl="2"/>
            <a:r>
              <a:rPr lang="en-US" altLang="zh-CN" dirty="0">
                <a:latin typeface="+mn-ea"/>
              </a:rPr>
              <a:t>Gini(D</a:t>
            </a:r>
            <a:r>
              <a:rPr lang="en-US" altLang="zh-CN" dirty="0" smtClean="0">
                <a:latin typeface="+mn-ea"/>
              </a:rPr>
              <a:t>)</a:t>
            </a:r>
            <a:r>
              <a:rPr lang="zh-CN" altLang="en-US" dirty="0" smtClean="0">
                <a:latin typeface="+mn-ea"/>
              </a:rPr>
              <a:t>越小</a:t>
            </a:r>
            <a:r>
              <a:rPr lang="zh-CN" altLang="en-US" dirty="0">
                <a:latin typeface="+mn-ea"/>
              </a:rPr>
              <a:t>，数据</a:t>
            </a:r>
            <a:r>
              <a:rPr lang="zh-CN" altLang="en-US" dirty="0" smtClean="0">
                <a:latin typeface="+mn-ea"/>
              </a:rPr>
              <a:t>集</a:t>
            </a:r>
            <a:r>
              <a:rPr lang="en-US" altLang="zh-CN" dirty="0" smtClean="0">
                <a:latin typeface="+mn-ea"/>
              </a:rPr>
              <a:t>D</a:t>
            </a:r>
            <a:r>
              <a:rPr lang="zh-CN" altLang="en-US" dirty="0" smtClean="0">
                <a:latin typeface="+mn-ea"/>
              </a:rPr>
              <a:t>的</a:t>
            </a:r>
            <a:r>
              <a:rPr lang="zh-CN" altLang="en-US" dirty="0">
                <a:latin typeface="+mn-ea"/>
              </a:rPr>
              <a:t>纯度越</a:t>
            </a:r>
            <a:r>
              <a:rPr lang="zh-CN" altLang="en-US" dirty="0" smtClean="0">
                <a:latin typeface="+mn-ea"/>
              </a:rPr>
              <a:t>高</a:t>
            </a:r>
            <a:endParaRPr lang="en-US" altLang="zh-CN" dirty="0" smtClean="0">
              <a:latin typeface="+mn-ea"/>
            </a:endParaRPr>
          </a:p>
          <a:p>
            <a:pPr lvl="1"/>
            <a:r>
              <a:rPr lang="zh-CN" altLang="en-US" dirty="0" smtClean="0">
                <a:latin typeface="+mn-ea"/>
              </a:rPr>
              <a:t>属性</a:t>
            </a:r>
            <a:r>
              <a:rPr lang="en-US" altLang="zh-CN" dirty="0" smtClean="0">
                <a:latin typeface="+mn-ea"/>
              </a:rPr>
              <a:t>a</a:t>
            </a:r>
            <a:r>
              <a:rPr lang="zh-CN" altLang="en-US" dirty="0" smtClean="0">
                <a:latin typeface="+mn-ea"/>
              </a:rPr>
              <a:t>的</a:t>
            </a:r>
            <a:r>
              <a:rPr lang="zh-CN" altLang="en-US" dirty="0">
                <a:latin typeface="+mn-ea"/>
              </a:rPr>
              <a:t>基尼</a:t>
            </a:r>
            <a:r>
              <a:rPr lang="zh-CN" altLang="en-US" dirty="0" smtClean="0">
                <a:latin typeface="+mn-ea"/>
              </a:rPr>
              <a:t>指数</a:t>
            </a:r>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1"/>
            <a:r>
              <a:rPr lang="zh-CN" altLang="en-US" dirty="0">
                <a:latin typeface="+mn-ea"/>
              </a:rPr>
              <a:t>在候选属性集合中，选取那个使划分后基尼指数最小的</a:t>
            </a:r>
            <a:r>
              <a:rPr lang="zh-CN" altLang="en-US" dirty="0" smtClean="0">
                <a:latin typeface="+mn-ea"/>
              </a:rPr>
              <a:t>属性，即</a:t>
            </a:r>
            <a:endParaRPr lang="zh-CN" altLang="en-US" dirty="0">
              <a:latin typeface="+mn-ea"/>
            </a:endParaRPr>
          </a:p>
          <a:p>
            <a:pPr lvl="2"/>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360280" y="1808920"/>
          <a:ext cx="4371960" cy="900000"/>
        </p:xfrm>
        <a:graphic>
          <a:graphicData uri="http://schemas.openxmlformats.org/presentationml/2006/ole">
            <mc:AlternateContent xmlns:mc="http://schemas.openxmlformats.org/markup-compatibility/2006">
              <mc:Choice xmlns:v="urn:schemas-microsoft-com:vml" Requires="v">
                <p:oleObj spid="_x0000_s8411" name="Equation" r:id="rId1" imgW="49987200" imgH="10363200" progId="Equation.DSMT4">
                  <p:embed/>
                </p:oleObj>
              </mc:Choice>
              <mc:Fallback>
                <p:oleObj name="Equation" r:id="rId1" imgW="49987200" imgH="10363200" progId="Equation.DSMT4">
                  <p:embed/>
                  <p:pic>
                    <p:nvPicPr>
                      <p:cNvPr id="0" name="图片 8410"/>
                      <p:cNvPicPr/>
                      <p:nvPr/>
                    </p:nvPicPr>
                    <p:blipFill>
                      <a:blip r:embed="rId2"/>
                      <a:stretch>
                        <a:fillRect/>
                      </a:stretch>
                    </p:blipFill>
                    <p:spPr>
                      <a:xfrm>
                        <a:off x="2360280" y="1808920"/>
                        <a:ext cx="4371960" cy="900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174875" y="4184650"/>
          <a:ext cx="4745038" cy="900113"/>
        </p:xfrm>
        <a:graphic>
          <a:graphicData uri="http://schemas.openxmlformats.org/presentationml/2006/ole">
            <mc:AlternateContent xmlns:mc="http://schemas.openxmlformats.org/markup-compatibility/2006">
              <mc:Choice xmlns:v="urn:schemas-microsoft-com:vml" Requires="v">
                <p:oleObj spid="_x0000_s8412" name="Equation" r:id="rId3" imgW="54254400" imgH="10363200" progId="Equation.DSMT4">
                  <p:embed/>
                </p:oleObj>
              </mc:Choice>
              <mc:Fallback>
                <p:oleObj name="Equation" r:id="rId3" imgW="54254400" imgH="10363200" progId="Equation.DSMT4">
                  <p:embed/>
                  <p:pic>
                    <p:nvPicPr>
                      <p:cNvPr id="0" name="图片 8411"/>
                      <p:cNvPicPr/>
                      <p:nvPr/>
                    </p:nvPicPr>
                    <p:blipFill>
                      <a:blip r:embed="rId4"/>
                      <a:stretch>
                        <a:fillRect/>
                      </a:stretch>
                    </p:blipFill>
                    <p:spPr>
                      <a:xfrm>
                        <a:off x="2174875" y="4184650"/>
                        <a:ext cx="4745038" cy="9001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667000" y="5953125"/>
          <a:ext cx="3808413" cy="623888"/>
        </p:xfrm>
        <a:graphic>
          <a:graphicData uri="http://schemas.openxmlformats.org/presentationml/2006/ole">
            <mc:AlternateContent xmlns:mc="http://schemas.openxmlformats.org/markup-compatibility/2006">
              <mc:Choice xmlns:v="urn:schemas-microsoft-com:vml" Requires="v">
                <p:oleObj spid="_x0000_s8413" name="Equation" r:id="rId5" imgW="44500800" imgH="7315200" progId="Equation.DSMT4">
                  <p:embed/>
                </p:oleObj>
              </mc:Choice>
              <mc:Fallback>
                <p:oleObj name="Equation" r:id="rId5" imgW="44500800" imgH="7315200" progId="Equation.DSMT4">
                  <p:embed/>
                  <p:pic>
                    <p:nvPicPr>
                      <p:cNvPr id="0" name="图片 8412"/>
                      <p:cNvPicPr/>
                      <p:nvPr/>
                    </p:nvPicPr>
                    <p:blipFill>
                      <a:blip r:embed="rId6"/>
                      <a:stretch>
                        <a:fillRect/>
                      </a:stretch>
                    </p:blipFill>
                    <p:spPr>
                      <a:xfrm>
                        <a:off x="2667000" y="5953125"/>
                        <a:ext cx="3808413" cy="623888"/>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4.3 </a:t>
            </a:r>
            <a:r>
              <a:rPr lang="zh-CN" altLang="en-US" dirty="0" smtClean="0"/>
              <a:t>剪枝处理</a:t>
            </a:r>
            <a:endParaRPr lang="zh-CN" altLang="en-US" dirty="0"/>
          </a:p>
        </p:txBody>
      </p:sp>
      <p:sp>
        <p:nvSpPr>
          <p:cNvPr id="3" name="内容占位符 2"/>
          <p:cNvSpPr>
            <a:spLocks noGrp="1"/>
          </p:cNvSpPr>
          <p:nvPr>
            <p:ph idx="1"/>
          </p:nvPr>
        </p:nvSpPr>
        <p:spPr/>
        <p:txBody>
          <a:bodyPr/>
          <a:lstStyle/>
          <a:p>
            <a:r>
              <a:rPr lang="zh-CN" altLang="en-US" dirty="0"/>
              <a:t>过拟合</a:t>
            </a:r>
            <a:endParaRPr lang="zh-CN" altLang="en-US" dirty="0"/>
          </a:p>
          <a:p>
            <a:pPr lvl="1"/>
            <a:r>
              <a:rPr lang="zh-CN" altLang="en-US" dirty="0" smtClean="0"/>
              <a:t>为尽可能</a:t>
            </a:r>
            <a:r>
              <a:rPr lang="zh-CN" altLang="en-US" dirty="0"/>
              <a:t>正确分类训练样本，结点</a:t>
            </a:r>
            <a:r>
              <a:rPr lang="zh-CN" altLang="en-US" dirty="0" smtClean="0"/>
              <a:t>划分不断</a:t>
            </a:r>
            <a:r>
              <a:rPr lang="zh-CN" altLang="en-US" dirty="0"/>
              <a:t>重复</a:t>
            </a:r>
            <a:r>
              <a:rPr lang="zh-CN" altLang="en-US" dirty="0" smtClean="0"/>
              <a:t>，会造成</a:t>
            </a:r>
            <a:r>
              <a:rPr lang="zh-CN" altLang="en-US" dirty="0"/>
              <a:t>决策树分支</a:t>
            </a:r>
            <a:r>
              <a:rPr lang="zh-CN" altLang="en-US" dirty="0" smtClean="0"/>
              <a:t>过多，导致过拟合</a:t>
            </a:r>
            <a:endParaRPr lang="en-US" altLang="zh-CN" dirty="0" smtClean="0"/>
          </a:p>
          <a:p>
            <a:pPr lvl="1"/>
            <a:r>
              <a:rPr lang="zh-CN" altLang="en-US" dirty="0"/>
              <a:t>可</a:t>
            </a:r>
            <a:r>
              <a:rPr lang="zh-CN" altLang="en-US" dirty="0" smtClean="0"/>
              <a:t>通过去掉</a:t>
            </a:r>
            <a:r>
              <a:rPr lang="zh-CN" altLang="en-US" dirty="0"/>
              <a:t>一些分支来降低过拟合的风险，</a:t>
            </a:r>
            <a:r>
              <a:rPr lang="zh-CN" altLang="en-US" dirty="0" smtClean="0"/>
              <a:t>剪枝是</a:t>
            </a:r>
            <a:r>
              <a:rPr lang="zh-CN" altLang="en-US" dirty="0"/>
              <a:t>决策树对付“过拟合”</a:t>
            </a:r>
            <a:r>
              <a:rPr lang="zh-CN" altLang="en-US" dirty="0" smtClean="0"/>
              <a:t>的主要</a:t>
            </a:r>
            <a:r>
              <a:rPr lang="zh-CN" altLang="en-US" dirty="0"/>
              <a:t>手段</a:t>
            </a:r>
            <a:endParaRPr lang="en-US" altLang="zh-CN" dirty="0" smtClean="0"/>
          </a:p>
          <a:p>
            <a:r>
              <a:rPr lang="zh-CN" altLang="en-US" dirty="0" smtClean="0"/>
              <a:t>剪枝影响</a:t>
            </a:r>
            <a:endParaRPr lang="en-US" altLang="zh-CN" dirty="0" smtClean="0"/>
          </a:p>
          <a:p>
            <a:pPr lvl="1"/>
            <a:r>
              <a:rPr lang="zh-CN" altLang="en-US" dirty="0"/>
              <a:t>研究</a:t>
            </a:r>
            <a:r>
              <a:rPr lang="zh-CN" altLang="en-US" dirty="0" smtClean="0"/>
              <a:t>表明划分</a:t>
            </a:r>
            <a:r>
              <a:rPr lang="zh-CN" altLang="en-US" dirty="0"/>
              <a:t>选择的各种准则虽然对决策树</a:t>
            </a:r>
            <a:r>
              <a:rPr lang="zh-CN" altLang="en-US" dirty="0">
                <a:latin typeface="+mn-ea"/>
              </a:rPr>
              <a:t>的尺寸有</a:t>
            </a:r>
            <a:r>
              <a:rPr lang="zh-CN" altLang="en-US" dirty="0" smtClean="0">
                <a:latin typeface="+mn-ea"/>
              </a:rPr>
              <a:t>较大</a:t>
            </a:r>
            <a:r>
              <a:rPr lang="zh-CN" altLang="en-US" dirty="0">
                <a:latin typeface="+mn-ea"/>
              </a:rPr>
              <a:t>影响，但对泛化性能的影响很有限，如信息增益与基尼指数产生的结果</a:t>
            </a:r>
            <a:r>
              <a:rPr lang="zh-CN" altLang="en-US" dirty="0" smtClean="0">
                <a:latin typeface="+mn-ea"/>
              </a:rPr>
              <a:t>，仅在约</a:t>
            </a:r>
            <a:r>
              <a:rPr lang="en-US" altLang="zh-CN" dirty="0" smtClean="0">
                <a:latin typeface="+mn-ea"/>
              </a:rPr>
              <a:t>2%</a:t>
            </a:r>
            <a:r>
              <a:rPr lang="zh-CN" altLang="en-US" dirty="0" smtClean="0">
                <a:latin typeface="+mn-ea"/>
              </a:rPr>
              <a:t>的</a:t>
            </a:r>
            <a:r>
              <a:rPr lang="zh-CN" altLang="en-US" dirty="0">
                <a:latin typeface="+mn-ea"/>
              </a:rPr>
              <a:t>情况下</a:t>
            </a:r>
            <a:r>
              <a:rPr lang="zh-CN" altLang="en-US" dirty="0" smtClean="0">
                <a:latin typeface="+mn-ea"/>
              </a:rPr>
              <a:t>不同</a:t>
            </a:r>
            <a:endParaRPr lang="en-US" altLang="zh-CN" dirty="0" smtClean="0">
              <a:latin typeface="+mn-ea"/>
            </a:endParaRPr>
          </a:p>
          <a:p>
            <a:pPr lvl="1"/>
            <a:r>
              <a:rPr lang="zh-CN" altLang="en-US" dirty="0">
                <a:latin typeface="+mn-ea"/>
              </a:rPr>
              <a:t>剪枝方法和程度对决策树泛化性能的影响更为显著，在数据带噪时甚至可能将泛化性能</a:t>
            </a:r>
            <a:r>
              <a:rPr lang="zh-CN" altLang="en-US" dirty="0" smtClean="0">
                <a:latin typeface="+mn-ea"/>
              </a:rPr>
              <a:t>提升</a:t>
            </a:r>
            <a:r>
              <a:rPr lang="en-US" altLang="zh-CN" dirty="0" smtClean="0">
                <a:latin typeface="+mn-ea"/>
              </a:rPr>
              <a:t>25%</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基本</a:t>
            </a:r>
            <a:r>
              <a:rPr lang="zh-CN" altLang="en-US" dirty="0" smtClean="0"/>
              <a:t>策略</a:t>
            </a:r>
            <a:endParaRPr lang="en-US" altLang="zh-CN" dirty="0" smtClean="0"/>
          </a:p>
          <a:p>
            <a:pPr lvl="1"/>
            <a:r>
              <a:rPr lang="zh-CN" altLang="en-US" dirty="0"/>
              <a:t>预</a:t>
            </a:r>
            <a:r>
              <a:rPr lang="zh-CN" altLang="en-US" dirty="0" smtClean="0"/>
              <a:t>剪枝：提前</a:t>
            </a:r>
            <a:r>
              <a:rPr lang="zh-CN" altLang="en-US" dirty="0"/>
              <a:t>终止某些分支的</a:t>
            </a:r>
            <a:r>
              <a:rPr lang="zh-CN" altLang="en-US" dirty="0" smtClean="0"/>
              <a:t>生长</a:t>
            </a:r>
            <a:endParaRPr lang="en-US" altLang="zh-CN" dirty="0" smtClean="0"/>
          </a:p>
          <a:p>
            <a:pPr lvl="2"/>
            <a:r>
              <a:rPr lang="zh-CN" altLang="en-US" dirty="0" smtClean="0"/>
              <a:t>对结点</a:t>
            </a:r>
            <a:r>
              <a:rPr lang="zh-CN" altLang="en-US" dirty="0"/>
              <a:t>在划分前先进行</a:t>
            </a:r>
            <a:r>
              <a:rPr lang="zh-CN" altLang="en-US" dirty="0" smtClean="0"/>
              <a:t>估计</a:t>
            </a:r>
            <a:endParaRPr lang="en-US" altLang="zh-CN" dirty="0" smtClean="0"/>
          </a:p>
          <a:p>
            <a:pPr lvl="2"/>
            <a:r>
              <a:rPr lang="zh-CN" altLang="en-US" dirty="0" smtClean="0"/>
              <a:t>若</a:t>
            </a:r>
            <a:r>
              <a:rPr lang="zh-CN" altLang="en-US" dirty="0"/>
              <a:t>当前结点的划分不能</a:t>
            </a:r>
            <a:r>
              <a:rPr lang="zh-CN" altLang="en-US" dirty="0" smtClean="0"/>
              <a:t>带来泛化</a:t>
            </a:r>
            <a:r>
              <a:rPr lang="zh-CN" altLang="en-US" dirty="0"/>
              <a:t>性能提升，则停止划分并将当前结点标记为叶结点</a:t>
            </a:r>
            <a:endParaRPr lang="zh-CN" altLang="en-US" dirty="0"/>
          </a:p>
          <a:p>
            <a:pPr lvl="1"/>
            <a:r>
              <a:rPr lang="zh-CN" altLang="en-US" dirty="0"/>
              <a:t>后</a:t>
            </a:r>
            <a:r>
              <a:rPr lang="zh-CN" altLang="en-US" dirty="0" smtClean="0"/>
              <a:t>剪枝：生成</a:t>
            </a:r>
            <a:r>
              <a:rPr lang="zh-CN" altLang="en-US" dirty="0"/>
              <a:t>一棵完全树，</a:t>
            </a:r>
            <a:r>
              <a:rPr lang="zh-CN" altLang="en-US" dirty="0" smtClean="0"/>
              <a:t>再剪枝</a:t>
            </a:r>
            <a:endParaRPr lang="en-US" altLang="zh-CN" dirty="0" smtClean="0"/>
          </a:p>
          <a:p>
            <a:pPr lvl="2"/>
            <a:r>
              <a:rPr lang="zh-CN" altLang="en-US" dirty="0" smtClean="0"/>
              <a:t>先生成完整决策树</a:t>
            </a:r>
            <a:endParaRPr lang="en-US" altLang="zh-CN" dirty="0" smtClean="0"/>
          </a:p>
          <a:p>
            <a:pPr lvl="2"/>
            <a:r>
              <a:rPr lang="zh-CN" altLang="en-US" dirty="0" smtClean="0"/>
              <a:t>然后自底向上对</a:t>
            </a:r>
            <a:r>
              <a:rPr lang="zh-CN" altLang="en-US" dirty="0"/>
              <a:t>非叶结点进行</a:t>
            </a:r>
            <a:r>
              <a:rPr lang="zh-CN" altLang="en-US" dirty="0" smtClean="0"/>
              <a:t>考察</a:t>
            </a:r>
            <a:endParaRPr lang="en-US" altLang="zh-CN" dirty="0" smtClean="0"/>
          </a:p>
          <a:p>
            <a:pPr lvl="2"/>
            <a:r>
              <a:rPr lang="zh-CN" altLang="en-US" dirty="0" smtClean="0"/>
              <a:t>若</a:t>
            </a:r>
            <a:r>
              <a:rPr lang="zh-CN" altLang="en-US" dirty="0"/>
              <a:t>将该</a:t>
            </a:r>
            <a:r>
              <a:rPr lang="zh-CN" altLang="en-US" dirty="0" smtClean="0"/>
              <a:t>结点子</a:t>
            </a:r>
            <a:r>
              <a:rPr lang="zh-CN" altLang="en-US" dirty="0"/>
              <a:t>树替换为叶结点能带</a:t>
            </a:r>
            <a:r>
              <a:rPr lang="zh-CN" altLang="en-US" dirty="0" smtClean="0"/>
              <a:t>来泛化</a:t>
            </a:r>
            <a:r>
              <a:rPr lang="zh-CN" altLang="en-US" dirty="0"/>
              <a:t>性能提升，则将该子树替换为叶</a:t>
            </a:r>
            <a:r>
              <a:rPr lang="zh-CN" altLang="en-US" dirty="0" smtClean="0"/>
              <a:t>结点</a:t>
            </a:r>
            <a:endParaRPr lang="en-US" altLang="zh-CN" dirty="0" smtClean="0"/>
          </a:p>
          <a:p>
            <a:r>
              <a:rPr lang="zh-CN" altLang="en-US" dirty="0" smtClean="0"/>
              <a:t>如何判断泛化性能提升</a:t>
            </a:r>
            <a:endParaRPr lang="en-US" altLang="zh-CN" dirty="0" smtClean="0"/>
          </a:p>
          <a:p>
            <a:pPr lvl="1"/>
            <a:r>
              <a:rPr lang="zh-CN" altLang="en-US" dirty="0" smtClean="0">
                <a:latin typeface="+mn-ea"/>
              </a:rPr>
              <a:t>可用第</a:t>
            </a:r>
            <a:r>
              <a:rPr lang="en-US" altLang="zh-CN" dirty="0" smtClean="0">
                <a:latin typeface="+mn-ea"/>
              </a:rPr>
              <a:t>2</a:t>
            </a:r>
            <a:r>
              <a:rPr lang="zh-CN" altLang="en-US" dirty="0" smtClean="0">
                <a:latin typeface="+mn-ea"/>
              </a:rPr>
              <a:t>章的性能评估方法</a:t>
            </a:r>
            <a:endParaRPr lang="en-US" altLang="zh-CN" dirty="0" smtClean="0">
              <a:latin typeface="+mn-ea"/>
            </a:endParaRPr>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a:xfrm>
            <a:off x="683568" y="836712"/>
            <a:ext cx="7848872" cy="4690864"/>
          </a:xfrm>
        </p:spPr>
        <p:txBody>
          <a:bodyPr/>
          <a:lstStyle/>
          <a:p>
            <a:r>
              <a:rPr lang="zh-CN" altLang="en-US" dirty="0" smtClean="0"/>
              <a:t>例子</a:t>
            </a:r>
            <a:endParaRPr lang="en-US" altLang="zh-CN" dirty="0" smtClean="0"/>
          </a:p>
          <a:p>
            <a:pPr lvl="1"/>
            <a:r>
              <a:rPr lang="zh-CN" altLang="en-US" dirty="0"/>
              <a:t>假定</a:t>
            </a:r>
            <a:r>
              <a:rPr lang="zh-CN" altLang="en-US" dirty="0" smtClean="0"/>
              <a:t>使用留</a:t>
            </a:r>
            <a:r>
              <a:rPr lang="zh-CN" altLang="en-US" dirty="0"/>
              <a:t>出法，即</a:t>
            </a:r>
            <a:r>
              <a:rPr lang="zh-CN" altLang="en-US" dirty="0" smtClean="0"/>
              <a:t>预留部分</a:t>
            </a:r>
            <a:r>
              <a:rPr lang="zh-CN" altLang="en-US" dirty="0"/>
              <a:t>数据</a:t>
            </a:r>
            <a:r>
              <a:rPr lang="zh-CN" altLang="en-US" dirty="0" smtClean="0"/>
              <a:t>用作验证集进行能评估</a:t>
            </a:r>
            <a:endParaRPr lang="en-US" altLang="zh-CN" dirty="0" smtClean="0"/>
          </a:p>
          <a:p>
            <a:pPr lvl="1"/>
            <a:r>
              <a:rPr lang="zh-CN" altLang="en-US" dirty="0" smtClean="0"/>
              <a:t>采用信息</a:t>
            </a:r>
            <a:r>
              <a:rPr lang="zh-CN" altLang="en-US" dirty="0"/>
              <a:t>增益</a:t>
            </a:r>
            <a:r>
              <a:rPr lang="zh-CN" altLang="en-US" dirty="0" smtClean="0"/>
              <a:t>准则进行</a:t>
            </a:r>
            <a:r>
              <a:rPr lang="zh-CN" altLang="en-US" dirty="0"/>
              <a:t>划分属性</a:t>
            </a:r>
            <a:r>
              <a:rPr lang="zh-CN" altLang="en-US" dirty="0" smtClean="0"/>
              <a:t>选择</a:t>
            </a:r>
            <a:endParaRPr lang="en-US" altLang="zh-CN" dirty="0" smtClean="0"/>
          </a:p>
          <a:p>
            <a:pPr lvl="1"/>
            <a:r>
              <a:rPr lang="zh-CN" altLang="en-US" dirty="0"/>
              <a:t>数</a:t>
            </a:r>
            <a:r>
              <a:rPr lang="zh-CN" altLang="en-US" dirty="0">
                <a:latin typeface="+mn-ea"/>
              </a:rPr>
              <a:t>据</a:t>
            </a:r>
            <a:r>
              <a:rPr lang="zh-CN" altLang="en-US" dirty="0" smtClean="0">
                <a:latin typeface="+mn-ea"/>
              </a:rPr>
              <a:t>集如下</a:t>
            </a:r>
            <a:r>
              <a:rPr lang="en-US" altLang="zh-CN" dirty="0" smtClean="0">
                <a:latin typeface="+mn-ea"/>
              </a:rPr>
              <a:t>(</a:t>
            </a:r>
            <a:r>
              <a:rPr lang="zh-CN" altLang="en-US" dirty="0" smtClean="0">
                <a:latin typeface="+mn-ea"/>
              </a:rPr>
              <a:t>后</a:t>
            </a:r>
            <a:r>
              <a:rPr lang="en-US" altLang="zh-CN" dirty="0" smtClean="0">
                <a:latin typeface="+mn-ea"/>
              </a:rPr>
              <a:t>)</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例子</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rotWithShape="1">
          <a:blip r:embed="rId1"/>
          <a:srcRect b="748"/>
          <a:stretch>
            <a:fillRect/>
          </a:stretch>
        </p:blipFill>
        <p:spPr>
          <a:xfrm>
            <a:off x="755576" y="1380567"/>
            <a:ext cx="7795596" cy="5360802"/>
          </a:xfrm>
          <a:prstGeom prst="rect">
            <a:avLst/>
          </a:prstGeom>
        </p:spPr>
      </p:pic>
    </p:spTree>
  </p:cSld>
  <p:clrMapOvr>
    <a:masterClrMapping/>
  </p:clrMapOvr>
  <p:transition>
    <p:cover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例子</a:t>
            </a:r>
            <a:endParaRPr lang="en-US" altLang="zh-CN" dirty="0"/>
          </a:p>
          <a:p>
            <a:pPr lvl="1"/>
            <a:r>
              <a:rPr lang="zh-CN" altLang="en-US" dirty="0"/>
              <a:t>未</a:t>
            </a:r>
            <a:r>
              <a:rPr lang="zh-CN" altLang="en-US" dirty="0" smtClean="0"/>
              <a:t>剪枝生成的决策树</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94692" y="1844824"/>
            <a:ext cx="8769796" cy="4937861"/>
          </a:xfrm>
          <a:prstGeom prst="rect">
            <a:avLst/>
          </a:prstGeom>
        </p:spPr>
      </p:pic>
    </p:spTree>
  </p:cSld>
  <p:clrMapOvr>
    <a:masterClrMapping/>
  </p:clrMapOvr>
  <p:transition>
    <p:cover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预</a:t>
            </a:r>
            <a:r>
              <a:rPr lang="zh-CN" altLang="en-US" dirty="0" smtClean="0"/>
              <a:t>剪枝</a:t>
            </a:r>
            <a:endParaRPr lang="en-US" altLang="zh-CN" dirty="0" smtClean="0"/>
          </a:p>
          <a:p>
            <a:pPr lvl="1"/>
            <a:r>
              <a:rPr lang="zh-CN" altLang="en-US" dirty="0"/>
              <a:t>基于信息增益准则</a:t>
            </a:r>
            <a:r>
              <a:rPr lang="zh-CN" altLang="en-US" dirty="0" smtClean="0"/>
              <a:t>，选取属性脐部进行划分</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33350" y="1959099"/>
            <a:ext cx="8877300" cy="1685925"/>
          </a:xfrm>
          <a:prstGeom prst="rect">
            <a:avLst/>
          </a:prstGeom>
        </p:spPr>
      </p:pic>
      <p:pic>
        <p:nvPicPr>
          <p:cNvPr id="6" name="图片 5"/>
          <p:cNvPicPr>
            <a:picLocks noChangeAspect="1"/>
          </p:cNvPicPr>
          <p:nvPr/>
        </p:nvPicPr>
        <p:blipFill>
          <a:blip r:embed="rId2"/>
          <a:stretch>
            <a:fillRect/>
          </a:stretch>
        </p:blipFill>
        <p:spPr>
          <a:xfrm>
            <a:off x="3259013" y="3689970"/>
            <a:ext cx="5705475" cy="819150"/>
          </a:xfrm>
          <a:prstGeom prst="rect">
            <a:avLst/>
          </a:prstGeom>
        </p:spPr>
      </p:pic>
    </p:spTree>
  </p:cSld>
  <p:clrMapOvr>
    <a:masterClrMapping/>
  </p:clrMapOvr>
  <p:transition>
    <p:cover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预剪枝</a:t>
            </a:r>
            <a:endParaRPr lang="en-US" altLang="zh-CN" dirty="0"/>
          </a:p>
          <a:p>
            <a:pPr lvl="1"/>
            <a:r>
              <a:rPr lang="zh-CN" altLang="en-US" dirty="0"/>
              <a:t>基于信息增益准则，选取属性脐部进行划分</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14300" y="1844824"/>
            <a:ext cx="8915400" cy="1752600"/>
          </a:xfrm>
          <a:prstGeom prst="rect">
            <a:avLst/>
          </a:prstGeom>
        </p:spPr>
      </p:pic>
      <p:pic>
        <p:nvPicPr>
          <p:cNvPr id="6" name="图片 5"/>
          <p:cNvPicPr>
            <a:picLocks noChangeAspect="1"/>
          </p:cNvPicPr>
          <p:nvPr/>
        </p:nvPicPr>
        <p:blipFill>
          <a:blip r:embed="rId2"/>
          <a:stretch>
            <a:fillRect/>
          </a:stretch>
        </p:blipFill>
        <p:spPr>
          <a:xfrm>
            <a:off x="1547664" y="3645024"/>
            <a:ext cx="7496175" cy="1828800"/>
          </a:xfrm>
          <a:prstGeom prst="rect">
            <a:avLst/>
          </a:prstGeom>
        </p:spPr>
      </p:pic>
    </p:spTree>
  </p:cSld>
  <p:clrMapOvr>
    <a:masterClrMapping/>
  </p:clrMapOvr>
  <p:transition>
    <p:cover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预剪枝</a:t>
            </a:r>
            <a:endParaRPr lang="en-US" altLang="zh-CN" dirty="0"/>
          </a:p>
          <a:p>
            <a:pPr lvl="1"/>
            <a:r>
              <a:rPr lang="zh-CN" altLang="en-US" dirty="0"/>
              <a:t>基于信息增益准则</a:t>
            </a:r>
            <a:r>
              <a:rPr lang="zh-CN" altLang="en-US" dirty="0" smtClean="0"/>
              <a:t>，对后续结点进行划分</a:t>
            </a:r>
            <a:endParaRPr lang="en-US" altLang="zh-CN" dirty="0" smtClean="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rotWithShape="1">
          <a:blip r:embed="rId1"/>
          <a:srcRect t="1456"/>
          <a:stretch>
            <a:fillRect/>
          </a:stretch>
        </p:blipFill>
        <p:spPr>
          <a:xfrm>
            <a:off x="180975" y="1792705"/>
            <a:ext cx="8782050" cy="1708303"/>
          </a:xfrm>
          <a:prstGeom prst="rect">
            <a:avLst/>
          </a:prstGeom>
        </p:spPr>
      </p:pic>
      <p:pic>
        <p:nvPicPr>
          <p:cNvPr id="6" name="图片 5"/>
          <p:cNvPicPr>
            <a:picLocks noChangeAspect="1"/>
          </p:cNvPicPr>
          <p:nvPr/>
        </p:nvPicPr>
        <p:blipFill rotWithShape="1">
          <a:blip r:embed="rId2"/>
          <a:srcRect b="917"/>
          <a:stretch>
            <a:fillRect/>
          </a:stretch>
        </p:blipFill>
        <p:spPr>
          <a:xfrm>
            <a:off x="623639" y="3406427"/>
            <a:ext cx="8124825" cy="3406949"/>
          </a:xfrm>
          <a:prstGeom prst="rect">
            <a:avLst/>
          </a:prstGeom>
        </p:spPr>
      </p:pic>
      <p:sp>
        <p:nvSpPr>
          <p:cNvPr id="7" name="矩形 6"/>
          <p:cNvSpPr/>
          <p:nvPr/>
        </p:nvSpPr>
        <p:spPr>
          <a:xfrm>
            <a:off x="6613720" y="4653136"/>
            <a:ext cx="1558680" cy="784830"/>
          </a:xfrm>
          <a:prstGeom prst="rect">
            <a:avLst/>
          </a:prstGeom>
        </p:spPr>
        <p:txBody>
          <a:bodyPr wrap="square">
            <a:spAutoFit/>
          </a:bodyPr>
          <a:lstStyle/>
          <a:p>
            <a:pPr algn="just" hangingPunct="0">
              <a:lnSpc>
                <a:spcPct val="100000"/>
              </a:lnSpc>
              <a:spcBef>
                <a:spcPts val="0"/>
              </a:spcBef>
            </a:pPr>
            <a:r>
              <a:rPr lang="zh-CN" altLang="en-US" sz="1500" b="0" dirty="0" smtClean="0">
                <a:solidFill>
                  <a:srgbClr val="FF0000"/>
                </a:solidFill>
                <a:latin typeface="+mn-ea"/>
                <a:ea typeface="+mn-ea"/>
              </a:rPr>
              <a:t>结点</a:t>
            </a:r>
            <a:r>
              <a:rPr lang="zh-CN" altLang="en-US" sz="1500" b="0" dirty="0">
                <a:solidFill>
                  <a:srgbClr val="FF0000"/>
                </a:solidFill>
                <a:latin typeface="+mn-ea"/>
                <a:ea typeface="+mn-ea"/>
              </a:rPr>
              <a:t>④</a:t>
            </a:r>
            <a:r>
              <a:rPr lang="zh-CN" altLang="en-US" sz="1500" b="0" dirty="0" smtClean="0">
                <a:solidFill>
                  <a:srgbClr val="FF0000"/>
                </a:solidFill>
                <a:latin typeface="+mn-ea"/>
                <a:ea typeface="+mn-ea"/>
              </a:rPr>
              <a:t>，所</a:t>
            </a:r>
            <a:r>
              <a:rPr lang="zh-CN" altLang="en-US" sz="1500" b="0" dirty="0">
                <a:solidFill>
                  <a:srgbClr val="FF0000"/>
                </a:solidFill>
                <a:latin typeface="+mn-ea"/>
                <a:ea typeface="+mn-ea"/>
              </a:rPr>
              <a:t>含训练样</a:t>
            </a:r>
            <a:r>
              <a:rPr lang="zh-CN" altLang="en-US" sz="1500" b="0" dirty="0" smtClean="0">
                <a:solidFill>
                  <a:srgbClr val="FF0000"/>
                </a:solidFill>
                <a:latin typeface="+mn-ea"/>
                <a:ea typeface="+mn-ea"/>
              </a:rPr>
              <a:t>例属于</a:t>
            </a:r>
            <a:r>
              <a:rPr lang="zh-CN" altLang="en-US" sz="1500" b="0" dirty="0">
                <a:solidFill>
                  <a:srgbClr val="FF0000"/>
                </a:solidFill>
                <a:latin typeface="+mn-ea"/>
                <a:ea typeface="+mn-ea"/>
              </a:rPr>
              <a:t>同一类，</a:t>
            </a:r>
            <a:r>
              <a:rPr lang="zh-CN" altLang="en-US" sz="1500" b="0" dirty="0" smtClean="0">
                <a:solidFill>
                  <a:srgbClr val="FF0000"/>
                </a:solidFill>
                <a:latin typeface="+mn-ea"/>
                <a:ea typeface="+mn-ea"/>
              </a:rPr>
              <a:t>不再划分</a:t>
            </a:r>
            <a:endParaRPr lang="zh-CN" altLang="en-US" sz="1500" b="0" dirty="0">
              <a:solidFill>
                <a:srgbClr val="FF0000"/>
              </a:solidFill>
              <a:latin typeface="+mn-ea"/>
              <a:ea typeface="+mn-ea"/>
            </a:endParaRPr>
          </a:p>
        </p:txBody>
      </p:sp>
    </p:spTree>
  </p:cSld>
  <p:clrMapOvr>
    <a:masterClrMapping/>
  </p:clrMapOvr>
  <p:transition>
    <p:cover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123728" y="3969376"/>
            <a:ext cx="5051032" cy="2844000"/>
          </a:xfrm>
          <a:prstGeom prst="rect">
            <a:avLst/>
          </a:prstGeom>
        </p:spPr>
      </p:pic>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预剪枝</a:t>
            </a:r>
            <a:endParaRPr lang="en-US" altLang="zh-CN" dirty="0"/>
          </a:p>
          <a:p>
            <a:pPr lvl="1"/>
            <a:r>
              <a:rPr lang="zh-CN" altLang="en-US" dirty="0" smtClean="0"/>
              <a:t>优缺点</a:t>
            </a:r>
            <a:endParaRPr lang="en-US" altLang="zh-CN" dirty="0" smtClean="0"/>
          </a:p>
          <a:p>
            <a:pPr lvl="2"/>
            <a:r>
              <a:rPr lang="zh-CN" altLang="en-US" dirty="0" smtClean="0"/>
              <a:t>很多</a:t>
            </a:r>
            <a:r>
              <a:rPr lang="zh-CN" altLang="en-US" dirty="0"/>
              <a:t>分支都</a:t>
            </a:r>
            <a:r>
              <a:rPr lang="zh-CN" altLang="en-US" dirty="0" smtClean="0"/>
              <a:t>没有展开，降低</a:t>
            </a:r>
            <a:r>
              <a:rPr lang="zh-CN" altLang="en-US" dirty="0"/>
              <a:t>了过拟合的风险</a:t>
            </a:r>
            <a:r>
              <a:rPr lang="zh-CN" altLang="en-US" dirty="0" smtClean="0"/>
              <a:t>，减少了训练</a:t>
            </a:r>
            <a:r>
              <a:rPr lang="zh-CN" altLang="en-US" dirty="0"/>
              <a:t>时间开销和测试时间</a:t>
            </a:r>
            <a:r>
              <a:rPr lang="zh-CN" altLang="en-US" dirty="0" smtClean="0"/>
              <a:t>开销</a:t>
            </a:r>
            <a:endParaRPr lang="en-US" altLang="zh-CN" dirty="0" smtClean="0"/>
          </a:p>
          <a:p>
            <a:pPr lvl="2"/>
            <a:r>
              <a:rPr lang="zh-CN" altLang="en-US" dirty="0" smtClean="0"/>
              <a:t>有些</a:t>
            </a:r>
            <a:r>
              <a:rPr lang="zh-CN" altLang="en-US" dirty="0"/>
              <a:t>分支的当前划分虽不能提升泛化</a:t>
            </a:r>
            <a:r>
              <a:rPr lang="zh-CN" altLang="en-US" dirty="0" smtClean="0"/>
              <a:t>性能，</a:t>
            </a:r>
            <a:r>
              <a:rPr lang="zh-CN" altLang="en-US" dirty="0"/>
              <a:t>但在</a:t>
            </a:r>
            <a:r>
              <a:rPr lang="zh-CN" altLang="en-US" dirty="0" smtClean="0"/>
              <a:t>其基础上的后续</a:t>
            </a:r>
            <a:r>
              <a:rPr lang="zh-CN" altLang="en-US" dirty="0"/>
              <a:t>划分却有</a:t>
            </a:r>
            <a:r>
              <a:rPr lang="zh-CN" altLang="en-US" dirty="0" smtClean="0"/>
              <a:t>可能</a:t>
            </a:r>
            <a:r>
              <a:rPr lang="zh-CN" altLang="en-US" dirty="0"/>
              <a:t>显著</a:t>
            </a:r>
            <a:r>
              <a:rPr lang="zh-CN" altLang="en-US" dirty="0" smtClean="0"/>
              <a:t>提高性能</a:t>
            </a:r>
            <a:endParaRPr lang="en-US" altLang="zh-CN" dirty="0" smtClean="0"/>
          </a:p>
          <a:p>
            <a:pPr lvl="2"/>
            <a:r>
              <a:rPr lang="zh-CN" altLang="en-US" dirty="0" smtClean="0"/>
              <a:t>预</a:t>
            </a:r>
            <a:r>
              <a:rPr lang="zh-CN" altLang="en-US" dirty="0"/>
              <a:t>剪枝</a:t>
            </a:r>
            <a:r>
              <a:rPr lang="zh-CN" altLang="en-US" dirty="0" smtClean="0"/>
              <a:t>基于贪心本质</a:t>
            </a:r>
            <a:r>
              <a:rPr lang="zh-CN" altLang="en-US" dirty="0"/>
              <a:t>禁止这些分支展开，给预剪枝决策树带来了欠拟合的</a:t>
            </a:r>
            <a:r>
              <a:rPr lang="zh-CN" altLang="en-US" dirty="0" smtClean="0"/>
              <a:t>风险</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stretch>
            <a:fillRect/>
          </a:stretch>
        </p:blipFill>
        <p:spPr>
          <a:xfrm>
            <a:off x="612440" y="2169368"/>
            <a:ext cx="7920000" cy="4608000"/>
          </a:xfrm>
          <a:prstGeom prst="rect">
            <a:avLst/>
          </a:prstGeom>
        </p:spPr>
      </p:pic>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后剪枝</a:t>
            </a:r>
            <a:endParaRPr lang="en-US" altLang="zh-CN" dirty="0"/>
          </a:p>
          <a:p>
            <a:pPr lvl="1"/>
            <a:r>
              <a:rPr lang="zh-CN" altLang="en-US" dirty="0">
                <a:latin typeface="+mn-ea"/>
              </a:rPr>
              <a:t>先生成一棵完整的决策树，其验证集精度测得</a:t>
            </a:r>
            <a:r>
              <a:rPr lang="zh-CN" altLang="en-US" dirty="0" smtClean="0">
                <a:latin typeface="+mn-ea"/>
              </a:rPr>
              <a:t>为</a:t>
            </a:r>
            <a:r>
              <a:rPr lang="en-US" altLang="zh-CN" dirty="0" smtClean="0">
                <a:latin typeface="+mn-ea"/>
              </a:rPr>
              <a:t>42.9</a:t>
            </a:r>
            <a:r>
              <a:rPr lang="en-US" altLang="zh-CN" dirty="0">
                <a:latin typeface="+mn-ea"/>
              </a:rPr>
              <a:t>%</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99592" y="2564904"/>
            <a:ext cx="8085124" cy="4238752"/>
            <a:chOff x="1043608" y="2564904"/>
            <a:chExt cx="7581068" cy="4238752"/>
          </a:xfrm>
        </p:grpSpPr>
        <p:grpSp>
          <p:nvGrpSpPr>
            <p:cNvPr id="7" name="组合 6"/>
            <p:cNvGrpSpPr/>
            <p:nvPr/>
          </p:nvGrpSpPr>
          <p:grpSpPr>
            <a:xfrm>
              <a:off x="1115616" y="2617441"/>
              <a:ext cx="7509060" cy="4186215"/>
              <a:chOff x="749339" y="2708920"/>
              <a:chExt cx="7509060" cy="4186215"/>
            </a:xfrm>
          </p:grpSpPr>
          <p:pic>
            <p:nvPicPr>
              <p:cNvPr id="5" name="图片 4"/>
              <p:cNvPicPr>
                <a:picLocks noChangeAspect="1"/>
              </p:cNvPicPr>
              <p:nvPr/>
            </p:nvPicPr>
            <p:blipFill rotWithShape="1">
              <a:blip r:embed="rId1"/>
              <a:srcRect t="393" b="1"/>
              <a:stretch>
                <a:fillRect/>
              </a:stretch>
            </p:blipFill>
            <p:spPr>
              <a:xfrm>
                <a:off x="749339" y="2719135"/>
                <a:ext cx="7509060" cy="4176000"/>
              </a:xfrm>
              <a:prstGeom prst="rect">
                <a:avLst/>
              </a:prstGeom>
            </p:spPr>
          </p:pic>
          <p:sp>
            <p:nvSpPr>
              <p:cNvPr id="6" name="矩形 5"/>
              <p:cNvSpPr/>
              <p:nvPr/>
            </p:nvSpPr>
            <p:spPr bwMode="auto">
              <a:xfrm>
                <a:off x="1043608" y="2708920"/>
                <a:ext cx="576064" cy="288032"/>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
          <p:nvSpPr>
            <p:cNvPr id="8" name="矩形 7"/>
            <p:cNvSpPr/>
            <p:nvPr/>
          </p:nvSpPr>
          <p:spPr bwMode="auto">
            <a:xfrm>
              <a:off x="1043608" y="2564904"/>
              <a:ext cx="576064" cy="360040"/>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a:xfrm>
            <a:off x="683568" y="836712"/>
            <a:ext cx="7985648" cy="4690864"/>
          </a:xfrm>
        </p:spPr>
        <p:txBody>
          <a:bodyPr/>
          <a:lstStyle/>
          <a:p>
            <a:r>
              <a:rPr lang="zh-CN" altLang="en-US" dirty="0"/>
              <a:t>后剪枝</a:t>
            </a:r>
            <a:endParaRPr lang="en-US" altLang="zh-CN" dirty="0"/>
          </a:p>
          <a:p>
            <a:pPr lvl="1"/>
            <a:r>
              <a:rPr lang="zh-CN" altLang="en-US" dirty="0" smtClean="0">
                <a:latin typeface="+mn-ea"/>
              </a:rPr>
              <a:t>考虑结点</a:t>
            </a:r>
            <a:r>
              <a:rPr lang="en-US" altLang="zh-CN" dirty="0" smtClean="0">
                <a:latin typeface="+mn-ea"/>
              </a:rPr>
              <a:t>6</a:t>
            </a:r>
            <a:r>
              <a:rPr lang="zh-CN" altLang="en-US" dirty="0" smtClean="0">
                <a:latin typeface="+mn-ea"/>
              </a:rPr>
              <a:t>，若替换</a:t>
            </a:r>
            <a:r>
              <a:rPr lang="zh-CN" altLang="en-US" dirty="0">
                <a:latin typeface="+mn-ea"/>
              </a:rPr>
              <a:t>为叶结点，</a:t>
            </a:r>
            <a:r>
              <a:rPr lang="zh-CN" altLang="en-US" dirty="0" smtClean="0">
                <a:latin typeface="+mn-ea"/>
              </a:rPr>
              <a:t>根据其上训练</a:t>
            </a:r>
            <a:r>
              <a:rPr lang="zh-CN" altLang="en-US" dirty="0">
                <a:latin typeface="+mn-ea"/>
              </a:rPr>
              <a:t>样</a:t>
            </a:r>
            <a:r>
              <a:rPr lang="zh-CN" altLang="en-US" dirty="0" smtClean="0">
                <a:latin typeface="+mn-ea"/>
              </a:rPr>
              <a:t>例</a:t>
            </a:r>
            <a:r>
              <a:rPr lang="en-US" altLang="zh-CN" dirty="0" smtClean="0">
                <a:latin typeface="+mn-ea"/>
              </a:rPr>
              <a:t>{7,5}</a:t>
            </a:r>
            <a:r>
              <a:rPr lang="zh-CN" altLang="en-US" dirty="0" smtClean="0">
                <a:latin typeface="+mn-ea"/>
              </a:rPr>
              <a:t>将</a:t>
            </a:r>
            <a:r>
              <a:rPr lang="zh-CN" altLang="en-US" dirty="0">
                <a:latin typeface="+mn-ea"/>
              </a:rPr>
              <a:t>其标记</a:t>
            </a:r>
            <a:r>
              <a:rPr lang="zh-CN" altLang="en-US" dirty="0" smtClean="0">
                <a:latin typeface="+mn-ea"/>
              </a:rPr>
              <a:t>为好瓜，</a:t>
            </a:r>
            <a:r>
              <a:rPr lang="zh-CN" altLang="en-US" dirty="0">
                <a:latin typeface="+mn-ea"/>
              </a:rPr>
              <a:t>测得验证集精度提高</a:t>
            </a:r>
            <a:r>
              <a:rPr lang="zh-CN" altLang="en-US" dirty="0" smtClean="0">
                <a:latin typeface="+mn-ea"/>
              </a:rPr>
              <a:t>至</a:t>
            </a:r>
            <a:r>
              <a:rPr lang="en-US" altLang="zh-CN" dirty="0" smtClean="0">
                <a:latin typeface="+mn-ea"/>
              </a:rPr>
              <a:t>57.1%</a:t>
            </a:r>
            <a:r>
              <a:rPr lang="zh-CN" altLang="en-US" dirty="0" smtClean="0">
                <a:latin typeface="+mn-ea"/>
              </a:rPr>
              <a:t>，于是决定</a:t>
            </a:r>
            <a:r>
              <a:rPr lang="zh-CN" altLang="en-US" dirty="0">
                <a:latin typeface="+mn-ea"/>
              </a:rPr>
              <a:t>剪枝</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a:xfrm>
            <a:off x="683568" y="836712"/>
            <a:ext cx="7985648" cy="4690864"/>
          </a:xfrm>
        </p:spPr>
        <p:txBody>
          <a:bodyPr/>
          <a:lstStyle/>
          <a:p>
            <a:r>
              <a:rPr lang="zh-CN" altLang="en-US" dirty="0"/>
              <a:t>后剪枝</a:t>
            </a:r>
            <a:endParaRPr lang="en-US" altLang="zh-CN" dirty="0"/>
          </a:p>
          <a:p>
            <a:pPr lvl="1"/>
            <a:r>
              <a:rPr lang="zh-CN" altLang="en-US" dirty="0">
                <a:latin typeface="+mn-ea"/>
              </a:rPr>
              <a:t>考虑结点</a:t>
            </a:r>
            <a:r>
              <a:rPr lang="en-US" altLang="zh-CN" dirty="0">
                <a:latin typeface="+mn-ea"/>
              </a:rPr>
              <a:t>6</a:t>
            </a:r>
            <a:r>
              <a:rPr lang="zh-CN" altLang="en-US" dirty="0">
                <a:latin typeface="+mn-ea"/>
              </a:rPr>
              <a:t>，若替换为叶结点，根据其上训练样例</a:t>
            </a:r>
            <a:r>
              <a:rPr lang="en-US" altLang="zh-CN" dirty="0">
                <a:latin typeface="+mn-ea"/>
              </a:rPr>
              <a:t>{7,5}</a:t>
            </a:r>
            <a:r>
              <a:rPr lang="zh-CN" altLang="en-US" dirty="0">
                <a:latin typeface="+mn-ea"/>
              </a:rPr>
              <a:t>将其标记为好瓜，测得验证集精度提高至</a:t>
            </a:r>
            <a:r>
              <a:rPr lang="en-US" altLang="zh-CN" dirty="0">
                <a:latin typeface="+mn-ea"/>
              </a:rPr>
              <a:t>57.1%</a:t>
            </a:r>
            <a:r>
              <a:rPr lang="zh-CN" altLang="en-US" dirty="0">
                <a:latin typeface="+mn-ea"/>
              </a:rPr>
              <a:t>，于是决定剪枝</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7" name="组合 6"/>
          <p:cNvGrpSpPr>
            <a:grpSpLocks noChangeAspect="1"/>
          </p:cNvGrpSpPr>
          <p:nvPr/>
        </p:nvGrpSpPr>
        <p:grpSpPr>
          <a:xfrm>
            <a:off x="997255" y="2637296"/>
            <a:ext cx="6959121" cy="3311984"/>
            <a:chOff x="1584151" y="2708920"/>
            <a:chExt cx="6372225" cy="3190875"/>
          </a:xfrm>
        </p:grpSpPr>
        <p:pic>
          <p:nvPicPr>
            <p:cNvPr id="5" name="图片 4"/>
            <p:cNvPicPr>
              <a:picLocks noChangeAspect="1"/>
            </p:cNvPicPr>
            <p:nvPr/>
          </p:nvPicPr>
          <p:blipFill>
            <a:blip r:embed="rId1"/>
            <a:stretch>
              <a:fillRect/>
            </a:stretch>
          </p:blipFill>
          <p:spPr>
            <a:xfrm>
              <a:off x="1584151" y="2708920"/>
              <a:ext cx="6372225" cy="3190875"/>
            </a:xfrm>
            <a:prstGeom prst="rect">
              <a:avLst/>
            </a:prstGeom>
          </p:spPr>
        </p:pic>
        <p:sp>
          <p:nvSpPr>
            <p:cNvPr id="6" name="矩形 5"/>
            <p:cNvSpPr/>
            <p:nvPr/>
          </p:nvSpPr>
          <p:spPr bwMode="auto">
            <a:xfrm>
              <a:off x="1584151" y="2708920"/>
              <a:ext cx="576064" cy="360040"/>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Tree>
  </p:cSld>
  <p:clrMapOvr>
    <a:masterClrMapping/>
  </p:clrMapOvr>
  <p:transition>
    <p:cover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后剪枝</a:t>
            </a:r>
            <a:endParaRPr lang="en-US" altLang="zh-CN" dirty="0"/>
          </a:p>
          <a:p>
            <a:pPr lvl="1"/>
            <a:r>
              <a:rPr lang="zh-CN" altLang="en-US" dirty="0" smtClean="0">
                <a:latin typeface="+mn-ea"/>
              </a:rPr>
              <a:t>考虑结点</a:t>
            </a:r>
            <a:r>
              <a:rPr lang="en-US" altLang="zh-CN" dirty="0" smtClean="0">
                <a:latin typeface="+mn-ea"/>
              </a:rPr>
              <a:t>5</a:t>
            </a:r>
            <a:r>
              <a:rPr lang="zh-CN" altLang="en-US" dirty="0" smtClean="0">
                <a:latin typeface="+mn-ea"/>
              </a:rPr>
              <a:t>，</a:t>
            </a:r>
            <a:r>
              <a:rPr lang="zh-CN" altLang="en-US" dirty="0">
                <a:latin typeface="+mn-ea"/>
              </a:rPr>
              <a:t>若将其替换为叶结点，</a:t>
            </a:r>
            <a:r>
              <a:rPr lang="zh-CN" altLang="en-US" dirty="0" smtClean="0">
                <a:latin typeface="+mn-ea"/>
              </a:rPr>
              <a:t>根据其上训练</a:t>
            </a:r>
            <a:r>
              <a:rPr lang="zh-CN" altLang="en-US" dirty="0">
                <a:latin typeface="+mn-ea"/>
              </a:rPr>
              <a:t>样</a:t>
            </a:r>
            <a:r>
              <a:rPr lang="zh-CN" altLang="en-US" dirty="0" smtClean="0">
                <a:latin typeface="+mn-ea"/>
              </a:rPr>
              <a:t>例</a:t>
            </a:r>
            <a:r>
              <a:rPr lang="en-US" altLang="zh-CN" dirty="0">
                <a:latin typeface="+mn-ea"/>
              </a:rPr>
              <a:t>{6,7,15}</a:t>
            </a:r>
            <a:r>
              <a:rPr lang="zh-CN" altLang="en-US" dirty="0" smtClean="0">
                <a:latin typeface="+mn-ea"/>
              </a:rPr>
              <a:t>将</a:t>
            </a:r>
            <a:r>
              <a:rPr lang="zh-CN" altLang="en-US" dirty="0">
                <a:latin typeface="+mn-ea"/>
              </a:rPr>
              <a:t>其标记</a:t>
            </a:r>
            <a:r>
              <a:rPr lang="zh-CN" altLang="en-US" dirty="0" smtClean="0">
                <a:latin typeface="+mn-ea"/>
              </a:rPr>
              <a:t>为好瓜，</a:t>
            </a:r>
            <a:r>
              <a:rPr lang="zh-CN" altLang="en-US" dirty="0">
                <a:latin typeface="+mn-ea"/>
              </a:rPr>
              <a:t>测得验证集精度仍</a:t>
            </a:r>
            <a:r>
              <a:rPr lang="zh-CN" altLang="en-US" dirty="0" smtClean="0">
                <a:latin typeface="+mn-ea"/>
              </a:rPr>
              <a:t>为</a:t>
            </a:r>
            <a:r>
              <a:rPr lang="en-US" altLang="zh-CN" dirty="0" smtClean="0">
                <a:latin typeface="+mn-ea"/>
              </a:rPr>
              <a:t>57.1%</a:t>
            </a:r>
            <a:r>
              <a:rPr lang="zh-CN" altLang="en-US" dirty="0">
                <a:latin typeface="+mn-ea"/>
              </a:rPr>
              <a:t>，</a:t>
            </a:r>
            <a:r>
              <a:rPr lang="zh-CN" altLang="en-US" dirty="0" smtClean="0">
                <a:latin typeface="+mn-ea"/>
              </a:rPr>
              <a:t>可以不</a:t>
            </a:r>
            <a:r>
              <a:rPr lang="zh-CN" altLang="en-US" dirty="0">
                <a:latin typeface="+mn-ea"/>
              </a:rPr>
              <a:t>剪枝</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7" name="组合 6"/>
          <p:cNvGrpSpPr/>
          <p:nvPr/>
        </p:nvGrpSpPr>
        <p:grpSpPr>
          <a:xfrm>
            <a:off x="395536" y="2745328"/>
            <a:ext cx="8577316" cy="3636000"/>
            <a:chOff x="1023010" y="2780928"/>
            <a:chExt cx="8001252" cy="3636000"/>
          </a:xfrm>
        </p:grpSpPr>
        <p:pic>
          <p:nvPicPr>
            <p:cNvPr id="5" name="图片 4"/>
            <p:cNvPicPr>
              <a:picLocks noChangeAspect="1"/>
            </p:cNvPicPr>
            <p:nvPr/>
          </p:nvPicPr>
          <p:blipFill>
            <a:blip r:embed="rId1"/>
            <a:stretch>
              <a:fillRect/>
            </a:stretch>
          </p:blipFill>
          <p:spPr>
            <a:xfrm>
              <a:off x="1023010" y="2780928"/>
              <a:ext cx="8001252" cy="3636000"/>
            </a:xfrm>
            <a:prstGeom prst="rect">
              <a:avLst/>
            </a:prstGeom>
          </p:spPr>
        </p:pic>
        <p:sp>
          <p:nvSpPr>
            <p:cNvPr id="6" name="矩形 5"/>
            <p:cNvSpPr/>
            <p:nvPr/>
          </p:nvSpPr>
          <p:spPr bwMode="auto">
            <a:xfrm>
              <a:off x="1023010" y="2780928"/>
              <a:ext cx="623929" cy="389955"/>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Tree>
  </p:cSld>
  <p:clrMapOvr>
    <a:masterClrMapping/>
  </p:clrMapOvr>
  <p:transition>
    <p:cover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后剪枝</a:t>
            </a:r>
            <a:endParaRPr lang="en-US" altLang="zh-CN" dirty="0"/>
          </a:p>
          <a:p>
            <a:pPr lvl="1"/>
            <a:r>
              <a:rPr lang="zh-CN" altLang="en-US" dirty="0" smtClean="0">
                <a:latin typeface="+mn-ea"/>
              </a:rPr>
              <a:t>考虑结点</a:t>
            </a:r>
            <a:r>
              <a:rPr lang="en-US" altLang="zh-CN" dirty="0" smtClean="0">
                <a:latin typeface="+mn-ea"/>
              </a:rPr>
              <a:t>5</a:t>
            </a:r>
            <a:r>
              <a:rPr lang="zh-CN" altLang="en-US" dirty="0" smtClean="0">
                <a:latin typeface="+mn-ea"/>
              </a:rPr>
              <a:t>，</a:t>
            </a:r>
            <a:r>
              <a:rPr lang="zh-CN" altLang="en-US" dirty="0">
                <a:latin typeface="+mn-ea"/>
              </a:rPr>
              <a:t>若将其替换为叶结点，</a:t>
            </a:r>
            <a:r>
              <a:rPr lang="zh-CN" altLang="en-US" dirty="0" smtClean="0">
                <a:latin typeface="+mn-ea"/>
              </a:rPr>
              <a:t>根据其上训练</a:t>
            </a:r>
            <a:r>
              <a:rPr lang="zh-CN" altLang="en-US" dirty="0">
                <a:latin typeface="+mn-ea"/>
              </a:rPr>
              <a:t>样</a:t>
            </a:r>
            <a:r>
              <a:rPr lang="zh-CN" altLang="en-US" dirty="0" smtClean="0">
                <a:latin typeface="+mn-ea"/>
              </a:rPr>
              <a:t>例</a:t>
            </a:r>
            <a:r>
              <a:rPr lang="en-US" altLang="zh-CN" dirty="0" smtClean="0">
                <a:latin typeface="+mn-ea"/>
              </a:rPr>
              <a:t>{6,7,15}</a:t>
            </a:r>
            <a:r>
              <a:rPr lang="zh-CN" altLang="en-US" dirty="0" smtClean="0">
                <a:latin typeface="+mn-ea"/>
              </a:rPr>
              <a:t>将</a:t>
            </a:r>
            <a:r>
              <a:rPr lang="zh-CN" altLang="en-US" dirty="0">
                <a:latin typeface="+mn-ea"/>
              </a:rPr>
              <a:t>其标记</a:t>
            </a:r>
            <a:r>
              <a:rPr lang="zh-CN" altLang="en-US" dirty="0" smtClean="0">
                <a:latin typeface="+mn-ea"/>
              </a:rPr>
              <a:t>为好瓜，</a:t>
            </a:r>
            <a:r>
              <a:rPr lang="zh-CN" altLang="en-US" dirty="0">
                <a:latin typeface="+mn-ea"/>
              </a:rPr>
              <a:t>测得验证集精度仍</a:t>
            </a:r>
            <a:r>
              <a:rPr lang="zh-CN" altLang="en-US" dirty="0" smtClean="0">
                <a:latin typeface="+mn-ea"/>
              </a:rPr>
              <a:t>为</a:t>
            </a:r>
            <a:r>
              <a:rPr lang="en-US" altLang="zh-CN" dirty="0" smtClean="0">
                <a:latin typeface="+mn-ea"/>
              </a:rPr>
              <a:t>57.1%</a:t>
            </a:r>
            <a:r>
              <a:rPr lang="zh-CN" altLang="en-US" dirty="0">
                <a:latin typeface="+mn-ea"/>
              </a:rPr>
              <a:t>，</a:t>
            </a:r>
            <a:r>
              <a:rPr lang="zh-CN" altLang="en-US" dirty="0" smtClean="0">
                <a:latin typeface="+mn-ea"/>
              </a:rPr>
              <a:t>可以不</a:t>
            </a:r>
            <a:r>
              <a:rPr lang="zh-CN" altLang="en-US" dirty="0">
                <a:latin typeface="+mn-ea"/>
              </a:rPr>
              <a:t>剪枝</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10" name="组合 9"/>
          <p:cNvGrpSpPr>
            <a:grpSpLocks noChangeAspect="1"/>
          </p:cNvGrpSpPr>
          <p:nvPr/>
        </p:nvGrpSpPr>
        <p:grpSpPr>
          <a:xfrm>
            <a:off x="395536" y="2708920"/>
            <a:ext cx="7343388" cy="3456000"/>
            <a:chOff x="1907704" y="3027778"/>
            <a:chExt cx="7005233" cy="3534077"/>
          </a:xfrm>
        </p:grpSpPr>
        <p:pic>
          <p:nvPicPr>
            <p:cNvPr id="8" name="图片 7"/>
            <p:cNvPicPr>
              <a:picLocks noChangeAspect="1"/>
            </p:cNvPicPr>
            <p:nvPr/>
          </p:nvPicPr>
          <p:blipFill>
            <a:blip r:embed="rId1"/>
            <a:stretch>
              <a:fillRect/>
            </a:stretch>
          </p:blipFill>
          <p:spPr>
            <a:xfrm>
              <a:off x="1907704" y="3027778"/>
              <a:ext cx="7005233" cy="3534077"/>
            </a:xfrm>
            <a:prstGeom prst="rect">
              <a:avLst/>
            </a:prstGeom>
          </p:spPr>
        </p:pic>
        <p:sp>
          <p:nvSpPr>
            <p:cNvPr id="9" name="矩形 8"/>
            <p:cNvSpPr/>
            <p:nvPr/>
          </p:nvSpPr>
          <p:spPr bwMode="auto">
            <a:xfrm>
              <a:off x="1907704" y="3027778"/>
              <a:ext cx="623929" cy="389955"/>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Tree>
  </p:cSld>
  <p:clrMapOvr>
    <a:masterClrMapping/>
  </p:clrMapOvr>
  <p:transition>
    <p:cover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后剪枝</a:t>
            </a:r>
            <a:endParaRPr lang="en-US" altLang="zh-CN" dirty="0"/>
          </a:p>
          <a:p>
            <a:pPr lvl="1"/>
            <a:r>
              <a:rPr lang="zh-CN" altLang="en-US" dirty="0">
                <a:latin typeface="+mn-ea"/>
              </a:rPr>
              <a:t>考虑</a:t>
            </a:r>
            <a:r>
              <a:rPr lang="zh-CN" altLang="en-US" dirty="0" smtClean="0">
                <a:latin typeface="+mn-ea"/>
              </a:rPr>
              <a:t>结点</a:t>
            </a:r>
            <a:r>
              <a:rPr lang="en-US" altLang="zh-CN" dirty="0" smtClean="0">
                <a:latin typeface="+mn-ea"/>
              </a:rPr>
              <a:t>2</a:t>
            </a:r>
            <a:r>
              <a:rPr lang="zh-CN" altLang="en-US" dirty="0">
                <a:latin typeface="+mn-ea"/>
              </a:rPr>
              <a:t>，若将其替换为叶结点，</a:t>
            </a:r>
            <a:r>
              <a:rPr lang="zh-CN" altLang="en-US" dirty="0" smtClean="0">
                <a:latin typeface="+mn-ea"/>
              </a:rPr>
              <a:t>根据其上训练</a:t>
            </a:r>
            <a:r>
              <a:rPr lang="zh-CN" altLang="en-US" dirty="0">
                <a:latin typeface="+mn-ea"/>
              </a:rPr>
              <a:t>样</a:t>
            </a:r>
            <a:r>
              <a:rPr lang="zh-CN" altLang="en-US" dirty="0" smtClean="0">
                <a:latin typeface="+mn-ea"/>
              </a:rPr>
              <a:t>例</a:t>
            </a:r>
            <a:r>
              <a:rPr lang="en-US" altLang="zh-CN" dirty="0" smtClean="0">
                <a:latin typeface="+mn-ea"/>
              </a:rPr>
              <a:t>{1,2,3,14}</a:t>
            </a:r>
            <a:r>
              <a:rPr lang="zh-CN" altLang="en-US" dirty="0" smtClean="0">
                <a:latin typeface="+mn-ea"/>
              </a:rPr>
              <a:t>，</a:t>
            </a:r>
            <a:r>
              <a:rPr lang="zh-CN" altLang="en-US" dirty="0">
                <a:latin typeface="+mn-ea"/>
              </a:rPr>
              <a:t>将其标记</a:t>
            </a:r>
            <a:r>
              <a:rPr lang="zh-CN" altLang="en-US" dirty="0" smtClean="0">
                <a:latin typeface="+mn-ea"/>
              </a:rPr>
              <a:t>为好瓜，</a:t>
            </a:r>
            <a:r>
              <a:rPr lang="zh-CN" altLang="en-US" dirty="0">
                <a:latin typeface="+mn-ea"/>
              </a:rPr>
              <a:t>测得验证集精度提升</a:t>
            </a:r>
            <a:r>
              <a:rPr lang="zh-CN" altLang="en-US" dirty="0" smtClean="0">
                <a:latin typeface="+mn-ea"/>
              </a:rPr>
              <a:t>至</a:t>
            </a:r>
            <a:r>
              <a:rPr lang="en-US" altLang="zh-CN" dirty="0" smtClean="0">
                <a:latin typeface="+mn-ea"/>
              </a:rPr>
              <a:t>71.4%</a:t>
            </a:r>
            <a:r>
              <a:rPr lang="zh-CN" altLang="en-US" dirty="0" smtClean="0">
                <a:latin typeface="+mn-ea"/>
              </a:rPr>
              <a:t>，决定</a:t>
            </a:r>
            <a:r>
              <a:rPr lang="zh-CN" altLang="en-US" dirty="0">
                <a:latin typeface="+mn-ea"/>
              </a:rPr>
              <a:t>剪枝</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7" name="组合 6"/>
          <p:cNvGrpSpPr/>
          <p:nvPr/>
        </p:nvGrpSpPr>
        <p:grpSpPr>
          <a:xfrm>
            <a:off x="683568" y="2636911"/>
            <a:ext cx="7768939" cy="4176000"/>
            <a:chOff x="1472195" y="2636911"/>
            <a:chExt cx="6980312" cy="4176000"/>
          </a:xfrm>
        </p:grpSpPr>
        <p:pic>
          <p:nvPicPr>
            <p:cNvPr id="5" name="图片 4"/>
            <p:cNvPicPr>
              <a:picLocks noChangeAspect="1"/>
            </p:cNvPicPr>
            <p:nvPr/>
          </p:nvPicPr>
          <p:blipFill>
            <a:blip r:embed="rId1"/>
            <a:stretch>
              <a:fillRect/>
            </a:stretch>
          </p:blipFill>
          <p:spPr>
            <a:xfrm>
              <a:off x="1475656" y="2636911"/>
              <a:ext cx="6976851" cy="4176000"/>
            </a:xfrm>
            <a:prstGeom prst="rect">
              <a:avLst/>
            </a:prstGeom>
          </p:spPr>
        </p:pic>
        <p:sp>
          <p:nvSpPr>
            <p:cNvPr id="6" name="矩形 5"/>
            <p:cNvSpPr/>
            <p:nvPr/>
          </p:nvSpPr>
          <p:spPr bwMode="auto">
            <a:xfrm>
              <a:off x="1472195" y="2636911"/>
              <a:ext cx="941121" cy="389955"/>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Tree>
  </p:cSld>
  <p:clrMapOvr>
    <a:masterClrMapping/>
  </p:clrMapOvr>
  <p:transition>
    <p:cover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后剪枝</a:t>
            </a:r>
            <a:endParaRPr lang="en-US" altLang="zh-CN" dirty="0"/>
          </a:p>
          <a:p>
            <a:pPr lvl="1"/>
            <a:r>
              <a:rPr lang="zh-CN" altLang="en-US" dirty="0">
                <a:latin typeface="+mn-ea"/>
              </a:rPr>
              <a:t>对</a:t>
            </a:r>
            <a:r>
              <a:rPr lang="zh-CN" altLang="en-US" dirty="0" smtClean="0">
                <a:latin typeface="+mn-ea"/>
              </a:rPr>
              <a:t>结点</a:t>
            </a:r>
            <a:r>
              <a:rPr lang="en-US" altLang="zh-CN" dirty="0" smtClean="0">
                <a:latin typeface="+mn-ea"/>
              </a:rPr>
              <a:t>3</a:t>
            </a:r>
            <a:r>
              <a:rPr lang="zh-CN" altLang="en-US" dirty="0" smtClean="0">
                <a:latin typeface="+mn-ea"/>
              </a:rPr>
              <a:t>和</a:t>
            </a:r>
            <a:r>
              <a:rPr lang="en-US" altLang="zh-CN" dirty="0" smtClean="0">
                <a:latin typeface="+mn-ea"/>
              </a:rPr>
              <a:t>1</a:t>
            </a:r>
            <a:r>
              <a:rPr lang="zh-CN" altLang="en-US" dirty="0" smtClean="0">
                <a:latin typeface="+mn-ea"/>
              </a:rPr>
              <a:t>，</a:t>
            </a:r>
            <a:r>
              <a:rPr lang="zh-CN" altLang="en-US" dirty="0">
                <a:latin typeface="+mn-ea"/>
              </a:rPr>
              <a:t>先后替换为叶结点，均未测得验证集精度提升</a:t>
            </a:r>
            <a:r>
              <a:rPr lang="zh-CN" altLang="en-US" dirty="0" smtClean="0">
                <a:latin typeface="+mn-ea"/>
              </a:rPr>
              <a:t>，于是</a:t>
            </a:r>
            <a:r>
              <a:rPr lang="zh-CN" altLang="en-US" dirty="0">
                <a:latin typeface="+mn-ea"/>
              </a:rPr>
              <a:t>不剪枝</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832048" y="2309064"/>
            <a:ext cx="7628384" cy="4072264"/>
          </a:xfrm>
          <a:prstGeom prst="rect">
            <a:avLst/>
          </a:prstGeom>
        </p:spPr>
      </p:pic>
    </p:spTree>
  </p:cSld>
  <p:clrMapOvr>
    <a:masterClrMapping/>
  </p:clrMapOvr>
  <p:transition>
    <p:cover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p:txBody>
          <a:bodyPr/>
          <a:lstStyle/>
          <a:p>
            <a:r>
              <a:rPr lang="zh-CN" altLang="en-US" dirty="0"/>
              <a:t>后</a:t>
            </a:r>
            <a:r>
              <a:rPr lang="zh-CN" altLang="en-US" dirty="0" smtClean="0"/>
              <a:t>剪枝</a:t>
            </a:r>
            <a:endParaRPr lang="en-US" altLang="zh-CN" dirty="0" smtClean="0"/>
          </a:p>
          <a:p>
            <a:pPr lvl="1"/>
            <a:r>
              <a:rPr lang="zh-CN" altLang="en-US" dirty="0" smtClean="0">
                <a:latin typeface="+mn-ea"/>
              </a:rPr>
              <a:t>最终后</a:t>
            </a:r>
            <a:r>
              <a:rPr lang="zh-CN" altLang="en-US" dirty="0">
                <a:latin typeface="+mn-ea"/>
              </a:rPr>
              <a:t>剪枝得到的决策树，其验证集精度为</a:t>
            </a:r>
            <a:r>
              <a:rPr lang="en-US" altLang="zh-CN" dirty="0">
                <a:latin typeface="+mn-ea"/>
              </a:rPr>
              <a:t>71.4</a:t>
            </a:r>
            <a:r>
              <a:rPr lang="en-US" altLang="zh-CN" dirty="0" smtClean="0">
                <a:latin typeface="+mn-ea"/>
              </a:rPr>
              <a:t>%</a:t>
            </a:r>
            <a:r>
              <a:rPr lang="zh-CN" altLang="en-US" dirty="0" smtClean="0">
                <a:latin typeface="+mn-ea"/>
              </a:rPr>
              <a:t>（原先为</a:t>
            </a:r>
            <a:r>
              <a:rPr lang="en-US" altLang="zh-CN" dirty="0">
                <a:latin typeface="+mn-ea"/>
              </a:rPr>
              <a:t>42.9</a:t>
            </a:r>
            <a:r>
              <a:rPr lang="en-US" altLang="zh-CN" dirty="0" smtClean="0">
                <a:latin typeface="+mn-ea"/>
              </a:rPr>
              <a:t>%</a:t>
            </a:r>
            <a:r>
              <a:rPr lang="zh-CN" altLang="en-US" dirty="0" smtClean="0">
                <a:latin typeface="+mn-ea"/>
              </a:rPr>
              <a:t>）</a:t>
            </a:r>
            <a:endParaRPr lang="zh-CN" altLang="en-US" dirty="0">
              <a:latin typeface="+mn-ea"/>
            </a:endParaRPr>
          </a:p>
          <a:p>
            <a:pPr lvl="1"/>
            <a:endParaRPr lang="zh-CN" altLang="en-US" dirty="0">
              <a:latin typeface="+mn-ea"/>
            </a:endParaRPr>
          </a:p>
          <a:p>
            <a:pPr lvl="1"/>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899592" y="2353140"/>
            <a:ext cx="7488831" cy="3998298"/>
          </a:xfrm>
          <a:prstGeom prst="rect">
            <a:avLst/>
          </a:prstGeom>
        </p:spPr>
      </p:pic>
    </p:spTree>
  </p:cSld>
  <p:clrMapOvr>
    <a:masterClrMapping/>
  </p:clrMapOvr>
  <p:transition>
    <p:cover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剪枝处理</a:t>
            </a:r>
            <a:endParaRPr lang="zh-CN" altLang="en-US" dirty="0"/>
          </a:p>
        </p:txBody>
      </p:sp>
      <p:sp>
        <p:nvSpPr>
          <p:cNvPr id="3" name="内容占位符 2"/>
          <p:cNvSpPr>
            <a:spLocks noGrp="1"/>
          </p:cNvSpPr>
          <p:nvPr>
            <p:ph idx="1"/>
          </p:nvPr>
        </p:nvSpPr>
        <p:spPr>
          <a:xfrm>
            <a:off x="683568" y="836712"/>
            <a:ext cx="7772400" cy="5487888"/>
          </a:xfrm>
        </p:spPr>
        <p:txBody>
          <a:bodyPr/>
          <a:lstStyle/>
          <a:p>
            <a:r>
              <a:rPr lang="zh-CN" altLang="en-US" dirty="0"/>
              <a:t>后剪枝</a:t>
            </a:r>
            <a:endParaRPr lang="en-US" altLang="zh-CN" dirty="0"/>
          </a:p>
          <a:p>
            <a:pPr lvl="1"/>
            <a:r>
              <a:rPr lang="zh-CN" altLang="en-US" dirty="0" smtClean="0"/>
              <a:t>优缺点</a:t>
            </a:r>
            <a:endParaRPr lang="en-US" altLang="zh-CN" dirty="0" smtClean="0"/>
          </a:p>
          <a:p>
            <a:pPr lvl="2"/>
            <a:r>
              <a:rPr lang="zh-CN" altLang="en-US" dirty="0" smtClean="0"/>
              <a:t>保留</a:t>
            </a:r>
            <a:r>
              <a:rPr lang="zh-CN" altLang="en-US" dirty="0"/>
              <a:t>了</a:t>
            </a:r>
            <a:r>
              <a:rPr lang="zh-CN" altLang="en-US" dirty="0" smtClean="0"/>
              <a:t>更多</a:t>
            </a:r>
            <a:r>
              <a:rPr lang="zh-CN" altLang="en-US" dirty="0"/>
              <a:t>的</a:t>
            </a:r>
            <a:r>
              <a:rPr lang="zh-CN" altLang="en-US" dirty="0" smtClean="0"/>
              <a:t>分支，欠</a:t>
            </a:r>
            <a:r>
              <a:rPr lang="zh-CN" altLang="en-US" dirty="0"/>
              <a:t>拟合风险很小，泛化性能往往优于预剪枝决策树</a:t>
            </a:r>
            <a:endParaRPr lang="en-US" altLang="zh-CN" dirty="0" smtClean="0"/>
          </a:p>
          <a:p>
            <a:pPr lvl="2"/>
            <a:r>
              <a:rPr lang="zh-CN" altLang="en-US" dirty="0"/>
              <a:t>在生成完全决策树之后</a:t>
            </a:r>
            <a:r>
              <a:rPr lang="zh-CN" altLang="en-US" dirty="0" smtClean="0"/>
              <a:t>进行，自底向上对所有</a:t>
            </a:r>
            <a:r>
              <a:rPr lang="zh-CN" altLang="en-US" dirty="0"/>
              <a:t>非叶结点</a:t>
            </a:r>
            <a:r>
              <a:rPr lang="zh-CN" altLang="en-US" dirty="0" smtClean="0"/>
              <a:t>进行考察，训练开销大</a:t>
            </a:r>
            <a:endParaRPr lang="en-US" altLang="zh-CN" dirty="0" smtClean="0"/>
          </a:p>
          <a:p>
            <a:r>
              <a:rPr lang="zh-CN" altLang="en-US" dirty="0">
                <a:latin typeface="+mn-ea"/>
              </a:rPr>
              <a:t>预</a:t>
            </a:r>
            <a:r>
              <a:rPr lang="zh-CN" altLang="en-US" dirty="0" smtClean="0">
                <a:latin typeface="+mn-ea"/>
              </a:rPr>
              <a:t>剪枝</a:t>
            </a:r>
            <a:r>
              <a:rPr lang="en-US" altLang="zh-CN" dirty="0" smtClean="0">
                <a:latin typeface="+mn-ea"/>
              </a:rPr>
              <a:t>vs.</a:t>
            </a:r>
            <a:r>
              <a:rPr lang="zh-CN" altLang="en-US" dirty="0" smtClean="0">
                <a:latin typeface="+mn-ea"/>
              </a:rPr>
              <a:t>后</a:t>
            </a:r>
            <a:r>
              <a:rPr lang="zh-CN" altLang="en-US" dirty="0">
                <a:latin typeface="+mn-ea"/>
              </a:rPr>
              <a:t>剪枝</a:t>
            </a:r>
            <a:endParaRPr lang="zh-CN" altLang="en-US" dirty="0">
              <a:latin typeface="+mn-ea"/>
            </a:endParaRPr>
          </a:p>
          <a:p>
            <a:pPr lvl="1"/>
            <a:r>
              <a:rPr lang="zh-CN" altLang="en-US" dirty="0"/>
              <a:t>时间</a:t>
            </a:r>
            <a:r>
              <a:rPr lang="zh-CN" altLang="en-US" dirty="0" smtClean="0"/>
              <a:t>开销</a:t>
            </a:r>
            <a:endParaRPr lang="en-US" altLang="zh-CN" dirty="0" smtClean="0"/>
          </a:p>
          <a:p>
            <a:pPr lvl="2"/>
            <a:r>
              <a:rPr lang="zh-CN" altLang="en-US" dirty="0"/>
              <a:t>预剪枝：训练时间开销降低，测试时间开销降低</a:t>
            </a:r>
            <a:endParaRPr lang="zh-CN" altLang="en-US" dirty="0"/>
          </a:p>
          <a:p>
            <a:pPr lvl="2"/>
            <a:r>
              <a:rPr lang="zh-CN" altLang="en-US" dirty="0"/>
              <a:t>后剪枝：训练时间开销增加，测试时间开销</a:t>
            </a:r>
            <a:r>
              <a:rPr lang="zh-CN" altLang="en-US" dirty="0" smtClean="0"/>
              <a:t>降低</a:t>
            </a:r>
            <a:endParaRPr lang="en-US" altLang="zh-CN" dirty="0" smtClean="0"/>
          </a:p>
          <a:p>
            <a:pPr lvl="1"/>
            <a:r>
              <a:rPr lang="zh-CN" altLang="en-US" dirty="0" smtClean="0">
                <a:latin typeface="+mn-ea"/>
              </a:rPr>
              <a:t>过</a:t>
            </a:r>
            <a:r>
              <a:rPr lang="en-US" altLang="zh-CN" dirty="0" smtClean="0">
                <a:latin typeface="+mn-ea"/>
              </a:rPr>
              <a:t>/</a:t>
            </a:r>
            <a:r>
              <a:rPr lang="zh-CN" altLang="en-US" dirty="0" smtClean="0">
                <a:latin typeface="+mn-ea"/>
              </a:rPr>
              <a:t>欠</a:t>
            </a:r>
            <a:r>
              <a:rPr lang="zh-CN" altLang="en-US" dirty="0">
                <a:latin typeface="+mn-ea"/>
              </a:rPr>
              <a:t>拟合</a:t>
            </a:r>
            <a:r>
              <a:rPr lang="zh-CN" altLang="en-US" dirty="0" smtClean="0">
                <a:latin typeface="+mn-ea"/>
              </a:rPr>
              <a:t>风险</a:t>
            </a:r>
            <a:endParaRPr lang="en-US" altLang="zh-CN" dirty="0" smtClean="0">
              <a:latin typeface="+mn-ea"/>
            </a:endParaRPr>
          </a:p>
          <a:p>
            <a:pPr lvl="2"/>
            <a:r>
              <a:rPr lang="zh-CN" altLang="en-US" dirty="0">
                <a:latin typeface="+mn-ea"/>
              </a:rPr>
              <a:t>预剪枝：过拟合风险降低，欠拟合风险增加</a:t>
            </a:r>
            <a:endParaRPr lang="zh-CN" altLang="en-US" dirty="0">
              <a:latin typeface="+mn-ea"/>
            </a:endParaRPr>
          </a:p>
          <a:p>
            <a:pPr lvl="2"/>
            <a:r>
              <a:rPr lang="zh-CN" altLang="en-US" dirty="0">
                <a:latin typeface="+mn-ea"/>
              </a:rPr>
              <a:t>后剪枝：过拟合风险降低，欠拟合风险基本不变</a:t>
            </a:r>
            <a:endParaRPr lang="zh-CN" altLang="en-US" dirty="0">
              <a:latin typeface="+mn-ea"/>
            </a:endParaRPr>
          </a:p>
          <a:p>
            <a:pPr lvl="1"/>
            <a:r>
              <a:rPr lang="zh-CN" altLang="en-US" dirty="0">
                <a:latin typeface="+mn-ea"/>
              </a:rPr>
              <a:t>泛化性能：后</a:t>
            </a:r>
            <a:r>
              <a:rPr lang="zh-CN" altLang="en-US" dirty="0" smtClean="0">
                <a:latin typeface="+mn-ea"/>
              </a:rPr>
              <a:t>剪枝通常优于预</a:t>
            </a:r>
            <a:r>
              <a:rPr lang="zh-CN" altLang="en-US" dirty="0">
                <a:latin typeface="+mn-ea"/>
              </a:rPr>
              <a:t>剪枝</a:t>
            </a:r>
            <a:endParaRPr lang="zh-CN" altLang="en-US" dirty="0">
              <a:latin typeface="+mn-ea"/>
            </a:endParaRPr>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4.4 </a:t>
            </a:r>
            <a:r>
              <a:rPr lang="zh-CN" altLang="en-US" dirty="0" smtClean="0"/>
              <a:t>连续</a:t>
            </a:r>
            <a:r>
              <a:rPr lang="zh-CN" altLang="en-US" dirty="0"/>
              <a:t>与缺失值</a:t>
            </a:r>
            <a:endParaRPr lang="zh-CN" altLang="en-US" dirty="0"/>
          </a:p>
        </p:txBody>
      </p:sp>
      <p:sp>
        <p:nvSpPr>
          <p:cNvPr id="3" name="内容占位符 2"/>
          <p:cNvSpPr>
            <a:spLocks noGrp="1"/>
          </p:cNvSpPr>
          <p:nvPr>
            <p:ph idx="1"/>
          </p:nvPr>
        </p:nvSpPr>
        <p:spPr/>
        <p:txBody>
          <a:bodyPr/>
          <a:lstStyle/>
          <a:p>
            <a:r>
              <a:rPr lang="en-US" altLang="zh-CN" dirty="0" smtClean="0">
                <a:latin typeface="+mn-ea"/>
              </a:rPr>
              <a:t>4.4.1 </a:t>
            </a:r>
            <a:r>
              <a:rPr lang="zh-CN" altLang="en-US" dirty="0" smtClean="0">
                <a:latin typeface="+mn-ea"/>
              </a:rPr>
              <a:t>连续</a:t>
            </a:r>
            <a:r>
              <a:rPr lang="zh-CN" altLang="en-US" dirty="0">
                <a:latin typeface="+mn-ea"/>
              </a:rPr>
              <a:t>值</a:t>
            </a:r>
            <a:r>
              <a:rPr lang="zh-CN" altLang="en-US" dirty="0" smtClean="0">
                <a:latin typeface="+mn-ea"/>
              </a:rPr>
              <a:t>处理</a:t>
            </a:r>
            <a:endParaRPr lang="en-US" altLang="zh-CN" dirty="0" smtClean="0">
              <a:latin typeface="+mn-ea"/>
            </a:endParaRPr>
          </a:p>
          <a:p>
            <a:pPr lvl="1"/>
            <a:r>
              <a:rPr lang="zh-CN" altLang="en-US" dirty="0" smtClean="0">
                <a:latin typeface="+mn-ea"/>
              </a:rPr>
              <a:t>问题：</a:t>
            </a:r>
            <a:endParaRPr lang="en-US" altLang="zh-CN" dirty="0" smtClean="0">
              <a:latin typeface="+mn-ea"/>
            </a:endParaRPr>
          </a:p>
          <a:p>
            <a:pPr lvl="2"/>
            <a:r>
              <a:rPr lang="zh-CN" altLang="en-US" dirty="0">
                <a:latin typeface="+mn-ea"/>
              </a:rPr>
              <a:t>生成决策树</a:t>
            </a:r>
            <a:r>
              <a:rPr lang="zh-CN" altLang="en-US" dirty="0" smtClean="0">
                <a:latin typeface="+mn-ea"/>
              </a:rPr>
              <a:t>基于</a:t>
            </a:r>
            <a:r>
              <a:rPr lang="zh-CN" altLang="en-US" dirty="0">
                <a:latin typeface="+mn-ea"/>
              </a:rPr>
              <a:t>离散</a:t>
            </a:r>
            <a:r>
              <a:rPr lang="zh-CN" altLang="en-US" dirty="0" smtClean="0">
                <a:latin typeface="+mn-ea"/>
              </a:rPr>
              <a:t>属性，使用</a:t>
            </a:r>
            <a:r>
              <a:rPr lang="zh-CN" altLang="en-US" dirty="0">
                <a:latin typeface="+mn-ea"/>
              </a:rPr>
              <a:t>连续属性，连续属性的可取值数目不再</a:t>
            </a:r>
            <a:r>
              <a:rPr lang="zh-CN" altLang="en-US" dirty="0" smtClean="0">
                <a:latin typeface="+mn-ea"/>
              </a:rPr>
              <a:t>有限</a:t>
            </a:r>
            <a:endParaRPr lang="en-US" altLang="zh-CN" dirty="0" smtClean="0">
              <a:latin typeface="+mn-ea"/>
            </a:endParaRPr>
          </a:p>
          <a:p>
            <a:pPr lvl="3"/>
            <a:r>
              <a:rPr lang="zh-CN" altLang="en-US" dirty="0">
                <a:latin typeface="+mn-ea"/>
              </a:rPr>
              <a:t>不能直接根据连续属性的可取值来对结点进行划分</a:t>
            </a:r>
            <a:endParaRPr lang="en-US" altLang="zh-CN" dirty="0" smtClean="0">
              <a:latin typeface="+mn-ea"/>
            </a:endParaRPr>
          </a:p>
          <a:p>
            <a:pPr lvl="1"/>
            <a:r>
              <a:rPr lang="zh-CN" altLang="en-US" dirty="0" smtClean="0">
                <a:latin typeface="+mn-ea"/>
              </a:rPr>
              <a:t>基本思路</a:t>
            </a:r>
            <a:endParaRPr lang="en-US" altLang="zh-CN" dirty="0" smtClean="0">
              <a:latin typeface="+mn-ea"/>
            </a:endParaRPr>
          </a:p>
          <a:p>
            <a:pPr lvl="2"/>
            <a:r>
              <a:rPr lang="zh-CN" altLang="en-US" dirty="0" smtClean="0">
                <a:latin typeface="+mn-ea"/>
              </a:rPr>
              <a:t>连续</a:t>
            </a:r>
            <a:r>
              <a:rPr lang="zh-CN" altLang="en-US" dirty="0">
                <a:latin typeface="+mn-ea"/>
              </a:rPr>
              <a:t>属性</a:t>
            </a:r>
            <a:r>
              <a:rPr lang="zh-CN" altLang="en-US" dirty="0" smtClean="0">
                <a:latin typeface="+mn-ea"/>
              </a:rPr>
              <a:t>离散化</a:t>
            </a:r>
            <a:endParaRPr lang="en-US" altLang="zh-CN" dirty="0" smtClean="0">
              <a:latin typeface="+mn-ea"/>
            </a:endParaRPr>
          </a:p>
          <a:p>
            <a:pPr lvl="3"/>
            <a:r>
              <a:rPr lang="zh-CN" altLang="en-US" dirty="0" smtClean="0">
                <a:latin typeface="+mn-ea"/>
              </a:rPr>
              <a:t>如何离散化</a:t>
            </a:r>
            <a:endParaRPr lang="en-US" altLang="zh-CN" dirty="0" smtClean="0">
              <a:latin typeface="+mn-ea"/>
            </a:endParaRPr>
          </a:p>
          <a:p>
            <a:pPr lvl="4"/>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4.4 </a:t>
            </a:r>
            <a:r>
              <a:rPr lang="zh-CN" altLang="en-US" dirty="0" smtClean="0"/>
              <a:t>连续</a:t>
            </a:r>
            <a:r>
              <a:rPr lang="zh-CN" altLang="en-US" dirty="0"/>
              <a:t>与缺失值</a:t>
            </a:r>
            <a:endParaRPr lang="zh-CN" altLang="en-US" dirty="0"/>
          </a:p>
        </p:txBody>
      </p:sp>
      <p:sp>
        <p:nvSpPr>
          <p:cNvPr id="3" name="内容占位符 2"/>
          <p:cNvSpPr>
            <a:spLocks noGrp="1"/>
          </p:cNvSpPr>
          <p:nvPr>
            <p:ph idx="1"/>
          </p:nvPr>
        </p:nvSpPr>
        <p:spPr/>
        <p:txBody>
          <a:bodyPr/>
          <a:lstStyle/>
          <a:p>
            <a:r>
              <a:rPr lang="en-US" altLang="zh-CN" dirty="0" smtClean="0">
                <a:latin typeface="+mn-ea"/>
              </a:rPr>
              <a:t>4.4.1 </a:t>
            </a:r>
            <a:r>
              <a:rPr lang="zh-CN" altLang="en-US" dirty="0" smtClean="0">
                <a:latin typeface="+mn-ea"/>
              </a:rPr>
              <a:t>连续</a:t>
            </a:r>
            <a:r>
              <a:rPr lang="zh-CN" altLang="en-US" dirty="0">
                <a:latin typeface="+mn-ea"/>
              </a:rPr>
              <a:t>值</a:t>
            </a:r>
            <a:r>
              <a:rPr lang="zh-CN" altLang="en-US" dirty="0" smtClean="0">
                <a:latin typeface="+mn-ea"/>
              </a:rPr>
              <a:t>处理</a:t>
            </a:r>
            <a:endParaRPr lang="en-US" altLang="zh-CN" dirty="0" smtClean="0">
              <a:latin typeface="+mn-ea"/>
            </a:endParaRPr>
          </a:p>
          <a:p>
            <a:pPr lvl="1"/>
            <a:r>
              <a:rPr lang="zh-CN" altLang="en-US" dirty="0" smtClean="0">
                <a:latin typeface="+mn-ea"/>
              </a:rPr>
              <a:t>二分法（</a:t>
            </a:r>
            <a:r>
              <a:rPr lang="en-US" altLang="zh-CN" dirty="0" smtClean="0">
                <a:latin typeface="+mn-ea"/>
              </a:rPr>
              <a:t>C4.5</a:t>
            </a:r>
            <a:r>
              <a:rPr lang="zh-CN" altLang="en-US" dirty="0" smtClean="0">
                <a:latin typeface="+mn-ea"/>
              </a:rPr>
              <a:t>）</a:t>
            </a:r>
            <a:endParaRPr lang="en-US" altLang="zh-CN" dirty="0" smtClean="0">
              <a:latin typeface="+mn-ea"/>
            </a:endParaRPr>
          </a:p>
          <a:p>
            <a:pPr lvl="2"/>
            <a:r>
              <a:rPr lang="zh-CN" altLang="en-US" dirty="0" smtClean="0">
                <a:latin typeface="+mn-ea"/>
              </a:rPr>
              <a:t>设样本集</a:t>
            </a:r>
            <a:r>
              <a:rPr lang="en-US" altLang="zh-CN" dirty="0">
                <a:latin typeface="+mn-ea"/>
              </a:rPr>
              <a:t>D</a:t>
            </a:r>
            <a:r>
              <a:rPr lang="zh-CN" altLang="en-US" dirty="0">
                <a:latin typeface="+mn-ea"/>
              </a:rPr>
              <a:t>和连续属性</a:t>
            </a:r>
            <a:r>
              <a:rPr lang="en-US" altLang="zh-CN" dirty="0">
                <a:latin typeface="+mn-ea"/>
              </a:rPr>
              <a:t> </a:t>
            </a:r>
            <a:r>
              <a:rPr lang="zh-CN" altLang="en-US" dirty="0" smtClean="0">
                <a:latin typeface="+mn-ea"/>
              </a:rPr>
              <a:t>， 在</a:t>
            </a:r>
            <a:r>
              <a:rPr lang="en-US" altLang="zh-CN" dirty="0">
                <a:latin typeface="+mn-ea"/>
              </a:rPr>
              <a:t>D</a:t>
            </a:r>
            <a:r>
              <a:rPr lang="zh-CN" altLang="en-US" dirty="0">
                <a:latin typeface="+mn-ea"/>
              </a:rPr>
              <a:t>上</a:t>
            </a:r>
            <a:r>
              <a:rPr lang="zh-CN" altLang="en-US" dirty="0" smtClean="0">
                <a:latin typeface="+mn-ea"/>
              </a:rPr>
              <a:t>出现</a:t>
            </a:r>
            <a:r>
              <a:rPr lang="en-US" altLang="zh-CN" dirty="0" smtClean="0">
                <a:latin typeface="+mn-ea"/>
              </a:rPr>
              <a:t>n</a:t>
            </a:r>
            <a:r>
              <a:rPr lang="zh-CN" altLang="en-US" dirty="0">
                <a:latin typeface="+mn-ea"/>
              </a:rPr>
              <a:t>个</a:t>
            </a:r>
            <a:r>
              <a:rPr lang="zh-CN" altLang="en-US" dirty="0" smtClean="0">
                <a:latin typeface="+mn-ea"/>
              </a:rPr>
              <a:t>不同取值</a:t>
            </a:r>
            <a:r>
              <a:rPr lang="zh-CN" altLang="en-US" dirty="0">
                <a:latin typeface="+mn-ea"/>
              </a:rPr>
              <a:t>，将值从小到大排序，记为            </a:t>
            </a:r>
            <a:endParaRPr lang="en-US" altLang="zh-CN" dirty="0">
              <a:latin typeface="+mn-ea"/>
            </a:endParaRPr>
          </a:p>
          <a:p>
            <a:pPr lvl="2"/>
            <a:r>
              <a:rPr lang="zh-CN" altLang="en-US" dirty="0">
                <a:latin typeface="+mn-ea"/>
              </a:rPr>
              <a:t>基于划分点</a:t>
            </a:r>
            <a:r>
              <a:rPr lang="en-US" altLang="zh-CN" dirty="0">
                <a:latin typeface="+mn-ea"/>
              </a:rPr>
              <a:t>t</a:t>
            </a:r>
            <a:r>
              <a:rPr lang="zh-CN" altLang="en-US" dirty="0">
                <a:latin typeface="+mn-ea"/>
              </a:rPr>
              <a:t>可将</a:t>
            </a:r>
            <a:r>
              <a:rPr lang="en-US" altLang="zh-CN" dirty="0">
                <a:latin typeface="+mn-ea"/>
              </a:rPr>
              <a:t>D</a:t>
            </a:r>
            <a:r>
              <a:rPr lang="zh-CN" altLang="en-US" dirty="0">
                <a:latin typeface="+mn-ea"/>
              </a:rPr>
              <a:t>分为子集</a:t>
            </a:r>
            <a:r>
              <a:rPr lang="en-US" altLang="zh-CN" dirty="0">
                <a:latin typeface="+mn-ea"/>
              </a:rPr>
              <a:t>  </a:t>
            </a:r>
            <a:r>
              <a:rPr lang="en-US" altLang="zh-CN" dirty="0" smtClean="0">
                <a:latin typeface="+mn-ea"/>
              </a:rPr>
              <a:t> </a:t>
            </a:r>
            <a:r>
              <a:rPr lang="zh-CN" altLang="en-US" dirty="0" smtClean="0">
                <a:latin typeface="+mn-ea"/>
              </a:rPr>
              <a:t>和</a:t>
            </a:r>
            <a:r>
              <a:rPr lang="en-US" altLang="zh-CN" dirty="0" smtClean="0">
                <a:latin typeface="+mn-ea"/>
              </a:rPr>
              <a:t>  </a:t>
            </a:r>
            <a:r>
              <a:rPr lang="zh-CN" altLang="en-US" dirty="0">
                <a:latin typeface="+mn-ea"/>
              </a:rPr>
              <a:t>，其中</a:t>
            </a:r>
            <a:r>
              <a:rPr lang="en-US" altLang="zh-CN" dirty="0">
                <a:latin typeface="+mn-ea"/>
              </a:rPr>
              <a:t>  </a:t>
            </a:r>
            <a:r>
              <a:rPr lang="zh-CN" altLang="en-US" dirty="0">
                <a:latin typeface="+mn-ea"/>
              </a:rPr>
              <a:t>包含不大于</a:t>
            </a:r>
            <a:r>
              <a:rPr lang="en-US" altLang="zh-CN" dirty="0">
                <a:latin typeface="+mn-ea"/>
              </a:rPr>
              <a:t>t</a:t>
            </a:r>
            <a:r>
              <a:rPr lang="zh-CN" altLang="en-US" dirty="0">
                <a:latin typeface="+mn-ea"/>
              </a:rPr>
              <a:t>的样本，  包含大于</a:t>
            </a:r>
            <a:r>
              <a:rPr lang="en-US" altLang="zh-CN" dirty="0">
                <a:latin typeface="+mn-ea"/>
              </a:rPr>
              <a:t>t</a:t>
            </a:r>
            <a:r>
              <a:rPr lang="zh-CN" altLang="en-US" dirty="0">
                <a:latin typeface="+mn-ea"/>
              </a:rPr>
              <a:t>的样本</a:t>
            </a:r>
            <a:endParaRPr lang="en-US" altLang="zh-CN" dirty="0">
              <a:latin typeface="+mn-ea"/>
            </a:endParaRPr>
          </a:p>
          <a:p>
            <a:pPr lvl="2"/>
            <a:r>
              <a:rPr lang="en-US" altLang="zh-CN" dirty="0">
                <a:latin typeface="+mn-ea"/>
              </a:rPr>
              <a:t>n</a:t>
            </a:r>
            <a:r>
              <a:rPr lang="zh-CN" altLang="en-US" dirty="0">
                <a:latin typeface="+mn-ea"/>
              </a:rPr>
              <a:t>个属性值可形成</a:t>
            </a:r>
            <a:r>
              <a:rPr lang="en-US" altLang="zh-CN" dirty="0">
                <a:latin typeface="+mn-ea"/>
              </a:rPr>
              <a:t>n-1</a:t>
            </a:r>
            <a:r>
              <a:rPr lang="zh-CN" altLang="en-US" dirty="0">
                <a:latin typeface="+mn-ea"/>
              </a:rPr>
              <a:t>个</a:t>
            </a:r>
            <a:r>
              <a:rPr lang="zh-CN" altLang="en-US" dirty="0" smtClean="0">
                <a:latin typeface="+mn-ea"/>
              </a:rPr>
              <a:t>候选离散划分</a:t>
            </a:r>
            <a:r>
              <a:rPr lang="zh-CN" altLang="en-US" dirty="0">
                <a:latin typeface="+mn-ea"/>
              </a:rPr>
              <a:t>点</a:t>
            </a:r>
            <a:r>
              <a:rPr lang="zh-CN" altLang="en-US" dirty="0" smtClean="0">
                <a:latin typeface="+mn-ea"/>
              </a:rPr>
              <a:t>集合</a:t>
            </a:r>
            <a:endParaRPr lang="en-US" altLang="zh-CN" dirty="0" smtClean="0">
              <a:latin typeface="+mn-ea"/>
            </a:endParaRPr>
          </a:p>
          <a:p>
            <a:pPr lvl="2"/>
            <a:endParaRPr lang="en-US" altLang="zh-CN" dirty="0">
              <a:latin typeface="+mn-ea"/>
            </a:endParaRPr>
          </a:p>
          <a:p>
            <a:pPr lvl="2">
              <a:spcBef>
                <a:spcPts val="1200"/>
              </a:spcBef>
            </a:pPr>
            <a:r>
              <a:rPr lang="zh-CN" altLang="en-US" dirty="0" smtClean="0">
                <a:latin typeface="+mn-ea"/>
              </a:rPr>
              <a:t>根据划分纯度，选取最优的划分点</a:t>
            </a:r>
            <a:endParaRPr lang="en-US" altLang="zh-CN" dirty="0" smtClean="0">
              <a:latin typeface="+mn-ea"/>
            </a:endParaRPr>
          </a:p>
          <a:p>
            <a:pPr lvl="3"/>
            <a:r>
              <a:rPr lang="zh-CN" altLang="en-US" dirty="0" smtClean="0">
                <a:latin typeface="+mn-ea"/>
              </a:rPr>
              <a:t>如基于信息增益的最优划分点</a:t>
            </a:r>
            <a:endParaRPr lang="zh-CN" altLang="en-US" dirty="0">
              <a:latin typeface="+mn-ea"/>
            </a:endParaRPr>
          </a:p>
          <a:p>
            <a:pPr lvl="4"/>
            <a:endParaRPr lang="zh-CN" altLang="en-US" dirty="0">
              <a:latin typeface="+mn-ea"/>
            </a:endParaRPr>
          </a:p>
          <a:p>
            <a:pPr lvl="2"/>
            <a:endParaRPr lang="en-US" altLang="zh-CN" dirty="0" smtClean="0">
              <a:latin typeface="+mn-ea"/>
            </a:endParaRPr>
          </a:p>
          <a:p>
            <a:pPr lvl="2"/>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5931256" y="2100782"/>
          <a:ext cx="1890000" cy="504000"/>
        </p:xfrm>
        <a:graphic>
          <a:graphicData uri="http://schemas.openxmlformats.org/presentationml/2006/ole">
            <mc:AlternateContent xmlns:mc="http://schemas.openxmlformats.org/markup-compatibility/2006">
              <mc:Choice xmlns:v="urn:schemas-microsoft-com:vml" Requires="v">
                <p:oleObj spid="_x0000_s16602" name="Equation" r:id="rId1" imgW="20421600" imgH="5486400" progId="Equation.DSMT4">
                  <p:embed/>
                </p:oleObj>
              </mc:Choice>
              <mc:Fallback>
                <p:oleObj name="Equation" r:id="rId1" imgW="20421600" imgH="5486400" progId="Equation.DSMT4">
                  <p:embed/>
                  <p:pic>
                    <p:nvPicPr>
                      <p:cNvPr id="0" name="图片 16601"/>
                      <p:cNvPicPr/>
                      <p:nvPr/>
                    </p:nvPicPr>
                    <p:blipFill>
                      <a:blip r:embed="rId2"/>
                      <a:stretch>
                        <a:fillRect/>
                      </a:stretch>
                    </p:blipFill>
                    <p:spPr>
                      <a:xfrm>
                        <a:off x="5931256" y="2100782"/>
                        <a:ext cx="1890000" cy="504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860032" y="1844824"/>
          <a:ext cx="297442" cy="324000"/>
        </p:xfrm>
        <a:graphic>
          <a:graphicData uri="http://schemas.openxmlformats.org/presentationml/2006/ole">
            <mc:AlternateContent xmlns:mc="http://schemas.openxmlformats.org/markup-compatibility/2006">
              <mc:Choice xmlns:v="urn:schemas-microsoft-com:vml" Requires="v">
                <p:oleObj spid="_x0000_s16603" name="Equation" r:id="rId3" imgW="3048000" imgH="3352800" progId="Equation.DSMT4">
                  <p:embed/>
                </p:oleObj>
              </mc:Choice>
              <mc:Fallback>
                <p:oleObj name="Equation" r:id="rId3" imgW="3048000" imgH="3352800" progId="Equation.DSMT4">
                  <p:embed/>
                  <p:pic>
                    <p:nvPicPr>
                      <p:cNvPr id="0" name="图片 16602"/>
                      <p:cNvPicPr/>
                      <p:nvPr/>
                    </p:nvPicPr>
                    <p:blipFill>
                      <a:blip r:embed="rId4"/>
                      <a:stretch>
                        <a:fillRect/>
                      </a:stretch>
                    </p:blipFill>
                    <p:spPr>
                      <a:xfrm>
                        <a:off x="4860032" y="1844824"/>
                        <a:ext cx="297442" cy="324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5675005" y="2456856"/>
          <a:ext cx="481171" cy="504000"/>
        </p:xfrm>
        <a:graphic>
          <a:graphicData uri="http://schemas.openxmlformats.org/presentationml/2006/ole">
            <mc:AlternateContent xmlns:mc="http://schemas.openxmlformats.org/markup-compatibility/2006">
              <mc:Choice xmlns:v="urn:schemas-microsoft-com:vml" Requires="v">
                <p:oleObj spid="_x0000_s16604" name="Equation" r:id="rId5" imgW="5486400" imgH="5791200" progId="Equation.DSMT4">
                  <p:embed/>
                </p:oleObj>
              </mc:Choice>
              <mc:Fallback>
                <p:oleObj name="Equation" r:id="rId5" imgW="5486400" imgH="5791200" progId="Equation.DSMT4">
                  <p:embed/>
                  <p:pic>
                    <p:nvPicPr>
                      <p:cNvPr id="0" name="图片 16603"/>
                      <p:cNvPicPr/>
                      <p:nvPr/>
                    </p:nvPicPr>
                    <p:blipFill>
                      <a:blip r:embed="rId6"/>
                      <a:stretch>
                        <a:fillRect/>
                      </a:stretch>
                    </p:blipFill>
                    <p:spPr>
                      <a:xfrm>
                        <a:off x="5675005" y="2456856"/>
                        <a:ext cx="481171" cy="504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467093" y="2456856"/>
          <a:ext cx="481171" cy="504000"/>
        </p:xfrm>
        <a:graphic>
          <a:graphicData uri="http://schemas.openxmlformats.org/presentationml/2006/ole">
            <mc:AlternateContent xmlns:mc="http://schemas.openxmlformats.org/markup-compatibility/2006">
              <mc:Choice xmlns:v="urn:schemas-microsoft-com:vml" Requires="v">
                <p:oleObj spid="_x0000_s16605" name="Equation" r:id="rId7" imgW="5486400" imgH="5791200" progId="Equation.DSMT4">
                  <p:embed/>
                </p:oleObj>
              </mc:Choice>
              <mc:Fallback>
                <p:oleObj name="Equation" r:id="rId7" imgW="5486400" imgH="5791200" progId="Equation.DSMT4">
                  <p:embed/>
                  <p:pic>
                    <p:nvPicPr>
                      <p:cNvPr id="0" name="图片 16604"/>
                      <p:cNvPicPr/>
                      <p:nvPr/>
                    </p:nvPicPr>
                    <p:blipFill>
                      <a:blip r:embed="rId8"/>
                      <a:stretch>
                        <a:fillRect/>
                      </a:stretch>
                    </p:blipFill>
                    <p:spPr>
                      <a:xfrm>
                        <a:off x="6467093" y="2456856"/>
                        <a:ext cx="481171" cy="5040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668344" y="2456912"/>
          <a:ext cx="481171" cy="504000"/>
        </p:xfrm>
        <a:graphic>
          <a:graphicData uri="http://schemas.openxmlformats.org/presentationml/2006/ole">
            <mc:AlternateContent xmlns:mc="http://schemas.openxmlformats.org/markup-compatibility/2006">
              <mc:Choice xmlns:v="urn:schemas-microsoft-com:vml" Requires="v">
                <p:oleObj spid="_x0000_s16606" name="Equation" r:id="rId9" imgW="5486400" imgH="5791200" progId="Equation.DSMT4">
                  <p:embed/>
                </p:oleObj>
              </mc:Choice>
              <mc:Fallback>
                <p:oleObj name="Equation" r:id="rId9" imgW="5486400" imgH="5791200" progId="Equation.DSMT4">
                  <p:embed/>
                  <p:pic>
                    <p:nvPicPr>
                      <p:cNvPr id="0" name="图片 16605"/>
                      <p:cNvPicPr/>
                      <p:nvPr/>
                    </p:nvPicPr>
                    <p:blipFill>
                      <a:blip r:embed="rId10"/>
                      <a:stretch>
                        <a:fillRect/>
                      </a:stretch>
                    </p:blipFill>
                    <p:spPr>
                      <a:xfrm>
                        <a:off x="7668344" y="2456912"/>
                        <a:ext cx="481171" cy="504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427984" y="2816896"/>
          <a:ext cx="481171" cy="504000"/>
        </p:xfrm>
        <a:graphic>
          <a:graphicData uri="http://schemas.openxmlformats.org/presentationml/2006/ole">
            <mc:AlternateContent xmlns:mc="http://schemas.openxmlformats.org/markup-compatibility/2006">
              <mc:Choice xmlns:v="urn:schemas-microsoft-com:vml" Requires="v">
                <p:oleObj spid="_x0000_s16607" name="Equation" r:id="rId11" imgW="5486400" imgH="5791200" progId="Equation.DSMT4">
                  <p:embed/>
                </p:oleObj>
              </mc:Choice>
              <mc:Fallback>
                <p:oleObj name="Equation" r:id="rId11" imgW="5486400" imgH="5791200" progId="Equation.DSMT4">
                  <p:embed/>
                  <p:pic>
                    <p:nvPicPr>
                      <p:cNvPr id="0" name="图片 16606"/>
                      <p:cNvPicPr/>
                      <p:nvPr/>
                    </p:nvPicPr>
                    <p:blipFill>
                      <a:blip r:embed="rId12"/>
                      <a:stretch>
                        <a:fillRect/>
                      </a:stretch>
                    </p:blipFill>
                    <p:spPr>
                      <a:xfrm>
                        <a:off x="4427984" y="2816896"/>
                        <a:ext cx="481171" cy="504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987824" y="3645024"/>
          <a:ext cx="3735388" cy="504825"/>
        </p:xfrm>
        <a:graphic>
          <a:graphicData uri="http://schemas.openxmlformats.org/presentationml/2006/ole">
            <mc:AlternateContent xmlns:mc="http://schemas.openxmlformats.org/markup-compatibility/2006">
              <mc:Choice xmlns:v="urn:schemas-microsoft-com:vml" Requires="v">
                <p:oleObj spid="_x0000_s16608" name="Equation" r:id="rId13" imgW="44805600" imgH="6096000" progId="Equation.DSMT4">
                  <p:embed/>
                </p:oleObj>
              </mc:Choice>
              <mc:Fallback>
                <p:oleObj name="Equation" r:id="rId13" imgW="44805600" imgH="6096000" progId="Equation.DSMT4">
                  <p:embed/>
                  <p:pic>
                    <p:nvPicPr>
                      <p:cNvPr id="0" name="图片 16607"/>
                      <p:cNvPicPr/>
                      <p:nvPr/>
                    </p:nvPicPr>
                    <p:blipFill>
                      <a:blip r:embed="rId14"/>
                      <a:stretch>
                        <a:fillRect/>
                      </a:stretch>
                    </p:blipFill>
                    <p:spPr>
                      <a:xfrm>
                        <a:off x="2987824" y="3645024"/>
                        <a:ext cx="3735388" cy="504825"/>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5292080" y="1844824"/>
          <a:ext cx="297442" cy="324000"/>
        </p:xfrm>
        <a:graphic>
          <a:graphicData uri="http://schemas.openxmlformats.org/presentationml/2006/ole">
            <mc:AlternateContent xmlns:mc="http://schemas.openxmlformats.org/markup-compatibility/2006">
              <mc:Choice xmlns:v="urn:schemas-microsoft-com:vml" Requires="v">
                <p:oleObj spid="_x0000_s16609" name="Equation" r:id="rId15" imgW="3048000" imgH="3352800" progId="Equation.DSMT4">
                  <p:embed/>
                </p:oleObj>
              </mc:Choice>
              <mc:Fallback>
                <p:oleObj name="Equation" r:id="rId15" imgW="3048000" imgH="3352800" progId="Equation.DSMT4">
                  <p:embed/>
                  <p:pic>
                    <p:nvPicPr>
                      <p:cNvPr id="0" name="图片 16608"/>
                      <p:cNvPicPr/>
                      <p:nvPr/>
                    </p:nvPicPr>
                    <p:blipFill>
                      <a:blip r:embed="rId16"/>
                      <a:stretch>
                        <a:fillRect/>
                      </a:stretch>
                    </p:blipFill>
                    <p:spPr>
                      <a:xfrm>
                        <a:off x="5292080" y="1844824"/>
                        <a:ext cx="297442" cy="3240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403177" y="4847233"/>
          <a:ext cx="5337175" cy="1462087"/>
        </p:xfrm>
        <a:graphic>
          <a:graphicData uri="http://schemas.openxmlformats.org/presentationml/2006/ole">
            <mc:AlternateContent xmlns:mc="http://schemas.openxmlformats.org/markup-compatibility/2006">
              <mc:Choice xmlns:v="urn:schemas-microsoft-com:vml" Requires="v">
                <p:oleObj spid="_x0000_s16610" name="Equation" r:id="rId17" imgW="64008000" imgH="17678400" progId="Equation.DSMT4">
                  <p:embed/>
                </p:oleObj>
              </mc:Choice>
              <mc:Fallback>
                <p:oleObj name="Equation" r:id="rId17" imgW="64008000" imgH="17678400" progId="Equation.DSMT4">
                  <p:embed/>
                  <p:pic>
                    <p:nvPicPr>
                      <p:cNvPr id="0" name="图片 16609"/>
                      <p:cNvPicPr/>
                      <p:nvPr/>
                    </p:nvPicPr>
                    <p:blipFill>
                      <a:blip r:embed="rId18"/>
                      <a:stretch>
                        <a:fillRect/>
                      </a:stretch>
                    </p:blipFill>
                    <p:spPr>
                      <a:xfrm>
                        <a:off x="2403177" y="4847233"/>
                        <a:ext cx="5337175" cy="1462087"/>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4.4.1 </a:t>
            </a:r>
            <a:r>
              <a:rPr lang="zh-CN" altLang="en-US" dirty="0">
                <a:latin typeface="+mn-ea"/>
              </a:rPr>
              <a:t>连续值处理</a:t>
            </a:r>
            <a:endParaRPr lang="en-US" altLang="zh-CN" dirty="0">
              <a:latin typeface="+mn-ea"/>
            </a:endParaRPr>
          </a:p>
          <a:p>
            <a:pPr lvl="1"/>
            <a:r>
              <a:rPr lang="zh-CN" altLang="en-US" dirty="0">
                <a:latin typeface="+mn-ea"/>
              </a:rPr>
              <a:t>二分法</a:t>
            </a:r>
            <a:endParaRPr lang="en-US" altLang="zh-CN" dirty="0">
              <a:latin typeface="+mn-ea"/>
            </a:endParaRPr>
          </a:p>
          <a:p>
            <a:pPr lvl="2"/>
            <a:r>
              <a:rPr lang="zh-CN" altLang="en-US" dirty="0" smtClean="0">
                <a:latin typeface="+mn-ea"/>
              </a:rPr>
              <a:t>例：基于</a:t>
            </a:r>
            <a:r>
              <a:rPr lang="zh-CN" altLang="en-US" dirty="0">
                <a:latin typeface="+mn-ea"/>
              </a:rPr>
              <a:t>信息增益的最优划分点</a:t>
            </a:r>
            <a:endParaRPr lang="zh-CN" altLang="en-US" dirty="0">
              <a:latin typeface="+mn-ea"/>
            </a:endParaRPr>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115616" y="2204864"/>
            <a:ext cx="6782219" cy="4626282"/>
          </a:xfrm>
          <a:prstGeom prst="rect">
            <a:avLst/>
          </a:prstGeom>
        </p:spPr>
      </p:pic>
    </p:spTree>
  </p:cSld>
  <p:clrMapOvr>
    <a:masterClrMapping/>
  </p:clrMapOvr>
  <p:transition>
    <p:cover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123727" y="4180656"/>
            <a:ext cx="5321479" cy="2560712"/>
          </a:xfrm>
          <a:prstGeom prst="rect">
            <a:avLst/>
          </a:prstGeom>
        </p:spPr>
      </p:pic>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4.4.1 </a:t>
            </a:r>
            <a:r>
              <a:rPr lang="zh-CN" altLang="en-US" dirty="0">
                <a:latin typeface="+mn-ea"/>
              </a:rPr>
              <a:t>连续值处理</a:t>
            </a:r>
            <a:endParaRPr lang="en-US" altLang="zh-CN" dirty="0">
              <a:latin typeface="+mn-ea"/>
            </a:endParaRPr>
          </a:p>
          <a:p>
            <a:pPr lvl="1"/>
            <a:r>
              <a:rPr lang="zh-CN" altLang="en-US" dirty="0">
                <a:latin typeface="+mn-ea"/>
              </a:rPr>
              <a:t>二分法</a:t>
            </a:r>
            <a:endParaRPr lang="en-US" altLang="zh-CN" dirty="0">
              <a:latin typeface="+mn-ea"/>
            </a:endParaRPr>
          </a:p>
          <a:p>
            <a:pPr lvl="2"/>
            <a:r>
              <a:rPr lang="zh-CN" altLang="en-US" dirty="0">
                <a:latin typeface="+mn-ea"/>
              </a:rPr>
              <a:t>例：基于信息增益的最优划分</a:t>
            </a:r>
            <a:r>
              <a:rPr lang="zh-CN" altLang="en-US" dirty="0" smtClean="0">
                <a:latin typeface="+mn-ea"/>
              </a:rPr>
              <a:t>点</a:t>
            </a:r>
            <a:endParaRPr lang="en-US" altLang="zh-CN" dirty="0" smtClean="0">
              <a:latin typeface="+mn-ea"/>
            </a:endParaRPr>
          </a:p>
          <a:p>
            <a:pPr lvl="3"/>
            <a:r>
              <a:rPr lang="zh-CN" altLang="en-US" dirty="0">
                <a:latin typeface="+mn-ea"/>
              </a:rPr>
              <a:t>对</a:t>
            </a:r>
            <a:r>
              <a:rPr lang="zh-CN" altLang="en-US" dirty="0" smtClean="0">
                <a:latin typeface="+mn-ea"/>
              </a:rPr>
              <a:t>属性密度</a:t>
            </a:r>
            <a:r>
              <a:rPr lang="zh-CN" altLang="en-US" dirty="0">
                <a:latin typeface="+mn-ea"/>
              </a:rPr>
              <a:t>，候选划分点集合包含</a:t>
            </a:r>
            <a:r>
              <a:rPr lang="en-US" altLang="zh-CN" dirty="0">
                <a:latin typeface="+mn-ea"/>
              </a:rPr>
              <a:t>16</a:t>
            </a:r>
            <a:r>
              <a:rPr lang="zh-CN" altLang="en-US" dirty="0">
                <a:latin typeface="+mn-ea"/>
              </a:rPr>
              <a:t>个候选值根据</a:t>
            </a:r>
            <a:r>
              <a:rPr lang="zh-CN" altLang="en-US" dirty="0" smtClean="0">
                <a:latin typeface="+mn-ea"/>
              </a:rPr>
              <a:t>前面的式子可得</a:t>
            </a:r>
            <a:endParaRPr lang="en-US" altLang="zh-CN" dirty="0" smtClean="0">
              <a:latin typeface="+mn-ea"/>
            </a:endParaRPr>
          </a:p>
          <a:p>
            <a:pPr lvl="3">
              <a:spcBef>
                <a:spcPts val="600"/>
              </a:spcBef>
            </a:pPr>
            <a:r>
              <a:rPr lang="zh-CN" altLang="en-US" dirty="0">
                <a:latin typeface="+mn-ea"/>
              </a:rPr>
              <a:t>对</a:t>
            </a:r>
            <a:r>
              <a:rPr lang="zh-CN" altLang="en-US" dirty="0" smtClean="0">
                <a:latin typeface="+mn-ea"/>
              </a:rPr>
              <a:t>属性含糖率</a:t>
            </a:r>
            <a:r>
              <a:rPr lang="zh-CN" altLang="en-US" dirty="0">
                <a:latin typeface="+mn-ea"/>
              </a:rPr>
              <a:t>，候选划分点集合也包含</a:t>
            </a:r>
            <a:r>
              <a:rPr lang="en-US" altLang="zh-CN" dirty="0">
                <a:latin typeface="+mn-ea"/>
              </a:rPr>
              <a:t>16</a:t>
            </a:r>
            <a:r>
              <a:rPr lang="zh-CN" altLang="en-US" dirty="0">
                <a:latin typeface="+mn-ea"/>
              </a:rPr>
              <a:t>个候选值根据</a:t>
            </a:r>
            <a:r>
              <a:rPr lang="zh-CN" altLang="en-US" dirty="0">
                <a:latin typeface="+mn-ea"/>
              </a:rPr>
              <a:t>前面的式子可得</a:t>
            </a:r>
            <a:endParaRPr lang="en-US" altLang="zh-CN" dirty="0">
              <a:latin typeface="+mn-ea"/>
            </a:endParaRPr>
          </a:p>
          <a:p>
            <a:pPr lvl="3">
              <a:spcBef>
                <a:spcPts val="600"/>
              </a:spcBef>
            </a:pPr>
            <a:r>
              <a:rPr lang="zh-CN" altLang="en-US" dirty="0" smtClean="0">
                <a:latin typeface="+mn-ea"/>
              </a:rPr>
              <a:t>然后根据各</a:t>
            </a:r>
            <a:r>
              <a:rPr lang="zh-CN" altLang="en-US" dirty="0">
                <a:latin typeface="+mn-ea"/>
              </a:rPr>
              <a:t>属性的信息</a:t>
            </a:r>
            <a:r>
              <a:rPr lang="zh-CN" altLang="en-US" dirty="0" smtClean="0">
                <a:latin typeface="+mn-ea"/>
              </a:rPr>
              <a:t>增益最终生成决策树</a:t>
            </a:r>
            <a:endParaRPr lang="en-US" altLang="zh-CN" dirty="0" smtClean="0">
              <a:latin typeface="+mn-ea"/>
            </a:endParaRPr>
          </a:p>
          <a:p>
            <a:pPr lvl="4"/>
            <a:r>
              <a:rPr lang="zh-CN" altLang="en-US" dirty="0">
                <a:latin typeface="+mn-ea"/>
              </a:rPr>
              <a:t>与离散属性不同</a:t>
            </a:r>
            <a:r>
              <a:rPr lang="zh-CN" altLang="en-US" dirty="0" smtClean="0">
                <a:latin typeface="+mn-ea"/>
              </a:rPr>
              <a:t>，连续属性还</a:t>
            </a:r>
            <a:r>
              <a:rPr lang="zh-CN" altLang="en-US" dirty="0">
                <a:latin typeface="+mn-ea"/>
              </a:rPr>
              <a:t>可作为其后代结点的划分属性</a:t>
            </a:r>
            <a:endParaRPr lang="zh-CN" altLang="en-US"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995936" y="2420888"/>
          <a:ext cx="1360821" cy="468000"/>
        </p:xfrm>
        <a:graphic>
          <a:graphicData uri="http://schemas.openxmlformats.org/presentationml/2006/ole">
            <mc:AlternateContent xmlns:mc="http://schemas.openxmlformats.org/markup-compatibility/2006">
              <mc:Choice xmlns:v="urn:schemas-microsoft-com:vml" Requires="v">
                <p:oleObj spid="_x0000_s10361" name="Equation" r:id="rId2" imgW="16764000" imgH="5791200" progId="Equation.DSMT4">
                  <p:embed/>
                </p:oleObj>
              </mc:Choice>
              <mc:Fallback>
                <p:oleObj name="Equation" r:id="rId2" imgW="16764000" imgH="5791200" progId="Equation.DSMT4">
                  <p:embed/>
                  <p:pic>
                    <p:nvPicPr>
                      <p:cNvPr id="0" name="图片 10360"/>
                      <p:cNvPicPr/>
                      <p:nvPr/>
                    </p:nvPicPr>
                    <p:blipFill>
                      <a:blip r:embed="rId3"/>
                      <a:stretch>
                        <a:fillRect/>
                      </a:stretch>
                    </p:blipFill>
                    <p:spPr>
                      <a:xfrm>
                        <a:off x="3995936" y="2420888"/>
                        <a:ext cx="1360821" cy="468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453235" y="3104704"/>
          <a:ext cx="1558925" cy="468312"/>
        </p:xfrm>
        <a:graphic>
          <a:graphicData uri="http://schemas.openxmlformats.org/presentationml/2006/ole">
            <mc:AlternateContent xmlns:mc="http://schemas.openxmlformats.org/markup-compatibility/2006">
              <mc:Choice xmlns:v="urn:schemas-microsoft-com:vml" Requires="v">
                <p:oleObj spid="_x0000_s10362" name="Equation" r:id="rId4" imgW="19202400" imgH="5791200" progId="Equation.DSMT4">
                  <p:embed/>
                </p:oleObj>
              </mc:Choice>
              <mc:Fallback>
                <p:oleObj name="Equation" r:id="rId4" imgW="19202400" imgH="5791200" progId="Equation.DSMT4">
                  <p:embed/>
                  <p:pic>
                    <p:nvPicPr>
                      <p:cNvPr id="0" name="图片 10361"/>
                      <p:cNvPicPr/>
                      <p:nvPr/>
                    </p:nvPicPr>
                    <p:blipFill>
                      <a:blip r:embed="rId5"/>
                      <a:stretch>
                        <a:fillRect/>
                      </a:stretch>
                    </p:blipFill>
                    <p:spPr>
                      <a:xfrm>
                        <a:off x="4453235" y="3104704"/>
                        <a:ext cx="1558925" cy="468312"/>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a:xfrm>
            <a:off x="683568" y="836712"/>
            <a:ext cx="7772400" cy="4320480"/>
          </a:xfrm>
        </p:spPr>
        <p:txBody>
          <a:bodyPr/>
          <a:lstStyle/>
          <a:p>
            <a:r>
              <a:rPr lang="en-US" altLang="zh-CN" dirty="0" smtClean="0">
                <a:latin typeface="+mn-ea"/>
              </a:rPr>
              <a:t>4.4.2 </a:t>
            </a:r>
            <a:r>
              <a:rPr lang="zh-CN" altLang="en-US" dirty="0" smtClean="0">
                <a:latin typeface="+mn-ea"/>
              </a:rPr>
              <a:t>缺失</a:t>
            </a:r>
            <a:r>
              <a:rPr lang="zh-CN" altLang="en-US" dirty="0">
                <a:latin typeface="+mn-ea"/>
              </a:rPr>
              <a:t>值</a:t>
            </a:r>
            <a:r>
              <a:rPr lang="zh-CN" altLang="en-US" dirty="0" smtClean="0">
                <a:latin typeface="+mn-ea"/>
              </a:rPr>
              <a:t>处理</a:t>
            </a:r>
            <a:endParaRPr lang="en-US" altLang="zh-CN" dirty="0" smtClean="0">
              <a:latin typeface="+mn-ea"/>
            </a:endParaRPr>
          </a:p>
          <a:p>
            <a:pPr lvl="1"/>
            <a:r>
              <a:rPr lang="zh-CN" altLang="en-US" dirty="0">
                <a:latin typeface="+mn-ea"/>
              </a:rPr>
              <a:t>属性值缺失现象</a:t>
            </a:r>
            <a:endParaRPr lang="en-US" altLang="zh-CN" dirty="0">
              <a:latin typeface="+mn-ea"/>
            </a:endParaRPr>
          </a:p>
          <a:p>
            <a:pPr lvl="2"/>
            <a:r>
              <a:rPr lang="zh-CN" altLang="en-US" dirty="0">
                <a:latin typeface="+mn-ea"/>
              </a:rPr>
              <a:t>不完整样本，即样本的某些属性值缺失</a:t>
            </a:r>
            <a:endParaRPr lang="en-US" altLang="zh-CN" dirty="0" smtClean="0">
              <a:latin typeface="+mn-ea"/>
            </a:endParaRPr>
          </a:p>
          <a:p>
            <a:pPr lvl="2"/>
            <a:r>
              <a:rPr lang="zh-CN" altLang="en-US" dirty="0" smtClean="0">
                <a:latin typeface="+mn-ea"/>
              </a:rPr>
              <a:t>由于</a:t>
            </a:r>
            <a:r>
              <a:rPr lang="zh-CN" altLang="en-US" dirty="0">
                <a:latin typeface="+mn-ea"/>
              </a:rPr>
              <a:t>属性较多、隐私保护</a:t>
            </a:r>
            <a:r>
              <a:rPr lang="zh-CN" altLang="en-US" dirty="0" smtClean="0">
                <a:latin typeface="+mn-ea"/>
              </a:rPr>
              <a:t>等因素</a:t>
            </a:r>
            <a:endParaRPr lang="en-US" altLang="zh-CN" dirty="0">
              <a:latin typeface="+mn-ea"/>
            </a:endParaRPr>
          </a:p>
          <a:p>
            <a:pPr lvl="2"/>
            <a:r>
              <a:rPr lang="zh-CN" altLang="en-US" dirty="0" smtClean="0">
                <a:latin typeface="+mn-ea"/>
              </a:rPr>
              <a:t>仅</a:t>
            </a:r>
            <a:r>
              <a:rPr lang="zh-CN" altLang="en-US" dirty="0">
                <a:latin typeface="+mn-ea"/>
              </a:rPr>
              <a:t>使用无</a:t>
            </a:r>
            <a:r>
              <a:rPr lang="zh-CN" altLang="en-US" dirty="0" smtClean="0">
                <a:latin typeface="+mn-ea"/>
              </a:rPr>
              <a:t>缺失值的</a:t>
            </a:r>
            <a:r>
              <a:rPr lang="zh-CN" altLang="en-US" dirty="0">
                <a:latin typeface="+mn-ea"/>
              </a:rPr>
              <a:t>样</a:t>
            </a:r>
            <a:r>
              <a:rPr lang="zh-CN" altLang="en-US" dirty="0" smtClean="0">
                <a:latin typeface="+mn-ea"/>
              </a:rPr>
              <a:t>例，对</a:t>
            </a:r>
            <a:r>
              <a:rPr lang="zh-CN" altLang="en-US" dirty="0" smtClean="0">
                <a:latin typeface="+mn-ea"/>
              </a:rPr>
              <a:t>数据信息是极</a:t>
            </a:r>
            <a:r>
              <a:rPr lang="zh-CN" altLang="en-US" dirty="0">
                <a:latin typeface="+mn-ea"/>
              </a:rPr>
              <a:t>大</a:t>
            </a:r>
            <a:r>
              <a:rPr lang="zh-CN" altLang="en-US" dirty="0" smtClean="0">
                <a:latin typeface="+mn-ea"/>
              </a:rPr>
              <a:t>浪费</a:t>
            </a:r>
            <a:endParaRPr lang="en-US" altLang="zh-CN" dirty="0" smtClean="0">
              <a:latin typeface="+mn-ea"/>
            </a:endParaRPr>
          </a:p>
          <a:p>
            <a:pPr lvl="1"/>
            <a:r>
              <a:rPr lang="zh-CN" altLang="en-US" dirty="0">
                <a:latin typeface="+mn-ea"/>
              </a:rPr>
              <a:t>使用带缺失值的样</a:t>
            </a:r>
            <a:r>
              <a:rPr lang="zh-CN" altLang="en-US" dirty="0" smtClean="0">
                <a:latin typeface="+mn-ea"/>
              </a:rPr>
              <a:t>例</a:t>
            </a:r>
            <a:endParaRPr lang="en-US" altLang="zh-CN" dirty="0" smtClean="0">
              <a:latin typeface="+mn-ea"/>
            </a:endParaRPr>
          </a:p>
          <a:p>
            <a:pPr lvl="2"/>
            <a:r>
              <a:rPr lang="zh-CN" altLang="en-US" dirty="0">
                <a:latin typeface="+mn-ea"/>
              </a:rPr>
              <a:t>如何在属性值缺失的情况下进行</a:t>
            </a:r>
            <a:r>
              <a:rPr lang="zh-CN" altLang="en-US" dirty="0">
                <a:latin typeface="+mn-ea"/>
              </a:rPr>
              <a:t>划分属性</a:t>
            </a:r>
            <a:r>
              <a:rPr lang="zh-CN" altLang="en-US" dirty="0" smtClean="0">
                <a:latin typeface="+mn-ea"/>
              </a:rPr>
              <a:t>选择</a:t>
            </a:r>
            <a:endParaRPr lang="en-US" altLang="zh-CN" dirty="0" smtClean="0">
              <a:latin typeface="+mn-ea"/>
            </a:endParaRPr>
          </a:p>
          <a:p>
            <a:pPr lvl="2"/>
            <a:r>
              <a:rPr lang="zh-CN" altLang="en-US" dirty="0">
                <a:latin typeface="+mn-ea"/>
              </a:rPr>
              <a:t>给定划分属性</a:t>
            </a:r>
            <a:r>
              <a:rPr lang="zh-CN" altLang="en-US" dirty="0" smtClean="0">
                <a:latin typeface="+mn-ea"/>
              </a:rPr>
              <a:t>，样本</a:t>
            </a:r>
            <a:r>
              <a:rPr lang="zh-CN" altLang="en-US" dirty="0">
                <a:latin typeface="+mn-ea"/>
              </a:rPr>
              <a:t>在该</a:t>
            </a:r>
            <a:r>
              <a:rPr lang="zh-CN" altLang="en-US" dirty="0" smtClean="0">
                <a:latin typeface="+mn-ea"/>
              </a:rPr>
              <a:t>属性值</a:t>
            </a:r>
            <a:r>
              <a:rPr lang="zh-CN" altLang="en-US" dirty="0">
                <a:latin typeface="+mn-ea"/>
              </a:rPr>
              <a:t>缺失，</a:t>
            </a:r>
            <a:r>
              <a:rPr lang="zh-CN" altLang="en-US" dirty="0" smtClean="0">
                <a:latin typeface="+mn-ea"/>
              </a:rPr>
              <a:t>如何划分</a:t>
            </a:r>
            <a:endParaRPr lang="en-US" altLang="zh-CN" dirty="0" smtClean="0">
              <a:latin typeface="+mn-ea"/>
            </a:endParaRPr>
          </a:p>
          <a:p>
            <a:pPr lvl="2"/>
            <a:endParaRPr lang="en-US" altLang="zh-CN" dirty="0">
              <a:latin typeface="+mn-ea"/>
            </a:endParaRPr>
          </a:p>
          <a:p>
            <a:pPr lvl="3"/>
            <a:endParaRPr lang="zh-CN" altLang="en-US" dirty="0">
              <a:latin typeface="+mn-ea"/>
            </a:endParaRPr>
          </a:p>
          <a:p>
            <a:pPr lvl="1"/>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a:xfrm>
            <a:off x="683568" y="836712"/>
            <a:ext cx="7772400" cy="5688632"/>
          </a:xfrm>
        </p:spPr>
        <p:txBody>
          <a:bodyPr/>
          <a:lstStyle/>
          <a:p>
            <a:r>
              <a:rPr lang="en-US" altLang="zh-CN" dirty="0" smtClean="0">
                <a:latin typeface="+mn-ea"/>
              </a:rPr>
              <a:t>4.4.2 </a:t>
            </a:r>
            <a:r>
              <a:rPr lang="zh-CN" altLang="en-US" dirty="0" smtClean="0">
                <a:latin typeface="+mn-ea"/>
              </a:rPr>
              <a:t>缺失</a:t>
            </a:r>
            <a:r>
              <a:rPr lang="zh-CN" altLang="en-US" dirty="0">
                <a:latin typeface="+mn-ea"/>
              </a:rPr>
              <a:t>值</a:t>
            </a:r>
            <a:r>
              <a:rPr lang="zh-CN" altLang="en-US" dirty="0" smtClean="0">
                <a:latin typeface="+mn-ea"/>
              </a:rPr>
              <a:t>处理</a:t>
            </a:r>
            <a:endParaRPr lang="en-US" altLang="zh-CN" dirty="0" smtClean="0">
              <a:latin typeface="+mn-ea"/>
            </a:endParaRPr>
          </a:p>
          <a:p>
            <a:pPr lvl="1"/>
            <a:r>
              <a:rPr lang="zh-CN" altLang="en-US" dirty="0" smtClean="0">
                <a:latin typeface="+mn-ea"/>
              </a:rPr>
              <a:t>基本</a:t>
            </a:r>
            <a:r>
              <a:rPr lang="zh-CN" altLang="en-US" dirty="0">
                <a:latin typeface="+mn-ea"/>
              </a:rPr>
              <a:t>思路：样本赋权，权重划分</a:t>
            </a:r>
            <a:endParaRPr lang="zh-CN" altLang="en-US" dirty="0">
              <a:latin typeface="+mn-ea"/>
            </a:endParaRPr>
          </a:p>
          <a:p>
            <a:pPr lvl="2"/>
            <a:r>
              <a:rPr lang="zh-CN" altLang="en-US" dirty="0">
                <a:latin typeface="+mn-ea"/>
              </a:rPr>
              <a:t>给定训练集</a:t>
            </a:r>
            <a:r>
              <a:rPr lang="en-US" altLang="zh-CN" dirty="0">
                <a:latin typeface="+mn-ea"/>
              </a:rPr>
              <a:t>D</a:t>
            </a:r>
            <a:r>
              <a:rPr lang="zh-CN" altLang="en-US" dirty="0">
                <a:latin typeface="+mn-ea"/>
              </a:rPr>
              <a:t>和</a:t>
            </a:r>
            <a:r>
              <a:rPr lang="zh-CN" altLang="en-US" dirty="0" smtClean="0">
                <a:latin typeface="+mn-ea"/>
              </a:rPr>
              <a:t>属性</a:t>
            </a:r>
            <a:r>
              <a:rPr lang="en-US" altLang="zh-CN" dirty="0" smtClean="0">
                <a:latin typeface="+mn-ea"/>
              </a:rPr>
              <a:t> </a:t>
            </a:r>
            <a:r>
              <a:rPr lang="zh-CN" altLang="en-US" dirty="0" smtClean="0">
                <a:latin typeface="+mn-ea"/>
              </a:rPr>
              <a:t>， 表示</a:t>
            </a:r>
            <a:r>
              <a:rPr lang="en-US" altLang="zh-CN" dirty="0">
                <a:latin typeface="+mn-ea"/>
              </a:rPr>
              <a:t>D</a:t>
            </a:r>
            <a:r>
              <a:rPr lang="zh-CN" altLang="en-US" dirty="0" smtClean="0">
                <a:latin typeface="+mn-ea"/>
              </a:rPr>
              <a:t>中属性</a:t>
            </a:r>
            <a:r>
              <a:rPr lang="en-US" altLang="zh-CN" dirty="0" smtClean="0">
                <a:latin typeface="+mn-ea"/>
              </a:rPr>
              <a:t> </a:t>
            </a:r>
            <a:r>
              <a:rPr lang="zh-CN" altLang="en-US" dirty="0" smtClean="0">
                <a:latin typeface="+mn-ea"/>
              </a:rPr>
              <a:t>上</a:t>
            </a:r>
            <a:r>
              <a:rPr lang="zh-CN" altLang="en-US" dirty="0">
                <a:latin typeface="+mn-ea"/>
              </a:rPr>
              <a:t>没有缺失值的</a:t>
            </a:r>
            <a:r>
              <a:rPr lang="zh-CN" altLang="en-US" dirty="0" smtClean="0">
                <a:latin typeface="+mn-ea"/>
              </a:rPr>
              <a:t>样本</a:t>
            </a:r>
            <a:r>
              <a:rPr lang="zh-CN" altLang="en-US" dirty="0" smtClean="0">
                <a:latin typeface="+mn-ea"/>
              </a:rPr>
              <a:t>子集</a:t>
            </a:r>
            <a:r>
              <a:rPr lang="en-US" altLang="zh-CN" dirty="0" smtClean="0">
                <a:latin typeface="+mn-ea"/>
              </a:rPr>
              <a:t>(</a:t>
            </a:r>
            <a:r>
              <a:rPr lang="zh-CN" altLang="en-US" dirty="0" smtClean="0">
                <a:latin typeface="+mn-ea"/>
              </a:rPr>
              <a:t>问题</a:t>
            </a:r>
            <a:r>
              <a:rPr lang="en-US" altLang="zh-CN" dirty="0" smtClean="0">
                <a:latin typeface="+mn-ea"/>
              </a:rPr>
              <a:t>1)</a:t>
            </a:r>
            <a:endParaRPr lang="en-US" altLang="zh-CN" dirty="0" smtClean="0">
              <a:latin typeface="+mn-ea"/>
            </a:endParaRPr>
          </a:p>
          <a:p>
            <a:pPr lvl="2"/>
            <a:r>
              <a:rPr lang="zh-CN" altLang="en-US" dirty="0" smtClean="0">
                <a:latin typeface="+mn-ea"/>
              </a:rPr>
              <a:t>对于划分</a:t>
            </a:r>
            <a:r>
              <a:rPr lang="zh-CN" altLang="en-US" dirty="0">
                <a:latin typeface="+mn-ea"/>
              </a:rPr>
              <a:t>属性</a:t>
            </a:r>
            <a:r>
              <a:rPr lang="zh-CN" altLang="en-US" dirty="0" smtClean="0">
                <a:latin typeface="+mn-ea"/>
              </a:rPr>
              <a:t>选择，根据</a:t>
            </a:r>
            <a:r>
              <a:rPr lang="en-US" altLang="zh-CN" dirty="0" smtClean="0">
                <a:latin typeface="+mn-ea"/>
              </a:rPr>
              <a:t>  </a:t>
            </a:r>
            <a:r>
              <a:rPr lang="zh-CN" altLang="en-US" dirty="0" smtClean="0">
                <a:latin typeface="+mn-ea"/>
              </a:rPr>
              <a:t>判断属性  的优劣</a:t>
            </a:r>
            <a:endParaRPr lang="en-US" altLang="zh-CN" dirty="0" smtClean="0">
              <a:latin typeface="+mn-ea"/>
            </a:endParaRPr>
          </a:p>
          <a:p>
            <a:pPr lvl="3"/>
            <a:r>
              <a:rPr lang="zh-CN" altLang="en-US" dirty="0" smtClean="0">
                <a:latin typeface="+mn-ea"/>
              </a:rPr>
              <a:t>设</a:t>
            </a:r>
            <a:r>
              <a:rPr lang="en-US" altLang="zh-CN" dirty="0" smtClean="0">
                <a:latin typeface="+mn-ea"/>
              </a:rPr>
              <a:t>  </a:t>
            </a:r>
            <a:r>
              <a:rPr lang="zh-CN" altLang="en-US" dirty="0" smtClean="0">
                <a:latin typeface="+mn-ea"/>
              </a:rPr>
              <a:t>有</a:t>
            </a:r>
            <a:r>
              <a:rPr lang="en-US" altLang="zh-CN" dirty="0" smtClean="0">
                <a:latin typeface="+mn-ea"/>
              </a:rPr>
              <a:t>V</a:t>
            </a:r>
            <a:r>
              <a:rPr lang="zh-CN" altLang="en-US" dirty="0" smtClean="0">
                <a:latin typeface="+mn-ea"/>
              </a:rPr>
              <a:t>个取值，</a:t>
            </a:r>
            <a:r>
              <a:rPr lang="en-US" altLang="zh-CN" dirty="0" smtClean="0">
                <a:latin typeface="+mn-ea"/>
              </a:rPr>
              <a:t>  </a:t>
            </a:r>
            <a:r>
              <a:rPr lang="zh-CN" altLang="en-US" dirty="0" smtClean="0">
                <a:latin typeface="+mn-ea"/>
              </a:rPr>
              <a:t>表示</a:t>
            </a:r>
            <a:r>
              <a:rPr lang="en-US" altLang="zh-CN" dirty="0" smtClean="0">
                <a:latin typeface="+mn-ea"/>
              </a:rPr>
              <a:t>  </a:t>
            </a:r>
            <a:r>
              <a:rPr lang="zh-CN" altLang="en-US" dirty="0" smtClean="0">
                <a:latin typeface="+mn-ea"/>
              </a:rPr>
              <a:t>中属性取值</a:t>
            </a:r>
            <a:r>
              <a:rPr lang="en-US" altLang="zh-CN" dirty="0" smtClean="0">
                <a:latin typeface="+mn-ea"/>
              </a:rPr>
              <a:t>  </a:t>
            </a:r>
            <a:r>
              <a:rPr lang="zh-CN" altLang="en-US" dirty="0" smtClean="0">
                <a:latin typeface="+mn-ea"/>
              </a:rPr>
              <a:t>的</a:t>
            </a:r>
            <a:r>
              <a:rPr lang="zh-CN" altLang="en-US" dirty="0">
                <a:latin typeface="+mn-ea"/>
              </a:rPr>
              <a:t>样本</a:t>
            </a:r>
            <a:r>
              <a:rPr lang="zh-CN" altLang="en-US" dirty="0" smtClean="0">
                <a:latin typeface="+mn-ea"/>
              </a:rPr>
              <a:t>子集</a:t>
            </a:r>
            <a:endParaRPr lang="en-US" altLang="zh-CN" dirty="0" smtClean="0">
              <a:latin typeface="+mn-ea"/>
            </a:endParaRPr>
          </a:p>
          <a:p>
            <a:pPr lvl="3"/>
            <a:r>
              <a:rPr lang="zh-CN" altLang="en-US" dirty="0" smtClean="0">
                <a:latin typeface="+mn-ea"/>
              </a:rPr>
              <a:t>  表示</a:t>
            </a:r>
            <a:r>
              <a:rPr lang="en-US" altLang="zh-CN" dirty="0">
                <a:latin typeface="+mn-ea"/>
              </a:rPr>
              <a:t>D</a:t>
            </a:r>
            <a:r>
              <a:rPr lang="zh-CN" altLang="en-US" dirty="0">
                <a:latin typeface="+mn-ea"/>
              </a:rPr>
              <a:t>中属于</a:t>
            </a:r>
            <a:r>
              <a:rPr lang="zh-CN" altLang="en-US" dirty="0" smtClean="0">
                <a:latin typeface="+mn-ea"/>
              </a:rPr>
              <a:t>第</a:t>
            </a:r>
            <a:r>
              <a:rPr lang="en-US" altLang="zh-CN" dirty="0" smtClean="0">
                <a:latin typeface="+mn-ea"/>
              </a:rPr>
              <a:t>k</a:t>
            </a:r>
            <a:r>
              <a:rPr lang="zh-CN" altLang="en-US" dirty="0" smtClean="0">
                <a:latin typeface="+mn-ea"/>
              </a:rPr>
              <a:t>类</a:t>
            </a:r>
            <a:r>
              <a:rPr lang="en-US" altLang="zh-CN" dirty="0" smtClean="0">
                <a:latin typeface="+mn-ea"/>
              </a:rPr>
              <a:t>              </a:t>
            </a:r>
            <a:r>
              <a:rPr lang="zh-CN" altLang="en-US" dirty="0" smtClean="0">
                <a:latin typeface="+mn-ea"/>
              </a:rPr>
              <a:t>的</a:t>
            </a:r>
            <a:r>
              <a:rPr lang="zh-CN" altLang="en-US" dirty="0">
                <a:latin typeface="+mn-ea"/>
              </a:rPr>
              <a:t>样本</a:t>
            </a:r>
            <a:r>
              <a:rPr lang="zh-CN" altLang="en-US" dirty="0" smtClean="0">
                <a:latin typeface="+mn-ea"/>
              </a:rPr>
              <a:t>子集</a:t>
            </a:r>
            <a:r>
              <a:rPr lang="en-US" altLang="zh-CN" dirty="0" smtClean="0">
                <a:latin typeface="+mn-ea"/>
              </a:rPr>
              <a:t> </a:t>
            </a:r>
            <a:endParaRPr lang="en-US" altLang="zh-CN" dirty="0" smtClean="0">
              <a:latin typeface="+mn-ea"/>
            </a:endParaRPr>
          </a:p>
          <a:p>
            <a:pPr lvl="3"/>
            <a:r>
              <a:rPr lang="zh-CN" altLang="en-US" dirty="0">
                <a:latin typeface="+mn-ea"/>
              </a:rPr>
              <a:t>为每个</a:t>
            </a:r>
            <a:r>
              <a:rPr lang="zh-CN" altLang="en-US" dirty="0" smtClean="0">
                <a:latin typeface="+mn-ea"/>
              </a:rPr>
              <a:t>样本</a:t>
            </a:r>
            <a:r>
              <a:rPr lang="en-US" altLang="zh-CN" dirty="0">
                <a:latin typeface="+mn-ea"/>
              </a:rPr>
              <a:t> </a:t>
            </a:r>
            <a:r>
              <a:rPr lang="en-US" altLang="zh-CN" dirty="0" smtClean="0">
                <a:latin typeface="+mn-ea"/>
              </a:rPr>
              <a:t> </a:t>
            </a:r>
            <a:r>
              <a:rPr lang="zh-CN" altLang="en-US" dirty="0" smtClean="0">
                <a:latin typeface="+mn-ea"/>
              </a:rPr>
              <a:t>赋予</a:t>
            </a:r>
            <a:r>
              <a:rPr lang="zh-CN" altLang="en-US" dirty="0">
                <a:latin typeface="+mn-ea"/>
              </a:rPr>
              <a:t>一个</a:t>
            </a:r>
            <a:r>
              <a:rPr lang="zh-CN" altLang="en-US" dirty="0" smtClean="0">
                <a:latin typeface="+mn-ea"/>
              </a:rPr>
              <a:t>权重  </a:t>
            </a:r>
            <a:r>
              <a:rPr lang="en-US" altLang="zh-CN" dirty="0">
                <a:latin typeface="+mn-ea"/>
              </a:rPr>
              <a:t> </a:t>
            </a:r>
            <a:r>
              <a:rPr lang="en-US" altLang="zh-CN" dirty="0" smtClean="0">
                <a:latin typeface="+mn-ea"/>
              </a:rPr>
              <a:t>,</a:t>
            </a:r>
            <a:r>
              <a:rPr lang="zh-CN" altLang="en-US" dirty="0" smtClean="0">
                <a:latin typeface="+mn-ea"/>
              </a:rPr>
              <a:t>定义</a:t>
            </a:r>
            <a:endParaRPr lang="en-US" altLang="zh-CN" dirty="0" smtClean="0">
              <a:latin typeface="+mn-ea"/>
            </a:endParaRPr>
          </a:p>
          <a:p>
            <a:pPr lvl="3"/>
            <a:endParaRPr lang="en-US" altLang="zh-CN" dirty="0" smtClean="0">
              <a:latin typeface="+mn-ea"/>
            </a:endParaRPr>
          </a:p>
          <a:p>
            <a:pPr lvl="3"/>
            <a:endParaRPr lang="en-US" altLang="zh-CN" dirty="0">
              <a:latin typeface="+mn-ea"/>
            </a:endParaRPr>
          </a:p>
          <a:p>
            <a:pPr lvl="4"/>
            <a:r>
              <a:rPr lang="zh-CN" altLang="en-US" dirty="0">
                <a:latin typeface="+mn-ea"/>
              </a:rPr>
              <a:t>无缺失值样本所占</a:t>
            </a:r>
            <a:r>
              <a:rPr lang="zh-CN" altLang="en-US" dirty="0" smtClean="0">
                <a:latin typeface="+mn-ea"/>
              </a:rPr>
              <a:t>比例</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r>
              <a:rPr lang="zh-CN" altLang="en-US" dirty="0">
                <a:latin typeface="+mn-ea"/>
              </a:rPr>
              <a:t>无缺失值样本中第</a:t>
            </a:r>
            <a:r>
              <a:rPr lang="en-US" altLang="zh-CN" dirty="0">
                <a:latin typeface="+mn-ea"/>
              </a:rPr>
              <a:t>k</a:t>
            </a:r>
            <a:r>
              <a:rPr lang="zh-CN" altLang="en-US" dirty="0">
                <a:latin typeface="+mn-ea"/>
              </a:rPr>
              <a:t>类所占</a:t>
            </a:r>
            <a:r>
              <a:rPr lang="zh-CN" altLang="en-US" dirty="0" smtClean="0">
                <a:latin typeface="+mn-ea"/>
              </a:rPr>
              <a:t>比例</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r>
              <a:rPr lang="zh-CN" altLang="en-US" dirty="0">
                <a:latin typeface="+mn-ea"/>
              </a:rPr>
              <a:t>无缺失值样本</a:t>
            </a:r>
            <a:r>
              <a:rPr lang="zh-CN" altLang="en-US" dirty="0" smtClean="0">
                <a:latin typeface="+mn-ea"/>
              </a:rPr>
              <a:t>属性</a:t>
            </a:r>
            <a:r>
              <a:rPr lang="en-US" altLang="zh-CN" dirty="0">
                <a:latin typeface="+mn-ea"/>
              </a:rPr>
              <a:t> </a:t>
            </a:r>
            <a:r>
              <a:rPr lang="en-US" altLang="zh-CN" dirty="0" smtClean="0">
                <a:latin typeface="+mn-ea"/>
              </a:rPr>
              <a:t> </a:t>
            </a:r>
            <a:r>
              <a:rPr lang="zh-CN" altLang="en-US" dirty="0" smtClean="0">
                <a:latin typeface="+mn-ea"/>
              </a:rPr>
              <a:t>取值</a:t>
            </a:r>
            <a:r>
              <a:rPr lang="en-US" altLang="zh-CN" dirty="0" smtClean="0">
                <a:latin typeface="+mn-ea"/>
              </a:rPr>
              <a:t>  </a:t>
            </a:r>
            <a:r>
              <a:rPr lang="zh-CN" altLang="en-US" dirty="0" smtClean="0">
                <a:latin typeface="+mn-ea"/>
              </a:rPr>
              <a:t>样本</a:t>
            </a:r>
            <a:r>
              <a:rPr lang="zh-CN" altLang="en-US" dirty="0">
                <a:latin typeface="+mn-ea"/>
              </a:rPr>
              <a:t>所占比例</a:t>
            </a:r>
            <a:endParaRPr lang="en-US" altLang="zh-CN" dirty="0">
              <a:latin typeface="+mn-ea"/>
            </a:endParaRPr>
          </a:p>
          <a:p>
            <a:pPr lvl="4"/>
            <a:endParaRPr lang="en-US" altLang="zh-CN" dirty="0">
              <a:latin typeface="+mn-ea"/>
            </a:endParaRPr>
          </a:p>
          <a:p>
            <a:pPr lvl="4"/>
            <a:endParaRPr lang="en-US" altLang="zh-CN" dirty="0">
              <a:latin typeface="+mn-ea"/>
            </a:endParaRPr>
          </a:p>
          <a:p>
            <a:pPr lvl="4"/>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endParaRPr lang="en-US" altLang="zh-CN" dirty="0">
              <a:latin typeface="+mn-ea"/>
            </a:endParaRPr>
          </a:p>
          <a:p>
            <a:pPr lvl="3"/>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2"/>
            <a:endParaRPr lang="en-US" altLang="zh-CN" dirty="0">
              <a:latin typeface="+mn-ea"/>
            </a:endParaRPr>
          </a:p>
          <a:p>
            <a:pPr lvl="3"/>
            <a:endParaRPr lang="zh-CN" altLang="en-US" dirty="0">
              <a:latin typeface="+mn-ea"/>
            </a:endParaRPr>
          </a:p>
          <a:p>
            <a:pPr lvl="1"/>
            <a:endParaRPr lang="en-US" altLang="zh-CN" dirty="0" smtClean="0">
              <a:latin typeface="+mn-ea"/>
            </a:endParaRPr>
          </a:p>
          <a:p>
            <a:pPr lvl="1"/>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4525287" y="1916864"/>
          <a:ext cx="262737" cy="288000"/>
        </p:xfrm>
        <a:graphic>
          <a:graphicData uri="http://schemas.openxmlformats.org/presentationml/2006/ole">
            <mc:AlternateContent xmlns:mc="http://schemas.openxmlformats.org/markup-compatibility/2006">
              <mc:Choice xmlns:v="urn:schemas-microsoft-com:vml" Requires="v">
                <p:oleObj spid="_x0000_s19467" name="Equation" r:id="rId1" imgW="3048000" imgH="3352800" progId="Equation.DSMT4">
                  <p:embed/>
                </p:oleObj>
              </mc:Choice>
              <mc:Fallback>
                <p:oleObj name="Equation" r:id="rId1" imgW="3048000" imgH="3352800" progId="Equation.DSMT4">
                  <p:embed/>
                  <p:pic>
                    <p:nvPicPr>
                      <p:cNvPr id="0" name="图片 19466"/>
                      <p:cNvPicPr/>
                      <p:nvPr/>
                    </p:nvPicPr>
                    <p:blipFill>
                      <a:blip r:embed="rId2"/>
                      <a:stretch>
                        <a:fillRect/>
                      </a:stretch>
                    </p:blipFill>
                    <p:spPr>
                      <a:xfrm>
                        <a:off x="4525287" y="1916864"/>
                        <a:ext cx="262737" cy="288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969817" y="1811561"/>
          <a:ext cx="322263" cy="369888"/>
        </p:xfrm>
        <a:graphic>
          <a:graphicData uri="http://schemas.openxmlformats.org/presentationml/2006/ole">
            <mc:AlternateContent xmlns:mc="http://schemas.openxmlformats.org/markup-compatibility/2006">
              <mc:Choice xmlns:v="urn:schemas-microsoft-com:vml" Requires="v">
                <p:oleObj spid="_x0000_s19468" name="Equation" r:id="rId3" imgW="3962400" imgH="4572000" progId="Equation.DSMT4">
                  <p:embed/>
                </p:oleObj>
              </mc:Choice>
              <mc:Fallback>
                <p:oleObj name="Equation" r:id="rId3" imgW="3962400" imgH="4572000" progId="Equation.DSMT4">
                  <p:embed/>
                  <p:pic>
                    <p:nvPicPr>
                      <p:cNvPr id="0" name="图片 19467"/>
                      <p:cNvPicPr/>
                      <p:nvPr/>
                    </p:nvPicPr>
                    <p:blipFill>
                      <a:blip r:embed="rId4"/>
                      <a:stretch>
                        <a:fillRect/>
                      </a:stretch>
                    </p:blipFill>
                    <p:spPr>
                      <a:xfrm>
                        <a:off x="4969817" y="1811561"/>
                        <a:ext cx="322263" cy="36988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901551" y="1911996"/>
          <a:ext cx="262737" cy="288000"/>
        </p:xfrm>
        <a:graphic>
          <a:graphicData uri="http://schemas.openxmlformats.org/presentationml/2006/ole">
            <mc:AlternateContent xmlns:mc="http://schemas.openxmlformats.org/markup-compatibility/2006">
              <mc:Choice xmlns:v="urn:schemas-microsoft-com:vml" Requires="v">
                <p:oleObj spid="_x0000_s19469" name="Equation" r:id="rId5" imgW="3048000" imgH="3352800" progId="Equation.DSMT4">
                  <p:embed/>
                </p:oleObj>
              </mc:Choice>
              <mc:Fallback>
                <p:oleObj name="Equation" r:id="rId5" imgW="3048000" imgH="3352800" progId="Equation.DSMT4">
                  <p:embed/>
                  <p:pic>
                    <p:nvPicPr>
                      <p:cNvPr id="0" name="图片 19468"/>
                      <p:cNvPicPr/>
                      <p:nvPr/>
                    </p:nvPicPr>
                    <p:blipFill>
                      <a:blip r:embed="rId6"/>
                      <a:stretch>
                        <a:fillRect/>
                      </a:stretch>
                    </p:blipFill>
                    <p:spPr>
                      <a:xfrm>
                        <a:off x="6901551" y="1911996"/>
                        <a:ext cx="262737" cy="288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292080" y="2534841"/>
          <a:ext cx="322263" cy="369888"/>
        </p:xfrm>
        <a:graphic>
          <a:graphicData uri="http://schemas.openxmlformats.org/presentationml/2006/ole">
            <mc:AlternateContent xmlns:mc="http://schemas.openxmlformats.org/markup-compatibility/2006">
              <mc:Choice xmlns:v="urn:schemas-microsoft-com:vml" Requires="v">
                <p:oleObj spid="_x0000_s19470" name="Equation" r:id="rId7" imgW="3962400" imgH="4572000" progId="Equation.DSMT4">
                  <p:embed/>
                </p:oleObj>
              </mc:Choice>
              <mc:Fallback>
                <p:oleObj name="Equation" r:id="rId7" imgW="3962400" imgH="4572000" progId="Equation.DSMT4">
                  <p:embed/>
                  <p:pic>
                    <p:nvPicPr>
                      <p:cNvPr id="0" name="图片 19469"/>
                      <p:cNvPicPr/>
                      <p:nvPr/>
                    </p:nvPicPr>
                    <p:blipFill>
                      <a:blip r:embed="rId8"/>
                      <a:stretch>
                        <a:fillRect/>
                      </a:stretch>
                    </p:blipFill>
                    <p:spPr>
                      <a:xfrm>
                        <a:off x="5292080" y="2534841"/>
                        <a:ext cx="322263" cy="36988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876256" y="2636944"/>
          <a:ext cx="262737" cy="288000"/>
        </p:xfrm>
        <a:graphic>
          <a:graphicData uri="http://schemas.openxmlformats.org/presentationml/2006/ole">
            <mc:AlternateContent xmlns:mc="http://schemas.openxmlformats.org/markup-compatibility/2006">
              <mc:Choice xmlns:v="urn:schemas-microsoft-com:vml" Requires="v">
                <p:oleObj spid="_x0000_s19471" name="Equation" r:id="rId9" imgW="3048000" imgH="3352800" progId="Equation.DSMT4">
                  <p:embed/>
                </p:oleObj>
              </mc:Choice>
              <mc:Fallback>
                <p:oleObj name="Equation" r:id="rId9" imgW="3048000" imgH="3352800" progId="Equation.DSMT4">
                  <p:embed/>
                  <p:pic>
                    <p:nvPicPr>
                      <p:cNvPr id="0" name="图片 19470"/>
                      <p:cNvPicPr/>
                      <p:nvPr/>
                    </p:nvPicPr>
                    <p:blipFill>
                      <a:blip r:embed="rId6"/>
                      <a:stretch>
                        <a:fillRect/>
                      </a:stretch>
                    </p:blipFill>
                    <p:spPr>
                      <a:xfrm>
                        <a:off x="6876256" y="2636944"/>
                        <a:ext cx="262737" cy="288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639992" y="2996952"/>
          <a:ext cx="229895" cy="252000"/>
        </p:xfrm>
        <a:graphic>
          <a:graphicData uri="http://schemas.openxmlformats.org/presentationml/2006/ole">
            <mc:AlternateContent xmlns:mc="http://schemas.openxmlformats.org/markup-compatibility/2006">
              <mc:Choice xmlns:v="urn:schemas-microsoft-com:vml" Requires="v">
                <p:oleObj spid="_x0000_s19472" name="Equation" r:id="rId10" imgW="3048000" imgH="3352800" progId="Equation.DSMT4">
                  <p:embed/>
                </p:oleObj>
              </mc:Choice>
              <mc:Fallback>
                <p:oleObj name="Equation" r:id="rId10" imgW="3048000" imgH="3352800" progId="Equation.DSMT4">
                  <p:embed/>
                  <p:pic>
                    <p:nvPicPr>
                      <p:cNvPr id="0" name="图片 19471"/>
                      <p:cNvPicPr/>
                      <p:nvPr/>
                    </p:nvPicPr>
                    <p:blipFill>
                      <a:blip r:embed="rId6"/>
                      <a:stretch>
                        <a:fillRect/>
                      </a:stretch>
                    </p:blipFill>
                    <p:spPr>
                      <a:xfrm>
                        <a:off x="2639992" y="2996952"/>
                        <a:ext cx="229895" cy="252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244446" y="2924976"/>
          <a:ext cx="327554" cy="288000"/>
        </p:xfrm>
        <a:graphic>
          <a:graphicData uri="http://schemas.openxmlformats.org/presentationml/2006/ole">
            <mc:AlternateContent xmlns:mc="http://schemas.openxmlformats.org/markup-compatibility/2006">
              <mc:Choice xmlns:v="urn:schemas-microsoft-com:vml" Requires="v">
                <p:oleObj spid="_x0000_s19473" name="Equation" r:id="rId11" imgW="5181600" imgH="4572000" progId="Equation.DSMT4">
                  <p:embed/>
                </p:oleObj>
              </mc:Choice>
              <mc:Fallback>
                <p:oleObj name="Equation" r:id="rId11" imgW="5181600" imgH="4572000" progId="Equation.DSMT4">
                  <p:embed/>
                  <p:pic>
                    <p:nvPicPr>
                      <p:cNvPr id="0" name="图片 19472"/>
                      <p:cNvPicPr/>
                      <p:nvPr/>
                    </p:nvPicPr>
                    <p:blipFill>
                      <a:blip r:embed="rId12"/>
                      <a:stretch>
                        <a:fillRect/>
                      </a:stretch>
                    </p:blipFill>
                    <p:spPr>
                      <a:xfrm>
                        <a:off x="4244446" y="2924976"/>
                        <a:ext cx="327554" cy="2880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5076056" y="2888976"/>
          <a:ext cx="282283" cy="324000"/>
        </p:xfrm>
        <a:graphic>
          <a:graphicData uri="http://schemas.openxmlformats.org/presentationml/2006/ole">
            <mc:AlternateContent xmlns:mc="http://schemas.openxmlformats.org/markup-compatibility/2006">
              <mc:Choice xmlns:v="urn:schemas-microsoft-com:vml" Requires="v">
                <p:oleObj spid="_x0000_s19474" name="Equation" r:id="rId13" imgW="3962400" imgH="4572000" progId="Equation.DSMT4">
                  <p:embed/>
                </p:oleObj>
              </mc:Choice>
              <mc:Fallback>
                <p:oleObj name="Equation" r:id="rId13" imgW="3962400" imgH="4572000" progId="Equation.DSMT4">
                  <p:embed/>
                  <p:pic>
                    <p:nvPicPr>
                      <p:cNvPr id="0" name="图片 19473"/>
                      <p:cNvPicPr/>
                      <p:nvPr/>
                    </p:nvPicPr>
                    <p:blipFill>
                      <a:blip r:embed="rId8"/>
                      <a:stretch>
                        <a:fillRect/>
                      </a:stretch>
                    </p:blipFill>
                    <p:spPr>
                      <a:xfrm>
                        <a:off x="5076056" y="2888976"/>
                        <a:ext cx="282283" cy="3240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590955" y="2869711"/>
          <a:ext cx="316198" cy="360000"/>
        </p:xfrm>
        <a:graphic>
          <a:graphicData uri="http://schemas.openxmlformats.org/presentationml/2006/ole">
            <mc:AlternateContent xmlns:mc="http://schemas.openxmlformats.org/markup-compatibility/2006">
              <mc:Choice xmlns:v="urn:schemas-microsoft-com:vml" Requires="v">
                <p:oleObj spid="_x0000_s19475" name="Equation" r:id="rId14" imgW="4267200" imgH="4876800" progId="Equation.DSMT4">
                  <p:embed/>
                </p:oleObj>
              </mc:Choice>
              <mc:Fallback>
                <p:oleObj name="Equation" r:id="rId14" imgW="4267200" imgH="4876800" progId="Equation.DSMT4">
                  <p:embed/>
                  <p:pic>
                    <p:nvPicPr>
                      <p:cNvPr id="0" name="图片 19474"/>
                      <p:cNvPicPr/>
                      <p:nvPr/>
                    </p:nvPicPr>
                    <p:blipFill>
                      <a:blip r:embed="rId15"/>
                      <a:stretch>
                        <a:fillRect/>
                      </a:stretch>
                    </p:blipFill>
                    <p:spPr>
                      <a:xfrm>
                        <a:off x="6590955" y="2869711"/>
                        <a:ext cx="316198" cy="3600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349500" y="3212976"/>
          <a:ext cx="305582" cy="360000"/>
        </p:xfrm>
        <a:graphic>
          <a:graphicData uri="http://schemas.openxmlformats.org/presentationml/2006/ole">
            <mc:AlternateContent xmlns:mc="http://schemas.openxmlformats.org/markup-compatibility/2006">
              <mc:Choice xmlns:v="urn:schemas-microsoft-com:vml" Requires="v">
                <p:oleObj spid="_x0000_s19476" name="Equation" r:id="rId16" imgW="4876800" imgH="5791200" progId="Equation.DSMT4">
                  <p:embed/>
                </p:oleObj>
              </mc:Choice>
              <mc:Fallback>
                <p:oleObj name="Equation" r:id="rId16" imgW="4876800" imgH="5791200" progId="Equation.DSMT4">
                  <p:embed/>
                  <p:pic>
                    <p:nvPicPr>
                      <p:cNvPr id="0" name="图片 19475"/>
                      <p:cNvPicPr/>
                      <p:nvPr/>
                    </p:nvPicPr>
                    <p:blipFill>
                      <a:blip r:embed="rId17"/>
                      <a:stretch>
                        <a:fillRect/>
                      </a:stretch>
                    </p:blipFill>
                    <p:spPr>
                      <a:xfrm>
                        <a:off x="2349500" y="3212976"/>
                        <a:ext cx="305582" cy="3600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4781274" y="3213016"/>
          <a:ext cx="1734942" cy="360000"/>
        </p:xfrm>
        <a:graphic>
          <a:graphicData uri="http://schemas.openxmlformats.org/presentationml/2006/ole">
            <mc:AlternateContent xmlns:mc="http://schemas.openxmlformats.org/markup-compatibility/2006">
              <mc:Choice xmlns:v="urn:schemas-microsoft-com:vml" Requires="v">
                <p:oleObj spid="_x0000_s19477" name="Equation" r:id="rId18" imgW="23469600" imgH="4876800" progId="Equation.DSMT4">
                  <p:embed/>
                </p:oleObj>
              </mc:Choice>
              <mc:Fallback>
                <p:oleObj name="Equation" r:id="rId18" imgW="23469600" imgH="4876800" progId="Equation.DSMT4">
                  <p:embed/>
                  <p:pic>
                    <p:nvPicPr>
                      <p:cNvPr id="0" name="图片 19476"/>
                      <p:cNvPicPr/>
                      <p:nvPr/>
                    </p:nvPicPr>
                    <p:blipFill>
                      <a:blip r:embed="rId19"/>
                      <a:stretch>
                        <a:fillRect/>
                      </a:stretch>
                    </p:blipFill>
                    <p:spPr>
                      <a:xfrm>
                        <a:off x="4781274" y="3213016"/>
                        <a:ext cx="1734942" cy="3600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436096" y="3501008"/>
          <a:ext cx="338138" cy="406400"/>
        </p:xfrm>
        <a:graphic>
          <a:graphicData uri="http://schemas.openxmlformats.org/presentationml/2006/ole">
            <mc:AlternateContent xmlns:mc="http://schemas.openxmlformats.org/markup-compatibility/2006">
              <mc:Choice xmlns:v="urn:schemas-microsoft-com:vml" Requires="v">
                <p:oleObj spid="_x0000_s19478" name="Equation" r:id="rId20" imgW="4572000" imgH="5486400" progId="Equation.DSMT4">
                  <p:embed/>
                </p:oleObj>
              </mc:Choice>
              <mc:Fallback>
                <p:oleObj name="Equation" r:id="rId20" imgW="4572000" imgH="5486400" progId="Equation.DSMT4">
                  <p:embed/>
                  <p:pic>
                    <p:nvPicPr>
                      <p:cNvPr id="0" name="图片 19477"/>
                      <p:cNvPicPr/>
                      <p:nvPr/>
                    </p:nvPicPr>
                    <p:blipFill>
                      <a:blip r:embed="rId21"/>
                      <a:stretch>
                        <a:fillRect/>
                      </a:stretch>
                    </p:blipFill>
                    <p:spPr>
                      <a:xfrm>
                        <a:off x="5436096" y="3501008"/>
                        <a:ext cx="338138" cy="4064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698503" y="3573016"/>
          <a:ext cx="225425" cy="247650"/>
        </p:xfrm>
        <a:graphic>
          <a:graphicData uri="http://schemas.openxmlformats.org/presentationml/2006/ole">
            <mc:AlternateContent xmlns:mc="http://schemas.openxmlformats.org/markup-compatibility/2006">
              <mc:Choice xmlns:v="urn:schemas-microsoft-com:vml" Requires="v">
                <p:oleObj spid="_x0000_s19479" name="Equation" r:id="rId22" imgW="3048000" imgH="3352800" progId="Equation.DSMT4">
                  <p:embed/>
                </p:oleObj>
              </mc:Choice>
              <mc:Fallback>
                <p:oleObj name="Equation" r:id="rId22" imgW="3048000" imgH="3352800" progId="Equation.DSMT4">
                  <p:embed/>
                  <p:pic>
                    <p:nvPicPr>
                      <p:cNvPr id="0" name="图片 19478"/>
                      <p:cNvPicPr/>
                      <p:nvPr/>
                    </p:nvPicPr>
                    <p:blipFill>
                      <a:blip r:embed="rId23"/>
                      <a:stretch>
                        <a:fillRect/>
                      </a:stretch>
                    </p:blipFill>
                    <p:spPr>
                      <a:xfrm>
                        <a:off x="3698503" y="3573016"/>
                        <a:ext cx="225425" cy="24765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105770" y="3861048"/>
          <a:ext cx="2546350" cy="473075"/>
        </p:xfrm>
        <a:graphic>
          <a:graphicData uri="http://schemas.openxmlformats.org/presentationml/2006/ole">
            <mc:AlternateContent xmlns:mc="http://schemas.openxmlformats.org/markup-compatibility/2006">
              <mc:Choice xmlns:v="urn:schemas-microsoft-com:vml" Requires="v">
                <p:oleObj spid="_x0000_s19480" name="Equation" r:id="rId24" imgW="34442400" imgH="6400800" progId="Equation.DSMT4">
                  <p:embed/>
                </p:oleObj>
              </mc:Choice>
              <mc:Fallback>
                <p:oleObj name="Equation" r:id="rId24" imgW="34442400" imgH="6400800" progId="Equation.DSMT4">
                  <p:embed/>
                  <p:pic>
                    <p:nvPicPr>
                      <p:cNvPr id="0" name="图片 19479"/>
                      <p:cNvPicPr/>
                      <p:nvPr/>
                    </p:nvPicPr>
                    <p:blipFill>
                      <a:blip r:embed="rId25"/>
                      <a:stretch>
                        <a:fillRect/>
                      </a:stretch>
                    </p:blipFill>
                    <p:spPr>
                      <a:xfrm>
                        <a:off x="3105770" y="3861048"/>
                        <a:ext cx="2546350" cy="473075"/>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075012" y="4781997"/>
          <a:ext cx="4305300" cy="496887"/>
        </p:xfrm>
        <a:graphic>
          <a:graphicData uri="http://schemas.openxmlformats.org/presentationml/2006/ole">
            <mc:AlternateContent xmlns:mc="http://schemas.openxmlformats.org/markup-compatibility/2006">
              <mc:Choice xmlns:v="urn:schemas-microsoft-com:vml" Requires="v">
                <p:oleObj spid="_x0000_s19481" name="Equation" r:id="rId26" imgW="58216800" imgH="6705600" progId="Equation.DSMT4">
                  <p:embed/>
                </p:oleObj>
              </mc:Choice>
              <mc:Fallback>
                <p:oleObj name="Equation" r:id="rId26" imgW="58216800" imgH="6705600" progId="Equation.DSMT4">
                  <p:embed/>
                  <p:pic>
                    <p:nvPicPr>
                      <p:cNvPr id="0" name="图片 19480"/>
                      <p:cNvPicPr/>
                      <p:nvPr/>
                    </p:nvPicPr>
                    <p:blipFill>
                      <a:blip r:embed="rId27"/>
                      <a:stretch>
                        <a:fillRect/>
                      </a:stretch>
                    </p:blipFill>
                    <p:spPr>
                      <a:xfrm>
                        <a:off x="3075012" y="4781997"/>
                        <a:ext cx="4305300" cy="496887"/>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3131840" y="5726758"/>
          <a:ext cx="4079875" cy="473075"/>
        </p:xfrm>
        <a:graphic>
          <a:graphicData uri="http://schemas.openxmlformats.org/presentationml/2006/ole">
            <mc:AlternateContent xmlns:mc="http://schemas.openxmlformats.org/markup-compatibility/2006">
              <mc:Choice xmlns:v="urn:schemas-microsoft-com:vml" Requires="v">
                <p:oleObj spid="_x0000_s19482" name="Equation" r:id="rId28" imgW="55168800" imgH="6400800" progId="Equation.DSMT4">
                  <p:embed/>
                </p:oleObj>
              </mc:Choice>
              <mc:Fallback>
                <p:oleObj name="Equation" r:id="rId28" imgW="55168800" imgH="6400800" progId="Equation.DSMT4">
                  <p:embed/>
                  <p:pic>
                    <p:nvPicPr>
                      <p:cNvPr id="0" name="图片 19481"/>
                      <p:cNvPicPr/>
                      <p:nvPr/>
                    </p:nvPicPr>
                    <p:blipFill>
                      <a:blip r:embed="rId29"/>
                      <a:stretch>
                        <a:fillRect/>
                      </a:stretch>
                    </p:blipFill>
                    <p:spPr>
                      <a:xfrm>
                        <a:off x="3131840" y="5726758"/>
                        <a:ext cx="4079875" cy="473075"/>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5640176" y="6221719"/>
          <a:ext cx="316198" cy="360000"/>
        </p:xfrm>
        <a:graphic>
          <a:graphicData uri="http://schemas.openxmlformats.org/presentationml/2006/ole">
            <mc:AlternateContent xmlns:mc="http://schemas.openxmlformats.org/markup-compatibility/2006">
              <mc:Choice xmlns:v="urn:schemas-microsoft-com:vml" Requires="v">
                <p:oleObj spid="_x0000_s19483" name="Equation" r:id="rId30" imgW="4267200" imgH="4876800" progId="Equation.DSMT4">
                  <p:embed/>
                </p:oleObj>
              </mc:Choice>
              <mc:Fallback>
                <p:oleObj name="Equation" r:id="rId30" imgW="4267200" imgH="4876800" progId="Equation.DSMT4">
                  <p:embed/>
                  <p:pic>
                    <p:nvPicPr>
                      <p:cNvPr id="0" name="图片 19482"/>
                      <p:cNvPicPr/>
                      <p:nvPr/>
                    </p:nvPicPr>
                    <p:blipFill>
                      <a:blip r:embed="rId15"/>
                      <a:stretch>
                        <a:fillRect/>
                      </a:stretch>
                    </p:blipFill>
                    <p:spPr>
                      <a:xfrm>
                        <a:off x="5640176" y="6221719"/>
                        <a:ext cx="316198" cy="3600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4917468" y="6345352"/>
          <a:ext cx="229895" cy="252000"/>
        </p:xfrm>
        <a:graphic>
          <a:graphicData uri="http://schemas.openxmlformats.org/presentationml/2006/ole">
            <mc:AlternateContent xmlns:mc="http://schemas.openxmlformats.org/markup-compatibility/2006">
              <mc:Choice xmlns:v="urn:schemas-microsoft-com:vml" Requires="v">
                <p:oleObj spid="_x0000_s19484" name="Equation" r:id="rId31" imgW="3048000" imgH="3352800" progId="Equation.DSMT4">
                  <p:embed/>
                </p:oleObj>
              </mc:Choice>
              <mc:Fallback>
                <p:oleObj name="Equation" r:id="rId31" imgW="3048000" imgH="3352800" progId="Equation.DSMT4">
                  <p:embed/>
                  <p:pic>
                    <p:nvPicPr>
                      <p:cNvPr id="0" name="图片 19483"/>
                      <p:cNvPicPr/>
                      <p:nvPr/>
                    </p:nvPicPr>
                    <p:blipFill>
                      <a:blip r:embed="rId6"/>
                      <a:stretch>
                        <a:fillRect/>
                      </a:stretch>
                    </p:blipFill>
                    <p:spPr>
                      <a:xfrm>
                        <a:off x="4917468" y="6345352"/>
                        <a:ext cx="229895" cy="252000"/>
                      </a:xfrm>
                      <a:prstGeom prst="rect">
                        <a:avLst/>
                      </a:prstGeom>
                    </p:spPr>
                  </p:pic>
                </p:oleObj>
              </mc:Fallback>
            </mc:AlternateContent>
          </a:graphicData>
        </a:graphic>
      </p:graphicFrame>
    </p:spTree>
  </p:cSld>
  <p:clrMapOvr>
    <a:masterClrMapping/>
  </p:clrMapOvr>
  <p:transition>
    <p:cover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a:xfrm>
            <a:off x="683568" y="836712"/>
            <a:ext cx="7772400" cy="5688632"/>
          </a:xfrm>
        </p:spPr>
        <p:txBody>
          <a:bodyPr/>
          <a:lstStyle/>
          <a:p>
            <a:r>
              <a:rPr lang="en-US" altLang="zh-CN" dirty="0" smtClean="0">
                <a:latin typeface="+mn-ea"/>
              </a:rPr>
              <a:t>4.4.2 </a:t>
            </a:r>
            <a:r>
              <a:rPr lang="zh-CN" altLang="en-US" dirty="0" smtClean="0">
                <a:latin typeface="+mn-ea"/>
              </a:rPr>
              <a:t>缺失</a:t>
            </a:r>
            <a:r>
              <a:rPr lang="zh-CN" altLang="en-US" dirty="0">
                <a:latin typeface="+mn-ea"/>
              </a:rPr>
              <a:t>值</a:t>
            </a:r>
            <a:r>
              <a:rPr lang="zh-CN" altLang="en-US" dirty="0" smtClean="0">
                <a:latin typeface="+mn-ea"/>
              </a:rPr>
              <a:t>处理</a:t>
            </a:r>
            <a:endParaRPr lang="en-US" altLang="zh-CN" dirty="0" smtClean="0">
              <a:latin typeface="+mn-ea"/>
            </a:endParaRPr>
          </a:p>
          <a:p>
            <a:pPr lvl="1"/>
            <a:r>
              <a:rPr lang="zh-CN" altLang="en-US" dirty="0" smtClean="0">
                <a:latin typeface="+mn-ea"/>
              </a:rPr>
              <a:t>基本</a:t>
            </a:r>
            <a:r>
              <a:rPr lang="zh-CN" altLang="en-US" dirty="0">
                <a:latin typeface="+mn-ea"/>
              </a:rPr>
              <a:t>思路：样本赋权，权重划分</a:t>
            </a:r>
            <a:endParaRPr lang="zh-CN" altLang="en-US" dirty="0">
              <a:latin typeface="+mn-ea"/>
            </a:endParaRPr>
          </a:p>
          <a:p>
            <a:pPr lvl="2"/>
            <a:r>
              <a:rPr lang="zh-CN" altLang="en-US" dirty="0" smtClean="0">
                <a:latin typeface="+mn-ea"/>
              </a:rPr>
              <a:t>对于划分</a:t>
            </a:r>
            <a:r>
              <a:rPr lang="zh-CN" altLang="en-US" dirty="0">
                <a:latin typeface="+mn-ea"/>
              </a:rPr>
              <a:t>属性</a:t>
            </a:r>
            <a:r>
              <a:rPr lang="zh-CN" altLang="en-US" dirty="0" smtClean="0">
                <a:latin typeface="+mn-ea"/>
              </a:rPr>
              <a:t>选择，根据</a:t>
            </a:r>
            <a:r>
              <a:rPr lang="en-US" altLang="zh-CN" dirty="0" smtClean="0">
                <a:latin typeface="+mn-ea"/>
              </a:rPr>
              <a:t>  </a:t>
            </a:r>
            <a:r>
              <a:rPr lang="zh-CN" altLang="en-US" dirty="0" smtClean="0">
                <a:latin typeface="+mn-ea"/>
              </a:rPr>
              <a:t>判断属性  的优劣</a:t>
            </a:r>
            <a:endParaRPr lang="en-US" altLang="zh-CN" dirty="0" smtClean="0">
              <a:latin typeface="+mn-ea"/>
            </a:endParaRPr>
          </a:p>
          <a:p>
            <a:pPr lvl="3">
              <a:spcBef>
                <a:spcPts val="600"/>
              </a:spcBef>
            </a:pPr>
            <a:r>
              <a:rPr lang="zh-CN" altLang="en-US" dirty="0" smtClean="0">
                <a:latin typeface="+mn-ea"/>
              </a:rPr>
              <a:t>信息增益计算式变为</a:t>
            </a:r>
            <a:endParaRPr lang="en-US" altLang="zh-CN" dirty="0" smtClean="0">
              <a:latin typeface="+mn-ea"/>
            </a:endParaRPr>
          </a:p>
          <a:p>
            <a:pPr lvl="3">
              <a:spcBef>
                <a:spcPts val="600"/>
              </a:spcBef>
            </a:pPr>
            <a:endParaRPr lang="en-US" altLang="zh-CN" dirty="0">
              <a:latin typeface="+mn-ea"/>
            </a:endParaRPr>
          </a:p>
          <a:p>
            <a:pPr lvl="3">
              <a:spcBef>
                <a:spcPts val="600"/>
              </a:spcBef>
            </a:pPr>
            <a:endParaRPr lang="en-US" altLang="zh-CN" dirty="0" smtClean="0">
              <a:latin typeface="+mn-ea"/>
            </a:endParaRPr>
          </a:p>
          <a:p>
            <a:pPr lvl="3">
              <a:spcBef>
                <a:spcPts val="600"/>
              </a:spcBef>
            </a:pPr>
            <a:endParaRPr lang="en-US" altLang="zh-CN" dirty="0">
              <a:latin typeface="+mn-ea"/>
            </a:endParaRPr>
          </a:p>
          <a:p>
            <a:pPr lvl="4">
              <a:spcBef>
                <a:spcPts val="600"/>
              </a:spcBef>
            </a:pPr>
            <a:r>
              <a:rPr lang="zh-CN" altLang="en-US" dirty="0" smtClean="0">
                <a:latin typeface="+mn-ea"/>
              </a:rPr>
              <a:t>其中</a:t>
            </a:r>
            <a:endParaRPr lang="en-US" altLang="zh-CN" dirty="0" smtClean="0">
              <a:latin typeface="+mn-ea"/>
            </a:endParaRPr>
          </a:p>
          <a:p>
            <a:pPr lvl="4">
              <a:spcBef>
                <a:spcPts val="600"/>
              </a:spcBef>
            </a:pPr>
            <a:endParaRPr lang="en-US" altLang="zh-CN" dirty="0" smtClean="0">
              <a:latin typeface="+mn-ea"/>
            </a:endParaRPr>
          </a:p>
          <a:p>
            <a:pPr lvl="4">
              <a:spcBef>
                <a:spcPts val="600"/>
              </a:spcBef>
            </a:pPr>
            <a:endParaRPr lang="en-US" altLang="zh-CN" dirty="0">
              <a:latin typeface="+mn-ea"/>
            </a:endParaRPr>
          </a:p>
          <a:p>
            <a:pPr lvl="2"/>
            <a:r>
              <a:rPr lang="zh-CN" altLang="en-US" dirty="0">
                <a:latin typeface="+mn-ea"/>
              </a:rPr>
              <a:t>对于属性值</a:t>
            </a:r>
            <a:r>
              <a:rPr lang="zh-CN" altLang="en-US" dirty="0" smtClean="0">
                <a:latin typeface="+mn-ea"/>
              </a:rPr>
              <a:t>缺失</a:t>
            </a:r>
            <a:r>
              <a:rPr lang="en-US" altLang="zh-CN" dirty="0" smtClean="0">
                <a:latin typeface="+mn-ea"/>
              </a:rPr>
              <a:t>(</a:t>
            </a:r>
            <a:r>
              <a:rPr lang="zh-CN" altLang="en-US" dirty="0" smtClean="0">
                <a:latin typeface="+mn-ea"/>
              </a:rPr>
              <a:t>问题</a:t>
            </a:r>
            <a:r>
              <a:rPr lang="en-US" altLang="zh-CN" dirty="0" smtClean="0">
                <a:latin typeface="+mn-ea"/>
              </a:rPr>
              <a:t>2)</a:t>
            </a:r>
            <a:endParaRPr lang="en-US" altLang="zh-CN" dirty="0">
              <a:latin typeface="+mn-ea"/>
            </a:endParaRPr>
          </a:p>
          <a:p>
            <a:pPr lvl="3"/>
            <a:r>
              <a:rPr lang="zh-CN" altLang="en-US" dirty="0">
                <a:latin typeface="+mn-ea"/>
              </a:rPr>
              <a:t>若样本</a:t>
            </a:r>
            <a:r>
              <a:rPr lang="en-US" altLang="zh-CN" dirty="0">
                <a:latin typeface="+mn-ea"/>
              </a:rPr>
              <a:t> </a:t>
            </a:r>
            <a:r>
              <a:rPr lang="zh-CN" altLang="en-US" dirty="0">
                <a:latin typeface="+mn-ea"/>
              </a:rPr>
              <a:t>的</a:t>
            </a:r>
            <a:r>
              <a:rPr lang="en-US" altLang="zh-CN" dirty="0">
                <a:latin typeface="+mn-ea"/>
              </a:rPr>
              <a:t> </a:t>
            </a:r>
            <a:r>
              <a:rPr lang="zh-CN" altLang="en-US" dirty="0">
                <a:latin typeface="+mn-ea"/>
              </a:rPr>
              <a:t>属性取值已知，将</a:t>
            </a:r>
            <a:r>
              <a:rPr lang="en-US" altLang="zh-CN" dirty="0">
                <a:latin typeface="+mn-ea"/>
              </a:rPr>
              <a:t> </a:t>
            </a:r>
            <a:r>
              <a:rPr lang="zh-CN" altLang="en-US" dirty="0">
                <a:latin typeface="+mn-ea"/>
              </a:rPr>
              <a:t>划入对应的子结点，且样本权值在子结点中保持为</a:t>
            </a:r>
            <a:endParaRPr lang="en-US" altLang="zh-CN" dirty="0">
              <a:latin typeface="+mn-ea"/>
            </a:endParaRPr>
          </a:p>
          <a:p>
            <a:pPr lvl="3" hangingPunct="0"/>
            <a:r>
              <a:rPr lang="zh-CN" altLang="en-US" dirty="0">
                <a:latin typeface="+mn-ea"/>
              </a:rPr>
              <a:t>若样本 的 </a:t>
            </a:r>
            <a:r>
              <a:rPr lang="zh-CN" altLang="en-US" dirty="0" smtClean="0">
                <a:latin typeface="+mn-ea"/>
              </a:rPr>
              <a:t>属性</a:t>
            </a:r>
            <a:r>
              <a:rPr lang="zh-CN" altLang="en-US" dirty="0">
                <a:latin typeface="+mn-ea"/>
              </a:rPr>
              <a:t>取值未知，将 同时划入所有子结点，且样本权值调整为</a:t>
            </a:r>
            <a:endParaRPr lang="zh-CN" altLang="en-US" dirty="0"/>
          </a:p>
          <a:p>
            <a:pPr lvl="2">
              <a:spcBef>
                <a:spcPts val="600"/>
              </a:spcBef>
            </a:pPr>
            <a:endParaRPr lang="en-US" altLang="zh-CN" dirty="0" smtClean="0">
              <a:latin typeface="+mn-ea"/>
            </a:endParaRPr>
          </a:p>
          <a:p>
            <a:pPr lvl="2"/>
            <a:endParaRPr lang="en-US" altLang="zh-CN" dirty="0">
              <a:latin typeface="+mn-ea"/>
            </a:endParaRPr>
          </a:p>
          <a:p>
            <a:pPr lvl="3"/>
            <a:endParaRPr lang="zh-CN" altLang="en-US" dirty="0">
              <a:latin typeface="+mn-ea"/>
            </a:endParaRPr>
          </a:p>
          <a:p>
            <a:pPr lvl="1"/>
            <a:endParaRPr lang="en-US" altLang="zh-CN" dirty="0" smtClean="0">
              <a:latin typeface="+mn-ea"/>
            </a:endParaRPr>
          </a:p>
          <a:p>
            <a:pPr lvl="1"/>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6" name="对象 5"/>
          <p:cNvGraphicFramePr>
            <a:graphicFrameLocks noChangeAspect="1"/>
          </p:cNvGraphicFramePr>
          <p:nvPr/>
        </p:nvGraphicFramePr>
        <p:xfrm>
          <a:off x="5274964" y="1775148"/>
          <a:ext cx="322263" cy="369888"/>
        </p:xfrm>
        <a:graphic>
          <a:graphicData uri="http://schemas.openxmlformats.org/presentationml/2006/ole">
            <mc:AlternateContent xmlns:mc="http://schemas.openxmlformats.org/markup-compatibility/2006">
              <mc:Choice xmlns:v="urn:schemas-microsoft-com:vml" Requires="v">
                <p:oleObj spid="_x0000_s17671" name="Equation" r:id="rId1" imgW="3962400" imgH="4572000" progId="Equation.DSMT4">
                  <p:embed/>
                </p:oleObj>
              </mc:Choice>
              <mc:Fallback>
                <p:oleObj name="Equation" r:id="rId1" imgW="3962400" imgH="4572000" progId="Equation.DSMT4">
                  <p:embed/>
                  <p:pic>
                    <p:nvPicPr>
                      <p:cNvPr id="0" name="图片 17670"/>
                      <p:cNvPicPr/>
                      <p:nvPr/>
                    </p:nvPicPr>
                    <p:blipFill>
                      <a:blip r:embed="rId2"/>
                      <a:stretch>
                        <a:fillRect/>
                      </a:stretch>
                    </p:blipFill>
                    <p:spPr>
                      <a:xfrm>
                        <a:off x="5274964" y="1775148"/>
                        <a:ext cx="322263" cy="36988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867783" y="1916864"/>
          <a:ext cx="262737" cy="288000"/>
        </p:xfrm>
        <a:graphic>
          <a:graphicData uri="http://schemas.openxmlformats.org/presentationml/2006/ole">
            <mc:AlternateContent xmlns:mc="http://schemas.openxmlformats.org/markup-compatibility/2006">
              <mc:Choice xmlns:v="urn:schemas-microsoft-com:vml" Requires="v">
                <p:oleObj spid="_x0000_s17672" name="Equation" r:id="rId3" imgW="3048000" imgH="3352800" progId="Equation.DSMT4">
                  <p:embed/>
                </p:oleObj>
              </mc:Choice>
              <mc:Fallback>
                <p:oleObj name="Equation" r:id="rId3" imgW="3048000" imgH="3352800" progId="Equation.DSMT4">
                  <p:embed/>
                  <p:pic>
                    <p:nvPicPr>
                      <p:cNvPr id="0" name="图片 17671"/>
                      <p:cNvPicPr/>
                      <p:nvPr/>
                    </p:nvPicPr>
                    <p:blipFill>
                      <a:blip r:embed="rId4"/>
                      <a:stretch>
                        <a:fillRect/>
                      </a:stretch>
                    </p:blipFill>
                    <p:spPr>
                      <a:xfrm>
                        <a:off x="6867783" y="1916864"/>
                        <a:ext cx="262737" cy="2880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805113" y="2661915"/>
          <a:ext cx="4598987" cy="1127125"/>
        </p:xfrm>
        <a:graphic>
          <a:graphicData uri="http://schemas.openxmlformats.org/presentationml/2006/ole">
            <mc:AlternateContent xmlns:mc="http://schemas.openxmlformats.org/markup-compatibility/2006">
              <mc:Choice xmlns:v="urn:schemas-microsoft-com:vml" Requires="v">
                <p:oleObj spid="_x0000_s17673" name="Equation" r:id="rId5" imgW="62179200" imgH="15240000" progId="Equation.DSMT4">
                  <p:embed/>
                </p:oleObj>
              </mc:Choice>
              <mc:Fallback>
                <p:oleObj name="Equation" r:id="rId5" imgW="62179200" imgH="15240000" progId="Equation.DSMT4">
                  <p:embed/>
                  <p:pic>
                    <p:nvPicPr>
                      <p:cNvPr id="0" name="图片 17672"/>
                      <p:cNvPicPr/>
                      <p:nvPr/>
                    </p:nvPicPr>
                    <p:blipFill>
                      <a:blip r:embed="rId6"/>
                      <a:stretch>
                        <a:fillRect/>
                      </a:stretch>
                    </p:blipFill>
                    <p:spPr>
                      <a:xfrm>
                        <a:off x="2805113" y="2661915"/>
                        <a:ext cx="4598987" cy="1127125"/>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605360" y="4005064"/>
          <a:ext cx="2728913" cy="766762"/>
        </p:xfrm>
        <a:graphic>
          <a:graphicData uri="http://schemas.openxmlformats.org/presentationml/2006/ole">
            <mc:AlternateContent xmlns:mc="http://schemas.openxmlformats.org/markup-compatibility/2006">
              <mc:Choice xmlns:v="urn:schemas-microsoft-com:vml" Requires="v">
                <p:oleObj spid="_x0000_s17674" name="Equation" r:id="rId7" imgW="36880800" imgH="10363200" progId="Equation.DSMT4">
                  <p:embed/>
                </p:oleObj>
              </mc:Choice>
              <mc:Fallback>
                <p:oleObj name="Equation" r:id="rId7" imgW="36880800" imgH="10363200" progId="Equation.DSMT4">
                  <p:embed/>
                  <p:pic>
                    <p:nvPicPr>
                      <p:cNvPr id="0" name="图片 17673"/>
                      <p:cNvPicPr/>
                      <p:nvPr/>
                    </p:nvPicPr>
                    <p:blipFill>
                      <a:blip r:embed="rId8"/>
                      <a:stretch>
                        <a:fillRect/>
                      </a:stretch>
                    </p:blipFill>
                    <p:spPr>
                      <a:xfrm>
                        <a:off x="3605360" y="4005064"/>
                        <a:ext cx="2728913" cy="766762"/>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3554487" y="5301208"/>
          <a:ext cx="225425" cy="247650"/>
        </p:xfrm>
        <a:graphic>
          <a:graphicData uri="http://schemas.openxmlformats.org/presentationml/2006/ole">
            <mc:AlternateContent xmlns:mc="http://schemas.openxmlformats.org/markup-compatibility/2006">
              <mc:Choice xmlns:v="urn:schemas-microsoft-com:vml" Requires="v">
                <p:oleObj spid="_x0000_s17675" name="Equation" r:id="rId9" imgW="3048000" imgH="3352800" progId="Equation.DSMT4">
                  <p:embed/>
                </p:oleObj>
              </mc:Choice>
              <mc:Fallback>
                <p:oleObj name="Equation" r:id="rId9" imgW="3048000" imgH="3352800" progId="Equation.DSMT4">
                  <p:embed/>
                  <p:pic>
                    <p:nvPicPr>
                      <p:cNvPr id="0" name="图片 17674"/>
                      <p:cNvPicPr/>
                      <p:nvPr/>
                    </p:nvPicPr>
                    <p:blipFill>
                      <a:blip r:embed="rId10"/>
                      <a:stretch>
                        <a:fillRect/>
                      </a:stretch>
                    </p:blipFill>
                    <p:spPr>
                      <a:xfrm>
                        <a:off x="3554487" y="5301208"/>
                        <a:ext cx="225425" cy="24765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3131840" y="5301208"/>
          <a:ext cx="225425" cy="247650"/>
        </p:xfrm>
        <a:graphic>
          <a:graphicData uri="http://schemas.openxmlformats.org/presentationml/2006/ole">
            <mc:AlternateContent xmlns:mc="http://schemas.openxmlformats.org/markup-compatibility/2006">
              <mc:Choice xmlns:v="urn:schemas-microsoft-com:vml" Requires="v">
                <p:oleObj spid="_x0000_s17676" name="Equation" r:id="rId11" imgW="3048000" imgH="3352800" progId="Equation.DSMT4">
                  <p:embed/>
                </p:oleObj>
              </mc:Choice>
              <mc:Fallback>
                <p:oleObj name="Equation" r:id="rId11" imgW="3048000" imgH="3352800" progId="Equation.DSMT4">
                  <p:embed/>
                  <p:pic>
                    <p:nvPicPr>
                      <p:cNvPr id="0" name="图片 17675"/>
                      <p:cNvPicPr/>
                      <p:nvPr/>
                    </p:nvPicPr>
                    <p:blipFill>
                      <a:blip r:embed="rId12"/>
                      <a:stretch>
                        <a:fillRect/>
                      </a:stretch>
                    </p:blipFill>
                    <p:spPr>
                      <a:xfrm>
                        <a:off x="3131840" y="5301208"/>
                        <a:ext cx="225425" cy="24765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5796136" y="5301208"/>
          <a:ext cx="225425" cy="247650"/>
        </p:xfrm>
        <a:graphic>
          <a:graphicData uri="http://schemas.openxmlformats.org/presentationml/2006/ole">
            <mc:AlternateContent xmlns:mc="http://schemas.openxmlformats.org/markup-compatibility/2006">
              <mc:Choice xmlns:v="urn:schemas-microsoft-com:vml" Requires="v">
                <p:oleObj spid="_x0000_s17677" name="Equation" r:id="rId13" imgW="3048000" imgH="3352800" progId="Equation.DSMT4">
                  <p:embed/>
                </p:oleObj>
              </mc:Choice>
              <mc:Fallback>
                <p:oleObj name="Equation" r:id="rId13" imgW="3048000" imgH="3352800" progId="Equation.DSMT4">
                  <p:embed/>
                  <p:pic>
                    <p:nvPicPr>
                      <p:cNvPr id="0" name="图片 17676"/>
                      <p:cNvPicPr/>
                      <p:nvPr/>
                    </p:nvPicPr>
                    <p:blipFill>
                      <a:blip r:embed="rId12"/>
                      <a:stretch>
                        <a:fillRect/>
                      </a:stretch>
                    </p:blipFill>
                    <p:spPr>
                      <a:xfrm>
                        <a:off x="5796136" y="5301208"/>
                        <a:ext cx="225425" cy="24765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5724128" y="5472460"/>
          <a:ext cx="338137" cy="404812"/>
        </p:xfrm>
        <a:graphic>
          <a:graphicData uri="http://schemas.openxmlformats.org/presentationml/2006/ole">
            <mc:AlternateContent xmlns:mc="http://schemas.openxmlformats.org/markup-compatibility/2006">
              <mc:Choice xmlns:v="urn:schemas-microsoft-com:vml" Requires="v">
                <p:oleObj spid="_x0000_s17678" name="Equation" r:id="rId14" imgW="4572000" imgH="5486400" progId="Equation.DSMT4">
                  <p:embed/>
                </p:oleObj>
              </mc:Choice>
              <mc:Fallback>
                <p:oleObj name="Equation" r:id="rId14" imgW="4572000" imgH="5486400" progId="Equation.DSMT4">
                  <p:embed/>
                  <p:pic>
                    <p:nvPicPr>
                      <p:cNvPr id="0" name="图片 17677"/>
                      <p:cNvPicPr/>
                      <p:nvPr/>
                    </p:nvPicPr>
                    <p:blipFill>
                      <a:blip r:embed="rId15"/>
                      <a:stretch>
                        <a:fillRect/>
                      </a:stretch>
                    </p:blipFill>
                    <p:spPr>
                      <a:xfrm>
                        <a:off x="5724128" y="5472460"/>
                        <a:ext cx="338137" cy="404812"/>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4940796" y="6080150"/>
          <a:ext cx="495300" cy="404812"/>
        </p:xfrm>
        <a:graphic>
          <a:graphicData uri="http://schemas.openxmlformats.org/presentationml/2006/ole">
            <mc:AlternateContent xmlns:mc="http://schemas.openxmlformats.org/markup-compatibility/2006">
              <mc:Choice xmlns:v="urn:schemas-microsoft-com:vml" Requires="v">
                <p:oleObj spid="_x0000_s17679" name="Equation" r:id="rId16" imgW="6705600" imgH="5486400" progId="Equation.DSMT4">
                  <p:embed/>
                </p:oleObj>
              </mc:Choice>
              <mc:Fallback>
                <p:oleObj name="Equation" r:id="rId16" imgW="6705600" imgH="5486400" progId="Equation.DSMT4">
                  <p:embed/>
                  <p:pic>
                    <p:nvPicPr>
                      <p:cNvPr id="0" name="图片 17678"/>
                      <p:cNvPicPr/>
                      <p:nvPr/>
                    </p:nvPicPr>
                    <p:blipFill>
                      <a:blip r:embed="rId17"/>
                      <a:stretch>
                        <a:fillRect/>
                      </a:stretch>
                    </p:blipFill>
                    <p:spPr>
                      <a:xfrm>
                        <a:off x="4940796" y="6080150"/>
                        <a:ext cx="495300" cy="404812"/>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3605360" y="5880875"/>
          <a:ext cx="225425" cy="247650"/>
        </p:xfrm>
        <a:graphic>
          <a:graphicData uri="http://schemas.openxmlformats.org/presentationml/2006/ole">
            <mc:AlternateContent xmlns:mc="http://schemas.openxmlformats.org/markup-compatibility/2006">
              <mc:Choice xmlns:v="urn:schemas-microsoft-com:vml" Requires="v">
                <p:oleObj spid="_x0000_s17680" name="Equation" r:id="rId18" imgW="3048000" imgH="3352800" progId="Equation.DSMT4">
                  <p:embed/>
                </p:oleObj>
              </mc:Choice>
              <mc:Fallback>
                <p:oleObj name="Equation" r:id="rId18" imgW="3048000" imgH="3352800" progId="Equation.DSMT4">
                  <p:embed/>
                  <p:pic>
                    <p:nvPicPr>
                      <p:cNvPr id="0" name="图片 17679"/>
                      <p:cNvPicPr/>
                      <p:nvPr/>
                    </p:nvPicPr>
                    <p:blipFill>
                      <a:blip r:embed="rId19"/>
                      <a:stretch>
                        <a:fillRect/>
                      </a:stretch>
                    </p:blipFill>
                    <p:spPr>
                      <a:xfrm>
                        <a:off x="3605360" y="5880875"/>
                        <a:ext cx="225425" cy="24765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3166687" y="5889011"/>
          <a:ext cx="225425" cy="247650"/>
        </p:xfrm>
        <a:graphic>
          <a:graphicData uri="http://schemas.openxmlformats.org/presentationml/2006/ole">
            <mc:AlternateContent xmlns:mc="http://schemas.openxmlformats.org/markup-compatibility/2006">
              <mc:Choice xmlns:v="urn:schemas-microsoft-com:vml" Requires="v">
                <p:oleObj spid="_x0000_s17681" name="Equation" r:id="rId20" imgW="3048000" imgH="3352800" progId="Equation.DSMT4">
                  <p:embed/>
                </p:oleObj>
              </mc:Choice>
              <mc:Fallback>
                <p:oleObj name="Equation" r:id="rId20" imgW="3048000" imgH="3352800" progId="Equation.DSMT4">
                  <p:embed/>
                  <p:pic>
                    <p:nvPicPr>
                      <p:cNvPr id="0" name="图片 17680"/>
                      <p:cNvPicPr/>
                      <p:nvPr/>
                    </p:nvPicPr>
                    <p:blipFill>
                      <a:blip r:embed="rId12"/>
                      <a:stretch>
                        <a:fillRect/>
                      </a:stretch>
                    </p:blipFill>
                    <p:spPr>
                      <a:xfrm>
                        <a:off x="3166687" y="5889011"/>
                        <a:ext cx="225425" cy="24765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5969982" y="5889011"/>
          <a:ext cx="225425" cy="247650"/>
        </p:xfrm>
        <a:graphic>
          <a:graphicData uri="http://schemas.openxmlformats.org/presentationml/2006/ole">
            <mc:AlternateContent xmlns:mc="http://schemas.openxmlformats.org/markup-compatibility/2006">
              <mc:Choice xmlns:v="urn:schemas-microsoft-com:vml" Requires="v">
                <p:oleObj spid="_x0000_s17682" name="Equation" r:id="rId21" imgW="3048000" imgH="3352800" progId="Equation.DSMT4">
                  <p:embed/>
                </p:oleObj>
              </mc:Choice>
              <mc:Fallback>
                <p:oleObj name="Equation" r:id="rId21" imgW="3048000" imgH="3352800" progId="Equation.DSMT4">
                  <p:embed/>
                  <p:pic>
                    <p:nvPicPr>
                      <p:cNvPr id="0" name="图片 17681"/>
                      <p:cNvPicPr/>
                      <p:nvPr/>
                    </p:nvPicPr>
                    <p:blipFill>
                      <a:blip r:embed="rId12"/>
                      <a:stretch>
                        <a:fillRect/>
                      </a:stretch>
                    </p:blipFill>
                    <p:spPr>
                      <a:xfrm>
                        <a:off x="5969982" y="5889011"/>
                        <a:ext cx="225425" cy="247650"/>
                      </a:xfrm>
                      <a:prstGeom prst="rect">
                        <a:avLst/>
                      </a:prstGeom>
                    </p:spPr>
                  </p:pic>
                </p:oleObj>
              </mc:Fallback>
            </mc:AlternateContent>
          </a:graphicData>
        </a:graphic>
      </p:graphicFrame>
    </p:spTree>
  </p:cSld>
  <p:clrMapOvr>
    <a:masterClrMapping/>
  </p:clrMapOvr>
  <p:transition>
    <p:cover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940328" y="2492896"/>
            <a:ext cx="5728016" cy="4360683"/>
          </a:xfrm>
          <a:prstGeom prst="rect">
            <a:avLst/>
          </a:prstGeom>
        </p:spPr>
      </p:pic>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4.4.2 </a:t>
            </a:r>
            <a:r>
              <a:rPr lang="zh-CN" altLang="en-US" dirty="0">
                <a:latin typeface="+mn-ea"/>
              </a:rPr>
              <a:t>缺失值</a:t>
            </a:r>
            <a:r>
              <a:rPr lang="zh-CN" altLang="en-US" dirty="0" smtClean="0">
                <a:latin typeface="+mn-ea"/>
              </a:rPr>
              <a:t>处理</a:t>
            </a:r>
            <a:endParaRPr lang="en-US" altLang="zh-CN" dirty="0" smtClean="0">
              <a:latin typeface="+mn-ea"/>
            </a:endParaRPr>
          </a:p>
          <a:p>
            <a:pPr lvl="1"/>
            <a:r>
              <a:rPr lang="zh-CN" altLang="en-US" dirty="0">
                <a:latin typeface="+mn-ea"/>
              </a:rPr>
              <a:t>基本思路：样本赋权，权重划分</a:t>
            </a:r>
            <a:endParaRPr lang="en-US" altLang="zh-CN" dirty="0">
              <a:latin typeface="+mn-ea"/>
            </a:endParaRPr>
          </a:p>
          <a:p>
            <a:pPr lvl="2"/>
            <a:r>
              <a:rPr lang="zh-CN" altLang="en-US" dirty="0" smtClean="0">
                <a:latin typeface="+mn-ea"/>
              </a:rPr>
              <a:t>例子</a:t>
            </a:r>
            <a:endParaRPr lang="en-US" altLang="zh-CN" dirty="0" smtClean="0">
              <a:latin typeface="+mn-ea"/>
            </a:endParaRPr>
          </a:p>
          <a:p>
            <a:pPr lvl="3"/>
            <a:r>
              <a:rPr lang="zh-CN" altLang="en-US" dirty="0">
                <a:latin typeface="+mn-ea"/>
              </a:rPr>
              <a:t>学习</a:t>
            </a:r>
            <a:r>
              <a:rPr lang="zh-CN" altLang="en-US" dirty="0" smtClean="0">
                <a:latin typeface="+mn-ea"/>
              </a:rPr>
              <a:t>开始，根</a:t>
            </a:r>
            <a:r>
              <a:rPr lang="zh-CN" altLang="en-US" dirty="0">
                <a:latin typeface="+mn-ea"/>
              </a:rPr>
              <a:t>结点</a:t>
            </a:r>
            <a:r>
              <a:rPr lang="zh-CN" altLang="en-US" dirty="0" smtClean="0">
                <a:latin typeface="+mn-ea"/>
              </a:rPr>
              <a:t>包含</a:t>
            </a:r>
            <a:r>
              <a:rPr lang="zh-CN" altLang="en-US" dirty="0">
                <a:latin typeface="+mn-ea"/>
              </a:rPr>
              <a:t>样例</a:t>
            </a:r>
            <a:r>
              <a:rPr lang="zh-CN" altLang="en-US" dirty="0" smtClean="0">
                <a:latin typeface="+mn-ea"/>
              </a:rPr>
              <a:t>集</a:t>
            </a:r>
            <a:r>
              <a:rPr lang="en-US" altLang="zh-CN" dirty="0" smtClean="0">
                <a:latin typeface="+mn-ea"/>
              </a:rPr>
              <a:t>D</a:t>
            </a:r>
            <a:r>
              <a:rPr lang="zh-CN" altLang="en-US" dirty="0" smtClean="0">
                <a:latin typeface="+mn-ea"/>
              </a:rPr>
              <a:t>全部样</a:t>
            </a:r>
            <a:r>
              <a:rPr lang="zh-CN" altLang="en-US" dirty="0">
                <a:latin typeface="+mn-ea"/>
              </a:rPr>
              <a:t>例，权重均</a:t>
            </a:r>
            <a:r>
              <a:rPr lang="zh-CN" altLang="en-US" dirty="0" smtClean="0">
                <a:latin typeface="+mn-ea"/>
              </a:rPr>
              <a:t>为</a:t>
            </a:r>
            <a:r>
              <a:rPr lang="en-US" altLang="zh-CN" dirty="0" smtClean="0">
                <a:latin typeface="+mn-ea"/>
              </a:rPr>
              <a:t>1</a:t>
            </a:r>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4.4.2 </a:t>
            </a:r>
            <a:r>
              <a:rPr lang="zh-CN" altLang="en-US" dirty="0">
                <a:latin typeface="+mn-ea"/>
              </a:rPr>
              <a:t>缺失值处理</a:t>
            </a:r>
            <a:endParaRPr lang="en-US" altLang="zh-CN" dirty="0">
              <a:latin typeface="+mn-ea"/>
            </a:endParaRPr>
          </a:p>
          <a:p>
            <a:pPr lvl="1"/>
            <a:r>
              <a:rPr lang="zh-CN" altLang="en-US" dirty="0">
                <a:latin typeface="+mn-ea"/>
              </a:rPr>
              <a:t>基本思路：样本赋权，权重划分</a:t>
            </a:r>
            <a:endParaRPr lang="en-US" altLang="zh-CN" dirty="0">
              <a:latin typeface="+mn-ea"/>
            </a:endParaRPr>
          </a:p>
          <a:p>
            <a:pPr lvl="2"/>
            <a:r>
              <a:rPr lang="zh-CN" altLang="en-US" dirty="0" smtClean="0">
                <a:latin typeface="+mn-ea"/>
              </a:rPr>
              <a:t>例子</a:t>
            </a:r>
            <a:endParaRPr lang="en-US" altLang="zh-CN" dirty="0" smtClean="0">
              <a:latin typeface="+mn-ea"/>
            </a:endParaRPr>
          </a:p>
          <a:p>
            <a:pPr lvl="3"/>
            <a:r>
              <a:rPr lang="zh-CN" altLang="en-US" dirty="0">
                <a:latin typeface="+mn-ea"/>
              </a:rPr>
              <a:t>属性</a:t>
            </a:r>
            <a:r>
              <a:rPr lang="zh-CN" altLang="en-US" dirty="0" smtClean="0">
                <a:latin typeface="+mn-ea"/>
              </a:rPr>
              <a:t>色泽的信息增益</a:t>
            </a:r>
            <a:endParaRPr lang="zh-CN" altLang="en-US" dirty="0">
              <a:latin typeface="+mn-ea"/>
            </a:endParaRPr>
          </a:p>
          <a:p>
            <a:pPr lvl="4"/>
            <a:r>
              <a:rPr lang="zh-CN" altLang="en-US" dirty="0" smtClean="0">
                <a:latin typeface="+mn-ea"/>
              </a:rPr>
              <a:t>对于属性色泽，无</a:t>
            </a:r>
            <a:r>
              <a:rPr lang="zh-CN" altLang="en-US" dirty="0">
                <a:latin typeface="+mn-ea"/>
              </a:rPr>
              <a:t>缺失</a:t>
            </a:r>
            <a:r>
              <a:rPr lang="zh-CN" altLang="en-US" dirty="0" smtClean="0">
                <a:latin typeface="+mn-ea"/>
              </a:rPr>
              <a:t>值样</a:t>
            </a:r>
            <a:r>
              <a:rPr lang="zh-CN" altLang="en-US" dirty="0">
                <a:latin typeface="+mn-ea"/>
              </a:rPr>
              <a:t>例</a:t>
            </a:r>
            <a:r>
              <a:rPr lang="zh-CN" altLang="en-US" dirty="0" smtClean="0">
                <a:latin typeface="+mn-ea"/>
              </a:rPr>
              <a:t>子集  包含</a:t>
            </a:r>
            <a:r>
              <a:rPr lang="en-US" altLang="zh-CN" dirty="0" smtClean="0">
                <a:latin typeface="+mn-ea"/>
              </a:rPr>
              <a:t>14</a:t>
            </a:r>
            <a:r>
              <a:rPr lang="zh-CN" altLang="en-US" dirty="0" smtClean="0">
                <a:latin typeface="+mn-ea"/>
              </a:rPr>
              <a:t>个样例，信息熵为</a:t>
            </a:r>
            <a:endParaRPr lang="en-US" altLang="zh-CN" dirty="0" smtClean="0">
              <a:latin typeface="+mn-ea"/>
            </a:endParaRPr>
          </a:p>
          <a:p>
            <a:pPr lvl="4"/>
            <a:endParaRPr lang="en-US" altLang="zh-CN" dirty="0" smtClean="0">
              <a:latin typeface="+mn-ea"/>
            </a:endParaRPr>
          </a:p>
          <a:p>
            <a:pPr lvl="4"/>
            <a:endParaRPr lang="en-US" altLang="zh-CN" dirty="0" smtClean="0">
              <a:latin typeface="+mn-ea"/>
            </a:endParaRPr>
          </a:p>
          <a:p>
            <a:pPr marL="1828800" lvl="4" indent="0" hangingPunct="0">
              <a:spcBef>
                <a:spcPts val="600"/>
              </a:spcBef>
              <a:buNone/>
            </a:pPr>
            <a:r>
              <a:rPr lang="zh-CN" altLang="en-US" dirty="0" smtClean="0">
                <a:latin typeface="+mn-ea"/>
              </a:rPr>
              <a:t>令        分别</a:t>
            </a:r>
            <a:r>
              <a:rPr lang="zh-CN" altLang="en-US" dirty="0">
                <a:latin typeface="+mn-ea"/>
              </a:rPr>
              <a:t>表示在</a:t>
            </a:r>
            <a:r>
              <a:rPr lang="zh-CN" altLang="en-US" dirty="0" smtClean="0">
                <a:latin typeface="+mn-ea"/>
              </a:rPr>
              <a:t>属性色泽取值为青绿、乌黑、浅白的</a:t>
            </a:r>
            <a:r>
              <a:rPr lang="zh-CN" altLang="en-US" dirty="0">
                <a:latin typeface="+mn-ea"/>
              </a:rPr>
              <a:t>样本子集</a:t>
            </a:r>
            <a:r>
              <a:rPr lang="zh-CN" altLang="en-US" dirty="0" smtClean="0">
                <a:latin typeface="+mn-ea"/>
              </a:rPr>
              <a:t>，则有</a:t>
            </a:r>
            <a:endParaRPr lang="en-US" altLang="zh-CN" dirty="0" smtClean="0">
              <a:latin typeface="+mn-ea"/>
            </a:endParaRPr>
          </a:p>
          <a:p>
            <a:pPr marL="1828800" lvl="4" indent="0">
              <a:buNone/>
            </a:pPr>
            <a:endParaRPr lang="en-US" altLang="zh-CN" dirty="0" smtClean="0">
              <a:latin typeface="+mn-ea"/>
            </a:endParaRPr>
          </a:p>
          <a:p>
            <a:pPr marL="1828800" lvl="4" indent="0">
              <a:buNone/>
            </a:pPr>
            <a:endParaRPr lang="en-US" altLang="zh-CN" dirty="0" smtClean="0">
              <a:latin typeface="+mn-ea"/>
            </a:endParaRPr>
          </a:p>
          <a:p>
            <a:pPr marL="1828800" lvl="4" indent="0">
              <a:spcBef>
                <a:spcPts val="1800"/>
              </a:spcBef>
              <a:buNone/>
            </a:pPr>
            <a:r>
              <a:rPr lang="zh-CN" altLang="en-US" dirty="0" smtClean="0">
                <a:latin typeface="+mn-ea"/>
              </a:rPr>
              <a:t>样本子集  上属性色泽的信息增益为</a:t>
            </a:r>
            <a:endParaRPr lang="zh-CN" altLang="en-US" dirty="0" smtClean="0">
              <a:latin typeface="+mn-ea"/>
            </a:endParaRPr>
          </a:p>
          <a:p>
            <a:pPr marL="1828800" lvl="4" indent="0">
              <a:buNone/>
            </a:pPr>
            <a:endParaRPr lang="zh-CN" altLang="en-US" dirty="0">
              <a:latin typeface="+mn-ea"/>
            </a:endParaRPr>
          </a:p>
          <a:p>
            <a:pPr marL="1828800" lvl="4" indent="0">
              <a:buNone/>
            </a:pPr>
            <a:endParaRPr lang="en-US" altLang="zh-CN" dirty="0" smtClean="0">
              <a:latin typeface="+mn-ea"/>
            </a:endParaRPr>
          </a:p>
          <a:p>
            <a:pPr lvl="3"/>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6798593" y="2420888"/>
          <a:ext cx="293687" cy="336550"/>
        </p:xfrm>
        <a:graphic>
          <a:graphicData uri="http://schemas.openxmlformats.org/presentationml/2006/ole">
            <mc:AlternateContent xmlns:mc="http://schemas.openxmlformats.org/markup-compatibility/2006">
              <mc:Choice xmlns:v="urn:schemas-microsoft-com:vml" Requires="v">
                <p:oleObj spid="_x0000_s14639" name="Equation" r:id="rId1" imgW="3962400" imgH="4572000" progId="Equation.DSMT4">
                  <p:embed/>
                </p:oleObj>
              </mc:Choice>
              <mc:Fallback>
                <p:oleObj name="Equation" r:id="rId1" imgW="3962400" imgH="4572000" progId="Equation.DSMT4">
                  <p:embed/>
                  <p:pic>
                    <p:nvPicPr>
                      <p:cNvPr id="0" name="图片 14638"/>
                      <p:cNvPicPr/>
                      <p:nvPr/>
                    </p:nvPicPr>
                    <p:blipFill>
                      <a:blip r:embed="rId2"/>
                      <a:stretch>
                        <a:fillRect/>
                      </a:stretch>
                    </p:blipFill>
                    <p:spPr>
                      <a:xfrm>
                        <a:off x="6798593" y="2420888"/>
                        <a:ext cx="293687" cy="33655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339975" y="3069902"/>
          <a:ext cx="6283325" cy="719138"/>
        </p:xfrm>
        <a:graphic>
          <a:graphicData uri="http://schemas.openxmlformats.org/presentationml/2006/ole">
            <mc:AlternateContent xmlns:mc="http://schemas.openxmlformats.org/markup-compatibility/2006">
              <mc:Choice xmlns:v="urn:schemas-microsoft-com:vml" Requires="v">
                <p:oleObj spid="_x0000_s14640" name="Equation" r:id="rId3" imgW="89916000" imgH="10363200" progId="Equation.DSMT4">
                  <p:embed/>
                </p:oleObj>
              </mc:Choice>
              <mc:Fallback>
                <p:oleObj name="Equation" r:id="rId3" imgW="89916000" imgH="10363200" progId="Equation.DSMT4">
                  <p:embed/>
                  <p:pic>
                    <p:nvPicPr>
                      <p:cNvPr id="0" name="图片 14639"/>
                      <p:cNvPicPr/>
                      <p:nvPr/>
                    </p:nvPicPr>
                    <p:blipFill>
                      <a:blip r:embed="rId4"/>
                      <a:stretch>
                        <a:fillRect/>
                      </a:stretch>
                    </p:blipFill>
                    <p:spPr>
                      <a:xfrm>
                        <a:off x="2339975" y="3069902"/>
                        <a:ext cx="6283325" cy="71913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915816" y="3789080"/>
          <a:ext cx="1068662" cy="360000"/>
        </p:xfrm>
        <a:graphic>
          <a:graphicData uri="http://schemas.openxmlformats.org/presentationml/2006/ole">
            <mc:AlternateContent xmlns:mc="http://schemas.openxmlformats.org/markup-compatibility/2006">
              <mc:Choice xmlns:v="urn:schemas-microsoft-com:vml" Requires="v">
                <p:oleObj spid="_x0000_s14641" name="Equation" r:id="rId5" imgW="16154400" imgH="5486400" progId="Equation.DSMT4">
                  <p:embed/>
                </p:oleObj>
              </mc:Choice>
              <mc:Fallback>
                <p:oleObj name="Equation" r:id="rId5" imgW="16154400" imgH="5486400" progId="Equation.DSMT4">
                  <p:embed/>
                  <p:pic>
                    <p:nvPicPr>
                      <p:cNvPr id="0" name="图片 14640"/>
                      <p:cNvPicPr/>
                      <p:nvPr/>
                    </p:nvPicPr>
                    <p:blipFill>
                      <a:blip r:embed="rId6"/>
                      <a:stretch>
                        <a:fillRect/>
                      </a:stretch>
                    </p:blipFill>
                    <p:spPr>
                      <a:xfrm>
                        <a:off x="2915816" y="3789080"/>
                        <a:ext cx="1068662" cy="360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939800" y="4396779"/>
          <a:ext cx="7796213" cy="760413"/>
        </p:xfrm>
        <a:graphic>
          <a:graphicData uri="http://schemas.openxmlformats.org/presentationml/2006/ole">
            <mc:AlternateContent xmlns:mc="http://schemas.openxmlformats.org/markup-compatibility/2006">
              <mc:Choice xmlns:v="urn:schemas-microsoft-com:vml" Requires="v">
                <p:oleObj spid="_x0000_s14642" name="Equation" r:id="rId7" imgW="111556800" imgH="10972800" progId="Equation.DSMT4">
                  <p:embed/>
                </p:oleObj>
              </mc:Choice>
              <mc:Fallback>
                <p:oleObj name="Equation" r:id="rId7" imgW="111556800" imgH="10972800" progId="Equation.DSMT4">
                  <p:embed/>
                  <p:pic>
                    <p:nvPicPr>
                      <p:cNvPr id="0" name="图片 14641"/>
                      <p:cNvPicPr/>
                      <p:nvPr/>
                    </p:nvPicPr>
                    <p:blipFill>
                      <a:blip r:embed="rId8"/>
                      <a:stretch>
                        <a:fillRect/>
                      </a:stretch>
                    </p:blipFill>
                    <p:spPr>
                      <a:xfrm>
                        <a:off x="939800" y="4396779"/>
                        <a:ext cx="7796213" cy="7604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649148" y="5229200"/>
          <a:ext cx="251320" cy="288000"/>
        </p:xfrm>
        <a:graphic>
          <a:graphicData uri="http://schemas.openxmlformats.org/presentationml/2006/ole">
            <mc:AlternateContent xmlns:mc="http://schemas.openxmlformats.org/markup-compatibility/2006">
              <mc:Choice xmlns:v="urn:schemas-microsoft-com:vml" Requires="v">
                <p:oleObj spid="_x0000_s14643" name="Equation" r:id="rId9" imgW="3962400" imgH="4572000" progId="Equation.DSMT4">
                  <p:embed/>
                </p:oleObj>
              </mc:Choice>
              <mc:Fallback>
                <p:oleObj name="Equation" r:id="rId9" imgW="3962400" imgH="4572000" progId="Equation.DSMT4">
                  <p:embed/>
                  <p:pic>
                    <p:nvPicPr>
                      <p:cNvPr id="0" name="图片 14642"/>
                      <p:cNvPicPr/>
                      <p:nvPr/>
                    </p:nvPicPr>
                    <p:blipFill>
                      <a:blip r:embed="rId2"/>
                      <a:stretch>
                        <a:fillRect/>
                      </a:stretch>
                    </p:blipFill>
                    <p:spPr>
                      <a:xfrm>
                        <a:off x="3649148" y="5229200"/>
                        <a:ext cx="251320" cy="288000"/>
                      </a:xfrm>
                      <a:prstGeom prst="rect">
                        <a:avLst/>
                      </a:prstGeom>
                    </p:spPr>
                  </p:pic>
                </p:oleObj>
              </mc:Fallback>
            </mc:AlternateContent>
          </a:graphicData>
        </a:graphic>
      </p:graphicFrame>
      <p:pic>
        <p:nvPicPr>
          <p:cNvPr id="10" name="图片 9"/>
          <p:cNvPicPr>
            <a:picLocks noChangeAspect="1"/>
          </p:cNvPicPr>
          <p:nvPr/>
        </p:nvPicPr>
        <p:blipFill>
          <a:blip r:embed="rId10"/>
          <a:stretch>
            <a:fillRect/>
          </a:stretch>
        </p:blipFill>
        <p:spPr>
          <a:xfrm>
            <a:off x="1547018" y="5508451"/>
            <a:ext cx="6581775" cy="1304925"/>
          </a:xfrm>
          <a:prstGeom prst="rect">
            <a:avLst/>
          </a:prstGeom>
        </p:spPr>
      </p:pic>
    </p:spTree>
  </p:cSld>
  <p:clrMapOvr>
    <a:masterClrMapping/>
  </p:clrMapOvr>
  <p:transition>
    <p:cover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4.4.2 </a:t>
            </a:r>
            <a:r>
              <a:rPr lang="zh-CN" altLang="en-US" dirty="0">
                <a:latin typeface="+mn-ea"/>
              </a:rPr>
              <a:t>缺失值处理</a:t>
            </a:r>
            <a:endParaRPr lang="en-US" altLang="zh-CN" dirty="0">
              <a:latin typeface="+mn-ea"/>
            </a:endParaRPr>
          </a:p>
          <a:p>
            <a:pPr lvl="1"/>
            <a:r>
              <a:rPr lang="zh-CN" altLang="en-US" dirty="0">
                <a:latin typeface="+mn-ea"/>
              </a:rPr>
              <a:t>基本思路：样本赋权，权重划分</a:t>
            </a:r>
            <a:endParaRPr lang="en-US" altLang="zh-CN" dirty="0">
              <a:latin typeface="+mn-ea"/>
            </a:endParaRPr>
          </a:p>
          <a:p>
            <a:pPr lvl="2"/>
            <a:r>
              <a:rPr lang="zh-CN" altLang="en-US" dirty="0">
                <a:latin typeface="+mn-ea"/>
              </a:rPr>
              <a:t>例子</a:t>
            </a:r>
            <a:endParaRPr lang="en-US" altLang="zh-CN" dirty="0">
              <a:latin typeface="+mn-ea"/>
            </a:endParaRPr>
          </a:p>
          <a:p>
            <a:pPr lvl="3"/>
            <a:r>
              <a:rPr lang="zh-CN" altLang="en-US" dirty="0">
                <a:latin typeface="+mn-ea"/>
              </a:rPr>
              <a:t>属性色泽的信息增益</a:t>
            </a:r>
            <a:endParaRPr lang="zh-CN" altLang="en-US" dirty="0">
              <a:latin typeface="+mn-ea"/>
            </a:endParaRPr>
          </a:p>
          <a:p>
            <a:pPr lvl="4"/>
            <a:r>
              <a:rPr lang="zh-CN" altLang="en-US" dirty="0" smtClean="0">
                <a:latin typeface="+mn-ea"/>
              </a:rPr>
              <a:t>对于</a:t>
            </a:r>
            <a:r>
              <a:rPr lang="zh-CN" altLang="en-US" dirty="0">
                <a:latin typeface="+mn-ea"/>
              </a:rPr>
              <a:t>属性色泽，</a:t>
            </a:r>
            <a:r>
              <a:rPr lang="zh-CN" altLang="en-US" dirty="0" smtClean="0">
                <a:latin typeface="+mn-ea"/>
              </a:rPr>
              <a:t>样本集</a:t>
            </a:r>
            <a:r>
              <a:rPr lang="en-US" altLang="zh-CN" dirty="0" smtClean="0">
                <a:latin typeface="+mn-ea"/>
              </a:rPr>
              <a:t>D</a:t>
            </a:r>
            <a:r>
              <a:rPr lang="zh-CN" altLang="en-US" dirty="0" smtClean="0">
                <a:latin typeface="+mn-ea"/>
              </a:rPr>
              <a:t>的属性色泽信息</a:t>
            </a:r>
            <a:r>
              <a:rPr lang="zh-CN" altLang="en-US" dirty="0">
                <a:latin typeface="+mn-ea"/>
              </a:rPr>
              <a:t>增益</a:t>
            </a:r>
            <a:r>
              <a:rPr lang="zh-CN" altLang="en-US" dirty="0" smtClean="0">
                <a:latin typeface="+mn-ea"/>
              </a:rPr>
              <a:t>为</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spcBef>
                <a:spcPts val="2400"/>
              </a:spcBef>
            </a:pPr>
            <a:r>
              <a:rPr lang="zh-CN" altLang="en-US" dirty="0">
                <a:latin typeface="+mn-ea"/>
              </a:rPr>
              <a:t>类似地可计算出所有属性在数据集上的信息增益</a:t>
            </a:r>
            <a:endParaRPr lang="zh-CN" altLang="en-US" dirty="0">
              <a:latin typeface="+mn-ea"/>
            </a:endParaRPr>
          </a:p>
          <a:p>
            <a:pPr lvl="4"/>
            <a:endParaRPr lang="zh-CN" altLang="en-US" dirty="0">
              <a:latin typeface="+mn-ea"/>
            </a:endParaRPr>
          </a:p>
          <a:p>
            <a:pPr lvl="4"/>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198315" y="2892549"/>
            <a:ext cx="6334125" cy="752475"/>
          </a:xfrm>
          <a:prstGeom prst="rect">
            <a:avLst/>
          </a:prstGeom>
        </p:spPr>
      </p:pic>
      <p:pic>
        <p:nvPicPr>
          <p:cNvPr id="6" name="图片 5"/>
          <p:cNvPicPr>
            <a:picLocks noChangeAspect="1"/>
          </p:cNvPicPr>
          <p:nvPr/>
        </p:nvPicPr>
        <p:blipFill>
          <a:blip r:embed="rId2"/>
          <a:stretch>
            <a:fillRect/>
          </a:stretch>
        </p:blipFill>
        <p:spPr>
          <a:xfrm>
            <a:off x="2195736" y="4185200"/>
            <a:ext cx="5415219" cy="1044000"/>
          </a:xfrm>
          <a:prstGeom prst="rect">
            <a:avLst/>
          </a:prstGeom>
        </p:spPr>
      </p:pic>
    </p:spTree>
  </p:cSld>
  <p:clrMapOvr>
    <a:masterClrMapping/>
  </p:clrMapOvr>
  <p:transition>
    <p:cover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4.4.2 </a:t>
            </a:r>
            <a:r>
              <a:rPr lang="zh-CN" altLang="en-US" dirty="0">
                <a:latin typeface="+mn-ea"/>
              </a:rPr>
              <a:t>缺失值处理</a:t>
            </a:r>
            <a:endParaRPr lang="en-US" altLang="zh-CN" dirty="0">
              <a:latin typeface="+mn-ea"/>
            </a:endParaRPr>
          </a:p>
          <a:p>
            <a:pPr lvl="1"/>
            <a:r>
              <a:rPr lang="zh-CN" altLang="en-US" dirty="0">
                <a:latin typeface="+mn-ea"/>
              </a:rPr>
              <a:t>基本思路：样本赋权，权重划分</a:t>
            </a:r>
            <a:endParaRPr lang="en-US" altLang="zh-CN" dirty="0">
              <a:latin typeface="+mn-ea"/>
            </a:endParaRPr>
          </a:p>
          <a:p>
            <a:pPr lvl="2"/>
            <a:r>
              <a:rPr lang="zh-CN" altLang="en-US" dirty="0">
                <a:latin typeface="+mn-ea"/>
              </a:rPr>
              <a:t>例子</a:t>
            </a:r>
            <a:endParaRPr lang="en-US" altLang="zh-CN" dirty="0">
              <a:latin typeface="+mn-ea"/>
            </a:endParaRPr>
          </a:p>
          <a:p>
            <a:pPr lvl="3"/>
            <a:r>
              <a:rPr lang="zh-CN" altLang="en-US" dirty="0" smtClean="0">
                <a:latin typeface="+mn-ea"/>
              </a:rPr>
              <a:t>通过属性纹理的划分</a:t>
            </a:r>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51520" y="2529360"/>
            <a:ext cx="8661702" cy="4140000"/>
          </a:xfrm>
          <a:prstGeom prst="rect">
            <a:avLst/>
          </a:prstGeom>
        </p:spPr>
      </p:pic>
    </p:spTree>
  </p:cSld>
  <p:clrMapOvr>
    <a:masterClrMapping/>
  </p:clrMapOvr>
  <p:transition>
    <p:cover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连续与缺失值</a:t>
            </a:r>
            <a:endParaRPr lang="zh-CN" altLang="en-US" dirty="0"/>
          </a:p>
        </p:txBody>
      </p:sp>
      <p:sp>
        <p:nvSpPr>
          <p:cNvPr id="3" name="内容占位符 2"/>
          <p:cNvSpPr>
            <a:spLocks noGrp="1"/>
          </p:cNvSpPr>
          <p:nvPr>
            <p:ph idx="1"/>
          </p:nvPr>
        </p:nvSpPr>
        <p:spPr/>
        <p:txBody>
          <a:bodyPr/>
          <a:lstStyle/>
          <a:p>
            <a:r>
              <a:rPr lang="en-US" altLang="zh-CN" dirty="0">
                <a:latin typeface="+mn-ea"/>
              </a:rPr>
              <a:t>4.4.2 </a:t>
            </a:r>
            <a:r>
              <a:rPr lang="zh-CN" altLang="en-US" dirty="0">
                <a:latin typeface="+mn-ea"/>
              </a:rPr>
              <a:t>缺失值处理</a:t>
            </a:r>
            <a:endParaRPr lang="en-US" altLang="zh-CN" dirty="0">
              <a:latin typeface="+mn-ea"/>
            </a:endParaRPr>
          </a:p>
          <a:p>
            <a:pPr lvl="1"/>
            <a:r>
              <a:rPr lang="zh-CN" altLang="en-US" dirty="0">
                <a:latin typeface="+mn-ea"/>
              </a:rPr>
              <a:t>基本思路：样本赋权，权重划分</a:t>
            </a:r>
            <a:endParaRPr lang="en-US" altLang="zh-CN" dirty="0">
              <a:latin typeface="+mn-ea"/>
            </a:endParaRPr>
          </a:p>
          <a:p>
            <a:pPr lvl="2"/>
            <a:r>
              <a:rPr lang="zh-CN" altLang="en-US" dirty="0">
                <a:latin typeface="+mn-ea"/>
              </a:rPr>
              <a:t>例子</a:t>
            </a:r>
            <a:endParaRPr lang="en-US" altLang="zh-CN" dirty="0">
              <a:latin typeface="+mn-ea"/>
            </a:endParaRPr>
          </a:p>
          <a:p>
            <a:pPr lvl="3"/>
            <a:r>
              <a:rPr lang="zh-CN" altLang="en-US" dirty="0">
                <a:latin typeface="+mn-ea"/>
              </a:rPr>
              <a:t>结点划分过程递归执行，最终生成的决策树</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rotWithShape="1">
          <a:blip r:embed="rId1"/>
          <a:srcRect b="16487"/>
          <a:stretch>
            <a:fillRect/>
          </a:stretch>
        </p:blipFill>
        <p:spPr>
          <a:xfrm>
            <a:off x="323528" y="2605799"/>
            <a:ext cx="8496944" cy="3773801"/>
          </a:xfrm>
          <a:prstGeom prst="rect">
            <a:avLst/>
          </a:prstGeom>
        </p:spPr>
      </p:pic>
    </p:spTree>
  </p:cSld>
  <p:clrMapOvr>
    <a:masterClrMapping/>
  </p:clrMapOvr>
  <p:transition>
    <p:cover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4.5 </a:t>
            </a:r>
            <a:r>
              <a:rPr lang="zh-CN" altLang="en-US" dirty="0" smtClean="0"/>
              <a:t>多</a:t>
            </a:r>
            <a:r>
              <a:rPr lang="zh-CN" altLang="en-US" dirty="0"/>
              <a:t>变量决策树</a:t>
            </a:r>
            <a:endParaRPr lang="zh-CN" altLang="en-US" dirty="0"/>
          </a:p>
        </p:txBody>
      </p:sp>
      <p:sp>
        <p:nvSpPr>
          <p:cNvPr id="3" name="内容占位符 2"/>
          <p:cNvSpPr>
            <a:spLocks noGrp="1"/>
          </p:cNvSpPr>
          <p:nvPr>
            <p:ph idx="1"/>
          </p:nvPr>
        </p:nvSpPr>
        <p:spPr/>
        <p:txBody>
          <a:bodyPr/>
          <a:lstStyle/>
          <a:p>
            <a:r>
              <a:rPr lang="zh-CN" altLang="en-US" dirty="0"/>
              <a:t>轴平行划分</a:t>
            </a:r>
            <a:endParaRPr lang="zh-CN" altLang="en-US" dirty="0"/>
          </a:p>
          <a:p>
            <a:pPr lvl="1"/>
            <a:r>
              <a:rPr lang="zh-CN" altLang="en-US" dirty="0" smtClean="0"/>
              <a:t>单</a:t>
            </a:r>
            <a:r>
              <a:rPr lang="zh-CN" altLang="en-US" dirty="0"/>
              <a:t>变量</a:t>
            </a:r>
            <a:r>
              <a:rPr lang="zh-CN" altLang="en-US" dirty="0" smtClean="0"/>
              <a:t>决策树在</a:t>
            </a:r>
            <a:r>
              <a:rPr lang="zh-CN" altLang="en-US" dirty="0"/>
              <a:t>每个非叶结点仅考虑一个划分</a:t>
            </a:r>
            <a:r>
              <a:rPr lang="zh-CN" altLang="en-US" dirty="0" smtClean="0"/>
              <a:t>属性</a:t>
            </a:r>
            <a:endParaRPr lang="en-US" altLang="zh-CN" dirty="0" smtClean="0"/>
          </a:p>
          <a:p>
            <a:pPr lvl="1" hangingPunct="0"/>
            <a:r>
              <a:rPr lang="zh-CN" altLang="en-US" dirty="0"/>
              <a:t>若把每个</a:t>
            </a:r>
            <a:r>
              <a:rPr lang="zh-CN" altLang="en-US" dirty="0"/>
              <a:t>属性视为坐标空间中的一个坐标轴，</a:t>
            </a:r>
            <a:r>
              <a:rPr lang="zh-CN" altLang="en-US" dirty="0">
                <a:latin typeface="+mn-ea"/>
              </a:rPr>
              <a:t>则</a:t>
            </a:r>
            <a:r>
              <a:rPr lang="en-US" altLang="zh-CN" dirty="0">
                <a:latin typeface="+mn-ea"/>
              </a:rPr>
              <a:t>d</a:t>
            </a:r>
            <a:r>
              <a:rPr lang="zh-CN" altLang="en-US" dirty="0">
                <a:latin typeface="+mn-ea"/>
              </a:rPr>
              <a:t>个属性描述的样本就对应了</a:t>
            </a:r>
            <a:r>
              <a:rPr lang="en-US" altLang="zh-CN" dirty="0">
                <a:latin typeface="+mn-ea"/>
              </a:rPr>
              <a:t>d</a:t>
            </a:r>
            <a:r>
              <a:rPr lang="zh-CN" altLang="en-US" dirty="0">
                <a:latin typeface="+mn-ea"/>
              </a:rPr>
              <a:t>维空间中的一个数</a:t>
            </a:r>
            <a:r>
              <a:rPr lang="zh-CN" altLang="en-US" dirty="0" smtClean="0">
                <a:latin typeface="+mn-ea"/>
              </a:rPr>
              <a:t>据点</a:t>
            </a:r>
            <a:endParaRPr lang="en-US" altLang="zh-CN" dirty="0" smtClean="0">
              <a:latin typeface="+mn-ea"/>
            </a:endParaRPr>
          </a:p>
          <a:p>
            <a:pPr lvl="1"/>
            <a:r>
              <a:rPr lang="zh-CN" altLang="en-US" dirty="0" smtClean="0">
                <a:latin typeface="+mn-ea"/>
              </a:rPr>
              <a:t>对</a:t>
            </a:r>
            <a:r>
              <a:rPr lang="zh-CN" altLang="en-US" dirty="0">
                <a:latin typeface="+mn-ea"/>
              </a:rPr>
              <a:t>样本</a:t>
            </a:r>
            <a:r>
              <a:rPr lang="zh-CN" altLang="en-US" dirty="0" smtClean="0">
                <a:latin typeface="+mn-ea"/>
              </a:rPr>
              <a:t>分类意味着</a:t>
            </a:r>
            <a:r>
              <a:rPr lang="zh-CN" altLang="en-US" dirty="0">
                <a:latin typeface="+mn-ea"/>
              </a:rPr>
              <a:t>在这个坐标空间中寻找不同类样本之间的分类</a:t>
            </a:r>
            <a:r>
              <a:rPr lang="zh-CN" altLang="en-US" dirty="0" smtClean="0">
                <a:latin typeface="+mn-ea"/>
              </a:rPr>
              <a:t>边界</a:t>
            </a:r>
            <a:endParaRPr lang="en-US" altLang="zh-CN" dirty="0" smtClean="0">
              <a:latin typeface="+mn-ea"/>
            </a:endParaRPr>
          </a:p>
          <a:p>
            <a:pPr lvl="2"/>
            <a:r>
              <a:rPr lang="zh-CN" altLang="en-US" dirty="0" smtClean="0">
                <a:latin typeface="+mn-ea"/>
              </a:rPr>
              <a:t>形成</a:t>
            </a:r>
            <a:r>
              <a:rPr lang="zh-CN" altLang="en-US" dirty="0">
                <a:latin typeface="+mn-ea"/>
              </a:rPr>
              <a:t>的分类边界有一个明显的</a:t>
            </a:r>
            <a:r>
              <a:rPr lang="zh-CN" altLang="en-US" dirty="0" smtClean="0">
                <a:latin typeface="+mn-ea"/>
              </a:rPr>
              <a:t>特点，轴平行，</a:t>
            </a:r>
            <a:r>
              <a:rPr lang="zh-CN" altLang="en-US" dirty="0">
                <a:latin typeface="+mn-ea"/>
              </a:rPr>
              <a:t>即它的分类边界由若干个与坐标轴平行的分段</a:t>
            </a:r>
            <a:r>
              <a:rPr lang="zh-CN" altLang="en-US" dirty="0" smtClean="0">
                <a:latin typeface="+mn-ea"/>
              </a:rPr>
              <a:t>组成</a:t>
            </a:r>
            <a:endParaRPr lang="zh-CN" altLang="en-US"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en-US" dirty="0"/>
              <a:t>多变量决策树</a:t>
            </a:r>
            <a:endParaRPr lang="zh-CN" altLang="en-US" dirty="0"/>
          </a:p>
        </p:txBody>
      </p:sp>
      <p:sp>
        <p:nvSpPr>
          <p:cNvPr id="3" name="内容占位符 2"/>
          <p:cNvSpPr>
            <a:spLocks noGrp="1"/>
          </p:cNvSpPr>
          <p:nvPr>
            <p:ph idx="1"/>
          </p:nvPr>
        </p:nvSpPr>
        <p:spPr/>
        <p:txBody>
          <a:bodyPr/>
          <a:lstStyle/>
          <a:p>
            <a:r>
              <a:rPr lang="zh-CN" altLang="en-US" dirty="0"/>
              <a:t>轴平行划分</a:t>
            </a:r>
            <a:endParaRPr lang="zh-CN" altLang="en-US" dirty="0"/>
          </a:p>
          <a:p>
            <a:pPr lvl="1"/>
            <a:r>
              <a:rPr lang="zh-CN" altLang="en-US" dirty="0" smtClean="0"/>
              <a:t>例</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07504" y="2673368"/>
            <a:ext cx="8937723" cy="4068000"/>
          </a:xfrm>
          <a:prstGeom prst="rect">
            <a:avLst/>
          </a:prstGeom>
        </p:spPr>
      </p:pic>
      <p:pic>
        <p:nvPicPr>
          <p:cNvPr id="6" name="图片 5"/>
          <p:cNvPicPr>
            <a:picLocks noChangeAspect="1"/>
          </p:cNvPicPr>
          <p:nvPr/>
        </p:nvPicPr>
        <p:blipFill rotWithShape="1">
          <a:blip r:embed="rId2"/>
          <a:srcRect l="1377" r="1"/>
          <a:stretch>
            <a:fillRect/>
          </a:stretch>
        </p:blipFill>
        <p:spPr>
          <a:xfrm>
            <a:off x="6876256" y="45022"/>
            <a:ext cx="2232248" cy="3455986"/>
          </a:xfrm>
          <a:prstGeom prst="rect">
            <a:avLst/>
          </a:prstGeom>
        </p:spPr>
      </p:pic>
    </p:spTree>
  </p:cSld>
  <p:clrMapOvr>
    <a:masterClrMapping/>
  </p:clrMapOvr>
  <p:transition>
    <p:cover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619672" y="3789040"/>
            <a:ext cx="5904656" cy="3014811"/>
          </a:xfrm>
          <a:prstGeom prst="rect">
            <a:avLst/>
          </a:prstGeom>
        </p:spPr>
      </p:pic>
      <p:sp>
        <p:nvSpPr>
          <p:cNvPr id="2" name="标题 1"/>
          <p:cNvSpPr>
            <a:spLocks noGrp="1"/>
          </p:cNvSpPr>
          <p:nvPr>
            <p:ph type="title"/>
          </p:nvPr>
        </p:nvSpPr>
        <p:spPr/>
        <p:txBody>
          <a:bodyPr/>
          <a:lstStyle/>
          <a:p>
            <a:r>
              <a:rPr lang="en-US" altLang="zh-CN" dirty="0"/>
              <a:t>4.5 </a:t>
            </a:r>
            <a:r>
              <a:rPr lang="zh-CN" altLang="en-US" dirty="0"/>
              <a:t>多变量决策树</a:t>
            </a:r>
            <a:endParaRPr lang="zh-CN" altLang="en-US" dirty="0"/>
          </a:p>
        </p:txBody>
      </p:sp>
      <p:sp>
        <p:nvSpPr>
          <p:cNvPr id="3" name="内容占位符 2"/>
          <p:cNvSpPr>
            <a:spLocks noGrp="1"/>
          </p:cNvSpPr>
          <p:nvPr>
            <p:ph idx="1"/>
          </p:nvPr>
        </p:nvSpPr>
        <p:spPr/>
        <p:txBody>
          <a:bodyPr/>
          <a:lstStyle/>
          <a:p>
            <a:r>
              <a:rPr lang="zh-CN" altLang="en-US" dirty="0">
                <a:latin typeface="+mn-ea"/>
              </a:rPr>
              <a:t>轴</a:t>
            </a:r>
            <a:r>
              <a:rPr lang="zh-CN" altLang="en-US" dirty="0" smtClean="0">
                <a:latin typeface="+mn-ea"/>
              </a:rPr>
              <a:t>平行</a:t>
            </a:r>
            <a:r>
              <a:rPr lang="en-US" altLang="zh-CN" dirty="0" smtClean="0">
                <a:latin typeface="+mn-ea"/>
              </a:rPr>
              <a:t>vs.</a:t>
            </a:r>
            <a:r>
              <a:rPr lang="zh-CN" altLang="en-US" dirty="0" smtClean="0">
                <a:latin typeface="+mn-ea"/>
              </a:rPr>
              <a:t>倾斜</a:t>
            </a:r>
            <a:endParaRPr lang="en-US" altLang="zh-CN" dirty="0" smtClean="0">
              <a:latin typeface="+mn-ea"/>
            </a:endParaRPr>
          </a:p>
          <a:p>
            <a:pPr lvl="1"/>
            <a:r>
              <a:rPr lang="zh-CN" altLang="en-US" dirty="0">
                <a:latin typeface="+mn-ea"/>
              </a:rPr>
              <a:t>轴平行分类边界有较好的可解释</a:t>
            </a:r>
            <a:r>
              <a:rPr lang="zh-CN" altLang="en-US" dirty="0" smtClean="0">
                <a:latin typeface="+mn-ea"/>
              </a:rPr>
              <a:t>性</a:t>
            </a:r>
            <a:endParaRPr lang="en-US" altLang="zh-CN" dirty="0" smtClean="0">
              <a:latin typeface="+mn-ea"/>
            </a:endParaRPr>
          </a:p>
          <a:p>
            <a:pPr lvl="1"/>
            <a:r>
              <a:rPr lang="zh-CN" altLang="en-US" dirty="0">
                <a:latin typeface="+mn-ea"/>
              </a:rPr>
              <a:t>当学习任务所对应的分类边界很复杂时，需要非常多</a:t>
            </a:r>
            <a:r>
              <a:rPr lang="zh-CN" altLang="en-US" dirty="0" smtClean="0">
                <a:latin typeface="+mn-ea"/>
              </a:rPr>
              <a:t>段划分</a:t>
            </a:r>
            <a:r>
              <a:rPr lang="zh-CN" altLang="en-US" dirty="0">
                <a:latin typeface="+mn-ea"/>
              </a:rPr>
              <a:t>才能获得较好的</a:t>
            </a:r>
            <a:r>
              <a:rPr lang="zh-CN" altLang="en-US" dirty="0" smtClean="0">
                <a:latin typeface="+mn-ea"/>
              </a:rPr>
              <a:t>近似</a:t>
            </a:r>
            <a:endParaRPr lang="en-US" altLang="zh-CN" dirty="0" smtClean="0">
              <a:latin typeface="+mn-ea"/>
            </a:endParaRPr>
          </a:p>
          <a:p>
            <a:pPr lvl="2"/>
            <a:r>
              <a:rPr lang="zh-CN" altLang="en-US" dirty="0" smtClean="0">
                <a:latin typeface="+mn-ea"/>
              </a:rPr>
              <a:t>决策树复杂，要大量</a:t>
            </a:r>
            <a:r>
              <a:rPr lang="zh-CN" altLang="en-US" dirty="0">
                <a:latin typeface="+mn-ea"/>
              </a:rPr>
              <a:t>的属性测试，预测</a:t>
            </a:r>
            <a:r>
              <a:rPr lang="zh-CN" altLang="en-US" dirty="0" smtClean="0">
                <a:latin typeface="+mn-ea"/>
              </a:rPr>
              <a:t>时间也大</a:t>
            </a:r>
            <a:endParaRPr lang="en-US" altLang="zh-CN" dirty="0" smtClean="0">
              <a:latin typeface="+mn-ea"/>
            </a:endParaRPr>
          </a:p>
          <a:p>
            <a:pPr lvl="1"/>
            <a:r>
              <a:rPr lang="zh-CN" altLang="en-US" dirty="0" smtClean="0">
                <a:latin typeface="+mn-ea"/>
              </a:rPr>
              <a:t>若使</a:t>
            </a:r>
            <a:r>
              <a:rPr lang="zh-CN" altLang="en-US" dirty="0">
                <a:latin typeface="+mn-ea"/>
              </a:rPr>
              <a:t>用斜的划分边界</a:t>
            </a:r>
            <a:r>
              <a:rPr lang="zh-CN" altLang="en-US" dirty="0" smtClean="0">
                <a:latin typeface="+mn-ea"/>
              </a:rPr>
              <a:t>，决策树将</a:t>
            </a:r>
            <a:r>
              <a:rPr lang="zh-CN" altLang="en-US" dirty="0">
                <a:latin typeface="+mn-ea"/>
              </a:rPr>
              <a:t>大为</a:t>
            </a:r>
            <a:r>
              <a:rPr lang="zh-CN" altLang="en-US" dirty="0" smtClean="0">
                <a:latin typeface="+mn-ea"/>
              </a:rPr>
              <a:t>简化</a:t>
            </a:r>
            <a:endParaRPr lang="en-US" altLang="zh-CN" dirty="0" smtClean="0">
              <a:latin typeface="+mn-ea"/>
            </a:endParaRPr>
          </a:p>
          <a:p>
            <a:pPr lvl="2"/>
            <a:r>
              <a:rPr lang="zh-CN" altLang="en-US" dirty="0" smtClean="0">
                <a:latin typeface="+mn-ea"/>
              </a:rPr>
              <a:t>多变量决策树</a:t>
            </a:r>
            <a:r>
              <a:rPr lang="en-US" altLang="zh-CN" dirty="0" smtClean="0">
                <a:latin typeface="+mn-ea"/>
              </a:rPr>
              <a:t> </a:t>
            </a:r>
            <a:endParaRPr lang="zh-CN" altLang="en-US"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en-US" dirty="0"/>
              <a:t>多变量决策树</a:t>
            </a:r>
            <a:endParaRPr lang="zh-CN" altLang="en-US" dirty="0"/>
          </a:p>
        </p:txBody>
      </p:sp>
      <p:sp>
        <p:nvSpPr>
          <p:cNvPr id="3" name="内容占位符 2"/>
          <p:cNvSpPr>
            <a:spLocks noGrp="1"/>
          </p:cNvSpPr>
          <p:nvPr>
            <p:ph idx="1"/>
          </p:nvPr>
        </p:nvSpPr>
        <p:spPr>
          <a:xfrm>
            <a:off x="611560" y="836712"/>
            <a:ext cx="7992888" cy="4690864"/>
          </a:xfrm>
        </p:spPr>
        <p:txBody>
          <a:bodyPr/>
          <a:lstStyle/>
          <a:p>
            <a:r>
              <a:rPr lang="zh-CN" altLang="en-US" dirty="0" smtClean="0"/>
              <a:t>多</a:t>
            </a:r>
            <a:r>
              <a:rPr lang="zh-CN" altLang="en-US" dirty="0"/>
              <a:t>变量</a:t>
            </a:r>
            <a:r>
              <a:rPr lang="zh-CN" altLang="en-US" dirty="0" smtClean="0"/>
              <a:t>决策树</a:t>
            </a:r>
            <a:endParaRPr lang="en-US" altLang="zh-CN" dirty="0" smtClean="0"/>
          </a:p>
          <a:p>
            <a:pPr lvl="1"/>
            <a:r>
              <a:rPr lang="zh-CN" altLang="en-US" dirty="0" smtClean="0"/>
              <a:t>能实现斜划分甚至更复杂划分</a:t>
            </a:r>
            <a:endParaRPr lang="en-US" altLang="zh-CN" dirty="0" smtClean="0"/>
          </a:p>
          <a:p>
            <a:pPr lvl="1"/>
            <a:r>
              <a:rPr lang="zh-CN" altLang="en-US" dirty="0" smtClean="0"/>
              <a:t>如斜划分的多变量决策树</a:t>
            </a:r>
            <a:endParaRPr lang="en-US" altLang="zh-CN" dirty="0" smtClean="0"/>
          </a:p>
          <a:p>
            <a:pPr lvl="2"/>
            <a:r>
              <a:rPr lang="zh-CN" altLang="en-US" dirty="0" smtClean="0"/>
              <a:t>非叶结点不是对某个属性，而是对属性的线性组合进行测试，即每个非叶结点是一个线性分类器</a:t>
            </a:r>
            <a:endParaRPr lang="en-US" altLang="zh-CN" dirty="0" smtClean="0"/>
          </a:p>
          <a:p>
            <a:pPr lvl="2"/>
            <a:endParaRPr lang="en-US" altLang="zh-CN" dirty="0"/>
          </a:p>
          <a:p>
            <a:pPr lvl="2"/>
            <a:endParaRPr lang="en-US" altLang="zh-CN" dirty="0" smtClean="0"/>
          </a:p>
          <a:p>
            <a:pPr lvl="3"/>
            <a:r>
              <a:rPr lang="zh-CN" altLang="en-US" dirty="0" smtClean="0"/>
              <a:t>    和</a:t>
            </a:r>
            <a:r>
              <a:rPr lang="en-US" altLang="zh-CN" dirty="0" smtClean="0"/>
              <a:t>  </a:t>
            </a:r>
            <a:r>
              <a:rPr lang="zh-CN" altLang="en-US" dirty="0" smtClean="0"/>
              <a:t>在</a:t>
            </a:r>
            <a:r>
              <a:rPr lang="zh-CN" altLang="en-US" dirty="0"/>
              <a:t>该结点所含的样本集和属性集上学</a:t>
            </a:r>
            <a:r>
              <a:rPr lang="zh-CN" altLang="en-US" dirty="0" smtClean="0"/>
              <a:t>得</a:t>
            </a:r>
            <a:endParaRPr lang="en-US" altLang="zh-CN" dirty="0" smtClean="0"/>
          </a:p>
          <a:p>
            <a:pPr lvl="2"/>
            <a:r>
              <a:rPr lang="zh-CN" altLang="en-US" dirty="0"/>
              <a:t>每个非叶结点</a:t>
            </a:r>
            <a:r>
              <a:rPr lang="zh-CN" altLang="en-US" dirty="0" smtClean="0"/>
              <a:t>不是寻找最优划分属性，而是试图建立一个</a:t>
            </a:r>
            <a:r>
              <a:rPr lang="zh-CN" altLang="en-US" dirty="0"/>
              <a:t>合适的线性分类器</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4162961" y="3004656"/>
          <a:ext cx="1585409" cy="576000"/>
        </p:xfrm>
        <a:graphic>
          <a:graphicData uri="http://schemas.openxmlformats.org/presentationml/2006/ole">
            <mc:AlternateContent xmlns:mc="http://schemas.openxmlformats.org/markup-compatibility/2006">
              <mc:Choice xmlns:v="urn:schemas-microsoft-com:vml" Requires="v">
                <p:oleObj spid="_x0000_s15444" name="Equation" r:id="rId1" imgW="19202400" imgH="7010400" progId="Equation.DSMT4">
                  <p:embed/>
                </p:oleObj>
              </mc:Choice>
              <mc:Fallback>
                <p:oleObj name="Equation" r:id="rId1" imgW="19202400" imgH="7010400" progId="Equation.DSMT4">
                  <p:embed/>
                  <p:pic>
                    <p:nvPicPr>
                      <p:cNvPr id="0" name="图片 15443"/>
                      <p:cNvPicPr/>
                      <p:nvPr/>
                    </p:nvPicPr>
                    <p:blipFill>
                      <a:blip r:embed="rId2"/>
                      <a:stretch>
                        <a:fillRect/>
                      </a:stretch>
                    </p:blipFill>
                    <p:spPr>
                      <a:xfrm>
                        <a:off x="4162961" y="3004656"/>
                        <a:ext cx="1585409" cy="576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267744" y="3663064"/>
          <a:ext cx="310200" cy="396000"/>
        </p:xfrm>
        <a:graphic>
          <a:graphicData uri="http://schemas.openxmlformats.org/presentationml/2006/ole">
            <mc:AlternateContent xmlns:mc="http://schemas.openxmlformats.org/markup-compatibility/2006">
              <mc:Choice xmlns:v="urn:schemas-microsoft-com:vml" Requires="v">
                <p:oleObj spid="_x0000_s15445" name="Equation" r:id="rId3" imgW="4267200" imgH="5486400" progId="Equation.DSMT4">
                  <p:embed/>
                </p:oleObj>
              </mc:Choice>
              <mc:Fallback>
                <p:oleObj name="Equation" r:id="rId3" imgW="4267200" imgH="5486400" progId="Equation.DSMT4">
                  <p:embed/>
                  <p:pic>
                    <p:nvPicPr>
                      <p:cNvPr id="0" name="图片 15444"/>
                      <p:cNvPicPr/>
                      <p:nvPr/>
                    </p:nvPicPr>
                    <p:blipFill>
                      <a:blip r:embed="rId4"/>
                      <a:stretch>
                        <a:fillRect/>
                      </a:stretch>
                    </p:blipFill>
                    <p:spPr>
                      <a:xfrm>
                        <a:off x="2267744" y="3663064"/>
                        <a:ext cx="310200" cy="396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838598" y="3717064"/>
          <a:ext cx="169200" cy="288000"/>
        </p:xfrm>
        <a:graphic>
          <a:graphicData uri="http://schemas.openxmlformats.org/presentationml/2006/ole">
            <mc:AlternateContent xmlns:mc="http://schemas.openxmlformats.org/markup-compatibility/2006">
              <mc:Choice xmlns:v="urn:schemas-microsoft-com:vml" Requires="v">
                <p:oleObj spid="_x0000_s15446" name="Equation" r:id="rId5" imgW="2133600" imgH="3657600" progId="Equation.DSMT4">
                  <p:embed/>
                </p:oleObj>
              </mc:Choice>
              <mc:Fallback>
                <p:oleObj name="Equation" r:id="rId5" imgW="2133600" imgH="3657600" progId="Equation.DSMT4">
                  <p:embed/>
                  <p:pic>
                    <p:nvPicPr>
                      <p:cNvPr id="0" name="图片 15445"/>
                      <p:cNvPicPr/>
                      <p:nvPr/>
                    </p:nvPicPr>
                    <p:blipFill>
                      <a:blip r:embed="rId6"/>
                      <a:stretch>
                        <a:fillRect/>
                      </a:stretch>
                    </p:blipFill>
                    <p:spPr>
                      <a:xfrm>
                        <a:off x="2838598" y="3717064"/>
                        <a:ext cx="169200" cy="288000"/>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en-US" dirty="0"/>
              <a:t>多变量决策树</a:t>
            </a:r>
            <a:endParaRPr lang="zh-CN" altLang="en-US" dirty="0"/>
          </a:p>
        </p:txBody>
      </p:sp>
      <p:sp>
        <p:nvSpPr>
          <p:cNvPr id="3" name="内容占位符 2"/>
          <p:cNvSpPr>
            <a:spLocks noGrp="1"/>
          </p:cNvSpPr>
          <p:nvPr>
            <p:ph idx="1"/>
          </p:nvPr>
        </p:nvSpPr>
        <p:spPr/>
        <p:txBody>
          <a:bodyPr/>
          <a:lstStyle/>
          <a:p>
            <a:r>
              <a:rPr lang="zh-CN" altLang="en-US" dirty="0"/>
              <a:t>多变量决策树</a:t>
            </a:r>
            <a:endParaRPr lang="en-US" altLang="zh-CN" dirty="0"/>
          </a:p>
          <a:p>
            <a:pPr lvl="1"/>
            <a:r>
              <a:rPr lang="zh-CN" altLang="en-US" dirty="0" smtClean="0"/>
              <a:t>如</a:t>
            </a:r>
            <a:r>
              <a:rPr lang="zh-CN" altLang="en-US" dirty="0"/>
              <a:t>斜划分的多变量决策树</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pSp>
        <p:nvGrpSpPr>
          <p:cNvPr id="7" name="组合 6"/>
          <p:cNvGrpSpPr/>
          <p:nvPr/>
        </p:nvGrpSpPr>
        <p:grpSpPr>
          <a:xfrm>
            <a:off x="97083" y="2181572"/>
            <a:ext cx="8917433" cy="3695700"/>
            <a:chOff x="107504" y="1965548"/>
            <a:chExt cx="8917433" cy="3695700"/>
          </a:xfrm>
        </p:grpSpPr>
        <p:pic>
          <p:nvPicPr>
            <p:cNvPr id="5" name="图片 4"/>
            <p:cNvPicPr>
              <a:picLocks noChangeAspect="1"/>
            </p:cNvPicPr>
            <p:nvPr/>
          </p:nvPicPr>
          <p:blipFill>
            <a:blip r:embed="rId1"/>
            <a:stretch>
              <a:fillRect/>
            </a:stretch>
          </p:blipFill>
          <p:spPr>
            <a:xfrm>
              <a:off x="119062" y="1965548"/>
              <a:ext cx="8905875" cy="3695700"/>
            </a:xfrm>
            <a:prstGeom prst="rect">
              <a:avLst/>
            </a:prstGeom>
          </p:spPr>
        </p:pic>
        <p:pic>
          <p:nvPicPr>
            <p:cNvPr id="6" name="图片 5"/>
            <p:cNvPicPr>
              <a:picLocks noChangeAspect="1"/>
            </p:cNvPicPr>
            <p:nvPr/>
          </p:nvPicPr>
          <p:blipFill>
            <a:blip r:embed="rId2"/>
            <a:stretch>
              <a:fillRect/>
            </a:stretch>
          </p:blipFill>
          <p:spPr>
            <a:xfrm>
              <a:off x="107504" y="2276872"/>
              <a:ext cx="4684684" cy="1908000"/>
            </a:xfrm>
            <a:prstGeom prst="rect">
              <a:avLst/>
            </a:prstGeom>
          </p:spPr>
        </p:pic>
      </p:grpSp>
      <p:pic>
        <p:nvPicPr>
          <p:cNvPr id="8" name="图片 7"/>
          <p:cNvPicPr>
            <a:picLocks noChangeAspect="1"/>
          </p:cNvPicPr>
          <p:nvPr/>
        </p:nvPicPr>
        <p:blipFill>
          <a:blip r:embed="rId3"/>
          <a:stretch>
            <a:fillRect/>
          </a:stretch>
        </p:blipFill>
        <p:spPr>
          <a:xfrm>
            <a:off x="7092280" y="44624"/>
            <a:ext cx="1994244" cy="2953015"/>
          </a:xfrm>
          <a:prstGeom prst="rect">
            <a:avLst/>
          </a:prstGeom>
        </p:spPr>
      </p:pic>
    </p:spTree>
  </p:cSld>
  <p:clrMapOvr>
    <a:masterClrMapping/>
  </p:clrMapOvr>
  <p:transition>
    <p:cover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endParaRPr lang="zh-CN" altLang="en-US" dirty="0"/>
          </a:p>
        </p:txBody>
      </p:sp>
      <p:sp>
        <p:nvSpPr>
          <p:cNvPr id="3" name="内容占位符 2"/>
          <p:cNvSpPr>
            <a:spLocks noGrp="1"/>
          </p:cNvSpPr>
          <p:nvPr>
            <p:ph idx="1"/>
          </p:nvPr>
        </p:nvSpPr>
        <p:spPr/>
        <p:txBody>
          <a:bodyPr/>
          <a:lstStyle/>
          <a:p>
            <a:r>
              <a:rPr lang="en-US" altLang="zh-CN" dirty="0" smtClean="0">
                <a:latin typeface="+mn-ea"/>
              </a:rPr>
              <a:t>4.3</a:t>
            </a:r>
            <a:r>
              <a:rPr lang="zh-CN" altLang="en-US" dirty="0" smtClean="0">
                <a:latin typeface="+mn-ea"/>
              </a:rPr>
              <a:t>、</a:t>
            </a:r>
            <a:r>
              <a:rPr lang="en-US" altLang="zh-CN" dirty="0" smtClean="0">
                <a:latin typeface="+mn-ea"/>
              </a:rPr>
              <a:t>4.4</a:t>
            </a:r>
            <a:r>
              <a:rPr lang="zh-CN" altLang="en-US" dirty="0" smtClean="0">
                <a:latin typeface="+mn-ea"/>
              </a:rPr>
              <a:t>、</a:t>
            </a:r>
            <a:r>
              <a:rPr lang="en-US" altLang="zh-CN" dirty="0" smtClean="0">
                <a:latin typeface="+mn-ea"/>
              </a:rPr>
              <a:t>4.5</a:t>
            </a:r>
            <a:r>
              <a:rPr lang="zh-CN" altLang="en-US" dirty="0" smtClean="0">
                <a:latin typeface="+mn-ea"/>
              </a:rPr>
              <a:t>、</a:t>
            </a:r>
            <a:r>
              <a:rPr lang="en-US" altLang="zh-CN" dirty="0" smtClean="0">
                <a:latin typeface="+mn-ea"/>
              </a:rPr>
              <a:t>4.6</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theme/theme1.xml><?xml version="1.0" encoding="utf-8"?>
<a:theme xmlns:a="http://schemas.openxmlformats.org/drawingml/2006/main" name="课件PPT主题1">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课件PPT主题1</Template>
  <TotalTime>0</TotalTime>
  <Words>5676</Words>
  <Application>WPS 演示</Application>
  <PresentationFormat>全屏显示(4:3)</PresentationFormat>
  <Paragraphs>702</Paragraphs>
  <Slides>57</Slides>
  <Notes>33</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75</vt:i4>
      </vt:variant>
      <vt:variant>
        <vt:lpstr>幻灯片标题</vt:lpstr>
      </vt:variant>
      <vt:variant>
        <vt:i4>57</vt:i4>
      </vt:variant>
    </vt:vector>
  </HeadingPairs>
  <TitlesOfParts>
    <vt:vector size="139" baseType="lpstr">
      <vt:lpstr>Arial</vt:lpstr>
      <vt:lpstr>宋体</vt:lpstr>
      <vt:lpstr>Wingdings</vt:lpstr>
      <vt:lpstr>Tahoma</vt:lpstr>
      <vt:lpstr>微软雅黑</vt:lpstr>
      <vt:lpstr>Arial Unicode MS</vt:lpstr>
      <vt:lpstr>课件PPT主题1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第4章 决策树</vt:lpstr>
      <vt:lpstr>主要内容</vt:lpstr>
      <vt:lpstr>4.0 决策树简史</vt:lpstr>
      <vt:lpstr>4.0 决策树简史</vt:lpstr>
      <vt:lpstr>4.1 基本流程</vt:lpstr>
      <vt:lpstr>4.1 基本流程</vt:lpstr>
      <vt:lpstr>4.1 基本流程</vt:lpstr>
      <vt:lpstr>4.1 基本流程</vt:lpstr>
      <vt:lpstr>4.1 基本流程</vt:lpstr>
      <vt:lpstr>4.1 基本流程</vt:lpstr>
      <vt:lpstr>4.2 划分选择</vt:lpstr>
      <vt:lpstr>4.2 划分选择</vt:lpstr>
      <vt:lpstr>4.2 划分选择</vt:lpstr>
      <vt:lpstr>4.2 划分选择</vt:lpstr>
      <vt:lpstr>4.2 划分选择</vt:lpstr>
      <vt:lpstr>4.2 划分选择</vt:lpstr>
      <vt:lpstr>4.2 划分选择</vt:lpstr>
      <vt:lpstr>4.2 划分选择</vt:lpstr>
      <vt:lpstr>4.2 划分选择</vt:lpstr>
      <vt:lpstr>4.2 划分选择</vt:lpstr>
      <vt:lpstr>4.2 划分选择</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4.3 剪枝处理</vt:lpstr>
      <vt:lpstr>4.4 连续与缺失值</vt:lpstr>
      <vt:lpstr>4.4 连续与缺失值</vt:lpstr>
      <vt:lpstr>4.4 连续与缺失值</vt:lpstr>
      <vt:lpstr>4.4 连续与缺失值</vt:lpstr>
      <vt:lpstr>4.4 连续与缺失值</vt:lpstr>
      <vt:lpstr>4.4 连续与缺失值</vt:lpstr>
      <vt:lpstr>4.4 连续与缺失值</vt:lpstr>
      <vt:lpstr>4.4 连续与缺失值</vt:lpstr>
      <vt:lpstr>4.4 连续与缺失值</vt:lpstr>
      <vt:lpstr>4.4 连续与缺失值</vt:lpstr>
      <vt:lpstr>4.4 连续与缺失值</vt:lpstr>
      <vt:lpstr>4.4 连续与缺失值</vt:lpstr>
      <vt:lpstr>4.5 多变量决策树</vt:lpstr>
      <vt:lpstr>4.5 多变量决策树</vt:lpstr>
      <vt:lpstr>4.5 多变量决策树</vt:lpstr>
      <vt:lpstr>4.5 多变量决策树</vt:lpstr>
      <vt:lpstr>4.5 多变量决策树</vt:lpstr>
      <vt:lpstr>作业</vt:lpstr>
    </vt:vector>
  </TitlesOfParts>
  <Company>NEU Systems Engineering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智能优化方法</dc:title>
  <dc:creator>Junwei Wang</dc:creator>
  <cp:lastModifiedBy>MNBVC</cp:lastModifiedBy>
  <cp:revision>1277</cp:revision>
  <dcterms:created xsi:type="dcterms:W3CDTF">2003-07-20T06:30:00Z</dcterms:created>
  <dcterms:modified xsi:type="dcterms:W3CDTF">2021-09-22T13:09:17Z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