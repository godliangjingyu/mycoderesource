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526" r:id="rId3"/>
    <p:sldId id="562" r:id="rId5"/>
    <p:sldId id="529" r:id="rId6"/>
    <p:sldId id="563" r:id="rId7"/>
    <p:sldId id="564" r:id="rId8"/>
    <p:sldId id="565" r:id="rId9"/>
    <p:sldId id="566" r:id="rId10"/>
    <p:sldId id="567" r:id="rId11"/>
    <p:sldId id="530" r:id="rId12"/>
    <p:sldId id="568" r:id="rId13"/>
    <p:sldId id="569" r:id="rId14"/>
    <p:sldId id="584" r:id="rId15"/>
    <p:sldId id="589" r:id="rId16"/>
    <p:sldId id="590" r:id="rId17"/>
    <p:sldId id="591" r:id="rId18"/>
    <p:sldId id="585" r:id="rId19"/>
    <p:sldId id="586" r:id="rId20"/>
    <p:sldId id="608" r:id="rId21"/>
    <p:sldId id="587" r:id="rId22"/>
    <p:sldId id="592" r:id="rId23"/>
    <p:sldId id="609" r:id="rId24"/>
    <p:sldId id="593" r:id="rId25"/>
    <p:sldId id="594" r:id="rId26"/>
    <p:sldId id="595" r:id="rId27"/>
    <p:sldId id="596" r:id="rId28"/>
    <p:sldId id="597" r:id="rId29"/>
    <p:sldId id="588" r:id="rId30"/>
    <p:sldId id="605" r:id="rId31"/>
    <p:sldId id="598" r:id="rId32"/>
    <p:sldId id="599" r:id="rId33"/>
    <p:sldId id="600" r:id="rId34"/>
    <p:sldId id="601" r:id="rId35"/>
    <p:sldId id="602" r:id="rId36"/>
    <p:sldId id="603" r:id="rId37"/>
    <p:sldId id="604" r:id="rId38"/>
    <p:sldId id="606" r:id="rId39"/>
    <p:sldId id="607" r:id="rId40"/>
    <p:sldId id="583" r:id="rId41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B5E3F3"/>
    <a:srgbClr val="FFFFFF"/>
    <a:srgbClr val="FF0000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8198" autoAdjust="0"/>
  </p:normalViewPr>
  <p:slideViewPr>
    <p:cSldViewPr>
      <p:cViewPr varScale="1">
        <p:scale>
          <a:sx n="59" d="100"/>
          <a:sy n="59" d="100"/>
        </p:scale>
        <p:origin x="7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0" Type="http://schemas.openxmlformats.org/officeDocument/2006/relationships/image" Target="../media/image40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7" Type="http://schemas.openxmlformats.org/officeDocument/2006/relationships/hyperlink" Target="http://baike.baidu.com/subview/1260577/15831529.htm" TargetMode="External"/><Relationship Id="rId6" Type="http://schemas.openxmlformats.org/officeDocument/2006/relationships/hyperlink" Target="http://baike.baidu.com/subview/114790/7353141.htm" TargetMode="External"/><Relationship Id="rId5" Type="http://schemas.openxmlformats.org/officeDocument/2006/relationships/hyperlink" Target="http://baike.baidu.com/view/190066.htm" TargetMode="External"/><Relationship Id="rId4" Type="http://schemas.openxmlformats.org/officeDocument/2006/relationships/hyperlink" Target="http://baike.baidu.com/view/83981.htm" TargetMode="External"/><Relationship Id="rId3" Type="http://schemas.openxmlformats.org/officeDocument/2006/relationships/hyperlink" Target="http://baike.baidu.com/subview/2398/14623194.ht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7" Type="http://schemas.openxmlformats.org/officeDocument/2006/relationships/hyperlink" Target="http://baike.baidu.com/subview/1260577/15831529.htm" TargetMode="External"/><Relationship Id="rId6" Type="http://schemas.openxmlformats.org/officeDocument/2006/relationships/hyperlink" Target="http://baike.baidu.com/subview/114790/7353141.htm" TargetMode="External"/><Relationship Id="rId5" Type="http://schemas.openxmlformats.org/officeDocument/2006/relationships/hyperlink" Target="http://baike.baidu.com/view/190066.htm" TargetMode="External"/><Relationship Id="rId4" Type="http://schemas.openxmlformats.org/officeDocument/2006/relationships/hyperlink" Target="http://baike.baidu.com/view/83981.htm" TargetMode="External"/><Relationship Id="rId3" Type="http://schemas.openxmlformats.org/officeDocument/2006/relationships/hyperlink" Target="http://baike.baidu.com/subview/2398/14623194.ht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D74EE-A676-4A14-A8A0-1A5E853B401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D37B7C-432A-45EE-9233-8BC06579DF9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D37B7C-432A-45EE-9233-8BC06579DF9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笔试 </a:t>
            </a:r>
            <a:r>
              <a:rPr lang="en-US" altLang="zh-CN" dirty="0" smtClean="0"/>
              <a:t>50</a:t>
            </a:r>
            <a:r>
              <a:rPr lang="zh-CN" altLang="en-US" dirty="0" smtClean="0"/>
              <a:t>分 及格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D37B7C-432A-45EE-9233-8BC06579DF9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数据角度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学习角度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训练（被动）学习（主动）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记录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模型角度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假设，不是真相，接近真相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输出角度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（决策树、神经网络</a:t>
            </a:r>
            <a:r>
              <a:rPr lang="en-US" altLang="zh-CN" dirty="0" smtClean="0"/>
              <a:t>…</a:t>
            </a:r>
            <a:r>
              <a:rPr lang="zh-CN" altLang="en-US" dirty="0" smtClean="0"/>
              <a:t>）模型：描述的事务可能一样，表现形式不一样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概念学习技术目前研究、应用都比较少，因为要学得泛化性能好且语义明确的概念实在太困难了，现实常用的技术大多是产生“黑箱”模型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可以有许多策略对这个假设空间进行搜索，例如自顶向下、从一般到特殊，或是自底向上、从特殊到一般，搜索过程中可以不断删除与正例不一致的假设、和</a:t>
            </a:r>
            <a:r>
              <a:rPr lang="en-US" altLang="zh-CN" dirty="0" smtClean="0"/>
              <a:t>(</a:t>
            </a:r>
            <a:r>
              <a:rPr lang="zh-CN" altLang="en-US" dirty="0" smtClean="0"/>
              <a:t>或</a:t>
            </a:r>
            <a:r>
              <a:rPr lang="en-US" altLang="zh-CN" dirty="0" smtClean="0"/>
              <a:t>)</a:t>
            </a:r>
            <a:r>
              <a:rPr lang="zh-CN" altLang="en-US" dirty="0" smtClean="0"/>
              <a:t>与反例一致的假设</a:t>
            </a:r>
            <a:r>
              <a:rPr lang="en-US" altLang="zh-CN" dirty="0" smtClean="0"/>
              <a:t>.</a:t>
            </a:r>
            <a:r>
              <a:rPr lang="zh-CN" altLang="en-US" dirty="0" smtClean="0"/>
              <a:t>最终将会获得与训练集一致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即对所有训练样本能够进行正确判断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的假设，这就是学习的过程和学得的结果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概念学习技术目前研究、应用都比较少，因为要学得泛化性能好且语义明确的概念实在太困难了，现实常用的技术大多是产生“黑箱”模型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可以有许多策略对这个假设空间进行搜索，例如自顶向下、从一般到特殊，或是自底向上、从特殊到一般，搜索过程中可以不断删除与正例不一致的假设、和</a:t>
            </a:r>
            <a:r>
              <a:rPr lang="en-US" altLang="zh-CN" dirty="0" smtClean="0"/>
              <a:t>(</a:t>
            </a:r>
            <a:r>
              <a:rPr lang="zh-CN" altLang="en-US" dirty="0" smtClean="0"/>
              <a:t>或</a:t>
            </a:r>
            <a:r>
              <a:rPr lang="en-US" altLang="zh-CN" dirty="0" smtClean="0"/>
              <a:t>)</a:t>
            </a:r>
            <a:r>
              <a:rPr lang="zh-CN" altLang="en-US" dirty="0" smtClean="0"/>
              <a:t>与反例一致的假设</a:t>
            </a:r>
            <a:r>
              <a:rPr lang="en-US" altLang="zh-CN" dirty="0" smtClean="0"/>
              <a:t>.</a:t>
            </a:r>
            <a:r>
              <a:rPr lang="zh-CN" altLang="en-US" dirty="0" smtClean="0"/>
              <a:t>最终将会获得与训练集一致</a:t>
            </a:r>
            <a:r>
              <a:rPr lang="en-US" altLang="zh-CN" dirty="0" smtClean="0"/>
              <a:t>(</a:t>
            </a:r>
            <a:r>
              <a:rPr lang="zh-CN" altLang="en-US" dirty="0" smtClean="0"/>
              <a:t>即对所有训练样本能够进行正确判断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的假设，这就是学习的过程和学得的结果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随机版本空间时，学得模型时而告诉我们它是好的、时而告诉我们它是不好的，这样的学习结果显然没有意义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任何一个有效的机器学习算法必有其偏好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随机版本空间时，学得模型时而告诉我们它是好的、时而告诉我们它是不好的，这样的学习结果显然没有意义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任何一个有效的机器学习算法必有其偏好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dirty="0" smtClean="0">
                <a:solidFill>
                  <a:srgbClr val="0000FF"/>
                </a:solidFill>
              </a:rPr>
              <a:t>这得到了最好的模型？</a:t>
            </a:r>
            <a:endParaRPr lang="en-US" altLang="zh-CN" sz="1200" b="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dirty="0" smtClean="0">
                <a:solidFill>
                  <a:srgbClr val="0000FF"/>
                </a:solidFill>
              </a:rPr>
              <a:t>看例子</a:t>
            </a:r>
            <a:endParaRPr lang="en-US" altLang="zh-CN" sz="1200" b="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200" b="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dirty="0" smtClean="0">
                <a:solidFill>
                  <a:srgbClr val="0000FF"/>
                </a:solidFill>
              </a:rPr>
              <a:t>事实上，归纳偏好对应了学习算法本身所做出的关于“什么样的模型更好”的假设</a:t>
            </a:r>
            <a:r>
              <a:rPr lang="en-US" altLang="zh-CN" sz="1200" b="0" dirty="0" smtClean="0">
                <a:solidFill>
                  <a:srgbClr val="0000FF"/>
                </a:solidFill>
              </a:rPr>
              <a:t>.</a:t>
            </a:r>
            <a:r>
              <a:rPr lang="zh-CN" altLang="en-US" sz="1200" b="0" dirty="0" smtClean="0">
                <a:solidFill>
                  <a:srgbClr val="0000FF"/>
                </a:solidFill>
              </a:rPr>
              <a:t>在具体的现实问题中，这个假设是否成立，即算法的归纳偏好是否与问题本身匹配，大多数时候直接决定了算法能否取得好的性能</a:t>
            </a:r>
            <a:r>
              <a:rPr lang="en-US" altLang="zh-CN" sz="1200" b="0" dirty="0" smtClean="0">
                <a:solidFill>
                  <a:srgbClr val="0000FF"/>
                </a:solidFill>
              </a:rPr>
              <a:t>.</a:t>
            </a:r>
            <a:endParaRPr lang="en-US" altLang="zh-CN" sz="1200" b="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200" b="0" dirty="0" smtClean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200" b="0" dirty="0" smtClean="0">
                <a:solidFill>
                  <a:srgbClr val="0000FF"/>
                </a:solidFill>
              </a:rPr>
              <a:t>例子说明了，还需要证明</a:t>
            </a:r>
            <a:endParaRPr lang="zh-CN" altLang="en-US" sz="1200" b="0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</a:t>
            </a:r>
            <a:r>
              <a:rPr lang="zh-CN" altLang="en-US" dirty="0" smtClean="0"/>
              <a:t>是均匀分布，与</a:t>
            </a:r>
            <a:r>
              <a:rPr lang="en-US" altLang="zh-CN" dirty="0" smtClean="0"/>
              <a:t>h</a:t>
            </a:r>
            <a:r>
              <a:rPr lang="zh-CN" altLang="en-US" dirty="0" smtClean="0"/>
              <a:t>不相同有一半可能性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达特茅斯学院（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Dartmouth College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）成立于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1769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年，是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美国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历史最悠久的世界顶尖学府，也是闻名遐迩的私立八大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常春藤联盟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之一。坐落于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新罕布什尔州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的汉诺佛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(Hanover)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小镇。依照利扎维洛克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/>
              </a:rPr>
              <a:t>牧师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当初成立这个学校的目的，是为了培养当地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/>
              </a:rPr>
              <a:t>印第安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部落的年轻人和年轻白人。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41736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美元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达特茅斯学院（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Dartmouth College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）成立于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1769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年，是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/>
              </a:rPr>
              <a:t>美国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历史最悠久的世界顶尖学府，也是闻名遐迩的私立八大</a:t>
            </a:r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常春藤联盟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之一。坐落于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/>
              </a:rPr>
              <a:t>新罕布什尔州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的汉诺佛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(Hanover)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小镇。依照利扎维洛克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/>
              </a:rPr>
              <a:t>牧师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当初成立这个学校的目的，是为了培养当地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/>
              </a:rPr>
              <a:t>印第安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部落的年轻人和年轻白人。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学费为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41736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美元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后面将更多介绍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在“循证医学” 中，针对特定的临床问题，先要对相关研究报告进行详尽评估。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2116" y="116632"/>
            <a:ext cx="7427100" cy="72008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3568" y="970384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7" Type="http://schemas.openxmlformats.org/officeDocument/2006/relationships/notesSlide" Target="../notesSlides/notesSlide7.xml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8.wmf"/><Relationship Id="rId11" Type="http://schemas.openxmlformats.org/officeDocument/2006/relationships/notesSlide" Target="../notesSlides/notesSlide8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28.wmf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26.png"/><Relationship Id="rId2" Type="http://schemas.microsoft.com/office/2007/relationships/hdphoto" Target="../media/image25.wdp"/><Relationship Id="rId14" Type="http://schemas.openxmlformats.org/officeDocument/2006/relationships/notesSlide" Target="../notesSlides/notesSlide14.xml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23.bin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23" Type="http://schemas.openxmlformats.org/officeDocument/2006/relationships/notesSlide" Target="../notesSlides/notesSlide15.xml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40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41.wmf"/><Relationship Id="rId11" Type="http://schemas.openxmlformats.org/officeDocument/2006/relationships/notesSlide" Target="../notesSlides/notesSlide16.xml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57808" y="620688"/>
            <a:ext cx="7086600" cy="244792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8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机器学习</a:t>
            </a:r>
            <a:br>
              <a:rPr lang="en-US" altLang="zh-CN" sz="8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5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 LEARNING</a:t>
            </a:r>
            <a:endParaRPr lang="en-US" altLang="zh-CN" sz="5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19C210D-F45A-4CDD-843B-EF231AA907DE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  <a:endParaRPr lang="en-US" altLang="zh-CN" dirty="0"/>
          </a:p>
          <a:p>
            <a:pPr lvl="1"/>
            <a:r>
              <a:rPr lang="zh-CN" altLang="en-US" dirty="0"/>
              <a:t>教材及参考书</a:t>
            </a:r>
            <a:endParaRPr lang="en-US" altLang="zh-CN" dirty="0"/>
          </a:p>
          <a:p>
            <a:pPr lvl="1"/>
            <a:r>
              <a:rPr lang="zh-CN" altLang="en-US" dirty="0"/>
              <a:t>上课主要内容</a:t>
            </a:r>
            <a:endParaRPr lang="zh-CN" altLang="en-US" dirty="0"/>
          </a:p>
          <a:p>
            <a:pPr lvl="1"/>
            <a:r>
              <a:rPr lang="zh-CN" altLang="en-US" dirty="0"/>
              <a:t>课程目的与要求</a:t>
            </a:r>
            <a:endParaRPr lang="zh-CN" altLang="en-US" dirty="0"/>
          </a:p>
          <a:p>
            <a:pPr lvl="1"/>
            <a:r>
              <a:rPr lang="zh-CN" altLang="en-US" dirty="0"/>
              <a:t>考核方式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>
              <a:defRPr/>
            </a:pPr>
            <a:r>
              <a:rPr lang="zh-CN" altLang="en-US" dirty="0"/>
              <a:t>教材及参考书</a:t>
            </a:r>
            <a:endParaRPr lang="zh-CN" altLang="en-US" b="1" dirty="0" smtClean="0">
              <a:solidFill>
                <a:schemeClr val="tx1"/>
              </a:solidFill>
              <a:ea typeface="华文新魏" panose="02010800040101010101" pitchFamily="2" charset="-122"/>
            </a:endParaRPr>
          </a:p>
        </p:txBody>
      </p:sp>
      <p:sp>
        <p:nvSpPr>
          <p:cNvPr id="830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教材</a:t>
            </a:r>
            <a:endParaRPr lang="en-US" altLang="zh-CN" dirty="0">
              <a:latin typeface="+mn-ea"/>
            </a:endParaRPr>
          </a:p>
          <a:p>
            <a:pPr lvl="1" hangingPunct="0">
              <a:spcBef>
                <a:spcPts val="600"/>
              </a:spcBef>
            </a:pPr>
            <a:r>
              <a:rPr lang="zh-CN" altLang="zh-CN" dirty="0">
                <a:latin typeface="+mn-ea"/>
              </a:rPr>
              <a:t>《</a:t>
            </a:r>
            <a:r>
              <a:rPr lang="zh-CN" altLang="en-US" dirty="0">
                <a:latin typeface="+mn-ea"/>
              </a:rPr>
              <a:t>机器学习</a:t>
            </a:r>
            <a:r>
              <a:rPr lang="zh-CN" altLang="zh-CN" dirty="0">
                <a:latin typeface="+mn-ea"/>
              </a:rPr>
              <a:t>》</a:t>
            </a:r>
            <a:r>
              <a:rPr lang="zh-CN" altLang="en-US" dirty="0">
                <a:latin typeface="+mn-ea"/>
              </a:rPr>
              <a:t>周志华 </a:t>
            </a:r>
            <a:r>
              <a:rPr lang="zh-CN" altLang="zh-CN" dirty="0">
                <a:latin typeface="+mn-ea"/>
              </a:rPr>
              <a:t>著，</a:t>
            </a:r>
            <a:r>
              <a:rPr lang="zh-CN" altLang="en-US" dirty="0" smtClean="0">
                <a:latin typeface="+mn-ea"/>
              </a:rPr>
              <a:t>清华大学出版社，</a:t>
            </a:r>
            <a:r>
              <a:rPr lang="en-US" altLang="zh-CN" dirty="0" smtClean="0">
                <a:latin typeface="+mn-ea"/>
              </a:rPr>
              <a:t>2016.</a:t>
            </a:r>
            <a:endParaRPr lang="en-US" altLang="zh-CN" dirty="0">
              <a:latin typeface="+mn-ea"/>
            </a:endParaRPr>
          </a:p>
          <a:p>
            <a:pPr lvl="1">
              <a:spcBef>
                <a:spcPts val="600"/>
              </a:spcBef>
            </a:pPr>
            <a:endParaRPr lang="en-US" altLang="zh-CN" dirty="0">
              <a:latin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EF074B-B099-4EEB-A93B-66B0716828E9}" type="slidenum">
              <a:rPr lang="en-US" altLang="zh-CN"/>
            </a:fld>
            <a:endParaRPr lang="en-US" altLang="zh-CN"/>
          </a:p>
        </p:txBody>
      </p:sp>
      <p:pic>
        <p:nvPicPr>
          <p:cNvPr id="3076" name="Picture 4" descr="https://timgsa.baidu.com/timg?image&amp;quality=80&amp;size=b9999_10000&amp;sec=1488117903946&amp;di=5651750764a40b4b90d75b809d08a09a&amp;imgtype=0&amp;src=http%3A%2F%2Fwww.kfzimg.com%2FG00%2FM00%2F89%2F28%2FooYBAFcUgUSAGwdgAAEqIVdEZP4983_b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5" t="16193" r="4292" b="9387"/>
          <a:stretch>
            <a:fillRect/>
          </a:stretch>
        </p:blipFill>
        <p:spPr bwMode="auto">
          <a:xfrm>
            <a:off x="1945940" y="2554662"/>
            <a:ext cx="5290356" cy="428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>
              <a:defRPr/>
            </a:pPr>
            <a:r>
              <a:rPr lang="zh-CN" altLang="en-US" dirty="0"/>
              <a:t>教材及参考书</a:t>
            </a:r>
            <a:endParaRPr lang="zh-CN" altLang="en-US" b="1" dirty="0" smtClean="0">
              <a:solidFill>
                <a:schemeClr val="tx1"/>
              </a:solidFill>
              <a:ea typeface="华文新魏" panose="02010800040101010101" pitchFamily="2" charset="-122"/>
            </a:endParaRPr>
          </a:p>
        </p:txBody>
      </p:sp>
      <p:sp>
        <p:nvSpPr>
          <p:cNvPr id="830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参考资料</a:t>
            </a:r>
            <a:endParaRPr lang="en-US" altLang="zh-CN" dirty="0">
              <a:latin typeface="+mn-ea"/>
            </a:endParaRPr>
          </a:p>
          <a:p>
            <a:pPr lvl="1" hangingPunct="0">
              <a:spcBef>
                <a:spcPts val="600"/>
              </a:spcBef>
            </a:pPr>
            <a:r>
              <a:rPr lang="en-US" altLang="zh-CN" dirty="0" smtClean="0">
                <a:latin typeface="+mn-ea"/>
              </a:rPr>
              <a:t>《</a:t>
            </a:r>
            <a:r>
              <a:rPr lang="zh-CN" altLang="en-US" dirty="0" smtClean="0">
                <a:latin typeface="+mn-ea"/>
              </a:rPr>
              <a:t>机器学习</a:t>
            </a:r>
            <a:r>
              <a:rPr lang="en-US" altLang="zh-CN" dirty="0" smtClean="0">
                <a:latin typeface="+mn-ea"/>
              </a:rPr>
              <a:t>》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美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米歇尔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smtClean="0">
                <a:latin typeface="+mn-ea"/>
              </a:rPr>
              <a:t>Mitchell, T.M.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zh-CN" dirty="0" smtClean="0">
                <a:latin typeface="+mn-ea"/>
              </a:rPr>
              <a:t>著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机械工业</a:t>
            </a:r>
            <a:r>
              <a:rPr lang="zh-CN" altLang="en-US" dirty="0" smtClean="0">
                <a:latin typeface="+mn-ea"/>
              </a:rPr>
              <a:t>出版社，</a:t>
            </a:r>
            <a:r>
              <a:rPr lang="en-US" altLang="zh-CN" dirty="0" smtClean="0">
                <a:latin typeface="+mn-ea"/>
              </a:rPr>
              <a:t>2008.</a:t>
            </a:r>
            <a:endParaRPr lang="zh-CN" altLang="en-US" dirty="0">
              <a:latin typeface="+mn-ea"/>
            </a:endParaRPr>
          </a:p>
          <a:p>
            <a:pPr lvl="1" hangingPunct="0">
              <a:spcBef>
                <a:spcPts val="600"/>
              </a:spcBef>
            </a:pPr>
            <a:r>
              <a:rPr lang="zh-CN" altLang="en-US" dirty="0" smtClean="0"/>
              <a:t>论文</a:t>
            </a:r>
            <a:r>
              <a:rPr lang="zh-CN" altLang="en-US" dirty="0"/>
              <a:t>文献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EF074B-B099-4EEB-A93B-66B0716828E9}" type="slidenum">
              <a:rPr lang="en-US" altLang="zh-CN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864" y="2636912"/>
            <a:ext cx="2664296" cy="391723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</a:t>
            </a:r>
            <a:r>
              <a:rPr lang="zh-CN" altLang="en-US" b="1" dirty="0" smtClean="0"/>
              <a:t>主要内</a:t>
            </a:r>
            <a:r>
              <a:rPr lang="zh-CN" altLang="en-US" b="1" dirty="0"/>
              <a:t>容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908720"/>
            <a:ext cx="4392488" cy="5400600"/>
          </a:xfrm>
        </p:spPr>
        <p:txBody>
          <a:bodyPr/>
          <a:lstStyle/>
          <a:p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zh-CN" altLang="en-US" dirty="0" smtClean="0"/>
              <a:t>模型</a:t>
            </a:r>
            <a:r>
              <a:rPr lang="zh-CN" altLang="en-US" dirty="0"/>
              <a:t>评估与</a:t>
            </a:r>
            <a:r>
              <a:rPr lang="zh-CN" altLang="en-US" dirty="0" smtClean="0"/>
              <a:t>选择</a:t>
            </a:r>
            <a:endParaRPr lang="en-US" altLang="zh-CN" dirty="0" smtClean="0"/>
          </a:p>
          <a:p>
            <a:r>
              <a:rPr lang="zh-CN" altLang="en-US" dirty="0" smtClean="0"/>
              <a:t>线性模型</a:t>
            </a:r>
            <a:endParaRPr lang="en-US" altLang="zh-CN" dirty="0" smtClean="0"/>
          </a:p>
          <a:p>
            <a:r>
              <a:rPr lang="zh-CN" altLang="en-US" dirty="0" smtClean="0"/>
              <a:t>决策树</a:t>
            </a:r>
            <a:endParaRPr lang="en-US" altLang="zh-CN" dirty="0" smtClean="0"/>
          </a:p>
          <a:p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r>
              <a:rPr lang="zh-CN" altLang="en-US" dirty="0"/>
              <a:t>支持向量</a:t>
            </a:r>
            <a:r>
              <a:rPr lang="zh-CN" altLang="en-US" dirty="0" smtClean="0"/>
              <a:t>机</a:t>
            </a:r>
            <a:endParaRPr lang="en-US" altLang="zh-CN" dirty="0" smtClean="0"/>
          </a:p>
          <a:p>
            <a:r>
              <a:rPr lang="zh-CN" altLang="en-US" dirty="0" smtClean="0"/>
              <a:t>贝叶斯分类</a:t>
            </a:r>
            <a:endParaRPr lang="en-US" altLang="zh-CN" dirty="0" smtClean="0"/>
          </a:p>
          <a:p>
            <a:r>
              <a:rPr lang="zh-CN" altLang="en-US" dirty="0"/>
              <a:t>集成</a:t>
            </a:r>
            <a:r>
              <a:rPr lang="zh-CN" altLang="en-US" dirty="0" smtClean="0"/>
              <a:t>学习</a:t>
            </a:r>
            <a:endParaRPr lang="en-US" altLang="zh-CN" dirty="0" smtClean="0"/>
          </a:p>
          <a:p>
            <a:r>
              <a:rPr lang="zh-CN" altLang="en-US" dirty="0" smtClean="0"/>
              <a:t>聚类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课程目的与要求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6864" cy="469086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 smtClean="0"/>
              <a:t>目的</a:t>
            </a:r>
            <a:endParaRPr lang="en-US" altLang="zh-CN" dirty="0" smtClean="0"/>
          </a:p>
          <a:p>
            <a:pPr lvl="1" hangingPunct="0">
              <a:spcBef>
                <a:spcPts val="600"/>
              </a:spcBef>
            </a:pPr>
            <a:r>
              <a:rPr lang="zh-CN" altLang="en-US" dirty="0"/>
              <a:t>讲解</a:t>
            </a:r>
            <a:r>
              <a:rPr lang="zh-CN" altLang="zh-CN" dirty="0" smtClean="0"/>
              <a:t>机器学习</a:t>
            </a:r>
            <a:r>
              <a:rPr lang="zh-CN" altLang="zh-CN" dirty="0"/>
              <a:t>的研究对象、基本研究方法、学习范型、核心算法、理论以及</a:t>
            </a:r>
            <a:r>
              <a:rPr lang="zh-CN" altLang="zh-CN" dirty="0" smtClean="0"/>
              <a:t>应用技术</a:t>
            </a:r>
            <a:endParaRPr lang="en-US" altLang="zh-CN" dirty="0" smtClean="0"/>
          </a:p>
          <a:p>
            <a:pPr lvl="1" hangingPunct="0">
              <a:spcBef>
                <a:spcPts val="600"/>
              </a:spcBef>
            </a:pPr>
            <a:r>
              <a:rPr lang="zh-CN" altLang="en-US" dirty="0" smtClean="0"/>
              <a:t>使</a:t>
            </a:r>
            <a:r>
              <a:rPr lang="zh-CN" altLang="en-US" dirty="0"/>
              <a:t>学生</a:t>
            </a:r>
            <a:r>
              <a:rPr lang="zh-CN" altLang="zh-CN" dirty="0" smtClean="0"/>
              <a:t>掌握</a:t>
            </a:r>
            <a:r>
              <a:rPr lang="zh-CN" altLang="zh-CN" dirty="0"/>
              <a:t>常见机器学习的基本理论和主要方法，掌握在大量的模式样本中获取有用信息的原理和算法，包括算法的主要思想和基本</a:t>
            </a:r>
            <a:r>
              <a:rPr lang="zh-CN" altLang="zh-CN" dirty="0" smtClean="0"/>
              <a:t>步骤</a:t>
            </a:r>
            <a:endParaRPr lang="en-US" altLang="zh-CN" dirty="0" smtClean="0"/>
          </a:p>
          <a:p>
            <a:pPr lvl="1" hangingPunct="0">
              <a:spcBef>
                <a:spcPts val="600"/>
              </a:spcBef>
            </a:pPr>
            <a:r>
              <a:rPr lang="zh-CN" altLang="zh-CN" dirty="0" smtClean="0"/>
              <a:t>通过</a:t>
            </a:r>
            <a:r>
              <a:rPr lang="zh-CN" altLang="zh-CN" dirty="0"/>
              <a:t>编程练习和典型应用实例加深理解，为学生在该领域的进一步研究和工程应用奠定</a:t>
            </a:r>
            <a:r>
              <a:rPr lang="zh-CN" altLang="zh-CN" dirty="0" smtClean="0"/>
              <a:t>基础</a:t>
            </a:r>
            <a:endParaRPr lang="zh-CN" altLang="zh-CN" dirty="0"/>
          </a:p>
          <a:p>
            <a:pPr lvl="1" hangingPunct="0"/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课程目的与要求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70384"/>
            <a:ext cx="7992888" cy="4690864"/>
          </a:xfrm>
        </p:spPr>
        <p:txBody>
          <a:bodyPr/>
          <a:lstStyle/>
          <a:p>
            <a:pPr hangingPunct="0">
              <a:spcBef>
                <a:spcPts val="600"/>
              </a:spcBef>
            </a:pPr>
            <a:r>
              <a:rPr lang="zh-CN" altLang="en-US" dirty="0" smtClean="0"/>
              <a:t>要求</a:t>
            </a:r>
            <a:endParaRPr lang="en-US" altLang="zh-CN" dirty="0" smtClean="0"/>
          </a:p>
          <a:p>
            <a:pPr lvl="1" hangingPunct="0">
              <a:spcBef>
                <a:spcPts val="600"/>
              </a:spcBef>
            </a:pPr>
            <a:r>
              <a:rPr lang="zh-CN" altLang="zh-CN" dirty="0"/>
              <a:t>掌握机器学习的基本概念、基本理论</a:t>
            </a:r>
            <a:r>
              <a:rPr lang="zh-CN" altLang="zh-CN" dirty="0" smtClean="0"/>
              <a:t>和</a:t>
            </a:r>
            <a:r>
              <a:rPr lang="zh-CN" altLang="en-US" dirty="0"/>
              <a:t>主要</a:t>
            </a:r>
            <a:r>
              <a:rPr lang="zh-CN" altLang="zh-CN" dirty="0" smtClean="0"/>
              <a:t>方法</a:t>
            </a:r>
            <a:endParaRPr lang="en-US" altLang="zh-CN" dirty="0"/>
          </a:p>
          <a:p>
            <a:pPr lvl="1" hangingPunct="0">
              <a:spcBef>
                <a:spcPts val="600"/>
              </a:spcBef>
            </a:pPr>
            <a:r>
              <a:rPr lang="zh-CN" altLang="zh-CN" dirty="0"/>
              <a:t>学会处理应用机器学习解决实际</a:t>
            </a:r>
            <a:r>
              <a:rPr lang="zh-CN" altLang="zh-CN" dirty="0" smtClean="0"/>
              <a:t>中</a:t>
            </a:r>
            <a:r>
              <a:rPr lang="zh-CN" altLang="en-US" dirty="0" smtClean="0"/>
              <a:t>遇到</a:t>
            </a:r>
            <a:r>
              <a:rPr lang="zh-CN" altLang="zh-CN" dirty="0" smtClean="0"/>
              <a:t>的</a:t>
            </a:r>
            <a:r>
              <a:rPr lang="zh-CN" altLang="zh-CN" dirty="0"/>
              <a:t>各</a:t>
            </a:r>
            <a:r>
              <a:rPr lang="zh-CN" altLang="en-US" dirty="0"/>
              <a:t>类</a:t>
            </a:r>
            <a:r>
              <a:rPr lang="zh-CN" altLang="zh-CN" dirty="0"/>
              <a:t>问题</a:t>
            </a:r>
            <a:endParaRPr lang="en-US" altLang="zh-CN" dirty="0"/>
          </a:p>
          <a:p>
            <a:pPr lvl="1" hangingPunct="0">
              <a:spcBef>
                <a:spcPts val="600"/>
              </a:spcBef>
            </a:pPr>
            <a:r>
              <a:rPr lang="zh-CN" altLang="zh-CN" dirty="0"/>
              <a:t>提高开展科研</a:t>
            </a:r>
            <a:r>
              <a:rPr lang="zh-CN" altLang="zh-CN" dirty="0" smtClean="0"/>
              <a:t>工作</a:t>
            </a:r>
            <a:r>
              <a:rPr lang="zh-CN" altLang="en-US" dirty="0" smtClean="0"/>
              <a:t>和工程实践</a:t>
            </a:r>
            <a:r>
              <a:rPr lang="zh-CN" altLang="zh-CN" dirty="0" smtClean="0"/>
              <a:t>的</a:t>
            </a:r>
            <a:r>
              <a:rPr lang="zh-CN" altLang="zh-CN" dirty="0"/>
              <a:t>能力以及独立思考、分析、</a:t>
            </a:r>
            <a:r>
              <a:rPr lang="zh-CN" altLang="zh-CN" dirty="0" smtClean="0"/>
              <a:t>解决问题</a:t>
            </a:r>
            <a:r>
              <a:rPr lang="zh-CN" altLang="zh-CN" dirty="0"/>
              <a:t>的能力</a:t>
            </a:r>
            <a:endParaRPr lang="en-US" altLang="zh-CN" dirty="0"/>
          </a:p>
          <a:p>
            <a:pPr hangingPunct="0">
              <a:spcBef>
                <a:spcPts val="600"/>
              </a:spcBef>
            </a:pPr>
            <a:r>
              <a:rPr lang="zh-CN" altLang="zh-CN" dirty="0" smtClean="0"/>
              <a:t>先修课程</a:t>
            </a:r>
            <a:endParaRPr lang="en-US" altLang="zh-CN" dirty="0" smtClean="0"/>
          </a:p>
          <a:p>
            <a:pPr lvl="1" hangingPunct="0">
              <a:spcBef>
                <a:spcPts val="600"/>
              </a:spcBef>
            </a:pPr>
            <a:r>
              <a:rPr lang="zh-CN" altLang="zh-CN" dirty="0" smtClean="0"/>
              <a:t>数学</a:t>
            </a:r>
            <a:r>
              <a:rPr lang="zh-CN" altLang="en-US" dirty="0" smtClean="0"/>
              <a:t>分析</a:t>
            </a:r>
            <a:r>
              <a:rPr lang="zh-CN" altLang="zh-CN" dirty="0" smtClean="0"/>
              <a:t>、</a:t>
            </a:r>
            <a:r>
              <a:rPr lang="zh-CN" altLang="zh-CN" dirty="0"/>
              <a:t>概率论与数理统计、面向对象语言编程、数据结构与</a:t>
            </a:r>
            <a:r>
              <a:rPr lang="zh-CN" altLang="zh-CN" dirty="0" smtClean="0"/>
              <a:t>算法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08720"/>
            <a:ext cx="7772400" cy="533893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latin typeface="+mn-ea"/>
              </a:rPr>
              <a:t>理论</a:t>
            </a:r>
            <a:r>
              <a:rPr lang="zh-CN" altLang="en-US" dirty="0"/>
              <a:t>考试</a:t>
            </a:r>
            <a:r>
              <a:rPr lang="zh-CN" altLang="en-US" dirty="0" smtClean="0">
                <a:latin typeface="+mn-ea"/>
              </a:rPr>
              <a:t>成绩</a:t>
            </a:r>
            <a:r>
              <a:rPr lang="en-US" altLang="zh-CN" dirty="0" smtClean="0">
                <a:latin typeface="+mn-ea"/>
              </a:rPr>
              <a:t>60%+</a:t>
            </a:r>
            <a:r>
              <a:rPr lang="zh-CN" altLang="en-US" dirty="0" smtClean="0">
                <a:latin typeface="+mn-ea"/>
              </a:rPr>
              <a:t>实验成绩</a:t>
            </a:r>
            <a:r>
              <a:rPr lang="en-US" altLang="zh-CN" dirty="0" smtClean="0">
                <a:latin typeface="+mn-ea"/>
              </a:rPr>
              <a:t>30%+</a:t>
            </a:r>
            <a:r>
              <a:rPr lang="zh-CN" altLang="en-US" dirty="0" smtClean="0">
                <a:latin typeface="+mn-ea"/>
              </a:rPr>
              <a:t>平时成绩</a:t>
            </a:r>
            <a:r>
              <a:rPr lang="en-US" altLang="zh-CN" dirty="0" smtClean="0">
                <a:latin typeface="+mn-ea"/>
              </a:rPr>
              <a:t>10%</a:t>
            </a:r>
            <a:endParaRPr lang="en-US" altLang="zh-CN" dirty="0">
              <a:latin typeface="+mn-ea"/>
            </a:endParaRPr>
          </a:p>
          <a:p>
            <a:pPr lvl="1">
              <a:spcBef>
                <a:spcPts val="600"/>
              </a:spcBef>
            </a:pPr>
            <a:r>
              <a:rPr lang="zh-CN" altLang="en-US" dirty="0" smtClean="0"/>
              <a:t>理论考试成绩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闭卷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r>
              <a:rPr lang="zh-CN" altLang="zh-CN" dirty="0" smtClean="0"/>
              <a:t>基本</a:t>
            </a:r>
            <a:r>
              <a:rPr lang="zh-CN" altLang="zh-CN" dirty="0"/>
              <a:t>概念、基本</a:t>
            </a:r>
            <a:r>
              <a:rPr lang="zh-CN" altLang="zh-CN" dirty="0" smtClean="0"/>
              <a:t>理论</a:t>
            </a:r>
            <a:r>
              <a:rPr lang="zh-CN" altLang="en-US" dirty="0" smtClean="0"/>
              <a:t>、主要</a:t>
            </a:r>
            <a:r>
              <a:rPr lang="zh-CN" altLang="zh-CN" dirty="0" smtClean="0"/>
              <a:t>方法</a:t>
            </a:r>
            <a:endParaRPr lang="en-US" altLang="zh-CN" dirty="0" smtClean="0"/>
          </a:p>
          <a:p>
            <a:pPr lvl="1">
              <a:spcBef>
                <a:spcPts val="600"/>
              </a:spcBef>
            </a:pPr>
            <a:r>
              <a:rPr lang="zh-CN" altLang="en-US" dirty="0" smtClean="0"/>
              <a:t>实验和平时成绩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r>
              <a:rPr lang="zh-CN" altLang="en-US" dirty="0" smtClean="0"/>
              <a:t>实验</a:t>
            </a:r>
            <a:r>
              <a:rPr lang="en-US" altLang="zh-CN" dirty="0" smtClean="0">
                <a:latin typeface="+mn-ea"/>
              </a:rPr>
              <a:t>+</a:t>
            </a:r>
            <a:r>
              <a:rPr lang="zh-CN" altLang="en-US" dirty="0" smtClean="0"/>
              <a:t>报告（独立完成）</a:t>
            </a:r>
            <a:endParaRPr lang="en-US" altLang="zh-CN" dirty="0" smtClean="0"/>
          </a:p>
          <a:p>
            <a:pPr lvl="2">
              <a:spcBef>
                <a:spcPts val="600"/>
              </a:spcBef>
            </a:pPr>
            <a:r>
              <a:rPr lang="zh-CN" altLang="en-US" dirty="0"/>
              <a:t>到</a:t>
            </a:r>
            <a:r>
              <a:rPr lang="zh-CN" altLang="en-US" dirty="0" smtClean="0"/>
              <a:t>课出勤和课堂讨论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b="1" dirty="0" smtClean="0"/>
              <a:t>第</a:t>
            </a:r>
            <a:r>
              <a:rPr lang="en-US" altLang="zh-CN" sz="6000" b="1" dirty="0" smtClean="0"/>
              <a:t>1</a:t>
            </a:r>
            <a:r>
              <a:rPr lang="zh-CN" altLang="en-US" sz="6000" b="1" dirty="0" smtClean="0"/>
              <a:t>章 </a:t>
            </a:r>
            <a:r>
              <a:rPr lang="zh-CN" altLang="en-US" sz="6000" dirty="0" smtClean="0"/>
              <a:t>绪论</a:t>
            </a:r>
            <a:endParaRPr lang="zh-CN" altLang="en-US" sz="6000" b="1" dirty="0" smtClean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基本</a:t>
            </a:r>
            <a:r>
              <a:rPr lang="zh-CN" altLang="en-US" dirty="0" smtClean="0">
                <a:latin typeface="+mn-ea"/>
              </a:rPr>
              <a:t>术语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假设</a:t>
            </a:r>
            <a:r>
              <a:rPr lang="zh-CN" altLang="en-US" dirty="0" smtClean="0">
                <a:latin typeface="+mn-ea"/>
              </a:rPr>
              <a:t>空间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归纳</a:t>
            </a:r>
            <a:r>
              <a:rPr lang="zh-CN" altLang="en-US" dirty="0" smtClean="0">
                <a:latin typeface="+mn-ea"/>
              </a:rPr>
              <a:t>偏好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发展</a:t>
            </a:r>
            <a:r>
              <a:rPr lang="zh-CN" altLang="en-US" dirty="0" smtClean="0">
                <a:latin typeface="+mn-ea"/>
              </a:rPr>
              <a:t>历程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应用现状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 </a:t>
            </a:r>
            <a:r>
              <a:rPr lang="zh-CN" altLang="en-US" dirty="0" smtClean="0"/>
              <a:t>引言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626968"/>
          </a:xfrm>
        </p:spPr>
        <p:txBody>
          <a:bodyPr/>
          <a:lstStyle/>
          <a:p>
            <a:pPr hangingPunct="0"/>
            <a:r>
              <a:rPr lang="zh-CN" altLang="en-US" dirty="0" smtClean="0">
                <a:latin typeface="+mn-ea"/>
              </a:rPr>
              <a:t>人能</a:t>
            </a:r>
            <a:r>
              <a:rPr lang="zh-CN" altLang="en-US" dirty="0">
                <a:latin typeface="+mn-ea"/>
              </a:rPr>
              <a:t>做出有效的预判，是</a:t>
            </a:r>
            <a:r>
              <a:rPr lang="zh-CN" altLang="en-US" dirty="0" smtClean="0">
                <a:latin typeface="+mn-ea"/>
              </a:rPr>
              <a:t>因为己</a:t>
            </a:r>
            <a:r>
              <a:rPr lang="zh-CN" altLang="en-US" dirty="0">
                <a:latin typeface="+mn-ea"/>
              </a:rPr>
              <a:t>经积累了许多经验</a:t>
            </a:r>
            <a:r>
              <a:rPr lang="zh-CN" altLang="en-US" dirty="0" smtClean="0">
                <a:latin typeface="+mn-ea"/>
              </a:rPr>
              <a:t>，通过</a:t>
            </a:r>
            <a:r>
              <a:rPr lang="zh-CN" altLang="en-US" dirty="0">
                <a:latin typeface="+mn-ea"/>
              </a:rPr>
              <a:t>对经验的利用，就能对新情况做出有效的</a:t>
            </a:r>
            <a:r>
              <a:rPr lang="zh-CN" altLang="en-US" dirty="0" smtClean="0">
                <a:latin typeface="+mn-ea"/>
              </a:rPr>
              <a:t>决策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>
                <a:latin typeface="+mn-ea"/>
              </a:rPr>
              <a:t>（计算机能替代吗）</a:t>
            </a:r>
            <a:r>
              <a:rPr lang="zh-CN" altLang="en-US" dirty="0" smtClean="0">
                <a:latin typeface="+mn-ea"/>
              </a:rPr>
              <a:t>机器学习致力于</a:t>
            </a:r>
            <a:r>
              <a:rPr lang="zh-CN" altLang="en-US" dirty="0">
                <a:latin typeface="+mn-ea"/>
              </a:rPr>
              <a:t>研究如何通过计算的手段，利用经验来改善系统自身的</a:t>
            </a:r>
            <a:r>
              <a:rPr lang="zh-CN" altLang="en-US" dirty="0" smtClean="0">
                <a:latin typeface="+mn-ea"/>
              </a:rPr>
              <a:t>性能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在计算机系统</a:t>
            </a:r>
            <a:r>
              <a:rPr lang="zh-CN" altLang="en-US" dirty="0" smtClean="0">
                <a:latin typeface="+mn-ea"/>
              </a:rPr>
              <a:t>中，经验通常以数据形式存在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机器学习研究</a:t>
            </a:r>
            <a:r>
              <a:rPr lang="zh-CN" altLang="en-US" dirty="0">
                <a:latin typeface="+mn-ea"/>
              </a:rPr>
              <a:t>的主要</a:t>
            </a:r>
            <a:r>
              <a:rPr lang="zh-CN" altLang="en-US" dirty="0" smtClean="0">
                <a:latin typeface="+mn-ea"/>
              </a:rPr>
              <a:t>内容是如何在</a:t>
            </a:r>
            <a:r>
              <a:rPr lang="zh-CN" altLang="en-US" dirty="0">
                <a:latin typeface="+mn-ea"/>
              </a:rPr>
              <a:t>计算机上从数据中</a:t>
            </a:r>
            <a:r>
              <a:rPr lang="zh-CN" altLang="en-US" dirty="0" smtClean="0">
                <a:latin typeface="+mn-ea"/>
              </a:rPr>
              <a:t>产生模型，即学习算法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在</a:t>
            </a:r>
            <a:r>
              <a:rPr lang="zh-CN" altLang="en-US" dirty="0">
                <a:latin typeface="+mn-ea"/>
              </a:rPr>
              <a:t>面对新</a:t>
            </a:r>
            <a:r>
              <a:rPr lang="zh-CN" altLang="en-US" dirty="0" smtClean="0">
                <a:latin typeface="+mn-ea"/>
              </a:rPr>
              <a:t>的数据时，</a:t>
            </a:r>
            <a:r>
              <a:rPr lang="zh-CN" altLang="en-US" dirty="0">
                <a:latin typeface="+mn-ea"/>
              </a:rPr>
              <a:t>模型</a:t>
            </a:r>
            <a:r>
              <a:rPr lang="zh-CN" altLang="en-US" dirty="0" smtClean="0">
                <a:latin typeface="+mn-ea"/>
              </a:rPr>
              <a:t>会提供</a:t>
            </a:r>
            <a:r>
              <a:rPr lang="zh-CN" altLang="en-US" dirty="0">
                <a:latin typeface="+mn-ea"/>
              </a:rPr>
              <a:t>相应的</a:t>
            </a:r>
            <a:r>
              <a:rPr lang="zh-CN" altLang="en-US" dirty="0" smtClean="0">
                <a:latin typeface="+mn-ea"/>
              </a:rPr>
              <a:t>判断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模型和模式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模型泛指</a:t>
            </a:r>
            <a:r>
              <a:rPr lang="zh-CN" altLang="en-US" dirty="0">
                <a:latin typeface="+mn-ea"/>
              </a:rPr>
              <a:t>从数据中学得的</a:t>
            </a:r>
            <a:r>
              <a:rPr lang="zh-CN" altLang="en-US" dirty="0" smtClean="0">
                <a:latin typeface="+mn-ea"/>
              </a:rPr>
              <a:t>结果，是全局性结果。模式指</a:t>
            </a:r>
            <a:r>
              <a:rPr lang="zh-CN" altLang="en-US" dirty="0">
                <a:latin typeface="+mn-ea"/>
              </a:rPr>
              <a:t>局部性</a:t>
            </a:r>
            <a:r>
              <a:rPr lang="zh-CN" altLang="en-US" dirty="0" smtClean="0">
                <a:latin typeface="+mn-ea"/>
              </a:rPr>
              <a:t>结果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如</a:t>
            </a:r>
            <a:r>
              <a:rPr lang="zh-CN" altLang="en-US" dirty="0">
                <a:latin typeface="+mn-ea"/>
              </a:rPr>
              <a:t>一条规</a:t>
            </a:r>
            <a:r>
              <a:rPr lang="zh-CN" altLang="en-US" dirty="0" smtClean="0">
                <a:latin typeface="+mn-ea"/>
              </a:rPr>
              <a:t>则</a:t>
            </a:r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en-US" dirty="0" smtClean="0"/>
              <a:t>基本</a:t>
            </a:r>
            <a:r>
              <a:rPr lang="zh-CN" altLang="en-US" dirty="0"/>
              <a:t>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920880" cy="4690864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数据</a:t>
            </a:r>
            <a:r>
              <a:rPr lang="zh-CN" altLang="en-US" dirty="0" smtClean="0">
                <a:latin typeface="+mn-ea"/>
              </a:rPr>
              <a:t>集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一组数据记录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集合，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样本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示例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一条</a:t>
            </a:r>
            <a:r>
              <a:rPr lang="zh-CN" altLang="en-US" dirty="0" smtClean="0">
                <a:latin typeface="+mn-ea"/>
              </a:rPr>
              <a:t>记录，是</a:t>
            </a:r>
            <a:r>
              <a:rPr lang="zh-CN" altLang="en-US" dirty="0">
                <a:latin typeface="+mn-ea"/>
              </a:rPr>
              <a:t>关于</a:t>
            </a:r>
            <a:r>
              <a:rPr lang="zh-CN" altLang="en-US" dirty="0" smtClean="0">
                <a:latin typeface="+mn-ea"/>
              </a:rPr>
              <a:t>一个</a:t>
            </a:r>
            <a:r>
              <a:rPr lang="zh-CN" altLang="en-US" dirty="0">
                <a:latin typeface="+mn-ea"/>
              </a:rPr>
              <a:t>事件或</a:t>
            </a:r>
            <a:r>
              <a:rPr lang="zh-CN" altLang="en-US" dirty="0" smtClean="0">
                <a:latin typeface="+mn-ea"/>
              </a:rPr>
              <a:t>对象的描述，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特征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属性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反映事件或对象在某方面的表现或性质的</a:t>
            </a:r>
            <a:r>
              <a:rPr lang="zh-CN" altLang="en-US" dirty="0" smtClean="0">
                <a:latin typeface="+mn-ea"/>
              </a:rPr>
              <a:t>事项，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样本的维数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样本特征的个数，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特征值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属性值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属性上的</a:t>
            </a:r>
            <a:r>
              <a:rPr lang="zh-CN" altLang="en-US" dirty="0" smtClean="0">
                <a:latin typeface="+mn-ea"/>
              </a:rPr>
              <a:t>取值，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964113" y="1341438"/>
          <a:ext cx="29114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2" name="Equation" r:id="rId1" imgW="27736800" imgH="5181600" progId="Equation.DSMT4">
                  <p:embed/>
                </p:oleObj>
              </mc:Choice>
              <mc:Fallback>
                <p:oleObj name="Equation" r:id="rId1" imgW="27736800" imgH="5181600" progId="Equation.DSMT4">
                  <p:embed/>
                  <p:pic>
                    <p:nvPicPr>
                      <p:cNvPr id="0" name="图片 64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64113" y="1341438"/>
                        <a:ext cx="29114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204200" y="2205038"/>
          <a:ext cx="415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3" name="Equation" r:id="rId3" imgW="3962400" imgH="4876800" progId="Equation.DSMT4">
                  <p:embed/>
                </p:oleObj>
              </mc:Choice>
              <mc:Fallback>
                <p:oleObj name="Equation" r:id="rId3" imgW="3962400" imgH="4876800" progId="Equation.DSMT4">
                  <p:embed/>
                  <p:pic>
                    <p:nvPicPr>
                      <p:cNvPr id="0" name="图片 64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04200" y="2205038"/>
                        <a:ext cx="41592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147888" y="3573463"/>
          <a:ext cx="30083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4" name="Equation" r:id="rId5" imgW="28651200" imgH="5181600" progId="Equation.DSMT4">
                  <p:embed/>
                </p:oleObj>
              </mc:Choice>
              <mc:Fallback>
                <p:oleObj name="Equation" r:id="rId5" imgW="28651200" imgH="5181600" progId="Equation.DSMT4">
                  <p:embed/>
                  <p:pic>
                    <p:nvPicPr>
                      <p:cNvPr id="0" name="图片 64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7888" y="3573463"/>
                        <a:ext cx="300831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63591" y="4559300"/>
          <a:ext cx="3524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5" name="Equation" r:id="rId7" imgW="3352800" imgH="4267200" progId="Equation.DSMT4">
                  <p:embed/>
                </p:oleObj>
              </mc:Choice>
              <mc:Fallback>
                <p:oleObj name="Equation" r:id="rId7" imgW="3352800" imgH="4267200" progId="Equation.DSMT4">
                  <p:embed/>
                  <p:pic>
                    <p:nvPicPr>
                      <p:cNvPr id="0" name="图片 64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3591" y="4559300"/>
                        <a:ext cx="352425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75668" y="5406355"/>
          <a:ext cx="4476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" name="Equation" r:id="rId9" imgW="4267200" imgH="5181600" progId="Equation.DSMT4">
                  <p:embed/>
                </p:oleObj>
              </mc:Choice>
              <mc:Fallback>
                <p:oleObj name="Equation" r:id="rId9" imgW="4267200" imgH="5181600" progId="Equation.DSMT4">
                  <p:embed/>
                  <p:pic>
                    <p:nvPicPr>
                      <p:cNvPr id="0" name="图片 64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75668" y="5406355"/>
                        <a:ext cx="4476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en-US" dirty="0" smtClean="0"/>
              <a:t>基本</a:t>
            </a:r>
            <a:r>
              <a:rPr lang="zh-CN" altLang="en-US" dirty="0"/>
              <a:t>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920880" cy="5832648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特征空间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属性空间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样本空间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输入空间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属性张成的</a:t>
            </a:r>
            <a:r>
              <a:rPr lang="zh-CN" altLang="en-US" dirty="0" smtClean="0">
                <a:latin typeface="+mn-ea"/>
              </a:rPr>
              <a:t>空间，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样本空间中全体样本服从一个</a:t>
            </a:r>
            <a:r>
              <a:rPr lang="zh-CN" altLang="en-US" dirty="0" smtClean="0">
                <a:latin typeface="+mn-ea"/>
              </a:rPr>
              <a:t>未知分布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特征向量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特征空间</a:t>
            </a:r>
            <a:r>
              <a:rPr lang="zh-CN" altLang="en-US" dirty="0">
                <a:latin typeface="+mn-ea"/>
              </a:rPr>
              <a:t>中</a:t>
            </a:r>
            <a:r>
              <a:rPr lang="zh-CN" altLang="en-US" dirty="0" smtClean="0">
                <a:latin typeface="+mn-ea"/>
              </a:rPr>
              <a:t>的点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示例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对应的坐标向量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训练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学习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pc="-100" dirty="0">
                <a:latin typeface="+mn-ea"/>
              </a:rPr>
              <a:t>从数据中学得模型的过程</a:t>
            </a:r>
            <a:r>
              <a:rPr lang="zh-CN" altLang="en-US" spc="-100" dirty="0" smtClean="0">
                <a:latin typeface="+mn-ea"/>
              </a:rPr>
              <a:t>，通过学习算法完成</a:t>
            </a:r>
            <a:endParaRPr lang="en-US" altLang="zh-CN" spc="-100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训练数据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训练过程中使用的数据</a:t>
            </a:r>
            <a:endParaRPr lang="zh-CN" altLang="en-US" dirty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训练样本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训练数据中的每个</a:t>
            </a:r>
            <a:r>
              <a:rPr lang="zh-CN" altLang="en-US" dirty="0">
                <a:latin typeface="+mn-ea"/>
              </a:rPr>
              <a:t>样本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训练集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训练样本组成的</a:t>
            </a:r>
            <a:r>
              <a:rPr lang="zh-CN" altLang="en-US" dirty="0" smtClean="0">
                <a:latin typeface="+mn-ea"/>
              </a:rPr>
              <a:t>集合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79913" y="1340768"/>
          <a:ext cx="11541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" name="Equation" r:id="rId1" imgW="10972800" imgH="4876800" progId="Equation.DSMT4">
                  <p:embed/>
                </p:oleObj>
              </mc:Choice>
              <mc:Fallback>
                <p:oleObj name="Equation" r:id="rId1" imgW="10972800" imgH="4876800" progId="Equation.DSMT4">
                  <p:embed/>
                  <p:pic>
                    <p:nvPicPr>
                      <p:cNvPr id="0" name="图片 73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79913" y="1340768"/>
                        <a:ext cx="1154112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90838" y="2204864"/>
          <a:ext cx="30083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3" name="Equation" r:id="rId3" imgW="28651200" imgH="5181600" progId="Equation.DSMT4">
                  <p:embed/>
                </p:oleObj>
              </mc:Choice>
              <mc:Fallback>
                <p:oleObj name="Equation" r:id="rId3" imgW="28651200" imgH="5181600" progId="Equation.DSMT4">
                  <p:embed/>
                  <p:pic>
                    <p:nvPicPr>
                      <p:cNvPr id="0" name="图片 73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0838" y="2204864"/>
                        <a:ext cx="300831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641527" y="1823172"/>
          <a:ext cx="479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4" name="Equation" r:id="rId5" imgW="4572000" imgH="3962400" progId="Equation.DSMT4">
                  <p:embed/>
                </p:oleObj>
              </mc:Choice>
              <mc:Fallback>
                <p:oleObj name="Equation" r:id="rId5" imgW="4572000" imgH="3962400" progId="Equation.DSMT4">
                  <p:embed/>
                  <p:pic>
                    <p:nvPicPr>
                      <p:cNvPr id="0" name="图片 73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41527" y="1823172"/>
                        <a:ext cx="47942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en-US" dirty="0" smtClean="0"/>
              <a:t>基本</a:t>
            </a:r>
            <a:r>
              <a:rPr lang="zh-CN" altLang="en-US" dirty="0"/>
              <a:t>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920880" cy="5832648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假设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模式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学习得到的模型 ，对应数据的</a:t>
            </a:r>
            <a:r>
              <a:rPr lang="zh-CN" altLang="en-US" dirty="0">
                <a:latin typeface="+mn-ea"/>
              </a:rPr>
              <a:t>某种</a:t>
            </a:r>
            <a:r>
              <a:rPr lang="zh-CN" altLang="en-US" dirty="0" smtClean="0">
                <a:latin typeface="+mn-ea"/>
              </a:rPr>
              <a:t>潜在规律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真相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真实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潜在规律自身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标记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标签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关于</a:t>
            </a:r>
            <a:r>
              <a:rPr lang="zh-CN" altLang="en-US" dirty="0" smtClean="0">
                <a:latin typeface="+mn-ea"/>
              </a:rPr>
              <a:t>示例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样本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结果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信息，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标记空间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输出空间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所有标记的</a:t>
            </a:r>
            <a:r>
              <a:rPr lang="zh-CN" altLang="en-US" dirty="0" smtClean="0">
                <a:latin typeface="+mn-ea"/>
              </a:rPr>
              <a:t>集合，</a:t>
            </a:r>
            <a:endParaRPr lang="en-US" altLang="zh-CN" dirty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样例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拥有</a:t>
            </a:r>
            <a:r>
              <a:rPr lang="zh-CN" altLang="en-US" dirty="0">
                <a:latin typeface="+mn-ea"/>
              </a:rPr>
              <a:t>了标记信息的</a:t>
            </a:r>
            <a:r>
              <a:rPr lang="zh-CN" altLang="en-US" dirty="0" smtClean="0">
                <a:latin typeface="+mn-ea"/>
              </a:rPr>
              <a:t>示例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样本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训练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学习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建立一个从输入</a:t>
            </a:r>
            <a:r>
              <a:rPr lang="zh-CN" altLang="en-US" dirty="0" smtClean="0">
                <a:latin typeface="+mn-ea"/>
              </a:rPr>
              <a:t>空间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到</a:t>
            </a:r>
            <a:r>
              <a:rPr lang="zh-CN" altLang="en-US" dirty="0">
                <a:latin typeface="+mn-ea"/>
              </a:rPr>
              <a:t>输出</a:t>
            </a:r>
            <a:r>
              <a:rPr lang="zh-CN" altLang="en-US" dirty="0" smtClean="0">
                <a:latin typeface="+mn-ea"/>
              </a:rPr>
              <a:t>空间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的映射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0924" y="3140968"/>
          <a:ext cx="3841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59" name="Equation" r:id="rId1" imgW="3657600" imgH="5181600" progId="Equation.DSMT4">
                  <p:embed/>
                </p:oleObj>
              </mc:Choice>
              <mc:Fallback>
                <p:oleObj name="Equation" r:id="rId1" imgW="3657600" imgH="5181600" progId="Equation.DSMT4">
                  <p:embed/>
                  <p:pic>
                    <p:nvPicPr>
                      <p:cNvPr id="0" name="图片 875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30924" y="3140968"/>
                        <a:ext cx="384175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263080" y="4077072"/>
          <a:ext cx="150653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0" name="Equation" r:id="rId3" imgW="14325600" imgH="5181600" progId="Equation.DSMT4">
                  <p:embed/>
                </p:oleObj>
              </mc:Choice>
              <mc:Fallback>
                <p:oleObj name="Equation" r:id="rId3" imgW="14325600" imgH="5181600" progId="Equation.DSMT4">
                  <p:embed/>
                  <p:pic>
                    <p:nvPicPr>
                      <p:cNvPr id="0" name="图片 87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63080" y="4077072"/>
                        <a:ext cx="1506538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15099" y="4969295"/>
          <a:ext cx="11842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1" name="Equation" r:id="rId5" imgW="11277600" imgH="5181600" progId="Equation.DSMT4">
                  <p:embed/>
                </p:oleObj>
              </mc:Choice>
              <mc:Fallback>
                <p:oleObj name="Equation" r:id="rId5" imgW="11277600" imgH="5181600" progId="Equation.DSMT4">
                  <p:embed/>
                  <p:pic>
                    <p:nvPicPr>
                      <p:cNvPr id="0" name="图片 876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15099" y="4969295"/>
                        <a:ext cx="1184275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67944" y="1412776"/>
          <a:ext cx="32366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2" name="Equation" r:id="rId7" imgW="3657600" imgH="4876800" progId="Equation.DSMT4">
                  <p:embed/>
                </p:oleObj>
              </mc:Choice>
              <mc:Fallback>
                <p:oleObj name="Equation" r:id="rId7" imgW="3657600" imgH="4876800" progId="Equation.DSMT4">
                  <p:embed/>
                  <p:pic>
                    <p:nvPicPr>
                      <p:cNvPr id="0" name="图片 876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7944" y="1412776"/>
                        <a:ext cx="323666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460500" y="6374209"/>
          <a:ext cx="17637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3" name="Equation" r:id="rId9" imgW="16764000" imgH="4876800" progId="Equation.DSMT4">
                  <p:embed/>
                </p:oleObj>
              </mc:Choice>
              <mc:Fallback>
                <p:oleObj name="Equation" r:id="rId9" imgW="16764000" imgH="4876800" progId="Equation.DSMT4">
                  <p:embed/>
                  <p:pic>
                    <p:nvPicPr>
                      <p:cNvPr id="0" name="图片 87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0500" y="6374209"/>
                        <a:ext cx="1763713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898481" y="5965576"/>
          <a:ext cx="4175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4" name="Equation" r:id="rId11" imgW="3962400" imgH="4572000" progId="Equation.DSMT4">
                  <p:embed/>
                </p:oleObj>
              </mc:Choice>
              <mc:Fallback>
                <p:oleObj name="Equation" r:id="rId11" imgW="3962400" imgH="4572000" progId="Equation.DSMT4">
                  <p:embed/>
                  <p:pic>
                    <p:nvPicPr>
                      <p:cNvPr id="0" name="图片 876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98481" y="5965576"/>
                        <a:ext cx="417512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10456" y="5920715"/>
          <a:ext cx="44926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5" name="Equation" r:id="rId13" imgW="4267200" imgH="3962400" progId="Equation.DSMT4">
                  <p:embed/>
                </p:oleObj>
              </mc:Choice>
              <mc:Fallback>
                <p:oleObj name="Equation" r:id="rId13" imgW="4267200" imgH="3962400" progId="Equation.DSMT4">
                  <p:embed/>
                  <p:pic>
                    <p:nvPicPr>
                      <p:cNvPr id="0" name="图片 876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10456" y="5920715"/>
                        <a:ext cx="44926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en-US" dirty="0" smtClean="0"/>
              <a:t>基本</a:t>
            </a:r>
            <a:r>
              <a:rPr lang="zh-CN" altLang="en-US" dirty="0"/>
              <a:t>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36712"/>
            <a:ext cx="7920880" cy="5832648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分类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预测的是离散</a:t>
            </a:r>
            <a:r>
              <a:rPr lang="zh-CN" altLang="en-US" dirty="0" smtClean="0">
                <a:latin typeface="+mn-ea"/>
              </a:rPr>
              <a:t>值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标记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二</a:t>
            </a:r>
            <a:r>
              <a:rPr lang="zh-CN" altLang="en-US" dirty="0" smtClean="0">
                <a:latin typeface="+mn-ea"/>
              </a:rPr>
              <a:t>分类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只</a:t>
            </a:r>
            <a:r>
              <a:rPr lang="zh-CN" altLang="en-US" dirty="0">
                <a:latin typeface="+mn-ea"/>
              </a:rPr>
              <a:t>涉及两个</a:t>
            </a:r>
            <a:r>
              <a:rPr lang="zh-CN" altLang="en-US" dirty="0" smtClean="0">
                <a:latin typeface="+mn-ea"/>
              </a:rPr>
              <a:t>类别，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正类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反类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多</a:t>
            </a:r>
            <a:r>
              <a:rPr lang="zh-CN" altLang="en-US" dirty="0" smtClean="0">
                <a:latin typeface="+mn-ea"/>
              </a:rPr>
              <a:t>分类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涉及多个类别，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回归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预测的是连续</a:t>
            </a:r>
            <a:r>
              <a:rPr lang="zh-CN" altLang="en-US" dirty="0" smtClean="0">
                <a:latin typeface="+mn-ea"/>
              </a:rPr>
              <a:t>值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标记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测试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使用模型进行</a:t>
            </a:r>
            <a:r>
              <a:rPr lang="zh-CN" altLang="en-US" dirty="0">
                <a:latin typeface="+mn-ea"/>
              </a:rPr>
              <a:t>预测的</a:t>
            </a:r>
            <a:r>
              <a:rPr lang="zh-CN" altLang="en-US" dirty="0" smtClean="0">
                <a:latin typeface="+mn-ea"/>
              </a:rPr>
              <a:t>过程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测试样本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被预测的</a:t>
            </a:r>
            <a:r>
              <a:rPr lang="zh-CN" altLang="en-US" dirty="0" smtClean="0">
                <a:latin typeface="+mn-ea"/>
              </a:rPr>
              <a:t>样本，预测标记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475163" y="2187575"/>
          <a:ext cx="106203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7" name="Equation" r:id="rId1" imgW="14325600" imgH="4876800" progId="Equation.DSMT4">
                  <p:embed/>
                </p:oleObj>
              </mc:Choice>
              <mc:Fallback>
                <p:oleObj name="Equation" r:id="rId1" imgW="14325600" imgH="4876800" progId="Equation.DSMT4">
                  <p:embed/>
                  <p:pic>
                    <p:nvPicPr>
                      <p:cNvPr id="0" name="图片 94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75163" y="2187575"/>
                        <a:ext cx="1062037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275138" y="3449638"/>
          <a:ext cx="8128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" name="Equation" r:id="rId3" imgW="10972800" imgH="4876800" progId="Equation.DSMT4">
                  <p:embed/>
                </p:oleObj>
              </mc:Choice>
              <mc:Fallback>
                <p:oleObj name="Equation" r:id="rId3" imgW="10972800" imgH="4876800" progId="Equation.DSMT4">
                  <p:embed/>
                  <p:pic>
                    <p:nvPicPr>
                      <p:cNvPr id="0" name="图片 94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5138" y="3449638"/>
                        <a:ext cx="812800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14963" y="4265613"/>
          <a:ext cx="914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Equation" r:id="rId5" imgW="10058400" imgH="4572000" progId="Equation.DSMT4">
                  <p:embed/>
                </p:oleObj>
              </mc:Choice>
              <mc:Fallback>
                <p:oleObj name="Equation" r:id="rId5" imgW="10058400" imgH="4572000" progId="Equation.DSMT4">
                  <p:embed/>
                  <p:pic>
                    <p:nvPicPr>
                      <p:cNvPr id="0" name="图片 94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4963" y="4265613"/>
                        <a:ext cx="9144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519738" y="6092825"/>
          <a:ext cx="12985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0" name="Equation" r:id="rId7" imgW="14325600" imgH="4876800" progId="Equation.DSMT4">
                  <p:embed/>
                </p:oleObj>
              </mc:Choice>
              <mc:Fallback>
                <p:oleObj name="Equation" r:id="rId7" imgW="14325600" imgH="4876800" progId="Equation.DSMT4">
                  <p:embed/>
                  <p:pic>
                    <p:nvPicPr>
                      <p:cNvPr id="0" name="图片 94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9738" y="6092825"/>
                        <a:ext cx="1298575" cy="44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基本术语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354216"/>
          </a:xfrm>
        </p:spPr>
        <p:txBody>
          <a:bodyPr/>
          <a:lstStyle/>
          <a:p>
            <a:r>
              <a:rPr lang="zh-CN" altLang="en-US" dirty="0" smtClean="0"/>
              <a:t>聚类</a:t>
            </a:r>
            <a:endParaRPr lang="en-US" altLang="zh-CN" dirty="0" smtClean="0"/>
          </a:p>
          <a:p>
            <a:pPr lvl="1"/>
            <a:r>
              <a:rPr lang="zh-CN" altLang="en-US" dirty="0"/>
              <a:t>学习过程中使用的</a:t>
            </a:r>
            <a:r>
              <a:rPr lang="zh-CN" altLang="en-US" dirty="0" smtClean="0"/>
              <a:t>训练样本不</a:t>
            </a:r>
            <a:r>
              <a:rPr lang="zh-CN" altLang="en-US" dirty="0"/>
              <a:t>拥有标记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概念事先</a:t>
            </a:r>
            <a:r>
              <a:rPr lang="zh-CN" altLang="en-US" dirty="0"/>
              <a:t>是</a:t>
            </a:r>
            <a:r>
              <a:rPr lang="zh-CN" altLang="en-US" dirty="0" smtClean="0"/>
              <a:t>不知道</a:t>
            </a:r>
            <a:endParaRPr lang="en-US" altLang="zh-CN" dirty="0" smtClean="0"/>
          </a:p>
          <a:p>
            <a:pPr lvl="1"/>
            <a:r>
              <a:rPr lang="zh-CN" altLang="en-US" dirty="0"/>
              <a:t>将训练集中</a:t>
            </a:r>
            <a:r>
              <a:rPr lang="zh-CN" altLang="en-US" dirty="0" smtClean="0"/>
              <a:t>的样本</a:t>
            </a:r>
            <a:r>
              <a:rPr lang="zh-CN" altLang="en-US" dirty="0"/>
              <a:t>自动</a:t>
            </a:r>
            <a:r>
              <a:rPr lang="zh-CN" altLang="en-US" dirty="0" smtClean="0"/>
              <a:t>分成若干组</a:t>
            </a:r>
            <a:r>
              <a:rPr lang="zh-CN" altLang="en-US" dirty="0"/>
              <a:t>，每组称为一个</a:t>
            </a:r>
            <a:r>
              <a:rPr lang="zh-CN" altLang="en-US" dirty="0" smtClean="0"/>
              <a:t>“簇”，对应</a:t>
            </a:r>
            <a:r>
              <a:rPr lang="zh-CN" altLang="en-US" dirty="0"/>
              <a:t>一些潜在的概念</a:t>
            </a:r>
            <a:r>
              <a:rPr lang="zh-CN" altLang="en-US" dirty="0" smtClean="0"/>
              <a:t>划分</a:t>
            </a:r>
            <a:endParaRPr lang="en-US" altLang="zh-CN" dirty="0" smtClean="0"/>
          </a:p>
          <a:p>
            <a:r>
              <a:rPr lang="zh-CN" altLang="en-US" dirty="0" smtClean="0"/>
              <a:t>监督学习、无监督学习</a:t>
            </a:r>
            <a:endParaRPr lang="en-US" altLang="zh-CN" dirty="0" smtClean="0"/>
          </a:p>
          <a:p>
            <a:pPr lvl="1"/>
            <a:r>
              <a:rPr lang="zh-CN" altLang="en-US" dirty="0"/>
              <a:t>根据训练数据是否拥有标记信息</a:t>
            </a:r>
            <a:endParaRPr lang="en-US" altLang="zh-CN" dirty="0"/>
          </a:p>
          <a:p>
            <a:r>
              <a:rPr lang="zh-CN" altLang="en-US" dirty="0" smtClean="0"/>
              <a:t>泛化能力</a:t>
            </a:r>
            <a:endParaRPr lang="en-US" altLang="zh-CN" dirty="0" smtClean="0"/>
          </a:p>
          <a:p>
            <a:pPr lvl="1"/>
            <a:r>
              <a:rPr lang="zh-CN" altLang="en-US" dirty="0"/>
              <a:t>学</a:t>
            </a:r>
            <a:r>
              <a:rPr lang="zh-CN" altLang="en-US" dirty="0" smtClean="0"/>
              <a:t>得的模型适用于新</a:t>
            </a:r>
            <a:r>
              <a:rPr lang="zh-CN" altLang="en-US" dirty="0"/>
              <a:t>样本的</a:t>
            </a:r>
            <a:r>
              <a:rPr lang="zh-CN" altLang="en-US" dirty="0" smtClean="0"/>
              <a:t>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机器学习</a:t>
            </a:r>
            <a:r>
              <a:rPr lang="zh-CN" altLang="en-US" dirty="0"/>
              <a:t>的目标是使学得的模型能很好地适用于</a:t>
            </a:r>
            <a:r>
              <a:rPr lang="zh-CN" altLang="en-US" dirty="0" smtClean="0"/>
              <a:t>“新样本”</a:t>
            </a:r>
            <a:endParaRPr lang="en-US" altLang="zh-CN" dirty="0" smtClean="0"/>
          </a:p>
          <a:p>
            <a:pPr lvl="1"/>
            <a:r>
              <a:rPr lang="zh-CN" altLang="en-US" dirty="0"/>
              <a:t>具有强泛化能力的模型</a:t>
            </a:r>
            <a:r>
              <a:rPr lang="zh-CN" altLang="en-US" dirty="0" smtClean="0"/>
              <a:t>能很好适用整个</a:t>
            </a:r>
            <a:r>
              <a:rPr lang="zh-CN" altLang="en-US" dirty="0"/>
              <a:t>样本空间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基本术语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2" y="1124744"/>
            <a:ext cx="9135137" cy="5140561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 </a:t>
            </a:r>
            <a:r>
              <a:rPr lang="zh-CN" altLang="en-US" dirty="0"/>
              <a:t>假设</a:t>
            </a:r>
            <a:r>
              <a:rPr lang="zh-CN" altLang="en-US" dirty="0" smtClean="0"/>
              <a:t>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482952"/>
          </a:xfrm>
        </p:spPr>
        <p:txBody>
          <a:bodyPr/>
          <a:lstStyle/>
          <a:p>
            <a:r>
              <a:rPr lang="zh-CN" altLang="en-US" dirty="0" smtClean="0"/>
              <a:t>演绎与</a:t>
            </a:r>
            <a:r>
              <a:rPr lang="zh-CN" altLang="en-US" dirty="0"/>
              <a:t>归纳</a:t>
            </a:r>
            <a:r>
              <a:rPr lang="zh-CN" altLang="en-US" dirty="0" smtClean="0"/>
              <a:t>是</a:t>
            </a:r>
            <a:r>
              <a:rPr lang="zh-CN" altLang="en-US" dirty="0"/>
              <a:t>科学推理的两大基本</a:t>
            </a:r>
            <a:r>
              <a:rPr lang="zh-CN" altLang="en-US" dirty="0" smtClean="0"/>
              <a:t>手段</a:t>
            </a:r>
            <a:endParaRPr lang="en-US" altLang="zh-CN" dirty="0" smtClean="0"/>
          </a:p>
          <a:p>
            <a:pPr lvl="1"/>
            <a:r>
              <a:rPr lang="zh-CN" altLang="en-US" dirty="0"/>
              <a:t>一般 → 特殊，特化，</a:t>
            </a:r>
            <a:r>
              <a:rPr lang="zh-CN" altLang="en-US" dirty="0" smtClean="0"/>
              <a:t>演绎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特殊 </a:t>
            </a:r>
            <a:r>
              <a:rPr lang="zh-CN" altLang="en-US" dirty="0"/>
              <a:t>→ </a:t>
            </a:r>
            <a:r>
              <a:rPr lang="zh-CN" altLang="en-US" dirty="0" smtClean="0"/>
              <a:t>一般，泛化，归纳</a:t>
            </a:r>
            <a:endParaRPr lang="en-US" altLang="zh-CN" dirty="0" smtClean="0"/>
          </a:p>
          <a:p>
            <a:pPr lvl="2"/>
            <a:r>
              <a:rPr lang="zh-CN" altLang="en-US" dirty="0"/>
              <a:t>从样例中学习亦称</a:t>
            </a:r>
            <a:r>
              <a:rPr lang="zh-CN" altLang="en-US" dirty="0" smtClean="0"/>
              <a:t>归纳学习</a:t>
            </a:r>
            <a:endParaRPr lang="en-US" altLang="zh-CN" dirty="0" smtClean="0"/>
          </a:p>
          <a:p>
            <a:pPr lvl="3"/>
            <a:r>
              <a:rPr lang="zh-CN" altLang="en-US" dirty="0"/>
              <a:t>广义，从样例中</a:t>
            </a:r>
            <a:r>
              <a:rPr lang="zh-CN" altLang="en-US" dirty="0" smtClean="0"/>
              <a:t>学习</a:t>
            </a:r>
            <a:endParaRPr lang="en-US" altLang="zh-CN" dirty="0" smtClean="0"/>
          </a:p>
          <a:p>
            <a:pPr lvl="3"/>
            <a:r>
              <a:rPr lang="zh-CN" altLang="en-US" dirty="0"/>
              <a:t>狭义，从训练数据中学得</a:t>
            </a:r>
            <a:r>
              <a:rPr lang="zh-CN" altLang="en-US" dirty="0" smtClean="0"/>
              <a:t>概念，</a:t>
            </a:r>
            <a:r>
              <a:rPr lang="zh-CN" altLang="en-US" dirty="0" smtClean="0">
                <a:latin typeface="+mn-ea"/>
              </a:rPr>
              <a:t>概念学习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形成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概念学习</a:t>
            </a:r>
            <a:r>
              <a:rPr lang="zh-CN" altLang="en-US" dirty="0">
                <a:latin typeface="+mn-ea"/>
              </a:rPr>
              <a:t>技术目前</a:t>
            </a:r>
            <a:r>
              <a:rPr lang="zh-CN" altLang="en-US" dirty="0" smtClean="0">
                <a:latin typeface="+mn-ea"/>
              </a:rPr>
              <a:t>研究和应用</a:t>
            </a:r>
            <a:r>
              <a:rPr lang="zh-CN" altLang="en-US" dirty="0">
                <a:latin typeface="+mn-ea"/>
              </a:rPr>
              <a:t>都比较少，因为要学</a:t>
            </a:r>
            <a:r>
              <a:rPr lang="zh-CN" altLang="en-US" dirty="0" smtClean="0">
                <a:latin typeface="+mn-ea"/>
              </a:rPr>
              <a:t>得泛化</a:t>
            </a:r>
            <a:r>
              <a:rPr lang="zh-CN" altLang="en-US" dirty="0">
                <a:latin typeface="+mn-ea"/>
              </a:rPr>
              <a:t>性能好且语义明确的</a:t>
            </a:r>
            <a:r>
              <a:rPr lang="zh-CN" altLang="en-US" dirty="0" smtClean="0">
                <a:latin typeface="+mn-ea"/>
              </a:rPr>
              <a:t>概念太困难</a:t>
            </a:r>
            <a:endParaRPr lang="en-US" altLang="zh-CN" dirty="0" smtClean="0">
              <a:latin typeface="+mn-ea"/>
            </a:endParaRPr>
          </a:p>
          <a:p>
            <a:pPr lvl="5"/>
            <a:r>
              <a:rPr lang="zh-CN" altLang="en-US" dirty="0" smtClean="0">
                <a:latin typeface="+mn-ea"/>
              </a:rPr>
              <a:t>现实</a:t>
            </a:r>
            <a:r>
              <a:rPr lang="zh-CN" altLang="en-US" dirty="0">
                <a:latin typeface="+mn-ea"/>
              </a:rPr>
              <a:t>常用的技术大多是</a:t>
            </a:r>
            <a:r>
              <a:rPr lang="zh-CN" altLang="en-US" dirty="0" smtClean="0">
                <a:latin typeface="+mn-ea"/>
              </a:rPr>
              <a:t>产生黑箱模型</a:t>
            </a:r>
            <a:endParaRPr lang="en-US" altLang="zh-CN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 </a:t>
            </a:r>
            <a:r>
              <a:rPr lang="zh-CN" altLang="en-US" dirty="0"/>
              <a:t>假设</a:t>
            </a:r>
            <a:r>
              <a:rPr lang="zh-CN" altLang="en-US" dirty="0" smtClean="0"/>
              <a:t>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4"/>
            <a:ext cx="7772400" cy="5482952"/>
          </a:xfrm>
        </p:spPr>
        <p:txBody>
          <a:bodyPr/>
          <a:lstStyle/>
          <a:p>
            <a:pPr hangingPunct="0"/>
            <a:r>
              <a:rPr lang="zh-CN" altLang="en-US" dirty="0" smtClean="0">
                <a:latin typeface="+mn-ea"/>
              </a:rPr>
              <a:t>学习过程</a:t>
            </a:r>
            <a:r>
              <a:rPr lang="zh-CN" altLang="en-US" dirty="0" smtClean="0">
                <a:latin typeface="+mn-ea"/>
              </a:rPr>
              <a:t>可看成在</a:t>
            </a:r>
            <a:r>
              <a:rPr lang="zh-CN" altLang="en-US" dirty="0">
                <a:latin typeface="+mn-ea"/>
              </a:rPr>
              <a:t>所有</a:t>
            </a:r>
            <a:r>
              <a:rPr lang="zh-CN" altLang="en-US" dirty="0" smtClean="0">
                <a:latin typeface="+mn-ea"/>
              </a:rPr>
              <a:t>假设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概念、模式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/>
              <a:t>组成的空间中进行搜索的</a:t>
            </a:r>
            <a:r>
              <a:rPr lang="zh-CN" altLang="en-US" dirty="0" smtClean="0"/>
              <a:t>过程</a:t>
            </a:r>
            <a:endParaRPr lang="en-US" altLang="zh-CN" dirty="0" smtClean="0"/>
          </a:p>
          <a:p>
            <a:pPr lvl="1" hangingPunct="0"/>
            <a:r>
              <a:rPr lang="zh-CN" altLang="en-US" dirty="0"/>
              <a:t>假设空间</a:t>
            </a:r>
            <a:endParaRPr lang="en-US" altLang="zh-CN" dirty="0"/>
          </a:p>
          <a:p>
            <a:pPr lvl="2" hangingPunct="0"/>
            <a:r>
              <a:rPr lang="zh-CN" altLang="en-US" dirty="0"/>
              <a:t>由特征的可能取值所形成的假设</a:t>
            </a:r>
            <a:r>
              <a:rPr lang="zh-CN" altLang="en-US" dirty="0" smtClean="0"/>
              <a:t>组成</a:t>
            </a:r>
            <a:endParaRPr lang="en-US" altLang="zh-CN" dirty="0" smtClean="0"/>
          </a:p>
          <a:p>
            <a:pPr lvl="2" hangingPunct="0"/>
            <a:r>
              <a:rPr lang="zh-CN" altLang="en-US" dirty="0"/>
              <a:t>假设的表示一旦确定，假设空间及其规模大小就确定了</a:t>
            </a:r>
            <a:endParaRPr lang="en-US" altLang="zh-CN" dirty="0"/>
          </a:p>
          <a:p>
            <a:pPr lvl="1" hangingPunct="0"/>
            <a:r>
              <a:rPr lang="zh-CN" altLang="en-US" dirty="0" smtClean="0"/>
              <a:t>搜索</a:t>
            </a:r>
            <a:r>
              <a:rPr lang="zh-CN" altLang="en-US" dirty="0"/>
              <a:t>目标是找到与</a:t>
            </a:r>
            <a:r>
              <a:rPr lang="zh-CN" altLang="en-US" dirty="0" smtClean="0"/>
              <a:t>训练集匹配的</a:t>
            </a:r>
            <a:r>
              <a:rPr lang="zh-CN" altLang="en-US" dirty="0"/>
              <a:t>假设，即能够将训练集中</a:t>
            </a:r>
            <a:r>
              <a:rPr lang="zh-CN" altLang="en-US" dirty="0" smtClean="0"/>
              <a:t>的示例判断</a:t>
            </a:r>
            <a:r>
              <a:rPr lang="zh-CN" altLang="en-US" dirty="0"/>
              <a:t>正确的</a:t>
            </a:r>
            <a:r>
              <a:rPr lang="zh-CN" altLang="en-US" dirty="0" smtClean="0"/>
              <a:t>假设</a:t>
            </a:r>
            <a:endParaRPr lang="en-US" altLang="zh-CN" dirty="0" smtClean="0"/>
          </a:p>
          <a:p>
            <a:pPr lvl="2" hangingPunct="0"/>
            <a:r>
              <a:rPr lang="zh-CN" altLang="en-US" dirty="0"/>
              <a:t>可以有许多策略</a:t>
            </a:r>
            <a:r>
              <a:rPr lang="zh-CN" altLang="en-US" dirty="0" smtClean="0"/>
              <a:t>对假设</a:t>
            </a:r>
            <a:r>
              <a:rPr lang="zh-CN" altLang="en-US" dirty="0"/>
              <a:t>空间进行</a:t>
            </a:r>
            <a:r>
              <a:rPr lang="zh-CN" altLang="en-US" dirty="0" smtClean="0"/>
              <a:t>搜索</a:t>
            </a:r>
            <a:endParaRPr lang="en-US" altLang="zh-CN" dirty="0" smtClean="0"/>
          </a:p>
          <a:p>
            <a:pPr lvl="3" hangingPunct="0"/>
            <a:r>
              <a:rPr lang="zh-CN" altLang="en-US" dirty="0" smtClean="0"/>
              <a:t>自顶向下</a:t>
            </a:r>
            <a:r>
              <a:rPr lang="zh-CN" altLang="en-US" dirty="0"/>
              <a:t>、从一般到</a:t>
            </a:r>
            <a:r>
              <a:rPr lang="zh-CN" altLang="en-US" dirty="0" smtClean="0"/>
              <a:t>特殊</a:t>
            </a:r>
            <a:endParaRPr lang="en-US" altLang="zh-CN" dirty="0" smtClean="0"/>
          </a:p>
          <a:p>
            <a:pPr lvl="3" hangingPunct="0"/>
            <a:r>
              <a:rPr lang="zh-CN" altLang="en-US" dirty="0" smtClean="0"/>
              <a:t>自底向上</a:t>
            </a:r>
            <a:r>
              <a:rPr lang="zh-CN" altLang="en-US" dirty="0"/>
              <a:t>、从特殊到</a:t>
            </a:r>
            <a:r>
              <a:rPr lang="zh-CN" altLang="en-US" dirty="0" smtClean="0"/>
              <a:t>一般</a:t>
            </a:r>
            <a:endParaRPr lang="en-US" altLang="zh-CN" dirty="0" smtClean="0"/>
          </a:p>
          <a:p>
            <a:pPr lvl="3" hangingPunct="0"/>
            <a:r>
              <a:rPr lang="zh-CN" altLang="en-US" dirty="0" smtClean="0"/>
              <a:t>搜索</a:t>
            </a:r>
            <a:r>
              <a:rPr lang="zh-CN" altLang="en-US" dirty="0"/>
              <a:t>过程中可以不断删除与正例不一致的假设、</a:t>
            </a:r>
            <a:r>
              <a:rPr lang="zh-CN" altLang="en-US" dirty="0" smtClean="0"/>
              <a:t>和与</a:t>
            </a:r>
            <a:r>
              <a:rPr lang="zh-CN" altLang="en-US" dirty="0"/>
              <a:t>反例一致的</a:t>
            </a:r>
            <a:r>
              <a:rPr lang="zh-CN" altLang="en-US" dirty="0" smtClean="0"/>
              <a:t>假设</a:t>
            </a:r>
            <a:endParaRPr lang="en-US" altLang="zh-CN" dirty="0" smtClean="0"/>
          </a:p>
          <a:p>
            <a:pPr lvl="4" hangingPunct="0"/>
            <a:r>
              <a:rPr lang="zh-CN" altLang="en-US" dirty="0" smtClean="0"/>
              <a:t>最终获得</a:t>
            </a:r>
            <a:r>
              <a:rPr lang="zh-CN" altLang="en-US" dirty="0"/>
              <a:t>与训练集</a:t>
            </a:r>
            <a:r>
              <a:rPr lang="zh-CN" altLang="en-US" dirty="0" smtClean="0"/>
              <a:t>一致，即</a:t>
            </a:r>
            <a:r>
              <a:rPr lang="zh-CN" altLang="en-US" dirty="0"/>
              <a:t>对所有训练样本能够进行正确</a:t>
            </a:r>
            <a:r>
              <a:rPr lang="zh-CN" altLang="en-US" dirty="0" smtClean="0"/>
              <a:t>判断的</a:t>
            </a:r>
            <a:r>
              <a:rPr lang="zh-CN" altLang="en-US" dirty="0"/>
              <a:t>假设，这</a:t>
            </a:r>
            <a:r>
              <a:rPr lang="zh-CN" altLang="en-US" dirty="0" smtClean="0"/>
              <a:t>就是学</a:t>
            </a:r>
            <a:r>
              <a:rPr lang="zh-CN" altLang="en-US" dirty="0"/>
              <a:t>得的结果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假设空间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版本空间</a:t>
            </a:r>
            <a:endParaRPr lang="en-US" altLang="zh-CN" dirty="0" smtClean="0"/>
          </a:p>
          <a:p>
            <a:pPr lvl="1"/>
            <a:r>
              <a:rPr lang="zh-CN" altLang="en-US" dirty="0"/>
              <a:t>学习过程是基于有限样本训练集进行的</a:t>
            </a:r>
            <a:r>
              <a:rPr lang="zh-CN" altLang="en-US" dirty="0" smtClean="0"/>
              <a:t>，可能</a:t>
            </a:r>
            <a:r>
              <a:rPr lang="zh-CN" altLang="en-US" dirty="0"/>
              <a:t>有多个假设与训练集一致，即存在着一个与训练集一致</a:t>
            </a:r>
            <a:r>
              <a:rPr lang="zh-CN" altLang="en-US" dirty="0" smtClean="0"/>
              <a:t>的假设集合，称为版本空间</a:t>
            </a:r>
            <a:endParaRPr lang="en-US" altLang="zh-CN" dirty="0" smtClean="0"/>
          </a:p>
          <a:p>
            <a:r>
              <a:rPr lang="zh-CN" altLang="en-US" dirty="0" smtClean="0"/>
              <a:t>问题</a:t>
            </a:r>
            <a:endParaRPr lang="en-US" altLang="zh-CN" dirty="0" smtClean="0"/>
          </a:p>
          <a:p>
            <a:pPr lvl="1"/>
            <a:r>
              <a:rPr lang="zh-CN" altLang="en-US" dirty="0"/>
              <a:t>在</a:t>
            </a:r>
            <a:r>
              <a:rPr lang="zh-CN" altLang="en-US" dirty="0" smtClean="0"/>
              <a:t>面对新</a:t>
            </a:r>
            <a:r>
              <a:rPr lang="zh-CN" altLang="en-US" dirty="0"/>
              <a:t>样本时</a:t>
            </a:r>
            <a:r>
              <a:rPr lang="zh-CN" altLang="en-US" dirty="0" smtClean="0"/>
              <a:t>，不同的假设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模型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会</a:t>
            </a:r>
            <a:r>
              <a:rPr lang="zh-CN" altLang="en-US" dirty="0"/>
              <a:t>产生不同的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1"/>
            <a:r>
              <a:rPr lang="zh-CN" altLang="en-US" dirty="0">
                <a:latin typeface="+mn-ea"/>
              </a:rPr>
              <a:t>应该采用哪一</a:t>
            </a:r>
            <a:r>
              <a:rPr lang="zh-CN" altLang="en-US" dirty="0" smtClean="0">
                <a:latin typeface="+mn-ea"/>
              </a:rPr>
              <a:t>个模型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假设</a:t>
            </a:r>
            <a:r>
              <a:rPr lang="en-US" altLang="zh-CN" dirty="0" smtClean="0">
                <a:latin typeface="+mn-ea"/>
              </a:rPr>
              <a:t>)</a:t>
            </a:r>
            <a:endParaRPr lang="zh-CN" altLang="en-US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11040"/>
          <a:stretch>
            <a:fillRect/>
          </a:stretch>
        </p:blipFill>
        <p:spPr>
          <a:xfrm>
            <a:off x="2229325" y="4581128"/>
            <a:ext cx="4646931" cy="2232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 </a:t>
            </a:r>
            <a:r>
              <a:rPr lang="zh-CN" altLang="en-US" dirty="0" smtClean="0"/>
              <a:t>归纳</a:t>
            </a:r>
            <a:r>
              <a:rPr lang="zh-CN" altLang="en-US" dirty="0"/>
              <a:t>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83096"/>
            <a:ext cx="7772400" cy="5354216"/>
          </a:xfrm>
        </p:spPr>
        <p:txBody>
          <a:bodyPr/>
          <a:lstStyle/>
          <a:p>
            <a:r>
              <a:rPr lang="zh-CN" altLang="en-US" dirty="0"/>
              <a:t>归纳偏好</a:t>
            </a:r>
            <a:endParaRPr lang="en-US" altLang="zh-CN" dirty="0" smtClean="0"/>
          </a:p>
          <a:p>
            <a:pPr lvl="1"/>
            <a:r>
              <a:rPr lang="zh-CN" altLang="en-US" dirty="0"/>
              <a:t>对于一个具体的学习算法而言，它必须要产生一个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随机选择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学</a:t>
            </a:r>
            <a:r>
              <a:rPr lang="zh-CN" altLang="en-US" dirty="0"/>
              <a:t>得模型</a:t>
            </a:r>
            <a:r>
              <a:rPr lang="zh-CN" altLang="en-US" dirty="0" smtClean="0"/>
              <a:t>时而判断是</a:t>
            </a:r>
            <a:r>
              <a:rPr lang="zh-CN" altLang="en-US" dirty="0"/>
              <a:t>好的、</a:t>
            </a:r>
            <a:r>
              <a:rPr lang="zh-CN" altLang="en-US" dirty="0" smtClean="0"/>
              <a:t>时而判断是</a:t>
            </a:r>
            <a:r>
              <a:rPr lang="zh-CN" altLang="en-US" dirty="0"/>
              <a:t>不好的，这样的学习</a:t>
            </a:r>
            <a:r>
              <a:rPr lang="zh-CN" altLang="en-US" dirty="0" smtClean="0"/>
              <a:t>结果没有意义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基于偏好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机器学习算法</a:t>
            </a:r>
            <a:r>
              <a:rPr lang="zh-CN" altLang="en-US" dirty="0"/>
              <a:t>在学习过程中对某种类型假设的</a:t>
            </a:r>
            <a:r>
              <a:rPr lang="zh-CN" altLang="en-US" dirty="0" smtClean="0"/>
              <a:t>偏好，称为</a:t>
            </a:r>
            <a:r>
              <a:rPr lang="zh-CN" altLang="en-US" dirty="0"/>
              <a:t>归纳偏好</a:t>
            </a:r>
            <a:endParaRPr lang="en-US" altLang="zh-CN" dirty="0"/>
          </a:p>
          <a:p>
            <a:pPr lvl="2"/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1.4 </a:t>
            </a:r>
            <a:r>
              <a:rPr lang="zh-CN" altLang="en-US" dirty="0" smtClean="0"/>
              <a:t>归纳</a:t>
            </a:r>
            <a:r>
              <a:rPr lang="zh-CN" altLang="en-US" dirty="0"/>
              <a:t>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883096"/>
            <a:ext cx="7772400" cy="5354216"/>
          </a:xfrm>
        </p:spPr>
        <p:txBody>
          <a:bodyPr/>
          <a:lstStyle/>
          <a:p>
            <a:r>
              <a:rPr lang="zh-CN" altLang="en-US" dirty="0"/>
              <a:t>归纳偏好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如何</a:t>
            </a:r>
            <a:r>
              <a:rPr lang="zh-CN" altLang="en-US" dirty="0" smtClean="0">
                <a:latin typeface="+mn-ea"/>
              </a:rPr>
              <a:t>确立正确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更好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的假设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模型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奥</a:t>
            </a:r>
            <a:r>
              <a:rPr lang="zh-CN" altLang="en-US" dirty="0">
                <a:latin typeface="+mn-ea"/>
              </a:rPr>
              <a:t>卡姆</a:t>
            </a:r>
            <a:r>
              <a:rPr lang="zh-CN" altLang="en-US" dirty="0" smtClean="0">
                <a:latin typeface="+mn-ea"/>
              </a:rPr>
              <a:t>剃刀原则，</a:t>
            </a:r>
            <a:r>
              <a:rPr lang="zh-CN" altLang="en-US" dirty="0">
                <a:latin typeface="+mn-ea"/>
              </a:rPr>
              <a:t>若有多个假设与观察一致，则选</a:t>
            </a:r>
            <a:r>
              <a:rPr lang="zh-CN" altLang="en-US" dirty="0" smtClean="0">
                <a:latin typeface="+mn-ea"/>
              </a:rPr>
              <a:t>最简单的</a:t>
            </a:r>
            <a:r>
              <a:rPr lang="zh-CN" altLang="en-US" dirty="0" smtClean="0">
                <a:latin typeface="+mn-ea"/>
              </a:rPr>
              <a:t>那个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在具体的现实问题中</a:t>
            </a:r>
            <a:r>
              <a:rPr lang="zh-CN" altLang="en-US" dirty="0" smtClean="0">
                <a:latin typeface="+mn-ea"/>
              </a:rPr>
              <a:t>，假设</a:t>
            </a:r>
            <a:r>
              <a:rPr lang="zh-CN" altLang="en-US" dirty="0">
                <a:latin typeface="+mn-ea"/>
              </a:rPr>
              <a:t>是否成立，即算法的归纳偏好是否与问题本身匹配，大多数时候直接决定了算法能否取得好的性能</a:t>
            </a:r>
            <a:endParaRPr lang="en-US" altLang="zh-CN" dirty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b="11040"/>
          <a:stretch>
            <a:fillRect/>
          </a:stretch>
        </p:blipFill>
        <p:spPr>
          <a:xfrm>
            <a:off x="1547664" y="3789040"/>
            <a:ext cx="5846786" cy="2808312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归纳偏好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970383"/>
            <a:ext cx="7776864" cy="4848449"/>
          </a:xfrm>
        </p:spPr>
        <p:txBody>
          <a:bodyPr/>
          <a:lstStyle/>
          <a:p>
            <a:r>
              <a:rPr lang="zh-CN" altLang="en-US" dirty="0" smtClean="0"/>
              <a:t>哪种学习算法更好归纳出更好的模型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好的归纳偏好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模型的泛化能力更强</a:t>
            </a:r>
            <a:endParaRPr lang="en-US" altLang="zh-CN" dirty="0" smtClean="0"/>
          </a:p>
          <a:p>
            <a:r>
              <a:rPr lang="zh-CN" altLang="en-US" dirty="0" smtClean="0"/>
              <a:t>没有</a:t>
            </a:r>
            <a:r>
              <a:rPr lang="zh-CN" altLang="en-US" dirty="0"/>
              <a:t>免费的</a:t>
            </a:r>
            <a:r>
              <a:rPr lang="zh-CN" altLang="en-US" dirty="0" smtClean="0">
                <a:latin typeface="+mn-ea"/>
              </a:rPr>
              <a:t>午餐定理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smtClean="0">
                <a:latin typeface="+mn-ea"/>
              </a:rPr>
              <a:t>NFL</a:t>
            </a:r>
            <a:r>
              <a:rPr lang="zh-CN" altLang="en-US" dirty="0" smtClean="0">
                <a:latin typeface="+mn-ea"/>
              </a:rPr>
              <a:t>定理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比如一</a:t>
            </a:r>
            <a:r>
              <a:rPr lang="zh-CN" altLang="en-US" dirty="0">
                <a:latin typeface="+mn-ea"/>
              </a:rPr>
              <a:t>个算法 </a:t>
            </a:r>
            <a:r>
              <a:rPr lang="zh-CN" altLang="en-US" dirty="0" smtClean="0">
                <a:latin typeface="+mn-ea"/>
              </a:rPr>
              <a:t> 若</a:t>
            </a:r>
            <a:r>
              <a:rPr lang="zh-CN" altLang="en-US" dirty="0">
                <a:latin typeface="+mn-ea"/>
              </a:rPr>
              <a:t>在某些问题上比另一个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</a:rPr>
              <a:t>好</a:t>
            </a:r>
            <a:r>
              <a:rPr lang="zh-CN" altLang="en-US" dirty="0" smtClean="0">
                <a:latin typeface="+mn-ea"/>
              </a:rPr>
              <a:t>好，必存在另</a:t>
            </a:r>
            <a:r>
              <a:rPr lang="zh-CN" altLang="en-US" dirty="0">
                <a:latin typeface="+mn-ea"/>
              </a:rPr>
              <a:t>一些问题， </a:t>
            </a:r>
            <a:r>
              <a:rPr lang="zh-CN" altLang="en-US" dirty="0" smtClean="0">
                <a:latin typeface="+mn-ea"/>
              </a:rPr>
              <a:t> 比   好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126492" y="4005064"/>
            <a:ext cx="8891015" cy="2232248"/>
            <a:chOff x="124260" y="4149080"/>
            <a:chExt cx="8891015" cy="223224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b="19732"/>
            <a:stretch>
              <a:fillRect/>
            </a:stretch>
          </p:blipFill>
          <p:spPr>
            <a:xfrm>
              <a:off x="124260" y="4149080"/>
              <a:ext cx="8891015" cy="221501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3768" t="86628" b="-2284"/>
            <a:stretch>
              <a:fillRect/>
            </a:stretch>
          </p:blipFill>
          <p:spPr>
            <a:xfrm>
              <a:off x="1187624" y="5949280"/>
              <a:ext cx="7666879" cy="432048"/>
            </a:xfrm>
            <a:prstGeom prst="rect">
              <a:avLst/>
            </a:prstGeom>
          </p:spPr>
        </p:pic>
      </p:grp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634840" y="2829457"/>
          <a:ext cx="505112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8" name="Equation" r:id="rId4" imgW="4572000" imgH="4876800" progId="Equation.DSMT4">
                  <p:embed/>
                </p:oleObj>
              </mc:Choice>
              <mc:Fallback>
                <p:oleObj name="Equation" r:id="rId4" imgW="4572000" imgH="4876800" progId="Equation.DSMT4">
                  <p:embed/>
                  <p:pic>
                    <p:nvPicPr>
                      <p:cNvPr id="0" name="图片 1043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34840" y="2829457"/>
                        <a:ext cx="505112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38474" y="3249040"/>
          <a:ext cx="4714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9" name="Equation" r:id="rId6" imgW="4267200" imgH="4876800" progId="Equation.DSMT4">
                  <p:embed/>
                </p:oleObj>
              </mc:Choice>
              <mc:Fallback>
                <p:oleObj name="Equation" r:id="rId6" imgW="4267200" imgH="4876800" progId="Equation.DSMT4">
                  <p:embed/>
                  <p:pic>
                    <p:nvPicPr>
                      <p:cNvPr id="0" name="图片 1043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8474" y="3249040"/>
                        <a:ext cx="47148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084168" y="3249290"/>
          <a:ext cx="4714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0" name="Equation" r:id="rId8" imgW="4267200" imgH="4876800" progId="Equation.DSMT4">
                  <p:embed/>
                </p:oleObj>
              </mc:Choice>
              <mc:Fallback>
                <p:oleObj name="Equation" r:id="rId8" imgW="4267200" imgH="4876800" progId="Equation.DSMT4">
                  <p:embed/>
                  <p:pic>
                    <p:nvPicPr>
                      <p:cNvPr id="0" name="图片 1043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84168" y="3249290"/>
                        <a:ext cx="47148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875200" y="3249040"/>
          <a:ext cx="505112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1" name="Equation" r:id="rId10" imgW="4572000" imgH="4876800" progId="Equation.DSMT4">
                  <p:embed/>
                </p:oleObj>
              </mc:Choice>
              <mc:Fallback>
                <p:oleObj name="Equation" r:id="rId10" imgW="4572000" imgH="4876800" progId="Equation.DSMT4">
                  <p:embed/>
                  <p:pic>
                    <p:nvPicPr>
                      <p:cNvPr id="0" name="图片 1044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75200" y="3249040"/>
                        <a:ext cx="505112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479334" y="1556792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dirty="0" smtClean="0">
                <a:solidFill>
                  <a:srgbClr val="0000FF"/>
                </a:solidFill>
              </a:rPr>
              <a:t>这种学习算法是否能得到最好</a:t>
            </a:r>
            <a:r>
              <a:rPr lang="zh-CN" altLang="en-US" sz="1800" b="0" dirty="0">
                <a:solidFill>
                  <a:srgbClr val="0000FF"/>
                </a:solidFill>
              </a:rPr>
              <a:t>的</a:t>
            </a:r>
            <a:r>
              <a:rPr lang="zh-CN" altLang="en-US" sz="1800" b="0" dirty="0" smtClean="0">
                <a:solidFill>
                  <a:srgbClr val="0000FF"/>
                </a:solidFill>
              </a:rPr>
              <a:t>模型？</a:t>
            </a:r>
            <a:endParaRPr lang="zh-CN" altLang="en-US" sz="1800" b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归纳偏好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没有免费的</a:t>
            </a:r>
            <a:r>
              <a:rPr lang="zh-CN" altLang="en-US" dirty="0">
                <a:latin typeface="+mn-ea"/>
              </a:rPr>
              <a:t>午餐定理</a:t>
            </a:r>
            <a:r>
              <a:rPr lang="en-US" altLang="zh-CN" dirty="0">
                <a:latin typeface="+mn-ea"/>
              </a:rPr>
              <a:t>(NFL</a:t>
            </a:r>
            <a:r>
              <a:rPr lang="zh-CN" altLang="en-US" dirty="0">
                <a:latin typeface="+mn-ea"/>
              </a:rPr>
              <a:t>定理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1" hangingPunct="0"/>
            <a:r>
              <a:rPr lang="zh-CN" altLang="en-US" dirty="0" smtClean="0"/>
              <a:t>假设样本空间  和假设空间  离散，令       </a:t>
            </a:r>
            <a:r>
              <a:rPr lang="zh-CN" altLang="en-US" dirty="0" smtClean="0">
                <a:solidFill>
                  <a:schemeClr val="bg1"/>
                </a:solidFill>
              </a:rPr>
              <a:t>表示表示表</a:t>
            </a:r>
            <a:r>
              <a:rPr lang="zh-CN" altLang="en-US" dirty="0" smtClean="0"/>
              <a:t>表示算法   基于</a:t>
            </a:r>
            <a:r>
              <a:rPr lang="zh-CN" altLang="en-US" dirty="0"/>
              <a:t>训练</a:t>
            </a:r>
            <a:r>
              <a:rPr lang="zh-CN" altLang="en-US" dirty="0" smtClean="0"/>
              <a:t>数据</a:t>
            </a:r>
            <a:r>
              <a:rPr lang="zh-CN" altLang="en-US" dirty="0">
                <a:solidFill>
                  <a:schemeClr val="bg1"/>
                </a:solidFill>
              </a:rPr>
              <a:t>产</a:t>
            </a:r>
            <a:r>
              <a:rPr lang="zh-CN" altLang="en-US" dirty="0" smtClean="0"/>
              <a:t>产生</a:t>
            </a:r>
            <a:r>
              <a:rPr lang="zh-CN" altLang="en-US" dirty="0"/>
              <a:t>假设 </a:t>
            </a:r>
            <a:r>
              <a:rPr lang="zh-CN" altLang="en-US" dirty="0" smtClean="0"/>
              <a:t>的</a:t>
            </a:r>
            <a:r>
              <a:rPr lang="zh-CN" altLang="en-US" dirty="0"/>
              <a:t>概率</a:t>
            </a:r>
            <a:r>
              <a:rPr lang="zh-CN" altLang="en-US" dirty="0" smtClean="0"/>
              <a:t>，</a:t>
            </a:r>
            <a:r>
              <a:rPr lang="en-US" altLang="zh-CN" dirty="0" smtClean="0"/>
              <a:t> </a:t>
            </a:r>
            <a:r>
              <a:rPr lang="zh-CN" altLang="en-US" dirty="0"/>
              <a:t>表示</a:t>
            </a:r>
            <a:r>
              <a:rPr lang="zh-CN" altLang="en-US" dirty="0" smtClean="0"/>
              <a:t>要</a:t>
            </a:r>
            <a:r>
              <a:rPr lang="zh-CN" altLang="en-US" dirty="0"/>
              <a:t>学的</a:t>
            </a:r>
            <a:r>
              <a:rPr lang="zh-CN" altLang="en-US" dirty="0" smtClean="0"/>
              <a:t>目标函数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模型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，  </a:t>
            </a:r>
            <a:r>
              <a:rPr lang="zh-CN" altLang="en-US" dirty="0" smtClean="0"/>
              <a:t>在训练集</a:t>
            </a:r>
            <a:r>
              <a:rPr lang="zh-CN" altLang="en-US" dirty="0"/>
              <a:t>之外所有样本上的总</a:t>
            </a:r>
            <a:r>
              <a:rPr lang="zh-CN" altLang="en-US" dirty="0" smtClean="0"/>
              <a:t>误差</a:t>
            </a:r>
            <a:endParaRPr lang="en-US" altLang="zh-CN" dirty="0" smtClean="0"/>
          </a:p>
          <a:p>
            <a:pPr lvl="1" hangingPunct="0"/>
            <a:endParaRPr lang="en-US" altLang="zh-CN" dirty="0"/>
          </a:p>
          <a:p>
            <a:pPr lvl="1" hangingPunct="0"/>
            <a:endParaRPr lang="en-US" altLang="zh-CN" dirty="0" smtClean="0"/>
          </a:p>
          <a:p>
            <a:pPr lvl="2" hangingPunct="0"/>
            <a:endParaRPr lang="en-US" altLang="zh-CN" dirty="0" smtClean="0"/>
          </a:p>
          <a:p>
            <a:pPr lvl="2" hangingPunct="0"/>
            <a:r>
              <a:rPr lang="en-US" altLang="zh-CN" dirty="0" smtClean="0"/>
              <a:t>      </a:t>
            </a:r>
            <a:r>
              <a:rPr lang="zh-CN" altLang="en-US" dirty="0">
                <a:latin typeface="+mn-ea"/>
              </a:rPr>
              <a:t>指示函数，真则取值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，否则取值</a:t>
            </a:r>
            <a:r>
              <a:rPr lang="en-US" altLang="zh-CN" dirty="0">
                <a:latin typeface="+mn-ea"/>
              </a:rPr>
              <a:t>0      </a:t>
            </a:r>
            <a:endParaRPr lang="zh-CN" altLang="en-US" dirty="0">
              <a:latin typeface="+mn-ea"/>
            </a:endParaRP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08902" y="1520059"/>
          <a:ext cx="426131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4" name="Equation" r:id="rId1" imgW="4267200" imgH="3962400" progId="Equation.DSMT4">
                  <p:embed/>
                </p:oleObj>
              </mc:Choice>
              <mc:Fallback>
                <p:oleObj name="Equation" r:id="rId1" imgW="4267200" imgH="3962400" progId="Equation.DSMT4">
                  <p:embed/>
                  <p:pic>
                    <p:nvPicPr>
                      <p:cNvPr id="0" name="图片 117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8902" y="1520059"/>
                        <a:ext cx="426131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356350" y="1520059"/>
          <a:ext cx="4254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5" name="Equation" r:id="rId3" imgW="4267200" imgH="4267200" progId="Equation.DSMT4">
                  <p:embed/>
                </p:oleObj>
              </mc:Choice>
              <mc:Fallback>
                <p:oleObj name="Equation" r:id="rId3" imgW="4267200" imgH="4267200" progId="Equation.DSMT4">
                  <p:embed/>
                  <p:pic>
                    <p:nvPicPr>
                      <p:cNvPr id="0" name="图片 117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56350" y="1520059"/>
                        <a:ext cx="425450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23826" y="1916059"/>
          <a:ext cx="18240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6" name="Equation" r:id="rId5" imgW="18288000" imgH="5181600" progId="Equation.DSMT4">
                  <p:embed/>
                </p:oleObj>
              </mc:Choice>
              <mc:Fallback>
                <p:oleObj name="Equation" r:id="rId5" imgW="18288000" imgH="5181600" progId="Equation.DSMT4">
                  <p:embed/>
                  <p:pic>
                    <p:nvPicPr>
                      <p:cNvPr id="0" name="图片 117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3826" y="1916059"/>
                        <a:ext cx="1824038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727860" y="1916059"/>
          <a:ext cx="4556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7" name="Equation" r:id="rId7" imgW="4572000" imgH="4876800" progId="Equation.DSMT4">
                  <p:embed/>
                </p:oleObj>
              </mc:Choice>
              <mc:Fallback>
                <p:oleObj name="Equation" r:id="rId7" imgW="4572000" imgH="4876800" progId="Equation.DSMT4">
                  <p:embed/>
                  <p:pic>
                    <p:nvPicPr>
                      <p:cNvPr id="0" name="图片 117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7860" y="1916059"/>
                        <a:ext cx="4556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305963" y="1962545"/>
          <a:ext cx="4254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8" name="Equation" r:id="rId9" imgW="4267200" imgH="3962400" progId="Equation.DSMT4">
                  <p:embed/>
                </p:oleObj>
              </mc:Choice>
              <mc:Fallback>
                <p:oleObj name="Equation" r:id="rId9" imgW="4267200" imgH="3962400" progId="Equation.DSMT4">
                  <p:embed/>
                  <p:pic>
                    <p:nvPicPr>
                      <p:cNvPr id="0" name="图片 117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05963" y="1962545"/>
                        <a:ext cx="42545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248514" y="2394532"/>
          <a:ext cx="304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9" name="Equation" r:id="rId11" imgW="3048000" imgH="4267200" progId="Equation.DSMT4">
                  <p:embed/>
                </p:oleObj>
              </mc:Choice>
              <mc:Fallback>
                <p:oleObj name="Equation" r:id="rId11" imgW="3048000" imgH="4267200" progId="Equation.DSMT4">
                  <p:embed/>
                  <p:pic>
                    <p:nvPicPr>
                      <p:cNvPr id="0" name="图片 117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8514" y="2394532"/>
                        <a:ext cx="3048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962181" y="2367161"/>
          <a:ext cx="3635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0" name="Equation" r:id="rId13" imgW="3657600" imgH="4876800" progId="Equation.DSMT4">
                  <p:embed/>
                </p:oleObj>
              </mc:Choice>
              <mc:Fallback>
                <p:oleObj name="Equation" r:id="rId13" imgW="3657600" imgH="4876800" progId="Equation.DSMT4">
                  <p:embed/>
                  <p:pic>
                    <p:nvPicPr>
                      <p:cNvPr id="0" name="图片 117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2181" y="2367161"/>
                        <a:ext cx="363538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380763" y="2765430"/>
          <a:ext cx="4556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1" name="Equation" r:id="rId15" imgW="4572000" imgH="4876800" progId="Equation.DSMT4">
                  <p:embed/>
                </p:oleObj>
              </mc:Choice>
              <mc:Fallback>
                <p:oleObj name="Equation" r:id="rId15" imgW="4572000" imgH="4876800" progId="Equation.DSMT4">
                  <p:embed/>
                  <p:pic>
                    <p:nvPicPr>
                      <p:cNvPr id="0" name="图片 117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80763" y="2765430"/>
                        <a:ext cx="45561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74663" y="3429000"/>
          <a:ext cx="8331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2" name="Equation" r:id="rId17" imgW="83515200" imgH="8229600" progId="Equation.DSMT4">
                  <p:embed/>
                </p:oleObj>
              </mc:Choice>
              <mc:Fallback>
                <p:oleObj name="Equation" r:id="rId17" imgW="83515200" imgH="8229600" progId="Equation.DSMT4">
                  <p:embed/>
                  <p:pic>
                    <p:nvPicPr>
                      <p:cNvPr id="0" name="图片 1176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4663" y="3429000"/>
                        <a:ext cx="8331200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860042" y="4417222"/>
          <a:ext cx="5762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3" name="Equation" r:id="rId19" imgW="5791200" imgH="4876800" progId="Equation.DSMT4">
                  <p:embed/>
                </p:oleObj>
              </mc:Choice>
              <mc:Fallback>
                <p:oleObj name="Equation" r:id="rId19" imgW="5791200" imgH="4876800" progId="Equation.DSMT4">
                  <p:embed/>
                  <p:pic>
                    <p:nvPicPr>
                      <p:cNvPr id="0" name="图片 117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60042" y="4417222"/>
                        <a:ext cx="576263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归纳偏好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没有免费的</a:t>
            </a:r>
            <a:r>
              <a:rPr lang="zh-CN" altLang="en-US" dirty="0">
                <a:latin typeface="+mn-ea"/>
              </a:rPr>
              <a:t>午餐定理</a:t>
            </a:r>
            <a:r>
              <a:rPr lang="en-US" altLang="zh-CN" dirty="0">
                <a:latin typeface="+mn-ea"/>
              </a:rPr>
              <a:t>(NFL</a:t>
            </a:r>
            <a:r>
              <a:rPr lang="zh-CN" altLang="en-US" dirty="0">
                <a:latin typeface="+mn-ea"/>
              </a:rPr>
              <a:t>定理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/>
              <a:t>考虑二分类问题，目标函数可以为任何</a:t>
            </a:r>
            <a:r>
              <a:rPr lang="zh-CN" altLang="en-US" dirty="0" smtClean="0"/>
              <a:t>函数                   ，函数空间为        ，</a:t>
            </a:r>
            <a:r>
              <a:rPr lang="zh-CN" altLang="en-US" dirty="0"/>
              <a:t>对所有可能</a:t>
            </a:r>
            <a:r>
              <a:rPr lang="zh-CN" altLang="en-US" dirty="0" smtClean="0"/>
              <a:t>的   按</a:t>
            </a:r>
            <a:r>
              <a:rPr lang="zh-CN" altLang="en-US" dirty="0"/>
              <a:t>均匀分布对误差</a:t>
            </a:r>
            <a:r>
              <a:rPr lang="zh-CN" altLang="en-US" dirty="0" smtClean="0"/>
              <a:t>求和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44675" y="1931988"/>
          <a:ext cx="20955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9" name="Equation" r:id="rId1" imgW="21031200" imgH="4876800" progId="Equation.DSMT4">
                  <p:embed/>
                </p:oleObj>
              </mc:Choice>
              <mc:Fallback>
                <p:oleObj name="Equation" r:id="rId1" imgW="21031200" imgH="4876800" progId="Equation.DSMT4">
                  <p:embed/>
                  <p:pic>
                    <p:nvPicPr>
                      <p:cNvPr id="0" name="图片 124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4675" y="1931988"/>
                        <a:ext cx="2095500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038850" y="1871663"/>
          <a:ext cx="10636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0" name="Equation" r:id="rId3" imgW="10668000" imgH="5486400" progId="Equation.DSMT4">
                  <p:embed/>
                </p:oleObj>
              </mc:Choice>
              <mc:Fallback>
                <p:oleObj name="Equation" r:id="rId3" imgW="10668000" imgH="5486400" progId="Equation.DSMT4">
                  <p:embed/>
                  <p:pic>
                    <p:nvPicPr>
                      <p:cNvPr id="0" name="图片 124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1871663"/>
                        <a:ext cx="106362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52279" y="2355250"/>
          <a:ext cx="3635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" name="Equation" r:id="rId5" imgW="3657600" imgH="4876800" progId="Equation.DSMT4">
                  <p:embed/>
                </p:oleObj>
              </mc:Choice>
              <mc:Fallback>
                <p:oleObj name="Equation" r:id="rId5" imgW="3657600" imgH="4876800" progId="Equation.DSMT4">
                  <p:embed/>
                  <p:pic>
                    <p:nvPicPr>
                      <p:cNvPr id="0" name="图片 124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2279" y="2355250"/>
                        <a:ext cx="363537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899592" y="2852936"/>
            <a:ext cx="7418350" cy="3852000"/>
            <a:chOff x="827584" y="2852936"/>
            <a:chExt cx="6795135" cy="352839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7584" y="2852936"/>
              <a:ext cx="6795135" cy="282321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8"/>
            <a:srcRect r="4484"/>
            <a:stretch>
              <a:fillRect/>
            </a:stretch>
          </p:blipFill>
          <p:spPr>
            <a:xfrm>
              <a:off x="2524880" y="5712673"/>
              <a:ext cx="2505552" cy="668655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5856920" y="5949280"/>
            <a:ext cx="28083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总误差与学习算法</a:t>
            </a:r>
            <a:r>
              <a:rPr lang="zh-CN" altLang="en-US" sz="2000" dirty="0" smtClean="0">
                <a:solidFill>
                  <a:srgbClr val="FF0000"/>
                </a:solidFill>
              </a:rPr>
              <a:t>无关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所有算法一样好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归纳偏好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764704"/>
            <a:ext cx="7848872" cy="5354216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NFL</a:t>
            </a:r>
            <a:r>
              <a:rPr lang="zh-CN" altLang="en-US" dirty="0">
                <a:latin typeface="+mn-ea"/>
              </a:rPr>
              <a:t>定理有一个重要</a:t>
            </a:r>
            <a:r>
              <a:rPr lang="zh-CN" altLang="en-US" dirty="0" smtClean="0">
                <a:latin typeface="+mn-ea"/>
              </a:rPr>
              <a:t>前提是所有问题出现</a:t>
            </a:r>
            <a:r>
              <a:rPr lang="zh-CN" altLang="en-US" dirty="0">
                <a:latin typeface="+mn-ea"/>
              </a:rPr>
              <a:t>的机会</a:t>
            </a:r>
            <a:r>
              <a:rPr lang="zh-CN" altLang="en-US" dirty="0" smtClean="0">
                <a:latin typeface="+mn-ea"/>
              </a:rPr>
              <a:t>相同</a:t>
            </a:r>
            <a:r>
              <a:rPr lang="zh-CN" altLang="en-US" dirty="0">
                <a:latin typeface="+mn-ea"/>
              </a:rPr>
              <a:t>、或所有问题同等</a:t>
            </a:r>
            <a:r>
              <a:rPr lang="zh-CN" altLang="en-US" dirty="0" smtClean="0">
                <a:latin typeface="+mn-ea"/>
              </a:rPr>
              <a:t>重要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但</a:t>
            </a:r>
            <a:r>
              <a:rPr lang="zh-CN" altLang="en-US" dirty="0">
                <a:latin typeface="+mn-ea"/>
              </a:rPr>
              <a:t>实际情形并不是</a:t>
            </a:r>
            <a:r>
              <a:rPr lang="zh-CN" altLang="en-US" dirty="0" smtClean="0">
                <a:latin typeface="+mn-ea"/>
              </a:rPr>
              <a:t>这样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很多时候只关注正在解决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问题，</a:t>
            </a:r>
            <a:r>
              <a:rPr lang="zh-CN" altLang="en-US" dirty="0">
                <a:latin typeface="+mn-ea"/>
              </a:rPr>
              <a:t>希望为它找到一个</a:t>
            </a:r>
            <a:r>
              <a:rPr lang="zh-CN" altLang="en-US" dirty="0" smtClean="0">
                <a:latin typeface="+mn-ea"/>
              </a:rPr>
              <a:t>解决方法，</a:t>
            </a:r>
            <a:r>
              <a:rPr lang="zh-CN" altLang="en-US" dirty="0">
                <a:latin typeface="+mn-ea"/>
              </a:rPr>
              <a:t>并</a:t>
            </a:r>
            <a:r>
              <a:rPr lang="zh-CN" altLang="en-US" dirty="0" smtClean="0">
                <a:latin typeface="+mn-ea"/>
              </a:rPr>
              <a:t>不关心该方法在</a:t>
            </a:r>
            <a:r>
              <a:rPr lang="zh-CN" altLang="en-US" dirty="0">
                <a:latin typeface="+mn-ea"/>
              </a:rPr>
              <a:t>别的</a:t>
            </a:r>
            <a:r>
              <a:rPr lang="zh-CN" altLang="en-US" dirty="0" smtClean="0">
                <a:latin typeface="+mn-ea"/>
              </a:rPr>
              <a:t>问题甚至相似的</a:t>
            </a:r>
            <a:r>
              <a:rPr lang="zh-CN" altLang="en-US" dirty="0">
                <a:latin typeface="+mn-ea"/>
              </a:rPr>
              <a:t>问题上</a:t>
            </a:r>
            <a:r>
              <a:rPr lang="zh-CN" altLang="en-US" dirty="0" smtClean="0">
                <a:latin typeface="+mn-ea"/>
              </a:rPr>
              <a:t>是否是好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/>
              <a:t>结论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讨论算法</a:t>
            </a:r>
            <a:r>
              <a:rPr lang="zh-CN" altLang="en-US" dirty="0"/>
              <a:t>的相对优劣，必须要针对具体的学习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pPr lvl="1"/>
            <a:r>
              <a:rPr lang="zh-CN" altLang="en-US" dirty="0"/>
              <a:t>学习算法的归纳偏好是否与问题本身匹配，对算法性能会起到决定性的作用</a:t>
            </a:r>
            <a:endParaRPr lang="en-US" altLang="zh-CN" dirty="0"/>
          </a:p>
          <a:p>
            <a:pPr lvl="1"/>
            <a:r>
              <a:rPr lang="zh-CN" altLang="en-US" dirty="0" smtClean="0"/>
              <a:t>脱离具体问题，谈论</a:t>
            </a:r>
            <a:r>
              <a:rPr lang="zh-CN" altLang="en-US" dirty="0"/>
              <a:t>“什么学习算法更好”毫无意义</a:t>
            </a:r>
            <a:r>
              <a:rPr lang="zh-CN" altLang="en-US" dirty="0" smtClean="0"/>
              <a:t>，若</a:t>
            </a:r>
            <a:r>
              <a:rPr lang="zh-CN" altLang="en-US" dirty="0"/>
              <a:t>考虑所有潜在的问题，则所有学习算法都一样</a:t>
            </a:r>
            <a:r>
              <a:rPr lang="zh-CN" altLang="en-US" dirty="0" smtClean="0"/>
              <a:t>好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 </a:t>
            </a:r>
            <a:r>
              <a:rPr lang="zh-CN" altLang="en-US" dirty="0" smtClean="0"/>
              <a:t>发展</a:t>
            </a:r>
            <a:r>
              <a:rPr lang="zh-CN" altLang="en-US" dirty="0"/>
              <a:t>历程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70384"/>
            <a:ext cx="7776864" cy="5811416"/>
          </a:xfrm>
        </p:spPr>
        <p:txBody>
          <a:bodyPr/>
          <a:lstStyle/>
          <a:p>
            <a:r>
              <a:rPr lang="zh-CN" altLang="en-US" dirty="0"/>
              <a:t>机器学习</a:t>
            </a:r>
            <a:r>
              <a:rPr lang="zh-CN" altLang="en-US" dirty="0" smtClean="0"/>
              <a:t>源自人工智能</a:t>
            </a:r>
            <a:endParaRPr lang="en-US" altLang="zh-CN" dirty="0" smtClean="0"/>
          </a:p>
          <a:p>
            <a:pPr lvl="1"/>
            <a:r>
              <a:rPr lang="en-US" altLang="zh-CN" dirty="0" smtClean="0">
                <a:latin typeface="+mn-ea"/>
              </a:rPr>
              <a:t>1956</a:t>
            </a:r>
            <a:r>
              <a:rPr lang="zh-CN" altLang="en-US" dirty="0" smtClean="0">
                <a:latin typeface="+mn-ea"/>
              </a:rPr>
              <a:t>年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美国达特茅斯学院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达特茅斯会议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 err="1" smtClean="0">
                <a:latin typeface="+mn-ea"/>
              </a:rPr>
              <a:t>J.McCarthy</a:t>
            </a:r>
            <a:r>
              <a:rPr lang="zh-CN" altLang="en-US" dirty="0" smtClean="0">
                <a:latin typeface="+mn-ea"/>
              </a:rPr>
              <a:t>等</a:t>
            </a:r>
            <a:r>
              <a:rPr lang="en-US" altLang="zh-CN" dirty="0" smtClean="0">
                <a:latin typeface="+mn-ea"/>
              </a:rPr>
              <a:t>10</a:t>
            </a:r>
            <a:r>
              <a:rPr lang="zh-CN" altLang="en-US" dirty="0" smtClean="0">
                <a:latin typeface="+mn-ea"/>
              </a:rPr>
              <a:t>余人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 smtClean="0">
                <a:latin typeface="+mn-ea"/>
              </a:rPr>
              <a:t>J.M.</a:t>
            </a:r>
            <a:r>
              <a:rPr lang="zh-CN" altLang="en-US" dirty="0" smtClean="0">
                <a:latin typeface="+mn-ea"/>
              </a:rPr>
              <a:t>提出</a:t>
            </a:r>
            <a:r>
              <a:rPr lang="en-US" altLang="zh-CN" dirty="0" smtClean="0">
                <a:latin typeface="+mn-ea"/>
              </a:rPr>
              <a:t>Artificial Intelligence(AI)</a:t>
            </a:r>
            <a:r>
              <a:rPr lang="zh-CN" altLang="en-US" dirty="0" smtClean="0">
                <a:latin typeface="+mn-ea"/>
              </a:rPr>
              <a:t>概念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标志</a:t>
            </a:r>
            <a:r>
              <a:rPr lang="zh-CN" altLang="en-US" dirty="0">
                <a:latin typeface="+mn-ea"/>
              </a:rPr>
              <a:t>着</a:t>
            </a:r>
            <a:r>
              <a:rPr lang="zh-CN" altLang="en-US" dirty="0" smtClean="0">
                <a:latin typeface="+mn-ea"/>
              </a:rPr>
              <a:t>人工智能学科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诞生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萨缪尔发明</a:t>
            </a:r>
            <a:r>
              <a:rPr lang="zh-CN" altLang="en-US" dirty="0" smtClean="0">
                <a:latin typeface="+mn-ea"/>
              </a:rPr>
              <a:t>了机器学习这个词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在</a:t>
            </a:r>
            <a:r>
              <a:rPr lang="en-US" altLang="zh-CN" dirty="0">
                <a:latin typeface="+mn-ea"/>
              </a:rPr>
              <a:t>IBM</a:t>
            </a:r>
            <a:r>
              <a:rPr lang="zh-CN" altLang="en-US" dirty="0">
                <a:latin typeface="+mn-ea"/>
              </a:rPr>
              <a:t>公司研制了一个西洋跳棋</a:t>
            </a:r>
            <a:r>
              <a:rPr lang="zh-CN" altLang="en-US" dirty="0" smtClean="0">
                <a:latin typeface="+mn-ea"/>
              </a:rPr>
              <a:t>程序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en-US" altLang="zh-CN" dirty="0" smtClean="0">
                <a:latin typeface="+mn-ea"/>
              </a:rPr>
              <a:t>1961</a:t>
            </a:r>
            <a:r>
              <a:rPr lang="zh-CN" altLang="en-US" dirty="0">
                <a:latin typeface="+mn-ea"/>
              </a:rPr>
              <a:t>年与当时全</a:t>
            </a:r>
            <a:r>
              <a:rPr lang="zh-CN" altLang="en-US" dirty="0" smtClean="0">
                <a:latin typeface="+mn-ea"/>
              </a:rPr>
              <a:t>美第四</a:t>
            </a:r>
            <a:r>
              <a:rPr lang="zh-CN" altLang="en-US" dirty="0">
                <a:latin typeface="+mn-ea"/>
              </a:rPr>
              <a:t>的</a:t>
            </a:r>
            <a:r>
              <a:rPr lang="zh-CN" altLang="en-US" dirty="0" smtClean="0">
                <a:latin typeface="+mn-ea"/>
              </a:rPr>
              <a:t>棋手对决获胜</a:t>
            </a:r>
            <a:endParaRPr lang="en-US" altLang="zh-CN" dirty="0" smtClean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1956-1960s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推理</a:t>
            </a:r>
            <a:r>
              <a:rPr lang="zh-CN" altLang="en-US" dirty="0">
                <a:latin typeface="+mn-ea"/>
              </a:rPr>
              <a:t>期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出发点：</a:t>
            </a:r>
            <a:r>
              <a:rPr lang="zh-CN" altLang="en-US" dirty="0">
                <a:latin typeface="+mn-ea"/>
              </a:rPr>
              <a:t>“</a:t>
            </a:r>
            <a:r>
              <a:rPr lang="zh-CN" altLang="en-US" dirty="0" smtClean="0">
                <a:latin typeface="+mn-ea"/>
              </a:rPr>
              <a:t>数学家</a:t>
            </a:r>
            <a:r>
              <a:rPr lang="zh-CN" altLang="en-US" dirty="0">
                <a:latin typeface="+mn-ea"/>
              </a:rPr>
              <a:t>真聪明</a:t>
            </a:r>
            <a:r>
              <a:rPr lang="zh-CN" altLang="en-US" dirty="0" smtClean="0">
                <a:latin typeface="+mn-ea"/>
              </a:rPr>
              <a:t>！”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主要</a:t>
            </a:r>
            <a:r>
              <a:rPr lang="zh-CN" altLang="en-US" dirty="0" smtClean="0">
                <a:latin typeface="+mn-ea"/>
              </a:rPr>
              <a:t>成就：自动</a:t>
            </a:r>
            <a:r>
              <a:rPr lang="zh-CN" altLang="en-US" dirty="0">
                <a:latin typeface="+mn-ea"/>
              </a:rPr>
              <a:t>定理证明</a:t>
            </a:r>
            <a:r>
              <a:rPr lang="zh-CN" altLang="en-US" dirty="0" smtClean="0">
                <a:latin typeface="+mn-ea"/>
              </a:rPr>
              <a:t>系统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西</a:t>
            </a:r>
            <a:r>
              <a:rPr lang="zh-CN" altLang="en-US" dirty="0">
                <a:latin typeface="+mn-ea"/>
              </a:rPr>
              <a:t>蒙与纽厄尔</a:t>
            </a:r>
            <a:r>
              <a:rPr lang="zh-CN" altLang="en-US" dirty="0" smtClean="0">
                <a:latin typeface="+mn-ea"/>
              </a:rPr>
              <a:t>的 </a:t>
            </a:r>
            <a:r>
              <a:rPr lang="en-US" altLang="zh-CN" dirty="0" smtClean="0">
                <a:latin typeface="+mn-ea"/>
              </a:rPr>
              <a:t>Logic Theorist</a:t>
            </a:r>
            <a:r>
              <a:rPr lang="zh-CN" altLang="en-US" dirty="0" smtClean="0">
                <a:latin typeface="+mn-ea"/>
              </a:rPr>
              <a:t>系统</a:t>
            </a:r>
            <a:r>
              <a:rPr lang="en-US" altLang="zh-CN" dirty="0" smtClean="0">
                <a:latin typeface="+mn-ea"/>
              </a:rPr>
              <a:t>  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渐渐意识到仅</a:t>
            </a:r>
            <a:r>
              <a:rPr lang="zh-CN" altLang="en-US" dirty="0">
                <a:latin typeface="+mn-ea"/>
              </a:rPr>
              <a:t>有逻辑推理能力是不够</a:t>
            </a:r>
            <a:r>
              <a:rPr lang="zh-CN" altLang="en-US" dirty="0" smtClean="0">
                <a:latin typeface="+mn-ea"/>
              </a:rPr>
              <a:t>的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876" y="116632"/>
            <a:ext cx="1217663" cy="23108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-575"/>
          <a:stretch>
            <a:fillRect/>
          </a:stretch>
        </p:blipFill>
        <p:spPr>
          <a:xfrm>
            <a:off x="7812360" y="2492896"/>
            <a:ext cx="1260000" cy="42506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1.5 </a:t>
            </a:r>
            <a:r>
              <a:rPr lang="zh-CN" altLang="en-US" dirty="0" smtClean="0"/>
              <a:t>发展</a:t>
            </a:r>
            <a:r>
              <a:rPr lang="zh-CN" altLang="en-US" dirty="0"/>
              <a:t>历程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970384"/>
            <a:ext cx="8579296" cy="5811416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1970s-1980s</a:t>
            </a:r>
            <a:r>
              <a:rPr lang="zh-CN" altLang="en-US" dirty="0">
                <a:latin typeface="+mn-ea"/>
              </a:rPr>
              <a:t>，知识期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出发点：</a:t>
            </a:r>
            <a:r>
              <a:rPr lang="en-US" altLang="zh-CN" dirty="0" smtClean="0">
                <a:latin typeface="+mn-ea"/>
              </a:rPr>
              <a:t>“</a:t>
            </a:r>
            <a:r>
              <a:rPr lang="zh-CN" altLang="en-US" dirty="0">
                <a:latin typeface="+mn-ea"/>
              </a:rPr>
              <a:t>知识就是力量</a:t>
            </a:r>
            <a:r>
              <a:rPr lang="zh-CN" altLang="en-US" dirty="0" smtClean="0">
                <a:latin typeface="+mn-ea"/>
              </a:rPr>
              <a:t>！”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主要</a:t>
            </a:r>
            <a:r>
              <a:rPr lang="zh-CN" altLang="en-US" dirty="0" smtClean="0">
                <a:latin typeface="+mn-ea"/>
              </a:rPr>
              <a:t>成就：专家系统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费根鲍姆</a:t>
            </a:r>
            <a:r>
              <a:rPr lang="zh-CN" altLang="en-US" dirty="0">
                <a:latin typeface="+mn-ea"/>
              </a:rPr>
              <a:t>等人</a:t>
            </a:r>
            <a:r>
              <a:rPr lang="zh-CN" altLang="en-US" dirty="0" smtClean="0">
                <a:latin typeface="+mn-ea"/>
              </a:rPr>
              <a:t>的 </a:t>
            </a:r>
            <a:r>
              <a:rPr lang="en-US" altLang="zh-CN" dirty="0" smtClean="0">
                <a:latin typeface="+mn-ea"/>
              </a:rPr>
              <a:t>DENDRAL</a:t>
            </a:r>
            <a:r>
              <a:rPr lang="zh-CN" altLang="en-US" dirty="0" smtClean="0">
                <a:latin typeface="+mn-ea"/>
              </a:rPr>
              <a:t>系统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渐渐发现，总结</a:t>
            </a:r>
            <a:r>
              <a:rPr lang="zh-CN" altLang="en-US" dirty="0">
                <a:latin typeface="+mn-ea"/>
              </a:rPr>
              <a:t>出知识</a:t>
            </a:r>
            <a:r>
              <a:rPr lang="zh-CN" altLang="en-US" dirty="0" smtClean="0">
                <a:latin typeface="+mn-ea"/>
              </a:rPr>
              <a:t>再教给系统</a:t>
            </a:r>
            <a:r>
              <a:rPr lang="zh-CN" altLang="en-US" dirty="0">
                <a:latin typeface="+mn-ea"/>
              </a:rPr>
              <a:t>，实在太</a:t>
            </a:r>
            <a:r>
              <a:rPr lang="zh-CN" altLang="en-US" dirty="0" smtClean="0">
                <a:latin typeface="+mn-ea"/>
              </a:rPr>
              <a:t>难</a:t>
            </a:r>
            <a:endParaRPr lang="zh-CN" altLang="en-US" dirty="0">
              <a:latin typeface="+mn-ea"/>
            </a:endParaRPr>
          </a:p>
          <a:p>
            <a:r>
              <a:rPr lang="en-US" altLang="zh-CN" dirty="0" smtClean="0">
                <a:latin typeface="+mn-ea"/>
              </a:rPr>
              <a:t>1990s-NOW</a:t>
            </a:r>
            <a:r>
              <a:rPr lang="zh-CN" altLang="en-US" dirty="0">
                <a:latin typeface="+mn-ea"/>
              </a:rPr>
              <a:t>，学习期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出发点：</a:t>
            </a:r>
            <a:r>
              <a:rPr lang="en-US" altLang="zh-CN" dirty="0" smtClean="0">
                <a:latin typeface="+mn-ea"/>
              </a:rPr>
              <a:t>“</a:t>
            </a:r>
            <a:r>
              <a:rPr lang="zh-CN" altLang="en-US" dirty="0">
                <a:latin typeface="+mn-ea"/>
              </a:rPr>
              <a:t>让系统自己学！”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主要</a:t>
            </a:r>
            <a:r>
              <a:rPr lang="zh-CN" altLang="en-US" dirty="0" smtClean="0">
                <a:latin typeface="+mn-ea"/>
              </a:rPr>
              <a:t>成就：决策树、神经网络、统计学习</a:t>
            </a:r>
            <a:r>
              <a:rPr lang="en-US" altLang="zh-CN" dirty="0" smtClean="0">
                <a:latin typeface="+mn-ea"/>
              </a:rPr>
              <a:t>……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机器学习成为突破知识工程瓶颈的利器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人类发现自己淹没在数据的</a:t>
            </a:r>
            <a:r>
              <a:rPr lang="zh-CN" altLang="en-US" dirty="0" smtClean="0">
                <a:latin typeface="+mn-ea"/>
              </a:rPr>
              <a:t>汪洋中</a:t>
            </a:r>
            <a:r>
              <a:rPr lang="zh-CN" altLang="en-US" dirty="0">
                <a:latin typeface="+mn-ea"/>
              </a:rPr>
              <a:t>，对自动数据分析</a:t>
            </a:r>
            <a:r>
              <a:rPr lang="zh-CN" altLang="en-US" dirty="0" smtClean="0">
                <a:latin typeface="+mn-ea"/>
              </a:rPr>
              <a:t>技术的迫切需要促进了机器学习的发展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329" y="116632"/>
            <a:ext cx="1506136" cy="2417743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1.6 </a:t>
            </a:r>
            <a:r>
              <a:rPr lang="zh-CN" altLang="en-US" dirty="0" smtClean="0"/>
              <a:t>应用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61" y="970384"/>
            <a:ext cx="8533814" cy="580335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37" y="938786"/>
            <a:ext cx="8707751" cy="581141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51" y="1052736"/>
            <a:ext cx="8834437" cy="5300662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87" y="908720"/>
            <a:ext cx="8316277" cy="572125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82" y="970384"/>
            <a:ext cx="8491590" cy="577098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908720"/>
            <a:ext cx="8614186" cy="5842992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908720"/>
            <a:ext cx="8782050" cy="5667375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908720"/>
            <a:ext cx="8651140" cy="5810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849" y="56323"/>
            <a:ext cx="1629647" cy="2220549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应用现状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在各个领域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航空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航海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电子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经济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……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3210</Words>
  <Application>WPS 演示</Application>
  <PresentationFormat>全屏显示(4:3)</PresentationFormat>
  <Paragraphs>399</Paragraphs>
  <Slides>38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36</vt:i4>
      </vt:variant>
      <vt:variant>
        <vt:lpstr>幻灯片标题</vt:lpstr>
      </vt:variant>
      <vt:variant>
        <vt:i4>38</vt:i4>
      </vt:variant>
    </vt:vector>
  </HeadingPairs>
  <TitlesOfParts>
    <vt:vector size="82" baseType="lpstr">
      <vt:lpstr>Arial</vt:lpstr>
      <vt:lpstr>宋体</vt:lpstr>
      <vt:lpstr>Wingdings</vt:lpstr>
      <vt:lpstr>Tahoma</vt:lpstr>
      <vt:lpstr>华文新魏</vt:lpstr>
      <vt:lpstr>微软雅黑</vt:lpstr>
      <vt:lpstr>Arial Unicode MS</vt:lpstr>
      <vt:lpstr>课件PPT主题1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机器学习 MACHINE  LEARNING</vt:lpstr>
      <vt:lpstr>机器学习</vt:lpstr>
      <vt:lpstr>教材及参考书</vt:lpstr>
      <vt:lpstr>教材及参考书</vt:lpstr>
      <vt:lpstr>课程主要内容</vt:lpstr>
      <vt:lpstr>课程目的与要求</vt:lpstr>
      <vt:lpstr>课程目的与要求</vt:lpstr>
      <vt:lpstr>考核方式</vt:lpstr>
      <vt:lpstr>第1章 绪论</vt:lpstr>
      <vt:lpstr>主要内容</vt:lpstr>
      <vt:lpstr>1.1 引言</vt:lpstr>
      <vt:lpstr>1.2 基本术语</vt:lpstr>
      <vt:lpstr>1.2 基本术语</vt:lpstr>
      <vt:lpstr>1.2 基本术语</vt:lpstr>
      <vt:lpstr>1.2 基本术语</vt:lpstr>
      <vt:lpstr>1.2 基本术语</vt:lpstr>
      <vt:lpstr>1.2 基本术语</vt:lpstr>
      <vt:lpstr>1.3 假设空间</vt:lpstr>
      <vt:lpstr>1.3 假设空间</vt:lpstr>
      <vt:lpstr>1.3 假设空间</vt:lpstr>
      <vt:lpstr>1.4 归纳偏好</vt:lpstr>
      <vt:lpstr>1.4 归纳偏好</vt:lpstr>
      <vt:lpstr>1.4 归纳偏好</vt:lpstr>
      <vt:lpstr>1.4 归纳偏好</vt:lpstr>
      <vt:lpstr>1.4 归纳偏好</vt:lpstr>
      <vt:lpstr>1.4 归纳偏好</vt:lpstr>
      <vt:lpstr>1.5 发展历程</vt:lpstr>
      <vt:lpstr>1.5 发展历程</vt:lpstr>
      <vt:lpstr>1.6 应用现状</vt:lpstr>
      <vt:lpstr>1.6 应用现状</vt:lpstr>
      <vt:lpstr>1.6 应用现状</vt:lpstr>
      <vt:lpstr>1.6 应用现状</vt:lpstr>
      <vt:lpstr>1.6 应用现状</vt:lpstr>
      <vt:lpstr>1.6 应用现状</vt:lpstr>
      <vt:lpstr>1.6 应用现状</vt:lpstr>
      <vt:lpstr>1.6 应用现状</vt:lpstr>
      <vt:lpstr>1.6 应用现状</vt:lpstr>
      <vt:lpstr>作业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MNBVC</cp:lastModifiedBy>
  <cp:revision>1137</cp:revision>
  <dcterms:created xsi:type="dcterms:W3CDTF">2003-07-20T06:30:00Z</dcterms:created>
  <dcterms:modified xsi:type="dcterms:W3CDTF">2021-09-22T13:08:00Z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