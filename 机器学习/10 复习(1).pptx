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0"/>
  </p:handoutMasterIdLst>
  <p:sldIdLst>
    <p:sldId id="530" r:id="rId3"/>
    <p:sldId id="593" r:id="rId4"/>
    <p:sldId id="641" r:id="rId6"/>
    <p:sldId id="639" r:id="rId7"/>
    <p:sldId id="642" r:id="rId8"/>
    <p:sldId id="640" r:id="rId9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B5E3F3"/>
    <a:srgbClr val="FFFFFF"/>
    <a:srgbClr val="FF0000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78396" autoAdjust="0"/>
  </p:normalViewPr>
  <p:slideViewPr>
    <p:cSldViewPr>
      <p:cViewPr varScale="1">
        <p:scale>
          <a:sx n="72" d="100"/>
          <a:sy n="72" d="100"/>
        </p:scale>
        <p:origin x="1530" y="66"/>
      </p:cViewPr>
      <p:guideLst>
        <p:guide orient="horz" pos="2160"/>
        <p:guide pos="28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基于原型的聚类</a:t>
            </a:r>
            <a:r>
              <a:rPr lang="en-US" altLang="zh-CN" dirty="0" smtClean="0"/>
              <a:t>prototype-based clustering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此类算法假设聚类结构能通过一组原型刻画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基于原型的聚类</a:t>
            </a:r>
            <a:r>
              <a:rPr lang="en-US" altLang="zh-CN" dirty="0" smtClean="0"/>
              <a:t>prototype-based clustering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此类算法假设聚类结构能通过一组原型刻画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基于原型的聚类</a:t>
            </a:r>
            <a:r>
              <a:rPr lang="en-US" altLang="zh-CN" dirty="0" smtClean="0"/>
              <a:t>prototype-based clustering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此类算法假设聚类结构能通过一组原型刻画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基于原型的聚类</a:t>
            </a:r>
            <a:r>
              <a:rPr lang="en-US" altLang="zh-CN" dirty="0" smtClean="0"/>
              <a:t>prototype-based clustering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此类算法假设聚类结构能通过一组原型刻画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066" y="836712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dirty="0" smtClean="0"/>
              <a:t>第</a:t>
            </a:r>
            <a:r>
              <a:rPr lang="en-US" altLang="zh-CN" sz="6000" dirty="0" smtClean="0"/>
              <a:t>10</a:t>
            </a:r>
            <a:r>
              <a:rPr lang="zh-CN" altLang="en-US" sz="6000" dirty="0" smtClean="0"/>
              <a:t>章 复习</a:t>
            </a:r>
            <a:endParaRPr lang="zh-CN" altLang="en-US" sz="6000" dirty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机器学习复习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基本概念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文本框 100"/>
          <p:cNvSpPr txBox="1"/>
          <p:nvPr/>
        </p:nvSpPr>
        <p:spPr>
          <a:xfrm>
            <a:off x="467360" y="1844358"/>
            <a:ext cx="5080000" cy="43383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分类、回归的</a:t>
            </a:r>
            <a:r>
              <a:rPr lang="zh-CN" sz="2000">
                <a:ea typeface="宋体" panose="02010600030101010101" pitchFamily="2" charset="-122"/>
              </a:rPr>
              <a:t>概念区别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训练集、验证集、测试集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</a:rPr>
              <a:t>监督学习、非监督学习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sym typeface="+mn-ea"/>
              </a:rPr>
              <a:t>回归问题、分类问题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</a:rPr>
              <a:t>欠拟合、过拟合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泛化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概率与频率的关系</a:t>
            </a:r>
            <a:endParaRPr lang="zh-CN" altLang="en-US" sz="2000"/>
          </a:p>
          <a:p>
            <a:pPr marL="342900" indent="-342900">
              <a:buFont typeface="+mj-lt"/>
              <a:buAutoNum type="arabicPeriod"/>
            </a:pPr>
            <a:r>
              <a:rPr lang="zh-CN" altLang="en-US" sz="2000"/>
              <a:t>独立同</a:t>
            </a:r>
            <a:r>
              <a:rPr lang="zh-CN" altLang="en-US" sz="2000"/>
              <a:t>分布</a:t>
            </a:r>
            <a:endParaRPr lang="zh-CN" altLang="en-US" sz="2000"/>
          </a:p>
          <a:p>
            <a:pPr marL="342900" indent="-342900">
              <a:buFont typeface="+mj-lt"/>
              <a:buAutoNum type="arabicPeriod"/>
            </a:pPr>
            <a:r>
              <a:rPr lang="zh-CN" altLang="en-US" sz="2000"/>
              <a:t>先验概率，后验</a:t>
            </a:r>
            <a:r>
              <a:rPr lang="zh-CN" altLang="en-US" sz="2000"/>
              <a:t>概率</a:t>
            </a:r>
            <a:endParaRPr lang="zh-CN" altLang="en-US" sz="2000"/>
          </a:p>
          <a:p>
            <a:pPr marL="342900" indent="-342900">
              <a:buFont typeface="+mj-lt"/>
              <a:buAutoNum type="arabicPeriod"/>
            </a:pPr>
            <a:r>
              <a:rPr lang="zh-CN" altLang="en-US" sz="2000"/>
              <a:t>朴素</a:t>
            </a:r>
            <a:r>
              <a:rPr lang="zh-CN" altLang="en-US" sz="2000"/>
              <a:t>贝叶斯</a:t>
            </a:r>
            <a:endParaRPr lang="zh-CN" altLang="en-US" sz="200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96875" y="1195705"/>
            <a:ext cx="7772400" cy="700405"/>
          </a:xfrm>
        </p:spPr>
        <p:txBody>
          <a:bodyPr/>
          <a:p>
            <a:r>
              <a:rPr lang="zh-CN" altLang="en-US" dirty="0">
                <a:latin typeface="+mn-ea"/>
              </a:rPr>
              <a:t>基本概念</a:t>
            </a:r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机器学习复习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基本概念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文本框 100"/>
          <p:cNvSpPr txBox="1"/>
          <p:nvPr/>
        </p:nvSpPr>
        <p:spPr>
          <a:xfrm>
            <a:off x="467360" y="1844358"/>
            <a:ext cx="5080000" cy="21837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11</a:t>
            </a:r>
            <a:r>
              <a:rPr lang="zh-CN" altLang="en-US" sz="2000">
                <a:ea typeface="宋体" panose="02010600030101010101" pitchFamily="2" charset="-122"/>
              </a:rPr>
              <a:t>，熵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12</a:t>
            </a:r>
            <a:r>
              <a:rPr lang="zh-CN" altLang="en-US" sz="2000">
                <a:ea typeface="宋体" panose="02010600030101010101" pitchFamily="2" charset="-122"/>
              </a:rPr>
              <a:t>，连续分布的最大熵是</a:t>
            </a:r>
            <a:r>
              <a:rPr lang="zh-CN" altLang="en-US" sz="2000">
                <a:ea typeface="宋体" panose="02010600030101010101" pitchFamily="2" charset="-122"/>
              </a:rPr>
              <a:t>什么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13</a:t>
            </a:r>
            <a:r>
              <a:rPr lang="zh-CN" altLang="en-US" sz="2000">
                <a:ea typeface="宋体" panose="02010600030101010101" pitchFamily="2" charset="-122"/>
              </a:rPr>
              <a:t>，回归分析法，回归方程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14</a:t>
            </a:r>
            <a:r>
              <a:rPr lang="zh-CN" altLang="en-US" sz="2000">
                <a:ea typeface="宋体" panose="02010600030101010101" pitchFamily="2" charset="-122"/>
              </a:rPr>
              <a:t>，类别不平衡问题</a:t>
            </a:r>
            <a:endParaRPr lang="zh-CN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/>
              <a:t>15</a:t>
            </a:r>
            <a:r>
              <a:rPr lang="zh-CN" altLang="en-US" sz="2000"/>
              <a:t>，信息增益的</a:t>
            </a:r>
            <a:r>
              <a:rPr lang="zh-CN" altLang="en-US" sz="2000"/>
              <a:t>缺陷</a:t>
            </a:r>
            <a:endParaRPr lang="zh-CN" altLang="en-US" sz="200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96875" y="1195705"/>
            <a:ext cx="7772400" cy="700405"/>
          </a:xfrm>
        </p:spPr>
        <p:txBody>
          <a:bodyPr/>
          <a:p>
            <a:r>
              <a:rPr lang="zh-CN" altLang="en-US" dirty="0">
                <a:latin typeface="+mn-ea"/>
              </a:rPr>
              <a:t>基本概念</a:t>
            </a:r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10.2 </a:t>
            </a:r>
            <a:r>
              <a:rPr lang="zh-CN" altLang="en-US" dirty="0" smtClean="0"/>
              <a:t>机器学习复习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基本问题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文本框 100"/>
          <p:cNvSpPr txBox="1"/>
          <p:nvPr/>
        </p:nvSpPr>
        <p:spPr>
          <a:xfrm>
            <a:off x="467360" y="1701165"/>
            <a:ext cx="8124825" cy="4338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机器学习的基本过程、三要素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最大似然估计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最小二乘法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过拟合的解决办法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决策树的基本</a:t>
            </a:r>
            <a:r>
              <a:rPr lang="zh-CN" sz="2000">
                <a:ea typeface="宋体" panose="02010600030101010101" pitchFamily="2" charset="-122"/>
              </a:rPr>
              <a:t>结构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线性模型的衍生和广义线性</a:t>
            </a:r>
            <a:r>
              <a:rPr lang="zh-CN" sz="2000">
                <a:ea typeface="宋体" panose="02010600030101010101" pitchFamily="2" charset="-122"/>
              </a:rPr>
              <a:t>模型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LDA(线性判别分析)的</a:t>
            </a:r>
            <a:r>
              <a:rPr lang="zh-CN" sz="2000">
                <a:ea typeface="宋体" panose="02010600030101010101" pitchFamily="2" charset="-122"/>
              </a:rPr>
              <a:t>思想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多分类学习的</a:t>
            </a:r>
            <a:r>
              <a:rPr lang="zh-CN" sz="2000">
                <a:ea typeface="宋体" panose="02010600030101010101" pitchFamily="2" charset="-122"/>
              </a:rPr>
              <a:t>思路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拆解法的</a:t>
            </a:r>
            <a:r>
              <a:rPr lang="zh-CN" sz="2000">
                <a:ea typeface="宋体" panose="02010600030101010101" pitchFamily="2" charset="-122"/>
              </a:rPr>
              <a:t>类型</a:t>
            </a:r>
            <a:endParaRPr lang="zh-CN" sz="2000"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sz="2000">
                <a:ea typeface="宋体" panose="02010600030101010101" pitchFamily="2" charset="-122"/>
              </a:rPr>
              <a:t>类别不平衡问题的解决</a:t>
            </a:r>
            <a:r>
              <a:rPr lang="zh-CN" sz="2000">
                <a:ea typeface="宋体" panose="02010600030101010101" pitchFamily="2" charset="-122"/>
              </a:rPr>
              <a:t>思路</a:t>
            </a:r>
            <a:endParaRPr lang="zh-CN" altLang="en-US" sz="200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96875" y="1052195"/>
            <a:ext cx="7772400" cy="700405"/>
          </a:xfrm>
        </p:spPr>
        <p:txBody>
          <a:bodyPr/>
          <a:p>
            <a:r>
              <a:rPr lang="zh-CN" altLang="en-US" dirty="0">
                <a:latin typeface="+mn-ea"/>
              </a:rPr>
              <a:t>基本问题</a:t>
            </a:r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10.2 </a:t>
            </a:r>
            <a:r>
              <a:rPr lang="zh-CN" altLang="en-US" dirty="0" smtClean="0"/>
              <a:t>机器学习复习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基本问题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文本框 100"/>
          <p:cNvSpPr txBox="1"/>
          <p:nvPr/>
        </p:nvSpPr>
        <p:spPr>
          <a:xfrm>
            <a:off x="467360" y="1701165"/>
            <a:ext cx="812482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11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r>
              <a:rPr lang="zh-CN" sz="2000">
                <a:ea typeface="宋体" panose="02010600030101010101" pitchFamily="2" charset="-122"/>
              </a:rPr>
              <a:t>决策模型的基本</a:t>
            </a:r>
            <a:r>
              <a:rPr lang="zh-CN" sz="2000">
                <a:ea typeface="宋体" panose="02010600030101010101" pitchFamily="2" charset="-122"/>
              </a:rPr>
              <a:t>流程</a:t>
            </a:r>
            <a:endParaRPr lang="zh-CN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12</a:t>
            </a:r>
            <a:r>
              <a:rPr lang="zh-CN" altLang="en-US" sz="2000">
                <a:ea typeface="宋体" panose="02010600030101010101" pitchFamily="2" charset="-122"/>
              </a:rPr>
              <a:t>，信息增益的</a:t>
            </a:r>
            <a:r>
              <a:rPr lang="zh-CN" altLang="en-US" sz="2000">
                <a:ea typeface="宋体" panose="02010600030101010101" pitchFamily="2" charset="-122"/>
              </a:rPr>
              <a:t>形式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13</a:t>
            </a:r>
            <a:r>
              <a:rPr lang="zh-CN" altLang="en-US" sz="2000">
                <a:ea typeface="宋体" panose="02010600030101010101" pitchFamily="2" charset="-122"/>
              </a:rPr>
              <a:t>，剪枝处理的基本</a:t>
            </a:r>
            <a:r>
              <a:rPr lang="zh-CN" altLang="en-US" sz="2000">
                <a:ea typeface="宋体" panose="02010600030101010101" pitchFamily="2" charset="-122"/>
              </a:rPr>
              <a:t>策略</a:t>
            </a:r>
            <a:endParaRPr lang="zh-CN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ea typeface="宋体" panose="02010600030101010101" pitchFamily="2" charset="-122"/>
              </a:rPr>
              <a:t>14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r>
              <a:rPr lang="zh-CN" sz="2000">
                <a:ea typeface="宋体" panose="02010600030101010101" pitchFamily="2" charset="-122"/>
              </a:rPr>
              <a:t>支持向量机的基本原理</a:t>
            </a:r>
            <a:endParaRPr lang="zh-CN" sz="2000">
              <a:ea typeface="宋体" panose="02010600030101010101" pitchFamily="2" charset="-122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sym typeface="+mn-ea"/>
              </a:rPr>
              <a:t>15</a:t>
            </a:r>
            <a:r>
              <a:rPr lang="zh-CN" altLang="en-US" sz="2000">
                <a:sym typeface="+mn-ea"/>
              </a:rPr>
              <a:t>，</a:t>
            </a:r>
            <a:r>
              <a:rPr lang="zh-CN" sz="2000">
                <a:sym typeface="+mn-ea"/>
              </a:rPr>
              <a:t>集成学习主要解决的问题</a:t>
            </a:r>
            <a:endParaRPr lang="zh-CN" sz="200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sym typeface="+mn-ea"/>
              </a:rPr>
              <a:t>16</a:t>
            </a:r>
            <a:r>
              <a:rPr lang="zh-CN" altLang="en-US" sz="2000">
                <a:sym typeface="+mn-ea"/>
              </a:rPr>
              <a:t>，</a:t>
            </a:r>
            <a:r>
              <a:rPr lang="zh-CN" sz="2000">
                <a:sym typeface="+mn-ea"/>
              </a:rPr>
              <a:t>神经网络的激活函数</a:t>
            </a:r>
            <a:endParaRPr lang="zh-CN" sz="200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2000">
                <a:sym typeface="+mn-ea"/>
              </a:rPr>
              <a:t>17</a:t>
            </a:r>
            <a:r>
              <a:rPr lang="zh-CN" altLang="en-US" sz="2000">
                <a:sym typeface="+mn-ea"/>
              </a:rPr>
              <a:t>，</a:t>
            </a:r>
            <a:r>
              <a:rPr lang="zh-CN" sz="2000">
                <a:sym typeface="+mn-ea"/>
              </a:rPr>
              <a:t>BP神经网络的学习过程</a:t>
            </a:r>
            <a:endParaRPr lang="zh-CN" altLang="en-US" sz="200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96875" y="1052195"/>
            <a:ext cx="7772400" cy="700405"/>
          </a:xfrm>
        </p:spPr>
        <p:txBody>
          <a:bodyPr/>
          <a:p>
            <a:r>
              <a:rPr lang="zh-CN" altLang="en-US" dirty="0">
                <a:latin typeface="+mn-ea"/>
              </a:rPr>
              <a:t>基本问题</a:t>
            </a:r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 </a:t>
            </a:r>
            <a:r>
              <a:rPr lang="zh-CN" altLang="en-US" dirty="0" smtClean="0"/>
              <a:t>机器学习复习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基本算法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文本框 100"/>
          <p:cNvSpPr txBox="1"/>
          <p:nvPr/>
        </p:nvSpPr>
        <p:spPr>
          <a:xfrm>
            <a:off x="467360" y="1844675"/>
            <a:ext cx="5400040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一元线性回归的基本形式和参数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求解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多元线性回归的基本形式和参数求解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求解极大似然函数估计的一般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步骤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描述决策树的算法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流程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sym typeface="+mn-ea"/>
              </a:rPr>
              <a:t>支持向量机的目标函数推导步骤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两层神经网络怎么解决异或问题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/>
              <a:t>反向传播算法</a:t>
            </a:r>
            <a:endParaRPr lang="zh-CN" altLang="en-US" sz="2000"/>
          </a:p>
          <a:p>
            <a:pPr marL="342900" indent="-342900">
              <a:buFont typeface="+mj-lt"/>
              <a:buAutoNum type="arabicPeriod"/>
            </a:pPr>
            <a:r>
              <a:rPr lang="zh-CN" altLang="en-US" sz="2000"/>
              <a:t>Bagging算个</a:t>
            </a:r>
            <a:r>
              <a:rPr lang="zh-CN" altLang="en-US" sz="2000"/>
              <a:t>过程</a:t>
            </a:r>
            <a:endParaRPr lang="zh-CN" altLang="en-US" sz="200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96875" y="1195705"/>
            <a:ext cx="7772400" cy="700405"/>
          </a:xfrm>
        </p:spPr>
        <p:txBody>
          <a:bodyPr/>
          <a:p>
            <a:r>
              <a:rPr lang="zh-CN" altLang="en-US" dirty="0">
                <a:latin typeface="+mn-ea"/>
              </a:rPr>
              <a:t>基本算法</a:t>
            </a:r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tags/tag1.xml><?xml version="1.0" encoding="utf-8"?>
<p:tagLst xmlns:p="http://schemas.openxmlformats.org/presentationml/2006/main">
  <p:tag name="KSO_WPP_MARK_KEY" val="f2cbb634-89ce-482c-83ca-1d8e43f41bb9"/>
  <p:tag name="COMMONDATA" val="eyJoZGlkIjoiMjIzMDJkNTJkOGU5NzdhMzAzZDQwOTUzOWZiYmY5MGUifQ=="/>
  <p:tag name="commondata" val="eyJoZGlkIjoiNDRlNmVjZmMyMmZlN2FkN2NjZDcwNzg3ZWFhZjYzODEifQ=="/>
</p:tagLst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523</Words>
  <Application>WPS 演示</Application>
  <PresentationFormat>全屏显示(4:3)</PresentationFormat>
  <Paragraphs>79</Paragraphs>
  <Slides>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Tahoma</vt:lpstr>
      <vt:lpstr>微软雅黑</vt:lpstr>
      <vt:lpstr>Arial Unicode MS</vt:lpstr>
      <vt:lpstr>课件PPT主题1</vt:lpstr>
      <vt:lpstr>第10章 复习</vt:lpstr>
      <vt:lpstr>10.1 机器学习复习-基本概念</vt:lpstr>
      <vt:lpstr>10.1 机器学习复习-基本概念</vt:lpstr>
      <vt:lpstr>10.2 机器学习复习-基本问题</vt:lpstr>
      <vt:lpstr>10.2 机器学习复习-基本问题</vt:lpstr>
      <vt:lpstr>10.3 机器学习复习-基本算法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金刚鼠</cp:lastModifiedBy>
  <cp:revision>1171</cp:revision>
  <dcterms:created xsi:type="dcterms:W3CDTF">2003-07-20T06:30:00Z</dcterms:created>
  <dcterms:modified xsi:type="dcterms:W3CDTF">2023-12-27T05:22:27Z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FBC8C562B24F41309A04FB92E36B8816</vt:lpwstr>
  </property>
</Properties>
</file>