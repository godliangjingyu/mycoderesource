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36"/>
  </p:handoutMasterIdLst>
  <p:sldIdLst>
    <p:sldId id="530" r:id="rId3"/>
    <p:sldId id="568" r:id="rId4"/>
    <p:sldId id="603" r:id="rId5"/>
    <p:sldId id="569" r:id="rId7"/>
    <p:sldId id="593" r:id="rId8"/>
    <p:sldId id="585" r:id="rId9"/>
    <p:sldId id="586" r:id="rId10"/>
    <p:sldId id="587" r:id="rId11"/>
    <p:sldId id="588" r:id="rId12"/>
    <p:sldId id="589" r:id="rId13"/>
    <p:sldId id="590" r:id="rId14"/>
    <p:sldId id="594" r:id="rId15"/>
    <p:sldId id="595" r:id="rId16"/>
    <p:sldId id="591" r:id="rId17"/>
    <p:sldId id="592" r:id="rId18"/>
    <p:sldId id="596" r:id="rId19"/>
    <p:sldId id="597" r:id="rId20"/>
    <p:sldId id="598" r:id="rId21"/>
    <p:sldId id="599" r:id="rId22"/>
    <p:sldId id="600" r:id="rId23"/>
    <p:sldId id="601" r:id="rId24"/>
    <p:sldId id="613" r:id="rId25"/>
    <p:sldId id="604" r:id="rId26"/>
    <p:sldId id="605" r:id="rId27"/>
    <p:sldId id="606" r:id="rId28"/>
    <p:sldId id="607" r:id="rId29"/>
    <p:sldId id="608" r:id="rId30"/>
    <p:sldId id="609" r:id="rId31"/>
    <p:sldId id="610" r:id="rId32"/>
    <p:sldId id="611" r:id="rId33"/>
    <p:sldId id="612" r:id="rId34"/>
    <p:sldId id="583" r:id="rId35"/>
  </p:sldIdLst>
  <p:sldSz cx="9144000" cy="6858000" type="screen4x3"/>
  <p:notesSz cx="6858000" cy="9144000"/>
  <p:defaultTextStyle>
    <a:defPPr>
      <a:defRPr lang="zh-CN"/>
    </a:defPPr>
    <a:lvl1pPr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1pPr>
    <a:lvl2pPr marL="4572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2pPr>
    <a:lvl3pPr marL="9144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3pPr>
    <a:lvl4pPr marL="13716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4pPr>
    <a:lvl5pPr marL="1828800" algn="l" rtl="0" fontAlgn="base">
      <a:lnSpc>
        <a:spcPct val="120000"/>
      </a:lnSpc>
      <a:spcBef>
        <a:spcPct val="20000"/>
      </a:spcBef>
      <a:spcAft>
        <a:spcPct val="0"/>
      </a:spcAft>
      <a:buClr>
        <a:schemeClr val="tx1"/>
      </a:buClr>
      <a:buSzPct val="80000"/>
      <a:buFont typeface="Wingdings" panose="05000000000000000000" pitchFamily="2" charset="2"/>
      <a:defRPr sz="32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b="1"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a:srgbClr val="B5E3F3"/>
    <a:srgbClr val="FFFFFF"/>
    <a:srgbClr val="FF0000"/>
    <a:srgbClr val="FF6600"/>
    <a:srgbClr val="E3D9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72760" autoAdjust="0"/>
  </p:normalViewPr>
  <p:slideViewPr>
    <p:cSldViewPr>
      <p:cViewPr varScale="1">
        <p:scale>
          <a:sx n="59" d="100"/>
          <a:sy n="59" d="100"/>
        </p:scale>
        <p:origin x="72" y="1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1.wmf"/><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45.wmf"/><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59.wmf"/><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66.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17.vml.rels><?xml version="1.0" encoding="UTF-8" standalone="yes"?>
<Relationships xmlns="http://schemas.openxmlformats.org/package/2006/relationships"><Relationship Id="rId7" Type="http://schemas.openxmlformats.org/officeDocument/2006/relationships/image" Target="../media/image77.wmf"/><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9.vml.rels><?xml version="1.0" encoding="UTF-8" standalone="yes"?>
<Relationships xmlns="http://schemas.openxmlformats.org/package/2006/relationships"><Relationship Id="rId4" Type="http://schemas.openxmlformats.org/officeDocument/2006/relationships/image" Target="../media/image82.wmf"/><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91.wmf"/><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96.wmf"/><Relationship Id="rId4" Type="http://schemas.openxmlformats.org/officeDocument/2006/relationships/image" Target="../media/image95.wmf"/><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04.wmf"/><Relationship Id="rId7" Type="http://schemas.openxmlformats.org/officeDocument/2006/relationships/image" Target="../media/image103.w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9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901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defRPr>
            </a:lvl1pPr>
          </a:lstStyle>
          <a:p>
            <a:pPr>
              <a:defRPr/>
            </a:pPr>
            <a:endParaRPr lang="en-US" altLang="zh-CN"/>
          </a:p>
        </p:txBody>
      </p:sp>
      <p:sp>
        <p:nvSpPr>
          <p:cNvPr id="29901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901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effectLst/>
              </a:defRPr>
            </a:lvl1pPr>
          </a:lstStyle>
          <a:p>
            <a:pPr>
              <a:defRPr/>
            </a:pPr>
            <a:fld id="{95B01064-FCC8-4740-9ED9-11F36E7CF288}"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69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buClrTx/>
              <a:buSzTx/>
              <a:buFontTx/>
              <a:buNone/>
              <a:defRPr sz="1200" b="0">
                <a:effectLst/>
              </a:defRPr>
            </a:lvl1pPr>
          </a:lstStyle>
          <a:p>
            <a:pPr>
              <a:defRPr/>
            </a:pPr>
            <a:endParaRPr lang="en-US" altLang="zh-CN"/>
          </a:p>
        </p:txBody>
      </p:sp>
      <p:sp>
        <p:nvSpPr>
          <p:cNvPr id="32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2969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969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nSpc>
                <a:spcPct val="100000"/>
              </a:lnSpc>
              <a:spcBef>
                <a:spcPct val="0"/>
              </a:spcBef>
              <a:buClrTx/>
              <a:buSzTx/>
              <a:buFontTx/>
              <a:buNone/>
              <a:defRPr sz="1200" b="0">
                <a:effectLst/>
              </a:defRPr>
            </a:lvl1pPr>
          </a:lstStyle>
          <a:p>
            <a:pPr>
              <a:defRPr/>
            </a:pPr>
            <a:endParaRPr lang="en-US" altLang="zh-CN"/>
          </a:p>
        </p:txBody>
      </p:sp>
      <p:sp>
        <p:nvSpPr>
          <p:cNvPr id="296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buClrTx/>
              <a:buSzTx/>
              <a:buFontTx/>
              <a:buNone/>
              <a:defRPr sz="1200" b="0">
                <a:effectLst/>
              </a:defRPr>
            </a:lvl1pPr>
          </a:lstStyle>
          <a:p>
            <a:pPr>
              <a:defRPr/>
            </a:pPr>
            <a:fld id="{4DF57427-B8B5-4D24-A9D7-9D6F6382E66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6" Type="http://schemas.openxmlformats.org/officeDocument/2006/relationships/hyperlink" Target="http://baike.baidu.com/item/%E7%AD%89%E5%BC%8F" TargetMode="External"/><Relationship Id="rId5" Type="http://schemas.openxmlformats.org/officeDocument/2006/relationships/hyperlink" Target="http://baike.baidu.com/item/%E5%8E%9F%E5%87%BD%E6%95%B0" TargetMode="External"/><Relationship Id="rId4" Type="http://schemas.openxmlformats.org/officeDocument/2006/relationships/hyperlink" Target="http://baike.baidu.com/item/%E7%BA%A6%E6%9D%9F%E6%9D%A1%E4%BB%B6" TargetMode="External"/><Relationship Id="rId3" Type="http://schemas.openxmlformats.org/officeDocument/2006/relationships/hyperlink" Target="http://baike.baidu.com/item/%E6%8B%89%E6%A0%BC%E6%9C%97%E6%97%A5%E4%B9%98%E5%AD%90" TargetMode="External"/><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7" Type="http://schemas.openxmlformats.org/officeDocument/2006/relationships/hyperlink" Target="https://baike.baidu.com/item/%E5%86%85%E7%A7%AF" TargetMode="External"/><Relationship Id="rId6" Type="http://schemas.openxmlformats.org/officeDocument/2006/relationships/hyperlink" Target="https://baike.baidu.com/item/%E6%AC%A7%E5%87%A0%E9%87%8C%E5%BE%97%E7%A9%BA%E9%97%B4" TargetMode="External"/><Relationship Id="rId5" Type="http://schemas.openxmlformats.org/officeDocument/2006/relationships/hyperlink" Target="https://baike.baidu.com/item/%E4%BA%8C%E5%85%83%E8%BF%90%E7%AE%97" TargetMode="External"/><Relationship Id="rId4" Type="http://schemas.openxmlformats.org/officeDocument/2006/relationships/hyperlink" Target="https://baike.baidu.com/item/%E6%A0%87%E9%87%8F" TargetMode="External"/><Relationship Id="rId3" Type="http://schemas.openxmlformats.org/officeDocument/2006/relationships/hyperlink" Target="https://baike.baidu.com/item/%E5%90%91%E9%87%8F" TargetMode="External"/><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9" Type="http://schemas.openxmlformats.org/officeDocument/2006/relationships/hyperlink" Target="http://en.wikipedia.org/wiki/Hilbert_space" TargetMode="External"/><Relationship Id="rId8" Type="http://schemas.openxmlformats.org/officeDocument/2006/relationships/hyperlink" Target="https://baike.baidu.com/item/%E5%88%97%E7%9F%A9%E9%98%B5" TargetMode="External"/><Relationship Id="rId7" Type="http://schemas.openxmlformats.org/officeDocument/2006/relationships/hyperlink" Target="https://baike.baidu.com/item/%E5%AE%9E%E5%AF%B9%E7%A7%B0%E7%9F%A9%E9%98%B5" TargetMode="External"/><Relationship Id="rId6" Type="http://schemas.openxmlformats.org/officeDocument/2006/relationships/hyperlink" Target="https://baike.baidu.com/item/%E6%AD%A3%E5%AE%9A" TargetMode="External"/><Relationship Id="rId5" Type="http://schemas.openxmlformats.org/officeDocument/2006/relationships/hyperlink" Target="https://baike.baidu.com/item/%E7%9F%A9%E9%98%B5" TargetMode="External"/><Relationship Id="rId4" Type="http://schemas.openxmlformats.org/officeDocument/2006/relationships/hyperlink" Target="https://baike.baidu.com/item/%E9%A1%BA%E5%BA%8F%E4%B8%BB%E5%AD%90%E5%BC%8F" TargetMode="External"/><Relationship Id="rId3" Type="http://schemas.openxmlformats.org/officeDocument/2006/relationships/hyperlink" Target="https://baike.baidu.com/item/%E4%B8%BB%E5%AD%90%E5%BC%8F" TargetMode="External"/><Relationship Id="rId2" Type="http://schemas.openxmlformats.org/officeDocument/2006/relationships/notesMaster" Target="../notesMasters/notesMaster1.xml"/><Relationship Id="rId13" Type="http://schemas.openxmlformats.org/officeDocument/2006/relationships/hyperlink" Target="http://en.wikipedia.org/wiki/Complete_metric_space" TargetMode="External"/><Relationship Id="rId12" Type="http://schemas.openxmlformats.org/officeDocument/2006/relationships/hyperlink" Target="http://en.wikipedia.org/wiki/Metric_space" TargetMode="External"/><Relationship Id="rId11" Type="http://schemas.openxmlformats.org/officeDocument/2006/relationships/hyperlink" Target="http://en.wikipedia.org/wiki/Normed_space" TargetMode="External"/><Relationship Id="rId10" Type="http://schemas.openxmlformats.org/officeDocument/2006/relationships/hyperlink" Target="http://en.wikipedia.org/wiki/Inner_product_space" TargetMode="Externa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6" Type="http://schemas.openxmlformats.org/officeDocument/2006/relationships/hyperlink" Target="https://baike.baidu.com/item/%E9%9B%86%E5%90%88" TargetMode="External"/><Relationship Id="rId5" Type="http://schemas.openxmlformats.org/officeDocument/2006/relationships/hyperlink" Target="https://baike.baidu.com/item/%E6%9C%89%E5%BA%8F%E5%AF%B9" TargetMode="External"/><Relationship Id="rId4" Type="http://schemas.openxmlformats.org/officeDocument/2006/relationships/hyperlink" Target="https://baike.baidu.com/item/%E5%85%83%E7%B4%A0%E7%BB%84%E6%88%90" TargetMode="External"/><Relationship Id="rId3" Type="http://schemas.openxmlformats.org/officeDocument/2006/relationships/hyperlink" Target="https://baike.baidu.com/item/%E5%8D%95%E4%BD%8D%E5%85%83" TargetMode="External"/><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baike.so.com/doc/6639854-6853665.html" TargetMode="External"/><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baike.so.com/doc/6639854-6853665.html" TargetMode="External"/><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latin typeface="+mn-ea"/>
              </a:rPr>
              <a:t>Vapnik</a:t>
            </a:r>
            <a:r>
              <a:rPr lang="en-US" altLang="zh-CN" dirty="0" smtClean="0">
                <a:latin typeface="+mn-ea"/>
              </a:rPr>
              <a:t> </a:t>
            </a:r>
            <a:r>
              <a:rPr lang="zh-CN" altLang="en-US" dirty="0" smtClean="0">
                <a:latin typeface="+mn-ea"/>
              </a:rPr>
              <a:t>瓦普尼克</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维被认为是数学和计算机科学中非常重要的定量化概念，它可用来刻画分类系统的性能。模式识别中</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维的直观定义是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对一个指示函数集，如果存在</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h</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个样本能够被函数集中的函数按所有可能的</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2h</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2</a:t>
            </a:r>
            <a:r>
              <a:rPr lang="en-US" altLang="zh-CN" sz="1200" b="0" i="0" kern="1200" baseline="30000" dirty="0" smtClean="0">
                <a:solidFill>
                  <a:schemeClr val="tx1"/>
                </a:solidFill>
                <a:effectLst/>
                <a:latin typeface="Arial" panose="020B0604020202020204" pitchFamily="34" charset="0"/>
                <a:ea typeface="宋体" panose="02010600030101010101" pitchFamily="2" charset="-122"/>
                <a:cs typeface="+mn-cs"/>
              </a:rPr>
              <a:t>h</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吗？）种形式分开，则称函数集能够把</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h</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个样本打散，函数集的</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维就是它能打散的最大样本数目</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h</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，若对任意数目的样本都有函数能将它们打散</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则函数集的</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维是无穷大。有界实函数的</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维可以通过用一定的阈值将它转化成指示函数来定义。</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维反映了函数集的学习能力，</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维越大则学习机器越复杂，所以</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维又是学习机器复杂程度的一种衡量。</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    换一个角度来理解，如果用函数类</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{f(</a:t>
            </a:r>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z,a</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代表一个学习机，</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确定后就确定了一个判别函数了</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EF</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，而</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VC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维为该学习机能学习的可以由其分类函数正确给出的所有可能二值标识的最大训练样本数。</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dirty="0" err="1" smtClean="0">
                <a:latin typeface="+mn-ea"/>
              </a:rPr>
              <a:t>Vapnik</a:t>
            </a:r>
            <a:r>
              <a:rPr lang="en-US" altLang="zh-CN" dirty="0" smtClean="0">
                <a:latin typeface="+mn-ea"/>
              </a:rPr>
              <a:t>    </a:t>
            </a:r>
            <a:r>
              <a:rPr lang="zh-CN" altLang="en-US" dirty="0" smtClean="0">
                <a:latin typeface="+mn-ea"/>
              </a:rPr>
              <a:t>苏联人</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直观看，正中间的最后</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这样的超平面如何描述</a:t>
            </a:r>
            <a:endParaRPr lang="en-US" altLang="zh-CN" dirty="0" smtClean="0"/>
          </a:p>
          <a:p>
            <a:endParaRPr lang="en-US" altLang="zh-CN" dirty="0" smtClean="0"/>
          </a:p>
          <a:p>
            <a:r>
              <a:rPr lang="zh-CN" altLang="en-US" dirty="0" smtClean="0"/>
              <a:t>中红色的那个，因为该划分超平面对训练样本局部扰动的“容忍”性最好</a:t>
            </a:r>
            <a:r>
              <a:rPr lang="en-US" altLang="zh-CN" dirty="0" smtClean="0"/>
              <a:t>.</a:t>
            </a:r>
            <a:r>
              <a:rPr lang="zh-CN" altLang="en-US" dirty="0" smtClean="0"/>
              <a:t>例</a:t>
            </a:r>
            <a:endParaRPr lang="zh-CN" altLang="en-US" dirty="0" smtClean="0"/>
          </a:p>
          <a:p>
            <a:r>
              <a:rPr lang="zh-CN" altLang="en-US" dirty="0" smtClean="0"/>
              <a:t>如，由于训练集的局限性或噪声的因素，训练集外的样本可能比图</a:t>
            </a:r>
            <a:r>
              <a:rPr lang="en-US" altLang="zh-CN" dirty="0" smtClean="0"/>
              <a:t>6.1</a:t>
            </a:r>
            <a:r>
              <a:rPr lang="zh-CN" altLang="en-US" dirty="0" smtClean="0"/>
              <a:t>中的训练样本更接近两个类的分隔界，这将使许多划分超平面出现错误，而红色的超平面受影响最小</a:t>
            </a:r>
            <a:r>
              <a:rPr lang="en-US" altLang="zh-CN" dirty="0" smtClean="0"/>
              <a:t>.</a:t>
            </a:r>
            <a:r>
              <a:rPr lang="zh-CN" altLang="en-US" dirty="0" smtClean="0"/>
              <a:t>换言之，这个划分超平面所产生的分类结果是最鲁棒的，对未见示例的泛化能力最强</a:t>
            </a:r>
            <a:r>
              <a:rPr lang="en-US" altLang="zh-CN" dirty="0" smtClean="0"/>
              <a:t>.</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点到直线的距离</a:t>
            </a:r>
            <a:endParaRPr lang="en-US" altLang="zh-CN" dirty="0" smtClean="0"/>
          </a:p>
          <a:p>
            <a:endParaRPr lang="en-US" altLang="zh-CN" dirty="0" smtClean="0"/>
          </a:p>
          <a:p>
            <a:r>
              <a:rPr lang="zh-CN" altLang="en-US" dirty="0" smtClean="0"/>
              <a:t>若超平面</a:t>
            </a:r>
            <a:r>
              <a:rPr lang="en-US" altLang="zh-CN" dirty="0" smtClean="0"/>
              <a:t>(w‘, b’)</a:t>
            </a:r>
            <a:r>
              <a:rPr lang="zh-CN" altLang="en-US" dirty="0" smtClean="0"/>
              <a:t>能将训练样本正确分类，则总存在缩放变换使式分类式成立。</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缩放产生标准距离</a:t>
            </a:r>
            <a:endParaRPr lang="en-US" altLang="zh-CN" dirty="0" smtClean="0"/>
          </a:p>
          <a:p>
            <a:endParaRPr lang="en-US" altLang="zh-CN" dirty="0" smtClean="0"/>
          </a:p>
          <a:p>
            <a:r>
              <a:rPr lang="zh-CN" altLang="en-US" dirty="0" smtClean="0"/>
              <a:t>伽</a:t>
            </a:r>
            <a:r>
              <a:rPr lang="zh-CN" altLang="en-US" dirty="0" smtClean="0"/>
              <a:t>马</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a:t>
            </a:r>
            <a:r>
              <a:rPr lang="zh-CN" altLang="en-US" dirty="0" smtClean="0"/>
              <a:t>乘</a:t>
            </a:r>
            <a:r>
              <a:rPr lang="en-US" altLang="zh-CN" dirty="0" smtClean="0"/>
              <a:t>(</a:t>
            </a:r>
            <a:r>
              <a:rPr lang="en-US" altLang="zh-CN" dirty="0" err="1" smtClean="0"/>
              <a:t>wx+b</a:t>
            </a:r>
            <a:r>
              <a:rPr lang="en-US" altLang="zh-CN" dirty="0" smtClean="0"/>
              <a:t>)</a:t>
            </a:r>
            <a:endParaRPr lang="en-US" altLang="zh-CN" dirty="0" smtClean="0"/>
          </a:p>
          <a:p>
            <a:endParaRPr lang="en-US" altLang="zh-CN" dirty="0" smtClean="0"/>
          </a:p>
          <a:p>
            <a:r>
              <a:rPr lang="en-US" altLang="zh-CN" dirty="0" err="1" smtClean="0"/>
              <a:t>yf</a:t>
            </a:r>
            <a:r>
              <a:rPr lang="en-US" altLang="zh-CN" dirty="0" smtClean="0"/>
              <a:t>(x)&gt;=1</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使用拉格朗日乘子法可得到其“对偶问题”</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解出</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后，求出</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w</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与</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b</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即可得到模型</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什么是对偶问题</a:t>
            </a:r>
            <a:br>
              <a:rPr lang="zh-CN" altLang="en-US" dirty="0" smtClean="0"/>
            </a:b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任何一个求极大化的线性规划问题都有一个求极小化的线性规划问题与之对应，反之亦然，如果我们把其中一个叫原问题，则另一个就叫做它的对偶问题，并称这一对互相联系的两个问题为一对对偶问题。</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kern="1200" dirty="0" smtClean="0">
                <a:solidFill>
                  <a:schemeClr val="tx1"/>
                </a:solidFill>
                <a:effectLst/>
                <a:latin typeface="Arial" panose="020B0604020202020204" pitchFamily="34" charset="0"/>
                <a:ea typeface="宋体" panose="02010600030101010101" pitchFamily="2" charset="-122"/>
                <a:cs typeface="+mn-cs"/>
              </a:rPr>
              <a:t>KKT</a:t>
            </a:r>
            <a:r>
              <a:rPr lang="zh-CN" altLang="en-US" sz="1200" kern="1200" dirty="0" smtClean="0">
                <a:solidFill>
                  <a:schemeClr val="tx1"/>
                </a:solidFill>
                <a:effectLst/>
                <a:latin typeface="Arial" panose="020B0604020202020204" pitchFamily="34" charset="0"/>
                <a:ea typeface="宋体" panose="02010600030101010101" pitchFamily="2" charset="-122"/>
                <a:cs typeface="+mn-cs"/>
              </a:rPr>
              <a:t>条件是解决最优化问题的时用到的一种方法，</a:t>
            </a:r>
            <a:r>
              <a:rPr lang="zh-CN" altLang="en-US" dirty="0" smtClean="0"/>
              <a:t>如果含有不等式约束，可以应用</a:t>
            </a:r>
            <a:r>
              <a:rPr lang="en-US" altLang="zh-CN" dirty="0" smtClean="0"/>
              <a:t>KKT</a:t>
            </a:r>
            <a:r>
              <a:rPr lang="zh-CN" altLang="en-US" dirty="0" smtClean="0"/>
              <a:t>条件去求取。</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在求取有约束条件的优化问题时，拉格朗日乘子法（</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Lagrange Multiplier)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和</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KKT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条件是非常重要的两个求取方法，对于等式约束的优化问题，可以应用拉格朗日乘子法去求取最优值；如果含有不等式约束，可以应用</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KKT</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条件</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去求取。当然，这两个方法求得的结果只是必要条件，只有当是凸函数的情况下，才能保证是充分必要条件。</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KKT</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条件</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是拉格朗日乘子法的泛化。</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基本的</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3"/>
              </a:rPr>
              <a:t>拉格朗日乘子</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法就是求函数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f(x1,x2,...)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在</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g(x1,x2,...)=0</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4"/>
              </a:rPr>
              <a:t>约束条件</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下的极值的方法。其主要思想是将约束条件函数与</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5"/>
              </a:rPr>
              <a:t>原函数</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联系到一起，使能配成与变量数量相等的</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6"/>
              </a:rPr>
              <a:t>等式</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方程，从而求出得到原函数极值的各个变量的解。</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支持向量机</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(Support Vector Machine, SVM) </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因此而得名</a:t>
            </a:r>
            <a:endParaRPr lang="zh-CN" altLang="en-US" sz="1200" b="1"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1" i="0" kern="1200" dirty="0" smtClean="0">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解的稀疏性：解非零分布收，</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相隔较远。</a:t>
            </a:r>
            <a:endParaRPr lang="en-US" altLang="zh-CN" sz="1200" b="1"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1"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对于含有不等式约束的优化问题，如何求取最优值呢？常用的方法是</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KKT</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条件</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，同样地，把</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所有的不等式约束、等式约束和目标函数全部写为一个式子</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L(a, b, x)= f(x) + a*g(x)+b*h(x)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KKT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条件是说最优值必须满足以下条件：</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1. L(a, b, 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对</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求导为零；</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2. h(x) =0;</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3. a*g(x) = 0;</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求取这三个等式之后就能得到候选最优值。其中第三个式子非常有趣，因为</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g(x)&lt;=0</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，如果要满足这个等式，必须</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a=0</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或者</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g(x)=0.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这是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SVM</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的很多重要性质的来源，如支持向量的概念。</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此时若要求解上述优化问题，必须满足下述条件（也是我们的求解条件）：</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smtClean="0">
                <a:solidFill>
                  <a:schemeClr val="tx1"/>
                </a:solidFill>
                <a:effectLst/>
                <a:latin typeface="+mn-ea"/>
                <a:ea typeface="+mn-ea"/>
                <a:cs typeface="+mn-cs"/>
              </a:rPr>
              <a:t>如果某非线性规划的目标函数为自变量的二次函数，约束条件全是线性函数，就称这种规划为二次规划。</a:t>
            </a:r>
            <a:endParaRPr lang="en-US" altLang="zh-CN" sz="1200" b="0" i="0" kern="1200" dirty="0" smtClean="0">
              <a:solidFill>
                <a:schemeClr val="tx1"/>
              </a:solidFill>
              <a:effectLst/>
              <a:latin typeface="+mn-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smtClean="0">
              <a:solidFill>
                <a:schemeClr val="tx1"/>
              </a:solidFill>
              <a:effectLst/>
              <a:latin typeface="+mn-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smtClean="0">
                <a:solidFill>
                  <a:schemeClr val="tx1"/>
                </a:solidFill>
                <a:effectLst/>
                <a:latin typeface="+mn-ea"/>
                <a:ea typeface="+mn-ea"/>
                <a:cs typeface="+mn-cs"/>
              </a:rPr>
              <a:t>目标函数为二次函数，约束均用线性形式给出的非线性规划问题称为二次规划问题。</a:t>
            </a:r>
            <a:endParaRPr lang="en-US" altLang="zh-CN" sz="1200" b="0" i="0" kern="1200" dirty="0" smtClean="0">
              <a:solidFill>
                <a:schemeClr val="tx1"/>
              </a:solidFill>
              <a:effectLst/>
              <a:latin typeface="+mn-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smtClean="0">
              <a:solidFill>
                <a:schemeClr val="tx1"/>
              </a:solidFill>
              <a:effectLst/>
              <a:latin typeface="+mn-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kern="1200" dirty="0" smtClean="0">
                <a:solidFill>
                  <a:schemeClr val="tx1"/>
                </a:solidFill>
                <a:effectLst/>
                <a:latin typeface="+mn-ea"/>
                <a:ea typeface="+mn-ea"/>
                <a:cs typeface="+mn-cs"/>
              </a:rPr>
              <a:t>序列最小优化算法</a:t>
            </a:r>
            <a:r>
              <a:rPr lang="en-US" altLang="zh-CN" sz="1200" b="0" i="0" kern="1200" dirty="0" smtClean="0">
                <a:solidFill>
                  <a:schemeClr val="tx1"/>
                </a:solidFill>
                <a:effectLst/>
                <a:latin typeface="+mn-ea"/>
                <a:ea typeface="+mn-ea"/>
                <a:cs typeface="+mn-cs"/>
              </a:rPr>
              <a:t>(Sequential minimal optimization, SMO)</a:t>
            </a:r>
            <a:endParaRPr lang="en-US" altLang="zh-CN" sz="1200" b="0" i="0" kern="1200" dirty="0" smtClean="0">
              <a:solidFill>
                <a:schemeClr val="tx1"/>
              </a:solidFill>
              <a:effectLst/>
              <a:latin typeface="+mn-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i="0" kern="1200" dirty="0" smtClean="0">
              <a:solidFill>
                <a:schemeClr val="tx1"/>
              </a:solidFill>
              <a:effectLst/>
              <a:latin typeface="+mn-ea"/>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latin typeface="+mn-ea"/>
                <a:ea typeface="+mn-ea"/>
              </a:rPr>
              <a:t>虽然样本数少了，但是还想更少。</a:t>
            </a:r>
            <a:endParaRPr lang="zh-CN" altLang="en-US" dirty="0">
              <a:latin typeface="+mn-ea"/>
              <a:ea typeface="+mn-ea"/>
            </a:endParaRPr>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法爱</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在数学中，数量积（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dot product; scalar product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，也称为点积）是接受在实数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R</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上的两个</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3"/>
              </a:rPr>
              <a:t>向量</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并返回一个实数值</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4"/>
              </a:rPr>
              <a:t>标量</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5"/>
              </a:rPr>
              <a:t>二元运算</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。它是</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6"/>
              </a:rPr>
              <a:t>欧几里得空间</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的标准</a:t>
            </a:r>
            <a:r>
              <a:rPr lang="zh-CN" altLang="en-US" sz="1200" b="0" i="0" u="sng" kern="1200" dirty="0" smtClean="0">
                <a:solidFill>
                  <a:schemeClr val="tx1"/>
                </a:solidFill>
                <a:effectLst/>
                <a:latin typeface="Arial" panose="020B0604020202020204" pitchFamily="34" charset="0"/>
                <a:ea typeface="宋体" panose="02010600030101010101" pitchFamily="2" charset="-122"/>
                <a:cs typeface="+mn-cs"/>
                <a:hlinkClick r:id="rId7"/>
              </a:rPr>
              <a:t>内积</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法爱</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卡帕</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核函数 </a:t>
            </a:r>
            <a:r>
              <a:rPr lang="en-US" altLang="zh-CN" dirty="0" smtClean="0"/>
              <a:t>(kernel function)</a:t>
            </a:r>
            <a:endParaRPr lang="en-US" altLang="zh-CN" dirty="0" smtClean="0"/>
          </a:p>
          <a:p>
            <a:endParaRPr lang="en-US" altLang="zh-CN" dirty="0" smtClean="0"/>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法爱</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K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卡帕</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核矩阵，</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核矩阵是样本之间通过核函数影射之后得到的，每两个样本之间进行一次核函数影射，故</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个样本就构成</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N*N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维的核矩阵。</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1</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、对于半正定矩阵来说，相应的条件应改为所有的</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3"/>
              </a:rPr>
              <a:t>主子式</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非负。</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4"/>
              </a:rPr>
              <a:t>顺序主子式</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非负并不能推出</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5"/>
              </a:rPr>
              <a:t>矩阵</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是半</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6"/>
              </a:rPr>
              <a:t>正定</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、半正定矩阵</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定义：设</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7"/>
              </a:rPr>
              <a:t>实对称矩阵</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。如果对任意的实非零</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8"/>
              </a:rPr>
              <a:t>列矩阵</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有</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X</a:t>
            </a:r>
            <a:r>
              <a:rPr lang="en-US" altLang="zh-CN" sz="1200" b="1" i="0" kern="1200" baseline="30000" dirty="0" smtClean="0">
                <a:solidFill>
                  <a:schemeClr val="tx1"/>
                </a:solidFill>
                <a:effectLst/>
                <a:latin typeface="Arial" panose="020B0604020202020204" pitchFamily="34" charset="0"/>
                <a:ea typeface="宋体" panose="02010600030101010101" pitchFamily="2" charset="-122"/>
                <a:cs typeface="+mn-cs"/>
              </a:rPr>
              <a:t>T</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A*X≥0</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，就称</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A</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为半正定矩阵</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3</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A∈Mn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K</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）是半正定矩阵的充分条件是：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的所有主子式大于或等于零。</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dirty="0" smtClean="0"/>
          </a:p>
          <a:p>
            <a:endParaRPr lang="en-US" altLang="zh-CN" dirty="0" smtClean="0"/>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“再生核希尔伯特空间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(Reproducing Kernel Hilbert Space, RKHS)”</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。“再生核”就是指的我们用于计算内积的核函数，再说“再生”之前，我们先来简单地介绍一下 </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9"/>
              </a:rPr>
              <a:t>Hilbert Space</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 ，它其实是欧氏空间的一个推广。首先从基本的向量空间开始，空间中的点具有加法和数乘的操作，在这个向量空间上定义一个内积操作，于是空间将升级为</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10"/>
              </a:rPr>
              <a:t>内积空间</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。根据内积可以定义一个范数：</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x</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2=⟨</a:t>
            </a:r>
            <a:r>
              <a:rPr lang="en-US" altLang="zh-CN" sz="1200" b="0" i="1" u="none" strike="noStrike" kern="1200" dirty="0" err="1" smtClean="0">
                <a:solidFill>
                  <a:schemeClr val="tx1"/>
                </a:solidFill>
                <a:effectLst/>
                <a:latin typeface="Arial" panose="020B0604020202020204" pitchFamily="34" charset="0"/>
                <a:ea typeface="宋体" panose="02010600030101010101" pitchFamily="2" charset="-122"/>
                <a:cs typeface="+mn-cs"/>
              </a:rPr>
              <a:t>x</a:t>
            </a:r>
            <a:r>
              <a:rPr lang="en-US" altLang="zh-CN" sz="1200" b="0" i="0" u="none" strike="noStrike" kern="1200" dirty="0" err="1"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err="1" smtClean="0">
                <a:solidFill>
                  <a:schemeClr val="tx1"/>
                </a:solidFill>
                <a:effectLst/>
                <a:latin typeface="Arial" panose="020B0604020202020204" pitchFamily="34" charset="0"/>
                <a:ea typeface="宋体" panose="02010600030101010101" pitchFamily="2" charset="-122"/>
                <a:cs typeface="+mn-cs"/>
              </a:rPr>
              <a:t>x</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从而成为一个</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11"/>
              </a:rPr>
              <a:t>赋范向量空间</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。范数可以用于定义一个度量</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d</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x</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1,</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x</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2)=∥</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x</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1−</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x</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2∥</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从而成为一个</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12"/>
              </a:rPr>
              <a:t>度量空间</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。如果这样的空间在这个度量下是</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13"/>
              </a:rPr>
              <a:t>完备的</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，那么这个空间叫做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Hilbert Space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。简单地来说，</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Hilbert Space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就是完备的内积空间。最简单的例子就是欧氏空间 </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R</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m</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 ，这是一个 </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m</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 维的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Hilbert Space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，无穷维的例子比如是区间 </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err="1" smtClean="0">
                <a:solidFill>
                  <a:schemeClr val="tx1"/>
                </a:solidFill>
                <a:effectLst/>
                <a:latin typeface="Arial" panose="020B0604020202020204" pitchFamily="34" charset="0"/>
                <a:ea typeface="宋体" panose="02010600030101010101" pitchFamily="2" charset="-122"/>
                <a:cs typeface="+mn-cs"/>
              </a:rPr>
              <a:t>a</a:t>
            </a:r>
            <a:r>
              <a:rPr lang="en-US" altLang="zh-CN" sz="1200" b="0" i="0" u="none" strike="noStrike" kern="1200" dirty="0" err="1"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err="1" smtClean="0">
                <a:solidFill>
                  <a:schemeClr val="tx1"/>
                </a:solidFill>
                <a:effectLst/>
                <a:latin typeface="Arial" panose="020B0604020202020204" pitchFamily="34" charset="0"/>
                <a:ea typeface="宋体" panose="02010600030101010101" pitchFamily="2" charset="-122"/>
                <a:cs typeface="+mn-cs"/>
              </a:rPr>
              <a:t>b</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 上的连续函数所组成的空间，并使用如下的内积定义</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f</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1,</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f</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2⟩=</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baf</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1(</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t</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f</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2(</a:t>
            </a:r>
            <a:r>
              <a:rPr lang="en-US" altLang="zh-CN" sz="1200" b="0" i="1" u="none" strike="noStrike" kern="1200" dirty="0" smtClean="0">
                <a:solidFill>
                  <a:schemeClr val="tx1"/>
                </a:solidFill>
                <a:effectLst/>
                <a:latin typeface="Arial" panose="020B0604020202020204" pitchFamily="34" charset="0"/>
                <a:ea typeface="宋体" panose="02010600030101010101" pitchFamily="2" charset="-122"/>
                <a:cs typeface="+mn-cs"/>
              </a:rPr>
              <a:t>t</a:t>
            </a:r>
            <a:r>
              <a:rPr lang="en-US" altLang="zh-CN" sz="1200" b="0" i="0" u="none" strike="noStrike"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1" u="none" strike="noStrike" kern="1200" dirty="0" err="1" smtClean="0">
                <a:solidFill>
                  <a:schemeClr val="tx1"/>
                </a:solidFill>
                <a:effectLst/>
                <a:latin typeface="Arial" panose="020B0604020202020204" pitchFamily="34" charset="0"/>
                <a:ea typeface="宋体" panose="02010600030101010101" pitchFamily="2" charset="-122"/>
                <a:cs typeface="+mn-cs"/>
              </a:rPr>
              <a:t>dt</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我们这里的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RKHS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就是一个函数空间。实际上，在这里我们有一个很有用的性质，就是维度相同的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Hilbert Space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是互相同构的</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也就是说空间的各种结构（包括内积、范数、度量和向量运算等）都可以在不同的空间之间转换的时候得到保持。有了这样的性质，就可以让我们不用去关心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RKHS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中的点到底是什么。</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直积</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又叫笛卡尔（</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Descartes</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）乘积。设</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 G1</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 G2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是两个群，有各自的乘法 *、</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和各自的</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3"/>
              </a:rPr>
              <a:t>单位元</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e</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l</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，分别从</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G1</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和</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中任取一个</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4"/>
              </a:rPr>
              <a:t>元素组成</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所有可能的</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5"/>
              </a:rPr>
              <a:t>有序对</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，组成的</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6"/>
              </a:rPr>
              <a:t>集合</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记作</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G1×G2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，在上面定义一个运算◎，对于</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G1×G2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中任意两个元素</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(a1,B1)</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(a2,B2)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，规定</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(a1,B1) (a2,B2)=(a1 * a2,B1 · B2)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，这叫做</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G1</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和</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G2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的直积</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标准约束是</a:t>
            </a:r>
            <a:r>
              <a:rPr lang="en-US" altLang="zh-CN" dirty="0" smtClean="0"/>
              <a:t>y(</a:t>
            </a:r>
            <a:r>
              <a:rPr lang="en-US" altLang="zh-CN" dirty="0" err="1" smtClean="0"/>
              <a:t>wx+b</a:t>
            </a:r>
            <a:r>
              <a:rPr lang="en-US" altLang="zh-CN" dirty="0" smtClean="0"/>
              <a:t>)-1&gt;0</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替代损失</a:t>
            </a:r>
            <a:r>
              <a:rPr lang="en-US" altLang="zh-CN" dirty="0" smtClean="0"/>
              <a:t>(surrogate loss)</a:t>
            </a:r>
            <a:endParaRPr lang="en-US" altLang="zh-CN" dirty="0" smtClean="0"/>
          </a:p>
          <a:p>
            <a:pPr marL="0" marR="0" lvl="2" indent="0" algn="l" defTabSz="914400" rtl="0" eaLnBrk="0" fontAlgn="base" latinLnBrk="0" hangingPunct="0">
              <a:lnSpc>
                <a:spcPct val="100000"/>
              </a:lnSpc>
              <a:spcBef>
                <a:spcPct val="30000"/>
              </a:spcBef>
              <a:spcAft>
                <a:spcPct val="0"/>
              </a:spcAft>
              <a:buClrTx/>
              <a:buSzTx/>
              <a:buFontTx/>
              <a:buNone/>
              <a:defRPr/>
            </a:pPr>
            <a:r>
              <a:rPr lang="en-US" altLang="zh-CN" dirty="0" smtClean="0">
                <a:latin typeface="+mn-ea"/>
              </a:rPr>
              <a:t>.</a:t>
            </a:r>
            <a:r>
              <a:rPr lang="zh-CN" altLang="en-US" dirty="0" smtClean="0">
                <a:latin typeface="+mn-ea"/>
              </a:rPr>
              <a:t>图</a:t>
            </a:r>
            <a:r>
              <a:rPr lang="en-US" altLang="zh-CN" dirty="0" smtClean="0">
                <a:latin typeface="+mn-ea"/>
              </a:rPr>
              <a:t>6.5</a:t>
            </a:r>
            <a:r>
              <a:rPr lang="zh-CN" altLang="en-US" dirty="0" smtClean="0">
                <a:latin typeface="+mn-ea"/>
              </a:rPr>
              <a:t>给出了三种常用的替代损失函数</a:t>
            </a:r>
            <a:r>
              <a:rPr lang="en-US" altLang="zh-CN" dirty="0" smtClean="0">
                <a:latin typeface="+mn-ea"/>
              </a:rPr>
              <a:t>:</a:t>
            </a:r>
            <a:endParaRPr lang="zh-CN" altLang="en-US"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0"/>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如果某</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非线性规划的目标函数为自变量的二次函数，约束条件全是线性函数，</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就称这种规划为二次规划。其数学模型为</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pPr latinLnBrk="0"/>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pPr latinLnBrk="0"/>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引入“松弛变量”</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(slack variables)</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pPr latinLnBrk="0"/>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pPr latinLnBrk="0"/>
            <a:r>
              <a:rPr lang="el-GR" altLang="zh-CN" sz="1200" b="1" i="0" kern="1200" dirty="0" smtClean="0">
                <a:solidFill>
                  <a:schemeClr val="tx1"/>
                </a:solidFill>
                <a:effectLst/>
                <a:latin typeface="Arial" panose="020B0604020202020204" pitchFamily="34" charset="0"/>
                <a:ea typeface="宋体" panose="02010600030101010101" pitchFamily="2" charset="-122"/>
                <a:cs typeface="+mn-cs"/>
              </a:rPr>
              <a:t>ξ</a:t>
            </a:r>
            <a:r>
              <a:rPr lang="en-US" altLang="zh-CN" sz="1200" b="1" i="0" kern="1200" dirty="0" smtClean="0">
                <a:solidFill>
                  <a:schemeClr val="tx1"/>
                </a:solidFill>
                <a:effectLst/>
                <a:latin typeface="Arial" panose="020B0604020202020204" pitchFamily="34" charset="0"/>
                <a:ea typeface="宋体" panose="02010600030101010101" pitchFamily="2" charset="-122"/>
                <a:cs typeface="+mn-cs"/>
              </a:rPr>
              <a:t> </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克西</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max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第二参数的替代</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pPr latinLnBrk="0"/>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pPr latinLnBrk="0"/>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硬间隔没有</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C</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正则化</a:t>
            </a:r>
            <a:r>
              <a:rPr lang="en-US" altLang="zh-CN" dirty="0" smtClean="0"/>
              <a:t>(regularization)</a:t>
            </a:r>
            <a:endParaRPr lang="en-US" altLang="zh-CN" dirty="0" smtClean="0"/>
          </a:p>
          <a:p>
            <a:endParaRPr lang="en-US" altLang="zh-CN" dirty="0" smtClean="0"/>
          </a:p>
          <a:p>
            <a:r>
              <a:rPr lang="zh-CN" altLang="en-US" dirty="0" smtClean="0"/>
              <a:t>是“正则化”</a:t>
            </a:r>
            <a:r>
              <a:rPr lang="en-US" altLang="zh-CN" dirty="0" smtClean="0"/>
              <a:t> </a:t>
            </a:r>
            <a:r>
              <a:rPr lang="zh-CN" altLang="en-US" dirty="0" smtClean="0"/>
              <a:t>问题</a:t>
            </a:r>
            <a:endParaRPr lang="en-US" altLang="zh-CN" dirty="0" smtClean="0"/>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求解</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3"/>
              </a:rPr>
              <a:t>不适定问题</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的普遍方法是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用一组与原不适定问题相</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邻近</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的适定问题的解去逼近原问题的解</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这种方法称为</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正则化方法</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范数：</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满足</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1.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正定性</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:║x║≥0,║x║=0 </a:t>
            </a:r>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iff</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 x=0</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2.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齐次性</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:║cx║=│c│║x║,</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3.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三角不等式</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x+y</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║≤║x║+║y║</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则称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Cn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中定义了向量范数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为向量</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的范数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正则化可理解为“罚函数法”</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通过对不希望的结果施以惩罚，使得优化过程趋向于希望目标</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0</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范数，向量中非零元素的个数。</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1</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范数，为绝对值之和。</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2</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范数，就是通常意义上的模。</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范数：</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满足</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1.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正定性</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:║x║≥0,║x║=0 </a:t>
            </a:r>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iff</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 x=0</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2.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齐次性</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:║cx║=│c│║x║,</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3. </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三角不等式</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x+y</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║≤║x║+║y║</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则称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Cn</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中定义了向量范数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为向量</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x</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的范数</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dirty="0" smtClean="0"/>
              <a:t>正</a:t>
            </a:r>
            <a:r>
              <a:rPr lang="zh-CN" altLang="en-US" dirty="0" smtClean="0"/>
              <a:t>则化</a:t>
            </a:r>
            <a:r>
              <a:rPr lang="en-US" altLang="zh-CN" dirty="0" smtClean="0"/>
              <a:t>(regularization)</a:t>
            </a:r>
            <a:endParaRPr lang="en-US" altLang="zh-CN" dirty="0" smtClean="0"/>
          </a:p>
          <a:p>
            <a:endParaRPr lang="en-US" altLang="zh-CN" dirty="0" smtClean="0"/>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正则化可理解为“罚函数法”</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通过对不希望的结果施以惩罚，使得优化过程趋向于希望目标</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管上面我们思维导图的过程叫做正则化</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dirty="0" smtClean="0"/>
          </a:p>
          <a:p>
            <a:r>
              <a:rPr lang="zh-CN" altLang="en-US" dirty="0" smtClean="0"/>
              <a:t>是“正则化”</a:t>
            </a:r>
            <a:r>
              <a:rPr lang="en-US" altLang="zh-CN" dirty="0" smtClean="0"/>
              <a:t> </a:t>
            </a:r>
            <a:r>
              <a:rPr lang="zh-CN" altLang="en-US" dirty="0" smtClean="0"/>
              <a:t>问题</a:t>
            </a:r>
            <a:endParaRPr lang="en-US" altLang="zh-CN" dirty="0" smtClean="0"/>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求解</a:t>
            </a:r>
            <a:r>
              <a:rPr lang="zh-CN" altLang="en-US" sz="1200" b="0" i="0" u="none" strike="noStrike" kern="1200" dirty="0" smtClean="0">
                <a:solidFill>
                  <a:schemeClr val="tx1"/>
                </a:solidFill>
                <a:effectLst/>
                <a:latin typeface="Arial" panose="020B0604020202020204" pitchFamily="34" charset="0"/>
                <a:ea typeface="宋体" panose="02010600030101010101" pitchFamily="2" charset="-122"/>
                <a:cs typeface="+mn-cs"/>
                <a:hlinkClick r:id="rId3"/>
              </a:rPr>
              <a:t>不适定问题</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的普遍方法是</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用一组与原不适定问题相</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邻近</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的适定问题的解去逼近原问题的解</a:t>
            </a:r>
            <a:r>
              <a:rPr lang="en-US" altLang="zh-CN" sz="1200" b="0" i="0" kern="1200" dirty="0" smtClean="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这种方法称为</a:t>
            </a:r>
            <a:r>
              <a:rPr lang="zh-CN" altLang="en-US" sz="1200" b="1" i="0" kern="1200" dirty="0" smtClean="0">
                <a:solidFill>
                  <a:schemeClr val="tx1"/>
                </a:solidFill>
                <a:effectLst/>
                <a:latin typeface="Arial" panose="020B0604020202020204" pitchFamily="34" charset="0"/>
                <a:ea typeface="宋体" panose="02010600030101010101" pitchFamily="2" charset="-122"/>
                <a:cs typeface="+mn-cs"/>
              </a:rPr>
              <a:t>正则化方法</a:t>
            </a:r>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a:t>
            </a:r>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正则化可理解为“罚函数法”</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smtClean="0">
                <a:solidFill>
                  <a:schemeClr val="tx1"/>
                </a:solidFill>
                <a:effectLst/>
                <a:latin typeface="Arial" panose="020B0604020202020204" pitchFamily="34" charset="0"/>
                <a:ea typeface="宋体" panose="02010600030101010101" pitchFamily="2" charset="-122"/>
                <a:cs typeface="+mn-cs"/>
              </a:rPr>
              <a:t>通过对不希望的结果施以惩罚，使得优化过程趋向于希望目标</a:t>
            </a:r>
            <a:endParaRPr lang="zh-CN" altLang="en-US"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smtClean="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支持向量回归</a:t>
            </a:r>
            <a:r>
              <a:rPr lang="en-US" altLang="zh-CN" dirty="0" smtClean="0"/>
              <a:t>(Support Vector Regression</a:t>
            </a:r>
            <a:r>
              <a:rPr lang="zh-CN" altLang="en-US" dirty="0" smtClean="0"/>
              <a:t>，简称</a:t>
            </a:r>
            <a:r>
              <a:rPr lang="en-US" altLang="zh-CN" dirty="0" smtClean="0"/>
              <a:t>SVR)</a:t>
            </a:r>
            <a:endParaRPr lang="en-US" altLang="zh-CN" dirty="0" smtClean="0"/>
          </a:p>
          <a:p>
            <a:endParaRPr lang="en-US" altLang="zh-CN" dirty="0" smtClean="0"/>
          </a:p>
          <a:p>
            <a:r>
              <a:rPr lang="en-US" altLang="zh-CN" dirty="0" smtClean="0"/>
              <a:t>e</a:t>
            </a:r>
            <a:r>
              <a:rPr lang="zh-CN" altLang="en-US" dirty="0" smtClean="0"/>
              <a:t>埃普西隆</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t>e</a:t>
            </a:r>
            <a:r>
              <a:rPr lang="zh-CN" altLang="en-US" dirty="0" smtClean="0"/>
              <a:t>埃普西隆</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smtClean="0"/>
              <a:t>e</a:t>
            </a:r>
            <a:r>
              <a:rPr lang="zh-CN" altLang="en-US" dirty="0" smtClean="0"/>
              <a:t>埃普西隆</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两个松弛变量，</a:t>
            </a:r>
            <a:r>
              <a:rPr lang="zh-CN" altLang="en-US" b="1" dirty="0" smtClean="0"/>
              <a:t>超平面左边和右边</a:t>
            </a:r>
            <a:r>
              <a:rPr lang="zh-CN" altLang="en-US" dirty="0" smtClean="0"/>
              <a:t>，松弛变量也要单约束</a:t>
            </a:r>
            <a:endParaRPr lang="en-US" altLang="zh-CN" dirty="0" smtClean="0"/>
          </a:p>
          <a:p>
            <a:r>
              <a:rPr lang="zh-CN" altLang="en-US" dirty="0" smtClean="0"/>
              <a:t>前面都是一个值</a:t>
            </a:r>
            <a:endParaRPr lang="en-US" altLang="zh-CN" dirty="0" smtClean="0"/>
          </a:p>
          <a:p>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smtClean="0"/>
              <a:t>对偶问题</a:t>
            </a:r>
            <a:endParaRPr lang="zh-CN" altLang="en-US" dirty="0" smtClean="0"/>
          </a:p>
          <a:p>
            <a:r>
              <a:rPr lang="en-US" altLang="zh-CN" dirty="0" smtClean="0"/>
              <a:t>1</a:t>
            </a:r>
            <a:r>
              <a:rPr lang="zh-CN" altLang="en-US" dirty="0" smtClean="0"/>
              <a:t>、拉格朗日乘子将约束条件写入优化函数</a:t>
            </a:r>
            <a:endParaRPr lang="en-US" altLang="zh-CN" dirty="0" smtClean="0"/>
          </a:p>
          <a:p>
            <a:r>
              <a:rPr lang="en-US" altLang="zh-CN" dirty="0" smtClean="0"/>
              <a:t>2</a:t>
            </a:r>
            <a:r>
              <a:rPr lang="zh-CN" altLang="en-US" dirty="0" smtClean="0"/>
              <a:t>、偏导求参数（用拉格朗日乘子表示）</a:t>
            </a:r>
            <a:endParaRPr lang="en-US" altLang="zh-CN" dirty="0" smtClean="0"/>
          </a:p>
          <a:p>
            <a:r>
              <a:rPr lang="en-US" altLang="zh-CN" dirty="0" smtClean="0"/>
              <a:t>3</a:t>
            </a:r>
            <a:r>
              <a:rPr lang="zh-CN" altLang="en-US" dirty="0" smtClean="0"/>
              <a:t>、得到拉格朗日乘子优化函数</a:t>
            </a:r>
            <a:endParaRPr lang="en-US" altLang="zh-CN" dirty="0" smtClean="0"/>
          </a:p>
          <a:p>
            <a:endParaRPr lang="en-US" altLang="zh-CN" dirty="0" smtClean="0"/>
          </a:p>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能使式</a:t>
            </a:r>
            <a:r>
              <a:rPr lang="en-US" altLang="zh-CN" dirty="0" smtClean="0"/>
              <a:t>(6.53)</a:t>
            </a:r>
            <a:r>
              <a:rPr lang="zh-CN" altLang="en-US" dirty="0" smtClean="0"/>
              <a:t>中的</a:t>
            </a:r>
            <a:r>
              <a:rPr lang="en-US" altLang="zh-CN" dirty="0" smtClean="0"/>
              <a:t>(a’-a)!=0</a:t>
            </a:r>
            <a:r>
              <a:rPr lang="zh-CN" altLang="en-US" dirty="0" smtClean="0"/>
              <a:t>的样本即为</a:t>
            </a:r>
            <a:r>
              <a:rPr lang="en-US" altLang="zh-CN" dirty="0" smtClean="0"/>
              <a:t>SVR</a:t>
            </a:r>
            <a:r>
              <a:rPr lang="zh-CN" altLang="en-US" dirty="0" smtClean="0"/>
              <a:t>的支持向量，它们必落在间隔带之外。显然，</a:t>
            </a:r>
            <a:r>
              <a:rPr lang="en-US" altLang="zh-CN" dirty="0" smtClean="0"/>
              <a:t>SVR</a:t>
            </a:r>
            <a:r>
              <a:rPr lang="zh-CN" altLang="en-US" dirty="0" smtClean="0"/>
              <a:t>的支持向量仅训练样本的一部分，即其解仍具有稀疏性。</a:t>
            </a:r>
            <a:endParaRPr lang="en-US" altLang="zh-CN" dirty="0" smtClean="0"/>
          </a:p>
          <a:p>
            <a:endParaRPr lang="en-US" altLang="zh-CN" dirty="0" smtClean="0"/>
          </a:p>
          <a:p>
            <a:r>
              <a:rPr lang="zh-CN" altLang="en-US" dirty="0" smtClean="0"/>
              <a:t>法爱</a:t>
            </a:r>
            <a:endParaRPr lang="en-US" altLang="zh-CN" dirty="0" smtClean="0"/>
          </a:p>
          <a:p>
            <a:r>
              <a:rPr lang="zh-CN" altLang="en-US" dirty="0" smtClean="0"/>
              <a:t>卡帕</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表示定理 </a:t>
            </a:r>
            <a:r>
              <a:rPr lang="en-US" altLang="zh-CN" dirty="0" smtClean="0"/>
              <a:t>(</a:t>
            </a:r>
            <a:r>
              <a:rPr lang="en-US" altLang="zh-CN" dirty="0" err="1" smtClean="0"/>
              <a:t>Representer</a:t>
            </a:r>
            <a:r>
              <a:rPr lang="en-US" altLang="zh-CN" dirty="0" smtClean="0"/>
              <a:t> Theorem)</a:t>
            </a:r>
            <a:endParaRPr lang="en-US" altLang="zh-CN" dirty="0" smtClean="0"/>
          </a:p>
          <a:p>
            <a:endParaRPr lang="en-US" altLang="zh-CN" dirty="0" smtClean="0"/>
          </a:p>
          <a:p>
            <a:r>
              <a:rPr lang="zh-CN" altLang="en-US" dirty="0" smtClean="0"/>
              <a:t>正则化（统计学习的一般形式）</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r>
              <a:rPr lang="zh-CN" altLang="en-US" dirty="0" smtClean="0"/>
              <a:t>核线性判别分析</a:t>
            </a:r>
            <a:r>
              <a:rPr lang="en-US" altLang="zh-CN" dirty="0" smtClean="0"/>
              <a:t>(</a:t>
            </a:r>
            <a:r>
              <a:rPr lang="en-US" altLang="zh-CN" dirty="0" err="1" smtClean="0"/>
              <a:t>Kernelized</a:t>
            </a:r>
            <a:r>
              <a:rPr lang="en-US" altLang="zh-CN" dirty="0" smtClean="0"/>
              <a:t> Linear </a:t>
            </a:r>
            <a:r>
              <a:rPr lang="en-US" altLang="zh-CN" dirty="0" err="1" smtClean="0"/>
              <a:t>Discriminan</a:t>
            </a:r>
            <a:r>
              <a:rPr lang="en-US" altLang="zh-CN" dirty="0" smtClean="0"/>
              <a:t> Analysis</a:t>
            </a:r>
            <a:r>
              <a:rPr lang="zh-CN" altLang="en-US" dirty="0" smtClean="0"/>
              <a:t>）</a:t>
            </a:r>
            <a:r>
              <a:rPr lang="en-US" altLang="zh-CN" dirty="0" smtClean="0"/>
              <a:t>KLDA</a:t>
            </a:r>
            <a:endParaRPr lang="zh-CN" altLang="en-US" dirty="0" smtClean="0"/>
          </a:p>
          <a:p>
            <a:endParaRPr lang="en-US" altLang="zh-CN" dirty="0" smtClean="0"/>
          </a:p>
          <a:p>
            <a:r>
              <a:rPr lang="zh-CN" altLang="en-US" dirty="0" smtClean="0"/>
              <a:t>人们发展出一系列</a:t>
            </a:r>
            <a:r>
              <a:rPr lang="zh-CN" altLang="en-US" b="1" dirty="0" smtClean="0"/>
              <a:t>基于核函数的学习方法</a:t>
            </a:r>
            <a:r>
              <a:rPr lang="zh-CN" altLang="en-US" dirty="0" smtClean="0"/>
              <a:t>，统称为“核方法”</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等价问题</a:t>
            </a:r>
            <a:endParaRPr lang="zh-CN" altLang="en-US" dirty="0"/>
          </a:p>
        </p:txBody>
      </p:sp>
      <p:sp>
        <p:nvSpPr>
          <p:cNvPr id="4" name="灯片编号占位符 3"/>
          <p:cNvSpPr>
            <a:spLocks noGrp="1"/>
          </p:cNvSpPr>
          <p:nvPr>
            <p:ph type="sldNum" sz="quarter" idx="10"/>
          </p:nvPr>
        </p:nvSpPr>
        <p:spPr/>
        <p:txBody>
          <a:bodyPr/>
          <a:lstStyle/>
          <a:p>
            <a:pPr>
              <a:defRPr/>
            </a:pPr>
            <a:fld id="{4DF57427-B8B5-4D24-A9D7-9D6F6382E66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2050" name="Group 2"/>
          <p:cNvGrpSpPr/>
          <p:nvPr/>
        </p:nvGrpSpPr>
        <p:grpSpPr bwMode="auto">
          <a:xfrm>
            <a:off x="0" y="2438401"/>
            <a:ext cx="9009185" cy="1052513"/>
            <a:chOff x="0" y="0"/>
            <a:chExt cx="5675" cy="663"/>
          </a:xfrm>
        </p:grpSpPr>
        <p:grpSp>
          <p:nvGrpSpPr>
            <p:cNvPr id="2051" name="Group 3"/>
            <p:cNvGrpSpPr/>
            <p:nvPr/>
          </p:nvGrpSpPr>
          <p:grpSpPr bwMode="auto">
            <a:xfrm>
              <a:off x="183" y="68"/>
              <a:ext cx="448" cy="299"/>
              <a:chOff x="0" y="0"/>
              <a:chExt cx="624" cy="432"/>
            </a:xfrm>
          </p:grpSpPr>
          <p:sp>
            <p:nvSpPr>
              <p:cNvPr id="2052" name="Rectangle 4"/>
              <p:cNvSpPr>
                <a:spLocks noChangeArrowheads="1"/>
              </p:cNvSpPr>
              <p:nvPr/>
            </p:nvSpPr>
            <p:spPr bwMode="auto">
              <a:xfrm>
                <a:off x="0" y="0"/>
                <a:ext cx="384" cy="43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4" name="Group 6"/>
            <p:cNvGrpSpPr/>
            <p:nvPr/>
          </p:nvGrpSpPr>
          <p:grpSpPr bwMode="auto">
            <a:xfrm>
              <a:off x="261" y="334"/>
              <a:ext cx="465" cy="299"/>
              <a:chOff x="0" y="0"/>
              <a:chExt cx="672" cy="432"/>
            </a:xfrm>
          </p:grpSpPr>
          <p:sp>
            <p:nvSpPr>
              <p:cNvPr id="2055" name="Rectangle 7"/>
              <p:cNvSpPr>
                <a:spLocks noChangeArrowheads="1"/>
              </p:cNvSpPr>
              <p:nvPr/>
            </p:nvSpPr>
            <p:spPr bwMode="auto">
              <a:xfrm>
                <a:off x="0" y="0"/>
                <a:ext cx="384" cy="432"/>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6"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7"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 name="Rectangle 10"/>
            <p:cNvSpPr>
              <a:spLocks noChangeArrowheads="1"/>
            </p:cNvSpPr>
            <p:nvPr/>
          </p:nvSpPr>
          <p:spPr bwMode="auto">
            <a:xfrm>
              <a:off x="400" y="0"/>
              <a:ext cx="20" cy="66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9"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60"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endParaRPr lang="zh-CN" noProof="0" smtClean="0"/>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noProof="0" smtClean="0"/>
          </a:p>
        </p:txBody>
      </p:sp>
      <p:sp>
        <p:nvSpPr>
          <p:cNvPr id="206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206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206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pPr>
              <a:defRPr/>
            </a:pPr>
            <a:fld id="{6D5A3878-68F3-45F5-8CE5-B10A948053B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435" y="3651101"/>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35" y="21509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D7FCA52-35BE-435D-97C2-A408D337DE8B}"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3568" y="970384"/>
            <a:ext cx="38158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0106" y="970384"/>
            <a:ext cx="381586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4FDE62D2-D264-4337-A19B-38BEDDBEBCE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27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27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endParaRPr lang="en-US" altLang="zh-CN"/>
          </a:p>
        </p:txBody>
      </p:sp>
      <p:sp>
        <p:nvSpPr>
          <p:cNvPr id="8" name="页脚占位符 7"/>
          <p:cNvSpPr>
            <a:spLocks noGrp="1"/>
          </p:cNvSpPr>
          <p:nvPr>
            <p:ph type="ftr" sz="quarter" idx="11"/>
          </p:nvPr>
        </p:nvSpPr>
        <p:spPr/>
        <p:txBody>
          <a:bodyPr/>
          <a:lstStyle>
            <a:lvl1pPr>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01EB25B2-8CD4-4E83-80AD-E0B7F4C85BF1}"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endParaRPr lang="en-US" altLang="zh-CN"/>
          </a:p>
        </p:txBody>
      </p:sp>
      <p:sp>
        <p:nvSpPr>
          <p:cNvPr id="4" name="页脚占位符 3"/>
          <p:cNvSpPr>
            <a:spLocks noGrp="1"/>
          </p:cNvSpPr>
          <p:nvPr>
            <p:ph type="ftr" sz="quarter" idx="11"/>
          </p:nvPr>
        </p:nvSpPr>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1A13C547-B64A-4E2F-A6FC-68A598118A9B}"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endParaRPr lang="en-US" altLang="zh-CN"/>
          </a:p>
        </p:txBody>
      </p:sp>
      <p:sp>
        <p:nvSpPr>
          <p:cNvPr id="3" name="页脚占位符 2"/>
          <p:cNvSpPr>
            <a:spLocks noGrp="1"/>
          </p:cNvSpPr>
          <p:nvPr>
            <p:ph type="ftr" sz="quarter" idx="11"/>
          </p:nvPr>
        </p:nvSpPr>
        <p:spPr/>
        <p:txBody>
          <a:bodyPr/>
          <a:lstStyle>
            <a:lvl1pPr>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2A9A150F-B1C5-4363-A5AD-8A53B12CA15F}"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435"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538" y="27305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文本占位符 3"/>
          <p:cNvSpPr>
            <a:spLocks noGrp="1"/>
          </p:cNvSpPr>
          <p:nvPr>
            <p:ph type="body" sz="half" idx="2"/>
          </p:nvPr>
        </p:nvSpPr>
        <p:spPr>
          <a:xfrm>
            <a:off x="457200" y="1435101"/>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A247003D-06A9-418B-9E36-B2D925D2A0D5}"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66"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pPr>
              <a:defRPr/>
            </a:pPr>
            <a:endParaRPr lang="en-US" altLang="zh-CN"/>
          </a:p>
        </p:txBody>
      </p:sp>
      <p:sp>
        <p:nvSpPr>
          <p:cNvPr id="6" name="页脚占位符 5"/>
          <p:cNvSpPr>
            <a:spLocks noGrp="1"/>
          </p:cNvSpPr>
          <p:nvPr>
            <p:ph type="ftr" sz="quarter" idx="11"/>
          </p:nvPr>
        </p:nvSpPr>
        <p:spPr/>
        <p:txBody>
          <a:bodyPr/>
          <a:lstStyle>
            <a:lvl1pPr>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8D9ABAD4-93F4-4D00-B7FE-FF47E0DCFB90}"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5D96A2AB-B9EE-408D-BB4B-51D32C4155CD}"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539" y="617539"/>
            <a:ext cx="1950427"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327" y="617539"/>
            <a:ext cx="5713534" cy="55149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CBAFC95-745C-4519-8D02-578071E7EC83}"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720080"/>
          </a:xfrm>
        </p:spPr>
        <p:txBody>
          <a:bodyPr/>
          <a:lstStyle/>
          <a:p>
            <a:r>
              <a:rPr lang="zh-CN" altLang="en-US" smtClean="0"/>
              <a:t>单击此处编辑母版标题样式</a:t>
            </a:r>
            <a:endParaRPr lang="zh-CN" altLang="en-US" dirty="0"/>
          </a:p>
        </p:txBody>
      </p:sp>
      <p:sp>
        <p:nvSpPr>
          <p:cNvPr id="3" name="文本占位符 2"/>
          <p:cNvSpPr>
            <a:spLocks noGrp="1"/>
          </p:cNvSpPr>
          <p:nvPr>
            <p:ph type="body" sz="half" idx="1"/>
          </p:nvPr>
        </p:nvSpPr>
        <p:spPr>
          <a:xfrm>
            <a:off x="457200" y="991269"/>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91269"/>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a:xfrm>
            <a:off x="457200" y="6245225"/>
            <a:ext cx="2133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atin typeface="Arial" panose="020B0604020202020204" pitchFamily="34" charset="0"/>
                <a:ea typeface="宋体" panose="02010600030101010101" pitchFamily="2" charset="-122"/>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2082EF7-E0C7-46B1-9175-A6A81E4D74A4}" type="slidenum">
              <a:rPr lang="en-US" altLang="zh-CN" smtClean="0"/>
            </a:fld>
            <a:endParaRPr lang="en-US" altLang="zh-CN"/>
          </a:p>
        </p:txBody>
      </p:sp>
    </p:spTree>
  </p:cSld>
  <p:clrMapOvr>
    <a:masterClrMapping/>
  </p:clrMapOvr>
  <p:transition>
    <p:cover dir="u"/>
  </p:transition>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417635" y="152574"/>
            <a:ext cx="438150" cy="474663"/>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7" name="Rectangle 3"/>
          <p:cNvSpPr>
            <a:spLocks noChangeArrowheads="1"/>
          </p:cNvSpPr>
          <p:nvPr/>
        </p:nvSpPr>
        <p:spPr bwMode="auto">
          <a:xfrm>
            <a:off x="800100" y="152574"/>
            <a:ext cx="328246"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8" name="Rectangle 4"/>
          <p:cNvSpPr>
            <a:spLocks noChangeArrowheads="1"/>
          </p:cNvSpPr>
          <p:nvPr/>
        </p:nvSpPr>
        <p:spPr bwMode="auto">
          <a:xfrm>
            <a:off x="540728" y="574849"/>
            <a:ext cx="423496" cy="4746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29" name="Rectangle 5"/>
          <p:cNvSpPr>
            <a:spLocks noChangeArrowheads="1"/>
          </p:cNvSpPr>
          <p:nvPr/>
        </p:nvSpPr>
        <p:spPr bwMode="auto">
          <a:xfrm>
            <a:off x="911470" y="574849"/>
            <a:ext cx="367812"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0" name="Rectangle 6"/>
          <p:cNvSpPr>
            <a:spLocks noChangeArrowheads="1"/>
          </p:cNvSpPr>
          <p:nvPr/>
        </p:nvSpPr>
        <p:spPr bwMode="auto">
          <a:xfrm>
            <a:off x="127489" y="501824"/>
            <a:ext cx="559777"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1" name="Rectangle 7"/>
          <p:cNvSpPr>
            <a:spLocks noChangeArrowheads="1"/>
          </p:cNvSpPr>
          <p:nvPr/>
        </p:nvSpPr>
        <p:spPr bwMode="auto">
          <a:xfrm>
            <a:off x="762001" y="44624"/>
            <a:ext cx="32238" cy="1052513"/>
          </a:xfrm>
          <a:prstGeom prst="rect">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2" name="Rectangle 8"/>
          <p:cNvSpPr>
            <a:spLocks noChangeArrowheads="1"/>
          </p:cNvSpPr>
          <p:nvPr/>
        </p:nvSpPr>
        <p:spPr bwMode="auto">
          <a:xfrm>
            <a:off x="442547" y="835198"/>
            <a:ext cx="8226669"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a:p>
        </p:txBody>
      </p:sp>
      <p:sp>
        <p:nvSpPr>
          <p:cNvPr id="1033" name="Rectangle 9"/>
          <p:cNvSpPr>
            <a:spLocks noGrp="1" noChangeArrowheads="1"/>
          </p:cNvSpPr>
          <p:nvPr>
            <p:ph type="title"/>
          </p:nvPr>
        </p:nvSpPr>
        <p:spPr bwMode="auto">
          <a:xfrm>
            <a:off x="1242116" y="24359"/>
            <a:ext cx="7427100" cy="81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dirty="0" smtClean="0"/>
              <a:t>单击此处编辑母版标题样式</a:t>
            </a:r>
            <a:endParaRPr lang="zh-CN" dirty="0" smtClean="0"/>
          </a:p>
        </p:txBody>
      </p:sp>
      <p:sp>
        <p:nvSpPr>
          <p:cNvPr id="1034" name="Rectangle 10"/>
          <p:cNvSpPr>
            <a:spLocks noGrp="1" noChangeArrowheads="1"/>
          </p:cNvSpPr>
          <p:nvPr>
            <p:ph type="body" idx="1"/>
          </p:nvPr>
        </p:nvSpPr>
        <p:spPr bwMode="auto">
          <a:xfrm>
            <a:off x="684066" y="836712"/>
            <a:ext cx="7772400" cy="4690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dirty="0" smtClean="0"/>
              <a:t>单击此处编辑母版文本样式</a:t>
            </a:r>
            <a:endParaRPr lang="zh-CN" dirty="0" smtClean="0"/>
          </a:p>
          <a:p>
            <a:pPr lvl="1"/>
            <a:r>
              <a:rPr lang="zh-CN" dirty="0" smtClean="0"/>
              <a:t>第二级</a:t>
            </a:r>
            <a:endParaRPr lang="zh-CN" dirty="0" smtClean="0"/>
          </a:p>
          <a:p>
            <a:pPr lvl="2"/>
            <a:r>
              <a:rPr lang="zh-CN" dirty="0" smtClean="0"/>
              <a:t>第三级</a:t>
            </a:r>
            <a:endParaRPr lang="zh-CN" dirty="0" smtClean="0"/>
          </a:p>
          <a:p>
            <a:pPr lvl="3"/>
            <a:r>
              <a:rPr lang="zh-CN" dirty="0" smtClean="0"/>
              <a:t>第四级</a:t>
            </a:r>
            <a:endParaRPr lang="zh-CN" dirty="0" smtClean="0"/>
          </a:p>
          <a:p>
            <a:pPr lvl="4"/>
            <a:r>
              <a:rPr lang="zh-CN" dirty="0" smtClean="0"/>
              <a:t>第五级</a:t>
            </a:r>
            <a:endParaRPr lang="zh-CN" dirty="0" smtClean="0"/>
          </a:p>
        </p:txBody>
      </p:sp>
      <p:sp>
        <p:nvSpPr>
          <p:cNvPr id="103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400"/>
            </a:lvl1pPr>
          </a:lstStyle>
          <a:p>
            <a:pPr>
              <a:defRPr/>
            </a:pPr>
            <a:endParaRPr lang="en-US" altLang="zh-CN"/>
          </a:p>
        </p:txBody>
      </p:sp>
      <p:sp>
        <p:nvSpPr>
          <p:cNvPr id="103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sz="1400"/>
            </a:lvl1pPr>
          </a:lstStyle>
          <a:p>
            <a:pPr>
              <a:defRPr/>
            </a:pPr>
            <a:endParaRPr lang="en-US" altLang="zh-CN"/>
          </a:p>
        </p:txBody>
      </p:sp>
      <p:sp>
        <p:nvSpPr>
          <p:cNvPr id="103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400"/>
            </a:lvl1pPr>
          </a:lstStyle>
          <a:p>
            <a:pPr>
              <a:defRPr/>
            </a:pPr>
            <a:fld id="{C2082EF7-E0C7-46B1-9175-A6A81E4D74A4}"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cover dir="u"/>
  </p:transition>
  <p:timing>
    <p:tnLst>
      <p:par>
        <p:cTn id="1" dur="indefinite" restart="never" nodeType="tmRoot"/>
      </p:par>
    </p:tnLst>
  </p:timing>
  <p:hf hdr="0" ftr="0" dt="0"/>
  <p:txStyles>
    <p:titleStyle>
      <a:lvl1pPr algn="l" rtl="0" eaLnBrk="1" fontAlgn="base" hangingPunct="1">
        <a:spcBef>
          <a:spcPct val="0"/>
        </a:spcBef>
        <a:spcAft>
          <a:spcPct val="0"/>
        </a:spcAft>
        <a:defRPr sz="3600" b="1">
          <a:solidFill>
            <a:schemeClr val="tx2"/>
          </a:solidFill>
          <a:latin typeface="+mn-ea"/>
          <a:ea typeface="+mn-ea"/>
          <a:cs typeface="+mj-cs"/>
        </a:defRPr>
      </a:lvl1pPr>
      <a:lvl2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just" rtl="0" eaLnBrk="1" fontAlgn="base" hangingPunct="1">
        <a:spcBef>
          <a:spcPts val="0"/>
        </a:spcBef>
        <a:spcAft>
          <a:spcPct val="0"/>
        </a:spcAft>
        <a:buClr>
          <a:schemeClr val="folHlink"/>
        </a:buClr>
        <a:buSzPct val="60000"/>
        <a:buFont typeface="Wingdings" panose="05000000000000000000" pitchFamily="2" charset="2"/>
        <a:buChar char="n"/>
        <a:defRPr sz="3200" b="1">
          <a:solidFill>
            <a:schemeClr val="tx1"/>
          </a:solidFill>
          <a:latin typeface="+mn-lt"/>
          <a:ea typeface="+mn-ea"/>
          <a:cs typeface="+mn-cs"/>
        </a:defRPr>
      </a:lvl1pPr>
      <a:lvl2pPr marL="742950" indent="-285750" algn="just" rtl="0" eaLnBrk="1" fontAlgn="base" hangingPunct="1">
        <a:spcBef>
          <a:spcPts val="0"/>
        </a:spcBef>
        <a:spcAft>
          <a:spcPct val="0"/>
        </a:spcAft>
        <a:buClr>
          <a:schemeClr val="hlink"/>
        </a:buClr>
        <a:buSzPct val="55000"/>
        <a:buFont typeface="Wingdings" panose="05000000000000000000" pitchFamily="2" charset="2"/>
        <a:buChar char="n"/>
        <a:defRPr sz="2800" b="1">
          <a:solidFill>
            <a:schemeClr val="tx1"/>
          </a:solidFill>
          <a:latin typeface="+mn-lt"/>
          <a:ea typeface="+mn-ea"/>
        </a:defRPr>
      </a:lvl2pPr>
      <a:lvl3pPr marL="1143000" indent="-228600" algn="just" rtl="0" eaLnBrk="1" fontAlgn="base" hangingPunct="1">
        <a:spcBef>
          <a:spcPts val="0"/>
        </a:spcBef>
        <a:spcAft>
          <a:spcPct val="0"/>
        </a:spcAft>
        <a:buClr>
          <a:schemeClr val="folHlink"/>
        </a:buClr>
        <a:buSzPct val="50000"/>
        <a:buFont typeface="Wingdings" panose="05000000000000000000" pitchFamily="2" charset="2"/>
        <a:buChar char="n"/>
        <a:defRPr sz="2400" b="1">
          <a:solidFill>
            <a:schemeClr val="tx1"/>
          </a:solidFill>
          <a:latin typeface="+mn-lt"/>
          <a:ea typeface="+mn-ea"/>
        </a:defRPr>
      </a:lvl3pPr>
      <a:lvl4pPr marL="1600200" indent="-228600" algn="just" rtl="0" eaLnBrk="1" fontAlgn="base" hangingPunct="1">
        <a:spcBef>
          <a:spcPts val="0"/>
        </a:spcBef>
        <a:spcAft>
          <a:spcPct val="0"/>
        </a:spcAft>
        <a:buClr>
          <a:schemeClr val="accent2"/>
        </a:buClr>
        <a:buSzPct val="55000"/>
        <a:buFont typeface="Wingdings" panose="05000000000000000000" pitchFamily="2" charset="2"/>
        <a:buChar char="n"/>
        <a:defRPr sz="2000" b="1">
          <a:solidFill>
            <a:schemeClr val="tx1"/>
          </a:solidFill>
          <a:latin typeface="+mn-lt"/>
          <a:ea typeface="+mn-ea"/>
        </a:defRPr>
      </a:lvl4pPr>
      <a:lvl5pPr marL="2057400" indent="-228600" algn="just" rtl="0" eaLnBrk="1" fontAlgn="base" hangingPunct="1">
        <a:spcBef>
          <a:spcPts val="0"/>
        </a:spcBef>
        <a:spcAft>
          <a:spcPct val="0"/>
        </a:spcAft>
        <a:buClr>
          <a:schemeClr val="accent1"/>
        </a:buClr>
        <a:buSzPct val="50000"/>
        <a:buFont typeface="Wingdings" panose="05000000000000000000" pitchFamily="2" charset="2"/>
        <a:buChar char="n"/>
        <a:defRPr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8.wmf"/><Relationship Id="rId6" Type="http://schemas.openxmlformats.org/officeDocument/2006/relationships/oleObject" Target="../embeddings/oleObject4.bin"/><Relationship Id="rId5" Type="http://schemas.openxmlformats.org/officeDocument/2006/relationships/image" Target="../media/image7.wmf"/><Relationship Id="rId4" Type="http://schemas.openxmlformats.org/officeDocument/2006/relationships/oleObject" Target="../embeddings/oleObject3.bin"/><Relationship Id="rId3" Type="http://schemas.openxmlformats.org/officeDocument/2006/relationships/image" Target="../media/image6.wmf"/><Relationship Id="rId2" Type="http://schemas.openxmlformats.org/officeDocument/2006/relationships/oleObject" Target="../embeddings/oleObject2.bin"/><Relationship Id="rId10" Type="http://schemas.openxmlformats.org/officeDocument/2006/relationships/notesSlide" Target="../notesSlides/notesSlide3.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image" Target="../media/image13.wmf"/><Relationship Id="rId8" Type="http://schemas.openxmlformats.org/officeDocument/2006/relationships/oleObject" Target="../embeddings/oleObject8.bin"/><Relationship Id="rId7" Type="http://schemas.openxmlformats.org/officeDocument/2006/relationships/image" Target="../media/image12.wmf"/><Relationship Id="rId6" Type="http://schemas.openxmlformats.org/officeDocument/2006/relationships/oleObject" Target="../embeddings/oleObject7.bin"/><Relationship Id="rId5" Type="http://schemas.openxmlformats.org/officeDocument/2006/relationships/image" Target="../media/image11.wmf"/><Relationship Id="rId4" Type="http://schemas.openxmlformats.org/officeDocument/2006/relationships/oleObject" Target="../embeddings/oleObject6.bin"/><Relationship Id="rId3" Type="http://schemas.openxmlformats.org/officeDocument/2006/relationships/image" Target="../media/image10.wmf"/><Relationship Id="rId2" Type="http://schemas.openxmlformats.org/officeDocument/2006/relationships/oleObject" Target="../embeddings/oleObject5.bin"/><Relationship Id="rId14" Type="http://schemas.openxmlformats.org/officeDocument/2006/relationships/notesSlide" Target="../notesSlides/notesSlide4.xml"/><Relationship Id="rId13" Type="http://schemas.openxmlformats.org/officeDocument/2006/relationships/vmlDrawing" Target="../drawings/vmlDrawing3.vml"/><Relationship Id="rId12" Type="http://schemas.openxmlformats.org/officeDocument/2006/relationships/slideLayout" Target="../slideLayouts/slideLayout2.xml"/><Relationship Id="rId11" Type="http://schemas.openxmlformats.org/officeDocument/2006/relationships/image" Target="../media/image14.wmf"/><Relationship Id="rId10" Type="http://schemas.openxmlformats.org/officeDocument/2006/relationships/oleObject" Target="../embeddings/oleObject9.bin"/><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8.wmf"/><Relationship Id="rId7" Type="http://schemas.openxmlformats.org/officeDocument/2006/relationships/oleObject" Target="../embeddings/oleObject13.bin"/><Relationship Id="rId6" Type="http://schemas.openxmlformats.org/officeDocument/2006/relationships/image" Target="../media/image17.wmf"/><Relationship Id="rId5" Type="http://schemas.openxmlformats.org/officeDocument/2006/relationships/oleObject" Target="../embeddings/oleObject12.bin"/><Relationship Id="rId4" Type="http://schemas.openxmlformats.org/officeDocument/2006/relationships/image" Target="../media/image16.wmf"/><Relationship Id="rId3" Type="http://schemas.openxmlformats.org/officeDocument/2006/relationships/oleObject" Target="../embeddings/oleObject11.bin"/><Relationship Id="rId2" Type="http://schemas.openxmlformats.org/officeDocument/2006/relationships/image" Target="../media/image15.wmf"/><Relationship Id="rId11" Type="http://schemas.openxmlformats.org/officeDocument/2006/relationships/notesSlide" Target="../notesSlides/notesSlide5.xml"/><Relationship Id="rId10" Type="http://schemas.openxmlformats.org/officeDocument/2006/relationships/vmlDrawing" Target="../drawings/vmlDrawing4.vml"/><Relationship Id="rId1"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22.wmf"/><Relationship Id="rId7" Type="http://schemas.openxmlformats.org/officeDocument/2006/relationships/oleObject" Target="../embeddings/oleObject17.bin"/><Relationship Id="rId6" Type="http://schemas.openxmlformats.org/officeDocument/2006/relationships/image" Target="../media/image21.wmf"/><Relationship Id="rId5" Type="http://schemas.openxmlformats.org/officeDocument/2006/relationships/oleObject" Target="../embeddings/oleObject16.bin"/><Relationship Id="rId4" Type="http://schemas.openxmlformats.org/officeDocument/2006/relationships/image" Target="../media/image20.wmf"/><Relationship Id="rId3" Type="http://schemas.openxmlformats.org/officeDocument/2006/relationships/oleObject" Target="../embeddings/oleObject15.bin"/><Relationship Id="rId2" Type="http://schemas.openxmlformats.org/officeDocument/2006/relationships/image" Target="../media/image19.wmf"/><Relationship Id="rId15" Type="http://schemas.openxmlformats.org/officeDocument/2006/relationships/notesSlide" Target="../notesSlides/notesSlide6.xml"/><Relationship Id="rId14" Type="http://schemas.openxmlformats.org/officeDocument/2006/relationships/vmlDrawing" Target="../drawings/vmlDrawing5.vml"/><Relationship Id="rId13" Type="http://schemas.openxmlformats.org/officeDocument/2006/relationships/slideLayout" Target="../slideLayouts/slideLayout2.xml"/><Relationship Id="rId12" Type="http://schemas.openxmlformats.org/officeDocument/2006/relationships/image" Target="../media/image24.wmf"/><Relationship Id="rId11" Type="http://schemas.openxmlformats.org/officeDocument/2006/relationships/oleObject" Target="../embeddings/oleObject19.bin"/><Relationship Id="rId10" Type="http://schemas.openxmlformats.org/officeDocument/2006/relationships/image" Target="../media/image23.wmf"/><Relationship Id="rId1"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24.bin"/><Relationship Id="rId8" Type="http://schemas.openxmlformats.org/officeDocument/2006/relationships/image" Target="../media/image27.wmf"/><Relationship Id="rId7" Type="http://schemas.openxmlformats.org/officeDocument/2006/relationships/oleObject" Target="../embeddings/oleObject23.bin"/><Relationship Id="rId6" Type="http://schemas.openxmlformats.org/officeDocument/2006/relationships/image" Target="../media/image26.wmf"/><Relationship Id="rId5" Type="http://schemas.openxmlformats.org/officeDocument/2006/relationships/oleObject" Target="../embeddings/oleObject22.bin"/><Relationship Id="rId4" Type="http://schemas.openxmlformats.org/officeDocument/2006/relationships/image" Target="../media/image21.wmf"/><Relationship Id="rId3" Type="http://schemas.openxmlformats.org/officeDocument/2006/relationships/oleObject" Target="../embeddings/oleObject21.bin"/><Relationship Id="rId2" Type="http://schemas.openxmlformats.org/officeDocument/2006/relationships/image" Target="../media/image25.wmf"/><Relationship Id="rId15" Type="http://schemas.openxmlformats.org/officeDocument/2006/relationships/notesSlide" Target="../notesSlides/notesSlide7.xml"/><Relationship Id="rId14" Type="http://schemas.openxmlformats.org/officeDocument/2006/relationships/vmlDrawing" Target="../drawings/vmlDrawing6.vml"/><Relationship Id="rId13" Type="http://schemas.openxmlformats.org/officeDocument/2006/relationships/slideLayout" Target="../slideLayouts/slideLayout2.xml"/><Relationship Id="rId12" Type="http://schemas.openxmlformats.org/officeDocument/2006/relationships/image" Target="../media/image29.wmf"/><Relationship Id="rId11" Type="http://schemas.openxmlformats.org/officeDocument/2006/relationships/oleObject" Target="../embeddings/oleObject25.bin"/><Relationship Id="rId10" Type="http://schemas.openxmlformats.org/officeDocument/2006/relationships/image" Target="../media/image28.wmf"/><Relationship Id="rId1" Type="http://schemas.openxmlformats.org/officeDocument/2006/relationships/oleObject" Target="../embeddings/oleObject20.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33.wmf"/><Relationship Id="rId7" Type="http://schemas.openxmlformats.org/officeDocument/2006/relationships/oleObject" Target="../embeddings/oleObject29.bin"/><Relationship Id="rId6" Type="http://schemas.openxmlformats.org/officeDocument/2006/relationships/image" Target="../media/image32.wmf"/><Relationship Id="rId5" Type="http://schemas.openxmlformats.org/officeDocument/2006/relationships/oleObject" Target="../embeddings/oleObject28.bin"/><Relationship Id="rId4" Type="http://schemas.openxmlformats.org/officeDocument/2006/relationships/image" Target="../media/image31.wmf"/><Relationship Id="rId3" Type="http://schemas.openxmlformats.org/officeDocument/2006/relationships/oleObject" Target="../embeddings/oleObject27.bin"/><Relationship Id="rId2" Type="http://schemas.openxmlformats.org/officeDocument/2006/relationships/image" Target="../media/image30.wmf"/><Relationship Id="rId13" Type="http://schemas.openxmlformats.org/officeDocument/2006/relationships/notesSlide" Target="../notesSlides/notesSlide8.xml"/><Relationship Id="rId12" Type="http://schemas.openxmlformats.org/officeDocument/2006/relationships/vmlDrawing" Target="../drawings/vmlDrawing7.vml"/><Relationship Id="rId11" Type="http://schemas.openxmlformats.org/officeDocument/2006/relationships/slideLayout" Target="../slideLayouts/slideLayout2.xml"/><Relationship Id="rId10" Type="http://schemas.openxmlformats.org/officeDocument/2006/relationships/image" Target="../media/image34.wmf"/><Relationship Id="rId1" Type="http://schemas.openxmlformats.org/officeDocument/2006/relationships/oleObject" Target="../embeddings/oleObject26.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35.bin"/><Relationship Id="rId8" Type="http://schemas.openxmlformats.org/officeDocument/2006/relationships/image" Target="../media/image39.wmf"/><Relationship Id="rId7" Type="http://schemas.openxmlformats.org/officeDocument/2006/relationships/oleObject" Target="../embeddings/oleObject34.bin"/><Relationship Id="rId6" Type="http://schemas.openxmlformats.org/officeDocument/2006/relationships/image" Target="../media/image38.wmf"/><Relationship Id="rId5" Type="http://schemas.openxmlformats.org/officeDocument/2006/relationships/oleObject" Target="../embeddings/oleObject33.bin"/><Relationship Id="rId4" Type="http://schemas.openxmlformats.org/officeDocument/2006/relationships/image" Target="../media/image37.wmf"/><Relationship Id="rId3" Type="http://schemas.openxmlformats.org/officeDocument/2006/relationships/oleObject" Target="../embeddings/oleObject32.bin"/><Relationship Id="rId2" Type="http://schemas.openxmlformats.org/officeDocument/2006/relationships/image" Target="../media/image36.wmf"/><Relationship Id="rId15" Type="http://schemas.openxmlformats.org/officeDocument/2006/relationships/notesSlide" Target="../notesSlides/notesSlide10.xml"/><Relationship Id="rId14" Type="http://schemas.openxmlformats.org/officeDocument/2006/relationships/vmlDrawing" Target="../drawings/vmlDrawing8.vml"/><Relationship Id="rId13" Type="http://schemas.openxmlformats.org/officeDocument/2006/relationships/slideLayout" Target="../slideLayouts/slideLayout2.xml"/><Relationship Id="rId12" Type="http://schemas.openxmlformats.org/officeDocument/2006/relationships/image" Target="../media/image41.wmf"/><Relationship Id="rId11" Type="http://schemas.openxmlformats.org/officeDocument/2006/relationships/oleObject" Target="../embeddings/oleObject36.bin"/><Relationship Id="rId10" Type="http://schemas.openxmlformats.org/officeDocument/2006/relationships/image" Target="../media/image40.wmf"/><Relationship Id="rId1" Type="http://schemas.openxmlformats.org/officeDocument/2006/relationships/oleObject" Target="../embeddings/oleObject31.bin"/></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5.wmf"/><Relationship Id="rId7" Type="http://schemas.openxmlformats.org/officeDocument/2006/relationships/oleObject" Target="../embeddings/oleObject40.bin"/><Relationship Id="rId6" Type="http://schemas.openxmlformats.org/officeDocument/2006/relationships/image" Target="../media/image44.wmf"/><Relationship Id="rId5" Type="http://schemas.openxmlformats.org/officeDocument/2006/relationships/oleObject" Target="../embeddings/oleObject39.bin"/><Relationship Id="rId4" Type="http://schemas.openxmlformats.org/officeDocument/2006/relationships/image" Target="../media/image43.wmf"/><Relationship Id="rId3" Type="http://schemas.openxmlformats.org/officeDocument/2006/relationships/oleObject" Target="../embeddings/oleObject38.bin"/><Relationship Id="rId2" Type="http://schemas.openxmlformats.org/officeDocument/2006/relationships/image" Target="../media/image42.wmf"/><Relationship Id="rId11" Type="http://schemas.openxmlformats.org/officeDocument/2006/relationships/notesSlide" Target="../notesSlides/notesSlide11.xml"/><Relationship Id="rId10" Type="http://schemas.openxmlformats.org/officeDocument/2006/relationships/vmlDrawing" Target="../drawings/vmlDrawing9.vml"/><Relationship Id="rId1" Type="http://schemas.openxmlformats.org/officeDocument/2006/relationships/oleObject" Target="../embeddings/oleObject37.bin"/></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2.xml"/><Relationship Id="rId7" Type="http://schemas.openxmlformats.org/officeDocument/2006/relationships/image" Target="../media/image49.png"/><Relationship Id="rId6" Type="http://schemas.openxmlformats.org/officeDocument/2006/relationships/image" Target="../media/image48.wmf"/><Relationship Id="rId5" Type="http://schemas.openxmlformats.org/officeDocument/2006/relationships/oleObject" Target="../embeddings/oleObject43.bin"/><Relationship Id="rId4" Type="http://schemas.openxmlformats.org/officeDocument/2006/relationships/image" Target="../media/image47.wmf"/><Relationship Id="rId3" Type="http://schemas.openxmlformats.org/officeDocument/2006/relationships/oleObject" Target="../embeddings/oleObject42.bin"/><Relationship Id="rId2" Type="http://schemas.openxmlformats.org/officeDocument/2006/relationships/image" Target="../media/image46.wmf"/><Relationship Id="rId10" Type="http://schemas.openxmlformats.org/officeDocument/2006/relationships/notesSlide" Target="../notesSlides/notesSlide12.xml"/><Relationship Id="rId1" Type="http://schemas.openxmlformats.org/officeDocument/2006/relationships/oleObject" Target="../embeddings/oleObject41.bin"/></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4.wmf"/><Relationship Id="rId7" Type="http://schemas.openxmlformats.org/officeDocument/2006/relationships/oleObject" Target="../embeddings/oleObject47.bin"/><Relationship Id="rId6" Type="http://schemas.openxmlformats.org/officeDocument/2006/relationships/image" Target="../media/image53.wmf"/><Relationship Id="rId5" Type="http://schemas.openxmlformats.org/officeDocument/2006/relationships/oleObject" Target="../embeddings/oleObject46.bin"/><Relationship Id="rId4" Type="http://schemas.openxmlformats.org/officeDocument/2006/relationships/image" Target="../media/image52.wmf"/><Relationship Id="rId3" Type="http://schemas.openxmlformats.org/officeDocument/2006/relationships/oleObject" Target="../embeddings/oleObject45.bin"/><Relationship Id="rId2" Type="http://schemas.openxmlformats.org/officeDocument/2006/relationships/image" Target="../media/image51.wmf"/><Relationship Id="rId11" Type="http://schemas.openxmlformats.org/officeDocument/2006/relationships/notesSlide" Target="../notesSlides/notesSlide13.xml"/><Relationship Id="rId10" Type="http://schemas.openxmlformats.org/officeDocument/2006/relationships/vmlDrawing" Target="../drawings/vmlDrawing11.vml"/><Relationship Id="rId1" Type="http://schemas.openxmlformats.org/officeDocument/2006/relationships/oleObject" Target="../embeddings/oleObject44.bin"/></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9.wmf"/><Relationship Id="rId7" Type="http://schemas.openxmlformats.org/officeDocument/2006/relationships/oleObject" Target="../embeddings/oleObject51.bin"/><Relationship Id="rId6" Type="http://schemas.openxmlformats.org/officeDocument/2006/relationships/image" Target="../media/image58.wmf"/><Relationship Id="rId5" Type="http://schemas.openxmlformats.org/officeDocument/2006/relationships/oleObject" Target="../embeddings/oleObject50.bin"/><Relationship Id="rId4" Type="http://schemas.openxmlformats.org/officeDocument/2006/relationships/image" Target="../media/image57.wmf"/><Relationship Id="rId3" Type="http://schemas.openxmlformats.org/officeDocument/2006/relationships/oleObject" Target="../embeddings/oleObject49.bin"/><Relationship Id="rId2" Type="http://schemas.openxmlformats.org/officeDocument/2006/relationships/image" Target="../media/image56.wmf"/><Relationship Id="rId11" Type="http://schemas.openxmlformats.org/officeDocument/2006/relationships/notesSlide" Target="../notesSlides/notesSlide14.xml"/><Relationship Id="rId10" Type="http://schemas.openxmlformats.org/officeDocument/2006/relationships/vmlDrawing" Target="../drawings/vmlDrawing12.vml"/><Relationship Id="rId1" Type="http://schemas.openxmlformats.org/officeDocument/2006/relationships/oleObject" Target="../embeddings/oleObject48.bin"/></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62.wmf"/><Relationship Id="rId3" Type="http://schemas.openxmlformats.org/officeDocument/2006/relationships/oleObject" Target="../embeddings/oleObject52.bin"/><Relationship Id="rId2" Type="http://schemas.microsoft.com/office/2007/relationships/hdphoto" Target="../media/image61.wdp"/><Relationship Id="rId1" Type="http://schemas.openxmlformats.org/officeDocument/2006/relationships/image" Target="../media/image60.png"/></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6.wmf"/><Relationship Id="rId7" Type="http://schemas.openxmlformats.org/officeDocument/2006/relationships/oleObject" Target="../embeddings/oleObject56.bin"/><Relationship Id="rId6" Type="http://schemas.openxmlformats.org/officeDocument/2006/relationships/image" Target="../media/image65.wmf"/><Relationship Id="rId5" Type="http://schemas.openxmlformats.org/officeDocument/2006/relationships/oleObject" Target="../embeddings/oleObject55.bin"/><Relationship Id="rId4" Type="http://schemas.openxmlformats.org/officeDocument/2006/relationships/image" Target="../media/image64.wmf"/><Relationship Id="rId3" Type="http://schemas.openxmlformats.org/officeDocument/2006/relationships/oleObject" Target="../embeddings/oleObject54.bin"/><Relationship Id="rId2" Type="http://schemas.openxmlformats.org/officeDocument/2006/relationships/image" Target="../media/image63.wmf"/><Relationship Id="rId11" Type="http://schemas.openxmlformats.org/officeDocument/2006/relationships/notesSlide" Target="../notesSlides/notesSlide16.xml"/><Relationship Id="rId10" Type="http://schemas.openxmlformats.org/officeDocument/2006/relationships/vmlDrawing" Target="../drawings/vmlDrawing14.vml"/><Relationship Id="rId1" Type="http://schemas.openxmlformats.org/officeDocument/2006/relationships/oleObject" Target="../embeddings/oleObject53.bin"/></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vmlDrawing" Target="../drawings/vmlDrawing15.vml"/><Relationship Id="rId5" Type="http://schemas.openxmlformats.org/officeDocument/2006/relationships/slideLayout" Target="../slideLayouts/slideLayout2.xml"/><Relationship Id="rId4" Type="http://schemas.openxmlformats.org/officeDocument/2006/relationships/image" Target="../media/image68.wmf"/><Relationship Id="rId3" Type="http://schemas.openxmlformats.org/officeDocument/2006/relationships/oleObject" Target="../embeddings/oleObject58.bin"/><Relationship Id="rId2" Type="http://schemas.openxmlformats.org/officeDocument/2006/relationships/image" Target="../media/image67.wmf"/><Relationship Id="rId1" Type="http://schemas.openxmlformats.org/officeDocument/2006/relationships/oleObject" Target="../embeddings/oleObject57.bin"/></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70.wmf"/><Relationship Id="rId3" Type="http://schemas.openxmlformats.org/officeDocument/2006/relationships/oleObject" Target="../embeddings/oleObject60.bin"/><Relationship Id="rId2" Type="http://schemas.openxmlformats.org/officeDocument/2006/relationships/image" Target="../media/image69.wmf"/><Relationship Id="rId1" Type="http://schemas.openxmlformats.org/officeDocument/2006/relationships/oleObject" Target="../embeddings/oleObject59.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65.bin"/><Relationship Id="rId8" Type="http://schemas.openxmlformats.org/officeDocument/2006/relationships/image" Target="../media/image74.wmf"/><Relationship Id="rId7" Type="http://schemas.openxmlformats.org/officeDocument/2006/relationships/oleObject" Target="../embeddings/oleObject64.bin"/><Relationship Id="rId6" Type="http://schemas.openxmlformats.org/officeDocument/2006/relationships/image" Target="../media/image73.wmf"/><Relationship Id="rId5" Type="http://schemas.openxmlformats.org/officeDocument/2006/relationships/oleObject" Target="../embeddings/oleObject63.bin"/><Relationship Id="rId4" Type="http://schemas.openxmlformats.org/officeDocument/2006/relationships/image" Target="../media/image72.wmf"/><Relationship Id="rId3" Type="http://schemas.openxmlformats.org/officeDocument/2006/relationships/oleObject" Target="../embeddings/oleObject62.bin"/><Relationship Id="rId2" Type="http://schemas.openxmlformats.org/officeDocument/2006/relationships/image" Target="../media/image71.wmf"/><Relationship Id="rId19" Type="http://schemas.openxmlformats.org/officeDocument/2006/relationships/notesSlide" Target="../notesSlides/notesSlide19.xml"/><Relationship Id="rId18" Type="http://schemas.openxmlformats.org/officeDocument/2006/relationships/vmlDrawing" Target="../drawings/vmlDrawing17.vml"/><Relationship Id="rId17" Type="http://schemas.openxmlformats.org/officeDocument/2006/relationships/slideLayout" Target="../slideLayouts/slideLayout2.xml"/><Relationship Id="rId16" Type="http://schemas.openxmlformats.org/officeDocument/2006/relationships/oleObject" Target="../embeddings/oleObject69.bin"/><Relationship Id="rId15" Type="http://schemas.openxmlformats.org/officeDocument/2006/relationships/oleObject" Target="../embeddings/oleObject68.bin"/><Relationship Id="rId14" Type="http://schemas.openxmlformats.org/officeDocument/2006/relationships/image" Target="../media/image77.wmf"/><Relationship Id="rId13" Type="http://schemas.openxmlformats.org/officeDocument/2006/relationships/oleObject" Target="../embeddings/oleObject67.bin"/><Relationship Id="rId12" Type="http://schemas.openxmlformats.org/officeDocument/2006/relationships/image" Target="../media/image76.wmf"/><Relationship Id="rId11" Type="http://schemas.openxmlformats.org/officeDocument/2006/relationships/oleObject" Target="../embeddings/oleObject66.bin"/><Relationship Id="rId10" Type="http://schemas.openxmlformats.org/officeDocument/2006/relationships/image" Target="../media/image75.wmf"/><Relationship Id="rId1" Type="http://schemas.openxmlformats.org/officeDocument/2006/relationships/oleObject" Target="../embeddings/oleObject61.bin"/></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vmlDrawing" Target="../drawings/vmlDrawing18.vml"/><Relationship Id="rId4" Type="http://schemas.openxmlformats.org/officeDocument/2006/relationships/slideLayout" Target="../slideLayouts/slideLayout2.xml"/><Relationship Id="rId3" Type="http://schemas.openxmlformats.org/officeDocument/2006/relationships/image" Target="../media/image75.wmf"/><Relationship Id="rId2" Type="http://schemas.openxmlformats.org/officeDocument/2006/relationships/oleObject" Target="../embeddings/oleObject70.bin"/><Relationship Id="rId1" Type="http://schemas.openxmlformats.org/officeDocument/2006/relationships/image" Target="../media/image78.png"/></Relationships>
</file>

<file path=ppt/slides/_rels/slide26.xml.rels><?xml version="1.0" encoding="UTF-8" standalone="yes"?>
<Relationships xmlns="http://schemas.openxmlformats.org/package/2006/relationships"><Relationship Id="rId9" Type="http://schemas.openxmlformats.org/officeDocument/2006/relationships/image" Target="../media/image83.png"/><Relationship Id="rId8" Type="http://schemas.openxmlformats.org/officeDocument/2006/relationships/image" Target="../media/image82.wmf"/><Relationship Id="rId7" Type="http://schemas.openxmlformats.org/officeDocument/2006/relationships/oleObject" Target="../embeddings/oleObject74.bin"/><Relationship Id="rId6" Type="http://schemas.openxmlformats.org/officeDocument/2006/relationships/image" Target="../media/image81.wmf"/><Relationship Id="rId5" Type="http://schemas.openxmlformats.org/officeDocument/2006/relationships/oleObject" Target="../embeddings/oleObject73.bin"/><Relationship Id="rId4" Type="http://schemas.openxmlformats.org/officeDocument/2006/relationships/image" Target="../media/image80.wmf"/><Relationship Id="rId3" Type="http://schemas.openxmlformats.org/officeDocument/2006/relationships/oleObject" Target="../embeddings/oleObject72.bin"/><Relationship Id="rId2" Type="http://schemas.openxmlformats.org/officeDocument/2006/relationships/image" Target="../media/image79.wmf"/><Relationship Id="rId13" Type="http://schemas.openxmlformats.org/officeDocument/2006/relationships/notesSlide" Target="../notesSlides/notesSlide21.xml"/><Relationship Id="rId12" Type="http://schemas.openxmlformats.org/officeDocument/2006/relationships/vmlDrawing" Target="../drawings/vmlDrawing19.vml"/><Relationship Id="rId11" Type="http://schemas.openxmlformats.org/officeDocument/2006/relationships/slideLayout" Target="../slideLayouts/slideLayout2.xml"/><Relationship Id="rId10" Type="http://schemas.microsoft.com/office/2007/relationships/hdphoto" Target="../media/image84.wdp"/><Relationship Id="rId1" Type="http://schemas.openxmlformats.org/officeDocument/2006/relationships/oleObject" Target="../embeddings/oleObject71.bin"/></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vmlDrawing" Target="../drawings/vmlDrawing20.vml"/><Relationship Id="rId7" Type="http://schemas.openxmlformats.org/officeDocument/2006/relationships/slideLayout" Target="../slideLayouts/slideLayout2.xml"/><Relationship Id="rId6" Type="http://schemas.openxmlformats.org/officeDocument/2006/relationships/image" Target="../media/image87.wmf"/><Relationship Id="rId5" Type="http://schemas.openxmlformats.org/officeDocument/2006/relationships/oleObject" Target="../embeddings/oleObject77.bin"/><Relationship Id="rId4" Type="http://schemas.openxmlformats.org/officeDocument/2006/relationships/image" Target="../media/image86.wmf"/><Relationship Id="rId3" Type="http://schemas.openxmlformats.org/officeDocument/2006/relationships/oleObject" Target="../embeddings/oleObject76.bin"/><Relationship Id="rId2" Type="http://schemas.openxmlformats.org/officeDocument/2006/relationships/image" Target="../media/image85.wmf"/><Relationship Id="rId1" Type="http://schemas.openxmlformats.org/officeDocument/2006/relationships/oleObject" Target="../embeddings/oleObject75.bin"/></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1.wmf"/><Relationship Id="rId7" Type="http://schemas.openxmlformats.org/officeDocument/2006/relationships/oleObject" Target="../embeddings/oleObject81.bin"/><Relationship Id="rId6" Type="http://schemas.openxmlformats.org/officeDocument/2006/relationships/image" Target="../media/image90.wmf"/><Relationship Id="rId5" Type="http://schemas.openxmlformats.org/officeDocument/2006/relationships/oleObject" Target="../embeddings/oleObject80.bin"/><Relationship Id="rId4" Type="http://schemas.openxmlformats.org/officeDocument/2006/relationships/image" Target="../media/image89.wmf"/><Relationship Id="rId3" Type="http://schemas.openxmlformats.org/officeDocument/2006/relationships/oleObject" Target="../embeddings/oleObject79.bin"/><Relationship Id="rId2" Type="http://schemas.openxmlformats.org/officeDocument/2006/relationships/image" Target="../media/image88.wmf"/><Relationship Id="rId11" Type="http://schemas.openxmlformats.org/officeDocument/2006/relationships/notesSlide" Target="../notesSlides/notesSlide23.xml"/><Relationship Id="rId10" Type="http://schemas.openxmlformats.org/officeDocument/2006/relationships/vmlDrawing" Target="../drawings/vmlDrawing21.vml"/><Relationship Id="rId1" Type="http://schemas.openxmlformats.org/officeDocument/2006/relationships/oleObject" Target="../embeddings/oleObject78.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86.bin"/><Relationship Id="rId8" Type="http://schemas.openxmlformats.org/officeDocument/2006/relationships/image" Target="../media/image95.wmf"/><Relationship Id="rId7" Type="http://schemas.openxmlformats.org/officeDocument/2006/relationships/oleObject" Target="../embeddings/oleObject85.bin"/><Relationship Id="rId6" Type="http://schemas.openxmlformats.org/officeDocument/2006/relationships/image" Target="../media/image94.wmf"/><Relationship Id="rId5" Type="http://schemas.openxmlformats.org/officeDocument/2006/relationships/oleObject" Target="../embeddings/oleObject84.bin"/><Relationship Id="rId4" Type="http://schemas.openxmlformats.org/officeDocument/2006/relationships/image" Target="../media/image93.wmf"/><Relationship Id="rId3" Type="http://schemas.openxmlformats.org/officeDocument/2006/relationships/oleObject" Target="../embeddings/oleObject83.bin"/><Relationship Id="rId2" Type="http://schemas.openxmlformats.org/officeDocument/2006/relationships/image" Target="../media/image92.wmf"/><Relationship Id="rId13" Type="http://schemas.openxmlformats.org/officeDocument/2006/relationships/notesSlide" Target="../notesSlides/notesSlide24.xml"/><Relationship Id="rId12" Type="http://schemas.openxmlformats.org/officeDocument/2006/relationships/vmlDrawing" Target="../drawings/vmlDrawing22.vml"/><Relationship Id="rId11" Type="http://schemas.openxmlformats.org/officeDocument/2006/relationships/slideLayout" Target="../slideLayouts/slideLayout2.xml"/><Relationship Id="rId10" Type="http://schemas.openxmlformats.org/officeDocument/2006/relationships/image" Target="../media/image96.wmf"/><Relationship Id="rId1" Type="http://schemas.openxmlformats.org/officeDocument/2006/relationships/oleObject" Target="../embeddings/oleObject82.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100.wmf"/><Relationship Id="rId7" Type="http://schemas.openxmlformats.org/officeDocument/2006/relationships/oleObject" Target="../embeddings/oleObject90.bin"/><Relationship Id="rId6" Type="http://schemas.openxmlformats.org/officeDocument/2006/relationships/image" Target="../media/image99.wmf"/><Relationship Id="rId5" Type="http://schemas.openxmlformats.org/officeDocument/2006/relationships/oleObject" Target="../embeddings/oleObject89.bin"/><Relationship Id="rId4" Type="http://schemas.openxmlformats.org/officeDocument/2006/relationships/image" Target="../media/image98.wmf"/><Relationship Id="rId3" Type="http://schemas.openxmlformats.org/officeDocument/2006/relationships/oleObject" Target="../embeddings/oleObject88.bin"/><Relationship Id="rId2" Type="http://schemas.openxmlformats.org/officeDocument/2006/relationships/image" Target="../media/image97.wmf"/><Relationship Id="rId19" Type="http://schemas.openxmlformats.org/officeDocument/2006/relationships/notesSlide" Target="../notesSlides/notesSlide25.xml"/><Relationship Id="rId18" Type="http://schemas.openxmlformats.org/officeDocument/2006/relationships/vmlDrawing" Target="../drawings/vmlDrawing23.vml"/><Relationship Id="rId17" Type="http://schemas.openxmlformats.org/officeDocument/2006/relationships/slideLayout" Target="../slideLayouts/slideLayout2.xml"/><Relationship Id="rId16" Type="http://schemas.openxmlformats.org/officeDocument/2006/relationships/image" Target="../media/image104.wmf"/><Relationship Id="rId15" Type="http://schemas.openxmlformats.org/officeDocument/2006/relationships/oleObject" Target="../embeddings/oleObject94.bin"/><Relationship Id="rId14" Type="http://schemas.openxmlformats.org/officeDocument/2006/relationships/image" Target="../media/image103.wmf"/><Relationship Id="rId13" Type="http://schemas.openxmlformats.org/officeDocument/2006/relationships/oleObject" Target="../embeddings/oleObject93.bin"/><Relationship Id="rId12" Type="http://schemas.openxmlformats.org/officeDocument/2006/relationships/image" Target="../media/image102.wmf"/><Relationship Id="rId11" Type="http://schemas.openxmlformats.org/officeDocument/2006/relationships/oleObject" Target="../embeddings/oleObject92.bin"/><Relationship Id="rId10" Type="http://schemas.openxmlformats.org/officeDocument/2006/relationships/image" Target="../media/image101.wmf"/><Relationship Id="rId1" Type="http://schemas.openxmlformats.org/officeDocument/2006/relationships/oleObject" Target="../embeddings/oleObject87.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99.bin"/><Relationship Id="rId8" Type="http://schemas.openxmlformats.org/officeDocument/2006/relationships/image" Target="../media/image108.wmf"/><Relationship Id="rId7" Type="http://schemas.openxmlformats.org/officeDocument/2006/relationships/oleObject" Target="../embeddings/oleObject98.bin"/><Relationship Id="rId6" Type="http://schemas.openxmlformats.org/officeDocument/2006/relationships/image" Target="../media/image107.wmf"/><Relationship Id="rId5" Type="http://schemas.openxmlformats.org/officeDocument/2006/relationships/oleObject" Target="../embeddings/oleObject97.bin"/><Relationship Id="rId4" Type="http://schemas.openxmlformats.org/officeDocument/2006/relationships/image" Target="../media/image106.wmf"/><Relationship Id="rId3" Type="http://schemas.openxmlformats.org/officeDocument/2006/relationships/oleObject" Target="../embeddings/oleObject96.bin"/><Relationship Id="rId2" Type="http://schemas.openxmlformats.org/officeDocument/2006/relationships/image" Target="../media/image105.wmf"/><Relationship Id="rId13" Type="http://schemas.openxmlformats.org/officeDocument/2006/relationships/notesSlide" Target="../notesSlides/notesSlide26.xml"/><Relationship Id="rId12" Type="http://schemas.openxmlformats.org/officeDocument/2006/relationships/vmlDrawing" Target="../drawings/vmlDrawing24.vml"/><Relationship Id="rId11" Type="http://schemas.openxmlformats.org/officeDocument/2006/relationships/slideLayout" Target="../slideLayouts/slideLayout2.xml"/><Relationship Id="rId10" Type="http://schemas.openxmlformats.org/officeDocument/2006/relationships/image" Target="../media/image109.wmf"/><Relationship Id="rId1" Type="http://schemas.openxmlformats.org/officeDocument/2006/relationships/oleObject" Target="../embeddings/oleObject95.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ctrTitle"/>
          </p:nvPr>
        </p:nvSpPr>
        <p:spPr>
          <a:xfrm>
            <a:off x="990600" y="1828800"/>
            <a:ext cx="7253808" cy="1143000"/>
          </a:xfrm>
        </p:spPr>
        <p:txBody>
          <a:bodyPr/>
          <a:lstStyle/>
          <a:p>
            <a:pPr algn="ctr">
              <a:defRPr/>
            </a:pPr>
            <a:r>
              <a:rPr lang="zh-CN" altLang="en-US" sz="6000" dirty="0" smtClean="0"/>
              <a:t>第</a:t>
            </a:r>
            <a:r>
              <a:rPr lang="en-US" altLang="zh-CN" sz="6000" dirty="0" smtClean="0"/>
              <a:t>6</a:t>
            </a:r>
            <a:r>
              <a:rPr lang="zh-CN" altLang="en-US" sz="6000" dirty="0" smtClean="0"/>
              <a:t>章 支持向量机</a:t>
            </a:r>
            <a:endParaRPr lang="zh-CN" altLang="en-US" sz="6000" b="1" dirty="0" smtClean="0"/>
          </a:p>
        </p:txBody>
      </p:sp>
      <p:sp>
        <p:nvSpPr>
          <p:cNvPr id="5" name="Rectangle 70"/>
          <p:cNvSpPr>
            <a:spLocks noGrp="1" noChangeArrowheads="1"/>
          </p:cNvSpPr>
          <p:nvPr>
            <p:ph type="sldNum" sz="quarter" idx="4"/>
          </p:nvPr>
        </p:nvSpPr>
        <p:spPr/>
        <p:txBody>
          <a:bodyPr/>
          <a:lstStyle/>
          <a:p>
            <a:pPr>
              <a:defRPr/>
            </a:pPr>
            <a:fld id="{F7EB2F07-B42F-46A0-B759-6009FAA90BFB}" type="slidenum">
              <a:rPr lang="en-US" altLang="zh-CN"/>
            </a:fld>
            <a:endParaRPr lang="en-US" altLang="zh-CN"/>
          </a:p>
        </p:txBody>
      </p:sp>
      <p:sp>
        <p:nvSpPr>
          <p:cNvPr id="2" name="副标题 1"/>
          <p:cNvSpPr/>
          <p:nvPr>
            <p:ph type="subTitle" idx="1"/>
          </p:nvPr>
        </p:nvSpPr>
        <p:spPr/>
        <p:txBody>
          <a:bodyPr/>
          <a:p>
            <a:endParaRPr lang="zh-CN" altLang="en-US"/>
          </a:p>
        </p:txBody>
      </p:sp>
    </p:spTree>
  </p:cSld>
  <p:clrMapOvr>
    <a:masterClrMapping/>
  </p:clrMapOvr>
  <p:transition>
    <p:cover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pPr>
              <a:lnSpc>
                <a:spcPct val="120000"/>
              </a:lnSpc>
            </a:pPr>
            <a:r>
              <a:rPr lang="zh-CN" altLang="en-US" dirty="0" smtClean="0">
                <a:latin typeface="+mn-ea"/>
              </a:rPr>
              <a:t>间隔</a:t>
            </a:r>
            <a:r>
              <a:rPr lang="zh-CN" altLang="en-US" dirty="0">
                <a:latin typeface="+mn-ea"/>
              </a:rPr>
              <a:t>与支持</a:t>
            </a:r>
            <a:r>
              <a:rPr lang="zh-CN" altLang="en-US" dirty="0" smtClean="0">
                <a:latin typeface="+mn-ea"/>
              </a:rPr>
              <a:t>向量</a:t>
            </a:r>
            <a:endParaRPr lang="en-US" altLang="zh-CN" dirty="0" smtClean="0">
              <a:latin typeface="+mn-ea"/>
            </a:endParaRPr>
          </a:p>
          <a:p>
            <a:pPr>
              <a:lnSpc>
                <a:spcPct val="120000"/>
              </a:lnSpc>
            </a:pPr>
            <a:r>
              <a:rPr lang="zh-CN" altLang="en-US" dirty="0" smtClean="0">
                <a:latin typeface="+mn-ea"/>
              </a:rPr>
              <a:t>对偶</a:t>
            </a:r>
            <a:r>
              <a:rPr lang="zh-CN" altLang="en-US" dirty="0">
                <a:latin typeface="+mn-ea"/>
              </a:rPr>
              <a:t>问题</a:t>
            </a:r>
            <a:endParaRPr lang="en-US" altLang="zh-CN" dirty="0" smtClean="0">
              <a:latin typeface="+mn-ea"/>
            </a:endParaRPr>
          </a:p>
          <a:p>
            <a:pPr>
              <a:lnSpc>
                <a:spcPct val="120000"/>
              </a:lnSpc>
            </a:pPr>
            <a:r>
              <a:rPr lang="zh-CN" altLang="en-US" dirty="0" smtClean="0">
                <a:latin typeface="+mn-ea"/>
              </a:rPr>
              <a:t>核函数</a:t>
            </a:r>
            <a:endParaRPr lang="en-US" altLang="zh-CN" dirty="0" smtClean="0">
              <a:latin typeface="+mn-ea"/>
            </a:endParaRPr>
          </a:p>
          <a:p>
            <a:pPr>
              <a:lnSpc>
                <a:spcPct val="120000"/>
              </a:lnSpc>
            </a:pPr>
            <a:r>
              <a:rPr lang="zh-CN" altLang="en-US" dirty="0" smtClean="0">
                <a:latin typeface="+mn-ea"/>
              </a:rPr>
              <a:t>软</a:t>
            </a:r>
            <a:r>
              <a:rPr lang="zh-CN" altLang="en-US" dirty="0">
                <a:latin typeface="+mn-ea"/>
              </a:rPr>
              <a:t>间隔与正则</a:t>
            </a:r>
            <a:r>
              <a:rPr lang="zh-CN" altLang="en-US" dirty="0" smtClean="0">
                <a:latin typeface="+mn-ea"/>
              </a:rPr>
              <a:t>化</a:t>
            </a:r>
            <a:endParaRPr lang="en-US" altLang="zh-CN" dirty="0" smtClean="0">
              <a:latin typeface="+mn-ea"/>
            </a:endParaRPr>
          </a:p>
          <a:p>
            <a:pPr>
              <a:lnSpc>
                <a:spcPct val="120000"/>
              </a:lnSpc>
            </a:pPr>
            <a:r>
              <a:rPr lang="zh-CN" altLang="en-US" dirty="0" smtClean="0">
                <a:latin typeface="+mn-ea"/>
              </a:rPr>
              <a:t>支持</a:t>
            </a:r>
            <a:r>
              <a:rPr lang="zh-CN" altLang="en-US" dirty="0">
                <a:latin typeface="+mn-ea"/>
              </a:rPr>
              <a:t>向量</a:t>
            </a:r>
            <a:r>
              <a:rPr lang="zh-CN" altLang="en-US" dirty="0" smtClean="0">
                <a:latin typeface="+mn-ea"/>
              </a:rPr>
              <a:t>回归</a:t>
            </a:r>
            <a:endParaRPr lang="en-US" altLang="zh-CN" dirty="0" smtClean="0">
              <a:latin typeface="+mn-ea"/>
            </a:endParaRPr>
          </a:p>
          <a:p>
            <a:pPr>
              <a:lnSpc>
                <a:spcPct val="120000"/>
              </a:lnSpc>
            </a:pPr>
            <a:r>
              <a:rPr lang="zh-CN" altLang="en-US" dirty="0" smtClean="0">
                <a:latin typeface="+mn-ea"/>
              </a:rPr>
              <a:t>核</a:t>
            </a:r>
            <a:r>
              <a:rPr lang="zh-CN" altLang="en-US" dirty="0">
                <a:latin typeface="+mn-ea"/>
              </a:rPr>
              <a:t>方法</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6.0 </a:t>
            </a:r>
            <a:r>
              <a:rPr lang="en-US" altLang="zh-CN" dirty="0" smtClean="0"/>
              <a:t>SVM</a:t>
            </a:r>
            <a:r>
              <a:rPr lang="zh-CN" altLang="en-US" dirty="0" smtClean="0"/>
              <a:t>与</a:t>
            </a:r>
            <a:r>
              <a:rPr lang="zh-CN" altLang="en-US" dirty="0"/>
              <a:t>统计学习</a:t>
            </a:r>
            <a:r>
              <a:rPr lang="zh-CN" altLang="en-US" dirty="0" smtClean="0"/>
              <a:t>简史</a:t>
            </a:r>
            <a:endParaRPr lang="zh-CN" altLang="en-US" dirty="0"/>
          </a:p>
        </p:txBody>
      </p:sp>
      <p:sp>
        <p:nvSpPr>
          <p:cNvPr id="3" name="内容占位符 2"/>
          <p:cNvSpPr>
            <a:spLocks noGrp="1"/>
          </p:cNvSpPr>
          <p:nvPr>
            <p:ph idx="1"/>
          </p:nvPr>
        </p:nvSpPr>
        <p:spPr>
          <a:xfrm>
            <a:off x="684066" y="836712"/>
            <a:ext cx="7985150" cy="4690864"/>
          </a:xfrm>
        </p:spPr>
        <p:txBody>
          <a:bodyPr/>
          <a:lstStyle/>
          <a:p>
            <a:r>
              <a:rPr lang="en-US" altLang="zh-CN" dirty="0" smtClean="0">
                <a:latin typeface="+mn-ea"/>
              </a:rPr>
              <a:t>1963</a:t>
            </a:r>
            <a:r>
              <a:rPr lang="zh-CN" altLang="en-US" dirty="0" smtClean="0">
                <a:latin typeface="+mn-ea"/>
              </a:rPr>
              <a:t>年，</a:t>
            </a:r>
            <a:r>
              <a:rPr lang="en-US" altLang="zh-CN" dirty="0" err="1" smtClean="0">
                <a:latin typeface="+mn-ea"/>
              </a:rPr>
              <a:t>Vapnik</a:t>
            </a:r>
            <a:r>
              <a:rPr lang="zh-CN" altLang="en-US" dirty="0" smtClean="0">
                <a:latin typeface="+mn-ea"/>
              </a:rPr>
              <a:t>提出</a:t>
            </a:r>
            <a:r>
              <a:rPr lang="zh-CN" altLang="en-US" dirty="0">
                <a:latin typeface="+mn-ea"/>
              </a:rPr>
              <a:t>支持向量的概念</a:t>
            </a:r>
            <a:endParaRPr lang="zh-CN" altLang="en-US" dirty="0">
              <a:latin typeface="+mn-ea"/>
            </a:endParaRPr>
          </a:p>
          <a:p>
            <a:r>
              <a:rPr lang="en-US" altLang="zh-CN" dirty="0">
                <a:latin typeface="+mn-ea"/>
              </a:rPr>
              <a:t>1968</a:t>
            </a:r>
            <a:r>
              <a:rPr lang="zh-CN" altLang="en-US" dirty="0">
                <a:latin typeface="+mn-ea"/>
              </a:rPr>
              <a:t>年，</a:t>
            </a:r>
            <a:r>
              <a:rPr lang="en-US" altLang="zh-CN" dirty="0" err="1">
                <a:latin typeface="+mn-ea"/>
              </a:rPr>
              <a:t>Vapnik</a:t>
            </a:r>
            <a:r>
              <a:rPr lang="zh-CN" altLang="en-US" dirty="0">
                <a:latin typeface="+mn-ea"/>
              </a:rPr>
              <a:t>和</a:t>
            </a:r>
            <a:r>
              <a:rPr lang="en-US" altLang="zh-CN" dirty="0" err="1">
                <a:latin typeface="+mn-ea"/>
              </a:rPr>
              <a:t>Chervonenkis</a:t>
            </a:r>
            <a:r>
              <a:rPr lang="zh-CN" altLang="en-US" dirty="0">
                <a:latin typeface="+mn-ea"/>
              </a:rPr>
              <a:t>提出</a:t>
            </a:r>
            <a:r>
              <a:rPr lang="en-US" altLang="zh-CN" dirty="0">
                <a:latin typeface="+mn-ea"/>
              </a:rPr>
              <a:t>VC</a:t>
            </a:r>
            <a:r>
              <a:rPr lang="zh-CN" altLang="en-US" dirty="0">
                <a:latin typeface="+mn-ea"/>
              </a:rPr>
              <a:t>维</a:t>
            </a:r>
            <a:endParaRPr lang="en-US" altLang="zh-CN" dirty="0">
              <a:latin typeface="+mn-ea"/>
            </a:endParaRPr>
          </a:p>
          <a:p>
            <a:r>
              <a:rPr lang="en-US" altLang="zh-CN" spc="-100" dirty="0" smtClean="0">
                <a:latin typeface="+mn-ea"/>
              </a:rPr>
              <a:t>1974</a:t>
            </a:r>
            <a:r>
              <a:rPr lang="zh-CN" altLang="en-US" spc="-100" dirty="0" smtClean="0">
                <a:latin typeface="+mn-ea"/>
              </a:rPr>
              <a:t>年，提出</a:t>
            </a:r>
            <a:r>
              <a:rPr lang="zh-CN" altLang="en-US" spc="-100" dirty="0">
                <a:latin typeface="+mn-ea"/>
              </a:rPr>
              <a:t>结构风险最小化</a:t>
            </a:r>
            <a:r>
              <a:rPr lang="zh-CN" altLang="en-US" spc="-100" dirty="0" smtClean="0">
                <a:latin typeface="+mn-ea"/>
              </a:rPr>
              <a:t>原则</a:t>
            </a:r>
            <a:endParaRPr lang="en-US" altLang="zh-CN" spc="-100" dirty="0" smtClean="0">
              <a:latin typeface="+mn-ea"/>
            </a:endParaRPr>
          </a:p>
          <a:p>
            <a:r>
              <a:rPr lang="en-US" altLang="zh-CN" spc="-100" dirty="0" smtClean="0">
                <a:latin typeface="+mn-ea"/>
              </a:rPr>
              <a:t>1995</a:t>
            </a:r>
            <a:r>
              <a:rPr lang="zh-CN" altLang="en-US" spc="-100" dirty="0" smtClean="0">
                <a:latin typeface="+mn-ea"/>
              </a:rPr>
              <a:t>年，</a:t>
            </a:r>
            <a:r>
              <a:rPr lang="en-US" altLang="zh-CN" spc="-100" dirty="0" smtClean="0">
                <a:latin typeface="+mn-ea"/>
              </a:rPr>
              <a:t>Support </a:t>
            </a:r>
            <a:r>
              <a:rPr lang="en-US" altLang="zh-CN" spc="-100" dirty="0">
                <a:latin typeface="+mn-ea"/>
              </a:rPr>
              <a:t>Vector </a:t>
            </a:r>
            <a:r>
              <a:rPr lang="en-US" altLang="zh-CN" spc="-100" dirty="0" smtClean="0">
                <a:latin typeface="+mn-ea"/>
              </a:rPr>
              <a:t>Network</a:t>
            </a:r>
            <a:r>
              <a:rPr lang="zh-CN" altLang="en-US" spc="-100" dirty="0" smtClean="0">
                <a:latin typeface="+mn-ea"/>
              </a:rPr>
              <a:t>文章</a:t>
            </a:r>
            <a:r>
              <a:rPr lang="zh-CN" altLang="en-US" spc="-100" dirty="0">
                <a:latin typeface="+mn-ea"/>
              </a:rPr>
              <a:t>发表</a:t>
            </a:r>
            <a:endParaRPr lang="zh-CN" altLang="en-US" spc="-100" dirty="0">
              <a:latin typeface="+mn-ea"/>
            </a:endParaRPr>
          </a:p>
          <a:p>
            <a:r>
              <a:rPr lang="en-US" altLang="zh-CN" dirty="0">
                <a:latin typeface="+mn-ea"/>
              </a:rPr>
              <a:t>1995</a:t>
            </a:r>
            <a:r>
              <a:rPr lang="zh-CN" altLang="en-US" dirty="0" smtClean="0">
                <a:latin typeface="+mn-ea"/>
              </a:rPr>
              <a:t>年</a:t>
            </a:r>
            <a:r>
              <a:rPr lang="en-US" altLang="zh-CN" dirty="0">
                <a:latin typeface="+mn-ea"/>
              </a:rPr>
              <a:t>,《The Nature of </a:t>
            </a:r>
            <a:r>
              <a:rPr lang="en-US" altLang="zh-CN" dirty="0" smtClean="0">
                <a:latin typeface="+mn-ea"/>
              </a:rPr>
              <a:t>Statistical Learning</a:t>
            </a:r>
            <a:r>
              <a:rPr lang="en-US" altLang="zh-CN" dirty="0">
                <a:latin typeface="+mn-ea"/>
              </a:rPr>
              <a:t>》</a:t>
            </a:r>
            <a:r>
              <a:rPr lang="zh-CN" altLang="en-US" dirty="0">
                <a:latin typeface="+mn-ea"/>
              </a:rPr>
              <a:t>出版</a:t>
            </a:r>
            <a:endParaRPr lang="zh-CN" altLang="en-US" dirty="0">
              <a:latin typeface="+mn-ea"/>
            </a:endParaRPr>
          </a:p>
          <a:p>
            <a:r>
              <a:rPr lang="en-US" altLang="zh-CN" spc="-100" dirty="0" smtClean="0">
                <a:latin typeface="+mn-ea"/>
              </a:rPr>
              <a:t>1998</a:t>
            </a:r>
            <a:r>
              <a:rPr lang="zh-CN" altLang="en-US" spc="-100" dirty="0" smtClean="0">
                <a:latin typeface="+mn-ea"/>
              </a:rPr>
              <a:t>年，</a:t>
            </a:r>
            <a:r>
              <a:rPr lang="en-US" altLang="zh-CN" spc="-100" dirty="0" smtClean="0">
                <a:latin typeface="+mn-ea"/>
              </a:rPr>
              <a:t>SVM</a:t>
            </a:r>
            <a:r>
              <a:rPr lang="zh-CN" altLang="en-US" spc="-100" dirty="0" smtClean="0">
                <a:latin typeface="+mn-ea"/>
              </a:rPr>
              <a:t>在</a:t>
            </a:r>
            <a:r>
              <a:rPr lang="zh-CN" altLang="en-US" spc="-100" dirty="0">
                <a:latin typeface="+mn-ea"/>
              </a:rPr>
              <a:t>文本分类上取得巨大</a:t>
            </a:r>
            <a:r>
              <a:rPr lang="zh-CN" altLang="en-US" spc="-100" dirty="0" smtClean="0">
                <a:latin typeface="+mn-ea"/>
              </a:rPr>
              <a:t>成功</a:t>
            </a:r>
            <a:endParaRPr lang="en-US" altLang="zh-CN" spc="-100" dirty="0" smtClean="0">
              <a:latin typeface="+mn-ea"/>
            </a:endParaRPr>
          </a:p>
          <a:p>
            <a:r>
              <a:rPr lang="en-US" altLang="zh-CN" spc="-100" dirty="0" smtClean="0">
                <a:latin typeface="+mn-ea"/>
              </a:rPr>
              <a:t>1998</a:t>
            </a:r>
            <a:r>
              <a:rPr lang="zh-CN" altLang="en-US" spc="-100" dirty="0" smtClean="0">
                <a:latin typeface="+mn-ea"/>
              </a:rPr>
              <a:t>年</a:t>
            </a:r>
            <a:r>
              <a:rPr lang="en-US" altLang="zh-CN" dirty="0">
                <a:latin typeface="+mn-ea"/>
              </a:rPr>
              <a:t>,</a:t>
            </a:r>
            <a:r>
              <a:rPr lang="en-US" altLang="zh-CN" spc="-100" dirty="0" smtClean="0">
                <a:latin typeface="+mn-ea"/>
              </a:rPr>
              <a:t>《Statistical </a:t>
            </a:r>
            <a:r>
              <a:rPr lang="en-US" altLang="zh-CN" spc="-100" dirty="0">
                <a:latin typeface="+mn-ea"/>
              </a:rPr>
              <a:t>Learning </a:t>
            </a:r>
            <a:r>
              <a:rPr lang="en-US" altLang="zh-CN" spc="-100" dirty="0" smtClean="0">
                <a:latin typeface="+mn-ea"/>
              </a:rPr>
              <a:t>Theory》</a:t>
            </a:r>
            <a:r>
              <a:rPr lang="zh-CN" altLang="en-US" spc="-100" dirty="0">
                <a:latin typeface="+mn-ea"/>
              </a:rPr>
              <a:t>出版</a:t>
            </a:r>
            <a:endParaRPr lang="zh-CN" altLang="en-US" spc="-100" dirty="0">
              <a:latin typeface="+mn-ea"/>
            </a:endParaRPr>
          </a:p>
          <a:p>
            <a:endParaRPr lang="zh-CN" altLang="en-US" spc="-100" dirty="0">
              <a:latin typeface="+mn-ea"/>
            </a:endParaRPr>
          </a:p>
          <a:p>
            <a:endParaRPr lang="en-US" altLang="zh-CN" spc="-100" dirty="0" smtClean="0">
              <a:latin typeface="+mn-ea"/>
            </a:endParaRPr>
          </a:p>
          <a:p>
            <a:endParaRPr lang="zh-CN" altLang="en-US" spc="-100" dirty="0">
              <a:latin typeface="+mn-ea"/>
            </a:endParaRPr>
          </a:p>
          <a:p>
            <a:endParaRPr lang="zh-CN" altLang="en-US" spc="-100"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6781800" y="4821482"/>
            <a:ext cx="1506066" cy="1991894"/>
          </a:xfrm>
          <a:prstGeom prst="rect">
            <a:avLst/>
          </a:prstGeom>
        </p:spPr>
      </p:pic>
    </p:spTree>
  </p:cSld>
  <p:clrMapOvr>
    <a:masterClrMapping/>
  </p:clrMapOvr>
  <p:transition>
    <p:cover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6.1 </a:t>
            </a:r>
            <a:r>
              <a:rPr lang="zh-CN" altLang="en-US" dirty="0" smtClean="0"/>
              <a:t>间隔</a:t>
            </a:r>
            <a:r>
              <a:rPr lang="zh-CN" altLang="en-US" dirty="0"/>
              <a:t>与支持向量</a:t>
            </a:r>
            <a:endParaRPr lang="zh-CN" altLang="en-US" dirty="0"/>
          </a:p>
        </p:txBody>
      </p:sp>
      <p:sp>
        <p:nvSpPr>
          <p:cNvPr id="3" name="内容占位符 2"/>
          <p:cNvSpPr>
            <a:spLocks noGrp="1"/>
          </p:cNvSpPr>
          <p:nvPr>
            <p:ph idx="1"/>
          </p:nvPr>
        </p:nvSpPr>
        <p:spPr/>
        <p:txBody>
          <a:bodyPr/>
          <a:lstStyle/>
          <a:p>
            <a:pPr>
              <a:spcBef>
                <a:spcPts val="600"/>
              </a:spcBef>
            </a:pPr>
            <a:r>
              <a:rPr lang="zh-CN" altLang="en-US" dirty="0">
                <a:latin typeface="宋体" panose="02010600030101010101" pitchFamily="2" charset="-122"/>
              </a:rPr>
              <a:t>线性分类器回顾</a:t>
            </a:r>
            <a:endParaRPr lang="zh-CN" altLang="en-US" dirty="0">
              <a:latin typeface="宋体" panose="02010600030101010101" pitchFamily="2" charset="-122"/>
            </a:endParaRPr>
          </a:p>
          <a:p>
            <a:pPr lvl="1"/>
            <a:r>
              <a:rPr lang="zh-CN" altLang="en-US" dirty="0"/>
              <a:t>给定</a:t>
            </a:r>
            <a:r>
              <a:rPr lang="zh-CN" altLang="en-US" dirty="0" smtClean="0"/>
              <a:t>训练集                                           分类</a:t>
            </a:r>
            <a:r>
              <a:rPr lang="zh-CN" altLang="en-US" dirty="0"/>
              <a:t>学习最</a:t>
            </a:r>
            <a:r>
              <a:rPr lang="zh-CN" altLang="en-US" dirty="0" smtClean="0"/>
              <a:t>基本思想就是</a:t>
            </a:r>
            <a:r>
              <a:rPr lang="zh-CN" altLang="en-US" dirty="0"/>
              <a:t>基于训练集</a:t>
            </a:r>
            <a:r>
              <a:rPr lang="en-US" altLang="zh-CN" dirty="0">
                <a:latin typeface="+mn-ea"/>
              </a:rPr>
              <a:t>D</a:t>
            </a:r>
            <a:r>
              <a:rPr lang="zh-CN" altLang="en-US" dirty="0"/>
              <a:t>在样本空间中找到一个划分超平面，将不同类别的样本</a:t>
            </a:r>
            <a:r>
              <a:rPr lang="zh-CN" altLang="en-US" dirty="0" smtClean="0"/>
              <a:t>分开</a:t>
            </a:r>
            <a:endParaRPr lang="en-US" altLang="zh-CN"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6" name="对象 5"/>
          <p:cNvGraphicFramePr>
            <a:graphicFrameLocks noChangeAspect="1"/>
          </p:cNvGraphicFramePr>
          <p:nvPr/>
        </p:nvGraphicFramePr>
        <p:xfrm>
          <a:off x="3347864" y="1399736"/>
          <a:ext cx="4549933" cy="468000"/>
        </p:xfrm>
        <a:graphic>
          <a:graphicData uri="http://schemas.openxmlformats.org/presentationml/2006/ole">
            <mc:AlternateContent xmlns:mc="http://schemas.openxmlformats.org/markup-compatibility/2006">
              <mc:Choice xmlns:v="urn:schemas-microsoft-com:vml" Requires="v">
                <p:oleObj spid="_x0000_s1105" name="Equation" r:id="rId1" imgW="53340000" imgH="5486400" progId="Equation.DSMT4">
                  <p:embed/>
                </p:oleObj>
              </mc:Choice>
              <mc:Fallback>
                <p:oleObj name="Equation" r:id="rId1" imgW="53340000" imgH="5486400" progId="Equation.DSMT4">
                  <p:embed/>
                  <p:pic>
                    <p:nvPicPr>
                      <p:cNvPr id="0" name="图片 1104"/>
                      <p:cNvPicPr/>
                      <p:nvPr/>
                    </p:nvPicPr>
                    <p:blipFill>
                      <a:blip r:embed="rId2"/>
                      <a:stretch>
                        <a:fillRect/>
                      </a:stretch>
                    </p:blipFill>
                    <p:spPr>
                      <a:xfrm>
                        <a:off x="3347864" y="1399736"/>
                        <a:ext cx="4549933" cy="468000"/>
                      </a:xfrm>
                      <a:prstGeom prst="rect">
                        <a:avLst/>
                      </a:prstGeom>
                    </p:spPr>
                  </p:pic>
                </p:oleObj>
              </mc:Fallback>
            </mc:AlternateContent>
          </a:graphicData>
        </a:graphic>
      </p:graphicFrame>
      <p:pic>
        <p:nvPicPr>
          <p:cNvPr id="7" name="图片 6"/>
          <p:cNvPicPr>
            <a:picLocks noChangeAspect="1"/>
          </p:cNvPicPr>
          <p:nvPr/>
        </p:nvPicPr>
        <p:blipFill>
          <a:blip r:embed="rId3"/>
          <a:stretch>
            <a:fillRect/>
          </a:stretch>
        </p:blipFill>
        <p:spPr>
          <a:xfrm>
            <a:off x="2357311" y="3139482"/>
            <a:ext cx="4302921" cy="3636000"/>
          </a:xfrm>
          <a:prstGeom prst="rect">
            <a:avLst/>
          </a:prstGeom>
        </p:spPr>
      </p:pic>
    </p:spTree>
  </p:cSld>
  <p:clrMapOvr>
    <a:masterClrMapping/>
  </p:clrMapOvr>
  <p:transition>
    <p:cover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6.1 </a:t>
            </a:r>
            <a:r>
              <a:rPr lang="zh-CN" altLang="en-US" dirty="0" smtClean="0"/>
              <a:t>间隔</a:t>
            </a:r>
            <a:r>
              <a:rPr lang="zh-CN" altLang="en-US" dirty="0"/>
              <a:t>与支持向量</a:t>
            </a:r>
            <a:endParaRPr lang="zh-CN" altLang="en-US" dirty="0"/>
          </a:p>
        </p:txBody>
      </p:sp>
      <p:sp>
        <p:nvSpPr>
          <p:cNvPr id="3" name="内容占位符 2"/>
          <p:cNvSpPr>
            <a:spLocks noGrp="1"/>
          </p:cNvSpPr>
          <p:nvPr>
            <p:ph idx="1"/>
          </p:nvPr>
        </p:nvSpPr>
        <p:spPr/>
        <p:txBody>
          <a:bodyPr/>
          <a:lstStyle/>
          <a:p>
            <a:pPr>
              <a:spcBef>
                <a:spcPts val="600"/>
              </a:spcBef>
            </a:pPr>
            <a:r>
              <a:rPr lang="zh-CN" altLang="en-US" dirty="0">
                <a:latin typeface="宋体" panose="02010600030101010101" pitchFamily="2" charset="-122"/>
              </a:rPr>
              <a:t>线性分类器回顾</a:t>
            </a:r>
            <a:endParaRPr lang="zh-CN" altLang="en-US" dirty="0">
              <a:latin typeface="宋体" panose="02010600030101010101" pitchFamily="2" charset="-122"/>
            </a:endParaRPr>
          </a:p>
          <a:p>
            <a:pPr lvl="1" hangingPunct="0"/>
            <a:r>
              <a:rPr lang="zh-CN" altLang="en-US" dirty="0" smtClean="0"/>
              <a:t>但将</a:t>
            </a:r>
            <a:r>
              <a:rPr lang="zh-CN" altLang="en-US" dirty="0"/>
              <a:t>训练样本分开的划分超平面可能有</a:t>
            </a:r>
            <a:r>
              <a:rPr lang="zh-CN" altLang="en-US" dirty="0" smtClean="0"/>
              <a:t>很多，哪</a:t>
            </a:r>
            <a:r>
              <a:rPr lang="zh-CN" altLang="en-US" dirty="0"/>
              <a:t>一个更好</a:t>
            </a:r>
            <a:endParaRPr lang="en-US" altLang="zh-CN" dirty="0" smtClean="0"/>
          </a:p>
          <a:p>
            <a:pPr lvl="2"/>
            <a:r>
              <a:rPr lang="zh-CN" altLang="en-US" dirty="0" smtClean="0"/>
              <a:t>正中间</a:t>
            </a:r>
            <a:r>
              <a:rPr lang="zh-CN" altLang="en-US" dirty="0"/>
              <a:t>红色</a:t>
            </a:r>
            <a:r>
              <a:rPr lang="zh-CN" altLang="en-US" dirty="0" smtClean="0"/>
              <a:t>的划分超平面</a:t>
            </a:r>
            <a:endParaRPr lang="en-US" altLang="zh-CN" dirty="0" smtClean="0"/>
          </a:p>
          <a:p>
            <a:pPr lvl="3"/>
            <a:r>
              <a:rPr lang="zh-CN" altLang="en-US" dirty="0"/>
              <a:t>对训练样本局部</a:t>
            </a:r>
            <a:r>
              <a:rPr lang="zh-CN" altLang="en-US" dirty="0" smtClean="0"/>
              <a:t>扰动、噪声的容忍性最好，受</a:t>
            </a:r>
            <a:r>
              <a:rPr lang="zh-CN" altLang="en-US" dirty="0"/>
              <a:t>影响</a:t>
            </a:r>
            <a:r>
              <a:rPr lang="zh-CN" altLang="en-US" dirty="0" smtClean="0"/>
              <a:t>最小，</a:t>
            </a:r>
            <a:r>
              <a:rPr lang="zh-CN" altLang="en-US" dirty="0"/>
              <a:t>鲁棒性</a:t>
            </a:r>
            <a:r>
              <a:rPr lang="zh-CN" altLang="en-US" dirty="0" smtClean="0"/>
              <a:t>最好，</a:t>
            </a:r>
            <a:r>
              <a:rPr lang="zh-CN" altLang="en-US" dirty="0"/>
              <a:t>对未见示例的泛化能力最强</a:t>
            </a:r>
            <a:endParaRPr lang="en-US" altLang="zh-CN" dirty="0" smtClean="0"/>
          </a:p>
          <a:p>
            <a:pPr lvl="2"/>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555776" y="3284984"/>
            <a:ext cx="4181378" cy="3496816"/>
          </a:xfrm>
          <a:prstGeom prst="rect">
            <a:avLst/>
          </a:prstGeom>
        </p:spPr>
      </p:pic>
    </p:spTree>
  </p:cSld>
  <p:clrMapOvr>
    <a:masterClrMapping/>
  </p:clrMapOvr>
  <p:transition>
    <p:cover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971600" y="3645024"/>
            <a:ext cx="6536160" cy="3204000"/>
          </a:xfrm>
          <a:prstGeom prst="rect">
            <a:avLst/>
          </a:prstGeom>
        </p:spPr>
      </p:pic>
      <p:sp>
        <p:nvSpPr>
          <p:cNvPr id="2" name="标题 1"/>
          <p:cNvSpPr>
            <a:spLocks noGrp="1"/>
          </p:cNvSpPr>
          <p:nvPr>
            <p:ph type="title"/>
          </p:nvPr>
        </p:nvSpPr>
        <p:spPr/>
        <p:txBody>
          <a:bodyPr/>
          <a:lstStyle/>
          <a:p>
            <a:r>
              <a:rPr lang="en-US" altLang="zh-CN" dirty="0"/>
              <a:t>6.1 </a:t>
            </a:r>
            <a:r>
              <a:rPr lang="zh-CN" altLang="en-US" dirty="0"/>
              <a:t>间隔与支持向量</a:t>
            </a:r>
            <a:endParaRPr lang="zh-CN" altLang="en-US" dirty="0"/>
          </a:p>
        </p:txBody>
      </p:sp>
      <p:sp>
        <p:nvSpPr>
          <p:cNvPr id="3" name="内容占位符 2"/>
          <p:cNvSpPr>
            <a:spLocks noGrp="1"/>
          </p:cNvSpPr>
          <p:nvPr>
            <p:ph idx="1"/>
          </p:nvPr>
        </p:nvSpPr>
        <p:spPr/>
        <p:txBody>
          <a:bodyPr/>
          <a:lstStyle/>
          <a:p>
            <a:r>
              <a:rPr lang="zh-CN" altLang="en-US" dirty="0" smtClean="0"/>
              <a:t>超平面方程</a:t>
            </a:r>
            <a:endParaRPr lang="en-US" altLang="zh-CN" dirty="0" smtClean="0"/>
          </a:p>
          <a:p>
            <a:pPr lvl="1"/>
            <a:r>
              <a:rPr lang="zh-CN" altLang="en-US" dirty="0" smtClean="0"/>
              <a:t>样本空间划分超平面的线性方程</a:t>
            </a:r>
            <a:endParaRPr lang="en-US" altLang="zh-CN" dirty="0" smtClean="0"/>
          </a:p>
          <a:p>
            <a:pPr lvl="2"/>
            <a:endParaRPr lang="en-US" altLang="zh-CN" dirty="0" smtClean="0"/>
          </a:p>
          <a:p>
            <a:pPr lvl="2"/>
            <a:r>
              <a:rPr lang="en-US" altLang="zh-CN" dirty="0" smtClean="0"/>
              <a:t>                        </a:t>
            </a:r>
            <a:r>
              <a:rPr lang="zh-CN" altLang="en-US" dirty="0" smtClean="0"/>
              <a:t>为法向量，决定超平面</a:t>
            </a:r>
            <a:r>
              <a:rPr lang="zh-CN" altLang="en-US" dirty="0"/>
              <a:t>的</a:t>
            </a:r>
            <a:r>
              <a:rPr lang="zh-CN" altLang="en-US" dirty="0" smtClean="0"/>
              <a:t>方向</a:t>
            </a:r>
            <a:endParaRPr lang="en-US" altLang="zh-CN" dirty="0" smtClean="0"/>
          </a:p>
          <a:p>
            <a:pPr lvl="2"/>
            <a:r>
              <a:rPr lang="en-US" altLang="zh-CN" dirty="0">
                <a:latin typeface="+mn-ea"/>
              </a:rPr>
              <a:t>b</a:t>
            </a:r>
            <a:r>
              <a:rPr lang="zh-CN" altLang="en-US" dirty="0">
                <a:latin typeface="+mn-ea"/>
              </a:rPr>
              <a:t>为位移项，决定</a:t>
            </a:r>
            <a:r>
              <a:rPr lang="zh-CN" altLang="en-US" dirty="0" smtClean="0">
                <a:latin typeface="+mn-ea"/>
              </a:rPr>
              <a:t>了平面</a:t>
            </a:r>
            <a:r>
              <a:rPr lang="zh-CN" altLang="en-US" dirty="0">
                <a:latin typeface="+mn-ea"/>
              </a:rPr>
              <a:t>与原点之间的</a:t>
            </a:r>
            <a:r>
              <a:rPr lang="zh-CN" altLang="en-US" dirty="0" smtClean="0">
                <a:latin typeface="+mn-ea"/>
              </a:rPr>
              <a:t>距离</a:t>
            </a:r>
            <a:endParaRPr lang="en-US" altLang="zh-CN" dirty="0" smtClean="0">
              <a:latin typeface="+mn-ea"/>
            </a:endParaRPr>
          </a:p>
          <a:p>
            <a:pPr lvl="1">
              <a:spcBef>
                <a:spcPts val="1200"/>
              </a:spcBef>
            </a:pPr>
            <a:r>
              <a:rPr lang="zh-CN" altLang="en-US" dirty="0">
                <a:latin typeface="+mn-ea"/>
              </a:rPr>
              <a:t>样本</a:t>
            </a:r>
            <a:r>
              <a:rPr lang="zh-CN" altLang="en-US" dirty="0" smtClean="0">
                <a:latin typeface="+mn-ea"/>
              </a:rPr>
              <a:t>点到超平面的距离</a:t>
            </a:r>
            <a:endParaRPr lang="en-US" altLang="zh-CN" dirty="0" smtClean="0">
              <a:latin typeface="+mn-ea"/>
            </a:endParaRPr>
          </a:p>
          <a:p>
            <a:pPr lvl="2"/>
            <a:endParaRPr lang="en-US" altLang="zh-CN" dirty="0" smtClean="0">
              <a:latin typeface="+mn-ea"/>
            </a:endParaRPr>
          </a:p>
          <a:p>
            <a:pPr lvl="3"/>
            <a:endParaRPr lang="en-US" altLang="zh-CN" dirty="0" smtClean="0"/>
          </a:p>
          <a:p>
            <a:pPr lvl="3"/>
            <a:endParaRPr lang="en-US" altLang="zh-CN"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931520" y="1761847"/>
          <a:ext cx="1350963" cy="415925"/>
        </p:xfrm>
        <a:graphic>
          <a:graphicData uri="http://schemas.openxmlformats.org/presentationml/2006/ole">
            <mc:AlternateContent xmlns:mc="http://schemas.openxmlformats.org/markup-compatibility/2006">
              <mc:Choice xmlns:v="urn:schemas-microsoft-com:vml" Requires="v">
                <p:oleObj spid="_x0000_s3323" name="Equation" r:id="rId2" imgW="15849600" imgH="4876800" progId="Equation.DSMT4">
                  <p:embed/>
                </p:oleObj>
              </mc:Choice>
              <mc:Fallback>
                <p:oleObj name="Equation" r:id="rId2" imgW="15849600" imgH="4876800" progId="Equation.DSMT4">
                  <p:embed/>
                  <p:pic>
                    <p:nvPicPr>
                      <p:cNvPr id="0" name="图片 3322"/>
                      <p:cNvPicPr/>
                      <p:nvPr/>
                    </p:nvPicPr>
                    <p:blipFill>
                      <a:blip r:embed="rId3"/>
                      <a:stretch>
                        <a:fillRect/>
                      </a:stretch>
                    </p:blipFill>
                    <p:spPr>
                      <a:xfrm>
                        <a:off x="3931520" y="1761847"/>
                        <a:ext cx="1350963" cy="41592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907704" y="2132856"/>
          <a:ext cx="2159000" cy="468312"/>
        </p:xfrm>
        <a:graphic>
          <a:graphicData uri="http://schemas.openxmlformats.org/presentationml/2006/ole">
            <mc:AlternateContent xmlns:mc="http://schemas.openxmlformats.org/markup-compatibility/2006">
              <mc:Choice xmlns:v="urn:schemas-microsoft-com:vml" Requires="v">
                <p:oleObj spid="_x0000_s3324" name="Equation" r:id="rId4" imgW="25298400" imgH="5486400" progId="Equation.DSMT4">
                  <p:embed/>
                </p:oleObj>
              </mc:Choice>
              <mc:Fallback>
                <p:oleObj name="Equation" r:id="rId4" imgW="25298400" imgH="5486400" progId="Equation.DSMT4">
                  <p:embed/>
                  <p:pic>
                    <p:nvPicPr>
                      <p:cNvPr id="0" name="图片 3323"/>
                      <p:cNvPicPr/>
                      <p:nvPr/>
                    </p:nvPicPr>
                    <p:blipFill>
                      <a:blip r:embed="rId5"/>
                      <a:stretch>
                        <a:fillRect/>
                      </a:stretch>
                    </p:blipFill>
                    <p:spPr>
                      <a:xfrm>
                        <a:off x="1907704" y="2132856"/>
                        <a:ext cx="2159000" cy="46831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179095" y="2885182"/>
          <a:ext cx="1481137" cy="831850"/>
        </p:xfrm>
        <a:graphic>
          <a:graphicData uri="http://schemas.openxmlformats.org/presentationml/2006/ole">
            <mc:AlternateContent xmlns:mc="http://schemas.openxmlformats.org/markup-compatibility/2006">
              <mc:Choice xmlns:v="urn:schemas-microsoft-com:vml" Requires="v">
                <p:oleObj spid="_x0000_s3325" name="Equation" r:id="rId6" imgW="17373600" imgH="9753600" progId="Equation.DSMT4">
                  <p:embed/>
                </p:oleObj>
              </mc:Choice>
              <mc:Fallback>
                <p:oleObj name="Equation" r:id="rId6" imgW="17373600" imgH="9753600" progId="Equation.DSMT4">
                  <p:embed/>
                  <p:pic>
                    <p:nvPicPr>
                      <p:cNvPr id="0" name="图片 3324"/>
                      <p:cNvPicPr/>
                      <p:nvPr/>
                    </p:nvPicPr>
                    <p:blipFill>
                      <a:blip r:embed="rId7"/>
                      <a:stretch>
                        <a:fillRect/>
                      </a:stretch>
                    </p:blipFill>
                    <p:spPr>
                      <a:xfrm>
                        <a:off x="5179095" y="2885182"/>
                        <a:ext cx="1481137" cy="831850"/>
                      </a:xfrm>
                      <a:prstGeom prst="rect">
                        <a:avLst/>
                      </a:prstGeom>
                    </p:spPr>
                  </p:pic>
                </p:oleObj>
              </mc:Fallback>
            </mc:AlternateContent>
          </a:graphicData>
        </a:graphic>
      </p:graphicFrame>
    </p:spTree>
  </p:cSld>
  <p:clrMapOvr>
    <a:masterClrMapping/>
  </p:clrMapOvr>
  <p:transition>
    <p:cover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srcRect b="1201"/>
          <a:stretch>
            <a:fillRect/>
          </a:stretch>
        </p:blipFill>
        <p:spPr>
          <a:xfrm>
            <a:off x="4202517" y="1992008"/>
            <a:ext cx="4905987" cy="2376000"/>
          </a:xfrm>
          <a:prstGeom prst="rect">
            <a:avLst/>
          </a:prstGeom>
        </p:spPr>
      </p:pic>
      <p:sp>
        <p:nvSpPr>
          <p:cNvPr id="2" name="标题 1"/>
          <p:cNvSpPr>
            <a:spLocks noGrp="1"/>
          </p:cNvSpPr>
          <p:nvPr>
            <p:ph type="title"/>
          </p:nvPr>
        </p:nvSpPr>
        <p:spPr/>
        <p:txBody>
          <a:bodyPr/>
          <a:lstStyle/>
          <a:p>
            <a:r>
              <a:rPr lang="en-US" altLang="zh-CN" dirty="0"/>
              <a:t>6.1 </a:t>
            </a:r>
            <a:r>
              <a:rPr lang="zh-CN" altLang="en-US" dirty="0"/>
              <a:t>间隔与支持向量</a:t>
            </a:r>
            <a:endParaRPr lang="zh-CN" altLang="en-US" dirty="0"/>
          </a:p>
        </p:txBody>
      </p:sp>
      <p:sp>
        <p:nvSpPr>
          <p:cNvPr id="3" name="内容占位符 2"/>
          <p:cNvSpPr>
            <a:spLocks noGrp="1"/>
          </p:cNvSpPr>
          <p:nvPr>
            <p:ph idx="1"/>
          </p:nvPr>
        </p:nvSpPr>
        <p:spPr/>
        <p:txBody>
          <a:bodyPr/>
          <a:lstStyle/>
          <a:p>
            <a:r>
              <a:rPr lang="zh-CN" altLang="en-US" dirty="0"/>
              <a:t>支持</a:t>
            </a:r>
            <a:r>
              <a:rPr lang="zh-CN" altLang="en-US" dirty="0" smtClean="0"/>
              <a:t>向量</a:t>
            </a:r>
            <a:endParaRPr lang="en-US" altLang="zh-CN" dirty="0" smtClean="0"/>
          </a:p>
          <a:p>
            <a:pPr lvl="1"/>
            <a:r>
              <a:rPr lang="zh-CN" altLang="en-US" dirty="0" smtClean="0"/>
              <a:t>假设</a:t>
            </a:r>
            <a:r>
              <a:rPr lang="zh-CN" altLang="en-US" dirty="0" smtClean="0">
                <a:latin typeface="+mn-ea"/>
              </a:rPr>
              <a:t>超平面    </a:t>
            </a:r>
            <a:r>
              <a:rPr lang="zh-CN" altLang="en-US" dirty="0" smtClean="0"/>
              <a:t>将</a:t>
            </a:r>
            <a:r>
              <a:rPr lang="zh-CN" altLang="en-US" dirty="0"/>
              <a:t>训练样本正确分类</a:t>
            </a:r>
            <a:r>
              <a:rPr lang="zh-CN" altLang="en-US" dirty="0" smtClean="0"/>
              <a:t>，则对于            ，有</a:t>
            </a:r>
            <a:endParaRPr lang="en-US" altLang="zh-CN" dirty="0" smtClean="0"/>
          </a:p>
          <a:p>
            <a:pPr lvl="1"/>
            <a:endParaRPr lang="en-US" altLang="zh-CN" dirty="0"/>
          </a:p>
          <a:p>
            <a:pPr lvl="1"/>
            <a:endParaRPr lang="en-US" altLang="zh-CN" dirty="0" smtClean="0"/>
          </a:p>
          <a:p>
            <a:pPr lvl="2">
              <a:spcBef>
                <a:spcPts val="600"/>
              </a:spcBef>
            </a:pPr>
            <a:r>
              <a:rPr lang="zh-CN" altLang="en-US" dirty="0" smtClean="0"/>
              <a:t>将上式缩放变换有</a:t>
            </a:r>
            <a:endParaRPr lang="en-US" altLang="zh-CN" dirty="0" smtClean="0"/>
          </a:p>
          <a:p>
            <a:pPr lvl="2"/>
            <a:endParaRPr lang="en-US" altLang="zh-CN" dirty="0"/>
          </a:p>
          <a:p>
            <a:pPr lvl="2"/>
            <a:endParaRPr lang="en-US" altLang="zh-CN" dirty="0" smtClean="0"/>
          </a:p>
          <a:p>
            <a:pPr lvl="3"/>
            <a:endParaRPr lang="en-US" altLang="zh-CN" dirty="0" smtClean="0"/>
          </a:p>
          <a:p>
            <a:pPr lvl="3"/>
            <a:r>
              <a:rPr lang="zh-CN" altLang="en-US" dirty="0" smtClean="0"/>
              <a:t>距离</a:t>
            </a:r>
            <a:r>
              <a:rPr lang="zh-CN" altLang="en-US" dirty="0"/>
              <a:t>超平面最近</a:t>
            </a:r>
            <a:r>
              <a:rPr lang="zh-CN" altLang="en-US" dirty="0" smtClean="0"/>
              <a:t>的训练样本点能使等号</a:t>
            </a:r>
            <a:r>
              <a:rPr lang="zh-CN" altLang="en-US" dirty="0"/>
              <a:t>成立</a:t>
            </a:r>
            <a:r>
              <a:rPr lang="zh-CN" altLang="en-US" dirty="0" smtClean="0"/>
              <a:t>，这些点被称为支持向量</a:t>
            </a:r>
            <a:endParaRPr lang="en-US" altLang="zh-CN" dirty="0" smtClean="0"/>
          </a:p>
          <a:p>
            <a:pPr lvl="3"/>
            <a:r>
              <a:rPr lang="zh-CN" altLang="en-US" dirty="0" smtClean="0"/>
              <a:t>两</a:t>
            </a:r>
            <a:r>
              <a:rPr lang="zh-CN" altLang="en-US" dirty="0"/>
              <a:t>个异类支持向量到超平面的距离之和</a:t>
            </a:r>
            <a:r>
              <a:rPr lang="zh-CN" altLang="en-US" dirty="0" smtClean="0"/>
              <a:t>为         ，称为间隔</a:t>
            </a:r>
            <a:endParaRPr lang="en-US" altLang="zh-CN" dirty="0"/>
          </a:p>
          <a:p>
            <a:pPr lvl="1"/>
            <a:endParaRPr lang="en-US" altLang="zh-CN" dirty="0"/>
          </a:p>
          <a:p>
            <a:pPr lvl="1"/>
            <a:endParaRPr lang="zh-CN" altLang="en-US"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6" name="对象 5"/>
          <p:cNvGraphicFramePr>
            <a:graphicFrameLocks noChangeAspect="1"/>
          </p:cNvGraphicFramePr>
          <p:nvPr/>
        </p:nvGraphicFramePr>
        <p:xfrm>
          <a:off x="1835696" y="1808559"/>
          <a:ext cx="1350962" cy="468313"/>
        </p:xfrm>
        <a:graphic>
          <a:graphicData uri="http://schemas.openxmlformats.org/presentationml/2006/ole">
            <mc:AlternateContent xmlns:mc="http://schemas.openxmlformats.org/markup-compatibility/2006">
              <mc:Choice xmlns:v="urn:schemas-microsoft-com:vml" Requires="v">
                <p:oleObj spid="_x0000_s4669" name="Equation" r:id="rId2" imgW="15849600" imgH="5486400" progId="Equation.DSMT4">
                  <p:embed/>
                </p:oleObj>
              </mc:Choice>
              <mc:Fallback>
                <p:oleObj name="Equation" r:id="rId2" imgW="15849600" imgH="5486400" progId="Equation.DSMT4">
                  <p:embed/>
                  <p:pic>
                    <p:nvPicPr>
                      <p:cNvPr id="0" name="图片 4668"/>
                      <p:cNvPicPr/>
                      <p:nvPr/>
                    </p:nvPicPr>
                    <p:blipFill>
                      <a:blip r:embed="rId3"/>
                      <a:stretch>
                        <a:fillRect/>
                      </a:stretch>
                    </p:blipFill>
                    <p:spPr>
                      <a:xfrm>
                        <a:off x="1835696" y="1808559"/>
                        <a:ext cx="1350962" cy="46831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259632" y="2204864"/>
          <a:ext cx="2889250" cy="989013"/>
        </p:xfrm>
        <a:graphic>
          <a:graphicData uri="http://schemas.openxmlformats.org/presentationml/2006/ole">
            <mc:AlternateContent xmlns:mc="http://schemas.openxmlformats.org/markup-compatibility/2006">
              <mc:Choice xmlns:v="urn:schemas-microsoft-com:vml" Requires="v">
                <p:oleObj spid="_x0000_s4670" name="Equation" r:id="rId4" imgW="32004000" imgH="10972800" progId="Equation.DSMT4">
                  <p:embed/>
                </p:oleObj>
              </mc:Choice>
              <mc:Fallback>
                <p:oleObj name="Equation" r:id="rId4" imgW="32004000" imgH="10972800" progId="Equation.DSMT4">
                  <p:embed/>
                  <p:pic>
                    <p:nvPicPr>
                      <p:cNvPr id="0" name="图片 4669"/>
                      <p:cNvPicPr/>
                      <p:nvPr/>
                    </p:nvPicPr>
                    <p:blipFill>
                      <a:blip r:embed="rId5"/>
                      <a:stretch>
                        <a:fillRect/>
                      </a:stretch>
                    </p:blipFill>
                    <p:spPr>
                      <a:xfrm>
                        <a:off x="1259632" y="2204864"/>
                        <a:ext cx="2889250" cy="98901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285877" y="1327568"/>
          <a:ext cx="854075" cy="522287"/>
        </p:xfrm>
        <a:graphic>
          <a:graphicData uri="http://schemas.openxmlformats.org/presentationml/2006/ole">
            <mc:AlternateContent xmlns:mc="http://schemas.openxmlformats.org/markup-compatibility/2006">
              <mc:Choice xmlns:v="urn:schemas-microsoft-com:vml" Requires="v">
                <p:oleObj spid="_x0000_s4671" name="Equation" r:id="rId6" imgW="9448800" imgH="5791200" progId="Equation.DSMT4">
                  <p:embed/>
                </p:oleObj>
              </mc:Choice>
              <mc:Fallback>
                <p:oleObj name="Equation" r:id="rId6" imgW="9448800" imgH="5791200" progId="Equation.DSMT4">
                  <p:embed/>
                  <p:pic>
                    <p:nvPicPr>
                      <p:cNvPr id="0" name="图片 4670"/>
                      <p:cNvPicPr/>
                      <p:nvPr/>
                    </p:nvPicPr>
                    <p:blipFill>
                      <a:blip r:embed="rId7"/>
                      <a:stretch>
                        <a:fillRect/>
                      </a:stretch>
                    </p:blipFill>
                    <p:spPr>
                      <a:xfrm>
                        <a:off x="3285877" y="1327568"/>
                        <a:ext cx="854075" cy="522287"/>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6986405" y="4958102"/>
          <a:ext cx="888923" cy="720000"/>
        </p:xfrm>
        <a:graphic>
          <a:graphicData uri="http://schemas.openxmlformats.org/presentationml/2006/ole">
            <mc:AlternateContent xmlns:mc="http://schemas.openxmlformats.org/markup-compatibility/2006">
              <mc:Choice xmlns:v="urn:schemas-microsoft-com:vml" Requires="v">
                <p:oleObj spid="_x0000_s4672" name="Equation" r:id="rId8" imgW="11277600" imgH="9144000" progId="Equation.DSMT4">
                  <p:embed/>
                </p:oleObj>
              </mc:Choice>
              <mc:Fallback>
                <p:oleObj name="Equation" r:id="rId8" imgW="11277600" imgH="9144000" progId="Equation.DSMT4">
                  <p:embed/>
                  <p:pic>
                    <p:nvPicPr>
                      <p:cNvPr id="0" name="图片 4671"/>
                      <p:cNvPicPr/>
                      <p:nvPr/>
                    </p:nvPicPr>
                    <p:blipFill>
                      <a:blip r:embed="rId9"/>
                      <a:stretch>
                        <a:fillRect/>
                      </a:stretch>
                    </p:blipFill>
                    <p:spPr>
                      <a:xfrm>
                        <a:off x="6986405" y="4958102"/>
                        <a:ext cx="888923" cy="7200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331640" y="3575670"/>
          <a:ext cx="2944813" cy="933450"/>
        </p:xfrm>
        <a:graphic>
          <a:graphicData uri="http://schemas.openxmlformats.org/presentationml/2006/ole">
            <mc:AlternateContent xmlns:mc="http://schemas.openxmlformats.org/markup-compatibility/2006">
              <mc:Choice xmlns:v="urn:schemas-microsoft-com:vml" Requires="v">
                <p:oleObj spid="_x0000_s4673" name="Equation" r:id="rId10" imgW="32613600" imgH="10363200" progId="Equation.DSMT4">
                  <p:embed/>
                </p:oleObj>
              </mc:Choice>
              <mc:Fallback>
                <p:oleObj name="Equation" r:id="rId10" imgW="32613600" imgH="10363200" progId="Equation.DSMT4">
                  <p:embed/>
                  <p:pic>
                    <p:nvPicPr>
                      <p:cNvPr id="0" name="图片 4672"/>
                      <p:cNvPicPr/>
                      <p:nvPr/>
                    </p:nvPicPr>
                    <p:blipFill>
                      <a:blip r:embed="rId11"/>
                      <a:stretch>
                        <a:fillRect/>
                      </a:stretch>
                    </p:blipFill>
                    <p:spPr>
                      <a:xfrm>
                        <a:off x="1331640" y="3575670"/>
                        <a:ext cx="2944813" cy="933450"/>
                      </a:xfrm>
                      <a:prstGeom prst="rect">
                        <a:avLst/>
                      </a:prstGeom>
                    </p:spPr>
                  </p:pic>
                </p:oleObj>
              </mc:Fallback>
            </mc:AlternateContent>
          </a:graphicData>
        </a:graphic>
      </p:graphicFrame>
    </p:spTree>
  </p:cSld>
  <p:clrMapOvr>
    <a:masterClrMapping/>
  </p:clrMapOvr>
  <p:transition>
    <p:cover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 </a:t>
            </a:r>
            <a:r>
              <a:rPr lang="zh-CN" altLang="en-US" dirty="0"/>
              <a:t>间隔与支持向量</a:t>
            </a:r>
            <a:endParaRPr lang="zh-CN" altLang="en-US" dirty="0"/>
          </a:p>
        </p:txBody>
      </p:sp>
      <p:sp>
        <p:nvSpPr>
          <p:cNvPr id="3" name="内容占位符 2"/>
          <p:cNvSpPr>
            <a:spLocks noGrp="1"/>
          </p:cNvSpPr>
          <p:nvPr>
            <p:ph idx="1"/>
          </p:nvPr>
        </p:nvSpPr>
        <p:spPr/>
        <p:txBody>
          <a:bodyPr/>
          <a:lstStyle/>
          <a:p>
            <a:r>
              <a:rPr lang="zh-CN" altLang="en-US" dirty="0"/>
              <a:t>支持向量机</a:t>
            </a:r>
            <a:r>
              <a:rPr lang="zh-CN" altLang="en-US" dirty="0" smtClean="0"/>
              <a:t>基本型</a:t>
            </a:r>
            <a:endParaRPr lang="en-US" altLang="zh-CN" dirty="0" smtClean="0"/>
          </a:p>
          <a:p>
            <a:pPr lvl="1"/>
            <a:r>
              <a:rPr lang="zh-CN" altLang="en-US" dirty="0" smtClean="0"/>
              <a:t>确定最好分类器就是要找到具有最大间隔的</a:t>
            </a:r>
            <a:r>
              <a:rPr lang="zh-CN" altLang="en-US" dirty="0"/>
              <a:t>划分超平面，</a:t>
            </a:r>
            <a:r>
              <a:rPr lang="zh-CN" altLang="en-US" dirty="0" smtClean="0"/>
              <a:t>也就是找使  最大的参数       ，即</a:t>
            </a:r>
            <a:endParaRPr lang="en-US" altLang="zh-CN" dirty="0" smtClean="0"/>
          </a:p>
          <a:p>
            <a:pPr lvl="1"/>
            <a:endParaRPr lang="en-US" altLang="zh-CN" dirty="0"/>
          </a:p>
          <a:p>
            <a:pPr lvl="2"/>
            <a:endParaRPr lang="en-US" altLang="zh-CN" dirty="0" smtClean="0"/>
          </a:p>
          <a:p>
            <a:pPr lvl="2"/>
            <a:endParaRPr lang="en-US" altLang="zh-CN" dirty="0" smtClean="0"/>
          </a:p>
          <a:p>
            <a:pPr lvl="2"/>
            <a:r>
              <a:rPr lang="zh-CN" altLang="en-US" dirty="0" smtClean="0"/>
              <a:t>其等价于</a:t>
            </a:r>
            <a:endParaRPr lang="en-US" altLang="zh-CN" dirty="0" smtClean="0"/>
          </a:p>
          <a:p>
            <a:pPr lvl="2"/>
            <a:endParaRPr lang="en-US" altLang="zh-CN" dirty="0"/>
          </a:p>
          <a:p>
            <a:pPr lvl="2"/>
            <a:endParaRPr lang="en-US" altLang="zh-CN" dirty="0" smtClean="0"/>
          </a:p>
          <a:p>
            <a:pPr lvl="3"/>
            <a:endParaRPr lang="en-US" altLang="zh-CN" dirty="0" smtClean="0">
              <a:latin typeface="+mn-ea"/>
            </a:endParaRPr>
          </a:p>
          <a:p>
            <a:pPr lvl="3"/>
            <a:endParaRPr lang="en-US" altLang="zh-CN" dirty="0" smtClean="0">
              <a:latin typeface="+mn-ea"/>
            </a:endParaRPr>
          </a:p>
          <a:p>
            <a:pPr lvl="3"/>
            <a:r>
              <a:rPr lang="zh-CN" altLang="en-US" dirty="0" smtClean="0">
                <a:latin typeface="+mn-ea"/>
              </a:rPr>
              <a:t>这是支持</a:t>
            </a:r>
            <a:r>
              <a:rPr lang="zh-CN" altLang="en-US" dirty="0">
                <a:latin typeface="+mn-ea"/>
              </a:rPr>
              <a:t>向量机</a:t>
            </a:r>
            <a:r>
              <a:rPr lang="en-US" altLang="zh-CN" dirty="0" smtClean="0">
                <a:latin typeface="+mn-ea"/>
              </a:rPr>
              <a:t>(SVM</a:t>
            </a:r>
            <a:r>
              <a:rPr lang="en-US" altLang="zh-CN" dirty="0">
                <a:latin typeface="+mn-ea"/>
              </a:rPr>
              <a:t>)</a:t>
            </a:r>
            <a:r>
              <a:rPr lang="zh-CN" altLang="en-US" dirty="0">
                <a:latin typeface="+mn-ea"/>
              </a:rPr>
              <a:t>的</a:t>
            </a:r>
            <a:r>
              <a:rPr lang="zh-CN" altLang="en-US" dirty="0" smtClean="0">
                <a:latin typeface="+mn-ea"/>
              </a:rPr>
              <a:t>基本型</a:t>
            </a:r>
            <a:endParaRPr lang="en-US" altLang="zh-CN" dirty="0" smtClean="0">
              <a:latin typeface="+mn-ea"/>
            </a:endParaRPr>
          </a:p>
          <a:p>
            <a:pPr lvl="3"/>
            <a:r>
              <a:rPr lang="zh-CN" altLang="en-US" dirty="0" smtClean="0">
                <a:latin typeface="+mn-ea"/>
              </a:rPr>
              <a:t>是凸二次规划</a:t>
            </a:r>
            <a:r>
              <a:rPr lang="zh-CN" altLang="en-US" dirty="0">
                <a:latin typeface="+mn-ea"/>
              </a:rPr>
              <a:t>问题</a:t>
            </a:r>
            <a:r>
              <a:rPr lang="zh-CN" altLang="en-US" dirty="0" smtClean="0">
                <a:latin typeface="+mn-ea"/>
              </a:rPr>
              <a:t>，如何求解</a:t>
            </a:r>
            <a:endParaRPr lang="en-US" altLang="zh-CN" dirty="0" smtClean="0">
              <a:latin typeface="+mn-ea"/>
            </a:endParaRPr>
          </a:p>
          <a:p>
            <a:pPr lvl="1"/>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7510990" y="1822995"/>
          <a:ext cx="827088" cy="439737"/>
        </p:xfrm>
        <a:graphic>
          <a:graphicData uri="http://schemas.openxmlformats.org/presentationml/2006/ole">
            <mc:AlternateContent xmlns:mc="http://schemas.openxmlformats.org/markup-compatibility/2006">
              <mc:Choice xmlns:v="urn:schemas-microsoft-com:vml" Requires="v">
                <p:oleObj spid="_x0000_s5613" name="Equation" r:id="rId1" imgW="9144000" imgH="4876800" progId="Equation.DSMT4">
                  <p:embed/>
                </p:oleObj>
              </mc:Choice>
              <mc:Fallback>
                <p:oleObj name="Equation" r:id="rId1" imgW="9144000" imgH="4876800" progId="Equation.DSMT4">
                  <p:embed/>
                  <p:pic>
                    <p:nvPicPr>
                      <p:cNvPr id="0" name="图片 5612"/>
                      <p:cNvPicPr/>
                      <p:nvPr/>
                    </p:nvPicPr>
                    <p:blipFill>
                      <a:blip r:embed="rId2"/>
                      <a:stretch>
                        <a:fillRect/>
                      </a:stretch>
                    </p:blipFill>
                    <p:spPr>
                      <a:xfrm>
                        <a:off x="7510990" y="1822995"/>
                        <a:ext cx="827088" cy="439737"/>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5447903" y="1880864"/>
          <a:ext cx="250560" cy="324000"/>
        </p:xfrm>
        <a:graphic>
          <a:graphicData uri="http://schemas.openxmlformats.org/presentationml/2006/ole">
            <mc:AlternateContent xmlns:mc="http://schemas.openxmlformats.org/markup-compatibility/2006">
              <mc:Choice xmlns:v="urn:schemas-microsoft-com:vml" Requires="v">
                <p:oleObj spid="_x0000_s5614" name="Equation" r:id="rId3" imgW="3048000" imgH="3962400" progId="Equation.DSMT4">
                  <p:embed/>
                </p:oleObj>
              </mc:Choice>
              <mc:Fallback>
                <p:oleObj name="Equation" r:id="rId3" imgW="3048000" imgH="3962400" progId="Equation.DSMT4">
                  <p:embed/>
                  <p:pic>
                    <p:nvPicPr>
                      <p:cNvPr id="0" name="图片 5613"/>
                      <p:cNvPicPr/>
                      <p:nvPr/>
                    </p:nvPicPr>
                    <p:blipFill>
                      <a:blip r:embed="rId4"/>
                      <a:stretch>
                        <a:fillRect/>
                      </a:stretch>
                    </p:blipFill>
                    <p:spPr>
                      <a:xfrm>
                        <a:off x="5447903" y="1880864"/>
                        <a:ext cx="250560" cy="324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937098" y="2420888"/>
          <a:ext cx="3867150" cy="1263650"/>
        </p:xfrm>
        <a:graphic>
          <a:graphicData uri="http://schemas.openxmlformats.org/presentationml/2006/ole">
            <mc:AlternateContent xmlns:mc="http://schemas.openxmlformats.org/markup-compatibility/2006">
              <mc:Choice xmlns:v="urn:schemas-microsoft-com:vml" Requires="v">
                <p:oleObj spid="_x0000_s5615" name="Equation" r:id="rId5" imgW="42672000" imgH="14020800" progId="Equation.DSMT4">
                  <p:embed/>
                </p:oleObj>
              </mc:Choice>
              <mc:Fallback>
                <p:oleObj name="Equation" r:id="rId5" imgW="42672000" imgH="14020800" progId="Equation.DSMT4">
                  <p:embed/>
                  <p:pic>
                    <p:nvPicPr>
                      <p:cNvPr id="0" name="图片 5614"/>
                      <p:cNvPicPr/>
                      <p:nvPr/>
                    </p:nvPicPr>
                    <p:blipFill>
                      <a:blip r:embed="rId6"/>
                      <a:stretch>
                        <a:fillRect/>
                      </a:stretch>
                    </p:blipFill>
                    <p:spPr>
                      <a:xfrm>
                        <a:off x="2937098" y="2420888"/>
                        <a:ext cx="3867150" cy="126365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916238" y="4149080"/>
          <a:ext cx="3948112" cy="1320800"/>
        </p:xfrm>
        <a:graphic>
          <a:graphicData uri="http://schemas.openxmlformats.org/presentationml/2006/ole">
            <mc:AlternateContent xmlns:mc="http://schemas.openxmlformats.org/markup-compatibility/2006">
              <mc:Choice xmlns:v="urn:schemas-microsoft-com:vml" Requires="v">
                <p:oleObj spid="_x0000_s5616" name="Equation" r:id="rId7" imgW="43586400" imgH="14630400" progId="Equation.DSMT4">
                  <p:embed/>
                </p:oleObj>
              </mc:Choice>
              <mc:Fallback>
                <p:oleObj name="Equation" r:id="rId7" imgW="43586400" imgH="14630400" progId="Equation.DSMT4">
                  <p:embed/>
                  <p:pic>
                    <p:nvPicPr>
                      <p:cNvPr id="0" name="图片 5615"/>
                      <p:cNvPicPr/>
                      <p:nvPr/>
                    </p:nvPicPr>
                    <p:blipFill>
                      <a:blip r:embed="rId8"/>
                      <a:stretch>
                        <a:fillRect/>
                      </a:stretch>
                    </p:blipFill>
                    <p:spPr>
                      <a:xfrm>
                        <a:off x="2916238" y="4149080"/>
                        <a:ext cx="3948112" cy="1320800"/>
                      </a:xfrm>
                      <a:prstGeom prst="rect">
                        <a:avLst/>
                      </a:prstGeom>
                    </p:spPr>
                  </p:pic>
                </p:oleObj>
              </mc:Fallback>
            </mc:AlternateContent>
          </a:graphicData>
        </a:graphic>
      </p:graphicFrame>
    </p:spTree>
  </p:cSld>
  <p:clrMapOvr>
    <a:masterClrMapping/>
  </p:clrMapOvr>
  <p:transition>
    <p:cover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6.2 </a:t>
            </a:r>
            <a:r>
              <a:rPr lang="zh-CN" altLang="en-US" dirty="0" smtClean="0"/>
              <a:t>对偶</a:t>
            </a:r>
            <a:r>
              <a:rPr lang="zh-CN" altLang="en-US" dirty="0"/>
              <a:t>问题</a:t>
            </a:r>
            <a:endParaRPr lang="zh-CN" altLang="en-US" dirty="0"/>
          </a:p>
        </p:txBody>
      </p:sp>
      <p:sp>
        <p:nvSpPr>
          <p:cNvPr id="3" name="内容占位符 2"/>
          <p:cNvSpPr>
            <a:spLocks noGrp="1"/>
          </p:cNvSpPr>
          <p:nvPr>
            <p:ph idx="1"/>
          </p:nvPr>
        </p:nvSpPr>
        <p:spPr/>
        <p:txBody>
          <a:bodyPr/>
          <a:lstStyle/>
          <a:p>
            <a:r>
              <a:rPr lang="zh-CN" altLang="en-US" dirty="0" smtClean="0"/>
              <a:t>用拉格朗日乘子法求解</a:t>
            </a:r>
            <a:endParaRPr lang="zh-CN" altLang="en-US" dirty="0"/>
          </a:p>
          <a:p>
            <a:pPr lvl="1"/>
            <a:r>
              <a:rPr lang="zh-CN" altLang="en-US" dirty="0" smtClean="0"/>
              <a:t>对支持向量机基本型的约束引入拉格朗日乘子                        ，则问题拉格朗日函数为</a:t>
            </a:r>
            <a:endParaRPr lang="en-US" altLang="zh-CN" dirty="0" smtClean="0"/>
          </a:p>
          <a:p>
            <a:pPr lvl="1"/>
            <a:endParaRPr lang="en-US" altLang="zh-CN" dirty="0"/>
          </a:p>
          <a:p>
            <a:pPr lvl="1"/>
            <a:endParaRPr lang="en-US" altLang="zh-CN" dirty="0" smtClean="0"/>
          </a:p>
          <a:p>
            <a:pPr lvl="1"/>
            <a:r>
              <a:rPr lang="zh-CN" altLang="en-US" dirty="0" smtClean="0"/>
              <a:t>令</a:t>
            </a:r>
            <a:r>
              <a:rPr lang="en-US" altLang="zh-CN" dirty="0" smtClean="0"/>
              <a:t>      </a:t>
            </a:r>
            <a:r>
              <a:rPr lang="zh-CN" altLang="en-US" dirty="0" smtClean="0"/>
              <a:t>的</a:t>
            </a:r>
            <a:r>
              <a:rPr lang="zh-CN" altLang="en-US" dirty="0"/>
              <a:t>偏导为</a:t>
            </a:r>
            <a:r>
              <a:rPr lang="zh-CN" altLang="en-US" dirty="0" smtClean="0"/>
              <a:t>零有</a:t>
            </a:r>
            <a:endParaRPr lang="en-US" altLang="zh-CN" dirty="0" smtClean="0"/>
          </a:p>
          <a:p>
            <a:pPr lvl="1"/>
            <a:endParaRPr lang="en-US" altLang="zh-CN" dirty="0"/>
          </a:p>
          <a:p>
            <a:pPr lvl="1"/>
            <a:endParaRPr lang="en-US" altLang="zh-CN" dirty="0" smtClean="0"/>
          </a:p>
          <a:p>
            <a:pPr lvl="1"/>
            <a:r>
              <a:rPr lang="zh-CN" altLang="en-US" dirty="0" smtClean="0"/>
              <a:t>上式代入原式消去       得对偶问题</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6" name="对象 5"/>
          <p:cNvGraphicFramePr>
            <a:graphicFrameLocks noChangeAspect="1"/>
          </p:cNvGraphicFramePr>
          <p:nvPr/>
        </p:nvGraphicFramePr>
        <p:xfrm>
          <a:off x="2234778" y="2209105"/>
          <a:ext cx="5289550" cy="931863"/>
        </p:xfrm>
        <a:graphic>
          <a:graphicData uri="http://schemas.openxmlformats.org/presentationml/2006/ole">
            <mc:AlternateContent xmlns:mc="http://schemas.openxmlformats.org/markup-compatibility/2006">
              <mc:Choice xmlns:v="urn:schemas-microsoft-com:vml" Requires="v">
                <p:oleObj spid="_x0000_s6650" name="Equation" r:id="rId1" imgW="58521600" imgH="10363200" progId="Equation.DSMT4">
                  <p:embed/>
                </p:oleObj>
              </mc:Choice>
              <mc:Fallback>
                <p:oleObj name="Equation" r:id="rId1" imgW="58521600" imgH="10363200" progId="Equation.DSMT4">
                  <p:embed/>
                  <p:pic>
                    <p:nvPicPr>
                      <p:cNvPr id="0" name="图片 6649"/>
                      <p:cNvPicPr/>
                      <p:nvPr/>
                    </p:nvPicPr>
                    <p:blipFill>
                      <a:blip r:embed="rId2"/>
                      <a:stretch>
                        <a:fillRect/>
                      </a:stretch>
                    </p:blipFill>
                    <p:spPr>
                      <a:xfrm>
                        <a:off x="2234778" y="2209105"/>
                        <a:ext cx="5289550" cy="93186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873018" y="1810139"/>
          <a:ext cx="2590800" cy="493712"/>
        </p:xfrm>
        <a:graphic>
          <a:graphicData uri="http://schemas.openxmlformats.org/presentationml/2006/ole">
            <mc:AlternateContent xmlns:mc="http://schemas.openxmlformats.org/markup-compatibility/2006">
              <mc:Choice xmlns:v="urn:schemas-microsoft-com:vml" Requires="v">
                <p:oleObj spid="_x0000_s6651" name="Equation" r:id="rId3" imgW="28651200" imgH="5486400" progId="Equation.DSMT4">
                  <p:embed/>
                </p:oleObj>
              </mc:Choice>
              <mc:Fallback>
                <p:oleObj name="Equation" r:id="rId3" imgW="28651200" imgH="5486400" progId="Equation.DSMT4">
                  <p:embed/>
                  <p:pic>
                    <p:nvPicPr>
                      <p:cNvPr id="0" name="图片 6650"/>
                      <p:cNvPicPr/>
                      <p:nvPr/>
                    </p:nvPicPr>
                    <p:blipFill>
                      <a:blip r:embed="rId4"/>
                      <a:stretch>
                        <a:fillRect/>
                      </a:stretch>
                    </p:blipFill>
                    <p:spPr>
                      <a:xfrm>
                        <a:off x="1873018" y="1810139"/>
                        <a:ext cx="2590800" cy="49371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1907704" y="3130826"/>
          <a:ext cx="604837" cy="439737"/>
        </p:xfrm>
        <a:graphic>
          <a:graphicData uri="http://schemas.openxmlformats.org/presentationml/2006/ole">
            <mc:AlternateContent xmlns:mc="http://schemas.openxmlformats.org/markup-compatibility/2006">
              <mc:Choice xmlns:v="urn:schemas-microsoft-com:vml" Requires="v">
                <p:oleObj spid="_x0000_s6652" name="Equation" r:id="rId5" imgW="6705600" imgH="4876800" progId="Equation.DSMT4">
                  <p:embed/>
                </p:oleObj>
              </mc:Choice>
              <mc:Fallback>
                <p:oleObj name="Equation" r:id="rId5" imgW="6705600" imgH="4876800" progId="Equation.DSMT4">
                  <p:embed/>
                  <p:pic>
                    <p:nvPicPr>
                      <p:cNvPr id="0" name="图片 6651"/>
                      <p:cNvPicPr/>
                      <p:nvPr/>
                    </p:nvPicPr>
                    <p:blipFill>
                      <a:blip r:embed="rId6"/>
                      <a:stretch>
                        <a:fillRect/>
                      </a:stretch>
                    </p:blipFill>
                    <p:spPr>
                      <a:xfrm>
                        <a:off x="1907704" y="3130826"/>
                        <a:ext cx="604837" cy="439737"/>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613397" y="3429000"/>
          <a:ext cx="3408362" cy="935037"/>
        </p:xfrm>
        <a:graphic>
          <a:graphicData uri="http://schemas.openxmlformats.org/presentationml/2006/ole">
            <mc:AlternateContent xmlns:mc="http://schemas.openxmlformats.org/markup-compatibility/2006">
              <mc:Choice xmlns:v="urn:schemas-microsoft-com:vml" Requires="v">
                <p:oleObj spid="_x0000_s6653" name="Equation" r:id="rId7" imgW="37795200" imgH="10363200" progId="Equation.DSMT4">
                  <p:embed/>
                </p:oleObj>
              </mc:Choice>
              <mc:Fallback>
                <p:oleObj name="Equation" r:id="rId7" imgW="37795200" imgH="10363200" progId="Equation.DSMT4">
                  <p:embed/>
                  <p:pic>
                    <p:nvPicPr>
                      <p:cNvPr id="0" name="图片 6652"/>
                      <p:cNvPicPr/>
                      <p:nvPr/>
                    </p:nvPicPr>
                    <p:blipFill>
                      <a:blip r:embed="rId8"/>
                      <a:stretch>
                        <a:fillRect/>
                      </a:stretch>
                    </p:blipFill>
                    <p:spPr>
                      <a:xfrm>
                        <a:off x="2613397" y="3429000"/>
                        <a:ext cx="3408362" cy="935037"/>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471219" y="4364037"/>
          <a:ext cx="604837" cy="439737"/>
        </p:xfrm>
        <a:graphic>
          <a:graphicData uri="http://schemas.openxmlformats.org/presentationml/2006/ole">
            <mc:AlternateContent xmlns:mc="http://schemas.openxmlformats.org/markup-compatibility/2006">
              <mc:Choice xmlns:v="urn:schemas-microsoft-com:vml" Requires="v">
                <p:oleObj spid="_x0000_s6654" name="Equation" r:id="rId9" imgW="6705600" imgH="4876800" progId="Equation.DSMT4">
                  <p:embed/>
                </p:oleObj>
              </mc:Choice>
              <mc:Fallback>
                <p:oleObj name="Equation" r:id="rId9" imgW="6705600" imgH="4876800" progId="Equation.DSMT4">
                  <p:embed/>
                  <p:pic>
                    <p:nvPicPr>
                      <p:cNvPr id="0" name="图片 6653"/>
                      <p:cNvPicPr/>
                      <p:nvPr/>
                    </p:nvPicPr>
                    <p:blipFill>
                      <a:blip r:embed="rId10"/>
                      <a:stretch>
                        <a:fillRect/>
                      </a:stretch>
                    </p:blipFill>
                    <p:spPr>
                      <a:xfrm>
                        <a:off x="4471219" y="4364037"/>
                        <a:ext cx="604837" cy="439737"/>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2121694" y="4781252"/>
          <a:ext cx="4754562" cy="1816100"/>
        </p:xfrm>
        <a:graphic>
          <a:graphicData uri="http://schemas.openxmlformats.org/presentationml/2006/ole">
            <mc:AlternateContent xmlns:mc="http://schemas.openxmlformats.org/markup-compatibility/2006">
              <mc:Choice xmlns:v="urn:schemas-microsoft-com:vml" Requires="v">
                <p:oleObj spid="_x0000_s6655" name="Equation" r:id="rId11" imgW="52730400" imgH="20116800" progId="Equation.DSMT4">
                  <p:embed/>
                </p:oleObj>
              </mc:Choice>
              <mc:Fallback>
                <p:oleObj name="Equation" r:id="rId11" imgW="52730400" imgH="20116800" progId="Equation.DSMT4">
                  <p:embed/>
                  <p:pic>
                    <p:nvPicPr>
                      <p:cNvPr id="0" name="图片 6654"/>
                      <p:cNvPicPr/>
                      <p:nvPr/>
                    </p:nvPicPr>
                    <p:blipFill>
                      <a:blip r:embed="rId12"/>
                      <a:stretch>
                        <a:fillRect/>
                      </a:stretch>
                    </p:blipFill>
                    <p:spPr>
                      <a:xfrm>
                        <a:off x="2121694" y="4781252"/>
                        <a:ext cx="4754562" cy="1816100"/>
                      </a:xfrm>
                      <a:prstGeom prst="rect">
                        <a:avLst/>
                      </a:prstGeom>
                    </p:spPr>
                  </p:pic>
                </p:oleObj>
              </mc:Fallback>
            </mc:AlternateContent>
          </a:graphicData>
        </a:graphic>
      </p:graphicFrame>
    </p:spTree>
  </p:cSld>
  <p:clrMapOvr>
    <a:masterClrMapping/>
  </p:clrMapOvr>
  <p:transition>
    <p:cover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a:t>
            </a:r>
            <a:r>
              <a:rPr lang="zh-CN" altLang="en-US" dirty="0"/>
              <a:t>对偶问题</a:t>
            </a:r>
            <a:endParaRPr lang="zh-CN" altLang="en-US" dirty="0"/>
          </a:p>
        </p:txBody>
      </p:sp>
      <p:sp>
        <p:nvSpPr>
          <p:cNvPr id="3" name="内容占位符 2"/>
          <p:cNvSpPr>
            <a:spLocks noGrp="1"/>
          </p:cNvSpPr>
          <p:nvPr>
            <p:ph idx="1"/>
          </p:nvPr>
        </p:nvSpPr>
        <p:spPr/>
        <p:txBody>
          <a:bodyPr/>
          <a:lstStyle/>
          <a:p>
            <a:r>
              <a:rPr lang="zh-CN" altLang="en-US" dirty="0"/>
              <a:t>解的稀疏性</a:t>
            </a:r>
            <a:endParaRPr lang="zh-CN" altLang="en-US" dirty="0"/>
          </a:p>
          <a:p>
            <a:pPr lvl="1"/>
            <a:r>
              <a:rPr lang="zh-CN" altLang="en-US" dirty="0"/>
              <a:t>解</a:t>
            </a:r>
            <a:r>
              <a:rPr lang="zh-CN" altLang="en-US" dirty="0" smtClean="0"/>
              <a:t>出   求得      可得模型</a:t>
            </a:r>
            <a:endParaRPr lang="en-US" altLang="zh-CN" dirty="0" smtClean="0"/>
          </a:p>
          <a:p>
            <a:pPr lvl="1"/>
            <a:endParaRPr lang="en-US" altLang="zh-CN" dirty="0"/>
          </a:p>
          <a:p>
            <a:pPr lvl="2">
              <a:spcBef>
                <a:spcPts val="2400"/>
              </a:spcBef>
            </a:pPr>
            <a:r>
              <a:rPr lang="en-US" altLang="zh-CN" dirty="0" smtClean="0"/>
              <a:t>   </a:t>
            </a:r>
            <a:r>
              <a:rPr lang="zh-CN" altLang="en-US" dirty="0" smtClean="0"/>
              <a:t>对应训练样本</a:t>
            </a:r>
            <a:endParaRPr lang="en-US" altLang="zh-CN" dirty="0" smtClean="0"/>
          </a:p>
          <a:p>
            <a:pPr lvl="2"/>
            <a:r>
              <a:rPr lang="zh-CN" altLang="en-US" dirty="0" smtClean="0"/>
              <a:t>求解过程</a:t>
            </a:r>
            <a:r>
              <a:rPr lang="zh-CN" altLang="en-US" dirty="0" smtClean="0">
                <a:latin typeface="+mn-ea"/>
              </a:rPr>
              <a:t>需满足</a:t>
            </a:r>
            <a:r>
              <a:rPr lang="en-US" altLang="zh-CN" dirty="0" smtClean="0">
                <a:latin typeface="+mn-ea"/>
              </a:rPr>
              <a:t>KKT</a:t>
            </a:r>
            <a:r>
              <a:rPr lang="zh-CN" altLang="en-US" dirty="0" smtClean="0">
                <a:latin typeface="+mn-ea"/>
              </a:rPr>
              <a:t>条件</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endParaRPr lang="en-US" altLang="zh-CN" dirty="0">
              <a:latin typeface="+mn-ea"/>
            </a:endParaRPr>
          </a:p>
          <a:p>
            <a:pPr lvl="1"/>
            <a:r>
              <a:rPr lang="zh-CN" altLang="en-US" dirty="0">
                <a:latin typeface="+mn-ea"/>
              </a:rPr>
              <a:t>训练完成</a:t>
            </a:r>
            <a:r>
              <a:rPr lang="zh-CN" altLang="en-US" dirty="0" smtClean="0">
                <a:latin typeface="+mn-ea"/>
              </a:rPr>
              <a:t>后最终</a:t>
            </a:r>
            <a:r>
              <a:rPr lang="zh-CN" altLang="en-US" dirty="0">
                <a:latin typeface="+mn-ea"/>
              </a:rPr>
              <a:t>模型仅与支持向量有关，</a:t>
            </a:r>
            <a:r>
              <a:rPr lang="zh-CN" altLang="en-US" dirty="0" smtClean="0">
                <a:latin typeface="+mn-ea"/>
              </a:rPr>
              <a:t>这是</a:t>
            </a:r>
            <a:r>
              <a:rPr lang="zh-CN" altLang="en-US" dirty="0">
                <a:latin typeface="+mn-ea"/>
              </a:rPr>
              <a:t>解的稀疏性</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endParaRPr lang="en-US" altLang="zh-CN" dirty="0">
              <a:latin typeface="+mn-ea"/>
            </a:endParaRPr>
          </a:p>
          <a:p>
            <a:pPr lvl="1"/>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225576" y="1471191"/>
          <a:ext cx="330200" cy="301625"/>
        </p:xfrm>
        <a:graphic>
          <a:graphicData uri="http://schemas.openxmlformats.org/presentationml/2006/ole">
            <mc:AlternateContent xmlns:mc="http://schemas.openxmlformats.org/markup-compatibility/2006">
              <mc:Choice xmlns:v="urn:schemas-microsoft-com:vml" Requires="v">
                <p:oleObj spid="_x0000_s7676" name="Equation" r:id="rId1" imgW="3657600" imgH="3352800" progId="Equation.DSMT4">
                  <p:embed/>
                </p:oleObj>
              </mc:Choice>
              <mc:Fallback>
                <p:oleObj name="Equation" r:id="rId1" imgW="3657600" imgH="3352800" progId="Equation.DSMT4">
                  <p:embed/>
                  <p:pic>
                    <p:nvPicPr>
                      <p:cNvPr id="0" name="图片 7675"/>
                      <p:cNvPicPr/>
                      <p:nvPr/>
                    </p:nvPicPr>
                    <p:blipFill>
                      <a:blip r:embed="rId2"/>
                      <a:stretch>
                        <a:fillRect/>
                      </a:stretch>
                    </p:blipFill>
                    <p:spPr>
                      <a:xfrm>
                        <a:off x="2225576" y="1471191"/>
                        <a:ext cx="330200" cy="30162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319091" y="1402134"/>
          <a:ext cx="604837" cy="439737"/>
        </p:xfrm>
        <a:graphic>
          <a:graphicData uri="http://schemas.openxmlformats.org/presentationml/2006/ole">
            <mc:AlternateContent xmlns:mc="http://schemas.openxmlformats.org/markup-compatibility/2006">
              <mc:Choice xmlns:v="urn:schemas-microsoft-com:vml" Requires="v">
                <p:oleObj spid="_x0000_s7677" name="Equation" r:id="rId3" imgW="6705600" imgH="4876800" progId="Equation.DSMT4">
                  <p:embed/>
                </p:oleObj>
              </mc:Choice>
              <mc:Fallback>
                <p:oleObj name="Equation" r:id="rId3" imgW="6705600" imgH="4876800" progId="Equation.DSMT4">
                  <p:embed/>
                  <p:pic>
                    <p:nvPicPr>
                      <p:cNvPr id="0" name="图片 7676"/>
                      <p:cNvPicPr/>
                      <p:nvPr/>
                    </p:nvPicPr>
                    <p:blipFill>
                      <a:blip r:embed="rId4"/>
                      <a:stretch>
                        <a:fillRect/>
                      </a:stretch>
                    </p:blipFill>
                    <p:spPr>
                      <a:xfrm>
                        <a:off x="3319091" y="1402134"/>
                        <a:ext cx="604837" cy="43973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394665" y="1739328"/>
          <a:ext cx="3480939" cy="864000"/>
        </p:xfrm>
        <a:graphic>
          <a:graphicData uri="http://schemas.openxmlformats.org/presentationml/2006/ole">
            <mc:AlternateContent xmlns:mc="http://schemas.openxmlformats.org/markup-compatibility/2006">
              <mc:Choice xmlns:v="urn:schemas-microsoft-com:vml" Requires="v">
                <p:oleObj spid="_x0000_s7678" name="Equation" r:id="rId5" imgW="41757600" imgH="10363200" progId="Equation.DSMT4">
                  <p:embed/>
                </p:oleObj>
              </mc:Choice>
              <mc:Fallback>
                <p:oleObj name="Equation" r:id="rId5" imgW="41757600" imgH="10363200" progId="Equation.DSMT4">
                  <p:embed/>
                  <p:pic>
                    <p:nvPicPr>
                      <p:cNvPr id="0" name="图片 7677"/>
                      <p:cNvPicPr/>
                      <p:nvPr/>
                    </p:nvPicPr>
                    <p:blipFill>
                      <a:blip r:embed="rId6"/>
                      <a:stretch>
                        <a:fillRect/>
                      </a:stretch>
                    </p:blipFill>
                    <p:spPr>
                      <a:xfrm>
                        <a:off x="2394665" y="1739328"/>
                        <a:ext cx="3480939" cy="864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1868389" y="2528952"/>
          <a:ext cx="338585" cy="468000"/>
        </p:xfrm>
        <a:graphic>
          <a:graphicData uri="http://schemas.openxmlformats.org/presentationml/2006/ole">
            <mc:AlternateContent xmlns:mc="http://schemas.openxmlformats.org/markup-compatibility/2006">
              <mc:Choice xmlns:v="urn:schemas-microsoft-com:vml" Requires="v">
                <p:oleObj spid="_x0000_s7679" name="Equation" r:id="rId7" imgW="3962400" imgH="5486400" progId="Equation.DSMT4">
                  <p:embed/>
                </p:oleObj>
              </mc:Choice>
              <mc:Fallback>
                <p:oleObj name="Equation" r:id="rId7" imgW="3962400" imgH="5486400" progId="Equation.DSMT4">
                  <p:embed/>
                  <p:pic>
                    <p:nvPicPr>
                      <p:cNvPr id="0" name="图片 7678"/>
                      <p:cNvPicPr/>
                      <p:nvPr/>
                    </p:nvPicPr>
                    <p:blipFill>
                      <a:blip r:embed="rId8"/>
                      <a:stretch>
                        <a:fillRect/>
                      </a:stretch>
                    </p:blipFill>
                    <p:spPr>
                      <a:xfrm>
                        <a:off x="1868389" y="2528952"/>
                        <a:ext cx="338585" cy="4680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4042023" y="2501652"/>
          <a:ext cx="962025" cy="495300"/>
        </p:xfrm>
        <a:graphic>
          <a:graphicData uri="http://schemas.openxmlformats.org/presentationml/2006/ole">
            <mc:AlternateContent xmlns:mc="http://schemas.openxmlformats.org/markup-compatibility/2006">
              <mc:Choice xmlns:v="urn:schemas-microsoft-com:vml" Requires="v">
                <p:oleObj spid="_x0000_s7680" name="Equation" r:id="rId9" imgW="10668000" imgH="5486400" progId="Equation.DSMT4">
                  <p:embed/>
                </p:oleObj>
              </mc:Choice>
              <mc:Fallback>
                <p:oleObj name="Equation" r:id="rId9" imgW="10668000" imgH="5486400" progId="Equation.DSMT4">
                  <p:embed/>
                  <p:pic>
                    <p:nvPicPr>
                      <p:cNvPr id="0" name="图片 7679"/>
                      <p:cNvPicPr/>
                      <p:nvPr/>
                    </p:nvPicPr>
                    <p:blipFill>
                      <a:blip r:embed="rId10"/>
                      <a:stretch>
                        <a:fillRect/>
                      </a:stretch>
                    </p:blipFill>
                    <p:spPr>
                      <a:xfrm>
                        <a:off x="4042023" y="2501652"/>
                        <a:ext cx="962025" cy="4953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873542" y="3249104"/>
          <a:ext cx="6370866" cy="1116000"/>
        </p:xfrm>
        <a:graphic>
          <a:graphicData uri="http://schemas.openxmlformats.org/presentationml/2006/ole">
            <mc:AlternateContent xmlns:mc="http://schemas.openxmlformats.org/markup-compatibility/2006">
              <mc:Choice xmlns:v="urn:schemas-microsoft-com:vml" Requires="v">
                <p:oleObj spid="_x0000_s7681" name="Equation" r:id="rId11" imgW="76504800" imgH="13411200" progId="Equation.DSMT4">
                  <p:embed/>
                </p:oleObj>
              </mc:Choice>
              <mc:Fallback>
                <p:oleObj name="Equation" r:id="rId11" imgW="76504800" imgH="13411200" progId="Equation.DSMT4">
                  <p:embed/>
                  <p:pic>
                    <p:nvPicPr>
                      <p:cNvPr id="0" name="图片 7680"/>
                      <p:cNvPicPr/>
                      <p:nvPr/>
                    </p:nvPicPr>
                    <p:blipFill>
                      <a:blip r:embed="rId12"/>
                      <a:stretch>
                        <a:fillRect/>
                      </a:stretch>
                    </p:blipFill>
                    <p:spPr>
                      <a:xfrm>
                        <a:off x="1873542" y="3249104"/>
                        <a:ext cx="6370866" cy="1116000"/>
                      </a:xfrm>
                      <a:prstGeom prst="rect">
                        <a:avLst/>
                      </a:prstGeom>
                    </p:spPr>
                  </p:pic>
                </p:oleObj>
              </mc:Fallback>
            </mc:AlternateContent>
          </a:graphicData>
        </a:graphic>
      </p:graphicFrame>
    </p:spTree>
  </p:cSld>
  <p:clrMapOvr>
    <a:masterClrMapping/>
  </p:clrMapOvr>
  <p:transition>
    <p:cover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6.2 </a:t>
            </a:r>
            <a:r>
              <a:rPr lang="zh-CN" altLang="en-US" dirty="0"/>
              <a:t>对偶问题</a:t>
            </a:r>
            <a:endParaRPr lang="zh-CN" altLang="en-US" dirty="0"/>
          </a:p>
        </p:txBody>
      </p:sp>
      <p:sp>
        <p:nvSpPr>
          <p:cNvPr id="3" name="内容占位符 2"/>
          <p:cNvSpPr>
            <a:spLocks noGrp="1"/>
          </p:cNvSpPr>
          <p:nvPr>
            <p:ph idx="1"/>
          </p:nvPr>
        </p:nvSpPr>
        <p:spPr/>
        <p:txBody>
          <a:bodyPr/>
          <a:lstStyle/>
          <a:p>
            <a:r>
              <a:rPr lang="zh-CN" altLang="en-US" dirty="0" smtClean="0"/>
              <a:t>  求解</a:t>
            </a:r>
            <a:endParaRPr lang="en-US" altLang="zh-CN" dirty="0" smtClean="0"/>
          </a:p>
          <a:p>
            <a:pPr lvl="1"/>
            <a:r>
              <a:rPr lang="zh-CN" altLang="en-US" dirty="0" smtClean="0"/>
              <a:t>求解式是二次规划</a:t>
            </a:r>
            <a:r>
              <a:rPr lang="zh-CN" altLang="en-US" dirty="0"/>
              <a:t>问题，</a:t>
            </a:r>
            <a:r>
              <a:rPr lang="zh-CN" altLang="en-US" dirty="0" smtClean="0"/>
              <a:t>可用二次规划</a:t>
            </a:r>
            <a:r>
              <a:rPr lang="zh-CN" altLang="en-US" dirty="0"/>
              <a:t>算法来</a:t>
            </a:r>
            <a:r>
              <a:rPr lang="zh-CN" altLang="en-US" dirty="0" smtClean="0"/>
              <a:t>求解</a:t>
            </a:r>
            <a:endParaRPr lang="en-US" altLang="zh-CN" dirty="0" smtClean="0"/>
          </a:p>
          <a:p>
            <a:pPr lvl="2"/>
            <a:r>
              <a:rPr lang="zh-CN" altLang="en-US" dirty="0" smtClean="0"/>
              <a:t>但问题规模</a:t>
            </a:r>
            <a:r>
              <a:rPr lang="zh-CN" altLang="en-US" dirty="0"/>
              <a:t>正比于训练样本数</a:t>
            </a:r>
            <a:r>
              <a:rPr lang="zh-CN" altLang="en-US" dirty="0" smtClean="0"/>
              <a:t>，造成很大开销</a:t>
            </a:r>
            <a:endParaRPr lang="en-US" altLang="zh-CN" dirty="0" smtClean="0"/>
          </a:p>
          <a:p>
            <a:pPr lvl="1"/>
            <a:r>
              <a:rPr lang="zh-CN" altLang="en-US" dirty="0"/>
              <a:t>利用问题</a:t>
            </a:r>
            <a:r>
              <a:rPr lang="zh-CN" altLang="en-US" dirty="0" smtClean="0"/>
              <a:t>本身特性的一些高效</a:t>
            </a:r>
            <a:r>
              <a:rPr lang="zh-CN" altLang="en-US" dirty="0"/>
              <a:t>算法</a:t>
            </a:r>
            <a:endParaRPr lang="en-US" altLang="zh-CN" dirty="0" smtClean="0"/>
          </a:p>
          <a:p>
            <a:pPr lvl="2"/>
            <a:r>
              <a:rPr lang="zh-CN" altLang="en-US" dirty="0" smtClean="0">
                <a:latin typeface="+mn-ea"/>
              </a:rPr>
              <a:t>如</a:t>
            </a:r>
            <a:r>
              <a:rPr lang="en-US" altLang="zh-CN" dirty="0" smtClean="0">
                <a:latin typeface="+mn-ea"/>
              </a:rPr>
              <a:t>SMO(Sequential </a:t>
            </a:r>
            <a:r>
              <a:rPr lang="en-US" altLang="zh-CN" dirty="0">
                <a:latin typeface="+mn-ea"/>
              </a:rPr>
              <a:t>Minimal Optimization</a:t>
            </a:r>
            <a:r>
              <a:rPr lang="zh-CN" altLang="en-US" dirty="0">
                <a:latin typeface="+mn-ea"/>
              </a:rPr>
              <a:t>序列最小优化算法</a:t>
            </a:r>
            <a:r>
              <a:rPr lang="en-US" altLang="zh-CN" dirty="0">
                <a:latin typeface="+mn-ea"/>
              </a:rPr>
              <a:t>)</a:t>
            </a:r>
            <a:endParaRPr lang="en-US" altLang="zh-CN" dirty="0">
              <a:latin typeface="+mn-ea"/>
            </a:endParaRPr>
          </a:p>
          <a:p>
            <a:pPr lvl="3"/>
            <a:r>
              <a:rPr lang="zh-CN" altLang="en-US" dirty="0" smtClean="0"/>
              <a:t>基本思路：先固定   之外的所有参数，然后求</a:t>
            </a:r>
            <a:r>
              <a:rPr lang="en-US" altLang="zh-CN" dirty="0" smtClean="0"/>
              <a:t>   </a:t>
            </a:r>
            <a:r>
              <a:rPr lang="zh-CN" altLang="en-US" dirty="0" smtClean="0"/>
              <a:t>上的极值</a:t>
            </a:r>
            <a:endParaRPr lang="en-US" altLang="zh-CN" dirty="0" smtClean="0"/>
          </a:p>
          <a:p>
            <a:pPr lvl="3"/>
            <a:r>
              <a:rPr lang="zh-CN" altLang="en-US" dirty="0" smtClean="0"/>
              <a:t>基本步骤</a:t>
            </a:r>
            <a:endParaRPr lang="en-US" altLang="zh-CN" dirty="0" smtClean="0"/>
          </a:p>
          <a:p>
            <a:pPr lvl="4"/>
            <a:r>
              <a:rPr lang="zh-CN" altLang="en-US" dirty="0" smtClean="0"/>
              <a:t>每次</a:t>
            </a:r>
            <a:r>
              <a:rPr lang="zh-CN" altLang="en-US" dirty="0"/>
              <a:t>选择两个</a:t>
            </a:r>
            <a:r>
              <a:rPr lang="zh-CN" altLang="en-US" dirty="0" smtClean="0"/>
              <a:t>变量        </a:t>
            </a:r>
            <a:endParaRPr lang="en-US" altLang="zh-CN" dirty="0" smtClean="0"/>
          </a:p>
          <a:p>
            <a:pPr lvl="4"/>
            <a:r>
              <a:rPr lang="zh-CN" altLang="en-US" dirty="0" smtClean="0"/>
              <a:t>固定</a:t>
            </a:r>
            <a:r>
              <a:rPr lang="zh-CN" altLang="en-US" dirty="0"/>
              <a:t>其他参数，</a:t>
            </a:r>
            <a:r>
              <a:rPr lang="zh-CN" altLang="en-US" dirty="0" smtClean="0"/>
              <a:t>求解获得</a:t>
            </a:r>
            <a:r>
              <a:rPr lang="zh-CN" altLang="en-US" dirty="0"/>
              <a:t>更新后</a:t>
            </a:r>
            <a:r>
              <a:rPr lang="zh-CN" altLang="en-US" dirty="0" smtClean="0"/>
              <a:t>的</a:t>
            </a:r>
            <a:endParaRPr lang="en-US" altLang="zh-CN" dirty="0" smtClean="0"/>
          </a:p>
          <a:p>
            <a:pPr lvl="4"/>
            <a:r>
              <a:rPr lang="zh-CN" altLang="en-US" dirty="0" smtClean="0"/>
              <a:t>不断执行如上两个步骤直至收敛</a:t>
            </a:r>
            <a:endParaRPr lang="en-US" altLang="zh-CN" dirty="0" smtClean="0"/>
          </a:p>
          <a:p>
            <a:pPr lvl="5"/>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1043608" y="980728"/>
          <a:ext cx="409575" cy="374650"/>
        </p:xfrm>
        <a:graphic>
          <a:graphicData uri="http://schemas.openxmlformats.org/presentationml/2006/ole">
            <mc:AlternateContent xmlns:mc="http://schemas.openxmlformats.org/markup-compatibility/2006">
              <mc:Choice xmlns:v="urn:schemas-microsoft-com:vml" Requires="v">
                <p:oleObj spid="_x0000_s8561" name="Equation" r:id="rId1" imgW="3657600" imgH="3352800" progId="Equation.DSMT4">
                  <p:embed/>
                </p:oleObj>
              </mc:Choice>
              <mc:Fallback>
                <p:oleObj name="Equation" r:id="rId1" imgW="3657600" imgH="3352800" progId="Equation.DSMT4">
                  <p:embed/>
                  <p:pic>
                    <p:nvPicPr>
                      <p:cNvPr id="0" name="图片 8560"/>
                      <p:cNvPicPr/>
                      <p:nvPr/>
                    </p:nvPicPr>
                    <p:blipFill>
                      <a:blip r:embed="rId2"/>
                      <a:stretch>
                        <a:fillRect/>
                      </a:stretch>
                    </p:blipFill>
                    <p:spPr>
                      <a:xfrm>
                        <a:off x="1043608" y="980728"/>
                        <a:ext cx="409575" cy="37465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427984" y="3691880"/>
          <a:ext cx="330200" cy="457200"/>
        </p:xfrm>
        <a:graphic>
          <a:graphicData uri="http://schemas.openxmlformats.org/presentationml/2006/ole">
            <mc:AlternateContent xmlns:mc="http://schemas.openxmlformats.org/markup-compatibility/2006">
              <mc:Choice xmlns:v="urn:schemas-microsoft-com:vml" Requires="v">
                <p:oleObj spid="_x0000_s8562" name="Equation" r:id="rId3" imgW="3962400" imgH="5486400" progId="Equation.DSMT4">
                  <p:embed/>
                </p:oleObj>
              </mc:Choice>
              <mc:Fallback>
                <p:oleObj name="Equation" r:id="rId3" imgW="3962400" imgH="5486400" progId="Equation.DSMT4">
                  <p:embed/>
                  <p:pic>
                    <p:nvPicPr>
                      <p:cNvPr id="0" name="图片 8561"/>
                      <p:cNvPicPr/>
                      <p:nvPr/>
                    </p:nvPicPr>
                    <p:blipFill>
                      <a:blip r:embed="rId4"/>
                      <a:stretch>
                        <a:fillRect/>
                      </a:stretch>
                    </p:blipFill>
                    <p:spPr>
                      <a:xfrm>
                        <a:off x="4427984" y="3691880"/>
                        <a:ext cx="330200" cy="4572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554168" y="3691880"/>
          <a:ext cx="330200" cy="457200"/>
        </p:xfrm>
        <a:graphic>
          <a:graphicData uri="http://schemas.openxmlformats.org/presentationml/2006/ole">
            <mc:AlternateContent xmlns:mc="http://schemas.openxmlformats.org/markup-compatibility/2006">
              <mc:Choice xmlns:v="urn:schemas-microsoft-com:vml" Requires="v">
                <p:oleObj spid="_x0000_s8563" name="Equation" r:id="rId5" imgW="3962400" imgH="5486400" progId="Equation.DSMT4">
                  <p:embed/>
                </p:oleObj>
              </mc:Choice>
              <mc:Fallback>
                <p:oleObj name="Equation" r:id="rId5" imgW="3962400" imgH="5486400" progId="Equation.DSMT4">
                  <p:embed/>
                  <p:pic>
                    <p:nvPicPr>
                      <p:cNvPr id="0" name="图片 8562"/>
                      <p:cNvPicPr/>
                      <p:nvPr/>
                    </p:nvPicPr>
                    <p:blipFill>
                      <a:blip r:embed="rId6"/>
                      <a:stretch>
                        <a:fillRect/>
                      </a:stretch>
                    </p:blipFill>
                    <p:spPr>
                      <a:xfrm>
                        <a:off x="7554168" y="3691880"/>
                        <a:ext cx="330200" cy="4572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920743" y="4620316"/>
          <a:ext cx="659369" cy="432000"/>
        </p:xfrm>
        <a:graphic>
          <a:graphicData uri="http://schemas.openxmlformats.org/presentationml/2006/ole">
            <mc:AlternateContent xmlns:mc="http://schemas.openxmlformats.org/markup-compatibility/2006">
              <mc:Choice xmlns:v="urn:schemas-microsoft-com:vml" Requires="v">
                <p:oleObj spid="_x0000_s8564" name="Equation" r:id="rId7" imgW="8839200" imgH="5791200" progId="Equation.DSMT4">
                  <p:embed/>
                </p:oleObj>
              </mc:Choice>
              <mc:Fallback>
                <p:oleObj name="Equation" r:id="rId7" imgW="8839200" imgH="5791200" progId="Equation.DSMT4">
                  <p:embed/>
                  <p:pic>
                    <p:nvPicPr>
                      <p:cNvPr id="0" name="图片 8563"/>
                      <p:cNvPicPr/>
                      <p:nvPr/>
                    </p:nvPicPr>
                    <p:blipFill>
                      <a:blip r:embed="rId8"/>
                      <a:stretch>
                        <a:fillRect/>
                      </a:stretch>
                    </p:blipFill>
                    <p:spPr>
                      <a:xfrm>
                        <a:off x="4920743" y="4620316"/>
                        <a:ext cx="659369" cy="4320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732240" y="4941216"/>
          <a:ext cx="659369" cy="432000"/>
        </p:xfrm>
        <a:graphic>
          <a:graphicData uri="http://schemas.openxmlformats.org/presentationml/2006/ole">
            <mc:AlternateContent xmlns:mc="http://schemas.openxmlformats.org/markup-compatibility/2006">
              <mc:Choice xmlns:v="urn:schemas-microsoft-com:vml" Requires="v">
                <p:oleObj spid="_x0000_s8565" name="Equation" r:id="rId9" imgW="8839200" imgH="5791200" progId="Equation.DSMT4">
                  <p:embed/>
                </p:oleObj>
              </mc:Choice>
              <mc:Fallback>
                <p:oleObj name="Equation" r:id="rId9" imgW="8839200" imgH="5791200" progId="Equation.DSMT4">
                  <p:embed/>
                  <p:pic>
                    <p:nvPicPr>
                      <p:cNvPr id="0" name="图片 8564"/>
                      <p:cNvPicPr/>
                      <p:nvPr/>
                    </p:nvPicPr>
                    <p:blipFill>
                      <a:blip r:embed="rId10"/>
                      <a:stretch>
                        <a:fillRect/>
                      </a:stretch>
                    </p:blipFill>
                    <p:spPr>
                      <a:xfrm>
                        <a:off x="6732240" y="4941216"/>
                        <a:ext cx="659369" cy="432000"/>
                      </a:xfrm>
                      <a:prstGeom prst="rect">
                        <a:avLst/>
                      </a:prstGeom>
                    </p:spPr>
                  </p:pic>
                </p:oleObj>
              </mc:Fallback>
            </mc:AlternateContent>
          </a:graphicData>
        </a:graphic>
      </p:graphicFrame>
    </p:spTree>
  </p:cSld>
  <p:clrMapOvr>
    <a:masterClrMapping/>
  </p:clrMapOvr>
  <p:transition>
    <p:cover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807077" y="3677660"/>
            <a:ext cx="7725363" cy="3135716"/>
          </a:xfrm>
          <a:prstGeom prst="rect">
            <a:avLst/>
          </a:prstGeom>
        </p:spPr>
      </p:pic>
      <p:sp>
        <p:nvSpPr>
          <p:cNvPr id="2" name="标题 1"/>
          <p:cNvSpPr>
            <a:spLocks noGrp="1"/>
          </p:cNvSpPr>
          <p:nvPr>
            <p:ph type="title"/>
          </p:nvPr>
        </p:nvSpPr>
        <p:spPr/>
        <p:txBody>
          <a:bodyPr/>
          <a:lstStyle/>
          <a:p>
            <a:r>
              <a:rPr lang="en-US" altLang="zh-CN" dirty="0" smtClean="0"/>
              <a:t>6.3 </a:t>
            </a:r>
            <a:r>
              <a:rPr lang="zh-CN" altLang="en-US" dirty="0" smtClean="0"/>
              <a:t>核函数</a:t>
            </a:r>
            <a:endParaRPr lang="zh-CN" altLang="en-US" dirty="0"/>
          </a:p>
        </p:txBody>
      </p:sp>
      <p:sp>
        <p:nvSpPr>
          <p:cNvPr id="3" name="内容占位符 2"/>
          <p:cNvSpPr>
            <a:spLocks noGrp="1"/>
          </p:cNvSpPr>
          <p:nvPr>
            <p:ph idx="1"/>
          </p:nvPr>
        </p:nvSpPr>
        <p:spPr/>
        <p:txBody>
          <a:bodyPr/>
          <a:lstStyle/>
          <a:p>
            <a:r>
              <a:rPr lang="zh-CN" altLang="en-US" dirty="0"/>
              <a:t>特征空间映射</a:t>
            </a:r>
            <a:endParaRPr lang="zh-CN" altLang="en-US" dirty="0"/>
          </a:p>
          <a:p>
            <a:pPr lvl="1"/>
            <a:r>
              <a:rPr lang="zh-CN" altLang="en-US" dirty="0"/>
              <a:t>若不</a:t>
            </a:r>
            <a:r>
              <a:rPr lang="zh-CN" altLang="en-US" dirty="0" smtClean="0"/>
              <a:t>存在能</a:t>
            </a:r>
            <a:r>
              <a:rPr lang="zh-CN" altLang="en-US" dirty="0"/>
              <a:t>正确划分两类样本的</a:t>
            </a:r>
            <a:r>
              <a:rPr lang="zh-CN" altLang="en-US" dirty="0" smtClean="0"/>
              <a:t>超平面</a:t>
            </a:r>
            <a:endParaRPr lang="en-US" altLang="zh-CN" dirty="0" smtClean="0"/>
          </a:p>
          <a:p>
            <a:pPr lvl="2"/>
            <a:r>
              <a:rPr lang="zh-CN" altLang="en-US" dirty="0" smtClean="0"/>
              <a:t>可将样本</a:t>
            </a:r>
            <a:r>
              <a:rPr lang="zh-CN" altLang="en-US" dirty="0"/>
              <a:t>从原始空间映射到一个更高维的特征</a:t>
            </a:r>
            <a:r>
              <a:rPr lang="zh-CN" altLang="en-US" dirty="0" smtClean="0"/>
              <a:t>空间，使</a:t>
            </a:r>
            <a:r>
              <a:rPr lang="zh-CN" altLang="en-US" dirty="0"/>
              <a:t>样本在</a:t>
            </a:r>
            <a:r>
              <a:rPr lang="zh-CN" altLang="en-US" dirty="0" smtClean="0"/>
              <a:t>这个</a:t>
            </a:r>
            <a:r>
              <a:rPr lang="zh-CN" altLang="en-US" dirty="0"/>
              <a:t>特征空间内线性可</a:t>
            </a:r>
            <a:r>
              <a:rPr lang="zh-CN" altLang="en-US" dirty="0" smtClean="0"/>
              <a:t>分</a:t>
            </a:r>
            <a:endParaRPr lang="en-US" altLang="zh-CN" dirty="0" smtClean="0"/>
          </a:p>
          <a:p>
            <a:pPr lvl="3" hangingPunct="0"/>
            <a:r>
              <a:rPr lang="zh-CN" altLang="en-US" dirty="0" smtClean="0"/>
              <a:t>如异</a:t>
            </a:r>
            <a:r>
              <a:rPr lang="zh-CN" altLang="en-US" dirty="0"/>
              <a:t>或问题，若将</a:t>
            </a:r>
            <a:r>
              <a:rPr lang="zh-CN" altLang="en-US" dirty="0" smtClean="0"/>
              <a:t>原二</a:t>
            </a:r>
            <a:r>
              <a:rPr lang="zh-CN" altLang="en-US" dirty="0"/>
              <a:t>维空间映射</a:t>
            </a:r>
            <a:r>
              <a:rPr lang="zh-CN" altLang="en-US" dirty="0" smtClean="0"/>
              <a:t>到合适</a:t>
            </a:r>
            <a:r>
              <a:rPr lang="zh-CN" altLang="en-US" dirty="0"/>
              <a:t>的三维空间，就能</a:t>
            </a:r>
            <a:r>
              <a:rPr lang="zh-CN" altLang="en-US" dirty="0" smtClean="0"/>
              <a:t>找到划分超平面</a:t>
            </a:r>
            <a:endParaRPr lang="en-US" altLang="zh-CN" dirty="0" smtClean="0"/>
          </a:p>
          <a:p>
            <a:pPr lvl="3"/>
            <a:r>
              <a:rPr lang="zh-CN" altLang="en-US" dirty="0" smtClean="0">
                <a:latin typeface="+mn-ea"/>
              </a:rPr>
              <a:t>如果</a:t>
            </a:r>
            <a:r>
              <a:rPr lang="zh-CN" altLang="en-US" dirty="0">
                <a:latin typeface="+mn-ea"/>
              </a:rPr>
              <a:t>原始空间是有限</a:t>
            </a:r>
            <a:r>
              <a:rPr lang="zh-CN" altLang="en-US" dirty="0" smtClean="0">
                <a:latin typeface="+mn-ea"/>
              </a:rPr>
              <a:t>维</a:t>
            </a:r>
            <a:r>
              <a:rPr lang="en-US" altLang="zh-CN" dirty="0" smtClean="0">
                <a:latin typeface="+mn-ea"/>
              </a:rPr>
              <a:t>(</a:t>
            </a:r>
            <a:r>
              <a:rPr lang="zh-CN" altLang="en-US" dirty="0" smtClean="0">
                <a:latin typeface="+mn-ea"/>
              </a:rPr>
              <a:t>属性</a:t>
            </a:r>
            <a:r>
              <a:rPr lang="zh-CN" altLang="en-US" dirty="0">
                <a:latin typeface="+mn-ea"/>
              </a:rPr>
              <a:t>数</a:t>
            </a:r>
            <a:r>
              <a:rPr lang="zh-CN" altLang="en-US" dirty="0" smtClean="0">
                <a:latin typeface="+mn-ea"/>
              </a:rPr>
              <a:t>有限</a:t>
            </a:r>
            <a:r>
              <a:rPr lang="en-US" altLang="zh-CN" dirty="0" smtClean="0">
                <a:latin typeface="+mn-ea"/>
              </a:rPr>
              <a:t>)</a:t>
            </a:r>
            <a:r>
              <a:rPr lang="zh-CN" altLang="en-US" dirty="0" smtClean="0">
                <a:latin typeface="+mn-ea"/>
              </a:rPr>
              <a:t>，</a:t>
            </a:r>
            <a:r>
              <a:rPr lang="zh-CN" altLang="en-US" dirty="0">
                <a:latin typeface="+mn-ea"/>
              </a:rPr>
              <a:t>那么一定存在一</a:t>
            </a:r>
            <a:r>
              <a:rPr lang="zh-CN" altLang="en-US" dirty="0" smtClean="0">
                <a:latin typeface="+mn-ea"/>
              </a:rPr>
              <a:t>个高</a:t>
            </a:r>
            <a:r>
              <a:rPr lang="zh-CN" altLang="en-US" dirty="0">
                <a:latin typeface="+mn-ea"/>
              </a:rPr>
              <a:t>维特征空间使样本可分</a:t>
            </a:r>
            <a:endParaRPr lang="zh-CN" altLang="en-US" dirty="0">
              <a:latin typeface="+mn-ea"/>
            </a:endParaRPr>
          </a:p>
          <a:p>
            <a:pPr lvl="2"/>
            <a:endParaRPr lang="zh-CN" altLang="en-US" dirty="0"/>
          </a:p>
          <a:p>
            <a:pPr lvl="1"/>
            <a:endParaRPr lang="en-US" altLang="zh-CN"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a:t>
            </a:r>
            <a:r>
              <a:rPr lang="zh-CN" altLang="en-US" dirty="0"/>
              <a:t>核函数</a:t>
            </a:r>
            <a:endParaRPr lang="zh-CN" altLang="en-US" dirty="0"/>
          </a:p>
        </p:txBody>
      </p:sp>
      <p:sp>
        <p:nvSpPr>
          <p:cNvPr id="3" name="内容占位符 2"/>
          <p:cNvSpPr>
            <a:spLocks noGrp="1"/>
          </p:cNvSpPr>
          <p:nvPr>
            <p:ph idx="1"/>
          </p:nvPr>
        </p:nvSpPr>
        <p:spPr>
          <a:xfrm>
            <a:off x="684066" y="836712"/>
            <a:ext cx="7772400" cy="5760640"/>
          </a:xfrm>
        </p:spPr>
        <p:txBody>
          <a:bodyPr/>
          <a:lstStyle/>
          <a:p>
            <a:r>
              <a:rPr lang="zh-CN" altLang="en-US" dirty="0"/>
              <a:t>特征空间映射</a:t>
            </a:r>
            <a:endParaRPr lang="zh-CN" altLang="en-US" dirty="0"/>
          </a:p>
          <a:p>
            <a:pPr lvl="1"/>
            <a:r>
              <a:rPr lang="zh-CN" altLang="en-US" dirty="0" smtClean="0"/>
              <a:t>设    表示将  映射</a:t>
            </a:r>
            <a:r>
              <a:rPr lang="zh-CN" altLang="en-US" dirty="0"/>
              <a:t>后的特征向量</a:t>
            </a:r>
            <a:r>
              <a:rPr lang="zh-CN" altLang="en-US" dirty="0" smtClean="0"/>
              <a:t>，特征空间的划分超平面为</a:t>
            </a:r>
            <a:endParaRPr lang="en-US" altLang="zh-CN" dirty="0" smtClean="0"/>
          </a:p>
          <a:p>
            <a:pPr lvl="1"/>
            <a:endParaRPr lang="en-US" altLang="zh-CN" dirty="0"/>
          </a:p>
          <a:p>
            <a:pPr lvl="2"/>
            <a:r>
              <a:rPr lang="zh-CN" altLang="en-US" dirty="0"/>
              <a:t>特征空间</a:t>
            </a:r>
            <a:r>
              <a:rPr lang="zh-CN" altLang="en-US" dirty="0" smtClean="0"/>
              <a:t>的学习问题为</a:t>
            </a:r>
            <a:endParaRPr lang="en-US" altLang="zh-CN" dirty="0" smtClean="0"/>
          </a:p>
          <a:p>
            <a:pPr lvl="1"/>
            <a:endParaRPr lang="en-US" altLang="zh-CN" dirty="0"/>
          </a:p>
          <a:p>
            <a:pPr lvl="1"/>
            <a:endParaRPr lang="en-US" altLang="zh-CN" dirty="0" smtClean="0"/>
          </a:p>
          <a:p>
            <a:pPr lvl="2">
              <a:spcBef>
                <a:spcPts val="1200"/>
              </a:spcBef>
            </a:pPr>
            <a:r>
              <a:rPr lang="zh-CN" altLang="en-US" dirty="0" smtClean="0"/>
              <a:t>其对偶问题</a:t>
            </a:r>
            <a:endParaRPr lang="en-US" altLang="zh-CN" dirty="0" smtClean="0"/>
          </a:p>
          <a:p>
            <a:pPr lvl="2"/>
            <a:endParaRPr lang="en-US" altLang="zh-CN" dirty="0"/>
          </a:p>
          <a:p>
            <a:pPr lvl="2"/>
            <a:endParaRPr lang="en-US" altLang="zh-CN" dirty="0" smtClean="0"/>
          </a:p>
          <a:p>
            <a:pPr lvl="2"/>
            <a:endParaRPr lang="en-US" altLang="zh-CN" dirty="0"/>
          </a:p>
          <a:p>
            <a:pPr lvl="2"/>
            <a:endParaRPr lang="en-US" altLang="zh-CN" dirty="0" smtClean="0"/>
          </a:p>
          <a:p>
            <a:pPr lvl="2">
              <a:spcBef>
                <a:spcPts val="600"/>
              </a:spcBef>
            </a:pPr>
            <a:r>
              <a:rPr lang="zh-CN" altLang="en-US" dirty="0" smtClean="0"/>
              <a:t>从而预测出</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1835696" y="1412776"/>
          <a:ext cx="640487" cy="396000"/>
        </p:xfrm>
        <a:graphic>
          <a:graphicData uri="http://schemas.openxmlformats.org/presentationml/2006/ole">
            <mc:AlternateContent xmlns:mc="http://schemas.openxmlformats.org/markup-compatibility/2006">
              <mc:Choice xmlns:v="urn:schemas-microsoft-com:vml" Requires="v">
                <p:oleObj spid="_x0000_s9686" name="Equation" r:id="rId1" imgW="7924800" imgH="4876800" progId="Equation.DSMT4">
                  <p:embed/>
                </p:oleObj>
              </mc:Choice>
              <mc:Fallback>
                <p:oleObj name="Equation" r:id="rId1" imgW="7924800" imgH="4876800" progId="Equation.DSMT4">
                  <p:embed/>
                  <p:pic>
                    <p:nvPicPr>
                      <p:cNvPr id="0" name="图片 9685"/>
                      <p:cNvPicPr/>
                      <p:nvPr/>
                    </p:nvPicPr>
                    <p:blipFill>
                      <a:blip r:embed="rId2"/>
                      <a:stretch>
                        <a:fillRect/>
                      </a:stretch>
                    </p:blipFill>
                    <p:spPr>
                      <a:xfrm>
                        <a:off x="1835696" y="1412776"/>
                        <a:ext cx="640487" cy="39600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419872" y="1484784"/>
          <a:ext cx="286188" cy="288000"/>
        </p:xfrm>
        <a:graphic>
          <a:graphicData uri="http://schemas.openxmlformats.org/presentationml/2006/ole">
            <mc:AlternateContent xmlns:mc="http://schemas.openxmlformats.org/markup-compatibility/2006">
              <mc:Choice xmlns:v="urn:schemas-microsoft-com:vml" Requires="v">
                <p:oleObj spid="_x0000_s9687" name="Equation" r:id="rId3" imgW="3352800" imgH="3352800" progId="Equation.DSMT4">
                  <p:embed/>
                </p:oleObj>
              </mc:Choice>
              <mc:Fallback>
                <p:oleObj name="Equation" r:id="rId3" imgW="3352800" imgH="3352800" progId="Equation.DSMT4">
                  <p:embed/>
                  <p:pic>
                    <p:nvPicPr>
                      <p:cNvPr id="0" name="图片 9686"/>
                      <p:cNvPicPr/>
                      <p:nvPr/>
                    </p:nvPicPr>
                    <p:blipFill>
                      <a:blip r:embed="rId4"/>
                      <a:stretch>
                        <a:fillRect/>
                      </a:stretch>
                    </p:blipFill>
                    <p:spPr>
                      <a:xfrm>
                        <a:off x="3419872" y="1484784"/>
                        <a:ext cx="286188" cy="288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059831" y="2204920"/>
          <a:ext cx="2220088" cy="468000"/>
        </p:xfrm>
        <a:graphic>
          <a:graphicData uri="http://schemas.openxmlformats.org/presentationml/2006/ole">
            <mc:AlternateContent xmlns:mc="http://schemas.openxmlformats.org/markup-compatibility/2006">
              <mc:Choice xmlns:v="urn:schemas-microsoft-com:vml" Requires="v">
                <p:oleObj spid="_x0000_s9688" name="Equation" r:id="rId5" imgW="26212800" imgH="5486400" progId="Equation.DSMT4">
                  <p:embed/>
                </p:oleObj>
              </mc:Choice>
              <mc:Fallback>
                <p:oleObj name="Equation" r:id="rId5" imgW="26212800" imgH="5486400" progId="Equation.DSMT4">
                  <p:embed/>
                  <p:pic>
                    <p:nvPicPr>
                      <p:cNvPr id="0" name="图片 9687"/>
                      <p:cNvPicPr/>
                      <p:nvPr/>
                    </p:nvPicPr>
                    <p:blipFill>
                      <a:blip r:embed="rId6"/>
                      <a:stretch>
                        <a:fillRect/>
                      </a:stretch>
                    </p:blipFill>
                    <p:spPr>
                      <a:xfrm>
                        <a:off x="3059831" y="2204920"/>
                        <a:ext cx="2220088" cy="468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243138" y="2924175"/>
          <a:ext cx="4173537" cy="1189038"/>
        </p:xfrm>
        <a:graphic>
          <a:graphicData uri="http://schemas.openxmlformats.org/presentationml/2006/ole">
            <mc:AlternateContent xmlns:mc="http://schemas.openxmlformats.org/markup-compatibility/2006">
              <mc:Choice xmlns:v="urn:schemas-microsoft-com:vml" Requires="v">
                <p:oleObj spid="_x0000_s9689" name="Equation" r:id="rId7" imgW="49682400" imgH="14020800" progId="Equation.DSMT4">
                  <p:embed/>
                </p:oleObj>
              </mc:Choice>
              <mc:Fallback>
                <p:oleObj name="Equation" r:id="rId7" imgW="49682400" imgH="14020800" progId="Equation.DSMT4">
                  <p:embed/>
                  <p:pic>
                    <p:nvPicPr>
                      <p:cNvPr id="0" name="图片 9688"/>
                      <p:cNvPicPr/>
                      <p:nvPr/>
                    </p:nvPicPr>
                    <p:blipFill>
                      <a:blip r:embed="rId8"/>
                      <a:stretch>
                        <a:fillRect/>
                      </a:stretch>
                    </p:blipFill>
                    <p:spPr>
                      <a:xfrm>
                        <a:off x="2243138" y="2924175"/>
                        <a:ext cx="4173537" cy="1189038"/>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278063" y="4292600"/>
          <a:ext cx="5427662" cy="1655763"/>
        </p:xfrm>
        <a:graphic>
          <a:graphicData uri="http://schemas.openxmlformats.org/presentationml/2006/ole">
            <mc:AlternateContent xmlns:mc="http://schemas.openxmlformats.org/markup-compatibility/2006">
              <mc:Choice xmlns:v="urn:schemas-microsoft-com:vml" Requires="v">
                <p:oleObj spid="_x0000_s9690" name="Equation" r:id="rId9" imgW="64617600" imgH="19507200" progId="Equation.DSMT4">
                  <p:embed/>
                </p:oleObj>
              </mc:Choice>
              <mc:Fallback>
                <p:oleObj name="Equation" r:id="rId9" imgW="64617600" imgH="19507200" progId="Equation.DSMT4">
                  <p:embed/>
                  <p:pic>
                    <p:nvPicPr>
                      <p:cNvPr id="0" name="图片 9689"/>
                      <p:cNvPicPr/>
                      <p:nvPr/>
                    </p:nvPicPr>
                    <p:blipFill>
                      <a:blip r:embed="rId10"/>
                      <a:stretch>
                        <a:fillRect/>
                      </a:stretch>
                    </p:blipFill>
                    <p:spPr>
                      <a:xfrm>
                        <a:off x="2278063" y="4292600"/>
                        <a:ext cx="5427662" cy="1655763"/>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584575" y="5688013"/>
          <a:ext cx="4889500" cy="881062"/>
        </p:xfrm>
        <a:graphic>
          <a:graphicData uri="http://schemas.openxmlformats.org/presentationml/2006/ole">
            <mc:AlternateContent xmlns:mc="http://schemas.openxmlformats.org/markup-compatibility/2006">
              <mc:Choice xmlns:v="urn:schemas-microsoft-com:vml" Requires="v">
                <p:oleObj spid="_x0000_s9691" name="Equation" r:id="rId11" imgW="58216800" imgH="10363200" progId="Equation.DSMT4">
                  <p:embed/>
                </p:oleObj>
              </mc:Choice>
              <mc:Fallback>
                <p:oleObj name="Equation" r:id="rId11" imgW="58216800" imgH="10363200" progId="Equation.DSMT4">
                  <p:embed/>
                  <p:pic>
                    <p:nvPicPr>
                      <p:cNvPr id="0" name="图片 9690"/>
                      <p:cNvPicPr/>
                      <p:nvPr/>
                    </p:nvPicPr>
                    <p:blipFill>
                      <a:blip r:embed="rId12"/>
                      <a:stretch>
                        <a:fillRect/>
                      </a:stretch>
                    </p:blipFill>
                    <p:spPr>
                      <a:xfrm>
                        <a:off x="3584575" y="5688013"/>
                        <a:ext cx="4889500" cy="881062"/>
                      </a:xfrm>
                      <a:prstGeom prst="rect">
                        <a:avLst/>
                      </a:prstGeom>
                    </p:spPr>
                  </p:pic>
                </p:oleObj>
              </mc:Fallback>
            </mc:AlternateContent>
          </a:graphicData>
        </a:graphic>
      </p:graphicFrame>
      <p:cxnSp>
        <p:nvCxnSpPr>
          <p:cNvPr id="13" name="直接连接符 12"/>
          <p:cNvCxnSpPr/>
          <p:nvPr/>
        </p:nvCxnSpPr>
        <p:spPr bwMode="auto">
          <a:xfrm>
            <a:off x="6201832" y="4986671"/>
            <a:ext cx="1404000" cy="0"/>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a:off x="6713240" y="6368076"/>
            <a:ext cx="1296144" cy="0"/>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文本框 18"/>
          <p:cNvSpPr txBox="1"/>
          <p:nvPr/>
        </p:nvSpPr>
        <p:spPr>
          <a:xfrm>
            <a:off x="7442500" y="4996987"/>
            <a:ext cx="1906564" cy="923330"/>
          </a:xfrm>
          <a:prstGeom prst="rect">
            <a:avLst/>
          </a:prstGeom>
          <a:noFill/>
        </p:spPr>
        <p:txBody>
          <a:bodyPr wrap="square" rtlCol="0">
            <a:spAutoFit/>
          </a:bodyPr>
          <a:lstStyle/>
          <a:p>
            <a:pPr>
              <a:lnSpc>
                <a:spcPct val="100000"/>
              </a:lnSpc>
              <a:spcBef>
                <a:spcPts val="0"/>
              </a:spcBef>
            </a:pPr>
            <a:r>
              <a:rPr lang="zh-CN" altLang="en-US" sz="1800" b="0" dirty="0">
                <a:solidFill>
                  <a:srgbClr val="FF0000"/>
                </a:solidFill>
              </a:rPr>
              <a:t>只以</a:t>
            </a:r>
            <a:r>
              <a:rPr lang="zh-CN" altLang="en-US" sz="1800" b="0" dirty="0" smtClean="0">
                <a:solidFill>
                  <a:srgbClr val="FF0000"/>
                </a:solidFill>
              </a:rPr>
              <a:t>内积形式出现，但特征</a:t>
            </a:r>
            <a:r>
              <a:rPr lang="zh-CN" altLang="en-US" sz="1800" b="0" dirty="0">
                <a:solidFill>
                  <a:srgbClr val="FF0000"/>
                </a:solidFill>
              </a:rPr>
              <a:t>空间维数可能很高</a:t>
            </a:r>
            <a:endParaRPr lang="zh-CN" altLang="en-US" sz="1800" b="0" dirty="0">
              <a:solidFill>
                <a:srgbClr val="FF0000"/>
              </a:solidFill>
            </a:endParaRPr>
          </a:p>
        </p:txBody>
      </p:sp>
    </p:spTree>
  </p:cSld>
  <p:clrMapOvr>
    <a:masterClrMapping/>
  </p:clrMapOvr>
  <p:transition>
    <p:cover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a:t>
            </a:r>
            <a:r>
              <a:rPr lang="zh-CN" altLang="en-US" dirty="0"/>
              <a:t>核函数</a:t>
            </a:r>
            <a:endParaRPr lang="zh-CN" altLang="en-US" dirty="0"/>
          </a:p>
        </p:txBody>
      </p:sp>
      <p:sp>
        <p:nvSpPr>
          <p:cNvPr id="3" name="内容占位符 2"/>
          <p:cNvSpPr>
            <a:spLocks noGrp="1"/>
          </p:cNvSpPr>
          <p:nvPr>
            <p:ph idx="1"/>
          </p:nvPr>
        </p:nvSpPr>
        <p:spPr/>
        <p:txBody>
          <a:bodyPr/>
          <a:lstStyle/>
          <a:p>
            <a:r>
              <a:rPr lang="zh-CN" altLang="en-US" dirty="0"/>
              <a:t>基本</a:t>
            </a:r>
            <a:r>
              <a:rPr lang="zh-CN" altLang="en-US" dirty="0" smtClean="0"/>
              <a:t>思路</a:t>
            </a:r>
            <a:endParaRPr lang="en-US" altLang="zh-CN" dirty="0" smtClean="0"/>
          </a:p>
          <a:p>
            <a:pPr lvl="1"/>
            <a:r>
              <a:rPr lang="zh-CN" altLang="en-US" dirty="0" smtClean="0"/>
              <a:t>特征</a:t>
            </a:r>
            <a:r>
              <a:rPr lang="zh-CN" altLang="en-US" dirty="0"/>
              <a:t>空间维数可能很高</a:t>
            </a:r>
            <a:r>
              <a:rPr lang="zh-CN" altLang="en-US" dirty="0" smtClean="0"/>
              <a:t>，直接计算        </a:t>
            </a:r>
            <a:r>
              <a:rPr lang="zh-CN" altLang="en-US" dirty="0" smtClean="0">
                <a:solidFill>
                  <a:schemeClr val="bg1"/>
                </a:solidFill>
              </a:rPr>
              <a:t>通</a:t>
            </a:r>
            <a:r>
              <a:rPr lang="zh-CN" altLang="en-US" dirty="0" smtClean="0"/>
              <a:t>通常困难</a:t>
            </a:r>
            <a:endParaRPr lang="en-US" altLang="zh-CN" dirty="0" smtClean="0"/>
          </a:p>
          <a:p>
            <a:pPr lvl="1"/>
            <a:r>
              <a:rPr lang="zh-CN" altLang="en-US" dirty="0" smtClean="0"/>
              <a:t>设计函数</a:t>
            </a:r>
            <a:endParaRPr lang="en-US" altLang="zh-CN" dirty="0" smtClean="0"/>
          </a:p>
          <a:p>
            <a:pPr lvl="1"/>
            <a:endParaRPr lang="en-US" altLang="zh-CN" dirty="0" smtClean="0"/>
          </a:p>
          <a:p>
            <a:pPr lvl="2"/>
            <a:r>
              <a:rPr lang="zh-CN" altLang="en-US" dirty="0" smtClean="0"/>
              <a:t>绕</a:t>
            </a:r>
            <a:r>
              <a:rPr lang="zh-CN" altLang="en-US" dirty="0"/>
              <a:t>过显式考虑特征</a:t>
            </a:r>
            <a:r>
              <a:rPr lang="zh-CN" altLang="en-US" dirty="0" smtClean="0"/>
              <a:t>映射以及</a:t>
            </a:r>
            <a:r>
              <a:rPr lang="zh-CN" altLang="en-US" dirty="0"/>
              <a:t>计算高维内积的</a:t>
            </a:r>
            <a:r>
              <a:rPr lang="zh-CN" altLang="en-US" dirty="0" smtClean="0"/>
              <a:t>困难</a:t>
            </a:r>
            <a:endParaRPr lang="en-US" altLang="zh-CN" dirty="0" smtClean="0"/>
          </a:p>
          <a:p>
            <a:pPr lvl="2"/>
            <a:r>
              <a:rPr lang="zh-CN" altLang="en-US" dirty="0" smtClean="0"/>
              <a:t>对偶问题</a:t>
            </a:r>
            <a:endParaRPr lang="en-US" altLang="zh-CN" dirty="0" smtClean="0"/>
          </a:p>
          <a:p>
            <a:pPr lvl="2"/>
            <a:endParaRPr lang="en-US" altLang="zh-CN" dirty="0"/>
          </a:p>
          <a:p>
            <a:pPr lvl="2"/>
            <a:endParaRPr lang="en-US" altLang="zh-CN" dirty="0" smtClean="0"/>
          </a:p>
          <a:p>
            <a:pPr lvl="2"/>
            <a:endParaRPr lang="en-US" altLang="zh-CN" dirty="0" smtClean="0"/>
          </a:p>
          <a:p>
            <a:pPr lvl="2"/>
            <a:endParaRPr lang="en-US" altLang="zh-CN" dirty="0" smtClean="0"/>
          </a:p>
          <a:p>
            <a:pPr lvl="2">
              <a:spcBef>
                <a:spcPts val="1200"/>
              </a:spcBef>
            </a:pPr>
            <a:r>
              <a:rPr lang="zh-CN" altLang="en-US" dirty="0" smtClean="0"/>
              <a:t>求解后模型可写为</a:t>
            </a:r>
            <a:endParaRPr lang="zh-CN" altLang="en-US" dirty="0"/>
          </a:p>
          <a:p>
            <a:pPr lvl="1"/>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732112" y="2564904"/>
          <a:ext cx="4648200" cy="573088"/>
        </p:xfrm>
        <a:graphic>
          <a:graphicData uri="http://schemas.openxmlformats.org/presentationml/2006/ole">
            <mc:AlternateContent xmlns:mc="http://schemas.openxmlformats.org/markup-compatibility/2006">
              <mc:Choice xmlns:v="urn:schemas-microsoft-com:vml" Requires="v">
                <p:oleObj spid="_x0000_s10491" name="Equation" r:id="rId1" imgW="54864000" imgH="6705600" progId="Equation.DSMT4">
                  <p:embed/>
                </p:oleObj>
              </mc:Choice>
              <mc:Fallback>
                <p:oleObj name="Equation" r:id="rId1" imgW="54864000" imgH="6705600" progId="Equation.DSMT4">
                  <p:embed/>
                  <p:pic>
                    <p:nvPicPr>
                      <p:cNvPr id="0" name="图片 10490"/>
                      <p:cNvPicPr/>
                      <p:nvPr/>
                    </p:nvPicPr>
                    <p:blipFill>
                      <a:blip r:embed="rId2"/>
                      <a:stretch>
                        <a:fillRect/>
                      </a:stretch>
                    </p:blipFill>
                    <p:spPr>
                      <a:xfrm>
                        <a:off x="2732112" y="2564904"/>
                        <a:ext cx="4648200" cy="573088"/>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131840" y="5788298"/>
          <a:ext cx="2995613" cy="881062"/>
        </p:xfrm>
        <a:graphic>
          <a:graphicData uri="http://schemas.openxmlformats.org/presentationml/2006/ole">
            <mc:AlternateContent xmlns:mc="http://schemas.openxmlformats.org/markup-compatibility/2006">
              <mc:Choice xmlns:v="urn:schemas-microsoft-com:vml" Requires="v">
                <p:oleObj spid="_x0000_s10492" name="Equation" r:id="rId3" imgW="35661600" imgH="10363200" progId="Equation.DSMT4">
                  <p:embed/>
                </p:oleObj>
              </mc:Choice>
              <mc:Fallback>
                <p:oleObj name="Equation" r:id="rId3" imgW="35661600" imgH="10363200" progId="Equation.DSMT4">
                  <p:embed/>
                  <p:pic>
                    <p:nvPicPr>
                      <p:cNvPr id="0" name="图片 10491"/>
                      <p:cNvPicPr/>
                      <p:nvPr/>
                    </p:nvPicPr>
                    <p:blipFill>
                      <a:blip r:embed="rId4"/>
                      <a:stretch>
                        <a:fillRect/>
                      </a:stretch>
                    </p:blipFill>
                    <p:spPr>
                      <a:xfrm>
                        <a:off x="3131840" y="5788298"/>
                        <a:ext cx="2995613" cy="88106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243608" y="3717032"/>
          <a:ext cx="4992688" cy="1655763"/>
        </p:xfrm>
        <a:graphic>
          <a:graphicData uri="http://schemas.openxmlformats.org/presentationml/2006/ole">
            <mc:AlternateContent xmlns:mc="http://schemas.openxmlformats.org/markup-compatibility/2006">
              <mc:Choice xmlns:v="urn:schemas-microsoft-com:vml" Requires="v">
                <p:oleObj spid="_x0000_s10493" name="Equation" r:id="rId5" imgW="59436000" imgH="19507200" progId="Equation.DSMT4">
                  <p:embed/>
                </p:oleObj>
              </mc:Choice>
              <mc:Fallback>
                <p:oleObj name="Equation" r:id="rId5" imgW="59436000" imgH="19507200" progId="Equation.DSMT4">
                  <p:embed/>
                  <p:pic>
                    <p:nvPicPr>
                      <p:cNvPr id="0" name="图片 10492"/>
                      <p:cNvPicPr/>
                      <p:nvPr/>
                    </p:nvPicPr>
                    <p:blipFill>
                      <a:blip r:embed="rId6"/>
                      <a:stretch>
                        <a:fillRect/>
                      </a:stretch>
                    </p:blipFill>
                    <p:spPr>
                      <a:xfrm>
                        <a:off x="2243608" y="3717032"/>
                        <a:ext cx="4992688" cy="1655763"/>
                      </a:xfrm>
                      <a:prstGeom prst="rect">
                        <a:avLst/>
                      </a:prstGeom>
                    </p:spPr>
                  </p:pic>
                </p:oleObj>
              </mc:Fallback>
            </mc:AlternateContent>
          </a:graphicData>
        </a:graphic>
      </p:graphicFrame>
      <p:sp>
        <p:nvSpPr>
          <p:cNvPr id="9" name="文本框 8"/>
          <p:cNvSpPr txBox="1"/>
          <p:nvPr/>
        </p:nvSpPr>
        <p:spPr>
          <a:xfrm>
            <a:off x="7565915" y="3942553"/>
            <a:ext cx="1236324" cy="1200329"/>
          </a:xfrm>
          <a:prstGeom prst="rect">
            <a:avLst/>
          </a:prstGeom>
          <a:noFill/>
        </p:spPr>
        <p:txBody>
          <a:bodyPr wrap="square" rtlCol="0">
            <a:spAutoFit/>
          </a:bodyPr>
          <a:lstStyle/>
          <a:p>
            <a:pPr>
              <a:lnSpc>
                <a:spcPct val="100000"/>
              </a:lnSpc>
              <a:spcBef>
                <a:spcPts val="0"/>
              </a:spcBef>
            </a:pPr>
            <a:r>
              <a:rPr lang="zh-CN" altLang="en-US" sz="1800" b="0" dirty="0" smtClean="0">
                <a:solidFill>
                  <a:srgbClr val="FF0000"/>
                </a:solidFill>
              </a:rPr>
              <a:t>最优解</a:t>
            </a:r>
            <a:r>
              <a:rPr lang="zh-CN" altLang="en-US" sz="1800" b="0" dirty="0">
                <a:solidFill>
                  <a:srgbClr val="FF0000"/>
                </a:solidFill>
              </a:rPr>
              <a:t>可通过训练样本的</a:t>
            </a:r>
            <a:r>
              <a:rPr lang="zh-CN" altLang="en-US" sz="1800" b="0" dirty="0" smtClean="0">
                <a:solidFill>
                  <a:srgbClr val="FF0000"/>
                </a:solidFill>
              </a:rPr>
              <a:t>核函数展开</a:t>
            </a:r>
            <a:endParaRPr lang="zh-CN" altLang="en-US" sz="1800" b="0" dirty="0">
              <a:solidFill>
                <a:srgbClr val="FF0000"/>
              </a:solidFill>
            </a:endParaRPr>
          </a:p>
        </p:txBody>
      </p:sp>
      <p:sp>
        <p:nvSpPr>
          <p:cNvPr id="10" name="文本框 9"/>
          <p:cNvSpPr txBox="1"/>
          <p:nvPr/>
        </p:nvSpPr>
        <p:spPr>
          <a:xfrm>
            <a:off x="7109417" y="6011996"/>
            <a:ext cx="1711055" cy="369332"/>
          </a:xfrm>
          <a:prstGeom prst="rect">
            <a:avLst/>
          </a:prstGeom>
          <a:noFill/>
        </p:spPr>
        <p:txBody>
          <a:bodyPr wrap="square" rtlCol="0">
            <a:spAutoFit/>
          </a:bodyPr>
          <a:lstStyle/>
          <a:p>
            <a:pPr>
              <a:lnSpc>
                <a:spcPct val="100000"/>
              </a:lnSpc>
              <a:spcBef>
                <a:spcPts val="0"/>
              </a:spcBef>
            </a:pPr>
            <a:r>
              <a:rPr lang="zh-CN" altLang="en-US" sz="1800" b="0" dirty="0">
                <a:solidFill>
                  <a:srgbClr val="FF0000"/>
                </a:solidFill>
              </a:rPr>
              <a:t>支持向量展式</a:t>
            </a:r>
            <a:endParaRPr lang="zh-CN" altLang="en-US" sz="1800" b="0" dirty="0">
              <a:solidFill>
                <a:srgbClr val="FF0000"/>
              </a:solidFill>
            </a:endParaRPr>
          </a:p>
        </p:txBody>
      </p:sp>
      <p:graphicFrame>
        <p:nvGraphicFramePr>
          <p:cNvPr id="11" name="对象 10"/>
          <p:cNvGraphicFramePr>
            <a:graphicFrameLocks noChangeAspect="1"/>
          </p:cNvGraphicFramePr>
          <p:nvPr/>
        </p:nvGraphicFramePr>
        <p:xfrm>
          <a:off x="6891838" y="1340768"/>
          <a:ext cx="1524000" cy="522287"/>
        </p:xfrm>
        <a:graphic>
          <a:graphicData uri="http://schemas.openxmlformats.org/presentationml/2006/ole">
            <mc:AlternateContent xmlns:mc="http://schemas.openxmlformats.org/markup-compatibility/2006">
              <mc:Choice xmlns:v="urn:schemas-microsoft-com:vml" Requires="v">
                <p:oleObj spid="_x0000_s10494" name="Equation" r:id="rId7" imgW="17983200" imgH="6096000" progId="Equation.DSMT4">
                  <p:embed/>
                </p:oleObj>
              </mc:Choice>
              <mc:Fallback>
                <p:oleObj name="Equation" r:id="rId7" imgW="17983200" imgH="6096000" progId="Equation.DSMT4">
                  <p:embed/>
                  <p:pic>
                    <p:nvPicPr>
                      <p:cNvPr id="0" name="图片 10493"/>
                      <p:cNvPicPr/>
                      <p:nvPr/>
                    </p:nvPicPr>
                    <p:blipFill>
                      <a:blip r:embed="rId8"/>
                      <a:stretch>
                        <a:fillRect/>
                      </a:stretch>
                    </p:blipFill>
                    <p:spPr>
                      <a:xfrm>
                        <a:off x="6891838" y="1340768"/>
                        <a:ext cx="1524000" cy="522287"/>
                      </a:xfrm>
                      <a:prstGeom prst="rect">
                        <a:avLst/>
                      </a:prstGeom>
                    </p:spPr>
                  </p:pic>
                </p:oleObj>
              </mc:Fallback>
            </mc:AlternateContent>
          </a:graphicData>
        </a:graphic>
      </p:graphicFrame>
      <p:sp>
        <p:nvSpPr>
          <p:cNvPr id="12" name="文本框 11"/>
          <p:cNvSpPr txBox="1"/>
          <p:nvPr/>
        </p:nvSpPr>
        <p:spPr>
          <a:xfrm>
            <a:off x="7541465" y="2627620"/>
            <a:ext cx="918967" cy="369332"/>
          </a:xfrm>
          <a:prstGeom prst="rect">
            <a:avLst/>
          </a:prstGeom>
          <a:noFill/>
        </p:spPr>
        <p:txBody>
          <a:bodyPr wrap="square" rtlCol="0">
            <a:spAutoFit/>
          </a:bodyPr>
          <a:lstStyle/>
          <a:p>
            <a:pPr>
              <a:lnSpc>
                <a:spcPct val="100000"/>
              </a:lnSpc>
              <a:spcBef>
                <a:spcPts val="0"/>
              </a:spcBef>
            </a:pPr>
            <a:r>
              <a:rPr lang="zh-CN" altLang="en-US" sz="1800" b="0" dirty="0" smtClean="0">
                <a:solidFill>
                  <a:srgbClr val="FF0000"/>
                </a:solidFill>
              </a:rPr>
              <a:t>核函数</a:t>
            </a:r>
            <a:endParaRPr lang="zh-CN" altLang="en-US" sz="1800" b="0" dirty="0">
              <a:solidFill>
                <a:srgbClr val="FF0000"/>
              </a:solidFill>
            </a:endParaRPr>
          </a:p>
        </p:txBody>
      </p:sp>
    </p:spTree>
  </p:cSld>
  <p:clrMapOvr>
    <a:masterClrMapping/>
  </p:clrMapOvr>
  <p:transition>
    <p:cover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a:t>
            </a:r>
            <a:r>
              <a:rPr lang="zh-CN" altLang="en-US" dirty="0"/>
              <a:t>核函数</a:t>
            </a:r>
            <a:endParaRPr lang="zh-CN" altLang="en-US" dirty="0"/>
          </a:p>
        </p:txBody>
      </p:sp>
      <p:sp>
        <p:nvSpPr>
          <p:cNvPr id="3" name="内容占位符 2"/>
          <p:cNvSpPr>
            <a:spLocks noGrp="1"/>
          </p:cNvSpPr>
          <p:nvPr>
            <p:ph idx="1"/>
          </p:nvPr>
        </p:nvSpPr>
        <p:spPr/>
        <p:txBody>
          <a:bodyPr/>
          <a:lstStyle/>
          <a:p>
            <a:r>
              <a:rPr lang="zh-CN" altLang="en-US" dirty="0"/>
              <a:t>基本思路</a:t>
            </a:r>
            <a:endParaRPr lang="en-US" altLang="zh-CN" dirty="0"/>
          </a:p>
          <a:p>
            <a:pPr lvl="1"/>
            <a:r>
              <a:rPr lang="zh-CN" altLang="en-US" dirty="0"/>
              <a:t>设计核函数</a:t>
            </a:r>
            <a:endParaRPr lang="en-US" altLang="zh-CN" dirty="0"/>
          </a:p>
          <a:p>
            <a:pPr lvl="2"/>
            <a:r>
              <a:rPr lang="zh-CN" altLang="en-US" dirty="0" smtClean="0"/>
              <a:t>若已知映射     的具体</a:t>
            </a:r>
            <a:r>
              <a:rPr lang="zh-CN" altLang="en-US" dirty="0"/>
              <a:t>形式，则</a:t>
            </a:r>
            <a:r>
              <a:rPr lang="zh-CN" altLang="en-US" dirty="0" smtClean="0"/>
              <a:t>可得核函数   </a:t>
            </a:r>
            <a:endParaRPr lang="en-US" altLang="zh-CN" dirty="0" smtClean="0"/>
          </a:p>
          <a:p>
            <a:pPr lvl="3"/>
            <a:r>
              <a:rPr lang="zh-CN" altLang="en-US" dirty="0" smtClean="0"/>
              <a:t>在</a:t>
            </a:r>
            <a:r>
              <a:rPr lang="zh-CN" altLang="en-US" dirty="0"/>
              <a:t>现实任务</a:t>
            </a:r>
            <a:r>
              <a:rPr lang="zh-CN" altLang="en-US" dirty="0" smtClean="0"/>
              <a:t>中通常       未知</a:t>
            </a:r>
            <a:endParaRPr lang="en-US" altLang="zh-CN" dirty="0" smtClean="0"/>
          </a:p>
          <a:p>
            <a:pPr lvl="3"/>
            <a:r>
              <a:rPr lang="zh-CN" altLang="en-US" dirty="0"/>
              <a:t>什么样的函数能做</a:t>
            </a:r>
            <a:r>
              <a:rPr lang="zh-CN" altLang="en-US" dirty="0" smtClean="0"/>
              <a:t>核函数</a:t>
            </a:r>
            <a:endParaRPr lang="en-US" altLang="zh-CN" dirty="0" smtClean="0"/>
          </a:p>
          <a:p>
            <a:pPr lvl="2"/>
            <a:r>
              <a:rPr lang="en-US" altLang="zh-CN" dirty="0" smtClean="0">
                <a:latin typeface="+mn-ea"/>
              </a:rPr>
              <a:t>Mercer</a:t>
            </a:r>
            <a:r>
              <a:rPr lang="zh-CN" altLang="en-US" dirty="0" smtClean="0">
                <a:latin typeface="+mn-ea"/>
              </a:rPr>
              <a:t>定理</a:t>
            </a:r>
            <a:endParaRPr lang="en-US" altLang="zh-CN" dirty="0" smtClean="0">
              <a:latin typeface="+mn-ea"/>
            </a:endParaRPr>
          </a:p>
          <a:p>
            <a:pPr lvl="3"/>
            <a:r>
              <a:rPr lang="zh-CN" altLang="en-US" dirty="0" smtClean="0"/>
              <a:t>若</a:t>
            </a:r>
            <a:r>
              <a:rPr lang="zh-CN" altLang="en-US" dirty="0"/>
              <a:t>一个对称函数所对应的核</a:t>
            </a:r>
            <a:r>
              <a:rPr lang="zh-CN" altLang="en-US" dirty="0" smtClean="0">
                <a:latin typeface="+mn-ea"/>
              </a:rPr>
              <a:t>矩阵</a:t>
            </a:r>
            <a:r>
              <a:rPr lang="en-US" altLang="zh-CN" dirty="0" smtClean="0">
                <a:latin typeface="+mn-ea"/>
              </a:rPr>
              <a:t>(</a:t>
            </a:r>
            <a:r>
              <a:rPr lang="zh-CN" altLang="en-US" dirty="0" smtClean="0">
                <a:latin typeface="+mn-ea"/>
              </a:rPr>
              <a:t>如下</a:t>
            </a:r>
            <a:r>
              <a:rPr lang="en-US" altLang="zh-CN" dirty="0" smtClean="0">
                <a:latin typeface="+mn-ea"/>
              </a:rPr>
              <a:t>)</a:t>
            </a:r>
            <a:r>
              <a:rPr lang="zh-CN" altLang="en-US" dirty="0" smtClean="0">
                <a:latin typeface="+mn-ea"/>
              </a:rPr>
              <a:t>半正定</a:t>
            </a:r>
            <a:r>
              <a:rPr lang="zh-CN" altLang="en-US" dirty="0" smtClean="0"/>
              <a:t>，则它就</a:t>
            </a:r>
            <a:r>
              <a:rPr lang="zh-CN" altLang="en-US" dirty="0"/>
              <a:t>能作为核函数来使</a:t>
            </a:r>
            <a:r>
              <a:rPr lang="zh-CN" altLang="en-US" dirty="0" smtClean="0"/>
              <a:t>用</a:t>
            </a:r>
            <a:endParaRPr lang="en-US" altLang="zh-CN" dirty="0" smtClean="0"/>
          </a:p>
          <a:p>
            <a:pPr lvl="3"/>
            <a:endParaRPr lang="en-US" altLang="zh-CN" dirty="0"/>
          </a:p>
          <a:p>
            <a:pPr lvl="3"/>
            <a:endParaRPr lang="en-US" altLang="zh-CN" dirty="0" smtClean="0"/>
          </a:p>
          <a:p>
            <a:pPr lvl="3"/>
            <a:endParaRPr lang="en-US" altLang="zh-CN" dirty="0"/>
          </a:p>
          <a:p>
            <a:pPr lvl="3"/>
            <a:endParaRPr lang="en-US" altLang="zh-CN" dirty="0" smtClean="0"/>
          </a:p>
          <a:p>
            <a:pPr lvl="3"/>
            <a:endParaRPr lang="zh-CN" altLang="en-US" dirty="0" smtClean="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7547496" y="1788938"/>
          <a:ext cx="696912" cy="415925"/>
        </p:xfrm>
        <a:graphic>
          <a:graphicData uri="http://schemas.openxmlformats.org/presentationml/2006/ole">
            <mc:AlternateContent xmlns:mc="http://schemas.openxmlformats.org/markup-compatibility/2006">
              <mc:Choice xmlns:v="urn:schemas-microsoft-com:vml" Requires="v">
                <p:oleObj spid="_x0000_s11527" name="Equation" r:id="rId1" imgW="8229600" imgH="4876800" progId="Equation.DSMT4">
                  <p:embed/>
                </p:oleObj>
              </mc:Choice>
              <mc:Fallback>
                <p:oleObj name="Equation" r:id="rId1" imgW="8229600" imgH="4876800" progId="Equation.DSMT4">
                  <p:embed/>
                  <p:pic>
                    <p:nvPicPr>
                      <p:cNvPr id="0" name="图片 11526"/>
                      <p:cNvPicPr/>
                      <p:nvPr/>
                    </p:nvPicPr>
                    <p:blipFill>
                      <a:blip r:embed="rId2"/>
                      <a:stretch>
                        <a:fillRect/>
                      </a:stretch>
                    </p:blipFill>
                    <p:spPr>
                      <a:xfrm>
                        <a:off x="7547496" y="1788938"/>
                        <a:ext cx="696912" cy="41592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419872" y="1789113"/>
          <a:ext cx="541338" cy="415925"/>
        </p:xfrm>
        <a:graphic>
          <a:graphicData uri="http://schemas.openxmlformats.org/presentationml/2006/ole">
            <mc:AlternateContent xmlns:mc="http://schemas.openxmlformats.org/markup-compatibility/2006">
              <mc:Choice xmlns:v="urn:schemas-microsoft-com:vml" Requires="v">
                <p:oleObj spid="_x0000_s11528" name="Equation" r:id="rId3" imgW="6400800" imgH="4876800" progId="Equation.DSMT4">
                  <p:embed/>
                </p:oleObj>
              </mc:Choice>
              <mc:Fallback>
                <p:oleObj name="Equation" r:id="rId3" imgW="6400800" imgH="4876800" progId="Equation.DSMT4">
                  <p:embed/>
                  <p:pic>
                    <p:nvPicPr>
                      <p:cNvPr id="0" name="图片 11527"/>
                      <p:cNvPicPr/>
                      <p:nvPr/>
                    </p:nvPicPr>
                    <p:blipFill>
                      <a:blip r:embed="rId4"/>
                      <a:stretch>
                        <a:fillRect/>
                      </a:stretch>
                    </p:blipFill>
                    <p:spPr>
                      <a:xfrm>
                        <a:off x="3419872" y="1789113"/>
                        <a:ext cx="541338" cy="41592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427984" y="2132856"/>
          <a:ext cx="515405" cy="396000"/>
        </p:xfrm>
        <a:graphic>
          <a:graphicData uri="http://schemas.openxmlformats.org/presentationml/2006/ole">
            <mc:AlternateContent xmlns:mc="http://schemas.openxmlformats.org/markup-compatibility/2006">
              <mc:Choice xmlns:v="urn:schemas-microsoft-com:vml" Requires="v">
                <p:oleObj spid="_x0000_s11529" name="Equation" r:id="rId5" imgW="6400800" imgH="4876800" progId="Equation.DSMT4">
                  <p:embed/>
                </p:oleObj>
              </mc:Choice>
              <mc:Fallback>
                <p:oleObj name="Equation" r:id="rId5" imgW="6400800" imgH="4876800" progId="Equation.DSMT4">
                  <p:embed/>
                  <p:pic>
                    <p:nvPicPr>
                      <p:cNvPr id="0" name="图片 11528"/>
                      <p:cNvPicPr/>
                      <p:nvPr/>
                    </p:nvPicPr>
                    <p:blipFill>
                      <a:blip r:embed="rId6"/>
                      <a:stretch>
                        <a:fillRect/>
                      </a:stretch>
                    </p:blipFill>
                    <p:spPr>
                      <a:xfrm>
                        <a:off x="4427984" y="2132856"/>
                        <a:ext cx="515405" cy="396000"/>
                      </a:xfrm>
                      <a:prstGeom prst="rect">
                        <a:avLst/>
                      </a:prstGeom>
                    </p:spPr>
                  </p:pic>
                </p:oleObj>
              </mc:Fallback>
            </mc:AlternateContent>
          </a:graphicData>
        </a:graphic>
      </p:graphicFrame>
      <p:pic>
        <p:nvPicPr>
          <p:cNvPr id="8" name="图片 7"/>
          <p:cNvPicPr>
            <a:picLocks noChangeAspect="1"/>
          </p:cNvPicPr>
          <p:nvPr/>
        </p:nvPicPr>
        <p:blipFill>
          <a:blip r:embed="rId7"/>
          <a:stretch>
            <a:fillRect/>
          </a:stretch>
        </p:blipFill>
        <p:spPr>
          <a:xfrm>
            <a:off x="1619672" y="3760900"/>
            <a:ext cx="6430978" cy="2563700"/>
          </a:xfrm>
          <a:prstGeom prst="rect">
            <a:avLst/>
          </a:prstGeom>
        </p:spPr>
      </p:pic>
    </p:spTree>
  </p:cSld>
  <p:clrMapOvr>
    <a:masterClrMapping/>
  </p:clrMapOvr>
  <p:transition>
    <p:cover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a:t>
            </a:r>
            <a:r>
              <a:rPr lang="zh-CN" altLang="en-US" dirty="0"/>
              <a:t>核函数</a:t>
            </a:r>
            <a:endParaRPr lang="zh-CN" altLang="en-US" dirty="0"/>
          </a:p>
        </p:txBody>
      </p:sp>
      <p:sp>
        <p:nvSpPr>
          <p:cNvPr id="3" name="内容占位符 2"/>
          <p:cNvSpPr>
            <a:spLocks noGrp="1"/>
          </p:cNvSpPr>
          <p:nvPr>
            <p:ph idx="1"/>
          </p:nvPr>
        </p:nvSpPr>
        <p:spPr/>
        <p:txBody>
          <a:bodyPr/>
          <a:lstStyle/>
          <a:p>
            <a:r>
              <a:rPr lang="zh-CN" altLang="en-US" dirty="0"/>
              <a:t>核函数的选择</a:t>
            </a:r>
            <a:endParaRPr lang="en-US" altLang="zh-CN" dirty="0"/>
          </a:p>
          <a:p>
            <a:pPr lvl="1"/>
            <a:r>
              <a:rPr lang="zh-CN" altLang="en-US" dirty="0" smtClean="0"/>
              <a:t>重要性</a:t>
            </a:r>
            <a:endParaRPr lang="en-US" altLang="zh-CN" dirty="0" smtClean="0"/>
          </a:p>
          <a:p>
            <a:pPr lvl="2"/>
            <a:r>
              <a:rPr lang="zh-CN" altLang="en-US" dirty="0" smtClean="0"/>
              <a:t>要</a:t>
            </a:r>
            <a:r>
              <a:rPr lang="zh-CN" altLang="en-US" dirty="0"/>
              <a:t>样本在特征空间内线性可分，特征空间的好坏对支持向量机的性能至关重要</a:t>
            </a:r>
            <a:endParaRPr lang="en-US" altLang="zh-CN" dirty="0"/>
          </a:p>
          <a:p>
            <a:pPr lvl="2" hangingPunct="0"/>
            <a:r>
              <a:rPr lang="zh-CN" altLang="en-US" dirty="0"/>
              <a:t>若选择不合适，样本将映射到不合适的特征空间，可能导致性能不佳</a:t>
            </a:r>
            <a:endParaRPr lang="zh-CN" altLang="en-US" dirty="0"/>
          </a:p>
          <a:p>
            <a:pPr lvl="1"/>
            <a:r>
              <a:rPr lang="zh-CN" altLang="en-US" dirty="0"/>
              <a:t>常用</a:t>
            </a:r>
            <a:r>
              <a:rPr lang="zh-CN" altLang="en-US" dirty="0" smtClean="0"/>
              <a:t>核函数</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2"/>
            <a:r>
              <a:rPr lang="zh-CN" altLang="en-US" dirty="0" smtClean="0"/>
              <a:t>文本</a:t>
            </a:r>
            <a:r>
              <a:rPr lang="zh-CN" altLang="en-US" dirty="0"/>
              <a:t>数据常用线性核</a:t>
            </a:r>
            <a:r>
              <a:rPr lang="zh-CN" altLang="en-US" dirty="0" smtClean="0"/>
              <a:t>，情况不明可</a:t>
            </a:r>
            <a:r>
              <a:rPr lang="zh-CN" altLang="en-US" dirty="0"/>
              <a:t>先尝试高斯核</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07504" y="3687713"/>
            <a:ext cx="8942400" cy="2484000"/>
          </a:xfrm>
          <a:prstGeom prst="rect">
            <a:avLst/>
          </a:prstGeom>
        </p:spPr>
      </p:pic>
    </p:spTree>
  </p:cSld>
  <p:clrMapOvr>
    <a:masterClrMapping/>
  </p:clrMapOvr>
  <p:transition>
    <p:cover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6.3 </a:t>
            </a:r>
            <a:r>
              <a:rPr lang="zh-CN" altLang="en-US" dirty="0"/>
              <a:t>核函数</a:t>
            </a:r>
            <a:endParaRPr lang="zh-CN" altLang="en-US" dirty="0"/>
          </a:p>
        </p:txBody>
      </p:sp>
      <p:sp>
        <p:nvSpPr>
          <p:cNvPr id="3" name="内容占位符 2"/>
          <p:cNvSpPr>
            <a:spLocks noGrp="1"/>
          </p:cNvSpPr>
          <p:nvPr>
            <p:ph idx="1"/>
          </p:nvPr>
        </p:nvSpPr>
        <p:spPr/>
        <p:txBody>
          <a:bodyPr/>
          <a:lstStyle/>
          <a:p>
            <a:r>
              <a:rPr lang="zh-CN" altLang="en-US" dirty="0"/>
              <a:t>核函数的选择</a:t>
            </a:r>
            <a:endParaRPr lang="en-US" altLang="zh-CN" dirty="0"/>
          </a:p>
          <a:p>
            <a:pPr lvl="1"/>
            <a:r>
              <a:rPr lang="zh-CN" altLang="en-US" dirty="0"/>
              <a:t>可通过函数组合</a:t>
            </a:r>
            <a:r>
              <a:rPr lang="zh-CN" altLang="en-US" dirty="0" smtClean="0"/>
              <a:t>得到</a:t>
            </a:r>
            <a:endParaRPr lang="en-US" altLang="zh-CN" dirty="0" smtClean="0"/>
          </a:p>
          <a:p>
            <a:pPr lvl="2"/>
            <a:r>
              <a:rPr lang="zh-CN" altLang="en-US" dirty="0" smtClean="0"/>
              <a:t>若        是</a:t>
            </a:r>
            <a:r>
              <a:rPr lang="zh-CN" altLang="en-US" dirty="0"/>
              <a:t>核函数，则对任意</a:t>
            </a:r>
            <a:r>
              <a:rPr lang="zh-CN" altLang="en-US" dirty="0" smtClean="0"/>
              <a:t>正数        和</a:t>
            </a:r>
            <a:r>
              <a:rPr lang="zh-CN" altLang="en-US" dirty="0"/>
              <a:t>任意函数 </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290911" y="1772816"/>
          <a:ext cx="696913" cy="468312"/>
        </p:xfrm>
        <a:graphic>
          <a:graphicData uri="http://schemas.openxmlformats.org/presentationml/2006/ole">
            <mc:AlternateContent xmlns:mc="http://schemas.openxmlformats.org/markup-compatibility/2006">
              <mc:Choice xmlns:v="urn:schemas-microsoft-com:vml" Requires="v">
                <p:oleObj spid="_x0000_s12560" name="Equation" r:id="rId1" imgW="8229600" imgH="5486400" progId="Equation.DSMT4">
                  <p:embed/>
                </p:oleObj>
              </mc:Choice>
              <mc:Fallback>
                <p:oleObj name="Equation" r:id="rId1" imgW="8229600" imgH="5486400" progId="Equation.DSMT4">
                  <p:embed/>
                  <p:pic>
                    <p:nvPicPr>
                      <p:cNvPr id="0" name="图片 12559"/>
                      <p:cNvPicPr/>
                      <p:nvPr/>
                    </p:nvPicPr>
                    <p:blipFill>
                      <a:blip r:embed="rId2"/>
                      <a:stretch>
                        <a:fillRect/>
                      </a:stretch>
                    </p:blipFill>
                    <p:spPr>
                      <a:xfrm>
                        <a:off x="2290911" y="1772816"/>
                        <a:ext cx="696913" cy="468312"/>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6444208" y="1772864"/>
          <a:ext cx="619444" cy="432000"/>
        </p:xfrm>
        <a:graphic>
          <a:graphicData uri="http://schemas.openxmlformats.org/presentationml/2006/ole">
            <mc:AlternateContent xmlns:mc="http://schemas.openxmlformats.org/markup-compatibility/2006">
              <mc:Choice xmlns:v="urn:schemas-microsoft-com:vml" Requires="v">
                <p:oleObj spid="_x0000_s12561" name="Equation" r:id="rId3" imgW="7924800" imgH="5486400" progId="Equation.DSMT4">
                  <p:embed/>
                </p:oleObj>
              </mc:Choice>
              <mc:Fallback>
                <p:oleObj name="Equation" r:id="rId3" imgW="7924800" imgH="5486400" progId="Equation.DSMT4">
                  <p:embed/>
                  <p:pic>
                    <p:nvPicPr>
                      <p:cNvPr id="0" name="图片 12560"/>
                      <p:cNvPicPr/>
                      <p:nvPr/>
                    </p:nvPicPr>
                    <p:blipFill>
                      <a:blip r:embed="rId4"/>
                      <a:stretch>
                        <a:fillRect/>
                      </a:stretch>
                    </p:blipFill>
                    <p:spPr>
                      <a:xfrm>
                        <a:off x="6444208" y="1772864"/>
                        <a:ext cx="619444" cy="432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214782" y="2176769"/>
          <a:ext cx="604580" cy="360000"/>
        </p:xfrm>
        <a:graphic>
          <a:graphicData uri="http://schemas.openxmlformats.org/presentationml/2006/ole">
            <mc:AlternateContent xmlns:mc="http://schemas.openxmlformats.org/markup-compatibility/2006">
              <mc:Choice xmlns:v="urn:schemas-microsoft-com:vml" Requires="v">
                <p:oleObj spid="_x0000_s12562" name="Equation" r:id="rId5" imgW="8229600" imgH="4876800" progId="Equation.DSMT4">
                  <p:embed/>
                </p:oleObj>
              </mc:Choice>
              <mc:Fallback>
                <p:oleObj name="Equation" r:id="rId5" imgW="8229600" imgH="4876800" progId="Equation.DSMT4">
                  <p:embed/>
                  <p:pic>
                    <p:nvPicPr>
                      <p:cNvPr id="0" name="图片 12561"/>
                      <p:cNvPicPr/>
                      <p:nvPr/>
                    </p:nvPicPr>
                    <p:blipFill>
                      <a:blip r:embed="rId6"/>
                      <a:stretch>
                        <a:fillRect/>
                      </a:stretch>
                    </p:blipFill>
                    <p:spPr>
                      <a:xfrm>
                        <a:off x="2214782" y="2176769"/>
                        <a:ext cx="604580" cy="3600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290505" y="2590800"/>
          <a:ext cx="3505631" cy="1247814"/>
        </p:xfrm>
        <a:graphic>
          <a:graphicData uri="http://schemas.openxmlformats.org/presentationml/2006/ole">
            <mc:AlternateContent xmlns:mc="http://schemas.openxmlformats.org/markup-compatibility/2006">
              <mc:Choice xmlns:v="urn:schemas-microsoft-com:vml" Requires="v">
                <p:oleObj spid="_x0000_s12563" name="Equation" r:id="rId7" imgW="41148000" imgH="14630400" progId="Equation.DSMT4">
                  <p:embed/>
                </p:oleObj>
              </mc:Choice>
              <mc:Fallback>
                <p:oleObj name="Equation" r:id="rId7" imgW="41148000" imgH="14630400" progId="Equation.DSMT4">
                  <p:embed/>
                  <p:pic>
                    <p:nvPicPr>
                      <p:cNvPr id="0" name="图片 12562"/>
                      <p:cNvPicPr/>
                      <p:nvPr/>
                    </p:nvPicPr>
                    <p:blipFill>
                      <a:blip r:embed="rId8"/>
                      <a:stretch>
                        <a:fillRect/>
                      </a:stretch>
                    </p:blipFill>
                    <p:spPr>
                      <a:xfrm>
                        <a:off x="2290505" y="2590800"/>
                        <a:ext cx="3505631" cy="1247814"/>
                      </a:xfrm>
                      <a:prstGeom prst="rect">
                        <a:avLst/>
                      </a:prstGeom>
                    </p:spPr>
                  </p:pic>
                </p:oleObj>
              </mc:Fallback>
            </mc:AlternateContent>
          </a:graphicData>
        </a:graphic>
      </p:graphicFrame>
    </p:spTree>
  </p:cSld>
  <p:clrMapOvr>
    <a:masterClrMapping/>
  </p:clrMapOvr>
  <p:transition>
    <p:cover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4468684" y="4077072"/>
            <a:ext cx="4567812" cy="2772000"/>
          </a:xfrm>
          <a:prstGeom prst="rect">
            <a:avLst/>
          </a:prstGeom>
        </p:spPr>
      </p:pic>
      <p:sp>
        <p:nvSpPr>
          <p:cNvPr id="2" name="标题 1"/>
          <p:cNvSpPr>
            <a:spLocks noGrp="1"/>
          </p:cNvSpPr>
          <p:nvPr>
            <p:ph type="title"/>
          </p:nvPr>
        </p:nvSpPr>
        <p:spPr/>
        <p:txBody>
          <a:bodyPr/>
          <a:lstStyle/>
          <a:p>
            <a:r>
              <a:rPr lang="en-US" altLang="zh-CN" dirty="0" smtClean="0"/>
              <a:t>6.4 </a:t>
            </a:r>
            <a:r>
              <a:rPr lang="zh-CN" altLang="en-US" dirty="0" smtClean="0"/>
              <a:t>软</a:t>
            </a:r>
            <a:r>
              <a:rPr lang="zh-CN" altLang="en-US" dirty="0"/>
              <a:t>间隔与正则化</a:t>
            </a:r>
            <a:endParaRPr lang="zh-CN" altLang="en-US" dirty="0"/>
          </a:p>
        </p:txBody>
      </p:sp>
      <p:sp>
        <p:nvSpPr>
          <p:cNvPr id="3" name="内容占位符 2"/>
          <p:cNvSpPr>
            <a:spLocks noGrp="1"/>
          </p:cNvSpPr>
          <p:nvPr>
            <p:ph idx="1"/>
          </p:nvPr>
        </p:nvSpPr>
        <p:spPr/>
        <p:txBody>
          <a:bodyPr/>
          <a:lstStyle/>
          <a:p>
            <a:r>
              <a:rPr lang="zh-CN" altLang="en-US" dirty="0" smtClean="0"/>
              <a:t>问题</a:t>
            </a:r>
            <a:endParaRPr lang="en-US" altLang="zh-CN" dirty="0" smtClean="0"/>
          </a:p>
          <a:p>
            <a:pPr lvl="1"/>
            <a:r>
              <a:rPr lang="zh-CN" altLang="en-US" dirty="0"/>
              <a:t>现实中很难确定合适的核函数，使训练样本在特征空间中线性可分</a:t>
            </a:r>
            <a:endParaRPr lang="zh-CN" altLang="en-US" dirty="0"/>
          </a:p>
          <a:p>
            <a:pPr lvl="1"/>
            <a:r>
              <a:rPr lang="zh-CN" altLang="en-US" dirty="0"/>
              <a:t>即便貌似线性可分，也很难断定是否是因过拟合造成的</a:t>
            </a:r>
            <a:endParaRPr lang="zh-CN" altLang="en-US" dirty="0"/>
          </a:p>
          <a:p>
            <a:r>
              <a:rPr lang="zh-CN" altLang="en-US" dirty="0"/>
              <a:t>引入软</a:t>
            </a:r>
            <a:r>
              <a:rPr lang="zh-CN" altLang="en-US" dirty="0" smtClean="0"/>
              <a:t>间隔概念</a:t>
            </a:r>
            <a:endParaRPr lang="en-US" altLang="zh-CN" dirty="0" smtClean="0"/>
          </a:p>
          <a:p>
            <a:pPr lvl="1"/>
            <a:r>
              <a:rPr lang="zh-CN" altLang="en-US" dirty="0"/>
              <a:t>软间隔</a:t>
            </a:r>
            <a:r>
              <a:rPr lang="zh-CN" altLang="en-US" dirty="0" smtClean="0"/>
              <a:t>概念，允许</a:t>
            </a:r>
            <a:r>
              <a:rPr lang="en-US" altLang="zh-CN" dirty="0" smtClean="0">
                <a:latin typeface="+mn-ea"/>
              </a:rPr>
              <a:t>SVM</a:t>
            </a:r>
            <a:r>
              <a:rPr lang="zh-CN" altLang="en-US" dirty="0" smtClean="0">
                <a:latin typeface="+mn-ea"/>
              </a:rPr>
              <a:t>在</a:t>
            </a:r>
            <a:r>
              <a:rPr lang="zh-CN" altLang="en-US" dirty="0">
                <a:latin typeface="+mn-ea"/>
              </a:rPr>
              <a:t>一些</a:t>
            </a:r>
            <a:r>
              <a:rPr lang="zh-CN" altLang="en-US" dirty="0"/>
              <a:t>样本上</a:t>
            </a:r>
            <a:r>
              <a:rPr lang="zh-CN" altLang="en-US" dirty="0" smtClean="0"/>
              <a:t>出错、不</a:t>
            </a:r>
            <a:r>
              <a:rPr lang="zh-CN" altLang="en-US" dirty="0"/>
              <a:t>满足</a:t>
            </a:r>
            <a:r>
              <a:rPr lang="zh-CN" altLang="en-US" dirty="0" smtClean="0"/>
              <a:t>约束</a:t>
            </a:r>
            <a:endParaRPr lang="en-US" altLang="zh-CN" dirty="0" smtClean="0"/>
          </a:p>
          <a:p>
            <a:pPr lvl="1"/>
            <a:r>
              <a:rPr lang="zh-CN" altLang="en-US" dirty="0" smtClean="0"/>
              <a:t>完全满足称为硬间隔</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 </a:t>
            </a:r>
            <a:r>
              <a:rPr lang="zh-CN" altLang="en-US" dirty="0"/>
              <a:t>软间隔与正则化</a:t>
            </a:r>
            <a:endParaRPr lang="zh-CN" altLang="en-US" dirty="0"/>
          </a:p>
        </p:txBody>
      </p:sp>
      <p:sp>
        <p:nvSpPr>
          <p:cNvPr id="3" name="内容占位符 2"/>
          <p:cNvSpPr>
            <a:spLocks noGrp="1"/>
          </p:cNvSpPr>
          <p:nvPr>
            <p:ph idx="1"/>
          </p:nvPr>
        </p:nvSpPr>
        <p:spPr/>
        <p:txBody>
          <a:bodyPr/>
          <a:lstStyle/>
          <a:p>
            <a:r>
              <a:rPr lang="zh-CN" altLang="en-US" dirty="0"/>
              <a:t>优化目标</a:t>
            </a:r>
            <a:endParaRPr lang="zh-CN" altLang="en-US" dirty="0"/>
          </a:p>
          <a:p>
            <a:pPr lvl="1"/>
            <a:r>
              <a:rPr lang="zh-CN" altLang="en-US" dirty="0"/>
              <a:t>基本思路：最大化间隔的同时，让不满足约束 </a:t>
            </a:r>
            <a:r>
              <a:rPr lang="zh-CN" altLang="en-US" dirty="0" smtClean="0"/>
              <a:t>                  的</a:t>
            </a:r>
            <a:r>
              <a:rPr lang="zh-CN" altLang="en-US" dirty="0"/>
              <a:t>样本尽可能</a:t>
            </a:r>
            <a:r>
              <a:rPr lang="zh-CN" altLang="en-US" dirty="0" smtClean="0"/>
              <a:t>少</a:t>
            </a:r>
            <a:endParaRPr lang="en-US" altLang="zh-CN" dirty="0" smtClean="0"/>
          </a:p>
          <a:p>
            <a:pPr lvl="2"/>
            <a:r>
              <a:rPr lang="zh-CN" altLang="en-US" dirty="0" smtClean="0"/>
              <a:t>优化目标可写为</a:t>
            </a:r>
            <a:endParaRPr lang="en-US" altLang="zh-CN" dirty="0" smtClean="0"/>
          </a:p>
          <a:p>
            <a:pPr lvl="2"/>
            <a:endParaRPr lang="en-US" altLang="zh-CN" dirty="0"/>
          </a:p>
          <a:p>
            <a:pPr lvl="2"/>
            <a:endParaRPr lang="en-US" altLang="zh-CN" dirty="0" smtClean="0"/>
          </a:p>
          <a:p>
            <a:pPr lvl="3"/>
            <a:r>
              <a:rPr lang="en-US" altLang="zh-CN" dirty="0" smtClean="0">
                <a:latin typeface="+mn-ea"/>
              </a:rPr>
              <a:t>C&gt;0</a:t>
            </a:r>
            <a:r>
              <a:rPr lang="zh-CN" altLang="en-US" dirty="0" smtClean="0">
                <a:latin typeface="+mn-ea"/>
              </a:rPr>
              <a:t>是常数</a:t>
            </a:r>
            <a:endParaRPr lang="en-US" altLang="zh-CN" dirty="0" smtClean="0">
              <a:latin typeface="+mn-ea"/>
            </a:endParaRPr>
          </a:p>
          <a:p>
            <a:pPr lvl="4"/>
            <a:r>
              <a:rPr lang="zh-CN" altLang="en-US" dirty="0">
                <a:latin typeface="+mn-ea"/>
              </a:rPr>
              <a:t>无穷大时，迫使所有样本均满足</a:t>
            </a:r>
            <a:r>
              <a:rPr lang="zh-CN" altLang="en-US" dirty="0" smtClean="0">
                <a:latin typeface="+mn-ea"/>
              </a:rPr>
              <a:t>约束</a:t>
            </a:r>
            <a:endParaRPr lang="en-US" altLang="zh-CN" dirty="0" smtClean="0">
              <a:latin typeface="+mn-ea"/>
            </a:endParaRPr>
          </a:p>
          <a:p>
            <a:pPr lvl="4"/>
            <a:r>
              <a:rPr lang="zh-CN" altLang="en-US" dirty="0">
                <a:latin typeface="+mn-ea"/>
              </a:rPr>
              <a:t>取有限值时</a:t>
            </a:r>
            <a:r>
              <a:rPr lang="zh-CN" altLang="en-US" dirty="0" smtClean="0">
                <a:latin typeface="+mn-ea"/>
              </a:rPr>
              <a:t>，允许</a:t>
            </a:r>
            <a:r>
              <a:rPr lang="zh-CN" altLang="en-US" dirty="0">
                <a:latin typeface="+mn-ea"/>
              </a:rPr>
              <a:t>一些样本不满足约束</a:t>
            </a:r>
            <a:endParaRPr lang="en-US" altLang="zh-CN" dirty="0" smtClean="0">
              <a:latin typeface="+mn-ea"/>
            </a:endParaRPr>
          </a:p>
          <a:p>
            <a:pPr lvl="3">
              <a:spcBef>
                <a:spcPts val="1200"/>
              </a:spcBef>
            </a:pPr>
            <a:r>
              <a:rPr lang="zh-CN" altLang="en-US" dirty="0" smtClean="0">
                <a:latin typeface="+mn-ea"/>
              </a:rPr>
              <a:t>  是</a:t>
            </a:r>
            <a:r>
              <a:rPr lang="en-US" altLang="zh-CN" dirty="0" smtClean="0">
                <a:latin typeface="+mn-ea"/>
              </a:rPr>
              <a:t>0/1</a:t>
            </a:r>
            <a:r>
              <a:rPr lang="zh-CN" altLang="en-US" dirty="0" smtClean="0">
                <a:latin typeface="+mn-ea"/>
              </a:rPr>
              <a:t>损失函数</a:t>
            </a:r>
            <a:endParaRPr lang="en-US" altLang="zh-CN" dirty="0" smtClean="0">
              <a:latin typeface="+mn-ea"/>
            </a:endParaRPr>
          </a:p>
          <a:p>
            <a:pPr lvl="4">
              <a:spcBef>
                <a:spcPts val="1200"/>
              </a:spcBef>
            </a:pPr>
            <a:r>
              <a:rPr lang="zh-CN" altLang="en-US" dirty="0" smtClean="0">
                <a:latin typeface="+mn-ea"/>
              </a:rPr>
              <a:t>函数</a:t>
            </a:r>
            <a:r>
              <a:rPr lang="zh-CN" altLang="en-US" dirty="0">
                <a:latin typeface="+mn-ea"/>
              </a:rPr>
              <a:t>非凸、非</a:t>
            </a:r>
            <a:r>
              <a:rPr lang="zh-CN" altLang="en-US" dirty="0" smtClean="0">
                <a:latin typeface="+mn-ea"/>
              </a:rPr>
              <a:t>连续</a:t>
            </a:r>
            <a:r>
              <a:rPr lang="en-US" altLang="zh-CN" dirty="0" smtClean="0">
                <a:latin typeface="+mn-ea"/>
              </a:rPr>
              <a:t>, </a:t>
            </a:r>
            <a:r>
              <a:rPr lang="zh-CN" altLang="en-US" dirty="0" smtClean="0">
                <a:latin typeface="+mn-ea"/>
              </a:rPr>
              <a:t>不易优化直接求解</a:t>
            </a:r>
            <a:endParaRPr lang="en-US" altLang="zh-CN" dirty="0" smtClean="0">
              <a:latin typeface="+mn-ea"/>
            </a:endParaRPr>
          </a:p>
          <a:p>
            <a:pPr lvl="4"/>
            <a:r>
              <a:rPr lang="zh-CN" altLang="en-US" dirty="0" smtClean="0">
                <a:latin typeface="+mn-ea"/>
              </a:rPr>
              <a:t>因此常用</a:t>
            </a:r>
            <a:r>
              <a:rPr lang="zh-CN" altLang="en-US" dirty="0">
                <a:latin typeface="+mn-ea"/>
              </a:rPr>
              <a:t>其他一些函数来</a:t>
            </a:r>
            <a:r>
              <a:rPr lang="zh-CN" altLang="en-US" dirty="0" smtClean="0">
                <a:latin typeface="+mn-ea"/>
              </a:rPr>
              <a:t>代替，称为替代损失</a:t>
            </a:r>
            <a:endParaRPr lang="zh-CN" altLang="en-US" dirty="0">
              <a:latin typeface="+mn-ea"/>
            </a:endParaRPr>
          </a:p>
          <a:p>
            <a:pPr lvl="1"/>
            <a:endParaRPr lang="en-US" altLang="zh-CN" dirty="0" smtClean="0"/>
          </a:p>
          <a:p>
            <a:pPr lvl="1"/>
            <a:endParaRPr lang="zh-CN" altLang="en-US" dirty="0"/>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1907704" y="1772816"/>
          <a:ext cx="1960562" cy="522288"/>
        </p:xfrm>
        <a:graphic>
          <a:graphicData uri="http://schemas.openxmlformats.org/presentationml/2006/ole">
            <mc:AlternateContent xmlns:mc="http://schemas.openxmlformats.org/markup-compatibility/2006">
              <mc:Choice xmlns:v="urn:schemas-microsoft-com:vml" Requires="v">
                <p:oleObj spid="_x0000_s13564" name="Equation" r:id="rId1" imgW="21640800" imgH="5791200" progId="Equation.DSMT4">
                  <p:embed/>
                </p:oleObj>
              </mc:Choice>
              <mc:Fallback>
                <p:oleObj name="Equation" r:id="rId1" imgW="21640800" imgH="5791200" progId="Equation.DSMT4">
                  <p:embed/>
                  <p:pic>
                    <p:nvPicPr>
                      <p:cNvPr id="0" name="图片 13563"/>
                      <p:cNvPicPr/>
                      <p:nvPr/>
                    </p:nvPicPr>
                    <p:blipFill>
                      <a:blip r:embed="rId2"/>
                      <a:stretch>
                        <a:fillRect/>
                      </a:stretch>
                    </p:blipFill>
                    <p:spPr>
                      <a:xfrm>
                        <a:off x="1907704" y="1772816"/>
                        <a:ext cx="1960562" cy="522288"/>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907704" y="2531492"/>
          <a:ext cx="5549900" cy="825500"/>
        </p:xfrm>
        <a:graphic>
          <a:graphicData uri="http://schemas.openxmlformats.org/presentationml/2006/ole">
            <mc:AlternateContent xmlns:mc="http://schemas.openxmlformats.org/markup-compatibility/2006">
              <mc:Choice xmlns:v="urn:schemas-microsoft-com:vml" Requires="v">
                <p:oleObj spid="_x0000_s13565" name="Equation" r:id="rId3" imgW="61264800" imgH="9144000" progId="Equation.DSMT4">
                  <p:embed/>
                </p:oleObj>
              </mc:Choice>
              <mc:Fallback>
                <p:oleObj name="Equation" r:id="rId3" imgW="61264800" imgH="9144000" progId="Equation.DSMT4">
                  <p:embed/>
                  <p:pic>
                    <p:nvPicPr>
                      <p:cNvPr id="0" name="对象 4"/>
                      <p:cNvPicPr>
                        <a:picLocks noChangeAspect="1" noChangeArrowheads="1"/>
                      </p:cNvPicPr>
                      <p:nvPr/>
                    </p:nvPicPr>
                    <p:blipFill>
                      <a:blip r:embed="rId4"/>
                      <a:srcRect/>
                      <a:stretch>
                        <a:fillRect/>
                      </a:stretch>
                    </p:blipFill>
                    <p:spPr bwMode="auto">
                      <a:xfrm>
                        <a:off x="1907704" y="2531492"/>
                        <a:ext cx="55499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2339752" y="4365104"/>
          <a:ext cx="331270" cy="396000"/>
        </p:xfrm>
        <a:graphic>
          <a:graphicData uri="http://schemas.openxmlformats.org/presentationml/2006/ole">
            <mc:AlternateContent xmlns:mc="http://schemas.openxmlformats.org/markup-compatibility/2006">
              <mc:Choice xmlns:v="urn:schemas-microsoft-com:vml" Requires="v">
                <p:oleObj spid="_x0000_s13566" name="Equation" r:id="rId5" imgW="4572000" imgH="5486400" progId="Equation.DSMT4">
                  <p:embed/>
                </p:oleObj>
              </mc:Choice>
              <mc:Fallback>
                <p:oleObj name="Equation" r:id="rId5" imgW="4572000" imgH="5486400" progId="Equation.DSMT4">
                  <p:embed/>
                  <p:pic>
                    <p:nvPicPr>
                      <p:cNvPr id="0" name="对象 5"/>
                      <p:cNvPicPr>
                        <a:picLocks noChangeAspect="1" noChangeArrowheads="1"/>
                      </p:cNvPicPr>
                      <p:nvPr/>
                    </p:nvPicPr>
                    <p:blipFill>
                      <a:blip r:embed="rId6"/>
                      <a:srcRect/>
                      <a:stretch>
                        <a:fillRect/>
                      </a:stretch>
                    </p:blipFill>
                    <p:spPr bwMode="auto">
                      <a:xfrm>
                        <a:off x="2339752" y="4365104"/>
                        <a:ext cx="33127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4427984" y="4221168"/>
          <a:ext cx="2601691" cy="720000"/>
        </p:xfrm>
        <a:graphic>
          <a:graphicData uri="http://schemas.openxmlformats.org/presentationml/2006/ole">
            <mc:AlternateContent xmlns:mc="http://schemas.openxmlformats.org/markup-compatibility/2006">
              <mc:Choice xmlns:v="urn:schemas-microsoft-com:vml" Requires="v">
                <p:oleObj spid="_x0000_s13567" name="Equation" r:id="rId7" imgW="32918400" imgH="9144000" progId="Equation.DSMT4">
                  <p:embed/>
                </p:oleObj>
              </mc:Choice>
              <mc:Fallback>
                <p:oleObj name="Equation" r:id="rId7" imgW="32918400" imgH="9144000" progId="Equation.DSMT4">
                  <p:embed/>
                  <p:pic>
                    <p:nvPicPr>
                      <p:cNvPr id="0" name="对象 5"/>
                      <p:cNvPicPr>
                        <a:picLocks noChangeAspect="1" noChangeArrowheads="1"/>
                      </p:cNvPicPr>
                      <p:nvPr/>
                    </p:nvPicPr>
                    <p:blipFill>
                      <a:blip r:embed="rId8"/>
                      <a:srcRect/>
                      <a:stretch>
                        <a:fillRect/>
                      </a:stretch>
                    </p:blipFill>
                    <p:spPr bwMode="auto">
                      <a:xfrm>
                        <a:off x="4427984" y="4221168"/>
                        <a:ext cx="2601691" cy="72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pSp>
        <p:nvGrpSpPr>
          <p:cNvPr id="7" name="组合 6"/>
          <p:cNvGrpSpPr/>
          <p:nvPr/>
        </p:nvGrpSpPr>
        <p:grpSpPr>
          <a:xfrm>
            <a:off x="3491880" y="3861048"/>
            <a:ext cx="5474919" cy="2996952"/>
            <a:chOff x="3634761" y="3789040"/>
            <a:chExt cx="5474919" cy="2996952"/>
          </a:xfrm>
        </p:grpSpPr>
        <p:pic>
          <p:nvPicPr>
            <p:cNvPr id="14338" name="Picture 2"/>
            <p:cNvPicPr>
              <a:picLocks noChangeAspect="1" noChangeArrowheads="1"/>
            </p:cNvPicPr>
            <p:nvPr/>
          </p:nvPicPr>
          <p:blipFill>
            <a:blip r:embed="rId1">
              <a:extLst>
                <a:ext uri="{BEBA8EAE-BF5A-486C-A8C5-ECC9F3942E4B}">
                  <a14:imgProps xmlns:a14="http://schemas.microsoft.com/office/drawing/2010/main">
                    <a14:imgLayer r:embed="rId2">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634761" y="3789040"/>
              <a:ext cx="5474919" cy="2996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bwMode="auto">
            <a:xfrm>
              <a:off x="7668344" y="3789040"/>
              <a:ext cx="1441336" cy="504056"/>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
        <p:nvSpPr>
          <p:cNvPr id="2" name="标题 1"/>
          <p:cNvSpPr>
            <a:spLocks noGrp="1"/>
          </p:cNvSpPr>
          <p:nvPr>
            <p:ph type="title"/>
          </p:nvPr>
        </p:nvSpPr>
        <p:spPr/>
        <p:txBody>
          <a:bodyPr/>
          <a:lstStyle/>
          <a:p>
            <a:r>
              <a:rPr lang="en-US" altLang="zh-CN" dirty="0"/>
              <a:t>6.4 </a:t>
            </a:r>
            <a:r>
              <a:rPr lang="zh-CN" altLang="en-US" dirty="0"/>
              <a:t>软间隔与正则化</a:t>
            </a:r>
            <a:endParaRPr lang="zh-CN" altLang="en-US" dirty="0"/>
          </a:p>
        </p:txBody>
      </p:sp>
      <p:sp>
        <p:nvSpPr>
          <p:cNvPr id="3" name="内容占位符 2"/>
          <p:cNvSpPr>
            <a:spLocks noGrp="1"/>
          </p:cNvSpPr>
          <p:nvPr>
            <p:ph idx="1"/>
          </p:nvPr>
        </p:nvSpPr>
        <p:spPr>
          <a:xfrm>
            <a:off x="544016" y="836712"/>
            <a:ext cx="7772400" cy="4690864"/>
          </a:xfrm>
        </p:spPr>
        <p:txBody>
          <a:bodyPr/>
          <a:lstStyle/>
          <a:p>
            <a:r>
              <a:rPr lang="zh-CN" altLang="en-US" dirty="0"/>
              <a:t>替代</a:t>
            </a:r>
            <a:r>
              <a:rPr lang="zh-CN" altLang="en-US" dirty="0" smtClean="0"/>
              <a:t>损失</a:t>
            </a:r>
            <a:endParaRPr lang="en-US" altLang="zh-CN" dirty="0" smtClean="0"/>
          </a:p>
          <a:p>
            <a:pPr lvl="1"/>
            <a:r>
              <a:rPr lang="zh-CN" altLang="en-US" dirty="0" smtClean="0"/>
              <a:t>一般</a:t>
            </a:r>
            <a:r>
              <a:rPr lang="zh-CN" altLang="en-US" dirty="0"/>
              <a:t>具有较好的数学</a:t>
            </a:r>
            <a:r>
              <a:rPr lang="zh-CN" altLang="en-US" dirty="0" smtClean="0"/>
              <a:t>性质</a:t>
            </a:r>
            <a:endParaRPr lang="en-US" altLang="zh-CN" dirty="0" smtClean="0"/>
          </a:p>
          <a:p>
            <a:pPr lvl="2"/>
            <a:r>
              <a:rPr lang="zh-CN" altLang="en-US" dirty="0" smtClean="0">
                <a:latin typeface="+mn-ea"/>
              </a:rPr>
              <a:t>如</a:t>
            </a:r>
            <a:r>
              <a:rPr lang="zh-CN" altLang="en-US" dirty="0">
                <a:latin typeface="+mn-ea"/>
              </a:rPr>
              <a:t>它们通常是凸的</a:t>
            </a:r>
            <a:r>
              <a:rPr lang="zh-CN" altLang="en-US" dirty="0" smtClean="0">
                <a:latin typeface="+mn-ea"/>
              </a:rPr>
              <a:t>连续函数</a:t>
            </a:r>
            <a:endParaRPr lang="en-US" altLang="zh-CN" dirty="0" smtClean="0">
              <a:latin typeface="+mn-ea"/>
            </a:endParaRPr>
          </a:p>
          <a:p>
            <a:pPr lvl="2"/>
            <a:r>
              <a:rPr lang="zh-CN" altLang="en-US" dirty="0" smtClean="0">
                <a:latin typeface="+mn-ea"/>
              </a:rPr>
              <a:t>且是</a:t>
            </a:r>
            <a:r>
              <a:rPr lang="en-US" altLang="zh-CN" dirty="0" smtClean="0">
                <a:latin typeface="+mn-ea"/>
              </a:rPr>
              <a:t>0/1</a:t>
            </a:r>
            <a:r>
              <a:rPr lang="zh-CN" altLang="en-US" dirty="0" smtClean="0">
                <a:latin typeface="+mn-ea"/>
              </a:rPr>
              <a:t>损失函数的上界</a:t>
            </a:r>
            <a:endParaRPr lang="en-US" altLang="zh-CN" dirty="0" smtClean="0">
              <a:latin typeface="+mn-ea"/>
            </a:endParaRPr>
          </a:p>
          <a:p>
            <a:pPr lvl="1"/>
            <a:r>
              <a:rPr lang="zh-CN" altLang="en-US" dirty="0" smtClean="0">
                <a:latin typeface="+mn-ea"/>
              </a:rPr>
              <a:t>三</a:t>
            </a:r>
            <a:r>
              <a:rPr lang="zh-CN" altLang="en-US" dirty="0">
                <a:latin typeface="+mn-ea"/>
              </a:rPr>
              <a:t>种常用的替代</a:t>
            </a:r>
            <a:r>
              <a:rPr lang="zh-CN" altLang="en-US" dirty="0" smtClean="0">
                <a:latin typeface="+mn-ea"/>
              </a:rPr>
              <a:t>损失函数</a:t>
            </a:r>
            <a:endParaRPr lang="en-US" altLang="zh-CN" dirty="0" smtClean="0">
              <a:latin typeface="+mn-ea"/>
            </a:endParaRPr>
          </a:p>
          <a:p>
            <a:pPr lvl="2"/>
            <a:r>
              <a:rPr lang="en-US" altLang="zh-CN" dirty="0">
                <a:latin typeface="+mn-ea"/>
              </a:rPr>
              <a:t>h</a:t>
            </a:r>
            <a:r>
              <a:rPr lang="en-US" altLang="zh-CN" dirty="0" smtClean="0">
                <a:latin typeface="+mn-ea"/>
              </a:rPr>
              <a:t>inge</a:t>
            </a:r>
            <a:r>
              <a:rPr lang="zh-CN" altLang="en-US" dirty="0" smtClean="0">
                <a:latin typeface="+mn-ea"/>
              </a:rPr>
              <a:t>损失：</a:t>
            </a:r>
            <a:endParaRPr lang="en-US" altLang="zh-CN" dirty="0" smtClean="0">
              <a:latin typeface="+mn-ea"/>
            </a:endParaRPr>
          </a:p>
          <a:p>
            <a:pPr lvl="2"/>
            <a:r>
              <a:rPr lang="zh-CN" altLang="en-US" dirty="0" smtClean="0">
                <a:latin typeface="+mn-ea"/>
              </a:rPr>
              <a:t>指数损失：</a:t>
            </a:r>
            <a:endParaRPr lang="en-US" altLang="zh-CN" dirty="0" smtClean="0">
              <a:latin typeface="+mn-ea"/>
            </a:endParaRPr>
          </a:p>
          <a:p>
            <a:pPr lvl="2"/>
            <a:r>
              <a:rPr lang="zh-CN" altLang="en-US" dirty="0" smtClean="0">
                <a:latin typeface="+mn-ea"/>
              </a:rPr>
              <a:t>对数损失：</a:t>
            </a:r>
            <a:endParaRPr lang="zh-CN" altLang="en-US" dirty="0">
              <a:latin typeface="+mn-ea"/>
            </a:endParaRPr>
          </a:p>
        </p:txBody>
      </p:sp>
      <p:graphicFrame>
        <p:nvGraphicFramePr>
          <p:cNvPr id="5" name="对象 4"/>
          <p:cNvGraphicFramePr>
            <a:graphicFrameLocks noChangeAspect="1"/>
          </p:cNvGraphicFramePr>
          <p:nvPr/>
        </p:nvGraphicFramePr>
        <p:xfrm>
          <a:off x="3419872" y="2961080"/>
          <a:ext cx="2546775" cy="1188000"/>
        </p:xfrm>
        <a:graphic>
          <a:graphicData uri="http://schemas.openxmlformats.org/presentationml/2006/ole">
            <mc:AlternateContent xmlns:mc="http://schemas.openxmlformats.org/markup-compatibility/2006">
              <mc:Choice xmlns:v="urn:schemas-microsoft-com:vml" Requires="v">
                <p:oleObj spid="_x0000_s14395" name="Equation" r:id="rId3" imgW="33832800" imgH="15849600" progId="Equation.DSMT4">
                  <p:embed/>
                </p:oleObj>
              </mc:Choice>
              <mc:Fallback>
                <p:oleObj name="Equation" r:id="rId3" imgW="33832800" imgH="15849600" progId="Equation.DSMT4">
                  <p:embed/>
                  <p:pic>
                    <p:nvPicPr>
                      <p:cNvPr id="0" name="对象 5"/>
                      <p:cNvPicPr>
                        <a:picLocks noChangeAspect="1" noChangeArrowheads="1"/>
                      </p:cNvPicPr>
                      <p:nvPr/>
                    </p:nvPicPr>
                    <p:blipFill>
                      <a:blip r:embed="rId4"/>
                      <a:srcRect/>
                      <a:stretch>
                        <a:fillRect/>
                      </a:stretch>
                    </p:blipFill>
                    <p:spPr bwMode="auto">
                      <a:xfrm>
                        <a:off x="3419872" y="2961080"/>
                        <a:ext cx="2546775" cy="1188000"/>
                      </a:xfrm>
                      <a:prstGeom prst="rect">
                        <a:avLst/>
                      </a:prstGeom>
                      <a:noFill/>
                      <a:ln>
                        <a:noFill/>
                      </a:ln>
                    </p:spPr>
                  </p:pic>
                </p:oleObj>
              </mc:Fallback>
            </mc:AlternateContent>
          </a:graphicData>
        </a:graphic>
      </p:graphicFrame>
      <p:sp>
        <p:nvSpPr>
          <p:cNvPr id="8" name="矩形 7"/>
          <p:cNvSpPr/>
          <p:nvPr/>
        </p:nvSpPr>
        <p:spPr>
          <a:xfrm>
            <a:off x="1310257" y="4361036"/>
            <a:ext cx="2109615" cy="2308324"/>
          </a:xfrm>
          <a:prstGeom prst="rect">
            <a:avLst/>
          </a:prstGeom>
        </p:spPr>
        <p:txBody>
          <a:bodyPr wrap="square">
            <a:spAutoFit/>
          </a:bodyPr>
          <a:lstStyle/>
          <a:p>
            <a:pPr marL="285750" indent="-285750">
              <a:lnSpc>
                <a:spcPct val="100000"/>
              </a:lnSpc>
              <a:spcBef>
                <a:spcPts val="0"/>
              </a:spcBef>
              <a:buClr>
                <a:srgbClr val="FFC000"/>
              </a:buClr>
              <a:buSzPct val="60000"/>
              <a:buFont typeface="Wingdings" panose="05000000000000000000" pitchFamily="2" charset="2"/>
              <a:buChar char="n"/>
            </a:pPr>
            <a:r>
              <a:rPr lang="zh-CN" altLang="en-US" sz="1800" b="0" dirty="0">
                <a:solidFill>
                  <a:srgbClr val="0000FF"/>
                </a:solidFill>
                <a:latin typeface="+mn-ea"/>
                <a:ea typeface="+mn-ea"/>
              </a:rPr>
              <a:t>采用替代损失函数，</a:t>
            </a:r>
            <a:r>
              <a:rPr lang="zh-CN" altLang="en-US" sz="1800" b="0" dirty="0" smtClean="0">
                <a:solidFill>
                  <a:srgbClr val="0000FF"/>
                </a:solidFill>
                <a:latin typeface="+mn-ea"/>
                <a:ea typeface="+mn-ea"/>
              </a:rPr>
              <a:t>是解决</a:t>
            </a:r>
            <a:r>
              <a:rPr lang="zh-CN" altLang="en-US" sz="1800" b="0" dirty="0">
                <a:solidFill>
                  <a:srgbClr val="0000FF"/>
                </a:solidFill>
                <a:latin typeface="+mn-ea"/>
                <a:ea typeface="+mn-ea"/>
              </a:rPr>
              <a:t>困难</a:t>
            </a:r>
            <a:r>
              <a:rPr lang="zh-CN" altLang="en-US" sz="1800" b="0" dirty="0" smtClean="0">
                <a:solidFill>
                  <a:srgbClr val="0000FF"/>
                </a:solidFill>
                <a:latin typeface="+mn-ea"/>
                <a:ea typeface="+mn-ea"/>
              </a:rPr>
              <a:t>问题的</a:t>
            </a:r>
            <a:r>
              <a:rPr lang="zh-CN" altLang="en-US" sz="1800" b="0" dirty="0">
                <a:solidFill>
                  <a:srgbClr val="0000FF"/>
                </a:solidFill>
                <a:latin typeface="+mn-ea"/>
                <a:ea typeface="+mn-ea"/>
              </a:rPr>
              <a:t>常见</a:t>
            </a:r>
            <a:r>
              <a:rPr lang="zh-CN" altLang="en-US" sz="1800" b="0" dirty="0" smtClean="0">
                <a:solidFill>
                  <a:srgbClr val="0000FF"/>
                </a:solidFill>
                <a:latin typeface="+mn-ea"/>
                <a:ea typeface="+mn-ea"/>
              </a:rPr>
              <a:t>技巧</a:t>
            </a:r>
            <a:endParaRPr lang="en-US" altLang="zh-CN" sz="1800" b="0" dirty="0" smtClean="0">
              <a:solidFill>
                <a:srgbClr val="0000FF"/>
              </a:solidFill>
              <a:latin typeface="+mn-ea"/>
              <a:ea typeface="+mn-ea"/>
            </a:endParaRPr>
          </a:p>
          <a:p>
            <a:pPr marL="285750" indent="-285750">
              <a:lnSpc>
                <a:spcPct val="100000"/>
              </a:lnSpc>
              <a:spcBef>
                <a:spcPts val="0"/>
              </a:spcBef>
              <a:buClr>
                <a:srgbClr val="FFC000"/>
              </a:buClr>
              <a:buSzPct val="60000"/>
              <a:buFont typeface="Wingdings" panose="05000000000000000000" pitchFamily="2" charset="2"/>
              <a:buChar char="n"/>
            </a:pPr>
            <a:r>
              <a:rPr lang="zh-CN" altLang="en-US" sz="1800" b="0" dirty="0" smtClean="0">
                <a:solidFill>
                  <a:srgbClr val="0000FF"/>
                </a:solidFill>
                <a:latin typeface="+mn-ea"/>
                <a:ea typeface="+mn-ea"/>
              </a:rPr>
              <a:t>求解</a:t>
            </a:r>
            <a:r>
              <a:rPr lang="zh-CN" altLang="en-US" sz="1800" b="0" dirty="0">
                <a:solidFill>
                  <a:srgbClr val="0000FF"/>
                </a:solidFill>
                <a:latin typeface="+mn-ea"/>
                <a:ea typeface="+mn-ea"/>
              </a:rPr>
              <a:t>替代函数得到的解</a:t>
            </a:r>
            <a:r>
              <a:rPr lang="zh-CN" altLang="en-US" sz="1800" b="0" dirty="0" smtClean="0">
                <a:solidFill>
                  <a:srgbClr val="0000FF"/>
                </a:solidFill>
                <a:latin typeface="+mn-ea"/>
                <a:ea typeface="+mn-ea"/>
              </a:rPr>
              <a:t>是否仍是</a:t>
            </a:r>
            <a:r>
              <a:rPr lang="zh-CN" altLang="en-US" sz="1800" b="0" dirty="0">
                <a:solidFill>
                  <a:srgbClr val="0000FF"/>
                </a:solidFill>
                <a:latin typeface="+mn-ea"/>
                <a:ea typeface="+mn-ea"/>
              </a:rPr>
              <a:t>原问题的解</a:t>
            </a:r>
            <a:r>
              <a:rPr lang="zh-CN" altLang="en-US" sz="1800" b="0" dirty="0" smtClean="0">
                <a:solidFill>
                  <a:srgbClr val="0000FF"/>
                </a:solidFill>
                <a:latin typeface="+mn-ea"/>
                <a:ea typeface="+mn-ea"/>
              </a:rPr>
              <a:t>？称为</a:t>
            </a:r>
            <a:r>
              <a:rPr lang="zh-CN" altLang="en-US" sz="1800" b="0" dirty="0">
                <a:solidFill>
                  <a:srgbClr val="0000FF"/>
                </a:solidFill>
                <a:latin typeface="+mn-ea"/>
                <a:ea typeface="+mn-ea"/>
              </a:rPr>
              <a:t>替代损失</a:t>
            </a:r>
            <a:r>
              <a:rPr lang="zh-CN" altLang="en-US" sz="1800" b="0" dirty="0" smtClean="0">
                <a:solidFill>
                  <a:srgbClr val="0000FF"/>
                </a:solidFill>
                <a:latin typeface="+mn-ea"/>
                <a:ea typeface="+mn-ea"/>
              </a:rPr>
              <a:t>的一致性问题</a:t>
            </a:r>
            <a:endParaRPr lang="zh-CN" altLang="en-US" sz="1800" b="0" dirty="0">
              <a:solidFill>
                <a:srgbClr val="0000FF"/>
              </a:solidFill>
              <a:latin typeface="+mn-ea"/>
              <a:ea typeface="+mn-ea"/>
            </a:endParaRPr>
          </a:p>
        </p:txBody>
      </p:sp>
    </p:spTree>
  </p:cSld>
  <p:clrMapOvr>
    <a:masterClrMapping/>
  </p:clrMapOvr>
  <p:transition>
    <p:cover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软间隔支持向量</a:t>
            </a:r>
            <a:r>
              <a:rPr lang="zh-CN" altLang="en-US" dirty="0" smtClean="0"/>
              <a:t>机</a:t>
            </a:r>
            <a:endParaRPr lang="en-US" altLang="zh-CN" dirty="0" smtClean="0"/>
          </a:p>
          <a:p>
            <a:pPr lvl="1"/>
            <a:r>
              <a:rPr lang="zh-CN" altLang="en-US" dirty="0">
                <a:latin typeface="+mn-ea"/>
              </a:rPr>
              <a:t>若采用</a:t>
            </a:r>
            <a:r>
              <a:rPr lang="en-US" altLang="zh-CN" dirty="0">
                <a:latin typeface="+mn-ea"/>
              </a:rPr>
              <a:t>hinge</a:t>
            </a:r>
            <a:r>
              <a:rPr lang="zh-CN" altLang="en-US" dirty="0">
                <a:latin typeface="+mn-ea"/>
              </a:rPr>
              <a:t>损失，</a:t>
            </a:r>
            <a:r>
              <a:rPr lang="zh-CN" altLang="en-US" dirty="0" smtClean="0">
                <a:latin typeface="+mn-ea"/>
              </a:rPr>
              <a:t>则问题变成</a:t>
            </a:r>
            <a:endParaRPr lang="en-US" altLang="zh-CN" dirty="0">
              <a:latin typeface="+mn-ea"/>
            </a:endParaRPr>
          </a:p>
          <a:p>
            <a:pPr lvl="1"/>
            <a:endParaRPr lang="en-US" altLang="zh-CN" dirty="0" smtClean="0">
              <a:latin typeface="+mn-ea"/>
            </a:endParaRPr>
          </a:p>
          <a:p>
            <a:pPr lvl="2"/>
            <a:endParaRPr lang="en-US" altLang="zh-CN" dirty="0" smtClean="0">
              <a:latin typeface="+mn-ea"/>
            </a:endParaRPr>
          </a:p>
          <a:p>
            <a:pPr lvl="2"/>
            <a:r>
              <a:rPr lang="zh-CN" altLang="en-US" dirty="0" smtClean="0">
                <a:latin typeface="+mn-ea"/>
              </a:rPr>
              <a:t>引入松弛变量  </a:t>
            </a:r>
            <a:r>
              <a:rPr lang="en-US" altLang="zh-CN" dirty="0" smtClean="0">
                <a:latin typeface="+mn-ea"/>
              </a:rPr>
              <a:t>(</a:t>
            </a:r>
            <a:r>
              <a:rPr lang="zh-CN" altLang="en-US" dirty="0" smtClean="0">
                <a:latin typeface="+mn-ea"/>
              </a:rPr>
              <a:t>每个松弛变量对应一个样</a:t>
            </a:r>
            <a:r>
              <a:rPr lang="zh-CN" altLang="en-US" dirty="0">
                <a:latin typeface="+mn-ea"/>
              </a:rPr>
              <a:t>本</a:t>
            </a:r>
            <a:r>
              <a:rPr lang="zh-CN" altLang="en-US" dirty="0" smtClean="0">
                <a:latin typeface="+mn-ea"/>
              </a:rPr>
              <a:t>，表征</a:t>
            </a:r>
            <a:r>
              <a:rPr lang="zh-CN" altLang="en-US" dirty="0">
                <a:latin typeface="+mn-ea"/>
              </a:rPr>
              <a:t>该样本不满足</a:t>
            </a:r>
            <a:r>
              <a:rPr lang="zh-CN" altLang="en-US" dirty="0" smtClean="0">
                <a:latin typeface="+mn-ea"/>
              </a:rPr>
              <a:t>约束的</a:t>
            </a:r>
            <a:r>
              <a:rPr lang="zh-CN" altLang="en-US" dirty="0">
                <a:latin typeface="+mn-ea"/>
              </a:rPr>
              <a:t>程度</a:t>
            </a:r>
            <a:r>
              <a:rPr lang="en-US" altLang="zh-CN" dirty="0" smtClean="0">
                <a:latin typeface="+mn-ea"/>
              </a:rPr>
              <a:t>)</a:t>
            </a:r>
            <a:r>
              <a:rPr lang="zh-CN" altLang="en-US" dirty="0" smtClean="0">
                <a:latin typeface="+mn-ea"/>
              </a:rPr>
              <a:t>，上式可写为</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endParaRPr lang="en-US" altLang="zh-CN" dirty="0">
              <a:latin typeface="+mn-ea"/>
            </a:endParaRPr>
          </a:p>
          <a:p>
            <a:pPr lvl="3"/>
            <a:r>
              <a:rPr lang="zh-CN" altLang="en-US" dirty="0">
                <a:latin typeface="+mn-ea"/>
              </a:rPr>
              <a:t>二次规划问题，通过</a:t>
            </a:r>
            <a:r>
              <a:rPr lang="zh-CN" altLang="en-US" dirty="0" smtClean="0">
                <a:latin typeface="+mn-ea"/>
              </a:rPr>
              <a:t>拉格朗日乘子法可得对偶问题</a:t>
            </a:r>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3"/>
            <a:endParaRPr lang="en-US" altLang="zh-CN" dirty="0">
              <a:latin typeface="+mn-ea"/>
            </a:endParaRPr>
          </a:p>
          <a:p>
            <a:pPr lvl="3"/>
            <a:endParaRPr lang="en-US" altLang="zh-CN" dirty="0" smtClean="0">
              <a:latin typeface="+mn-ea"/>
            </a:endParaRPr>
          </a:p>
          <a:p>
            <a:pPr lvl="4"/>
            <a:r>
              <a:rPr lang="zh-CN" altLang="en-US" dirty="0" smtClean="0">
                <a:latin typeface="+mn-ea"/>
              </a:rPr>
              <a:t>根据</a:t>
            </a:r>
            <a:r>
              <a:rPr lang="en-US" altLang="zh-CN" dirty="0" smtClean="0">
                <a:latin typeface="+mn-ea"/>
              </a:rPr>
              <a:t>KKT</a:t>
            </a:r>
            <a:r>
              <a:rPr lang="zh-CN" altLang="en-US" dirty="0" smtClean="0">
                <a:latin typeface="+mn-ea"/>
              </a:rPr>
              <a:t>条件，</a:t>
            </a:r>
            <a:r>
              <a:rPr lang="zh-CN" altLang="en-US" dirty="0">
                <a:latin typeface="+mn-ea"/>
              </a:rPr>
              <a:t>最终模型仅与支持向量</a:t>
            </a:r>
            <a:r>
              <a:rPr lang="zh-CN" altLang="en-US" dirty="0" smtClean="0">
                <a:latin typeface="+mn-ea"/>
              </a:rPr>
              <a:t>有关，也</a:t>
            </a:r>
            <a:r>
              <a:rPr lang="zh-CN" altLang="en-US" dirty="0">
                <a:latin typeface="+mn-ea"/>
              </a:rPr>
              <a:t>即</a:t>
            </a:r>
            <a:r>
              <a:rPr lang="zh-CN" altLang="en-US" dirty="0" smtClean="0">
                <a:latin typeface="+mn-ea"/>
              </a:rPr>
              <a:t>采用</a:t>
            </a:r>
            <a:r>
              <a:rPr lang="en-US" altLang="zh-CN" dirty="0" smtClean="0">
                <a:latin typeface="+mn-ea"/>
              </a:rPr>
              <a:t>hinge </a:t>
            </a:r>
            <a:r>
              <a:rPr lang="zh-CN" altLang="en-US" dirty="0" smtClean="0">
                <a:latin typeface="+mn-ea"/>
              </a:rPr>
              <a:t>损失函数</a:t>
            </a:r>
            <a:r>
              <a:rPr lang="zh-CN" altLang="en-US" dirty="0">
                <a:latin typeface="+mn-ea"/>
              </a:rPr>
              <a:t>后仍保持</a:t>
            </a:r>
            <a:r>
              <a:rPr lang="zh-CN" altLang="en-US" dirty="0" smtClean="0">
                <a:latin typeface="+mn-ea"/>
              </a:rPr>
              <a:t>了</a:t>
            </a:r>
            <a:r>
              <a:rPr lang="en-US" altLang="zh-CN" dirty="0" smtClean="0">
                <a:latin typeface="+mn-ea"/>
              </a:rPr>
              <a:t>SVM</a:t>
            </a:r>
            <a:r>
              <a:rPr lang="zh-CN" altLang="en-US" dirty="0" smtClean="0">
                <a:latin typeface="+mn-ea"/>
              </a:rPr>
              <a:t>解</a:t>
            </a:r>
            <a:r>
              <a:rPr lang="zh-CN" altLang="en-US" dirty="0">
                <a:latin typeface="+mn-ea"/>
              </a:rPr>
              <a:t>的稀疏性</a:t>
            </a:r>
            <a:endParaRPr lang="zh-CN" altLang="en-US" dirty="0">
              <a:latin typeface="+mn-ea"/>
            </a:endParaRPr>
          </a:p>
          <a:p>
            <a:pPr lvl="4"/>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2"/>
            <a:endParaRPr lang="en-US" altLang="zh-CN" dirty="0" smtClean="0">
              <a:latin typeface="+mn-ea"/>
            </a:endParaRPr>
          </a:p>
          <a:p>
            <a:pPr lvl="1"/>
            <a:endParaRPr lang="en-US" altLang="zh-CN" dirty="0" smtClean="0">
              <a:latin typeface="+mn-ea"/>
            </a:endParaRPr>
          </a:p>
          <a:p>
            <a:pPr lvl="1"/>
            <a:endParaRPr lang="zh-CN" altLang="en-US" dirty="0">
              <a:latin typeface="+mn-ea"/>
            </a:endParaRPr>
          </a:p>
          <a:p>
            <a:pPr lvl="2"/>
            <a:endParaRPr lang="zh-CN" altLang="en-US" dirty="0"/>
          </a:p>
        </p:txBody>
      </p:sp>
      <p:sp>
        <p:nvSpPr>
          <p:cNvPr id="2" name="标题 1"/>
          <p:cNvSpPr>
            <a:spLocks noGrp="1"/>
          </p:cNvSpPr>
          <p:nvPr>
            <p:ph type="title"/>
          </p:nvPr>
        </p:nvSpPr>
        <p:spPr/>
        <p:txBody>
          <a:bodyPr/>
          <a:lstStyle/>
          <a:p>
            <a:r>
              <a:rPr lang="en-US" altLang="zh-CN" dirty="0"/>
              <a:t>6.4 </a:t>
            </a:r>
            <a:r>
              <a:rPr lang="zh-CN" altLang="en-US" dirty="0"/>
              <a:t>软间隔与正则化</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1619672" y="1772816"/>
          <a:ext cx="6046788" cy="825500"/>
        </p:xfrm>
        <a:graphic>
          <a:graphicData uri="http://schemas.openxmlformats.org/presentationml/2006/ole">
            <mc:AlternateContent xmlns:mc="http://schemas.openxmlformats.org/markup-compatibility/2006">
              <mc:Choice xmlns:v="urn:schemas-microsoft-com:vml" Requires="v">
                <p:oleObj spid="_x0000_s15601" name="Equation" r:id="rId1" imgW="66751200" imgH="9144000" progId="Equation.DSMT4">
                  <p:embed/>
                </p:oleObj>
              </mc:Choice>
              <mc:Fallback>
                <p:oleObj name="Equation" r:id="rId1" imgW="66751200" imgH="9144000" progId="Equation.DSMT4">
                  <p:embed/>
                  <p:pic>
                    <p:nvPicPr>
                      <p:cNvPr id="0" name="对象 5"/>
                      <p:cNvPicPr>
                        <a:picLocks noChangeAspect="1" noChangeArrowheads="1"/>
                      </p:cNvPicPr>
                      <p:nvPr/>
                    </p:nvPicPr>
                    <p:blipFill>
                      <a:blip r:embed="rId2"/>
                      <a:srcRect/>
                      <a:stretch>
                        <a:fillRect/>
                      </a:stretch>
                    </p:blipFill>
                    <p:spPr bwMode="auto">
                      <a:xfrm>
                        <a:off x="1619672" y="1772816"/>
                        <a:ext cx="60467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3779912" y="2564904"/>
          <a:ext cx="331788" cy="495300"/>
        </p:xfrm>
        <a:graphic>
          <a:graphicData uri="http://schemas.openxmlformats.org/presentationml/2006/ole">
            <mc:AlternateContent xmlns:mc="http://schemas.openxmlformats.org/markup-compatibility/2006">
              <mc:Choice xmlns:v="urn:schemas-microsoft-com:vml" Requires="v">
                <p:oleObj spid="_x0000_s15602" name="Equation" r:id="rId3" imgW="3657600" imgH="5486400" progId="Equation.DSMT4">
                  <p:embed/>
                </p:oleObj>
              </mc:Choice>
              <mc:Fallback>
                <p:oleObj name="Equation" r:id="rId3" imgW="3657600" imgH="5486400" progId="Equation.DSMT4">
                  <p:embed/>
                  <p:pic>
                    <p:nvPicPr>
                      <p:cNvPr id="0" name="对象 4"/>
                      <p:cNvPicPr>
                        <a:picLocks noChangeAspect="1" noChangeArrowheads="1"/>
                      </p:cNvPicPr>
                      <p:nvPr/>
                    </p:nvPicPr>
                    <p:blipFill>
                      <a:blip r:embed="rId4"/>
                      <a:srcRect/>
                      <a:stretch>
                        <a:fillRect/>
                      </a:stretch>
                    </p:blipFill>
                    <p:spPr bwMode="auto">
                      <a:xfrm>
                        <a:off x="3779912" y="2564904"/>
                        <a:ext cx="331788"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1908175" y="3299445"/>
          <a:ext cx="5216525" cy="1209675"/>
        </p:xfrm>
        <a:graphic>
          <a:graphicData uri="http://schemas.openxmlformats.org/presentationml/2006/ole">
            <mc:AlternateContent xmlns:mc="http://schemas.openxmlformats.org/markup-compatibility/2006">
              <mc:Choice xmlns:v="urn:schemas-microsoft-com:vml" Requires="v">
                <p:oleObj spid="_x0000_s15603" name="Equation" r:id="rId5" imgW="57607200" imgH="13411200" progId="Equation.DSMT4">
                  <p:embed/>
                </p:oleObj>
              </mc:Choice>
              <mc:Fallback>
                <p:oleObj name="Equation" r:id="rId5" imgW="57607200" imgH="13411200" progId="Equation.DSMT4">
                  <p:embed/>
                  <p:pic>
                    <p:nvPicPr>
                      <p:cNvPr id="0" name="对象 4"/>
                      <p:cNvPicPr>
                        <a:picLocks noChangeAspect="1" noChangeArrowheads="1"/>
                      </p:cNvPicPr>
                      <p:nvPr/>
                    </p:nvPicPr>
                    <p:blipFill>
                      <a:blip r:embed="rId6"/>
                      <a:srcRect/>
                      <a:stretch>
                        <a:fillRect/>
                      </a:stretch>
                    </p:blipFill>
                    <p:spPr bwMode="auto">
                      <a:xfrm>
                        <a:off x="1908175" y="3299445"/>
                        <a:ext cx="5216525"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2339752" y="4653136"/>
          <a:ext cx="5308600" cy="1244600"/>
        </p:xfrm>
        <a:graphic>
          <a:graphicData uri="http://schemas.openxmlformats.org/presentationml/2006/ole">
            <mc:AlternateContent xmlns:mc="http://schemas.openxmlformats.org/markup-compatibility/2006">
              <mc:Choice xmlns:v="urn:schemas-microsoft-com:vml" Requires="v">
                <p:oleObj spid="_x0000_s15604" name="Equation" r:id="rId7" imgW="63093600" imgH="14630400" progId="Equation.DSMT4">
                  <p:embed/>
                </p:oleObj>
              </mc:Choice>
              <mc:Fallback>
                <p:oleObj name="Equation" r:id="rId7" imgW="63093600" imgH="14630400" progId="Equation.DSMT4">
                  <p:embed/>
                  <p:pic>
                    <p:nvPicPr>
                      <p:cNvPr id="0" name="对象 6"/>
                      <p:cNvPicPr>
                        <a:picLocks noChangeAspect="1" noChangeArrowheads="1"/>
                      </p:cNvPicPr>
                      <p:nvPr/>
                    </p:nvPicPr>
                    <p:blipFill>
                      <a:blip r:embed="rId8"/>
                      <a:srcRect/>
                      <a:stretch>
                        <a:fillRect/>
                      </a:stretch>
                    </p:blipFill>
                    <p:spPr bwMode="auto">
                      <a:xfrm>
                        <a:off x="2339752" y="4653136"/>
                        <a:ext cx="5308600" cy="1244600"/>
                      </a:xfrm>
                      <a:prstGeom prst="rect">
                        <a:avLst/>
                      </a:prstGeom>
                      <a:noFill/>
                      <a:ln>
                        <a:noFill/>
                      </a:ln>
                    </p:spPr>
                  </p:pic>
                </p:oleObj>
              </mc:Fallback>
            </mc:AlternateContent>
          </a:graphicData>
        </a:graphic>
      </p:graphicFrame>
      <p:sp>
        <p:nvSpPr>
          <p:cNvPr id="11" name="TextBox 10"/>
          <p:cNvSpPr txBox="1"/>
          <p:nvPr/>
        </p:nvSpPr>
        <p:spPr>
          <a:xfrm>
            <a:off x="4572000" y="5409264"/>
            <a:ext cx="1116000" cy="396000"/>
          </a:xfrm>
          <a:prstGeom prst="rect">
            <a:avLst/>
          </a:prstGeom>
          <a:solidFill>
            <a:srgbClr val="FF0000">
              <a:alpha val="20000"/>
            </a:srgbClr>
          </a:solidFill>
        </p:spPr>
        <p:txBody>
          <a:bodyPr wrap="square" rtlCol="0">
            <a:spAutoFit/>
          </a:bodyPr>
          <a:lstStyle/>
          <a:p>
            <a:endParaRPr lang="zh-CN" altLang="en-US" dirty="0"/>
          </a:p>
        </p:txBody>
      </p:sp>
      <p:cxnSp>
        <p:nvCxnSpPr>
          <p:cNvPr id="14" name="直接连接符 13"/>
          <p:cNvCxnSpPr>
            <a:endCxn id="23" idx="1"/>
          </p:cNvCxnSpPr>
          <p:nvPr/>
        </p:nvCxnSpPr>
        <p:spPr bwMode="auto">
          <a:xfrm flipV="1">
            <a:off x="5688000" y="5409264"/>
            <a:ext cx="1764320" cy="0"/>
          </a:xfrm>
          <a:prstGeom prst="line">
            <a:avLst/>
          </a:prstGeom>
          <a:solidFill>
            <a:schemeClr val="accent1"/>
          </a:solidFill>
          <a:ln w="12700" cap="flat" cmpd="sng" algn="ctr">
            <a:solidFill>
              <a:srgbClr val="FF0000"/>
            </a:solidFill>
            <a:prstDash val="solid"/>
            <a:round/>
            <a:headEnd type="triangle" w="sm"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Box 22"/>
          <p:cNvSpPr txBox="1"/>
          <p:nvPr/>
        </p:nvSpPr>
        <p:spPr>
          <a:xfrm>
            <a:off x="7452320" y="5116876"/>
            <a:ext cx="1224136" cy="584775"/>
          </a:xfrm>
          <a:prstGeom prst="rect">
            <a:avLst/>
          </a:prstGeom>
          <a:noFill/>
        </p:spPr>
        <p:txBody>
          <a:bodyPr wrap="square" rtlCol="0">
            <a:spAutoFit/>
          </a:bodyPr>
          <a:lstStyle/>
          <a:p>
            <a:pPr>
              <a:lnSpc>
                <a:spcPct val="100000"/>
              </a:lnSpc>
              <a:spcBef>
                <a:spcPts val="0"/>
              </a:spcBef>
            </a:pPr>
            <a:r>
              <a:rPr lang="zh-CN" altLang="en-US" sz="1600" b="0" dirty="0" smtClean="0">
                <a:solidFill>
                  <a:srgbClr val="FF0000"/>
                </a:solidFill>
                <a:latin typeface="+mn-ea"/>
                <a:ea typeface="+mn-ea"/>
              </a:rPr>
              <a:t>与硬间隔</a:t>
            </a:r>
            <a:r>
              <a:rPr lang="en-US" altLang="zh-CN" sz="1600" b="0" dirty="0" smtClean="0">
                <a:solidFill>
                  <a:srgbClr val="FF0000"/>
                </a:solidFill>
                <a:latin typeface="+mn-ea"/>
                <a:ea typeface="+mn-ea"/>
              </a:rPr>
              <a:t>SVM</a:t>
            </a:r>
            <a:r>
              <a:rPr lang="zh-CN" altLang="en-US" sz="1600" b="0" dirty="0" smtClean="0">
                <a:solidFill>
                  <a:srgbClr val="FF0000"/>
                </a:solidFill>
                <a:latin typeface="+mn-ea"/>
                <a:ea typeface="+mn-ea"/>
              </a:rPr>
              <a:t>的</a:t>
            </a:r>
            <a:r>
              <a:rPr lang="zh-CN" altLang="en-US" sz="1600" b="0" dirty="0">
                <a:solidFill>
                  <a:srgbClr val="FF0000"/>
                </a:solidFill>
                <a:latin typeface="+mn-ea"/>
                <a:ea typeface="+mn-ea"/>
              </a:rPr>
              <a:t>区别</a:t>
            </a:r>
            <a:endParaRPr lang="zh-CN" altLang="en-US" sz="1600" b="0" dirty="0">
              <a:solidFill>
                <a:srgbClr val="FF0000"/>
              </a:solidFill>
              <a:latin typeface="+mn-ea"/>
              <a:ea typeface="+mn-ea"/>
            </a:endParaRPr>
          </a:p>
        </p:txBody>
      </p:sp>
    </p:spTree>
  </p:cSld>
  <p:clrMapOvr>
    <a:masterClrMapping/>
  </p:clrMapOvr>
  <p:transition>
    <p:cover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 </a:t>
            </a:r>
            <a:r>
              <a:rPr lang="zh-CN" altLang="en-US" dirty="0"/>
              <a:t>软间隔与正则化</a:t>
            </a:r>
            <a:endParaRPr lang="zh-CN" altLang="en-US" dirty="0"/>
          </a:p>
        </p:txBody>
      </p:sp>
      <p:sp>
        <p:nvSpPr>
          <p:cNvPr id="3" name="内容占位符 2"/>
          <p:cNvSpPr>
            <a:spLocks noGrp="1"/>
          </p:cNvSpPr>
          <p:nvPr>
            <p:ph idx="1"/>
          </p:nvPr>
        </p:nvSpPr>
        <p:spPr/>
        <p:txBody>
          <a:bodyPr/>
          <a:lstStyle/>
          <a:p>
            <a:r>
              <a:rPr lang="zh-CN" altLang="en-US" dirty="0"/>
              <a:t>正则</a:t>
            </a:r>
            <a:r>
              <a:rPr lang="zh-CN" altLang="en-US" dirty="0" smtClean="0"/>
              <a:t>化</a:t>
            </a:r>
            <a:endParaRPr lang="en-US" altLang="zh-CN" dirty="0" smtClean="0"/>
          </a:p>
          <a:p>
            <a:pPr lvl="1"/>
            <a:r>
              <a:rPr lang="zh-CN" altLang="en-US" dirty="0" smtClean="0"/>
              <a:t>如果</a:t>
            </a:r>
            <a:r>
              <a:rPr lang="zh-CN" altLang="en-US" dirty="0"/>
              <a:t>使用对率</a:t>
            </a:r>
            <a:r>
              <a:rPr lang="zh-CN" altLang="en-US" dirty="0" smtClean="0"/>
              <a:t>损失函数  来替代损失函数，几乎就是对</a:t>
            </a:r>
            <a:r>
              <a:rPr lang="zh-CN" altLang="en-US" dirty="0"/>
              <a:t>率回归</a:t>
            </a:r>
            <a:r>
              <a:rPr lang="zh-CN" altLang="en-US" dirty="0" smtClean="0"/>
              <a:t>模型</a:t>
            </a:r>
            <a:endParaRPr lang="en-US" altLang="zh-CN" dirty="0" smtClean="0"/>
          </a:p>
          <a:p>
            <a:pPr lvl="2"/>
            <a:r>
              <a:rPr lang="zh-CN" altLang="en-US" dirty="0" smtClean="0"/>
              <a:t>支持</a:t>
            </a:r>
            <a:r>
              <a:rPr lang="zh-CN" altLang="en-US" dirty="0"/>
              <a:t>向量机与对率</a:t>
            </a:r>
            <a:r>
              <a:rPr lang="zh-CN" altLang="en-US" dirty="0" smtClean="0"/>
              <a:t>回归优化</a:t>
            </a:r>
            <a:r>
              <a:rPr lang="zh-CN" altLang="en-US" dirty="0"/>
              <a:t>目标相近</a:t>
            </a:r>
            <a:r>
              <a:rPr lang="zh-CN" altLang="en-US" dirty="0" smtClean="0"/>
              <a:t>，性能相当</a:t>
            </a:r>
            <a:endParaRPr lang="en-US" altLang="zh-CN" dirty="0" smtClean="0"/>
          </a:p>
          <a:p>
            <a:pPr lvl="2"/>
            <a:r>
              <a:rPr lang="zh-CN" altLang="en-US" dirty="0" smtClean="0"/>
              <a:t>对</a:t>
            </a:r>
            <a:r>
              <a:rPr lang="zh-CN" altLang="en-US" dirty="0"/>
              <a:t>率回归的</a:t>
            </a:r>
            <a:r>
              <a:rPr lang="zh-CN" altLang="en-US" dirty="0" smtClean="0"/>
              <a:t>优势是输出具有概率</a:t>
            </a:r>
            <a:r>
              <a:rPr lang="zh-CN" altLang="en-US" dirty="0"/>
              <a:t>意义</a:t>
            </a:r>
            <a:r>
              <a:rPr lang="zh-CN" altLang="en-US" dirty="0" smtClean="0"/>
              <a:t>，支持</a:t>
            </a:r>
            <a:r>
              <a:rPr lang="zh-CN" altLang="en-US" dirty="0"/>
              <a:t>向量机</a:t>
            </a:r>
            <a:r>
              <a:rPr lang="zh-CN" altLang="en-US" dirty="0" smtClean="0"/>
              <a:t>没有</a:t>
            </a:r>
            <a:endParaRPr lang="en-US" altLang="zh-CN" dirty="0" smtClean="0"/>
          </a:p>
          <a:p>
            <a:pPr lvl="2"/>
            <a:r>
              <a:rPr lang="zh-CN" altLang="en-US" dirty="0" smtClean="0"/>
              <a:t>对率</a:t>
            </a:r>
            <a:r>
              <a:rPr lang="zh-CN" altLang="en-US" dirty="0"/>
              <a:t>回归能直接用于多分类任务，支持向量</a:t>
            </a:r>
            <a:r>
              <a:rPr lang="zh-CN" altLang="en-US" dirty="0" smtClean="0"/>
              <a:t>机需推广</a:t>
            </a:r>
            <a:endParaRPr lang="en-US" altLang="zh-CN" dirty="0" smtClean="0"/>
          </a:p>
          <a:p>
            <a:pPr lvl="1"/>
            <a:r>
              <a:rPr lang="zh-CN" altLang="en-US" dirty="0" smtClean="0"/>
              <a:t>统计</a:t>
            </a:r>
            <a:r>
              <a:rPr lang="zh-CN" altLang="en-US" dirty="0"/>
              <a:t>学习</a:t>
            </a:r>
            <a:r>
              <a:rPr lang="zh-CN" altLang="en-US" dirty="0" smtClean="0"/>
              <a:t>模型的</a:t>
            </a:r>
            <a:r>
              <a:rPr lang="zh-CN" altLang="en-US" dirty="0"/>
              <a:t>更一般</a:t>
            </a:r>
            <a:r>
              <a:rPr lang="zh-CN" altLang="en-US" dirty="0" smtClean="0"/>
              <a:t>形式</a:t>
            </a:r>
            <a:endParaRPr lang="en-US" altLang="zh-CN" dirty="0" smtClean="0"/>
          </a:p>
          <a:p>
            <a:pPr lvl="2"/>
            <a:r>
              <a:rPr lang="zh-CN" altLang="en-US" dirty="0" smtClean="0">
                <a:latin typeface="+mn-ea"/>
              </a:rPr>
              <a:t>把</a:t>
            </a:r>
            <a:r>
              <a:rPr lang="en-US" altLang="zh-CN" dirty="0" smtClean="0">
                <a:latin typeface="+mn-ea"/>
              </a:rPr>
              <a:t>0/1</a:t>
            </a:r>
            <a:r>
              <a:rPr lang="zh-CN" altLang="en-US" dirty="0" smtClean="0">
                <a:latin typeface="+mn-ea"/>
              </a:rPr>
              <a:t>损失函数</a:t>
            </a:r>
            <a:r>
              <a:rPr lang="zh-CN" altLang="en-US" dirty="0">
                <a:latin typeface="+mn-ea"/>
              </a:rPr>
              <a:t>换成别的替代损失函数以</a:t>
            </a:r>
            <a:r>
              <a:rPr lang="zh-CN" altLang="en-US" dirty="0" smtClean="0">
                <a:latin typeface="+mn-ea"/>
              </a:rPr>
              <a:t>得到其他</a:t>
            </a:r>
            <a:r>
              <a:rPr lang="zh-CN" altLang="en-US" dirty="0">
                <a:latin typeface="+mn-ea"/>
              </a:rPr>
              <a:t>学习模型</a:t>
            </a:r>
            <a:r>
              <a:rPr lang="zh-CN" altLang="en-US" dirty="0" smtClean="0">
                <a:latin typeface="+mn-ea"/>
              </a:rPr>
              <a:t>，</a:t>
            </a:r>
            <a:r>
              <a:rPr lang="zh-CN" altLang="en-US" dirty="0">
                <a:latin typeface="+mn-ea"/>
              </a:rPr>
              <a:t>其</a:t>
            </a:r>
            <a:r>
              <a:rPr lang="zh-CN" altLang="en-US" dirty="0" smtClean="0">
                <a:latin typeface="+mn-ea"/>
              </a:rPr>
              <a:t>性质</a:t>
            </a:r>
            <a:r>
              <a:rPr lang="zh-CN" altLang="en-US" dirty="0">
                <a:latin typeface="+mn-ea"/>
              </a:rPr>
              <a:t>与所用的替代函数直接</a:t>
            </a:r>
            <a:r>
              <a:rPr lang="zh-CN" altLang="en-US" dirty="0" smtClean="0">
                <a:latin typeface="+mn-ea"/>
              </a:rPr>
              <a:t>相关</a:t>
            </a:r>
            <a:endParaRPr lang="en-US" altLang="zh-CN" dirty="0" smtClean="0">
              <a:latin typeface="+mn-ea"/>
            </a:endParaRPr>
          </a:p>
          <a:p>
            <a:pPr lvl="2"/>
            <a:r>
              <a:rPr lang="zh-CN" altLang="en-US" dirty="0" smtClean="0">
                <a:latin typeface="+mn-ea"/>
              </a:rPr>
              <a:t>但</a:t>
            </a:r>
            <a:r>
              <a:rPr lang="zh-CN" altLang="en-US" dirty="0">
                <a:latin typeface="+mn-ea"/>
              </a:rPr>
              <a:t>它们</a:t>
            </a:r>
            <a:r>
              <a:rPr lang="zh-CN" altLang="en-US" dirty="0" smtClean="0">
                <a:latin typeface="+mn-ea"/>
              </a:rPr>
              <a:t>具有共性</a:t>
            </a:r>
            <a:endParaRPr lang="en-US" altLang="zh-CN" dirty="0" smtClean="0">
              <a:latin typeface="+mn-ea"/>
            </a:endParaRPr>
          </a:p>
          <a:p>
            <a:pPr lvl="3"/>
            <a:r>
              <a:rPr lang="zh-CN" altLang="en-US" dirty="0" smtClean="0">
                <a:latin typeface="+mn-ea"/>
              </a:rPr>
              <a:t>优化目标的</a:t>
            </a:r>
            <a:r>
              <a:rPr lang="zh-CN" altLang="en-US" dirty="0">
                <a:latin typeface="+mn-ea"/>
              </a:rPr>
              <a:t>第一项用来描述</a:t>
            </a:r>
            <a:r>
              <a:rPr lang="zh-CN" altLang="en-US" dirty="0"/>
              <a:t>划分超平面</a:t>
            </a:r>
            <a:r>
              <a:rPr lang="zh-CN" altLang="en-US" dirty="0" smtClean="0"/>
              <a:t>的间隔大小</a:t>
            </a:r>
            <a:endParaRPr lang="en-US" altLang="zh-CN" dirty="0" smtClean="0"/>
          </a:p>
          <a:p>
            <a:pPr lvl="3"/>
            <a:r>
              <a:rPr lang="zh-CN" altLang="en-US" dirty="0" smtClean="0"/>
              <a:t>另</a:t>
            </a:r>
            <a:r>
              <a:rPr lang="zh-CN" altLang="en-US" dirty="0"/>
              <a:t>一</a:t>
            </a:r>
            <a:r>
              <a:rPr lang="zh-CN" altLang="en-US" dirty="0" smtClean="0"/>
              <a:t>项                    表述</a:t>
            </a:r>
            <a:r>
              <a:rPr lang="zh-CN" altLang="en-US" dirty="0"/>
              <a:t>训练集上的</a:t>
            </a:r>
            <a:r>
              <a:rPr lang="zh-CN" altLang="en-US" dirty="0" smtClean="0"/>
              <a:t>误差</a:t>
            </a:r>
            <a:endParaRPr lang="en-US" altLang="zh-CN" dirty="0" smtClean="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12" name="对象 11"/>
          <p:cNvGraphicFramePr>
            <a:graphicFrameLocks noChangeAspect="1"/>
          </p:cNvGraphicFramePr>
          <p:nvPr/>
        </p:nvGraphicFramePr>
        <p:xfrm>
          <a:off x="5113549" y="1415830"/>
          <a:ext cx="394555" cy="468000"/>
        </p:xfrm>
        <a:graphic>
          <a:graphicData uri="http://schemas.openxmlformats.org/presentationml/2006/ole">
            <mc:AlternateContent xmlns:mc="http://schemas.openxmlformats.org/markup-compatibility/2006">
              <mc:Choice xmlns:v="urn:schemas-microsoft-com:vml" Requires="v">
                <p:oleObj spid="_x0000_s25643" name="Equation" r:id="rId1" imgW="4876800" imgH="5791200" progId="Equation.DSMT4">
                  <p:embed/>
                </p:oleObj>
              </mc:Choice>
              <mc:Fallback>
                <p:oleObj name="Equation" r:id="rId1" imgW="4876800" imgH="5791200" progId="Equation.DSMT4">
                  <p:embed/>
                  <p:pic>
                    <p:nvPicPr>
                      <p:cNvPr id="0" name="图片 25642"/>
                      <p:cNvPicPr>
                        <a:picLocks noChangeAspect="1" noChangeArrowheads="1"/>
                      </p:cNvPicPr>
                      <p:nvPr/>
                    </p:nvPicPr>
                    <p:blipFill>
                      <a:blip r:embed="rId2"/>
                      <a:srcRect/>
                      <a:stretch>
                        <a:fillRect/>
                      </a:stretch>
                    </p:blipFill>
                    <p:spPr bwMode="auto">
                      <a:xfrm>
                        <a:off x="5113549" y="1415830"/>
                        <a:ext cx="394555" cy="468000"/>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nvGraphicFramePr>
        <p:xfrm>
          <a:off x="3171057" y="5825804"/>
          <a:ext cx="1471841" cy="432000"/>
        </p:xfrm>
        <a:graphic>
          <a:graphicData uri="http://schemas.openxmlformats.org/presentationml/2006/ole">
            <mc:AlternateContent xmlns:mc="http://schemas.openxmlformats.org/markup-compatibility/2006">
              <mc:Choice xmlns:v="urn:schemas-microsoft-com:vml" Requires="v">
                <p:oleObj spid="_x0000_s25644" name="Equation" r:id="rId3" imgW="23774400" imgH="7010400" progId="Equation.DSMT4">
                  <p:embed/>
                </p:oleObj>
              </mc:Choice>
              <mc:Fallback>
                <p:oleObj name="Equation" r:id="rId3" imgW="23774400" imgH="7010400" progId="Equation.DSMT4">
                  <p:embed/>
                  <p:pic>
                    <p:nvPicPr>
                      <p:cNvPr id="0" name="图片 25643"/>
                      <p:cNvPicPr>
                        <a:picLocks noChangeAspect="1" noChangeArrowheads="1"/>
                      </p:cNvPicPr>
                      <p:nvPr/>
                    </p:nvPicPr>
                    <p:blipFill>
                      <a:blip r:embed="rId4"/>
                      <a:srcRect/>
                      <a:stretch>
                        <a:fillRect/>
                      </a:stretch>
                    </p:blipFill>
                    <p:spPr bwMode="auto">
                      <a:xfrm>
                        <a:off x="3171057" y="5825804"/>
                        <a:ext cx="1471841"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6.4 </a:t>
            </a:r>
            <a:r>
              <a:rPr lang="zh-CN" altLang="en-US" dirty="0"/>
              <a:t>软间隔与正则化</a:t>
            </a:r>
            <a:endParaRPr lang="zh-CN" altLang="en-US" dirty="0"/>
          </a:p>
        </p:txBody>
      </p:sp>
      <p:sp>
        <p:nvSpPr>
          <p:cNvPr id="3" name="内容占位符 2"/>
          <p:cNvSpPr>
            <a:spLocks noGrp="1"/>
          </p:cNvSpPr>
          <p:nvPr>
            <p:ph idx="1"/>
          </p:nvPr>
        </p:nvSpPr>
        <p:spPr/>
        <p:txBody>
          <a:bodyPr/>
          <a:lstStyle/>
          <a:p>
            <a:r>
              <a:rPr lang="zh-CN" altLang="en-US" dirty="0"/>
              <a:t>正则</a:t>
            </a:r>
            <a:r>
              <a:rPr lang="zh-CN" altLang="en-US" dirty="0" smtClean="0"/>
              <a:t>化</a:t>
            </a:r>
            <a:endParaRPr lang="en-US" altLang="zh-CN" dirty="0" smtClean="0"/>
          </a:p>
          <a:p>
            <a:pPr lvl="1"/>
            <a:r>
              <a:rPr lang="zh-CN" altLang="en-US" dirty="0"/>
              <a:t>统计学习</a:t>
            </a:r>
            <a:r>
              <a:rPr lang="zh-CN" altLang="en-US" dirty="0" smtClean="0"/>
              <a:t>模型的</a:t>
            </a:r>
            <a:r>
              <a:rPr lang="zh-CN" altLang="en-US" dirty="0"/>
              <a:t>更一般</a:t>
            </a:r>
            <a:r>
              <a:rPr lang="zh-CN" altLang="en-US" dirty="0" smtClean="0"/>
              <a:t>形式</a:t>
            </a:r>
            <a:endParaRPr lang="en-US" altLang="zh-CN" dirty="0" smtClean="0"/>
          </a:p>
          <a:p>
            <a:pPr lvl="2"/>
            <a:r>
              <a:rPr lang="zh-CN" altLang="en-US" dirty="0" smtClean="0"/>
              <a:t>模型可写为更</a:t>
            </a:r>
            <a:r>
              <a:rPr lang="zh-CN" altLang="en-US" dirty="0"/>
              <a:t>一般的</a:t>
            </a:r>
            <a:r>
              <a:rPr lang="zh-CN" altLang="en-US" dirty="0" smtClean="0"/>
              <a:t>形式</a:t>
            </a:r>
            <a:endParaRPr lang="en-US" altLang="zh-CN" dirty="0" smtClean="0"/>
          </a:p>
          <a:p>
            <a:pPr lvl="2"/>
            <a:endParaRPr lang="en-US" altLang="zh-CN" dirty="0" smtClean="0"/>
          </a:p>
          <a:p>
            <a:pPr lvl="2"/>
            <a:endParaRPr lang="en-US" altLang="zh-CN" dirty="0"/>
          </a:p>
          <a:p>
            <a:pPr lvl="2"/>
            <a:endParaRPr lang="en-US" altLang="zh-CN" dirty="0" smtClean="0"/>
          </a:p>
          <a:p>
            <a:pPr lvl="3"/>
            <a:r>
              <a:rPr lang="zh-CN" altLang="en-US" dirty="0" smtClean="0"/>
              <a:t>结构风险：</a:t>
            </a:r>
            <a:r>
              <a:rPr lang="zh-CN" altLang="en-US" dirty="0" smtClean="0">
                <a:latin typeface="+mn-ea"/>
              </a:rPr>
              <a:t>描述模型</a:t>
            </a:r>
            <a:r>
              <a:rPr lang="en-US" altLang="zh-CN" dirty="0" smtClean="0">
                <a:latin typeface="+mn-ea"/>
              </a:rPr>
              <a:t>  </a:t>
            </a:r>
            <a:r>
              <a:rPr lang="zh-CN" altLang="en-US" dirty="0" smtClean="0">
                <a:latin typeface="+mn-ea"/>
              </a:rPr>
              <a:t>的</a:t>
            </a:r>
            <a:r>
              <a:rPr lang="zh-CN" altLang="en-US" dirty="0">
                <a:latin typeface="+mn-ea"/>
              </a:rPr>
              <a:t>某些</a:t>
            </a:r>
            <a:r>
              <a:rPr lang="zh-CN" altLang="en-US" dirty="0" smtClean="0">
                <a:latin typeface="+mn-ea"/>
              </a:rPr>
              <a:t>性质</a:t>
            </a:r>
            <a:endParaRPr lang="en-US" altLang="zh-CN" dirty="0" smtClean="0">
              <a:latin typeface="+mn-ea"/>
            </a:endParaRPr>
          </a:p>
          <a:p>
            <a:pPr lvl="4"/>
            <a:r>
              <a:rPr lang="zh-CN" altLang="en-US" dirty="0">
                <a:latin typeface="+mn-ea"/>
              </a:rPr>
              <a:t>从经验风险最小</a:t>
            </a:r>
            <a:r>
              <a:rPr lang="zh-CN" altLang="en-US" dirty="0" smtClean="0">
                <a:latin typeface="+mn-ea"/>
              </a:rPr>
              <a:t>化来看，表述了希望</a:t>
            </a:r>
            <a:r>
              <a:rPr lang="zh-CN" altLang="en-US" dirty="0">
                <a:latin typeface="+mn-ea"/>
              </a:rPr>
              <a:t>获得具有何种性质的</a:t>
            </a:r>
            <a:r>
              <a:rPr lang="zh-CN" altLang="en-US" dirty="0" smtClean="0">
                <a:latin typeface="+mn-ea"/>
              </a:rPr>
              <a:t>模型，可引入领域知识</a:t>
            </a:r>
            <a:endParaRPr lang="en-US" altLang="zh-CN" dirty="0" smtClean="0">
              <a:latin typeface="+mn-ea"/>
            </a:endParaRPr>
          </a:p>
          <a:p>
            <a:pPr lvl="4"/>
            <a:r>
              <a:rPr lang="zh-CN" altLang="en-US" dirty="0" smtClean="0">
                <a:latin typeface="+mn-ea"/>
              </a:rPr>
              <a:t>有助于</a:t>
            </a:r>
            <a:r>
              <a:rPr lang="zh-CN" altLang="en-US" dirty="0">
                <a:latin typeface="+mn-ea"/>
              </a:rPr>
              <a:t>削减假设空间，从而降低了最小化训练误差的过拟合</a:t>
            </a:r>
            <a:r>
              <a:rPr lang="zh-CN" altLang="en-US" dirty="0" smtClean="0">
                <a:latin typeface="+mn-ea"/>
              </a:rPr>
              <a:t>风险</a:t>
            </a:r>
            <a:endParaRPr lang="en-US" altLang="zh-CN" dirty="0" smtClean="0">
              <a:latin typeface="+mn-ea"/>
            </a:endParaRPr>
          </a:p>
          <a:p>
            <a:pPr lvl="4"/>
            <a:r>
              <a:rPr lang="zh-CN" altLang="en-US" dirty="0" smtClean="0">
                <a:latin typeface="+mn-ea"/>
              </a:rPr>
              <a:t>从正则化问题角度，称为</a:t>
            </a:r>
            <a:r>
              <a:rPr lang="zh-CN" altLang="en-US" dirty="0">
                <a:latin typeface="+mn-ea"/>
              </a:rPr>
              <a:t>正则化项</a:t>
            </a:r>
            <a:r>
              <a:rPr lang="zh-CN" altLang="en-US" dirty="0" smtClean="0">
                <a:latin typeface="+mn-ea"/>
              </a:rPr>
              <a:t>，范数</a:t>
            </a:r>
            <a:r>
              <a:rPr lang="en-US" altLang="zh-CN" dirty="0" err="1" smtClean="0">
                <a:latin typeface="+mn-ea"/>
              </a:rPr>
              <a:t>L</a:t>
            </a:r>
            <a:r>
              <a:rPr lang="en-US" altLang="zh-CN" baseline="-25000" dirty="0" err="1" smtClean="0">
                <a:latin typeface="+mn-ea"/>
              </a:rPr>
              <a:t>p</a:t>
            </a:r>
            <a:r>
              <a:rPr lang="zh-CN" altLang="en-US" dirty="0" smtClean="0">
                <a:latin typeface="+mn-ea"/>
              </a:rPr>
              <a:t>是常用的正则化项</a:t>
            </a:r>
            <a:endParaRPr lang="en-US" altLang="zh-CN" dirty="0" smtClean="0">
              <a:latin typeface="+mn-ea"/>
            </a:endParaRPr>
          </a:p>
          <a:p>
            <a:pPr lvl="4"/>
            <a:r>
              <a:rPr lang="zh-CN" altLang="en-US" dirty="0">
                <a:latin typeface="+mn-ea"/>
              </a:rPr>
              <a:t>从</a:t>
            </a:r>
            <a:r>
              <a:rPr lang="zh-CN" altLang="en-US" dirty="0" smtClean="0">
                <a:latin typeface="+mn-ea"/>
              </a:rPr>
              <a:t>贝叶斯估计角度，可</a:t>
            </a:r>
            <a:r>
              <a:rPr lang="zh-CN" altLang="en-US" dirty="0">
                <a:latin typeface="+mn-ea"/>
              </a:rPr>
              <a:t>认为</a:t>
            </a:r>
            <a:r>
              <a:rPr lang="zh-CN" altLang="en-US" dirty="0" smtClean="0">
                <a:latin typeface="+mn-ea"/>
              </a:rPr>
              <a:t>是模型</a:t>
            </a:r>
            <a:r>
              <a:rPr lang="zh-CN" altLang="en-US" dirty="0">
                <a:latin typeface="+mn-ea"/>
              </a:rPr>
              <a:t>的</a:t>
            </a:r>
            <a:r>
              <a:rPr lang="zh-CN" altLang="en-US" dirty="0" smtClean="0">
                <a:latin typeface="+mn-ea"/>
              </a:rPr>
              <a:t>先验概率</a:t>
            </a:r>
            <a:endParaRPr lang="en-US" altLang="zh-CN" dirty="0">
              <a:latin typeface="+mn-ea"/>
            </a:endParaRPr>
          </a:p>
          <a:p>
            <a:pPr lvl="3"/>
            <a:r>
              <a:rPr lang="zh-CN" altLang="en-US" dirty="0" smtClean="0"/>
              <a:t>经验风险：描述</a:t>
            </a:r>
            <a:r>
              <a:rPr lang="zh-CN" altLang="en-US" dirty="0"/>
              <a:t>模型与训练数据的契合</a:t>
            </a:r>
            <a:r>
              <a:rPr lang="zh-CN" altLang="en-US" dirty="0" smtClean="0"/>
              <a:t>程度</a:t>
            </a:r>
            <a:endParaRPr lang="en-US" altLang="zh-CN" dirty="0" smtClean="0"/>
          </a:p>
          <a:p>
            <a:pPr lvl="3"/>
            <a:r>
              <a:rPr lang="en-US" altLang="zh-CN" dirty="0" smtClean="0">
                <a:latin typeface="+mn-ea"/>
              </a:rPr>
              <a:t>C</a:t>
            </a:r>
            <a:r>
              <a:rPr lang="zh-CN" altLang="en-US" dirty="0">
                <a:latin typeface="+mn-ea"/>
              </a:rPr>
              <a:t>用于对二者进行</a:t>
            </a:r>
            <a:r>
              <a:rPr lang="zh-CN" altLang="en-US" dirty="0" smtClean="0">
                <a:latin typeface="+mn-ea"/>
              </a:rPr>
              <a:t>折中，也称为</a:t>
            </a:r>
            <a:r>
              <a:rPr lang="zh-CN" altLang="en-US" dirty="0">
                <a:latin typeface="+mn-ea"/>
              </a:rPr>
              <a:t>正则化常数</a:t>
            </a:r>
            <a:endParaRPr lang="en-US" altLang="zh-CN" dirty="0" smtClean="0"/>
          </a:p>
          <a:p>
            <a:pPr lvl="3"/>
            <a:endParaRPr lang="en-US" altLang="zh-CN" dirty="0" smtClean="0"/>
          </a:p>
          <a:p>
            <a:pPr lvl="3"/>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339752" y="2200027"/>
          <a:ext cx="4360863" cy="796925"/>
        </p:xfrm>
        <a:graphic>
          <a:graphicData uri="http://schemas.openxmlformats.org/presentationml/2006/ole">
            <mc:AlternateContent xmlns:mc="http://schemas.openxmlformats.org/markup-compatibility/2006">
              <mc:Choice xmlns:v="urn:schemas-microsoft-com:vml" Requires="v">
                <p:oleObj spid="_x0000_s16461" name="Equation" r:id="rId1" imgW="48158400" imgH="8839200" progId="Equation.DSMT4">
                  <p:embed/>
                </p:oleObj>
              </mc:Choice>
              <mc:Fallback>
                <p:oleObj name="Equation" r:id="rId1" imgW="48158400" imgH="8839200" progId="Equation.DSMT4">
                  <p:embed/>
                  <p:pic>
                    <p:nvPicPr>
                      <p:cNvPr id="0" name="对象 7"/>
                      <p:cNvPicPr>
                        <a:picLocks noChangeAspect="1" noChangeArrowheads="1"/>
                      </p:cNvPicPr>
                      <p:nvPr/>
                    </p:nvPicPr>
                    <p:blipFill>
                      <a:blip r:embed="rId2"/>
                      <a:srcRect/>
                      <a:stretch>
                        <a:fillRect/>
                      </a:stretch>
                    </p:blipFill>
                    <p:spPr bwMode="auto">
                      <a:xfrm>
                        <a:off x="2339752" y="2200027"/>
                        <a:ext cx="4360863"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p:cNvGrpSpPr/>
          <p:nvPr/>
        </p:nvGrpSpPr>
        <p:grpSpPr>
          <a:xfrm>
            <a:off x="3275855" y="2492896"/>
            <a:ext cx="1080121" cy="648072"/>
            <a:chOff x="3275855" y="4077072"/>
            <a:chExt cx="1080121" cy="648072"/>
          </a:xfrm>
        </p:grpSpPr>
        <p:sp>
          <p:nvSpPr>
            <p:cNvPr id="6" name="线形标注 1(带强调线) 5"/>
            <p:cNvSpPr/>
            <p:nvPr/>
          </p:nvSpPr>
          <p:spPr bwMode="auto">
            <a:xfrm rot="16200000">
              <a:off x="3707916" y="3843072"/>
              <a:ext cx="216000" cy="684000"/>
            </a:xfrm>
            <a:prstGeom prst="accentCallout1">
              <a:avLst>
                <a:gd name="adj1" fmla="val 49894"/>
                <a:gd name="adj2" fmla="val -4821"/>
                <a:gd name="adj3" fmla="val 50023"/>
                <a:gd name="adj4" fmla="val -81725"/>
              </a:avLst>
            </a:prstGeom>
            <a:noFill/>
            <a:ln w="15875" cap="flat" cmpd="sng" algn="ctr">
              <a:solidFill>
                <a:srgbClr val="FF0000"/>
              </a:solidFill>
              <a:prstDash val="solid"/>
              <a:round/>
              <a:headEnd type="none" w="med" len="med"/>
              <a:tailEnd type="triangle" w="sm" len="med"/>
            </a:ln>
            <a:effectLst/>
          </p:spPr>
          <p:txBody>
            <a:bodyPr vert="horz" wrap="none" lIns="91440" tIns="45720" rIns="91440" bIns="45720" numCol="1" rtlCol="0" anchor="t" anchorCtr="0" compatLnSpc="1"/>
            <a:lstStyle/>
            <a:p>
              <a:pPr marL="0" marR="0" indent="0" algn="just"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7" name="TextBox 6"/>
            <p:cNvSpPr txBox="1"/>
            <p:nvPr/>
          </p:nvSpPr>
          <p:spPr>
            <a:xfrm>
              <a:off x="3275855" y="4386590"/>
              <a:ext cx="1080121" cy="338554"/>
            </a:xfrm>
            <a:prstGeom prst="rect">
              <a:avLst/>
            </a:prstGeom>
            <a:noFill/>
          </p:spPr>
          <p:txBody>
            <a:bodyPr wrap="square" rtlCol="0">
              <a:spAutoFit/>
            </a:bodyPr>
            <a:lstStyle/>
            <a:p>
              <a:pPr algn="ctr">
                <a:lnSpc>
                  <a:spcPct val="100000"/>
                </a:lnSpc>
                <a:spcBef>
                  <a:spcPts val="0"/>
                </a:spcBef>
              </a:pPr>
              <a:r>
                <a:rPr lang="zh-CN" altLang="en-US" sz="1600" b="0" dirty="0" smtClean="0">
                  <a:solidFill>
                    <a:srgbClr val="FF0000"/>
                  </a:solidFill>
                </a:rPr>
                <a:t>结构风险</a:t>
              </a:r>
              <a:endParaRPr lang="zh-CN" altLang="en-US" sz="1600" b="0" dirty="0">
                <a:solidFill>
                  <a:srgbClr val="FF0000"/>
                </a:solidFill>
              </a:endParaRPr>
            </a:p>
          </p:txBody>
        </p:sp>
      </p:grpSp>
      <p:grpSp>
        <p:nvGrpSpPr>
          <p:cNvPr id="9" name="组合 8"/>
          <p:cNvGrpSpPr/>
          <p:nvPr/>
        </p:nvGrpSpPr>
        <p:grpSpPr>
          <a:xfrm>
            <a:off x="4860032" y="2492896"/>
            <a:ext cx="2160000" cy="648072"/>
            <a:chOff x="3275855" y="4077072"/>
            <a:chExt cx="1080121" cy="648072"/>
          </a:xfrm>
        </p:grpSpPr>
        <p:sp>
          <p:nvSpPr>
            <p:cNvPr id="10" name="线形标注 1(带强调线) 9"/>
            <p:cNvSpPr/>
            <p:nvPr/>
          </p:nvSpPr>
          <p:spPr bwMode="auto">
            <a:xfrm rot="16200000">
              <a:off x="3707916" y="3843072"/>
              <a:ext cx="216000" cy="684000"/>
            </a:xfrm>
            <a:prstGeom prst="accentCallout1">
              <a:avLst>
                <a:gd name="adj1" fmla="val 49894"/>
                <a:gd name="adj2" fmla="val -4821"/>
                <a:gd name="adj3" fmla="val 50023"/>
                <a:gd name="adj4" fmla="val -81725"/>
              </a:avLst>
            </a:prstGeom>
            <a:noFill/>
            <a:ln w="15875" cap="flat" cmpd="sng" algn="ctr">
              <a:solidFill>
                <a:srgbClr val="0000FF"/>
              </a:solidFill>
              <a:prstDash val="solid"/>
              <a:round/>
              <a:headEnd type="none" w="med" len="med"/>
              <a:tailEnd type="triangle" w="sm" len="med"/>
            </a:ln>
            <a:effectLst/>
          </p:spPr>
          <p:txBody>
            <a:bodyPr vert="horz" wrap="none" lIns="91440" tIns="45720" rIns="91440" bIns="45720" numCol="1" rtlCol="0" anchor="t" anchorCtr="0" compatLnSpc="1"/>
            <a:lstStyle/>
            <a:p>
              <a:pPr marL="0" marR="0" indent="0" algn="just"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1" name="TextBox 10"/>
            <p:cNvSpPr txBox="1"/>
            <p:nvPr/>
          </p:nvSpPr>
          <p:spPr>
            <a:xfrm>
              <a:off x="3275855" y="4386590"/>
              <a:ext cx="1080121" cy="338554"/>
            </a:xfrm>
            <a:prstGeom prst="rect">
              <a:avLst/>
            </a:prstGeom>
            <a:noFill/>
          </p:spPr>
          <p:txBody>
            <a:bodyPr wrap="square" rtlCol="0">
              <a:spAutoFit/>
            </a:bodyPr>
            <a:lstStyle/>
            <a:p>
              <a:pPr algn="ctr">
                <a:lnSpc>
                  <a:spcPct val="100000"/>
                </a:lnSpc>
                <a:spcBef>
                  <a:spcPts val="0"/>
                </a:spcBef>
              </a:pPr>
              <a:r>
                <a:rPr lang="zh-CN" altLang="en-US" sz="1600" b="0" dirty="0">
                  <a:solidFill>
                    <a:srgbClr val="0000FF"/>
                  </a:solidFill>
                </a:rPr>
                <a:t>经验</a:t>
              </a:r>
              <a:r>
                <a:rPr lang="zh-CN" altLang="en-US" sz="1600" b="0" dirty="0" smtClean="0">
                  <a:solidFill>
                    <a:srgbClr val="0000FF"/>
                  </a:solidFill>
                </a:rPr>
                <a:t>风险</a:t>
              </a:r>
              <a:endParaRPr lang="zh-CN" altLang="en-US" sz="1600" b="0" dirty="0">
                <a:solidFill>
                  <a:srgbClr val="0000FF"/>
                </a:solidFill>
              </a:endParaRPr>
            </a:p>
          </p:txBody>
        </p:sp>
      </p:grpSp>
      <p:graphicFrame>
        <p:nvGraphicFramePr>
          <p:cNvPr id="12" name="对象 11"/>
          <p:cNvGraphicFramePr>
            <a:graphicFrameLocks noChangeAspect="1"/>
          </p:cNvGraphicFramePr>
          <p:nvPr/>
        </p:nvGraphicFramePr>
        <p:xfrm>
          <a:off x="4715780" y="3284984"/>
          <a:ext cx="216260" cy="288000"/>
        </p:xfrm>
        <a:graphic>
          <a:graphicData uri="http://schemas.openxmlformats.org/presentationml/2006/ole">
            <mc:AlternateContent xmlns:mc="http://schemas.openxmlformats.org/markup-compatibility/2006">
              <mc:Choice xmlns:v="urn:schemas-microsoft-com:vml" Requires="v">
                <p:oleObj spid="_x0000_s16462" name="Equation" r:id="rId3" imgW="3657600" imgH="4876800" progId="Equation.DSMT4">
                  <p:embed/>
                </p:oleObj>
              </mc:Choice>
              <mc:Fallback>
                <p:oleObj name="Equation" r:id="rId3" imgW="3657600" imgH="4876800" progId="Equation.DSMT4">
                  <p:embed/>
                  <p:pic>
                    <p:nvPicPr>
                      <p:cNvPr id="0" name="图片 16461"/>
                      <p:cNvPicPr>
                        <a:picLocks noChangeAspect="1" noChangeArrowheads="1"/>
                      </p:cNvPicPr>
                      <p:nvPr/>
                    </p:nvPicPr>
                    <p:blipFill>
                      <a:blip r:embed="rId4"/>
                      <a:srcRect/>
                      <a:stretch>
                        <a:fillRect/>
                      </a:stretch>
                    </p:blipFill>
                    <p:spPr bwMode="auto">
                      <a:xfrm>
                        <a:off x="4715780" y="3284984"/>
                        <a:ext cx="21626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6.5 </a:t>
            </a:r>
            <a:r>
              <a:rPr lang="zh-CN" altLang="en-US" dirty="0" smtClean="0"/>
              <a:t>支持</a:t>
            </a:r>
            <a:r>
              <a:rPr lang="zh-CN" altLang="en-US" dirty="0"/>
              <a:t>向量回归</a:t>
            </a:r>
            <a:endParaRPr lang="zh-CN" altLang="en-US" dirty="0"/>
          </a:p>
        </p:txBody>
      </p:sp>
      <p:sp>
        <p:nvSpPr>
          <p:cNvPr id="3" name="内容占位符 2"/>
          <p:cNvSpPr>
            <a:spLocks noGrp="1"/>
          </p:cNvSpPr>
          <p:nvPr>
            <p:ph idx="1"/>
          </p:nvPr>
        </p:nvSpPr>
        <p:spPr/>
        <p:txBody>
          <a:bodyPr/>
          <a:lstStyle/>
          <a:p>
            <a:r>
              <a:rPr lang="zh-CN" altLang="en-US" dirty="0"/>
              <a:t>回归</a:t>
            </a:r>
            <a:r>
              <a:rPr lang="zh-CN" altLang="en-US" dirty="0" smtClean="0"/>
              <a:t>问题</a:t>
            </a:r>
            <a:endParaRPr lang="en-US" altLang="zh-CN" dirty="0" smtClean="0"/>
          </a:p>
          <a:p>
            <a:pPr lvl="1"/>
            <a:r>
              <a:rPr lang="zh-CN" altLang="en-US" dirty="0" smtClean="0"/>
              <a:t>给定训练样本                                  ，学得回归模型              ，使      和  尽可能接近</a:t>
            </a:r>
            <a:endParaRPr lang="en-US" altLang="zh-CN" dirty="0" smtClean="0"/>
          </a:p>
          <a:p>
            <a:pPr lvl="2"/>
            <a:r>
              <a:rPr lang="zh-CN" altLang="en-US" dirty="0"/>
              <a:t>传统回归</a:t>
            </a:r>
            <a:r>
              <a:rPr lang="zh-CN" altLang="en-US" dirty="0" smtClean="0"/>
              <a:t>模型直接</a:t>
            </a:r>
            <a:r>
              <a:rPr lang="zh-CN" altLang="en-US" dirty="0"/>
              <a:t>基于模型</a:t>
            </a:r>
            <a:r>
              <a:rPr lang="zh-CN" altLang="en-US" dirty="0" smtClean="0"/>
              <a:t>输出与</a:t>
            </a:r>
            <a:r>
              <a:rPr lang="zh-CN" altLang="en-US" dirty="0"/>
              <a:t>真实</a:t>
            </a:r>
            <a:r>
              <a:rPr lang="zh-CN" altLang="en-US" dirty="0" smtClean="0"/>
              <a:t>输出之间</a:t>
            </a:r>
            <a:r>
              <a:rPr lang="zh-CN" altLang="en-US" dirty="0"/>
              <a:t>的差别来计算</a:t>
            </a:r>
            <a:r>
              <a:rPr lang="zh-CN" altLang="en-US" dirty="0" smtClean="0"/>
              <a:t>损失</a:t>
            </a:r>
            <a:endParaRPr lang="en-US" altLang="zh-CN" dirty="0" smtClean="0"/>
          </a:p>
          <a:p>
            <a:r>
              <a:rPr lang="zh-CN" altLang="en-US" dirty="0">
                <a:latin typeface="+mn-ea"/>
              </a:rPr>
              <a:t>基本</a:t>
            </a:r>
            <a:r>
              <a:rPr lang="zh-CN" altLang="en-US" dirty="0" smtClean="0">
                <a:latin typeface="+mn-ea"/>
              </a:rPr>
              <a:t>思路</a:t>
            </a:r>
            <a:endParaRPr lang="en-US" altLang="zh-CN" dirty="0" smtClean="0">
              <a:latin typeface="+mn-ea"/>
            </a:endParaRPr>
          </a:p>
          <a:p>
            <a:pPr lvl="1"/>
            <a:r>
              <a:rPr lang="zh-CN" altLang="en-US" dirty="0" smtClean="0">
                <a:latin typeface="+mn-ea"/>
              </a:rPr>
              <a:t>允许</a:t>
            </a:r>
            <a:r>
              <a:rPr lang="zh-CN" altLang="en-US" dirty="0">
                <a:latin typeface="+mn-ea"/>
              </a:rPr>
              <a:t>模型输出与实际输出间</a:t>
            </a:r>
            <a:r>
              <a:rPr lang="zh-CN" altLang="en-US" dirty="0" smtClean="0">
                <a:latin typeface="+mn-ea"/>
              </a:rPr>
              <a:t>存在</a:t>
            </a:r>
            <a:r>
              <a:rPr lang="en-US" altLang="zh-CN" dirty="0" smtClean="0">
                <a:latin typeface="+mn-ea"/>
              </a:rPr>
              <a:t> </a:t>
            </a:r>
            <a:r>
              <a:rPr lang="zh-CN" altLang="en-US" dirty="0" smtClean="0">
                <a:latin typeface="+mn-ea"/>
              </a:rPr>
              <a:t>的差别</a:t>
            </a:r>
            <a:endParaRPr lang="en-US" altLang="zh-CN" dirty="0" smtClean="0">
              <a:latin typeface="+mn-ea"/>
            </a:endParaRPr>
          </a:p>
          <a:p>
            <a:pPr lvl="2"/>
            <a:r>
              <a:rPr lang="zh-CN" altLang="en-US" dirty="0" smtClean="0">
                <a:latin typeface="+mn-ea"/>
              </a:rPr>
              <a:t>当    与</a:t>
            </a:r>
            <a:r>
              <a:rPr lang="en-US" altLang="zh-CN" dirty="0" smtClean="0">
                <a:latin typeface="+mn-ea"/>
              </a:rPr>
              <a:t>  </a:t>
            </a:r>
            <a:r>
              <a:rPr lang="zh-CN" altLang="en-US" dirty="0" smtClean="0">
                <a:latin typeface="+mn-ea"/>
              </a:rPr>
              <a:t>的</a:t>
            </a:r>
            <a:r>
              <a:rPr lang="zh-CN" altLang="en-US" dirty="0">
                <a:latin typeface="+mn-ea"/>
              </a:rPr>
              <a:t>差别绝对值</a:t>
            </a:r>
            <a:r>
              <a:rPr lang="zh-CN" altLang="en-US" dirty="0" smtClean="0">
                <a:latin typeface="+mn-ea"/>
              </a:rPr>
              <a:t>大于  时</a:t>
            </a:r>
            <a:r>
              <a:rPr lang="zh-CN" altLang="en-US" dirty="0">
                <a:latin typeface="+mn-ea"/>
              </a:rPr>
              <a:t>才计算</a:t>
            </a:r>
            <a:r>
              <a:rPr lang="zh-CN" altLang="en-US" dirty="0" smtClean="0">
                <a:latin typeface="+mn-ea"/>
              </a:rPr>
              <a:t>损失</a:t>
            </a:r>
            <a:endParaRPr lang="en-US" altLang="zh-CN" dirty="0" smtClean="0">
              <a:latin typeface="+mn-ea"/>
            </a:endParaRPr>
          </a:p>
          <a:p>
            <a:pPr lvl="2"/>
            <a:r>
              <a:rPr lang="zh-CN" altLang="en-US" dirty="0">
                <a:latin typeface="+mn-ea"/>
              </a:rPr>
              <a:t>差别</a:t>
            </a:r>
            <a:r>
              <a:rPr lang="zh-CN" altLang="en-US" dirty="0" smtClean="0">
                <a:latin typeface="+mn-ea"/>
              </a:rPr>
              <a:t>绝对值小于  认为</a:t>
            </a:r>
            <a:r>
              <a:rPr lang="zh-CN" altLang="en-US" dirty="0">
                <a:latin typeface="+mn-ea"/>
              </a:rPr>
              <a:t>是被预测正确的</a:t>
            </a:r>
            <a:endParaRPr lang="zh-CN" altLang="en-US" dirty="0">
              <a:latin typeface="+mn-ea"/>
            </a:endParaRPr>
          </a:p>
          <a:p>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635896" y="1376363"/>
          <a:ext cx="3743325" cy="468312"/>
        </p:xfrm>
        <a:graphic>
          <a:graphicData uri="http://schemas.openxmlformats.org/presentationml/2006/ole">
            <mc:AlternateContent xmlns:mc="http://schemas.openxmlformats.org/markup-compatibility/2006">
              <mc:Choice xmlns:v="urn:schemas-microsoft-com:vml" Requires="v">
                <p:oleObj spid="_x0000_s17816" name="Equation" r:id="rId1" imgW="43891200" imgH="5486400" progId="Equation.DSMT4">
                  <p:embed/>
                </p:oleObj>
              </mc:Choice>
              <mc:Fallback>
                <p:oleObj name="Equation" r:id="rId1" imgW="43891200" imgH="5486400" progId="Equation.DSMT4">
                  <p:embed/>
                  <p:pic>
                    <p:nvPicPr>
                      <p:cNvPr id="0" name="对象 5"/>
                      <p:cNvPicPr>
                        <a:picLocks noChangeAspect="1" noChangeArrowheads="1"/>
                      </p:cNvPicPr>
                      <p:nvPr/>
                    </p:nvPicPr>
                    <p:blipFill>
                      <a:blip r:embed="rId2"/>
                      <a:srcRect/>
                      <a:stretch>
                        <a:fillRect/>
                      </a:stretch>
                    </p:blipFill>
                    <p:spPr bwMode="auto">
                      <a:xfrm>
                        <a:off x="3635896" y="1376363"/>
                        <a:ext cx="37433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2915816" y="1844824"/>
          <a:ext cx="1627188" cy="406400"/>
        </p:xfrm>
        <a:graphic>
          <a:graphicData uri="http://schemas.openxmlformats.org/presentationml/2006/ole">
            <mc:AlternateContent xmlns:mc="http://schemas.openxmlformats.org/markup-compatibility/2006">
              <mc:Choice xmlns:v="urn:schemas-microsoft-com:vml" Requires="v">
                <p:oleObj spid="_x0000_s17817" name="Equation" r:id="rId3" imgW="19507200" imgH="4876800" progId="Equation.DSMT4">
                  <p:embed/>
                </p:oleObj>
              </mc:Choice>
              <mc:Fallback>
                <p:oleObj name="Equation" r:id="rId3" imgW="19507200" imgH="4876800" progId="Equation.DSMT4">
                  <p:embed/>
                  <p:pic>
                    <p:nvPicPr>
                      <p:cNvPr id="0" name="对象 6"/>
                      <p:cNvPicPr>
                        <a:picLocks noChangeAspect="1" noChangeArrowheads="1"/>
                      </p:cNvPicPr>
                      <p:nvPr/>
                    </p:nvPicPr>
                    <p:blipFill>
                      <a:blip r:embed="rId4"/>
                      <a:srcRect/>
                      <a:stretch>
                        <a:fillRect/>
                      </a:stretch>
                    </p:blipFill>
                    <p:spPr bwMode="auto">
                      <a:xfrm>
                        <a:off x="2915816" y="1844824"/>
                        <a:ext cx="162718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076056" y="1844824"/>
          <a:ext cx="711200" cy="406400"/>
        </p:xfrm>
        <a:graphic>
          <a:graphicData uri="http://schemas.openxmlformats.org/presentationml/2006/ole">
            <mc:AlternateContent xmlns:mc="http://schemas.openxmlformats.org/markup-compatibility/2006">
              <mc:Choice xmlns:v="urn:schemas-microsoft-com:vml" Requires="v">
                <p:oleObj spid="_x0000_s17818" name="Equation" r:id="rId5" imgW="8534400" imgH="4876800" progId="Equation.DSMT4">
                  <p:embed/>
                </p:oleObj>
              </mc:Choice>
              <mc:Fallback>
                <p:oleObj name="Equation" r:id="rId5" imgW="8534400" imgH="4876800" progId="Equation.DSMT4">
                  <p:embed/>
                  <p:pic>
                    <p:nvPicPr>
                      <p:cNvPr id="0" name="对象 5"/>
                      <p:cNvPicPr>
                        <a:picLocks noChangeAspect="1" noChangeArrowheads="1"/>
                      </p:cNvPicPr>
                      <p:nvPr/>
                    </p:nvPicPr>
                    <p:blipFill>
                      <a:blip r:embed="rId6"/>
                      <a:srcRect/>
                      <a:stretch>
                        <a:fillRect/>
                      </a:stretch>
                    </p:blipFill>
                    <p:spPr bwMode="auto">
                      <a:xfrm>
                        <a:off x="5076056" y="1844824"/>
                        <a:ext cx="7112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6084168" y="1916832"/>
          <a:ext cx="279400" cy="330200"/>
        </p:xfrm>
        <a:graphic>
          <a:graphicData uri="http://schemas.openxmlformats.org/presentationml/2006/ole">
            <mc:AlternateContent xmlns:mc="http://schemas.openxmlformats.org/markup-compatibility/2006">
              <mc:Choice xmlns:v="urn:schemas-microsoft-com:vml" Requires="v">
                <p:oleObj spid="_x0000_s17819" name="Equation" r:id="rId7" imgW="3352800" imgH="3962400" progId="Equation.DSMT4">
                  <p:embed/>
                </p:oleObj>
              </mc:Choice>
              <mc:Fallback>
                <p:oleObj name="Equation" r:id="rId7" imgW="3352800" imgH="3962400" progId="Equation.DSMT4">
                  <p:embed/>
                  <p:pic>
                    <p:nvPicPr>
                      <p:cNvPr id="0" name="对象 6"/>
                      <p:cNvPicPr>
                        <a:picLocks noChangeAspect="1" noChangeArrowheads="1"/>
                      </p:cNvPicPr>
                      <p:nvPr/>
                    </p:nvPicPr>
                    <p:blipFill>
                      <a:blip r:embed="rId8"/>
                      <a:srcRect/>
                      <a:stretch>
                        <a:fillRect/>
                      </a:stretch>
                    </p:blipFill>
                    <p:spPr bwMode="auto">
                      <a:xfrm>
                        <a:off x="6084168" y="1916832"/>
                        <a:ext cx="279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6516216" y="3581648"/>
          <a:ext cx="254000" cy="279400"/>
        </p:xfrm>
        <a:graphic>
          <a:graphicData uri="http://schemas.openxmlformats.org/presentationml/2006/ole">
            <mc:AlternateContent xmlns:mc="http://schemas.openxmlformats.org/markup-compatibility/2006">
              <mc:Choice xmlns:v="urn:schemas-microsoft-com:vml" Requires="v">
                <p:oleObj spid="_x0000_s17820" name="Equation" r:id="rId9" imgW="3048000" imgH="3352800" progId="Equation.DSMT4">
                  <p:embed/>
                </p:oleObj>
              </mc:Choice>
              <mc:Fallback>
                <p:oleObj name="Equation" r:id="rId9" imgW="3048000" imgH="3352800" progId="Equation.DSMT4">
                  <p:embed/>
                  <p:pic>
                    <p:nvPicPr>
                      <p:cNvPr id="0" name="对象 6"/>
                      <p:cNvPicPr>
                        <a:picLocks noChangeAspect="1" noChangeArrowheads="1"/>
                      </p:cNvPicPr>
                      <p:nvPr/>
                    </p:nvPicPr>
                    <p:blipFill>
                      <a:blip r:embed="rId10"/>
                      <a:srcRect/>
                      <a:stretch>
                        <a:fillRect/>
                      </a:stretch>
                    </p:blipFill>
                    <p:spPr bwMode="auto">
                      <a:xfrm>
                        <a:off x="6516216" y="3581648"/>
                        <a:ext cx="2540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2195736" y="3886696"/>
          <a:ext cx="685800" cy="406400"/>
        </p:xfrm>
        <a:graphic>
          <a:graphicData uri="http://schemas.openxmlformats.org/presentationml/2006/ole">
            <mc:AlternateContent xmlns:mc="http://schemas.openxmlformats.org/markup-compatibility/2006">
              <mc:Choice xmlns:v="urn:schemas-microsoft-com:vml" Requires="v">
                <p:oleObj spid="_x0000_s17821" name="Equation" r:id="rId11" imgW="8229600" imgH="4876800" progId="Equation.DSMT4">
                  <p:embed/>
                </p:oleObj>
              </mc:Choice>
              <mc:Fallback>
                <p:oleObj name="Equation" r:id="rId11" imgW="8229600" imgH="4876800" progId="Equation.DSMT4">
                  <p:embed/>
                  <p:pic>
                    <p:nvPicPr>
                      <p:cNvPr id="0" name="对象 8"/>
                      <p:cNvPicPr>
                        <a:picLocks noChangeAspect="1" noChangeArrowheads="1"/>
                      </p:cNvPicPr>
                      <p:nvPr/>
                    </p:nvPicPr>
                    <p:blipFill>
                      <a:blip r:embed="rId12"/>
                      <a:srcRect/>
                      <a:stretch>
                        <a:fillRect/>
                      </a:stretch>
                    </p:blipFill>
                    <p:spPr bwMode="auto">
                      <a:xfrm>
                        <a:off x="2195736" y="3886696"/>
                        <a:ext cx="6858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3131840" y="3962896"/>
          <a:ext cx="279400" cy="330200"/>
        </p:xfrm>
        <a:graphic>
          <a:graphicData uri="http://schemas.openxmlformats.org/presentationml/2006/ole">
            <mc:AlternateContent xmlns:mc="http://schemas.openxmlformats.org/markup-compatibility/2006">
              <mc:Choice xmlns:v="urn:schemas-microsoft-com:vml" Requires="v">
                <p:oleObj spid="_x0000_s17822" name="Equation" r:id="rId13" imgW="3352800" imgH="3962400" progId="Equation.DSMT4">
                  <p:embed/>
                </p:oleObj>
              </mc:Choice>
              <mc:Fallback>
                <p:oleObj name="Equation" r:id="rId13" imgW="3352800" imgH="3962400" progId="Equation.DSMT4">
                  <p:embed/>
                  <p:pic>
                    <p:nvPicPr>
                      <p:cNvPr id="0" name="对象 9"/>
                      <p:cNvPicPr>
                        <a:picLocks noChangeAspect="1" noChangeArrowheads="1"/>
                      </p:cNvPicPr>
                      <p:nvPr/>
                    </p:nvPicPr>
                    <p:blipFill>
                      <a:blip r:embed="rId14"/>
                      <a:srcRect/>
                      <a:stretch>
                        <a:fillRect/>
                      </a:stretch>
                    </p:blipFill>
                    <p:spPr bwMode="auto">
                      <a:xfrm>
                        <a:off x="3131840" y="3962896"/>
                        <a:ext cx="2794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5940152" y="3973533"/>
          <a:ext cx="254000" cy="279400"/>
        </p:xfrm>
        <a:graphic>
          <a:graphicData uri="http://schemas.openxmlformats.org/presentationml/2006/ole">
            <mc:AlternateContent xmlns:mc="http://schemas.openxmlformats.org/markup-compatibility/2006">
              <mc:Choice xmlns:v="urn:schemas-microsoft-com:vml" Requires="v">
                <p:oleObj spid="_x0000_s17823" name="Equation" r:id="rId15" imgW="3048000" imgH="3352800" progId="Equation.DSMT4">
                  <p:embed/>
                </p:oleObj>
              </mc:Choice>
              <mc:Fallback>
                <p:oleObj name="Equation" r:id="rId15" imgW="3048000" imgH="3352800" progId="Equation.DSMT4">
                  <p:embed/>
                  <p:pic>
                    <p:nvPicPr>
                      <p:cNvPr id="0" name="对象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0152" y="3973533"/>
                        <a:ext cx="2540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4106370" y="4340393"/>
          <a:ext cx="254000" cy="279400"/>
        </p:xfrm>
        <a:graphic>
          <a:graphicData uri="http://schemas.openxmlformats.org/presentationml/2006/ole">
            <mc:AlternateContent xmlns:mc="http://schemas.openxmlformats.org/markup-compatibility/2006">
              <mc:Choice xmlns:v="urn:schemas-microsoft-com:vml" Requires="v">
                <p:oleObj spid="_x0000_s17824" name="Equation" r:id="rId16" imgW="3048000" imgH="3352800" progId="Equation.DSMT4">
                  <p:embed/>
                </p:oleObj>
              </mc:Choice>
              <mc:Fallback>
                <p:oleObj name="Equation" r:id="rId16" imgW="3048000" imgH="3352800" progId="Equation.DSMT4">
                  <p:embed/>
                  <p:pic>
                    <p:nvPicPr>
                      <p:cNvPr id="0"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06370" y="4340393"/>
                        <a:ext cx="2540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 </a:t>
            </a:r>
            <a:r>
              <a:rPr lang="zh-CN" altLang="en-US" dirty="0"/>
              <a:t>支持向量回归</a:t>
            </a:r>
            <a:endParaRPr lang="zh-CN" altLang="en-US" dirty="0"/>
          </a:p>
        </p:txBody>
      </p:sp>
      <p:sp>
        <p:nvSpPr>
          <p:cNvPr id="3" name="内容占位符 2"/>
          <p:cNvSpPr>
            <a:spLocks noGrp="1"/>
          </p:cNvSpPr>
          <p:nvPr>
            <p:ph idx="1"/>
          </p:nvPr>
        </p:nvSpPr>
        <p:spPr/>
        <p:txBody>
          <a:bodyPr/>
          <a:lstStyle/>
          <a:p>
            <a:r>
              <a:rPr lang="zh-CN" altLang="en-US" dirty="0">
                <a:latin typeface="+mn-ea"/>
              </a:rPr>
              <a:t>基本思路</a:t>
            </a:r>
            <a:endParaRPr lang="en-US" altLang="zh-CN" dirty="0">
              <a:latin typeface="+mn-ea"/>
            </a:endParaRPr>
          </a:p>
          <a:p>
            <a:pPr lvl="1"/>
            <a:r>
              <a:rPr lang="zh-CN" altLang="en-US" dirty="0">
                <a:latin typeface="+mn-ea"/>
              </a:rPr>
              <a:t>允许模型输出与实际输出间存在</a:t>
            </a:r>
            <a:r>
              <a:rPr lang="en-US" altLang="zh-CN" dirty="0">
                <a:latin typeface="+mn-ea"/>
              </a:rPr>
              <a:t>  </a:t>
            </a:r>
            <a:r>
              <a:rPr lang="zh-CN" altLang="en-US" dirty="0" smtClean="0">
                <a:latin typeface="+mn-ea"/>
              </a:rPr>
              <a:t>的</a:t>
            </a:r>
            <a:r>
              <a:rPr lang="zh-CN" altLang="en-US" dirty="0">
                <a:latin typeface="+mn-ea"/>
              </a:rPr>
              <a:t>差别</a:t>
            </a:r>
            <a:endParaRPr lang="en-US" altLang="zh-CN" dirty="0">
              <a:latin typeface="+mn-ea"/>
            </a:endParaRPr>
          </a:p>
          <a:p>
            <a:pPr lvl="1"/>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pic>
        <p:nvPicPr>
          <p:cNvPr id="5" name="Picture 3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2060848"/>
            <a:ext cx="7338736"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nvGraphicFramePr>
        <p:xfrm>
          <a:off x="6597545" y="1486597"/>
          <a:ext cx="294545" cy="324000"/>
        </p:xfrm>
        <a:graphic>
          <a:graphicData uri="http://schemas.openxmlformats.org/presentationml/2006/ole">
            <mc:AlternateContent xmlns:mc="http://schemas.openxmlformats.org/markup-compatibility/2006">
              <mc:Choice xmlns:v="urn:schemas-microsoft-com:vml" Requires="v">
                <p:oleObj spid="_x0000_s18474" name="Equation" r:id="rId2" imgW="3048000" imgH="3352800" progId="Equation.DSMT4">
                  <p:embed/>
                </p:oleObj>
              </mc:Choice>
              <mc:Fallback>
                <p:oleObj name="Equation" r:id="rId2" imgW="3048000" imgH="3352800" progId="Equation.DSMT4">
                  <p:embed/>
                  <p:pic>
                    <p:nvPicPr>
                      <p:cNvPr id="0" name="对象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7545" y="1486597"/>
                        <a:ext cx="294545" cy="3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 </a:t>
            </a:r>
            <a:r>
              <a:rPr lang="zh-CN" altLang="en-US" dirty="0"/>
              <a:t>支持向量回归</a:t>
            </a:r>
            <a:endParaRPr lang="zh-CN" altLang="en-US" dirty="0"/>
          </a:p>
        </p:txBody>
      </p:sp>
      <p:sp>
        <p:nvSpPr>
          <p:cNvPr id="3" name="内容占位符 2"/>
          <p:cNvSpPr>
            <a:spLocks noGrp="1"/>
          </p:cNvSpPr>
          <p:nvPr>
            <p:ph idx="1"/>
          </p:nvPr>
        </p:nvSpPr>
        <p:spPr/>
        <p:txBody>
          <a:bodyPr/>
          <a:lstStyle/>
          <a:p>
            <a:r>
              <a:rPr lang="zh-CN" altLang="en-US" dirty="0">
                <a:latin typeface="+mn-ea"/>
              </a:rPr>
              <a:t>基本思路</a:t>
            </a:r>
            <a:endParaRPr lang="en-US" altLang="zh-CN" dirty="0">
              <a:latin typeface="+mn-ea"/>
            </a:endParaRPr>
          </a:p>
          <a:p>
            <a:pPr lvl="1"/>
            <a:r>
              <a:rPr lang="en-US" altLang="zh-CN" dirty="0">
                <a:latin typeface="+mn-ea"/>
              </a:rPr>
              <a:t>SVR</a:t>
            </a:r>
            <a:r>
              <a:rPr lang="zh-CN" altLang="en-US" dirty="0" smtClean="0">
                <a:latin typeface="+mn-ea"/>
              </a:rPr>
              <a:t>问题可表示为</a:t>
            </a:r>
            <a:endParaRPr lang="en-US" altLang="zh-CN" dirty="0" smtClean="0">
              <a:latin typeface="+mn-ea"/>
            </a:endParaRPr>
          </a:p>
          <a:p>
            <a:pPr lvl="1"/>
            <a:endParaRPr lang="en-US" altLang="zh-CN" dirty="0">
              <a:latin typeface="+mn-ea"/>
            </a:endParaRPr>
          </a:p>
          <a:p>
            <a:pPr lvl="2"/>
            <a:endParaRPr lang="en-US" altLang="zh-CN" dirty="0" smtClean="0">
              <a:latin typeface="+mn-ea"/>
            </a:endParaRPr>
          </a:p>
          <a:p>
            <a:pPr lvl="2"/>
            <a:r>
              <a:rPr lang="en-US" altLang="zh-CN" dirty="0" smtClean="0">
                <a:latin typeface="+mn-ea"/>
              </a:rPr>
              <a:t>C</a:t>
            </a:r>
            <a:r>
              <a:rPr lang="zh-CN" altLang="en-US" dirty="0">
                <a:latin typeface="+mn-ea"/>
              </a:rPr>
              <a:t>为正则化</a:t>
            </a:r>
            <a:r>
              <a:rPr lang="zh-CN" altLang="en-US" dirty="0" smtClean="0">
                <a:latin typeface="+mn-ea"/>
              </a:rPr>
              <a:t>常数</a:t>
            </a:r>
            <a:endParaRPr lang="en-US" altLang="zh-CN" dirty="0" smtClean="0">
              <a:latin typeface="+mn-ea"/>
            </a:endParaRPr>
          </a:p>
          <a:p>
            <a:pPr lvl="2"/>
            <a:r>
              <a:rPr lang="en-US" altLang="zh-CN" dirty="0" smtClean="0">
                <a:latin typeface="+mn-ea"/>
              </a:rPr>
              <a:t> </a:t>
            </a:r>
            <a:r>
              <a:rPr lang="zh-CN" altLang="en-US" dirty="0" smtClean="0">
                <a:latin typeface="+mn-ea"/>
              </a:rPr>
              <a:t>为  不敏感损失函数</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1979712" y="1844824"/>
          <a:ext cx="4475163" cy="762000"/>
        </p:xfrm>
        <a:graphic>
          <a:graphicData uri="http://schemas.openxmlformats.org/presentationml/2006/ole">
            <mc:AlternateContent xmlns:mc="http://schemas.openxmlformats.org/markup-compatibility/2006">
              <mc:Choice xmlns:v="urn:schemas-microsoft-com:vml" Requires="v">
                <p:oleObj spid="_x0000_s19629" name="Equation" r:id="rId1" imgW="53644800" imgH="9144000" progId="Equation.DSMT4">
                  <p:embed/>
                </p:oleObj>
              </mc:Choice>
              <mc:Fallback>
                <p:oleObj name="Equation" r:id="rId1" imgW="53644800" imgH="9144000" progId="Equation.DSMT4">
                  <p:embed/>
                  <p:pic>
                    <p:nvPicPr>
                      <p:cNvPr id="0" name="对象 5"/>
                      <p:cNvPicPr>
                        <a:picLocks noChangeAspect="1" noChangeArrowheads="1"/>
                      </p:cNvPicPr>
                      <p:nvPr/>
                    </p:nvPicPr>
                    <p:blipFill>
                      <a:blip r:embed="rId2"/>
                      <a:srcRect/>
                      <a:stretch>
                        <a:fillRect/>
                      </a:stretch>
                    </p:blipFill>
                    <p:spPr bwMode="auto">
                      <a:xfrm>
                        <a:off x="1979712" y="1844824"/>
                        <a:ext cx="44751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1907704" y="2971800"/>
          <a:ext cx="279400" cy="457200"/>
        </p:xfrm>
        <a:graphic>
          <a:graphicData uri="http://schemas.openxmlformats.org/presentationml/2006/ole">
            <mc:AlternateContent xmlns:mc="http://schemas.openxmlformats.org/markup-compatibility/2006">
              <mc:Choice xmlns:v="urn:schemas-microsoft-com:vml" Requires="v">
                <p:oleObj spid="_x0000_s19630" name="Equation" r:id="rId3" imgW="3352800" imgH="5486400" progId="Equation.DSMT4">
                  <p:embed/>
                </p:oleObj>
              </mc:Choice>
              <mc:Fallback>
                <p:oleObj name="Equation" r:id="rId3" imgW="3352800" imgH="5486400" progId="Equation.DSMT4">
                  <p:embed/>
                  <p:pic>
                    <p:nvPicPr>
                      <p:cNvPr id="0" name="对象 4"/>
                      <p:cNvPicPr>
                        <a:picLocks noChangeAspect="1" noChangeArrowheads="1"/>
                      </p:cNvPicPr>
                      <p:nvPr/>
                    </p:nvPicPr>
                    <p:blipFill>
                      <a:blip r:embed="rId4"/>
                      <a:srcRect/>
                      <a:stretch>
                        <a:fillRect/>
                      </a:stretch>
                    </p:blipFill>
                    <p:spPr bwMode="auto">
                      <a:xfrm>
                        <a:off x="1907704" y="2971800"/>
                        <a:ext cx="279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2340000" y="3068638"/>
          <a:ext cx="431800" cy="279400"/>
        </p:xfrm>
        <a:graphic>
          <a:graphicData uri="http://schemas.openxmlformats.org/presentationml/2006/ole">
            <mc:AlternateContent xmlns:mc="http://schemas.openxmlformats.org/markup-compatibility/2006">
              <mc:Choice xmlns:v="urn:schemas-microsoft-com:vml" Requires="v">
                <p:oleObj spid="_x0000_s19631" name="Equation" r:id="rId5" imgW="5181600" imgH="3352800" progId="Equation.DSMT4">
                  <p:embed/>
                </p:oleObj>
              </mc:Choice>
              <mc:Fallback>
                <p:oleObj name="Equation" r:id="rId5" imgW="5181600" imgH="3352800" progId="Equation.DSMT4">
                  <p:embed/>
                  <p:pic>
                    <p:nvPicPr>
                      <p:cNvPr id="0" name="对象 5"/>
                      <p:cNvPicPr>
                        <a:picLocks noChangeAspect="1" noChangeArrowheads="1"/>
                      </p:cNvPicPr>
                      <p:nvPr/>
                    </p:nvPicPr>
                    <p:blipFill>
                      <a:blip r:embed="rId6"/>
                      <a:srcRect/>
                      <a:stretch>
                        <a:fillRect/>
                      </a:stretch>
                    </p:blipFill>
                    <p:spPr bwMode="auto">
                      <a:xfrm>
                        <a:off x="2340000" y="3068638"/>
                        <a:ext cx="431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4954984" y="2811016"/>
          <a:ext cx="3073400" cy="762000"/>
        </p:xfrm>
        <a:graphic>
          <a:graphicData uri="http://schemas.openxmlformats.org/presentationml/2006/ole">
            <mc:AlternateContent xmlns:mc="http://schemas.openxmlformats.org/markup-compatibility/2006">
              <mc:Choice xmlns:v="urn:schemas-microsoft-com:vml" Requires="v">
                <p:oleObj spid="_x0000_s19632" name="Equation" r:id="rId7" imgW="36880800" imgH="9144000" progId="Equation.DSMT4">
                  <p:embed/>
                </p:oleObj>
              </mc:Choice>
              <mc:Fallback>
                <p:oleObj name="Equation" r:id="rId7" imgW="36880800" imgH="9144000" progId="Equation.DSMT4">
                  <p:embed/>
                  <p:pic>
                    <p:nvPicPr>
                      <p:cNvPr id="0" name="对象 5"/>
                      <p:cNvPicPr>
                        <a:picLocks noChangeAspect="1" noChangeArrowheads="1"/>
                      </p:cNvPicPr>
                      <p:nvPr/>
                    </p:nvPicPr>
                    <p:blipFill>
                      <a:blip r:embed="rId8"/>
                      <a:srcRect/>
                      <a:stretch>
                        <a:fillRect/>
                      </a:stretch>
                    </p:blipFill>
                    <p:spPr bwMode="auto">
                      <a:xfrm>
                        <a:off x="4954984" y="2811016"/>
                        <a:ext cx="3073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9470" name="Picture 14"/>
          <p:cNvPicPr>
            <a:picLocks noChangeAspect="1" noChangeArrowheads="1"/>
          </p:cNvPicPr>
          <p:nvPr/>
        </p:nvPicPr>
        <p:blipFill rotWithShape="1">
          <a:blip r:embed="rId9">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t="17944"/>
          <a:stretch>
            <a:fillRect/>
          </a:stretch>
        </p:blipFill>
        <p:spPr bwMode="auto">
          <a:xfrm>
            <a:off x="1115616" y="3501009"/>
            <a:ext cx="7011492" cy="3323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over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 </a:t>
            </a:r>
            <a:r>
              <a:rPr lang="zh-CN" altLang="en-US" dirty="0"/>
              <a:t>支持向量回归</a:t>
            </a:r>
            <a:endParaRPr lang="zh-CN" altLang="en-US" dirty="0"/>
          </a:p>
        </p:txBody>
      </p:sp>
      <p:sp>
        <p:nvSpPr>
          <p:cNvPr id="3" name="内容占位符 2"/>
          <p:cNvSpPr>
            <a:spLocks noGrp="1"/>
          </p:cNvSpPr>
          <p:nvPr>
            <p:ph idx="1"/>
          </p:nvPr>
        </p:nvSpPr>
        <p:spPr/>
        <p:txBody>
          <a:bodyPr/>
          <a:lstStyle/>
          <a:p>
            <a:r>
              <a:rPr lang="zh-CN" altLang="en-US" dirty="0" smtClean="0"/>
              <a:t>求解</a:t>
            </a:r>
            <a:endParaRPr lang="en-US" altLang="zh-CN" dirty="0" smtClean="0"/>
          </a:p>
          <a:p>
            <a:pPr lvl="1"/>
            <a:r>
              <a:rPr lang="zh-CN" altLang="en-US" dirty="0" smtClean="0"/>
              <a:t>引入松弛变量      ，原始问题为</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r>
              <a:rPr lang="zh-CN" altLang="en-US" dirty="0" smtClean="0"/>
              <a:t>利用拉格朗日乘子法可得对偶问题</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3779912" y="1412824"/>
          <a:ext cx="518400" cy="432000"/>
        </p:xfrm>
        <a:graphic>
          <a:graphicData uri="http://schemas.openxmlformats.org/presentationml/2006/ole">
            <mc:AlternateContent xmlns:mc="http://schemas.openxmlformats.org/markup-compatibility/2006">
              <mc:Choice xmlns:v="urn:schemas-microsoft-com:vml" Requires="v">
                <p:oleObj spid="_x0000_s20615" name="Equation" r:id="rId1" imgW="7315200" imgH="6096000" progId="Equation.DSMT4">
                  <p:embed/>
                </p:oleObj>
              </mc:Choice>
              <mc:Fallback>
                <p:oleObj name="Equation" r:id="rId1" imgW="7315200" imgH="6096000" progId="Equation.DSMT4">
                  <p:embed/>
                  <p:pic>
                    <p:nvPicPr>
                      <p:cNvPr id="0" name="对象 7"/>
                      <p:cNvPicPr>
                        <a:picLocks noChangeAspect="1" noChangeArrowheads="1"/>
                      </p:cNvPicPr>
                      <p:nvPr/>
                    </p:nvPicPr>
                    <p:blipFill>
                      <a:blip r:embed="rId2"/>
                      <a:srcRect/>
                      <a:stretch>
                        <a:fillRect/>
                      </a:stretch>
                    </p:blipFill>
                    <p:spPr bwMode="auto">
                      <a:xfrm>
                        <a:off x="3779912" y="1412824"/>
                        <a:ext cx="518400"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1979289" y="1737032"/>
          <a:ext cx="3862703" cy="2124000"/>
        </p:xfrm>
        <a:graphic>
          <a:graphicData uri="http://schemas.openxmlformats.org/presentationml/2006/ole">
            <mc:AlternateContent xmlns:mc="http://schemas.openxmlformats.org/markup-compatibility/2006">
              <mc:Choice xmlns:v="urn:schemas-microsoft-com:vml" Requires="v">
                <p:oleObj spid="_x0000_s20616" name="Equation" r:id="rId3" imgW="45415200" imgH="24993600" progId="Equation.DSMT4">
                  <p:embed/>
                </p:oleObj>
              </mc:Choice>
              <mc:Fallback>
                <p:oleObj name="Equation" r:id="rId3" imgW="45415200" imgH="24993600" progId="Equation.DSMT4">
                  <p:embed/>
                  <p:pic>
                    <p:nvPicPr>
                      <p:cNvPr id="0" name="对象 4"/>
                      <p:cNvPicPr>
                        <a:picLocks noChangeAspect="1" noChangeArrowheads="1"/>
                      </p:cNvPicPr>
                      <p:nvPr/>
                    </p:nvPicPr>
                    <p:blipFill>
                      <a:blip r:embed="rId4"/>
                      <a:srcRect/>
                      <a:stretch>
                        <a:fillRect/>
                      </a:stretch>
                    </p:blipFill>
                    <p:spPr bwMode="auto">
                      <a:xfrm>
                        <a:off x="1979289" y="1737032"/>
                        <a:ext cx="3862703" cy="21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1043607" y="4365264"/>
          <a:ext cx="7606589" cy="1440000"/>
        </p:xfrm>
        <a:graphic>
          <a:graphicData uri="http://schemas.openxmlformats.org/presentationml/2006/ole">
            <mc:AlternateContent xmlns:mc="http://schemas.openxmlformats.org/markup-compatibility/2006">
              <mc:Choice xmlns:v="urn:schemas-microsoft-com:vml" Requires="v">
                <p:oleObj spid="_x0000_s20617" name="Equation" r:id="rId5" imgW="89916000" imgH="17068800" progId="Equation.DSMT4">
                  <p:embed/>
                </p:oleObj>
              </mc:Choice>
              <mc:Fallback>
                <p:oleObj name="Equation" r:id="rId5" imgW="89916000" imgH="17068800" progId="Equation.DSMT4">
                  <p:embed/>
                  <p:pic>
                    <p:nvPicPr>
                      <p:cNvPr id="0" name="对象 5"/>
                      <p:cNvPicPr>
                        <a:picLocks noChangeAspect="1" noChangeArrowheads="1"/>
                      </p:cNvPicPr>
                      <p:nvPr/>
                    </p:nvPicPr>
                    <p:blipFill>
                      <a:blip r:embed="rId6"/>
                      <a:srcRect/>
                      <a:stretch>
                        <a:fillRect/>
                      </a:stretch>
                    </p:blipFill>
                    <p:spPr bwMode="auto">
                      <a:xfrm>
                        <a:off x="1043607" y="4365264"/>
                        <a:ext cx="7606589"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6.5 </a:t>
            </a:r>
            <a:r>
              <a:rPr lang="zh-CN" altLang="en-US" dirty="0"/>
              <a:t>支持向量回归</a:t>
            </a:r>
            <a:endParaRPr lang="zh-CN" altLang="en-US" dirty="0"/>
          </a:p>
        </p:txBody>
      </p:sp>
      <p:sp>
        <p:nvSpPr>
          <p:cNvPr id="3" name="内容占位符 2"/>
          <p:cNvSpPr>
            <a:spLocks noGrp="1"/>
          </p:cNvSpPr>
          <p:nvPr>
            <p:ph idx="1"/>
          </p:nvPr>
        </p:nvSpPr>
        <p:spPr/>
        <p:txBody>
          <a:bodyPr/>
          <a:lstStyle/>
          <a:p>
            <a:r>
              <a:rPr lang="zh-CN" altLang="en-US" dirty="0" smtClean="0"/>
              <a:t>求解</a:t>
            </a:r>
            <a:endParaRPr lang="en-US" altLang="zh-CN" dirty="0" smtClean="0"/>
          </a:p>
          <a:p>
            <a:pPr lvl="2"/>
            <a:r>
              <a:rPr lang="zh-CN" altLang="en-US" dirty="0" smtClean="0">
                <a:latin typeface="+mn-ea"/>
              </a:rPr>
              <a:t>根据</a:t>
            </a:r>
            <a:r>
              <a:rPr lang="en-US" altLang="zh-CN" dirty="0" smtClean="0">
                <a:latin typeface="+mn-ea"/>
              </a:rPr>
              <a:t>KKT</a:t>
            </a:r>
            <a:r>
              <a:rPr lang="zh-CN" altLang="en-US" dirty="0" smtClean="0">
                <a:latin typeface="+mn-ea"/>
              </a:rPr>
              <a:t>条件可得解</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3"/>
            <a:r>
              <a:rPr lang="zh-CN" altLang="en-US" dirty="0" smtClean="0">
                <a:latin typeface="+mn-ea"/>
              </a:rPr>
              <a:t>支持向量必</a:t>
            </a:r>
            <a:r>
              <a:rPr lang="zh-CN" altLang="en-US" dirty="0">
                <a:latin typeface="+mn-ea"/>
              </a:rPr>
              <a:t>落</a:t>
            </a:r>
            <a:r>
              <a:rPr lang="zh-CN" altLang="en-US" dirty="0" smtClean="0">
                <a:latin typeface="+mn-ea"/>
              </a:rPr>
              <a:t>在间隔带之外</a:t>
            </a:r>
            <a:endParaRPr lang="en-US" altLang="zh-CN" dirty="0" smtClean="0">
              <a:latin typeface="+mn-ea"/>
            </a:endParaRPr>
          </a:p>
          <a:p>
            <a:pPr lvl="3"/>
            <a:r>
              <a:rPr lang="zh-CN" altLang="en-US" dirty="0" smtClean="0">
                <a:latin typeface="+mn-ea"/>
              </a:rPr>
              <a:t>支持</a:t>
            </a:r>
            <a:r>
              <a:rPr lang="zh-CN" altLang="en-US" dirty="0">
                <a:latin typeface="+mn-ea"/>
              </a:rPr>
              <a:t>向量仅是训练样本的一部分</a:t>
            </a:r>
            <a:r>
              <a:rPr lang="zh-CN" altLang="en-US" dirty="0" smtClean="0">
                <a:latin typeface="+mn-ea"/>
              </a:rPr>
              <a:t>，其解具有</a:t>
            </a:r>
            <a:r>
              <a:rPr lang="zh-CN" altLang="en-US" dirty="0">
                <a:latin typeface="+mn-ea"/>
              </a:rPr>
              <a:t>稀疏</a:t>
            </a:r>
            <a:r>
              <a:rPr lang="zh-CN" altLang="en-US" dirty="0" smtClean="0">
                <a:latin typeface="+mn-ea"/>
              </a:rPr>
              <a:t>性</a:t>
            </a:r>
            <a:endParaRPr lang="en-US" altLang="zh-CN" dirty="0" smtClean="0">
              <a:latin typeface="+mn-ea"/>
            </a:endParaRPr>
          </a:p>
          <a:p>
            <a:pPr lvl="2"/>
            <a:r>
              <a:rPr lang="zh-CN" altLang="en-US" dirty="0">
                <a:latin typeface="+mn-ea"/>
              </a:rPr>
              <a:t>若考虑特征</a:t>
            </a:r>
            <a:r>
              <a:rPr lang="zh-CN" altLang="en-US" dirty="0" smtClean="0">
                <a:latin typeface="+mn-ea"/>
              </a:rPr>
              <a:t>映射                 ，</a:t>
            </a:r>
            <a:r>
              <a:rPr lang="en-US" altLang="zh-CN" dirty="0" smtClean="0">
                <a:latin typeface="+mn-ea"/>
              </a:rPr>
              <a:t>SVR</a:t>
            </a:r>
            <a:r>
              <a:rPr lang="zh-CN" altLang="en-US" dirty="0" smtClean="0">
                <a:latin typeface="+mn-ea"/>
              </a:rPr>
              <a:t>解为</a:t>
            </a:r>
            <a:endParaRPr lang="en-US" altLang="zh-CN" dirty="0" smtClean="0">
              <a:latin typeface="+mn-ea"/>
            </a:endParaRPr>
          </a:p>
          <a:p>
            <a:pPr lvl="2"/>
            <a:endParaRPr lang="en-US" altLang="zh-CN" dirty="0">
              <a:latin typeface="+mn-ea"/>
            </a:endParaRPr>
          </a:p>
          <a:p>
            <a:pPr lvl="2"/>
            <a:endParaRPr lang="en-US" altLang="zh-CN" dirty="0" smtClean="0">
              <a:latin typeface="+mn-ea"/>
            </a:endParaRPr>
          </a:p>
          <a:p>
            <a:pPr lvl="3"/>
            <a:endParaRPr lang="en-US" altLang="zh-CN" dirty="0" smtClean="0">
              <a:latin typeface="+mn-ea"/>
            </a:endParaRPr>
          </a:p>
          <a:p>
            <a:pPr lvl="3"/>
            <a:r>
              <a:rPr lang="en-US" altLang="zh-CN" dirty="0" smtClean="0">
                <a:latin typeface="+mn-ea"/>
              </a:rPr>
              <a:t>                      </a:t>
            </a:r>
            <a:r>
              <a:rPr lang="zh-CN" altLang="en-US" dirty="0" smtClean="0">
                <a:latin typeface="+mn-ea"/>
              </a:rPr>
              <a:t>为核函数</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123728" y="1628800"/>
          <a:ext cx="3094038" cy="874713"/>
        </p:xfrm>
        <a:graphic>
          <a:graphicData uri="http://schemas.openxmlformats.org/presentationml/2006/ole">
            <mc:AlternateContent xmlns:mc="http://schemas.openxmlformats.org/markup-compatibility/2006">
              <mc:Choice xmlns:v="urn:schemas-microsoft-com:vml" Requires="v">
                <p:oleObj spid="_x0000_s21678" name="Equation" r:id="rId1" imgW="36576000" imgH="10363200" progId="Equation.DSMT4">
                  <p:embed/>
                </p:oleObj>
              </mc:Choice>
              <mc:Fallback>
                <p:oleObj name="Equation" r:id="rId1" imgW="36576000" imgH="10363200" progId="Equation.DSMT4">
                  <p:embed/>
                  <p:pic>
                    <p:nvPicPr>
                      <p:cNvPr id="0" name="对象 6"/>
                      <p:cNvPicPr>
                        <a:picLocks noChangeAspect="1" noChangeArrowheads="1"/>
                      </p:cNvPicPr>
                      <p:nvPr/>
                    </p:nvPicPr>
                    <p:blipFill>
                      <a:blip r:embed="rId2"/>
                      <a:srcRect/>
                      <a:stretch>
                        <a:fillRect/>
                      </a:stretch>
                    </p:blipFill>
                    <p:spPr bwMode="auto">
                      <a:xfrm>
                        <a:off x="2123728" y="1628800"/>
                        <a:ext cx="3094038"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4095751" y="2994025"/>
          <a:ext cx="2689549" cy="576000"/>
        </p:xfrm>
        <a:graphic>
          <a:graphicData uri="http://schemas.openxmlformats.org/presentationml/2006/ole">
            <mc:AlternateContent xmlns:mc="http://schemas.openxmlformats.org/markup-compatibility/2006">
              <mc:Choice xmlns:v="urn:schemas-microsoft-com:vml" Requires="v">
                <p:oleObj spid="_x0000_s21679" name="Equation" r:id="rId3" imgW="32613600" imgH="7010400" progId="Equation.DSMT4">
                  <p:embed/>
                </p:oleObj>
              </mc:Choice>
              <mc:Fallback>
                <p:oleObj name="Equation" r:id="rId3" imgW="32613600" imgH="7010400" progId="Equation.DSMT4">
                  <p:embed/>
                  <p:pic>
                    <p:nvPicPr>
                      <p:cNvPr id="0" name="对象 4"/>
                      <p:cNvPicPr>
                        <a:picLocks noChangeAspect="1" noChangeArrowheads="1"/>
                      </p:cNvPicPr>
                      <p:nvPr/>
                    </p:nvPicPr>
                    <p:blipFill>
                      <a:blip r:embed="rId4"/>
                      <a:srcRect/>
                      <a:stretch>
                        <a:fillRect/>
                      </a:stretch>
                    </p:blipFill>
                    <p:spPr bwMode="auto">
                      <a:xfrm>
                        <a:off x="4095751" y="2994025"/>
                        <a:ext cx="2689549"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2123728" y="3501008"/>
          <a:ext cx="3557588" cy="874712"/>
        </p:xfrm>
        <a:graphic>
          <a:graphicData uri="http://schemas.openxmlformats.org/presentationml/2006/ole">
            <mc:AlternateContent xmlns:mc="http://schemas.openxmlformats.org/markup-compatibility/2006">
              <mc:Choice xmlns:v="urn:schemas-microsoft-com:vml" Requires="v">
                <p:oleObj spid="_x0000_s21680" name="Equation" r:id="rId5" imgW="42062400" imgH="10363200" progId="Equation.DSMT4">
                  <p:embed/>
                </p:oleObj>
              </mc:Choice>
              <mc:Fallback>
                <p:oleObj name="Equation" r:id="rId5" imgW="42062400" imgH="10363200" progId="Equation.DSMT4">
                  <p:embed/>
                  <p:pic>
                    <p:nvPicPr>
                      <p:cNvPr id="0" name="对象 4"/>
                      <p:cNvPicPr>
                        <a:picLocks noChangeAspect="1" noChangeArrowheads="1"/>
                      </p:cNvPicPr>
                      <p:nvPr/>
                    </p:nvPicPr>
                    <p:blipFill>
                      <a:blip r:embed="rId6"/>
                      <a:srcRect/>
                      <a:stretch>
                        <a:fillRect/>
                      </a:stretch>
                    </p:blipFill>
                    <p:spPr bwMode="auto">
                      <a:xfrm>
                        <a:off x="2123728" y="3501008"/>
                        <a:ext cx="3557588"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2339752" y="4365104"/>
          <a:ext cx="2862262" cy="514350"/>
        </p:xfrm>
        <a:graphic>
          <a:graphicData uri="http://schemas.openxmlformats.org/presentationml/2006/ole">
            <mc:AlternateContent xmlns:mc="http://schemas.openxmlformats.org/markup-compatibility/2006">
              <mc:Choice xmlns:v="urn:schemas-microsoft-com:vml" Requires="v">
                <p:oleObj spid="_x0000_s21681" name="Equation" r:id="rId7" imgW="33832800" imgH="6096000" progId="Equation.DSMT4">
                  <p:embed/>
                </p:oleObj>
              </mc:Choice>
              <mc:Fallback>
                <p:oleObj name="Equation" r:id="rId7" imgW="33832800" imgH="6096000" progId="Equation.DSMT4">
                  <p:embed/>
                  <p:pic>
                    <p:nvPicPr>
                      <p:cNvPr id="0" name="对象 6"/>
                      <p:cNvPicPr>
                        <a:picLocks noChangeAspect="1" noChangeArrowheads="1"/>
                      </p:cNvPicPr>
                      <p:nvPr/>
                    </p:nvPicPr>
                    <p:blipFill>
                      <a:blip r:embed="rId8"/>
                      <a:srcRect/>
                      <a:stretch>
                        <a:fillRect/>
                      </a:stretch>
                    </p:blipFill>
                    <p:spPr bwMode="auto">
                      <a:xfrm>
                        <a:off x="2339752" y="4365104"/>
                        <a:ext cx="286226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6.6 </a:t>
            </a:r>
            <a:r>
              <a:rPr lang="zh-CN" altLang="en-US" dirty="0" smtClean="0"/>
              <a:t>核</a:t>
            </a:r>
            <a:r>
              <a:rPr lang="zh-CN" altLang="en-US" dirty="0"/>
              <a:t>方法</a:t>
            </a:r>
            <a:endParaRPr lang="zh-CN" altLang="en-US" dirty="0"/>
          </a:p>
        </p:txBody>
      </p:sp>
      <p:sp>
        <p:nvSpPr>
          <p:cNvPr id="3" name="内容占位符 2"/>
          <p:cNvSpPr>
            <a:spLocks noGrp="1"/>
          </p:cNvSpPr>
          <p:nvPr>
            <p:ph idx="1"/>
          </p:nvPr>
        </p:nvSpPr>
        <p:spPr/>
        <p:txBody>
          <a:bodyPr/>
          <a:lstStyle/>
          <a:p>
            <a:r>
              <a:rPr lang="zh-CN" altLang="en-US" dirty="0"/>
              <a:t>表示</a:t>
            </a:r>
            <a:r>
              <a:rPr lang="zh-CN" altLang="en-US" dirty="0" smtClean="0"/>
              <a:t>定理</a:t>
            </a:r>
            <a:endParaRPr lang="en-US" altLang="zh-CN" dirty="0" smtClean="0"/>
          </a:p>
          <a:p>
            <a:pPr lvl="1"/>
            <a:r>
              <a:rPr lang="zh-CN" altLang="en-US" dirty="0" smtClean="0">
                <a:latin typeface="+mn-ea"/>
              </a:rPr>
              <a:t>无论</a:t>
            </a:r>
            <a:r>
              <a:rPr lang="en-US" altLang="zh-CN" dirty="0" smtClean="0">
                <a:latin typeface="+mn-ea"/>
              </a:rPr>
              <a:t>SVM</a:t>
            </a:r>
            <a:r>
              <a:rPr lang="zh-CN" altLang="en-US" dirty="0" smtClean="0">
                <a:latin typeface="+mn-ea"/>
              </a:rPr>
              <a:t>还是</a:t>
            </a:r>
            <a:r>
              <a:rPr lang="en-US" altLang="zh-CN" dirty="0" smtClean="0">
                <a:latin typeface="+mn-ea"/>
              </a:rPr>
              <a:t>SVR</a:t>
            </a:r>
            <a:r>
              <a:rPr lang="zh-CN" altLang="en-US" dirty="0" smtClean="0">
                <a:latin typeface="+mn-ea"/>
              </a:rPr>
              <a:t>，学</a:t>
            </a:r>
            <a:r>
              <a:rPr lang="zh-CN" altLang="en-US" dirty="0">
                <a:latin typeface="+mn-ea"/>
              </a:rPr>
              <a:t>得模型总能</a:t>
            </a:r>
            <a:r>
              <a:rPr lang="zh-CN" altLang="en-US" dirty="0" smtClean="0">
                <a:latin typeface="+mn-ea"/>
              </a:rPr>
              <a:t>表示为核函数</a:t>
            </a:r>
            <a:r>
              <a:rPr lang="zh-CN" altLang="en-US" dirty="0">
                <a:latin typeface="+mn-ea"/>
              </a:rPr>
              <a:t>的</a:t>
            </a:r>
            <a:r>
              <a:rPr lang="zh-CN" altLang="en-US" dirty="0" smtClean="0">
                <a:latin typeface="+mn-ea"/>
              </a:rPr>
              <a:t>线性组合</a:t>
            </a:r>
            <a:endParaRPr lang="en-US" altLang="zh-CN" dirty="0" smtClean="0">
              <a:latin typeface="+mn-ea"/>
            </a:endParaRPr>
          </a:p>
          <a:p>
            <a:pPr lvl="2"/>
            <a:r>
              <a:rPr lang="zh-CN" altLang="en-US" dirty="0" smtClean="0">
                <a:latin typeface="+mn-ea"/>
              </a:rPr>
              <a:t>核</a:t>
            </a:r>
            <a:r>
              <a:rPr lang="en-US" altLang="zh-CN" dirty="0" smtClean="0">
                <a:latin typeface="+mn-ea"/>
              </a:rPr>
              <a:t>SVM</a:t>
            </a:r>
            <a:r>
              <a:rPr lang="zh-CN" altLang="en-US" dirty="0" smtClean="0">
                <a:latin typeface="+mn-ea"/>
              </a:rPr>
              <a:t>：</a:t>
            </a:r>
            <a:endParaRPr lang="en-US" altLang="zh-CN" dirty="0" smtClean="0">
              <a:latin typeface="+mn-ea"/>
            </a:endParaRPr>
          </a:p>
          <a:p>
            <a:pPr lvl="2">
              <a:spcBef>
                <a:spcPts val="600"/>
              </a:spcBef>
            </a:pPr>
            <a:r>
              <a:rPr lang="zh-CN" altLang="en-US" dirty="0" smtClean="0">
                <a:latin typeface="+mn-ea"/>
              </a:rPr>
              <a:t>核</a:t>
            </a:r>
            <a:r>
              <a:rPr lang="en-US" altLang="zh-CN" dirty="0" smtClean="0">
                <a:latin typeface="+mn-ea"/>
              </a:rPr>
              <a:t>SVR</a:t>
            </a:r>
            <a:r>
              <a:rPr lang="zh-CN" altLang="en-US" dirty="0" smtClean="0">
                <a:latin typeface="+mn-ea"/>
              </a:rPr>
              <a:t>：</a:t>
            </a:r>
            <a:endParaRPr lang="zh-CN" altLang="en-US" dirty="0">
              <a:latin typeface="+mn-ea"/>
            </a:endParaRPr>
          </a:p>
          <a:p>
            <a:pPr lvl="1"/>
            <a:r>
              <a:rPr lang="zh-CN" altLang="en-US" dirty="0"/>
              <a:t>更一般</a:t>
            </a:r>
            <a:r>
              <a:rPr lang="zh-CN" altLang="en-US" dirty="0">
                <a:latin typeface="+mn-ea"/>
              </a:rPr>
              <a:t>的</a:t>
            </a:r>
            <a:r>
              <a:rPr lang="zh-CN" altLang="en-US" dirty="0" smtClean="0">
                <a:latin typeface="+mn-ea"/>
              </a:rPr>
              <a:t>结论</a:t>
            </a:r>
            <a:r>
              <a:rPr lang="en-US" altLang="zh-CN" dirty="0" smtClean="0">
                <a:latin typeface="+mn-ea"/>
              </a:rPr>
              <a:t>(</a:t>
            </a:r>
            <a:r>
              <a:rPr lang="zh-CN" altLang="en-US" dirty="0" smtClean="0">
                <a:latin typeface="+mn-ea"/>
              </a:rPr>
              <a:t>表示定理</a:t>
            </a:r>
            <a:r>
              <a:rPr lang="en-US" altLang="zh-CN" dirty="0" smtClean="0">
                <a:latin typeface="+mn-ea"/>
              </a:rPr>
              <a:t>)</a:t>
            </a:r>
            <a:endParaRPr lang="en-US" altLang="zh-CN" dirty="0" smtClean="0">
              <a:latin typeface="+mn-ea"/>
            </a:endParaRPr>
          </a:p>
          <a:p>
            <a:pPr lvl="2"/>
            <a:r>
              <a:rPr lang="zh-CN" altLang="en-US" dirty="0">
                <a:latin typeface="+mn-ea"/>
              </a:rPr>
              <a:t>对于任意单调递增函数          和任意非负</a:t>
            </a:r>
            <a:r>
              <a:rPr lang="zh-CN" altLang="en-US" dirty="0" smtClean="0">
                <a:latin typeface="+mn-ea"/>
              </a:rPr>
              <a:t>损失函数          ，优化问题</a:t>
            </a:r>
            <a:endParaRPr lang="en-US" altLang="zh-CN" dirty="0" smtClean="0">
              <a:latin typeface="+mn-ea"/>
            </a:endParaRPr>
          </a:p>
          <a:p>
            <a:pPr lvl="2"/>
            <a:endParaRPr lang="en-US" altLang="zh-CN" dirty="0">
              <a:latin typeface="+mn-ea"/>
            </a:endParaRPr>
          </a:p>
          <a:p>
            <a:pPr marL="914400" lvl="2" indent="0">
              <a:buNone/>
            </a:pPr>
            <a:r>
              <a:rPr lang="zh-CN" altLang="en-US" dirty="0" smtClean="0">
                <a:latin typeface="+mn-ea"/>
              </a:rPr>
              <a:t> 的解总可以写为</a:t>
            </a:r>
            <a:endParaRPr lang="en-US" altLang="zh-CN" dirty="0" smtClean="0">
              <a:latin typeface="+mn-ea"/>
            </a:endParaRPr>
          </a:p>
          <a:p>
            <a:pPr lvl="3"/>
            <a:r>
              <a:rPr lang="zh-CN" altLang="en-US" dirty="0" smtClean="0">
                <a:latin typeface="+mn-ea"/>
              </a:rPr>
              <a:t>核函数的线性组合</a:t>
            </a:r>
            <a:endParaRPr lang="en-US" altLang="zh-CN" dirty="0">
              <a:latin typeface="+mn-ea"/>
            </a:endParaRPr>
          </a:p>
          <a:p>
            <a:pPr lvl="3"/>
            <a:r>
              <a:rPr lang="zh-CN" altLang="en-US" dirty="0">
                <a:latin typeface="+mn-ea"/>
              </a:rPr>
              <a:t>这显示出核函数的</a:t>
            </a:r>
            <a:r>
              <a:rPr lang="zh-CN" altLang="en-US" dirty="0" smtClean="0">
                <a:latin typeface="+mn-ea"/>
              </a:rPr>
              <a:t>巨大作用</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987675" y="2132968"/>
          <a:ext cx="4667664" cy="1008000"/>
        </p:xfrm>
        <a:graphic>
          <a:graphicData uri="http://schemas.openxmlformats.org/presentationml/2006/ole">
            <mc:AlternateContent xmlns:mc="http://schemas.openxmlformats.org/markup-compatibility/2006">
              <mc:Choice xmlns:v="urn:schemas-microsoft-com:vml" Requires="v">
                <p:oleObj spid="_x0000_s22744" name="Equation" r:id="rId1" imgW="61874400" imgH="13411200" progId="Equation.DSMT4">
                  <p:embed/>
                </p:oleObj>
              </mc:Choice>
              <mc:Fallback>
                <p:oleObj name="Equation" r:id="rId1" imgW="61874400" imgH="13411200" progId="Equation.DSMT4">
                  <p:embed/>
                  <p:pic>
                    <p:nvPicPr>
                      <p:cNvPr id="0" name="对象 6"/>
                      <p:cNvPicPr>
                        <a:picLocks noChangeAspect="1" noChangeArrowheads="1"/>
                      </p:cNvPicPr>
                      <p:nvPr/>
                    </p:nvPicPr>
                    <p:blipFill>
                      <a:blip r:embed="rId2"/>
                      <a:srcRect/>
                      <a:stretch>
                        <a:fillRect/>
                      </a:stretch>
                    </p:blipFill>
                    <p:spPr bwMode="auto">
                      <a:xfrm>
                        <a:off x="2987675" y="2132968"/>
                        <a:ext cx="4667664" cy="10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076056" y="3501008"/>
          <a:ext cx="1401762" cy="366713"/>
        </p:xfrm>
        <a:graphic>
          <a:graphicData uri="http://schemas.openxmlformats.org/presentationml/2006/ole">
            <mc:AlternateContent xmlns:mc="http://schemas.openxmlformats.org/markup-compatibility/2006">
              <mc:Choice xmlns:v="urn:schemas-microsoft-com:vml" Requires="v">
                <p:oleObj spid="_x0000_s22745" name="Equation" r:id="rId3" imgW="18592800" imgH="4876800" progId="Equation.DSMT4">
                  <p:embed/>
                </p:oleObj>
              </mc:Choice>
              <mc:Fallback>
                <p:oleObj name="Equation" r:id="rId3" imgW="18592800" imgH="4876800" progId="Equation.DSMT4">
                  <p:embed/>
                  <p:pic>
                    <p:nvPicPr>
                      <p:cNvPr id="0" name="对象 4"/>
                      <p:cNvPicPr>
                        <a:picLocks noChangeAspect="1" noChangeArrowheads="1"/>
                      </p:cNvPicPr>
                      <p:nvPr/>
                    </p:nvPicPr>
                    <p:blipFill>
                      <a:blip r:embed="rId4"/>
                      <a:srcRect/>
                      <a:stretch>
                        <a:fillRect/>
                      </a:stretch>
                    </p:blipFill>
                    <p:spPr bwMode="auto">
                      <a:xfrm>
                        <a:off x="5076056" y="3501008"/>
                        <a:ext cx="14017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2905125" y="3838575"/>
          <a:ext cx="1425575" cy="412750"/>
        </p:xfrm>
        <a:graphic>
          <a:graphicData uri="http://schemas.openxmlformats.org/presentationml/2006/ole">
            <mc:AlternateContent xmlns:mc="http://schemas.openxmlformats.org/markup-compatibility/2006">
              <mc:Choice xmlns:v="urn:schemas-microsoft-com:vml" Requires="v">
                <p:oleObj spid="_x0000_s22746" name="Equation" r:id="rId5" imgW="18897600" imgH="5486400" progId="Equation.DSMT4">
                  <p:embed/>
                </p:oleObj>
              </mc:Choice>
              <mc:Fallback>
                <p:oleObj name="Equation" r:id="rId5" imgW="18897600" imgH="5486400" progId="Equation.DSMT4">
                  <p:embed/>
                  <p:pic>
                    <p:nvPicPr>
                      <p:cNvPr id="0" name="对象 6"/>
                      <p:cNvPicPr>
                        <a:picLocks noChangeAspect="1" noChangeArrowheads="1"/>
                      </p:cNvPicPr>
                      <p:nvPr/>
                    </p:nvPicPr>
                    <p:blipFill>
                      <a:blip r:embed="rId6"/>
                      <a:srcRect/>
                      <a:stretch>
                        <a:fillRect/>
                      </a:stretch>
                    </p:blipFill>
                    <p:spPr bwMode="auto">
                      <a:xfrm>
                        <a:off x="2905125" y="3838575"/>
                        <a:ext cx="14255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2771800" y="4149080"/>
          <a:ext cx="4322763" cy="504825"/>
        </p:xfrm>
        <a:graphic>
          <a:graphicData uri="http://schemas.openxmlformats.org/presentationml/2006/ole">
            <mc:AlternateContent xmlns:mc="http://schemas.openxmlformats.org/markup-compatibility/2006">
              <mc:Choice xmlns:v="urn:schemas-microsoft-com:vml" Requires="v">
                <p:oleObj spid="_x0000_s22747" name="Equation" r:id="rId7" imgW="57302400" imgH="6705600" progId="Equation.DSMT4">
                  <p:embed/>
                </p:oleObj>
              </mc:Choice>
              <mc:Fallback>
                <p:oleObj name="Equation" r:id="rId7" imgW="57302400" imgH="6705600" progId="Equation.DSMT4">
                  <p:embed/>
                  <p:pic>
                    <p:nvPicPr>
                      <p:cNvPr id="0" name="对象 7"/>
                      <p:cNvPicPr>
                        <a:picLocks noChangeAspect="1" noChangeArrowheads="1"/>
                      </p:cNvPicPr>
                      <p:nvPr/>
                    </p:nvPicPr>
                    <p:blipFill>
                      <a:blip r:embed="rId8"/>
                      <a:srcRect/>
                      <a:stretch>
                        <a:fillRect/>
                      </a:stretch>
                    </p:blipFill>
                    <p:spPr bwMode="auto">
                      <a:xfrm>
                        <a:off x="2771800" y="4149080"/>
                        <a:ext cx="43227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4139952" y="4509120"/>
          <a:ext cx="2460625" cy="527050"/>
        </p:xfrm>
        <a:graphic>
          <a:graphicData uri="http://schemas.openxmlformats.org/presentationml/2006/ole">
            <mc:AlternateContent xmlns:mc="http://schemas.openxmlformats.org/markup-compatibility/2006">
              <mc:Choice xmlns:v="urn:schemas-microsoft-com:vml" Requires="v">
                <p:oleObj spid="_x0000_s22748" name="Equation" r:id="rId9" imgW="32613600" imgH="7010400" progId="Equation.DSMT4">
                  <p:embed/>
                </p:oleObj>
              </mc:Choice>
              <mc:Fallback>
                <p:oleObj name="Equation" r:id="rId9" imgW="32613600" imgH="7010400" progId="Equation.DSMT4">
                  <p:embed/>
                  <p:pic>
                    <p:nvPicPr>
                      <p:cNvPr id="0" name="对象 4"/>
                      <p:cNvPicPr>
                        <a:picLocks noChangeAspect="1" noChangeArrowheads="1"/>
                      </p:cNvPicPr>
                      <p:nvPr/>
                    </p:nvPicPr>
                    <p:blipFill>
                      <a:blip r:embed="rId10"/>
                      <a:srcRect/>
                      <a:stretch>
                        <a:fillRect/>
                      </a:stretch>
                    </p:blipFill>
                    <p:spPr bwMode="auto">
                      <a:xfrm>
                        <a:off x="4139952" y="4509120"/>
                        <a:ext cx="246062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核</a:t>
            </a:r>
            <a:r>
              <a:rPr lang="zh-CN" altLang="en-US" dirty="0" smtClean="0"/>
              <a:t>方法</a:t>
            </a:r>
            <a:endParaRPr lang="en-US" altLang="zh-CN" dirty="0" smtClean="0"/>
          </a:p>
          <a:p>
            <a:pPr lvl="1"/>
            <a:r>
              <a:rPr lang="zh-CN" altLang="en-US" dirty="0"/>
              <a:t>基于核函数的</a:t>
            </a:r>
            <a:r>
              <a:rPr lang="zh-CN" altLang="en-US" dirty="0" smtClean="0"/>
              <a:t>学习方法统称为核方法。</a:t>
            </a:r>
            <a:r>
              <a:rPr lang="zh-CN" altLang="en-US" dirty="0" smtClean="0">
                <a:latin typeface="+mn-ea"/>
              </a:rPr>
              <a:t>引入核函数称为</a:t>
            </a:r>
            <a:r>
              <a:rPr lang="zh-CN" altLang="en-US" dirty="0">
                <a:latin typeface="+mn-ea"/>
              </a:rPr>
              <a:t>核化</a:t>
            </a:r>
            <a:endParaRPr lang="en-US" altLang="zh-CN" dirty="0" smtClean="0"/>
          </a:p>
          <a:p>
            <a:pPr lvl="1"/>
            <a:r>
              <a:rPr lang="zh-CN" altLang="en-US" spc="-120" dirty="0" smtClean="0">
                <a:latin typeface="+mn-ea"/>
              </a:rPr>
              <a:t>通常用核化将</a:t>
            </a:r>
            <a:r>
              <a:rPr lang="zh-CN" altLang="en-US" spc="-120" dirty="0">
                <a:latin typeface="+mn-ea"/>
              </a:rPr>
              <a:t>线性学习器拓展</a:t>
            </a:r>
            <a:r>
              <a:rPr lang="zh-CN" altLang="en-US" spc="-120" dirty="0" smtClean="0">
                <a:latin typeface="+mn-ea"/>
              </a:rPr>
              <a:t>为非线性</a:t>
            </a:r>
            <a:r>
              <a:rPr lang="zh-CN" altLang="en-US" spc="-120" dirty="0">
                <a:latin typeface="+mn-ea"/>
              </a:rPr>
              <a:t>学习</a:t>
            </a:r>
            <a:r>
              <a:rPr lang="zh-CN" altLang="en-US" spc="-120" dirty="0" smtClean="0">
                <a:latin typeface="+mn-ea"/>
              </a:rPr>
              <a:t>器</a:t>
            </a:r>
            <a:endParaRPr lang="en-US" altLang="zh-CN" spc="-120" dirty="0" smtClean="0">
              <a:latin typeface="+mn-ea"/>
            </a:endParaRPr>
          </a:p>
          <a:p>
            <a:pPr lvl="1"/>
            <a:r>
              <a:rPr lang="zh-CN" altLang="en-US" dirty="0" smtClean="0">
                <a:latin typeface="+mn-ea"/>
              </a:rPr>
              <a:t>例：核线性判别分析</a:t>
            </a:r>
            <a:r>
              <a:rPr lang="en-US" altLang="zh-CN" dirty="0">
                <a:latin typeface="+mn-ea"/>
              </a:rPr>
              <a:t>KLDA</a:t>
            </a:r>
            <a:endParaRPr lang="zh-CN" altLang="en-US" dirty="0">
              <a:latin typeface="+mn-ea"/>
            </a:endParaRPr>
          </a:p>
          <a:p>
            <a:pPr lvl="2"/>
            <a:r>
              <a:rPr lang="zh-CN" altLang="en-US" dirty="0">
                <a:latin typeface="+mn-ea"/>
              </a:rPr>
              <a:t>通过某种</a:t>
            </a:r>
            <a:r>
              <a:rPr lang="zh-CN" altLang="en-US" dirty="0" smtClean="0">
                <a:latin typeface="+mn-ea"/>
              </a:rPr>
              <a:t>映射      将</a:t>
            </a:r>
            <a:r>
              <a:rPr lang="zh-CN" altLang="en-US" dirty="0">
                <a:latin typeface="+mn-ea"/>
              </a:rPr>
              <a:t>样本映射到高维特征</a:t>
            </a:r>
            <a:r>
              <a:rPr lang="zh-CN" altLang="en-US" dirty="0" smtClean="0">
                <a:latin typeface="+mn-ea"/>
              </a:rPr>
              <a:t>空间</a:t>
            </a:r>
            <a:r>
              <a:rPr lang="en-US" altLang="zh-CN" i="1" dirty="0" smtClean="0">
                <a:latin typeface="+mn-ea"/>
              </a:rPr>
              <a:t>F</a:t>
            </a:r>
            <a:r>
              <a:rPr lang="zh-CN" altLang="en-US" dirty="0" smtClean="0">
                <a:latin typeface="+mn-ea"/>
              </a:rPr>
              <a:t>，然后</a:t>
            </a:r>
            <a:r>
              <a:rPr lang="zh-CN" altLang="en-US" dirty="0">
                <a:latin typeface="+mn-ea"/>
              </a:rPr>
              <a:t>在此特征空间中做线性判别分析</a:t>
            </a:r>
            <a:endParaRPr lang="zh-CN" altLang="en-US" dirty="0">
              <a:latin typeface="+mn-ea"/>
            </a:endParaRPr>
          </a:p>
          <a:p>
            <a:pPr lvl="2"/>
            <a:r>
              <a:rPr lang="zh-CN" altLang="en-US" dirty="0" smtClean="0">
                <a:latin typeface="+mn-ea"/>
              </a:rPr>
              <a:t>学习目标</a:t>
            </a:r>
            <a:endParaRPr lang="en-US" altLang="zh-CN" dirty="0" smtClean="0">
              <a:latin typeface="+mn-ea"/>
            </a:endParaRPr>
          </a:p>
          <a:p>
            <a:pPr lvl="2"/>
            <a:endParaRPr lang="en-US" altLang="zh-CN" dirty="0">
              <a:latin typeface="+mn-ea"/>
            </a:endParaRPr>
          </a:p>
          <a:p>
            <a:pPr lvl="3"/>
            <a:r>
              <a:rPr lang="en-US" altLang="zh-CN" i="1" dirty="0" smtClean="0">
                <a:latin typeface="+mn-ea"/>
              </a:rPr>
              <a:t>F</a:t>
            </a:r>
            <a:r>
              <a:rPr lang="zh-CN" altLang="en-US" dirty="0" smtClean="0">
                <a:latin typeface="+mn-ea"/>
              </a:rPr>
              <a:t>中</a:t>
            </a:r>
            <a:r>
              <a:rPr lang="zh-CN" altLang="en-US" dirty="0">
                <a:latin typeface="+mn-ea"/>
              </a:rPr>
              <a:t>的类间散度</a:t>
            </a:r>
            <a:r>
              <a:rPr lang="zh-CN" altLang="en-US" dirty="0" smtClean="0">
                <a:latin typeface="+mn-ea"/>
              </a:rPr>
              <a:t>矩阵</a:t>
            </a:r>
            <a:endParaRPr lang="en-US" altLang="zh-CN" dirty="0" smtClean="0">
              <a:latin typeface="+mn-ea"/>
            </a:endParaRPr>
          </a:p>
          <a:p>
            <a:pPr lvl="3">
              <a:spcBef>
                <a:spcPts val="1200"/>
              </a:spcBef>
            </a:pPr>
            <a:r>
              <a:rPr lang="zh-CN" altLang="en-US" dirty="0" smtClean="0">
                <a:latin typeface="+mn-ea"/>
              </a:rPr>
              <a:t>类</a:t>
            </a:r>
            <a:r>
              <a:rPr lang="zh-CN" altLang="en-US" dirty="0">
                <a:latin typeface="+mn-ea"/>
              </a:rPr>
              <a:t>内</a:t>
            </a:r>
            <a:r>
              <a:rPr lang="zh-CN" altLang="en-US" dirty="0" smtClean="0">
                <a:latin typeface="+mn-ea"/>
              </a:rPr>
              <a:t>散度矩阵</a:t>
            </a:r>
            <a:endParaRPr lang="en-US" altLang="zh-CN" dirty="0" smtClean="0">
              <a:latin typeface="+mn-ea"/>
            </a:endParaRPr>
          </a:p>
          <a:p>
            <a:pPr lvl="4">
              <a:spcBef>
                <a:spcPts val="1200"/>
              </a:spcBef>
            </a:pPr>
            <a:r>
              <a:rPr lang="zh-CN" altLang="en-US" dirty="0" smtClean="0">
                <a:latin typeface="+mn-ea"/>
              </a:rPr>
              <a:t>第</a:t>
            </a:r>
            <a:r>
              <a:rPr lang="en-US" altLang="zh-CN" i="1" dirty="0" err="1" smtClean="0">
                <a:latin typeface="+mn-ea"/>
              </a:rPr>
              <a:t>i</a:t>
            </a:r>
            <a:r>
              <a:rPr lang="zh-CN" altLang="en-US" dirty="0" smtClean="0">
                <a:latin typeface="+mn-ea"/>
              </a:rPr>
              <a:t>类</a:t>
            </a:r>
            <a:r>
              <a:rPr lang="zh-CN" altLang="en-US" dirty="0">
                <a:latin typeface="+mn-ea"/>
              </a:rPr>
              <a:t>样本在特征空间</a:t>
            </a:r>
            <a:r>
              <a:rPr lang="en-US" altLang="zh-CN" i="1" dirty="0">
                <a:latin typeface="+mn-ea"/>
              </a:rPr>
              <a:t>F</a:t>
            </a:r>
            <a:r>
              <a:rPr lang="zh-CN" altLang="en-US" dirty="0">
                <a:latin typeface="+mn-ea"/>
              </a:rPr>
              <a:t>中的</a:t>
            </a:r>
            <a:r>
              <a:rPr lang="zh-CN" altLang="en-US" dirty="0" smtClean="0">
                <a:latin typeface="+mn-ea"/>
              </a:rPr>
              <a:t>均值</a:t>
            </a:r>
            <a:endParaRPr lang="en-US" altLang="zh-CN" dirty="0" smtClean="0">
              <a:latin typeface="+mn-ea"/>
            </a:endParaRPr>
          </a:p>
          <a:p>
            <a:pPr lvl="4">
              <a:spcBef>
                <a:spcPts val="1200"/>
              </a:spcBef>
            </a:pPr>
            <a:endParaRPr lang="en-US" altLang="zh-CN" dirty="0">
              <a:latin typeface="+mn-ea"/>
            </a:endParaRPr>
          </a:p>
          <a:p>
            <a:pPr marL="1828800" lvl="4" indent="0">
              <a:spcBef>
                <a:spcPts val="1200"/>
              </a:spcBef>
              <a:buNone/>
            </a:pPr>
            <a:r>
              <a:rPr lang="en-US" altLang="zh-CN" dirty="0" smtClean="0">
                <a:latin typeface="+mn-ea"/>
              </a:rPr>
              <a:t>    </a:t>
            </a:r>
            <a:r>
              <a:rPr lang="zh-CN" altLang="en-US" dirty="0" smtClean="0">
                <a:latin typeface="+mn-ea"/>
              </a:rPr>
              <a:t>为第</a:t>
            </a:r>
            <a:r>
              <a:rPr lang="en-US" altLang="zh-CN" dirty="0" err="1" smtClean="0">
                <a:latin typeface="+mn-ea"/>
              </a:rPr>
              <a:t>i</a:t>
            </a:r>
            <a:r>
              <a:rPr lang="zh-CN" altLang="en-US" dirty="0" smtClean="0">
                <a:latin typeface="+mn-ea"/>
              </a:rPr>
              <a:t>类样本集合，  为样本数</a:t>
            </a:r>
            <a:endParaRPr lang="en-US" altLang="zh-CN" dirty="0" smtClean="0">
              <a:latin typeface="+mn-ea"/>
            </a:endParaRPr>
          </a:p>
          <a:p>
            <a:pPr lvl="4">
              <a:spcBef>
                <a:spcPts val="1200"/>
              </a:spcBef>
            </a:pPr>
            <a:endParaRPr lang="en-US" altLang="zh-CN" dirty="0" smtClean="0">
              <a:latin typeface="+mn-ea"/>
            </a:endParaRPr>
          </a:p>
        </p:txBody>
      </p:sp>
      <p:sp>
        <p:nvSpPr>
          <p:cNvPr id="2" name="标题 1"/>
          <p:cNvSpPr>
            <a:spLocks noGrp="1"/>
          </p:cNvSpPr>
          <p:nvPr>
            <p:ph type="title"/>
          </p:nvPr>
        </p:nvSpPr>
        <p:spPr/>
        <p:txBody>
          <a:bodyPr/>
          <a:lstStyle/>
          <a:p>
            <a:r>
              <a:rPr lang="en-US" altLang="zh-CN" dirty="0"/>
              <a:t>6.6 </a:t>
            </a:r>
            <a:r>
              <a:rPr lang="zh-CN" altLang="en-US" dirty="0"/>
              <a:t>核方法</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dirty="0"/>
          </a:p>
        </p:txBody>
      </p:sp>
      <p:graphicFrame>
        <p:nvGraphicFramePr>
          <p:cNvPr id="5" name="对象 4"/>
          <p:cNvGraphicFramePr>
            <a:graphicFrameLocks noChangeAspect="1"/>
          </p:cNvGraphicFramePr>
          <p:nvPr/>
        </p:nvGraphicFramePr>
        <p:xfrm>
          <a:off x="3707904" y="3134296"/>
          <a:ext cx="1035050" cy="366712"/>
        </p:xfrm>
        <a:graphic>
          <a:graphicData uri="http://schemas.openxmlformats.org/presentationml/2006/ole">
            <mc:AlternateContent xmlns:mc="http://schemas.openxmlformats.org/markup-compatibility/2006">
              <mc:Choice xmlns:v="urn:schemas-microsoft-com:vml" Requires="v">
                <p:oleObj spid="_x0000_s23846" name="Equation" r:id="rId1" imgW="13716000" imgH="4876800" progId="Equation.DSMT4">
                  <p:embed/>
                </p:oleObj>
              </mc:Choice>
              <mc:Fallback>
                <p:oleObj name="Equation" r:id="rId1" imgW="13716000" imgH="4876800" progId="Equation.DSMT4">
                  <p:embed/>
                  <p:pic>
                    <p:nvPicPr>
                      <p:cNvPr id="0" name="对象 6"/>
                      <p:cNvPicPr>
                        <a:picLocks noChangeAspect="1" noChangeArrowheads="1"/>
                      </p:cNvPicPr>
                      <p:nvPr/>
                    </p:nvPicPr>
                    <p:blipFill>
                      <a:blip r:embed="rId2"/>
                      <a:srcRect/>
                      <a:stretch>
                        <a:fillRect/>
                      </a:stretch>
                    </p:blipFill>
                    <p:spPr bwMode="auto">
                      <a:xfrm>
                        <a:off x="3707904" y="3134296"/>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3491880" y="3789040"/>
          <a:ext cx="1909762" cy="779463"/>
        </p:xfrm>
        <a:graphic>
          <a:graphicData uri="http://schemas.openxmlformats.org/presentationml/2006/ole">
            <mc:AlternateContent xmlns:mc="http://schemas.openxmlformats.org/markup-compatibility/2006">
              <mc:Choice xmlns:v="urn:schemas-microsoft-com:vml" Requires="v">
                <p:oleObj spid="_x0000_s23847" name="Equation" r:id="rId3" imgW="25298400" imgH="10363200" progId="Equation.DSMT4">
                  <p:embed/>
                </p:oleObj>
              </mc:Choice>
              <mc:Fallback>
                <p:oleObj name="Equation" r:id="rId3" imgW="25298400" imgH="10363200" progId="Equation.DSMT4">
                  <p:embed/>
                  <p:pic>
                    <p:nvPicPr>
                      <p:cNvPr id="0" name="对象 4"/>
                      <p:cNvPicPr>
                        <a:picLocks noChangeAspect="1" noChangeArrowheads="1"/>
                      </p:cNvPicPr>
                      <p:nvPr/>
                    </p:nvPicPr>
                    <p:blipFill>
                      <a:blip r:embed="rId4"/>
                      <a:srcRect/>
                      <a:stretch>
                        <a:fillRect/>
                      </a:stretch>
                    </p:blipFill>
                    <p:spPr bwMode="auto">
                      <a:xfrm>
                        <a:off x="3491880" y="3789040"/>
                        <a:ext cx="1909762"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3995936" y="4869160"/>
          <a:ext cx="4348162" cy="573088"/>
        </p:xfrm>
        <a:graphic>
          <a:graphicData uri="http://schemas.openxmlformats.org/presentationml/2006/ole">
            <mc:AlternateContent xmlns:mc="http://schemas.openxmlformats.org/markup-compatibility/2006">
              <mc:Choice xmlns:v="urn:schemas-microsoft-com:vml" Requires="v">
                <p:oleObj spid="_x0000_s23848" name="Equation" r:id="rId5" imgW="57607200" imgH="7620000" progId="Equation.DSMT4">
                  <p:embed/>
                </p:oleObj>
              </mc:Choice>
              <mc:Fallback>
                <p:oleObj name="Equation" r:id="rId5" imgW="57607200" imgH="7620000" progId="Equation.DSMT4">
                  <p:embed/>
                  <p:pic>
                    <p:nvPicPr>
                      <p:cNvPr id="0" name="对象 5"/>
                      <p:cNvPicPr>
                        <a:picLocks noChangeAspect="1" noChangeArrowheads="1"/>
                      </p:cNvPicPr>
                      <p:nvPr/>
                    </p:nvPicPr>
                    <p:blipFill>
                      <a:blip r:embed="rId6"/>
                      <a:srcRect/>
                      <a:stretch>
                        <a:fillRect/>
                      </a:stretch>
                    </p:blipFill>
                    <p:spPr bwMode="auto">
                      <a:xfrm>
                        <a:off x="3995936" y="4869160"/>
                        <a:ext cx="43481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4788024" y="4509120"/>
          <a:ext cx="2646362" cy="434975"/>
        </p:xfrm>
        <a:graphic>
          <a:graphicData uri="http://schemas.openxmlformats.org/presentationml/2006/ole">
            <mc:AlternateContent xmlns:mc="http://schemas.openxmlformats.org/markup-compatibility/2006">
              <mc:Choice xmlns:v="urn:schemas-microsoft-com:vml" Requires="v">
                <p:oleObj spid="_x0000_s23849" name="Equation" r:id="rId7" imgW="35052000" imgH="5791200" progId="Equation.DSMT4">
                  <p:embed/>
                </p:oleObj>
              </mc:Choice>
              <mc:Fallback>
                <p:oleObj name="Equation" r:id="rId7" imgW="35052000" imgH="5791200" progId="Equation.DSMT4">
                  <p:embed/>
                  <p:pic>
                    <p:nvPicPr>
                      <p:cNvPr id="0" name="对象 6"/>
                      <p:cNvPicPr>
                        <a:picLocks noChangeAspect="1" noChangeArrowheads="1"/>
                      </p:cNvPicPr>
                      <p:nvPr/>
                    </p:nvPicPr>
                    <p:blipFill>
                      <a:blip r:embed="rId8"/>
                      <a:srcRect/>
                      <a:stretch>
                        <a:fillRect/>
                      </a:stretch>
                    </p:blipFill>
                    <p:spPr bwMode="auto">
                      <a:xfrm>
                        <a:off x="4788024" y="4509120"/>
                        <a:ext cx="264636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2843808" y="5733256"/>
          <a:ext cx="2092325" cy="688975"/>
        </p:xfrm>
        <a:graphic>
          <a:graphicData uri="http://schemas.openxmlformats.org/presentationml/2006/ole">
            <mc:AlternateContent xmlns:mc="http://schemas.openxmlformats.org/markup-compatibility/2006">
              <mc:Choice xmlns:v="urn:schemas-microsoft-com:vml" Requires="v">
                <p:oleObj spid="_x0000_s23850" name="Equation" r:id="rId9" imgW="27736800" imgH="9144000" progId="Equation.DSMT4">
                  <p:embed/>
                </p:oleObj>
              </mc:Choice>
              <mc:Fallback>
                <p:oleObj name="Equation" r:id="rId9" imgW="27736800" imgH="9144000" progId="Equation.DSMT4">
                  <p:embed/>
                  <p:pic>
                    <p:nvPicPr>
                      <p:cNvPr id="0" name="对象 6"/>
                      <p:cNvPicPr>
                        <a:picLocks noChangeAspect="1" noChangeArrowheads="1"/>
                      </p:cNvPicPr>
                      <p:nvPr/>
                    </p:nvPicPr>
                    <p:blipFill>
                      <a:blip r:embed="rId10"/>
                      <a:srcRect/>
                      <a:stretch>
                        <a:fillRect/>
                      </a:stretch>
                    </p:blipFill>
                    <p:spPr bwMode="auto">
                      <a:xfrm>
                        <a:off x="2843808" y="5733256"/>
                        <a:ext cx="20923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nvGraphicFramePr>
        <p:xfrm>
          <a:off x="2812743" y="6358096"/>
          <a:ext cx="344487" cy="414337"/>
        </p:xfrm>
        <a:graphic>
          <a:graphicData uri="http://schemas.openxmlformats.org/presentationml/2006/ole">
            <mc:AlternateContent xmlns:mc="http://schemas.openxmlformats.org/markup-compatibility/2006">
              <mc:Choice xmlns:v="urn:schemas-microsoft-com:vml" Requires="v">
                <p:oleObj spid="_x0000_s23851" name="Equation" r:id="rId11" imgW="4572000" imgH="5486400" progId="Equation.DSMT4">
                  <p:embed/>
                </p:oleObj>
              </mc:Choice>
              <mc:Fallback>
                <p:oleObj name="Equation" r:id="rId11" imgW="4572000" imgH="5486400" progId="Equation.DSMT4">
                  <p:embed/>
                  <p:pic>
                    <p:nvPicPr>
                      <p:cNvPr id="0" name="对象 8"/>
                      <p:cNvPicPr>
                        <a:picLocks noChangeAspect="1" noChangeArrowheads="1"/>
                      </p:cNvPicPr>
                      <p:nvPr/>
                    </p:nvPicPr>
                    <p:blipFill>
                      <a:blip r:embed="rId12"/>
                      <a:srcRect/>
                      <a:stretch>
                        <a:fillRect/>
                      </a:stretch>
                    </p:blipFill>
                    <p:spPr bwMode="auto">
                      <a:xfrm>
                        <a:off x="2812743" y="6358096"/>
                        <a:ext cx="344487"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5292080" y="6327031"/>
          <a:ext cx="320675" cy="414337"/>
        </p:xfrm>
        <a:graphic>
          <a:graphicData uri="http://schemas.openxmlformats.org/presentationml/2006/ole">
            <mc:AlternateContent xmlns:mc="http://schemas.openxmlformats.org/markup-compatibility/2006">
              <mc:Choice xmlns:v="urn:schemas-microsoft-com:vml" Requires="v">
                <p:oleObj spid="_x0000_s23852" name="Equation" r:id="rId13" imgW="4267200" imgH="5486400" progId="Equation.DSMT4">
                  <p:embed/>
                </p:oleObj>
              </mc:Choice>
              <mc:Fallback>
                <p:oleObj name="Equation" r:id="rId13" imgW="4267200" imgH="5486400" progId="Equation.DSMT4">
                  <p:embed/>
                  <p:pic>
                    <p:nvPicPr>
                      <p:cNvPr id="0" name="对象 9"/>
                      <p:cNvPicPr>
                        <a:picLocks noChangeAspect="1" noChangeArrowheads="1"/>
                      </p:cNvPicPr>
                      <p:nvPr/>
                    </p:nvPicPr>
                    <p:blipFill>
                      <a:blip r:embed="rId14"/>
                      <a:srcRect/>
                      <a:stretch>
                        <a:fillRect/>
                      </a:stretch>
                    </p:blipFill>
                    <p:spPr bwMode="auto">
                      <a:xfrm>
                        <a:off x="5292080" y="6327031"/>
                        <a:ext cx="32067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7308304" y="3449885"/>
          <a:ext cx="1631950" cy="411163"/>
        </p:xfrm>
        <a:graphic>
          <a:graphicData uri="http://schemas.openxmlformats.org/presentationml/2006/ole">
            <mc:AlternateContent xmlns:mc="http://schemas.openxmlformats.org/markup-compatibility/2006">
              <mc:Choice xmlns:v="urn:schemas-microsoft-com:vml" Requires="v">
                <p:oleObj spid="_x0000_s23853" name="Equation" r:id="rId15" imgW="21640800" imgH="5486400" progId="Equation.DSMT4">
                  <p:embed/>
                </p:oleObj>
              </mc:Choice>
              <mc:Fallback>
                <p:oleObj name="Equation" r:id="rId15" imgW="21640800" imgH="5486400" progId="Equation.DSMT4">
                  <p:embed/>
                  <p:pic>
                    <p:nvPicPr>
                      <p:cNvPr id="0" name="图片 23852"/>
                      <p:cNvPicPr>
                        <a:picLocks noChangeAspect="1" noChangeArrowheads="1"/>
                      </p:cNvPicPr>
                      <p:nvPr/>
                    </p:nvPicPr>
                    <p:blipFill>
                      <a:blip r:embed="rId16"/>
                      <a:srcRect/>
                      <a:stretch>
                        <a:fillRect/>
                      </a:stretch>
                    </p:blipFill>
                    <p:spPr bwMode="auto">
                      <a:xfrm>
                        <a:off x="7308304" y="3449885"/>
                        <a:ext cx="16319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6.6 </a:t>
            </a:r>
            <a:r>
              <a:rPr lang="zh-CN" altLang="en-US" dirty="0"/>
              <a:t>核方法</a:t>
            </a:r>
            <a:endParaRPr lang="zh-CN" altLang="en-US" dirty="0"/>
          </a:p>
        </p:txBody>
      </p:sp>
      <p:sp>
        <p:nvSpPr>
          <p:cNvPr id="3" name="内容占位符 2"/>
          <p:cNvSpPr>
            <a:spLocks noGrp="1"/>
          </p:cNvSpPr>
          <p:nvPr>
            <p:ph idx="1"/>
          </p:nvPr>
        </p:nvSpPr>
        <p:spPr/>
        <p:txBody>
          <a:bodyPr/>
          <a:lstStyle/>
          <a:p>
            <a:r>
              <a:rPr lang="zh-CN" altLang="en-US" dirty="0"/>
              <a:t>核方法</a:t>
            </a:r>
            <a:endParaRPr lang="en-US" altLang="zh-CN" dirty="0"/>
          </a:p>
          <a:p>
            <a:pPr lvl="1"/>
            <a:r>
              <a:rPr lang="zh-CN" altLang="en-US" dirty="0" smtClean="0">
                <a:latin typeface="+mn-ea"/>
              </a:rPr>
              <a:t>例</a:t>
            </a:r>
            <a:r>
              <a:rPr lang="zh-CN" altLang="en-US" dirty="0">
                <a:latin typeface="+mn-ea"/>
              </a:rPr>
              <a:t>：核线性判别分析</a:t>
            </a:r>
            <a:r>
              <a:rPr lang="en-US" altLang="zh-CN" dirty="0">
                <a:latin typeface="+mn-ea"/>
              </a:rPr>
              <a:t>KLDA</a:t>
            </a:r>
            <a:endParaRPr lang="zh-CN" altLang="en-US" dirty="0">
              <a:latin typeface="+mn-ea"/>
            </a:endParaRPr>
          </a:p>
          <a:p>
            <a:pPr lvl="2"/>
            <a:r>
              <a:rPr lang="zh-CN" altLang="en-US" dirty="0" smtClean="0"/>
              <a:t>通常难以</a:t>
            </a:r>
            <a:r>
              <a:rPr lang="zh-CN" altLang="en-US" dirty="0"/>
              <a:t>知道</a:t>
            </a:r>
            <a:r>
              <a:rPr lang="zh-CN" altLang="en-US" dirty="0" smtClean="0"/>
              <a:t>映射   的</a:t>
            </a:r>
            <a:r>
              <a:rPr lang="zh-CN" altLang="en-US" dirty="0"/>
              <a:t>具体</a:t>
            </a:r>
            <a:r>
              <a:rPr lang="zh-CN" altLang="en-US" dirty="0" smtClean="0"/>
              <a:t>形式，通过引入核函数                                     ，有</a:t>
            </a:r>
            <a:endParaRPr lang="en-US" altLang="zh-CN" dirty="0" smtClean="0"/>
          </a:p>
          <a:p>
            <a:pPr lvl="2"/>
            <a:endParaRPr lang="en-US" altLang="zh-CN" dirty="0"/>
          </a:p>
          <a:p>
            <a:pPr lvl="2"/>
            <a:endParaRPr lang="en-US" altLang="zh-CN" dirty="0" smtClean="0"/>
          </a:p>
          <a:p>
            <a:pPr lvl="3"/>
            <a:endParaRPr lang="en-US" altLang="zh-CN" dirty="0" smtClean="0"/>
          </a:p>
          <a:p>
            <a:pPr lvl="3"/>
            <a:endParaRPr lang="en-US" altLang="zh-CN" dirty="0"/>
          </a:p>
          <a:p>
            <a:pPr lvl="3"/>
            <a:endParaRPr lang="en-US" altLang="zh-CN" dirty="0" smtClean="0"/>
          </a:p>
          <a:p>
            <a:pPr lvl="3"/>
            <a:endParaRPr lang="en-US" altLang="zh-CN" dirty="0"/>
          </a:p>
          <a:p>
            <a:pPr lvl="3"/>
            <a:endParaRPr lang="en-US" altLang="zh-CN" dirty="0" smtClean="0"/>
          </a:p>
          <a:p>
            <a:pPr lvl="3"/>
            <a:endParaRPr lang="en-US" altLang="zh-CN" dirty="0"/>
          </a:p>
          <a:p>
            <a:pPr lvl="3"/>
            <a:endParaRPr lang="en-US" altLang="zh-CN" dirty="0" smtClean="0"/>
          </a:p>
          <a:p>
            <a:pPr lvl="3"/>
            <a:endParaRPr lang="en-US" altLang="zh-CN" dirty="0"/>
          </a:p>
          <a:p>
            <a:pPr lvl="3"/>
            <a:endParaRPr lang="en-US" altLang="zh-CN" dirty="0" smtClean="0"/>
          </a:p>
          <a:p>
            <a:pPr lvl="3"/>
            <a:r>
              <a:rPr lang="zh-CN" altLang="en-US" dirty="0"/>
              <a:t>使用线性判别分析求解方法即可</a:t>
            </a:r>
            <a:r>
              <a:rPr lang="zh-CN" altLang="en-US" dirty="0" smtClean="0"/>
              <a:t>得到</a:t>
            </a:r>
            <a:endParaRPr lang="zh-CN" altLang="en-US" dirty="0"/>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graphicFrame>
        <p:nvGraphicFramePr>
          <p:cNvPr id="5" name="对象 4"/>
          <p:cNvGraphicFramePr>
            <a:graphicFrameLocks noChangeAspect="1"/>
          </p:cNvGraphicFramePr>
          <p:nvPr/>
        </p:nvGraphicFramePr>
        <p:xfrm>
          <a:off x="2222549" y="2109862"/>
          <a:ext cx="3357563" cy="527050"/>
        </p:xfrm>
        <a:graphic>
          <a:graphicData uri="http://schemas.openxmlformats.org/presentationml/2006/ole">
            <mc:AlternateContent xmlns:mc="http://schemas.openxmlformats.org/markup-compatibility/2006">
              <mc:Choice xmlns:v="urn:schemas-microsoft-com:vml" Requires="v">
                <p:oleObj spid="_x0000_s24736" name="Equation" r:id="rId1" imgW="44500800" imgH="7010400" progId="Equation.DSMT4">
                  <p:embed/>
                </p:oleObj>
              </mc:Choice>
              <mc:Fallback>
                <p:oleObj name="Equation" r:id="rId1" imgW="44500800" imgH="7010400" progId="Equation.DSMT4">
                  <p:embed/>
                  <p:pic>
                    <p:nvPicPr>
                      <p:cNvPr id="0" name="对象 9"/>
                      <p:cNvPicPr>
                        <a:picLocks noChangeAspect="1" noChangeArrowheads="1"/>
                      </p:cNvPicPr>
                      <p:nvPr/>
                    </p:nvPicPr>
                    <p:blipFill>
                      <a:blip r:embed="rId2"/>
                      <a:srcRect/>
                      <a:stretch>
                        <a:fillRect/>
                      </a:stretch>
                    </p:blipFill>
                    <p:spPr bwMode="auto">
                      <a:xfrm>
                        <a:off x="2222549" y="2109862"/>
                        <a:ext cx="3357563"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nvGraphicFramePr>
        <p:xfrm>
          <a:off x="2771800" y="2636912"/>
          <a:ext cx="2576513" cy="688975"/>
        </p:xfrm>
        <a:graphic>
          <a:graphicData uri="http://schemas.openxmlformats.org/presentationml/2006/ole">
            <mc:AlternateContent xmlns:mc="http://schemas.openxmlformats.org/markup-compatibility/2006">
              <mc:Choice xmlns:v="urn:schemas-microsoft-com:vml" Requires="v">
                <p:oleObj spid="_x0000_s24737" name="Equation" r:id="rId3" imgW="34137600" imgH="9144000" progId="Equation.DSMT4">
                  <p:embed/>
                </p:oleObj>
              </mc:Choice>
              <mc:Fallback>
                <p:oleObj name="Equation" r:id="rId3" imgW="34137600" imgH="9144000" progId="Equation.DSMT4">
                  <p:embed/>
                  <p:pic>
                    <p:nvPicPr>
                      <p:cNvPr id="0" name="对象 5"/>
                      <p:cNvPicPr>
                        <a:picLocks noChangeAspect="1" noChangeArrowheads="1"/>
                      </p:cNvPicPr>
                      <p:nvPr/>
                    </p:nvPicPr>
                    <p:blipFill>
                      <a:blip r:embed="rId4"/>
                      <a:srcRect/>
                      <a:stretch>
                        <a:fillRect/>
                      </a:stretch>
                    </p:blipFill>
                    <p:spPr bwMode="auto">
                      <a:xfrm>
                        <a:off x="2771800" y="2636912"/>
                        <a:ext cx="2576513"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2771775" y="3429000"/>
          <a:ext cx="2576513" cy="2484438"/>
        </p:xfrm>
        <a:graphic>
          <a:graphicData uri="http://schemas.openxmlformats.org/presentationml/2006/ole">
            <mc:AlternateContent xmlns:mc="http://schemas.openxmlformats.org/markup-compatibility/2006">
              <mc:Choice xmlns:v="urn:schemas-microsoft-com:vml" Requires="v">
                <p:oleObj spid="_x0000_s24738" name="Equation" r:id="rId5" imgW="34137600" imgH="32918400" progId="Equation.DSMT4">
                  <p:embed/>
                </p:oleObj>
              </mc:Choice>
              <mc:Fallback>
                <p:oleObj name="Equation" r:id="rId5" imgW="34137600" imgH="32918400" progId="Equation.DSMT4">
                  <p:embed/>
                  <p:pic>
                    <p:nvPicPr>
                      <p:cNvPr id="0" name="对象 5"/>
                      <p:cNvPicPr>
                        <a:picLocks noChangeAspect="1" noChangeArrowheads="1"/>
                      </p:cNvPicPr>
                      <p:nvPr/>
                    </p:nvPicPr>
                    <p:blipFill>
                      <a:blip r:embed="rId6"/>
                      <a:srcRect/>
                      <a:stretch>
                        <a:fillRect/>
                      </a:stretch>
                    </p:blipFill>
                    <p:spPr bwMode="auto">
                      <a:xfrm>
                        <a:off x="2771775" y="3429000"/>
                        <a:ext cx="2576513" cy="248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6444208" y="6056907"/>
          <a:ext cx="276225" cy="252413"/>
        </p:xfrm>
        <a:graphic>
          <a:graphicData uri="http://schemas.openxmlformats.org/presentationml/2006/ole">
            <mc:AlternateContent xmlns:mc="http://schemas.openxmlformats.org/markup-compatibility/2006">
              <mc:Choice xmlns:v="urn:schemas-microsoft-com:vml" Requires="v">
                <p:oleObj spid="_x0000_s24739" name="Equation" r:id="rId7" imgW="3657600" imgH="3352800" progId="Equation.DSMT4">
                  <p:embed/>
                </p:oleObj>
              </mc:Choice>
              <mc:Fallback>
                <p:oleObj name="Equation" r:id="rId7" imgW="3657600" imgH="3352800" progId="Equation.DSMT4">
                  <p:embed/>
                  <p:pic>
                    <p:nvPicPr>
                      <p:cNvPr id="0" name="对象 5"/>
                      <p:cNvPicPr>
                        <a:picLocks noChangeAspect="1" noChangeArrowheads="1"/>
                      </p:cNvPicPr>
                      <p:nvPr/>
                    </p:nvPicPr>
                    <p:blipFill>
                      <a:blip r:embed="rId8"/>
                      <a:srcRect/>
                      <a:stretch>
                        <a:fillRect/>
                      </a:stretch>
                    </p:blipFill>
                    <p:spPr bwMode="auto">
                      <a:xfrm>
                        <a:off x="6444208" y="6056907"/>
                        <a:ext cx="27622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nvGraphicFramePr>
        <p:xfrm>
          <a:off x="4413821" y="1823393"/>
          <a:ext cx="230187" cy="366712"/>
        </p:xfrm>
        <a:graphic>
          <a:graphicData uri="http://schemas.openxmlformats.org/presentationml/2006/ole">
            <mc:AlternateContent xmlns:mc="http://schemas.openxmlformats.org/markup-compatibility/2006">
              <mc:Choice xmlns:v="urn:schemas-microsoft-com:vml" Requires="v">
                <p:oleObj spid="_x0000_s24740" name="Equation" r:id="rId9" imgW="3048000" imgH="4876800" progId="Equation.DSMT4">
                  <p:embed/>
                </p:oleObj>
              </mc:Choice>
              <mc:Fallback>
                <p:oleObj name="Equation" r:id="rId9" imgW="3048000" imgH="4876800" progId="Equation.DSMT4">
                  <p:embed/>
                  <p:pic>
                    <p:nvPicPr>
                      <p:cNvPr id="0" name="图片 24739"/>
                      <p:cNvPicPr>
                        <a:picLocks noChangeAspect="1" noChangeArrowheads="1"/>
                      </p:cNvPicPr>
                      <p:nvPr/>
                    </p:nvPicPr>
                    <p:blipFill>
                      <a:blip r:embed="rId10"/>
                      <a:srcRect/>
                      <a:stretch>
                        <a:fillRect/>
                      </a:stretch>
                    </p:blipFill>
                    <p:spPr bwMode="auto">
                      <a:xfrm>
                        <a:off x="4413821" y="1823393"/>
                        <a:ext cx="2301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cover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endParaRPr lang="zh-CN" altLang="en-US" dirty="0"/>
          </a:p>
        </p:txBody>
      </p:sp>
      <p:sp>
        <p:nvSpPr>
          <p:cNvPr id="3" name="内容占位符 2"/>
          <p:cNvSpPr>
            <a:spLocks noGrp="1"/>
          </p:cNvSpPr>
          <p:nvPr>
            <p:ph idx="1"/>
          </p:nvPr>
        </p:nvSpPr>
        <p:spPr/>
        <p:txBody>
          <a:bodyPr/>
          <a:lstStyle/>
          <a:p>
            <a:r>
              <a:rPr lang="en-US" altLang="zh-CN" dirty="0" smtClean="0">
                <a:latin typeface="+mn-ea"/>
              </a:rPr>
              <a:t>6.2</a:t>
            </a:r>
            <a:r>
              <a:rPr lang="zh-CN" altLang="en-US" dirty="0" smtClean="0">
                <a:latin typeface="+mn-ea"/>
              </a:rPr>
              <a:t>、</a:t>
            </a:r>
            <a:r>
              <a:rPr lang="en-US" altLang="zh-CN" dirty="0" smtClean="0">
                <a:latin typeface="+mn-ea"/>
              </a:rPr>
              <a:t>6.8</a:t>
            </a:r>
            <a:endParaRPr lang="zh-CN" altLang="en-US" dirty="0">
              <a:latin typeface="+mn-ea"/>
            </a:endParaRPr>
          </a:p>
        </p:txBody>
      </p:sp>
      <p:sp>
        <p:nvSpPr>
          <p:cNvPr id="4" name="灯片编号占位符 3"/>
          <p:cNvSpPr>
            <a:spLocks noGrp="1"/>
          </p:cNvSpPr>
          <p:nvPr>
            <p:ph type="sldNum" sz="quarter" idx="12"/>
          </p:nvPr>
        </p:nvSpPr>
        <p:spPr/>
        <p:txBody>
          <a:bodyPr/>
          <a:lstStyle/>
          <a:p>
            <a:pPr>
              <a:defRPr/>
            </a:pPr>
            <a:fld id="{8FCE9F0A-462E-4C69-95AA-11A5CD682488}" type="slidenum">
              <a:rPr lang="en-US" altLang="zh-CN" smtClean="0"/>
            </a:fld>
            <a:endParaRPr lang="en-US" altLang="zh-CN"/>
          </a:p>
        </p:txBody>
      </p:sp>
    </p:spTree>
  </p:cSld>
  <p:clrMapOvr>
    <a:masterClrMapping/>
  </p:clrMapOvr>
  <p:transition>
    <p:cover dir="u"/>
  </p:transition>
</p:sld>
</file>

<file path=ppt/theme/theme1.xml><?xml version="1.0" encoding="utf-8"?>
<a:theme xmlns:a="http://schemas.openxmlformats.org/drawingml/2006/main" name="课件PPT主题1">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课件PPT主题1</Template>
  <TotalTime>0</TotalTime>
  <Words>3593</Words>
  <Application>WPS 演示</Application>
  <PresentationFormat>全屏显示(4:3)</PresentationFormat>
  <Paragraphs>489</Paragraphs>
  <Slides>32</Slides>
  <Notes>26</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99</vt:i4>
      </vt:variant>
      <vt:variant>
        <vt:lpstr>幻灯片标题</vt:lpstr>
      </vt:variant>
      <vt:variant>
        <vt:i4>32</vt:i4>
      </vt:variant>
    </vt:vector>
  </HeadingPairs>
  <TitlesOfParts>
    <vt:vector size="138" baseType="lpstr">
      <vt:lpstr>Arial</vt:lpstr>
      <vt:lpstr>宋体</vt:lpstr>
      <vt:lpstr>Wingdings</vt:lpstr>
      <vt:lpstr>Tahoma</vt:lpstr>
      <vt:lpstr>微软雅黑</vt:lpstr>
      <vt:lpstr>Arial Unicode MS</vt:lpstr>
      <vt:lpstr>课件PPT主题1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第6章 支持向量机</vt:lpstr>
      <vt:lpstr>主要内容</vt:lpstr>
      <vt:lpstr>6.0 SVM与统计学习简史</vt:lpstr>
      <vt:lpstr>6.1 间隔与支持向量</vt:lpstr>
      <vt:lpstr>6.1 间隔与支持向量</vt:lpstr>
      <vt:lpstr>6.1 间隔与支持向量</vt:lpstr>
      <vt:lpstr>6.1 间隔与支持向量</vt:lpstr>
      <vt:lpstr>6.1 间隔与支持向量</vt:lpstr>
      <vt:lpstr>6.2 对偶问题</vt:lpstr>
      <vt:lpstr>6.2 对偶问题</vt:lpstr>
      <vt:lpstr>6.2 对偶问题</vt:lpstr>
      <vt:lpstr>6.3 核函数</vt:lpstr>
      <vt:lpstr>6.3 核函数</vt:lpstr>
      <vt:lpstr>6.3 核函数</vt:lpstr>
      <vt:lpstr>6.3 核函数</vt:lpstr>
      <vt:lpstr>6.3 核函数</vt:lpstr>
      <vt:lpstr>6.3 核函数</vt:lpstr>
      <vt:lpstr>6.4 软间隔与正则化</vt:lpstr>
      <vt:lpstr>6.4 软间隔与正则化</vt:lpstr>
      <vt:lpstr>6.4 软间隔与正则化</vt:lpstr>
      <vt:lpstr>6.4 软间隔与正则化</vt:lpstr>
      <vt:lpstr>6.4 软间隔与正则化</vt:lpstr>
      <vt:lpstr>6.4 软间隔与正则化</vt:lpstr>
      <vt:lpstr>6.5 支持向量回归</vt:lpstr>
      <vt:lpstr>6.5 支持向量回归</vt:lpstr>
      <vt:lpstr>6.5 支持向量回归</vt:lpstr>
      <vt:lpstr>6.5 支持向量回归</vt:lpstr>
      <vt:lpstr>6.5 支持向量回归</vt:lpstr>
      <vt:lpstr>6.6 核方法</vt:lpstr>
      <vt:lpstr>6.6 核方法</vt:lpstr>
      <vt:lpstr>6.6 核方法</vt:lpstr>
      <vt:lpstr>作业</vt:lpstr>
    </vt:vector>
  </TitlesOfParts>
  <Company>NEU Systems Engineering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智能优化方法</dc:title>
  <dc:creator>Junwei Wang</dc:creator>
  <cp:lastModifiedBy>MNBVC</cp:lastModifiedBy>
  <cp:revision>1177</cp:revision>
  <dcterms:created xsi:type="dcterms:W3CDTF">2003-07-20T06:30:00Z</dcterms:created>
  <dcterms:modified xsi:type="dcterms:W3CDTF">2021-09-22T13:10:07Z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